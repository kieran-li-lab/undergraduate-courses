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K31421" initials="K" lastIdx="1" clrIdx="1"/>
  <p:cmAuthor id="3" name="hep" initials="h" lastIdx="32" clrIdx="2"/>
  <p:cmAuthor id="8" name="覃" initials="覃" lastIdx="27" clrIdx="7"/>
  <p:cmAuthor id="4" name="LI" initials="LI" lastIdx="2" clrIdx="3"/>
  <p:cmAuthor id="5" name="seven" initials="s" lastIdx="16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8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90066-0799-4797-AB24-5CA665AFD8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14671" y="1344143"/>
            <a:ext cx="6867418" cy="4711204"/>
            <a:chOff x="1939442" y="1344143"/>
            <a:chExt cx="6867418" cy="4711204"/>
          </a:xfrm>
        </p:grpSpPr>
        <p:grpSp>
          <p:nvGrpSpPr>
            <p:cNvPr id="49" name="组合 48"/>
            <p:cNvGrpSpPr/>
            <p:nvPr/>
          </p:nvGrpSpPr>
          <p:grpSpPr>
            <a:xfrm>
              <a:off x="1939442" y="1344143"/>
              <a:ext cx="6867164" cy="4711204"/>
              <a:chOff x="-583445" y="1406162"/>
              <a:chExt cx="6867164" cy="2531540"/>
            </a:xfrm>
          </p:grpSpPr>
          <p:sp>
            <p:nvSpPr>
              <p:cNvPr id="50" name="任意多边形: 形状 49"/>
              <p:cNvSpPr/>
              <p:nvPr/>
            </p:nvSpPr>
            <p:spPr>
              <a:xfrm>
                <a:off x="-583445" y="2350120"/>
                <a:ext cx="2815618" cy="668197"/>
              </a:xfrm>
              <a:custGeom>
                <a:avLst/>
                <a:gdLst>
                  <a:gd name="connsiteX0" fmla="*/ 0 w 3668502"/>
                  <a:gd name="connsiteY0" fmla="*/ 0 h 313383"/>
                  <a:gd name="connsiteX1" fmla="*/ 3668502 w 3668502"/>
                  <a:gd name="connsiteY1" fmla="*/ 0 h 313383"/>
                  <a:gd name="connsiteX2" fmla="*/ 3668502 w 3668502"/>
                  <a:gd name="connsiteY2" fmla="*/ 313383 h 313383"/>
                  <a:gd name="connsiteX3" fmla="*/ 0 w 3668502"/>
                  <a:gd name="connsiteY3" fmla="*/ 313383 h 313383"/>
                  <a:gd name="connsiteX4" fmla="*/ 0 w 3668502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68502" h="313383">
                    <a:moveTo>
                      <a:pt x="0" y="0"/>
                    </a:moveTo>
                    <a:lnTo>
                      <a:pt x="3668502" y="0"/>
                    </a:lnTo>
                    <a:lnTo>
                      <a:pt x="3668502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algn="ctr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+mn-ea"/>
                  </a:rPr>
                  <a:t>马克思主义中国化时代化</a:t>
                </a:r>
                <a:endParaRPr lang="en-US" altLang="zh-CN" dirty="0">
                  <a:solidFill>
                    <a:prstClr val="white"/>
                  </a:solidFill>
                  <a:latin typeface="+mn-ea"/>
                </a:endParaRPr>
              </a:p>
              <a:p>
                <a:pPr algn="ctr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+mn-ea"/>
                  </a:rPr>
                  <a:t>的历史进程与理论成果</a:t>
                </a:r>
                <a:endParaRPr lang="zh-CN" altLang="en-US" dirty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2742404" y="1406162"/>
                <a:ext cx="3541315" cy="323879"/>
              </a:xfrm>
              <a:custGeom>
                <a:avLst/>
                <a:gdLst>
                  <a:gd name="connsiteX0" fmla="*/ 0 w 2825096"/>
                  <a:gd name="connsiteY0" fmla="*/ 0 h 313383"/>
                  <a:gd name="connsiteX1" fmla="*/ 2825096 w 2825096"/>
                  <a:gd name="connsiteY1" fmla="*/ 0 h 313383"/>
                  <a:gd name="connsiteX2" fmla="*/ 2825096 w 2825096"/>
                  <a:gd name="connsiteY2" fmla="*/ 313383 h 313383"/>
                  <a:gd name="connsiteX3" fmla="*/ 0 w 2825096"/>
                  <a:gd name="connsiteY3" fmla="*/ 313383 h 313383"/>
                  <a:gd name="connsiteX4" fmla="*/ 0 w 282509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25096" h="313383">
                    <a:moveTo>
                      <a:pt x="0" y="0"/>
                    </a:moveTo>
                    <a:lnTo>
                      <a:pt x="2825096" y="0"/>
                    </a:lnTo>
                    <a:lnTo>
                      <a:pt x="282509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R="0" lvl="0" indent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+mn-ea"/>
                  </a:rPr>
                  <a:t>马克思主义中国化时代化的提出</a:t>
                </a:r>
                <a:endParaRPr lang="zh-CN" altLang="en-US" dirty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2736264" y="2997109"/>
                <a:ext cx="3541316" cy="452889"/>
              </a:xfrm>
              <a:custGeom>
                <a:avLst/>
                <a:gdLst>
                  <a:gd name="connsiteX0" fmla="*/ 0 w 3906651"/>
                  <a:gd name="connsiteY0" fmla="*/ 0 h 313383"/>
                  <a:gd name="connsiteX1" fmla="*/ 3906651 w 3906651"/>
                  <a:gd name="connsiteY1" fmla="*/ 0 h 313383"/>
                  <a:gd name="connsiteX2" fmla="*/ 3906651 w 3906651"/>
                  <a:gd name="connsiteY2" fmla="*/ 313383 h 313383"/>
                  <a:gd name="connsiteX3" fmla="*/ 0 w 3906651"/>
                  <a:gd name="connsiteY3" fmla="*/ 313383 h 313383"/>
                  <a:gd name="connsiteX4" fmla="*/ 0 w 3906651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6651" h="313383">
                    <a:moveTo>
                      <a:pt x="0" y="0"/>
                    </a:moveTo>
                    <a:lnTo>
                      <a:pt x="3906651" y="0"/>
                    </a:lnTo>
                    <a:lnTo>
                      <a:pt x="3906651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+mn-ea"/>
                  </a:rPr>
                  <a:t>马克思主义中国化时代化理论成果及其关系</a:t>
                </a:r>
                <a:endParaRPr lang="zh-CN" altLang="en-US" dirty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2736264" y="3612868"/>
                <a:ext cx="3518604" cy="324834"/>
              </a:xfrm>
              <a:custGeom>
                <a:avLst/>
                <a:gdLst>
                  <a:gd name="connsiteX0" fmla="*/ 0 w 3433006"/>
                  <a:gd name="connsiteY0" fmla="*/ 0 h 313383"/>
                  <a:gd name="connsiteX1" fmla="*/ 3433006 w 3433006"/>
                  <a:gd name="connsiteY1" fmla="*/ 0 h 313383"/>
                  <a:gd name="connsiteX2" fmla="*/ 3433006 w 3433006"/>
                  <a:gd name="connsiteY2" fmla="*/ 313383 h 313383"/>
                  <a:gd name="connsiteX3" fmla="*/ 0 w 3433006"/>
                  <a:gd name="connsiteY3" fmla="*/ 313383 h 313383"/>
                  <a:gd name="connsiteX4" fmla="*/ 0 w 34330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33006" h="313383">
                    <a:moveTo>
                      <a:pt x="0" y="0"/>
                    </a:moveTo>
                    <a:lnTo>
                      <a:pt x="3433006" y="0"/>
                    </a:lnTo>
                    <a:lnTo>
                      <a:pt x="34330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R="0" lvl="0" indent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+mn-ea"/>
                  </a:rPr>
                  <a:t>学习本课程的要求和方法</a:t>
                </a:r>
                <a:endParaRPr lang="zh-CN" altLang="en-US" dirty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56" name="左大括号 55"/>
              <p:cNvSpPr/>
              <p:nvPr/>
            </p:nvSpPr>
            <p:spPr>
              <a:xfrm>
                <a:off x="2317488" y="1564046"/>
                <a:ext cx="277218" cy="2300887"/>
              </a:xfrm>
              <a:prstGeom prst="leftBrace">
                <a:avLst/>
              </a:prstGeom>
              <a:noFill/>
              <a:ln>
                <a:solidFill>
                  <a:srgbClr val="99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18" name="任意多边形: 形状 17"/>
            <p:cNvSpPr/>
            <p:nvPr/>
          </p:nvSpPr>
          <p:spPr>
            <a:xfrm>
              <a:off x="5265291" y="2158818"/>
              <a:ext cx="3541315" cy="545214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+mn-ea"/>
                </a:rPr>
                <a:t>马克思主义中国化时代化的内涵</a:t>
              </a:r>
              <a:endParaRPr lang="zh-CN" altLang="en-US" dirty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5265544" y="2989505"/>
              <a:ext cx="3541316" cy="853126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R="0" lvl="0" indent="0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+mn-ea"/>
                </a:rPr>
                <a:t>马克思主义中国化时代化的历史进程</a:t>
              </a:r>
              <a:endParaRPr lang="zh-CN" altLang="en-US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903794" y="4211919"/>
            <a:ext cx="3358695" cy="1461355"/>
            <a:chOff x="7903794" y="4211919"/>
            <a:chExt cx="3358695" cy="1461355"/>
          </a:xfrm>
        </p:grpSpPr>
        <p:sp>
          <p:nvSpPr>
            <p:cNvPr id="30" name="左大括号 29"/>
            <p:cNvSpPr/>
            <p:nvPr/>
          </p:nvSpPr>
          <p:spPr>
            <a:xfrm>
              <a:off x="7903794" y="4344369"/>
              <a:ext cx="351064" cy="994126"/>
            </a:xfrm>
            <a:prstGeom prst="leftBrace">
              <a:avLst>
                <a:gd name="adj1" fmla="val 8333"/>
                <a:gd name="adj2" fmla="val 452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8233084" y="4927786"/>
              <a:ext cx="3029405" cy="745488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Arial" panose="020B0604020202020204"/>
                </a:rPr>
                <a:t>马克思主义中国化时代化理论成果之间的关系</a:t>
              </a:r>
              <a:endParaRPr lang="zh-CN" altLang="en-US" dirty="0">
                <a:solidFill>
                  <a:prstClr val="white"/>
                </a:solidFill>
                <a:latin typeface="Arial" panose="020B0604020202020204"/>
              </a:endParaRPr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225788" y="4211919"/>
              <a:ext cx="3029405" cy="694371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思源黑体 CN Medium" panose="020B0600000000000000" charset="-122"/>
                </a:rPr>
                <a:t>马克思主义中国化时代化的理论成果</a:t>
              </a:r>
              <a:endParaRPr lang="zh-CN" altLang="en-US" dirty="0">
                <a:solidFill>
                  <a:prstClr val="white"/>
                </a:solidFill>
                <a:latin typeface="Arial" panose="020B0604020202020204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977640" y="2207243"/>
            <a:ext cx="3277553" cy="1887967"/>
            <a:chOff x="8014566" y="2193517"/>
            <a:chExt cx="3277553" cy="1887967"/>
          </a:xfrm>
        </p:grpSpPr>
        <p:sp>
          <p:nvSpPr>
            <p:cNvPr id="5" name="左大括号 4"/>
            <p:cNvSpPr/>
            <p:nvPr/>
          </p:nvSpPr>
          <p:spPr>
            <a:xfrm>
              <a:off x="8014566" y="2395426"/>
              <a:ext cx="277218" cy="152730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262714" y="2193517"/>
              <a:ext cx="3029405" cy="1887967"/>
              <a:chOff x="8897935" y="2113927"/>
              <a:chExt cx="3029405" cy="1887967"/>
            </a:xfrm>
          </p:grpSpPr>
          <p:sp>
            <p:nvSpPr>
              <p:cNvPr id="33" name="任意多边形: 形状 32"/>
              <p:cNvSpPr/>
              <p:nvPr/>
            </p:nvSpPr>
            <p:spPr>
              <a:xfrm>
                <a:off x="8897935" y="2524636"/>
                <a:ext cx="3029405" cy="371553"/>
              </a:xfrm>
              <a:custGeom>
                <a:avLst/>
                <a:gdLst>
                  <a:gd name="connsiteX0" fmla="*/ 0 w 3906651"/>
                  <a:gd name="connsiteY0" fmla="*/ 0 h 313383"/>
                  <a:gd name="connsiteX1" fmla="*/ 3906651 w 3906651"/>
                  <a:gd name="connsiteY1" fmla="*/ 0 h 313383"/>
                  <a:gd name="connsiteX2" fmla="*/ 3906651 w 3906651"/>
                  <a:gd name="connsiteY2" fmla="*/ 313383 h 313383"/>
                  <a:gd name="connsiteX3" fmla="*/ 0 w 3906651"/>
                  <a:gd name="connsiteY3" fmla="*/ 313383 h 313383"/>
                  <a:gd name="connsiteX4" fmla="*/ 0 w 3906651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6651" h="313383">
                    <a:moveTo>
                      <a:pt x="0" y="0"/>
                    </a:moveTo>
                    <a:lnTo>
                      <a:pt x="3906651" y="0"/>
                    </a:lnTo>
                    <a:lnTo>
                      <a:pt x="3906651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sym typeface="思源黑体 CN Medium" panose="020B0600000000000000" charset="-122"/>
                  </a:rPr>
                  <a:t>社会主义革命和建设时期</a:t>
                </a:r>
                <a:endParaRPr lang="zh-CN" altLang="en-US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思源黑体 CN Medium" panose="020B0600000000000000" charset="-122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8897935" y="2935345"/>
                <a:ext cx="3029405" cy="655840"/>
              </a:xfrm>
              <a:custGeom>
                <a:avLst/>
                <a:gdLst>
                  <a:gd name="connsiteX0" fmla="*/ 0 w 3906651"/>
                  <a:gd name="connsiteY0" fmla="*/ 0 h 313383"/>
                  <a:gd name="connsiteX1" fmla="*/ 3906651 w 3906651"/>
                  <a:gd name="connsiteY1" fmla="*/ 0 h 313383"/>
                  <a:gd name="connsiteX2" fmla="*/ 3906651 w 3906651"/>
                  <a:gd name="connsiteY2" fmla="*/ 313383 h 313383"/>
                  <a:gd name="connsiteX3" fmla="*/ 0 w 3906651"/>
                  <a:gd name="connsiteY3" fmla="*/ 313383 h 313383"/>
                  <a:gd name="connsiteX4" fmla="*/ 0 w 3906651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6651" h="313383">
                    <a:moveTo>
                      <a:pt x="0" y="0"/>
                    </a:moveTo>
                    <a:lnTo>
                      <a:pt x="3906651" y="0"/>
                    </a:lnTo>
                    <a:lnTo>
                      <a:pt x="3906651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sym typeface="思源黑体 CN Medium" panose="020B0600000000000000" charset="-122"/>
                  </a:rPr>
                  <a:t>改革开放和社会主义现代化建设新时期</a:t>
                </a:r>
                <a:endParaRPr lang="zh-CN" altLang="en-US" dirty="0">
                  <a:solidFill>
                    <a:prstClr val="white"/>
                  </a:solidFill>
                  <a:latin typeface="Arial" panose="020B0604020202020204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8897935" y="3630341"/>
                <a:ext cx="3029405" cy="371553"/>
              </a:xfrm>
              <a:custGeom>
                <a:avLst/>
                <a:gdLst>
                  <a:gd name="connsiteX0" fmla="*/ 0 w 3906651"/>
                  <a:gd name="connsiteY0" fmla="*/ 0 h 313383"/>
                  <a:gd name="connsiteX1" fmla="*/ 3906651 w 3906651"/>
                  <a:gd name="connsiteY1" fmla="*/ 0 h 313383"/>
                  <a:gd name="connsiteX2" fmla="*/ 3906651 w 3906651"/>
                  <a:gd name="connsiteY2" fmla="*/ 313383 h 313383"/>
                  <a:gd name="connsiteX3" fmla="*/ 0 w 3906651"/>
                  <a:gd name="connsiteY3" fmla="*/ 313383 h 313383"/>
                  <a:gd name="connsiteX4" fmla="*/ 0 w 3906651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6651" h="313383">
                    <a:moveTo>
                      <a:pt x="0" y="0"/>
                    </a:moveTo>
                    <a:lnTo>
                      <a:pt x="3906651" y="0"/>
                    </a:lnTo>
                    <a:lnTo>
                      <a:pt x="3906651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Arial" panose="020B0604020202020204"/>
                  </a:rPr>
                  <a:t>中国特色社会主义新时代</a:t>
                </a:r>
                <a:endParaRPr lang="zh-CN" altLang="en-US" dirty="0">
                  <a:solidFill>
                    <a:prstClr val="white"/>
                  </a:solidFill>
                  <a:latin typeface="Arial" panose="020B0604020202020204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8897935" y="2113927"/>
                <a:ext cx="3029405" cy="371553"/>
              </a:xfrm>
              <a:custGeom>
                <a:avLst/>
                <a:gdLst>
                  <a:gd name="connsiteX0" fmla="*/ 0 w 3906651"/>
                  <a:gd name="connsiteY0" fmla="*/ 0 h 313383"/>
                  <a:gd name="connsiteX1" fmla="*/ 3906651 w 3906651"/>
                  <a:gd name="connsiteY1" fmla="*/ 0 h 313383"/>
                  <a:gd name="connsiteX2" fmla="*/ 3906651 w 3906651"/>
                  <a:gd name="connsiteY2" fmla="*/ 313383 h 313383"/>
                  <a:gd name="connsiteX3" fmla="*/ 0 w 3906651"/>
                  <a:gd name="connsiteY3" fmla="*/ 313383 h 313383"/>
                  <a:gd name="connsiteX4" fmla="*/ 0 w 3906651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6651" h="313383">
                    <a:moveTo>
                      <a:pt x="0" y="0"/>
                    </a:moveTo>
                    <a:lnTo>
                      <a:pt x="3906651" y="0"/>
                    </a:lnTo>
                    <a:lnTo>
                      <a:pt x="3906651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defTabSz="8001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r>
                  <a:rPr lang="zh-CN" altLang="en-US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sym typeface="思源黑体 CN Medium" panose="020B0600000000000000" charset="-122"/>
                  </a:rPr>
                  <a:t>新民主主义革命时期</a:t>
                </a:r>
                <a:endParaRPr lang="zh-CN" altLang="en-US" dirty="0">
                  <a:solidFill>
                    <a:prstClr val="white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973430" y="1328886"/>
            <a:ext cx="10245141" cy="4513930"/>
            <a:chOff x="1353362" y="1328886"/>
            <a:chExt cx="10245141" cy="4513930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353362" y="3096686"/>
              <a:ext cx="1482679" cy="861750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毛泽东思想及其历史地位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144410" y="1651383"/>
              <a:ext cx="3159077" cy="494944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毛泽东思想的形成和发展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4" name="左大括号 53"/>
            <p:cNvSpPr/>
            <p:nvPr/>
          </p:nvSpPr>
          <p:spPr>
            <a:xfrm>
              <a:off x="2900544" y="1889561"/>
              <a:ext cx="205577" cy="3276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6372813" y="1328886"/>
              <a:ext cx="5225155" cy="1207770"/>
              <a:chOff x="8999" y="1681"/>
              <a:chExt cx="10055" cy="1902"/>
            </a:xfrm>
          </p:grpSpPr>
          <p:sp>
            <p:nvSpPr>
              <p:cNvPr id="67" name="任意多边形: 形状 66"/>
              <p:cNvSpPr/>
              <p:nvPr/>
            </p:nvSpPr>
            <p:spPr>
              <a:xfrm>
                <a:off x="9322" y="1681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毛泽东思想形成发展的历史条件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9322" y="2970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毛泽东思想形成发展的过程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9" name="左大括号 68"/>
              <p:cNvSpPr/>
              <p:nvPr/>
            </p:nvSpPr>
            <p:spPr>
              <a:xfrm>
                <a:off x="8999" y="1971"/>
                <a:ext cx="324" cy="1250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56" name="任意多边形: 形状 55"/>
            <p:cNvSpPr/>
            <p:nvPr/>
          </p:nvSpPr>
          <p:spPr>
            <a:xfrm>
              <a:off x="3077167" y="3080097"/>
              <a:ext cx="3226435" cy="959485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+mn-ea"/>
                </a:rPr>
                <a:t>毛泽东思想的主要内容和活的灵魂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6372820" y="2972283"/>
              <a:ext cx="5225163" cy="1208405"/>
              <a:chOff x="8999" y="5549"/>
              <a:chExt cx="10055" cy="1903"/>
            </a:xfrm>
          </p:grpSpPr>
          <p:sp>
            <p:nvSpPr>
              <p:cNvPr id="64" name="任意多边形: 形状 63"/>
              <p:cNvSpPr/>
              <p:nvPr/>
            </p:nvSpPr>
            <p:spPr>
              <a:xfrm>
                <a:off x="9322" y="5549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毛泽东思想的主要内容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9322" y="6839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毛泽东思想活的灵魂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6" name="左大括号 65"/>
              <p:cNvSpPr/>
              <p:nvPr/>
            </p:nvSpPr>
            <p:spPr>
              <a:xfrm>
                <a:off x="8999" y="5810"/>
                <a:ext cx="324" cy="1250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sp>
          <p:nvSpPr>
            <p:cNvPr id="58" name="任意多边形: 形状 57"/>
            <p:cNvSpPr/>
            <p:nvPr/>
          </p:nvSpPr>
          <p:spPr>
            <a:xfrm>
              <a:off x="3144410" y="4978142"/>
              <a:ext cx="3159077" cy="494665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毛泽东思想的历史地位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6372820" y="4511221"/>
              <a:ext cx="5225683" cy="1331595"/>
              <a:chOff x="8999" y="8346"/>
              <a:chExt cx="10056" cy="2097"/>
            </a:xfrm>
          </p:grpSpPr>
          <p:sp>
            <p:nvSpPr>
              <p:cNvPr id="60" name="任意多边形: 形状 59"/>
              <p:cNvSpPr/>
              <p:nvPr/>
            </p:nvSpPr>
            <p:spPr>
              <a:xfrm>
                <a:off x="9323" y="8346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马克思主义中国化时代化的第一个重大理论成果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9323" y="9088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中国革命和建设的科学指南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2" name="左大括号 61"/>
              <p:cNvSpPr/>
              <p:nvPr/>
            </p:nvSpPr>
            <p:spPr>
              <a:xfrm>
                <a:off x="8999" y="8540"/>
                <a:ext cx="325" cy="1701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3" name="任意多边形: 形状 65"/>
              <p:cNvSpPr/>
              <p:nvPr/>
            </p:nvSpPr>
            <p:spPr>
              <a:xfrm>
                <a:off x="9323" y="9830"/>
                <a:ext cx="9732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lvl="0" algn="just" defTabSz="8001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中国共产党和中国人民宝贵的精神财富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1591739" y="1535212"/>
            <a:ext cx="9008522" cy="4387578"/>
            <a:chOff x="1024207" y="1642200"/>
            <a:chExt cx="9008522" cy="4387578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024207" y="3390882"/>
              <a:ext cx="1239775" cy="861750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新民主主义革命理论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2533015" y="2011441"/>
              <a:ext cx="3386068" cy="383868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新民主主义革命理论形成的依据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4" name="左大括号 53"/>
            <p:cNvSpPr/>
            <p:nvPr/>
          </p:nvSpPr>
          <p:spPr>
            <a:xfrm>
              <a:off x="2329365" y="2225369"/>
              <a:ext cx="205577" cy="3168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5967069" y="1642200"/>
              <a:ext cx="4065205" cy="1207135"/>
              <a:chOff x="8999" y="1681"/>
              <a:chExt cx="8925" cy="1901"/>
            </a:xfrm>
          </p:grpSpPr>
          <p:sp>
            <p:nvSpPr>
              <p:cNvPr id="67" name="任意多边形: 形状 66"/>
              <p:cNvSpPr/>
              <p:nvPr/>
            </p:nvSpPr>
            <p:spPr>
              <a:xfrm>
                <a:off x="9322" y="1681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近代中国国情和中国革命的时代特征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9322" y="2970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新民主主义革命理论的实践基础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9" name="左大括号 68"/>
              <p:cNvSpPr/>
              <p:nvPr/>
            </p:nvSpPr>
            <p:spPr>
              <a:xfrm>
                <a:off x="8999" y="1971"/>
                <a:ext cx="324" cy="1250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56" name="任意多边形: 形状 55"/>
            <p:cNvSpPr/>
            <p:nvPr/>
          </p:nvSpPr>
          <p:spPr>
            <a:xfrm>
              <a:off x="2533015" y="3429001"/>
              <a:ext cx="3386068" cy="720000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新民主主义革命的总路线和基本纲领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5967069" y="3183255"/>
              <a:ext cx="4065205" cy="1207770"/>
              <a:chOff x="8999" y="5549"/>
              <a:chExt cx="8925" cy="1902"/>
            </a:xfrm>
          </p:grpSpPr>
          <p:sp>
            <p:nvSpPr>
              <p:cNvPr id="64" name="任意多边形: 形状 63"/>
              <p:cNvSpPr/>
              <p:nvPr/>
            </p:nvSpPr>
            <p:spPr>
              <a:xfrm>
                <a:off x="9322" y="5549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新民主主义革命的总路线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9322" y="6839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新民主主义的基本纲领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6" name="左大括号 65"/>
              <p:cNvSpPr/>
              <p:nvPr/>
            </p:nvSpPr>
            <p:spPr>
              <a:xfrm>
                <a:off x="8999" y="5810"/>
                <a:ext cx="324" cy="1250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58" name="任意多边形: 形状 57"/>
            <p:cNvSpPr/>
            <p:nvPr/>
          </p:nvSpPr>
          <p:spPr>
            <a:xfrm>
              <a:off x="2600325" y="5002030"/>
              <a:ext cx="3318758" cy="720090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新民主主义革命的道路和基本经验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5967069" y="4698818"/>
              <a:ext cx="4065660" cy="1330960"/>
              <a:chOff x="8999" y="8346"/>
              <a:chExt cx="8926" cy="2096"/>
            </a:xfrm>
          </p:grpSpPr>
          <p:sp>
            <p:nvSpPr>
              <p:cNvPr id="60" name="任意多边形: 形状 59"/>
              <p:cNvSpPr/>
              <p:nvPr/>
            </p:nvSpPr>
            <p:spPr>
              <a:xfrm>
                <a:off x="9323" y="8346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新民主主义革命的道路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9323" y="9088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新民主主义革命的三大法宝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左大括号 61"/>
              <p:cNvSpPr/>
              <p:nvPr/>
            </p:nvSpPr>
            <p:spPr>
              <a:xfrm>
                <a:off x="8999" y="8540"/>
                <a:ext cx="325" cy="1701"/>
              </a:xfrm>
              <a:prstGeom prst="leftBrac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3" name="任意多边形: 形状 65"/>
              <p:cNvSpPr/>
              <p:nvPr/>
            </p:nvSpPr>
            <p:spPr>
              <a:xfrm>
                <a:off x="9323" y="9830"/>
                <a:ext cx="8603" cy="613"/>
              </a:xfrm>
              <a:custGeom>
                <a:avLst/>
                <a:gdLst>
                  <a:gd name="connsiteX0" fmla="*/ 0 w 2399906"/>
                  <a:gd name="connsiteY0" fmla="*/ 0 h 313383"/>
                  <a:gd name="connsiteX1" fmla="*/ 2399906 w 2399906"/>
                  <a:gd name="connsiteY1" fmla="*/ 0 h 313383"/>
                  <a:gd name="connsiteX2" fmla="*/ 2399906 w 2399906"/>
                  <a:gd name="connsiteY2" fmla="*/ 313383 h 313383"/>
                  <a:gd name="connsiteX3" fmla="*/ 0 w 2399906"/>
                  <a:gd name="connsiteY3" fmla="*/ 313383 h 313383"/>
                  <a:gd name="connsiteX4" fmla="*/ 0 w 2399906"/>
                  <a:gd name="connsiteY4" fmla="*/ 0 h 31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906" h="313383">
                    <a:moveTo>
                      <a:pt x="0" y="0"/>
                    </a:moveTo>
                    <a:lnTo>
                      <a:pt x="2399906" y="0"/>
                    </a:lnTo>
                    <a:lnTo>
                      <a:pt x="2399906" y="313383"/>
                    </a:lnTo>
                    <a:lnTo>
                      <a:pt x="0" y="31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marL="0" marR="0" lvl="0" indent="0" algn="just" defTabSz="8001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新民主主义革命理论的意义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772976" y="1569673"/>
            <a:ext cx="10646049" cy="4090857"/>
            <a:chOff x="762546" y="1348843"/>
            <a:chExt cx="10646049" cy="4090857"/>
          </a:xfrm>
        </p:grpSpPr>
        <p:sp>
          <p:nvSpPr>
            <p:cNvPr id="50" name="任意多边形: 形状 49"/>
            <p:cNvSpPr/>
            <p:nvPr/>
          </p:nvSpPr>
          <p:spPr>
            <a:xfrm>
              <a:off x="762546" y="3034311"/>
              <a:ext cx="2196519" cy="861750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社会主义改造理论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360338" y="1658615"/>
              <a:ext cx="2789594" cy="645524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从新民主主义到社会主义的转变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360888" y="1348843"/>
              <a:ext cx="5047707" cy="48839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新民主主义社会是一个过渡性的社会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360889" y="2132302"/>
              <a:ext cx="5047706" cy="48839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党在过渡时期的总路线及其依据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3373158" y="3115706"/>
              <a:ext cx="2789593" cy="645524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社会主义改造道路和历史经验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386534" y="2812890"/>
              <a:ext cx="5022061" cy="488392"/>
            </a:xfrm>
            <a:custGeom>
              <a:avLst/>
              <a:gdLst>
                <a:gd name="connsiteX0" fmla="*/ 0 w 4543969"/>
                <a:gd name="connsiteY0" fmla="*/ 0 h 313383"/>
                <a:gd name="connsiteX1" fmla="*/ 4543969 w 4543969"/>
                <a:gd name="connsiteY1" fmla="*/ 0 h 313383"/>
                <a:gd name="connsiteX2" fmla="*/ 4543969 w 4543969"/>
                <a:gd name="connsiteY2" fmla="*/ 313383 h 313383"/>
                <a:gd name="connsiteX3" fmla="*/ 0 w 4543969"/>
                <a:gd name="connsiteY3" fmla="*/ 313383 h 313383"/>
                <a:gd name="connsiteX4" fmla="*/ 0 w 4543969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3969" h="313383">
                  <a:moveTo>
                    <a:pt x="0" y="0"/>
                  </a:moveTo>
                  <a:lnTo>
                    <a:pt x="4543969" y="0"/>
                  </a:lnTo>
                  <a:lnTo>
                    <a:pt x="4543969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适合中国特点的社会主义改造道路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386534" y="4217155"/>
              <a:ext cx="5022061" cy="48839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社会主义基本制度的确立及其理论根据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386534" y="4951308"/>
              <a:ext cx="5022061" cy="48839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确立社会主义基本制度的重大意义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左大括号 60"/>
            <p:cNvSpPr/>
            <p:nvPr/>
          </p:nvSpPr>
          <p:spPr>
            <a:xfrm>
              <a:off x="3039144" y="1980182"/>
              <a:ext cx="322684" cy="2934204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左大括号 61"/>
            <p:cNvSpPr/>
            <p:nvPr/>
          </p:nvSpPr>
          <p:spPr>
            <a:xfrm>
              <a:off x="6155309" y="1594209"/>
              <a:ext cx="205579" cy="793592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左大括号 62"/>
            <p:cNvSpPr/>
            <p:nvPr/>
          </p:nvSpPr>
          <p:spPr>
            <a:xfrm>
              <a:off x="6180957" y="3068390"/>
              <a:ext cx="205579" cy="793592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左大括号 63"/>
            <p:cNvSpPr/>
            <p:nvPr/>
          </p:nvSpPr>
          <p:spPr>
            <a:xfrm>
              <a:off x="6180955" y="4472655"/>
              <a:ext cx="205579" cy="793592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386534" y="3556694"/>
              <a:ext cx="5022061" cy="488392"/>
            </a:xfrm>
            <a:custGeom>
              <a:avLst/>
              <a:gdLst>
                <a:gd name="connsiteX0" fmla="*/ 0 w 4543969"/>
                <a:gd name="connsiteY0" fmla="*/ 0 h 313383"/>
                <a:gd name="connsiteX1" fmla="*/ 4543969 w 4543969"/>
                <a:gd name="connsiteY1" fmla="*/ 0 h 313383"/>
                <a:gd name="connsiteX2" fmla="*/ 4543969 w 4543969"/>
                <a:gd name="connsiteY2" fmla="*/ 313383 h 313383"/>
                <a:gd name="connsiteX3" fmla="*/ 0 w 4543969"/>
                <a:gd name="connsiteY3" fmla="*/ 313383 h 313383"/>
                <a:gd name="connsiteX4" fmla="*/ 0 w 4543969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3969" h="313383">
                  <a:moveTo>
                    <a:pt x="0" y="0"/>
                  </a:moveTo>
                  <a:lnTo>
                    <a:pt x="4543969" y="0"/>
                  </a:lnTo>
                  <a:lnTo>
                    <a:pt x="4543969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社会主义改造的历史经验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3391361" y="4545655"/>
              <a:ext cx="2789593" cy="645524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社会主义基本制度在中国的确立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sp>
        <p:nvSpPr>
          <p:cNvPr id="50" name="任意多边形: 形状 49"/>
          <p:cNvSpPr/>
          <p:nvPr/>
        </p:nvSpPr>
        <p:spPr>
          <a:xfrm>
            <a:off x="1002346" y="2957624"/>
            <a:ext cx="2444718" cy="1251913"/>
          </a:xfrm>
          <a:custGeom>
            <a:avLst/>
            <a:gdLst>
              <a:gd name="connsiteX0" fmla="*/ 0 w 3668502"/>
              <a:gd name="connsiteY0" fmla="*/ 0 h 313383"/>
              <a:gd name="connsiteX1" fmla="*/ 3668502 w 3668502"/>
              <a:gd name="connsiteY1" fmla="*/ 0 h 313383"/>
              <a:gd name="connsiteX2" fmla="*/ 3668502 w 3668502"/>
              <a:gd name="connsiteY2" fmla="*/ 313383 h 313383"/>
              <a:gd name="connsiteX3" fmla="*/ 0 w 3668502"/>
              <a:gd name="connsiteY3" fmla="*/ 313383 h 313383"/>
              <a:gd name="connsiteX4" fmla="*/ 0 w 3668502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8502" h="313383">
                <a:moveTo>
                  <a:pt x="0" y="0"/>
                </a:moveTo>
                <a:lnTo>
                  <a:pt x="3668502" y="0"/>
                </a:lnTo>
                <a:lnTo>
                  <a:pt x="3668502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ctr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社会主义建设道路初步探索的理论成果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3683162" y="2401166"/>
            <a:ext cx="2935427" cy="455269"/>
          </a:xfrm>
          <a:custGeom>
            <a:avLst/>
            <a:gdLst>
              <a:gd name="connsiteX0" fmla="*/ 0 w 2825096"/>
              <a:gd name="connsiteY0" fmla="*/ 0 h 313383"/>
              <a:gd name="connsiteX1" fmla="*/ 2825096 w 2825096"/>
              <a:gd name="connsiteY1" fmla="*/ 0 h 313383"/>
              <a:gd name="connsiteX2" fmla="*/ 2825096 w 2825096"/>
              <a:gd name="connsiteY2" fmla="*/ 313383 h 313383"/>
              <a:gd name="connsiteX3" fmla="*/ 0 w 2825096"/>
              <a:gd name="connsiteY3" fmla="*/ 313383 h 313383"/>
              <a:gd name="connsiteX4" fmla="*/ 0 w 282509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5096" h="313383">
                <a:moveTo>
                  <a:pt x="0" y="0"/>
                </a:moveTo>
                <a:lnTo>
                  <a:pt x="2825096" y="0"/>
                </a:lnTo>
                <a:lnTo>
                  <a:pt x="282509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l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初步探索的重要理论成果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6847230" y="1650348"/>
            <a:ext cx="4372519" cy="455269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调动一切积极因素为社会主义事业服务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6847230" y="2184600"/>
            <a:ext cx="4372519" cy="503503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正确认识和处理社会主义社会矛盾的思想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6" name="任意多边形: 形状 55"/>
          <p:cNvSpPr/>
          <p:nvPr/>
        </p:nvSpPr>
        <p:spPr>
          <a:xfrm>
            <a:off x="6847230" y="2767086"/>
            <a:ext cx="4372519" cy="455269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走中国工业化道路的思想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7" name="任意多边形: 形状 56"/>
          <p:cNvSpPr/>
          <p:nvPr/>
        </p:nvSpPr>
        <p:spPr>
          <a:xfrm>
            <a:off x="3706224" y="4407364"/>
            <a:ext cx="2935428" cy="455269"/>
          </a:xfrm>
          <a:custGeom>
            <a:avLst/>
            <a:gdLst>
              <a:gd name="connsiteX0" fmla="*/ 0 w 3433006"/>
              <a:gd name="connsiteY0" fmla="*/ 0 h 313383"/>
              <a:gd name="connsiteX1" fmla="*/ 3433006 w 3433006"/>
              <a:gd name="connsiteY1" fmla="*/ 0 h 313383"/>
              <a:gd name="connsiteX2" fmla="*/ 3433006 w 3433006"/>
              <a:gd name="connsiteY2" fmla="*/ 313383 h 313383"/>
              <a:gd name="connsiteX3" fmla="*/ 0 w 3433006"/>
              <a:gd name="connsiteY3" fmla="*/ 313383 h 313383"/>
              <a:gd name="connsiteX4" fmla="*/ 0 w 34330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006" h="313383">
                <a:moveTo>
                  <a:pt x="0" y="0"/>
                </a:moveTo>
                <a:lnTo>
                  <a:pt x="3433006" y="0"/>
                </a:lnTo>
                <a:lnTo>
                  <a:pt x="34330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l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初步探索的意义和经验教训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6847230" y="4194475"/>
            <a:ext cx="4372518" cy="455269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初步探索的意义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6847230" y="4722417"/>
            <a:ext cx="4372518" cy="455269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初步探索的经验教训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0" name="左大括号 59"/>
          <p:cNvSpPr/>
          <p:nvPr/>
        </p:nvSpPr>
        <p:spPr>
          <a:xfrm>
            <a:off x="3461978" y="2613846"/>
            <a:ext cx="198122" cy="2089800"/>
          </a:xfrm>
          <a:prstGeom prst="leftBrace">
            <a:avLst/>
          </a:prstGeom>
          <a:noFill/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1" name="左大括号 60"/>
          <p:cNvSpPr/>
          <p:nvPr/>
        </p:nvSpPr>
        <p:spPr>
          <a:xfrm>
            <a:off x="6641651" y="1863260"/>
            <a:ext cx="205579" cy="1768069"/>
          </a:xfrm>
          <a:prstGeom prst="leftBrace">
            <a:avLst/>
          </a:prstGeom>
          <a:noFill/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左大括号 61"/>
          <p:cNvSpPr/>
          <p:nvPr/>
        </p:nvSpPr>
        <p:spPr>
          <a:xfrm>
            <a:off x="6687774" y="4407363"/>
            <a:ext cx="205579" cy="513887"/>
          </a:xfrm>
          <a:prstGeom prst="leftBrace">
            <a:avLst/>
          </a:prstGeom>
          <a:noFill/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6847230" y="3301339"/>
            <a:ext cx="4372518" cy="455269"/>
          </a:xfrm>
          <a:custGeom>
            <a:avLst/>
            <a:gdLst>
              <a:gd name="connsiteX0" fmla="*/ 0 w 2399906"/>
              <a:gd name="connsiteY0" fmla="*/ 0 h 313383"/>
              <a:gd name="connsiteX1" fmla="*/ 2399906 w 2399906"/>
              <a:gd name="connsiteY1" fmla="*/ 0 h 313383"/>
              <a:gd name="connsiteX2" fmla="*/ 2399906 w 2399906"/>
              <a:gd name="connsiteY2" fmla="*/ 313383 h 313383"/>
              <a:gd name="connsiteX3" fmla="*/ 0 w 2399906"/>
              <a:gd name="connsiteY3" fmla="*/ 313383 h 313383"/>
              <a:gd name="connsiteX4" fmla="*/ 0 w 2399906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9906" h="313383">
                <a:moveTo>
                  <a:pt x="0" y="0"/>
                </a:moveTo>
                <a:lnTo>
                  <a:pt x="2399906" y="0"/>
                </a:lnTo>
                <a:lnTo>
                  <a:pt x="2399906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初步探索的其他理论成果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159636" y="1552668"/>
            <a:ext cx="9872728" cy="4435574"/>
            <a:chOff x="1072862" y="1730089"/>
            <a:chExt cx="9872728" cy="4435574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072862" y="3038704"/>
              <a:ext cx="1556732" cy="1156519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+mn-ea"/>
                </a:rPr>
                <a:t>中国特色社会主义理论体系的形成发展</a:t>
              </a:r>
              <a:endParaRPr lang="zh-CN" altLang="en-US" b="1" dirty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2869165" y="2302302"/>
              <a:ext cx="3502971" cy="736402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+mn-ea"/>
                  <a:sym typeface="+mn-ea"/>
                </a:rPr>
                <a:t>中国特色社会主义理论体系形成发展的社会历史条件</a:t>
              </a:r>
              <a:endParaRPr lang="zh-CN" altLang="en-US" b="1" dirty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636634" y="1730089"/>
              <a:ext cx="4308870" cy="60339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中国特色社会主义理论体系形成发展的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国际背景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636634" y="2333481"/>
              <a:ext cx="4308870" cy="590923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+mn-ea"/>
                  <a:sym typeface="+mn-ea"/>
                </a:rPr>
                <a:t>中国特色社会主义理论体系形成发展的</a:t>
              </a:r>
              <a:endParaRPr lang="en-US" altLang="zh-CN" b="1" dirty="0">
                <a:solidFill>
                  <a:prstClr val="white"/>
                </a:solidFill>
                <a:latin typeface="+mn-ea"/>
                <a:sym typeface="+mn-ea"/>
              </a:endParaRPr>
            </a:p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+mn-ea"/>
                  <a:sym typeface="+mn-ea"/>
                </a:rPr>
                <a:t>历史条件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6636634" y="2987446"/>
              <a:ext cx="4308870" cy="669205"/>
            </a:xfrm>
            <a:custGeom>
              <a:avLst/>
              <a:gdLst>
                <a:gd name="connsiteX0" fmla="*/ 0 w 4543969"/>
                <a:gd name="connsiteY0" fmla="*/ 0 h 313383"/>
                <a:gd name="connsiteX1" fmla="*/ 4543969 w 4543969"/>
                <a:gd name="connsiteY1" fmla="*/ 0 h 313383"/>
                <a:gd name="connsiteX2" fmla="*/ 4543969 w 4543969"/>
                <a:gd name="connsiteY2" fmla="*/ 313383 h 313383"/>
                <a:gd name="connsiteX3" fmla="*/ 0 w 4543969"/>
                <a:gd name="connsiteY3" fmla="*/ 313383 h 313383"/>
                <a:gd name="connsiteX4" fmla="*/ 0 w 4543969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3969" h="313383">
                  <a:moveTo>
                    <a:pt x="0" y="0"/>
                  </a:moveTo>
                  <a:lnTo>
                    <a:pt x="4543969" y="0"/>
                  </a:lnTo>
                  <a:lnTo>
                    <a:pt x="4543969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中国特色社会主义理论体系形成发展的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实践基础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636635" y="3814071"/>
              <a:ext cx="4308870" cy="481367"/>
            </a:xfrm>
            <a:custGeom>
              <a:avLst/>
              <a:gdLst>
                <a:gd name="connsiteX0" fmla="*/ 0 w 5998486"/>
                <a:gd name="connsiteY0" fmla="*/ 0 h 313383"/>
                <a:gd name="connsiteX1" fmla="*/ 5998486 w 5998486"/>
                <a:gd name="connsiteY1" fmla="*/ 0 h 313383"/>
                <a:gd name="connsiteX2" fmla="*/ 5998486 w 5998486"/>
                <a:gd name="connsiteY2" fmla="*/ 313383 h 313383"/>
                <a:gd name="connsiteX3" fmla="*/ 0 w 5998486"/>
                <a:gd name="connsiteY3" fmla="*/ 313383 h 313383"/>
                <a:gd name="connsiteX4" fmla="*/ 0 w 599848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486" h="313383">
                  <a:moveTo>
                    <a:pt x="0" y="0"/>
                  </a:moveTo>
                  <a:lnTo>
                    <a:pt x="5998486" y="0"/>
                  </a:lnTo>
                  <a:lnTo>
                    <a:pt x="599848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中国特色社会主义理论体系的形成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869165" y="4638131"/>
              <a:ext cx="3502971" cy="775890"/>
            </a:xfrm>
            <a:custGeom>
              <a:avLst/>
              <a:gdLst>
                <a:gd name="connsiteX0" fmla="*/ 0 w 3433006"/>
                <a:gd name="connsiteY0" fmla="*/ 0 h 313383"/>
                <a:gd name="connsiteX1" fmla="*/ 3433006 w 3433006"/>
                <a:gd name="connsiteY1" fmla="*/ 0 h 313383"/>
                <a:gd name="connsiteX2" fmla="*/ 3433006 w 3433006"/>
                <a:gd name="connsiteY2" fmla="*/ 313383 h 313383"/>
                <a:gd name="connsiteX3" fmla="*/ 0 w 3433006"/>
                <a:gd name="connsiteY3" fmla="*/ 313383 h 313383"/>
                <a:gd name="connsiteX4" fmla="*/ 0 w 34330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3006" h="313383">
                  <a:moveTo>
                    <a:pt x="0" y="0"/>
                  </a:moveTo>
                  <a:lnTo>
                    <a:pt x="3433006" y="0"/>
                  </a:lnTo>
                  <a:lnTo>
                    <a:pt x="34330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中国特色社会主义理论体系形成发展过程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636635" y="4387488"/>
              <a:ext cx="4308870" cy="420578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中国特色社会主义理论体系的跨世纪发展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6636634" y="4899993"/>
              <a:ext cx="4308956" cy="611706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lang="zh-CN" altLang="en-US" b="1" spc="-100" dirty="0">
                  <a:solidFill>
                    <a:schemeClr val="bg1"/>
                  </a:solidFill>
                  <a:latin typeface="+mn-ea"/>
                  <a:sym typeface="+mn-ea"/>
                </a:rPr>
                <a:t>中国特色社会主义理论体系在新世纪新阶段的新发展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6636634" y="5543565"/>
              <a:ext cx="4308956" cy="622098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rPr>
                <a:t>中国特色社会主义理论体系在新时代的新篇章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3" name="左大括号 62"/>
            <p:cNvSpPr/>
            <p:nvPr/>
          </p:nvSpPr>
          <p:spPr>
            <a:xfrm>
              <a:off x="2663798" y="2536403"/>
              <a:ext cx="205577" cy="2484000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4" name="左大括号 63"/>
            <p:cNvSpPr/>
            <p:nvPr/>
          </p:nvSpPr>
          <p:spPr>
            <a:xfrm>
              <a:off x="6431055" y="2109666"/>
              <a:ext cx="205579" cy="1065047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6" name="左大括号 65"/>
            <p:cNvSpPr/>
            <p:nvPr/>
          </p:nvSpPr>
          <p:spPr>
            <a:xfrm>
              <a:off x="6418871" y="4086001"/>
              <a:ext cx="217170" cy="1785238"/>
            </a:xfrm>
            <a:prstGeom prst="leftBrace">
              <a:avLst>
                <a:gd name="adj1" fmla="val 0"/>
                <a:gd name="adj2" fmla="val 50000"/>
              </a:avLst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149493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  <a:sym typeface="微软雅黑" panose="020B050302020402020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  <a:sym typeface="微软雅黑" panose="020B050302020402020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Bold" panose="020B0800000000000000" pitchFamily="34" charset="-122"/>
                <a:sym typeface="微软雅黑" panose="020B050302020402020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字魂105号-简雅黑" panose="00000500000000000000" pitchFamily="2" charset="-122"/>
              <a:sym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928370" y="1241425"/>
            <a:ext cx="10541635" cy="5318126"/>
            <a:chOff x="1035592" y="1063503"/>
            <a:chExt cx="10541502" cy="3540064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035592" y="2277052"/>
              <a:ext cx="1764442" cy="861750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</a:t>
              </a:r>
              <a:endParaRPr lang="zh-CN" altLang="en-US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064391" y="1140011"/>
              <a:ext cx="3702003" cy="444674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邓小平理论首要的基本的理论问题和精髓</a:t>
              </a:r>
              <a:endParaRPr lang="zh-CN" altLang="en-US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971497" y="1063503"/>
              <a:ext cx="4582102" cy="243049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defTabSz="8001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邓小平理论首要的基本的理论问题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971497" y="1415607"/>
              <a:ext cx="4582102" cy="245585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邓小平理论的精髓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040501" y="2634458"/>
              <a:ext cx="3701945" cy="313383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邓小平理论的主要内容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6994992" y="1819280"/>
              <a:ext cx="4582102" cy="243049"/>
            </a:xfrm>
            <a:custGeom>
              <a:avLst/>
              <a:gdLst>
                <a:gd name="connsiteX0" fmla="*/ 0 w 4543969"/>
                <a:gd name="connsiteY0" fmla="*/ 0 h 313383"/>
                <a:gd name="connsiteX1" fmla="*/ 4543969 w 4543969"/>
                <a:gd name="connsiteY1" fmla="*/ 0 h 313383"/>
                <a:gd name="connsiteX2" fmla="*/ 4543969 w 4543969"/>
                <a:gd name="connsiteY2" fmla="*/ 313383 h 313383"/>
                <a:gd name="connsiteX3" fmla="*/ 0 w 4543969"/>
                <a:gd name="connsiteY3" fmla="*/ 313383 h 313383"/>
                <a:gd name="connsiteX4" fmla="*/ 0 w 4543969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3969" h="313383">
                  <a:moveTo>
                    <a:pt x="0" y="0"/>
                  </a:moveTo>
                  <a:lnTo>
                    <a:pt x="4543969" y="0"/>
                  </a:lnTo>
                  <a:lnTo>
                    <a:pt x="4543969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社会主义初级阶段理论和党的基本路线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980387" y="3349856"/>
              <a:ext cx="4582102" cy="275597"/>
            </a:xfrm>
            <a:custGeom>
              <a:avLst/>
              <a:gdLst>
                <a:gd name="connsiteX0" fmla="*/ 0 w 5998486"/>
                <a:gd name="connsiteY0" fmla="*/ 0 h 313383"/>
                <a:gd name="connsiteX1" fmla="*/ 5998486 w 5998486"/>
                <a:gd name="connsiteY1" fmla="*/ 0 h 313383"/>
                <a:gd name="connsiteX2" fmla="*/ 5998486 w 5998486"/>
                <a:gd name="connsiteY2" fmla="*/ 313383 h 313383"/>
                <a:gd name="connsiteX3" fmla="*/ 0 w 5998486"/>
                <a:gd name="connsiteY3" fmla="*/ 313383 h 313383"/>
                <a:gd name="connsiteX4" fmla="*/ 0 w 599848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98486" h="313383">
                  <a:moveTo>
                    <a:pt x="0" y="0"/>
                  </a:moveTo>
                  <a:lnTo>
                    <a:pt x="5998486" y="0"/>
                  </a:lnTo>
                  <a:lnTo>
                    <a:pt x="599848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党的建设理论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3072646" y="4038424"/>
              <a:ext cx="3605484" cy="313216"/>
            </a:xfrm>
            <a:custGeom>
              <a:avLst/>
              <a:gdLst>
                <a:gd name="connsiteX0" fmla="*/ 0 w 3433006"/>
                <a:gd name="connsiteY0" fmla="*/ 0 h 313383"/>
                <a:gd name="connsiteX1" fmla="*/ 3433006 w 3433006"/>
                <a:gd name="connsiteY1" fmla="*/ 0 h 313383"/>
                <a:gd name="connsiteX2" fmla="*/ 3433006 w 3433006"/>
                <a:gd name="connsiteY2" fmla="*/ 313383 h 313383"/>
                <a:gd name="connsiteX3" fmla="*/ 0 w 3433006"/>
                <a:gd name="connsiteY3" fmla="*/ 313383 h 313383"/>
                <a:gd name="connsiteX4" fmla="*/ 0 w 34330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3006" h="313383">
                  <a:moveTo>
                    <a:pt x="0" y="0"/>
                  </a:moveTo>
                  <a:lnTo>
                    <a:pt x="3433006" y="0"/>
                  </a:lnTo>
                  <a:lnTo>
                    <a:pt x="34330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邓小平理论的历史地位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980387" y="3765364"/>
              <a:ext cx="4582102" cy="247276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马克思列宁主义、毛泽东思想的继承和发展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6971497" y="4043920"/>
              <a:ext cx="4582102" cy="26672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中国特色社会主义理论体系的开篇之作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6971497" y="4341919"/>
              <a:ext cx="4582102" cy="261648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改革开放和社会主义现代化建设的科学指南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3" name="左大括号 62"/>
            <p:cNvSpPr/>
            <p:nvPr/>
          </p:nvSpPr>
          <p:spPr>
            <a:xfrm>
              <a:off x="2835159" y="1169177"/>
              <a:ext cx="205737" cy="3077636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4" name="左大括号 63"/>
            <p:cNvSpPr/>
            <p:nvPr/>
          </p:nvSpPr>
          <p:spPr>
            <a:xfrm>
              <a:off x="6765760" y="1210178"/>
              <a:ext cx="205737" cy="393951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5" name="左大括号 64"/>
            <p:cNvSpPr/>
            <p:nvPr/>
          </p:nvSpPr>
          <p:spPr>
            <a:xfrm>
              <a:off x="6765760" y="1935944"/>
              <a:ext cx="205737" cy="1592711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6" name="左大括号 65"/>
            <p:cNvSpPr/>
            <p:nvPr/>
          </p:nvSpPr>
          <p:spPr>
            <a:xfrm>
              <a:off x="6709880" y="3812705"/>
              <a:ext cx="205737" cy="729570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任意多边形: 形状 56"/>
          <p:cNvSpPr/>
          <p:nvPr>
            <p:custDataLst>
              <p:tags r:id="rId2"/>
            </p:custDataLst>
          </p:nvPr>
        </p:nvSpPr>
        <p:spPr>
          <a:xfrm>
            <a:off x="6873240" y="3174365"/>
            <a:ext cx="4582160" cy="363220"/>
          </a:xfrm>
          <a:custGeom>
            <a:avLst/>
            <a:gdLst>
              <a:gd name="connsiteX0" fmla="*/ 0 w 4543969"/>
              <a:gd name="connsiteY0" fmla="*/ 0 h 313383"/>
              <a:gd name="connsiteX1" fmla="*/ 4543969 w 4543969"/>
              <a:gd name="connsiteY1" fmla="*/ 0 h 313383"/>
              <a:gd name="connsiteX2" fmla="*/ 4543969 w 4543969"/>
              <a:gd name="connsiteY2" fmla="*/ 313383 h 313383"/>
              <a:gd name="connsiteX3" fmla="*/ 0 w 4543969"/>
              <a:gd name="connsiteY3" fmla="*/ 313383 h 313383"/>
              <a:gd name="connsiteX4" fmla="*/ 0 w 4543969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3969" h="313383">
                <a:moveTo>
                  <a:pt x="0" y="0"/>
                </a:moveTo>
                <a:lnTo>
                  <a:pt x="4543969" y="0"/>
                </a:lnTo>
                <a:lnTo>
                  <a:pt x="4543969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社会主义改革开放和社会主义市场经济理论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任意多边形: 形状 56"/>
          <p:cNvSpPr/>
          <p:nvPr>
            <p:custDataLst>
              <p:tags r:id="rId3"/>
            </p:custDataLst>
          </p:nvPr>
        </p:nvSpPr>
        <p:spPr>
          <a:xfrm>
            <a:off x="6888038" y="2773271"/>
            <a:ext cx="4582069" cy="385513"/>
          </a:xfrm>
          <a:custGeom>
            <a:avLst/>
            <a:gdLst>
              <a:gd name="connsiteX0" fmla="*/ 0 w 4543969"/>
              <a:gd name="connsiteY0" fmla="*/ 0 h 313383"/>
              <a:gd name="connsiteX1" fmla="*/ 4543969 w 4543969"/>
              <a:gd name="connsiteY1" fmla="*/ 0 h 313383"/>
              <a:gd name="connsiteX2" fmla="*/ 4543969 w 4543969"/>
              <a:gd name="connsiteY2" fmla="*/ 313383 h 313383"/>
              <a:gd name="connsiteX3" fmla="*/ 0 w 4543969"/>
              <a:gd name="connsiteY3" fmla="*/ 313383 h 313383"/>
              <a:gd name="connsiteX4" fmla="*/ 0 w 4543969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3969" h="313383">
                <a:moveTo>
                  <a:pt x="0" y="0"/>
                </a:moveTo>
                <a:lnTo>
                  <a:pt x="4543969" y="0"/>
                </a:lnTo>
                <a:lnTo>
                  <a:pt x="4543969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社会主义根本任务和发展战略理论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任意多边形: 形状 56"/>
          <p:cNvSpPr/>
          <p:nvPr>
            <p:custDataLst>
              <p:tags r:id="rId4"/>
            </p:custDataLst>
          </p:nvPr>
        </p:nvSpPr>
        <p:spPr>
          <a:xfrm>
            <a:off x="6875145" y="3553460"/>
            <a:ext cx="4582160" cy="332740"/>
          </a:xfrm>
          <a:custGeom>
            <a:avLst/>
            <a:gdLst>
              <a:gd name="connsiteX0" fmla="*/ 0 w 4543969"/>
              <a:gd name="connsiteY0" fmla="*/ 0 h 313383"/>
              <a:gd name="connsiteX1" fmla="*/ 4543969 w 4543969"/>
              <a:gd name="connsiteY1" fmla="*/ 0 h 313383"/>
              <a:gd name="connsiteX2" fmla="*/ 4543969 w 4543969"/>
              <a:gd name="connsiteY2" fmla="*/ 313383 h 313383"/>
              <a:gd name="connsiteX3" fmla="*/ 0 w 4543969"/>
              <a:gd name="connsiteY3" fmla="*/ 313383 h 313383"/>
              <a:gd name="connsiteX4" fmla="*/ 0 w 4543969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3969" h="313383">
                <a:moveTo>
                  <a:pt x="0" y="0"/>
                </a:moveTo>
                <a:lnTo>
                  <a:pt x="4543969" y="0"/>
                </a:lnTo>
                <a:lnTo>
                  <a:pt x="4543969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“两手抓，两手都要硬”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任意多边形: 形状 56"/>
          <p:cNvSpPr/>
          <p:nvPr>
            <p:custDataLst>
              <p:tags r:id="rId5"/>
            </p:custDataLst>
          </p:nvPr>
        </p:nvSpPr>
        <p:spPr>
          <a:xfrm>
            <a:off x="6875145" y="3902075"/>
            <a:ext cx="4582160" cy="330200"/>
          </a:xfrm>
          <a:custGeom>
            <a:avLst/>
            <a:gdLst>
              <a:gd name="connsiteX0" fmla="*/ 0 w 4543969"/>
              <a:gd name="connsiteY0" fmla="*/ 0 h 313383"/>
              <a:gd name="connsiteX1" fmla="*/ 4543969 w 4543969"/>
              <a:gd name="connsiteY1" fmla="*/ 0 h 313383"/>
              <a:gd name="connsiteX2" fmla="*/ 4543969 w 4543969"/>
              <a:gd name="connsiteY2" fmla="*/ 313383 h 313383"/>
              <a:gd name="connsiteX3" fmla="*/ 0 w 4543969"/>
              <a:gd name="connsiteY3" fmla="*/ 313383 h 313383"/>
              <a:gd name="connsiteX4" fmla="*/ 0 w 4543969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3969" h="313383">
                <a:moveTo>
                  <a:pt x="0" y="0"/>
                </a:moveTo>
                <a:lnTo>
                  <a:pt x="4543969" y="0"/>
                </a:lnTo>
                <a:lnTo>
                  <a:pt x="4543969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“一国两制”与祖国统一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任意多边形: 形状 56"/>
          <p:cNvSpPr/>
          <p:nvPr>
            <p:custDataLst>
              <p:tags r:id="rId6"/>
            </p:custDataLst>
          </p:nvPr>
        </p:nvSpPr>
        <p:spPr>
          <a:xfrm>
            <a:off x="6873433" y="4261711"/>
            <a:ext cx="4582069" cy="385513"/>
          </a:xfrm>
          <a:custGeom>
            <a:avLst/>
            <a:gdLst>
              <a:gd name="connsiteX0" fmla="*/ 0 w 4543969"/>
              <a:gd name="connsiteY0" fmla="*/ 0 h 313383"/>
              <a:gd name="connsiteX1" fmla="*/ 4543969 w 4543969"/>
              <a:gd name="connsiteY1" fmla="*/ 0 h 313383"/>
              <a:gd name="connsiteX2" fmla="*/ 4543969 w 4543969"/>
              <a:gd name="connsiteY2" fmla="*/ 313383 h 313383"/>
              <a:gd name="connsiteX3" fmla="*/ 0 w 4543969"/>
              <a:gd name="connsiteY3" fmla="*/ 313383 h 313383"/>
              <a:gd name="connsiteX4" fmla="*/ 0 w 4543969"/>
              <a:gd name="connsiteY4" fmla="*/ 0 h 313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3969" h="313383">
                <a:moveTo>
                  <a:pt x="0" y="0"/>
                </a:moveTo>
                <a:lnTo>
                  <a:pt x="4543969" y="0"/>
                </a:lnTo>
                <a:lnTo>
                  <a:pt x="4543969" y="313383"/>
                </a:lnTo>
                <a:lnTo>
                  <a:pt x="0" y="313383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marL="0" marR="0" lvl="0" indent="0" algn="just" defTabSz="8001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中国特色社会主义外交和国际战略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OPPOSans L" panose="00020600040101010101" pitchFamily="18" charset="-122"/>
              <a:cs typeface="+mn-cs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59619" y="1176455"/>
            <a:ext cx="9672763" cy="5173981"/>
            <a:chOff x="809210" y="1176455"/>
            <a:chExt cx="9672763" cy="5173981"/>
          </a:xfrm>
        </p:grpSpPr>
        <p:sp>
          <p:nvSpPr>
            <p:cNvPr id="33" name="任意多边形: 形状 32"/>
            <p:cNvSpPr/>
            <p:nvPr/>
          </p:nvSpPr>
          <p:spPr>
            <a:xfrm>
              <a:off x="809210" y="3329255"/>
              <a:ext cx="1482679" cy="861750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“三个代表”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  <a:p>
              <a:pPr marL="0" marR="0" lvl="0" indent="0" algn="ctr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重要思想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2582468" y="1464565"/>
              <a:ext cx="2170683" cy="709595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三个代表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”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重要思想的核心观点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5018938" y="1176455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始终代表中国先进生产力的发展要求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018938" y="1623827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始终代表中国先进文化的前进方向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5018938" y="2071199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始终代表中国最广大人民的根本利益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左大括号 37"/>
            <p:cNvSpPr/>
            <p:nvPr/>
          </p:nvSpPr>
          <p:spPr>
            <a:xfrm>
              <a:off x="2394679" y="1816130"/>
              <a:ext cx="205577" cy="3888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左大括号 46"/>
            <p:cNvSpPr/>
            <p:nvPr/>
          </p:nvSpPr>
          <p:spPr>
            <a:xfrm>
              <a:off x="4813424" y="1361052"/>
              <a:ext cx="205579" cy="936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5018938" y="2518571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发展是党执政兴国的第一要务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018938" y="2965943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建立社会主义市场经济体制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5018938" y="3413315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全面建设小康社会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4" name="左大括号 73"/>
            <p:cNvSpPr/>
            <p:nvPr/>
          </p:nvSpPr>
          <p:spPr>
            <a:xfrm>
              <a:off x="4813198" y="2751698"/>
              <a:ext cx="205740" cy="2160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582468" y="3434562"/>
              <a:ext cx="2170683" cy="709595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三个代表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”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重要思想的主要内容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5018938" y="3860687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建设社会主义政治文明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018938" y="4308059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实施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引进来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”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和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走出去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”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相结合的对外开放战略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5018938" y="4755431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推进党的建设新的伟大工程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2582468" y="5295454"/>
              <a:ext cx="2170683" cy="709595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“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三个代表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”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重要思想的历史地位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5018938" y="5202803"/>
              <a:ext cx="5463035" cy="3894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中国特色社会主义理论体系的丰富发展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5018938" y="5650174"/>
              <a:ext cx="5462905" cy="700262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加强和改进党的建设、推进中国特色社会主义事业的强大理论武器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7" name="左大括号 86"/>
            <p:cNvSpPr/>
            <p:nvPr/>
          </p:nvSpPr>
          <p:spPr>
            <a:xfrm>
              <a:off x="4813198" y="5363856"/>
              <a:ext cx="205740" cy="684000"/>
            </a:xfrm>
            <a:prstGeom prst="leftBrac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74"/>
          <p:cNvSpPr/>
          <p:nvPr/>
        </p:nvSpPr>
        <p:spPr>
          <a:xfrm flipH="1">
            <a:off x="-448831" y="-494638"/>
            <a:ext cx="2505007" cy="7524271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Freeform 256"/>
          <p:cNvSpPr/>
          <p:nvPr/>
        </p:nvSpPr>
        <p:spPr>
          <a:xfrm flipH="1">
            <a:off x="-204965" y="-610908"/>
            <a:ext cx="2505007" cy="7524270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sp>
        <p:nvSpPr>
          <p:cNvPr id="41" name="Freeform 256"/>
          <p:cNvSpPr/>
          <p:nvPr/>
        </p:nvSpPr>
        <p:spPr>
          <a:xfrm>
            <a:off x="8589435" y="-964231"/>
            <a:ext cx="3986626" cy="8170221"/>
          </a:xfrm>
          <a:custGeom>
            <a:avLst/>
            <a:gdLst>
              <a:gd name="connsiteX0" fmla="*/ 1197107 w 4058436"/>
              <a:gd name="connsiteY0" fmla="*/ 674673 h 8321486"/>
              <a:gd name="connsiteX1" fmla="*/ 48014 w 4058436"/>
              <a:gd name="connsiteY1" fmla="*/ 3975570 h 8321486"/>
              <a:gd name="connsiteX2" fmla="*/ 126231 w 4058436"/>
              <a:gd name="connsiteY2" fmla="*/ 4709303 h 8321486"/>
              <a:gd name="connsiteX3" fmla="*/ 1707028 w 4058436"/>
              <a:gd name="connsiteY3" fmla="*/ 7302797 h 8321486"/>
              <a:gd name="connsiteX4" fmla="*/ 1712498 w 4058436"/>
              <a:gd name="connsiteY4" fmla="*/ 7311650 h 8321486"/>
              <a:gd name="connsiteX5" fmla="*/ 2087581 w 4058436"/>
              <a:gd name="connsiteY5" fmla="*/ 7910663 h 8321486"/>
              <a:gd name="connsiteX6" fmla="*/ 2805224 w 4058436"/>
              <a:gd name="connsiteY6" fmla="*/ 8316006 h 8321486"/>
              <a:gd name="connsiteX7" fmla="*/ 3121119 w 4058436"/>
              <a:gd name="connsiteY7" fmla="*/ 8321360 h 8321486"/>
              <a:gd name="connsiteX8" fmla="*/ 3999727 w 4058436"/>
              <a:gd name="connsiteY8" fmla="*/ 7465172 h 8321486"/>
              <a:gd name="connsiteX9" fmla="*/ 4058401 w 4058436"/>
              <a:gd name="connsiteY9" fmla="*/ 871741 h 8321486"/>
              <a:gd name="connsiteX10" fmla="*/ 3125415 w 4058436"/>
              <a:gd name="connsiteY10" fmla="*/ 2814 h 8321486"/>
              <a:gd name="connsiteX11" fmla="*/ 1944060 w 4058436"/>
              <a:gd name="connsiteY11" fmla="*/ 97487 h 8321486"/>
              <a:gd name="connsiteX12" fmla="*/ 1197107 w 4058436"/>
              <a:gd name="connsiteY12" fmla="*/ 674673 h 832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58436" h="8321486">
                <a:moveTo>
                  <a:pt x="1197107" y="674673"/>
                </a:moveTo>
                <a:lnTo>
                  <a:pt x="48014" y="3975570"/>
                </a:lnTo>
                <a:cubicBezTo>
                  <a:pt x="-36897" y="4219487"/>
                  <a:pt x="-8191" y="4488767"/>
                  <a:pt x="126231" y="4709303"/>
                </a:cubicBezTo>
                <a:lnTo>
                  <a:pt x="1707028" y="7302797"/>
                </a:lnTo>
                <a:cubicBezTo>
                  <a:pt x="1708835" y="7305760"/>
                  <a:pt x="1710656" y="7308709"/>
                  <a:pt x="1712498" y="7311650"/>
                </a:cubicBezTo>
                <a:lnTo>
                  <a:pt x="2087581" y="7910663"/>
                </a:lnTo>
                <a:cubicBezTo>
                  <a:pt x="2242855" y="8158639"/>
                  <a:pt x="2512689" y="8311047"/>
                  <a:pt x="2805224" y="8316006"/>
                </a:cubicBezTo>
                <a:lnTo>
                  <a:pt x="3121119" y="8321360"/>
                </a:lnTo>
                <a:cubicBezTo>
                  <a:pt x="3600962" y="8329493"/>
                  <a:pt x="3995456" y="7945064"/>
                  <a:pt x="3999727" y="7465172"/>
                </a:cubicBezTo>
                <a:lnTo>
                  <a:pt x="4058401" y="871741"/>
                </a:lnTo>
                <a:cubicBezTo>
                  <a:pt x="4062913" y="364614"/>
                  <a:pt x="3630941" y="-37699"/>
                  <a:pt x="3125415" y="2814"/>
                </a:cubicBezTo>
                <a:lnTo>
                  <a:pt x="1944060" y="97487"/>
                </a:lnTo>
                <a:cubicBezTo>
                  <a:pt x="1602549" y="124855"/>
                  <a:pt x="1309744" y="351113"/>
                  <a:pt x="1197107" y="674673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  <a:alpha val="54000"/>
                </a:schemeClr>
              </a:gs>
              <a:gs pos="87000">
                <a:srgbClr val="C0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2" name="Freeform 74"/>
          <p:cNvSpPr/>
          <p:nvPr/>
        </p:nvSpPr>
        <p:spPr>
          <a:xfrm>
            <a:off x="8963426" y="-501276"/>
            <a:ext cx="3664706" cy="7524270"/>
          </a:xfrm>
          <a:custGeom>
            <a:avLst/>
            <a:gdLst>
              <a:gd name="connsiteX0" fmla="*/ 1057883 w 3664706"/>
              <a:gd name="connsiteY0" fmla="*/ 654277 h 7524270"/>
              <a:gd name="connsiteX1" fmla="*/ 48015 w 3664706"/>
              <a:gd name="connsiteY1" fmla="*/ 3555236 h 7524270"/>
              <a:gd name="connsiteX2" fmla="*/ 126231 w 3664706"/>
              <a:gd name="connsiteY2" fmla="*/ 4288969 h 7524270"/>
              <a:gd name="connsiteX3" fmla="*/ 1536766 w 3664706"/>
              <a:gd name="connsiteY3" fmla="*/ 6603127 h 7524270"/>
              <a:gd name="connsiteX4" fmla="*/ 1542236 w 3664706"/>
              <a:gd name="connsiteY4" fmla="*/ 6611982 h 7524270"/>
              <a:gd name="connsiteX5" fmla="*/ 1857904 w 3664706"/>
              <a:gd name="connsiteY5" fmla="*/ 7116109 h 7524270"/>
              <a:gd name="connsiteX6" fmla="*/ 2575548 w 3664706"/>
              <a:gd name="connsiteY6" fmla="*/ 7521451 h 7524270"/>
              <a:gd name="connsiteX7" fmla="*/ 2734483 w 3664706"/>
              <a:gd name="connsiteY7" fmla="*/ 7524144 h 7524270"/>
              <a:gd name="connsiteX8" fmla="*/ 3613092 w 3664706"/>
              <a:gd name="connsiteY8" fmla="*/ 6667956 h 7524270"/>
              <a:gd name="connsiteX9" fmla="*/ 3664671 w 3664706"/>
              <a:gd name="connsiteY9" fmla="*/ 871741 h 7524270"/>
              <a:gd name="connsiteX10" fmla="*/ 2731685 w 3664706"/>
              <a:gd name="connsiteY10" fmla="*/ 2814 h 7524270"/>
              <a:gd name="connsiteX11" fmla="*/ 1804836 w 3664706"/>
              <a:gd name="connsiteY11" fmla="*/ 77091 h 7524270"/>
              <a:gd name="connsiteX12" fmla="*/ 1057883 w 3664706"/>
              <a:gd name="connsiteY12" fmla="*/ 654277 h 7524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4706" h="7524270">
                <a:moveTo>
                  <a:pt x="1057883" y="654277"/>
                </a:moveTo>
                <a:lnTo>
                  <a:pt x="48015" y="3555236"/>
                </a:lnTo>
                <a:cubicBezTo>
                  <a:pt x="-36896" y="3799153"/>
                  <a:pt x="-8191" y="4068433"/>
                  <a:pt x="126231" y="4288969"/>
                </a:cubicBezTo>
                <a:lnTo>
                  <a:pt x="1536766" y="6603127"/>
                </a:lnTo>
                <a:cubicBezTo>
                  <a:pt x="1538572" y="6606091"/>
                  <a:pt x="1540393" y="6609040"/>
                  <a:pt x="1542236" y="6611982"/>
                </a:cubicBezTo>
                <a:lnTo>
                  <a:pt x="1857904" y="7116109"/>
                </a:lnTo>
                <a:cubicBezTo>
                  <a:pt x="2013178" y="7364084"/>
                  <a:pt x="2283012" y="7516492"/>
                  <a:pt x="2575548" y="7521451"/>
                </a:cubicBezTo>
                <a:lnTo>
                  <a:pt x="2734483" y="7524144"/>
                </a:lnTo>
                <a:cubicBezTo>
                  <a:pt x="3214326" y="7532277"/>
                  <a:pt x="3608821" y="7147849"/>
                  <a:pt x="3613092" y="6667956"/>
                </a:cubicBezTo>
                <a:lnTo>
                  <a:pt x="3664671" y="871741"/>
                </a:lnTo>
                <a:cubicBezTo>
                  <a:pt x="3669183" y="364614"/>
                  <a:pt x="3237211" y="-37699"/>
                  <a:pt x="2731685" y="2814"/>
                </a:cubicBezTo>
                <a:lnTo>
                  <a:pt x="1804836" y="77091"/>
                </a:lnTo>
                <a:cubicBezTo>
                  <a:pt x="1463325" y="104459"/>
                  <a:pt x="1170520" y="330717"/>
                  <a:pt x="1057883" y="654277"/>
                </a:cubicBezTo>
              </a:path>
            </a:pathLst>
          </a:custGeom>
          <a:gradFill flip="none" rotWithShape="1">
            <a:gsLst>
              <a:gs pos="42000">
                <a:schemeClr val="accent1">
                  <a:lumMod val="20000"/>
                  <a:lumOff val="80000"/>
                </a:schemeClr>
              </a:gs>
              <a:gs pos="87000">
                <a:srgbClr val="9A000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OPPOSans L" panose="00020600040101010101" pitchFamily="18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02162" y="-254268"/>
            <a:ext cx="11307239" cy="6955695"/>
            <a:chOff x="590052" y="221691"/>
            <a:chExt cx="4723857" cy="2153224"/>
          </a:xfrm>
        </p:grpSpPr>
        <p:sp>
          <p:nvSpPr>
            <p:cNvPr id="43" name="PPT世界-5-1"/>
            <p:cNvSpPr/>
            <p:nvPr/>
          </p:nvSpPr>
          <p:spPr bwMode="auto">
            <a:xfrm flipH="1">
              <a:off x="590052" y="221691"/>
              <a:ext cx="714198" cy="949636"/>
            </a:xfrm>
            <a:custGeom>
              <a:avLst/>
              <a:gdLst>
                <a:gd name="T0" fmla="*/ 937 w 1873"/>
                <a:gd name="T1" fmla="*/ 0 h 2494"/>
                <a:gd name="T2" fmla="*/ 0 w 1873"/>
                <a:gd name="T3" fmla="*/ 405 h 2494"/>
                <a:gd name="T4" fmla="*/ 0 w 1873"/>
                <a:gd name="T5" fmla="*/ 1408 h 2494"/>
                <a:gd name="T6" fmla="*/ 937 w 1873"/>
                <a:gd name="T7" fmla="*/ 2494 h 2494"/>
                <a:gd name="T8" fmla="*/ 1873 w 1873"/>
                <a:gd name="T9" fmla="*/ 1408 h 2494"/>
                <a:gd name="T10" fmla="*/ 1873 w 1873"/>
                <a:gd name="T11" fmla="*/ 405 h 2494"/>
                <a:gd name="T12" fmla="*/ 937 w 1873"/>
                <a:gd name="T13" fmla="*/ 0 h 2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3" h="2494">
                  <a:moveTo>
                    <a:pt x="937" y="0"/>
                  </a:moveTo>
                  <a:cubicBezTo>
                    <a:pt x="0" y="405"/>
                    <a:pt x="0" y="405"/>
                    <a:pt x="0" y="405"/>
                  </a:cubicBezTo>
                  <a:cubicBezTo>
                    <a:pt x="0" y="1408"/>
                    <a:pt x="0" y="1408"/>
                    <a:pt x="0" y="1408"/>
                  </a:cubicBezTo>
                  <a:cubicBezTo>
                    <a:pt x="0" y="1408"/>
                    <a:pt x="55" y="2106"/>
                    <a:pt x="937" y="2494"/>
                  </a:cubicBezTo>
                  <a:cubicBezTo>
                    <a:pt x="1818" y="2106"/>
                    <a:pt x="1873" y="1408"/>
                    <a:pt x="1873" y="1408"/>
                  </a:cubicBezTo>
                  <a:cubicBezTo>
                    <a:pt x="1873" y="405"/>
                    <a:pt x="1873" y="405"/>
                    <a:pt x="1873" y="405"/>
                  </a:cubicBezTo>
                  <a:cubicBezTo>
                    <a:pt x="937" y="0"/>
                    <a:pt x="937" y="0"/>
                    <a:pt x="937" y="0"/>
                  </a:cubicBezTo>
                </a:path>
              </a:pathLst>
            </a:custGeom>
            <a:gradFill flip="none" rotWithShape="1">
              <a:gsLst>
                <a:gs pos="0">
                  <a:schemeClr val="accent1">
                    <a:alpha val="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4" name="PPT世界-5-2"/>
            <p:cNvSpPr/>
            <p:nvPr/>
          </p:nvSpPr>
          <p:spPr>
            <a:xfrm flipH="1">
              <a:off x="783731" y="565532"/>
              <a:ext cx="4442233" cy="1809383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45" name="PPT世界-5-3"/>
            <p:cNvSpPr/>
            <p:nvPr/>
          </p:nvSpPr>
          <p:spPr>
            <a:xfrm flipH="1">
              <a:off x="695787" y="443490"/>
              <a:ext cx="4618122" cy="1868477"/>
            </a:xfrm>
            <a:prstGeom prst="round2DiagRect">
              <a:avLst>
                <a:gd name="adj1" fmla="val 20773"/>
                <a:gd name="adj2" fmla="val 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  <a:effectLst>
              <a:outerShdw blurRad="254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Light" panose="020B0300000000000000" pitchFamily="34" charset="-122"/>
                <a:cs typeface="思源黑体 CN Bold" panose="020B0800000000000000" pitchFamily="34" charset="-122"/>
              </a:endParaRPr>
            </a:p>
          </p:txBody>
        </p:sp>
      </p:grpSp>
      <p:sp>
        <p:nvSpPr>
          <p:cNvPr id="48" name="任意多边形 14"/>
          <p:cNvSpPr/>
          <p:nvPr/>
        </p:nvSpPr>
        <p:spPr>
          <a:xfrm>
            <a:off x="863200" y="462223"/>
            <a:ext cx="4459605" cy="725170"/>
          </a:xfrm>
          <a:custGeom>
            <a:avLst/>
            <a:gdLst>
              <a:gd name="adj" fmla="val 5000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93" h="1377">
                <a:moveTo>
                  <a:pt x="0" y="14"/>
                </a:moveTo>
                <a:lnTo>
                  <a:pt x="0" y="0"/>
                </a:lnTo>
                <a:lnTo>
                  <a:pt x="8092" y="0"/>
                </a:lnTo>
                <a:lnTo>
                  <a:pt x="8092" y="14"/>
                </a:lnTo>
                <a:cubicBezTo>
                  <a:pt x="8115" y="778"/>
                  <a:pt x="7415" y="1395"/>
                  <a:pt x="6730" y="1376"/>
                </a:cubicBezTo>
                <a:lnTo>
                  <a:pt x="1363" y="1376"/>
                </a:lnTo>
                <a:cubicBezTo>
                  <a:pt x="598" y="1399"/>
                  <a:pt x="-19" y="699"/>
                  <a:pt x="0" y="14"/>
                </a:cubicBezTo>
                <a:close/>
              </a:path>
            </a:pathLst>
          </a:cu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字魂105号-简雅黑" panose="00000500000000000000" pitchFamily="2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086" y="363614"/>
            <a:ext cx="3407959" cy="107298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168371" y="687969"/>
            <a:ext cx="9788122" cy="5686920"/>
            <a:chOff x="847701" y="687969"/>
            <a:chExt cx="9788122" cy="5686920"/>
          </a:xfrm>
        </p:grpSpPr>
        <p:sp>
          <p:nvSpPr>
            <p:cNvPr id="50" name="任意多边形: 形状 49"/>
            <p:cNvSpPr/>
            <p:nvPr/>
          </p:nvSpPr>
          <p:spPr>
            <a:xfrm>
              <a:off x="847701" y="3131368"/>
              <a:ext cx="1953651" cy="1152713"/>
            </a:xfrm>
            <a:custGeom>
              <a:avLst/>
              <a:gdLst>
                <a:gd name="connsiteX0" fmla="*/ 0 w 3668502"/>
                <a:gd name="connsiteY0" fmla="*/ 0 h 313383"/>
                <a:gd name="connsiteX1" fmla="*/ 3668502 w 3668502"/>
                <a:gd name="connsiteY1" fmla="*/ 0 h 313383"/>
                <a:gd name="connsiteX2" fmla="*/ 3668502 w 3668502"/>
                <a:gd name="connsiteY2" fmla="*/ 313383 h 313383"/>
                <a:gd name="connsiteX3" fmla="*/ 0 w 3668502"/>
                <a:gd name="connsiteY3" fmla="*/ 313383 h 313383"/>
                <a:gd name="connsiteX4" fmla="*/ 0 w 3668502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8502" h="313383">
                  <a:moveTo>
                    <a:pt x="0" y="0"/>
                  </a:moveTo>
                  <a:lnTo>
                    <a:pt x="3668502" y="0"/>
                  </a:lnTo>
                  <a:lnTo>
                    <a:pt x="3668502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科学发展观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3104010" y="1334043"/>
              <a:ext cx="2625596" cy="496800"/>
            </a:xfrm>
            <a:custGeom>
              <a:avLst/>
              <a:gdLst>
                <a:gd name="connsiteX0" fmla="*/ 0 w 2825096"/>
                <a:gd name="connsiteY0" fmla="*/ 0 h 313383"/>
                <a:gd name="connsiteX1" fmla="*/ 2825096 w 2825096"/>
                <a:gd name="connsiteY1" fmla="*/ 0 h 313383"/>
                <a:gd name="connsiteX2" fmla="*/ 2825096 w 2825096"/>
                <a:gd name="connsiteY2" fmla="*/ 313383 h 313383"/>
                <a:gd name="connsiteX3" fmla="*/ 0 w 2825096"/>
                <a:gd name="connsiteY3" fmla="*/ 313383 h 313383"/>
                <a:gd name="connsiteX4" fmla="*/ 0 w 282509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5096" h="313383">
                  <a:moveTo>
                    <a:pt x="0" y="0"/>
                  </a:moveTo>
                  <a:lnTo>
                    <a:pt x="2825096" y="0"/>
                  </a:lnTo>
                  <a:lnTo>
                    <a:pt x="282509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科学发展观的科学内涵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058735" y="687969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推动经济社会发展是科学发展观的第一要义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058735" y="1971079"/>
              <a:ext cx="4534838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统筹兼顾是科学发展观的根本方法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3104012" y="3480821"/>
              <a:ext cx="2625596" cy="496800"/>
            </a:xfrm>
            <a:custGeom>
              <a:avLst/>
              <a:gdLst>
                <a:gd name="connsiteX0" fmla="*/ 0 w 3906651"/>
                <a:gd name="connsiteY0" fmla="*/ 0 h 313383"/>
                <a:gd name="connsiteX1" fmla="*/ 3906651 w 3906651"/>
                <a:gd name="connsiteY1" fmla="*/ 0 h 313383"/>
                <a:gd name="connsiteX2" fmla="*/ 3906651 w 3906651"/>
                <a:gd name="connsiteY2" fmla="*/ 313383 h 313383"/>
                <a:gd name="connsiteX3" fmla="*/ 0 w 3906651"/>
                <a:gd name="connsiteY3" fmla="*/ 313383 h 313383"/>
                <a:gd name="connsiteX4" fmla="*/ 0 w 3906651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6651" h="313383">
                  <a:moveTo>
                    <a:pt x="0" y="0"/>
                  </a:moveTo>
                  <a:lnTo>
                    <a:pt x="3906651" y="0"/>
                  </a:lnTo>
                  <a:lnTo>
                    <a:pt x="3906651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科学发展观的主要内容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3104010" y="5456980"/>
              <a:ext cx="2625596" cy="496800"/>
            </a:xfrm>
            <a:custGeom>
              <a:avLst/>
              <a:gdLst>
                <a:gd name="connsiteX0" fmla="*/ 0 w 3433006"/>
                <a:gd name="connsiteY0" fmla="*/ 0 h 313383"/>
                <a:gd name="connsiteX1" fmla="*/ 3433006 w 3433006"/>
                <a:gd name="connsiteY1" fmla="*/ 0 h 313383"/>
                <a:gd name="connsiteX2" fmla="*/ 3433006 w 3433006"/>
                <a:gd name="connsiteY2" fmla="*/ 313383 h 313383"/>
                <a:gd name="connsiteX3" fmla="*/ 0 w 3433006"/>
                <a:gd name="connsiteY3" fmla="*/ 313383 h 313383"/>
                <a:gd name="connsiteX4" fmla="*/ 0 w 34330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3006" h="313383">
                  <a:moveTo>
                    <a:pt x="0" y="0"/>
                  </a:moveTo>
                  <a:lnTo>
                    <a:pt x="3433006" y="0"/>
                  </a:lnTo>
                  <a:lnTo>
                    <a:pt x="34330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l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科学发展观的历史地位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058735" y="5092015"/>
              <a:ext cx="4577088" cy="6048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中国特色社会主义理论体系在新世纪新阶段的接续发展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6058735" y="5770089"/>
              <a:ext cx="4577088" cy="6048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全面建设小康社会、加快推进社会主义现代化的根本指针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左大括号 61"/>
            <p:cNvSpPr/>
            <p:nvPr/>
          </p:nvSpPr>
          <p:spPr>
            <a:xfrm>
              <a:off x="2801352" y="1646708"/>
              <a:ext cx="265557" cy="4123381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6058735" y="1115672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以人为本是科学发展观的核心立场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6058735" y="1543375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marL="0" marR="0" lvl="0" indent="0" algn="just" defTabSz="8001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全面协调可持续是科学发展观的基本要求</a:t>
              </a:r>
              <a:endParaRPr kumimoji="0" lang="zh-CN" altLang="en-US" sz="1800" b="1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左大括号 36"/>
            <p:cNvSpPr/>
            <p:nvPr/>
          </p:nvSpPr>
          <p:spPr>
            <a:xfrm>
              <a:off x="5759920" y="874188"/>
              <a:ext cx="289785" cy="1346301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6058735" y="2453198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加快转变经济发展方式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058735" y="3729221"/>
              <a:ext cx="4534838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构建社会主义和谐社会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6058735" y="2878539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发展社会主义民主政治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058735" y="3303880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推进社会主义文化强国建设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67" name="左大括号 66"/>
            <p:cNvSpPr/>
            <p:nvPr/>
          </p:nvSpPr>
          <p:spPr>
            <a:xfrm>
              <a:off x="5759920" y="2651197"/>
              <a:ext cx="289785" cy="2170123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6058735" y="4579901"/>
              <a:ext cx="4534838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全面提高党的建设科学化水平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6058735" y="4154562"/>
              <a:ext cx="4534836" cy="396000"/>
            </a:xfrm>
            <a:custGeom>
              <a:avLst/>
              <a:gdLst>
                <a:gd name="connsiteX0" fmla="*/ 0 w 2399906"/>
                <a:gd name="connsiteY0" fmla="*/ 0 h 313383"/>
                <a:gd name="connsiteX1" fmla="*/ 2399906 w 2399906"/>
                <a:gd name="connsiteY1" fmla="*/ 0 h 313383"/>
                <a:gd name="connsiteX2" fmla="*/ 2399906 w 2399906"/>
                <a:gd name="connsiteY2" fmla="*/ 313383 h 313383"/>
                <a:gd name="connsiteX3" fmla="*/ 0 w 2399906"/>
                <a:gd name="connsiteY3" fmla="*/ 313383 h 313383"/>
                <a:gd name="connsiteX4" fmla="*/ 0 w 2399906"/>
                <a:gd name="connsiteY4" fmla="*/ 0 h 313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9906" h="313383">
                  <a:moveTo>
                    <a:pt x="0" y="0"/>
                  </a:moveTo>
                  <a:lnTo>
                    <a:pt x="2399906" y="0"/>
                  </a:lnTo>
                  <a:lnTo>
                    <a:pt x="2399906" y="313383"/>
                  </a:lnTo>
                  <a:lnTo>
                    <a:pt x="0" y="313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lvl="0" algn="just" defTabSz="8001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charset="-122"/>
                </a:rPr>
                <a:t>推进生态文明建设</a:t>
              </a:r>
              <a:endParaRPr lang="zh-CN" altLang="en-US" b="1" dirty="0">
                <a:solidFill>
                  <a:prstClr val="white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70" name="左大括号 69"/>
            <p:cNvSpPr/>
            <p:nvPr/>
          </p:nvSpPr>
          <p:spPr>
            <a:xfrm>
              <a:off x="5759920" y="5307252"/>
              <a:ext cx="289785" cy="868272"/>
            </a:xfrm>
            <a:prstGeom prst="leftBrace">
              <a:avLst/>
            </a:prstGeom>
            <a:noFill/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commondata" val="eyJoZGlkIjoiZjJiYzRjZDg4ODIxMmZkMzVjYzYxNzIzMDEwYjJjY2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WPS 演示</Application>
  <PresentationFormat>宽屏</PresentationFormat>
  <Paragraphs>225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OPPOSans L</vt:lpstr>
      <vt:lpstr>思源黑体 CN Bold</vt:lpstr>
      <vt:lpstr>思源黑体 CN Light</vt:lpstr>
      <vt:lpstr>字魂105号-简雅黑</vt:lpstr>
      <vt:lpstr>Arial</vt:lpstr>
      <vt:lpstr>思源黑体 CN Medium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大馍</cp:lastModifiedBy>
  <cp:revision>155</cp:revision>
  <dcterms:created xsi:type="dcterms:W3CDTF">2019-06-19T02:08:00Z</dcterms:created>
  <dcterms:modified xsi:type="dcterms:W3CDTF">2024-06-20T07:45:38Z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925B19090B5D4101A00FE3C2795669E2_11</vt:lpwstr>
  </property>
</Properties>
</file>