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6" r:id="rId4"/>
    <p:sldId id="264" r:id="rId6"/>
    <p:sldId id="276" r:id="rId7"/>
    <p:sldId id="275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A5A7"/>
    <a:srgbClr val="BC6165"/>
    <a:srgbClr val="9F1E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3" d="100"/>
          <a:sy n="43" d="100"/>
        </p:scale>
        <p:origin x="-141" y="795"/>
      </p:cViewPr>
      <p:guideLst>
        <p:guide orient="horz" pos="217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4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A69EF-3A69-49E2-AFD7-2CED9AA62A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0E561-A834-4B80-9A0E-E549377384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0E561-A834-4B80-9A0E-E549377384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0E561-A834-4B80-9A0E-E549377384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0E561-A834-4B80-9A0E-E549377384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0E561-A834-4B80-9A0E-E549377384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8005-292F-462C-BC94-BBD8EE2186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93B83-83F4-415B-AE5C-4D2698B5EB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microsoft.com/office/2007/relationships/hdphoto" Target="../media/image7.wdp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tags" Target="../tags/tag1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microsoft.com/office/2007/relationships/hdphoto" Target="../media/image7.wdp"/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2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microsoft.com/office/2007/relationships/hdphoto" Target="../media/image7.wdp"/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tags" Target="../tags/tag3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microsoft.com/office/2007/relationships/hdphoto" Target="../media/image7.wdp"/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62000" detail="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90" t="24930" r="28578" b="35961"/>
          <a:stretch>
            <a:fillRect/>
          </a:stretch>
        </p:blipFill>
        <p:spPr>
          <a:xfrm rot="5400000">
            <a:off x="4054783" y="6778934"/>
            <a:ext cx="3782824" cy="391910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4176"/>
            <a:ext cx="4699000" cy="2738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999" y="6584176"/>
            <a:ext cx="4699000" cy="273824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03" r="-945" b="31476"/>
          <a:stretch>
            <a:fillRect/>
          </a:stretch>
        </p:blipFill>
        <p:spPr>
          <a:xfrm>
            <a:off x="4706935" y="6584176"/>
            <a:ext cx="2816225" cy="499249"/>
          </a:xfrm>
          <a:prstGeom prst="rect">
            <a:avLst/>
          </a:prstGeom>
          <a:effectLst/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6786563"/>
            <a:ext cx="2793999" cy="7143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12870" y="6584177"/>
            <a:ext cx="5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Constantia" panose="02030602050306030303" pitchFamily="18" charset="0"/>
              </a:rPr>
              <a:t>HARBIN INSTITUTE OF TECHNOLOGY</a:t>
            </a:r>
            <a:endParaRPr lang="zh-CN" altLang="en-US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0161" y="6586021"/>
            <a:ext cx="5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Constantia" panose="02030602050306030303" pitchFamily="18" charset="0"/>
              </a:rPr>
              <a:t>HARBIN INSTITUTE OF TECHNOLOGY</a:t>
            </a:r>
            <a:endParaRPr lang="zh-CN" altLang="en-US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874344" y="6216939"/>
            <a:ext cx="22606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2023.11.3</a:t>
            </a:r>
            <a:endParaRPr lang="zh-CN" altLang="en-US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342900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62" b="43657"/>
          <a:stretch>
            <a:fillRect/>
          </a:stretch>
        </p:blipFill>
        <p:spPr>
          <a:xfrm>
            <a:off x="4410074" y="-21707"/>
            <a:ext cx="3371850" cy="50265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17675" y="958850"/>
            <a:ext cx="82480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中俄关系中的</a:t>
            </a:r>
            <a:r>
              <a:rPr lang="zh-CN" altLang="en-US" sz="4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马克思主义哲学理论</a:t>
            </a:r>
            <a:endParaRPr lang="zh-CN" altLang="en-US" sz="40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0799" y="3828214"/>
            <a:ext cx="99858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事物的</a:t>
            </a: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联系</a:t>
            </a:r>
            <a:endParaRPr lang="en-US" altLang="zh-CN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事物的</a:t>
            </a: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发展</a:t>
            </a:r>
            <a:endParaRPr lang="en-US" altLang="zh-CN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发展的</a:t>
            </a: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矛盾</a:t>
            </a:r>
            <a:endParaRPr lang="zh-CN" altLang="en-US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 trans="30000" detail="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222" t="24263" r="27229" b="31678"/>
          <a:stretch>
            <a:fillRect/>
          </a:stretch>
        </p:blipFill>
        <p:spPr>
          <a:xfrm rot="5400000">
            <a:off x="-2317840" y="1465220"/>
            <a:ext cx="3571142" cy="4069701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-53016" y="3080497"/>
            <a:ext cx="1304016" cy="7683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04</a:t>
            </a:r>
            <a:endParaRPr lang="zh-CN" altLang="en-US" sz="4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11300" y="1855493"/>
            <a:ext cx="999807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Marxist philosophical theory in Sino-Russian relations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62000" detail="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90" t="24930" r="28578" b="35961"/>
          <a:stretch>
            <a:fillRect/>
          </a:stretch>
        </p:blipFill>
        <p:spPr>
          <a:xfrm>
            <a:off x="4208555" y="5123870"/>
            <a:ext cx="3782824" cy="391910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5538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59000" detail="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222" t="24263" r="27229" b="31678"/>
          <a:stretch>
            <a:fillRect/>
          </a:stretch>
        </p:blipFill>
        <p:spPr>
          <a:xfrm rot="7839735">
            <a:off x="-1483626" y="-1142126"/>
            <a:ext cx="2831237" cy="3226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7950"/>
            <a:ext cx="4699000" cy="400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999" y="6457950"/>
            <a:ext cx="4699000" cy="40005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07" r="-945" b="31476"/>
          <a:stretch>
            <a:fillRect/>
          </a:stretch>
        </p:blipFill>
        <p:spPr>
          <a:xfrm>
            <a:off x="4706935" y="5825470"/>
            <a:ext cx="2816225" cy="1257955"/>
          </a:xfrm>
          <a:prstGeom prst="rect">
            <a:avLst/>
          </a:prstGeom>
          <a:effectLst/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6786563"/>
            <a:ext cx="2793999" cy="7143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19999" y="6477744"/>
            <a:ext cx="5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Constantia" panose="02030602050306030303" pitchFamily="18" charset="0"/>
              </a:rPr>
              <a:t>HARBIN INSTITUTE OF TECHNOLOGY</a:t>
            </a:r>
            <a:endParaRPr lang="zh-CN" altLang="en-US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0660" y="6480125"/>
            <a:ext cx="5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Constantia" panose="02030602050306030303" pitchFamily="18" charset="0"/>
              </a:rPr>
              <a:t>HARBIN INSTITUTE OF TECHNOLOGY</a:t>
            </a:r>
            <a:endParaRPr lang="zh-CN" altLang="en-US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628537" y="6010268"/>
            <a:ext cx="22606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2023.11.3</a:t>
            </a:r>
            <a:endParaRPr lang="zh-CN" altLang="en-US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62" b="43657"/>
          <a:stretch>
            <a:fillRect/>
          </a:stretch>
        </p:blipFill>
        <p:spPr>
          <a:xfrm>
            <a:off x="8942612" y="12009"/>
            <a:ext cx="3371850" cy="50265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-77012"/>
            <a:ext cx="409826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事物的联系</a:t>
            </a:r>
            <a:endParaRPr lang="zh-CN" altLang="en-US" sz="40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783" y="529116"/>
            <a:ext cx="1304016" cy="7683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04</a:t>
            </a:r>
            <a:endParaRPr lang="zh-CN" altLang="en-US" sz="44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61142" y="1827674"/>
            <a:ext cx="4572002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事物的普遍联系</a:t>
            </a:r>
            <a:endParaRPr lang="en-US" altLang="zh-CN" sz="32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联系的客观性</a:t>
            </a:r>
            <a:endParaRPr lang="en-US" altLang="zh-CN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联系的普遍性</a:t>
            </a:r>
            <a:endParaRPr lang="zh-CN" altLang="en-US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联系的多样性</a:t>
            </a:r>
            <a:endParaRPr lang="zh-CN" altLang="en-US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联系的条件性</a:t>
            </a:r>
            <a:endParaRPr lang="zh-CN" altLang="en-US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274945" y="1237615"/>
            <a:ext cx="6064885" cy="3709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62000" detail="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90" t="24930" r="28578" b="35961"/>
          <a:stretch>
            <a:fillRect/>
          </a:stretch>
        </p:blipFill>
        <p:spPr>
          <a:xfrm>
            <a:off x="4208555" y="5123870"/>
            <a:ext cx="3782824" cy="391910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5538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59000" detail="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222" t="24263" r="27229" b="31678"/>
          <a:stretch>
            <a:fillRect/>
          </a:stretch>
        </p:blipFill>
        <p:spPr>
          <a:xfrm rot="7839735">
            <a:off x="-1483626" y="-1142126"/>
            <a:ext cx="2831237" cy="3226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7950"/>
            <a:ext cx="4699000" cy="400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999" y="6457950"/>
            <a:ext cx="4699000" cy="40005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07" r="-945" b="31476"/>
          <a:stretch>
            <a:fillRect/>
          </a:stretch>
        </p:blipFill>
        <p:spPr>
          <a:xfrm>
            <a:off x="4706935" y="5825470"/>
            <a:ext cx="2816225" cy="1257955"/>
          </a:xfrm>
          <a:prstGeom prst="rect">
            <a:avLst/>
          </a:prstGeom>
          <a:effectLst/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6786563"/>
            <a:ext cx="2793999" cy="7143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19999" y="6477744"/>
            <a:ext cx="5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Constantia" panose="02030602050306030303" pitchFamily="18" charset="0"/>
              </a:rPr>
              <a:t>HARBIN INSTITUTE OF TECHNOLOGY</a:t>
            </a:r>
            <a:endParaRPr lang="zh-CN" altLang="en-US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0660" y="6480125"/>
            <a:ext cx="5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Constantia" panose="02030602050306030303" pitchFamily="18" charset="0"/>
              </a:rPr>
              <a:t>HARBIN INSTITUTE OF TECHNOLOGY</a:t>
            </a:r>
            <a:endParaRPr lang="zh-CN" altLang="en-US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628537" y="6010268"/>
            <a:ext cx="22606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2023.11.3</a:t>
            </a:r>
            <a:endParaRPr lang="zh-CN" altLang="en-US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62" b="43657"/>
          <a:stretch>
            <a:fillRect/>
          </a:stretch>
        </p:blipFill>
        <p:spPr>
          <a:xfrm>
            <a:off x="8942612" y="12009"/>
            <a:ext cx="3371850" cy="50265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-77012"/>
            <a:ext cx="409826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事物的发展</a:t>
            </a:r>
            <a:endParaRPr lang="zh-CN" altLang="en-US" sz="40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783" y="529116"/>
            <a:ext cx="1304016" cy="7683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04</a:t>
            </a:r>
            <a:endParaRPr lang="zh-CN" altLang="en-US" sz="44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61142" y="1827674"/>
            <a:ext cx="4572002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事物的变化发展</a:t>
            </a:r>
            <a:endParaRPr lang="en-US" altLang="zh-CN" sz="32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物质世界的永恒运动</a:t>
            </a:r>
            <a:endParaRPr lang="zh-CN" altLang="en-US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联系的变化发展</a:t>
            </a:r>
            <a:endParaRPr lang="zh-CN" altLang="en-US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pic>
        <p:nvPicPr>
          <p:cNvPr id="101" name="图片 100"/>
          <p:cNvPicPr/>
          <p:nvPr>
            <p:custDataLst>
              <p:tags r:id="rId8"/>
            </p:custDataLst>
          </p:nvPr>
        </p:nvPicPr>
        <p:blipFill>
          <a:blip r:embed="rId9"/>
          <a:srcRect b="14463"/>
          <a:stretch>
            <a:fillRect/>
          </a:stretch>
        </p:blipFill>
        <p:spPr>
          <a:xfrm>
            <a:off x="5274945" y="1068070"/>
            <a:ext cx="6107430" cy="40557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62000" detail="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90" t="24930" r="28578" b="35961"/>
          <a:stretch>
            <a:fillRect/>
          </a:stretch>
        </p:blipFill>
        <p:spPr>
          <a:xfrm>
            <a:off x="4208555" y="5123870"/>
            <a:ext cx="3782824" cy="391910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5538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59000" detail="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222" t="24263" r="27229" b="31678"/>
          <a:stretch>
            <a:fillRect/>
          </a:stretch>
        </p:blipFill>
        <p:spPr>
          <a:xfrm rot="7839735">
            <a:off x="-1483626" y="-1142126"/>
            <a:ext cx="2831237" cy="3226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7950"/>
            <a:ext cx="4699000" cy="400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999" y="6457950"/>
            <a:ext cx="4699000" cy="40005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07" r="-945" b="31476"/>
          <a:stretch>
            <a:fillRect/>
          </a:stretch>
        </p:blipFill>
        <p:spPr>
          <a:xfrm>
            <a:off x="4706935" y="5825470"/>
            <a:ext cx="2816225" cy="1257955"/>
          </a:xfrm>
          <a:prstGeom prst="rect">
            <a:avLst/>
          </a:prstGeom>
          <a:effectLst/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6786563"/>
            <a:ext cx="2793999" cy="7143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19999" y="6477744"/>
            <a:ext cx="5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Constantia" panose="02030602050306030303" pitchFamily="18" charset="0"/>
              </a:rPr>
              <a:t>HARBIN INSTITUTE OF TECHNOLOGY</a:t>
            </a:r>
            <a:endParaRPr lang="zh-CN" altLang="en-US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0660" y="6480125"/>
            <a:ext cx="5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Constantia" panose="02030602050306030303" pitchFamily="18" charset="0"/>
              </a:rPr>
              <a:t>HARBIN INSTITUTE OF TECHNOLOGY</a:t>
            </a:r>
            <a:endParaRPr lang="zh-CN" altLang="en-US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628537" y="6010268"/>
            <a:ext cx="22606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2023.11.3</a:t>
            </a:r>
            <a:endParaRPr lang="zh-CN" altLang="en-US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62" b="43657"/>
          <a:stretch>
            <a:fillRect/>
          </a:stretch>
        </p:blipFill>
        <p:spPr>
          <a:xfrm>
            <a:off x="8942612" y="12009"/>
            <a:ext cx="3371850" cy="50265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-77012"/>
            <a:ext cx="409826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发展的矛盾</a:t>
            </a:r>
            <a:endParaRPr lang="zh-CN" altLang="en-US" sz="40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783" y="529116"/>
            <a:ext cx="1304016" cy="7683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04</a:t>
            </a:r>
            <a:endParaRPr lang="zh-CN" altLang="en-US" sz="44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61142" y="1827674"/>
            <a:ext cx="4572002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发展中的矛盾</a:t>
            </a:r>
            <a:endParaRPr lang="en-US" altLang="zh-CN" sz="32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矛盾就是对立统一</a:t>
            </a:r>
            <a:endParaRPr lang="en-US" altLang="zh-CN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矛盾的同一性斗争性</a:t>
            </a:r>
            <a:endParaRPr lang="zh-CN" altLang="en-US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矛盾的普遍性特殊性</a:t>
            </a:r>
            <a:endParaRPr lang="zh-CN" altLang="en-US" sz="24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pic>
        <p:nvPicPr>
          <p:cNvPr id="102" name="图片 101"/>
          <p:cNvPicPr/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274945" y="1075055"/>
            <a:ext cx="6193790" cy="37985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YjVkZTY4OWU3ZGFmNjg5NTU0YjIzNTljMDQzMDI3Z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WPS 演示</Application>
  <PresentationFormat>宽屏</PresentationFormat>
  <Paragraphs>61</Paragraphs>
  <Slides>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宋体</vt:lpstr>
      <vt:lpstr>Wingdings</vt:lpstr>
      <vt:lpstr>思源宋体 CN Heavy</vt:lpstr>
      <vt:lpstr>Constantia</vt:lpstr>
      <vt:lpstr>思源宋体 CN SemiBold</vt:lpstr>
      <vt:lpstr>Times New Roman</vt:lpstr>
      <vt:lpstr>华文中宋</vt:lpstr>
      <vt:lpstr>思源黑体 CN Bold</vt:lpstr>
      <vt:lpstr>黑体</vt:lpstr>
      <vt:lpstr>思源宋体 CN Medium</vt:lpstr>
      <vt:lpstr>微软雅黑</vt:lpstr>
      <vt:lpstr>Arial Unicode MS</vt:lpstr>
      <vt:lpstr>等线 Light</vt:lpstr>
      <vt:lpstr>等线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Swang</dc:creator>
  <cp:lastModifiedBy>诺维茨基</cp:lastModifiedBy>
  <cp:revision>42</cp:revision>
  <dcterms:created xsi:type="dcterms:W3CDTF">2021-11-05T07:48:00Z</dcterms:created>
  <dcterms:modified xsi:type="dcterms:W3CDTF">2023-10-29T15:06:48Z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0E5DEE538A18494FAB5BA5C9E227957F_12</vt:lpwstr>
  </property>
  <property fmtid="{D5CDD505-2E9C-101B-9397-08002B2CF9AE}" pid="3" name="KSOProductBuildVer">
    <vt:lpwstr>2052-12.1.0.15374</vt:lpwstr>
  </property>
</Properties>
</file>