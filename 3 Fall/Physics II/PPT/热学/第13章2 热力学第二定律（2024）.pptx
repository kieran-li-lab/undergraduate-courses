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962" r:id="rId2"/>
    <p:sldId id="850" r:id="rId3"/>
    <p:sldId id="851" r:id="rId4"/>
    <p:sldId id="852" r:id="rId5"/>
    <p:sldId id="853" r:id="rId6"/>
    <p:sldId id="855" r:id="rId7"/>
    <p:sldId id="888" r:id="rId8"/>
    <p:sldId id="857" r:id="rId9"/>
    <p:sldId id="1112" r:id="rId10"/>
    <p:sldId id="860" r:id="rId11"/>
    <p:sldId id="861" r:id="rId12"/>
    <p:sldId id="862" r:id="rId13"/>
    <p:sldId id="863" r:id="rId14"/>
    <p:sldId id="864" r:id="rId15"/>
    <p:sldId id="865" r:id="rId16"/>
    <p:sldId id="866" r:id="rId17"/>
    <p:sldId id="867" r:id="rId18"/>
    <p:sldId id="868" r:id="rId19"/>
    <p:sldId id="869" r:id="rId20"/>
    <p:sldId id="870" r:id="rId21"/>
    <p:sldId id="871" r:id="rId22"/>
    <p:sldId id="872" r:id="rId23"/>
    <p:sldId id="873" r:id="rId24"/>
    <p:sldId id="874" r:id="rId25"/>
    <p:sldId id="494" r:id="rId26"/>
    <p:sldId id="495" r:id="rId27"/>
    <p:sldId id="496" r:id="rId28"/>
    <p:sldId id="646" r:id="rId29"/>
    <p:sldId id="498" r:id="rId30"/>
    <p:sldId id="499" r:id="rId31"/>
    <p:sldId id="500" r:id="rId32"/>
    <p:sldId id="651" r:id="rId33"/>
    <p:sldId id="652" r:id="rId34"/>
    <p:sldId id="843" r:id="rId35"/>
    <p:sldId id="666" r:id="rId36"/>
    <p:sldId id="811" r:id="rId37"/>
    <p:sldId id="435" r:id="rId38"/>
    <p:sldId id="885" r:id="rId39"/>
    <p:sldId id="437" r:id="rId40"/>
    <p:sldId id="438" r:id="rId41"/>
    <p:sldId id="439" r:id="rId42"/>
    <p:sldId id="403" r:id="rId43"/>
    <p:sldId id="404" r:id="rId44"/>
    <p:sldId id="405" r:id="rId45"/>
    <p:sldId id="406" r:id="rId46"/>
    <p:sldId id="432" r:id="rId47"/>
    <p:sldId id="433" r:id="rId48"/>
    <p:sldId id="501" r:id="rId49"/>
    <p:sldId id="504" r:id="rId50"/>
    <p:sldId id="1111" r:id="rId51"/>
    <p:sldId id="505" r:id="rId52"/>
    <p:sldId id="1171" r:id="rId53"/>
    <p:sldId id="1172" r:id="rId54"/>
    <p:sldId id="1173" r:id="rId55"/>
    <p:sldId id="1174" r:id="rId56"/>
    <p:sldId id="1175" r:id="rId57"/>
    <p:sldId id="1177" r:id="rId58"/>
    <p:sldId id="1178" r:id="rId59"/>
    <p:sldId id="1179" r:id="rId60"/>
    <p:sldId id="1181" r:id="rId61"/>
    <p:sldId id="1182" r:id="rId62"/>
    <p:sldId id="1183" r:id="rId63"/>
    <p:sldId id="1184" r:id="rId64"/>
    <p:sldId id="1185" r:id="rId65"/>
    <p:sldId id="1186" r:id="rId66"/>
    <p:sldId id="1187" r:id="rId67"/>
    <p:sldId id="1190" r:id="rId68"/>
    <p:sldId id="1191" r:id="rId69"/>
    <p:sldId id="1192" r:id="rId70"/>
    <p:sldId id="1193" r:id="rId71"/>
    <p:sldId id="1194" r:id="rId72"/>
    <p:sldId id="1195" r:id="rId73"/>
    <p:sldId id="1189" r:id="rId74"/>
    <p:sldId id="726" r:id="rId75"/>
    <p:sldId id="727" r:id="rId76"/>
    <p:sldId id="818" r:id="rId77"/>
    <p:sldId id="842" r:id="rId78"/>
  </p:sldIdLst>
  <p:sldSz cx="9144000" cy="6858000" type="screen4x3"/>
  <p:notesSz cx="6858000" cy="9144000"/>
  <p:custDataLst>
    <p:tags r:id="rId8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28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B8"/>
    <a:srgbClr val="FFFF00"/>
    <a:srgbClr val="FF5050"/>
    <a:srgbClr val="CC3300"/>
    <a:srgbClr val="CCFFCC"/>
    <a:srgbClr val="33CCCC"/>
    <a:srgbClr val="FFCCFF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46"/>
    <p:restoredTop sz="94660"/>
  </p:normalViewPr>
  <p:slideViewPr>
    <p:cSldViewPr showGuides="1">
      <p:cViewPr varScale="1">
        <p:scale>
          <a:sx n="114" d="100"/>
          <a:sy n="114" d="100"/>
        </p:scale>
        <p:origin x="1878" y="102"/>
      </p:cViewPr>
      <p:guideLst>
        <p:guide orient="horz" pos="2069"/>
        <p:guide pos="28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12" Type="http://schemas.openxmlformats.org/officeDocument/2006/relationships/image" Target="../media/image28.emf"/><Relationship Id="rId2" Type="http://schemas.openxmlformats.org/officeDocument/2006/relationships/image" Target="../media/image18.emf"/><Relationship Id="rId1" Type="http://schemas.openxmlformats.org/officeDocument/2006/relationships/image" Target="../media/image17.wmf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21.emf"/><Relationship Id="rId10" Type="http://schemas.openxmlformats.org/officeDocument/2006/relationships/image" Target="../media/image26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e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3.wmf"/><Relationship Id="rId7" Type="http://schemas.openxmlformats.org/officeDocument/2006/relationships/image" Target="../media/image57.emf"/><Relationship Id="rId2" Type="http://schemas.openxmlformats.org/officeDocument/2006/relationships/image" Target="../media/image52.emf"/><Relationship Id="rId1" Type="http://schemas.openxmlformats.org/officeDocument/2006/relationships/image" Target="../media/image51.wmf"/><Relationship Id="rId6" Type="http://schemas.openxmlformats.org/officeDocument/2006/relationships/image" Target="../media/image56.emf"/><Relationship Id="rId5" Type="http://schemas.openxmlformats.org/officeDocument/2006/relationships/image" Target="../media/image55.wmf"/><Relationship Id="rId10" Type="http://schemas.openxmlformats.org/officeDocument/2006/relationships/image" Target="../media/image60.wmf"/><Relationship Id="rId4" Type="http://schemas.openxmlformats.org/officeDocument/2006/relationships/image" Target="../media/image54.wmf"/><Relationship Id="rId9" Type="http://schemas.openxmlformats.org/officeDocument/2006/relationships/image" Target="../media/image59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e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w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emf"/><Relationship Id="rId7" Type="http://schemas.openxmlformats.org/officeDocument/2006/relationships/image" Target="../media/image89.wmf"/><Relationship Id="rId2" Type="http://schemas.openxmlformats.org/officeDocument/2006/relationships/image" Target="../media/image84.emf"/><Relationship Id="rId1" Type="http://schemas.openxmlformats.org/officeDocument/2006/relationships/image" Target="../media/image83.emf"/><Relationship Id="rId6" Type="http://schemas.openxmlformats.org/officeDocument/2006/relationships/image" Target="../media/image88.wmf"/><Relationship Id="rId5" Type="http://schemas.openxmlformats.org/officeDocument/2006/relationships/image" Target="../media/image87.emf"/><Relationship Id="rId4" Type="http://schemas.openxmlformats.org/officeDocument/2006/relationships/image" Target="../media/image8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emf"/><Relationship Id="rId6" Type="http://schemas.openxmlformats.org/officeDocument/2006/relationships/image" Target="../media/image101.wmf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7.wmf"/><Relationship Id="rId7" Type="http://schemas.openxmlformats.org/officeDocument/2006/relationships/image" Target="../media/image111.emf"/><Relationship Id="rId2" Type="http://schemas.openxmlformats.org/officeDocument/2006/relationships/image" Target="../media/image106.emf"/><Relationship Id="rId1" Type="http://schemas.openxmlformats.org/officeDocument/2006/relationships/image" Target="../media/image105.wmf"/><Relationship Id="rId6" Type="http://schemas.openxmlformats.org/officeDocument/2006/relationships/image" Target="../media/image110.e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e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image" Target="../media/image116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6.wmf"/><Relationship Id="rId5" Type="http://schemas.openxmlformats.org/officeDocument/2006/relationships/image" Target="../media/image122.wmf"/><Relationship Id="rId10" Type="http://schemas.openxmlformats.org/officeDocument/2006/relationships/image" Target="../media/image68.wmf"/><Relationship Id="rId4" Type="http://schemas.openxmlformats.org/officeDocument/2006/relationships/image" Target="../media/image121.emf"/><Relationship Id="rId9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10" Type="http://schemas.openxmlformats.org/officeDocument/2006/relationships/image" Target="../media/image148.wmf"/><Relationship Id="rId4" Type="http://schemas.openxmlformats.org/officeDocument/2006/relationships/image" Target="../media/image142.wmf"/><Relationship Id="rId9" Type="http://schemas.openxmlformats.org/officeDocument/2006/relationships/image" Target="../media/image14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53.wmf"/><Relationship Id="rId18" Type="http://schemas.openxmlformats.org/officeDocument/2006/relationships/image" Target="../media/image158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52.wmf"/><Relationship Id="rId17" Type="http://schemas.openxmlformats.org/officeDocument/2006/relationships/image" Target="../media/image157.wmf"/><Relationship Id="rId2" Type="http://schemas.openxmlformats.org/officeDocument/2006/relationships/image" Target="../media/image150.wmf"/><Relationship Id="rId16" Type="http://schemas.openxmlformats.org/officeDocument/2006/relationships/image" Target="../media/image156.wmf"/><Relationship Id="rId20" Type="http://schemas.openxmlformats.org/officeDocument/2006/relationships/image" Target="../media/image160.wmf"/><Relationship Id="rId1" Type="http://schemas.openxmlformats.org/officeDocument/2006/relationships/image" Target="../media/image149.wmf"/><Relationship Id="rId6" Type="http://schemas.openxmlformats.org/officeDocument/2006/relationships/image" Target="../media/image142.wmf"/><Relationship Id="rId11" Type="http://schemas.openxmlformats.org/officeDocument/2006/relationships/image" Target="../media/image151.wmf"/><Relationship Id="rId5" Type="http://schemas.openxmlformats.org/officeDocument/2006/relationships/image" Target="../media/image141.wmf"/><Relationship Id="rId15" Type="http://schemas.openxmlformats.org/officeDocument/2006/relationships/image" Target="../media/image155.wmf"/><Relationship Id="rId10" Type="http://schemas.openxmlformats.org/officeDocument/2006/relationships/image" Target="../media/image146.wmf"/><Relationship Id="rId19" Type="http://schemas.openxmlformats.org/officeDocument/2006/relationships/image" Target="../media/image159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Relationship Id="rId14" Type="http://schemas.openxmlformats.org/officeDocument/2006/relationships/image" Target="../media/image15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64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42.wmf"/><Relationship Id="rId11" Type="http://schemas.openxmlformats.org/officeDocument/2006/relationships/image" Target="../media/image163.wmf"/><Relationship Id="rId5" Type="http://schemas.openxmlformats.org/officeDocument/2006/relationships/image" Target="../media/image141.wmf"/><Relationship Id="rId10" Type="http://schemas.openxmlformats.org/officeDocument/2006/relationships/image" Target="../media/image146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11" Type="http://schemas.openxmlformats.org/officeDocument/2006/relationships/image" Target="../media/image175.wmf"/><Relationship Id="rId5" Type="http://schemas.openxmlformats.org/officeDocument/2006/relationships/image" Target="../media/image171.wmf"/><Relationship Id="rId10" Type="http://schemas.openxmlformats.org/officeDocument/2006/relationships/image" Target="../media/image174.wmf"/><Relationship Id="rId4" Type="http://schemas.openxmlformats.org/officeDocument/2006/relationships/image" Target="../media/image170.wmf"/><Relationship Id="rId9" Type="http://schemas.openxmlformats.org/officeDocument/2006/relationships/image" Target="../media/image16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4.wmf"/><Relationship Id="rId5" Type="http://schemas.openxmlformats.org/officeDocument/2006/relationships/image" Target="../media/image180.wmf"/><Relationship Id="rId10" Type="http://schemas.openxmlformats.org/officeDocument/2006/relationships/image" Target="../media/image166.wmf"/><Relationship Id="rId4" Type="http://schemas.openxmlformats.org/officeDocument/2006/relationships/image" Target="../media/image179.wmf"/><Relationship Id="rId9" Type="http://schemas.openxmlformats.org/officeDocument/2006/relationships/image" Target="../media/image16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3.wmf"/><Relationship Id="rId5" Type="http://schemas.openxmlformats.org/officeDocument/2006/relationships/image" Target="../media/image189.wmf"/><Relationship Id="rId10" Type="http://schemas.openxmlformats.org/officeDocument/2006/relationships/image" Target="../media/image192.wmf"/><Relationship Id="rId4" Type="http://schemas.openxmlformats.org/officeDocument/2006/relationships/image" Target="../media/image188.wmf"/><Relationship Id="rId9" Type="http://schemas.openxmlformats.org/officeDocument/2006/relationships/image" Target="../media/image16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8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211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wmf"/><Relationship Id="rId1" Type="http://schemas.openxmlformats.org/officeDocument/2006/relationships/image" Target="../media/image21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4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3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image" Target="../media/image234.png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wmf"/><Relationship Id="rId1" Type="http://schemas.openxmlformats.org/officeDocument/2006/relationships/image" Target="../media/image23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4" Type="http://schemas.openxmlformats.org/officeDocument/2006/relationships/image" Target="../media/image242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7" Type="http://schemas.openxmlformats.org/officeDocument/2006/relationships/image" Target="../media/image241.wmf"/><Relationship Id="rId2" Type="http://schemas.openxmlformats.org/officeDocument/2006/relationships/image" Target="../media/image250.wmf"/><Relationship Id="rId1" Type="http://schemas.openxmlformats.org/officeDocument/2006/relationships/image" Target="../media/image251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1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1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652537-9E1A-410A-A737-1C6D2DD8441A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AD224F-EBF7-43B9-BC80-6307D8889F37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4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9575D-F5D5-4117-AFF7-FF4A2D84C2A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4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21.emf"/><Relationship Id="rId18" Type="http://schemas.openxmlformats.org/officeDocument/2006/relationships/image" Target="../media/image30.png"/><Relationship Id="rId26" Type="http://schemas.openxmlformats.org/officeDocument/2006/relationships/image" Target="../media/image27.e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5.bin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23.emf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20" Type="http://schemas.openxmlformats.org/officeDocument/2006/relationships/image" Target="../media/image24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emf"/><Relationship Id="rId24" Type="http://schemas.openxmlformats.org/officeDocument/2006/relationships/image" Target="../media/image26.emf"/><Relationship Id="rId5" Type="http://schemas.openxmlformats.org/officeDocument/2006/relationships/image" Target="../media/image29.png"/><Relationship Id="rId15" Type="http://schemas.openxmlformats.org/officeDocument/2006/relationships/image" Target="../media/image22.emf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28.emf"/><Relationship Id="rId10" Type="http://schemas.openxmlformats.org/officeDocument/2006/relationships/oleObject" Target="../embeddings/oleObject10.bin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7.wmf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12.bin"/><Relationship Id="rId22" Type="http://schemas.openxmlformats.org/officeDocument/2006/relationships/image" Target="../media/image25.emf"/><Relationship Id="rId27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8.emf"/><Relationship Id="rId3" Type="http://schemas.openxmlformats.org/officeDocument/2006/relationships/image" Target="../media/image16.png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5.e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34.e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27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1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2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34.bin"/><Relationship Id="rId3" Type="http://schemas.openxmlformats.org/officeDocument/2006/relationships/image" Target="../media/image16.png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4.e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0.w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58.e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emf"/><Relationship Id="rId20" Type="http://schemas.openxmlformats.org/officeDocument/2006/relationships/image" Target="../media/image59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6.emf"/><Relationship Id="rId22" Type="http://schemas.openxmlformats.org/officeDocument/2006/relationships/image" Target="../media/image6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64.wmf"/><Relationship Id="rId19" Type="http://schemas.openxmlformats.org/officeDocument/2006/relationships/image" Target="../media/image69.png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74.wmf"/><Relationship Id="rId3" Type="http://schemas.openxmlformats.org/officeDocument/2006/relationships/oleObject" Target="../embeddings/oleObject57.bin"/><Relationship Id="rId7" Type="http://schemas.openxmlformats.org/officeDocument/2006/relationships/image" Target="../media/image4.png"/><Relationship Id="rId12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1.wmf"/><Relationship Id="rId11" Type="http://schemas.openxmlformats.org/officeDocument/2006/relationships/image" Target="../media/image73.wmf"/><Relationship Id="rId5" Type="http://schemas.openxmlformats.org/officeDocument/2006/relationships/oleObject" Target="../embeddings/oleObject58.bin"/><Relationship Id="rId10" Type="http://schemas.openxmlformats.org/officeDocument/2006/relationships/oleObject" Target="../embeddings/oleObject60.bin"/><Relationship Id="rId4" Type="http://schemas.openxmlformats.org/officeDocument/2006/relationships/image" Target="../media/image70.emf"/><Relationship Id="rId9" Type="http://schemas.openxmlformats.org/officeDocument/2006/relationships/image" Target="../media/image7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81.e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6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87.e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86.w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8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8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10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99.e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10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image" Target="../media/image4.png"/><Relationship Id="rId7" Type="http://schemas.openxmlformats.org/officeDocument/2006/relationships/image" Target="../media/image10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102.e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04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112.emf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1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e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115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10.emf"/><Relationship Id="rId22" Type="http://schemas.openxmlformats.org/officeDocument/2006/relationships/image" Target="../media/image11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7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16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124.wmf"/><Relationship Id="rId26" Type="http://schemas.openxmlformats.org/officeDocument/2006/relationships/image" Target="../media/image126.wmf"/><Relationship Id="rId3" Type="http://schemas.openxmlformats.org/officeDocument/2006/relationships/oleObject" Target="../embeddings/oleObject105.bin"/><Relationship Id="rId21" Type="http://schemas.openxmlformats.org/officeDocument/2006/relationships/oleObject" Target="../embeddings/oleObject113.bin"/><Relationship Id="rId7" Type="http://schemas.openxmlformats.org/officeDocument/2006/relationships/image" Target="../media/image127.png"/><Relationship Id="rId12" Type="http://schemas.openxmlformats.org/officeDocument/2006/relationships/image" Target="../media/image121.e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68.wmf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10" Type="http://schemas.openxmlformats.org/officeDocument/2006/relationships/image" Target="../media/image128.png"/><Relationship Id="rId19" Type="http://schemas.openxmlformats.org/officeDocument/2006/relationships/oleObject" Target="../embeddings/oleObject112.bin"/><Relationship Id="rId4" Type="http://schemas.openxmlformats.org/officeDocument/2006/relationships/image" Target="../media/image118.wmf"/><Relationship Id="rId9" Type="http://schemas.openxmlformats.org/officeDocument/2006/relationships/image" Target="../media/image120.wmf"/><Relationship Id="rId14" Type="http://schemas.openxmlformats.org/officeDocument/2006/relationships/image" Target="../media/image122.wmf"/><Relationship Id="rId22" Type="http://schemas.openxmlformats.org/officeDocument/2006/relationships/image" Target="../media/image6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3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3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46.wmf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5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5.wmf"/><Relationship Id="rId20" Type="http://schemas.openxmlformats.org/officeDocument/2006/relationships/image" Target="../media/image14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44.wmf"/><Relationship Id="rId22" Type="http://schemas.openxmlformats.org/officeDocument/2006/relationships/image" Target="../media/image148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44.wmf"/><Relationship Id="rId26" Type="http://schemas.openxmlformats.org/officeDocument/2006/relationships/image" Target="../media/image152.wmf"/><Relationship Id="rId39" Type="http://schemas.openxmlformats.org/officeDocument/2006/relationships/oleObject" Target="../embeddings/oleObject154.bin"/><Relationship Id="rId21" Type="http://schemas.openxmlformats.org/officeDocument/2006/relationships/oleObject" Target="../embeddings/oleObject145.bin"/><Relationship Id="rId34" Type="http://schemas.openxmlformats.org/officeDocument/2006/relationships/image" Target="../media/image156.wmf"/><Relationship Id="rId42" Type="http://schemas.openxmlformats.org/officeDocument/2006/relationships/image" Target="../media/image160.wmf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49.bin"/><Relationship Id="rId41" Type="http://schemas.openxmlformats.org/officeDocument/2006/relationships/oleObject" Target="../embeddings/oleObject155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51.wmf"/><Relationship Id="rId32" Type="http://schemas.openxmlformats.org/officeDocument/2006/relationships/image" Target="../media/image155.wmf"/><Relationship Id="rId37" Type="http://schemas.openxmlformats.org/officeDocument/2006/relationships/oleObject" Target="../embeddings/oleObject153.bin"/><Relationship Id="rId40" Type="http://schemas.openxmlformats.org/officeDocument/2006/relationships/image" Target="../media/image159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53.wmf"/><Relationship Id="rId36" Type="http://schemas.openxmlformats.org/officeDocument/2006/relationships/image" Target="../media/image157.wmf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50.bin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54.wmf"/><Relationship Id="rId35" Type="http://schemas.openxmlformats.org/officeDocument/2006/relationships/oleObject" Target="../embeddings/oleObject152.bin"/><Relationship Id="rId8" Type="http://schemas.openxmlformats.org/officeDocument/2006/relationships/image" Target="../media/image139.wmf"/><Relationship Id="rId3" Type="http://schemas.openxmlformats.org/officeDocument/2006/relationships/oleObject" Target="../embeddings/oleObject136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33" Type="http://schemas.openxmlformats.org/officeDocument/2006/relationships/oleObject" Target="../embeddings/oleObject151.bin"/><Relationship Id="rId38" Type="http://schemas.openxmlformats.org/officeDocument/2006/relationships/image" Target="../media/image15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44.wmf"/><Relationship Id="rId26" Type="http://schemas.openxmlformats.org/officeDocument/2006/relationships/image" Target="../media/image164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63.bin"/><Relationship Id="rId25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63.wmf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6.bin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6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70.bin"/><Relationship Id="rId21" Type="http://schemas.openxmlformats.org/officeDocument/2006/relationships/oleObject" Target="../embeddings/oleObject179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75.wmf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72.wmf"/><Relationship Id="rId22" Type="http://schemas.openxmlformats.org/officeDocument/2006/relationships/image" Target="../media/image174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2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81.wmf"/><Relationship Id="rId22" Type="http://schemas.openxmlformats.org/officeDocument/2006/relationships/image" Target="../media/image16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92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6.bin"/><Relationship Id="rId24" Type="http://schemas.openxmlformats.org/officeDocument/2006/relationships/image" Target="../media/image193.wmf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23" Type="http://schemas.openxmlformats.org/officeDocument/2006/relationships/oleObject" Target="../embeddings/oleObject202.bin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90.wmf"/><Relationship Id="rId22" Type="http://schemas.openxmlformats.org/officeDocument/2006/relationships/image" Target="../media/image192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19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oleObject" Target="../embeddings/oleObject204.bin"/><Relationship Id="rId7" Type="http://schemas.openxmlformats.org/officeDocument/2006/relationships/oleObject" Target="../embeddings/oleObject20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195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198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198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07.wmf"/><Relationship Id="rId26" Type="http://schemas.openxmlformats.org/officeDocument/2006/relationships/oleObject" Target="../embeddings/oleObject222.bin"/><Relationship Id="rId3" Type="http://schemas.openxmlformats.org/officeDocument/2006/relationships/oleObject" Target="../embeddings/oleObject210.bin"/><Relationship Id="rId21" Type="http://schemas.openxmlformats.org/officeDocument/2006/relationships/oleObject" Target="../embeddings/oleObject219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17.bin"/><Relationship Id="rId25" Type="http://schemas.openxmlformats.org/officeDocument/2006/relationships/image" Target="../media/image2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14.bin"/><Relationship Id="rId24" Type="http://schemas.openxmlformats.org/officeDocument/2006/relationships/oleObject" Target="../embeddings/oleObject221.bin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23" Type="http://schemas.openxmlformats.org/officeDocument/2006/relationships/image" Target="../media/image209.wmf"/><Relationship Id="rId28" Type="http://schemas.openxmlformats.org/officeDocument/2006/relationships/image" Target="../media/image211.wmf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18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05.wmf"/><Relationship Id="rId22" Type="http://schemas.openxmlformats.org/officeDocument/2006/relationships/oleObject" Target="../embeddings/oleObject220.bin"/><Relationship Id="rId27" Type="http://schemas.openxmlformats.org/officeDocument/2006/relationships/oleObject" Target="../embeddings/oleObject223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2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34.bin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30.bin"/><Relationship Id="rId10" Type="http://schemas.openxmlformats.org/officeDocument/2006/relationships/image" Target="../media/image218.wmf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20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22.wmf"/><Relationship Id="rId5" Type="http://schemas.openxmlformats.org/officeDocument/2006/relationships/oleObject" Target="../embeddings/oleObject236.bin"/><Relationship Id="rId4" Type="http://schemas.openxmlformats.org/officeDocument/2006/relationships/image" Target="../media/image221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224.wmf"/><Relationship Id="rId4" Type="http://schemas.openxmlformats.org/officeDocument/2006/relationships/oleObject" Target="../embeddings/oleObject238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40.bin"/><Relationship Id="rId4" Type="http://schemas.openxmlformats.org/officeDocument/2006/relationships/image" Target="../media/image226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oleObject" Target="../embeddings/oleObject241.bin"/><Relationship Id="rId7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42.bin"/><Relationship Id="rId4" Type="http://schemas.openxmlformats.org/officeDocument/2006/relationships/image" Target="../media/image228.wmf"/><Relationship Id="rId9" Type="http://schemas.openxmlformats.org/officeDocument/2006/relationships/image" Target="../media/image23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233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hyperlink" Target="http://dracker.myrice.com/photos/outland.htm" TargetMode="External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34.png"/><Relationship Id="rId5" Type="http://schemas.openxmlformats.org/officeDocument/2006/relationships/oleObject" Target="../embeddings/oleObject245.bin"/><Relationship Id="rId4" Type="http://schemas.openxmlformats.org/officeDocument/2006/relationships/image" Target="../media/image236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237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250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52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50.wmf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48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oleObject" Target="../embeddings/oleObject266.bin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53.wmf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5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256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423039"/>
          <p:cNvSpPr/>
          <p:nvPr/>
        </p:nvSpPr>
        <p:spPr>
          <a:xfrm>
            <a:off x="682625" y="476250"/>
            <a:ext cx="2627313" cy="5113338"/>
          </a:xfrm>
          <a:prstGeom prst="rect">
            <a:avLst/>
          </a:prstGeom>
          <a:noFill/>
          <a:ln w="2540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8195" name="任意多边形 423018"/>
          <p:cNvSpPr/>
          <p:nvPr/>
        </p:nvSpPr>
        <p:spPr>
          <a:xfrm rot="10800000" flipH="1" flipV="1">
            <a:off x="950913" y="1639888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567537" y="16494889"/>
              </a:cxn>
              <a:cxn ang="0">
                <a:pos x="159987930" y="16494889"/>
              </a:cxn>
              <a:cxn ang="0">
                <a:pos x="193555467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100000"/>
            </a:srgb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6" name="任意多边形 423019"/>
          <p:cNvSpPr/>
          <p:nvPr/>
        </p:nvSpPr>
        <p:spPr>
          <a:xfrm flipV="1">
            <a:off x="1027113" y="3925888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567537" y="16494889"/>
              </a:cxn>
              <a:cxn ang="0">
                <a:pos x="159987930" y="16494889"/>
              </a:cxn>
              <a:cxn ang="0">
                <a:pos x="193555467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CCFF">
              <a:alpha val="100000"/>
            </a:srgb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7" name="椭圆 423020"/>
          <p:cNvSpPr/>
          <p:nvPr/>
        </p:nvSpPr>
        <p:spPr>
          <a:xfrm>
            <a:off x="1560513" y="2630488"/>
            <a:ext cx="825500" cy="825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8198" name="下箭头 423021"/>
          <p:cNvSpPr/>
          <p:nvPr/>
        </p:nvSpPr>
        <p:spPr>
          <a:xfrm>
            <a:off x="1871663" y="2103438"/>
            <a:ext cx="279400" cy="736600"/>
          </a:xfrm>
          <a:prstGeom prst="downArrow">
            <a:avLst>
              <a:gd name="adj1" fmla="val 50000"/>
              <a:gd name="adj2" fmla="val 96117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8199" name="右箭头 423022"/>
          <p:cNvSpPr/>
          <p:nvPr/>
        </p:nvSpPr>
        <p:spPr>
          <a:xfrm>
            <a:off x="2252663" y="2941638"/>
            <a:ext cx="736600" cy="279400"/>
          </a:xfrm>
          <a:prstGeom prst="rightArrow">
            <a:avLst>
              <a:gd name="adj1" fmla="val 50000"/>
              <a:gd name="adj2" fmla="val 96117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8200" name="下箭头 423023"/>
          <p:cNvSpPr/>
          <p:nvPr/>
        </p:nvSpPr>
        <p:spPr>
          <a:xfrm>
            <a:off x="1871663" y="3398838"/>
            <a:ext cx="279400" cy="736600"/>
          </a:xfrm>
          <a:prstGeom prst="downArrow">
            <a:avLst>
              <a:gd name="adj1" fmla="val 50000"/>
              <a:gd name="adj2" fmla="val 96117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681288" y="2393950"/>
            <a:ext cx="4397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楷体_GB2312" panose="02010609030101010101" pitchFamily="49" charset="-122"/>
                <a:cs typeface="+mn-cs"/>
              </a:rPr>
              <a:t>A</a:t>
            </a:r>
          </a:p>
        </p:txBody>
      </p:sp>
      <p:sp>
        <p:nvSpPr>
          <p:cNvPr id="73" name="矩形 72"/>
          <p:cNvSpPr/>
          <p:nvPr/>
        </p:nvSpPr>
        <p:spPr>
          <a:xfrm>
            <a:off x="1322388" y="216535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Q</a:t>
            </a:r>
          </a:p>
        </p:txBody>
      </p:sp>
      <p:sp>
        <p:nvSpPr>
          <p:cNvPr id="74" name="矩形 73"/>
          <p:cNvSpPr/>
          <p:nvPr/>
        </p:nvSpPr>
        <p:spPr>
          <a:xfrm>
            <a:off x="1393825" y="3357563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Q</a:t>
            </a:r>
          </a:p>
        </p:txBody>
      </p:sp>
      <p:sp>
        <p:nvSpPr>
          <p:cNvPr id="75" name="矩形 74"/>
          <p:cNvSpPr/>
          <p:nvPr/>
        </p:nvSpPr>
        <p:spPr>
          <a:xfrm>
            <a:off x="1538288" y="2384425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楷体_GB2312" panose="02010609030101010101" pitchFamily="49" charset="-122"/>
                <a:cs typeface="+mn-cs"/>
              </a:rPr>
              <a:t>1</a:t>
            </a:r>
          </a:p>
        </p:txBody>
      </p:sp>
      <p:sp>
        <p:nvSpPr>
          <p:cNvPr id="76" name="矩形 75"/>
          <p:cNvSpPr/>
          <p:nvPr/>
        </p:nvSpPr>
        <p:spPr>
          <a:xfrm>
            <a:off x="1614488" y="3608388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楷体_GB2312" panose="02010609030101010101" pitchFamily="49" charset="-122"/>
                <a:cs typeface="+mn-cs"/>
              </a:rPr>
              <a:t>2</a:t>
            </a:r>
          </a:p>
        </p:txBody>
      </p:sp>
      <p:sp>
        <p:nvSpPr>
          <p:cNvPr id="77" name="矩形 76"/>
          <p:cNvSpPr/>
          <p:nvPr/>
        </p:nvSpPr>
        <p:spPr>
          <a:xfrm>
            <a:off x="1081088" y="1419225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高温热源</a:t>
            </a:r>
          </a:p>
        </p:txBody>
      </p:sp>
      <p:sp>
        <p:nvSpPr>
          <p:cNvPr id="78" name="矩形 77"/>
          <p:cNvSpPr/>
          <p:nvPr/>
        </p:nvSpPr>
        <p:spPr>
          <a:xfrm>
            <a:off x="1233488" y="4314825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低温热源</a:t>
            </a:r>
          </a:p>
        </p:txBody>
      </p:sp>
      <p:sp>
        <p:nvSpPr>
          <p:cNvPr id="79" name="矩形 78"/>
          <p:cNvSpPr/>
          <p:nvPr/>
        </p:nvSpPr>
        <p:spPr>
          <a:xfrm>
            <a:off x="663575" y="581025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热机工作示意图</a:t>
            </a:r>
          </a:p>
        </p:txBody>
      </p:sp>
      <p:sp>
        <p:nvSpPr>
          <p:cNvPr id="80" name="椭圆 79"/>
          <p:cNvSpPr/>
          <p:nvPr/>
        </p:nvSpPr>
        <p:spPr bwMode="auto">
          <a:xfrm>
            <a:off x="1619250" y="2659063"/>
            <a:ext cx="720725" cy="769938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物质</a:t>
            </a:r>
          </a:p>
        </p:txBody>
      </p:sp>
      <p:sp>
        <p:nvSpPr>
          <p:cNvPr id="431106" name="文本框 431105"/>
          <p:cNvSpPr txBox="1"/>
          <p:nvPr/>
        </p:nvSpPr>
        <p:spPr>
          <a:xfrm>
            <a:off x="250825" y="5661025"/>
            <a:ext cx="6438900" cy="10810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热机循环不向低温热源放热是不可能的</a:t>
            </a:r>
          </a:p>
          <a:p>
            <a:pPr marR="0" defTabSz="91440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热机循环至少需要两个热源</a:t>
            </a:r>
          </a:p>
        </p:txBody>
      </p:sp>
      <p:sp>
        <p:nvSpPr>
          <p:cNvPr id="463967" name="文本框 463966"/>
          <p:cNvSpPr txBox="1"/>
          <p:nvPr/>
        </p:nvSpPr>
        <p:spPr>
          <a:xfrm>
            <a:off x="4319588" y="611188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en-US" altLang="zh-CN" sz="2800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卡诺热机效率</a:t>
            </a:r>
          </a:p>
        </p:txBody>
      </p:sp>
      <p:graphicFrame>
        <p:nvGraphicFramePr>
          <p:cNvPr id="48131" name="对象 464022"/>
          <p:cNvGraphicFramePr/>
          <p:nvPr/>
        </p:nvGraphicFramePr>
        <p:xfrm>
          <a:off x="5075238" y="1268413"/>
          <a:ext cx="209232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r:id="rId4" imgW="673100" imgH="431800" progId="Equation.3">
                  <p:embed/>
                </p:oleObj>
              </mc:Choice>
              <mc:Fallback>
                <p:oleObj r:id="rId4" imgW="673100" imgH="431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75238" y="1268413"/>
                        <a:ext cx="2092325" cy="1301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1FF"/>
                          </a:gs>
                          <a:gs pos="50000">
                            <a:srgbClr val="FFFFFF"/>
                          </a:gs>
                          <a:gs pos="100000">
                            <a:srgbClr val="FFE1FF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020" name="矩形 464019"/>
          <p:cNvSpPr/>
          <p:nvPr/>
        </p:nvSpPr>
        <p:spPr>
          <a:xfrm>
            <a:off x="5003800" y="2835275"/>
            <a:ext cx="2684463" cy="5222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效率最高的热机</a:t>
            </a:r>
            <a:endParaRPr kumimoji="0" lang="zh-CN" sz="2800" b="1" i="0" u="none" strike="noStrike" kern="1200" cap="none" spc="0" normalizeH="0" baseline="0" noProof="1">
              <a:ln>
                <a:noFill/>
              </a:ln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67563" y="5589588"/>
            <a:ext cx="1612900" cy="5222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为什么？</a:t>
            </a:r>
          </a:p>
        </p:txBody>
      </p:sp>
      <p:graphicFrame>
        <p:nvGraphicFramePr>
          <p:cNvPr id="424989" name="对象 424988"/>
          <p:cNvGraphicFramePr/>
          <p:nvPr/>
        </p:nvGraphicFramePr>
        <p:xfrm>
          <a:off x="3611563" y="3602038"/>
          <a:ext cx="12207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r:id="rId6" imgW="457200" imgH="431800" progId="Equation.DSMT4">
                  <p:embed/>
                </p:oleObj>
              </mc:Choice>
              <mc:Fallback>
                <p:oleObj r:id="rId6" imgW="457200" imgH="4318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11563" y="3602038"/>
                        <a:ext cx="1220787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4865688" y="3552825"/>
          <a:ext cx="15589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r:id="rId8" imgW="584200" imgH="469900" progId="Equation.DSMT4">
                  <p:embed/>
                </p:oleObj>
              </mc:Choice>
              <mc:Fallback>
                <p:oleObj r:id="rId8" imgW="584200" imgH="4699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65688" y="3552825"/>
                        <a:ext cx="1558925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6" grpId="0"/>
      <p:bldP spid="463967" grpId="0"/>
      <p:bldP spid="464020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>
          <a:xfrm>
            <a:off x="399415" y="1627823"/>
            <a:ext cx="77724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b="1" dirty="0">
                <a:solidFill>
                  <a:schemeClr val="accent2"/>
                </a:solidFill>
                <a:ea typeface="黑体" panose="02010609060101010101" pitchFamily="49" charset="-122"/>
              </a:rPr>
              <a:t>热力学第二定律</a:t>
            </a:r>
          </a:p>
        </p:txBody>
      </p:sp>
      <p:sp>
        <p:nvSpPr>
          <p:cNvPr id="1059843" name="Rectangle 3"/>
          <p:cNvSpPr>
            <a:spLocks noChangeArrowheads="1"/>
          </p:cNvSpPr>
          <p:nvPr/>
        </p:nvSpPr>
        <p:spPr bwMode="auto">
          <a:xfrm>
            <a:off x="899478" y="2997200"/>
            <a:ext cx="8034338" cy="240474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13-6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自然过程的不可逆性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13-7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热力学第二定律的表述  卡诺定理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13-8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熵   熵增加原理</a:t>
            </a:r>
          </a:p>
          <a:p>
            <a:pPr marL="0" marR="0" lvl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32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  <a:sym typeface="+mn-ea"/>
              </a:rPr>
              <a:t> </a:t>
            </a:r>
            <a:r>
              <a:rPr kumimoji="1" lang="zh-CN" altLang="en-US" sz="320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13-9  热力学第二定律的统计诠释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6801" name="矩形 479235"/>
          <p:cNvSpPr/>
          <p:nvPr>
            <p:custDataLst>
              <p:tags r:id="rId1"/>
            </p:custDataLst>
          </p:nvPr>
        </p:nvSpPr>
        <p:spPr>
          <a:xfrm>
            <a:off x="498475" y="48514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</a:t>
            </a:r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章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热力学基础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4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60866" name="Text Box 2"/>
          <p:cNvSpPr txBox="1">
            <a:spLocks noChangeArrowheads="1"/>
          </p:cNvSpPr>
          <p:nvPr/>
        </p:nvSpPr>
        <p:spPr bwMode="auto">
          <a:xfrm>
            <a:off x="323850" y="692150"/>
            <a:ext cx="41132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一、热力学过程的方向性</a:t>
            </a:r>
          </a:p>
        </p:txBody>
      </p:sp>
      <p:sp>
        <p:nvSpPr>
          <p:cNvPr id="1060867" name="Rectangle 3"/>
          <p:cNvSpPr>
            <a:spLocks noChangeArrowheads="1"/>
          </p:cNvSpPr>
          <p:nvPr/>
        </p:nvSpPr>
        <p:spPr bwMode="auto">
          <a:xfrm>
            <a:off x="1547813" y="44450"/>
            <a:ext cx="61198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13-6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自然过程的不可逆性</a:t>
            </a:r>
          </a:p>
        </p:txBody>
      </p:sp>
      <p:sp>
        <p:nvSpPr>
          <p:cNvPr id="1060868" name="Text Box 4"/>
          <p:cNvSpPr txBox="1">
            <a:spLocks noChangeArrowheads="1"/>
          </p:cNvSpPr>
          <p:nvPr/>
        </p:nvSpPr>
        <p:spPr bwMode="auto">
          <a:xfrm>
            <a:off x="827088" y="1989138"/>
            <a:ext cx="7707313" cy="11699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热一律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一切热力学过程都应满足能量守恒。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但满足能量守恒的过程是否一定都能进行</a:t>
            </a: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</a:t>
            </a:r>
          </a:p>
        </p:txBody>
      </p:sp>
      <p:sp>
        <p:nvSpPr>
          <p:cNvPr id="1060869" name="Text Box 5"/>
          <p:cNvSpPr txBox="1">
            <a:spLocks noChangeArrowheads="1"/>
          </p:cNvSpPr>
          <p:nvPr/>
        </p:nvSpPr>
        <p:spPr bwMode="auto">
          <a:xfrm>
            <a:off x="1042988" y="1341438"/>
            <a:ext cx="10175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问题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:</a:t>
            </a:r>
            <a:endParaRPr kumimoji="1" lang="en-US" altLang="zh-CN" sz="28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0870" name="Text Box 6"/>
          <p:cNvSpPr txBox="1">
            <a:spLocks noChangeArrowheads="1"/>
          </p:cNvSpPr>
          <p:nvPr/>
        </p:nvSpPr>
        <p:spPr bwMode="auto">
          <a:xfrm>
            <a:off x="827088" y="3519488"/>
            <a:ext cx="8121650" cy="10683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实验发现：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满足能量守恒的过程不一定都能进行</a:t>
            </a: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!</a:t>
            </a: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过程的进行还有个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方向性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的问题。       </a:t>
            </a:r>
          </a:p>
        </p:txBody>
      </p:sp>
      <p:sp>
        <p:nvSpPr>
          <p:cNvPr id="1060871" name="Text Box 7"/>
          <p:cNvSpPr txBox="1">
            <a:spLocks noChangeArrowheads="1"/>
          </p:cNvSpPr>
          <p:nvPr/>
        </p:nvSpPr>
        <p:spPr bwMode="auto">
          <a:xfrm>
            <a:off x="682625" y="4652963"/>
            <a:ext cx="7993063" cy="1373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注意：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方向性，指无条件的、</a:t>
            </a:r>
            <a:r>
              <a:rPr kumimoji="1" lang="zh-CN" altLang="en-US" sz="28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自发的</a:t>
            </a: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、勿须外界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干预而进行的方向。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6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8" grpId="0" animBg="1"/>
      <p:bldP spid="1060869" grpId="0"/>
      <p:bldP spid="1060870" grpId="0" animBg="1"/>
      <p:bldP spid="10608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/>
          <p:nvPr/>
        </p:nvSpPr>
        <p:spPr>
          <a:xfrm>
            <a:off x="858838" y="534988"/>
            <a:ext cx="5564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C3300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．功热转换的方向性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                      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pic>
        <p:nvPicPr>
          <p:cNvPr id="1061891" name="Picture 3" descr="r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8" y="1006475"/>
            <a:ext cx="2514600" cy="2481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1892" name="Text Box 4"/>
          <p:cNvSpPr txBox="1"/>
          <p:nvPr/>
        </p:nvSpPr>
        <p:spPr>
          <a:xfrm>
            <a:off x="3411538" y="1111250"/>
            <a:ext cx="5273675" cy="946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功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 热</a:t>
            </a:r>
            <a:r>
              <a:rPr lang="zh-CN" altLang="en-US" sz="2800" b="1" dirty="0">
                <a:latin typeface="宋体" panose="02010600030101010101" pitchFamily="2" charset="-122"/>
              </a:rPr>
              <a:t>  可以自动地进行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  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如焦耳实验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008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             </a:t>
            </a:r>
          </a:p>
        </p:txBody>
      </p:sp>
      <p:sp>
        <p:nvSpPr>
          <p:cNvPr id="1061893" name="Text Box 5"/>
          <p:cNvSpPr txBox="1"/>
          <p:nvPr/>
        </p:nvSpPr>
        <p:spPr>
          <a:xfrm>
            <a:off x="3563938" y="2482850"/>
            <a:ext cx="509111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热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 功</a:t>
            </a: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能否自动地进行？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 （如焦耳实验的逆过程）</a:t>
            </a:r>
          </a:p>
        </p:txBody>
      </p:sp>
      <p:sp>
        <p:nvSpPr>
          <p:cNvPr id="1061894" name="Text Box 6"/>
          <p:cNvSpPr txBox="1"/>
          <p:nvPr/>
        </p:nvSpPr>
        <p:spPr>
          <a:xfrm>
            <a:off x="684213" y="4176713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C3300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．热传导的方向性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800" b="1" dirty="0">
                <a:latin typeface="宋体" panose="02010600030101010101" pitchFamily="2" charset="-122"/>
              </a:rPr>
              <a:t>                 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1061895" name="Text Box 7"/>
          <p:cNvSpPr txBox="1"/>
          <p:nvPr/>
        </p:nvSpPr>
        <p:spPr>
          <a:xfrm>
            <a:off x="900113" y="5013325"/>
            <a:ext cx="6981825" cy="9556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9E9A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热量可以自动地从高温物体传向低温物体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 </a:t>
            </a:r>
            <a:r>
              <a:rPr lang="zh-CN" altLang="en-US" sz="2800" b="1" dirty="0">
                <a:latin typeface="宋体" panose="02010600030101010101" pitchFamily="2" charset="-122"/>
              </a:rPr>
              <a:t>但相反的过程却不能自动发生。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2" grpId="0" animBg="1"/>
      <p:bldP spid="1061893" grpId="0"/>
      <p:bldP spid="1061894" grpId="0"/>
      <p:bldP spid="10618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5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62914" name="Rectangle 2"/>
          <p:cNvSpPr>
            <a:spLocks noChangeArrowheads="1"/>
          </p:cNvSpPr>
          <p:nvPr/>
        </p:nvSpPr>
        <p:spPr bwMode="auto">
          <a:xfrm>
            <a:off x="804863" y="4748213"/>
            <a:ext cx="7924800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热二律的任务就是要说明与热相联系的自然过程的方向性及限度。 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062916" name="Text Box 4"/>
          <p:cNvSpPr txBox="1"/>
          <p:nvPr/>
        </p:nvSpPr>
        <p:spPr>
          <a:xfrm>
            <a:off x="1157288" y="2901950"/>
            <a:ext cx="7329487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气体自由膨胀是可以自动进行的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但自动收缩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的过程谁也没有见到过。</a:t>
            </a:r>
          </a:p>
        </p:txBody>
      </p:sp>
      <p:grpSp>
        <p:nvGrpSpPr>
          <p:cNvPr id="12293" name="Group 5"/>
          <p:cNvGrpSpPr/>
          <p:nvPr/>
        </p:nvGrpSpPr>
        <p:grpSpPr>
          <a:xfrm>
            <a:off x="5478463" y="1317625"/>
            <a:ext cx="2867025" cy="1354138"/>
            <a:chOff x="3024" y="1065"/>
            <a:chExt cx="2114" cy="999"/>
          </a:xfrm>
        </p:grpSpPr>
        <p:sp>
          <p:nvSpPr>
            <p:cNvPr id="12366" name="AutoShape 6" descr="40%"/>
            <p:cNvSpPr/>
            <p:nvPr/>
          </p:nvSpPr>
          <p:spPr>
            <a:xfrm>
              <a:off x="3024" y="1065"/>
              <a:ext cx="2114" cy="999"/>
            </a:xfrm>
            <a:prstGeom prst="roundRect">
              <a:avLst>
                <a:gd name="adj" fmla="val 16667"/>
              </a:avLst>
            </a:prstGeom>
            <a:blipFill rotWithShape="0">
              <a:blip r:embed="rId2"/>
            </a:blipFill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7" name="AutoShape 7"/>
            <p:cNvSpPr/>
            <p:nvPr/>
          </p:nvSpPr>
          <p:spPr>
            <a:xfrm>
              <a:off x="3083" y="1124"/>
              <a:ext cx="1996" cy="88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8" name="Oval 8" descr="40%"/>
            <p:cNvSpPr/>
            <p:nvPr/>
          </p:nvSpPr>
          <p:spPr>
            <a:xfrm>
              <a:off x="3376" y="1359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9" name="Oval 9" descr="40%"/>
            <p:cNvSpPr/>
            <p:nvPr/>
          </p:nvSpPr>
          <p:spPr>
            <a:xfrm>
              <a:off x="3318" y="1476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0" name="Oval 10" descr="40%"/>
            <p:cNvSpPr/>
            <p:nvPr/>
          </p:nvSpPr>
          <p:spPr>
            <a:xfrm>
              <a:off x="3435" y="1889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1" name="Oval 11" descr="40%"/>
            <p:cNvSpPr/>
            <p:nvPr/>
          </p:nvSpPr>
          <p:spPr>
            <a:xfrm>
              <a:off x="3611" y="1300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2" name="Oval 12" descr="40%"/>
            <p:cNvSpPr/>
            <p:nvPr/>
          </p:nvSpPr>
          <p:spPr>
            <a:xfrm>
              <a:off x="3141" y="1535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3" name="Oval 13" descr="40%"/>
            <p:cNvSpPr/>
            <p:nvPr/>
          </p:nvSpPr>
          <p:spPr>
            <a:xfrm>
              <a:off x="3670" y="1711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4" name="Oval 14" descr="40%"/>
            <p:cNvSpPr/>
            <p:nvPr/>
          </p:nvSpPr>
          <p:spPr>
            <a:xfrm>
              <a:off x="3259" y="1830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5" name="Oval 15" descr="40%"/>
            <p:cNvSpPr/>
            <p:nvPr/>
          </p:nvSpPr>
          <p:spPr>
            <a:xfrm>
              <a:off x="3200" y="135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6" name="Oval 16" descr="40%"/>
            <p:cNvSpPr/>
            <p:nvPr/>
          </p:nvSpPr>
          <p:spPr>
            <a:xfrm>
              <a:off x="3376" y="124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7" name="Oval 17" descr="40%"/>
            <p:cNvSpPr/>
            <p:nvPr/>
          </p:nvSpPr>
          <p:spPr>
            <a:xfrm>
              <a:off x="4081" y="124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8" name="Oval 18" descr="40%"/>
            <p:cNvSpPr/>
            <p:nvPr/>
          </p:nvSpPr>
          <p:spPr>
            <a:xfrm>
              <a:off x="3611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79" name="Oval 19" descr="40%"/>
            <p:cNvSpPr/>
            <p:nvPr/>
          </p:nvSpPr>
          <p:spPr>
            <a:xfrm>
              <a:off x="3905" y="1476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0" name="Oval 20" descr="40%"/>
            <p:cNvSpPr/>
            <p:nvPr/>
          </p:nvSpPr>
          <p:spPr>
            <a:xfrm>
              <a:off x="3905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1" name="Oval 21" descr="40%"/>
            <p:cNvSpPr/>
            <p:nvPr/>
          </p:nvSpPr>
          <p:spPr>
            <a:xfrm>
              <a:off x="3729" y="1711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2" name="Oval 22" descr="40%"/>
            <p:cNvSpPr/>
            <p:nvPr/>
          </p:nvSpPr>
          <p:spPr>
            <a:xfrm>
              <a:off x="3787" y="1476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3" name="Oval 23" descr="40%"/>
            <p:cNvSpPr/>
            <p:nvPr/>
          </p:nvSpPr>
          <p:spPr>
            <a:xfrm>
              <a:off x="3494" y="1711"/>
              <a:ext cx="57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4" name="Oval 24" descr="40%"/>
            <p:cNvSpPr/>
            <p:nvPr/>
          </p:nvSpPr>
          <p:spPr>
            <a:xfrm>
              <a:off x="3905" y="1711"/>
              <a:ext cx="57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5" name="Oval 25" descr="40%"/>
            <p:cNvSpPr/>
            <p:nvPr/>
          </p:nvSpPr>
          <p:spPr>
            <a:xfrm>
              <a:off x="3670" y="182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6" name="Oval 26" descr="40%"/>
            <p:cNvSpPr/>
            <p:nvPr/>
          </p:nvSpPr>
          <p:spPr>
            <a:xfrm>
              <a:off x="3494" y="118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7" name="Oval 27" descr="40%"/>
            <p:cNvSpPr/>
            <p:nvPr/>
          </p:nvSpPr>
          <p:spPr>
            <a:xfrm>
              <a:off x="3905" y="118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8" name="Oval 28" descr="40%"/>
            <p:cNvSpPr/>
            <p:nvPr/>
          </p:nvSpPr>
          <p:spPr>
            <a:xfrm>
              <a:off x="3494" y="141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89" name="Oval 29" descr="40%"/>
            <p:cNvSpPr/>
            <p:nvPr/>
          </p:nvSpPr>
          <p:spPr>
            <a:xfrm>
              <a:off x="3611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0" name="Oval 30" descr="40%"/>
            <p:cNvSpPr/>
            <p:nvPr/>
          </p:nvSpPr>
          <p:spPr>
            <a:xfrm>
              <a:off x="3787" y="1300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1" name="Oval 31" descr="40%"/>
            <p:cNvSpPr/>
            <p:nvPr/>
          </p:nvSpPr>
          <p:spPr>
            <a:xfrm>
              <a:off x="3611" y="1300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2" name="Oval 32" descr="40%"/>
            <p:cNvSpPr/>
            <p:nvPr/>
          </p:nvSpPr>
          <p:spPr>
            <a:xfrm>
              <a:off x="4140" y="1830"/>
              <a:ext cx="58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3" name="Oval 33" descr="40%"/>
            <p:cNvSpPr/>
            <p:nvPr/>
          </p:nvSpPr>
          <p:spPr>
            <a:xfrm>
              <a:off x="4140" y="1476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4" name="Oval 34" descr="40%"/>
            <p:cNvSpPr/>
            <p:nvPr/>
          </p:nvSpPr>
          <p:spPr>
            <a:xfrm>
              <a:off x="4257" y="1889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5" name="Oval 35" descr="40%"/>
            <p:cNvSpPr/>
            <p:nvPr/>
          </p:nvSpPr>
          <p:spPr>
            <a:xfrm>
              <a:off x="4433" y="1300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6" name="Oval 36" descr="40%"/>
            <p:cNvSpPr/>
            <p:nvPr/>
          </p:nvSpPr>
          <p:spPr>
            <a:xfrm>
              <a:off x="4610" y="1594"/>
              <a:ext cx="58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7" name="Oval 37" descr="40%"/>
            <p:cNvSpPr/>
            <p:nvPr/>
          </p:nvSpPr>
          <p:spPr>
            <a:xfrm>
              <a:off x="4492" y="1711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8" name="Oval 38" descr="40%"/>
            <p:cNvSpPr/>
            <p:nvPr/>
          </p:nvSpPr>
          <p:spPr>
            <a:xfrm>
              <a:off x="4081" y="1711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99" name="Oval 39" descr="40%"/>
            <p:cNvSpPr/>
            <p:nvPr/>
          </p:nvSpPr>
          <p:spPr>
            <a:xfrm>
              <a:off x="4022" y="135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0" name="Oval 40" descr="40%"/>
            <p:cNvSpPr/>
            <p:nvPr/>
          </p:nvSpPr>
          <p:spPr>
            <a:xfrm>
              <a:off x="4198" y="124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1" name="Oval 41" descr="40%"/>
            <p:cNvSpPr/>
            <p:nvPr/>
          </p:nvSpPr>
          <p:spPr>
            <a:xfrm>
              <a:off x="4903" y="124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2" name="Oval 42" descr="40%"/>
            <p:cNvSpPr/>
            <p:nvPr/>
          </p:nvSpPr>
          <p:spPr>
            <a:xfrm>
              <a:off x="4433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3" name="Oval 43" descr="40%"/>
            <p:cNvSpPr/>
            <p:nvPr/>
          </p:nvSpPr>
          <p:spPr>
            <a:xfrm>
              <a:off x="4727" y="1476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4" name="Oval 44" descr="40%"/>
            <p:cNvSpPr/>
            <p:nvPr/>
          </p:nvSpPr>
          <p:spPr>
            <a:xfrm>
              <a:off x="4727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5" name="Oval 45" descr="40%"/>
            <p:cNvSpPr/>
            <p:nvPr/>
          </p:nvSpPr>
          <p:spPr>
            <a:xfrm>
              <a:off x="4551" y="171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6" name="Oval 46" descr="40%"/>
            <p:cNvSpPr/>
            <p:nvPr/>
          </p:nvSpPr>
          <p:spPr>
            <a:xfrm>
              <a:off x="4844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7" name="Oval 47" descr="40%"/>
            <p:cNvSpPr/>
            <p:nvPr/>
          </p:nvSpPr>
          <p:spPr>
            <a:xfrm>
              <a:off x="4316" y="1711"/>
              <a:ext cx="57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8" name="Oval 48" descr="40%"/>
            <p:cNvSpPr/>
            <p:nvPr/>
          </p:nvSpPr>
          <p:spPr>
            <a:xfrm>
              <a:off x="4727" y="1711"/>
              <a:ext cx="57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09" name="Oval 49" descr="40%"/>
            <p:cNvSpPr/>
            <p:nvPr/>
          </p:nvSpPr>
          <p:spPr>
            <a:xfrm>
              <a:off x="4492" y="182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0" name="Oval 50" descr="40%"/>
            <p:cNvSpPr/>
            <p:nvPr/>
          </p:nvSpPr>
          <p:spPr>
            <a:xfrm>
              <a:off x="4375" y="1829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1" name="Oval 51" descr="40%"/>
            <p:cNvSpPr/>
            <p:nvPr/>
          </p:nvSpPr>
          <p:spPr>
            <a:xfrm>
              <a:off x="4727" y="118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2" name="Oval 52" descr="40%"/>
            <p:cNvSpPr/>
            <p:nvPr/>
          </p:nvSpPr>
          <p:spPr>
            <a:xfrm>
              <a:off x="4198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3" name="Oval 53" descr="40%"/>
            <p:cNvSpPr/>
            <p:nvPr/>
          </p:nvSpPr>
          <p:spPr>
            <a:xfrm>
              <a:off x="4433" y="1535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4" name="Oval 54" descr="40%"/>
            <p:cNvSpPr/>
            <p:nvPr/>
          </p:nvSpPr>
          <p:spPr>
            <a:xfrm>
              <a:off x="4610" y="1300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5" name="Oval 55" descr="40%"/>
            <p:cNvSpPr/>
            <p:nvPr/>
          </p:nvSpPr>
          <p:spPr>
            <a:xfrm>
              <a:off x="4433" y="1300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6" name="Oval 56" descr="40%"/>
            <p:cNvSpPr/>
            <p:nvPr/>
          </p:nvSpPr>
          <p:spPr>
            <a:xfrm>
              <a:off x="4022" y="1360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7" name="Oval 57" descr="40%"/>
            <p:cNvSpPr/>
            <p:nvPr/>
          </p:nvSpPr>
          <p:spPr>
            <a:xfrm>
              <a:off x="3905" y="1595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8" name="Oval 58" descr="40%"/>
            <p:cNvSpPr/>
            <p:nvPr/>
          </p:nvSpPr>
          <p:spPr>
            <a:xfrm>
              <a:off x="3846" y="1183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19" name="Oval 59" descr="40%"/>
            <p:cNvSpPr/>
            <p:nvPr/>
          </p:nvSpPr>
          <p:spPr>
            <a:xfrm>
              <a:off x="4492" y="135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0" name="Oval 60" descr="40%"/>
            <p:cNvSpPr/>
            <p:nvPr/>
          </p:nvSpPr>
          <p:spPr>
            <a:xfrm>
              <a:off x="4316" y="118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1" name="Oval 61" descr="40%"/>
            <p:cNvSpPr/>
            <p:nvPr/>
          </p:nvSpPr>
          <p:spPr>
            <a:xfrm>
              <a:off x="4081" y="1183"/>
              <a:ext cx="57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2" name="Oval 62" descr="40%"/>
            <p:cNvSpPr/>
            <p:nvPr/>
          </p:nvSpPr>
          <p:spPr>
            <a:xfrm>
              <a:off x="4492" y="1183"/>
              <a:ext cx="58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3" name="Oval 63" descr="40%"/>
            <p:cNvSpPr/>
            <p:nvPr/>
          </p:nvSpPr>
          <p:spPr>
            <a:xfrm>
              <a:off x="4257" y="135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4" name="Oval 64" descr="40%"/>
            <p:cNvSpPr/>
            <p:nvPr/>
          </p:nvSpPr>
          <p:spPr>
            <a:xfrm>
              <a:off x="4903" y="1711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5" name="Oval 65" descr="40%"/>
            <p:cNvSpPr/>
            <p:nvPr/>
          </p:nvSpPr>
          <p:spPr>
            <a:xfrm>
              <a:off x="4844" y="182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6" name="Oval 66" descr="40%"/>
            <p:cNvSpPr/>
            <p:nvPr/>
          </p:nvSpPr>
          <p:spPr>
            <a:xfrm>
              <a:off x="4668" y="1888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7" name="Oval 67" descr="40%"/>
            <p:cNvSpPr/>
            <p:nvPr/>
          </p:nvSpPr>
          <p:spPr>
            <a:xfrm>
              <a:off x="4727" y="1711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8" name="Oval 68" descr="40%"/>
            <p:cNvSpPr/>
            <p:nvPr/>
          </p:nvSpPr>
          <p:spPr>
            <a:xfrm>
              <a:off x="4903" y="1594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29" name="Oval 69" descr="40%"/>
            <p:cNvSpPr/>
            <p:nvPr/>
          </p:nvSpPr>
          <p:spPr>
            <a:xfrm>
              <a:off x="5021" y="1711"/>
              <a:ext cx="58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0" name="Oval 70" descr="40%"/>
            <p:cNvSpPr/>
            <p:nvPr/>
          </p:nvSpPr>
          <p:spPr>
            <a:xfrm>
              <a:off x="4903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1" name="Oval 71" descr="40%"/>
            <p:cNvSpPr/>
            <p:nvPr/>
          </p:nvSpPr>
          <p:spPr>
            <a:xfrm>
              <a:off x="3200" y="1653"/>
              <a:ext cx="59" cy="57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2" name="Oval 72" descr="40%"/>
            <p:cNvSpPr/>
            <p:nvPr/>
          </p:nvSpPr>
          <p:spPr>
            <a:xfrm>
              <a:off x="3670" y="1594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3" name="Oval 73" descr="40%"/>
            <p:cNvSpPr/>
            <p:nvPr/>
          </p:nvSpPr>
          <p:spPr>
            <a:xfrm>
              <a:off x="3200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4" name="Oval 74" descr="40%"/>
            <p:cNvSpPr/>
            <p:nvPr/>
          </p:nvSpPr>
          <p:spPr>
            <a:xfrm>
              <a:off x="3494" y="182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5" name="Oval 75" descr="40%"/>
            <p:cNvSpPr/>
            <p:nvPr/>
          </p:nvSpPr>
          <p:spPr>
            <a:xfrm>
              <a:off x="3611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6" name="Oval 76" descr="40%"/>
            <p:cNvSpPr/>
            <p:nvPr/>
          </p:nvSpPr>
          <p:spPr>
            <a:xfrm>
              <a:off x="4844" y="1359"/>
              <a:ext cx="59" cy="59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7" name="Oval 77" descr="40%"/>
            <p:cNvSpPr/>
            <p:nvPr/>
          </p:nvSpPr>
          <p:spPr>
            <a:xfrm>
              <a:off x="3200" y="1888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8" name="Oval 78" descr="40%"/>
            <p:cNvSpPr/>
            <p:nvPr/>
          </p:nvSpPr>
          <p:spPr>
            <a:xfrm>
              <a:off x="3376" y="165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439" name="Oval 79" descr="40%"/>
            <p:cNvSpPr/>
            <p:nvPr/>
          </p:nvSpPr>
          <p:spPr>
            <a:xfrm>
              <a:off x="3200" y="1653"/>
              <a:ext cx="59" cy="58"/>
            </a:xfrm>
            <a:prstGeom prst="ellipse">
              <a:avLst/>
            </a:prstGeom>
            <a:blipFill rotWithShape="0">
              <a:blip r:embed="rId3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12294" name="Group 80"/>
          <p:cNvGrpSpPr/>
          <p:nvPr/>
        </p:nvGrpSpPr>
        <p:grpSpPr>
          <a:xfrm>
            <a:off x="1085850" y="1317625"/>
            <a:ext cx="2857500" cy="1346200"/>
            <a:chOff x="709" y="487"/>
            <a:chExt cx="1845" cy="848"/>
          </a:xfrm>
        </p:grpSpPr>
        <p:sp>
          <p:nvSpPr>
            <p:cNvPr id="12297" name="AutoShape 81" descr="40%"/>
            <p:cNvSpPr/>
            <p:nvPr/>
          </p:nvSpPr>
          <p:spPr>
            <a:xfrm>
              <a:off x="709" y="487"/>
              <a:ext cx="1845" cy="848"/>
            </a:xfrm>
            <a:prstGeom prst="roundRect">
              <a:avLst>
                <a:gd name="adj" fmla="val 16667"/>
              </a:avLst>
            </a:prstGeom>
            <a:blipFill rotWithShape="0">
              <a:blip r:embed="rId2"/>
            </a:blipFill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298" name="AutoShape 82"/>
            <p:cNvSpPr/>
            <p:nvPr/>
          </p:nvSpPr>
          <p:spPr>
            <a:xfrm>
              <a:off x="760" y="511"/>
              <a:ext cx="1743" cy="8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5875" cap="flat" cmpd="sng">
              <a:pattFill prst="pct5">
                <a:fgClr>
                  <a:srgbClr val="AE5452"/>
                </a:fgClr>
                <a:bgClr>
                  <a:srgbClr val="FFFFFF"/>
                </a:bgClr>
              </a:patt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299" name="Oval 83" descr="40%"/>
            <p:cNvSpPr/>
            <p:nvPr/>
          </p:nvSpPr>
          <p:spPr>
            <a:xfrm>
              <a:off x="812" y="5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0" name="Oval 84" descr="40%"/>
            <p:cNvSpPr/>
            <p:nvPr/>
          </p:nvSpPr>
          <p:spPr>
            <a:xfrm>
              <a:off x="965" y="610"/>
              <a:ext cx="52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1" name="Oval 85" descr="40%"/>
            <p:cNvSpPr/>
            <p:nvPr/>
          </p:nvSpPr>
          <p:spPr>
            <a:xfrm>
              <a:off x="863" y="7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2" name="Oval 86" descr="40%"/>
            <p:cNvSpPr/>
            <p:nvPr/>
          </p:nvSpPr>
          <p:spPr>
            <a:xfrm>
              <a:off x="1119" y="7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3" name="Oval 87" descr="40%"/>
            <p:cNvSpPr/>
            <p:nvPr/>
          </p:nvSpPr>
          <p:spPr>
            <a:xfrm>
              <a:off x="1017" y="8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4" name="Oval 88" descr="40%"/>
            <p:cNvSpPr/>
            <p:nvPr/>
          </p:nvSpPr>
          <p:spPr>
            <a:xfrm>
              <a:off x="1170" y="560"/>
              <a:ext cx="52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5" name="Oval 89" descr="40%"/>
            <p:cNvSpPr/>
            <p:nvPr/>
          </p:nvSpPr>
          <p:spPr>
            <a:xfrm>
              <a:off x="863" y="8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6" name="Oval 90" descr="40%"/>
            <p:cNvSpPr/>
            <p:nvPr/>
          </p:nvSpPr>
          <p:spPr>
            <a:xfrm>
              <a:off x="1017" y="7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7" name="Oval 91" descr="40%"/>
            <p:cNvSpPr/>
            <p:nvPr/>
          </p:nvSpPr>
          <p:spPr>
            <a:xfrm>
              <a:off x="1222" y="910"/>
              <a:ext cx="51" cy="48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8" name="Oval 92" descr="40%"/>
            <p:cNvSpPr/>
            <p:nvPr/>
          </p:nvSpPr>
          <p:spPr>
            <a:xfrm>
              <a:off x="1222" y="76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09" name="Oval 93" descr="40%"/>
            <p:cNvSpPr/>
            <p:nvPr/>
          </p:nvSpPr>
          <p:spPr>
            <a:xfrm>
              <a:off x="760" y="91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0" name="Oval 94" descr="40%"/>
            <p:cNvSpPr/>
            <p:nvPr/>
          </p:nvSpPr>
          <p:spPr>
            <a:xfrm>
              <a:off x="914" y="536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1" name="Oval 95" descr="40%"/>
            <p:cNvSpPr/>
            <p:nvPr/>
          </p:nvSpPr>
          <p:spPr>
            <a:xfrm>
              <a:off x="812" y="111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2" name="Oval 96" descr="40%"/>
            <p:cNvSpPr/>
            <p:nvPr/>
          </p:nvSpPr>
          <p:spPr>
            <a:xfrm>
              <a:off x="1119" y="1059"/>
              <a:ext cx="51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3" name="Oval 97" descr="40%"/>
            <p:cNvSpPr/>
            <p:nvPr/>
          </p:nvSpPr>
          <p:spPr>
            <a:xfrm>
              <a:off x="965" y="1209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4" name="Oval 98" descr="40%"/>
            <p:cNvSpPr/>
            <p:nvPr/>
          </p:nvSpPr>
          <p:spPr>
            <a:xfrm>
              <a:off x="1119" y="9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5" name="Oval 99" descr="40%"/>
            <p:cNvSpPr/>
            <p:nvPr/>
          </p:nvSpPr>
          <p:spPr>
            <a:xfrm>
              <a:off x="812" y="1209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6" name="Oval 100" descr="40%"/>
            <p:cNvSpPr/>
            <p:nvPr/>
          </p:nvSpPr>
          <p:spPr>
            <a:xfrm>
              <a:off x="965" y="1110"/>
              <a:ext cx="52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7" name="Oval 101" descr="40%"/>
            <p:cNvSpPr/>
            <p:nvPr/>
          </p:nvSpPr>
          <p:spPr>
            <a:xfrm>
              <a:off x="1170" y="1259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8" name="Oval 102" descr="40%"/>
            <p:cNvSpPr/>
            <p:nvPr/>
          </p:nvSpPr>
          <p:spPr>
            <a:xfrm>
              <a:off x="1222" y="1035"/>
              <a:ext cx="51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19" name="Rectangle 103" descr="40%"/>
            <p:cNvSpPr/>
            <p:nvPr/>
          </p:nvSpPr>
          <p:spPr>
            <a:xfrm>
              <a:off x="1632" y="511"/>
              <a:ext cx="51" cy="79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0" name="Oval 104" descr="40%"/>
            <p:cNvSpPr/>
            <p:nvPr/>
          </p:nvSpPr>
          <p:spPr>
            <a:xfrm>
              <a:off x="1119" y="5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1" name="Oval 105" descr="40%"/>
            <p:cNvSpPr/>
            <p:nvPr/>
          </p:nvSpPr>
          <p:spPr>
            <a:xfrm>
              <a:off x="1273" y="6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2" name="Oval 106" descr="40%"/>
            <p:cNvSpPr/>
            <p:nvPr/>
          </p:nvSpPr>
          <p:spPr>
            <a:xfrm>
              <a:off x="1170" y="76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3" name="Oval 107" descr="40%"/>
            <p:cNvSpPr/>
            <p:nvPr/>
          </p:nvSpPr>
          <p:spPr>
            <a:xfrm>
              <a:off x="1427" y="7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4" name="Oval 108" descr="40%"/>
            <p:cNvSpPr/>
            <p:nvPr/>
          </p:nvSpPr>
          <p:spPr>
            <a:xfrm>
              <a:off x="1324" y="8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5" name="Oval 109" descr="40%"/>
            <p:cNvSpPr/>
            <p:nvPr/>
          </p:nvSpPr>
          <p:spPr>
            <a:xfrm>
              <a:off x="1478" y="5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6" name="Oval 110" descr="40%"/>
            <p:cNvSpPr/>
            <p:nvPr/>
          </p:nvSpPr>
          <p:spPr>
            <a:xfrm>
              <a:off x="1170" y="86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7" name="Oval 111" descr="40%"/>
            <p:cNvSpPr/>
            <p:nvPr/>
          </p:nvSpPr>
          <p:spPr>
            <a:xfrm>
              <a:off x="1324" y="7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8" name="Oval 112" descr="40%"/>
            <p:cNvSpPr/>
            <p:nvPr/>
          </p:nvSpPr>
          <p:spPr>
            <a:xfrm>
              <a:off x="1529" y="9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29" name="Oval 113" descr="40%"/>
            <p:cNvSpPr/>
            <p:nvPr/>
          </p:nvSpPr>
          <p:spPr>
            <a:xfrm>
              <a:off x="1529" y="7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0" name="Oval 114" descr="40%"/>
            <p:cNvSpPr/>
            <p:nvPr/>
          </p:nvSpPr>
          <p:spPr>
            <a:xfrm>
              <a:off x="1068" y="910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1" name="Oval 115" descr="40%"/>
            <p:cNvSpPr/>
            <p:nvPr/>
          </p:nvSpPr>
          <p:spPr>
            <a:xfrm>
              <a:off x="1325" y="960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2" name="Oval 116" descr="40%"/>
            <p:cNvSpPr/>
            <p:nvPr/>
          </p:nvSpPr>
          <p:spPr>
            <a:xfrm>
              <a:off x="1119" y="1135"/>
              <a:ext cx="50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3" name="Oval 117" descr="40%"/>
            <p:cNvSpPr/>
            <p:nvPr/>
          </p:nvSpPr>
          <p:spPr>
            <a:xfrm>
              <a:off x="1374" y="1059"/>
              <a:ext cx="52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4" name="Oval 118" descr="40%"/>
            <p:cNvSpPr/>
            <p:nvPr/>
          </p:nvSpPr>
          <p:spPr>
            <a:xfrm>
              <a:off x="1273" y="1209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5" name="Oval 119" descr="40%"/>
            <p:cNvSpPr/>
            <p:nvPr/>
          </p:nvSpPr>
          <p:spPr>
            <a:xfrm>
              <a:off x="1427" y="910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6" name="Oval 120" descr="40%"/>
            <p:cNvSpPr/>
            <p:nvPr/>
          </p:nvSpPr>
          <p:spPr>
            <a:xfrm>
              <a:off x="1119" y="1209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7" name="Oval 121" descr="40%"/>
            <p:cNvSpPr/>
            <p:nvPr/>
          </p:nvSpPr>
          <p:spPr>
            <a:xfrm>
              <a:off x="1324" y="1135"/>
              <a:ext cx="50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8" name="Oval 122" descr="40%"/>
            <p:cNvSpPr/>
            <p:nvPr/>
          </p:nvSpPr>
          <p:spPr>
            <a:xfrm>
              <a:off x="1478" y="1259"/>
              <a:ext cx="50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39" name="Oval 123" descr="40%"/>
            <p:cNvSpPr/>
            <p:nvPr/>
          </p:nvSpPr>
          <p:spPr>
            <a:xfrm>
              <a:off x="1478" y="1110"/>
              <a:ext cx="50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0" name="Oval 124" descr="40%"/>
            <p:cNvSpPr/>
            <p:nvPr/>
          </p:nvSpPr>
          <p:spPr>
            <a:xfrm>
              <a:off x="812" y="986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1" name="Oval 125" descr="40%"/>
            <p:cNvSpPr/>
            <p:nvPr/>
          </p:nvSpPr>
          <p:spPr>
            <a:xfrm>
              <a:off x="965" y="936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2" name="Oval 126" descr="40%"/>
            <p:cNvSpPr/>
            <p:nvPr/>
          </p:nvSpPr>
          <p:spPr>
            <a:xfrm>
              <a:off x="863" y="1086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3" name="Oval 127" descr="40%"/>
            <p:cNvSpPr/>
            <p:nvPr/>
          </p:nvSpPr>
          <p:spPr>
            <a:xfrm>
              <a:off x="1068" y="1235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4" name="Oval 128" descr="40%"/>
            <p:cNvSpPr/>
            <p:nvPr/>
          </p:nvSpPr>
          <p:spPr>
            <a:xfrm>
              <a:off x="863" y="1235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5" name="Oval 129" descr="40%"/>
            <p:cNvSpPr/>
            <p:nvPr/>
          </p:nvSpPr>
          <p:spPr>
            <a:xfrm>
              <a:off x="1017" y="111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6" name="Oval 130" descr="40%"/>
            <p:cNvSpPr/>
            <p:nvPr/>
          </p:nvSpPr>
          <p:spPr>
            <a:xfrm>
              <a:off x="1427" y="101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7" name="Oval 131" descr="40%"/>
            <p:cNvSpPr/>
            <p:nvPr/>
          </p:nvSpPr>
          <p:spPr>
            <a:xfrm>
              <a:off x="1478" y="8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8" name="Oval 132" descr="40%"/>
            <p:cNvSpPr/>
            <p:nvPr/>
          </p:nvSpPr>
          <p:spPr>
            <a:xfrm>
              <a:off x="1529" y="1209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49" name="Oval 133" descr="40%"/>
            <p:cNvSpPr/>
            <p:nvPr/>
          </p:nvSpPr>
          <p:spPr>
            <a:xfrm>
              <a:off x="1529" y="1059"/>
              <a:ext cx="51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0" name="Oval 134" descr="40%"/>
            <p:cNvSpPr/>
            <p:nvPr/>
          </p:nvSpPr>
          <p:spPr>
            <a:xfrm>
              <a:off x="1222" y="636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1" name="Oval 135" descr="40%"/>
            <p:cNvSpPr/>
            <p:nvPr/>
          </p:nvSpPr>
          <p:spPr>
            <a:xfrm>
              <a:off x="1068" y="6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2" name="Oval 136" descr="40%"/>
            <p:cNvSpPr/>
            <p:nvPr/>
          </p:nvSpPr>
          <p:spPr>
            <a:xfrm>
              <a:off x="1427" y="6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3" name="Oval 137" descr="40%"/>
            <p:cNvSpPr/>
            <p:nvPr/>
          </p:nvSpPr>
          <p:spPr>
            <a:xfrm>
              <a:off x="965" y="71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4" name="Oval 138" descr="40%"/>
            <p:cNvSpPr/>
            <p:nvPr/>
          </p:nvSpPr>
          <p:spPr>
            <a:xfrm>
              <a:off x="812" y="7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5" name="Oval 139" descr="40%"/>
            <p:cNvSpPr/>
            <p:nvPr/>
          </p:nvSpPr>
          <p:spPr>
            <a:xfrm>
              <a:off x="1170" y="76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6" name="Oval 140" descr="40%"/>
            <p:cNvSpPr/>
            <p:nvPr/>
          </p:nvSpPr>
          <p:spPr>
            <a:xfrm>
              <a:off x="1427" y="1159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7" name="Oval 141" descr="40%"/>
            <p:cNvSpPr/>
            <p:nvPr/>
          </p:nvSpPr>
          <p:spPr>
            <a:xfrm>
              <a:off x="1324" y="1159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8" name="Oval 142" descr="40%"/>
            <p:cNvSpPr/>
            <p:nvPr/>
          </p:nvSpPr>
          <p:spPr>
            <a:xfrm>
              <a:off x="1324" y="1259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59" name="Oval 143" descr="40%"/>
            <p:cNvSpPr/>
            <p:nvPr/>
          </p:nvSpPr>
          <p:spPr>
            <a:xfrm>
              <a:off x="1068" y="101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0" name="Oval 144" descr="40%"/>
            <p:cNvSpPr/>
            <p:nvPr/>
          </p:nvSpPr>
          <p:spPr>
            <a:xfrm>
              <a:off x="914" y="1010"/>
              <a:ext cx="51" cy="49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1" name="Oval 145" descr="40%"/>
            <p:cNvSpPr/>
            <p:nvPr/>
          </p:nvSpPr>
          <p:spPr>
            <a:xfrm>
              <a:off x="1273" y="1059"/>
              <a:ext cx="51" cy="51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2" name="Oval 146" descr="40%"/>
            <p:cNvSpPr/>
            <p:nvPr/>
          </p:nvSpPr>
          <p:spPr>
            <a:xfrm>
              <a:off x="1324" y="56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3" name="Oval 147" descr="40%"/>
            <p:cNvSpPr/>
            <p:nvPr/>
          </p:nvSpPr>
          <p:spPr>
            <a:xfrm>
              <a:off x="1170" y="560"/>
              <a:ext cx="52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364" name="Oval 148" descr="40%"/>
            <p:cNvSpPr/>
            <p:nvPr/>
          </p:nvSpPr>
          <p:spPr>
            <a:xfrm>
              <a:off x="1529" y="610"/>
              <a:ext cx="51" cy="50"/>
            </a:xfrm>
            <a:prstGeom prst="ellipse">
              <a:avLst/>
            </a:prstGeom>
            <a:blipFill rotWithShape="0">
              <a:blip r:embed="rId4"/>
            </a:blipFill>
            <a:ln w="31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63061" name="Rectangle 149"/>
            <p:cNvSpPr>
              <a:spLocks noChangeArrowheads="1"/>
            </p:cNvSpPr>
            <p:nvPr/>
          </p:nvSpPr>
          <p:spPr bwMode="auto">
            <a:xfrm>
              <a:off x="1857" y="794"/>
              <a:ext cx="515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真空</a:t>
              </a:r>
            </a:p>
          </p:txBody>
        </p:sp>
      </p:grpSp>
      <p:sp>
        <p:nvSpPr>
          <p:cNvPr id="1063062" name="Text Box 150"/>
          <p:cNvSpPr txBox="1"/>
          <p:nvPr/>
        </p:nvSpPr>
        <p:spPr>
          <a:xfrm>
            <a:off x="3175000" y="3836988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…………</a:t>
            </a:r>
          </a:p>
        </p:txBody>
      </p:sp>
      <p:sp>
        <p:nvSpPr>
          <p:cNvPr id="12296" name="Text Box 8"/>
          <p:cNvSpPr txBox="1"/>
          <p:nvPr/>
        </p:nvSpPr>
        <p:spPr>
          <a:xfrm>
            <a:off x="804863" y="360363"/>
            <a:ext cx="68024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C3300"/>
                </a:solidFill>
              </a:rPr>
              <a:t>3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气体自由膨胀的方向性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        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6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6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6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6" grpId="0"/>
      <p:bldP spid="10630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64962" name="Oval 2"/>
          <p:cNvSpPr/>
          <p:nvPr/>
        </p:nvSpPr>
        <p:spPr>
          <a:xfrm>
            <a:off x="987425" y="1703388"/>
            <a:ext cx="7200900" cy="1941512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64963" name="Text Box 3"/>
          <p:cNvSpPr txBox="1">
            <a:spLocks noChangeArrowheads="1"/>
          </p:cNvSpPr>
          <p:nvPr/>
        </p:nvSpPr>
        <p:spPr bwMode="auto">
          <a:xfrm>
            <a:off x="1476375" y="2101850"/>
            <a:ext cx="6521450" cy="1244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系统由某一状态出发，经过某一过程达到另一状态，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若存在另一过程，它能使</a:t>
            </a:r>
            <a:r>
              <a:rPr kumimoji="0" lang="zh-CN" altLang="en-US" sz="25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系统和外界完全复原</a:t>
            </a:r>
            <a:r>
              <a:rPr kumimoji="0" lang="en-US" altLang="zh-CN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</a:t>
            </a:r>
            <a:r>
              <a:rPr kumimoji="0" lang="zh-CN" altLang="en-US" sz="25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原过程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为可逆过程</a:t>
            </a:r>
            <a:r>
              <a:rPr kumimoji="0" lang="zh-CN" altLang="en-US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1064964" name="Text Box 4"/>
          <p:cNvSpPr txBox="1">
            <a:spLocks noChangeArrowheads="1"/>
          </p:cNvSpPr>
          <p:nvPr/>
        </p:nvSpPr>
        <p:spPr bwMode="auto">
          <a:xfrm>
            <a:off x="3565525" y="1387475"/>
            <a:ext cx="16764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rPr>
              <a:t>可逆过程</a:t>
            </a:r>
          </a:p>
        </p:txBody>
      </p:sp>
      <p:sp>
        <p:nvSpPr>
          <p:cNvPr id="1064965" name="Text Box 5"/>
          <p:cNvSpPr txBox="1">
            <a:spLocks noChangeArrowheads="1"/>
          </p:cNvSpPr>
          <p:nvPr/>
        </p:nvSpPr>
        <p:spPr bwMode="auto">
          <a:xfrm>
            <a:off x="1593850" y="4613275"/>
            <a:ext cx="6324600" cy="473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5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64966" name="Oval 6"/>
          <p:cNvSpPr/>
          <p:nvPr/>
        </p:nvSpPr>
        <p:spPr>
          <a:xfrm>
            <a:off x="1055688" y="4295775"/>
            <a:ext cx="7188200" cy="18700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64967" name="Text Box 7"/>
          <p:cNvSpPr txBox="1">
            <a:spLocks noChangeArrowheads="1"/>
          </p:cNvSpPr>
          <p:nvPr/>
        </p:nvSpPr>
        <p:spPr bwMode="auto">
          <a:xfrm>
            <a:off x="1417638" y="4797425"/>
            <a:ext cx="6643688" cy="854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</a:t>
            </a:r>
            <a:r>
              <a:rPr kumimoji="0" lang="zh-CN" altLang="en-US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反之如果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用任何方法都不可能使</a:t>
            </a:r>
            <a:r>
              <a:rPr kumimoji="0" lang="zh-CN" altLang="en-US" sz="25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系统和外界完全复原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kumimoji="0" lang="zh-CN" altLang="en-US" sz="25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原过程</a:t>
            </a:r>
            <a:r>
              <a:rPr kumimoji="0" lang="zh-CN" altLang="en-US" sz="25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为不可逆过程</a:t>
            </a:r>
            <a:r>
              <a:rPr kumimoji="0" lang="zh-CN" altLang="en-US" sz="25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064968" name="Text Box 8"/>
          <p:cNvSpPr txBox="1">
            <a:spLocks noChangeArrowheads="1"/>
          </p:cNvSpPr>
          <p:nvPr/>
        </p:nvSpPr>
        <p:spPr bwMode="auto">
          <a:xfrm>
            <a:off x="3438525" y="4052888"/>
            <a:ext cx="20701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rPr>
              <a:t>不可逆过程</a:t>
            </a:r>
          </a:p>
        </p:txBody>
      </p:sp>
      <p:sp>
        <p:nvSpPr>
          <p:cNvPr id="1064969" name="Text Box 9"/>
          <p:cNvSpPr txBox="1">
            <a:spLocks noChangeArrowheads="1"/>
          </p:cNvSpPr>
          <p:nvPr/>
        </p:nvSpPr>
        <p:spPr bwMode="auto">
          <a:xfrm>
            <a:off x="144463" y="234950"/>
            <a:ext cx="10044113" cy="817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二、 可逆过程</a:t>
            </a:r>
            <a:r>
              <a:rPr kumimoji="1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(reversible  process)</a:t>
            </a: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与不可逆过程</a:t>
            </a:r>
          </a:p>
          <a:p>
            <a:pPr marR="0" defTabSz="914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(irreversible  process)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6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6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6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6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6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6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62" grpId="0" animBg="1"/>
      <p:bldP spid="1064963" grpId="0" bldLvl="0" animBg="1"/>
      <p:bldP spid="1064964" grpId="0" animBg="1"/>
      <p:bldP spid="1064966" grpId="0" animBg="1"/>
      <p:bldP spid="1064967" grpId="0"/>
      <p:bldP spid="10649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119235" name="Rectangle 3"/>
          <p:cNvSpPr>
            <a:spLocks noChangeArrowheads="1"/>
          </p:cNvSpPr>
          <p:nvPr/>
        </p:nvSpPr>
        <p:spPr bwMode="auto">
          <a:xfrm>
            <a:off x="406400" y="2052638"/>
            <a:ext cx="35893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C33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功热转换</a:t>
            </a:r>
          </a:p>
        </p:txBody>
      </p:sp>
      <p:sp>
        <p:nvSpPr>
          <p:cNvPr id="1119236" name="Rectangle 4"/>
          <p:cNvSpPr>
            <a:spLocks noChangeArrowheads="1"/>
          </p:cNvSpPr>
          <p:nvPr/>
        </p:nvSpPr>
        <p:spPr bwMode="auto">
          <a:xfrm>
            <a:off x="755650" y="2557463"/>
            <a:ext cx="5807075" cy="10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（自动地）把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热全部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转变成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的过程是</a:t>
            </a: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发生的</a:t>
            </a:r>
          </a:p>
        </p:txBody>
      </p:sp>
      <p:sp>
        <p:nvSpPr>
          <p:cNvPr id="1119237" name="Text Box 5"/>
          <p:cNvSpPr txBox="1">
            <a:spLocks noChangeArrowheads="1"/>
          </p:cNvSpPr>
          <p:nvPr/>
        </p:nvSpPr>
        <p:spPr bwMode="auto">
          <a:xfrm>
            <a:off x="430213" y="3835400"/>
            <a:ext cx="26876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rgbClr val="CC33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anose="02010609030101010101" pitchFamily="49" charset="-122"/>
                <a:cs typeface="+mn-cs"/>
              </a:rPr>
              <a:t>热传导</a:t>
            </a:r>
          </a:p>
        </p:txBody>
      </p:sp>
      <p:sp>
        <p:nvSpPr>
          <p:cNvPr id="1119238" name="Rectangle 6"/>
          <p:cNvSpPr>
            <a:spLocks noChangeArrowheads="1"/>
          </p:cNvSpPr>
          <p:nvPr/>
        </p:nvSpPr>
        <p:spPr bwMode="auto">
          <a:xfrm>
            <a:off x="684213" y="4340225"/>
            <a:ext cx="6586538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热量（自动地）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从低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温物体 传向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高温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物体的过程是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不可能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发生的</a:t>
            </a:r>
          </a:p>
        </p:txBody>
      </p:sp>
      <p:sp>
        <p:nvSpPr>
          <p:cNvPr id="1119241" name="Rectangle 9"/>
          <p:cNvSpPr>
            <a:spLocks noChangeArrowheads="1"/>
          </p:cNvSpPr>
          <p:nvPr/>
        </p:nvSpPr>
        <p:spPr bwMode="auto">
          <a:xfrm>
            <a:off x="179388" y="655638"/>
            <a:ext cx="8964613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7620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一切与热现象有关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的过程都</a:t>
            </a:r>
          </a:p>
          <a:p>
            <a:pPr marL="0" marR="0" lvl="0" indent="7620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有明显的方向性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，都是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不可逆过程。</a:t>
            </a:r>
          </a:p>
        </p:txBody>
      </p:sp>
      <p:sp>
        <p:nvSpPr>
          <p:cNvPr id="1119242" name="Rectangle 10"/>
          <p:cNvSpPr>
            <a:spLocks noChangeArrowheads="1"/>
          </p:cNvSpPr>
          <p:nvPr/>
        </p:nvSpPr>
        <p:spPr bwMode="auto">
          <a:xfrm>
            <a:off x="252413" y="101600"/>
            <a:ext cx="17256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自然界中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1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1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19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5" grpId="0"/>
      <p:bldP spid="1119236" grpId="0"/>
      <p:bldP spid="1119237" grpId="0"/>
      <p:bldP spid="1119238" grpId="0" build="p"/>
      <p:bldP spid="11192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8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67010" name="Text Box 2"/>
          <p:cNvSpPr txBox="1">
            <a:spLocks noChangeArrowheads="1"/>
          </p:cNvSpPr>
          <p:nvPr/>
        </p:nvSpPr>
        <p:spPr bwMode="auto">
          <a:xfrm>
            <a:off x="280988" y="187325"/>
            <a:ext cx="4114800" cy="5191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生命过程就是不可逆的</a:t>
            </a: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1067011" name="Text Box 3"/>
          <p:cNvSpPr txBox="1">
            <a:spLocks noChangeArrowheads="1"/>
          </p:cNvSpPr>
          <p:nvPr/>
        </p:nvSpPr>
        <p:spPr bwMode="auto">
          <a:xfrm>
            <a:off x="2547938" y="922338"/>
            <a:ext cx="20526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出生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anose="02010609030101010101" pitchFamily="49" charset="-122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1067014" name="Rectangle 6"/>
          <p:cNvSpPr>
            <a:spLocks noChangeArrowheads="1"/>
          </p:cNvSpPr>
          <p:nvPr/>
        </p:nvSpPr>
        <p:spPr bwMode="auto">
          <a:xfrm>
            <a:off x="3016250" y="922338"/>
            <a:ext cx="25923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童年</a:t>
            </a:r>
          </a:p>
        </p:txBody>
      </p:sp>
      <p:sp>
        <p:nvSpPr>
          <p:cNvPr id="1067015" name="Rectangle 7"/>
          <p:cNvSpPr>
            <a:spLocks noChangeArrowheads="1"/>
          </p:cNvSpPr>
          <p:nvPr/>
        </p:nvSpPr>
        <p:spPr bwMode="auto">
          <a:xfrm>
            <a:off x="4241800" y="922338"/>
            <a:ext cx="26638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少年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anose="02010609030101010101" pitchFamily="49" charset="-122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1067016" name="Rectangle 8"/>
          <p:cNvSpPr>
            <a:spLocks noChangeArrowheads="1"/>
          </p:cNvSpPr>
          <p:nvPr/>
        </p:nvSpPr>
        <p:spPr bwMode="auto">
          <a:xfrm>
            <a:off x="5608638" y="922338"/>
            <a:ext cx="23050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青年</a:t>
            </a:r>
          </a:p>
        </p:txBody>
      </p:sp>
      <p:sp>
        <p:nvSpPr>
          <p:cNvPr id="1067017" name="Rectangle 9"/>
          <p:cNvSpPr>
            <a:spLocks noChangeArrowheads="1"/>
          </p:cNvSpPr>
          <p:nvPr/>
        </p:nvSpPr>
        <p:spPr bwMode="auto">
          <a:xfrm>
            <a:off x="3016250" y="1555750"/>
            <a:ext cx="29527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中年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anose="02010609030101010101" pitchFamily="49" charset="-122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1067018" name="Rectangle 10"/>
          <p:cNvSpPr>
            <a:spLocks noChangeArrowheads="1"/>
          </p:cNvSpPr>
          <p:nvPr/>
        </p:nvSpPr>
        <p:spPr bwMode="auto">
          <a:xfrm>
            <a:off x="5105400" y="1555750"/>
            <a:ext cx="13684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老年</a:t>
            </a:r>
          </a:p>
        </p:txBody>
      </p:sp>
      <p:sp>
        <p:nvSpPr>
          <p:cNvPr id="1067019" name="Rectangle 11"/>
          <p:cNvSpPr>
            <a:spLocks noChangeArrowheads="1"/>
          </p:cNvSpPr>
          <p:nvPr/>
        </p:nvSpPr>
        <p:spPr bwMode="auto">
          <a:xfrm>
            <a:off x="6451600" y="1525588"/>
            <a:ext cx="17494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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/>
                <a:ea typeface="仿宋_GB2312" panose="02010609030101010101" pitchFamily="49" charset="-122"/>
                <a:cs typeface="+mn-cs"/>
              </a:rPr>
              <a:t>…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anose="02010609030101010101" pitchFamily="49" charset="-122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1067020" name="Text Box 12"/>
          <p:cNvSpPr txBox="1">
            <a:spLocks noChangeArrowheads="1"/>
          </p:cNvSpPr>
          <p:nvPr/>
        </p:nvSpPr>
        <p:spPr bwMode="auto">
          <a:xfrm>
            <a:off x="646113" y="2179638"/>
            <a:ext cx="6624638" cy="5191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为什么一切自然过程都是不可逆过程？</a:t>
            </a:r>
          </a:p>
        </p:txBody>
      </p:sp>
      <p:sp>
        <p:nvSpPr>
          <p:cNvPr id="1067021" name="Text Box 13"/>
          <p:cNvSpPr txBox="1">
            <a:spLocks noChangeArrowheads="1"/>
          </p:cNvSpPr>
          <p:nvPr/>
        </p:nvSpPr>
        <p:spPr bwMode="auto">
          <a:xfrm>
            <a:off x="557213" y="2765425"/>
            <a:ext cx="46545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(1)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存在摩擦等耗散因素  </a:t>
            </a:r>
          </a:p>
        </p:txBody>
      </p:sp>
      <p:sp>
        <p:nvSpPr>
          <p:cNvPr id="1067022" name="Text Box 14"/>
          <p:cNvSpPr txBox="1">
            <a:spLocks noChangeArrowheads="1"/>
          </p:cNvSpPr>
          <p:nvPr/>
        </p:nvSpPr>
        <p:spPr bwMode="auto">
          <a:xfrm>
            <a:off x="539750" y="3355975"/>
            <a:ext cx="82264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(2)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存在某些不平衡因素，故为非准静态过程。  </a:t>
            </a:r>
          </a:p>
        </p:txBody>
      </p:sp>
      <p:sp>
        <p:nvSpPr>
          <p:cNvPr id="1068034" name="Text Box 2"/>
          <p:cNvSpPr txBox="1">
            <a:spLocks noChangeArrowheads="1"/>
          </p:cNvSpPr>
          <p:nvPr/>
        </p:nvSpPr>
        <p:spPr bwMode="auto">
          <a:xfrm>
            <a:off x="684213" y="4629150"/>
            <a:ext cx="914400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FFFF00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热传导：热学不平衡</a:t>
            </a:r>
          </a:p>
        </p:txBody>
      </p:sp>
      <p:sp>
        <p:nvSpPr>
          <p:cNvPr id="1068035" name="Text Box 3"/>
          <p:cNvSpPr txBox="1">
            <a:spLocks noChangeArrowheads="1"/>
          </p:cNvSpPr>
          <p:nvPr/>
        </p:nvSpPr>
        <p:spPr bwMode="auto">
          <a:xfrm>
            <a:off x="757238" y="3997325"/>
            <a:ext cx="914400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FFFF00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气体自由膨胀：力学不平衡</a:t>
            </a:r>
          </a:p>
        </p:txBody>
      </p:sp>
      <p:sp>
        <p:nvSpPr>
          <p:cNvPr id="1068036" name="Text Box 4"/>
          <p:cNvSpPr txBox="1">
            <a:spLocks noChangeArrowheads="1"/>
          </p:cNvSpPr>
          <p:nvPr/>
        </p:nvSpPr>
        <p:spPr bwMode="auto">
          <a:xfrm>
            <a:off x="684213" y="5221288"/>
            <a:ext cx="914400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>
                <a:srgbClr val="FFFF00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生命过程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：复杂的不平衡过程</a:t>
            </a:r>
          </a:p>
        </p:txBody>
      </p:sp>
      <p:sp>
        <p:nvSpPr>
          <p:cNvPr id="1068039" name="Text Box 7"/>
          <p:cNvSpPr txBox="1"/>
          <p:nvPr/>
        </p:nvSpPr>
        <p:spPr>
          <a:xfrm>
            <a:off x="323850" y="5949950"/>
            <a:ext cx="8675688" cy="5191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只有</a:t>
            </a:r>
            <a:r>
              <a:rPr lang="zh-CN" altLang="en-US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无耗散（如无摩擦）的准静态过程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才是可逆过程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69BC4-41B3-4E57-A6B8-649E60060E10}"/>
              </a:ext>
            </a:extLst>
          </p:cNvPr>
          <p:cNvSpPr txBox="1"/>
          <p:nvPr/>
        </p:nvSpPr>
        <p:spPr>
          <a:xfrm>
            <a:off x="6795525" y="5509568"/>
            <a:ext cx="1622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C3300"/>
                </a:solidFill>
                <a:latin typeface="宋体" panose="02010600030101010101" pitchFamily="2" charset="-122"/>
              </a:rPr>
              <a:t>理想过程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6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6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6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6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6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6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6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6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6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6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1" grpId="0" bldLvl="0" animBg="1"/>
      <p:bldP spid="1067014" grpId="0" bldLvl="0" animBg="1"/>
      <p:bldP spid="1067015" grpId="0" bldLvl="0" animBg="1"/>
      <p:bldP spid="1067016" grpId="0" bldLvl="0" animBg="1"/>
      <p:bldP spid="1067017" grpId="0" bldLvl="0" animBg="1"/>
      <p:bldP spid="1067018" grpId="0" bldLvl="0" animBg="1"/>
      <p:bldP spid="1067019" grpId="0" bldLvl="0" animBg="1"/>
      <p:bldP spid="1067020" grpId="0" bldLvl="0" animBg="1"/>
      <p:bldP spid="1067021" grpId="0" bldLvl="0" animBg="1"/>
      <p:bldP spid="1067022" grpId="0" bldLvl="0" animBg="1"/>
      <p:bldP spid="1068034" grpId="0" bldLvl="0" animBg="1"/>
      <p:bldP spid="1068035" grpId="0" bldLvl="0" animBg="1"/>
      <p:bldP spid="1068036" grpId="0" bldLvl="0" animBg="1"/>
      <p:bldP spid="1068039" grpId="0" bldLvl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559550" y="6237288"/>
            <a:ext cx="1905000" cy="457200"/>
          </a:xfrm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9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9458" name="Text Box 2"/>
          <p:cNvSpPr txBox="1"/>
          <p:nvPr/>
        </p:nvSpPr>
        <p:spPr>
          <a:xfrm>
            <a:off x="395288" y="1038225"/>
            <a:ext cx="7981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ea typeface="黑体" panose="02010609060101010101" pitchFamily="49" charset="-122"/>
              </a:rPr>
              <a:t>一、 热力学第二定律的两种宏观表述</a:t>
            </a:r>
          </a:p>
        </p:txBody>
      </p:sp>
      <p:sp>
        <p:nvSpPr>
          <p:cNvPr id="1072132" name="Text Box 4"/>
          <p:cNvSpPr txBox="1"/>
          <p:nvPr/>
        </p:nvSpPr>
        <p:spPr>
          <a:xfrm>
            <a:off x="250825" y="1830388"/>
            <a:ext cx="7810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1.</a:t>
            </a:r>
            <a:r>
              <a:rPr lang="zh-CN" altLang="en-US" sz="2800" dirty="0">
                <a:ea typeface="黑体" panose="02010609060101010101" pitchFamily="49" charset="-122"/>
              </a:rPr>
              <a:t>开尔文表述（</a:t>
            </a:r>
            <a:r>
              <a:rPr lang="en-US" altLang="zh-CN" sz="2800" dirty="0">
                <a:ea typeface="黑体" panose="02010609060101010101" pitchFamily="49" charset="-122"/>
              </a:rPr>
              <a:t>Kelvin</a:t>
            </a:r>
            <a:r>
              <a:rPr lang="zh-CN" altLang="en-US" sz="2800" dirty="0"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7413" name="Rectangle 11"/>
          <p:cNvSpPr/>
          <p:nvPr/>
        </p:nvSpPr>
        <p:spPr>
          <a:xfrm>
            <a:off x="538163" y="5157788"/>
            <a:ext cx="7272337" cy="14398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84213" y="112713"/>
            <a:ext cx="69342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b="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13-7 </a:t>
            </a:r>
            <a:r>
              <a:rPr kumimoji="1" lang="zh-CN" altLang="en-US" sz="3200" b="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热力学第二定律的表述  卡诺定理 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42900" y="2981325"/>
            <a:ext cx="845820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克劳修斯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(Clausuis)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7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07213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10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pic>
        <p:nvPicPr>
          <p:cNvPr id="18435" name="Picture 2" descr="开尔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1585913" cy="2033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0083" name="Rectangle 3"/>
          <p:cNvSpPr>
            <a:spLocks noChangeArrowheads="1"/>
          </p:cNvSpPr>
          <p:nvPr/>
        </p:nvSpPr>
        <p:spPr bwMode="auto">
          <a:xfrm>
            <a:off x="609600" y="1981200"/>
            <a:ext cx="360363" cy="1095375"/>
          </a:xfrm>
          <a:prstGeom prst="rect">
            <a:avLst/>
          </a:prstGeom>
          <a:solidFill>
            <a:srgbClr val="FFFF00"/>
          </a:solidFill>
          <a:ln w="9525" algn="ctr">
            <a:noFill/>
            <a:miter lim="800000"/>
          </a:ln>
          <a:effectLst/>
        </p:spPr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开尔文</a:t>
            </a:r>
          </a:p>
        </p:txBody>
      </p:sp>
      <p:sp>
        <p:nvSpPr>
          <p:cNvPr id="1070084" name="Text Box 4"/>
          <p:cNvSpPr txBox="1">
            <a:spLocks noChangeArrowheads="1"/>
          </p:cNvSpPr>
          <p:nvPr/>
        </p:nvSpPr>
        <p:spPr bwMode="auto">
          <a:xfrm>
            <a:off x="3429000" y="914400"/>
            <a:ext cx="5257800" cy="4473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威廉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汤姆逊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(William.Thomson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1824—1907)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，是英国著名物理学家。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岁进入格拉斯哥大学学习，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岁进入剑桥大学。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1845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年毕业后到法国留学，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1846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年回国担任格拉斯哥大学自然哲学教授。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1851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年被选为法国科学院院士，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1890-1895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为皇家学会会长。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由于装设第一条大西洋海底电缆有功</a:t>
            </a:r>
            <a:r>
              <a:rPr kumimoji="1" lang="zh-CN" altLang="en-US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，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1866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年被封为爵士，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1892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年又被封为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开尔文勋爵（</a:t>
            </a:r>
            <a:r>
              <a:rPr kumimoji="1" lang="en-US" altLang="zh-CN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Lord  Kilvin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。他对电磁学和热力学的发展都做出了重要的贡献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11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pic>
        <p:nvPicPr>
          <p:cNvPr id="19459" name="Picture 2" descr="克劳修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66800"/>
            <a:ext cx="1450975" cy="1890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1107" name="Rectangle 3"/>
          <p:cNvSpPr>
            <a:spLocks noChangeArrowheads="1"/>
          </p:cNvSpPr>
          <p:nvPr/>
        </p:nvSpPr>
        <p:spPr bwMode="auto">
          <a:xfrm>
            <a:off x="457200" y="1371600"/>
            <a:ext cx="468313" cy="15621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克劳修斯</a:t>
            </a:r>
          </a:p>
        </p:txBody>
      </p:sp>
      <p:sp>
        <p:nvSpPr>
          <p:cNvPr id="1071108" name="Text Box 4"/>
          <p:cNvSpPr txBox="1">
            <a:spLocks noChangeArrowheads="1"/>
          </p:cNvSpPr>
          <p:nvPr/>
        </p:nvSpPr>
        <p:spPr bwMode="auto">
          <a:xfrm>
            <a:off x="3276600" y="914400"/>
            <a:ext cx="5562600" cy="5349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鲁道夫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克劳修斯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R.E.Clausius,1832—1888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1832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年生于普鲁士克斯林，就读于柏林大学。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1850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年，被聘为柏林大学副教授，同年提出热力学第二定律。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1854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年提出熵的概念，进一步发展的热力学理论。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1857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年被聘为苏黎世大学教授后，提出了气体动力学理论，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1858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年导出了气体分子平均自由程公式，解释了输运现象，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1865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年被评为法国科学院院士。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1868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年被选为英国皇家学会会长。他的一生为科学和教育事业做出了重要贡献</a:t>
            </a:r>
            <a:endParaRPr kumimoji="1" lang="zh-CN" altLang="en-US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559550" y="6237288"/>
            <a:ext cx="1905000" cy="457200"/>
          </a:xfrm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12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20483" name="Text Box 2"/>
          <p:cNvSpPr txBox="1"/>
          <p:nvPr/>
        </p:nvSpPr>
        <p:spPr>
          <a:xfrm>
            <a:off x="395288" y="620713"/>
            <a:ext cx="7981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ea typeface="黑体" panose="02010609060101010101" pitchFamily="49" charset="-122"/>
              </a:rPr>
              <a:t>一、 热力学第二定律的两种宏观表述</a:t>
            </a:r>
          </a:p>
        </p:txBody>
      </p:sp>
      <p:sp>
        <p:nvSpPr>
          <p:cNvPr id="20484" name="Text Box 4"/>
          <p:cNvSpPr txBox="1"/>
          <p:nvPr/>
        </p:nvSpPr>
        <p:spPr>
          <a:xfrm>
            <a:off x="250825" y="1125538"/>
            <a:ext cx="7810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1.</a:t>
            </a:r>
            <a:r>
              <a:rPr lang="zh-CN" altLang="en-US" sz="2800" dirty="0">
                <a:ea typeface="黑体" panose="02010609060101010101" pitchFamily="49" charset="-122"/>
              </a:rPr>
              <a:t>开尔文表述（</a:t>
            </a:r>
            <a:r>
              <a:rPr lang="en-US" altLang="zh-CN" sz="2800" dirty="0">
                <a:ea typeface="黑体" panose="02010609060101010101" pitchFamily="49" charset="-122"/>
              </a:rPr>
              <a:t>Kelvin</a:t>
            </a:r>
            <a:r>
              <a:rPr lang="zh-CN" altLang="en-US" sz="2800" dirty="0"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0485" name="Rectangle 5"/>
          <p:cNvSpPr/>
          <p:nvPr/>
        </p:nvSpPr>
        <p:spPr>
          <a:xfrm>
            <a:off x="609600" y="1733550"/>
            <a:ext cx="7345363" cy="974725"/>
          </a:xfrm>
          <a:prstGeom prst="rect">
            <a:avLst/>
          </a:prstGeom>
          <a:noFill/>
          <a:ln w="28575" cap="flat" cmpd="sng">
            <a:pattFill prst="lgConfetti">
              <a:fgClr>
                <a:srgbClr val="0099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" altLang="zh-CN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    </a:t>
            </a: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不可能从</a:t>
            </a:r>
            <a:r>
              <a:rPr lang="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单一热源</a:t>
            </a: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吸收热量使之</a:t>
            </a:r>
            <a:r>
              <a:rPr lang="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完全变为有用功</a:t>
            </a: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而不产生</a:t>
            </a:r>
            <a:r>
              <a:rPr lang="" altLang="en-US" sz="2800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其它影响</a:t>
            </a: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</a:rPr>
              <a:t>。</a:t>
            </a:r>
          </a:p>
        </p:txBody>
      </p:sp>
      <p:sp>
        <p:nvSpPr>
          <p:cNvPr id="1072134" name="Text Box 6"/>
          <p:cNvSpPr txBox="1">
            <a:spLocks noChangeArrowheads="1"/>
          </p:cNvSpPr>
          <p:nvPr/>
        </p:nvSpPr>
        <p:spPr bwMode="auto">
          <a:xfrm>
            <a:off x="609600" y="2684463"/>
            <a:ext cx="1600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说明：</a:t>
            </a:r>
          </a:p>
        </p:txBody>
      </p:sp>
      <p:sp>
        <p:nvSpPr>
          <p:cNvPr id="1072135" name="Text Box 7"/>
          <p:cNvSpPr txBox="1">
            <a:spLocks noChangeArrowheads="1"/>
          </p:cNvSpPr>
          <p:nvPr/>
        </p:nvSpPr>
        <p:spPr bwMode="auto">
          <a:xfrm>
            <a:off x="539750" y="3429000"/>
            <a:ext cx="792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单一热源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”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温度均匀且恒定不变的热源。</a:t>
            </a:r>
          </a:p>
        </p:txBody>
      </p:sp>
      <p:sp>
        <p:nvSpPr>
          <p:cNvPr id="1072136" name="Text Box 8"/>
          <p:cNvSpPr txBox="1">
            <a:spLocks noChangeArrowheads="1"/>
          </p:cNvSpPr>
          <p:nvPr/>
        </p:nvSpPr>
        <p:spPr bwMode="auto">
          <a:xfrm>
            <a:off x="557213" y="4076700"/>
            <a:ext cx="8586788" cy="858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其它影响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”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指除了由单一热源吸收热量，</a:t>
            </a:r>
          </a:p>
          <a:p>
            <a:pPr marR="0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并全部用来作功以外的</a:t>
            </a:r>
            <a:r>
              <a:rPr kumimoji="1" lang="zh-CN" altLang="en-US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任何其它变化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1072137" name="Text Box 9"/>
          <p:cNvSpPr txBox="1">
            <a:spLocks noChangeArrowheads="1"/>
          </p:cNvSpPr>
          <p:nvPr/>
        </p:nvSpPr>
        <p:spPr bwMode="auto">
          <a:xfrm>
            <a:off x="569913" y="5203825"/>
            <a:ext cx="8610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如理想气体的等温膨胀：</a:t>
            </a:r>
          </a:p>
        </p:txBody>
      </p:sp>
      <p:sp>
        <p:nvSpPr>
          <p:cNvPr id="1072138" name="Rectangle 10"/>
          <p:cNvSpPr>
            <a:spLocks noChangeArrowheads="1"/>
          </p:cNvSpPr>
          <p:nvPr/>
        </p:nvSpPr>
        <p:spPr bwMode="auto">
          <a:xfrm>
            <a:off x="611188" y="5876925"/>
            <a:ext cx="5241925" cy="330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气体的体积膨胀了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(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楷体_GB2312" panose="02010609030101010101" pitchFamily="49" charset="-122"/>
                <a:cs typeface="+mn-cs"/>
              </a:rPr>
              <a:t>“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其它影响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楷体_GB2312" panose="02010609030101010101" pitchFamily="49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</a:p>
        </p:txBody>
      </p:sp>
      <p:sp>
        <p:nvSpPr>
          <p:cNvPr id="1072139" name="Rectangle 11"/>
          <p:cNvSpPr/>
          <p:nvPr/>
        </p:nvSpPr>
        <p:spPr>
          <a:xfrm>
            <a:off x="538163" y="5157788"/>
            <a:ext cx="7272337" cy="14398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20492" name="Rectangle 12"/>
          <p:cNvSpPr/>
          <p:nvPr/>
        </p:nvSpPr>
        <p:spPr>
          <a:xfrm>
            <a:off x="612775" y="3357563"/>
            <a:ext cx="7343775" cy="1655762"/>
          </a:xfrm>
          <a:prstGeom prst="rect">
            <a:avLst/>
          </a:prstGeom>
          <a:noFill/>
          <a:ln w="28575" cap="flat" cmpd="sng">
            <a:pattFill prst="lgConfetti">
              <a:fgClr>
                <a:srgbClr val="0099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7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07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07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7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7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7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nimBg="1"/>
      <p:bldP spid="1072134" grpId="0"/>
      <p:bldP spid="1072135" grpId="0"/>
      <p:bldP spid="1072136" grpId="0"/>
      <p:bldP spid="1072137" grpId="0"/>
      <p:bldP spid="1072138" grpId="0"/>
      <p:bldP spid="1072139" grpId="0" animBg="1"/>
      <p:bldP spid="2049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13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73154" name="Text Box 2"/>
          <p:cNvSpPr txBox="1">
            <a:spLocks noChangeArrowheads="1"/>
          </p:cNvSpPr>
          <p:nvPr/>
        </p:nvSpPr>
        <p:spPr bwMode="auto">
          <a:xfrm>
            <a:off x="61913" y="188913"/>
            <a:ext cx="8686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开尔文（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Kelvin</a:t>
            </a:r>
            <a:r>
              <a:rPr kumimoji="1" lang="zh-CN" altLang="en-US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）表述的另一形式</a:t>
            </a:r>
          </a:p>
        </p:txBody>
      </p:sp>
      <p:sp>
        <p:nvSpPr>
          <p:cNvPr id="1073155" name="Text Box 3"/>
          <p:cNvSpPr txBox="1">
            <a:spLocks noChangeArrowheads="1"/>
          </p:cNvSpPr>
          <p:nvPr/>
        </p:nvSpPr>
        <p:spPr bwMode="auto">
          <a:xfrm>
            <a:off x="169863" y="1503363"/>
            <a:ext cx="9155113" cy="989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第二类永动机：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从单一热源吸收热量全部转化</a:t>
            </a:r>
          </a:p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为机械功而不产生其它影响的一种循环动作的机器。</a:t>
            </a:r>
          </a:p>
        </p:txBody>
      </p:sp>
      <p:sp>
        <p:nvSpPr>
          <p:cNvPr id="1073156" name="Text Box 4"/>
          <p:cNvSpPr txBox="1">
            <a:spLocks noChangeArrowheads="1"/>
          </p:cNvSpPr>
          <p:nvPr/>
        </p:nvSpPr>
        <p:spPr bwMode="auto">
          <a:xfrm>
            <a:off x="179388" y="822325"/>
            <a:ext cx="8686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第二类永动机是不可能制成的。</a:t>
            </a:r>
          </a:p>
        </p:txBody>
      </p:sp>
      <p:sp>
        <p:nvSpPr>
          <p:cNvPr id="1073157" name="Rectangle 5"/>
          <p:cNvSpPr/>
          <p:nvPr/>
        </p:nvSpPr>
        <p:spPr>
          <a:xfrm>
            <a:off x="4354513" y="3068638"/>
            <a:ext cx="3097212" cy="335280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73158" name="Oval 6"/>
          <p:cNvSpPr/>
          <p:nvPr/>
        </p:nvSpPr>
        <p:spPr>
          <a:xfrm>
            <a:off x="5732463" y="4486275"/>
            <a:ext cx="533400" cy="533400"/>
          </a:xfrm>
          <a:prstGeom prst="ellipse">
            <a:avLst/>
          </a:prstGeom>
          <a:solidFill>
            <a:srgbClr val="CCFFFF"/>
          </a:solidFill>
          <a:ln w="57150" cap="flat" cmpd="thinThick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/>
              <a:t>热机</a:t>
            </a:r>
          </a:p>
        </p:txBody>
      </p:sp>
      <p:sp>
        <p:nvSpPr>
          <p:cNvPr id="1073159" name="Text Box 7"/>
          <p:cNvSpPr txBox="1"/>
          <p:nvPr/>
        </p:nvSpPr>
        <p:spPr>
          <a:xfrm>
            <a:off x="5381625" y="5032375"/>
            <a:ext cx="2286000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ea typeface="楷体_GB2312" panose="02010609030101010101" pitchFamily="49" charset="-122"/>
              </a:rPr>
              <a:t>Q</a:t>
            </a:r>
            <a:r>
              <a:rPr lang="en-US" altLang="zh-CN" sz="2000" b="1" baseline="-25000" dirty="0">
                <a:ea typeface="楷体_GB2312" panose="02010609030101010101" pitchFamily="49" charset="-122"/>
              </a:rPr>
              <a:t>2</a:t>
            </a:r>
            <a:r>
              <a:rPr lang="en-US" altLang="zh-CN" sz="2000" b="1" dirty="0">
                <a:ea typeface="楷体_GB2312" panose="02010609030101010101" pitchFamily="49" charset="-122"/>
              </a:rPr>
              <a:t>      </a:t>
            </a:r>
          </a:p>
        </p:txBody>
      </p:sp>
      <p:sp>
        <p:nvSpPr>
          <p:cNvPr id="1073160" name="Text Box 8"/>
          <p:cNvSpPr txBox="1"/>
          <p:nvPr/>
        </p:nvSpPr>
        <p:spPr>
          <a:xfrm>
            <a:off x="5427663" y="4033838"/>
            <a:ext cx="533400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ea typeface="楷体_GB2312" panose="02010609030101010101" pitchFamily="49" charset="-122"/>
              </a:rPr>
              <a:t>Q</a:t>
            </a:r>
            <a:r>
              <a:rPr lang="en-US" altLang="zh-CN" sz="2000" b="1" baseline="-25000" dirty="0">
                <a:ea typeface="楷体_GB2312" panose="02010609030101010101" pitchFamily="49" charset="-122"/>
              </a:rPr>
              <a:t>1</a:t>
            </a:r>
            <a:endParaRPr lang="en-US" altLang="zh-CN" sz="2000" b="1" dirty="0">
              <a:ea typeface="楷体_GB2312" panose="02010609030101010101" pitchFamily="49" charset="-122"/>
            </a:endParaRPr>
          </a:p>
        </p:txBody>
      </p:sp>
      <p:sp>
        <p:nvSpPr>
          <p:cNvPr id="1073161" name="Text Box 9"/>
          <p:cNvSpPr txBox="1"/>
          <p:nvPr/>
        </p:nvSpPr>
        <p:spPr>
          <a:xfrm>
            <a:off x="4970463" y="3211513"/>
            <a:ext cx="1905000" cy="796925"/>
          </a:xfrm>
          <a:prstGeom prst="rect">
            <a:avLst/>
          </a:prstGeom>
          <a:solidFill>
            <a:srgbClr val="FFCCFF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tIns="216000" bIns="216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dirty="0">
                <a:ea typeface="楷体_GB2312" panose="02010609030101010101" pitchFamily="49" charset="-122"/>
              </a:rPr>
              <a:t>高温热源</a:t>
            </a:r>
            <a:r>
              <a:rPr lang="en-US" altLang="zh-CN" sz="2400" dirty="0">
                <a:ea typeface="楷体_GB2312" panose="02010609030101010101" pitchFamily="49" charset="-122"/>
              </a:rPr>
              <a:t>T</a:t>
            </a:r>
            <a:r>
              <a:rPr lang="en-US" altLang="zh-CN" sz="2400" baseline="-25000" dirty="0">
                <a:ea typeface="楷体_GB2312" panose="02010609030101010101" pitchFamily="49" charset="-122"/>
              </a:rPr>
              <a:t>1</a:t>
            </a:r>
          </a:p>
        </p:txBody>
      </p:sp>
      <p:sp>
        <p:nvSpPr>
          <p:cNvPr id="1073162" name="Text Box 10"/>
          <p:cNvSpPr txBox="1"/>
          <p:nvPr/>
        </p:nvSpPr>
        <p:spPr>
          <a:xfrm>
            <a:off x="4970463" y="5476875"/>
            <a:ext cx="1905000" cy="796925"/>
          </a:xfrm>
          <a:prstGeom prst="rect">
            <a:avLst/>
          </a:prstGeom>
          <a:solidFill>
            <a:srgbClr val="CCFFCC"/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tIns="216000" bIns="216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ea typeface="楷体_GB2312" panose="02010609030101010101" pitchFamily="49" charset="-122"/>
              </a:rPr>
              <a:t>低温热源</a:t>
            </a:r>
            <a:r>
              <a:rPr lang="en-US" altLang="zh-CN" sz="2400" b="1" i="1" dirty="0"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ea typeface="楷体_GB2312" panose="02010609030101010101" pitchFamily="49" charset="-122"/>
              </a:rPr>
              <a:t>2</a:t>
            </a:r>
          </a:p>
        </p:txBody>
      </p:sp>
      <p:sp>
        <p:nvSpPr>
          <p:cNvPr id="1073163" name="Line 11"/>
          <p:cNvSpPr/>
          <p:nvPr/>
        </p:nvSpPr>
        <p:spPr>
          <a:xfrm flipV="1">
            <a:off x="6037263" y="5040313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lg" len="lg"/>
          </a:ln>
        </p:spPr>
      </p:sp>
      <p:sp>
        <p:nvSpPr>
          <p:cNvPr id="1073164" name="Line 12"/>
          <p:cNvSpPr/>
          <p:nvPr/>
        </p:nvSpPr>
        <p:spPr>
          <a:xfrm flipH="1" flipV="1">
            <a:off x="5999163" y="4087813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triangle" w="med" len="med"/>
            <a:tailEnd type="none" w="lg" len="lg"/>
          </a:ln>
        </p:spPr>
      </p:sp>
      <p:sp>
        <p:nvSpPr>
          <p:cNvPr id="1073165" name="Line 13"/>
          <p:cNvSpPr/>
          <p:nvPr/>
        </p:nvSpPr>
        <p:spPr>
          <a:xfrm flipH="1">
            <a:off x="5427663" y="4735513"/>
            <a:ext cx="304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lg" len="lg"/>
            <a:tailEnd type="triangle" w="med" len="med"/>
          </a:ln>
        </p:spPr>
      </p:sp>
      <p:sp>
        <p:nvSpPr>
          <p:cNvPr id="1073166" name="Rectangle 14"/>
          <p:cNvSpPr/>
          <p:nvPr/>
        </p:nvSpPr>
        <p:spPr>
          <a:xfrm>
            <a:off x="5046663" y="4735513"/>
            <a:ext cx="3397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i="1" dirty="0"/>
              <a:t>A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323850" y="3863975"/>
            <a:ext cx="2230438" cy="2228850"/>
            <a:chOff x="3833" y="527"/>
            <a:chExt cx="1728" cy="1813"/>
          </a:xfrm>
        </p:grpSpPr>
        <p:grpSp>
          <p:nvGrpSpPr>
            <p:cNvPr id="21521" name="Group 17"/>
            <p:cNvGrpSpPr/>
            <p:nvPr/>
          </p:nvGrpSpPr>
          <p:grpSpPr>
            <a:xfrm>
              <a:off x="4888" y="663"/>
              <a:ext cx="635" cy="336"/>
              <a:chOff x="4800" y="1008"/>
              <a:chExt cx="635" cy="336"/>
            </a:xfrm>
          </p:grpSpPr>
          <p:sp>
            <p:nvSpPr>
              <p:cNvPr id="21534" name="AutoShape 18" descr="球体"/>
              <p:cNvSpPr/>
              <p:nvPr/>
            </p:nvSpPr>
            <p:spPr>
              <a:xfrm>
                <a:off x="4800" y="1008"/>
                <a:ext cx="384" cy="336"/>
              </a:xfrm>
              <a:prstGeom prst="rightArrow">
                <a:avLst>
                  <a:gd name="adj1" fmla="val 50000"/>
                  <a:gd name="adj2" fmla="val 28529"/>
                </a:avLst>
              </a:prstGeom>
              <a:blipFill rotWithShape="0">
                <a:blip r:embed="rId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21535" name="Object 19"/>
              <p:cNvGraphicFramePr/>
              <p:nvPr/>
            </p:nvGraphicFramePr>
            <p:xfrm>
              <a:off x="5125" y="1009"/>
              <a:ext cx="310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7" r:id="rId4" imgW="189865" imgH="189865" progId="Equation.DSMT4">
                      <p:embed/>
                    </p:oleObj>
                  </mc:Choice>
                  <mc:Fallback>
                    <p:oleObj r:id="rId4" imgW="189865" imgH="189865" progId="Equation.DSMT4">
                      <p:embed/>
                      <p:pic>
                        <p:nvPicPr>
                          <p:cNvPr id="0" name="图片 3311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125" y="1009"/>
                            <a:ext cx="310" cy="31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22" name="Group 20"/>
            <p:cNvGrpSpPr/>
            <p:nvPr/>
          </p:nvGrpSpPr>
          <p:grpSpPr>
            <a:xfrm>
              <a:off x="4215" y="1141"/>
              <a:ext cx="576" cy="384"/>
              <a:chOff x="4128" y="1440"/>
              <a:chExt cx="576" cy="384"/>
            </a:xfrm>
          </p:grpSpPr>
          <p:sp>
            <p:nvSpPr>
              <p:cNvPr id="21532" name="AutoShape 21" descr="球体"/>
              <p:cNvSpPr/>
              <p:nvPr/>
            </p:nvSpPr>
            <p:spPr>
              <a:xfrm>
                <a:off x="4368" y="1440"/>
                <a:ext cx="336" cy="384"/>
              </a:xfrm>
              <a:prstGeom prst="upArrow">
                <a:avLst>
                  <a:gd name="adj1" fmla="val 50000"/>
                  <a:gd name="adj2" fmla="val 28529"/>
                </a:avLst>
              </a:prstGeom>
              <a:blipFill rotWithShape="0">
                <a:blip r:embed="rId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21533" name="Object 22"/>
              <p:cNvGraphicFramePr/>
              <p:nvPr/>
            </p:nvGraphicFramePr>
            <p:xfrm>
              <a:off x="4128" y="1440"/>
              <a:ext cx="28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8" r:id="rId6" imgW="167005" imgH="234315" progId="Equation.3">
                      <p:embed/>
                    </p:oleObj>
                  </mc:Choice>
                  <mc:Fallback>
                    <p:oleObj r:id="rId6" imgW="167005" imgH="234315" progId="Equation.3">
                      <p:embed/>
                      <p:pic>
                        <p:nvPicPr>
                          <p:cNvPr id="0" name="图片 3310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28" y="1440"/>
                            <a:ext cx="287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3" name="Oval 23"/>
            <p:cNvSpPr/>
            <p:nvPr/>
          </p:nvSpPr>
          <p:spPr>
            <a:xfrm>
              <a:off x="4295" y="527"/>
              <a:ext cx="624" cy="624"/>
            </a:xfrm>
            <a:prstGeom prst="ellipse">
              <a:avLst/>
            </a:prstGeom>
            <a:solidFill>
              <a:srgbClr val="FFFF99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endParaRPr lang="zh-CN" altLang="zh-CN" b="1" dirty="0">
                <a:solidFill>
                  <a:schemeClr val="bg1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21524" name="Group 24"/>
            <p:cNvGrpSpPr/>
            <p:nvPr/>
          </p:nvGrpSpPr>
          <p:grpSpPr>
            <a:xfrm>
              <a:off x="3833" y="1570"/>
              <a:ext cx="1728" cy="384"/>
              <a:chOff x="576" y="2640"/>
              <a:chExt cx="1728" cy="384"/>
            </a:xfrm>
          </p:grpSpPr>
          <p:sp>
            <p:nvSpPr>
              <p:cNvPr id="21530" name="Rectangle 25"/>
              <p:cNvSpPr/>
              <p:nvPr/>
            </p:nvSpPr>
            <p:spPr>
              <a:xfrm>
                <a:off x="576" y="2640"/>
                <a:ext cx="1728" cy="384"/>
              </a:xfrm>
              <a:prstGeom prst="rect">
                <a:avLst/>
              </a:prstGeom>
              <a:solidFill>
                <a:srgbClr val="CC33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1531" name="Text Box 26"/>
              <p:cNvSpPr txBox="1"/>
              <p:nvPr/>
            </p:nvSpPr>
            <p:spPr>
              <a:xfrm>
                <a:off x="576" y="2640"/>
                <a:ext cx="1728" cy="380"/>
              </a:xfrm>
              <a:prstGeom prst="rect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/>
                  <a:t>   </a:t>
                </a:r>
                <a:r>
                  <a:rPr lang="zh-CN" altLang="en-US" sz="2400" b="1" dirty="0"/>
                  <a:t>单一热源</a:t>
                </a:r>
              </a:p>
            </p:txBody>
          </p:sp>
        </p:grpSp>
        <p:sp>
          <p:nvSpPr>
            <p:cNvPr id="21525" name="Text Box 27"/>
            <p:cNvSpPr txBox="1"/>
            <p:nvPr/>
          </p:nvSpPr>
          <p:spPr>
            <a:xfrm>
              <a:off x="4311" y="659"/>
              <a:ext cx="694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热机</a:t>
              </a:r>
            </a:p>
          </p:txBody>
        </p:sp>
        <p:grpSp>
          <p:nvGrpSpPr>
            <p:cNvPr id="21526" name="Group 28"/>
            <p:cNvGrpSpPr/>
            <p:nvPr/>
          </p:nvGrpSpPr>
          <p:grpSpPr>
            <a:xfrm>
              <a:off x="4215" y="527"/>
              <a:ext cx="816" cy="694"/>
              <a:chOff x="2448" y="1920"/>
              <a:chExt cx="960" cy="816"/>
            </a:xfrm>
          </p:grpSpPr>
          <p:sp>
            <p:nvSpPr>
              <p:cNvPr id="21528" name="Line 29"/>
              <p:cNvSpPr/>
              <p:nvPr/>
            </p:nvSpPr>
            <p:spPr>
              <a:xfrm flipH="1">
                <a:off x="2496" y="1920"/>
                <a:ext cx="912" cy="816"/>
              </a:xfrm>
              <a:prstGeom prst="line">
                <a:avLst/>
              </a:prstGeom>
              <a:ln w="762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9" name="Line 30"/>
              <p:cNvSpPr/>
              <p:nvPr/>
            </p:nvSpPr>
            <p:spPr>
              <a:xfrm rot="194234">
                <a:off x="2448" y="1968"/>
                <a:ext cx="960" cy="768"/>
              </a:xfrm>
              <a:prstGeom prst="line">
                <a:avLst/>
              </a:prstGeom>
              <a:ln w="762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21527" name="Object 31"/>
            <p:cNvGraphicFramePr/>
            <p:nvPr/>
          </p:nvGraphicFramePr>
          <p:xfrm>
            <a:off x="4346" y="1933"/>
            <a:ext cx="484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9" r:id="rId8" imgW="241300" imgH="203200" progId="Equation.3">
                    <p:embed/>
                  </p:oleObj>
                </mc:Choice>
                <mc:Fallback>
                  <p:oleObj r:id="rId8" imgW="241300" imgH="203200" progId="Equation.3">
                    <p:embed/>
                    <p:pic>
                      <p:nvPicPr>
                        <p:cNvPr id="0" name="图片 331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46" y="1933"/>
                          <a:ext cx="484" cy="4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7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7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7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7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7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7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7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7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07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7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07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5" grpId="0"/>
      <p:bldP spid="1073157" grpId="0" animBg="1"/>
      <p:bldP spid="1073158" grpId="0" animBg="1"/>
      <p:bldP spid="1073159" grpId="0"/>
      <p:bldP spid="1073160" grpId="0"/>
      <p:bldP spid="1073161" grpId="0" animBg="1"/>
      <p:bldP spid="1073162" grpId="0" animBg="1"/>
      <p:bldP spid="10731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14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7480300" y="3465513"/>
            <a:ext cx="1187450" cy="1030287"/>
            <a:chOff x="4712" y="2242"/>
            <a:chExt cx="748" cy="649"/>
          </a:xfrm>
        </p:grpSpPr>
        <p:sp>
          <p:nvSpPr>
            <p:cNvPr id="22547" name="AutoShape 3" descr="球体"/>
            <p:cNvSpPr/>
            <p:nvPr/>
          </p:nvSpPr>
          <p:spPr>
            <a:xfrm rot="-5400000">
              <a:off x="4552" y="2386"/>
              <a:ext cx="649" cy="34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3" y="2"/>
                </a:cxn>
                <a:cxn ang="0">
                  <a:pos x="3" y="2"/>
                </a:cxn>
                <a:cxn ang="0">
                  <a:pos x="3" y="4"/>
                </a:cxn>
                <a:cxn ang="0">
                  <a:pos x="13" y="4"/>
                </a:cxn>
                <a:cxn ang="0">
                  <a:pos x="13" y="6"/>
                </a:cxn>
                <a:cxn ang="0">
                  <a:pos x="20" y="3"/>
                </a:cxn>
                <a:cxn ang="0">
                  <a:pos x="13" y="0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2"/>
                </a:cxn>
                <a:cxn ang="0">
                  <a:pos x="0" y="2"/>
                </a:cxn>
              </a:cxnLst>
              <a:rect l="0" t="0" r="0" b="0"/>
              <a:pathLst>
                <a:path w="21600" h="21600">
                  <a:moveTo>
                    <a:pt x="14774" y="0"/>
                  </a:moveTo>
                  <a:lnTo>
                    <a:pt x="14774" y="7138"/>
                  </a:lnTo>
                  <a:lnTo>
                    <a:pt x="3375" y="7138"/>
                  </a:lnTo>
                  <a:lnTo>
                    <a:pt x="3375" y="14462"/>
                  </a:lnTo>
                  <a:lnTo>
                    <a:pt x="14774" y="14462"/>
                  </a:lnTo>
                  <a:lnTo>
                    <a:pt x="14774" y="21600"/>
                  </a:lnTo>
                  <a:lnTo>
                    <a:pt x="21600" y="10800"/>
                  </a:lnTo>
                  <a:lnTo>
                    <a:pt x="14774" y="0"/>
                  </a:lnTo>
                  <a:close/>
                </a:path>
                <a:path w="21600" h="21600">
                  <a:moveTo>
                    <a:pt x="1350" y="7138"/>
                  </a:moveTo>
                  <a:lnTo>
                    <a:pt x="1350" y="14462"/>
                  </a:lnTo>
                  <a:lnTo>
                    <a:pt x="2700" y="14462"/>
                  </a:lnTo>
                  <a:lnTo>
                    <a:pt x="2700" y="7138"/>
                  </a:lnTo>
                  <a:lnTo>
                    <a:pt x="1350" y="7138"/>
                  </a:lnTo>
                  <a:close/>
                </a:path>
                <a:path w="21600" h="21600">
                  <a:moveTo>
                    <a:pt x="0" y="7138"/>
                  </a:moveTo>
                  <a:lnTo>
                    <a:pt x="0" y="14462"/>
                  </a:lnTo>
                  <a:lnTo>
                    <a:pt x="675" y="14462"/>
                  </a:lnTo>
                  <a:lnTo>
                    <a:pt x="675" y="7138"/>
                  </a:lnTo>
                  <a:lnTo>
                    <a:pt x="0" y="7138"/>
                  </a:lnTo>
                  <a:close/>
                </a:path>
              </a:pathLst>
            </a:custGeom>
            <a:blipFill rotWithShape="0">
              <a:blip r:embed="rId2"/>
            </a:blipFill>
            <a:ln w="9525" cap="flat" cmpd="sng">
              <a:solidFill>
                <a:srgbClr val="3399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4180" name="Rectangle 4"/>
            <p:cNvSpPr>
              <a:spLocks noChangeArrowheads="1"/>
            </p:cNvSpPr>
            <p:nvPr/>
          </p:nvSpPr>
          <p:spPr bwMode="auto">
            <a:xfrm>
              <a:off x="5050" y="2355"/>
              <a:ext cx="410" cy="3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Q</a:t>
              </a: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7224713" y="3543300"/>
            <a:ext cx="979487" cy="908050"/>
            <a:chOff x="2448" y="1920"/>
            <a:chExt cx="960" cy="816"/>
          </a:xfrm>
        </p:grpSpPr>
        <p:sp>
          <p:nvSpPr>
            <p:cNvPr id="22545" name="Line 6"/>
            <p:cNvSpPr/>
            <p:nvPr/>
          </p:nvSpPr>
          <p:spPr>
            <a:xfrm flipH="1">
              <a:off x="2496" y="1920"/>
              <a:ext cx="912" cy="816"/>
            </a:xfrm>
            <a:prstGeom prst="line">
              <a:avLst/>
            </a:prstGeom>
            <a:ln w="76200" cap="flat" cmpd="sng">
              <a:solidFill>
                <a:srgbClr val="FF5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6" name="Line 7"/>
            <p:cNvSpPr/>
            <p:nvPr/>
          </p:nvSpPr>
          <p:spPr>
            <a:xfrm rot="194234">
              <a:off x="2448" y="1968"/>
              <a:ext cx="960" cy="768"/>
            </a:xfrm>
            <a:prstGeom prst="line">
              <a:avLst/>
            </a:prstGeom>
            <a:ln w="76200" cap="flat" cmpd="sng">
              <a:solidFill>
                <a:srgbClr val="FF505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74184" name="Rectangle 8"/>
          <p:cNvSpPr>
            <a:spLocks noChangeArrowheads="1"/>
          </p:cNvSpPr>
          <p:nvPr/>
        </p:nvSpPr>
        <p:spPr bwMode="auto">
          <a:xfrm>
            <a:off x="107950" y="115888"/>
            <a:ext cx="845820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克劳修斯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(Clausuis)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74185" name="Text Box 9"/>
          <p:cNvSpPr txBox="1">
            <a:spLocks noChangeArrowheads="1"/>
          </p:cNvSpPr>
          <p:nvPr/>
        </p:nvSpPr>
        <p:spPr bwMode="auto">
          <a:xfrm>
            <a:off x="179388" y="2981325"/>
            <a:ext cx="33845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3. </a:t>
            </a:r>
            <a:r>
              <a:rPr kumimoji="1" lang="zh-CN" altLang="en-US" sz="2800" b="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两种表述的等效性</a:t>
            </a:r>
          </a:p>
        </p:txBody>
      </p:sp>
      <p:sp>
        <p:nvSpPr>
          <p:cNvPr id="1074186" name="Text Box 10"/>
          <p:cNvSpPr txBox="1">
            <a:spLocks noChangeArrowheads="1"/>
          </p:cNvSpPr>
          <p:nvPr/>
        </p:nvSpPr>
        <p:spPr bwMode="auto">
          <a:xfrm>
            <a:off x="539750" y="5592763"/>
            <a:ext cx="8856663" cy="931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违反了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Kelvin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表述，也就违反了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Clausius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表述</a:t>
            </a:r>
          </a:p>
          <a:p>
            <a:pPr marR="0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反之违反了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Clausius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表述，也就违反了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Kelvin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表述。</a:t>
            </a:r>
          </a:p>
        </p:txBody>
      </p:sp>
      <p:sp>
        <p:nvSpPr>
          <p:cNvPr id="1074187" name="Text Box 11"/>
          <p:cNvSpPr txBox="1">
            <a:spLocks noChangeArrowheads="1"/>
          </p:cNvSpPr>
          <p:nvPr/>
        </p:nvSpPr>
        <p:spPr bwMode="auto">
          <a:xfrm>
            <a:off x="693738" y="1631950"/>
            <a:ext cx="899160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借助制冷机，是可以把热量由低温物体传递到高温物体，</a:t>
            </a:r>
          </a:p>
        </p:txBody>
      </p:sp>
      <p:grpSp>
        <p:nvGrpSpPr>
          <p:cNvPr id="4" name="Group 12"/>
          <p:cNvGrpSpPr/>
          <p:nvPr/>
        </p:nvGrpSpPr>
        <p:grpSpPr>
          <a:xfrm>
            <a:off x="6588125" y="2708275"/>
            <a:ext cx="2263775" cy="2571750"/>
            <a:chOff x="4150" y="1765"/>
            <a:chExt cx="1426" cy="1620"/>
          </a:xfrm>
        </p:grpSpPr>
        <p:sp>
          <p:nvSpPr>
            <p:cNvPr id="22543" name="Rectangle 13"/>
            <p:cNvSpPr/>
            <p:nvPr/>
          </p:nvSpPr>
          <p:spPr>
            <a:xfrm>
              <a:off x="4150" y="1765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FF505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990033"/>
                  </a:solidFill>
                  <a:latin typeface="宋体" panose="02010600030101010101" pitchFamily="2" charset="-122"/>
                </a:rPr>
                <a:t>高温热源</a:t>
              </a:r>
              <a:r>
                <a:rPr lang="en-US" altLang="zh-CN" sz="2400" b="1" i="1" dirty="0">
                  <a:solidFill>
                    <a:srgbClr val="990033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aseline="-25000" dirty="0">
                  <a:solidFill>
                    <a:srgbClr val="990033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2544" name="Rectangle 14"/>
            <p:cNvSpPr/>
            <p:nvPr/>
          </p:nvSpPr>
          <p:spPr>
            <a:xfrm>
              <a:off x="4155" y="2899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latin typeface="宋体" panose="02010600030101010101" pitchFamily="2" charset="-122"/>
                </a:rPr>
                <a:t>低温热源</a:t>
              </a:r>
              <a:r>
                <a:rPr lang="en-US" altLang="zh-CN" sz="2400" b="1" i="1" dirty="0">
                  <a:solidFill>
                    <a:srgbClr val="000066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0066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074191" name="Text Box 15"/>
          <p:cNvSpPr txBox="1">
            <a:spLocks noChangeArrowheads="1"/>
          </p:cNvSpPr>
          <p:nvPr/>
        </p:nvSpPr>
        <p:spPr bwMode="auto">
          <a:xfrm>
            <a:off x="511175" y="4124325"/>
            <a:ext cx="838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Clausius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表述：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热传导的过程是不可逆的。</a:t>
            </a:r>
          </a:p>
        </p:txBody>
      </p:sp>
      <p:sp>
        <p:nvSpPr>
          <p:cNvPr id="22539" name="Rectangle 16"/>
          <p:cNvSpPr/>
          <p:nvPr/>
        </p:nvSpPr>
        <p:spPr>
          <a:xfrm>
            <a:off x="684213" y="814388"/>
            <a:ext cx="6911975" cy="547687"/>
          </a:xfrm>
          <a:prstGeom prst="rect">
            <a:avLst/>
          </a:prstGeom>
          <a:noFill/>
          <a:ln w="28575" cap="flat" cmpd="sng">
            <a:pattFill prst="sphere">
              <a:fgClr>
                <a:srgbClr val="0099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</a:rPr>
              <a:t>热量</a:t>
            </a:r>
            <a:r>
              <a:rPr lang="" altLang="en-US" sz="2800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</a:rPr>
              <a:t>不能自动地</a:t>
            </a:r>
            <a:r>
              <a:rPr lang="" altLang="en-US" sz="28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</a:rPr>
              <a:t>从低温物体传向高温物体</a:t>
            </a:r>
          </a:p>
        </p:txBody>
      </p:sp>
      <p:sp>
        <p:nvSpPr>
          <p:cNvPr id="1074193" name="Text Box 17"/>
          <p:cNvSpPr txBox="1">
            <a:spLocks noChangeArrowheads="1"/>
          </p:cNvSpPr>
          <p:nvPr/>
        </p:nvSpPr>
        <p:spPr bwMode="auto">
          <a:xfrm>
            <a:off x="511175" y="3573463"/>
            <a:ext cx="77041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Kelvin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表述：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功热转换的过程是不可逆的。</a:t>
            </a:r>
          </a:p>
        </p:txBody>
      </p:sp>
      <p:sp>
        <p:nvSpPr>
          <p:cNvPr id="1074194" name="Rectangle 18"/>
          <p:cNvSpPr>
            <a:spLocks noChangeArrowheads="1"/>
          </p:cNvSpPr>
          <p:nvPr/>
        </p:nvSpPr>
        <p:spPr bwMode="auto">
          <a:xfrm>
            <a:off x="539750" y="4854575"/>
            <a:ext cx="16129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反证法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：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693738" y="2133600"/>
            <a:ext cx="89916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但要以</a:t>
            </a:r>
            <a:r>
              <a:rPr kumimoji="1" lang="zh-CN" altLang="en-US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外界作功</a:t>
            </a:r>
            <a:r>
              <a:rPr kumimoji="1" lang="zh-CN" altLang="en-US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为代价，也就是</a:t>
            </a:r>
            <a:r>
              <a:rPr kumimoji="0" lang="en-US" altLang="en-US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+mn-ea"/>
              </a:rPr>
              <a:t>不</a:t>
            </a:r>
            <a:r>
              <a:rPr kumimoji="0" lang="zh-CN" altLang="en-US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+mn-ea"/>
              </a:rPr>
              <a:t>是</a:t>
            </a:r>
            <a:r>
              <a:rPr kumimoji="0" lang="en-US" altLang="en-US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+mn-ea"/>
              </a:rPr>
              <a:t>自动地</a:t>
            </a:r>
            <a:r>
              <a:rPr kumimoji="1" lang="zh-CN" altLang="en-US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7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07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107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7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7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7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5" grpId="0"/>
      <p:bldP spid="1074186" grpId="0"/>
      <p:bldP spid="1074187" grpId="0"/>
      <p:bldP spid="1074191" grpId="0"/>
      <p:bldP spid="22539" grpId="0" animBg="1"/>
      <p:bldP spid="1074193" grpId="0"/>
      <p:bldP spid="1074194" grpId="0"/>
      <p:bldP spid="2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Text Box 2"/>
          <p:cNvSpPr txBox="1">
            <a:spLocks noChangeArrowheads="1"/>
          </p:cNvSpPr>
          <p:nvPr/>
        </p:nvSpPr>
        <p:spPr bwMode="auto">
          <a:xfrm>
            <a:off x="814388" y="836613"/>
            <a:ext cx="678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如果第二类永动机可造出来</a:t>
            </a:r>
          </a:p>
        </p:txBody>
      </p:sp>
      <p:sp>
        <p:nvSpPr>
          <p:cNvPr id="1075203" name="Rectangle 3"/>
          <p:cNvSpPr>
            <a:spLocks noChangeArrowheads="1"/>
          </p:cNvSpPr>
          <p:nvPr/>
        </p:nvSpPr>
        <p:spPr bwMode="auto">
          <a:xfrm>
            <a:off x="250825" y="138113"/>
            <a:ext cx="72040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1)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违反了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Kelvin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表述也就违反了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Clausius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</a:t>
            </a:r>
          </a:p>
        </p:txBody>
      </p:sp>
      <p:sp>
        <p:nvSpPr>
          <p:cNvPr id="1075204" name="Text Box 4"/>
          <p:cNvSpPr txBox="1">
            <a:spLocks noChangeArrowheads="1"/>
          </p:cNvSpPr>
          <p:nvPr/>
        </p:nvSpPr>
        <p:spPr bwMode="auto">
          <a:xfrm>
            <a:off x="827088" y="2060575"/>
            <a:ext cx="4648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令其推动卡诺制冷机</a:t>
            </a:r>
          </a:p>
        </p:txBody>
      </p:sp>
      <p:sp>
        <p:nvSpPr>
          <p:cNvPr id="1075205" name="Rectangle 5"/>
          <p:cNvSpPr/>
          <p:nvPr/>
        </p:nvSpPr>
        <p:spPr>
          <a:xfrm>
            <a:off x="5435600" y="2060575"/>
            <a:ext cx="3892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400" b="1" dirty="0">
                <a:ea typeface="仿宋_GB2312" panose="02010609030101010101" pitchFamily="49" charset="-122"/>
              </a:rPr>
              <a:t>联合机的</a:t>
            </a:r>
            <a:r>
              <a:rPr lang="zh-CN" altLang="en-US" sz="2400" b="1" dirty="0">
                <a:solidFill>
                  <a:srgbClr val="FF5050"/>
                </a:solidFill>
                <a:ea typeface="仿宋_GB2312" panose="02010609030101010101" pitchFamily="49" charset="-122"/>
              </a:rPr>
              <a:t>唯一效果</a:t>
            </a:r>
            <a:r>
              <a:rPr lang="zh-CN" altLang="en-US" sz="2400" b="1" dirty="0">
                <a:ea typeface="仿宋_GB2312" panose="02010609030101010101" pitchFamily="49" charset="-122"/>
              </a:rPr>
              <a:t>：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827088" y="1416050"/>
            <a:ext cx="77057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即从单一热源吸热全部变成有用功而无其它影响</a:t>
            </a:r>
          </a:p>
        </p:txBody>
      </p:sp>
      <p:sp>
        <p:nvSpPr>
          <p:cNvPr id="1075207" name="Oval 7"/>
          <p:cNvSpPr/>
          <p:nvPr/>
        </p:nvSpPr>
        <p:spPr>
          <a:xfrm>
            <a:off x="914400" y="3797300"/>
            <a:ext cx="1143000" cy="11430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热机 </a:t>
            </a:r>
          </a:p>
        </p:txBody>
      </p:sp>
      <p:sp>
        <p:nvSpPr>
          <p:cNvPr id="1075208" name="Rectangle 8"/>
          <p:cNvSpPr/>
          <p:nvPr/>
        </p:nvSpPr>
        <p:spPr>
          <a:xfrm>
            <a:off x="682625" y="2735263"/>
            <a:ext cx="3384550" cy="609600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990033"/>
                </a:solidFill>
              </a:rPr>
              <a:t> </a:t>
            </a:r>
            <a:r>
              <a:rPr lang="zh-CN" altLang="en-US" sz="2800" b="1" dirty="0">
                <a:solidFill>
                  <a:srgbClr val="990033"/>
                </a:solidFill>
              </a:rPr>
              <a:t>高温热源（</a:t>
            </a:r>
            <a:r>
              <a:rPr lang="en-US" altLang="zh-CN" sz="2800" b="1" dirty="0">
                <a:solidFill>
                  <a:srgbClr val="990033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990033"/>
                </a:solidFill>
              </a:rPr>
              <a:t>1</a:t>
            </a:r>
            <a:r>
              <a:rPr lang="zh-CN" altLang="en-US" sz="2800" b="1" dirty="0">
                <a:solidFill>
                  <a:srgbClr val="990033"/>
                </a:solidFill>
              </a:rPr>
              <a:t>）</a:t>
            </a:r>
          </a:p>
        </p:txBody>
      </p:sp>
      <p:sp>
        <p:nvSpPr>
          <p:cNvPr id="1075209" name="Rectangle 9"/>
          <p:cNvSpPr/>
          <p:nvPr/>
        </p:nvSpPr>
        <p:spPr>
          <a:xfrm>
            <a:off x="674688" y="5510213"/>
            <a:ext cx="3319462" cy="609600"/>
          </a:xfrm>
          <a:prstGeom prst="rect">
            <a:avLst/>
          </a:prstGeom>
          <a:gradFill rotWithShape="1">
            <a:gsLst>
              <a:gs pos="0">
                <a:srgbClr val="0099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 </a:t>
            </a:r>
            <a:r>
              <a:rPr lang="zh-CN" altLang="en-US" sz="2800" b="1" dirty="0">
                <a:solidFill>
                  <a:srgbClr val="000099"/>
                </a:solidFill>
              </a:rPr>
              <a:t>低温热源（</a:t>
            </a:r>
            <a:r>
              <a:rPr lang="en-US" altLang="zh-CN" sz="2800" b="1" dirty="0">
                <a:solidFill>
                  <a:srgbClr val="000099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000099"/>
                </a:solidFill>
              </a:rPr>
              <a:t>2</a:t>
            </a:r>
            <a:r>
              <a:rPr lang="zh-CN" altLang="en-US" sz="2800" b="1" dirty="0">
                <a:solidFill>
                  <a:srgbClr val="000099"/>
                </a:solidFill>
              </a:rPr>
              <a:t>）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609600" y="3205163"/>
            <a:ext cx="1009650" cy="685800"/>
            <a:chOff x="384" y="2544"/>
            <a:chExt cx="720" cy="432"/>
          </a:xfrm>
        </p:grpSpPr>
        <p:sp>
          <p:nvSpPr>
            <p:cNvPr id="23581" name="AutoShape 11" descr="球体"/>
            <p:cNvSpPr/>
            <p:nvPr/>
          </p:nvSpPr>
          <p:spPr>
            <a:xfrm>
              <a:off x="768" y="2640"/>
              <a:ext cx="336" cy="336"/>
            </a:xfrm>
            <a:prstGeom prst="downArrow">
              <a:avLst>
                <a:gd name="adj1" fmla="val 50000"/>
                <a:gd name="adj2" fmla="val 25000"/>
              </a:avLst>
            </a:prstGeom>
            <a:blipFill rotWithShape="0">
              <a:blip r:embed="rId2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3582" name="Text Box 12"/>
            <p:cNvSpPr txBox="1"/>
            <p:nvPr/>
          </p:nvSpPr>
          <p:spPr>
            <a:xfrm>
              <a:off x="384" y="2544"/>
              <a:ext cx="436" cy="3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3076575" y="3340100"/>
            <a:ext cx="1811338" cy="598488"/>
            <a:chOff x="2016" y="2592"/>
            <a:chExt cx="931" cy="377"/>
          </a:xfrm>
        </p:grpSpPr>
        <p:sp>
          <p:nvSpPr>
            <p:cNvPr id="23579" name="AutoShape 14" descr="球体"/>
            <p:cNvSpPr/>
            <p:nvPr/>
          </p:nvSpPr>
          <p:spPr>
            <a:xfrm>
              <a:off x="2016" y="2592"/>
              <a:ext cx="288" cy="336"/>
            </a:xfrm>
            <a:prstGeom prst="upArrow">
              <a:avLst>
                <a:gd name="adj1" fmla="val 50000"/>
                <a:gd name="adj2" fmla="val 29123"/>
              </a:avLst>
            </a:prstGeom>
            <a:blipFill rotWithShape="0">
              <a:blip r:embed="rId3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3580" name="Text Box 15"/>
            <p:cNvSpPr txBox="1"/>
            <p:nvPr/>
          </p:nvSpPr>
          <p:spPr>
            <a:xfrm>
              <a:off x="2294" y="2604"/>
              <a:ext cx="65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r>
                <a:rPr lang="en-US" altLang="zh-CN" b="1" i="1" dirty="0">
                  <a:solidFill>
                    <a:schemeClr val="tx2"/>
                  </a:solidFill>
                </a:rPr>
                <a:t>+Q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2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075216" name="Oval 16"/>
          <p:cNvSpPr/>
          <p:nvPr/>
        </p:nvSpPr>
        <p:spPr>
          <a:xfrm>
            <a:off x="2771775" y="3797300"/>
            <a:ext cx="1171575" cy="11430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制冷机</a:t>
            </a:r>
          </a:p>
        </p:txBody>
      </p:sp>
      <p:sp>
        <p:nvSpPr>
          <p:cNvPr id="1075217" name="Rectangle 17"/>
          <p:cNvSpPr/>
          <p:nvPr/>
        </p:nvSpPr>
        <p:spPr>
          <a:xfrm>
            <a:off x="5435600" y="2773363"/>
            <a:ext cx="3024188" cy="609600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990033"/>
                </a:solidFill>
              </a:rPr>
              <a:t>   </a:t>
            </a:r>
            <a:r>
              <a:rPr lang="zh-CN" altLang="en-US" sz="2800" b="1" dirty="0">
                <a:solidFill>
                  <a:srgbClr val="990033"/>
                </a:solidFill>
              </a:rPr>
              <a:t>高温热源（</a:t>
            </a:r>
            <a:r>
              <a:rPr lang="en-US" altLang="zh-CN" sz="2800" b="1" dirty="0">
                <a:solidFill>
                  <a:srgbClr val="990033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990033"/>
                </a:solidFill>
              </a:rPr>
              <a:t>1</a:t>
            </a:r>
            <a:r>
              <a:rPr lang="zh-CN" altLang="en-US" sz="2800" b="1" dirty="0">
                <a:solidFill>
                  <a:srgbClr val="990033"/>
                </a:solidFill>
              </a:rPr>
              <a:t>）</a:t>
            </a:r>
          </a:p>
        </p:txBody>
      </p:sp>
      <p:sp>
        <p:nvSpPr>
          <p:cNvPr id="1075218" name="Rectangle 18"/>
          <p:cNvSpPr/>
          <p:nvPr/>
        </p:nvSpPr>
        <p:spPr>
          <a:xfrm>
            <a:off x="5508625" y="5516563"/>
            <a:ext cx="3024188" cy="646112"/>
          </a:xfrm>
          <a:prstGeom prst="rect">
            <a:avLst/>
          </a:prstGeom>
          <a:gradFill rotWithShape="1">
            <a:gsLst>
              <a:gs pos="0">
                <a:srgbClr val="0099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低温热源 （</a:t>
            </a:r>
            <a:r>
              <a:rPr lang="en-US" altLang="zh-CN" sz="2800" b="1" dirty="0"/>
              <a:t>T</a:t>
            </a:r>
            <a:r>
              <a:rPr lang="en-US" altLang="zh-CN" sz="2800" b="1" baseline="-25000" dirty="0"/>
              <a:t>2</a:t>
            </a:r>
            <a:r>
              <a:rPr lang="zh-CN" altLang="en-US" sz="2800" b="1" dirty="0"/>
              <a:t>）</a:t>
            </a:r>
          </a:p>
        </p:txBody>
      </p:sp>
      <p:grpSp>
        <p:nvGrpSpPr>
          <p:cNvPr id="4" name="Group 19"/>
          <p:cNvGrpSpPr/>
          <p:nvPr/>
        </p:nvGrpSpPr>
        <p:grpSpPr>
          <a:xfrm>
            <a:off x="3230563" y="4878388"/>
            <a:ext cx="958850" cy="609600"/>
            <a:chOff x="2016" y="3552"/>
            <a:chExt cx="765" cy="384"/>
          </a:xfrm>
        </p:grpSpPr>
        <p:sp>
          <p:nvSpPr>
            <p:cNvPr id="23577" name="AutoShape 20" descr="球体"/>
            <p:cNvSpPr/>
            <p:nvPr/>
          </p:nvSpPr>
          <p:spPr>
            <a:xfrm>
              <a:off x="2016" y="3552"/>
              <a:ext cx="288" cy="384"/>
            </a:xfrm>
            <a:prstGeom prst="upArrow">
              <a:avLst>
                <a:gd name="adj1" fmla="val 50000"/>
                <a:gd name="adj2" fmla="val 33283"/>
              </a:avLst>
            </a:prstGeom>
            <a:blipFill rotWithShape="0">
              <a:blip r:embed="rId3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3578" name="Text Box 21"/>
            <p:cNvSpPr txBox="1"/>
            <p:nvPr/>
          </p:nvSpPr>
          <p:spPr>
            <a:xfrm>
              <a:off x="2293" y="3552"/>
              <a:ext cx="4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2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075222" name="Text Box 22"/>
          <p:cNvSpPr txBox="1"/>
          <p:nvPr/>
        </p:nvSpPr>
        <p:spPr>
          <a:xfrm>
            <a:off x="2124075" y="3708400"/>
            <a:ext cx="455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075223" name="AutoShape 23" descr="球体"/>
          <p:cNvSpPr/>
          <p:nvPr/>
        </p:nvSpPr>
        <p:spPr>
          <a:xfrm>
            <a:off x="2051050" y="4213225"/>
            <a:ext cx="720725" cy="465138"/>
          </a:xfrm>
          <a:prstGeom prst="rightArrow">
            <a:avLst>
              <a:gd name="adj1" fmla="val 50000"/>
              <a:gd name="adj2" fmla="val 38679"/>
            </a:avLst>
          </a:prstGeom>
          <a:blipFill rotWithShape="0">
            <a:blip r:embed="rId2"/>
          </a:blip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5" name="Group 24"/>
          <p:cNvGrpSpPr/>
          <p:nvPr/>
        </p:nvGrpSpPr>
        <p:grpSpPr>
          <a:xfrm>
            <a:off x="6650038" y="3413125"/>
            <a:ext cx="1068387" cy="2087563"/>
            <a:chOff x="4180" y="2478"/>
            <a:chExt cx="673" cy="1315"/>
          </a:xfrm>
        </p:grpSpPr>
        <p:grpSp>
          <p:nvGrpSpPr>
            <p:cNvPr id="23573" name="Group 25"/>
            <p:cNvGrpSpPr/>
            <p:nvPr/>
          </p:nvGrpSpPr>
          <p:grpSpPr>
            <a:xfrm>
              <a:off x="4468" y="2568"/>
              <a:ext cx="385" cy="1143"/>
              <a:chOff x="4422" y="2575"/>
              <a:chExt cx="385" cy="1143"/>
            </a:xfrm>
          </p:grpSpPr>
          <p:sp>
            <p:nvSpPr>
              <p:cNvPr id="23575" name="Text Box 26"/>
              <p:cNvSpPr txBox="1"/>
              <p:nvPr/>
            </p:nvSpPr>
            <p:spPr>
              <a:xfrm>
                <a:off x="4422" y="3353"/>
                <a:ext cx="385" cy="3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1" i="1" dirty="0">
                    <a:solidFill>
                      <a:schemeClr val="tx2"/>
                    </a:solidFill>
                  </a:rPr>
                  <a:t>Q</a:t>
                </a:r>
                <a:r>
                  <a:rPr lang="en-US" altLang="zh-CN" b="1" i="1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b="1" i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3576" name="Text Box 27"/>
              <p:cNvSpPr txBox="1"/>
              <p:nvPr/>
            </p:nvSpPr>
            <p:spPr>
              <a:xfrm>
                <a:off x="4422" y="2575"/>
                <a:ext cx="385" cy="3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1" i="1" dirty="0">
                    <a:solidFill>
                      <a:schemeClr val="tx2"/>
                    </a:solidFill>
                  </a:rPr>
                  <a:t>Q</a:t>
                </a:r>
                <a:r>
                  <a:rPr lang="en-US" altLang="zh-CN" b="1" i="1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b="1" i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3574" name="AutoShape 28" descr="球体"/>
            <p:cNvSpPr/>
            <p:nvPr/>
          </p:nvSpPr>
          <p:spPr>
            <a:xfrm>
              <a:off x="4180" y="2478"/>
              <a:ext cx="288" cy="1315"/>
            </a:xfrm>
            <a:prstGeom prst="upArrow">
              <a:avLst>
                <a:gd name="adj1" fmla="val 50000"/>
                <a:gd name="adj2" fmla="val 113980"/>
              </a:avLst>
            </a:prstGeom>
            <a:blipFill rotWithShape="0">
              <a:blip r:embed="rId3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75229" name="Rectangle 29"/>
          <p:cNvSpPr>
            <a:spLocks noChangeArrowheads="1"/>
          </p:cNvSpPr>
          <p:nvPr/>
        </p:nvSpPr>
        <p:spPr bwMode="auto">
          <a:xfrm>
            <a:off x="5400675" y="6223000"/>
            <a:ext cx="33480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违反了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Clausius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表述</a:t>
            </a:r>
          </a:p>
        </p:txBody>
      </p:sp>
      <p:sp>
        <p:nvSpPr>
          <p:cNvPr id="1075230" name="AutoShape 30"/>
          <p:cNvSpPr/>
          <p:nvPr/>
        </p:nvSpPr>
        <p:spPr>
          <a:xfrm>
            <a:off x="468313" y="1125538"/>
            <a:ext cx="287337" cy="1439862"/>
          </a:xfrm>
          <a:prstGeom prst="curvedRightArrow">
            <a:avLst>
              <a:gd name="adj1" fmla="val 100221"/>
              <a:gd name="adj2" fmla="val 200442"/>
              <a:gd name="adj3" fmla="val 33296"/>
            </a:avLst>
          </a:prstGeom>
          <a:solidFill>
            <a:srgbClr val="FF99FF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5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7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7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7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7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7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7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7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7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7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07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7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07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07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02" grpId="0" build="p"/>
      <p:bldP spid="1075204" grpId="0"/>
      <p:bldP spid="1075205" grpId="0"/>
      <p:bldP spid="1075206" grpId="0"/>
      <p:bldP spid="1075207" grpId="0" animBg="1"/>
      <p:bldP spid="1075208" grpId="0" animBg="1"/>
      <p:bldP spid="1075209" grpId="0" animBg="1"/>
      <p:bldP spid="1075216" grpId="0" animBg="1"/>
      <p:bldP spid="1075217" grpId="0" animBg="1"/>
      <p:bldP spid="1075218" grpId="0" animBg="1"/>
      <p:bldP spid="1075222" grpId="0"/>
      <p:bldP spid="1075223" grpId="0" animBg="1"/>
      <p:bldP spid="1075229" grpId="0"/>
      <p:bldP spid="10752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76226" name="Oval 2" descr="10%"/>
          <p:cNvSpPr>
            <a:spLocks noChangeArrowheads="1"/>
          </p:cNvSpPr>
          <p:nvPr/>
        </p:nvSpPr>
        <p:spPr bwMode="auto">
          <a:xfrm>
            <a:off x="6232525" y="4330700"/>
            <a:ext cx="1143000" cy="1143000"/>
          </a:xfrm>
          <a:prstGeom prst="ellipse">
            <a:avLst/>
          </a:prstGeom>
          <a:pattFill prst="pct10">
            <a:fgClr>
              <a:srgbClr val="FF3300"/>
            </a:fgClr>
            <a:bgClr>
              <a:srgbClr val="FFFFFF"/>
            </a:bgClr>
          </a:pattFill>
          <a:ln w="9525">
            <a:solidFill>
              <a:srgbClr val="FF33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 </a:t>
            </a:r>
          </a:p>
        </p:txBody>
      </p:sp>
      <p:sp>
        <p:nvSpPr>
          <p:cNvPr id="1076227" name="Oval 3" descr="10%"/>
          <p:cNvSpPr>
            <a:spLocks noChangeArrowheads="1"/>
          </p:cNvSpPr>
          <p:nvPr/>
        </p:nvSpPr>
        <p:spPr bwMode="auto">
          <a:xfrm>
            <a:off x="2870200" y="3841750"/>
            <a:ext cx="1143000" cy="1143000"/>
          </a:xfrm>
          <a:prstGeom prst="ellipse">
            <a:avLst/>
          </a:prstGeom>
          <a:pattFill prst="pct10">
            <a:fgClr>
              <a:srgbClr val="FF3300"/>
            </a:fgClr>
            <a:bgClr>
              <a:srgbClr val="FFFFFF"/>
            </a:bgClr>
          </a:pattFill>
          <a:ln w="9525">
            <a:solidFill>
              <a:srgbClr val="FF33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</a:t>
            </a:r>
          </a:p>
        </p:txBody>
      </p:sp>
      <p:sp>
        <p:nvSpPr>
          <p:cNvPr id="1076228" name="Text Box 4"/>
          <p:cNvSpPr txBox="1">
            <a:spLocks noChangeArrowheads="1"/>
          </p:cNvSpPr>
          <p:nvPr/>
        </p:nvSpPr>
        <p:spPr bwMode="auto">
          <a:xfrm>
            <a:off x="323850" y="173038"/>
            <a:ext cx="80645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2) </a:t>
            </a:r>
            <a:r>
              <a:rPr kumimoji="1" lang="zh-CN" altLang="en-US" sz="28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违反了</a:t>
            </a:r>
            <a:r>
              <a:rPr kumimoji="1" lang="en-US" altLang="zh-CN" sz="32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Clausius</a:t>
            </a:r>
            <a:r>
              <a:rPr kumimoji="1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</a:t>
            </a:r>
            <a:r>
              <a:rPr kumimoji="1" lang="zh-CN" altLang="en-US" sz="28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表述也就违反了</a:t>
            </a:r>
            <a:r>
              <a:rPr kumimoji="1" lang="en-US" altLang="zh-CN" sz="32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Kelvin</a:t>
            </a:r>
            <a:r>
              <a:rPr kumimoji="1" lang="zh-CN" altLang="en-US" sz="2800" b="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表述</a:t>
            </a:r>
          </a:p>
        </p:txBody>
      </p:sp>
      <p:sp>
        <p:nvSpPr>
          <p:cNvPr id="1076229" name="Text Box 5"/>
          <p:cNvSpPr txBox="1">
            <a:spLocks noChangeArrowheads="1"/>
          </p:cNvSpPr>
          <p:nvPr/>
        </p:nvSpPr>
        <p:spPr bwMode="auto">
          <a:xfrm>
            <a:off x="971550" y="1484313"/>
            <a:ext cx="6862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即热量自动从低温物体传到高温物体</a:t>
            </a:r>
          </a:p>
        </p:txBody>
      </p:sp>
      <p:sp>
        <p:nvSpPr>
          <p:cNvPr id="1076230" name="Rectangle 6"/>
          <p:cNvSpPr/>
          <p:nvPr/>
        </p:nvSpPr>
        <p:spPr>
          <a:xfrm>
            <a:off x="812800" y="2851150"/>
            <a:ext cx="3403600" cy="609600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990033"/>
                </a:solidFill>
              </a:rPr>
              <a:t> </a:t>
            </a:r>
            <a:r>
              <a:rPr lang="zh-CN" altLang="en-US" sz="2800" b="1" dirty="0">
                <a:solidFill>
                  <a:srgbClr val="990033"/>
                </a:solidFill>
              </a:rPr>
              <a:t>高温热源（</a:t>
            </a:r>
            <a:r>
              <a:rPr lang="en-US" altLang="zh-CN" sz="2800" b="1" dirty="0">
                <a:solidFill>
                  <a:srgbClr val="990033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990033"/>
                </a:solidFill>
              </a:rPr>
              <a:t>1</a:t>
            </a:r>
            <a:r>
              <a:rPr lang="zh-CN" altLang="en-US" sz="2800" b="1" dirty="0">
                <a:solidFill>
                  <a:srgbClr val="990033"/>
                </a:solidFill>
              </a:rPr>
              <a:t>）</a:t>
            </a:r>
          </a:p>
        </p:txBody>
      </p:sp>
      <p:sp>
        <p:nvSpPr>
          <p:cNvPr id="1076231" name="Rectangle 7"/>
          <p:cNvSpPr/>
          <p:nvPr/>
        </p:nvSpPr>
        <p:spPr>
          <a:xfrm>
            <a:off x="812800" y="5556250"/>
            <a:ext cx="3471863" cy="609600"/>
          </a:xfrm>
          <a:prstGeom prst="rect">
            <a:avLst/>
          </a:prstGeom>
          <a:gradFill rotWithShape="1">
            <a:gsLst>
              <a:gs pos="0">
                <a:srgbClr val="0099FF"/>
              </a:gs>
              <a:gs pos="100000">
                <a:schemeClr val="bg1"/>
              </a:gs>
            </a:gsLst>
            <a:lin ang="5400000" scaled="1"/>
            <a:tileRect/>
          </a:gradFill>
          <a:ln w="19050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低温热源（</a:t>
            </a:r>
            <a:r>
              <a:rPr lang="en-US" altLang="zh-CN" sz="2800" b="1" dirty="0"/>
              <a:t>T</a:t>
            </a:r>
            <a:r>
              <a:rPr lang="en-US" altLang="zh-CN" sz="2800" b="1" baseline="-25000" dirty="0"/>
              <a:t>2</a:t>
            </a:r>
            <a:r>
              <a:rPr lang="zh-CN" altLang="en-US" sz="2800" b="1" dirty="0"/>
              <a:t>）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3860800" y="3765550"/>
            <a:ext cx="1812925" cy="895350"/>
            <a:chOff x="2160" y="1536"/>
            <a:chExt cx="1142" cy="564"/>
          </a:xfrm>
        </p:grpSpPr>
        <p:sp>
          <p:nvSpPr>
            <p:cNvPr id="24609" name="AutoShape 9" descr="球体"/>
            <p:cNvSpPr/>
            <p:nvPr/>
          </p:nvSpPr>
          <p:spPr>
            <a:xfrm>
              <a:off x="2160" y="1812"/>
              <a:ext cx="624" cy="288"/>
            </a:xfrm>
            <a:prstGeom prst="rightArrow">
              <a:avLst>
                <a:gd name="adj1" fmla="val 50000"/>
                <a:gd name="adj2" fmla="val 54086"/>
              </a:avLst>
            </a:prstGeom>
            <a:blipFill rotWithShape="0">
              <a:blip r:embed="rId2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76234" name="Text Box 10"/>
            <p:cNvSpPr txBox="1">
              <a:spLocks noChangeArrowheads="1"/>
            </p:cNvSpPr>
            <p:nvPr/>
          </p:nvSpPr>
          <p:spPr bwMode="auto">
            <a:xfrm>
              <a:off x="2246" y="1536"/>
              <a:ext cx="1056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A=Q</a:t>
              </a:r>
              <a:r>
                <a:rPr kumimoji="1" lang="en-US" altLang="zh-CN" sz="3200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-Q</a:t>
              </a:r>
              <a:r>
                <a:rPr kumimoji="1" lang="en-US" altLang="zh-CN" sz="3200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3" name="Group 11"/>
          <p:cNvGrpSpPr/>
          <p:nvPr/>
        </p:nvGrpSpPr>
        <p:grpSpPr>
          <a:xfrm>
            <a:off x="6661150" y="3487738"/>
            <a:ext cx="1533525" cy="865187"/>
            <a:chOff x="4286" y="1607"/>
            <a:chExt cx="966" cy="545"/>
          </a:xfrm>
        </p:grpSpPr>
        <p:sp>
          <p:nvSpPr>
            <p:cNvPr id="24607" name="AutoShape 12" descr="球体"/>
            <p:cNvSpPr/>
            <p:nvPr/>
          </p:nvSpPr>
          <p:spPr>
            <a:xfrm rot="10800000">
              <a:off x="4286" y="1607"/>
              <a:ext cx="288" cy="545"/>
            </a:xfrm>
            <a:prstGeom prst="upArrow">
              <a:avLst>
                <a:gd name="adj1" fmla="val 50000"/>
                <a:gd name="adj2" fmla="val 47238"/>
              </a:avLst>
            </a:prstGeom>
            <a:blipFill rotWithShape="0">
              <a:blip r:embed="rId2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76237" name="Text Box 13"/>
            <p:cNvSpPr txBox="1">
              <a:spLocks noChangeArrowheads="1"/>
            </p:cNvSpPr>
            <p:nvPr/>
          </p:nvSpPr>
          <p:spPr bwMode="auto">
            <a:xfrm>
              <a:off x="4513" y="1616"/>
              <a:ext cx="739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3200" i="1" kern="1200" cap="none" spc="0" normalizeH="0" baseline="-2500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3200" i="1" kern="1200" cap="none" spc="0" normalizeH="0" baseline="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-Q</a:t>
              </a:r>
              <a:r>
                <a:rPr kumimoji="1" lang="en-US" altLang="zh-CN" sz="3200" i="1" kern="1200" cap="none" spc="0" normalizeH="0" baseline="-2500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6238" name="Rectangle 14"/>
          <p:cNvSpPr/>
          <p:nvPr/>
        </p:nvSpPr>
        <p:spPr>
          <a:xfrm>
            <a:off x="5508625" y="2852738"/>
            <a:ext cx="2881313" cy="61277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5400000" scaled="1"/>
            <a:tileRect/>
          </a:gra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990033"/>
                </a:solidFill>
              </a:rPr>
              <a:t> </a:t>
            </a:r>
            <a:r>
              <a:rPr lang="zh-CN" altLang="en-US" sz="2800" b="1" dirty="0">
                <a:solidFill>
                  <a:srgbClr val="990033"/>
                </a:solidFill>
              </a:rPr>
              <a:t>高温热源（</a:t>
            </a:r>
            <a:r>
              <a:rPr lang="en-US" altLang="zh-CN" sz="2800" b="1" dirty="0">
                <a:solidFill>
                  <a:srgbClr val="990033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990033"/>
                </a:solidFill>
              </a:rPr>
              <a:t>1</a:t>
            </a:r>
            <a:r>
              <a:rPr lang="zh-CN" altLang="en-US" sz="2800" b="1" dirty="0">
                <a:solidFill>
                  <a:srgbClr val="990033"/>
                </a:solidFill>
              </a:rPr>
              <a:t>）</a:t>
            </a:r>
          </a:p>
        </p:txBody>
      </p:sp>
      <p:grpSp>
        <p:nvGrpSpPr>
          <p:cNvPr id="4" name="Group 15"/>
          <p:cNvGrpSpPr/>
          <p:nvPr/>
        </p:nvGrpSpPr>
        <p:grpSpPr>
          <a:xfrm>
            <a:off x="2700338" y="3357563"/>
            <a:ext cx="1006475" cy="590550"/>
            <a:chOff x="1430" y="1296"/>
            <a:chExt cx="634" cy="372"/>
          </a:xfrm>
        </p:grpSpPr>
        <p:sp>
          <p:nvSpPr>
            <p:cNvPr id="24605" name="AutoShape 16" descr="球体"/>
            <p:cNvSpPr/>
            <p:nvPr/>
          </p:nvSpPr>
          <p:spPr>
            <a:xfrm>
              <a:off x="1728" y="1332"/>
              <a:ext cx="336" cy="336"/>
            </a:xfrm>
            <a:prstGeom prst="downArrow">
              <a:avLst>
                <a:gd name="adj1" fmla="val 50000"/>
                <a:gd name="adj2" fmla="val 25000"/>
              </a:avLst>
            </a:prstGeom>
            <a:blipFill rotWithShape="0">
              <a:blip r:embed="rId2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76241" name="Text Box 17" descr="球体"/>
            <p:cNvSpPr txBox="1">
              <a:spLocks noChangeArrowheads="1"/>
            </p:cNvSpPr>
            <p:nvPr/>
          </p:nvSpPr>
          <p:spPr bwMode="auto">
            <a:xfrm>
              <a:off x="1430" y="1296"/>
              <a:ext cx="38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32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3276600" y="4908550"/>
            <a:ext cx="933450" cy="685800"/>
            <a:chOff x="1776" y="2256"/>
            <a:chExt cx="653" cy="432"/>
          </a:xfrm>
        </p:grpSpPr>
        <p:sp>
          <p:nvSpPr>
            <p:cNvPr id="1076243" name="Text Box 19" descr="球体"/>
            <p:cNvSpPr txBox="1">
              <a:spLocks noChangeArrowheads="1"/>
            </p:cNvSpPr>
            <p:nvPr/>
          </p:nvSpPr>
          <p:spPr bwMode="auto">
            <a:xfrm>
              <a:off x="2003" y="2256"/>
              <a:ext cx="426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4" name="AutoShape 20" descr="球体"/>
            <p:cNvSpPr/>
            <p:nvPr/>
          </p:nvSpPr>
          <p:spPr>
            <a:xfrm>
              <a:off x="1776" y="2304"/>
              <a:ext cx="303" cy="384"/>
            </a:xfrm>
            <a:prstGeom prst="downArrow">
              <a:avLst>
                <a:gd name="adj1" fmla="val 50000"/>
                <a:gd name="adj2" fmla="val 31636"/>
              </a:avLst>
            </a:prstGeom>
            <a:blipFill rotWithShape="0">
              <a:blip r:embed="rId2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7351713" y="4178300"/>
            <a:ext cx="1685925" cy="971550"/>
            <a:chOff x="4416" y="1488"/>
            <a:chExt cx="1086" cy="612"/>
          </a:xfrm>
        </p:grpSpPr>
        <p:sp>
          <p:nvSpPr>
            <p:cNvPr id="24601" name="AutoShape 22" descr="球体"/>
            <p:cNvSpPr/>
            <p:nvPr/>
          </p:nvSpPr>
          <p:spPr>
            <a:xfrm>
              <a:off x="4416" y="1812"/>
              <a:ext cx="624" cy="288"/>
            </a:xfrm>
            <a:prstGeom prst="rightArrow">
              <a:avLst>
                <a:gd name="adj1" fmla="val 50000"/>
                <a:gd name="adj2" fmla="val 54086"/>
              </a:avLst>
            </a:prstGeom>
            <a:blipFill rotWithShape="0">
              <a:blip r:embed="rId2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76247" name="Text Box 23"/>
            <p:cNvSpPr txBox="1">
              <a:spLocks noChangeArrowheads="1"/>
            </p:cNvSpPr>
            <p:nvPr/>
          </p:nvSpPr>
          <p:spPr bwMode="auto">
            <a:xfrm>
              <a:off x="4422" y="1488"/>
              <a:ext cx="10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A=Q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-Q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6248" name="Text Box 24"/>
          <p:cNvSpPr txBox="1">
            <a:spLocks noChangeArrowheads="1"/>
          </p:cNvSpPr>
          <p:nvPr/>
        </p:nvSpPr>
        <p:spPr bwMode="auto">
          <a:xfrm>
            <a:off x="971550" y="2181225"/>
            <a:ext cx="4648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推动卡诺热机</a:t>
            </a:r>
          </a:p>
        </p:txBody>
      </p:sp>
      <p:sp>
        <p:nvSpPr>
          <p:cNvPr id="1076249" name="Rectangle 25"/>
          <p:cNvSpPr>
            <a:spLocks noChangeArrowheads="1"/>
          </p:cNvSpPr>
          <p:nvPr/>
        </p:nvSpPr>
        <p:spPr bwMode="auto">
          <a:xfrm>
            <a:off x="5364163" y="2205038"/>
            <a:ext cx="3892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联合机的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唯一效果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：</a:t>
            </a:r>
          </a:p>
        </p:txBody>
      </p:sp>
      <p:grpSp>
        <p:nvGrpSpPr>
          <p:cNvPr id="7" name="Group 26"/>
          <p:cNvGrpSpPr/>
          <p:nvPr/>
        </p:nvGrpSpPr>
        <p:grpSpPr>
          <a:xfrm>
            <a:off x="1258888" y="3429000"/>
            <a:ext cx="1011237" cy="2089150"/>
            <a:chOff x="4180" y="2478"/>
            <a:chExt cx="727" cy="1315"/>
          </a:xfrm>
        </p:grpSpPr>
        <p:grpSp>
          <p:nvGrpSpPr>
            <p:cNvPr id="24597" name="Group 27"/>
            <p:cNvGrpSpPr/>
            <p:nvPr/>
          </p:nvGrpSpPr>
          <p:grpSpPr>
            <a:xfrm>
              <a:off x="4468" y="2568"/>
              <a:ext cx="439" cy="1143"/>
              <a:chOff x="4422" y="2575"/>
              <a:chExt cx="439" cy="1143"/>
            </a:xfrm>
          </p:grpSpPr>
          <p:sp>
            <p:nvSpPr>
              <p:cNvPr id="1076252" name="Text Box 28" descr="球体"/>
              <p:cNvSpPr txBox="1">
                <a:spLocks noChangeArrowheads="1"/>
              </p:cNvSpPr>
              <p:nvPr/>
            </p:nvSpPr>
            <p:spPr bwMode="auto">
              <a:xfrm>
                <a:off x="4422" y="3353"/>
                <a:ext cx="439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1" lang="en-US" altLang="zh-CN" sz="3200" i="1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3200" i="1" kern="1200" cap="none" spc="0" normalizeH="0" baseline="-2500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76253" name="Text Box 29" descr="球体"/>
              <p:cNvSpPr txBox="1">
                <a:spLocks noChangeArrowheads="1"/>
              </p:cNvSpPr>
              <p:nvPr/>
            </p:nvSpPr>
            <p:spPr bwMode="auto">
              <a:xfrm>
                <a:off x="4422" y="2575"/>
                <a:ext cx="439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1" lang="en-US" altLang="zh-CN" sz="3200" i="1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1" lang="en-US" altLang="zh-CN" sz="3200" i="1" kern="1200" cap="none" spc="0" normalizeH="0" baseline="-2500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4598" name="AutoShape 30" descr="球体"/>
            <p:cNvSpPr/>
            <p:nvPr/>
          </p:nvSpPr>
          <p:spPr>
            <a:xfrm>
              <a:off x="4180" y="2478"/>
              <a:ext cx="288" cy="1315"/>
            </a:xfrm>
            <a:prstGeom prst="upArrow">
              <a:avLst>
                <a:gd name="adj1" fmla="val 50000"/>
                <a:gd name="adj2" fmla="val 113980"/>
              </a:avLst>
            </a:prstGeom>
            <a:blipFill rotWithShape="0">
              <a:blip r:embed="rId2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76255" name="Text Box 31"/>
          <p:cNvSpPr txBox="1">
            <a:spLocks noChangeArrowheads="1"/>
          </p:cNvSpPr>
          <p:nvPr/>
        </p:nvSpPr>
        <p:spPr bwMode="blackWhite">
          <a:xfrm>
            <a:off x="5773738" y="5667375"/>
            <a:ext cx="3551238" cy="427038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违反了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Kelvin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表述</a:t>
            </a:r>
            <a:endParaRPr kumimoji="0" lang="zh-CN" altLang="en-US" sz="2800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076256" name="Text Box 32"/>
          <p:cNvSpPr txBox="1">
            <a:spLocks noChangeArrowheads="1"/>
          </p:cNvSpPr>
          <p:nvPr/>
        </p:nvSpPr>
        <p:spPr bwMode="auto">
          <a:xfrm>
            <a:off x="971550" y="857250"/>
            <a:ext cx="517048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设有一违反</a:t>
            </a:r>
            <a:r>
              <a:rPr kumimoji="1" lang="en-US" altLang="zh-CN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Clausius</a:t>
            </a:r>
            <a:r>
              <a:rPr kumimoji="1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表述的过程存在</a:t>
            </a:r>
          </a:p>
        </p:txBody>
      </p:sp>
      <p:sp>
        <p:nvSpPr>
          <p:cNvPr id="1076257" name="AutoShape 33"/>
          <p:cNvSpPr/>
          <p:nvPr/>
        </p:nvSpPr>
        <p:spPr>
          <a:xfrm>
            <a:off x="468313" y="1125538"/>
            <a:ext cx="287337" cy="1439862"/>
          </a:xfrm>
          <a:prstGeom prst="curvedRightArrow">
            <a:avLst>
              <a:gd name="adj1" fmla="val 100221"/>
              <a:gd name="adj2" fmla="val 200442"/>
              <a:gd name="adj3" fmla="val 33296"/>
            </a:avLst>
          </a:prstGeom>
          <a:solidFill>
            <a:srgbClr val="FF99FF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7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7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7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7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7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7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7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07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0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07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26" grpId="0" animBg="1"/>
      <p:bldP spid="1076227" grpId="0" animBg="1"/>
      <p:bldP spid="1076229" grpId="0" build="p"/>
      <p:bldP spid="1076230" grpId="0" animBg="1"/>
      <p:bldP spid="1076231" grpId="0" animBg="1"/>
      <p:bldP spid="1076238" grpId="0" animBg="1"/>
      <p:bldP spid="1076248" grpId="0"/>
      <p:bldP spid="1076249" grpId="0"/>
      <p:bldP spid="1076255" grpId="0"/>
      <p:bldP spid="1076256" grpId="0"/>
      <p:bldP spid="10762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77250" name="Rectangle 2"/>
          <p:cNvSpPr>
            <a:spLocks noChangeArrowheads="1"/>
          </p:cNvSpPr>
          <p:nvPr/>
        </p:nvSpPr>
        <p:spPr bwMode="auto">
          <a:xfrm>
            <a:off x="539750" y="2565400"/>
            <a:ext cx="5689600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任何一种不可逆过程，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都可作为热力学第二定律的表述！</a:t>
            </a:r>
          </a:p>
        </p:txBody>
      </p:sp>
      <p:sp>
        <p:nvSpPr>
          <p:cNvPr id="1077251" name="Text Box 3"/>
          <p:cNvSpPr txBox="1">
            <a:spLocks noChangeArrowheads="1"/>
          </p:cNvSpPr>
          <p:nvPr/>
        </p:nvSpPr>
        <p:spPr bwMode="auto">
          <a:xfrm>
            <a:off x="466725" y="3998913"/>
            <a:ext cx="9431338" cy="1563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热二律的实质</a:t>
            </a:r>
            <a:r>
              <a:rPr kumimoji="1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:</a:t>
            </a:r>
          </a:p>
          <a:p>
            <a:pPr marR="0" defTabSz="914400" eaLnBrk="1" hangingPunct="1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一切与热现象相联系的宏观自发过程</a:t>
            </a:r>
          </a:p>
          <a:p>
            <a:pPr marR="0" defTabSz="914400" eaLnBrk="1" hangingPunct="1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都是不可逆的。</a:t>
            </a:r>
          </a:p>
        </p:txBody>
      </p:sp>
      <p:sp>
        <p:nvSpPr>
          <p:cNvPr id="1077252" name="Text Box 4"/>
          <p:cNvSpPr txBox="1">
            <a:spLocks noChangeArrowheads="1"/>
          </p:cNvSpPr>
          <p:nvPr/>
        </p:nvSpPr>
        <p:spPr bwMode="auto">
          <a:xfrm>
            <a:off x="3408363" y="115888"/>
            <a:ext cx="2266950" cy="1050925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热转换的不可逆性</a:t>
            </a:r>
          </a:p>
        </p:txBody>
      </p:sp>
      <p:sp>
        <p:nvSpPr>
          <p:cNvPr id="1077253" name="Text Box 5"/>
          <p:cNvSpPr txBox="1">
            <a:spLocks noChangeArrowheads="1"/>
          </p:cNvSpPr>
          <p:nvPr/>
        </p:nvSpPr>
        <p:spPr bwMode="auto">
          <a:xfrm>
            <a:off x="6550025" y="119063"/>
            <a:ext cx="1870075" cy="100488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热传导的不可逆性</a:t>
            </a:r>
          </a:p>
        </p:txBody>
      </p:sp>
      <p:sp>
        <p:nvSpPr>
          <p:cNvPr id="1077254" name="AutoShape 6"/>
          <p:cNvSpPr/>
          <p:nvPr/>
        </p:nvSpPr>
        <p:spPr>
          <a:xfrm>
            <a:off x="5934075" y="204788"/>
            <a:ext cx="338138" cy="3587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CC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77255" name="Text Box 7"/>
          <p:cNvSpPr txBox="1">
            <a:spLocks noChangeArrowheads="1"/>
          </p:cNvSpPr>
          <p:nvPr/>
        </p:nvSpPr>
        <p:spPr bwMode="auto">
          <a:xfrm>
            <a:off x="444500" y="153988"/>
            <a:ext cx="2266950" cy="10366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开氏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克氏表述等效</a:t>
            </a:r>
          </a:p>
        </p:txBody>
      </p:sp>
      <p:sp>
        <p:nvSpPr>
          <p:cNvPr id="1077256" name="AutoShape 8"/>
          <p:cNvSpPr/>
          <p:nvPr/>
        </p:nvSpPr>
        <p:spPr>
          <a:xfrm>
            <a:off x="5913438" y="635000"/>
            <a:ext cx="358775" cy="37782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CC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77257" name="AutoShape 9"/>
          <p:cNvSpPr/>
          <p:nvPr/>
        </p:nvSpPr>
        <p:spPr>
          <a:xfrm>
            <a:off x="2857500" y="347663"/>
            <a:ext cx="400050" cy="5334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CC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77258" name="Text Box 10"/>
          <p:cNvSpPr txBox="1"/>
          <p:nvPr/>
        </p:nvSpPr>
        <p:spPr>
          <a:xfrm>
            <a:off x="539750" y="1484313"/>
            <a:ext cx="7488238" cy="5191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宏观上各种不可逆过程是</a:t>
            </a:r>
            <a:r>
              <a:rPr lang="zh-CN" altLang="en-US" sz="2800" b="1" dirty="0">
                <a:solidFill>
                  <a:srgbClr val="CC3300"/>
                </a:solidFill>
              </a:rPr>
              <a:t>相互关联的</a:t>
            </a:r>
            <a:endParaRPr lang="zh-CN" altLang="en-US" sz="2800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7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7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7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7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7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7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7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250" grpId="0"/>
      <p:bldP spid="1077251" grpId="0"/>
      <p:bldP spid="1077252" grpId="0" animBg="1"/>
      <p:bldP spid="1077253" grpId="0" animBg="1"/>
      <p:bldP spid="1077254" grpId="0" animBg="1"/>
      <p:bldP spid="1077256" grpId="0" animBg="1"/>
      <p:bldP spid="1077257" grpId="0" animBg="1"/>
      <p:bldP spid="10772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18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78274" name="Text Box 2"/>
          <p:cNvSpPr txBox="1">
            <a:spLocks noChangeArrowheads="1"/>
          </p:cNvSpPr>
          <p:nvPr/>
        </p:nvSpPr>
        <p:spPr bwMode="auto">
          <a:xfrm>
            <a:off x="228600" y="200025"/>
            <a:ext cx="1295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</a:p>
        </p:txBody>
      </p:sp>
      <p:sp>
        <p:nvSpPr>
          <p:cNvPr id="1078275" name="Text Box 3"/>
          <p:cNvSpPr txBox="1">
            <a:spLocks noChangeArrowheads="1"/>
          </p:cNvSpPr>
          <p:nvPr/>
        </p:nvSpPr>
        <p:spPr bwMode="auto">
          <a:xfrm>
            <a:off x="990600" y="228600"/>
            <a:ext cx="7772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运用热</a:t>
            </a:r>
            <a:r>
              <a:rPr kumimoji="1" lang="en-US" altLang="zh-CN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Ⅱ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律处理问题的典型方法：</a:t>
            </a: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反证法</a:t>
            </a:r>
          </a:p>
        </p:txBody>
      </p:sp>
      <p:sp>
        <p:nvSpPr>
          <p:cNvPr id="1078276" name="Text Box 4"/>
          <p:cNvSpPr txBox="1">
            <a:spLocks noChangeArrowheads="1"/>
          </p:cNvSpPr>
          <p:nvPr/>
        </p:nvSpPr>
        <p:spPr bwMode="auto">
          <a:xfrm>
            <a:off x="304800" y="836613"/>
            <a:ext cx="4495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证明两条绝热线不相交</a:t>
            </a:r>
          </a:p>
        </p:txBody>
      </p:sp>
      <p:sp>
        <p:nvSpPr>
          <p:cNvPr id="1078277" name="Text Box 5"/>
          <p:cNvSpPr txBox="1">
            <a:spLocks noChangeArrowheads="1"/>
          </p:cNvSpPr>
          <p:nvPr/>
        </p:nvSpPr>
        <p:spPr bwMode="auto">
          <a:xfrm>
            <a:off x="685800" y="1412875"/>
            <a:ext cx="4800600" cy="155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设两个绝热线交于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，可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作一等温线与两条绝热线构成一循环，形成单热源热机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，违反热力学第二定律。</a:t>
            </a:r>
          </a:p>
        </p:txBody>
      </p:sp>
      <p:sp>
        <p:nvSpPr>
          <p:cNvPr id="1078278" name="Text Box 6"/>
          <p:cNvSpPr txBox="1">
            <a:spLocks noChangeArrowheads="1"/>
          </p:cNvSpPr>
          <p:nvPr/>
        </p:nvSpPr>
        <p:spPr bwMode="auto">
          <a:xfrm>
            <a:off x="827088" y="2997200"/>
            <a:ext cx="4343400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原假设不成立，两绝热线不能相交。</a:t>
            </a:r>
          </a:p>
        </p:txBody>
      </p:sp>
      <p:graphicFrame>
        <p:nvGraphicFramePr>
          <p:cNvPr id="1078279" name="Object 7"/>
          <p:cNvGraphicFramePr/>
          <p:nvPr/>
        </p:nvGraphicFramePr>
        <p:xfrm>
          <a:off x="395288" y="3317875"/>
          <a:ext cx="374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" r:id="rId3" imgW="139700" imgH="127000" progId="Equation.DSMT4">
                  <p:embed/>
                </p:oleObj>
              </mc:Choice>
              <mc:Fallback>
                <p:oleObj r:id="rId3" imgW="139700" imgH="127000" progId="Equation.DSMT4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3317875"/>
                        <a:ext cx="37465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80" name="Text Box 8"/>
          <p:cNvSpPr txBox="1">
            <a:spLocks noChangeArrowheads="1"/>
          </p:cNvSpPr>
          <p:nvPr/>
        </p:nvSpPr>
        <p:spPr bwMode="auto">
          <a:xfrm>
            <a:off x="304800" y="3860800"/>
            <a:ext cx="4953000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marR="0" indent="-28575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证明一条等温线和一条绝热线不能有两个交点</a:t>
            </a:r>
          </a:p>
        </p:txBody>
      </p:sp>
      <p:sp>
        <p:nvSpPr>
          <p:cNvPr id="1078281" name="Text Box 9"/>
          <p:cNvSpPr txBox="1">
            <a:spLocks noChangeArrowheads="1"/>
          </p:cNvSpPr>
          <p:nvPr/>
        </p:nvSpPr>
        <p:spPr bwMode="auto">
          <a:xfrm>
            <a:off x="652463" y="4724400"/>
            <a:ext cx="4495800" cy="1187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设等温线与绝热线有两个交点，则形成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单热源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热机，违反热力学的二定律。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5562600" y="1066800"/>
            <a:ext cx="3200400" cy="2590800"/>
            <a:chOff x="3504" y="672"/>
            <a:chExt cx="2016" cy="1632"/>
          </a:xfrm>
        </p:grpSpPr>
        <p:pic>
          <p:nvPicPr>
            <p:cNvPr id="26651" name="Picture 11" descr="4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4" y="672"/>
              <a:ext cx="2016" cy="16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2" name="Rectangle 12"/>
            <p:cNvSpPr/>
            <p:nvPr/>
          </p:nvSpPr>
          <p:spPr>
            <a:xfrm>
              <a:off x="3504" y="672"/>
              <a:ext cx="2016" cy="1623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26653" name="Object 13"/>
            <p:cNvGraphicFramePr/>
            <p:nvPr/>
          </p:nvGraphicFramePr>
          <p:xfrm>
            <a:off x="3773" y="717"/>
            <a:ext cx="23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2" r:id="rId6" imgW="167005" imgH="189865" progId="Equation.DSMT4">
                    <p:embed/>
                  </p:oleObj>
                </mc:Choice>
                <mc:Fallback>
                  <p:oleObj r:id="rId6" imgW="167005" imgH="189865" progId="Equation.DSMT4">
                    <p:embed/>
                    <p:pic>
                      <p:nvPicPr>
                        <p:cNvPr id="0" name="图片 331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73" y="717"/>
                          <a:ext cx="230" cy="24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4" name="Object 14"/>
            <p:cNvGraphicFramePr/>
            <p:nvPr/>
          </p:nvGraphicFramePr>
          <p:xfrm>
            <a:off x="5296" y="1987"/>
            <a:ext cx="173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3" r:id="rId8" imgW="167005" imgH="212090" progId="Equation.DSMT4">
                    <p:embed/>
                  </p:oleObj>
                </mc:Choice>
                <mc:Fallback>
                  <p:oleObj r:id="rId8" imgW="167005" imgH="212090" progId="Equation.DSMT4">
                    <p:embed/>
                    <p:pic>
                      <p:nvPicPr>
                        <p:cNvPr id="0" name="图片 331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96" y="1987"/>
                          <a:ext cx="173" cy="25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5" name="Object 15"/>
            <p:cNvGraphicFramePr/>
            <p:nvPr/>
          </p:nvGraphicFramePr>
          <p:xfrm>
            <a:off x="3520" y="2032"/>
            <a:ext cx="21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4" r:id="rId10" imgW="133985" imgH="156210" progId="Equation.DSMT4">
                    <p:embed/>
                  </p:oleObj>
                </mc:Choice>
                <mc:Fallback>
                  <p:oleObj r:id="rId10" imgW="133985" imgH="156210" progId="Equation.DSMT4">
                    <p:embed/>
                    <p:pic>
                      <p:nvPicPr>
                        <p:cNvPr id="0" name="图片 3324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20" y="2032"/>
                          <a:ext cx="211" cy="22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6" name="Object 16"/>
            <p:cNvGraphicFramePr/>
            <p:nvPr/>
          </p:nvGraphicFramePr>
          <p:xfrm>
            <a:off x="4355" y="918"/>
            <a:ext cx="40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5" r:id="rId12" imgW="490855" imgH="234315" progId="Equation.DSMT4">
                    <p:embed/>
                  </p:oleObj>
                </mc:Choice>
                <mc:Fallback>
                  <p:oleObj r:id="rId12" imgW="490855" imgH="234315" progId="Equation.DSMT4">
                    <p:embed/>
                    <p:pic>
                      <p:nvPicPr>
                        <p:cNvPr id="0" name="图片 331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55" y="918"/>
                          <a:ext cx="403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7" name="Object 17"/>
            <p:cNvGraphicFramePr/>
            <p:nvPr/>
          </p:nvGraphicFramePr>
          <p:xfrm>
            <a:off x="3907" y="923"/>
            <a:ext cx="40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6" r:id="rId14" imgW="490855" imgH="234315" progId="Equation.DSMT4">
                    <p:embed/>
                  </p:oleObj>
                </mc:Choice>
                <mc:Fallback>
                  <p:oleObj r:id="rId14" imgW="490855" imgH="234315" progId="Equation.DSMT4">
                    <p:embed/>
                    <p:pic>
                      <p:nvPicPr>
                        <p:cNvPr id="0" name="图片 3322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07" y="923"/>
                          <a:ext cx="403" cy="20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8" name="Object 18"/>
            <p:cNvGraphicFramePr/>
            <p:nvPr/>
          </p:nvGraphicFramePr>
          <p:xfrm>
            <a:off x="4893" y="1354"/>
            <a:ext cx="493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7" r:id="rId16" imgW="535305" imgH="212090" progId="Equation.DSMT4">
                    <p:embed/>
                  </p:oleObj>
                </mc:Choice>
                <mc:Fallback>
                  <p:oleObj r:id="rId16" imgW="535305" imgH="212090" progId="Equation.DSMT4">
                    <p:embed/>
                    <p:pic>
                      <p:nvPicPr>
                        <p:cNvPr id="0" name="图片 3321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93" y="1354"/>
                          <a:ext cx="493" cy="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9" name="Rectangle 19"/>
            <p:cNvSpPr/>
            <p:nvPr/>
          </p:nvSpPr>
          <p:spPr>
            <a:xfrm>
              <a:off x="4332" y="1425"/>
              <a:ext cx="136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5486400" y="4114800"/>
            <a:ext cx="3328988" cy="2514600"/>
            <a:chOff x="3456" y="2592"/>
            <a:chExt cx="2097" cy="1584"/>
          </a:xfrm>
        </p:grpSpPr>
        <p:grpSp>
          <p:nvGrpSpPr>
            <p:cNvPr id="26637" name="Group 21"/>
            <p:cNvGrpSpPr/>
            <p:nvPr/>
          </p:nvGrpSpPr>
          <p:grpSpPr>
            <a:xfrm>
              <a:off x="3456" y="2592"/>
              <a:ext cx="2097" cy="1584"/>
              <a:chOff x="3456" y="2592"/>
              <a:chExt cx="2097" cy="1584"/>
            </a:xfrm>
          </p:grpSpPr>
          <p:grpSp>
            <p:nvGrpSpPr>
              <p:cNvPr id="26644" name="Group 22"/>
              <p:cNvGrpSpPr/>
              <p:nvPr/>
            </p:nvGrpSpPr>
            <p:grpSpPr>
              <a:xfrm>
                <a:off x="3456" y="2592"/>
                <a:ext cx="2097" cy="1584"/>
                <a:chOff x="432" y="816"/>
                <a:chExt cx="2256" cy="1564"/>
              </a:xfrm>
            </p:grpSpPr>
            <p:pic>
              <p:nvPicPr>
                <p:cNvPr id="26649" name="Picture 23" descr="44"/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2" y="816"/>
                  <a:ext cx="2256" cy="156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6650" name="Rectangle 24"/>
                <p:cNvSpPr/>
                <p:nvPr/>
              </p:nvSpPr>
              <p:spPr>
                <a:xfrm>
                  <a:off x="432" y="816"/>
                  <a:ext cx="2256" cy="153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graphicFrame>
            <p:nvGraphicFramePr>
              <p:cNvPr id="26645" name="Object 25"/>
              <p:cNvGraphicFramePr/>
              <p:nvPr/>
            </p:nvGraphicFramePr>
            <p:xfrm>
              <a:off x="5021" y="3629"/>
              <a:ext cx="483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88" r:id="rId19" imgW="535305" imgH="212090" progId="Equation.DSMT4">
                      <p:embed/>
                    </p:oleObj>
                  </mc:Choice>
                  <mc:Fallback>
                    <p:oleObj r:id="rId19" imgW="535305" imgH="212090" progId="Equation.DSMT4">
                      <p:embed/>
                      <p:pic>
                        <p:nvPicPr>
                          <p:cNvPr id="0" name="图片 3317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FF33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021" y="3629"/>
                            <a:ext cx="483" cy="238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46" name="Object 26"/>
              <p:cNvGraphicFramePr/>
              <p:nvPr/>
            </p:nvGraphicFramePr>
            <p:xfrm>
              <a:off x="3967" y="2827"/>
              <a:ext cx="423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89" r:id="rId21" imgW="490855" imgH="234315" progId="Equation.DSMT4">
                      <p:embed/>
                    </p:oleObj>
                  </mc:Choice>
                  <mc:Fallback>
                    <p:oleObj r:id="rId21" imgW="490855" imgH="234315" progId="Equation.DSMT4">
                      <p:embed/>
                      <p:pic>
                        <p:nvPicPr>
                          <p:cNvPr id="0" name="图片 3323"/>
                          <p:cNvPicPr/>
                          <p:nvPr/>
                        </p:nvPicPr>
                        <p:blipFill>
                          <a:blip r:embed="rId22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67" y="2827"/>
                            <a:ext cx="423" cy="224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8299" name="Text Box 27"/>
              <p:cNvSpPr txBox="1">
                <a:spLocks noChangeArrowheads="1"/>
              </p:cNvSpPr>
              <p:nvPr/>
            </p:nvSpPr>
            <p:spPr bwMode="auto">
              <a:xfrm>
                <a:off x="4001" y="3316"/>
                <a:ext cx="232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0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A</a:t>
                </a:r>
              </a:p>
            </p:txBody>
          </p:sp>
          <p:sp>
            <p:nvSpPr>
              <p:cNvPr id="1078300" name="Text Box 28"/>
              <p:cNvSpPr txBox="1">
                <a:spLocks noChangeArrowheads="1"/>
              </p:cNvSpPr>
              <p:nvPr/>
            </p:nvSpPr>
            <p:spPr bwMode="auto">
              <a:xfrm>
                <a:off x="4549" y="3380"/>
                <a:ext cx="223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0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B</a:t>
                </a:r>
              </a:p>
            </p:txBody>
          </p:sp>
        </p:grpSp>
        <p:graphicFrame>
          <p:nvGraphicFramePr>
            <p:cNvPr id="26638" name="Object 29"/>
            <p:cNvGraphicFramePr/>
            <p:nvPr/>
          </p:nvGraphicFramePr>
          <p:xfrm>
            <a:off x="3727" y="2651"/>
            <a:ext cx="23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0" r:id="rId23" imgW="167005" imgH="189865" progId="Equation.DSMT4">
                    <p:embed/>
                  </p:oleObj>
                </mc:Choice>
                <mc:Fallback>
                  <p:oleObj r:id="rId23" imgW="167005" imgH="189865" progId="Equation.DSMT4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27" y="2651"/>
                          <a:ext cx="230" cy="2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9" name="Object 30"/>
            <p:cNvGraphicFramePr/>
            <p:nvPr/>
          </p:nvGraphicFramePr>
          <p:xfrm>
            <a:off x="3479" y="3879"/>
            <a:ext cx="191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1" r:id="rId25" imgW="133985" imgH="156210" progId="Equation.DSMT4">
                    <p:embed/>
                  </p:oleObj>
                </mc:Choice>
                <mc:Fallback>
                  <p:oleObj r:id="rId25" imgW="133985" imgH="156210" progId="Equation.DSMT4">
                    <p:embed/>
                    <p:pic>
                      <p:nvPicPr>
                        <p:cNvPr id="0" name="图片 3315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79" y="3879"/>
                          <a:ext cx="191" cy="2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0" name="Object 31"/>
            <p:cNvGraphicFramePr/>
            <p:nvPr/>
          </p:nvGraphicFramePr>
          <p:xfrm>
            <a:off x="5297" y="3862"/>
            <a:ext cx="221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2" r:id="rId27" imgW="167005" imgH="212090" progId="Equation.DSMT4">
                    <p:embed/>
                  </p:oleObj>
                </mc:Choice>
                <mc:Fallback>
                  <p:oleObj r:id="rId27" imgW="167005" imgH="212090" progId="Equation.DSMT4">
                    <p:embed/>
                    <p:pic>
                      <p:nvPicPr>
                        <p:cNvPr id="0" name="图片 3320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97" y="3862"/>
                          <a:ext cx="221" cy="25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1" name="Freeform 32"/>
            <p:cNvSpPr/>
            <p:nvPr/>
          </p:nvSpPr>
          <p:spPr>
            <a:xfrm>
              <a:off x="4428" y="3569"/>
              <a:ext cx="99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2" y="0"/>
                </a:cxn>
              </a:cxnLst>
              <a:rect l="0" t="0" r="0" b="0"/>
              <a:pathLst>
                <a:path w="107" h="1">
                  <a:moveTo>
                    <a:pt x="0" y="0"/>
                  </a:moveTo>
                  <a:cubicBezTo>
                    <a:pt x="36" y="0"/>
                    <a:pt x="71" y="0"/>
                    <a:pt x="107" y="0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Rectangle 33"/>
            <p:cNvSpPr/>
            <p:nvPr/>
          </p:nvSpPr>
          <p:spPr>
            <a:xfrm>
              <a:off x="4386" y="3548"/>
              <a:ext cx="91" cy="10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6643" name="Line 34"/>
            <p:cNvSpPr/>
            <p:nvPr/>
          </p:nvSpPr>
          <p:spPr>
            <a:xfrm>
              <a:off x="4368" y="3475"/>
              <a:ext cx="136" cy="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78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78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78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78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78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8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07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275" grpId="0"/>
      <p:bldP spid="1078276" grpId="0"/>
      <p:bldP spid="1078277" grpId="0"/>
      <p:bldP spid="1078278" grpId="0"/>
      <p:bldP spid="1078280" grpId="0"/>
      <p:bldP spid="107828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211888"/>
            <a:ext cx="1905000" cy="457200"/>
          </a:xfrm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19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4645025" y="781050"/>
            <a:ext cx="4427538" cy="2560638"/>
            <a:chOff x="2971" y="1580"/>
            <a:chExt cx="2585" cy="2112"/>
          </a:xfrm>
        </p:grpSpPr>
        <p:sp>
          <p:nvSpPr>
            <p:cNvPr id="1079299" name="Text Box 3"/>
            <p:cNvSpPr txBox="1">
              <a:spLocks noChangeArrowheads="1"/>
            </p:cNvSpPr>
            <p:nvPr/>
          </p:nvSpPr>
          <p:spPr bwMode="auto">
            <a:xfrm>
              <a:off x="3102" y="1729"/>
              <a:ext cx="2401" cy="18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）在相同的高低温热源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之间工作的一切</a:t>
              </a:r>
              <a:r>
                <a:rPr kumimoji="1" lang="zh-CN" altLang="en-US" sz="2800" kern="1200" cap="none" spc="0" normalizeH="0" baseline="0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不可逆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热机的效率，不可能高于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实际上是小于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可逆机的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效率。</a:t>
              </a:r>
            </a:p>
          </p:txBody>
        </p:sp>
        <p:sp>
          <p:nvSpPr>
            <p:cNvPr id="27667" name="Rectangle 4"/>
            <p:cNvSpPr/>
            <p:nvPr/>
          </p:nvSpPr>
          <p:spPr>
            <a:xfrm>
              <a:off x="2971" y="1580"/>
              <a:ext cx="2585" cy="2112"/>
            </a:xfrm>
            <a:prstGeom prst="rect">
              <a:avLst/>
            </a:prstGeom>
            <a:noFill/>
            <a:ln w="76200" cap="flat" cmpd="tri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79301" name="Text Box 5"/>
          <p:cNvSpPr txBox="1">
            <a:spLocks noChangeArrowheads="1"/>
          </p:cNvSpPr>
          <p:nvPr/>
        </p:nvSpPr>
        <p:spPr bwMode="auto">
          <a:xfrm>
            <a:off x="252413" y="115888"/>
            <a:ext cx="56880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二、卡诺定理 </a:t>
            </a:r>
            <a:r>
              <a:rPr kumimoji="1" lang="en-US" altLang="zh-CN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Cornot</a:t>
            </a:r>
            <a:endParaRPr kumimoji="1" lang="zh-CN" altLang="en-US" sz="3200" kern="1200" cap="none" spc="0" normalizeH="0" baseline="0" noProof="0" dirty="0">
              <a:solidFill>
                <a:srgbClr val="FF5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179388" y="765175"/>
            <a:ext cx="4408487" cy="2560638"/>
            <a:chOff x="157" y="628"/>
            <a:chExt cx="2722" cy="1840"/>
          </a:xfrm>
        </p:grpSpPr>
        <p:sp>
          <p:nvSpPr>
            <p:cNvPr id="1079303" name="Text Box 7"/>
            <p:cNvSpPr txBox="1">
              <a:spLocks noChangeArrowheads="1"/>
            </p:cNvSpPr>
            <p:nvPr/>
          </p:nvSpPr>
          <p:spPr bwMode="auto">
            <a:xfrm>
              <a:off x="166" y="775"/>
              <a:ext cx="2703" cy="161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）在相同高温热源（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  <a:r>
                <a:rPr kumimoji="1" lang="en-US" altLang="zh-CN" sz="2800" kern="1200" cap="none" spc="0" normalizeH="0" baseline="-2500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和低温热源（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  <a:r>
                <a:rPr kumimoji="1" lang="en-US" altLang="zh-CN" sz="2800" kern="1200" cap="none" spc="0" normalizeH="0" baseline="-2500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）之间</a:t>
              </a:r>
            </a:p>
            <a:p>
              <a:pPr eaLnBrk="1" hangingPunct="1"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工作的一切</a:t>
              </a:r>
              <a:r>
                <a:rPr kumimoji="1" lang="zh-CN" altLang="en-US" sz="2800" kern="1200" cap="none" spc="0" normalizeH="0" baseline="0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</a:t>
              </a:r>
              <a:r>
                <a:rPr kumimoji="1" lang="zh-CN" alt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热机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，其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效率都等于卡诺热机效率，与工作物质无关 。</a:t>
              </a:r>
            </a:p>
          </p:txBody>
        </p:sp>
        <p:sp>
          <p:nvSpPr>
            <p:cNvPr id="27665" name="Rectangle 8"/>
            <p:cNvSpPr/>
            <p:nvPr/>
          </p:nvSpPr>
          <p:spPr>
            <a:xfrm>
              <a:off x="157" y="628"/>
              <a:ext cx="2722" cy="1840"/>
            </a:xfrm>
            <a:prstGeom prst="rect">
              <a:avLst/>
            </a:prstGeom>
            <a:noFill/>
            <a:ln w="76200" cap="flat" cmpd="tri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79305" name="Rectangle 9"/>
          <p:cNvSpPr>
            <a:spLocks noChangeArrowheads="1"/>
          </p:cNvSpPr>
          <p:nvPr/>
        </p:nvSpPr>
        <p:spPr bwMode="auto">
          <a:xfrm>
            <a:off x="1590675" y="4533900"/>
            <a:ext cx="48244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(1)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热源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温度均匀的恒温热源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0" y="3989388"/>
            <a:ext cx="1365250" cy="1028700"/>
            <a:chOff x="204" y="2568"/>
            <a:chExt cx="771" cy="624"/>
          </a:xfrm>
        </p:grpSpPr>
        <p:sp>
          <p:nvSpPr>
            <p:cNvPr id="27662" name="AutoShape 11"/>
            <p:cNvSpPr/>
            <p:nvPr/>
          </p:nvSpPr>
          <p:spPr>
            <a:xfrm>
              <a:off x="204" y="2568"/>
              <a:ext cx="771" cy="624"/>
            </a:xfrm>
            <a:prstGeom prst="irregularSeal1">
              <a:avLst/>
            </a:prstGeom>
            <a:solidFill>
              <a:srgbClr val="009E9A"/>
            </a:solidFill>
            <a:ln w="9525" cap="flat" cmpd="sng">
              <a:solidFill>
                <a:srgbClr val="FFCCFF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endParaRPr lang="zh-CN" altLang="zh-CN" sz="2800" b="1" dirty="0">
                <a:ea typeface="楷体_GB2312" panose="02010609030101010101" pitchFamily="49" charset="-122"/>
              </a:endParaRPr>
            </a:p>
          </p:txBody>
        </p:sp>
        <p:sp>
          <p:nvSpPr>
            <p:cNvPr id="27663" name="Text Box 12"/>
            <p:cNvSpPr txBox="1"/>
            <p:nvPr/>
          </p:nvSpPr>
          <p:spPr>
            <a:xfrm>
              <a:off x="385" y="2736"/>
              <a:ext cx="408" cy="259"/>
            </a:xfrm>
            <a:prstGeom prst="rect">
              <a:avLst/>
            </a:prstGeom>
            <a:solidFill>
              <a:srgbClr val="009E9A"/>
            </a:solidFill>
            <a:ln w="9525">
              <a:noFill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ea typeface="楷体_GB2312" panose="02010609030101010101" pitchFamily="49" charset="-122"/>
                </a:rPr>
                <a:t>说明</a:t>
              </a:r>
            </a:p>
          </p:txBody>
        </p:sp>
      </p:grpSp>
      <p:sp>
        <p:nvSpPr>
          <p:cNvPr id="1079310" name="Rectangle 14"/>
          <p:cNvSpPr>
            <a:spLocks noChangeArrowheads="1"/>
          </p:cNvSpPr>
          <p:nvPr/>
        </p:nvSpPr>
        <p:spPr bwMode="auto">
          <a:xfrm>
            <a:off x="1547813" y="5013325"/>
            <a:ext cx="70564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(2)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诺热机的效率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是一切热机效率的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最高极限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1079311" name="Object 15"/>
          <p:cNvGraphicFramePr/>
          <p:nvPr/>
        </p:nvGraphicFramePr>
        <p:xfrm>
          <a:off x="1835150" y="3421063"/>
          <a:ext cx="14398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r:id="rId3" imgW="814070" imgH="557530" progId="Equation.3">
                  <p:embed/>
                </p:oleObj>
              </mc:Choice>
              <mc:Fallback>
                <p:oleObj r:id="rId3" imgW="814070" imgH="557530" progId="Equation.3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3421063"/>
                        <a:ext cx="1439863" cy="10001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CC"/>
                          </a:gs>
                          <a:gs pos="50000">
                            <a:srgbClr val="FFFFFF"/>
                          </a:gs>
                          <a:gs pos="100000">
                            <a:srgbClr val="CCFFCC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6"/>
          <p:cNvGrpSpPr/>
          <p:nvPr/>
        </p:nvGrpSpPr>
        <p:grpSpPr>
          <a:xfrm>
            <a:off x="3492500" y="3341688"/>
            <a:ext cx="3384550" cy="1008062"/>
            <a:chOff x="2200" y="2251"/>
            <a:chExt cx="2132" cy="635"/>
          </a:xfrm>
        </p:grpSpPr>
        <p:sp>
          <p:nvSpPr>
            <p:cNvPr id="1079313" name="Text Box 17"/>
            <p:cNvSpPr txBox="1">
              <a:spLocks noChangeArrowheads="1"/>
            </p:cNvSpPr>
            <p:nvPr/>
          </p:nvSpPr>
          <p:spPr bwMode="auto">
            <a:xfrm>
              <a:off x="2338" y="2251"/>
              <a:ext cx="1994" cy="6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= :  </a:t>
              </a: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对应可逆机</a:t>
              </a:r>
            </a:p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&lt; : </a:t>
              </a: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对应不可逆机 </a:t>
              </a:r>
            </a:p>
          </p:txBody>
        </p:sp>
        <p:sp>
          <p:nvSpPr>
            <p:cNvPr id="27661" name="AutoShape 18"/>
            <p:cNvSpPr/>
            <p:nvPr/>
          </p:nvSpPr>
          <p:spPr>
            <a:xfrm>
              <a:off x="2200" y="2310"/>
              <a:ext cx="144" cy="576"/>
            </a:xfrm>
            <a:prstGeom prst="leftBrace">
              <a:avLst>
                <a:gd name="adj1" fmla="val 33185"/>
                <a:gd name="adj2" fmla="val 50000"/>
              </a:avLst>
            </a:prstGeom>
            <a:noFill/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79315" name="Text Box 19"/>
          <p:cNvSpPr txBox="1">
            <a:spLocks noChangeArrowheads="1"/>
          </p:cNvSpPr>
          <p:nvPr/>
        </p:nvSpPr>
        <p:spPr bwMode="auto">
          <a:xfrm>
            <a:off x="228600" y="5661025"/>
            <a:ext cx="8915400" cy="730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意义：</a:t>
            </a:r>
            <a:r>
              <a:rPr kumimoji="1" lang="zh-CN" altLang="en-US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指明提高热机效率的</a:t>
            </a:r>
            <a:r>
              <a:rPr kumimoji="1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途径</a:t>
            </a:r>
            <a:r>
              <a:rPr kumimoji="1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1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减少摩擦、泄漏、能量损耗，使之接近可逆过程</a:t>
            </a:r>
            <a:r>
              <a:rPr kumimoji="1" lang="zh-CN" altLang="en-US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7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9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79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7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9305" grpId="0"/>
      <p:bldP spid="1079310" grpId="0"/>
      <p:bldP spid="107931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20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79388" y="3860800"/>
            <a:ext cx="1008062" cy="800100"/>
            <a:chOff x="384" y="2544"/>
            <a:chExt cx="720" cy="432"/>
          </a:xfrm>
        </p:grpSpPr>
        <p:sp>
          <p:nvSpPr>
            <p:cNvPr id="28736" name="AutoShape 3" descr="球体"/>
            <p:cNvSpPr/>
            <p:nvPr/>
          </p:nvSpPr>
          <p:spPr>
            <a:xfrm>
              <a:off x="768" y="2640"/>
              <a:ext cx="336" cy="336"/>
            </a:xfrm>
            <a:prstGeom prst="downArrow">
              <a:avLst>
                <a:gd name="adj1" fmla="val 50000"/>
                <a:gd name="adj2" fmla="val 25000"/>
              </a:avLst>
            </a:prstGeom>
            <a:blipFill rotWithShape="0">
              <a:blip r:embed="rId3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737" name="Text Box 4"/>
            <p:cNvSpPr txBox="1"/>
            <p:nvPr/>
          </p:nvSpPr>
          <p:spPr>
            <a:xfrm>
              <a:off x="384" y="2544"/>
              <a:ext cx="533" cy="31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Q’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2195513" y="3992563"/>
            <a:ext cx="1152525" cy="617537"/>
            <a:chOff x="2016" y="2592"/>
            <a:chExt cx="592" cy="336"/>
          </a:xfrm>
        </p:grpSpPr>
        <p:sp>
          <p:nvSpPr>
            <p:cNvPr id="28734" name="AutoShape 6" descr="球体"/>
            <p:cNvSpPr/>
            <p:nvPr/>
          </p:nvSpPr>
          <p:spPr>
            <a:xfrm>
              <a:off x="2016" y="2592"/>
              <a:ext cx="288" cy="336"/>
            </a:xfrm>
            <a:prstGeom prst="upArrow">
              <a:avLst>
                <a:gd name="adj1" fmla="val 50000"/>
                <a:gd name="adj2" fmla="val 29123"/>
              </a:avLst>
            </a:prstGeom>
            <a:blipFill rotWithShape="0">
              <a:blip r:embed="rId4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735" name="Text Box 7"/>
            <p:cNvSpPr txBox="1"/>
            <p:nvPr/>
          </p:nvSpPr>
          <p:spPr>
            <a:xfrm>
              <a:off x="2294" y="2604"/>
              <a:ext cx="314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8"/>
          <p:cNvGrpSpPr/>
          <p:nvPr/>
        </p:nvGrpSpPr>
        <p:grpSpPr>
          <a:xfrm>
            <a:off x="244475" y="3381375"/>
            <a:ext cx="2959100" cy="3432175"/>
            <a:chOff x="154" y="2130"/>
            <a:chExt cx="1864" cy="2162"/>
          </a:xfrm>
        </p:grpSpPr>
        <p:sp>
          <p:nvSpPr>
            <p:cNvPr id="28730" name="Oval 9"/>
            <p:cNvSpPr/>
            <p:nvPr/>
          </p:nvSpPr>
          <p:spPr>
            <a:xfrm>
              <a:off x="305" y="2989"/>
              <a:ext cx="486" cy="486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990033"/>
                  </a:solidFill>
                  <a:ea typeface="仿宋_GB2312" panose="02010609030101010101" pitchFamily="49" charset="-122"/>
                </a:rPr>
                <a:t>E’</a:t>
              </a:r>
              <a:r>
                <a:rPr lang="en-US" altLang="zh-CN" sz="2800" b="1" dirty="0">
                  <a:solidFill>
                    <a:srgbClr val="990033"/>
                  </a:solidFill>
                  <a:latin typeface="仿宋_GB2312" panose="02010609030101010101" pitchFamily="49" charset="-122"/>
                  <a:ea typeface="仿宋_GB2312" panose="02010609030101010101" pitchFamily="49" charset="-122"/>
                </a:rPr>
                <a:t> </a:t>
              </a:r>
            </a:p>
          </p:txBody>
        </p:sp>
        <p:sp>
          <p:nvSpPr>
            <p:cNvPr id="28731" name="Rectangle 10"/>
            <p:cNvSpPr/>
            <p:nvPr/>
          </p:nvSpPr>
          <p:spPr>
            <a:xfrm>
              <a:off x="159" y="2130"/>
              <a:ext cx="1859" cy="384"/>
            </a:xfrm>
            <a:prstGeom prst="rect">
              <a:avLst/>
            </a:prstGeom>
            <a:gradFill rotWithShape="1">
              <a:gsLst>
                <a:gs pos="0">
                  <a:srgbClr val="FF330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990033"/>
                  </a:solidFill>
                </a:rPr>
                <a:t> </a:t>
              </a:r>
              <a:r>
                <a:rPr lang="zh-CN" altLang="en-US" sz="2800" b="1" dirty="0">
                  <a:solidFill>
                    <a:srgbClr val="990033"/>
                  </a:solidFill>
                </a:rPr>
                <a:t>高温热源（</a:t>
              </a:r>
              <a:r>
                <a:rPr lang="en-US" altLang="zh-CN" sz="2800" b="1" dirty="0">
                  <a:solidFill>
                    <a:srgbClr val="990033"/>
                  </a:solidFill>
                </a:rPr>
                <a:t>T</a:t>
              </a:r>
              <a:r>
                <a:rPr lang="en-US" altLang="zh-CN" sz="2800" b="1" baseline="-25000" dirty="0">
                  <a:solidFill>
                    <a:srgbClr val="990033"/>
                  </a:solidFill>
                </a:rPr>
                <a:t>1</a:t>
              </a:r>
              <a:r>
                <a:rPr lang="zh-CN" altLang="en-US" sz="2800" b="1" dirty="0">
                  <a:solidFill>
                    <a:srgbClr val="990033"/>
                  </a:solidFill>
                </a:rPr>
                <a:t>）</a:t>
              </a:r>
            </a:p>
          </p:txBody>
        </p:sp>
        <p:sp>
          <p:nvSpPr>
            <p:cNvPr id="28732" name="Rectangle 11"/>
            <p:cNvSpPr/>
            <p:nvPr/>
          </p:nvSpPr>
          <p:spPr>
            <a:xfrm>
              <a:off x="154" y="3908"/>
              <a:ext cx="1801" cy="384"/>
            </a:xfrm>
            <a:prstGeom prst="rect">
              <a:avLst/>
            </a:prstGeom>
            <a:gradFill rotWithShape="1">
              <a:gsLst>
                <a:gs pos="0">
                  <a:srgbClr val="00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99"/>
                  </a:solidFill>
                </a:rPr>
                <a:t> </a:t>
              </a:r>
              <a:r>
                <a:rPr lang="zh-CN" altLang="en-US" sz="2800" b="1" dirty="0">
                  <a:solidFill>
                    <a:srgbClr val="000099"/>
                  </a:solidFill>
                </a:rPr>
                <a:t>低温热源（</a:t>
              </a:r>
              <a:r>
                <a:rPr lang="en-US" altLang="zh-CN" sz="2800" b="1" dirty="0">
                  <a:solidFill>
                    <a:srgbClr val="000099"/>
                  </a:solidFill>
                </a:rPr>
                <a:t>T</a:t>
              </a:r>
              <a:r>
                <a:rPr lang="en-US" altLang="zh-CN" sz="2800" b="1" baseline="-25000" dirty="0">
                  <a:solidFill>
                    <a:srgbClr val="000099"/>
                  </a:solidFill>
                </a:rPr>
                <a:t>2</a:t>
              </a:r>
              <a:r>
                <a:rPr lang="zh-CN" altLang="en-US" sz="2800" b="1" dirty="0">
                  <a:solidFill>
                    <a:srgbClr val="000099"/>
                  </a:solidFill>
                </a:rPr>
                <a:t>）</a:t>
              </a:r>
            </a:p>
          </p:txBody>
        </p:sp>
        <p:sp>
          <p:nvSpPr>
            <p:cNvPr id="28733" name="Oval 12"/>
            <p:cNvSpPr/>
            <p:nvPr/>
          </p:nvSpPr>
          <p:spPr>
            <a:xfrm>
              <a:off x="1292" y="2989"/>
              <a:ext cx="498" cy="486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990033"/>
                  </a:solidFill>
                  <a:ea typeface="仿宋_GB2312" panose="02010609030101010101" pitchFamily="49" charset="-122"/>
                </a:rPr>
                <a:t>E</a:t>
              </a:r>
            </a:p>
          </p:txBody>
        </p:sp>
      </p:grpSp>
      <p:grpSp>
        <p:nvGrpSpPr>
          <p:cNvPr id="5" name="Group 13"/>
          <p:cNvGrpSpPr/>
          <p:nvPr/>
        </p:nvGrpSpPr>
        <p:grpSpPr>
          <a:xfrm>
            <a:off x="2317750" y="5573713"/>
            <a:ext cx="958850" cy="609600"/>
            <a:chOff x="2016" y="3552"/>
            <a:chExt cx="765" cy="384"/>
          </a:xfrm>
        </p:grpSpPr>
        <p:sp>
          <p:nvSpPr>
            <p:cNvPr id="28728" name="AutoShape 14" descr="球体"/>
            <p:cNvSpPr/>
            <p:nvPr/>
          </p:nvSpPr>
          <p:spPr>
            <a:xfrm>
              <a:off x="2016" y="3552"/>
              <a:ext cx="288" cy="384"/>
            </a:xfrm>
            <a:prstGeom prst="upArrow">
              <a:avLst>
                <a:gd name="adj1" fmla="val 50000"/>
                <a:gd name="adj2" fmla="val 33283"/>
              </a:avLst>
            </a:prstGeom>
            <a:blipFill rotWithShape="0">
              <a:blip r:embed="rId4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729" name="Text Box 15"/>
            <p:cNvSpPr txBox="1"/>
            <p:nvPr/>
          </p:nvSpPr>
          <p:spPr>
            <a:xfrm>
              <a:off x="2293" y="3552"/>
              <a:ext cx="4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2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080336" name="Text Box 16"/>
          <p:cNvSpPr txBox="1"/>
          <p:nvPr/>
        </p:nvSpPr>
        <p:spPr>
          <a:xfrm>
            <a:off x="1693863" y="4513263"/>
            <a:ext cx="45561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080337" name="AutoShape 17" descr="球体"/>
          <p:cNvSpPr/>
          <p:nvPr/>
        </p:nvSpPr>
        <p:spPr>
          <a:xfrm>
            <a:off x="1187450" y="4948238"/>
            <a:ext cx="720725" cy="465137"/>
          </a:xfrm>
          <a:prstGeom prst="rightArrow">
            <a:avLst>
              <a:gd name="adj1" fmla="val 50000"/>
              <a:gd name="adj2" fmla="val 38679"/>
            </a:avLst>
          </a:prstGeom>
          <a:blipFill rotWithShape="0">
            <a:blip r:embed="rId3"/>
          </a:blip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6" name="Group 18"/>
          <p:cNvGrpSpPr/>
          <p:nvPr/>
        </p:nvGrpSpPr>
        <p:grpSpPr>
          <a:xfrm>
            <a:off x="107950" y="5524500"/>
            <a:ext cx="1084263" cy="685800"/>
            <a:chOff x="68" y="3480"/>
            <a:chExt cx="683" cy="432"/>
          </a:xfrm>
        </p:grpSpPr>
        <p:sp>
          <p:nvSpPr>
            <p:cNvPr id="1080339" name="Text Box 19" descr="球体"/>
            <p:cNvSpPr txBox="1">
              <a:spLocks noChangeArrowheads="1"/>
            </p:cNvSpPr>
            <p:nvPr/>
          </p:nvSpPr>
          <p:spPr bwMode="auto">
            <a:xfrm>
              <a:off x="68" y="3480"/>
              <a:ext cx="47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Q’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7" name="AutoShape 20" descr="球体"/>
            <p:cNvSpPr/>
            <p:nvPr/>
          </p:nvSpPr>
          <p:spPr>
            <a:xfrm>
              <a:off x="478" y="3528"/>
              <a:ext cx="273" cy="384"/>
            </a:xfrm>
            <a:prstGeom prst="downArrow">
              <a:avLst>
                <a:gd name="adj1" fmla="val 50000"/>
                <a:gd name="adj2" fmla="val 35112"/>
              </a:avLst>
            </a:prstGeom>
            <a:blipFill rotWithShape="0">
              <a:blip r:embed="rId4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7" name="Group 21"/>
          <p:cNvGrpSpPr/>
          <p:nvPr/>
        </p:nvGrpSpPr>
        <p:grpSpPr>
          <a:xfrm>
            <a:off x="3673475" y="4005263"/>
            <a:ext cx="3097213" cy="2663825"/>
            <a:chOff x="158" y="3430"/>
            <a:chExt cx="1951" cy="1678"/>
          </a:xfrm>
        </p:grpSpPr>
        <p:sp>
          <p:nvSpPr>
            <p:cNvPr id="28719" name="Rectangle 22"/>
            <p:cNvSpPr/>
            <p:nvPr/>
          </p:nvSpPr>
          <p:spPr>
            <a:xfrm>
              <a:off x="158" y="3430"/>
              <a:ext cx="1860" cy="384"/>
            </a:xfrm>
            <a:prstGeom prst="rect">
              <a:avLst/>
            </a:prstGeom>
            <a:gradFill rotWithShape="1">
              <a:gsLst>
                <a:gs pos="0">
                  <a:srgbClr val="FF330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990033"/>
                  </a:solidFill>
                </a:rPr>
                <a:t> </a:t>
              </a:r>
              <a:r>
                <a:rPr lang="zh-CN" altLang="en-US" sz="2800" b="1" dirty="0">
                  <a:solidFill>
                    <a:srgbClr val="990033"/>
                  </a:solidFill>
                </a:rPr>
                <a:t>高温热源（</a:t>
              </a:r>
              <a:r>
                <a:rPr lang="en-US" altLang="zh-CN" sz="2800" b="1" dirty="0">
                  <a:solidFill>
                    <a:srgbClr val="990033"/>
                  </a:solidFill>
                </a:rPr>
                <a:t>T</a:t>
              </a:r>
              <a:r>
                <a:rPr lang="en-US" altLang="zh-CN" sz="2800" b="1" baseline="-25000" dirty="0">
                  <a:solidFill>
                    <a:srgbClr val="990033"/>
                  </a:solidFill>
                </a:rPr>
                <a:t>1</a:t>
              </a:r>
              <a:r>
                <a:rPr lang="zh-CN" altLang="en-US" sz="2800" b="1" dirty="0">
                  <a:solidFill>
                    <a:srgbClr val="990033"/>
                  </a:solidFill>
                </a:rPr>
                <a:t>）</a:t>
              </a:r>
            </a:p>
          </p:txBody>
        </p:sp>
        <p:sp>
          <p:nvSpPr>
            <p:cNvPr id="28720" name="Rectangle 23"/>
            <p:cNvSpPr/>
            <p:nvPr/>
          </p:nvSpPr>
          <p:spPr>
            <a:xfrm>
              <a:off x="180" y="4724"/>
              <a:ext cx="1929" cy="384"/>
            </a:xfrm>
            <a:prstGeom prst="rect">
              <a:avLst/>
            </a:prstGeom>
            <a:gradFill rotWithShape="1">
              <a:gsLst>
                <a:gs pos="0">
                  <a:srgbClr val="00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 </a:t>
              </a:r>
              <a:r>
                <a:rPr lang="zh-CN" altLang="en-US" sz="2800" b="1" dirty="0"/>
                <a:t>低温热源（</a:t>
              </a:r>
              <a:r>
                <a:rPr lang="en-US" altLang="zh-CN" sz="2800" b="1" dirty="0"/>
                <a:t>T</a:t>
              </a:r>
              <a:r>
                <a:rPr lang="en-US" altLang="zh-CN" sz="2800" b="1" baseline="-25000" dirty="0"/>
                <a:t>2</a:t>
              </a:r>
              <a:r>
                <a:rPr lang="zh-CN" altLang="en-US" sz="2800" b="1" dirty="0"/>
                <a:t>）</a:t>
              </a:r>
            </a:p>
          </p:txBody>
        </p:sp>
        <p:grpSp>
          <p:nvGrpSpPr>
            <p:cNvPr id="28721" name="Group 24"/>
            <p:cNvGrpSpPr/>
            <p:nvPr/>
          </p:nvGrpSpPr>
          <p:grpSpPr>
            <a:xfrm>
              <a:off x="793" y="3793"/>
              <a:ext cx="1078" cy="964"/>
              <a:chOff x="4180" y="2478"/>
              <a:chExt cx="1225" cy="1397"/>
            </a:xfrm>
          </p:grpSpPr>
          <p:grpSp>
            <p:nvGrpSpPr>
              <p:cNvPr id="28722" name="Group 25"/>
              <p:cNvGrpSpPr/>
              <p:nvPr/>
            </p:nvGrpSpPr>
            <p:grpSpPr>
              <a:xfrm>
                <a:off x="4468" y="2568"/>
                <a:ext cx="937" cy="1307"/>
                <a:chOff x="4422" y="2575"/>
                <a:chExt cx="937" cy="1307"/>
              </a:xfrm>
            </p:grpSpPr>
            <p:sp>
              <p:nvSpPr>
                <p:cNvPr id="1080346" name="Text Box 26" descr="球体"/>
                <p:cNvSpPr txBox="1">
                  <a:spLocks noChangeArrowheads="1"/>
                </p:cNvSpPr>
                <p:nvPr/>
              </p:nvSpPr>
              <p:spPr bwMode="auto">
                <a:xfrm>
                  <a:off x="4417" y="3353"/>
                  <a:ext cx="938" cy="5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3200" i="1" kern="1200" cap="none" spc="0" normalizeH="0" baseline="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3200" i="1" kern="1200" cap="none" spc="0" normalizeH="0" baseline="-2500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r>
                    <a:rPr kumimoji="1" lang="en-US" altLang="zh-CN" sz="3200" i="1" kern="1200" cap="none" spc="0" normalizeH="0" baseline="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-Q’</a:t>
                  </a:r>
                  <a:r>
                    <a:rPr kumimoji="1" lang="en-US" altLang="zh-CN" sz="3200" i="1" kern="1200" cap="none" spc="0" normalizeH="0" baseline="-2500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80347" name="Text Box 27" descr="球体"/>
                <p:cNvSpPr txBox="1">
                  <a:spLocks noChangeArrowheads="1"/>
                </p:cNvSpPr>
                <p:nvPr/>
              </p:nvSpPr>
              <p:spPr bwMode="auto">
                <a:xfrm>
                  <a:off x="4417" y="2575"/>
                  <a:ext cx="942" cy="5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3200" i="1" kern="1200" cap="none" spc="0" normalizeH="0" baseline="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1" lang="en-US" altLang="zh-CN" sz="3200" i="1" kern="1200" cap="none" spc="0" normalizeH="0" baseline="-2500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r>
                    <a:rPr kumimoji="1" lang="en-US" altLang="zh-CN" sz="3200" i="1" kern="1200" cap="none" spc="0" normalizeH="0" baseline="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-Q’</a:t>
                  </a:r>
                  <a:r>
                    <a:rPr kumimoji="1" lang="en-US" altLang="zh-CN" sz="3200" i="1" kern="1200" cap="none" spc="0" normalizeH="0" baseline="-2500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28723" name="AutoShape 28" descr="球体"/>
              <p:cNvSpPr/>
              <p:nvPr/>
            </p:nvSpPr>
            <p:spPr>
              <a:xfrm>
                <a:off x="4180" y="2478"/>
                <a:ext cx="288" cy="1315"/>
              </a:xfrm>
              <a:prstGeom prst="upArrow">
                <a:avLst>
                  <a:gd name="adj1" fmla="val 50000"/>
                  <a:gd name="adj2" fmla="val 113980"/>
                </a:avLst>
              </a:prstGeom>
              <a:blipFill rotWithShape="0">
                <a:blip r:embed="rId4"/>
              </a:blipFill>
              <a:ln w="19050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sp>
        <p:nvSpPr>
          <p:cNvPr id="1080349" name="Line 29"/>
          <p:cNvSpPr/>
          <p:nvPr/>
        </p:nvSpPr>
        <p:spPr>
          <a:xfrm flipH="1" flipV="1">
            <a:off x="2768600" y="4892675"/>
            <a:ext cx="61913" cy="215900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80350" name="Line 30"/>
          <p:cNvSpPr/>
          <p:nvPr/>
        </p:nvSpPr>
        <p:spPr>
          <a:xfrm>
            <a:off x="1128713" y="4868863"/>
            <a:ext cx="109537" cy="168275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80351" name="Rectangle 31"/>
          <p:cNvSpPr/>
          <p:nvPr/>
        </p:nvSpPr>
        <p:spPr>
          <a:xfrm>
            <a:off x="366713" y="4676775"/>
            <a:ext cx="2663825" cy="936625"/>
          </a:xfrm>
          <a:prstGeom prst="rect">
            <a:avLst/>
          </a:prstGeom>
          <a:noFill/>
          <a:ln w="38100" cap="flat" cmpd="sng">
            <a:solidFill>
              <a:srgbClr val="0099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80352" name="Text Box 32"/>
          <p:cNvSpPr txBox="1">
            <a:spLocks noChangeArrowheads="1"/>
          </p:cNvSpPr>
          <p:nvPr/>
        </p:nvSpPr>
        <p:spPr bwMode="auto">
          <a:xfrm>
            <a:off x="115888" y="15875"/>
            <a:ext cx="3041650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卡诺定理的证明：</a:t>
            </a:r>
          </a:p>
        </p:txBody>
      </p:sp>
      <p:sp>
        <p:nvSpPr>
          <p:cNvPr id="1080353" name="Text Box 33"/>
          <p:cNvSpPr txBox="1">
            <a:spLocks noChangeArrowheads="1"/>
          </p:cNvSpPr>
          <p:nvPr/>
        </p:nvSpPr>
        <p:spPr bwMode="auto">
          <a:xfrm>
            <a:off x="250825" y="549275"/>
            <a:ext cx="83534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1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）两卡诺可逆热机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和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’,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工作在相同的高低温热源之间</a:t>
            </a:r>
          </a:p>
        </p:txBody>
      </p:sp>
      <p:sp>
        <p:nvSpPr>
          <p:cNvPr id="1080354" name="Text Box 34"/>
          <p:cNvSpPr txBox="1">
            <a:spLocks noChangeArrowheads="1"/>
          </p:cNvSpPr>
          <p:nvPr/>
        </p:nvSpPr>
        <p:spPr bwMode="auto">
          <a:xfrm>
            <a:off x="3032125" y="30163"/>
            <a:ext cx="2260600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反证法</a:t>
            </a:r>
          </a:p>
        </p:txBody>
      </p:sp>
      <p:sp>
        <p:nvSpPr>
          <p:cNvPr id="1080355" name="Text Box 35"/>
          <p:cNvSpPr txBox="1">
            <a:spLocks noChangeArrowheads="1"/>
          </p:cNvSpPr>
          <p:nvPr/>
        </p:nvSpPr>
        <p:spPr bwMode="auto">
          <a:xfrm>
            <a:off x="682625" y="981075"/>
            <a:ext cx="4824413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调节使两热机做相同的功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A</a:t>
            </a:r>
          </a:p>
        </p:txBody>
      </p:sp>
      <p:sp>
        <p:nvSpPr>
          <p:cNvPr id="1080356" name="Text Box 36"/>
          <p:cNvSpPr txBox="1">
            <a:spLocks noChangeArrowheads="1"/>
          </p:cNvSpPr>
          <p:nvPr/>
        </p:nvSpPr>
        <p:spPr bwMode="auto">
          <a:xfrm>
            <a:off x="755650" y="1557338"/>
            <a:ext cx="107950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假设</a:t>
            </a:r>
          </a:p>
        </p:txBody>
      </p:sp>
      <p:graphicFrame>
        <p:nvGraphicFramePr>
          <p:cNvPr id="1080357" name="Object 37"/>
          <p:cNvGraphicFramePr/>
          <p:nvPr/>
        </p:nvGraphicFramePr>
        <p:xfrm>
          <a:off x="1692275" y="1484313"/>
          <a:ext cx="962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9" r:id="rId5" imgW="535305" imgH="278765" progId="Equation.DSMT4">
                  <p:embed/>
                </p:oleObj>
              </mc:Choice>
              <mc:Fallback>
                <p:oleObj r:id="rId5" imgW="535305" imgH="278765" progId="Equation.DSMT4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1484313"/>
                        <a:ext cx="9620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58" name="Object 38"/>
          <p:cNvGraphicFramePr/>
          <p:nvPr/>
        </p:nvGraphicFramePr>
        <p:xfrm>
          <a:off x="3595688" y="1355725"/>
          <a:ext cx="15525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0" r:id="rId7" imgW="1070610" imgH="557530" progId="Equation.DSMT4">
                  <p:embed/>
                </p:oleObj>
              </mc:Choice>
              <mc:Fallback>
                <p:oleObj r:id="rId7" imgW="1070610" imgH="557530" progId="Equation.DSMT4">
                  <p:embed/>
                  <p:pic>
                    <p:nvPicPr>
                      <p:cNvPr id="0" name="图片 33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95688" y="1355725"/>
                        <a:ext cx="1552575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59" name="Text Box 39"/>
          <p:cNvSpPr txBox="1">
            <a:spLocks noChangeArrowheads="1"/>
          </p:cNvSpPr>
          <p:nvPr/>
        </p:nvSpPr>
        <p:spPr bwMode="auto">
          <a:xfrm>
            <a:off x="5935663" y="1574800"/>
            <a:ext cx="7969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可得</a:t>
            </a:r>
          </a:p>
        </p:txBody>
      </p:sp>
      <p:graphicFrame>
        <p:nvGraphicFramePr>
          <p:cNvPr id="1080360" name="Object 40"/>
          <p:cNvGraphicFramePr/>
          <p:nvPr/>
        </p:nvGraphicFramePr>
        <p:xfrm>
          <a:off x="7254875" y="1563688"/>
          <a:ext cx="93186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" r:id="rId9" imgW="635635" imgH="290195" progId="Equation.DSMT4">
                  <p:embed/>
                </p:oleObj>
              </mc:Choice>
              <mc:Fallback>
                <p:oleObj r:id="rId9" imgW="635635" imgH="290195" progId="Equation.DSMT4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54875" y="1563688"/>
                        <a:ext cx="931863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61" name="Text Box 41"/>
          <p:cNvSpPr txBox="1">
            <a:spLocks noChangeArrowheads="1"/>
          </p:cNvSpPr>
          <p:nvPr/>
        </p:nvSpPr>
        <p:spPr bwMode="auto">
          <a:xfrm>
            <a:off x="792163" y="2279650"/>
            <a:ext cx="2789238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由于做功相同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,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且为</a:t>
            </a:r>
          </a:p>
        </p:txBody>
      </p:sp>
      <p:graphicFrame>
        <p:nvGraphicFramePr>
          <p:cNvPr id="1080362" name="Object 42"/>
          <p:cNvGraphicFramePr/>
          <p:nvPr/>
        </p:nvGraphicFramePr>
        <p:xfrm>
          <a:off x="3452813" y="2276475"/>
          <a:ext cx="26320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r:id="rId11" imgW="1817370" imgH="290195" progId="Equation.DSMT4">
                  <p:embed/>
                </p:oleObj>
              </mc:Choice>
              <mc:Fallback>
                <p:oleObj r:id="rId11" imgW="1817370" imgH="290195" progId="Equation.DSMT4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52813" y="2276475"/>
                        <a:ext cx="26320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63" name="Text Box 43"/>
          <p:cNvSpPr txBox="1">
            <a:spLocks noChangeArrowheads="1"/>
          </p:cNvSpPr>
          <p:nvPr/>
        </p:nvSpPr>
        <p:spPr bwMode="auto">
          <a:xfrm>
            <a:off x="6253163" y="2324100"/>
            <a:ext cx="490538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故</a:t>
            </a:r>
          </a:p>
        </p:txBody>
      </p:sp>
      <p:graphicFrame>
        <p:nvGraphicFramePr>
          <p:cNvPr id="1080364" name="Object 44"/>
          <p:cNvGraphicFramePr/>
          <p:nvPr/>
        </p:nvGraphicFramePr>
        <p:xfrm>
          <a:off x="7235825" y="2317750"/>
          <a:ext cx="10096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" r:id="rId13" imgW="680085" imgH="290195" progId="Equation.DSMT4">
                  <p:embed/>
                </p:oleObj>
              </mc:Choice>
              <mc:Fallback>
                <p:oleObj r:id="rId13" imgW="680085" imgH="290195" progId="Equation.DSMT4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35825" y="2317750"/>
                        <a:ext cx="1009650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65" name="Text Box 45"/>
          <p:cNvSpPr txBox="1">
            <a:spLocks noChangeArrowheads="1"/>
          </p:cNvSpPr>
          <p:nvPr/>
        </p:nvSpPr>
        <p:spPr bwMode="auto">
          <a:xfrm>
            <a:off x="3744913" y="3332163"/>
            <a:ext cx="1716088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对联合机有</a:t>
            </a:r>
          </a:p>
        </p:txBody>
      </p:sp>
      <p:graphicFrame>
        <p:nvGraphicFramePr>
          <p:cNvPr id="1080366" name="Object 46"/>
          <p:cNvGraphicFramePr/>
          <p:nvPr/>
        </p:nvGraphicFramePr>
        <p:xfrm>
          <a:off x="5473700" y="3284538"/>
          <a:ext cx="22320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4" r:id="rId15" imgW="1449705" imgH="290195" progId="Equation.DSMT4">
                  <p:embed/>
                </p:oleObj>
              </mc:Choice>
              <mc:Fallback>
                <p:oleObj r:id="rId15" imgW="1449705" imgH="290195" progId="Equation.DSMT4">
                  <p:embed/>
                  <p:pic>
                    <p:nvPicPr>
                      <p:cNvPr id="0" name="图片 333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73700" y="3284538"/>
                        <a:ext cx="2232025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67" name="Rectangle 47"/>
          <p:cNvSpPr>
            <a:spLocks noChangeArrowheads="1"/>
          </p:cNvSpPr>
          <p:nvPr/>
        </p:nvSpPr>
        <p:spPr bwMode="auto">
          <a:xfrm>
            <a:off x="6588125" y="4772025"/>
            <a:ext cx="263525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违反克劳修斯表述</a:t>
            </a:r>
          </a:p>
        </p:txBody>
      </p:sp>
      <p:grpSp>
        <p:nvGrpSpPr>
          <p:cNvPr id="10" name="Group 48"/>
          <p:cNvGrpSpPr/>
          <p:nvPr/>
        </p:nvGrpSpPr>
        <p:grpSpPr>
          <a:xfrm>
            <a:off x="6913563" y="5997575"/>
            <a:ext cx="2195512" cy="600075"/>
            <a:chOff x="4503" y="3222"/>
            <a:chExt cx="1383" cy="378"/>
          </a:xfrm>
        </p:grpSpPr>
        <p:graphicFrame>
          <p:nvGraphicFramePr>
            <p:cNvPr id="28717" name="Object 49"/>
            <p:cNvGraphicFramePr/>
            <p:nvPr/>
          </p:nvGraphicFramePr>
          <p:xfrm>
            <a:off x="4503" y="3222"/>
            <a:ext cx="60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35" r:id="rId17" imgW="535305" imgH="278765" progId="Equation.DSMT4">
                    <p:embed/>
                  </p:oleObj>
                </mc:Choice>
                <mc:Fallback>
                  <p:oleObj r:id="rId17" imgW="535305" imgH="278765" progId="Equation.DSMT4">
                    <p:embed/>
                    <p:pic>
                      <p:nvPicPr>
                        <p:cNvPr id="0" name="图片 3328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03" y="3222"/>
                          <a:ext cx="607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0370" name="Text Box 50"/>
            <p:cNvSpPr txBox="1">
              <a:spLocks noChangeArrowheads="1"/>
            </p:cNvSpPr>
            <p:nvPr/>
          </p:nvSpPr>
          <p:spPr bwMode="auto">
            <a:xfrm>
              <a:off x="5191" y="3270"/>
              <a:ext cx="695" cy="288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不成立</a:t>
              </a:r>
            </a:p>
          </p:txBody>
        </p:sp>
      </p:grpSp>
      <p:sp>
        <p:nvSpPr>
          <p:cNvPr id="1080371" name="Rectangle 51"/>
          <p:cNvSpPr/>
          <p:nvPr/>
        </p:nvSpPr>
        <p:spPr>
          <a:xfrm>
            <a:off x="7162800" y="1606550"/>
            <a:ext cx="1150938" cy="533400"/>
          </a:xfrm>
          <a:prstGeom prst="rect">
            <a:avLst/>
          </a:prstGeom>
          <a:noFill/>
          <a:ln w="38100" cap="flat" cmpd="dbl">
            <a:solidFill>
              <a:srgbClr val="00BCB8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80372" name="Rectangle 52"/>
          <p:cNvSpPr/>
          <p:nvPr/>
        </p:nvSpPr>
        <p:spPr>
          <a:xfrm>
            <a:off x="7162800" y="2317750"/>
            <a:ext cx="1150938" cy="533400"/>
          </a:xfrm>
          <a:prstGeom prst="rect">
            <a:avLst/>
          </a:prstGeom>
          <a:noFill/>
          <a:ln w="38100" cap="flat" cmpd="dbl">
            <a:solidFill>
              <a:srgbClr val="00BCB8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80373" name="Text Box 53"/>
          <p:cNvSpPr txBox="1"/>
          <p:nvPr/>
        </p:nvSpPr>
        <p:spPr>
          <a:xfrm>
            <a:off x="825500" y="2827338"/>
            <a:ext cx="3143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令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E’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推动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E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机做逆循环</a:t>
            </a:r>
          </a:p>
        </p:txBody>
      </p:sp>
      <p:sp>
        <p:nvSpPr>
          <p:cNvPr id="1080374" name="Text Box 54"/>
          <p:cNvSpPr txBox="1">
            <a:spLocks noChangeArrowheads="1"/>
          </p:cNvSpPr>
          <p:nvPr/>
        </p:nvSpPr>
        <p:spPr bwMode="auto">
          <a:xfrm>
            <a:off x="6769100" y="5373688"/>
            <a:ext cx="1716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故原假设：</a:t>
            </a:r>
          </a:p>
        </p:txBody>
      </p:sp>
      <p:sp>
        <p:nvSpPr>
          <p:cNvPr id="1080375" name="Line 55"/>
          <p:cNvSpPr/>
          <p:nvPr/>
        </p:nvSpPr>
        <p:spPr>
          <a:xfrm>
            <a:off x="2700338" y="1412875"/>
            <a:ext cx="1584325" cy="0"/>
          </a:xfrm>
          <a:prstGeom prst="line">
            <a:avLst/>
          </a:prstGeom>
          <a:ln w="38100" cap="flat" cmpd="dbl">
            <a:solidFill>
              <a:srgbClr val="FF5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0376" name="Line 56"/>
          <p:cNvSpPr/>
          <p:nvPr/>
        </p:nvSpPr>
        <p:spPr>
          <a:xfrm>
            <a:off x="5148263" y="2852738"/>
            <a:ext cx="1079500" cy="431800"/>
          </a:xfrm>
          <a:prstGeom prst="line">
            <a:avLst/>
          </a:prstGeom>
          <a:ln w="57150" cap="flat" cmpd="thinThick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1" name="Group 2"/>
          <p:cNvGrpSpPr/>
          <p:nvPr/>
        </p:nvGrpSpPr>
        <p:grpSpPr>
          <a:xfrm>
            <a:off x="1692275" y="3860800"/>
            <a:ext cx="1008063" cy="800100"/>
            <a:chOff x="384" y="2544"/>
            <a:chExt cx="720" cy="432"/>
          </a:xfrm>
        </p:grpSpPr>
        <p:sp>
          <p:nvSpPr>
            <p:cNvPr id="28715" name="AutoShape 3" descr="球体"/>
            <p:cNvSpPr/>
            <p:nvPr/>
          </p:nvSpPr>
          <p:spPr>
            <a:xfrm>
              <a:off x="768" y="2640"/>
              <a:ext cx="336" cy="336"/>
            </a:xfrm>
            <a:prstGeom prst="downArrow">
              <a:avLst>
                <a:gd name="adj1" fmla="val 50000"/>
                <a:gd name="adj2" fmla="val 25000"/>
              </a:avLst>
            </a:prstGeom>
            <a:blipFill rotWithShape="0">
              <a:blip r:embed="rId3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716" name="Text Box 4"/>
            <p:cNvSpPr txBox="1"/>
            <p:nvPr/>
          </p:nvSpPr>
          <p:spPr>
            <a:xfrm>
              <a:off x="384" y="2544"/>
              <a:ext cx="441" cy="3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1" name="Text Box 16"/>
          <p:cNvSpPr txBox="1"/>
          <p:nvPr/>
        </p:nvSpPr>
        <p:spPr>
          <a:xfrm>
            <a:off x="3206750" y="4513263"/>
            <a:ext cx="45561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2" name="AutoShape 17" descr="球体"/>
          <p:cNvSpPr/>
          <p:nvPr/>
        </p:nvSpPr>
        <p:spPr>
          <a:xfrm>
            <a:off x="2700338" y="4948238"/>
            <a:ext cx="720725" cy="465137"/>
          </a:xfrm>
          <a:prstGeom prst="rightArrow">
            <a:avLst>
              <a:gd name="adj1" fmla="val 50000"/>
              <a:gd name="adj2" fmla="val 38679"/>
            </a:avLst>
          </a:prstGeom>
          <a:blipFill rotWithShape="0">
            <a:blip r:embed="rId3"/>
          </a:blip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12" name="Group 18"/>
          <p:cNvGrpSpPr/>
          <p:nvPr/>
        </p:nvGrpSpPr>
        <p:grpSpPr>
          <a:xfrm>
            <a:off x="1620838" y="5524500"/>
            <a:ext cx="1084262" cy="685800"/>
            <a:chOff x="68" y="3480"/>
            <a:chExt cx="683" cy="432"/>
          </a:xfrm>
        </p:grpSpPr>
        <p:sp>
          <p:nvSpPr>
            <p:cNvPr id="64" name="Text Box 19" descr="球体"/>
            <p:cNvSpPr txBox="1">
              <a:spLocks noChangeArrowheads="1"/>
            </p:cNvSpPr>
            <p:nvPr/>
          </p:nvSpPr>
          <p:spPr bwMode="auto">
            <a:xfrm>
              <a:off x="68" y="3480"/>
              <a:ext cx="389" cy="36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1" lang="en-US" altLang="zh-CN" sz="3200" i="1" kern="1200" cap="none" spc="0" normalizeH="0" baseline="-25000" noProof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4" name="AutoShape 20" descr="球体"/>
            <p:cNvSpPr/>
            <p:nvPr/>
          </p:nvSpPr>
          <p:spPr>
            <a:xfrm>
              <a:off x="478" y="3528"/>
              <a:ext cx="273" cy="384"/>
            </a:xfrm>
            <a:prstGeom prst="downArrow">
              <a:avLst>
                <a:gd name="adj1" fmla="val 50000"/>
                <a:gd name="adj2" fmla="val 35112"/>
              </a:avLst>
            </a:prstGeom>
            <a:blipFill rotWithShape="0">
              <a:blip r:embed="rId4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0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8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8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8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8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8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8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8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08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80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8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80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8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108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08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108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4" dur="500"/>
                                        <p:tgtEl>
                                          <p:spTgt spid="108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080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4" dur="500"/>
                                        <p:tgtEl>
                                          <p:spTgt spid="108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9" dur="500"/>
                                        <p:tgtEl>
                                          <p:spTgt spid="108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9" dur="500"/>
                                        <p:tgtEl>
                                          <p:spTgt spid="108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08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080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4" dur="500"/>
                                        <p:tgtEl>
                                          <p:spTgt spid="108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36" grpId="0"/>
      <p:bldP spid="1080337" grpId="0" animBg="1"/>
      <p:bldP spid="1080351" grpId="0" animBg="1"/>
      <p:bldP spid="1080353" grpId="0" build="p"/>
      <p:bldP spid="1080354" grpId="0" build="p"/>
      <p:bldP spid="1080355" grpId="0" build="p"/>
      <p:bldP spid="1080356" grpId="0" build="p"/>
      <p:bldP spid="1080359" grpId="0" build="p"/>
      <p:bldP spid="1080361" grpId="0" build="p"/>
      <p:bldP spid="1080363" grpId="0" build="p"/>
      <p:bldP spid="1080365" grpId="0" build="p"/>
      <p:bldP spid="1080367" grpId="0" build="p"/>
      <p:bldP spid="1080371" grpId="0" animBg="1"/>
      <p:bldP spid="1080372" grpId="0" animBg="1"/>
      <p:bldP spid="1080373" grpId="0"/>
      <p:bldP spid="1080374" grpId="0"/>
      <p:bldP spid="61" grpId="0"/>
      <p:bldP spid="61" grpId="1"/>
      <p:bldP spid="62" grpId="0" animBg="1"/>
      <p:bldP spid="6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21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81346" name="Text Box 2"/>
          <p:cNvSpPr txBox="1"/>
          <p:nvPr/>
        </p:nvSpPr>
        <p:spPr>
          <a:xfrm>
            <a:off x="4067175" y="490538"/>
            <a:ext cx="3186113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让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E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机和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E </a:t>
            </a:r>
            <a:r>
              <a:rPr lang="en-US" altLang="zh-CN" sz="2400" b="1" baseline="30000" dirty="0">
                <a:solidFill>
                  <a:schemeClr val="accent2"/>
                </a:solidFill>
                <a:ea typeface="楷体_GB2312" panose="02010609030101010101" pitchFamily="49" charset="-122"/>
              </a:rPr>
              <a:t>’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机逆向运行</a:t>
            </a:r>
          </a:p>
        </p:txBody>
      </p:sp>
      <p:sp>
        <p:nvSpPr>
          <p:cNvPr id="1081347" name="Text Box 3"/>
          <p:cNvSpPr txBox="1"/>
          <p:nvPr/>
        </p:nvSpPr>
        <p:spPr>
          <a:xfrm>
            <a:off x="4067175" y="1081088"/>
            <a:ext cx="136842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</a:p>
        </p:txBody>
      </p:sp>
      <p:sp>
        <p:nvSpPr>
          <p:cNvPr id="1081348" name="Text Box 4"/>
          <p:cNvSpPr txBox="1"/>
          <p:nvPr/>
        </p:nvSpPr>
        <p:spPr>
          <a:xfrm>
            <a:off x="4067175" y="1824038"/>
            <a:ext cx="1409700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同理可证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5940425" y="1749425"/>
            <a:ext cx="2060575" cy="600075"/>
            <a:chOff x="3651" y="1933"/>
            <a:chExt cx="1298" cy="378"/>
          </a:xfrm>
        </p:grpSpPr>
        <p:graphicFrame>
          <p:nvGraphicFramePr>
            <p:cNvPr id="29729" name="Object 6"/>
            <p:cNvGraphicFramePr/>
            <p:nvPr/>
          </p:nvGraphicFramePr>
          <p:xfrm>
            <a:off x="3651" y="1933"/>
            <a:ext cx="56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73" r:id="rId3" imgW="501650" imgH="278765" progId="Equation.3">
                    <p:embed/>
                  </p:oleObj>
                </mc:Choice>
                <mc:Fallback>
                  <p:oleObj r:id="rId3" imgW="501650" imgH="278765" progId="Equation.3">
                    <p:embed/>
                    <p:pic>
                      <p:nvPicPr>
                        <p:cNvPr id="0" name="图片 333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1" y="1933"/>
                          <a:ext cx="569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0" name="Text Box 7"/>
            <p:cNvSpPr txBox="1"/>
            <p:nvPr/>
          </p:nvSpPr>
          <p:spPr>
            <a:xfrm>
              <a:off x="4254" y="2020"/>
              <a:ext cx="69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不成立</a:t>
              </a:r>
            </a:p>
          </p:txBody>
        </p:sp>
      </p:grpSp>
      <p:sp>
        <p:nvSpPr>
          <p:cNvPr id="1081352" name="Text Box 8"/>
          <p:cNvSpPr txBox="1"/>
          <p:nvPr/>
        </p:nvSpPr>
        <p:spPr>
          <a:xfrm>
            <a:off x="4067175" y="2492375"/>
            <a:ext cx="158432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</a:p>
        </p:txBody>
      </p:sp>
      <p:graphicFrame>
        <p:nvGraphicFramePr>
          <p:cNvPr id="1081353" name="Object 9"/>
          <p:cNvGraphicFramePr/>
          <p:nvPr/>
        </p:nvGraphicFramePr>
        <p:xfrm>
          <a:off x="5613400" y="2435225"/>
          <a:ext cx="9032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r:id="rId5" imgW="501650" imgH="278765" progId="Equation.3">
                  <p:embed/>
                </p:oleObj>
              </mc:Choice>
              <mc:Fallback>
                <p:oleObj r:id="rId5" imgW="501650" imgH="278765" progId="Equation.3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13400" y="2435225"/>
                        <a:ext cx="903288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5" name="Group 10"/>
          <p:cNvGrpSpPr/>
          <p:nvPr/>
        </p:nvGrpSpPr>
        <p:grpSpPr>
          <a:xfrm>
            <a:off x="395288" y="476250"/>
            <a:ext cx="3097212" cy="3432175"/>
            <a:chOff x="249" y="300"/>
            <a:chExt cx="1951" cy="2162"/>
          </a:xfrm>
        </p:grpSpPr>
        <p:sp>
          <p:nvSpPr>
            <p:cNvPr id="29711" name="AutoShape 11" descr="球体"/>
            <p:cNvSpPr/>
            <p:nvPr/>
          </p:nvSpPr>
          <p:spPr>
            <a:xfrm>
              <a:off x="1541" y="714"/>
              <a:ext cx="296" cy="392"/>
            </a:xfrm>
            <a:prstGeom prst="downArrow">
              <a:avLst>
                <a:gd name="adj1" fmla="val 50000"/>
                <a:gd name="adj2" fmla="val 33059"/>
              </a:avLst>
            </a:prstGeom>
            <a:blipFill rotWithShape="0">
              <a:blip r:embed="rId7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9712" name="Text Box 12"/>
            <p:cNvSpPr txBox="1"/>
            <p:nvPr/>
          </p:nvSpPr>
          <p:spPr>
            <a:xfrm>
              <a:off x="276" y="706"/>
              <a:ext cx="470" cy="3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Q’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  <p:sp>
          <p:nvSpPr>
            <p:cNvPr id="29713" name="AutoShape 13" descr="球体"/>
            <p:cNvSpPr/>
            <p:nvPr/>
          </p:nvSpPr>
          <p:spPr>
            <a:xfrm>
              <a:off x="657" y="729"/>
              <a:ext cx="353" cy="333"/>
            </a:xfrm>
            <a:prstGeom prst="upArrow">
              <a:avLst>
                <a:gd name="adj1" fmla="val 50000"/>
                <a:gd name="adj2" fmla="val 25000"/>
              </a:avLst>
            </a:prstGeom>
            <a:blipFill rotWithShape="0">
              <a:blip r:embed="rId8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9714" name="Text Box 14"/>
            <p:cNvSpPr txBox="1"/>
            <p:nvPr/>
          </p:nvSpPr>
          <p:spPr>
            <a:xfrm>
              <a:off x="1815" y="687"/>
              <a:ext cx="3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1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  <p:grpSp>
          <p:nvGrpSpPr>
            <p:cNvPr id="29715" name="Group 15"/>
            <p:cNvGrpSpPr/>
            <p:nvPr/>
          </p:nvGrpSpPr>
          <p:grpSpPr>
            <a:xfrm>
              <a:off x="290" y="300"/>
              <a:ext cx="1864" cy="2162"/>
              <a:chOff x="154" y="2130"/>
              <a:chExt cx="1864" cy="2162"/>
            </a:xfrm>
          </p:grpSpPr>
          <p:sp>
            <p:nvSpPr>
              <p:cNvPr id="29725" name="Oval 16"/>
              <p:cNvSpPr/>
              <p:nvPr/>
            </p:nvSpPr>
            <p:spPr>
              <a:xfrm>
                <a:off x="305" y="2989"/>
                <a:ext cx="486" cy="486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>
                    <a:solidFill>
                      <a:srgbClr val="990033"/>
                    </a:solidFill>
                    <a:ea typeface="仿宋_GB2312" panose="02010609030101010101" pitchFamily="49" charset="-122"/>
                  </a:rPr>
                  <a:t>E’</a:t>
                </a:r>
                <a:r>
                  <a:rPr lang="en-US" altLang="zh-CN" sz="2800" b="1" dirty="0">
                    <a:solidFill>
                      <a:srgbClr val="990033"/>
                    </a:solidFill>
                    <a:latin typeface="仿宋_GB2312" panose="02010609030101010101" pitchFamily="49" charset="-122"/>
                    <a:ea typeface="仿宋_GB2312" panose="02010609030101010101" pitchFamily="49" charset="-122"/>
                  </a:rPr>
                  <a:t> </a:t>
                </a:r>
              </a:p>
            </p:txBody>
          </p:sp>
          <p:sp>
            <p:nvSpPr>
              <p:cNvPr id="29726" name="Rectangle 17"/>
              <p:cNvSpPr/>
              <p:nvPr/>
            </p:nvSpPr>
            <p:spPr>
              <a:xfrm>
                <a:off x="159" y="2130"/>
                <a:ext cx="1859" cy="384"/>
              </a:xfrm>
              <a:prstGeom prst="rect">
                <a:avLst/>
              </a:prstGeom>
              <a:gradFill rotWithShape="1">
                <a:gsLst>
                  <a:gs pos="0">
                    <a:srgbClr val="FF33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990033"/>
                    </a:solidFill>
                  </a:rPr>
                  <a:t> </a:t>
                </a:r>
                <a:r>
                  <a:rPr lang="zh-CN" altLang="en-US" sz="2800" b="1" dirty="0">
                    <a:solidFill>
                      <a:srgbClr val="990033"/>
                    </a:solidFill>
                  </a:rPr>
                  <a:t>高温热源（</a:t>
                </a:r>
                <a:r>
                  <a:rPr lang="en-US" altLang="zh-CN" sz="2800" b="1" dirty="0">
                    <a:solidFill>
                      <a:srgbClr val="990033"/>
                    </a:solidFill>
                  </a:rPr>
                  <a:t>T</a:t>
                </a:r>
                <a:r>
                  <a:rPr lang="en-US" altLang="zh-CN" sz="2800" b="1" baseline="-25000" dirty="0">
                    <a:solidFill>
                      <a:srgbClr val="990033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rgbClr val="990033"/>
                    </a:solidFill>
                  </a:rPr>
                  <a:t>）</a:t>
                </a:r>
              </a:p>
            </p:txBody>
          </p:sp>
          <p:sp>
            <p:nvSpPr>
              <p:cNvPr id="29727" name="Rectangle 18"/>
              <p:cNvSpPr/>
              <p:nvPr/>
            </p:nvSpPr>
            <p:spPr>
              <a:xfrm>
                <a:off x="154" y="3908"/>
                <a:ext cx="1801" cy="384"/>
              </a:xfrm>
              <a:prstGeom prst="rect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000099"/>
                    </a:solidFill>
                  </a:rPr>
                  <a:t> </a:t>
                </a:r>
                <a:r>
                  <a:rPr lang="zh-CN" altLang="en-US" sz="2800" b="1" dirty="0">
                    <a:solidFill>
                      <a:srgbClr val="000099"/>
                    </a:solidFill>
                  </a:rPr>
                  <a:t>低温热源（</a:t>
                </a:r>
                <a:r>
                  <a:rPr lang="en-US" altLang="zh-CN" sz="2800" b="1" dirty="0">
                    <a:solidFill>
                      <a:srgbClr val="000099"/>
                    </a:solidFill>
                  </a:rPr>
                  <a:t>T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</a:rPr>
                  <a:t>2</a:t>
                </a:r>
                <a:r>
                  <a:rPr lang="zh-CN" altLang="en-US" sz="2800" b="1" dirty="0">
                    <a:solidFill>
                      <a:srgbClr val="000099"/>
                    </a:solidFill>
                  </a:rPr>
                  <a:t>）</a:t>
                </a:r>
              </a:p>
            </p:txBody>
          </p:sp>
          <p:sp>
            <p:nvSpPr>
              <p:cNvPr id="29728" name="Oval 19"/>
              <p:cNvSpPr/>
              <p:nvPr/>
            </p:nvSpPr>
            <p:spPr>
              <a:xfrm>
                <a:off x="1292" y="2989"/>
                <a:ext cx="498" cy="486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>
                    <a:solidFill>
                      <a:srgbClr val="990033"/>
                    </a:solidFill>
                    <a:ea typeface="仿宋_GB2312" panose="02010609030101010101" pitchFamily="49" charset="-122"/>
                  </a:rPr>
                  <a:t>E</a:t>
                </a:r>
              </a:p>
            </p:txBody>
          </p:sp>
        </p:grpSp>
        <p:sp>
          <p:nvSpPr>
            <p:cNvPr id="29716" name="AutoShape 20" descr="球体"/>
            <p:cNvSpPr/>
            <p:nvPr/>
          </p:nvSpPr>
          <p:spPr>
            <a:xfrm>
              <a:off x="721" y="1715"/>
              <a:ext cx="227" cy="384"/>
            </a:xfrm>
            <a:prstGeom prst="upArrow">
              <a:avLst>
                <a:gd name="adj1" fmla="val 50000"/>
                <a:gd name="adj2" fmla="val 42228"/>
              </a:avLst>
            </a:prstGeom>
            <a:blipFill rotWithShape="0">
              <a:blip r:embed="rId8"/>
            </a:blipFill>
            <a:ln w="19050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9717" name="Text Box 21"/>
            <p:cNvSpPr txBox="1"/>
            <p:nvPr/>
          </p:nvSpPr>
          <p:spPr>
            <a:xfrm>
              <a:off x="1815" y="1715"/>
              <a:ext cx="3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Q</a:t>
              </a:r>
              <a:r>
                <a:rPr lang="en-US" altLang="zh-CN" b="1" i="1" baseline="-25000" dirty="0">
                  <a:solidFill>
                    <a:schemeClr val="tx2"/>
                  </a:solidFill>
                </a:rPr>
                <a:t>2</a:t>
              </a:r>
              <a:endParaRPr lang="en-US" altLang="zh-CN" b="1" i="1" dirty="0">
                <a:solidFill>
                  <a:schemeClr val="tx2"/>
                </a:solidFill>
              </a:endParaRPr>
            </a:p>
          </p:txBody>
        </p:sp>
        <p:sp>
          <p:nvSpPr>
            <p:cNvPr id="29718" name="Text Box 22"/>
            <p:cNvSpPr txBox="1"/>
            <p:nvPr/>
          </p:nvSpPr>
          <p:spPr>
            <a:xfrm>
              <a:off x="1066" y="1013"/>
              <a:ext cx="2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29719" name="AutoShape 23" descr="球体"/>
            <p:cNvSpPr/>
            <p:nvPr/>
          </p:nvSpPr>
          <p:spPr>
            <a:xfrm rot="10800000">
              <a:off x="929" y="1287"/>
              <a:ext cx="454" cy="293"/>
            </a:xfrm>
            <a:prstGeom prst="rightArrow">
              <a:avLst>
                <a:gd name="adj1" fmla="val 50000"/>
                <a:gd name="adj2" fmla="val 38679"/>
              </a:avLst>
            </a:prstGeom>
            <a:blipFill rotWithShape="0">
              <a:blip r:embed="rId7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81368" name="Text Box 24" descr="球体"/>
            <p:cNvSpPr txBox="1">
              <a:spLocks noChangeArrowheads="1"/>
            </p:cNvSpPr>
            <p:nvPr/>
          </p:nvSpPr>
          <p:spPr bwMode="auto">
            <a:xfrm>
              <a:off x="249" y="1695"/>
              <a:ext cx="47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Q’</a:t>
              </a:r>
              <a:r>
                <a:rPr kumimoji="1" lang="en-US" altLang="zh-CN" sz="3200" i="1" kern="1200" cap="none" spc="0" normalizeH="0" baseline="-2500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32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1" name="AutoShape 25" descr="球体"/>
            <p:cNvSpPr/>
            <p:nvPr/>
          </p:nvSpPr>
          <p:spPr>
            <a:xfrm>
              <a:off x="1592" y="1698"/>
              <a:ext cx="227" cy="384"/>
            </a:xfrm>
            <a:prstGeom prst="downArrow">
              <a:avLst>
                <a:gd name="adj1" fmla="val 50000"/>
                <a:gd name="adj2" fmla="val 42228"/>
              </a:avLst>
            </a:prstGeom>
            <a:blipFill rotWithShape="0">
              <a:blip r:embed="rId8"/>
            </a:blip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9722" name="Line 26"/>
            <p:cNvSpPr/>
            <p:nvPr/>
          </p:nvSpPr>
          <p:spPr>
            <a:xfrm flipH="1" flipV="1">
              <a:off x="884" y="1252"/>
              <a:ext cx="39" cy="136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3" name="Line 27"/>
            <p:cNvSpPr/>
            <p:nvPr/>
          </p:nvSpPr>
          <p:spPr>
            <a:xfrm>
              <a:off x="1858" y="1253"/>
              <a:ext cx="69" cy="106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4" name="Rectangle 28"/>
            <p:cNvSpPr/>
            <p:nvPr/>
          </p:nvSpPr>
          <p:spPr>
            <a:xfrm>
              <a:off x="385" y="1116"/>
              <a:ext cx="1633" cy="590"/>
            </a:xfrm>
            <a:prstGeom prst="rect">
              <a:avLst/>
            </a:prstGeom>
            <a:noFill/>
            <a:ln w="38100" cap="flat" cmpd="sng">
              <a:solidFill>
                <a:srgbClr val="0099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1081373" name="Object 29"/>
          <p:cNvGraphicFramePr/>
          <p:nvPr/>
        </p:nvGraphicFramePr>
        <p:xfrm>
          <a:off x="5651500" y="1038225"/>
          <a:ext cx="9032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r:id="rId9" imgW="501650" imgH="278765" progId="Equation.3">
                  <p:embed/>
                </p:oleObj>
              </mc:Choice>
              <mc:Fallback>
                <p:oleObj r:id="rId9" imgW="501650" imgH="278765" progId="Equation.3">
                  <p:embed/>
                  <p:pic>
                    <p:nvPicPr>
                      <p:cNvPr id="0" name="图片 333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1038225"/>
                        <a:ext cx="903288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77" name="Text Box 33"/>
          <p:cNvSpPr txBox="1"/>
          <p:nvPr/>
        </p:nvSpPr>
        <p:spPr>
          <a:xfrm>
            <a:off x="4140200" y="3197225"/>
            <a:ext cx="1255713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即有：</a:t>
            </a:r>
          </a:p>
        </p:txBody>
      </p:sp>
      <p:grpSp>
        <p:nvGrpSpPr>
          <p:cNvPr id="5" name="Group 34"/>
          <p:cNvGrpSpPr/>
          <p:nvPr/>
        </p:nvGrpSpPr>
        <p:grpSpPr>
          <a:xfrm>
            <a:off x="4211638" y="3933825"/>
            <a:ext cx="4464050" cy="2560638"/>
            <a:chOff x="113" y="628"/>
            <a:chExt cx="2756" cy="1840"/>
          </a:xfrm>
        </p:grpSpPr>
        <p:sp>
          <p:nvSpPr>
            <p:cNvPr id="1081379" name="Text Box 35"/>
            <p:cNvSpPr txBox="1">
              <a:spLocks noChangeArrowheads="1"/>
            </p:cNvSpPr>
            <p:nvPr/>
          </p:nvSpPr>
          <p:spPr bwMode="auto">
            <a:xfrm>
              <a:off x="166" y="775"/>
              <a:ext cx="2703" cy="159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）在相同高温热源（</a:t>
              </a: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  <a:r>
                <a:rPr kumimoji="1" lang="en-US" altLang="zh-CN" sz="2800" kern="1200" cap="none" spc="0" normalizeH="0" baseline="-2500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和低温热源（</a:t>
              </a: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  <a:r>
                <a:rPr kumimoji="1" lang="en-US" altLang="zh-CN" sz="2800" kern="1200" cap="none" spc="0" normalizeH="0" baseline="-2500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）之间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工作的一切可逆机，其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效率都相等，与工作物质无关 。</a:t>
              </a:r>
            </a:p>
          </p:txBody>
        </p:sp>
        <p:sp>
          <p:nvSpPr>
            <p:cNvPr id="29710" name="Rectangle 36"/>
            <p:cNvSpPr/>
            <p:nvPr/>
          </p:nvSpPr>
          <p:spPr>
            <a:xfrm>
              <a:off x="113" y="628"/>
              <a:ext cx="2722" cy="1840"/>
            </a:xfrm>
            <a:prstGeom prst="rect">
              <a:avLst/>
            </a:prstGeom>
            <a:noFill/>
            <a:ln w="76200" cap="flat" cmpd="tri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8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46" grpId="0" build="p"/>
      <p:bldP spid="1081347" grpId="0" build="p"/>
      <p:bldP spid="1081348" grpId="0" build="p"/>
      <p:bldP spid="1081352" grpId="0" build="p"/>
      <p:bldP spid="10813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22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30723" name="Group 2"/>
          <p:cNvGrpSpPr/>
          <p:nvPr/>
        </p:nvGrpSpPr>
        <p:grpSpPr>
          <a:xfrm>
            <a:off x="684213" y="3381375"/>
            <a:ext cx="3240087" cy="3432175"/>
            <a:chOff x="-23" y="996"/>
            <a:chExt cx="2041" cy="2162"/>
          </a:xfrm>
        </p:grpSpPr>
        <p:grpSp>
          <p:nvGrpSpPr>
            <p:cNvPr id="30746" name="Group 3"/>
            <p:cNvGrpSpPr/>
            <p:nvPr/>
          </p:nvGrpSpPr>
          <p:grpSpPr>
            <a:xfrm>
              <a:off x="22" y="1298"/>
              <a:ext cx="635" cy="504"/>
              <a:chOff x="384" y="2544"/>
              <a:chExt cx="720" cy="432"/>
            </a:xfrm>
          </p:grpSpPr>
          <p:sp>
            <p:nvSpPr>
              <p:cNvPr id="30766" name="AutoShape 4" descr="球体"/>
              <p:cNvSpPr/>
              <p:nvPr/>
            </p:nvSpPr>
            <p:spPr>
              <a:xfrm>
                <a:off x="768" y="2640"/>
                <a:ext cx="336" cy="336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blipFill rotWithShape="0">
                <a:blip r:embed="rId3"/>
              </a:blipFill>
              <a:ln w="19050" cap="flat" cmpd="sng">
                <a:solidFill>
                  <a:srgbClr val="FF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0767" name="Text Box 5"/>
              <p:cNvSpPr txBox="1"/>
              <p:nvPr/>
            </p:nvSpPr>
            <p:spPr>
              <a:xfrm>
                <a:off x="384" y="2544"/>
                <a:ext cx="533" cy="3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1" i="1" dirty="0">
                    <a:solidFill>
                      <a:schemeClr val="tx2"/>
                    </a:solidFill>
                  </a:rPr>
                  <a:t>Q’</a:t>
                </a:r>
                <a:r>
                  <a:rPr lang="en-US" altLang="zh-CN" b="1" i="1" baseline="-25000" dirty="0">
                    <a:solidFill>
                      <a:schemeClr val="tx2"/>
                    </a:solidFill>
                  </a:rPr>
                  <a:t>1</a:t>
                </a:r>
                <a:endParaRPr lang="en-US" altLang="zh-CN" b="1" i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30747" name="Group 6"/>
            <p:cNvGrpSpPr/>
            <p:nvPr/>
          </p:nvGrpSpPr>
          <p:grpSpPr>
            <a:xfrm>
              <a:off x="1292" y="1425"/>
              <a:ext cx="726" cy="377"/>
              <a:chOff x="2016" y="2592"/>
              <a:chExt cx="592" cy="380"/>
            </a:xfrm>
          </p:grpSpPr>
          <p:sp>
            <p:nvSpPr>
              <p:cNvPr id="30764" name="AutoShape 7" descr="球体"/>
              <p:cNvSpPr/>
              <p:nvPr/>
            </p:nvSpPr>
            <p:spPr>
              <a:xfrm>
                <a:off x="2016" y="2592"/>
                <a:ext cx="288" cy="336"/>
              </a:xfrm>
              <a:prstGeom prst="upArrow">
                <a:avLst>
                  <a:gd name="adj1" fmla="val 50000"/>
                  <a:gd name="adj2" fmla="val 29123"/>
                </a:avLst>
              </a:prstGeom>
              <a:blipFill rotWithShape="0">
                <a:blip r:embed="rId4"/>
              </a:blipFill>
              <a:ln w="19050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0765" name="Text Box 8"/>
              <p:cNvSpPr txBox="1"/>
              <p:nvPr/>
            </p:nvSpPr>
            <p:spPr>
              <a:xfrm>
                <a:off x="2294" y="2604"/>
                <a:ext cx="314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1" i="1" dirty="0">
                    <a:solidFill>
                      <a:schemeClr val="tx2"/>
                    </a:solidFill>
                  </a:rPr>
                  <a:t>Q</a:t>
                </a:r>
                <a:r>
                  <a:rPr lang="en-US" altLang="zh-CN" b="1" i="1" baseline="-25000" dirty="0">
                    <a:solidFill>
                      <a:schemeClr val="tx2"/>
                    </a:solidFill>
                  </a:rPr>
                  <a:t>1</a:t>
                </a:r>
                <a:endParaRPr lang="en-US" altLang="zh-CN" b="1" i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30748" name="Group 9"/>
            <p:cNvGrpSpPr/>
            <p:nvPr/>
          </p:nvGrpSpPr>
          <p:grpSpPr>
            <a:xfrm>
              <a:off x="63" y="996"/>
              <a:ext cx="1864" cy="2162"/>
              <a:chOff x="154" y="2130"/>
              <a:chExt cx="1864" cy="2162"/>
            </a:xfrm>
          </p:grpSpPr>
          <p:sp>
            <p:nvSpPr>
              <p:cNvPr id="30760" name="Oval 10"/>
              <p:cNvSpPr/>
              <p:nvPr/>
            </p:nvSpPr>
            <p:spPr>
              <a:xfrm>
                <a:off x="305" y="2989"/>
                <a:ext cx="486" cy="486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>
                    <a:solidFill>
                      <a:srgbClr val="990033"/>
                    </a:solidFill>
                    <a:ea typeface="仿宋_GB2312" panose="02010609030101010101" pitchFamily="49" charset="-122"/>
                  </a:rPr>
                  <a:t>E’’</a:t>
                </a:r>
                <a:r>
                  <a:rPr lang="en-US" altLang="zh-CN" sz="2800" b="1" dirty="0">
                    <a:solidFill>
                      <a:srgbClr val="990033"/>
                    </a:solidFill>
                    <a:latin typeface="仿宋_GB2312" panose="02010609030101010101" pitchFamily="49" charset="-122"/>
                    <a:ea typeface="仿宋_GB2312" panose="02010609030101010101" pitchFamily="49" charset="-122"/>
                  </a:rPr>
                  <a:t> </a:t>
                </a:r>
              </a:p>
            </p:txBody>
          </p:sp>
          <p:sp>
            <p:nvSpPr>
              <p:cNvPr id="30761" name="Rectangle 11"/>
              <p:cNvSpPr/>
              <p:nvPr/>
            </p:nvSpPr>
            <p:spPr>
              <a:xfrm>
                <a:off x="159" y="2130"/>
                <a:ext cx="1859" cy="384"/>
              </a:xfrm>
              <a:prstGeom prst="rect">
                <a:avLst/>
              </a:prstGeom>
              <a:gradFill rotWithShape="1">
                <a:gsLst>
                  <a:gs pos="0">
                    <a:srgbClr val="FF33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990033"/>
                    </a:solidFill>
                  </a:rPr>
                  <a:t> </a:t>
                </a:r>
                <a:r>
                  <a:rPr lang="zh-CN" altLang="en-US" sz="2800" b="1" dirty="0">
                    <a:solidFill>
                      <a:srgbClr val="990033"/>
                    </a:solidFill>
                  </a:rPr>
                  <a:t>高温热源（</a:t>
                </a:r>
                <a:r>
                  <a:rPr lang="en-US" altLang="zh-CN" sz="2800" b="1" dirty="0">
                    <a:solidFill>
                      <a:srgbClr val="990033"/>
                    </a:solidFill>
                  </a:rPr>
                  <a:t>T</a:t>
                </a:r>
                <a:r>
                  <a:rPr lang="en-US" altLang="zh-CN" sz="2800" b="1" baseline="-25000" dirty="0">
                    <a:solidFill>
                      <a:srgbClr val="990033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rgbClr val="990033"/>
                    </a:solidFill>
                  </a:rPr>
                  <a:t>）</a:t>
                </a:r>
              </a:p>
            </p:txBody>
          </p:sp>
          <p:sp>
            <p:nvSpPr>
              <p:cNvPr id="30762" name="Rectangle 12"/>
              <p:cNvSpPr/>
              <p:nvPr/>
            </p:nvSpPr>
            <p:spPr>
              <a:xfrm>
                <a:off x="154" y="3908"/>
                <a:ext cx="1801" cy="384"/>
              </a:xfrm>
              <a:prstGeom prst="rect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000099"/>
                    </a:solidFill>
                  </a:rPr>
                  <a:t> </a:t>
                </a:r>
                <a:r>
                  <a:rPr lang="zh-CN" altLang="en-US" sz="2800" b="1" dirty="0">
                    <a:solidFill>
                      <a:srgbClr val="000099"/>
                    </a:solidFill>
                  </a:rPr>
                  <a:t>低温热源（</a:t>
                </a:r>
                <a:r>
                  <a:rPr lang="en-US" altLang="zh-CN" sz="2800" b="1" dirty="0">
                    <a:solidFill>
                      <a:srgbClr val="000099"/>
                    </a:solidFill>
                  </a:rPr>
                  <a:t>T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</a:rPr>
                  <a:t>2</a:t>
                </a:r>
                <a:r>
                  <a:rPr lang="zh-CN" altLang="en-US" sz="2800" b="1" dirty="0">
                    <a:solidFill>
                      <a:srgbClr val="000099"/>
                    </a:solidFill>
                  </a:rPr>
                  <a:t>）</a:t>
                </a:r>
              </a:p>
            </p:txBody>
          </p:sp>
          <p:sp>
            <p:nvSpPr>
              <p:cNvPr id="30763" name="Oval 13"/>
              <p:cNvSpPr/>
              <p:nvPr/>
            </p:nvSpPr>
            <p:spPr>
              <a:xfrm>
                <a:off x="1292" y="2989"/>
                <a:ext cx="498" cy="486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>
                    <a:solidFill>
                      <a:srgbClr val="990033"/>
                    </a:solidFill>
                    <a:ea typeface="仿宋_GB2312" panose="02010609030101010101" pitchFamily="49" charset="-122"/>
                  </a:rPr>
                  <a:t>E</a:t>
                </a:r>
              </a:p>
            </p:txBody>
          </p:sp>
        </p:grpSp>
        <p:grpSp>
          <p:nvGrpSpPr>
            <p:cNvPr id="30749" name="Group 14"/>
            <p:cNvGrpSpPr/>
            <p:nvPr/>
          </p:nvGrpSpPr>
          <p:grpSpPr>
            <a:xfrm>
              <a:off x="1369" y="2411"/>
              <a:ext cx="604" cy="384"/>
              <a:chOff x="2016" y="3552"/>
              <a:chExt cx="765" cy="384"/>
            </a:xfrm>
          </p:grpSpPr>
          <p:sp>
            <p:nvSpPr>
              <p:cNvPr id="30758" name="AutoShape 15" descr="球体"/>
              <p:cNvSpPr/>
              <p:nvPr/>
            </p:nvSpPr>
            <p:spPr>
              <a:xfrm>
                <a:off x="2016" y="3552"/>
                <a:ext cx="288" cy="384"/>
              </a:xfrm>
              <a:prstGeom prst="upArrow">
                <a:avLst>
                  <a:gd name="adj1" fmla="val 50000"/>
                  <a:gd name="adj2" fmla="val 33283"/>
                </a:avLst>
              </a:prstGeom>
              <a:blipFill rotWithShape="0">
                <a:blip r:embed="rId4"/>
              </a:blipFill>
              <a:ln w="19050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0759" name="Text Box 16"/>
              <p:cNvSpPr txBox="1"/>
              <p:nvPr/>
            </p:nvSpPr>
            <p:spPr>
              <a:xfrm>
                <a:off x="2293" y="3552"/>
                <a:ext cx="48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1" i="1" dirty="0">
                    <a:solidFill>
                      <a:schemeClr val="tx2"/>
                    </a:solidFill>
                  </a:rPr>
                  <a:t>Q</a:t>
                </a:r>
                <a:r>
                  <a:rPr lang="en-US" altLang="zh-CN" b="1" i="1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b="1" i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30750" name="Text Box 17"/>
            <p:cNvSpPr txBox="1"/>
            <p:nvPr/>
          </p:nvSpPr>
          <p:spPr>
            <a:xfrm>
              <a:off x="976" y="1709"/>
              <a:ext cx="2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30751" name="AutoShape 18" descr="球体"/>
            <p:cNvSpPr/>
            <p:nvPr/>
          </p:nvSpPr>
          <p:spPr>
            <a:xfrm>
              <a:off x="747" y="1983"/>
              <a:ext cx="454" cy="293"/>
            </a:xfrm>
            <a:prstGeom prst="rightArrow">
              <a:avLst>
                <a:gd name="adj1" fmla="val 50000"/>
                <a:gd name="adj2" fmla="val 38679"/>
              </a:avLst>
            </a:prstGeom>
            <a:blipFill rotWithShape="0">
              <a:blip r:embed="rId3"/>
            </a:blip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30752" name="Group 19"/>
            <p:cNvGrpSpPr/>
            <p:nvPr/>
          </p:nvGrpSpPr>
          <p:grpSpPr>
            <a:xfrm>
              <a:off x="-23" y="2346"/>
              <a:ext cx="683" cy="432"/>
              <a:chOff x="68" y="3480"/>
              <a:chExt cx="683" cy="432"/>
            </a:xfrm>
          </p:grpSpPr>
          <p:sp>
            <p:nvSpPr>
              <p:cNvPr id="1082388" name="Text Box 20" descr="球体"/>
              <p:cNvSpPr txBox="1">
                <a:spLocks noChangeArrowheads="1"/>
              </p:cNvSpPr>
              <p:nvPr/>
            </p:nvSpPr>
            <p:spPr bwMode="auto">
              <a:xfrm>
                <a:off x="68" y="3480"/>
                <a:ext cx="470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1" lang="en-US" altLang="zh-CN" sz="3200" i="1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Q’</a:t>
                </a:r>
                <a:r>
                  <a:rPr kumimoji="1" lang="en-US" altLang="zh-CN" sz="3200" i="1" kern="1200" cap="none" spc="0" normalizeH="0" baseline="-2500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1" lang="en-US" altLang="zh-CN" sz="3200" i="1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57" name="AutoShape 21" descr="球体"/>
              <p:cNvSpPr/>
              <p:nvPr/>
            </p:nvSpPr>
            <p:spPr>
              <a:xfrm>
                <a:off x="478" y="3528"/>
                <a:ext cx="273" cy="384"/>
              </a:xfrm>
              <a:prstGeom prst="downArrow">
                <a:avLst>
                  <a:gd name="adj1" fmla="val 50000"/>
                  <a:gd name="adj2" fmla="val 35112"/>
                </a:avLst>
              </a:prstGeom>
              <a:blipFill rotWithShape="0">
                <a:blip r:embed="rId4"/>
              </a:blipFill>
              <a:ln w="9525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0753" name="Line 22"/>
            <p:cNvSpPr/>
            <p:nvPr/>
          </p:nvSpPr>
          <p:spPr>
            <a:xfrm flipH="1" flipV="1">
              <a:off x="1653" y="1948"/>
              <a:ext cx="39" cy="136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54" name="Line 23"/>
            <p:cNvSpPr/>
            <p:nvPr/>
          </p:nvSpPr>
          <p:spPr>
            <a:xfrm>
              <a:off x="612" y="1920"/>
              <a:ext cx="77" cy="119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55" name="Rectangle 24"/>
            <p:cNvSpPr/>
            <p:nvPr/>
          </p:nvSpPr>
          <p:spPr>
            <a:xfrm>
              <a:off x="158" y="1797"/>
              <a:ext cx="1633" cy="590"/>
            </a:xfrm>
            <a:prstGeom prst="rect">
              <a:avLst/>
            </a:prstGeom>
            <a:noFill/>
            <a:ln w="38100" cap="flat" cmpd="sng">
              <a:solidFill>
                <a:srgbClr val="0099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82393" name="Text Box 25"/>
          <p:cNvSpPr txBox="1">
            <a:spLocks noChangeArrowheads="1"/>
          </p:cNvSpPr>
          <p:nvPr/>
        </p:nvSpPr>
        <p:spPr bwMode="auto">
          <a:xfrm>
            <a:off x="755650" y="115888"/>
            <a:ext cx="5624513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2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）用不可逆热机</a:t>
            </a:r>
            <a:r>
              <a:rPr kumimoji="1" lang="en-US" altLang="zh-CN" i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 </a:t>
            </a:r>
            <a:r>
              <a:rPr kumimoji="1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’’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代替可逆热机</a:t>
            </a:r>
            <a:r>
              <a:rPr kumimoji="1" lang="en-US" altLang="zh-CN" i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 </a:t>
            </a:r>
            <a:r>
              <a:rPr kumimoji="1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’</a:t>
            </a:r>
            <a:endParaRPr kumimoji="1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082394" name="Text Box 26"/>
          <p:cNvSpPr txBox="1">
            <a:spLocks noChangeArrowheads="1"/>
          </p:cNvSpPr>
          <p:nvPr/>
        </p:nvSpPr>
        <p:spPr bwMode="auto">
          <a:xfrm>
            <a:off x="1036638" y="1163638"/>
            <a:ext cx="202247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同理可以证明</a:t>
            </a:r>
          </a:p>
        </p:txBody>
      </p:sp>
      <p:grpSp>
        <p:nvGrpSpPr>
          <p:cNvPr id="8" name="Group 27"/>
          <p:cNvGrpSpPr/>
          <p:nvPr/>
        </p:nvGrpSpPr>
        <p:grpSpPr>
          <a:xfrm>
            <a:off x="3635375" y="1052513"/>
            <a:ext cx="2100263" cy="600075"/>
            <a:chOff x="3980" y="624"/>
            <a:chExt cx="1323" cy="378"/>
          </a:xfrm>
        </p:grpSpPr>
        <p:graphicFrame>
          <p:nvGraphicFramePr>
            <p:cNvPr id="30744" name="Object 28"/>
            <p:cNvGraphicFramePr/>
            <p:nvPr/>
          </p:nvGraphicFramePr>
          <p:xfrm>
            <a:off x="3980" y="624"/>
            <a:ext cx="64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7" r:id="rId5" imgW="579755" imgH="278765" progId="Equation.DSMT4">
                    <p:embed/>
                  </p:oleObj>
                </mc:Choice>
                <mc:Fallback>
                  <p:oleObj r:id="rId5" imgW="579755" imgH="278765" progId="Equation.DSMT4">
                    <p:embed/>
                    <p:pic>
                      <p:nvPicPr>
                        <p:cNvPr id="0" name="图片 329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0" y="624"/>
                          <a:ext cx="644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2397" name="Text Box 29"/>
            <p:cNvSpPr txBox="1">
              <a:spLocks noChangeArrowheads="1"/>
            </p:cNvSpPr>
            <p:nvPr/>
          </p:nvSpPr>
          <p:spPr bwMode="auto">
            <a:xfrm>
              <a:off x="4608" y="672"/>
              <a:ext cx="695" cy="28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不成立</a:t>
              </a:r>
            </a:p>
          </p:txBody>
        </p:sp>
      </p:grpSp>
      <p:sp>
        <p:nvSpPr>
          <p:cNvPr id="1082398" name="Text Box 30"/>
          <p:cNvSpPr txBox="1">
            <a:spLocks noChangeArrowheads="1"/>
          </p:cNvSpPr>
          <p:nvPr/>
        </p:nvSpPr>
        <p:spPr bwMode="auto">
          <a:xfrm>
            <a:off x="1042988" y="1774825"/>
            <a:ext cx="303847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但由于</a:t>
            </a:r>
            <a:r>
              <a:rPr kumimoji="1" lang="en-US" altLang="zh-CN" i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 </a:t>
            </a:r>
            <a:r>
              <a:rPr kumimoji="1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’’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机不可逆，</a:t>
            </a:r>
          </a:p>
        </p:txBody>
      </p:sp>
      <p:sp>
        <p:nvSpPr>
          <p:cNvPr id="1082399" name="Text Box 31"/>
          <p:cNvSpPr txBox="1">
            <a:spLocks noChangeArrowheads="1"/>
          </p:cNvSpPr>
          <p:nvPr/>
        </p:nvSpPr>
        <p:spPr bwMode="auto">
          <a:xfrm>
            <a:off x="3906838" y="1774825"/>
            <a:ext cx="202247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所以无法证明</a:t>
            </a:r>
          </a:p>
        </p:txBody>
      </p:sp>
      <p:grpSp>
        <p:nvGrpSpPr>
          <p:cNvPr id="9" name="Group 32"/>
          <p:cNvGrpSpPr/>
          <p:nvPr/>
        </p:nvGrpSpPr>
        <p:grpSpPr>
          <a:xfrm>
            <a:off x="5867401" y="1676400"/>
            <a:ext cx="2089151" cy="600075"/>
            <a:chOff x="3681" y="1440"/>
            <a:chExt cx="1316" cy="378"/>
          </a:xfrm>
        </p:grpSpPr>
        <p:graphicFrame>
          <p:nvGraphicFramePr>
            <p:cNvPr id="30742" name="Object 33"/>
            <p:cNvGraphicFramePr/>
            <p:nvPr>
              <p:extLst>
                <p:ext uri="{D42A27DB-BD31-4B8C-83A1-F6EECF244321}">
                  <p14:modId xmlns:p14="http://schemas.microsoft.com/office/powerpoint/2010/main" val="2860918843"/>
                </p:ext>
              </p:extLst>
            </p:nvPr>
          </p:nvGraphicFramePr>
          <p:xfrm>
            <a:off x="3681" y="1440"/>
            <a:ext cx="60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8" r:id="rId7" imgW="535305" imgH="278765" progId="Equation.DSMT4">
                    <p:embed/>
                  </p:oleObj>
                </mc:Choice>
                <mc:Fallback>
                  <p:oleObj r:id="rId7" imgW="535305" imgH="278765" progId="Equation.DSMT4">
                    <p:embed/>
                    <p:pic>
                      <p:nvPicPr>
                        <p:cNvPr id="0" name="图片 330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1" y="1440"/>
                          <a:ext cx="606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2402" name="Text Box 34"/>
            <p:cNvSpPr txBox="1">
              <a:spLocks noChangeArrowheads="1"/>
            </p:cNvSpPr>
            <p:nvPr/>
          </p:nvSpPr>
          <p:spPr bwMode="auto">
            <a:xfrm>
              <a:off x="4287" y="1501"/>
              <a:ext cx="710" cy="291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不成立</a:t>
              </a:r>
            </a:p>
          </p:txBody>
        </p:sp>
      </p:grpSp>
      <p:sp>
        <p:nvSpPr>
          <p:cNvPr id="1082403" name="Text Box 35"/>
          <p:cNvSpPr txBox="1">
            <a:spLocks noChangeArrowheads="1"/>
          </p:cNvSpPr>
          <p:nvPr/>
        </p:nvSpPr>
        <p:spPr bwMode="auto">
          <a:xfrm>
            <a:off x="1071563" y="646113"/>
            <a:ext cx="1052513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假设</a:t>
            </a:r>
          </a:p>
        </p:txBody>
      </p:sp>
      <p:graphicFrame>
        <p:nvGraphicFramePr>
          <p:cNvPr id="1082404" name="Object 36"/>
          <p:cNvGraphicFramePr/>
          <p:nvPr/>
        </p:nvGraphicFramePr>
        <p:xfrm>
          <a:off x="2392363" y="549275"/>
          <a:ext cx="10207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9" r:id="rId9" imgW="579755" imgH="278765" progId="Equation.DSMT4">
                  <p:embed/>
                </p:oleObj>
              </mc:Choice>
              <mc:Fallback>
                <p:oleObj r:id="rId9" imgW="579755" imgH="278765" progId="Equation.DSMT4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92363" y="549275"/>
                        <a:ext cx="1020762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405" name="Text Box 37"/>
          <p:cNvSpPr txBox="1">
            <a:spLocks noChangeArrowheads="1"/>
          </p:cNvSpPr>
          <p:nvPr/>
        </p:nvSpPr>
        <p:spPr bwMode="auto">
          <a:xfrm>
            <a:off x="179388" y="3886200"/>
            <a:ext cx="549275" cy="222726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不可逆机</a:t>
            </a:r>
            <a:r>
              <a:rPr kumimoji="1" lang="en-US" altLang="zh-CN" sz="2800" i="1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2800" kern="1200" cap="none" spc="0" normalizeH="0" baseline="3000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’’</a:t>
            </a:r>
            <a:endParaRPr kumimoji="1" lang="en-US" altLang="zh-CN" sz="2800" kern="1200" cap="none" spc="0" normalizeH="0" baseline="0" noProof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2406" name="Text Box 38"/>
          <p:cNvSpPr txBox="1">
            <a:spLocks noChangeArrowheads="1"/>
          </p:cNvSpPr>
          <p:nvPr/>
        </p:nvSpPr>
        <p:spPr bwMode="auto">
          <a:xfrm>
            <a:off x="6516688" y="2852738"/>
            <a:ext cx="1439863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结论：</a:t>
            </a:r>
          </a:p>
        </p:txBody>
      </p:sp>
      <p:graphicFrame>
        <p:nvGraphicFramePr>
          <p:cNvPr id="1082407" name="Object 39"/>
          <p:cNvGraphicFramePr/>
          <p:nvPr/>
        </p:nvGraphicFramePr>
        <p:xfrm>
          <a:off x="2916238" y="2249488"/>
          <a:ext cx="1184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" r:id="rId11" imgW="535305" imgH="278765" progId="Equation.DSMT4">
                  <p:embed/>
                </p:oleObj>
              </mc:Choice>
              <mc:Fallback>
                <p:oleObj r:id="rId11" imgW="535305" imgH="278765" progId="Equation.DSMT4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2249488"/>
                        <a:ext cx="118427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408" name="Text Box 40"/>
          <p:cNvSpPr txBox="1">
            <a:spLocks noChangeArrowheads="1"/>
          </p:cNvSpPr>
          <p:nvPr/>
        </p:nvSpPr>
        <p:spPr bwMode="auto">
          <a:xfrm>
            <a:off x="900113" y="2346325"/>
            <a:ext cx="201295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（可逆热机）</a:t>
            </a:r>
          </a:p>
        </p:txBody>
      </p:sp>
      <p:sp>
        <p:nvSpPr>
          <p:cNvPr id="1082409" name="Text Box 41"/>
          <p:cNvSpPr txBox="1">
            <a:spLocks noChangeArrowheads="1"/>
          </p:cNvSpPr>
          <p:nvPr/>
        </p:nvSpPr>
        <p:spPr bwMode="auto">
          <a:xfrm>
            <a:off x="3924300" y="2363788"/>
            <a:ext cx="231775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（不可逆热机）</a:t>
            </a:r>
          </a:p>
        </p:txBody>
      </p:sp>
      <p:sp>
        <p:nvSpPr>
          <p:cNvPr id="1082411" name="Text Box 43"/>
          <p:cNvSpPr txBox="1">
            <a:spLocks noChangeArrowheads="1"/>
          </p:cNvSpPr>
          <p:nvPr/>
        </p:nvSpPr>
        <p:spPr bwMode="auto">
          <a:xfrm>
            <a:off x="1042988" y="2852738"/>
            <a:ext cx="384175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由于不可逆过程中有耗散故</a:t>
            </a:r>
          </a:p>
        </p:txBody>
      </p:sp>
      <p:graphicFrame>
        <p:nvGraphicFramePr>
          <p:cNvPr id="1082412" name="Object 44"/>
          <p:cNvGraphicFramePr/>
          <p:nvPr/>
        </p:nvGraphicFramePr>
        <p:xfrm>
          <a:off x="5076825" y="2781300"/>
          <a:ext cx="1184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" r:id="rId13" imgW="535305" imgH="278765" progId="Equation.DSMT4">
                  <p:embed/>
                </p:oleObj>
              </mc:Choice>
              <mc:Fallback>
                <p:oleObj r:id="rId13" imgW="535305" imgH="278765" progId="Equation.DSMT4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2781300"/>
                        <a:ext cx="118427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9" name="Group 45"/>
          <p:cNvGrpSpPr/>
          <p:nvPr/>
        </p:nvGrpSpPr>
        <p:grpSpPr>
          <a:xfrm>
            <a:off x="4500563" y="3573463"/>
            <a:ext cx="4427537" cy="2560637"/>
            <a:chOff x="2971" y="1580"/>
            <a:chExt cx="2585" cy="2112"/>
          </a:xfrm>
        </p:grpSpPr>
        <p:sp>
          <p:nvSpPr>
            <p:cNvPr id="1082414" name="Text Box 46"/>
            <p:cNvSpPr txBox="1">
              <a:spLocks noChangeArrowheads="1"/>
            </p:cNvSpPr>
            <p:nvPr/>
          </p:nvSpPr>
          <p:spPr bwMode="auto">
            <a:xfrm>
              <a:off x="3102" y="1729"/>
              <a:ext cx="2401" cy="18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）在相同的高低温热源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之间工作的一切不可逆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热机的效率，不可能高于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实际上是小于</a:t>
              </a:r>
              <a:r>
                <a:rPr kumimoji="1" lang="en-US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可逆机的</a:t>
              </a:r>
            </a:p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效率。</a:t>
              </a:r>
            </a:p>
          </p:txBody>
        </p:sp>
        <p:sp>
          <p:nvSpPr>
            <p:cNvPr id="30741" name="Rectangle 47"/>
            <p:cNvSpPr/>
            <p:nvPr/>
          </p:nvSpPr>
          <p:spPr>
            <a:xfrm>
              <a:off x="2971" y="1580"/>
              <a:ext cx="2585" cy="2112"/>
            </a:xfrm>
            <a:prstGeom prst="rect">
              <a:avLst/>
            </a:prstGeom>
            <a:noFill/>
            <a:ln w="76200" cap="flat" cmpd="tri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2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2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8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82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93" grpId="0" build="p"/>
      <p:bldP spid="1082394" grpId="0" build="p"/>
      <p:bldP spid="1082398" grpId="0" build="p"/>
      <p:bldP spid="1082399" grpId="0" build="p"/>
      <p:bldP spid="1082403" grpId="0" build="p"/>
      <p:bldP spid="1082406" grpId="0" build="p"/>
      <p:bldP spid="1082408" grpId="0" build="p"/>
      <p:bldP spid="1082409" grpId="0" build="p"/>
      <p:bldP spid="10824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23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31747" name="Text Box 2"/>
          <p:cNvSpPr txBox="1"/>
          <p:nvPr/>
        </p:nvSpPr>
        <p:spPr>
          <a:xfrm>
            <a:off x="323850" y="115888"/>
            <a:ext cx="472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卡诺定理也可用于制冷机</a:t>
            </a:r>
          </a:p>
        </p:txBody>
      </p:sp>
      <p:sp>
        <p:nvSpPr>
          <p:cNvPr id="1083395" name="Text Box 3"/>
          <p:cNvSpPr txBox="1">
            <a:spLocks noChangeArrowheads="1"/>
          </p:cNvSpPr>
          <p:nvPr/>
        </p:nvSpPr>
        <p:spPr bwMode="auto">
          <a:xfrm>
            <a:off x="781050" y="949325"/>
            <a:ext cx="76200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在相同的高温热源和相同的低温热源间工作的一切</a:t>
            </a:r>
            <a:r>
              <a:rPr kumimoji="1" lang="zh-CN" altLang="en-US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可逆制冷机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的制冷系数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都相等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与工作物质无关。</a:t>
            </a:r>
          </a:p>
        </p:txBody>
      </p:sp>
      <p:sp>
        <p:nvSpPr>
          <p:cNvPr id="1083396" name="Text Box 4"/>
          <p:cNvSpPr txBox="1">
            <a:spLocks noChangeArrowheads="1"/>
          </p:cNvSpPr>
          <p:nvPr/>
        </p:nvSpPr>
        <p:spPr bwMode="auto">
          <a:xfrm>
            <a:off x="781050" y="2025650"/>
            <a:ext cx="7924800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在相同的高温热源和相同的低温热源间工作的一切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不可逆制冷机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的制冷系数都</a:t>
            </a:r>
            <a:r>
              <a:rPr kumimoji="1" lang="zh-CN" altLang="en-US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不可能大于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可逆制冷机的制冷系数。</a:t>
            </a:r>
          </a:p>
        </p:txBody>
      </p:sp>
      <p:sp>
        <p:nvSpPr>
          <p:cNvPr id="1083397" name="Text Box 5"/>
          <p:cNvSpPr txBox="1">
            <a:spLocks noChangeArrowheads="1"/>
          </p:cNvSpPr>
          <p:nvPr/>
        </p:nvSpPr>
        <p:spPr bwMode="auto">
          <a:xfrm>
            <a:off x="704850" y="3403600"/>
            <a:ext cx="7543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可以仿照证明卡诺热机定理的方法证明上述结论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8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8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/>
      <p:bldP spid="1083396" grpId="0"/>
      <p:bldP spid="10833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24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84418" name="Text Box 2"/>
          <p:cNvSpPr txBox="1">
            <a:spLocks noChangeArrowheads="1"/>
          </p:cNvSpPr>
          <p:nvPr/>
        </p:nvSpPr>
        <p:spPr bwMode="blackWhite">
          <a:xfrm>
            <a:off x="76200" y="228600"/>
            <a:ext cx="9202738" cy="191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某热机循环从高温热源获得热量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，并把热量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排给低温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热源。设高温热源的温度为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=2000 K ,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低温热源的温度为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=300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K,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试确定在下列条件下热机是可逆， 不可逆或不可能的。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（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1000 J , 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900 J ; 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2000J , 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300 J ;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 1500 J ,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=500 J .</a:t>
            </a:r>
          </a:p>
        </p:txBody>
      </p:sp>
      <p:sp>
        <p:nvSpPr>
          <p:cNvPr id="1084419" name="Text Box 3"/>
          <p:cNvSpPr txBox="1">
            <a:spLocks noChangeArrowheads="1"/>
          </p:cNvSpPr>
          <p:nvPr/>
        </p:nvSpPr>
        <p:spPr bwMode="blackWhite">
          <a:xfrm>
            <a:off x="609600" y="2362200"/>
            <a:ext cx="61229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1" lang="zh-CN" altLang="en-US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卡诺循环热机效率为最高效率，其值</a:t>
            </a:r>
          </a:p>
        </p:txBody>
      </p:sp>
      <p:graphicFrame>
        <p:nvGraphicFramePr>
          <p:cNvPr id="1084420" name="Object 4"/>
          <p:cNvGraphicFramePr/>
          <p:nvPr/>
        </p:nvGraphicFramePr>
        <p:xfrm>
          <a:off x="2322513" y="2781300"/>
          <a:ext cx="39655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1" r:id="rId3" imgW="2598420" imgH="557530" progId="Equation.3">
                  <p:embed/>
                </p:oleObj>
              </mc:Choice>
              <mc:Fallback>
                <p:oleObj r:id="rId3" imgW="2598420" imgH="55753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22513" y="2781300"/>
                        <a:ext cx="396557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1" name="Text Box 5"/>
          <p:cNvSpPr txBox="1"/>
          <p:nvPr/>
        </p:nvSpPr>
        <p:spPr>
          <a:xfrm>
            <a:off x="228600" y="3886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</a:p>
        </p:txBody>
      </p:sp>
      <p:graphicFrame>
        <p:nvGraphicFramePr>
          <p:cNvPr id="1084422" name="Object 6"/>
          <p:cNvGraphicFramePr/>
          <p:nvPr/>
        </p:nvGraphicFramePr>
        <p:xfrm>
          <a:off x="947738" y="3733800"/>
          <a:ext cx="4430712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r:id="rId5" imgW="1917065" imgH="431800" progId="Equation.3">
                  <p:embed/>
                </p:oleObj>
              </mc:Choice>
              <mc:Fallback>
                <p:oleObj r:id="rId5" imgW="1917065" imgH="4318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  <a:lum bright="100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47738" y="3733800"/>
                        <a:ext cx="4430712" cy="874713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3" name="Text Box 7"/>
          <p:cNvSpPr txBox="1"/>
          <p:nvPr/>
        </p:nvSpPr>
        <p:spPr>
          <a:xfrm>
            <a:off x="5715000" y="3886200"/>
            <a:ext cx="2673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这是不可能的。</a:t>
            </a:r>
          </a:p>
        </p:txBody>
      </p:sp>
      <p:sp>
        <p:nvSpPr>
          <p:cNvPr id="1084424" name="Text Box 8"/>
          <p:cNvSpPr txBox="1"/>
          <p:nvPr/>
        </p:nvSpPr>
        <p:spPr>
          <a:xfrm>
            <a:off x="228600" y="4876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</a:p>
        </p:txBody>
      </p:sp>
      <p:graphicFrame>
        <p:nvGraphicFramePr>
          <p:cNvPr id="1084425" name="Object 9"/>
          <p:cNvGraphicFramePr/>
          <p:nvPr/>
        </p:nvGraphicFramePr>
        <p:xfrm>
          <a:off x="941388" y="4724400"/>
          <a:ext cx="57372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r:id="rId7" imgW="2957830" imgH="431800" progId="Equation.3">
                  <p:embed/>
                </p:oleObj>
              </mc:Choice>
              <mc:Fallback>
                <p:oleObj r:id="rId7" imgW="2957830" imgH="431800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  <a:lum bright="100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41388" y="4724400"/>
                        <a:ext cx="5737225" cy="836613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6" name="Text Box 10"/>
          <p:cNvSpPr txBox="1"/>
          <p:nvPr/>
        </p:nvSpPr>
        <p:spPr>
          <a:xfrm>
            <a:off x="6705600" y="4876800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为可逆热机。</a:t>
            </a:r>
          </a:p>
        </p:txBody>
      </p:sp>
      <p:sp>
        <p:nvSpPr>
          <p:cNvPr id="1084427" name="Text Box 11"/>
          <p:cNvSpPr txBox="1"/>
          <p:nvPr/>
        </p:nvSpPr>
        <p:spPr>
          <a:xfrm>
            <a:off x="228600" y="58674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</a:p>
        </p:txBody>
      </p:sp>
      <p:graphicFrame>
        <p:nvGraphicFramePr>
          <p:cNvPr id="1084428" name="Object 12"/>
          <p:cNvGraphicFramePr/>
          <p:nvPr/>
        </p:nvGraphicFramePr>
        <p:xfrm>
          <a:off x="906463" y="5791200"/>
          <a:ext cx="55784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r:id="rId9" imgW="2932430" imgH="431800" progId="Equation.3">
                  <p:embed/>
                </p:oleObj>
              </mc:Choice>
              <mc:Fallback>
                <p:oleObj r:id="rId9" imgW="2932430" imgH="43180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  <a:lum bright="100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06463" y="5791200"/>
                        <a:ext cx="5578475" cy="819150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9" name="Text Box 13"/>
          <p:cNvSpPr txBox="1"/>
          <p:nvPr/>
        </p:nvSpPr>
        <p:spPr>
          <a:xfrm>
            <a:off x="6613525" y="5964238"/>
            <a:ext cx="2530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是不可逆热机。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8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08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08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108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108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108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19" grpId="0"/>
      <p:bldP spid="1084421" grpId="0"/>
      <p:bldP spid="1084423" grpId="0"/>
      <p:bldP spid="1084424" grpId="0"/>
      <p:bldP spid="1084426" grpId="0"/>
      <p:bldP spid="1084427" grpId="0"/>
      <p:bldP spid="10844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25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28386" name="Text Box 2"/>
          <p:cNvSpPr txBox="1">
            <a:spLocks noChangeArrowheads="1"/>
          </p:cNvSpPr>
          <p:nvPr/>
        </p:nvSpPr>
        <p:spPr bwMode="blackWhite">
          <a:xfrm>
            <a:off x="7088188" y="4852988"/>
            <a:ext cx="2133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卡诺循环</a:t>
            </a:r>
          </a:p>
        </p:txBody>
      </p:sp>
      <p:graphicFrame>
        <p:nvGraphicFramePr>
          <p:cNvPr id="528387" name="Object 3"/>
          <p:cNvGraphicFramePr/>
          <p:nvPr/>
        </p:nvGraphicFramePr>
        <p:xfrm>
          <a:off x="4133850" y="4651375"/>
          <a:ext cx="1828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5" r:id="rId3" imgW="622300" imgH="431800" progId="Equation.3">
                  <p:embed/>
                </p:oleObj>
              </mc:Choice>
              <mc:Fallback>
                <p:oleObj r:id="rId3" imgW="622300" imgH="431800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33850" y="4651375"/>
                        <a:ext cx="182880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8388" name="Text Box 4"/>
          <p:cNvSpPr txBox="1">
            <a:spLocks noChangeArrowheads="1"/>
          </p:cNvSpPr>
          <p:nvPr/>
        </p:nvSpPr>
        <p:spPr bwMode="blackWhite">
          <a:xfrm>
            <a:off x="1427163" y="4940300"/>
            <a:ext cx="41449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即对卡诺循环有</a:t>
            </a:r>
          </a:p>
        </p:txBody>
      </p:sp>
      <p:graphicFrame>
        <p:nvGraphicFramePr>
          <p:cNvPr id="528390" name="Object 6"/>
          <p:cNvGraphicFramePr/>
          <p:nvPr/>
        </p:nvGraphicFramePr>
        <p:xfrm>
          <a:off x="2651125" y="3859213"/>
          <a:ext cx="213201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6" r:id="rId5" imgW="1026160" imgH="557530" progId="Equation.3">
                  <p:embed/>
                </p:oleObj>
              </mc:Choice>
              <mc:Fallback>
                <p:oleObj r:id="rId5" imgW="1026160" imgH="55753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51125" y="3859213"/>
                        <a:ext cx="2132013" cy="1096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8391" name="AutoShape 7"/>
          <p:cNvSpPr/>
          <p:nvPr/>
        </p:nvSpPr>
        <p:spPr>
          <a:xfrm>
            <a:off x="1066800" y="4219575"/>
            <a:ext cx="1219200" cy="360363"/>
          </a:xfrm>
          <a:custGeom>
            <a:avLst/>
            <a:gdLst/>
            <a:ahLst/>
            <a:cxnLst>
              <a:cxn ang="0">
                <a:pos x="51612800" y="0"/>
              </a:cxn>
              <a:cxn ang="0">
                <a:pos x="51612800" y="1503031"/>
              </a:cxn>
              <a:cxn ang="0">
                <a:pos x="10752667" y="1503031"/>
              </a:cxn>
              <a:cxn ang="0">
                <a:pos x="10752667" y="4509075"/>
              </a:cxn>
              <a:cxn ang="0">
                <a:pos x="51612800" y="4509075"/>
              </a:cxn>
              <a:cxn ang="0">
                <a:pos x="51612800" y="6012106"/>
              </a:cxn>
              <a:cxn ang="0">
                <a:pos x="68817067" y="3006061"/>
              </a:cxn>
              <a:cxn ang="0">
                <a:pos x="51612800" y="0"/>
              </a:cxn>
              <a:cxn ang="0">
                <a:pos x="4301067" y="1503031"/>
              </a:cxn>
              <a:cxn ang="0">
                <a:pos x="4301067" y="4509075"/>
              </a:cxn>
              <a:cxn ang="0">
                <a:pos x="8602133" y="4509075"/>
              </a:cxn>
              <a:cxn ang="0">
                <a:pos x="8602133" y="1503031"/>
              </a:cxn>
              <a:cxn ang="0">
                <a:pos x="4301067" y="1503031"/>
              </a:cxn>
              <a:cxn ang="0">
                <a:pos x="0" y="1503031"/>
              </a:cxn>
              <a:cxn ang="0">
                <a:pos x="0" y="4509075"/>
              </a:cxn>
              <a:cxn ang="0">
                <a:pos x="2150533" y="4509075"/>
              </a:cxn>
              <a:cxn ang="0">
                <a:pos x="2150533" y="1503031"/>
              </a:cxn>
              <a:cxn ang="0">
                <a:pos x="0" y="1503031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3300">
              <a:alpha val="100000"/>
            </a:srgb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528392" name="Text Box 8"/>
          <p:cNvSpPr txBox="1">
            <a:spLocks noChangeArrowheads="1"/>
          </p:cNvSpPr>
          <p:nvPr/>
        </p:nvSpPr>
        <p:spPr bwMode="blackWhite">
          <a:xfrm>
            <a:off x="323850" y="549275"/>
            <a:ext cx="7138988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一、 克劳修斯熵（</a:t>
            </a: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1854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</a:p>
        </p:txBody>
      </p:sp>
      <p:sp>
        <p:nvSpPr>
          <p:cNvPr id="528393" name="Text Box 9"/>
          <p:cNvSpPr txBox="1">
            <a:spLocks noChangeArrowheads="1"/>
          </p:cNvSpPr>
          <p:nvPr/>
        </p:nvSpPr>
        <p:spPr bwMode="blackWhite">
          <a:xfrm>
            <a:off x="1179513" y="1865313"/>
            <a:ext cx="8731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效率</a:t>
            </a:r>
            <a:endParaRPr kumimoji="1" lang="zh-CN" altLang="en-US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8394" name="Object 10"/>
          <p:cNvGraphicFramePr/>
          <p:nvPr/>
        </p:nvGraphicFramePr>
        <p:xfrm>
          <a:off x="2259013" y="1530350"/>
          <a:ext cx="3027362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7" r:id="rId7" imgW="1308100" imgH="469900" progId="Equation.3">
                  <p:embed/>
                </p:oleObj>
              </mc:Choice>
              <mc:Fallback>
                <p:oleObj r:id="rId7" imgW="1308100" imgH="4699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59013" y="1530350"/>
                        <a:ext cx="3027362" cy="1087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8395" name="Object 11"/>
          <p:cNvGraphicFramePr/>
          <p:nvPr/>
        </p:nvGraphicFramePr>
        <p:xfrm>
          <a:off x="1763713" y="2552700"/>
          <a:ext cx="19446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8" r:id="rId9" imgW="787400" imgH="469900" progId="Equation.3">
                  <p:embed/>
                </p:oleObj>
              </mc:Choice>
              <mc:Fallback>
                <p:oleObj r:id="rId9" imgW="787400" imgH="4699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63713" y="2552700"/>
                        <a:ext cx="1944687" cy="115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8396" name="Object 12"/>
          <p:cNvGraphicFramePr/>
          <p:nvPr/>
        </p:nvGraphicFramePr>
        <p:xfrm>
          <a:off x="3878263" y="2641600"/>
          <a:ext cx="206216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" r:id="rId11" imgW="850265" imgH="444500" progId="Equation.3">
                  <p:embed/>
                </p:oleObj>
              </mc:Choice>
              <mc:Fallback>
                <p:oleObj r:id="rId11" imgW="850265" imgH="4445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78263" y="2641600"/>
                        <a:ext cx="2062162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05" name="Group 13"/>
          <p:cNvGrpSpPr/>
          <p:nvPr/>
        </p:nvGrpSpPr>
        <p:grpSpPr>
          <a:xfrm>
            <a:off x="6872288" y="2397125"/>
            <a:ext cx="2208212" cy="2470150"/>
            <a:chOff x="4241" y="2373"/>
            <a:chExt cx="1391" cy="1556"/>
          </a:xfrm>
        </p:grpSpPr>
        <p:grpSp>
          <p:nvGrpSpPr>
            <p:cNvPr id="33813" name="Group 14"/>
            <p:cNvGrpSpPr/>
            <p:nvPr/>
          </p:nvGrpSpPr>
          <p:grpSpPr>
            <a:xfrm>
              <a:off x="4241" y="2373"/>
              <a:ext cx="1152" cy="1556"/>
              <a:chOff x="3984" y="432"/>
              <a:chExt cx="1152" cy="1556"/>
            </a:xfrm>
          </p:grpSpPr>
          <p:grpSp>
            <p:nvGrpSpPr>
              <p:cNvPr id="33815" name="Group 15"/>
              <p:cNvGrpSpPr/>
              <p:nvPr/>
            </p:nvGrpSpPr>
            <p:grpSpPr>
              <a:xfrm>
                <a:off x="3984" y="720"/>
                <a:ext cx="1152" cy="960"/>
                <a:chOff x="3984" y="720"/>
                <a:chExt cx="1152" cy="960"/>
              </a:xfrm>
            </p:grpSpPr>
            <p:grpSp>
              <p:nvGrpSpPr>
                <p:cNvPr id="33820" name="Group 16"/>
                <p:cNvGrpSpPr/>
                <p:nvPr/>
              </p:nvGrpSpPr>
              <p:grpSpPr>
                <a:xfrm>
                  <a:off x="3984" y="720"/>
                  <a:ext cx="1152" cy="960"/>
                  <a:chOff x="3984" y="720"/>
                  <a:chExt cx="1152" cy="960"/>
                </a:xfrm>
              </p:grpSpPr>
              <p:sp>
                <p:nvSpPr>
                  <p:cNvPr id="33825" name="Line 17"/>
                  <p:cNvSpPr/>
                  <p:nvPr/>
                </p:nvSpPr>
                <p:spPr>
                  <a:xfrm>
                    <a:off x="3984" y="864"/>
                    <a:ext cx="110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26" name="Line 18"/>
                  <p:cNvSpPr/>
                  <p:nvPr/>
                </p:nvSpPr>
                <p:spPr>
                  <a:xfrm>
                    <a:off x="3984" y="720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27" name="Line 19"/>
                  <p:cNvSpPr/>
                  <p:nvPr/>
                </p:nvSpPr>
                <p:spPr>
                  <a:xfrm>
                    <a:off x="5088" y="720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28" name="Line 20"/>
                  <p:cNvSpPr/>
                  <p:nvPr/>
                </p:nvSpPr>
                <p:spPr>
                  <a:xfrm>
                    <a:off x="4032" y="1536"/>
                    <a:ext cx="110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29" name="Line 21"/>
                  <p:cNvSpPr/>
                  <p:nvPr/>
                </p:nvSpPr>
                <p:spPr>
                  <a:xfrm>
                    <a:off x="4032" y="1536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30" name="Line 22"/>
                  <p:cNvSpPr/>
                  <p:nvPr/>
                </p:nvSpPr>
                <p:spPr>
                  <a:xfrm>
                    <a:off x="5136" y="1536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3821" name="Oval 23"/>
                <p:cNvSpPr/>
                <p:nvPr/>
              </p:nvSpPr>
              <p:spPr>
                <a:xfrm>
                  <a:off x="4320" y="1056"/>
                  <a:ext cx="384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3822" name="AutoShape 24"/>
                <p:cNvSpPr/>
                <p:nvPr/>
              </p:nvSpPr>
              <p:spPr>
                <a:xfrm>
                  <a:off x="4368" y="864"/>
                  <a:ext cx="288" cy="288"/>
                </a:xfrm>
                <a:prstGeom prst="downArrow">
                  <a:avLst>
                    <a:gd name="adj1" fmla="val 50000"/>
                    <a:gd name="adj2" fmla="val 25000"/>
                  </a:avLst>
                </a:prstGeom>
                <a:solidFill>
                  <a:srgbClr val="CC0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3823" name="AutoShape 25"/>
                <p:cNvSpPr/>
                <p:nvPr/>
              </p:nvSpPr>
              <p:spPr>
                <a:xfrm>
                  <a:off x="4512" y="1104"/>
                  <a:ext cx="576" cy="192"/>
                </a:xfrm>
                <a:prstGeom prst="rightArrow">
                  <a:avLst>
                    <a:gd name="adj1" fmla="val 50000"/>
                    <a:gd name="adj2" fmla="val 75000"/>
                  </a:avLst>
                </a:prstGeom>
                <a:solidFill>
                  <a:srgbClr val="66FFFF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3824" name="AutoShape 26"/>
                <p:cNvSpPr/>
                <p:nvPr/>
              </p:nvSpPr>
              <p:spPr>
                <a:xfrm>
                  <a:off x="4416" y="1248"/>
                  <a:ext cx="192" cy="288"/>
                </a:xfrm>
                <a:prstGeom prst="downArrow">
                  <a:avLst>
                    <a:gd name="adj1" fmla="val 50000"/>
                    <a:gd name="adj2" fmla="val 37500"/>
                  </a:avLst>
                </a:prstGeom>
                <a:solidFill>
                  <a:srgbClr val="FFFF9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graphicFrame>
            <p:nvGraphicFramePr>
              <p:cNvPr id="33816" name="Object 27"/>
              <p:cNvGraphicFramePr/>
              <p:nvPr/>
            </p:nvGraphicFramePr>
            <p:xfrm>
              <a:off x="4368" y="432"/>
              <a:ext cx="300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90" r:id="rId13" imgW="167005" imgH="267335" progId="Equation.3">
                      <p:embed/>
                    </p:oleObj>
                  </mc:Choice>
                  <mc:Fallback>
                    <p:oleObj r:id="rId13" imgW="167005" imgH="267335" progId="Equation.3">
                      <p:embed/>
                      <p:pic>
                        <p:nvPicPr>
                          <p:cNvPr id="0" name="图片 3326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68" y="432"/>
                            <a:ext cx="300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17" name="Object 28"/>
              <p:cNvGraphicFramePr/>
              <p:nvPr/>
            </p:nvGraphicFramePr>
            <p:xfrm>
              <a:off x="4464" y="1584"/>
              <a:ext cx="308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91" r:id="rId15" imgW="189865" imgH="267335" progId="Equation.3">
                      <p:embed/>
                    </p:oleObj>
                  </mc:Choice>
                  <mc:Fallback>
                    <p:oleObj r:id="rId15" imgW="189865" imgH="267335" progId="Equation.3">
                      <p:embed/>
                      <p:pic>
                        <p:nvPicPr>
                          <p:cNvPr id="0" name="图片 3333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64" y="1584"/>
                            <a:ext cx="308" cy="4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18" name="Object 29"/>
              <p:cNvGraphicFramePr/>
              <p:nvPr/>
            </p:nvGraphicFramePr>
            <p:xfrm>
              <a:off x="4080" y="816"/>
              <a:ext cx="293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92" r:id="rId17" imgW="212090" imgH="267335" progId="Equation.3">
                      <p:embed/>
                    </p:oleObj>
                  </mc:Choice>
                  <mc:Fallback>
                    <p:oleObj r:id="rId17" imgW="212090" imgH="267335" progId="Equation.3">
                      <p:embed/>
                      <p:pic>
                        <p:nvPicPr>
                          <p:cNvPr id="0" name="图片 3303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80" y="816"/>
                            <a:ext cx="293" cy="3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19" name="Object 30"/>
              <p:cNvGraphicFramePr/>
              <p:nvPr/>
            </p:nvGraphicFramePr>
            <p:xfrm>
              <a:off x="4128" y="1200"/>
              <a:ext cx="290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93" r:id="rId19" imgW="234315" imgH="267335" progId="Equation.3">
                      <p:embed/>
                    </p:oleObj>
                  </mc:Choice>
                  <mc:Fallback>
                    <p:oleObj r:id="rId19" imgW="234315" imgH="267335" progId="Equation.3">
                      <p:embed/>
                      <p:pic>
                        <p:nvPicPr>
                          <p:cNvPr id="0" name="图片 3299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28" y="1200"/>
                            <a:ext cx="290" cy="3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28415" name="Text Box 31"/>
            <p:cNvSpPr txBox="1">
              <a:spLocks noChangeArrowheads="1"/>
            </p:cNvSpPr>
            <p:nvPr/>
          </p:nvSpPr>
          <p:spPr bwMode="blackWhite">
            <a:xfrm>
              <a:off x="5367" y="2957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</p:grpSp>
      <p:grpSp>
        <p:nvGrpSpPr>
          <p:cNvPr id="6" name="Group 42"/>
          <p:cNvGrpSpPr/>
          <p:nvPr/>
        </p:nvGrpSpPr>
        <p:grpSpPr>
          <a:xfrm>
            <a:off x="684213" y="5661025"/>
            <a:ext cx="8018462" cy="1123950"/>
            <a:chOff x="431" y="3566"/>
            <a:chExt cx="5051" cy="708"/>
          </a:xfrm>
        </p:grpSpPr>
        <p:sp>
          <p:nvSpPr>
            <p:cNvPr id="528422" name="Rectangle 38"/>
            <p:cNvSpPr>
              <a:spLocks noChangeArrowheads="1"/>
            </p:cNvSpPr>
            <p:nvPr/>
          </p:nvSpPr>
          <p:spPr bwMode="auto">
            <a:xfrm>
              <a:off x="431" y="3566"/>
              <a:ext cx="1360" cy="708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graphicFrame>
          <p:nvGraphicFramePr>
            <p:cNvPr id="33810" name="Object 39"/>
            <p:cNvGraphicFramePr/>
            <p:nvPr/>
          </p:nvGraphicFramePr>
          <p:xfrm>
            <a:off x="1380" y="3629"/>
            <a:ext cx="33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94" r:id="rId21" imgW="190500" imgH="393700" progId="Equation.3">
                    <p:embed/>
                  </p:oleObj>
                </mc:Choice>
                <mc:Fallback>
                  <p:oleObj r:id="rId21" imgW="190500" imgH="393700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80" y="3629"/>
                          <a:ext cx="334" cy="6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8424" name="Text Box 40"/>
            <p:cNvSpPr txBox="1">
              <a:spLocks noChangeArrowheads="1"/>
            </p:cNvSpPr>
            <p:nvPr/>
          </p:nvSpPr>
          <p:spPr bwMode="auto">
            <a:xfrm>
              <a:off x="479" y="3744"/>
              <a:ext cx="144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热温比</a:t>
              </a:r>
            </a:p>
          </p:txBody>
        </p:sp>
        <p:sp>
          <p:nvSpPr>
            <p:cNvPr id="528425" name="Text Box 41"/>
            <p:cNvSpPr txBox="1">
              <a:spLocks noChangeArrowheads="1"/>
            </p:cNvSpPr>
            <p:nvPr/>
          </p:nvSpPr>
          <p:spPr bwMode="auto">
            <a:xfrm>
              <a:off x="1882" y="3683"/>
              <a:ext cx="3600" cy="5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zh-CN" altLang="en-US" kern="1200" cap="none" spc="0" normalizeH="0" baseline="0" noProof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等温过程中吸收或放出的热量与热源温度之比 </a:t>
              </a:r>
              <a:r>
                <a:rPr kumimoji="0" lang="en-US" altLang="zh-CN" kern="1200" cap="none" spc="0" normalizeH="0" baseline="0" noProof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</p:grpSp>
      <p:sp>
        <p:nvSpPr>
          <p:cNvPr id="528428" name="Text Box 44"/>
          <p:cNvSpPr txBox="1">
            <a:spLocks noChangeArrowheads="1"/>
          </p:cNvSpPr>
          <p:nvPr/>
        </p:nvSpPr>
        <p:spPr bwMode="auto">
          <a:xfrm>
            <a:off x="395288" y="1052513"/>
            <a:ext cx="5178425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1" lang="zh-CN" altLang="en-US" sz="28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对于卡诺循环（可逆循环）</a:t>
            </a:r>
          </a:p>
        </p:txBody>
      </p:sp>
      <p:sp>
        <p:nvSpPr>
          <p:cNvPr id="756741" name="Text Box 5"/>
          <p:cNvSpPr txBox="1">
            <a:spLocks noChangeArrowheads="1"/>
          </p:cNvSpPr>
          <p:nvPr/>
        </p:nvSpPr>
        <p:spPr bwMode="auto">
          <a:xfrm>
            <a:off x="2511425" y="44450"/>
            <a:ext cx="4041775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13-8   </a:t>
            </a:r>
            <a:r>
              <a:rPr kumimoji="1" lang="zh-CN" altLang="en-US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熵   熵增加原理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8" grpId="0" bldLvl="0" animBg="1"/>
      <p:bldP spid="528393" grpId="0" bldLvl="0" animBg="1"/>
      <p:bldP spid="52842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aphicFrame>
        <p:nvGraphicFramePr>
          <p:cNvPr id="529410" name="Object 2"/>
          <p:cNvGraphicFramePr/>
          <p:nvPr/>
        </p:nvGraphicFramePr>
        <p:xfrm>
          <a:off x="6011863" y="3573463"/>
          <a:ext cx="24177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" r:id="rId3" imgW="1028065" imgH="431800" progId="Equation.3">
                  <p:embed/>
                </p:oleObj>
              </mc:Choice>
              <mc:Fallback>
                <p:oleObj r:id="rId3" imgW="1028065" imgH="4318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1863" y="3573463"/>
                        <a:ext cx="2417762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430" name="Text Box 22"/>
          <p:cNvSpPr txBox="1">
            <a:spLocks noChangeArrowheads="1"/>
          </p:cNvSpPr>
          <p:nvPr/>
        </p:nvSpPr>
        <p:spPr bwMode="blackWhite">
          <a:xfrm>
            <a:off x="842963" y="620713"/>
            <a:ext cx="5822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将任意可逆循环分割成许多小卡诺循环。 </a:t>
            </a:r>
          </a:p>
        </p:txBody>
      </p:sp>
      <p:graphicFrame>
        <p:nvGraphicFramePr>
          <p:cNvPr id="529488" name="Object 80"/>
          <p:cNvGraphicFramePr/>
          <p:nvPr/>
        </p:nvGraphicFramePr>
        <p:xfrm>
          <a:off x="827088" y="6338888"/>
          <a:ext cx="134937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0" r:id="rId5" imgW="508000" imgH="139700" progId="Equation.3">
                  <p:embed/>
                </p:oleObj>
              </mc:Choice>
              <mc:Fallback>
                <p:oleObj r:id="rId5" imgW="508000" imgH="139700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088" y="6338888"/>
                        <a:ext cx="1349375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89" name="Object 81"/>
          <p:cNvGraphicFramePr/>
          <p:nvPr/>
        </p:nvGraphicFramePr>
        <p:xfrm>
          <a:off x="2744788" y="6269038"/>
          <a:ext cx="29860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" r:id="rId7" imgW="1295400" imgH="228600" progId="Equation.3">
                  <p:embed/>
                </p:oleObj>
              </mc:Choice>
              <mc:Fallback>
                <p:oleObj r:id="rId7" imgW="1295400" imgH="22860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4788" y="6269038"/>
                        <a:ext cx="2986087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90" name="Object 82"/>
          <p:cNvGraphicFramePr/>
          <p:nvPr/>
        </p:nvGraphicFramePr>
        <p:xfrm>
          <a:off x="6084888" y="6223000"/>
          <a:ext cx="14398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2" r:id="rId9" imgW="508000" imgH="241300" progId="Equation.3">
                  <p:embed/>
                </p:oleObj>
              </mc:Choice>
              <mc:Fallback>
                <p:oleObj r:id="rId9" imgW="508000" imgH="241300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84888" y="6223000"/>
                        <a:ext cx="1439862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491" name="Text Box 83"/>
          <p:cNvSpPr txBox="1">
            <a:spLocks noChangeArrowheads="1"/>
          </p:cNvSpPr>
          <p:nvPr/>
        </p:nvSpPr>
        <p:spPr bwMode="auto">
          <a:xfrm>
            <a:off x="468313" y="5373688"/>
            <a:ext cx="30241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对所有小卡诺循环：</a:t>
            </a:r>
          </a:p>
        </p:txBody>
      </p:sp>
      <p:graphicFrame>
        <p:nvGraphicFramePr>
          <p:cNvPr id="529492" name="Object 84"/>
          <p:cNvGraphicFramePr/>
          <p:nvPr/>
        </p:nvGraphicFramePr>
        <p:xfrm>
          <a:off x="3144838" y="5013325"/>
          <a:ext cx="3732212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3" r:id="rId11" imgW="1421765" imgH="482600" progId="Equation.3">
                  <p:embed/>
                </p:oleObj>
              </mc:Choice>
              <mc:Fallback>
                <p:oleObj r:id="rId11" imgW="1421765" imgH="4826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4838" y="5013325"/>
                        <a:ext cx="3732212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546" name="Text Box 138"/>
          <p:cNvSpPr txBox="1">
            <a:spLocks noChangeArrowheads="1"/>
          </p:cNvSpPr>
          <p:nvPr/>
        </p:nvSpPr>
        <p:spPr bwMode="auto">
          <a:xfrm>
            <a:off x="304800" y="0"/>
            <a:ext cx="8839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1" lang="zh-CN" altLang="en-US" sz="28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对于任意可逆循环</a:t>
            </a:r>
            <a:endParaRPr kumimoji="1" lang="zh-CN" altLang="en-US" sz="2800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29552" name="Rectangle 144"/>
          <p:cNvSpPr>
            <a:spLocks noChangeArrowheads="1"/>
          </p:cNvSpPr>
          <p:nvPr/>
        </p:nvSpPr>
        <p:spPr bwMode="auto">
          <a:xfrm>
            <a:off x="6877050" y="1412875"/>
            <a:ext cx="10080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△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i1</a:t>
            </a:r>
          </a:p>
        </p:txBody>
      </p:sp>
      <p:sp>
        <p:nvSpPr>
          <p:cNvPr id="529553" name="Rectangle 145"/>
          <p:cNvSpPr>
            <a:spLocks noChangeArrowheads="1"/>
          </p:cNvSpPr>
          <p:nvPr/>
        </p:nvSpPr>
        <p:spPr bwMode="auto">
          <a:xfrm>
            <a:off x="7597775" y="3068638"/>
            <a:ext cx="9350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△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i2</a:t>
            </a:r>
          </a:p>
        </p:txBody>
      </p:sp>
      <p:sp>
        <p:nvSpPr>
          <p:cNvPr id="529554" name="Rectangle 146"/>
          <p:cNvSpPr>
            <a:spLocks noChangeArrowheads="1"/>
          </p:cNvSpPr>
          <p:nvPr/>
        </p:nvSpPr>
        <p:spPr bwMode="auto">
          <a:xfrm>
            <a:off x="6229350" y="1268413"/>
            <a:ext cx="49847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i1</a:t>
            </a:r>
          </a:p>
        </p:txBody>
      </p:sp>
      <p:sp>
        <p:nvSpPr>
          <p:cNvPr id="529555" name="Rectangle 147"/>
          <p:cNvSpPr>
            <a:spLocks noChangeArrowheads="1"/>
          </p:cNvSpPr>
          <p:nvPr/>
        </p:nvSpPr>
        <p:spPr bwMode="auto">
          <a:xfrm>
            <a:off x="6950075" y="3068638"/>
            <a:ext cx="49847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i2</a:t>
            </a:r>
          </a:p>
        </p:txBody>
      </p:sp>
      <p:grpSp>
        <p:nvGrpSpPr>
          <p:cNvPr id="2" name="Group 152"/>
          <p:cNvGrpSpPr/>
          <p:nvPr/>
        </p:nvGrpSpPr>
        <p:grpSpPr>
          <a:xfrm>
            <a:off x="6373813" y="1557338"/>
            <a:ext cx="1468437" cy="1604962"/>
            <a:chOff x="4649" y="514"/>
            <a:chExt cx="925" cy="1011"/>
          </a:xfrm>
        </p:grpSpPr>
        <p:sp>
          <p:nvSpPr>
            <p:cNvPr id="34861" name="Arc 140"/>
            <p:cNvSpPr/>
            <p:nvPr/>
          </p:nvSpPr>
          <p:spPr>
            <a:xfrm>
              <a:off x="4649" y="514"/>
              <a:ext cx="390" cy="240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0" y="1"/>
                </a:cxn>
                <a:cxn ang="0">
                  <a:pos x="8" y="3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3"/>
                </a:cxn>
              </a:cxnLst>
              <a:rect l="0" t="0" r="0" b="0"/>
              <a:pathLst>
                <a:path w="19514" h="21600" fill="none">
                  <a:moveTo>
                    <a:pt x="19514" y="21600"/>
                  </a:moveTo>
                  <a:cubicBezTo>
                    <a:pt x="11172" y="21600"/>
                    <a:pt x="3576" y="16796"/>
                    <a:pt x="0" y="9260"/>
                  </a:cubicBezTo>
                </a:path>
                <a:path w="19514" h="21600" stroke="0">
                  <a:moveTo>
                    <a:pt x="19514" y="21600"/>
                  </a:moveTo>
                  <a:cubicBezTo>
                    <a:pt x="11172" y="21600"/>
                    <a:pt x="3576" y="16796"/>
                    <a:pt x="0" y="9260"/>
                  </a:cubicBezTo>
                  <a:lnTo>
                    <a:pt x="19514" y="0"/>
                  </a:lnTo>
                  <a:lnTo>
                    <a:pt x="19514" y="21600"/>
                  </a:lnTo>
                  <a:close/>
                </a:path>
              </a:pathLst>
            </a:custGeom>
            <a:noFill/>
            <a:ln w="38100" cap="rnd" cmpd="sng">
              <a:solidFill>
                <a:srgbClr val="FF505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2" name="Arc 143"/>
            <p:cNvSpPr/>
            <p:nvPr/>
          </p:nvSpPr>
          <p:spPr>
            <a:xfrm rot="-890284">
              <a:off x="5152" y="676"/>
              <a:ext cx="422" cy="849"/>
            </a:xfrm>
            <a:custGeom>
              <a:avLst/>
              <a:gdLst/>
              <a:ahLst/>
              <a:cxnLst>
                <a:cxn ang="0">
                  <a:pos x="4" y="40"/>
                </a:cxn>
                <a:cxn ang="0">
                  <a:pos x="0" y="0"/>
                </a:cxn>
                <a:cxn ang="0">
                  <a:pos x="4" y="40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4" y="40"/>
                </a:cxn>
              </a:cxnLst>
              <a:rect l="0" t="0" r="0" b="0"/>
              <a:pathLst>
                <a:path w="21600" h="18070" fill="none">
                  <a:moveTo>
                    <a:pt x="9766" y="18069"/>
                  </a:moveTo>
                  <a:cubicBezTo>
                    <a:pt x="3671" y="14078"/>
                    <a:pt x="0" y="7284"/>
                    <a:pt x="0" y="0"/>
                  </a:cubicBezTo>
                </a:path>
                <a:path w="21600" h="18070" stroke="0">
                  <a:moveTo>
                    <a:pt x="9766" y="18069"/>
                  </a:moveTo>
                  <a:cubicBezTo>
                    <a:pt x="3671" y="14078"/>
                    <a:pt x="0" y="7284"/>
                    <a:pt x="0" y="0"/>
                  </a:cubicBezTo>
                  <a:lnTo>
                    <a:pt x="21600" y="0"/>
                  </a:lnTo>
                  <a:lnTo>
                    <a:pt x="9766" y="18069"/>
                  </a:lnTo>
                  <a:close/>
                </a:path>
              </a:pathLst>
            </a:custGeom>
            <a:noFill/>
            <a:ln w="38100" cap="flat" cmpd="sng">
              <a:solidFill>
                <a:srgbClr val="FF505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3" name="Arc 148"/>
            <p:cNvSpPr/>
            <p:nvPr/>
          </p:nvSpPr>
          <p:spPr>
            <a:xfrm rot="-1650071">
              <a:off x="5004" y="858"/>
              <a:ext cx="144" cy="57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8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8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1"/>
                </a:cxn>
              </a:cxnLst>
              <a:rect l="0" t="0" r="0" b="0"/>
              <a:pathLst>
                <a:path w="43200" h="43200" fill="none">
                  <a:moveTo>
                    <a:pt x="4868" y="7938"/>
                  </a:moveTo>
                  <a:cubicBezTo>
                    <a:pt x="8971" y="2914"/>
                    <a:pt x="151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0069"/>
                    <a:pt x="162" y="18543"/>
                    <a:pt x="485" y="17047"/>
                  </a:cubicBezTo>
                </a:path>
                <a:path w="43200" h="43200" stroke="0">
                  <a:moveTo>
                    <a:pt x="4868" y="7938"/>
                  </a:moveTo>
                  <a:cubicBezTo>
                    <a:pt x="8971" y="2914"/>
                    <a:pt x="151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0069"/>
                    <a:pt x="162" y="18543"/>
                    <a:pt x="485" y="17047"/>
                  </a:cubicBezTo>
                  <a:lnTo>
                    <a:pt x="21600" y="21600"/>
                  </a:lnTo>
                  <a:lnTo>
                    <a:pt x="4868" y="7938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Arc 149"/>
            <p:cNvSpPr/>
            <p:nvPr/>
          </p:nvSpPr>
          <p:spPr>
            <a:xfrm>
              <a:off x="5012" y="1330"/>
              <a:ext cx="453" cy="195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0" y="1"/>
                </a:cxn>
                <a:cxn ang="0">
                  <a:pos x="11" y="2"/>
                </a:cxn>
                <a:cxn ang="0">
                  <a:pos x="0" y="1"/>
                </a:cxn>
                <a:cxn ang="0">
                  <a:pos x="11" y="0"/>
                </a:cxn>
                <a:cxn ang="0">
                  <a:pos x="11" y="2"/>
                </a:cxn>
              </a:cxnLst>
              <a:rect l="0" t="0" r="0" b="0"/>
              <a:pathLst>
                <a:path w="19514" h="21600" fill="none">
                  <a:moveTo>
                    <a:pt x="19514" y="21600"/>
                  </a:moveTo>
                  <a:cubicBezTo>
                    <a:pt x="11172" y="21600"/>
                    <a:pt x="3576" y="16796"/>
                    <a:pt x="0" y="9260"/>
                  </a:cubicBezTo>
                </a:path>
                <a:path w="19514" h="21600" stroke="0">
                  <a:moveTo>
                    <a:pt x="19514" y="21600"/>
                  </a:moveTo>
                  <a:cubicBezTo>
                    <a:pt x="11172" y="21600"/>
                    <a:pt x="3576" y="16796"/>
                    <a:pt x="0" y="9260"/>
                  </a:cubicBezTo>
                  <a:lnTo>
                    <a:pt x="19514" y="0"/>
                  </a:lnTo>
                  <a:lnTo>
                    <a:pt x="19514" y="21600"/>
                  </a:lnTo>
                  <a:close/>
                </a:path>
              </a:pathLst>
            </a:custGeom>
            <a:noFill/>
            <a:ln w="38100" cap="rnd" cmpd="sng">
              <a:solidFill>
                <a:srgbClr val="FF505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5" name="Arc 150"/>
            <p:cNvSpPr/>
            <p:nvPr/>
          </p:nvSpPr>
          <p:spPr>
            <a:xfrm rot="-890284">
              <a:off x="4753" y="525"/>
              <a:ext cx="422" cy="953"/>
            </a:xfrm>
            <a:custGeom>
              <a:avLst/>
              <a:gdLst/>
              <a:ahLst/>
              <a:cxnLst>
                <a:cxn ang="0">
                  <a:pos x="4" y="50"/>
                </a:cxn>
                <a:cxn ang="0">
                  <a:pos x="0" y="0"/>
                </a:cxn>
                <a:cxn ang="0">
                  <a:pos x="4" y="50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4" y="50"/>
                </a:cxn>
              </a:cxnLst>
              <a:rect l="0" t="0" r="0" b="0"/>
              <a:pathLst>
                <a:path w="21600" h="18070" fill="none">
                  <a:moveTo>
                    <a:pt x="9766" y="18069"/>
                  </a:moveTo>
                  <a:cubicBezTo>
                    <a:pt x="3671" y="14078"/>
                    <a:pt x="0" y="7284"/>
                    <a:pt x="0" y="0"/>
                  </a:cubicBezTo>
                </a:path>
                <a:path w="21600" h="18070" stroke="0">
                  <a:moveTo>
                    <a:pt x="9766" y="18069"/>
                  </a:moveTo>
                  <a:cubicBezTo>
                    <a:pt x="3671" y="14078"/>
                    <a:pt x="0" y="7284"/>
                    <a:pt x="0" y="0"/>
                  </a:cubicBezTo>
                  <a:lnTo>
                    <a:pt x="21600" y="0"/>
                  </a:lnTo>
                  <a:lnTo>
                    <a:pt x="9766" y="18069"/>
                  </a:lnTo>
                  <a:close/>
                </a:path>
              </a:pathLst>
            </a:custGeom>
            <a:noFill/>
            <a:ln w="38100" cap="flat" cmpd="sng">
              <a:solidFill>
                <a:srgbClr val="FF505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9559" name="AutoShape 151"/>
          <p:cNvSpPr/>
          <p:nvPr/>
        </p:nvSpPr>
        <p:spPr>
          <a:xfrm flipH="1">
            <a:off x="7381875" y="2997200"/>
            <a:ext cx="71438" cy="503238"/>
          </a:xfrm>
          <a:prstGeom prst="downArrow">
            <a:avLst>
              <a:gd name="adj1" fmla="val 56944"/>
              <a:gd name="adj2" fmla="val 350719"/>
            </a:avLst>
          </a:prstGeom>
          <a:solidFill>
            <a:srgbClr val="CC3300"/>
          </a:solidFill>
          <a:ln w="190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3" name="Group 156"/>
          <p:cNvGrpSpPr/>
          <p:nvPr/>
        </p:nvGrpSpPr>
        <p:grpSpPr>
          <a:xfrm>
            <a:off x="684213" y="1195388"/>
            <a:ext cx="4502150" cy="3505200"/>
            <a:chOff x="192" y="864"/>
            <a:chExt cx="2836" cy="2208"/>
          </a:xfrm>
        </p:grpSpPr>
        <p:grpSp>
          <p:nvGrpSpPr>
            <p:cNvPr id="34851" name="Group 157"/>
            <p:cNvGrpSpPr/>
            <p:nvPr/>
          </p:nvGrpSpPr>
          <p:grpSpPr>
            <a:xfrm>
              <a:off x="192" y="864"/>
              <a:ext cx="2836" cy="2208"/>
              <a:chOff x="192" y="864"/>
              <a:chExt cx="2836" cy="2208"/>
            </a:xfrm>
          </p:grpSpPr>
          <p:sp>
            <p:nvSpPr>
              <p:cNvPr id="34854" name="Rectangle 158"/>
              <p:cNvSpPr/>
              <p:nvPr/>
            </p:nvSpPr>
            <p:spPr>
              <a:xfrm>
                <a:off x="196" y="864"/>
                <a:ext cx="2832" cy="22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4855" name="Line 159"/>
              <p:cNvSpPr/>
              <p:nvPr/>
            </p:nvSpPr>
            <p:spPr>
              <a:xfrm>
                <a:off x="484" y="2928"/>
                <a:ext cx="23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34856" name="Line 160"/>
              <p:cNvSpPr/>
              <p:nvPr/>
            </p:nvSpPr>
            <p:spPr>
              <a:xfrm flipV="1">
                <a:off x="484" y="1008"/>
                <a:ext cx="0" cy="192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34857" name="Object 161"/>
              <p:cNvGraphicFramePr/>
              <p:nvPr/>
            </p:nvGraphicFramePr>
            <p:xfrm>
              <a:off x="192" y="1008"/>
              <a:ext cx="307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4" r:id="rId13" imgW="152400" imgH="165100" progId="Equation.3">
                      <p:embed/>
                    </p:oleObj>
                  </mc:Choice>
                  <mc:Fallback>
                    <p:oleObj r:id="rId13" imgW="152400" imgH="16510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92" y="1008"/>
                            <a:ext cx="307" cy="3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58" name="Object 162"/>
              <p:cNvGraphicFramePr/>
              <p:nvPr/>
            </p:nvGraphicFramePr>
            <p:xfrm>
              <a:off x="270" y="2736"/>
              <a:ext cx="26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5" r:id="rId15" imgW="127000" imgH="139700" progId="Equation.3">
                      <p:embed/>
                    </p:oleObj>
                  </mc:Choice>
                  <mc:Fallback>
                    <p:oleObj r:id="rId15" imgW="127000" imgH="139700" progId="Equation.3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70" y="2736"/>
                            <a:ext cx="262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59" name="Object 163"/>
              <p:cNvGraphicFramePr/>
              <p:nvPr/>
            </p:nvGraphicFramePr>
            <p:xfrm>
              <a:off x="2788" y="2784"/>
              <a:ext cx="221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6" r:id="rId17" imgW="215900" imgH="241300" progId="Equation.3">
                      <p:embed/>
                    </p:oleObj>
                  </mc:Choice>
                  <mc:Fallback>
                    <p:oleObj r:id="rId17" imgW="215900" imgH="241300" progId="Equation.3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788" y="2784"/>
                            <a:ext cx="221" cy="2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860" name="Freeform 164"/>
              <p:cNvSpPr/>
              <p:nvPr/>
            </p:nvSpPr>
            <p:spPr>
              <a:xfrm>
                <a:off x="864" y="1344"/>
                <a:ext cx="1567" cy="1262"/>
              </a:xfrm>
              <a:custGeom>
                <a:avLst/>
                <a:gdLst/>
                <a:ahLst/>
                <a:cxnLst>
                  <a:cxn ang="0">
                    <a:pos x="116" y="590"/>
                  </a:cxn>
                  <a:cxn ang="0">
                    <a:pos x="356" y="254"/>
                  </a:cxn>
                  <a:cxn ang="0">
                    <a:pos x="548" y="110"/>
                  </a:cxn>
                  <a:cxn ang="0">
                    <a:pos x="794" y="26"/>
                  </a:cxn>
                  <a:cxn ang="0">
                    <a:pos x="1124" y="14"/>
                  </a:cxn>
                  <a:cxn ang="0">
                    <a:pos x="1364" y="110"/>
                  </a:cxn>
                  <a:cxn ang="0">
                    <a:pos x="1508" y="254"/>
                  </a:cxn>
                  <a:cxn ang="0">
                    <a:pos x="1556" y="398"/>
                  </a:cxn>
                  <a:cxn ang="0">
                    <a:pos x="1556" y="638"/>
                  </a:cxn>
                  <a:cxn ang="0">
                    <a:pos x="1490" y="842"/>
                  </a:cxn>
                  <a:cxn ang="0">
                    <a:pos x="1364" y="974"/>
                  </a:cxn>
                  <a:cxn ang="0">
                    <a:pos x="1220" y="1070"/>
                  </a:cxn>
                  <a:cxn ang="0">
                    <a:pos x="1028" y="1166"/>
                  </a:cxn>
                  <a:cxn ang="0">
                    <a:pos x="802" y="1242"/>
                  </a:cxn>
                  <a:cxn ang="0">
                    <a:pos x="548" y="1262"/>
                  </a:cxn>
                  <a:cxn ang="0">
                    <a:pos x="272" y="1244"/>
                  </a:cxn>
                  <a:cxn ang="0">
                    <a:pos x="116" y="1166"/>
                  </a:cxn>
                  <a:cxn ang="0">
                    <a:pos x="16" y="972"/>
                  </a:cxn>
                  <a:cxn ang="0">
                    <a:pos x="20" y="782"/>
                  </a:cxn>
                  <a:cxn ang="0">
                    <a:pos x="116" y="590"/>
                  </a:cxn>
                </a:cxnLst>
                <a:rect l="0" t="0" r="0" b="0"/>
                <a:pathLst>
                  <a:path w="1567" h="1262">
                    <a:moveTo>
                      <a:pt x="116" y="590"/>
                    </a:moveTo>
                    <a:cubicBezTo>
                      <a:pt x="172" y="502"/>
                      <a:pt x="284" y="334"/>
                      <a:pt x="356" y="254"/>
                    </a:cubicBezTo>
                    <a:cubicBezTo>
                      <a:pt x="428" y="174"/>
                      <a:pt x="475" y="148"/>
                      <a:pt x="548" y="110"/>
                    </a:cubicBezTo>
                    <a:cubicBezTo>
                      <a:pt x="621" y="72"/>
                      <a:pt x="698" y="42"/>
                      <a:pt x="794" y="26"/>
                    </a:cubicBezTo>
                    <a:cubicBezTo>
                      <a:pt x="890" y="10"/>
                      <a:pt x="1029" y="0"/>
                      <a:pt x="1124" y="14"/>
                    </a:cubicBezTo>
                    <a:cubicBezTo>
                      <a:pt x="1219" y="28"/>
                      <a:pt x="1300" y="70"/>
                      <a:pt x="1364" y="110"/>
                    </a:cubicBezTo>
                    <a:cubicBezTo>
                      <a:pt x="1428" y="150"/>
                      <a:pt x="1476" y="206"/>
                      <a:pt x="1508" y="254"/>
                    </a:cubicBezTo>
                    <a:cubicBezTo>
                      <a:pt x="1540" y="302"/>
                      <a:pt x="1548" y="334"/>
                      <a:pt x="1556" y="398"/>
                    </a:cubicBezTo>
                    <a:cubicBezTo>
                      <a:pt x="1564" y="462"/>
                      <a:pt x="1567" y="564"/>
                      <a:pt x="1556" y="638"/>
                    </a:cubicBezTo>
                    <a:cubicBezTo>
                      <a:pt x="1545" y="712"/>
                      <a:pt x="1522" y="786"/>
                      <a:pt x="1490" y="842"/>
                    </a:cubicBezTo>
                    <a:cubicBezTo>
                      <a:pt x="1458" y="898"/>
                      <a:pt x="1409" y="936"/>
                      <a:pt x="1364" y="974"/>
                    </a:cubicBezTo>
                    <a:cubicBezTo>
                      <a:pt x="1319" y="1012"/>
                      <a:pt x="1276" y="1038"/>
                      <a:pt x="1220" y="1070"/>
                    </a:cubicBezTo>
                    <a:cubicBezTo>
                      <a:pt x="1164" y="1102"/>
                      <a:pt x="1098" y="1137"/>
                      <a:pt x="1028" y="1166"/>
                    </a:cubicBezTo>
                    <a:cubicBezTo>
                      <a:pt x="958" y="1195"/>
                      <a:pt x="882" y="1226"/>
                      <a:pt x="802" y="1242"/>
                    </a:cubicBezTo>
                    <a:cubicBezTo>
                      <a:pt x="722" y="1258"/>
                      <a:pt x="636" y="1262"/>
                      <a:pt x="548" y="1262"/>
                    </a:cubicBezTo>
                    <a:cubicBezTo>
                      <a:pt x="460" y="1262"/>
                      <a:pt x="344" y="1260"/>
                      <a:pt x="272" y="1244"/>
                    </a:cubicBezTo>
                    <a:cubicBezTo>
                      <a:pt x="200" y="1228"/>
                      <a:pt x="159" y="1211"/>
                      <a:pt x="116" y="1166"/>
                    </a:cubicBezTo>
                    <a:cubicBezTo>
                      <a:pt x="73" y="1121"/>
                      <a:pt x="32" y="1036"/>
                      <a:pt x="16" y="972"/>
                    </a:cubicBezTo>
                    <a:cubicBezTo>
                      <a:pt x="0" y="908"/>
                      <a:pt x="3" y="845"/>
                      <a:pt x="20" y="782"/>
                    </a:cubicBezTo>
                    <a:cubicBezTo>
                      <a:pt x="37" y="719"/>
                      <a:pt x="60" y="678"/>
                      <a:pt x="116" y="59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0066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52" name="Line 165"/>
            <p:cNvSpPr/>
            <p:nvPr/>
          </p:nvSpPr>
          <p:spPr>
            <a:xfrm flipH="1">
              <a:off x="2160" y="2208"/>
              <a:ext cx="192" cy="144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4853" name="Line 166"/>
            <p:cNvSpPr/>
            <p:nvPr/>
          </p:nvSpPr>
          <p:spPr>
            <a:xfrm flipV="1">
              <a:off x="1296" y="1440"/>
              <a:ext cx="144" cy="96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5" name="Group 167"/>
          <p:cNvGrpSpPr/>
          <p:nvPr/>
        </p:nvGrpSpPr>
        <p:grpSpPr>
          <a:xfrm>
            <a:off x="1604963" y="1871663"/>
            <a:ext cx="2851150" cy="2143125"/>
            <a:chOff x="772" y="1290"/>
            <a:chExt cx="1796" cy="1350"/>
          </a:xfrm>
        </p:grpSpPr>
        <p:sp>
          <p:nvSpPr>
            <p:cNvPr id="34840" name="Freeform 168"/>
            <p:cNvSpPr/>
            <p:nvPr/>
          </p:nvSpPr>
          <p:spPr>
            <a:xfrm>
              <a:off x="1504" y="1308"/>
              <a:ext cx="996" cy="756"/>
            </a:xfrm>
            <a:custGeom>
              <a:avLst/>
              <a:gdLst/>
              <a:ahLst/>
              <a:cxnLst>
                <a:cxn ang="0">
                  <a:pos x="258" y="54"/>
                </a:cxn>
                <a:cxn ang="0">
                  <a:pos x="996" y="756"/>
                </a:cxn>
                <a:cxn ang="0">
                  <a:pos x="726" y="708"/>
                </a:cxn>
                <a:cxn ang="0">
                  <a:pos x="504" y="540"/>
                </a:cxn>
                <a:cxn ang="0">
                  <a:pos x="270" y="294"/>
                </a:cxn>
                <a:cxn ang="0">
                  <a:pos x="0" y="0"/>
                </a:cxn>
                <a:cxn ang="0">
                  <a:pos x="258" y="54"/>
                </a:cxn>
              </a:cxnLst>
              <a:rect l="0" t="0" r="0" b="0"/>
              <a:pathLst>
                <a:path w="996" h="756">
                  <a:moveTo>
                    <a:pt x="258" y="54"/>
                  </a:moveTo>
                  <a:lnTo>
                    <a:pt x="996" y="756"/>
                  </a:lnTo>
                  <a:lnTo>
                    <a:pt x="726" y="708"/>
                  </a:lnTo>
                  <a:lnTo>
                    <a:pt x="504" y="540"/>
                  </a:lnTo>
                  <a:lnTo>
                    <a:pt x="270" y="294"/>
                  </a:lnTo>
                  <a:lnTo>
                    <a:pt x="0" y="0"/>
                  </a:lnTo>
                  <a:lnTo>
                    <a:pt x="258" y="54"/>
                  </a:ln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Freeform 169"/>
            <p:cNvSpPr/>
            <p:nvPr/>
          </p:nvSpPr>
          <p:spPr>
            <a:xfrm>
              <a:off x="1710" y="1290"/>
              <a:ext cx="858" cy="630"/>
            </a:xfrm>
            <a:custGeom>
              <a:avLst/>
              <a:gdLst/>
              <a:ahLst/>
              <a:cxnLst>
                <a:cxn ang="0">
                  <a:pos x="282" y="77"/>
                </a:cxn>
                <a:cxn ang="0">
                  <a:pos x="666" y="472"/>
                </a:cxn>
                <a:cxn ang="0">
                  <a:pos x="858" y="630"/>
                </a:cxn>
                <a:cxn ang="0">
                  <a:pos x="630" y="606"/>
                </a:cxn>
                <a:cxn ang="0">
                  <a:pos x="87" y="93"/>
                </a:cxn>
                <a:cxn ang="0">
                  <a:pos x="0" y="0"/>
                </a:cxn>
                <a:cxn ang="0">
                  <a:pos x="282" y="77"/>
                </a:cxn>
              </a:cxnLst>
              <a:rect l="0" t="0" r="0" b="0"/>
              <a:pathLst>
                <a:path w="858" h="630">
                  <a:moveTo>
                    <a:pt x="282" y="77"/>
                  </a:moveTo>
                  <a:lnTo>
                    <a:pt x="666" y="472"/>
                  </a:lnTo>
                  <a:lnTo>
                    <a:pt x="858" y="630"/>
                  </a:lnTo>
                  <a:lnTo>
                    <a:pt x="630" y="606"/>
                  </a:lnTo>
                  <a:lnTo>
                    <a:pt x="87" y="93"/>
                  </a:lnTo>
                  <a:lnTo>
                    <a:pt x="0" y="0"/>
                  </a:lnTo>
                  <a:lnTo>
                    <a:pt x="282" y="77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Freeform 170"/>
            <p:cNvSpPr/>
            <p:nvPr/>
          </p:nvSpPr>
          <p:spPr>
            <a:xfrm>
              <a:off x="1968" y="1344"/>
              <a:ext cx="528" cy="3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5" y="58"/>
                </a:cxn>
                <a:cxn ang="0">
                  <a:pos x="257" y="102"/>
                </a:cxn>
                <a:cxn ang="0">
                  <a:pos x="317" y="158"/>
                </a:cxn>
                <a:cxn ang="0">
                  <a:pos x="369" y="201"/>
                </a:cxn>
                <a:cxn ang="0">
                  <a:pos x="445" y="262"/>
                </a:cxn>
                <a:cxn ang="0">
                  <a:pos x="522" y="318"/>
                </a:cxn>
                <a:cxn ang="0">
                  <a:pos x="504" y="321"/>
                </a:cxn>
                <a:cxn ang="0">
                  <a:pos x="354" y="354"/>
                </a:cxn>
                <a:cxn ang="0">
                  <a:pos x="319" y="328"/>
                </a:cxn>
                <a:cxn ang="0">
                  <a:pos x="292" y="308"/>
                </a:cxn>
                <a:cxn ang="0">
                  <a:pos x="256" y="273"/>
                </a:cxn>
                <a:cxn ang="0">
                  <a:pos x="224" y="239"/>
                </a:cxn>
                <a:cxn ang="0">
                  <a:pos x="170" y="181"/>
                </a:cxn>
                <a:cxn ang="0">
                  <a:pos x="128" y="134"/>
                </a:cxn>
                <a:cxn ang="0">
                  <a:pos x="95" y="92"/>
                </a:cxn>
                <a:cxn ang="0">
                  <a:pos x="69" y="66"/>
                </a:cxn>
                <a:cxn ang="0">
                  <a:pos x="42" y="45"/>
                </a:cxn>
                <a:cxn ang="0">
                  <a:pos x="0" y="0"/>
                </a:cxn>
              </a:cxnLst>
              <a:rect l="0" t="0" r="0" b="0"/>
              <a:pathLst>
                <a:path w="528" h="354">
                  <a:moveTo>
                    <a:pt x="0" y="0"/>
                  </a:moveTo>
                  <a:lnTo>
                    <a:pt x="205" y="58"/>
                  </a:lnTo>
                  <a:cubicBezTo>
                    <a:pt x="219" y="68"/>
                    <a:pt x="246" y="87"/>
                    <a:pt x="257" y="102"/>
                  </a:cubicBezTo>
                  <a:cubicBezTo>
                    <a:pt x="276" y="125"/>
                    <a:pt x="297" y="137"/>
                    <a:pt x="317" y="158"/>
                  </a:cubicBezTo>
                  <a:cubicBezTo>
                    <a:pt x="338" y="174"/>
                    <a:pt x="346" y="192"/>
                    <a:pt x="369" y="201"/>
                  </a:cubicBezTo>
                  <a:cubicBezTo>
                    <a:pt x="404" y="237"/>
                    <a:pt x="414" y="240"/>
                    <a:pt x="445" y="262"/>
                  </a:cubicBezTo>
                  <a:cubicBezTo>
                    <a:pt x="468" y="278"/>
                    <a:pt x="525" y="321"/>
                    <a:pt x="522" y="318"/>
                  </a:cubicBezTo>
                  <a:cubicBezTo>
                    <a:pt x="516" y="309"/>
                    <a:pt x="528" y="313"/>
                    <a:pt x="504" y="321"/>
                  </a:cubicBezTo>
                  <a:lnTo>
                    <a:pt x="354" y="354"/>
                  </a:lnTo>
                  <a:cubicBezTo>
                    <a:pt x="353" y="350"/>
                    <a:pt x="322" y="330"/>
                    <a:pt x="319" y="328"/>
                  </a:cubicBezTo>
                  <a:cubicBezTo>
                    <a:pt x="309" y="319"/>
                    <a:pt x="303" y="315"/>
                    <a:pt x="292" y="308"/>
                  </a:cubicBezTo>
                  <a:cubicBezTo>
                    <a:pt x="281" y="290"/>
                    <a:pt x="271" y="287"/>
                    <a:pt x="256" y="273"/>
                  </a:cubicBezTo>
                  <a:cubicBezTo>
                    <a:pt x="245" y="262"/>
                    <a:pt x="234" y="250"/>
                    <a:pt x="224" y="239"/>
                  </a:cubicBezTo>
                  <a:cubicBezTo>
                    <a:pt x="198" y="212"/>
                    <a:pt x="195" y="208"/>
                    <a:pt x="170" y="181"/>
                  </a:cubicBezTo>
                  <a:cubicBezTo>
                    <a:pt x="160" y="171"/>
                    <a:pt x="137" y="145"/>
                    <a:pt x="128" y="134"/>
                  </a:cubicBezTo>
                  <a:cubicBezTo>
                    <a:pt x="116" y="119"/>
                    <a:pt x="107" y="108"/>
                    <a:pt x="95" y="92"/>
                  </a:cubicBezTo>
                  <a:cubicBezTo>
                    <a:pt x="90" y="85"/>
                    <a:pt x="72" y="75"/>
                    <a:pt x="69" y="66"/>
                  </a:cubicBezTo>
                  <a:cubicBezTo>
                    <a:pt x="68" y="62"/>
                    <a:pt x="44" y="48"/>
                    <a:pt x="42" y="45"/>
                  </a:cubicBezTo>
                  <a:cubicBezTo>
                    <a:pt x="30" y="26"/>
                    <a:pt x="0" y="0"/>
                    <a:pt x="0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Freeform 171"/>
            <p:cNvSpPr/>
            <p:nvPr/>
          </p:nvSpPr>
          <p:spPr>
            <a:xfrm>
              <a:off x="1344" y="1392"/>
              <a:ext cx="1131" cy="834"/>
            </a:xfrm>
            <a:custGeom>
              <a:avLst/>
              <a:gdLst/>
              <a:ahLst/>
              <a:cxnLst>
                <a:cxn ang="0">
                  <a:pos x="291" y="63"/>
                </a:cxn>
                <a:cxn ang="0">
                  <a:pos x="555" y="345"/>
                </a:cxn>
                <a:cxn ang="0">
                  <a:pos x="621" y="414"/>
                </a:cxn>
                <a:cxn ang="0">
                  <a:pos x="1131" y="825"/>
                </a:cxn>
                <a:cxn ang="0">
                  <a:pos x="894" y="834"/>
                </a:cxn>
                <a:cxn ang="0">
                  <a:pos x="582" y="630"/>
                </a:cxn>
                <a:cxn ang="0">
                  <a:pos x="311" y="354"/>
                </a:cxn>
                <a:cxn ang="0">
                  <a:pos x="0" y="0"/>
                </a:cxn>
                <a:cxn ang="0">
                  <a:pos x="291" y="63"/>
                </a:cxn>
              </a:cxnLst>
              <a:rect l="0" t="0" r="0" b="0"/>
              <a:pathLst>
                <a:path w="1131" h="834">
                  <a:moveTo>
                    <a:pt x="291" y="63"/>
                  </a:moveTo>
                  <a:lnTo>
                    <a:pt x="555" y="345"/>
                  </a:lnTo>
                  <a:lnTo>
                    <a:pt x="621" y="414"/>
                  </a:lnTo>
                  <a:lnTo>
                    <a:pt x="1131" y="825"/>
                  </a:lnTo>
                  <a:lnTo>
                    <a:pt x="894" y="834"/>
                  </a:lnTo>
                  <a:lnTo>
                    <a:pt x="582" y="630"/>
                  </a:lnTo>
                  <a:lnTo>
                    <a:pt x="311" y="354"/>
                  </a:lnTo>
                  <a:lnTo>
                    <a:pt x="0" y="0"/>
                  </a:lnTo>
                  <a:lnTo>
                    <a:pt x="291" y="63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Freeform 172"/>
            <p:cNvSpPr/>
            <p:nvPr/>
          </p:nvSpPr>
          <p:spPr>
            <a:xfrm>
              <a:off x="1104" y="1440"/>
              <a:ext cx="1296" cy="912"/>
            </a:xfrm>
            <a:custGeom>
              <a:avLst/>
              <a:gdLst/>
              <a:ahLst/>
              <a:cxnLst>
                <a:cxn ang="0">
                  <a:pos x="341" y="86"/>
                </a:cxn>
                <a:cxn ang="0">
                  <a:pos x="714" y="480"/>
                </a:cxn>
                <a:cxn ang="0">
                  <a:pos x="1296" y="912"/>
                </a:cxn>
                <a:cxn ang="0">
                  <a:pos x="1022" y="893"/>
                </a:cxn>
                <a:cxn ang="0">
                  <a:pos x="678" y="663"/>
                </a:cxn>
                <a:cxn ang="0">
                  <a:pos x="355" y="379"/>
                </a:cxn>
                <a:cxn ang="0">
                  <a:pos x="0" y="0"/>
                </a:cxn>
                <a:cxn ang="0">
                  <a:pos x="341" y="86"/>
                </a:cxn>
              </a:cxnLst>
              <a:rect l="0" t="0" r="0" b="0"/>
              <a:pathLst>
                <a:path w="1296" h="912">
                  <a:moveTo>
                    <a:pt x="341" y="86"/>
                  </a:moveTo>
                  <a:lnTo>
                    <a:pt x="714" y="480"/>
                  </a:lnTo>
                  <a:lnTo>
                    <a:pt x="1296" y="912"/>
                  </a:lnTo>
                  <a:lnTo>
                    <a:pt x="1022" y="893"/>
                  </a:lnTo>
                  <a:lnTo>
                    <a:pt x="678" y="663"/>
                  </a:lnTo>
                  <a:lnTo>
                    <a:pt x="355" y="379"/>
                  </a:lnTo>
                  <a:lnTo>
                    <a:pt x="0" y="0"/>
                  </a:lnTo>
                  <a:lnTo>
                    <a:pt x="341" y="86"/>
                  </a:ln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Freeform 173"/>
            <p:cNvSpPr/>
            <p:nvPr/>
          </p:nvSpPr>
          <p:spPr>
            <a:xfrm>
              <a:off x="1012" y="1584"/>
              <a:ext cx="1248" cy="864"/>
            </a:xfrm>
            <a:custGeom>
              <a:avLst/>
              <a:gdLst/>
              <a:ahLst/>
              <a:cxnLst>
                <a:cxn ang="0">
                  <a:pos x="300" y="66"/>
                </a:cxn>
                <a:cxn ang="0">
                  <a:pos x="647" y="417"/>
                </a:cxn>
                <a:cxn ang="0">
                  <a:pos x="1248" y="864"/>
                </a:cxn>
                <a:cxn ang="0">
                  <a:pos x="984" y="846"/>
                </a:cxn>
                <a:cxn ang="0">
                  <a:pos x="662" y="636"/>
                </a:cxn>
                <a:cxn ang="0">
                  <a:pos x="515" y="519"/>
                </a:cxn>
                <a:cxn ang="0">
                  <a:pos x="342" y="359"/>
                </a:cxn>
                <a:cxn ang="0">
                  <a:pos x="0" y="0"/>
                </a:cxn>
                <a:cxn ang="0">
                  <a:pos x="300" y="66"/>
                </a:cxn>
              </a:cxnLst>
              <a:rect l="0" t="0" r="0" b="0"/>
              <a:pathLst>
                <a:path w="1248" h="864">
                  <a:moveTo>
                    <a:pt x="300" y="66"/>
                  </a:moveTo>
                  <a:lnTo>
                    <a:pt x="647" y="417"/>
                  </a:lnTo>
                  <a:lnTo>
                    <a:pt x="1248" y="864"/>
                  </a:lnTo>
                  <a:lnTo>
                    <a:pt x="984" y="846"/>
                  </a:lnTo>
                  <a:lnTo>
                    <a:pt x="662" y="636"/>
                  </a:lnTo>
                  <a:lnTo>
                    <a:pt x="515" y="519"/>
                  </a:lnTo>
                  <a:lnTo>
                    <a:pt x="342" y="359"/>
                  </a:lnTo>
                  <a:lnTo>
                    <a:pt x="0" y="0"/>
                  </a:lnTo>
                  <a:lnTo>
                    <a:pt x="300" y="66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Freeform 174"/>
            <p:cNvSpPr/>
            <p:nvPr/>
          </p:nvSpPr>
          <p:spPr>
            <a:xfrm>
              <a:off x="916" y="1728"/>
              <a:ext cx="1212" cy="799"/>
            </a:xfrm>
            <a:custGeom>
              <a:avLst/>
              <a:gdLst/>
              <a:ahLst/>
              <a:cxnLst>
                <a:cxn ang="0">
                  <a:pos x="288" y="62"/>
                </a:cxn>
                <a:cxn ang="0">
                  <a:pos x="623" y="384"/>
                </a:cxn>
                <a:cxn ang="0">
                  <a:pos x="806" y="519"/>
                </a:cxn>
                <a:cxn ang="0">
                  <a:pos x="1212" y="798"/>
                </a:cxn>
                <a:cxn ang="0">
                  <a:pos x="946" y="799"/>
                </a:cxn>
                <a:cxn ang="0">
                  <a:pos x="624" y="594"/>
                </a:cxn>
                <a:cxn ang="0">
                  <a:pos x="329" y="339"/>
                </a:cxn>
                <a:cxn ang="0">
                  <a:pos x="0" y="0"/>
                </a:cxn>
                <a:cxn ang="0">
                  <a:pos x="288" y="62"/>
                </a:cxn>
              </a:cxnLst>
              <a:rect l="0" t="0" r="0" b="0"/>
              <a:pathLst>
                <a:path w="1212" h="799">
                  <a:moveTo>
                    <a:pt x="288" y="62"/>
                  </a:moveTo>
                  <a:lnTo>
                    <a:pt x="623" y="384"/>
                  </a:lnTo>
                  <a:lnTo>
                    <a:pt x="806" y="519"/>
                  </a:lnTo>
                  <a:lnTo>
                    <a:pt x="1212" y="798"/>
                  </a:lnTo>
                  <a:lnTo>
                    <a:pt x="946" y="799"/>
                  </a:lnTo>
                  <a:lnTo>
                    <a:pt x="624" y="594"/>
                  </a:lnTo>
                  <a:lnTo>
                    <a:pt x="329" y="339"/>
                  </a:lnTo>
                  <a:lnTo>
                    <a:pt x="0" y="0"/>
                  </a:lnTo>
                  <a:lnTo>
                    <a:pt x="288" y="62"/>
                  </a:ln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Freeform 175"/>
            <p:cNvSpPr/>
            <p:nvPr/>
          </p:nvSpPr>
          <p:spPr>
            <a:xfrm>
              <a:off x="864" y="1872"/>
              <a:ext cx="1071" cy="716"/>
            </a:xfrm>
            <a:custGeom>
              <a:avLst/>
              <a:gdLst/>
              <a:ahLst/>
              <a:cxnLst>
                <a:cxn ang="0">
                  <a:pos x="216" y="30"/>
                </a:cxn>
                <a:cxn ang="0">
                  <a:pos x="552" y="348"/>
                </a:cxn>
                <a:cxn ang="0">
                  <a:pos x="1071" y="708"/>
                </a:cxn>
                <a:cxn ang="0">
                  <a:pos x="828" y="716"/>
                </a:cxn>
                <a:cxn ang="0">
                  <a:pos x="528" y="525"/>
                </a:cxn>
                <a:cxn ang="0">
                  <a:pos x="261" y="283"/>
                </a:cxn>
                <a:cxn ang="0">
                  <a:pos x="0" y="0"/>
                </a:cxn>
                <a:cxn ang="0">
                  <a:pos x="216" y="30"/>
                </a:cxn>
              </a:cxnLst>
              <a:rect l="0" t="0" r="0" b="0"/>
              <a:pathLst>
                <a:path w="1071" h="716">
                  <a:moveTo>
                    <a:pt x="216" y="30"/>
                  </a:moveTo>
                  <a:lnTo>
                    <a:pt x="552" y="348"/>
                  </a:lnTo>
                  <a:lnTo>
                    <a:pt x="1071" y="708"/>
                  </a:lnTo>
                  <a:lnTo>
                    <a:pt x="828" y="716"/>
                  </a:lnTo>
                  <a:lnTo>
                    <a:pt x="528" y="525"/>
                  </a:lnTo>
                  <a:lnTo>
                    <a:pt x="261" y="283"/>
                  </a:lnTo>
                  <a:lnTo>
                    <a:pt x="0" y="0"/>
                  </a:lnTo>
                  <a:lnTo>
                    <a:pt x="216" y="3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Freeform 176"/>
            <p:cNvSpPr/>
            <p:nvPr/>
          </p:nvSpPr>
          <p:spPr>
            <a:xfrm>
              <a:off x="816" y="1968"/>
              <a:ext cx="912" cy="648"/>
            </a:xfrm>
            <a:custGeom>
              <a:avLst/>
              <a:gdLst/>
              <a:ahLst/>
              <a:cxnLst>
                <a:cxn ang="0">
                  <a:pos x="154" y="22"/>
                </a:cxn>
                <a:cxn ang="0">
                  <a:pos x="450" y="318"/>
                </a:cxn>
                <a:cxn ang="0">
                  <a:pos x="612" y="447"/>
                </a:cxn>
                <a:cxn ang="0">
                  <a:pos x="912" y="648"/>
                </a:cxn>
                <a:cxn ang="0">
                  <a:pos x="684" y="648"/>
                </a:cxn>
                <a:cxn ang="0">
                  <a:pos x="435" y="491"/>
                </a:cxn>
                <a:cxn ang="0">
                  <a:pos x="195" y="258"/>
                </a:cxn>
                <a:cxn ang="0">
                  <a:pos x="180" y="234"/>
                </a:cxn>
                <a:cxn ang="0">
                  <a:pos x="0" y="0"/>
                </a:cxn>
                <a:cxn ang="0">
                  <a:pos x="154" y="22"/>
                </a:cxn>
              </a:cxnLst>
              <a:rect l="0" t="0" r="0" b="0"/>
              <a:pathLst>
                <a:path w="912" h="648">
                  <a:moveTo>
                    <a:pt x="154" y="22"/>
                  </a:moveTo>
                  <a:lnTo>
                    <a:pt x="450" y="318"/>
                  </a:lnTo>
                  <a:lnTo>
                    <a:pt x="612" y="447"/>
                  </a:lnTo>
                  <a:lnTo>
                    <a:pt x="912" y="648"/>
                  </a:lnTo>
                  <a:lnTo>
                    <a:pt x="684" y="648"/>
                  </a:lnTo>
                  <a:lnTo>
                    <a:pt x="435" y="491"/>
                  </a:lnTo>
                  <a:lnTo>
                    <a:pt x="195" y="258"/>
                  </a:lnTo>
                  <a:lnTo>
                    <a:pt x="180" y="234"/>
                  </a:lnTo>
                  <a:lnTo>
                    <a:pt x="0" y="0"/>
                  </a:lnTo>
                  <a:lnTo>
                    <a:pt x="154" y="22"/>
                  </a:ln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Freeform 177"/>
            <p:cNvSpPr/>
            <p:nvPr/>
          </p:nvSpPr>
          <p:spPr>
            <a:xfrm>
              <a:off x="772" y="2106"/>
              <a:ext cx="758" cy="534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377" y="261"/>
                </a:cxn>
                <a:cxn ang="0">
                  <a:pos x="404" y="285"/>
                </a:cxn>
                <a:cxn ang="0">
                  <a:pos x="512" y="377"/>
                </a:cxn>
                <a:cxn ang="0">
                  <a:pos x="758" y="534"/>
                </a:cxn>
                <a:cxn ang="0">
                  <a:pos x="530" y="510"/>
                </a:cxn>
                <a:cxn ang="0">
                  <a:pos x="371" y="417"/>
                </a:cxn>
                <a:cxn ang="0">
                  <a:pos x="165" y="224"/>
                </a:cxn>
                <a:cxn ang="0">
                  <a:pos x="0" y="6"/>
                </a:cxn>
                <a:cxn ang="0">
                  <a:pos x="146" y="0"/>
                </a:cxn>
              </a:cxnLst>
              <a:rect l="0" t="0" r="0" b="0"/>
              <a:pathLst>
                <a:path w="758" h="534">
                  <a:moveTo>
                    <a:pt x="146" y="0"/>
                  </a:moveTo>
                  <a:lnTo>
                    <a:pt x="377" y="261"/>
                  </a:lnTo>
                  <a:lnTo>
                    <a:pt x="404" y="285"/>
                  </a:lnTo>
                  <a:lnTo>
                    <a:pt x="512" y="377"/>
                  </a:lnTo>
                  <a:lnTo>
                    <a:pt x="758" y="534"/>
                  </a:lnTo>
                  <a:lnTo>
                    <a:pt x="530" y="510"/>
                  </a:lnTo>
                  <a:lnTo>
                    <a:pt x="371" y="417"/>
                  </a:lnTo>
                  <a:lnTo>
                    <a:pt x="165" y="224"/>
                  </a:lnTo>
                  <a:lnTo>
                    <a:pt x="0" y="6"/>
                  </a:lnTo>
                  <a:lnTo>
                    <a:pt x="146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Freeform 178"/>
            <p:cNvSpPr/>
            <p:nvPr/>
          </p:nvSpPr>
          <p:spPr>
            <a:xfrm>
              <a:off x="784" y="2256"/>
              <a:ext cx="518" cy="369"/>
            </a:xfrm>
            <a:custGeom>
              <a:avLst/>
              <a:gdLst/>
              <a:ahLst/>
              <a:cxnLst>
                <a:cxn ang="0">
                  <a:pos x="119" y="30"/>
                </a:cxn>
                <a:cxn ang="0">
                  <a:pos x="241" y="157"/>
                </a:cxn>
                <a:cxn ang="0">
                  <a:pos x="329" y="235"/>
                </a:cxn>
                <a:cxn ang="0">
                  <a:pos x="518" y="369"/>
                </a:cxn>
                <a:cxn ang="0">
                  <a:pos x="320" y="351"/>
                </a:cxn>
                <a:cxn ang="0">
                  <a:pos x="248" y="300"/>
                </a:cxn>
                <a:cxn ang="0">
                  <a:pos x="182" y="237"/>
                </a:cxn>
                <a:cxn ang="0">
                  <a:pos x="89" y="129"/>
                </a:cxn>
                <a:cxn ang="0">
                  <a:pos x="0" y="0"/>
                </a:cxn>
                <a:cxn ang="0">
                  <a:pos x="119" y="30"/>
                </a:cxn>
              </a:cxnLst>
              <a:rect l="0" t="0" r="0" b="0"/>
              <a:pathLst>
                <a:path w="518" h="369">
                  <a:moveTo>
                    <a:pt x="119" y="30"/>
                  </a:moveTo>
                  <a:lnTo>
                    <a:pt x="241" y="157"/>
                  </a:lnTo>
                  <a:lnTo>
                    <a:pt x="329" y="235"/>
                  </a:lnTo>
                  <a:lnTo>
                    <a:pt x="518" y="369"/>
                  </a:lnTo>
                  <a:lnTo>
                    <a:pt x="320" y="351"/>
                  </a:lnTo>
                  <a:lnTo>
                    <a:pt x="248" y="300"/>
                  </a:lnTo>
                  <a:lnTo>
                    <a:pt x="182" y="237"/>
                  </a:lnTo>
                  <a:lnTo>
                    <a:pt x="89" y="129"/>
                  </a:lnTo>
                  <a:lnTo>
                    <a:pt x="0" y="0"/>
                  </a:lnTo>
                  <a:lnTo>
                    <a:pt x="119" y="30"/>
                  </a:lnTo>
                  <a:close/>
                </a:path>
              </a:pathLst>
            </a:custGeom>
            <a:noFill/>
            <a:ln w="19050" cap="flat" cmpd="sng">
              <a:solidFill>
                <a:srgbClr val="D6009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79"/>
          <p:cNvGrpSpPr/>
          <p:nvPr/>
        </p:nvGrpSpPr>
        <p:grpSpPr>
          <a:xfrm>
            <a:off x="2132013" y="2109788"/>
            <a:ext cx="2057400" cy="1447800"/>
            <a:chOff x="1104" y="1440"/>
            <a:chExt cx="1296" cy="912"/>
          </a:xfrm>
        </p:grpSpPr>
        <p:sp>
          <p:nvSpPr>
            <p:cNvPr id="34837" name="Freeform 180" descr="浅色上对角线"/>
            <p:cNvSpPr/>
            <p:nvPr/>
          </p:nvSpPr>
          <p:spPr>
            <a:xfrm>
              <a:off x="1104" y="1440"/>
              <a:ext cx="1296" cy="912"/>
            </a:xfrm>
            <a:custGeom>
              <a:avLst/>
              <a:gdLst/>
              <a:ahLst/>
              <a:cxnLst>
                <a:cxn ang="0">
                  <a:pos x="333" y="63"/>
                </a:cxn>
                <a:cxn ang="0">
                  <a:pos x="471" y="228"/>
                </a:cxn>
                <a:cxn ang="0">
                  <a:pos x="720" y="477"/>
                </a:cxn>
                <a:cxn ang="0">
                  <a:pos x="975" y="681"/>
                </a:cxn>
                <a:cxn ang="0">
                  <a:pos x="1296" y="912"/>
                </a:cxn>
                <a:cxn ang="0">
                  <a:pos x="1020" y="912"/>
                </a:cxn>
                <a:cxn ang="0">
                  <a:pos x="675" y="660"/>
                </a:cxn>
                <a:cxn ang="0">
                  <a:pos x="519" y="522"/>
                </a:cxn>
                <a:cxn ang="0">
                  <a:pos x="354" y="357"/>
                </a:cxn>
                <a:cxn ang="0">
                  <a:pos x="0" y="0"/>
                </a:cxn>
                <a:cxn ang="0">
                  <a:pos x="333" y="63"/>
                </a:cxn>
              </a:cxnLst>
              <a:rect l="0" t="0" r="0" b="0"/>
              <a:pathLst>
                <a:path w="1296" h="912">
                  <a:moveTo>
                    <a:pt x="333" y="63"/>
                  </a:moveTo>
                  <a:lnTo>
                    <a:pt x="471" y="228"/>
                  </a:lnTo>
                  <a:lnTo>
                    <a:pt x="720" y="477"/>
                  </a:lnTo>
                  <a:lnTo>
                    <a:pt x="975" y="681"/>
                  </a:lnTo>
                  <a:lnTo>
                    <a:pt x="1296" y="912"/>
                  </a:lnTo>
                  <a:lnTo>
                    <a:pt x="1020" y="912"/>
                  </a:lnTo>
                  <a:lnTo>
                    <a:pt x="675" y="660"/>
                  </a:lnTo>
                  <a:lnTo>
                    <a:pt x="519" y="522"/>
                  </a:lnTo>
                  <a:lnTo>
                    <a:pt x="354" y="357"/>
                  </a:lnTo>
                  <a:lnTo>
                    <a:pt x="0" y="0"/>
                  </a:lnTo>
                  <a:lnTo>
                    <a:pt x="333" y="63"/>
                  </a:lnTo>
                  <a:close/>
                </a:path>
              </a:pathLst>
            </a:custGeom>
            <a:blipFill rotWithShape="0">
              <a:blip r:embed="rId19"/>
            </a:blipFill>
            <a:ln w="1905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181" descr="浅色上对角线"/>
            <p:cNvSpPr/>
            <p:nvPr/>
          </p:nvSpPr>
          <p:spPr>
            <a:xfrm>
              <a:off x="1776" y="1872"/>
              <a:ext cx="48" cy="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4839" name="Line 182" descr="浅色上对角线"/>
            <p:cNvSpPr/>
            <p:nvPr/>
          </p:nvSpPr>
          <p:spPr>
            <a:xfrm>
              <a:off x="1632" y="1968"/>
              <a:ext cx="48" cy="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triangle" w="sm" len="lg"/>
              <a:tailEnd type="none" w="med" len="med"/>
            </a:ln>
          </p:spPr>
        </p:sp>
      </p:grpSp>
      <p:sp>
        <p:nvSpPr>
          <p:cNvPr id="529532" name="AutoShape 124"/>
          <p:cNvSpPr/>
          <p:nvPr/>
        </p:nvSpPr>
        <p:spPr>
          <a:xfrm>
            <a:off x="6732588" y="1557338"/>
            <a:ext cx="73025" cy="482600"/>
          </a:xfrm>
          <a:prstGeom prst="downArrow">
            <a:avLst>
              <a:gd name="adj1" fmla="val 56944"/>
              <a:gd name="adj2" fmla="val 329027"/>
            </a:avLst>
          </a:prstGeom>
          <a:solidFill>
            <a:srgbClr val="CC3300"/>
          </a:solidFill>
          <a:ln w="190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2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2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2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2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2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52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2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2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52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52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30" grpId="0"/>
      <p:bldP spid="529491" grpId="0"/>
      <p:bldP spid="529552" grpId="0"/>
      <p:bldP spid="529553" grpId="0"/>
      <p:bldP spid="529554" grpId="0"/>
      <p:bldP spid="529555" grpId="0"/>
      <p:bldP spid="529559" grpId="0" animBg="1"/>
      <p:bldP spid="5295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15100"/>
            <a:ext cx="1905000" cy="320675"/>
          </a:xfrm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0434" name="Text Box 2"/>
          <p:cNvSpPr txBox="1">
            <a:spLocks noChangeArrowheads="1"/>
          </p:cNvSpPr>
          <p:nvPr/>
        </p:nvSpPr>
        <p:spPr bwMode="blackWhite">
          <a:xfrm>
            <a:off x="4346575" y="2511425"/>
            <a:ext cx="26733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克劳修斯等式</a:t>
            </a:r>
            <a:r>
              <a:rPr kumimoji="1" lang="en-US" altLang="zh-CN" sz="2800" b="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</a:p>
        </p:txBody>
      </p:sp>
      <p:graphicFrame>
        <p:nvGraphicFramePr>
          <p:cNvPr id="530436" name="Object 4"/>
          <p:cNvGraphicFramePr/>
          <p:nvPr/>
        </p:nvGraphicFramePr>
        <p:xfrm>
          <a:off x="1630363" y="2133600"/>
          <a:ext cx="2447925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3" r:id="rId3" imgW="1159510" imgH="579755" progId="Equation.3">
                  <p:embed/>
                </p:oleObj>
              </mc:Choice>
              <mc:Fallback>
                <p:oleObj r:id="rId3" imgW="1159510" imgH="57975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30363" y="2133600"/>
                        <a:ext cx="2447925" cy="132873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2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63" name="Object 31"/>
          <p:cNvGraphicFramePr/>
          <p:nvPr/>
        </p:nvGraphicFramePr>
        <p:xfrm>
          <a:off x="2376488" y="71438"/>
          <a:ext cx="5651500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" r:id="rId5" imgW="3898900" imgH="1016000" progId="Equation.DSMT4">
                  <p:embed/>
                </p:oleObj>
              </mc:Choice>
              <mc:Fallback>
                <p:oleObj r:id="rId5" imgW="3898900" imgH="1016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76488" y="71438"/>
                        <a:ext cx="5651500" cy="1412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64" name="Text Box 32"/>
          <p:cNvSpPr txBox="1">
            <a:spLocks noChangeArrowheads="1"/>
          </p:cNvSpPr>
          <p:nvPr/>
        </p:nvSpPr>
        <p:spPr bwMode="auto">
          <a:xfrm>
            <a:off x="304800" y="1541463"/>
            <a:ext cx="8839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Blip>
                <a:blip r:embed="rId7"/>
              </a:buBlip>
              <a:defRPr/>
            </a:pPr>
            <a:r>
              <a:rPr kumimoji="0" lang="en-US" altLang="zh-CN" sz="2800" kern="1200" cap="none" spc="0" normalizeH="0" baseline="0" noProof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结论 </a:t>
            </a:r>
            <a:r>
              <a:rPr kumimoji="0" lang="en-US" altLang="zh-CN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800" kern="1200" cap="none" spc="0" normalizeH="0" baseline="0" noProof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8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对任意可逆循环过程</a:t>
            </a:r>
            <a:r>
              <a:rPr kumimoji="0" lang="en-US" altLang="zh-CN" sz="28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 </a:t>
            </a:r>
            <a:r>
              <a:rPr kumimoji="0" lang="zh-CN" altLang="en-US" sz="28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热温比之和也为零 </a:t>
            </a:r>
            <a:r>
              <a:rPr kumimoji="0" lang="en-US" altLang="zh-CN" sz="28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530466" name="Rectangle 34"/>
          <p:cNvSpPr>
            <a:spLocks noChangeArrowheads="1"/>
          </p:cNvSpPr>
          <p:nvPr/>
        </p:nvSpPr>
        <p:spPr bwMode="blackWhite">
          <a:xfrm>
            <a:off x="3779838" y="6256338"/>
            <a:ext cx="5299075" cy="423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可逆过程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热温比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的积分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与路径无关</a:t>
            </a:r>
          </a:p>
        </p:txBody>
      </p:sp>
      <p:grpSp>
        <p:nvGrpSpPr>
          <p:cNvPr id="2" name="Group 35"/>
          <p:cNvGrpSpPr/>
          <p:nvPr/>
        </p:nvGrpSpPr>
        <p:grpSpPr>
          <a:xfrm>
            <a:off x="381000" y="3994150"/>
            <a:ext cx="3505200" cy="2819400"/>
            <a:chOff x="336" y="1391"/>
            <a:chExt cx="2208" cy="1776"/>
          </a:xfrm>
        </p:grpSpPr>
        <p:sp>
          <p:nvSpPr>
            <p:cNvPr id="35867" name="Oval 36"/>
            <p:cNvSpPr/>
            <p:nvPr/>
          </p:nvSpPr>
          <p:spPr>
            <a:xfrm>
              <a:off x="432" y="2639"/>
              <a:ext cx="389" cy="386"/>
            </a:xfrm>
            <a:prstGeom prst="ellipse">
              <a:avLst/>
            </a:prstGeom>
            <a:solidFill>
              <a:srgbClr val="0033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5868" name="Rectangle 37"/>
            <p:cNvSpPr/>
            <p:nvPr/>
          </p:nvSpPr>
          <p:spPr>
            <a:xfrm>
              <a:off x="518" y="2634"/>
              <a:ext cx="3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ea typeface="楷体_GB2312" panose="02010609030101010101" pitchFamily="49" charset="-122"/>
                </a:rPr>
                <a:t>1</a:t>
              </a:r>
              <a:endParaRPr lang="en-US" altLang="zh-CN" sz="2400" b="1" dirty="0">
                <a:ea typeface="楷体_GB2312" panose="02010609030101010101" pitchFamily="49" charset="-122"/>
              </a:endParaRPr>
            </a:p>
          </p:txBody>
        </p:sp>
        <p:sp>
          <p:nvSpPr>
            <p:cNvPr id="35869" name="Oval 38"/>
            <p:cNvSpPr/>
            <p:nvPr/>
          </p:nvSpPr>
          <p:spPr>
            <a:xfrm>
              <a:off x="2064" y="1727"/>
              <a:ext cx="432" cy="386"/>
            </a:xfrm>
            <a:prstGeom prst="ellipse">
              <a:avLst/>
            </a:prstGeom>
            <a:solidFill>
              <a:srgbClr val="003399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5870" name="Rectangle 39"/>
            <p:cNvSpPr/>
            <p:nvPr/>
          </p:nvSpPr>
          <p:spPr>
            <a:xfrm>
              <a:off x="2160" y="172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ea typeface="楷体_GB2312" panose="02010609030101010101" pitchFamily="49" charset="-122"/>
                </a:rPr>
                <a:t>2</a:t>
              </a:r>
              <a:endParaRPr lang="en-US" altLang="zh-CN" sz="2400" b="1" dirty="0">
                <a:ea typeface="楷体_GB2312" panose="02010609030101010101" pitchFamily="49" charset="-122"/>
              </a:endParaRPr>
            </a:p>
          </p:txBody>
        </p:sp>
        <p:sp>
          <p:nvSpPr>
            <p:cNvPr id="35871" name="Line 40"/>
            <p:cNvSpPr/>
            <p:nvPr/>
          </p:nvSpPr>
          <p:spPr>
            <a:xfrm flipV="1">
              <a:off x="336" y="1439"/>
              <a:ext cx="0" cy="1728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35872" name="Line 41"/>
            <p:cNvSpPr/>
            <p:nvPr/>
          </p:nvSpPr>
          <p:spPr>
            <a:xfrm>
              <a:off x="336" y="3167"/>
              <a:ext cx="2064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35873" name="Rectangle 42"/>
            <p:cNvSpPr/>
            <p:nvPr/>
          </p:nvSpPr>
          <p:spPr>
            <a:xfrm>
              <a:off x="384" y="139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楷体_GB2312" panose="02010609030101010101" pitchFamily="49" charset="-122"/>
                </a:rPr>
                <a:t>P</a:t>
              </a:r>
            </a:p>
          </p:txBody>
        </p:sp>
        <p:sp>
          <p:nvSpPr>
            <p:cNvPr id="35874" name="Rectangle 43"/>
            <p:cNvSpPr/>
            <p:nvPr/>
          </p:nvSpPr>
          <p:spPr>
            <a:xfrm>
              <a:off x="2112" y="283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楷体_GB2312" panose="02010609030101010101" pitchFamily="49" charset="-122"/>
                </a:rPr>
                <a:t>V</a:t>
              </a:r>
            </a:p>
          </p:txBody>
        </p:sp>
      </p:grpSp>
      <p:grpSp>
        <p:nvGrpSpPr>
          <p:cNvPr id="3" name="Group 44"/>
          <p:cNvGrpSpPr/>
          <p:nvPr/>
        </p:nvGrpSpPr>
        <p:grpSpPr>
          <a:xfrm>
            <a:off x="827088" y="4141788"/>
            <a:ext cx="1851025" cy="2363787"/>
            <a:chOff x="1287" y="1244"/>
            <a:chExt cx="1166" cy="1489"/>
          </a:xfrm>
        </p:grpSpPr>
        <p:sp>
          <p:nvSpPr>
            <p:cNvPr id="35865" name="Arc 45"/>
            <p:cNvSpPr/>
            <p:nvPr/>
          </p:nvSpPr>
          <p:spPr>
            <a:xfrm rot="7140000">
              <a:off x="1247" y="1527"/>
              <a:ext cx="1489" cy="914"/>
            </a:xfrm>
            <a:custGeom>
              <a:avLst/>
              <a:gdLst/>
              <a:ahLst/>
              <a:cxnLst>
                <a:cxn ang="0">
                  <a:pos x="103" y="3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3" y="3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3" y="0"/>
                </a:cxn>
                <a:cxn ang="0">
                  <a:pos x="103" y="39"/>
                </a:cxn>
              </a:cxnLst>
              <a:rect l="0" t="0" r="0" b="0"/>
              <a:pathLst>
                <a:path w="21600" h="21624" fill="none">
                  <a:moveTo>
                    <a:pt x="21600" y="21624"/>
                  </a:moveTo>
                  <a:cubicBezTo>
                    <a:pt x="9670" y="21624"/>
                    <a:pt x="0" y="11953"/>
                    <a:pt x="0" y="24"/>
                  </a:cubicBezTo>
                  <a:cubicBezTo>
                    <a:pt x="-1" y="16"/>
                    <a:pt x="0" y="8"/>
                    <a:pt x="0" y="0"/>
                  </a:cubicBezTo>
                </a:path>
                <a:path w="21600" h="21624" stroke="0">
                  <a:moveTo>
                    <a:pt x="21600" y="21624"/>
                  </a:moveTo>
                  <a:cubicBezTo>
                    <a:pt x="9670" y="21624"/>
                    <a:pt x="0" y="11953"/>
                    <a:pt x="0" y="24"/>
                  </a:cubicBezTo>
                  <a:cubicBezTo>
                    <a:pt x="-1" y="16"/>
                    <a:pt x="0" y="8"/>
                    <a:pt x="0" y="0"/>
                  </a:cubicBezTo>
                  <a:lnTo>
                    <a:pt x="21600" y="24"/>
                  </a:lnTo>
                  <a:lnTo>
                    <a:pt x="21600" y="21624"/>
                  </a:lnTo>
                  <a:close/>
                </a:path>
              </a:pathLst>
            </a:custGeom>
            <a:noFill/>
            <a:ln w="50800" cap="rnd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479" name="Rectangle 47"/>
            <p:cNvSpPr>
              <a:spLocks noChangeArrowheads="1"/>
            </p:cNvSpPr>
            <p:nvPr/>
          </p:nvSpPr>
          <p:spPr bwMode="blackWhite">
            <a:xfrm rot="19080000" flipH="1">
              <a:off x="1287" y="1390"/>
              <a:ext cx="86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</a:p>
          </p:txBody>
        </p:sp>
      </p:grpSp>
      <p:grpSp>
        <p:nvGrpSpPr>
          <p:cNvPr id="4" name="Group 48"/>
          <p:cNvGrpSpPr/>
          <p:nvPr/>
        </p:nvGrpSpPr>
        <p:grpSpPr>
          <a:xfrm>
            <a:off x="1143000" y="4986338"/>
            <a:ext cx="2362200" cy="1795462"/>
            <a:chOff x="829" y="2016"/>
            <a:chExt cx="1488" cy="1131"/>
          </a:xfrm>
        </p:grpSpPr>
        <p:sp>
          <p:nvSpPr>
            <p:cNvPr id="35863" name="Arc 50"/>
            <p:cNvSpPr/>
            <p:nvPr/>
          </p:nvSpPr>
          <p:spPr>
            <a:xfrm rot="240000">
              <a:off x="829" y="2016"/>
              <a:ext cx="1488" cy="912"/>
            </a:xfrm>
            <a:custGeom>
              <a:avLst/>
              <a:gdLst/>
              <a:ahLst/>
              <a:cxnLst>
                <a:cxn ang="0">
                  <a:pos x="103" y="0"/>
                </a:cxn>
                <a:cxn ang="0">
                  <a:pos x="0" y="39"/>
                </a:cxn>
                <a:cxn ang="0">
                  <a:pos x="103" y="0"/>
                </a:cxn>
                <a:cxn ang="0">
                  <a:pos x="0" y="39"/>
                </a:cxn>
                <a:cxn ang="0">
                  <a:pos x="0" y="0"/>
                </a:cxn>
                <a:cxn ang="0">
                  <a:pos x="103" y="0"/>
                </a:cxn>
              </a:cxnLst>
              <a:rect l="0" t="0" r="0" b="0"/>
              <a:pathLst>
                <a:path w="21600" h="21600" fill="none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50800" cap="rnd" cmpd="sng">
              <a:solidFill>
                <a:srgbClr val="003399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484" name="Rectangle 52"/>
            <p:cNvSpPr>
              <a:spLocks noChangeArrowheads="1"/>
            </p:cNvSpPr>
            <p:nvPr/>
          </p:nvSpPr>
          <p:spPr bwMode="blackWhite">
            <a:xfrm rot="21360000">
              <a:off x="901" y="2859"/>
              <a:ext cx="98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b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</a:p>
          </p:txBody>
        </p:sp>
      </p:grpSp>
      <p:grpSp>
        <p:nvGrpSpPr>
          <p:cNvPr id="6" name="Group 53"/>
          <p:cNvGrpSpPr/>
          <p:nvPr/>
        </p:nvGrpSpPr>
        <p:grpSpPr>
          <a:xfrm>
            <a:off x="1295400" y="5138738"/>
            <a:ext cx="2222500" cy="757237"/>
            <a:chOff x="865" y="2020"/>
            <a:chExt cx="1400" cy="477"/>
          </a:xfrm>
        </p:grpSpPr>
        <p:sp>
          <p:nvSpPr>
            <p:cNvPr id="35860" name="Arc 54"/>
            <p:cNvSpPr/>
            <p:nvPr/>
          </p:nvSpPr>
          <p:spPr>
            <a:xfrm rot="-9900000">
              <a:off x="1134" y="2020"/>
              <a:ext cx="379" cy="373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7" y="0"/>
                </a:cxn>
              </a:cxnLst>
              <a:rect l="0" t="0" r="0" b="0"/>
              <a:pathLst>
                <a:path w="21600" h="21600" fill="none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50800" cap="rnd" cmpd="sng">
              <a:solidFill>
                <a:srgbClr val="003399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Line 55"/>
            <p:cNvSpPr/>
            <p:nvPr/>
          </p:nvSpPr>
          <p:spPr>
            <a:xfrm>
              <a:off x="1607" y="2112"/>
              <a:ext cx="108" cy="53"/>
            </a:xfrm>
            <a:prstGeom prst="line">
              <a:avLst/>
            </a:prstGeom>
            <a:ln w="50800" cap="flat" cmpd="sng">
              <a:solidFill>
                <a:srgbClr val="003399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530488" name="Rectangle 56"/>
            <p:cNvSpPr>
              <a:spLocks noChangeArrowheads="1"/>
            </p:cNvSpPr>
            <p:nvPr/>
          </p:nvSpPr>
          <p:spPr bwMode="blackWhite">
            <a:xfrm rot="20340000">
              <a:off x="865" y="2209"/>
              <a:ext cx="14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可逆循环</a:t>
              </a:r>
            </a:p>
          </p:txBody>
        </p:sp>
      </p:grpSp>
      <p:graphicFrame>
        <p:nvGraphicFramePr>
          <p:cNvPr id="530489" name="Object 57"/>
          <p:cNvGraphicFramePr/>
          <p:nvPr/>
        </p:nvGraphicFramePr>
        <p:xfrm>
          <a:off x="4784725" y="3213100"/>
          <a:ext cx="28384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" r:id="rId8" imgW="1295400" imgH="444500" progId="Equation.3">
                  <p:embed/>
                </p:oleObj>
              </mc:Choice>
              <mc:Fallback>
                <p:oleObj r:id="rId8" imgW="1295400" imgH="4445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84725" y="3213100"/>
                        <a:ext cx="2838450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90" name="Object 58"/>
          <p:cNvGraphicFramePr/>
          <p:nvPr/>
        </p:nvGraphicFramePr>
        <p:xfrm>
          <a:off x="5054600" y="5187950"/>
          <a:ext cx="2298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6" r:id="rId10" imgW="1079500" imgH="444500" progId="Equation.3">
                  <p:embed/>
                </p:oleObj>
              </mc:Choice>
              <mc:Fallback>
                <p:oleObj r:id="rId10" imgW="1079500" imgH="444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54600" y="5187950"/>
                        <a:ext cx="2298700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91" name="Text Box 59"/>
          <p:cNvSpPr txBox="1">
            <a:spLocks noChangeArrowheads="1"/>
          </p:cNvSpPr>
          <p:nvPr/>
        </p:nvSpPr>
        <p:spPr bwMode="blackWhite">
          <a:xfrm>
            <a:off x="4191000" y="5367338"/>
            <a:ext cx="7731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sp>
        <p:nvSpPr>
          <p:cNvPr id="530492" name="Text Box 60"/>
          <p:cNvSpPr txBox="1">
            <a:spLocks noChangeArrowheads="1"/>
          </p:cNvSpPr>
          <p:nvPr/>
        </p:nvSpPr>
        <p:spPr bwMode="auto">
          <a:xfrm>
            <a:off x="250825" y="404813"/>
            <a:ext cx="2520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整个可逆循环：</a:t>
            </a:r>
          </a:p>
        </p:txBody>
      </p:sp>
      <p:sp>
        <p:nvSpPr>
          <p:cNvPr id="530493" name="Rectangle 61"/>
          <p:cNvSpPr>
            <a:spLocks noChangeArrowheads="1"/>
          </p:cNvSpPr>
          <p:nvPr/>
        </p:nvSpPr>
        <p:spPr bwMode="auto">
          <a:xfrm>
            <a:off x="855663" y="2492375"/>
            <a:ext cx="5397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即</a:t>
            </a:r>
          </a:p>
        </p:txBody>
      </p:sp>
      <p:sp>
        <p:nvSpPr>
          <p:cNvPr id="10" name="Line 46"/>
          <p:cNvSpPr/>
          <p:nvPr/>
        </p:nvSpPr>
        <p:spPr>
          <a:xfrm flipV="1">
            <a:off x="1703388" y="4738688"/>
            <a:ext cx="307975" cy="222250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" name="Line 51"/>
          <p:cNvSpPr/>
          <p:nvPr/>
        </p:nvSpPr>
        <p:spPr>
          <a:xfrm flipV="1">
            <a:off x="2560638" y="6016625"/>
            <a:ext cx="314325" cy="130175"/>
          </a:xfrm>
          <a:prstGeom prst="line">
            <a:avLst/>
          </a:prstGeom>
          <a:ln w="76200" cap="flat" cmpd="sng">
            <a:solidFill>
              <a:srgbClr val="003399"/>
            </a:solidFill>
            <a:prstDash val="solid"/>
            <a:headEnd type="none" w="sm" len="sm"/>
            <a:tailEnd type="stealth" w="med" len="lg"/>
          </a:ln>
        </p:spPr>
      </p:sp>
      <p:graphicFrame>
        <p:nvGraphicFramePr>
          <p:cNvPr id="5" name="Object 57"/>
          <p:cNvGraphicFramePr/>
          <p:nvPr/>
        </p:nvGraphicFramePr>
        <p:xfrm>
          <a:off x="4922838" y="4181475"/>
          <a:ext cx="25622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7" r:id="rId12" imgW="1168400" imgH="444500" progId="Equation.3">
                  <p:embed/>
                </p:oleObj>
              </mc:Choice>
              <mc:Fallback>
                <p:oleObj r:id="rId12" imgW="1168400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22838" y="4181475"/>
                        <a:ext cx="2562225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3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3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53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3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3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53046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53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4" grpId="0"/>
      <p:bldP spid="530464" grpId="0"/>
      <p:bldP spid="530466" grpId="0" build="p"/>
      <p:bldP spid="530491" grpId="0" bldLvl="0" animBg="1"/>
      <p:bldP spid="53049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28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aphicFrame>
        <p:nvGraphicFramePr>
          <p:cNvPr id="735265" name="Object 33"/>
          <p:cNvGraphicFramePr/>
          <p:nvPr/>
        </p:nvGraphicFramePr>
        <p:xfrm>
          <a:off x="1476375" y="2754313"/>
          <a:ext cx="27559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r:id="rId3" imgW="1066165" imgH="393700" progId="Equation.3">
                  <p:embed/>
                </p:oleObj>
              </mc:Choice>
              <mc:Fallback>
                <p:oleObj r:id="rId3" imgW="1066165" imgH="3937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2754313"/>
                        <a:ext cx="2755900" cy="9493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8" name="Group 38"/>
          <p:cNvGrpSpPr/>
          <p:nvPr/>
        </p:nvGrpSpPr>
        <p:grpSpPr>
          <a:xfrm>
            <a:off x="900113" y="207963"/>
            <a:ext cx="7165975" cy="1246187"/>
            <a:chOff x="612" y="222"/>
            <a:chExt cx="4514" cy="785"/>
          </a:xfrm>
        </p:grpSpPr>
        <p:sp>
          <p:nvSpPr>
            <p:cNvPr id="735271" name="Text Box 39"/>
            <p:cNvSpPr txBox="1">
              <a:spLocks noChangeArrowheads="1"/>
            </p:cNvSpPr>
            <p:nvPr/>
          </p:nvSpPr>
          <p:spPr bwMode="blackWhite">
            <a:xfrm>
              <a:off x="612" y="283"/>
              <a:ext cx="4514" cy="7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lnSpc>
                  <a:spcPct val="105000"/>
                </a:lnSpc>
                <a:spcBef>
                  <a:spcPts val="12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根据</a:t>
              </a:r>
              <a:r>
                <a:rPr kumimoji="1" lang="zh-CN" altLang="en-US" sz="2800" kern="1200" cap="none" spc="0" normalizeH="0" baseline="0" noProof="0" dirty="0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热温比的积分</a:t>
              </a:r>
              <a:r>
                <a:rPr kumimoji="1" lang="zh-CN" altLang="en-US" sz="2800" kern="1200" cap="none" spc="0" normalizeH="0" baseline="0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        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与可逆过程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(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路径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)</a:t>
              </a:r>
            </a:p>
            <a:p>
              <a:pPr marR="0" defTabSz="914400" eaLnBrk="1" hangingPunct="1">
                <a:lnSpc>
                  <a:spcPct val="105000"/>
                </a:lnSpc>
                <a:spcBef>
                  <a:spcPts val="12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无关</a:t>
              </a:r>
              <a:r>
                <a:rPr kumimoji="1" lang="en-US" altLang="zh-CN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, 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可以引入一个</a:t>
              </a:r>
              <a:r>
                <a:rPr kumimoji="0" lang="zh-CN" altLang="en-US" sz="2800" kern="1200" cap="none" spc="0" normalizeH="0" baseline="0" noProof="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态函数</a:t>
              </a:r>
              <a:r>
                <a:rPr kumimoji="1" lang="zh-CN" altLang="en-US" sz="2800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。</a:t>
              </a:r>
            </a:p>
          </p:txBody>
        </p:sp>
        <p:graphicFrame>
          <p:nvGraphicFramePr>
            <p:cNvPr id="36885" name="Object 40"/>
            <p:cNvGraphicFramePr/>
            <p:nvPr/>
          </p:nvGraphicFramePr>
          <p:xfrm>
            <a:off x="2517" y="222"/>
            <a:ext cx="454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8" r:id="rId5" imgW="393700" imgH="393700" progId="Equation.3">
                    <p:embed/>
                  </p:oleObj>
                </mc:Choice>
                <mc:Fallback>
                  <p:oleObj r:id="rId5" imgW="393700" imgH="3937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17" y="222"/>
                          <a:ext cx="454" cy="5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5273" name="Text Box 41"/>
          <p:cNvSpPr txBox="1">
            <a:spLocks noChangeArrowheads="1"/>
          </p:cNvSpPr>
          <p:nvPr/>
        </p:nvSpPr>
        <p:spPr bwMode="auto">
          <a:xfrm>
            <a:off x="854075" y="1773238"/>
            <a:ext cx="8686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热温比的积分</a:t>
            </a:r>
            <a:r>
              <a:rPr kumimoji="0" lang="en-US" altLang="zh-CN" sz="36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=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该态函数的增量，此</a:t>
            </a:r>
            <a:r>
              <a:rPr kumimoji="0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态函数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称</a:t>
            </a:r>
            <a:r>
              <a:rPr kumimoji="0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熵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.      </a:t>
            </a:r>
          </a:p>
        </p:txBody>
      </p:sp>
      <p:grpSp>
        <p:nvGrpSpPr>
          <p:cNvPr id="3" name="Group 53"/>
          <p:cNvGrpSpPr/>
          <p:nvPr/>
        </p:nvGrpSpPr>
        <p:grpSpPr>
          <a:xfrm>
            <a:off x="5027613" y="3068638"/>
            <a:ext cx="4095750" cy="1023937"/>
            <a:chOff x="3061" y="1570"/>
            <a:chExt cx="2580" cy="645"/>
          </a:xfrm>
        </p:grpSpPr>
        <p:sp>
          <p:nvSpPr>
            <p:cNvPr id="36882" name="Text Box 54"/>
            <p:cNvSpPr txBox="1"/>
            <p:nvPr/>
          </p:nvSpPr>
          <p:spPr>
            <a:xfrm>
              <a:off x="3061" y="1570"/>
              <a:ext cx="25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克劳修斯熵公式（</a:t>
              </a:r>
              <a:r>
                <a:rPr lang="en-US" altLang="zh-CN" sz="28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1854</a:t>
              </a:r>
              <a:r>
                <a:rPr lang="zh-CN" altLang="en-US" sz="28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）</a:t>
              </a:r>
            </a:p>
          </p:txBody>
        </p:sp>
        <p:sp>
          <p:nvSpPr>
            <p:cNvPr id="36883" name="Rectangle 55"/>
            <p:cNvSpPr/>
            <p:nvPr/>
          </p:nvSpPr>
          <p:spPr>
            <a:xfrm>
              <a:off x="3334" y="1888"/>
              <a:ext cx="1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热力学熵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</p:txBody>
        </p:sp>
      </p:grpSp>
      <p:sp>
        <p:nvSpPr>
          <p:cNvPr id="735289" name="Text Box 57"/>
          <p:cNvSpPr txBox="1">
            <a:spLocks noChangeArrowheads="1"/>
          </p:cNvSpPr>
          <p:nvPr/>
        </p:nvSpPr>
        <p:spPr bwMode="blackWhite">
          <a:xfrm>
            <a:off x="1181100" y="5276850"/>
            <a:ext cx="11779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式中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</a:t>
            </a:r>
          </a:p>
        </p:txBody>
      </p:sp>
      <p:sp>
        <p:nvSpPr>
          <p:cNvPr id="735290" name="Text Box 58"/>
          <p:cNvSpPr txBox="1">
            <a:spLocks noChangeArrowheads="1"/>
          </p:cNvSpPr>
          <p:nvPr/>
        </p:nvSpPr>
        <p:spPr bwMode="blackWhite">
          <a:xfrm>
            <a:off x="2835275" y="5254625"/>
            <a:ext cx="51276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表示</a:t>
            </a:r>
            <a:r>
              <a:rPr kumimoji="1" lang="zh-CN" altLang="en-US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任意</a:t>
            </a:r>
            <a:r>
              <a:rPr kumimoji="1" lang="zh-CN" altLang="en-US" u="sng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可逆过程</a:t>
            </a: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（有时不写）</a:t>
            </a:r>
            <a:endParaRPr kumimoji="1" lang="zh-CN" altLang="en-US" b="0" kern="1200" cap="none" spc="0" normalizeH="0" baseline="0" noProof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5291" name="Text Box 59"/>
          <p:cNvSpPr txBox="1">
            <a:spLocks noChangeArrowheads="1"/>
          </p:cNvSpPr>
          <p:nvPr/>
        </p:nvSpPr>
        <p:spPr bwMode="blackWhite">
          <a:xfrm>
            <a:off x="2816225" y="4708525"/>
            <a:ext cx="44910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J/K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(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焦尔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开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35292" name="Text Box 60"/>
          <p:cNvSpPr txBox="1">
            <a:spLocks noChangeArrowheads="1"/>
          </p:cNvSpPr>
          <p:nvPr/>
        </p:nvSpPr>
        <p:spPr bwMode="auto">
          <a:xfrm>
            <a:off x="2422525" y="5805488"/>
            <a:ext cx="3581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熵是状态量</a:t>
            </a:r>
            <a:endParaRPr kumimoji="1" lang="zh-CN" altLang="en-US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5293" name="Text Box 61"/>
          <p:cNvSpPr txBox="1">
            <a:spLocks noChangeArrowheads="1"/>
          </p:cNvSpPr>
          <p:nvPr/>
        </p:nvSpPr>
        <p:spPr bwMode="auto">
          <a:xfrm>
            <a:off x="2403475" y="6308725"/>
            <a:ext cx="36083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是系统状态的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单值函数</a:t>
            </a:r>
          </a:p>
        </p:txBody>
      </p:sp>
      <p:grpSp>
        <p:nvGrpSpPr>
          <p:cNvPr id="4" name="Group 63"/>
          <p:cNvGrpSpPr/>
          <p:nvPr/>
        </p:nvGrpSpPr>
        <p:grpSpPr>
          <a:xfrm>
            <a:off x="395288" y="5734050"/>
            <a:ext cx="1828800" cy="1143000"/>
            <a:chOff x="144" y="96"/>
            <a:chExt cx="1152" cy="720"/>
          </a:xfrm>
        </p:grpSpPr>
        <p:sp>
          <p:nvSpPr>
            <p:cNvPr id="735296" name="AutoShape 64"/>
            <p:cNvSpPr>
              <a:spLocks noChangeArrowheads="1"/>
            </p:cNvSpPr>
            <p:nvPr/>
          </p:nvSpPr>
          <p:spPr bwMode="blackWhite">
            <a:xfrm>
              <a:off x="144" y="96"/>
              <a:ext cx="1152" cy="720"/>
            </a:xfrm>
            <a:prstGeom prst="irregularSeal1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1" name="Text Box 65"/>
            <p:cNvSpPr txBox="1"/>
            <p:nvPr/>
          </p:nvSpPr>
          <p:spPr>
            <a:xfrm>
              <a:off x="384" y="240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注意</a:t>
              </a:r>
            </a:p>
          </p:txBody>
        </p:sp>
      </p:grpSp>
      <p:sp>
        <p:nvSpPr>
          <p:cNvPr id="735298" name="Rectangle 66"/>
          <p:cNvSpPr>
            <a:spLocks noChangeArrowheads="1"/>
          </p:cNvSpPr>
          <p:nvPr/>
        </p:nvSpPr>
        <p:spPr bwMode="auto">
          <a:xfrm>
            <a:off x="1187450" y="4708525"/>
            <a:ext cx="1716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熵的单位：</a:t>
            </a:r>
          </a:p>
        </p:txBody>
      </p:sp>
      <p:sp>
        <p:nvSpPr>
          <p:cNvPr id="735299" name="Rectangle 67"/>
          <p:cNvSpPr>
            <a:spLocks noChangeArrowheads="1"/>
          </p:cNvSpPr>
          <p:nvPr/>
        </p:nvSpPr>
        <p:spPr bwMode="auto">
          <a:xfrm>
            <a:off x="1042988" y="4051300"/>
            <a:ext cx="20224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对可逆元过程</a:t>
            </a:r>
          </a:p>
        </p:txBody>
      </p:sp>
      <p:graphicFrame>
        <p:nvGraphicFramePr>
          <p:cNvPr id="735300" name="Object 68"/>
          <p:cNvGraphicFramePr/>
          <p:nvPr/>
        </p:nvGraphicFramePr>
        <p:xfrm>
          <a:off x="3348038" y="3859213"/>
          <a:ext cx="165735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r:id="rId7" imgW="858520" imgH="501650" progId="Equation.3">
                  <p:embed/>
                </p:oleObj>
              </mc:Choice>
              <mc:Fallback>
                <p:oleObj r:id="rId7" imgW="858520" imgH="50165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3859213"/>
                        <a:ext cx="1657350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3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3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3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3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3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3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73" grpId="0"/>
      <p:bldP spid="735289" grpId="0"/>
      <p:bldP spid="735290" grpId="0"/>
      <p:bldP spid="735291" grpId="0"/>
      <p:bldP spid="735292" grpId="0"/>
      <p:bldP spid="735293" grpId="0"/>
      <p:bldP spid="735298" grpId="0"/>
      <p:bldP spid="73529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29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2484" name="Text Box 4"/>
          <p:cNvSpPr txBox="1">
            <a:spLocks noChangeArrowheads="1"/>
          </p:cNvSpPr>
          <p:nvPr/>
        </p:nvSpPr>
        <p:spPr bwMode="blackWhite">
          <a:xfrm>
            <a:off x="755650" y="333375"/>
            <a:ext cx="3140075" cy="466725"/>
          </a:xfrm>
          <a:prstGeom prst="rect">
            <a:avLst/>
          </a:prstGeom>
          <a:gradFill rotWithShape="1">
            <a:gsLst>
              <a:gs pos="0">
                <a:srgbClr val="FFCCFF"/>
              </a:gs>
              <a:gs pos="50000">
                <a:schemeClr val="bg1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CC0099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对可逆绝热过程</a:t>
            </a:r>
          </a:p>
        </p:txBody>
      </p:sp>
      <p:graphicFrame>
        <p:nvGraphicFramePr>
          <p:cNvPr id="532485" name="Object 5"/>
          <p:cNvGraphicFramePr/>
          <p:nvPr/>
        </p:nvGraphicFramePr>
        <p:xfrm>
          <a:off x="4067175" y="981075"/>
          <a:ext cx="28289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1" r:id="rId3" imgW="1231265" imgH="469900" progId="Equation.3">
                  <p:embed/>
                </p:oleObj>
              </mc:Choice>
              <mc:Fallback>
                <p:oleObj r:id="rId3" imgW="1231265" imgH="4699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175" y="981075"/>
                        <a:ext cx="2828925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88" name="Rectangle 8"/>
          <p:cNvSpPr>
            <a:spLocks noChangeArrowheads="1"/>
          </p:cNvSpPr>
          <p:nvPr/>
        </p:nvSpPr>
        <p:spPr bwMode="blackWhite">
          <a:xfrm>
            <a:off x="755650" y="2076450"/>
            <a:ext cx="5329238" cy="552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  <a:sym typeface="Symbol" panose="05050102010706020507" pitchFamily="18" charset="2"/>
              </a:rPr>
              <a:t>所以，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可逆绝热过程又称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等熵过程，</a:t>
            </a:r>
          </a:p>
        </p:txBody>
      </p:sp>
      <p:sp>
        <p:nvSpPr>
          <p:cNvPr id="532489" name="Text Box 9"/>
          <p:cNvSpPr txBox="1">
            <a:spLocks noChangeArrowheads="1"/>
          </p:cNvSpPr>
          <p:nvPr/>
        </p:nvSpPr>
        <p:spPr bwMode="blackWhite">
          <a:xfrm>
            <a:off x="250825" y="4076700"/>
            <a:ext cx="338455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2800" b="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、任意过程的熵变</a:t>
            </a:r>
          </a:p>
        </p:txBody>
      </p:sp>
      <p:sp>
        <p:nvSpPr>
          <p:cNvPr id="532490" name="Text Box 10"/>
          <p:cNvSpPr txBox="1">
            <a:spLocks noChangeArrowheads="1"/>
          </p:cNvSpPr>
          <p:nvPr/>
        </p:nvSpPr>
        <p:spPr bwMode="blackWhite">
          <a:xfrm>
            <a:off x="395288" y="4581525"/>
            <a:ext cx="2232025" cy="10795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35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</a:t>
            </a: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不可逆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热机</a:t>
            </a:r>
          </a:p>
          <a:p>
            <a:pPr marR="0" defTabSz="914400" eaLnBrk="1" hangingPunct="1">
              <a:lnSpc>
                <a:spcPct val="135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由卡诺定理：</a:t>
            </a:r>
          </a:p>
        </p:txBody>
      </p:sp>
      <p:graphicFrame>
        <p:nvGraphicFramePr>
          <p:cNvPr id="532491" name="Object 11"/>
          <p:cNvGraphicFramePr/>
          <p:nvPr/>
        </p:nvGraphicFramePr>
        <p:xfrm>
          <a:off x="2430463" y="4652963"/>
          <a:ext cx="27447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r:id="rId5" imgW="1605915" imgH="591185" progId="Equation.3">
                  <p:embed/>
                </p:oleObj>
              </mc:Choice>
              <mc:Fallback>
                <p:oleObj r:id="rId5" imgW="1605915" imgH="59118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0463" y="4652963"/>
                        <a:ext cx="2744787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2" name="Object 12"/>
          <p:cNvGraphicFramePr/>
          <p:nvPr/>
        </p:nvGraphicFramePr>
        <p:xfrm>
          <a:off x="6823075" y="4724400"/>
          <a:ext cx="17811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r:id="rId7" imgW="1026160" imgH="557530" progId="Equation.3">
                  <p:embed/>
                </p:oleObj>
              </mc:Choice>
              <mc:Fallback>
                <p:oleObj r:id="rId7" imgW="1026160" imgH="55753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23075" y="4724400"/>
                        <a:ext cx="1781175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93" name="Text Box 13"/>
          <p:cNvSpPr txBox="1">
            <a:spLocks noChangeArrowheads="1"/>
          </p:cNvSpPr>
          <p:nvPr/>
        </p:nvSpPr>
        <p:spPr bwMode="blackWhite">
          <a:xfrm>
            <a:off x="395288" y="5956300"/>
            <a:ext cx="290830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对任意不可逆循环</a:t>
            </a:r>
          </a:p>
        </p:txBody>
      </p:sp>
      <p:graphicFrame>
        <p:nvGraphicFramePr>
          <p:cNvPr id="532494" name="Object 14"/>
          <p:cNvGraphicFramePr/>
          <p:nvPr/>
        </p:nvGraphicFramePr>
        <p:xfrm>
          <a:off x="3743325" y="5700713"/>
          <a:ext cx="2052638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r:id="rId9" imgW="1048385" imgH="591185" progId="Equation.3">
                  <p:embed/>
                </p:oleObj>
              </mc:Choice>
              <mc:Fallback>
                <p:oleObj r:id="rId9" imgW="1048385" imgH="59118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43325" y="5700713"/>
                        <a:ext cx="2052638" cy="118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95" name="AutoShape 15"/>
          <p:cNvSpPr/>
          <p:nvPr/>
        </p:nvSpPr>
        <p:spPr>
          <a:xfrm>
            <a:off x="5526088" y="5013325"/>
            <a:ext cx="865187" cy="360363"/>
          </a:xfrm>
          <a:custGeom>
            <a:avLst/>
            <a:gdLst/>
            <a:ahLst/>
            <a:cxnLst>
              <a:cxn ang="0">
                <a:pos x="25991259" y="0"/>
              </a:cxn>
              <a:cxn ang="0">
                <a:pos x="25991259" y="1503031"/>
              </a:cxn>
              <a:cxn ang="0">
                <a:pos x="5414829" y="1503031"/>
              </a:cxn>
              <a:cxn ang="0">
                <a:pos x="5414829" y="4509075"/>
              </a:cxn>
              <a:cxn ang="0">
                <a:pos x="25991259" y="4509075"/>
              </a:cxn>
              <a:cxn ang="0">
                <a:pos x="25991259" y="6012106"/>
              </a:cxn>
              <a:cxn ang="0">
                <a:pos x="34655025" y="3006061"/>
              </a:cxn>
              <a:cxn ang="0">
                <a:pos x="25991259" y="0"/>
              </a:cxn>
              <a:cxn ang="0">
                <a:pos x="2165932" y="1503031"/>
              </a:cxn>
              <a:cxn ang="0">
                <a:pos x="2165932" y="4509075"/>
              </a:cxn>
              <a:cxn ang="0">
                <a:pos x="4331863" y="4509075"/>
              </a:cxn>
              <a:cxn ang="0">
                <a:pos x="4331863" y="1503031"/>
              </a:cxn>
              <a:cxn ang="0">
                <a:pos x="2165932" y="1503031"/>
              </a:cxn>
              <a:cxn ang="0">
                <a:pos x="0" y="1503031"/>
              </a:cxn>
              <a:cxn ang="0">
                <a:pos x="0" y="4509075"/>
              </a:cxn>
              <a:cxn ang="0">
                <a:pos x="1082966" y="4509075"/>
              </a:cxn>
              <a:cxn ang="0">
                <a:pos x="1082966" y="1503031"/>
              </a:cxn>
              <a:cxn ang="0">
                <a:pos x="0" y="1503031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3300">
              <a:alpha val="100000"/>
            </a:srgb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532516" name="Text Box 36"/>
          <p:cNvSpPr txBox="1">
            <a:spLocks noChangeArrowheads="1"/>
          </p:cNvSpPr>
          <p:nvPr/>
        </p:nvSpPr>
        <p:spPr bwMode="auto">
          <a:xfrm>
            <a:off x="323850" y="2693988"/>
            <a:ext cx="2986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>
                <a:srgbClr val="CC0099"/>
              </a:buClr>
              <a:buSzTx/>
              <a:buFont typeface="Monotype Sorts" pitchFamily="2" charset="2"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为何叫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熵</a:t>
            </a: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?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（</a:t>
            </a: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entropy)</a:t>
            </a:r>
          </a:p>
        </p:txBody>
      </p:sp>
      <p:sp>
        <p:nvSpPr>
          <p:cNvPr id="532517" name="Text Box 37"/>
          <p:cNvSpPr txBox="1">
            <a:spLocks noChangeArrowheads="1"/>
          </p:cNvSpPr>
          <p:nvPr/>
        </p:nvSpPr>
        <p:spPr bwMode="auto">
          <a:xfrm>
            <a:off x="358775" y="3284538"/>
            <a:ext cx="81740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（商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……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热温比；火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……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热学物理量）胡刚复先生所造</a:t>
            </a:r>
          </a:p>
        </p:txBody>
      </p:sp>
      <p:sp>
        <p:nvSpPr>
          <p:cNvPr id="532518" name="Rectangle 38"/>
          <p:cNvSpPr>
            <a:spLocks noChangeArrowheads="1"/>
          </p:cNvSpPr>
          <p:nvPr/>
        </p:nvSpPr>
        <p:spPr bwMode="auto">
          <a:xfrm>
            <a:off x="5724525" y="2076450"/>
            <a:ext cx="2635250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绝热线又称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等熵线</a:t>
            </a:r>
          </a:p>
        </p:txBody>
      </p:sp>
      <p:graphicFrame>
        <p:nvGraphicFramePr>
          <p:cNvPr id="532520" name="Object 40"/>
          <p:cNvGraphicFramePr/>
          <p:nvPr/>
        </p:nvGraphicFramePr>
        <p:xfrm>
          <a:off x="4067175" y="42863"/>
          <a:ext cx="22082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" r:id="rId11" imgW="1159510" imgH="501650" progId="Equation.3">
                  <p:embed/>
                </p:oleObj>
              </mc:Choice>
              <mc:Fallback>
                <p:oleObj r:id="rId11" imgW="1159510" imgH="50165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42863"/>
                        <a:ext cx="2208213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3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3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3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3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2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8" grpId="0" bldLvl="0" animBg="1"/>
      <p:bldP spid="532489" grpId="0" bldLvl="0" animBg="1"/>
      <p:bldP spid="532490" grpId="0" build="p"/>
      <p:bldP spid="532493" grpId="0" build="p"/>
      <p:bldP spid="532516" grpId="0"/>
      <p:bldP spid="532517" grpId="0"/>
      <p:bldP spid="5325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30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3506" name="Text Box 2"/>
          <p:cNvSpPr txBox="1">
            <a:spLocks noChangeArrowheads="1"/>
          </p:cNvSpPr>
          <p:nvPr/>
        </p:nvSpPr>
        <p:spPr bwMode="blackWhite">
          <a:xfrm>
            <a:off x="582613" y="412750"/>
            <a:ext cx="263525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对任意不可逆循环</a:t>
            </a:r>
          </a:p>
        </p:txBody>
      </p:sp>
      <p:graphicFrame>
        <p:nvGraphicFramePr>
          <p:cNvPr id="38916" name="Object 3"/>
          <p:cNvGraphicFramePr/>
          <p:nvPr/>
        </p:nvGraphicFramePr>
        <p:xfrm>
          <a:off x="3059113" y="115888"/>
          <a:ext cx="2054225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5" r:id="rId3" imgW="1048385" imgH="591185" progId="Equation.3">
                  <p:embed/>
                </p:oleObj>
              </mc:Choice>
              <mc:Fallback>
                <p:oleObj r:id="rId3" imgW="1048385" imgH="59118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115888"/>
                        <a:ext cx="2054225" cy="1185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08" name="Text Box 4"/>
          <p:cNvSpPr txBox="1">
            <a:spLocks noChangeArrowheads="1"/>
          </p:cNvSpPr>
          <p:nvPr/>
        </p:nvSpPr>
        <p:spPr bwMode="blackWhite">
          <a:xfrm>
            <a:off x="403225" y="1125538"/>
            <a:ext cx="4456113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设一不可逆循环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AR</a:t>
            </a:r>
            <a:r>
              <a:rPr kumimoji="1" lang="en-US" altLang="zh-CN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</a:t>
            </a:r>
            <a:r>
              <a:rPr kumimoji="1" lang="en-US" altLang="zh-CN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533519" name="Text Box 15"/>
          <p:cNvSpPr txBox="1">
            <a:spLocks noChangeArrowheads="1"/>
          </p:cNvSpPr>
          <p:nvPr/>
        </p:nvSpPr>
        <p:spPr bwMode="blackWhite">
          <a:xfrm>
            <a:off x="611188" y="2003425"/>
            <a:ext cx="611188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graphicFrame>
        <p:nvGraphicFramePr>
          <p:cNvPr id="533520" name="Object 16"/>
          <p:cNvGraphicFramePr/>
          <p:nvPr/>
        </p:nvGraphicFramePr>
        <p:xfrm>
          <a:off x="1547813" y="1773238"/>
          <a:ext cx="29511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6" r:id="rId5" imgW="1739900" imgH="501650" progId="Equation.3">
                  <p:embed/>
                </p:oleObj>
              </mc:Choice>
              <mc:Fallback>
                <p:oleObj r:id="rId5" imgW="1739900" imgH="50165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773238"/>
                        <a:ext cx="2951162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21" name="Object 17"/>
          <p:cNvGraphicFramePr/>
          <p:nvPr/>
        </p:nvGraphicFramePr>
        <p:xfrm>
          <a:off x="1547813" y="2852738"/>
          <a:ext cx="2921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7" r:id="rId7" imgW="1706245" imgH="501650" progId="Equation.3">
                  <p:embed/>
                </p:oleObj>
              </mc:Choice>
              <mc:Fallback>
                <p:oleObj r:id="rId7" imgW="1706245" imgH="50165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852738"/>
                        <a:ext cx="2921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23" name="Text Box 19"/>
          <p:cNvSpPr txBox="1">
            <a:spLocks noChangeArrowheads="1"/>
          </p:cNvSpPr>
          <p:nvPr/>
        </p:nvSpPr>
        <p:spPr bwMode="blackWhite">
          <a:xfrm>
            <a:off x="611188" y="3116263"/>
            <a:ext cx="4905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sp>
        <p:nvSpPr>
          <p:cNvPr id="533541" name="Text Box 37"/>
          <p:cNvSpPr txBox="1">
            <a:spLocks noChangeArrowheads="1"/>
          </p:cNvSpPr>
          <p:nvPr/>
        </p:nvSpPr>
        <p:spPr bwMode="blackWhite">
          <a:xfrm>
            <a:off x="611188" y="4235450"/>
            <a:ext cx="7969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graphicFrame>
        <p:nvGraphicFramePr>
          <p:cNvPr id="533542" name="Object 38"/>
          <p:cNvGraphicFramePr/>
          <p:nvPr/>
        </p:nvGraphicFramePr>
        <p:xfrm>
          <a:off x="1824038" y="3967163"/>
          <a:ext cx="23685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8" r:id="rId9" imgW="1028700" imgH="393700" progId="Equation.3">
                  <p:embed/>
                </p:oleObj>
              </mc:Choice>
              <mc:Fallback>
                <p:oleObj r:id="rId9" imgW="1028700" imgH="3937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24038" y="3967163"/>
                        <a:ext cx="236855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45" name="Object 41"/>
          <p:cNvGraphicFramePr/>
          <p:nvPr/>
        </p:nvGraphicFramePr>
        <p:xfrm>
          <a:off x="1547813" y="4903788"/>
          <a:ext cx="2628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9" r:id="rId11" imgW="1538605" imgH="501650" progId="Equation.3">
                  <p:embed/>
                </p:oleObj>
              </mc:Choice>
              <mc:Fallback>
                <p:oleObj r:id="rId11" imgW="1538605" imgH="50165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4903788"/>
                        <a:ext cx="26289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47" name="Object 43"/>
          <p:cNvGraphicFramePr/>
          <p:nvPr/>
        </p:nvGraphicFramePr>
        <p:xfrm>
          <a:off x="1547813" y="5948363"/>
          <a:ext cx="199390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0" r:id="rId13" imgW="862965" imgH="393700" progId="Equation.3">
                  <p:embed/>
                </p:oleObj>
              </mc:Choice>
              <mc:Fallback>
                <p:oleObj r:id="rId13" imgW="862965" imgH="3937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7813" y="5948363"/>
                        <a:ext cx="1993900" cy="909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6" name="Group 78"/>
          <p:cNvGrpSpPr/>
          <p:nvPr/>
        </p:nvGrpSpPr>
        <p:grpSpPr>
          <a:xfrm>
            <a:off x="5364163" y="981075"/>
            <a:ext cx="3505200" cy="2819400"/>
            <a:chOff x="3303" y="2516"/>
            <a:chExt cx="2208" cy="1776"/>
          </a:xfrm>
        </p:grpSpPr>
        <p:grpSp>
          <p:nvGrpSpPr>
            <p:cNvPr id="38929" name="Group 56"/>
            <p:cNvGrpSpPr/>
            <p:nvPr/>
          </p:nvGrpSpPr>
          <p:grpSpPr>
            <a:xfrm>
              <a:off x="3303" y="2516"/>
              <a:ext cx="2208" cy="1776"/>
              <a:chOff x="336" y="1391"/>
              <a:chExt cx="2208" cy="1776"/>
            </a:xfrm>
          </p:grpSpPr>
          <p:sp>
            <p:nvSpPr>
              <p:cNvPr id="38940" name="Oval 57"/>
              <p:cNvSpPr/>
              <p:nvPr/>
            </p:nvSpPr>
            <p:spPr>
              <a:xfrm>
                <a:off x="432" y="2639"/>
                <a:ext cx="389" cy="386"/>
              </a:xfrm>
              <a:prstGeom prst="ellipse">
                <a:avLst/>
              </a:prstGeom>
              <a:solidFill>
                <a:srgbClr val="003399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8941" name="Rectangle 58"/>
              <p:cNvSpPr/>
              <p:nvPr/>
            </p:nvSpPr>
            <p:spPr>
              <a:xfrm>
                <a:off x="518" y="2634"/>
                <a:ext cx="34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defTabSz="762000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楷体_GB2312" panose="02010609030101010101" pitchFamily="49" charset="-122"/>
                  </a:rPr>
                  <a:t>A</a:t>
                </a:r>
                <a:endParaRPr lang="en-US" altLang="zh-CN" sz="2400" b="1" dirty="0">
                  <a:ea typeface="楷体_GB2312" panose="02010609030101010101" pitchFamily="49" charset="-122"/>
                </a:endParaRPr>
              </a:p>
            </p:txBody>
          </p:sp>
          <p:sp>
            <p:nvSpPr>
              <p:cNvPr id="38942" name="Oval 59"/>
              <p:cNvSpPr/>
              <p:nvPr/>
            </p:nvSpPr>
            <p:spPr>
              <a:xfrm>
                <a:off x="2064" y="1727"/>
                <a:ext cx="432" cy="386"/>
              </a:xfrm>
              <a:prstGeom prst="ellipse">
                <a:avLst/>
              </a:prstGeom>
              <a:solidFill>
                <a:srgbClr val="003399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8943" name="Rectangle 60"/>
              <p:cNvSpPr/>
              <p:nvPr/>
            </p:nvSpPr>
            <p:spPr>
              <a:xfrm>
                <a:off x="2160" y="172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defTabSz="762000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楷体_GB2312" panose="02010609030101010101" pitchFamily="49" charset="-122"/>
                  </a:rPr>
                  <a:t>B</a:t>
                </a:r>
                <a:endParaRPr lang="en-US" altLang="zh-CN" sz="2400" b="1" dirty="0">
                  <a:ea typeface="楷体_GB2312" panose="02010609030101010101" pitchFamily="49" charset="-122"/>
                </a:endParaRPr>
              </a:p>
            </p:txBody>
          </p:sp>
          <p:sp>
            <p:nvSpPr>
              <p:cNvPr id="38944" name="Line 61"/>
              <p:cNvSpPr/>
              <p:nvPr/>
            </p:nvSpPr>
            <p:spPr>
              <a:xfrm flipV="1">
                <a:off x="336" y="1439"/>
                <a:ext cx="0" cy="1728"/>
              </a:xfrm>
              <a:prstGeom prst="line">
                <a:avLst/>
              </a:prstGeom>
              <a:ln w="50800" cap="flat" cmpd="sng">
                <a:solidFill>
                  <a:schemeClr val="tx1"/>
                </a:solidFill>
                <a:prstDash val="solid"/>
                <a:headEnd type="none" w="sm" len="sm"/>
                <a:tailEnd type="stealth" w="med" len="lg"/>
              </a:ln>
            </p:spPr>
          </p:sp>
          <p:sp>
            <p:nvSpPr>
              <p:cNvPr id="38945" name="Line 62"/>
              <p:cNvSpPr/>
              <p:nvPr/>
            </p:nvSpPr>
            <p:spPr>
              <a:xfrm>
                <a:off x="336" y="3167"/>
                <a:ext cx="2064" cy="0"/>
              </a:xfrm>
              <a:prstGeom prst="line">
                <a:avLst/>
              </a:prstGeom>
              <a:ln w="50800" cap="flat" cmpd="sng">
                <a:solidFill>
                  <a:schemeClr val="tx1"/>
                </a:solidFill>
                <a:prstDash val="solid"/>
                <a:headEnd type="none" w="sm" len="sm"/>
                <a:tailEnd type="stealth" w="med" len="lg"/>
              </a:ln>
            </p:spPr>
          </p:sp>
          <p:sp>
            <p:nvSpPr>
              <p:cNvPr id="38946" name="Rectangle 63"/>
              <p:cNvSpPr/>
              <p:nvPr/>
            </p:nvSpPr>
            <p:spPr>
              <a:xfrm>
                <a:off x="384" y="1391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defTabSz="762000">
                  <a:spcBef>
                    <a:spcPct val="50000"/>
                  </a:spcBef>
                  <a:buNone/>
                </a:pPr>
                <a:r>
                  <a:rPr lang="en-US" altLang="zh-CN" sz="2400" b="1" i="1" dirty="0">
                    <a:ea typeface="楷体_GB2312" panose="02010609030101010101" pitchFamily="49" charset="-122"/>
                  </a:rPr>
                  <a:t>P</a:t>
                </a:r>
              </a:p>
            </p:txBody>
          </p:sp>
          <p:sp>
            <p:nvSpPr>
              <p:cNvPr id="38947" name="Rectangle 64"/>
              <p:cNvSpPr/>
              <p:nvPr/>
            </p:nvSpPr>
            <p:spPr>
              <a:xfrm>
                <a:off x="2112" y="2831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defTabSz="762000">
                  <a:spcBef>
                    <a:spcPct val="50000"/>
                  </a:spcBef>
                  <a:buNone/>
                </a:pPr>
                <a:r>
                  <a:rPr lang="en-US" altLang="zh-CN" sz="2400" b="1" i="1" dirty="0">
                    <a:ea typeface="楷体_GB2312" panose="02010609030101010101" pitchFamily="49" charset="-122"/>
                  </a:rPr>
                  <a:t>V</a:t>
                </a:r>
              </a:p>
            </p:txBody>
          </p:sp>
        </p:grpSp>
        <p:sp>
          <p:nvSpPr>
            <p:cNvPr id="38930" name="Arc 66"/>
            <p:cNvSpPr/>
            <p:nvPr/>
          </p:nvSpPr>
          <p:spPr>
            <a:xfrm rot="7140000">
              <a:off x="3544" y="2892"/>
              <a:ext cx="1489" cy="914"/>
            </a:xfrm>
            <a:custGeom>
              <a:avLst/>
              <a:gdLst/>
              <a:ahLst/>
              <a:cxnLst>
                <a:cxn ang="0">
                  <a:pos x="103" y="3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3" y="3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3" y="0"/>
                </a:cxn>
                <a:cxn ang="0">
                  <a:pos x="103" y="39"/>
                </a:cxn>
              </a:cxnLst>
              <a:rect l="0" t="0" r="0" b="0"/>
              <a:pathLst>
                <a:path w="21600" h="21624" fill="none">
                  <a:moveTo>
                    <a:pt x="21600" y="21624"/>
                  </a:moveTo>
                  <a:cubicBezTo>
                    <a:pt x="9670" y="21624"/>
                    <a:pt x="0" y="11953"/>
                    <a:pt x="0" y="24"/>
                  </a:cubicBezTo>
                  <a:cubicBezTo>
                    <a:pt x="-1" y="16"/>
                    <a:pt x="0" y="8"/>
                    <a:pt x="0" y="0"/>
                  </a:cubicBezTo>
                </a:path>
                <a:path w="21600" h="21624" stroke="0">
                  <a:moveTo>
                    <a:pt x="21600" y="21624"/>
                  </a:moveTo>
                  <a:cubicBezTo>
                    <a:pt x="9670" y="21624"/>
                    <a:pt x="0" y="11953"/>
                    <a:pt x="0" y="24"/>
                  </a:cubicBezTo>
                  <a:cubicBezTo>
                    <a:pt x="-1" y="16"/>
                    <a:pt x="0" y="8"/>
                    <a:pt x="0" y="0"/>
                  </a:cubicBezTo>
                  <a:lnTo>
                    <a:pt x="21600" y="24"/>
                  </a:lnTo>
                  <a:lnTo>
                    <a:pt x="21600" y="21624"/>
                  </a:lnTo>
                  <a:close/>
                </a:path>
              </a:pathLst>
            </a:custGeom>
            <a:noFill/>
            <a:ln w="50800" cap="flat" cmpd="sng">
              <a:solidFill>
                <a:srgbClr val="FF3300">
                  <a:alpha val="10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Line 67"/>
            <p:cNvSpPr/>
            <p:nvPr/>
          </p:nvSpPr>
          <p:spPr>
            <a:xfrm flipV="1">
              <a:off x="4136" y="2985"/>
              <a:ext cx="194" cy="14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533572" name="Rectangle 68"/>
            <p:cNvSpPr>
              <a:spLocks noChangeArrowheads="1"/>
            </p:cNvSpPr>
            <p:nvPr/>
          </p:nvSpPr>
          <p:spPr bwMode="blackWhite">
            <a:xfrm rot="19080000" flipH="1">
              <a:off x="3417" y="2817"/>
              <a:ext cx="105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不可逆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38933" name="Arc 71"/>
            <p:cNvSpPr/>
            <p:nvPr/>
          </p:nvSpPr>
          <p:spPr>
            <a:xfrm rot="240000">
              <a:off x="3783" y="3141"/>
              <a:ext cx="1488" cy="912"/>
            </a:xfrm>
            <a:custGeom>
              <a:avLst/>
              <a:gdLst/>
              <a:ahLst/>
              <a:cxnLst>
                <a:cxn ang="0">
                  <a:pos x="103" y="0"/>
                </a:cxn>
                <a:cxn ang="0">
                  <a:pos x="0" y="39"/>
                </a:cxn>
                <a:cxn ang="0">
                  <a:pos x="103" y="0"/>
                </a:cxn>
                <a:cxn ang="0">
                  <a:pos x="0" y="39"/>
                </a:cxn>
                <a:cxn ang="0">
                  <a:pos x="0" y="0"/>
                </a:cxn>
                <a:cxn ang="0">
                  <a:pos x="103" y="0"/>
                </a:cxn>
              </a:cxnLst>
              <a:rect l="0" t="0" r="0" b="0"/>
              <a:pathLst>
                <a:path w="21600" h="21600" fill="none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50800" cap="flat" cmpd="sng">
              <a:solidFill>
                <a:srgbClr val="003399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Line 72"/>
            <p:cNvSpPr/>
            <p:nvPr/>
          </p:nvSpPr>
          <p:spPr>
            <a:xfrm flipH="1">
              <a:off x="4513" y="3872"/>
              <a:ext cx="163" cy="57"/>
            </a:xfrm>
            <a:prstGeom prst="line">
              <a:avLst/>
            </a:prstGeom>
            <a:ln w="76200" cap="flat" cmpd="sng">
              <a:solidFill>
                <a:srgbClr val="003399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533577" name="Rectangle 73"/>
            <p:cNvSpPr>
              <a:spLocks noChangeArrowheads="1"/>
            </p:cNvSpPr>
            <p:nvPr/>
          </p:nvSpPr>
          <p:spPr bwMode="blackWhite">
            <a:xfrm rot="21360000">
              <a:off x="3855" y="3984"/>
              <a:ext cx="98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可逆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)</a:t>
              </a:r>
            </a:p>
          </p:txBody>
        </p:sp>
        <p:grpSp>
          <p:nvGrpSpPr>
            <p:cNvPr id="38936" name="Group 74"/>
            <p:cNvGrpSpPr/>
            <p:nvPr/>
          </p:nvGrpSpPr>
          <p:grpSpPr>
            <a:xfrm>
              <a:off x="3879" y="3237"/>
              <a:ext cx="1400" cy="477"/>
              <a:chOff x="865" y="2020"/>
              <a:chExt cx="1400" cy="477"/>
            </a:xfrm>
          </p:grpSpPr>
          <p:sp>
            <p:nvSpPr>
              <p:cNvPr id="38937" name="Arc 75"/>
              <p:cNvSpPr/>
              <p:nvPr/>
            </p:nvSpPr>
            <p:spPr>
              <a:xfrm rot="-9900000">
                <a:off x="1134" y="2020"/>
                <a:ext cx="379" cy="37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6"/>
                  </a:cxn>
                  <a:cxn ang="0">
                    <a:pos x="7" y="0"/>
                  </a:cxn>
                  <a:cxn ang="0">
                    <a:pos x="0" y="6"/>
                  </a:cxn>
                  <a:cxn ang="0">
                    <a:pos x="0" y="0"/>
                  </a:cxn>
                  <a:cxn ang="0">
                    <a:pos x="7" y="0"/>
                  </a:cxn>
                </a:cxnLst>
                <a:rect l="0" t="0" r="0" b="0"/>
                <a:pathLst>
                  <a:path w="21600" h="21600" fill="none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50800" cap="rnd" cmpd="sng">
                <a:solidFill>
                  <a:srgbClr val="003399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8" name="Line 76"/>
              <p:cNvSpPr/>
              <p:nvPr/>
            </p:nvSpPr>
            <p:spPr>
              <a:xfrm>
                <a:off x="1607" y="2112"/>
                <a:ext cx="108" cy="53"/>
              </a:xfrm>
              <a:prstGeom prst="line">
                <a:avLst/>
              </a:prstGeom>
              <a:ln w="50800" cap="flat" cmpd="sng">
                <a:solidFill>
                  <a:srgbClr val="003399"/>
                </a:solidFill>
                <a:prstDash val="solid"/>
                <a:headEnd type="none" w="sm" len="sm"/>
                <a:tailEnd type="stealth" w="med" len="lg"/>
              </a:ln>
            </p:spPr>
          </p:sp>
          <p:sp>
            <p:nvSpPr>
              <p:cNvPr id="533581" name="Rectangle 77"/>
              <p:cNvSpPr>
                <a:spLocks noChangeArrowheads="1"/>
              </p:cNvSpPr>
              <p:nvPr/>
            </p:nvSpPr>
            <p:spPr bwMode="blackWhite">
              <a:xfrm rot="20340000">
                <a:off x="865" y="2209"/>
                <a:ext cx="140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marL="0" marR="0" lvl="0" indent="0" algn="l" defTabSz="7620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不可逆循环</a:t>
                </a:r>
              </a:p>
            </p:txBody>
          </p:sp>
        </p:grpSp>
      </p:grpSp>
      <p:graphicFrame>
        <p:nvGraphicFramePr>
          <p:cNvPr id="38927" name="Object 79"/>
          <p:cNvGraphicFramePr/>
          <p:nvPr/>
        </p:nvGraphicFramePr>
        <p:xfrm>
          <a:off x="6226175" y="3895725"/>
          <a:ext cx="273843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1" r:id="rId15" imgW="1154430" imgH="405765" progId="Equation.DSMT4">
                  <p:embed/>
                </p:oleObj>
              </mc:Choice>
              <mc:Fallback>
                <p:oleObj r:id="rId15" imgW="1154430" imgH="40576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26175" y="3895725"/>
                        <a:ext cx="2738438" cy="87471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8"/>
          <p:cNvGraphicFramePr/>
          <p:nvPr/>
        </p:nvGraphicFramePr>
        <p:xfrm>
          <a:off x="4113213" y="4189413"/>
          <a:ext cx="1403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2" r:id="rId17" imgW="609600" imgH="215900" progId="Equation.3">
                  <p:embed/>
                </p:oleObj>
              </mc:Choice>
              <mc:Fallback>
                <p:oleObj r:id="rId17" imgW="609600" imgH="2159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13213" y="4189413"/>
                        <a:ext cx="14033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3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3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8" grpId="0" build="p"/>
      <p:bldP spid="533519" grpId="0" build="p"/>
      <p:bldP spid="533523" grpId="0"/>
      <p:bldP spid="53354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31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3764359" y="4082231"/>
            <a:ext cx="2673350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克劳修斯不等式</a:t>
            </a:r>
          </a:p>
        </p:txBody>
      </p:sp>
      <p:graphicFrame>
        <p:nvGraphicFramePr>
          <p:cNvPr id="534532" name="Object 4"/>
          <p:cNvGraphicFramePr/>
          <p:nvPr>
            <p:extLst>
              <p:ext uri="{D42A27DB-BD31-4B8C-83A1-F6EECF244321}">
                <p14:modId xmlns:p14="http://schemas.microsoft.com/office/powerpoint/2010/main" val="1119919169"/>
              </p:ext>
            </p:extLst>
          </p:nvPr>
        </p:nvGraphicFramePr>
        <p:xfrm>
          <a:off x="1184524" y="3278039"/>
          <a:ext cx="1371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" r:id="rId3" imgW="747395" imgH="501650" progId="Equation.3">
                  <p:embed/>
                </p:oleObj>
              </mc:Choice>
              <mc:Fallback>
                <p:oleObj r:id="rId3" imgW="747395" imgH="50165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4524" y="3278039"/>
                        <a:ext cx="13716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538" name="Object 10"/>
          <p:cNvGraphicFramePr/>
          <p:nvPr>
            <p:extLst>
              <p:ext uri="{D42A27DB-BD31-4B8C-83A1-F6EECF244321}">
                <p14:modId xmlns:p14="http://schemas.microsoft.com/office/powerpoint/2010/main" val="376453088"/>
              </p:ext>
            </p:extLst>
          </p:nvPr>
        </p:nvGraphicFramePr>
        <p:xfrm>
          <a:off x="3335586" y="574527"/>
          <a:ext cx="14319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3" r:id="rId5" imgW="814070" imgH="535305" progId="Equation.3">
                  <p:embed/>
                </p:oleObj>
              </mc:Choice>
              <mc:Fallback>
                <p:oleObj r:id="rId5" imgW="814070" imgH="53530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35586" y="574527"/>
                        <a:ext cx="1431925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539" name="Object 11"/>
          <p:cNvGraphicFramePr/>
          <p:nvPr>
            <p:extLst>
              <p:ext uri="{D42A27DB-BD31-4B8C-83A1-F6EECF244321}">
                <p14:modId xmlns:p14="http://schemas.microsoft.com/office/powerpoint/2010/main" val="1845927478"/>
              </p:ext>
            </p:extLst>
          </p:nvPr>
        </p:nvGraphicFramePr>
        <p:xfrm>
          <a:off x="6012111" y="1496864"/>
          <a:ext cx="25574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r:id="rId7" imgW="1383030" imgH="501650" progId="Equation.3">
                  <p:embed/>
                </p:oleObj>
              </mc:Choice>
              <mc:Fallback>
                <p:oleObj r:id="rId7" imgW="1383030" imgH="50165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2111" y="1496864"/>
                        <a:ext cx="2557463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540" name="Object 12"/>
          <p:cNvGraphicFramePr/>
          <p:nvPr>
            <p:extLst>
              <p:ext uri="{D42A27DB-BD31-4B8C-83A1-F6EECF244321}">
                <p14:modId xmlns:p14="http://schemas.microsoft.com/office/powerpoint/2010/main" val="2041381903"/>
              </p:ext>
            </p:extLst>
          </p:nvPr>
        </p:nvGraphicFramePr>
        <p:xfrm>
          <a:off x="3349874" y="2204889"/>
          <a:ext cx="1296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5" r:id="rId9" imgW="747395" imgH="501650" progId="Equation.3">
                  <p:embed/>
                </p:oleObj>
              </mc:Choice>
              <mc:Fallback>
                <p:oleObj r:id="rId9" imgW="747395" imgH="50165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9874" y="2204889"/>
                        <a:ext cx="1296987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42" name="Text Box 14"/>
          <p:cNvSpPr txBox="1">
            <a:spLocks noChangeArrowheads="1"/>
          </p:cNvSpPr>
          <p:nvPr/>
        </p:nvSpPr>
        <p:spPr bwMode="auto">
          <a:xfrm>
            <a:off x="973386" y="861864"/>
            <a:ext cx="2324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循环过程</a:t>
            </a:r>
          </a:p>
        </p:txBody>
      </p:sp>
      <p:sp>
        <p:nvSpPr>
          <p:cNvPr id="534543" name="Text Box 15"/>
          <p:cNvSpPr txBox="1">
            <a:spLocks noChangeArrowheads="1"/>
          </p:cNvSpPr>
          <p:nvPr/>
        </p:nvSpPr>
        <p:spPr bwMode="auto">
          <a:xfrm>
            <a:off x="973386" y="1639739"/>
            <a:ext cx="2520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有限过程</a:t>
            </a:r>
          </a:p>
        </p:txBody>
      </p:sp>
      <p:sp>
        <p:nvSpPr>
          <p:cNvPr id="534544" name="Text Box 16"/>
          <p:cNvSpPr txBox="1">
            <a:spLocks noChangeArrowheads="1"/>
          </p:cNvSpPr>
          <p:nvPr/>
        </p:nvSpPr>
        <p:spPr bwMode="auto">
          <a:xfrm>
            <a:off x="973386" y="2358877"/>
            <a:ext cx="2736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(3) 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微变过程</a:t>
            </a:r>
          </a:p>
        </p:txBody>
      </p:sp>
      <p:sp>
        <p:nvSpPr>
          <p:cNvPr id="534545" name="Text Box 17"/>
          <p:cNvSpPr txBox="1">
            <a:spLocks noChangeArrowheads="1"/>
          </p:cNvSpPr>
          <p:nvPr/>
        </p:nvSpPr>
        <p:spPr bwMode="auto">
          <a:xfrm>
            <a:off x="395536" y="404664"/>
            <a:ext cx="22875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综上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34546" name="Text Box 18"/>
          <p:cNvSpPr txBox="1">
            <a:spLocks noChangeArrowheads="1"/>
          </p:cNvSpPr>
          <p:nvPr/>
        </p:nvSpPr>
        <p:spPr bwMode="auto">
          <a:xfrm>
            <a:off x="5180261" y="2465239"/>
            <a:ext cx="3241675" cy="1004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等号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可逆过程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不等号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不可逆过程</a:t>
            </a:r>
          </a:p>
        </p:txBody>
      </p:sp>
      <p:sp>
        <p:nvSpPr>
          <p:cNvPr id="534547" name="Rectangle 19"/>
          <p:cNvSpPr/>
          <p:nvPr/>
        </p:nvSpPr>
        <p:spPr>
          <a:xfrm>
            <a:off x="611560" y="3238352"/>
            <a:ext cx="3024336" cy="2206872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34548" name="AutoShape 20"/>
          <p:cNvSpPr/>
          <p:nvPr/>
        </p:nvSpPr>
        <p:spPr>
          <a:xfrm>
            <a:off x="828924" y="1077764"/>
            <a:ext cx="79375" cy="1657350"/>
          </a:xfrm>
          <a:prstGeom prst="leftBrace">
            <a:avLst>
              <a:gd name="adj1" fmla="val 174000"/>
              <a:gd name="adj2" fmla="val 50000"/>
            </a:avLst>
          </a:prstGeom>
          <a:noFill/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534556" name="Object 28"/>
          <p:cNvGraphicFramePr/>
          <p:nvPr>
            <p:extLst>
              <p:ext uri="{D42A27DB-BD31-4B8C-83A1-F6EECF244321}">
                <p14:modId xmlns:p14="http://schemas.microsoft.com/office/powerpoint/2010/main" val="2141754968"/>
              </p:ext>
            </p:extLst>
          </p:nvPr>
        </p:nvGraphicFramePr>
        <p:xfrm>
          <a:off x="3203824" y="1484164"/>
          <a:ext cx="22780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6" r:id="rId11" imgW="1327150" imgH="501650" progId="Equation.3">
                  <p:embed/>
                </p:oleObj>
              </mc:Choice>
              <mc:Fallback>
                <p:oleObj r:id="rId11" imgW="1327150" imgH="50165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824" y="1484164"/>
                        <a:ext cx="2278062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57" name="Text Box 29"/>
          <p:cNvSpPr txBox="1"/>
          <p:nvPr/>
        </p:nvSpPr>
        <p:spPr>
          <a:xfrm>
            <a:off x="5488236" y="1679427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或</a:t>
            </a:r>
          </a:p>
        </p:txBody>
      </p: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5F4FBC78-CB25-44EF-8BD8-D989CAC491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154340"/>
              </p:ext>
            </p:extLst>
          </p:nvPr>
        </p:nvGraphicFramePr>
        <p:xfrm>
          <a:off x="740023" y="4320810"/>
          <a:ext cx="25574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7" r:id="rId7" imgW="1383030" imgH="501650" progId="Equation.3">
                  <p:embed/>
                </p:oleObj>
              </mc:Choice>
              <mc:Fallback>
                <p:oleObj r:id="rId7" imgW="1383030" imgH="501650" progId="Equation.3">
                  <p:embed/>
                  <p:pic>
                    <p:nvPicPr>
                      <p:cNvPr id="534539" name="Object 1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0023" y="4320810"/>
                        <a:ext cx="2557463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3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3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3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3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3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34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build="p"/>
      <p:bldP spid="534542" grpId="0"/>
      <p:bldP spid="534543" grpId="0"/>
      <p:bldP spid="534544" grpId="0"/>
      <p:bldP spid="534545" grpId="0"/>
      <p:bldP spid="534546" grpId="0" bldLvl="0" animBg="1"/>
      <p:bldP spid="534547" grpId="0" animBg="1"/>
      <p:bldP spid="534548" grpId="0" animBg="1"/>
      <p:bldP spid="53455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32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740362" name="Rectangle 10"/>
          <p:cNvSpPr/>
          <p:nvPr/>
        </p:nvSpPr>
        <p:spPr>
          <a:xfrm>
            <a:off x="1185863" y="2492375"/>
            <a:ext cx="6553200" cy="1584325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153400" cy="971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二、熵增加原理</a:t>
            </a:r>
            <a:r>
              <a:rPr kumimoji="1" lang="en-US" altLang="zh-CN" sz="32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热</a:t>
            </a:r>
            <a:r>
              <a:rPr kumimoji="1" lang="zh-CN" altLang="en-US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二</a:t>
            </a:r>
            <a:r>
              <a:rPr kumimoji="1" lang="zh-CN" altLang="en-US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律的数学表述</a:t>
            </a:r>
            <a:r>
              <a:rPr kumimoji="1" lang="en-US" altLang="zh-CN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1" lang="en-US" altLang="zh-CN" sz="3200" i="1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   </a:t>
            </a: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孤立系统自发过程方向性问题</a:t>
            </a:r>
            <a:endParaRPr kumimoji="1" lang="zh-CN" altLang="en-US" i="1" kern="1200" cap="none" spc="0" normalizeH="0" baseline="0" noProof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0357" name="Text Box 5"/>
          <p:cNvSpPr txBox="1">
            <a:spLocks noChangeArrowheads="1"/>
          </p:cNvSpPr>
          <p:nvPr/>
        </p:nvSpPr>
        <p:spPr bwMode="auto">
          <a:xfrm>
            <a:off x="1260475" y="2684463"/>
            <a:ext cx="90725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表述： 孤立系统内进行的过程   熵永不减少 </a:t>
            </a:r>
          </a:p>
        </p:txBody>
      </p:sp>
      <p:graphicFrame>
        <p:nvGraphicFramePr>
          <p:cNvPr id="740358" name="Object 6"/>
          <p:cNvGraphicFramePr/>
          <p:nvPr/>
        </p:nvGraphicFramePr>
        <p:xfrm>
          <a:off x="2627313" y="3213100"/>
          <a:ext cx="12954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4" r:id="rId3" imgW="591185" imgH="212090" progId="Equation.3">
                  <p:embed/>
                </p:oleObj>
              </mc:Choice>
              <mc:Fallback>
                <p:oleObj r:id="rId3" imgW="591185" imgH="21209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3213100"/>
                        <a:ext cx="1295400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59" name="Text Box 7"/>
          <p:cNvSpPr txBox="1">
            <a:spLocks noChangeArrowheads="1"/>
          </p:cNvSpPr>
          <p:nvPr/>
        </p:nvSpPr>
        <p:spPr bwMode="auto">
          <a:xfrm>
            <a:off x="4211638" y="3213100"/>
            <a:ext cx="4681538" cy="82232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------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热力学第二定律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数学表达式</a:t>
            </a:r>
          </a:p>
        </p:txBody>
      </p:sp>
      <p:sp>
        <p:nvSpPr>
          <p:cNvPr id="740360" name="Text Box 8"/>
          <p:cNvSpPr txBox="1">
            <a:spLocks noChangeArrowheads="1"/>
          </p:cNvSpPr>
          <p:nvPr/>
        </p:nvSpPr>
        <p:spPr bwMode="auto">
          <a:xfrm>
            <a:off x="1246188" y="1773238"/>
            <a:ext cx="28797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由克劳修斯不等式</a:t>
            </a:r>
          </a:p>
        </p:txBody>
      </p:sp>
      <p:sp>
        <p:nvSpPr>
          <p:cNvPr id="740365" name="Text Box 13"/>
          <p:cNvSpPr txBox="1">
            <a:spLocks noChangeArrowheads="1"/>
          </p:cNvSpPr>
          <p:nvPr/>
        </p:nvSpPr>
        <p:spPr bwMode="auto">
          <a:xfrm>
            <a:off x="1619250" y="4122738"/>
            <a:ext cx="41148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孤立系统</a:t>
            </a:r>
            <a:r>
              <a:rPr kumimoji="0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不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可逆过程</a:t>
            </a:r>
          </a:p>
        </p:txBody>
      </p:sp>
      <p:graphicFrame>
        <p:nvGraphicFramePr>
          <p:cNvPr id="740366" name="Object 14"/>
          <p:cNvGraphicFramePr/>
          <p:nvPr/>
        </p:nvGraphicFramePr>
        <p:xfrm>
          <a:off x="4999038" y="4187825"/>
          <a:ext cx="9604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5" r:id="rId5" imgW="723900" imgH="241300" progId="Equation.3">
                  <p:embed/>
                </p:oleObj>
              </mc:Choice>
              <mc:Fallback>
                <p:oleObj r:id="rId5" imgW="723900" imgH="2413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9038" y="4187825"/>
                        <a:ext cx="960437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68" name="Rectangle 16"/>
          <p:cNvSpPr>
            <a:spLocks noChangeArrowheads="1"/>
          </p:cNvSpPr>
          <p:nvPr/>
        </p:nvSpPr>
        <p:spPr bwMode="auto">
          <a:xfrm>
            <a:off x="1704975" y="4652963"/>
            <a:ext cx="3886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孤立系统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可逆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过程</a:t>
            </a:r>
          </a:p>
        </p:txBody>
      </p:sp>
      <p:graphicFrame>
        <p:nvGraphicFramePr>
          <p:cNvPr id="740369" name="Object 17"/>
          <p:cNvGraphicFramePr/>
          <p:nvPr/>
        </p:nvGraphicFramePr>
        <p:xfrm>
          <a:off x="4999038" y="4732338"/>
          <a:ext cx="9604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" r:id="rId7" imgW="723900" imgH="241300" progId="Equation.3">
                  <p:embed/>
                </p:oleObj>
              </mc:Choice>
              <mc:Fallback>
                <p:oleObj r:id="rId7" imgW="723900" imgH="2413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9038" y="4732338"/>
                        <a:ext cx="960437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84" name="Text Box 32"/>
          <p:cNvSpPr txBox="1">
            <a:spLocks noChangeArrowheads="1"/>
          </p:cNvSpPr>
          <p:nvPr/>
        </p:nvSpPr>
        <p:spPr bwMode="auto">
          <a:xfrm>
            <a:off x="1258888" y="1268413"/>
            <a:ext cx="55451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孤立系统</a:t>
            </a:r>
          </a:p>
        </p:txBody>
      </p:sp>
      <p:sp>
        <p:nvSpPr>
          <p:cNvPr id="740385" name="AutoShape 33"/>
          <p:cNvSpPr/>
          <p:nvPr/>
        </p:nvSpPr>
        <p:spPr>
          <a:xfrm>
            <a:off x="2843213" y="1339850"/>
            <a:ext cx="576262" cy="341313"/>
          </a:xfrm>
          <a:prstGeom prst="rightArrow">
            <a:avLst>
              <a:gd name="adj1" fmla="val 50000"/>
              <a:gd name="adj2" fmla="val 42146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740393" name="Text Box 41"/>
          <p:cNvSpPr txBox="1">
            <a:spLocks noChangeArrowheads="1"/>
          </p:cNvSpPr>
          <p:nvPr/>
        </p:nvSpPr>
        <p:spPr bwMode="auto">
          <a:xfrm>
            <a:off x="971550" y="5203825"/>
            <a:ext cx="741680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利用态函数熵的变化，可以判断</a:t>
            </a: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自发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过程的方向。</a:t>
            </a:r>
          </a:p>
        </p:txBody>
      </p:sp>
      <p:sp>
        <p:nvSpPr>
          <p:cNvPr id="740394" name="Text Box 42"/>
          <p:cNvSpPr txBox="1">
            <a:spLocks noChangeArrowheads="1"/>
          </p:cNvSpPr>
          <p:nvPr/>
        </p:nvSpPr>
        <p:spPr bwMode="auto">
          <a:xfrm>
            <a:off x="957263" y="5780088"/>
            <a:ext cx="7848600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自发过程</a:t>
            </a:r>
            <a:r>
              <a:rPr kumimoji="1" lang="en-US" altLang="zh-CN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-----</a:t>
            </a:r>
            <a:r>
              <a:rPr kumimoji="1" lang="zh-CN" altLang="en-US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不可逆过程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因而</a:t>
            </a:r>
          </a:p>
        </p:txBody>
      </p:sp>
      <p:sp>
        <p:nvSpPr>
          <p:cNvPr id="740395" name="Text Box 43"/>
          <p:cNvSpPr txBox="1">
            <a:spLocks noChangeArrowheads="1"/>
          </p:cNvSpPr>
          <p:nvPr/>
        </p:nvSpPr>
        <p:spPr bwMode="auto">
          <a:xfrm>
            <a:off x="1547813" y="6308725"/>
            <a:ext cx="1146175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S</a:t>
            </a:r>
            <a:r>
              <a:rPr kumimoji="1" lang="en-US" altLang="zh-CN" sz="2800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2</a:t>
            </a: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&gt;S</a:t>
            </a:r>
            <a:r>
              <a:rPr kumimoji="1" lang="en-US" altLang="zh-CN" sz="2800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1</a:t>
            </a:r>
            <a:r>
              <a:rPr kumimoji="1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</a:t>
            </a:r>
          </a:p>
        </p:txBody>
      </p:sp>
      <p:sp>
        <p:nvSpPr>
          <p:cNvPr id="740396" name="Text Box 44"/>
          <p:cNvSpPr txBox="1">
            <a:spLocks noChangeArrowheads="1"/>
          </p:cNvSpPr>
          <p:nvPr/>
        </p:nvSpPr>
        <p:spPr bwMode="auto">
          <a:xfrm>
            <a:off x="971550" y="6329363"/>
            <a:ext cx="6445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740397" name="Text Box 45"/>
          <p:cNvSpPr txBox="1">
            <a:spLocks noChangeArrowheads="1"/>
          </p:cNvSpPr>
          <p:nvPr/>
        </p:nvSpPr>
        <p:spPr bwMode="auto">
          <a:xfrm>
            <a:off x="2627313" y="6308725"/>
            <a:ext cx="7705725" cy="45720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过程</a:t>
            </a: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向熵增大方向自动进行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!</a:t>
            </a:r>
          </a:p>
        </p:txBody>
      </p:sp>
      <p:graphicFrame>
        <p:nvGraphicFramePr>
          <p:cNvPr id="740398" name="Object 46"/>
          <p:cNvGraphicFramePr/>
          <p:nvPr/>
        </p:nvGraphicFramePr>
        <p:xfrm>
          <a:off x="5435600" y="5805488"/>
          <a:ext cx="10080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7" r:id="rId9" imgW="591185" imgH="212090" progId="Equation.3">
                  <p:embed/>
                </p:oleObj>
              </mc:Choice>
              <mc:Fallback>
                <p:oleObj r:id="rId9" imgW="591185" imgH="21209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5805488"/>
                        <a:ext cx="1008063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99" name="Rectangle 47"/>
          <p:cNvSpPr/>
          <p:nvPr/>
        </p:nvSpPr>
        <p:spPr>
          <a:xfrm>
            <a:off x="1187450" y="4148138"/>
            <a:ext cx="6480175" cy="1008062"/>
          </a:xfrm>
          <a:prstGeom prst="rect">
            <a:avLst/>
          </a:prstGeom>
          <a:noFill/>
          <a:ln w="38100" cap="flat" cmpd="sng">
            <a:solidFill>
              <a:srgbClr val="00BCB8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740400" name="Object 48"/>
          <p:cNvGraphicFramePr/>
          <p:nvPr>
            <p:extLst>
              <p:ext uri="{D42A27DB-BD31-4B8C-83A1-F6EECF244321}">
                <p14:modId xmlns:p14="http://schemas.microsoft.com/office/powerpoint/2010/main" val="470067889"/>
              </p:ext>
            </p:extLst>
          </p:nvPr>
        </p:nvGraphicFramePr>
        <p:xfrm>
          <a:off x="4128809" y="1547813"/>
          <a:ext cx="255746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8" r:id="rId11" imgW="1383030" imgH="501650" progId="Equation.3">
                  <p:embed/>
                </p:oleObj>
              </mc:Choice>
              <mc:Fallback>
                <p:oleObj r:id="rId11" imgW="1383030" imgH="50165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8809" y="1547813"/>
                        <a:ext cx="2557463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0"/>
          <p:cNvGraphicFramePr/>
          <p:nvPr/>
        </p:nvGraphicFramePr>
        <p:xfrm>
          <a:off x="3635375" y="1273175"/>
          <a:ext cx="10366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9" r:id="rId13" imgW="457200" imgH="203200" progId="Equation.3">
                  <p:embed/>
                </p:oleObj>
              </mc:Choice>
              <mc:Fallback>
                <p:oleObj r:id="rId13" imgW="457200" imgH="2032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35375" y="1273175"/>
                        <a:ext cx="1036638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4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4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40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4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7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4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4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4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4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74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4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74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4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40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40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740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40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40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40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2" grpId="0" animBg="1"/>
      <p:bldP spid="740356" grpId="0" uiExpand="1" build="p"/>
      <p:bldP spid="740357" grpId="0"/>
      <p:bldP spid="740359" grpId="0"/>
      <p:bldP spid="740360" grpId="0" build="p"/>
      <p:bldP spid="740365" grpId="0"/>
      <p:bldP spid="740368" grpId="0"/>
      <p:bldP spid="740384" grpId="0"/>
      <p:bldP spid="740385" grpId="0" animBg="1"/>
      <p:bldP spid="740393" grpId="0" build="p"/>
      <p:bldP spid="740394" grpId="0" build="p"/>
      <p:bldP spid="740395" grpId="0" build="p"/>
      <p:bldP spid="740396" grpId="0" build="p"/>
      <p:bldP spid="740397" grpId="0" build="p"/>
      <p:bldP spid="74039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33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741380" name="Rectangle 4"/>
          <p:cNvSpPr>
            <a:spLocks noChangeArrowheads="1"/>
          </p:cNvSpPr>
          <p:nvPr/>
        </p:nvSpPr>
        <p:spPr bwMode="auto">
          <a:xfrm>
            <a:off x="231775" y="3041650"/>
            <a:ext cx="94726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熵增加原理成立的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条件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孤立系统或绝热过程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741381" name="Text Box 5"/>
          <p:cNvSpPr txBox="1">
            <a:spLocks noChangeArrowheads="1"/>
          </p:cNvSpPr>
          <p:nvPr/>
        </p:nvSpPr>
        <p:spPr bwMode="auto">
          <a:xfrm>
            <a:off x="238125" y="3776663"/>
            <a:ext cx="8886825" cy="1160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800" kern="1200" cap="none" spc="0" normalizeH="0" baseline="0" noProof="0" dirty="0"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熵增加原理的</a:t>
            </a:r>
            <a:r>
              <a:rPr kumimoji="0" lang="zh-CN" altLang="en-US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意义</a:t>
            </a:r>
            <a:r>
              <a:rPr kumimoji="0" lang="zh-CN" altLang="en-US" sz="2800" kern="1200" cap="none" spc="0" normalizeH="0" baseline="0" noProof="0" dirty="0"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：给出自发过程</a:t>
            </a:r>
            <a:r>
              <a:rPr kumimoji="0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进行的</a:t>
            </a:r>
            <a:r>
              <a:rPr kumimoji="0" lang="zh-CN" altLang="en-US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方向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和限度的判椐 </a:t>
            </a:r>
            <a:r>
              <a:rPr kumimoji="0" lang="en-US" altLang="zh-CN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741382" name="Rectangle 6"/>
          <p:cNvSpPr>
            <a:spLocks noChangeArrowheads="1"/>
          </p:cNvSpPr>
          <p:nvPr/>
        </p:nvSpPr>
        <p:spPr bwMode="auto">
          <a:xfrm>
            <a:off x="304800" y="5013325"/>
            <a:ext cx="8532813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方向：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孤立系统的自发过程朝着熵增大的方向进行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限度：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孤立系统熵值达到最大。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952500" y="1544638"/>
            <a:ext cx="7239000" cy="1295400"/>
            <a:chOff x="384" y="528"/>
            <a:chExt cx="4560" cy="816"/>
          </a:xfrm>
        </p:grpSpPr>
        <p:sp>
          <p:nvSpPr>
            <p:cNvPr id="741384" name="Text Box 8"/>
            <p:cNvSpPr txBox="1">
              <a:spLocks noChangeArrowheads="1"/>
            </p:cNvSpPr>
            <p:nvPr/>
          </p:nvSpPr>
          <p:spPr bwMode="auto">
            <a:xfrm>
              <a:off x="384" y="528"/>
              <a:ext cx="3744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>
                  <a:schemeClr val="accent2"/>
                </a:buClr>
                <a:buSzPct val="50000"/>
                <a:buFont typeface="Wingdings" panose="05000000000000000000" pitchFamily="2" charset="2"/>
                <a:buChar char="l"/>
                <a:defRPr/>
              </a:pPr>
              <a:r>
                <a:rPr kumimoji="1" lang="en-US" altLang="zh-CN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绝热过程，</a:t>
              </a:r>
              <a:r>
                <a:rPr kumimoji="1" lang="en-US" altLang="zh-CN" sz="2800" i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δQ</a:t>
              </a:r>
              <a:r>
                <a:rPr kumimoji="1" lang="en-US" altLang="zh-CN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=0</a:t>
              </a:r>
              <a:r>
                <a:rPr kumimoji="1" lang="zh-CN" altLang="en-US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，则有</a:t>
              </a:r>
            </a:p>
          </p:txBody>
        </p:sp>
        <p:grpSp>
          <p:nvGrpSpPr>
            <p:cNvPr id="42000" name="Group 9"/>
            <p:cNvGrpSpPr/>
            <p:nvPr/>
          </p:nvGrpSpPr>
          <p:grpSpPr>
            <a:xfrm>
              <a:off x="897" y="748"/>
              <a:ext cx="4047" cy="596"/>
              <a:chOff x="785" y="720"/>
              <a:chExt cx="4047" cy="596"/>
            </a:xfrm>
          </p:grpSpPr>
          <p:graphicFrame>
            <p:nvGraphicFramePr>
              <p:cNvPr id="42001" name="Object 10"/>
              <p:cNvGraphicFramePr/>
              <p:nvPr/>
            </p:nvGraphicFramePr>
            <p:xfrm>
              <a:off x="785" y="854"/>
              <a:ext cx="2469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37" r:id="rId4" imgW="2263775" imgH="290195" progId="Equation.3">
                      <p:embed/>
                    </p:oleObj>
                  </mc:Choice>
                  <mc:Fallback>
                    <p:oleObj r:id="rId4" imgW="2263775" imgH="290195" progId="Equation.3">
                      <p:embed/>
                      <p:pic>
                        <p:nvPicPr>
                          <p:cNvPr id="0" name="图片 3117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CC33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85" y="854"/>
                            <a:ext cx="2469" cy="3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1387" name="Text Box 11"/>
              <p:cNvSpPr txBox="1">
                <a:spLocks noChangeArrowheads="1"/>
              </p:cNvSpPr>
              <p:nvPr/>
            </p:nvSpPr>
            <p:spPr bwMode="auto">
              <a:xfrm>
                <a:off x="3216" y="720"/>
                <a:ext cx="788" cy="5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不可逆</a:t>
                </a:r>
              </a:p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可逆</a:t>
                </a:r>
              </a:p>
            </p:txBody>
          </p:sp>
          <p:sp>
            <p:nvSpPr>
              <p:cNvPr id="741388" name="Text Box 12"/>
              <p:cNvSpPr txBox="1">
                <a:spLocks noChangeArrowheads="1"/>
              </p:cNvSpPr>
              <p:nvPr/>
            </p:nvSpPr>
            <p:spPr bwMode="auto">
              <a:xfrm>
                <a:off x="4080" y="864"/>
                <a:ext cx="752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endParaRPr kumimoji="1" lang="zh-CN" altLang="zh-CN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2339975" y="257175"/>
            <a:ext cx="48244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孤立系统内进行的过程必有</a:t>
            </a:r>
          </a:p>
        </p:txBody>
      </p:sp>
      <p:graphicFrame>
        <p:nvGraphicFramePr>
          <p:cNvPr id="41992" name="Object 6"/>
          <p:cNvGraphicFramePr/>
          <p:nvPr/>
        </p:nvGraphicFramePr>
        <p:xfrm>
          <a:off x="7019925" y="288925"/>
          <a:ext cx="1371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r:id="rId6" imgW="523875" imgH="200660" progId="Equation.3">
                  <p:embed/>
                </p:oleObj>
              </mc:Choice>
              <mc:Fallback>
                <p:oleObj r:id="rId6" imgW="523875" imgH="20066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19925" y="288925"/>
                        <a:ext cx="13716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3" name="Group 7"/>
          <p:cNvGrpSpPr/>
          <p:nvPr/>
        </p:nvGrpSpPr>
        <p:grpSpPr>
          <a:xfrm>
            <a:off x="2411413" y="893763"/>
            <a:ext cx="5905500" cy="519112"/>
            <a:chOff x="1292" y="3559"/>
            <a:chExt cx="3720" cy="327"/>
          </a:xfrm>
        </p:grpSpPr>
        <p:sp>
          <p:nvSpPr>
            <p:cNvPr id="457736" name="Rectangle 8"/>
            <p:cNvSpPr>
              <a:spLocks noChangeArrowheads="1"/>
            </p:cNvSpPr>
            <p:nvPr/>
          </p:nvSpPr>
          <p:spPr bwMode="auto">
            <a:xfrm>
              <a:off x="1338" y="3559"/>
              <a:ext cx="3674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对非孤立系统熵可增加也可减少</a:t>
              </a:r>
            </a:p>
          </p:txBody>
        </p:sp>
        <p:graphicFrame>
          <p:nvGraphicFramePr>
            <p:cNvPr id="41998" name="Object 9"/>
            <p:cNvGraphicFramePr/>
            <p:nvPr/>
          </p:nvGraphicFramePr>
          <p:xfrm>
            <a:off x="1292" y="3676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9" r:id="rId8" imgW="122555" imgH="122555" progId="Equation.3">
                    <p:embed/>
                  </p:oleObj>
                </mc:Choice>
                <mc:Fallback>
                  <p:oleObj r:id="rId8" imgW="122555" imgH="12255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92" y="3676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994" name="Group 10"/>
          <p:cNvGrpSpPr/>
          <p:nvPr/>
        </p:nvGrpSpPr>
        <p:grpSpPr>
          <a:xfrm>
            <a:off x="539750" y="-26987"/>
            <a:ext cx="1828800" cy="1143000"/>
            <a:chOff x="144" y="96"/>
            <a:chExt cx="1152" cy="720"/>
          </a:xfrm>
        </p:grpSpPr>
        <p:sp>
          <p:nvSpPr>
            <p:cNvPr id="457739" name="AutoShape 11"/>
            <p:cNvSpPr>
              <a:spLocks noChangeArrowheads="1"/>
            </p:cNvSpPr>
            <p:nvPr/>
          </p:nvSpPr>
          <p:spPr bwMode="blackWhite">
            <a:xfrm>
              <a:off x="144" y="96"/>
              <a:ext cx="1152" cy="720"/>
            </a:xfrm>
            <a:prstGeom prst="irregularSeal1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7740" name="Text Box 12"/>
            <p:cNvSpPr txBox="1">
              <a:spLocks noChangeArrowheads="1"/>
            </p:cNvSpPr>
            <p:nvPr/>
          </p:nvSpPr>
          <p:spPr bwMode="blackWhite">
            <a:xfrm>
              <a:off x="384" y="240"/>
              <a:ext cx="91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说明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4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4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80" grpId="0" bldLvl="0" animBg="1"/>
      <p:bldP spid="741381" grpId="0" bldLvl="0" animBg="1"/>
      <p:bldP spid="74138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52" name="Text Box 4"/>
          <p:cNvSpPr txBox="1">
            <a:spLocks noChangeArrowheads="1"/>
          </p:cNvSpPr>
          <p:nvPr/>
        </p:nvSpPr>
        <p:spPr bwMode="auto">
          <a:xfrm>
            <a:off x="250825" y="44450"/>
            <a:ext cx="5410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三、理想气体的态函数熵</a:t>
            </a:r>
          </a:p>
        </p:txBody>
      </p:sp>
      <p:graphicFrame>
        <p:nvGraphicFramePr>
          <p:cNvPr id="1051654" name="Object 6"/>
          <p:cNvGraphicFramePr/>
          <p:nvPr>
            <p:extLst>
              <p:ext uri="{D42A27DB-BD31-4B8C-83A1-F6EECF244321}">
                <p14:modId xmlns:p14="http://schemas.microsoft.com/office/powerpoint/2010/main" val="2721602385"/>
              </p:ext>
            </p:extLst>
          </p:nvPr>
        </p:nvGraphicFramePr>
        <p:xfrm>
          <a:off x="3375177" y="1431132"/>
          <a:ext cx="2520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6" r:id="rId3" imgW="1535430" imgH="254000" progId="Equation.3">
                  <p:embed/>
                </p:oleObj>
              </mc:Choice>
              <mc:Fallback>
                <p:oleObj r:id="rId3" imgW="1535430" imgH="2540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177" y="1431132"/>
                        <a:ext cx="2520950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5" name="Text Box 7"/>
          <p:cNvSpPr txBox="1">
            <a:spLocks noChangeArrowheads="1"/>
          </p:cNvSpPr>
          <p:nvPr/>
        </p:nvSpPr>
        <p:spPr bwMode="auto">
          <a:xfrm>
            <a:off x="619277" y="767557"/>
            <a:ext cx="1371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热一律</a:t>
            </a:r>
          </a:p>
        </p:txBody>
      </p:sp>
      <p:sp>
        <p:nvSpPr>
          <p:cNvPr id="1051656" name="Text Box 8"/>
          <p:cNvSpPr txBox="1">
            <a:spLocks noChangeArrowheads="1"/>
          </p:cNvSpPr>
          <p:nvPr/>
        </p:nvSpPr>
        <p:spPr bwMode="auto">
          <a:xfrm>
            <a:off x="619277" y="132477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可逆</a:t>
            </a:r>
            <a:r>
              <a:rPr kumimoji="1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过程热一律</a:t>
            </a:r>
          </a:p>
        </p:txBody>
      </p:sp>
      <p:graphicFrame>
        <p:nvGraphicFramePr>
          <p:cNvPr id="1051657" name="Object 9"/>
          <p:cNvGraphicFramePr/>
          <p:nvPr>
            <p:extLst>
              <p:ext uri="{D42A27DB-BD31-4B8C-83A1-F6EECF244321}">
                <p14:modId xmlns:p14="http://schemas.microsoft.com/office/powerpoint/2010/main" val="3609825966"/>
              </p:ext>
            </p:extLst>
          </p:nvPr>
        </p:nvGraphicFramePr>
        <p:xfrm>
          <a:off x="4672165" y="1940720"/>
          <a:ext cx="2303462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7" name="Equation" r:id="rId5" imgW="1371600" imgH="501650" progId="Equation.DSMT4">
                  <p:embed/>
                </p:oleObj>
              </mc:Choice>
              <mc:Fallback>
                <p:oleObj name="Equation" r:id="rId5" imgW="1371600" imgH="50165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2165" y="1940720"/>
                        <a:ext cx="2303462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8" name="Text Box 10"/>
          <p:cNvSpPr txBox="1">
            <a:spLocks noChangeArrowheads="1"/>
          </p:cNvSpPr>
          <p:nvPr/>
        </p:nvSpPr>
        <p:spPr bwMode="auto">
          <a:xfrm>
            <a:off x="619277" y="2204245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</a:t>
            </a:r>
          </a:p>
        </p:txBody>
      </p:sp>
      <p:graphicFrame>
        <p:nvGraphicFramePr>
          <p:cNvPr id="1051661" name="Object 13"/>
          <p:cNvGraphicFramePr/>
          <p:nvPr>
            <p:extLst>
              <p:ext uri="{D42A27DB-BD31-4B8C-83A1-F6EECF244321}">
                <p14:modId xmlns:p14="http://schemas.microsoft.com/office/powerpoint/2010/main" val="3684407393"/>
              </p:ext>
            </p:extLst>
          </p:nvPr>
        </p:nvGraphicFramePr>
        <p:xfrm>
          <a:off x="620650" y="2644551"/>
          <a:ext cx="379253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8" name="Equation" r:id="rId7" imgW="1841400" imgH="419040" progId="Equation.DSMT4">
                  <p:embed/>
                </p:oleObj>
              </mc:Choice>
              <mc:Fallback>
                <p:oleObj name="Equation" r:id="rId7" imgW="1841400" imgH="41904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0650" y="2644551"/>
                        <a:ext cx="3792538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2" name="Object 14"/>
          <p:cNvGraphicFramePr/>
          <p:nvPr>
            <p:extLst>
              <p:ext uri="{D42A27DB-BD31-4B8C-83A1-F6EECF244321}">
                <p14:modId xmlns:p14="http://schemas.microsoft.com/office/powerpoint/2010/main" val="1226329073"/>
              </p:ext>
            </p:extLst>
          </p:nvPr>
        </p:nvGraphicFramePr>
        <p:xfrm>
          <a:off x="1008967" y="3720027"/>
          <a:ext cx="42862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9" r:id="rId9" imgW="1714500" imgH="444500" progId="Equation.DSMT4">
                  <p:embed/>
                </p:oleObj>
              </mc:Choice>
              <mc:Fallback>
                <p:oleObj r:id="rId9" imgW="1714500" imgH="4445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8967" y="3720027"/>
                        <a:ext cx="4286250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/>
          <p:nvPr/>
        </p:nvGrpSpPr>
        <p:grpSpPr>
          <a:xfrm>
            <a:off x="6617342" y="3094832"/>
            <a:ext cx="2422525" cy="2424113"/>
            <a:chOff x="4099" y="1248"/>
            <a:chExt cx="1663" cy="1674"/>
          </a:xfrm>
        </p:grpSpPr>
        <p:graphicFrame>
          <p:nvGraphicFramePr>
            <p:cNvPr id="43027" name="Object 16"/>
            <p:cNvGraphicFramePr/>
            <p:nvPr/>
          </p:nvGraphicFramePr>
          <p:xfrm>
            <a:off x="4099" y="1529"/>
            <a:ext cx="1663" cy="1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00" r:id="rId11" imgW="1041400" imgH="812800" progId="Equation.DSMT4">
                    <p:embed/>
                  </p:oleObj>
                </mc:Choice>
                <mc:Fallback>
                  <p:oleObj r:id="rId11" imgW="1041400" imgH="8128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99" y="1529"/>
                          <a:ext cx="1663" cy="13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1665" name="Text Box 17"/>
            <p:cNvSpPr txBox="1">
              <a:spLocks noChangeArrowheads="1"/>
            </p:cNvSpPr>
            <p:nvPr/>
          </p:nvSpPr>
          <p:spPr bwMode="auto">
            <a:xfrm>
              <a:off x="4320" y="1248"/>
              <a:ext cx="1200" cy="35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理想气体</a:t>
              </a:r>
            </a:p>
          </p:txBody>
        </p:sp>
      </p:grpSp>
      <p:sp>
        <p:nvSpPr>
          <p:cNvPr id="1051666" name="Rectangle 18"/>
          <p:cNvSpPr/>
          <p:nvPr/>
        </p:nvSpPr>
        <p:spPr>
          <a:xfrm>
            <a:off x="6552254" y="2955132"/>
            <a:ext cx="2487613" cy="2563813"/>
          </a:xfrm>
          <a:prstGeom prst="rect">
            <a:avLst/>
          </a:prstGeom>
          <a:noFill/>
          <a:ln w="9525" cap="flat" cmpd="sng">
            <a:solidFill>
              <a:srgbClr val="00BCB8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51668" name="Rectangle 20"/>
          <p:cNvSpPr>
            <a:spLocks noChangeArrowheads="1"/>
          </p:cNvSpPr>
          <p:nvPr/>
        </p:nvSpPr>
        <p:spPr bwMode="auto">
          <a:xfrm>
            <a:off x="1574952" y="2131220"/>
            <a:ext cx="3313113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sng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热力学基本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方程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Bookman Old Style" panose="020506040505050202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51669" name="Object 21"/>
          <p:cNvGraphicFramePr/>
          <p:nvPr/>
        </p:nvGraphicFramePr>
        <p:xfrm>
          <a:off x="7308850" y="260350"/>
          <a:ext cx="154781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1" name="Equation" r:id="rId13" imgW="858520" imgH="501650" progId="Equation.DSMT4">
                  <p:embed/>
                </p:oleObj>
              </mc:Choice>
              <mc:Fallback>
                <p:oleObj name="Equation" r:id="rId13" imgW="858520" imgH="50165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505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08850" y="260350"/>
                        <a:ext cx="1547813" cy="94138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BCB8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70" name="Object 22"/>
          <p:cNvGraphicFramePr/>
          <p:nvPr>
            <p:extLst>
              <p:ext uri="{D42A27DB-BD31-4B8C-83A1-F6EECF244321}">
                <p14:modId xmlns:p14="http://schemas.microsoft.com/office/powerpoint/2010/main" val="1873465552"/>
              </p:ext>
            </p:extLst>
          </p:nvPr>
        </p:nvGraphicFramePr>
        <p:xfrm>
          <a:off x="2367115" y="781845"/>
          <a:ext cx="2089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2" r:id="rId15" imgW="1226820" imgH="234315" progId="Equation.DSMT4">
                  <p:embed/>
                </p:oleObj>
              </mc:Choice>
              <mc:Fallback>
                <p:oleObj r:id="rId15" imgW="1226820" imgH="234315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67115" y="781845"/>
                        <a:ext cx="20891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B6D96DE1-FBD3-4956-84E4-E1B9A436F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6266861"/>
              </p:ext>
            </p:extLst>
          </p:nvPr>
        </p:nvGraphicFramePr>
        <p:xfrm>
          <a:off x="2510208" y="5375883"/>
          <a:ext cx="11144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3" r:id="rId17" imgW="579755" imgH="267335" progId="Equation.3">
                  <p:embed/>
                </p:oleObj>
              </mc:Choice>
              <mc:Fallback>
                <p:oleObj r:id="rId17" imgW="579755" imgH="267335" progId="Equation.3">
                  <p:embed/>
                  <p:pic>
                    <p:nvPicPr>
                      <p:cNvPr id="462851" name="Object 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0208" y="5375883"/>
                        <a:ext cx="1114425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82F8FB9E-DB3E-4718-91F2-14F9648E83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869805"/>
              </p:ext>
            </p:extLst>
          </p:nvPr>
        </p:nvGraphicFramePr>
        <p:xfrm>
          <a:off x="3986543" y="5185807"/>
          <a:ext cx="1837441" cy="83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4" r:id="rId19" imgW="1016000" imgH="431800" progId="Equation.3">
                  <p:embed/>
                </p:oleObj>
              </mc:Choice>
              <mc:Fallback>
                <p:oleObj r:id="rId19" imgW="1016000" imgH="431800" progId="Equation.3">
                  <p:embed/>
                  <p:pic>
                    <p:nvPicPr>
                      <p:cNvPr id="462852" name="Object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86543" y="5185807"/>
                        <a:ext cx="1837441" cy="83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DB458E6B-3524-433F-B8A1-FC6F06E3F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680260"/>
              </p:ext>
            </p:extLst>
          </p:nvPr>
        </p:nvGraphicFramePr>
        <p:xfrm>
          <a:off x="2573251" y="6227763"/>
          <a:ext cx="11096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5" r:id="rId21" imgW="591185" imgH="267335" progId="Equation.3">
                  <p:embed/>
                </p:oleObj>
              </mc:Choice>
              <mc:Fallback>
                <p:oleObj r:id="rId21" imgW="591185" imgH="267335" progId="Equation.3">
                  <p:embed/>
                  <p:pic>
                    <p:nvPicPr>
                      <p:cNvPr id="462853" name="Object 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73251" y="6227763"/>
                        <a:ext cx="1109662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B9C6CF28-B79C-42E5-9E88-BBDFC0CAD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444391"/>
              </p:ext>
            </p:extLst>
          </p:nvPr>
        </p:nvGraphicFramePr>
        <p:xfrm>
          <a:off x="3869419" y="5955802"/>
          <a:ext cx="20716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6" r:id="rId23" imgW="1066800" imgH="444500" progId="Equation.DSMT4">
                  <p:embed/>
                </p:oleObj>
              </mc:Choice>
              <mc:Fallback>
                <p:oleObj r:id="rId23" imgW="1066800" imgH="444500" progId="Equation.DSMT4">
                  <p:embed/>
                  <p:pic>
                    <p:nvPicPr>
                      <p:cNvPr id="462854" name="Object 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69419" y="5955802"/>
                        <a:ext cx="2071687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5">
            <a:extLst>
              <a:ext uri="{FF2B5EF4-FFF2-40B4-BE49-F238E27FC236}">
                <a16:creationId xmlns:a16="http://schemas.microsoft.com/office/drawing/2014/main" id="{7CA24FB9-3328-49F0-A969-8C5C3649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8" y="5401283"/>
            <a:ext cx="3048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）等温过程</a:t>
            </a:r>
          </a:p>
        </p:txBody>
      </p:sp>
      <p:sp>
        <p:nvSpPr>
          <p:cNvPr id="26" name="Text Box 16">
            <a:extLst>
              <a:ext uri="{FF2B5EF4-FFF2-40B4-BE49-F238E27FC236}">
                <a16:creationId xmlns:a16="http://schemas.microsoft.com/office/drawing/2014/main" id="{8F5FDE2A-C9C9-4317-904E-B4C46E459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6" y="6232525"/>
            <a:ext cx="304800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）等体过程</a:t>
            </a:r>
          </a:p>
        </p:txBody>
      </p:sp>
      <p:grpSp>
        <p:nvGrpSpPr>
          <p:cNvPr id="27" name="Group 24">
            <a:extLst>
              <a:ext uri="{FF2B5EF4-FFF2-40B4-BE49-F238E27FC236}">
                <a16:creationId xmlns:a16="http://schemas.microsoft.com/office/drawing/2014/main" id="{4A3534FE-7340-4073-A2E7-3D10F66DDEE0}"/>
              </a:ext>
            </a:extLst>
          </p:cNvPr>
          <p:cNvGrpSpPr/>
          <p:nvPr/>
        </p:nvGrpSpPr>
        <p:grpSpPr>
          <a:xfrm>
            <a:off x="3292627" y="4729401"/>
            <a:ext cx="1752600" cy="61913"/>
            <a:chOff x="2388" y="2904"/>
            <a:chExt cx="1140" cy="48"/>
          </a:xfrm>
        </p:grpSpPr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268A58F8-1B13-4D23-9501-C5DF07AE9EA2}"/>
                </a:ext>
              </a:extLst>
            </p:cNvPr>
            <p:cNvSpPr/>
            <p:nvPr/>
          </p:nvSpPr>
          <p:spPr>
            <a:xfrm>
              <a:off x="2388" y="2904"/>
              <a:ext cx="1140" cy="0"/>
            </a:xfrm>
            <a:prstGeom prst="line">
              <a:avLst/>
            </a:prstGeom>
            <a:ln w="28575" cap="flat" cmpd="sng">
              <a:solidFill>
                <a:srgbClr val="009E9A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16CA2B22-D4F3-4EEE-B188-E464053E720B}"/>
                </a:ext>
              </a:extLst>
            </p:cNvPr>
            <p:cNvSpPr/>
            <p:nvPr/>
          </p:nvSpPr>
          <p:spPr>
            <a:xfrm>
              <a:off x="2388" y="2952"/>
              <a:ext cx="1140" cy="0"/>
            </a:xfrm>
            <a:prstGeom prst="line">
              <a:avLst/>
            </a:prstGeom>
            <a:ln w="28575" cap="flat" cmpd="sng">
              <a:solidFill>
                <a:srgbClr val="009E9A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" name="Text Box 27">
            <a:extLst>
              <a:ext uri="{FF2B5EF4-FFF2-40B4-BE49-F238E27FC236}">
                <a16:creationId xmlns:a16="http://schemas.microsoft.com/office/drawing/2014/main" id="{B2D1B4E3-7925-4E22-B85E-1F2F2141B383}"/>
              </a:ext>
            </a:extLst>
          </p:cNvPr>
          <p:cNvSpPr txBox="1"/>
          <p:nvPr/>
        </p:nvSpPr>
        <p:spPr>
          <a:xfrm>
            <a:off x="3508527" y="4775439"/>
            <a:ext cx="2514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速度熵</a:t>
            </a:r>
          </a:p>
        </p:txBody>
      </p:sp>
      <p:grpSp>
        <p:nvGrpSpPr>
          <p:cNvPr id="31" name="Group 29">
            <a:extLst>
              <a:ext uri="{FF2B5EF4-FFF2-40B4-BE49-F238E27FC236}">
                <a16:creationId xmlns:a16="http://schemas.microsoft.com/office/drawing/2014/main" id="{1A008AE0-9550-4BEA-94D1-16FB3A001CD1}"/>
              </a:ext>
            </a:extLst>
          </p:cNvPr>
          <p:cNvGrpSpPr/>
          <p:nvPr/>
        </p:nvGrpSpPr>
        <p:grpSpPr>
          <a:xfrm>
            <a:off x="1347939" y="4738926"/>
            <a:ext cx="1752600" cy="61913"/>
            <a:chOff x="2388" y="2904"/>
            <a:chExt cx="1140" cy="48"/>
          </a:xfrm>
        </p:grpSpPr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1A409DD8-8FE9-4776-ACB7-0A3103E0E298}"/>
                </a:ext>
              </a:extLst>
            </p:cNvPr>
            <p:cNvSpPr/>
            <p:nvPr/>
          </p:nvSpPr>
          <p:spPr>
            <a:xfrm>
              <a:off x="2388" y="2904"/>
              <a:ext cx="1140" cy="0"/>
            </a:xfrm>
            <a:prstGeom prst="line">
              <a:avLst/>
            </a:prstGeom>
            <a:ln w="28575" cap="flat" cmpd="sng">
              <a:solidFill>
                <a:srgbClr val="009E9A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999C059F-F1AF-4176-81EC-37EC65B8105D}"/>
                </a:ext>
              </a:extLst>
            </p:cNvPr>
            <p:cNvSpPr/>
            <p:nvPr/>
          </p:nvSpPr>
          <p:spPr>
            <a:xfrm>
              <a:off x="2388" y="2952"/>
              <a:ext cx="1140" cy="0"/>
            </a:xfrm>
            <a:prstGeom prst="line">
              <a:avLst/>
            </a:prstGeom>
            <a:ln w="28575" cap="flat" cmpd="sng">
              <a:solidFill>
                <a:srgbClr val="009E9A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4" name="Rectangle 32">
            <a:extLst>
              <a:ext uri="{FF2B5EF4-FFF2-40B4-BE49-F238E27FC236}">
                <a16:creationId xmlns:a16="http://schemas.microsoft.com/office/drawing/2014/main" id="{947E65A0-1CBA-429A-8610-9EBAB6D69A33}"/>
              </a:ext>
            </a:extLst>
          </p:cNvPr>
          <p:cNvSpPr/>
          <p:nvPr/>
        </p:nvSpPr>
        <p:spPr>
          <a:xfrm>
            <a:off x="1492402" y="4800839"/>
            <a:ext cx="21558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位形熵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5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5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5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05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5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5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05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5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5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05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5" grpId="0"/>
      <p:bldP spid="1051656" grpId="0"/>
      <p:bldP spid="1051658" grpId="0"/>
      <p:bldP spid="1051666" grpId="0" bldLvl="0" animBg="1"/>
      <p:bldP spid="1051668" grpId="0" bldLvl="0" animBg="1"/>
      <p:bldP spid="25" grpId="0" bldLvl="0" animBg="1"/>
      <p:bldP spid="26" grpId="0" bldLvl="0" animBg="1"/>
      <p:bldP spid="30" grpId="0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35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757763" name="Rectangle 3"/>
          <p:cNvSpPr>
            <a:spLocks noChangeArrowheads="1"/>
          </p:cNvSpPr>
          <p:nvPr/>
        </p:nvSpPr>
        <p:spPr bwMode="auto">
          <a:xfrm>
            <a:off x="287338" y="908050"/>
            <a:ext cx="41671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计算熵变，应注意以下几点：</a:t>
            </a: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-107950" y="1484313"/>
            <a:ext cx="79248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 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1).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对于可逆过程熵变可用下式进行计算</a:t>
            </a:r>
          </a:p>
        </p:txBody>
      </p:sp>
      <p:sp>
        <p:nvSpPr>
          <p:cNvPr id="757765" name="Rectangle 5"/>
          <p:cNvSpPr>
            <a:spLocks noChangeArrowheads="1"/>
          </p:cNvSpPr>
          <p:nvPr/>
        </p:nvSpPr>
        <p:spPr bwMode="auto">
          <a:xfrm>
            <a:off x="288925" y="3941763"/>
            <a:ext cx="8570913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3).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如果过程不可逆。可以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设计一个始末状态相同的可逆过程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来代替，然后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再应用上式进行熵变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的计算。</a:t>
            </a:r>
          </a:p>
        </p:txBody>
      </p:sp>
      <p:graphicFrame>
        <p:nvGraphicFramePr>
          <p:cNvPr id="757766" name="Object 6"/>
          <p:cNvGraphicFramePr/>
          <p:nvPr/>
        </p:nvGraphicFramePr>
        <p:xfrm>
          <a:off x="1835150" y="2060575"/>
          <a:ext cx="290036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3" r:id="rId3" imgW="1327150" imgH="501650" progId="Equation.3">
                  <p:embed/>
                </p:oleObj>
              </mc:Choice>
              <mc:Fallback>
                <p:oleObj r:id="rId3" imgW="1327150" imgH="50165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2060575"/>
                        <a:ext cx="2900363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67" name="Text Box 7"/>
          <p:cNvSpPr txBox="1">
            <a:spLocks noChangeArrowheads="1"/>
          </p:cNvSpPr>
          <p:nvPr/>
        </p:nvSpPr>
        <p:spPr bwMode="auto">
          <a:xfrm>
            <a:off x="269875" y="5373688"/>
            <a:ext cx="8893175" cy="385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4).</a:t>
            </a:r>
            <a:r>
              <a:rPr kumimoji="0" lang="en-US" altLang="zh-CN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  <a:r>
              <a:rPr kumimoji="0" lang="zh-CN" altLang="en-US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当系统分为几个部分时， 各部分的熵变之和等于系统的熵变 </a:t>
            </a:r>
            <a:r>
              <a:rPr kumimoji="0" lang="en-US" altLang="zh-CN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.</a:t>
            </a:r>
          </a:p>
        </p:txBody>
      </p:sp>
      <p:sp>
        <p:nvSpPr>
          <p:cNvPr id="945160" name="Rectangle 8"/>
          <p:cNvSpPr>
            <a:spLocks noChangeArrowheads="1"/>
          </p:cNvSpPr>
          <p:nvPr/>
        </p:nvSpPr>
        <p:spPr bwMode="auto">
          <a:xfrm>
            <a:off x="250825" y="115888"/>
            <a:ext cx="5257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四、熵变的计算</a:t>
            </a:r>
          </a:p>
        </p:txBody>
      </p:sp>
      <p:graphicFrame>
        <p:nvGraphicFramePr>
          <p:cNvPr id="945164" name="Object 12"/>
          <p:cNvGraphicFramePr/>
          <p:nvPr/>
        </p:nvGraphicFramePr>
        <p:xfrm>
          <a:off x="6732588" y="692150"/>
          <a:ext cx="15113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4" r:id="rId5" imgW="747395" imgH="445770" progId="Equation.3">
                  <p:embed/>
                </p:oleObj>
              </mc:Choice>
              <mc:Fallback>
                <p:oleObj r:id="rId5" imgW="747395" imgH="44577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32588" y="692150"/>
                        <a:ext cx="1511300" cy="855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-107950" y="3194050"/>
            <a:ext cx="747395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 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2).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熵是态函数，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熵变和过程无关。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3" grpId="0"/>
      <p:bldP spid="757764" grpId="0" uiExpand="1" build="p"/>
      <p:bldP spid="757765" grpId="0"/>
      <p:bldP spid="757767" grpId="0" bldLvl="0" animBg="1"/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47107" name="Text Box 2"/>
          <p:cNvSpPr txBox="1"/>
          <p:nvPr/>
        </p:nvSpPr>
        <p:spPr>
          <a:xfrm>
            <a:off x="381000" y="115888"/>
            <a:ext cx="87630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0000"/>
                </a:solidFill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</a:rPr>
              <a:t>1 </a:t>
            </a:r>
            <a:r>
              <a:rPr lang="zh-CN" altLang="en-US" sz="2800" b="1" dirty="0">
                <a:solidFill>
                  <a:srgbClr val="CC0000"/>
                </a:solidFill>
              </a:rPr>
              <a:t>求</a:t>
            </a:r>
            <a:r>
              <a:rPr lang="zh-CN" altLang="en-US" sz="2800" b="1" dirty="0">
                <a:solidFill>
                  <a:srgbClr val="A50021"/>
                </a:solidFill>
              </a:rPr>
              <a:t>    </a:t>
            </a:r>
            <a:r>
              <a:rPr lang="zh-CN" altLang="en-US" sz="2800" b="1" dirty="0"/>
              <a:t>理想气体自由膨胀过程的熵变 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972803" name="Object 3"/>
          <p:cNvGraphicFramePr/>
          <p:nvPr>
            <p:extLst>
              <p:ext uri="{D42A27DB-BD31-4B8C-83A1-F6EECF244321}">
                <p14:modId xmlns:p14="http://schemas.microsoft.com/office/powerpoint/2010/main" val="3966807013"/>
              </p:ext>
            </p:extLst>
          </p:nvPr>
        </p:nvGraphicFramePr>
        <p:xfrm>
          <a:off x="1754981" y="2170113"/>
          <a:ext cx="60150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8" r:id="rId3" imgW="2282825" imgH="215900" progId="Equation.DSMT4">
                  <p:embed/>
                </p:oleObj>
              </mc:Choice>
              <mc:Fallback>
                <p:oleObj r:id="rId3" imgW="2282825" imgH="2159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4981" y="2170113"/>
                        <a:ext cx="6015037" cy="546100"/>
                      </a:xfrm>
                      <a:prstGeom prst="rect">
                        <a:avLst/>
                      </a:prstGeom>
                      <a:solidFill>
                        <a:srgbClr val="FFF3FF"/>
                      </a:solidFill>
                      <a:ln w="9525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9" name="Group 6"/>
          <p:cNvGrpSpPr/>
          <p:nvPr/>
        </p:nvGrpSpPr>
        <p:grpSpPr>
          <a:xfrm>
            <a:off x="4114800" y="715963"/>
            <a:ext cx="2833688" cy="1417637"/>
            <a:chOff x="2592" y="864"/>
            <a:chExt cx="1920" cy="960"/>
          </a:xfrm>
        </p:grpSpPr>
        <p:graphicFrame>
          <p:nvGraphicFramePr>
            <p:cNvPr id="47143" name="Object 7"/>
            <p:cNvGraphicFramePr/>
            <p:nvPr/>
          </p:nvGraphicFramePr>
          <p:xfrm>
            <a:off x="3360" y="1515"/>
            <a:ext cx="10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9" r:id="rId5" imgW="1244600" imgH="368300" progId="Equation.3">
                    <p:embed/>
                  </p:oleObj>
                </mc:Choice>
                <mc:Fallback>
                  <p:oleObj r:id="rId5" imgW="1244600" imgH="3683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60" y="1515"/>
                          <a:ext cx="1057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44" name="Group 8"/>
            <p:cNvGrpSpPr/>
            <p:nvPr/>
          </p:nvGrpSpPr>
          <p:grpSpPr>
            <a:xfrm>
              <a:off x="2592" y="864"/>
              <a:ext cx="1920" cy="655"/>
              <a:chOff x="2496" y="864"/>
              <a:chExt cx="2160" cy="720"/>
            </a:xfrm>
          </p:grpSpPr>
          <p:sp>
            <p:nvSpPr>
              <p:cNvPr id="47145" name="AutoShape 9"/>
              <p:cNvSpPr/>
              <p:nvPr/>
            </p:nvSpPr>
            <p:spPr>
              <a:xfrm>
                <a:off x="2496" y="1104"/>
                <a:ext cx="576" cy="144"/>
              </a:xfrm>
              <a:prstGeom prst="rightArrow">
                <a:avLst>
                  <a:gd name="adj1" fmla="val 40277"/>
                  <a:gd name="adj2" fmla="val 131666"/>
                </a:avLst>
              </a:prstGeom>
              <a:gradFill rotWithShape="0">
                <a:gsLst>
                  <a:gs pos="0">
                    <a:srgbClr val="765E76"/>
                  </a:gs>
                  <a:gs pos="50000">
                    <a:srgbClr val="FFCCFF"/>
                  </a:gs>
                  <a:gs pos="100000">
                    <a:srgbClr val="765E76"/>
                  </a:gs>
                </a:gsLst>
                <a:lin ang="5400000" scaled="1"/>
                <a:tileRect/>
              </a:gradFill>
              <a:ln w="2857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47146" name="Group 10"/>
              <p:cNvGrpSpPr/>
              <p:nvPr/>
            </p:nvGrpSpPr>
            <p:grpSpPr>
              <a:xfrm>
                <a:off x="3168" y="864"/>
                <a:ext cx="1488" cy="720"/>
                <a:chOff x="2976" y="816"/>
                <a:chExt cx="1488" cy="720"/>
              </a:xfrm>
            </p:grpSpPr>
            <p:sp>
              <p:nvSpPr>
                <p:cNvPr id="47147" name="AutoShape 11"/>
                <p:cNvSpPr/>
                <p:nvPr/>
              </p:nvSpPr>
              <p:spPr>
                <a:xfrm>
                  <a:off x="2976" y="816"/>
                  <a:ext cx="1488" cy="720"/>
                </a:xfrm>
                <a:prstGeom prst="bevel">
                  <a:avLst>
                    <a:gd name="adj" fmla="val 12500"/>
                  </a:avLst>
                </a:prstGeom>
                <a:solidFill>
                  <a:srgbClr val="996633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7148" name="Rectangle 12" descr="10%"/>
                <p:cNvSpPr/>
                <p:nvPr/>
              </p:nvSpPr>
              <p:spPr>
                <a:xfrm>
                  <a:off x="3072" y="912"/>
                  <a:ext cx="1296" cy="528"/>
                </a:xfrm>
                <a:prstGeom prst="rect">
                  <a:avLst/>
                </a:prstGeom>
                <a:blipFill rotWithShape="0">
                  <a:blip r:embed="rId7"/>
                </a:blip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endParaRPr lang="zh-CN" altLang="en-US" sz="2400" b="1" dirty="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</p:grpSp>
      </p:grpSp>
      <p:grpSp>
        <p:nvGrpSpPr>
          <p:cNvPr id="47110" name="Group 13"/>
          <p:cNvGrpSpPr/>
          <p:nvPr/>
        </p:nvGrpSpPr>
        <p:grpSpPr>
          <a:xfrm>
            <a:off x="1828800" y="563563"/>
            <a:ext cx="1984375" cy="1558925"/>
            <a:chOff x="1152" y="768"/>
            <a:chExt cx="1344" cy="1056"/>
          </a:xfrm>
        </p:grpSpPr>
        <p:graphicFrame>
          <p:nvGraphicFramePr>
            <p:cNvPr id="47136" name="Object 14"/>
            <p:cNvGraphicFramePr/>
            <p:nvPr/>
          </p:nvGraphicFramePr>
          <p:xfrm>
            <a:off x="1296" y="1506"/>
            <a:ext cx="106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" r:id="rId8" imgW="1180465" imgH="368300" progId="Equation.3">
                    <p:embed/>
                  </p:oleObj>
                </mc:Choice>
                <mc:Fallback>
                  <p:oleObj r:id="rId8" imgW="1180465" imgH="3683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96" y="1506"/>
                          <a:ext cx="106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37" name="Group 15"/>
            <p:cNvGrpSpPr/>
            <p:nvPr/>
          </p:nvGrpSpPr>
          <p:grpSpPr>
            <a:xfrm>
              <a:off x="1152" y="856"/>
              <a:ext cx="1344" cy="663"/>
              <a:chOff x="1632" y="816"/>
              <a:chExt cx="1488" cy="720"/>
            </a:xfrm>
          </p:grpSpPr>
          <p:sp>
            <p:nvSpPr>
              <p:cNvPr id="47141" name="AutoShape 16"/>
              <p:cNvSpPr/>
              <p:nvPr/>
            </p:nvSpPr>
            <p:spPr>
              <a:xfrm>
                <a:off x="1632" y="816"/>
                <a:ext cx="1488" cy="720"/>
              </a:xfrm>
              <a:prstGeom prst="bevel">
                <a:avLst>
                  <a:gd name="adj" fmla="val 12500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7142" name="Rectangle 17"/>
              <p:cNvSpPr/>
              <p:nvPr/>
            </p:nvSpPr>
            <p:spPr>
              <a:xfrm>
                <a:off x="1728" y="912"/>
                <a:ext cx="1296" cy="52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47138" name="Rectangle 18" descr="20%"/>
            <p:cNvSpPr/>
            <p:nvPr/>
          </p:nvSpPr>
          <p:spPr>
            <a:xfrm>
              <a:off x="1239" y="945"/>
              <a:ext cx="563" cy="486"/>
            </a:xfrm>
            <a:prstGeom prst="rect">
              <a:avLst/>
            </a:prstGeom>
            <a:blipFill rotWithShape="0">
              <a:blip r:embed="rId10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7139" name="Line 19"/>
            <p:cNvSpPr/>
            <p:nvPr/>
          </p:nvSpPr>
          <p:spPr>
            <a:xfrm>
              <a:off x="1802" y="768"/>
              <a:ext cx="0" cy="663"/>
            </a:xfrm>
            <a:prstGeom prst="line">
              <a:avLst/>
            </a:prstGeom>
            <a:ln w="57150" cap="flat" cmpd="sng">
              <a:solidFill>
                <a:srgbClr val="9966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0" name="Line 20"/>
            <p:cNvSpPr/>
            <p:nvPr/>
          </p:nvSpPr>
          <p:spPr>
            <a:xfrm>
              <a:off x="1716" y="768"/>
              <a:ext cx="173" cy="0"/>
            </a:xfrm>
            <a:prstGeom prst="line">
              <a:avLst/>
            </a:prstGeom>
            <a:ln w="57150" cap="flat" cmpd="sng">
              <a:solidFill>
                <a:srgbClr val="996633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972836" name="Object 36"/>
          <p:cNvGraphicFramePr/>
          <p:nvPr/>
        </p:nvGraphicFramePr>
        <p:xfrm>
          <a:off x="3983038" y="4013200"/>
          <a:ext cx="31813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1" r:id="rId11" imgW="1906905" imgH="501650" progId="Equation.3">
                  <p:embed/>
                </p:oleObj>
              </mc:Choice>
              <mc:Fallback>
                <p:oleObj r:id="rId11" imgW="1906905" imgH="50165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83038" y="4013200"/>
                        <a:ext cx="3181350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37" name="Text Box 37"/>
          <p:cNvSpPr txBox="1"/>
          <p:nvPr/>
        </p:nvSpPr>
        <p:spPr>
          <a:xfrm>
            <a:off x="395288" y="6356350"/>
            <a:ext cx="2916237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等温膨胀</a:t>
            </a:r>
          </a:p>
        </p:txBody>
      </p:sp>
      <p:sp>
        <p:nvSpPr>
          <p:cNvPr id="972838" name="Text Box 38"/>
          <p:cNvSpPr txBox="1"/>
          <p:nvPr/>
        </p:nvSpPr>
        <p:spPr>
          <a:xfrm>
            <a:off x="2038350" y="6372225"/>
            <a:ext cx="1363663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吸热</a:t>
            </a:r>
          </a:p>
        </p:txBody>
      </p:sp>
      <p:sp>
        <p:nvSpPr>
          <p:cNvPr id="972839" name="Text Box 39"/>
          <p:cNvSpPr txBox="1"/>
          <p:nvPr/>
        </p:nvSpPr>
        <p:spPr>
          <a:xfrm>
            <a:off x="2973388" y="6372225"/>
            <a:ext cx="10287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Q</a:t>
            </a:r>
            <a:r>
              <a:rPr lang="en-US" altLang="zh-CN" sz="2400" b="1" dirty="0"/>
              <a:t>&gt;0</a:t>
            </a:r>
          </a:p>
        </p:txBody>
      </p:sp>
      <p:graphicFrame>
        <p:nvGraphicFramePr>
          <p:cNvPr id="972840" name="Object 40"/>
          <p:cNvGraphicFramePr/>
          <p:nvPr/>
        </p:nvGraphicFramePr>
        <p:xfrm>
          <a:off x="3910013" y="5157788"/>
          <a:ext cx="17049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2" r:id="rId13" imgW="584200" imgH="393700" progId="Equation.3">
                  <p:embed/>
                </p:oleObj>
              </mc:Choice>
              <mc:Fallback>
                <p:oleObj r:id="rId13" imgW="584200" imgH="3937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10013" y="5157788"/>
                        <a:ext cx="170497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2" name="Text Box 42"/>
          <p:cNvSpPr txBox="1">
            <a:spLocks noChangeArrowheads="1"/>
          </p:cNvSpPr>
          <p:nvPr/>
        </p:nvSpPr>
        <p:spPr bwMode="auto">
          <a:xfrm>
            <a:off x="1042988" y="3270250"/>
            <a:ext cx="76327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设计连接</a:t>
            </a:r>
            <a:r>
              <a:rPr kumimoji="1" lang="zh-CN" altLang="en-US" sz="28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相同初、末态</a:t>
            </a: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</a:t>
            </a:r>
            <a:r>
              <a:rPr kumimoji="1" lang="zh-CN" altLang="en-US" sz="2800" u="sng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可逆</a:t>
            </a:r>
            <a:r>
              <a:rPr kumimoji="1" lang="zh-CN" altLang="en-US" sz="28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等温膨胀过程</a:t>
            </a:r>
            <a:endParaRPr kumimoji="1" lang="zh-CN" altLang="en-US" sz="2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44"/>
          <p:cNvGrpSpPr/>
          <p:nvPr/>
        </p:nvGrpSpPr>
        <p:grpSpPr>
          <a:xfrm>
            <a:off x="381000" y="3886200"/>
            <a:ext cx="3124200" cy="2438400"/>
            <a:chOff x="240" y="2448"/>
            <a:chExt cx="1968" cy="1536"/>
          </a:xfrm>
        </p:grpSpPr>
        <p:grpSp>
          <p:nvGrpSpPr>
            <p:cNvPr id="47120" name="Group 21"/>
            <p:cNvGrpSpPr/>
            <p:nvPr/>
          </p:nvGrpSpPr>
          <p:grpSpPr>
            <a:xfrm>
              <a:off x="240" y="2448"/>
              <a:ext cx="1968" cy="1536"/>
              <a:chOff x="240" y="2592"/>
              <a:chExt cx="1968" cy="1536"/>
            </a:xfrm>
          </p:grpSpPr>
          <p:sp>
            <p:nvSpPr>
              <p:cNvPr id="47122" name="Rectangle 22"/>
              <p:cNvSpPr/>
              <p:nvPr/>
            </p:nvSpPr>
            <p:spPr>
              <a:xfrm>
                <a:off x="240" y="2592"/>
                <a:ext cx="1968" cy="15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aphicFrame>
            <p:nvGraphicFramePr>
              <p:cNvPr id="47123" name="Object 23"/>
              <p:cNvGraphicFramePr/>
              <p:nvPr/>
            </p:nvGraphicFramePr>
            <p:xfrm>
              <a:off x="720" y="3840"/>
              <a:ext cx="21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3" r:id="rId15" imgW="228600" imgH="317500" progId="Equation.3">
                      <p:embed/>
                    </p:oleObj>
                  </mc:Choice>
                  <mc:Fallback>
                    <p:oleObj r:id="rId15" imgW="228600" imgH="317500" progId="Equation.3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20" y="3840"/>
                            <a:ext cx="216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24" name="Object 24"/>
              <p:cNvGraphicFramePr/>
              <p:nvPr/>
            </p:nvGraphicFramePr>
            <p:xfrm>
              <a:off x="1620" y="3840"/>
              <a:ext cx="204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4" r:id="rId17" imgW="254000" imgH="317500" progId="Equation.3">
                      <p:embed/>
                    </p:oleObj>
                  </mc:Choice>
                  <mc:Fallback>
                    <p:oleObj r:id="rId17" imgW="254000" imgH="317500" progId="Equation.3">
                      <p:embed/>
                      <p:pic>
                        <p:nvPicPr>
                          <p:cNvPr id="0" name="图片 3139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620" y="3840"/>
                            <a:ext cx="204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25" name="Line 25"/>
              <p:cNvSpPr/>
              <p:nvPr/>
            </p:nvSpPr>
            <p:spPr>
              <a:xfrm>
                <a:off x="528" y="3828"/>
                <a:ext cx="16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26" name="Line 26"/>
              <p:cNvSpPr/>
              <p:nvPr/>
            </p:nvSpPr>
            <p:spPr>
              <a:xfrm flipV="1">
                <a:off x="528" y="2688"/>
                <a:ext cx="0" cy="112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27" name="Line 27"/>
              <p:cNvSpPr/>
              <p:nvPr/>
            </p:nvSpPr>
            <p:spPr>
              <a:xfrm>
                <a:off x="864" y="2869"/>
                <a:ext cx="0" cy="94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7128" name="Line 28"/>
              <p:cNvSpPr/>
              <p:nvPr/>
            </p:nvSpPr>
            <p:spPr>
              <a:xfrm>
                <a:off x="1776" y="3504"/>
                <a:ext cx="0" cy="31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7129" name="Line 29"/>
              <p:cNvSpPr/>
              <p:nvPr/>
            </p:nvSpPr>
            <p:spPr>
              <a:xfrm>
                <a:off x="1200" y="3264"/>
                <a:ext cx="89" cy="83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30" name="Text Box 30"/>
              <p:cNvSpPr txBox="1"/>
              <p:nvPr/>
            </p:nvSpPr>
            <p:spPr>
              <a:xfrm>
                <a:off x="830" y="2704"/>
                <a:ext cx="30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7131" name="Text Box 31"/>
              <p:cNvSpPr txBox="1"/>
              <p:nvPr/>
            </p:nvSpPr>
            <p:spPr>
              <a:xfrm>
                <a:off x="1654" y="3216"/>
                <a:ext cx="26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2</a:t>
                </a:r>
              </a:p>
            </p:txBody>
          </p:sp>
          <p:graphicFrame>
            <p:nvGraphicFramePr>
              <p:cNvPr id="47132" name="Object 32"/>
              <p:cNvGraphicFramePr/>
              <p:nvPr/>
            </p:nvGraphicFramePr>
            <p:xfrm>
              <a:off x="280" y="2736"/>
              <a:ext cx="206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5" r:id="rId19" imgW="203200" imgH="241300" progId="Equation.3">
                      <p:embed/>
                    </p:oleObj>
                  </mc:Choice>
                  <mc:Fallback>
                    <p:oleObj r:id="rId19" imgW="203200" imgH="2413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80" y="2736"/>
                            <a:ext cx="206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3" name="Object 33"/>
              <p:cNvGraphicFramePr/>
              <p:nvPr/>
            </p:nvGraphicFramePr>
            <p:xfrm>
              <a:off x="336" y="3792"/>
              <a:ext cx="233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6" r:id="rId21" imgW="127000" imgH="139700" progId="Equation.3">
                      <p:embed/>
                    </p:oleObj>
                  </mc:Choice>
                  <mc:Fallback>
                    <p:oleObj r:id="rId21" imgW="127000" imgH="139700" progId="Equation.3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36" y="3792"/>
                            <a:ext cx="233" cy="25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4" name="Object 34"/>
              <p:cNvGraphicFramePr/>
              <p:nvPr/>
            </p:nvGraphicFramePr>
            <p:xfrm>
              <a:off x="1872" y="3840"/>
              <a:ext cx="204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7" r:id="rId23" imgW="215900" imgH="241300" progId="Equation.3">
                      <p:embed/>
                    </p:oleObj>
                  </mc:Choice>
                  <mc:Fallback>
                    <p:oleObj r:id="rId23" imgW="215900" imgH="241300" progId="Equation.3">
                      <p:embed/>
                      <p:pic>
                        <p:nvPicPr>
                          <p:cNvPr id="0" name="图片 3148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872" y="3840"/>
                            <a:ext cx="204" cy="2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5" name="Freeform 35"/>
              <p:cNvSpPr/>
              <p:nvPr/>
            </p:nvSpPr>
            <p:spPr>
              <a:xfrm>
                <a:off x="864" y="2880"/>
                <a:ext cx="912" cy="6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3" y="302"/>
                  </a:cxn>
                  <a:cxn ang="0">
                    <a:pos x="542" y="514"/>
                  </a:cxn>
                  <a:cxn ang="0">
                    <a:pos x="912" y="624"/>
                  </a:cxn>
                </a:cxnLst>
                <a:rect l="0" t="0" r="0" b="0"/>
                <a:pathLst>
                  <a:path w="912" h="624">
                    <a:moveTo>
                      <a:pt x="0" y="0"/>
                    </a:moveTo>
                    <a:cubicBezTo>
                      <a:pt x="39" y="50"/>
                      <a:pt x="143" y="216"/>
                      <a:pt x="233" y="302"/>
                    </a:cubicBezTo>
                    <a:cubicBezTo>
                      <a:pt x="323" y="388"/>
                      <a:pt x="429" y="460"/>
                      <a:pt x="542" y="514"/>
                    </a:cubicBezTo>
                    <a:cubicBezTo>
                      <a:pt x="655" y="568"/>
                      <a:pt x="835" y="601"/>
                      <a:pt x="912" y="624"/>
                    </a:cubicBez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21" name="Text Box 43"/>
            <p:cNvSpPr txBox="1"/>
            <p:nvPr/>
          </p:nvSpPr>
          <p:spPr>
            <a:xfrm>
              <a:off x="1234" y="2899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ea typeface="楷体_GB2312" panose="02010609030101010101" pitchFamily="49" charset="-122"/>
                </a:rPr>
                <a:t>T</a:t>
              </a:r>
            </a:p>
          </p:txBody>
        </p:sp>
      </p:grpSp>
      <p:sp>
        <p:nvSpPr>
          <p:cNvPr id="972845" name="Text Box 45"/>
          <p:cNvSpPr txBox="1"/>
          <p:nvPr/>
        </p:nvSpPr>
        <p:spPr>
          <a:xfrm>
            <a:off x="1926322" y="2752726"/>
            <a:ext cx="7407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熵变与系统经历的过程无关</a:t>
            </a:r>
          </a:p>
        </p:txBody>
      </p:sp>
      <p:graphicFrame>
        <p:nvGraphicFramePr>
          <p:cNvPr id="2" name="Object 40"/>
          <p:cNvGraphicFramePr/>
          <p:nvPr/>
        </p:nvGraphicFramePr>
        <p:xfrm>
          <a:off x="5580063" y="5167313"/>
          <a:ext cx="240982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8" r:id="rId25" imgW="825500" imgH="457200" progId="Equation.3">
                  <p:embed/>
                </p:oleObj>
              </mc:Choice>
              <mc:Fallback>
                <p:oleObj r:id="rId25" imgW="825500" imgH="4572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580063" y="5167313"/>
                        <a:ext cx="2409825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7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7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7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7" grpId="0" build="p"/>
      <p:bldP spid="972838" grpId="0"/>
      <p:bldP spid="972839" grpId="0"/>
      <p:bldP spid="972842" grpId="0"/>
      <p:bldP spid="9728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466946" name="Rectangle 2"/>
          <p:cNvSpPr>
            <a:spLocks noChangeArrowheads="1"/>
          </p:cNvSpPr>
          <p:nvPr/>
        </p:nvSpPr>
        <p:spPr bwMode="auto">
          <a:xfrm>
            <a:off x="161925" y="76200"/>
            <a:ext cx="8982075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1kg 0 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的冰与恒温热库（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=20 </a:t>
            </a:r>
            <a:r>
              <a:rPr kumimoji="1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）接触， （熔解热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λ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=334J/g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）求：总熵变。水的比热容是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c=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×10³J/（㎏·℃）</a:t>
            </a:r>
          </a:p>
        </p:txBody>
      </p:sp>
      <p:sp>
        <p:nvSpPr>
          <p:cNvPr id="466947" name="Rectangle 3"/>
          <p:cNvSpPr>
            <a:spLocks noChangeArrowheads="1"/>
          </p:cNvSpPr>
          <p:nvPr/>
        </p:nvSpPr>
        <p:spPr bwMode="auto">
          <a:xfrm>
            <a:off x="228600" y="908050"/>
            <a:ext cx="31194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冰融化成水</a:t>
            </a:r>
          </a:p>
        </p:txBody>
      </p:sp>
      <p:sp>
        <p:nvSpPr>
          <p:cNvPr id="466951" name="Rectangle 7"/>
          <p:cNvSpPr>
            <a:spLocks noChangeArrowheads="1"/>
          </p:cNvSpPr>
          <p:nvPr/>
        </p:nvSpPr>
        <p:spPr bwMode="auto">
          <a:xfrm>
            <a:off x="539750" y="3635375"/>
            <a:ext cx="84486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 defTabSz="762000"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defTabSz="762000"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defTabSz="762000"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defTabSz="762000"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defTabSz="762000"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defTabSz="762000" fontAlgn="base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defTabSz="762000" fontAlgn="base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defTabSz="762000" fontAlgn="base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defTabSz="762000" fontAlgn="base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水升温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，过程设计成可逆准静态过程，即，与一系列热库接触</a:t>
            </a:r>
          </a:p>
        </p:txBody>
      </p:sp>
      <p:grpSp>
        <p:nvGrpSpPr>
          <p:cNvPr id="3" name="Group 8"/>
          <p:cNvGrpSpPr/>
          <p:nvPr/>
        </p:nvGrpSpPr>
        <p:grpSpPr>
          <a:xfrm>
            <a:off x="-1452562" y="4257675"/>
            <a:ext cx="4846637" cy="787400"/>
            <a:chOff x="864" y="2651"/>
            <a:chExt cx="2650" cy="661"/>
          </a:xfrm>
        </p:grpSpPr>
        <p:graphicFrame>
          <p:nvGraphicFramePr>
            <p:cNvPr id="48148" name="Object 9"/>
            <p:cNvGraphicFramePr/>
            <p:nvPr/>
          </p:nvGraphicFramePr>
          <p:xfrm>
            <a:off x="2426" y="2651"/>
            <a:ext cx="1088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" r:id="rId3" imgW="812800" imgH="393700" progId="Equation.DSMT4">
                    <p:embed/>
                  </p:oleObj>
                </mc:Choice>
                <mc:Fallback>
                  <p:oleObj r:id="rId3" imgW="812800" imgH="3937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651"/>
                          <a:ext cx="1088" cy="6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9" name="Line 10"/>
            <p:cNvSpPr/>
            <p:nvPr/>
          </p:nvSpPr>
          <p:spPr>
            <a:xfrm flipH="1">
              <a:off x="864" y="2784"/>
              <a:ext cx="144" cy="0"/>
            </a:xfrm>
            <a:prstGeom prst="line">
              <a:avLst/>
            </a:prstGeom>
            <a:ln w="12700">
              <a:noFill/>
            </a:ln>
          </p:spPr>
        </p:sp>
      </p:grpSp>
      <p:sp>
        <p:nvSpPr>
          <p:cNvPr id="466955" name="Rectangle 11"/>
          <p:cNvSpPr>
            <a:spLocks noChangeArrowheads="1"/>
          </p:cNvSpPr>
          <p:nvPr/>
        </p:nvSpPr>
        <p:spPr bwMode="auto">
          <a:xfrm>
            <a:off x="828675" y="1412875"/>
            <a:ext cx="590391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过程设计成可逆准静态过程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</a:p>
        </p:txBody>
      </p:sp>
      <p:sp>
        <p:nvSpPr>
          <p:cNvPr id="466956" name="Rectangle 12"/>
          <p:cNvSpPr>
            <a:spLocks noChangeArrowheads="1"/>
          </p:cNvSpPr>
          <p:nvPr/>
        </p:nvSpPr>
        <p:spPr bwMode="auto">
          <a:xfrm>
            <a:off x="827088" y="1892300"/>
            <a:ext cx="6769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与一比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273.15K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大一无穷小量的热库接触</a:t>
            </a:r>
          </a:p>
        </p:txBody>
      </p:sp>
      <p:grpSp>
        <p:nvGrpSpPr>
          <p:cNvPr id="4" name="Group 13"/>
          <p:cNvGrpSpPr/>
          <p:nvPr/>
        </p:nvGrpSpPr>
        <p:grpSpPr>
          <a:xfrm>
            <a:off x="1638300" y="5084763"/>
            <a:ext cx="6392863" cy="903287"/>
            <a:chOff x="864" y="2651"/>
            <a:chExt cx="3894" cy="660"/>
          </a:xfrm>
        </p:grpSpPr>
        <p:graphicFrame>
          <p:nvGraphicFramePr>
            <p:cNvPr id="48146" name="Object 14"/>
            <p:cNvGraphicFramePr/>
            <p:nvPr/>
          </p:nvGraphicFramePr>
          <p:xfrm>
            <a:off x="1186" y="2651"/>
            <a:ext cx="3572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2" r:id="rId5" imgW="2667000" imgH="393700" progId="Equation.3">
                    <p:embed/>
                  </p:oleObj>
                </mc:Choice>
                <mc:Fallback>
                  <p:oleObj r:id="rId5" imgW="2667000" imgH="3937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86" y="2651"/>
                          <a:ext cx="3572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7" name="Line 15"/>
            <p:cNvSpPr/>
            <p:nvPr/>
          </p:nvSpPr>
          <p:spPr>
            <a:xfrm flipH="1">
              <a:off x="864" y="2784"/>
              <a:ext cx="144" cy="0"/>
            </a:xfrm>
            <a:prstGeom prst="line">
              <a:avLst/>
            </a:prstGeom>
            <a:ln w="12700">
              <a:noFill/>
            </a:ln>
          </p:spPr>
        </p:sp>
      </p:grpSp>
      <p:graphicFrame>
        <p:nvGraphicFramePr>
          <p:cNvPr id="466960" name="Object 16"/>
          <p:cNvGraphicFramePr/>
          <p:nvPr/>
        </p:nvGraphicFramePr>
        <p:xfrm>
          <a:off x="755650" y="6165850"/>
          <a:ext cx="46196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3" r:id="rId7" imgW="1917065" imgH="228600" progId="Equation.3">
                  <p:embed/>
                </p:oleObj>
              </mc:Choice>
              <mc:Fallback>
                <p:oleObj r:id="rId7" imgW="1917065" imgH="2286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650" y="6165850"/>
                        <a:ext cx="4619625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Line 15"/>
          <p:cNvSpPr/>
          <p:nvPr/>
        </p:nvSpPr>
        <p:spPr>
          <a:xfrm flipH="1">
            <a:off x="4764088" y="-1285875"/>
            <a:ext cx="236537" cy="0"/>
          </a:xfrm>
          <a:prstGeom prst="line">
            <a:avLst/>
          </a:prstGeom>
          <a:ln w="12700">
            <a:noFill/>
          </a:ln>
        </p:spPr>
      </p:sp>
      <p:graphicFrame>
        <p:nvGraphicFramePr>
          <p:cNvPr id="28" name="Object 14"/>
          <p:cNvGraphicFramePr/>
          <p:nvPr/>
        </p:nvGraphicFramePr>
        <p:xfrm>
          <a:off x="968375" y="2565400"/>
          <a:ext cx="15652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4" r:id="rId9" imgW="711200" imgH="393700" progId="Equation.3">
                  <p:embed/>
                </p:oleObj>
              </mc:Choice>
              <mc:Fallback>
                <p:oleObj r:id="rId9" imgW="711200" imgH="3937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8375" y="2565400"/>
                        <a:ext cx="1565275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4"/>
          <p:cNvGraphicFramePr/>
          <p:nvPr/>
        </p:nvGraphicFramePr>
        <p:xfrm>
          <a:off x="2533650" y="2540000"/>
          <a:ext cx="6699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5" r:id="rId11" imgW="304800" imgH="393700" progId="Equation.3">
                  <p:embed/>
                </p:oleObj>
              </mc:Choice>
              <mc:Fallback>
                <p:oleObj r:id="rId11" imgW="304800" imgH="3937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33650" y="2540000"/>
                        <a:ext cx="669925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4"/>
          <p:cNvGraphicFramePr/>
          <p:nvPr/>
        </p:nvGraphicFramePr>
        <p:xfrm>
          <a:off x="3203575" y="2511425"/>
          <a:ext cx="50006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6" r:id="rId13" imgW="2273300" imgH="419100" progId="Equation.3">
                  <p:embed/>
                </p:oleObj>
              </mc:Choice>
              <mc:Fallback>
                <p:oleObj r:id="rId13" imgW="2273300" imgH="4191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3575" y="2511425"/>
                        <a:ext cx="5000625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>
          <a:xfrm>
            <a:off x="1349375" y="4257675"/>
            <a:ext cx="5564188" cy="889000"/>
            <a:chOff x="864" y="2608"/>
            <a:chExt cx="3042" cy="746"/>
          </a:xfrm>
        </p:grpSpPr>
        <p:graphicFrame>
          <p:nvGraphicFramePr>
            <p:cNvPr id="48144" name="Object 9"/>
            <p:cNvGraphicFramePr/>
            <p:nvPr/>
          </p:nvGraphicFramePr>
          <p:xfrm>
            <a:off x="2035" y="2608"/>
            <a:ext cx="1871" cy="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7" r:id="rId15" imgW="1397000" imgH="444500" progId="Equation.DSMT4">
                    <p:embed/>
                  </p:oleObj>
                </mc:Choice>
                <mc:Fallback>
                  <p:oleObj r:id="rId15" imgW="1397000" imgH="444500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35" y="2608"/>
                          <a:ext cx="1871" cy="7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5" name="Line 10"/>
            <p:cNvSpPr/>
            <p:nvPr/>
          </p:nvSpPr>
          <p:spPr>
            <a:xfrm flipH="1">
              <a:off x="864" y="2784"/>
              <a:ext cx="144" cy="0"/>
            </a:xfrm>
            <a:prstGeom prst="line">
              <a:avLst/>
            </a:prstGeom>
            <a:ln w="12700">
              <a:noFill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6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6" grpId="0" bldLvl="0" animBg="1"/>
      <p:bldP spid="466947" grpId="0"/>
      <p:bldP spid="466951" grpId="0" bldLvl="0" animBg="1"/>
      <p:bldP spid="466955" grpId="0" bldLvl="0" animBg="1"/>
      <p:bldP spid="46695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38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95682" name="Text Box 2"/>
          <p:cNvSpPr txBox="1"/>
          <p:nvPr/>
        </p:nvSpPr>
        <p:spPr>
          <a:xfrm>
            <a:off x="457200" y="1447800"/>
            <a:ext cx="5122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解：熵的增加为：</a:t>
            </a:r>
          </a:p>
        </p:txBody>
      </p:sp>
      <p:graphicFrame>
        <p:nvGraphicFramePr>
          <p:cNvPr id="1095683" name="Object 3"/>
          <p:cNvGraphicFramePr/>
          <p:nvPr/>
        </p:nvGraphicFramePr>
        <p:xfrm>
          <a:off x="2051050" y="1989138"/>
          <a:ext cx="45053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8" r:id="rId3" imgW="2095500" imgH="495300" progId="Equation.3">
                  <p:embed/>
                </p:oleObj>
              </mc:Choice>
              <mc:Fallback>
                <p:oleObj r:id="rId3" imgW="2095500" imgH="4953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050" y="1989138"/>
                        <a:ext cx="450532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684" name="Text Box 4"/>
          <p:cNvSpPr txBox="1"/>
          <p:nvPr/>
        </p:nvSpPr>
        <p:spPr>
          <a:xfrm>
            <a:off x="381000" y="381000"/>
            <a:ext cx="87630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例</a:t>
            </a:r>
            <a:r>
              <a:rPr lang="en-US" altLang="zh-CN" sz="2400" b="1" dirty="0">
                <a:solidFill>
                  <a:srgbClr val="CC3300"/>
                </a:solidFill>
              </a:rPr>
              <a:t>3</a:t>
            </a:r>
            <a:r>
              <a:rPr lang="en-US" altLang="zh-CN" sz="2400" b="1" dirty="0">
                <a:solidFill>
                  <a:schemeClr val="accent2"/>
                </a:solidFill>
              </a:rPr>
              <a:t>. </a:t>
            </a:r>
            <a:r>
              <a:rPr lang="zh-CN" altLang="en-US" sz="2400" b="1" dirty="0">
                <a:solidFill>
                  <a:schemeClr val="accent2"/>
                </a:solidFill>
              </a:rPr>
              <a:t>水的定压比热</a:t>
            </a:r>
            <a:r>
              <a:rPr lang="en-US" altLang="zh-CN" sz="2400" b="1" dirty="0">
                <a:solidFill>
                  <a:schemeClr val="accent2"/>
                </a:solidFill>
              </a:rPr>
              <a:t>Cp=4.19kJ/(kg.K)</a:t>
            </a:r>
            <a:r>
              <a:rPr lang="zh-CN" altLang="en-US" sz="2400" b="1" dirty="0">
                <a:solidFill>
                  <a:schemeClr val="accent2"/>
                </a:solidFill>
              </a:rPr>
              <a:t>，在定压下将</a:t>
            </a:r>
            <a:r>
              <a:rPr lang="en-US" altLang="zh-CN" sz="2400" b="1" dirty="0">
                <a:solidFill>
                  <a:schemeClr val="accent2"/>
                </a:solidFill>
              </a:rPr>
              <a:t>1.00kg</a:t>
            </a:r>
            <a:r>
              <a:rPr lang="zh-CN" altLang="en-US" sz="2400" b="1" dirty="0">
                <a:solidFill>
                  <a:schemeClr val="accent2"/>
                </a:solidFill>
              </a:rPr>
              <a:t>水从</a:t>
            </a:r>
            <a:r>
              <a:rPr lang="en-US" altLang="zh-CN" sz="2400" b="1" dirty="0">
                <a:solidFill>
                  <a:schemeClr val="accent2"/>
                </a:solidFill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400" b="1" dirty="0">
                <a:solidFill>
                  <a:schemeClr val="accent2"/>
                </a:solidFill>
              </a:rPr>
              <a:t>=273.15K</a:t>
            </a:r>
            <a:r>
              <a:rPr lang="zh-CN" altLang="en-US" sz="2400" b="1" dirty="0">
                <a:solidFill>
                  <a:schemeClr val="accent2"/>
                </a:solidFill>
              </a:rPr>
              <a:t>加热到</a:t>
            </a:r>
            <a:r>
              <a:rPr lang="en-US" altLang="zh-CN" sz="2400" b="1" dirty="0">
                <a:solidFill>
                  <a:schemeClr val="accent2"/>
                </a:solidFill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400" b="1" dirty="0">
                <a:solidFill>
                  <a:schemeClr val="accent2"/>
                </a:solidFill>
              </a:rPr>
              <a:t>=373.15K</a:t>
            </a:r>
            <a:r>
              <a:rPr lang="zh-CN" altLang="en-US" sz="2400" b="1" dirty="0">
                <a:solidFill>
                  <a:schemeClr val="accent2"/>
                </a:solidFill>
              </a:rPr>
              <a:t>试求其熵的变化。</a:t>
            </a:r>
          </a:p>
        </p:txBody>
      </p:sp>
      <p:graphicFrame>
        <p:nvGraphicFramePr>
          <p:cNvPr id="2" name="Object 3"/>
          <p:cNvGraphicFramePr/>
          <p:nvPr/>
        </p:nvGraphicFramePr>
        <p:xfrm>
          <a:off x="2051050" y="3286125"/>
          <a:ext cx="25400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9" r:id="rId5" imgW="1181100" imgH="330200" progId="Equation.3">
                  <p:embed/>
                </p:oleObj>
              </mc:Choice>
              <mc:Fallback>
                <p:oleObj r:id="rId5" imgW="1181100" imgH="3302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050" y="3286125"/>
                        <a:ext cx="2540000" cy="73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/>
          <p:nvPr/>
        </p:nvGraphicFramePr>
        <p:xfrm>
          <a:off x="1979613" y="4230688"/>
          <a:ext cx="65532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r:id="rId7" imgW="3048000" imgH="393700" progId="Equation.3">
                  <p:embed/>
                </p:oleObj>
              </mc:Choice>
              <mc:Fallback>
                <p:oleObj r:id="rId7" imgW="3048000" imgH="3937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613" y="4230688"/>
                        <a:ext cx="6553200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9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9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95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682" grpId="0" build="p"/>
      <p:bldP spid="109568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/>
          <p:nvPr/>
        </p:nvSpPr>
        <p:spPr>
          <a:xfrm>
            <a:off x="179388" y="260350"/>
            <a:ext cx="8820150" cy="178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1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3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、已知</a:t>
            </a:r>
            <a:r>
              <a:rPr lang="en-US" altLang="zh-CN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1mol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理想气体的定容摩尔热容为</a:t>
            </a:r>
            <a:r>
              <a:rPr lang="en-US" altLang="zh-CN" sz="2400" b="1" i="1" dirty="0" err="1">
                <a:solidFill>
                  <a:srgbClr val="FF0000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baseline="-25000" dirty="0" err="1">
                <a:solidFill>
                  <a:srgbClr val="FF0000"/>
                </a:solidFill>
                <a:ea typeface="楷体_GB2312" panose="02010609030101010101" pitchFamily="49" charset="-122"/>
              </a:rPr>
              <a:t>v,m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，开始时温度为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、体积为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，经过下列三个</a:t>
            </a:r>
            <a:r>
              <a:rPr lang="zh-CN" altLang="en-US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可逆过程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，先绝热膨胀到体积为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=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)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，再等体升压使温度恢复到 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r>
              <a:rPr lang="zh-CN" altLang="en-US" sz="2400" b="1" dirty="0">
                <a:solidFill>
                  <a:srgbClr val="262699"/>
                </a:solidFill>
                <a:ea typeface="楷体_GB2312" panose="02010609030101010101" pitchFamily="49" charset="-122"/>
              </a:rPr>
              <a:t>，最后等温压缩到原来体积。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5441950" y="2590800"/>
            <a:ext cx="3702050" cy="3124200"/>
            <a:chOff x="3410" y="2279"/>
            <a:chExt cx="2044" cy="1831"/>
          </a:xfrm>
        </p:grpSpPr>
        <p:sp>
          <p:nvSpPr>
            <p:cNvPr id="57354" name="Line 4"/>
            <p:cNvSpPr>
              <a:spLocks noChangeAspect="1"/>
            </p:cNvSpPr>
            <p:nvPr/>
          </p:nvSpPr>
          <p:spPr>
            <a:xfrm>
              <a:off x="3664" y="3833"/>
              <a:ext cx="17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7355" name="Line 5"/>
            <p:cNvSpPr>
              <a:spLocks noChangeAspect="1"/>
            </p:cNvSpPr>
            <p:nvPr/>
          </p:nvSpPr>
          <p:spPr>
            <a:xfrm flipV="1">
              <a:off x="3664" y="2296"/>
              <a:ext cx="0" cy="15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7356" name="Freeform 6"/>
            <p:cNvSpPr>
              <a:spLocks noChangeAspect="1"/>
            </p:cNvSpPr>
            <p:nvPr/>
          </p:nvSpPr>
          <p:spPr>
            <a:xfrm rot="-1200000">
              <a:off x="4233" y="2664"/>
              <a:ext cx="506" cy="10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514"/>
                </a:cxn>
                <a:cxn ang="0">
                  <a:pos x="206" y="1029"/>
                </a:cxn>
                <a:cxn ang="0">
                  <a:pos x="374" y="1370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7"/>
            <p:cNvSpPr>
              <a:spLocks noChangeAspect="1"/>
            </p:cNvSpPr>
            <p:nvPr/>
          </p:nvSpPr>
          <p:spPr>
            <a:xfrm rot="10800000">
              <a:off x="4892" y="3294"/>
              <a:ext cx="0" cy="1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7358" name="Line 8"/>
            <p:cNvSpPr>
              <a:spLocks noChangeAspect="1"/>
            </p:cNvSpPr>
            <p:nvPr/>
          </p:nvSpPr>
          <p:spPr>
            <a:xfrm rot="-300000" flipH="1" flipV="1">
              <a:off x="4377" y="3233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7359" name="Line 9"/>
            <p:cNvSpPr>
              <a:spLocks noChangeAspect="1"/>
            </p:cNvSpPr>
            <p:nvPr/>
          </p:nvSpPr>
          <p:spPr>
            <a:xfrm rot="5400000" flipH="1">
              <a:off x="4677" y="3375"/>
              <a:ext cx="43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7360" name="Object 2"/>
            <p:cNvGraphicFramePr>
              <a:graphicFrameLocks noChangeAspect="1"/>
            </p:cNvGraphicFramePr>
            <p:nvPr/>
          </p:nvGraphicFramePr>
          <p:xfrm>
            <a:off x="3410" y="2279"/>
            <a:ext cx="176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2" r:id="rId3" imgW="152400" imgH="165100" progId="Equation.DSMT4">
                    <p:embed/>
                  </p:oleObj>
                </mc:Choice>
                <mc:Fallback>
                  <p:oleObj r:id="rId3" imgW="152400" imgH="165100" progId="Equation.DSMT4">
                    <p:embed/>
                    <p:pic>
                      <p:nvPicPr>
                        <p:cNvPr id="57360" name="Object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10" y="2279"/>
                          <a:ext cx="176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1" name="Object 3"/>
            <p:cNvGraphicFramePr>
              <a:graphicFrameLocks noChangeAspect="1"/>
            </p:cNvGraphicFramePr>
            <p:nvPr/>
          </p:nvGraphicFramePr>
          <p:xfrm>
            <a:off x="3473" y="3838"/>
            <a:ext cx="178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3" r:id="rId5" imgW="152400" imgH="177800" progId="Equation.DSMT4">
                    <p:embed/>
                  </p:oleObj>
                </mc:Choice>
                <mc:Fallback>
                  <p:oleObj r:id="rId5" imgW="152400" imgH="177800" progId="Equation.DSMT4">
                    <p:embed/>
                    <p:pic>
                      <p:nvPicPr>
                        <p:cNvPr id="57361" name="Object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73" y="3838"/>
                          <a:ext cx="178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2" name="Object 4"/>
            <p:cNvGraphicFramePr>
              <a:graphicFrameLocks noChangeAspect="1"/>
            </p:cNvGraphicFramePr>
            <p:nvPr/>
          </p:nvGraphicFramePr>
          <p:xfrm>
            <a:off x="5277" y="3876"/>
            <a:ext cx="17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4" r:id="rId7" imgW="152400" imgH="177800" progId="Equation.DSMT4">
                    <p:embed/>
                  </p:oleObj>
                </mc:Choice>
                <mc:Fallback>
                  <p:oleObj r:id="rId7" imgW="152400" imgH="177800" progId="Equation.DSMT4">
                    <p:embed/>
                    <p:pic>
                      <p:nvPicPr>
                        <p:cNvPr id="57362" name="Object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7" y="3876"/>
                          <a:ext cx="17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3" name="Object 5"/>
            <p:cNvGraphicFramePr>
              <a:graphicFrameLocks noChangeAspect="1"/>
            </p:cNvGraphicFramePr>
            <p:nvPr/>
          </p:nvGraphicFramePr>
          <p:xfrm>
            <a:off x="4014" y="3838"/>
            <a:ext cx="14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5" r:id="rId9" imgW="127000" imgH="177165" progId="Equation.DSMT4">
                    <p:embed/>
                  </p:oleObj>
                </mc:Choice>
                <mc:Fallback>
                  <p:oleObj r:id="rId9" imgW="127000" imgH="177165" progId="Equation.DSMT4">
                    <p:embed/>
                    <p:pic>
                      <p:nvPicPr>
                        <p:cNvPr id="57363" name="Object 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14" y="3838"/>
                          <a:ext cx="147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4" name="Object 6"/>
            <p:cNvGraphicFramePr>
              <a:graphicFrameLocks noChangeAspect="1"/>
            </p:cNvGraphicFramePr>
            <p:nvPr/>
          </p:nvGraphicFramePr>
          <p:xfrm>
            <a:off x="3923" y="2704"/>
            <a:ext cx="13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6" r:id="rId11" imgW="114300" imgH="127000" progId="Equation.DSMT4">
                    <p:embed/>
                  </p:oleObj>
                </mc:Choice>
                <mc:Fallback>
                  <p:oleObj r:id="rId11" imgW="114300" imgH="127000" progId="Equation.DSMT4">
                    <p:embed/>
                    <p:pic>
                      <p:nvPicPr>
                        <p:cNvPr id="57364" name="Object 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23" y="2704"/>
                          <a:ext cx="132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5" name="Object 7"/>
            <p:cNvGraphicFramePr>
              <a:graphicFrameLocks noChangeAspect="1"/>
            </p:cNvGraphicFramePr>
            <p:nvPr/>
          </p:nvGraphicFramePr>
          <p:xfrm>
            <a:off x="4921" y="3067"/>
            <a:ext cx="118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7" r:id="rId13" imgW="101600" imgH="127000" progId="Equation.DSMT4">
                    <p:embed/>
                  </p:oleObj>
                </mc:Choice>
                <mc:Fallback>
                  <p:oleObj r:id="rId13" imgW="101600" imgH="127000" progId="Equation.DSMT4">
                    <p:embed/>
                    <p:pic>
                      <p:nvPicPr>
                        <p:cNvPr id="57365" name="Object 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21" y="3067"/>
                          <a:ext cx="118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6" name="Object 8"/>
            <p:cNvGraphicFramePr>
              <a:graphicFrameLocks noChangeAspect="1"/>
            </p:cNvGraphicFramePr>
            <p:nvPr/>
          </p:nvGraphicFramePr>
          <p:xfrm>
            <a:off x="4921" y="3521"/>
            <a:ext cx="11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8" r:id="rId15" imgW="101600" imgH="152400" progId="Equation.DSMT4">
                    <p:embed/>
                  </p:oleObj>
                </mc:Choice>
                <mc:Fallback>
                  <p:oleObj r:id="rId15" imgW="101600" imgH="152400" progId="Equation.DSMT4">
                    <p:embed/>
                    <p:pic>
                      <p:nvPicPr>
                        <p:cNvPr id="57366" name="Object 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21" y="3521"/>
                          <a:ext cx="118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7" name="Freeform 17"/>
            <p:cNvSpPr>
              <a:spLocks noChangeAspect="1"/>
            </p:cNvSpPr>
            <p:nvPr/>
          </p:nvSpPr>
          <p:spPr>
            <a:xfrm rot="-2400000">
              <a:off x="4295" y="2570"/>
              <a:ext cx="39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" y="314"/>
                </a:cxn>
                <a:cxn ang="0">
                  <a:pos x="127" y="630"/>
                </a:cxn>
                <a:cxn ang="0">
                  <a:pos x="229" y="839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8" name="Line 18"/>
            <p:cNvSpPr>
              <a:spLocks noChangeAspect="1"/>
            </p:cNvSpPr>
            <p:nvPr/>
          </p:nvSpPr>
          <p:spPr>
            <a:xfrm rot="-1500000" flipH="1" flipV="1">
              <a:off x="4422" y="3022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7369" name="Line 19"/>
            <p:cNvSpPr/>
            <p:nvPr/>
          </p:nvSpPr>
          <p:spPr>
            <a:xfrm>
              <a:off x="4067" y="2787"/>
              <a:ext cx="0" cy="10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370" name="Line 20"/>
            <p:cNvSpPr/>
            <p:nvPr/>
          </p:nvSpPr>
          <p:spPr>
            <a:xfrm>
              <a:off x="4901" y="3566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57371" name="Object 9"/>
            <p:cNvGraphicFramePr>
              <a:graphicFrameLocks noChangeAspect="1"/>
            </p:cNvGraphicFramePr>
            <p:nvPr/>
          </p:nvGraphicFramePr>
          <p:xfrm>
            <a:off x="4830" y="3838"/>
            <a:ext cx="16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9" r:id="rId17" imgW="139700" imgH="177800" progId="Equation.DSMT4">
                    <p:embed/>
                  </p:oleObj>
                </mc:Choice>
                <mc:Fallback>
                  <p:oleObj r:id="rId17" imgW="139700" imgH="177800" progId="Equation.DSMT4">
                    <p:embed/>
                    <p:pic>
                      <p:nvPicPr>
                        <p:cNvPr id="57371" name="Object 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30" y="3838"/>
                          <a:ext cx="162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72" name="Object 10"/>
            <p:cNvGraphicFramePr>
              <a:graphicFrameLocks noChangeAspect="1"/>
            </p:cNvGraphicFramePr>
            <p:nvPr/>
          </p:nvGraphicFramePr>
          <p:xfrm>
            <a:off x="4355" y="2787"/>
            <a:ext cx="44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0" r:id="rId19" imgW="380365" imgH="165100" progId="Equation.DSMT4">
                    <p:embed/>
                  </p:oleObj>
                </mc:Choice>
                <mc:Fallback>
                  <p:oleObj r:id="rId19" imgW="380365" imgH="165100" progId="Equation.DSMT4">
                    <p:embed/>
                    <p:pic>
                      <p:nvPicPr>
                        <p:cNvPr id="57372" name="Object 1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55" y="2787"/>
                          <a:ext cx="443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73" name="Object 11"/>
            <p:cNvGraphicFramePr>
              <a:graphicFrameLocks noChangeAspect="1"/>
            </p:cNvGraphicFramePr>
            <p:nvPr/>
          </p:nvGraphicFramePr>
          <p:xfrm>
            <a:off x="4173" y="3377"/>
            <a:ext cx="443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1" r:id="rId21" imgW="380365" imgH="165100" progId="Equation.DSMT4">
                    <p:embed/>
                  </p:oleObj>
                </mc:Choice>
                <mc:Fallback>
                  <p:oleObj r:id="rId21" imgW="380365" imgH="165100" progId="Equation.DSMT4">
                    <p:embed/>
                    <p:pic>
                      <p:nvPicPr>
                        <p:cNvPr id="57373" name="Object 1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173" y="3377"/>
                          <a:ext cx="443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8" name="Text Box 24"/>
          <p:cNvSpPr txBox="1"/>
          <p:nvPr/>
        </p:nvSpPr>
        <p:spPr>
          <a:xfrm>
            <a:off x="107950" y="2895600"/>
            <a:ext cx="6240463" cy="3231654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计算每一个过程的熵变是多少？</a:t>
            </a:r>
          </a:p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(2)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整个循环过程系统的熵变是多少？</a:t>
            </a:r>
            <a:endParaRPr lang="en-US" altLang="zh-CN" sz="2400" b="1" dirty="0">
              <a:solidFill>
                <a:schemeClr val="accent2"/>
              </a:solidFill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(3)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求等体过程与外界环境的总熵变</a:t>
            </a:r>
            <a:endParaRPr lang="en-US" altLang="zh-CN" sz="2400" b="1" dirty="0">
              <a:solidFill>
                <a:schemeClr val="accent2"/>
              </a:solidFill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是多少？</a:t>
            </a:r>
          </a:p>
        </p:txBody>
      </p:sp>
      <p:sp>
        <p:nvSpPr>
          <p:cNvPr id="57349" name="Text Box 25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fld id="{9A0DB2DC-4C9A-4742-B13C-FB6460FD3503}" type="slidenum">
              <a:rPr lang="en-US" altLang="zh-CN" sz="2000" b="1" dirty="0">
                <a:solidFill>
                  <a:schemeClr val="accent2"/>
                </a:solidFill>
                <a:ea typeface="黑体" panose="02010609060101010101" pitchFamily="49" charset="-122"/>
              </a:rPr>
              <a:t>39</a:t>
            </a:fld>
            <a:endParaRPr lang="en-US" altLang="zh-CN" sz="20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732588" y="5732463"/>
            <a:ext cx="12874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=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125" y="3049588"/>
            <a:ext cx="5238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388350" y="4581525"/>
            <a:ext cx="5238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316913" y="3789363"/>
            <a:ext cx="5238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3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8" grpId="0"/>
      <p:bldP spid="26" grpId="0"/>
      <p:bldP spid="27" grpId="0"/>
      <p:bldP spid="28" grpId="0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/>
          <p:nvPr/>
        </p:nvSpPr>
        <p:spPr>
          <a:xfrm>
            <a:off x="323850" y="631825"/>
            <a:ext cx="8424863" cy="6096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【</a:t>
            </a:r>
            <a:r>
              <a:rPr lang="zh-CN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解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】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(1)</a:t>
            </a:r>
            <a:r>
              <a:rPr lang="en-US" altLang="zh-CN" sz="2400" b="1" i="1" dirty="0">
                <a:solidFill>
                  <a:srgbClr val="0000FF"/>
                </a:solidFill>
                <a:ea typeface="楷体_GB2312" panose="02010609030101010101" pitchFamily="49" charset="-122"/>
                <a:sym typeface="Wingdings" panose="05000000000000000000" pitchFamily="2" charset="2"/>
              </a:rPr>
              <a:t>ab</a:t>
            </a:r>
            <a:r>
              <a:rPr lang="en-US" altLang="zh-CN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过程是可逆绝热过程</a:t>
            </a:r>
          </a:p>
        </p:txBody>
      </p:sp>
      <p:graphicFrame>
        <p:nvGraphicFramePr>
          <p:cNvPr id="43011" name="Object 2"/>
          <p:cNvGraphicFramePr/>
          <p:nvPr/>
        </p:nvGraphicFramePr>
        <p:xfrm>
          <a:off x="6084888" y="623888"/>
          <a:ext cx="15668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6" r:id="rId3" imgW="431165" imgH="177800" progId="Equation.DSMT4">
                  <p:embed/>
                </p:oleObj>
              </mc:Choice>
              <mc:Fallback>
                <p:oleObj r:id="rId3" imgW="431165" imgH="177800" progId="Equation.DSMT4">
                  <p:embed/>
                  <p:pic>
                    <p:nvPicPr>
                      <p:cNvPr id="43011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84888" y="623888"/>
                        <a:ext cx="1566862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4"/>
          <p:cNvSpPr txBox="1"/>
          <p:nvPr/>
        </p:nvSpPr>
        <p:spPr>
          <a:xfrm>
            <a:off x="0" y="1196975"/>
            <a:ext cx="6742113" cy="5334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   </a:t>
            </a:r>
            <a:r>
              <a:rPr lang="en-US" altLang="zh-CN" sz="2400" b="1" i="1" dirty="0">
                <a:solidFill>
                  <a:srgbClr val="0000FF"/>
                </a:solidFill>
                <a:ea typeface="楷体_GB2312" panose="02010609030101010101" pitchFamily="49" charset="-122"/>
                <a:sym typeface="Wingdings" panose="05000000000000000000" pitchFamily="2" charset="2"/>
              </a:rPr>
              <a:t>bc </a:t>
            </a: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过程是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可逆等体升温过程</a:t>
            </a: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，其熵变</a:t>
            </a:r>
            <a:endParaRPr lang="zh-CN" altLang="en-US" sz="2400" b="1" dirty="0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3013" name="Object 3"/>
          <p:cNvGraphicFramePr/>
          <p:nvPr/>
        </p:nvGraphicFramePr>
        <p:xfrm>
          <a:off x="971550" y="1771650"/>
          <a:ext cx="209867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7" r:id="rId5" imgW="685800" imgH="316865" progId="Equation.DSMT4">
                  <p:embed/>
                </p:oleObj>
              </mc:Choice>
              <mc:Fallback>
                <p:oleObj r:id="rId5" imgW="685800" imgH="316865" progId="Equation.DSMT4">
                  <p:embed/>
                  <p:pic>
                    <p:nvPicPr>
                      <p:cNvPr id="43013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1771650"/>
                        <a:ext cx="2098675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4" name="Group 6"/>
          <p:cNvGrpSpPr>
            <a:grpSpLocks noChangeAspect="1"/>
          </p:cNvGrpSpPr>
          <p:nvPr/>
        </p:nvGrpSpPr>
        <p:grpSpPr>
          <a:xfrm>
            <a:off x="5638800" y="3733800"/>
            <a:ext cx="3128963" cy="2803525"/>
            <a:chOff x="3410" y="2279"/>
            <a:chExt cx="2044" cy="1831"/>
          </a:xfrm>
        </p:grpSpPr>
        <p:sp>
          <p:nvSpPr>
            <p:cNvPr id="58391" name="Line 7"/>
            <p:cNvSpPr>
              <a:spLocks noChangeAspect="1"/>
            </p:cNvSpPr>
            <p:nvPr/>
          </p:nvSpPr>
          <p:spPr>
            <a:xfrm>
              <a:off x="3664" y="3833"/>
              <a:ext cx="17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8392" name="Line 8"/>
            <p:cNvSpPr>
              <a:spLocks noChangeAspect="1"/>
            </p:cNvSpPr>
            <p:nvPr/>
          </p:nvSpPr>
          <p:spPr>
            <a:xfrm flipV="1">
              <a:off x="3664" y="2296"/>
              <a:ext cx="0" cy="15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8393" name="Freeform 9"/>
            <p:cNvSpPr>
              <a:spLocks noChangeAspect="1"/>
            </p:cNvSpPr>
            <p:nvPr/>
          </p:nvSpPr>
          <p:spPr>
            <a:xfrm rot="-1200000">
              <a:off x="4233" y="2664"/>
              <a:ext cx="506" cy="10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514"/>
                </a:cxn>
                <a:cxn ang="0">
                  <a:pos x="206" y="1029"/>
                </a:cxn>
                <a:cxn ang="0">
                  <a:pos x="374" y="1370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4" name="Line 10"/>
            <p:cNvSpPr>
              <a:spLocks noChangeAspect="1"/>
            </p:cNvSpPr>
            <p:nvPr/>
          </p:nvSpPr>
          <p:spPr>
            <a:xfrm rot="10800000">
              <a:off x="4892" y="3294"/>
              <a:ext cx="0" cy="1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8395" name="Line 11"/>
            <p:cNvSpPr>
              <a:spLocks noChangeAspect="1"/>
            </p:cNvSpPr>
            <p:nvPr/>
          </p:nvSpPr>
          <p:spPr>
            <a:xfrm rot="-300000" flipH="1" flipV="1">
              <a:off x="4377" y="3233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arrow" w="lg" len="lg"/>
              <a:tailEnd type="none" w="lg" len="lg"/>
            </a:ln>
          </p:spPr>
        </p:sp>
        <p:sp>
          <p:nvSpPr>
            <p:cNvPr id="58396" name="Line 12"/>
            <p:cNvSpPr>
              <a:spLocks noChangeAspect="1"/>
            </p:cNvSpPr>
            <p:nvPr/>
          </p:nvSpPr>
          <p:spPr>
            <a:xfrm rot="5400000" flipH="1">
              <a:off x="4677" y="3375"/>
              <a:ext cx="43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8397" name="Object 5"/>
            <p:cNvGraphicFramePr>
              <a:graphicFrameLocks noChangeAspect="1"/>
            </p:cNvGraphicFramePr>
            <p:nvPr/>
          </p:nvGraphicFramePr>
          <p:xfrm>
            <a:off x="3410" y="2279"/>
            <a:ext cx="176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68" r:id="rId7" imgW="152400" imgH="165100" progId="Equation.DSMT4">
                    <p:embed/>
                  </p:oleObj>
                </mc:Choice>
                <mc:Fallback>
                  <p:oleObj r:id="rId7" imgW="152400" imgH="165100" progId="Equation.DSMT4">
                    <p:embed/>
                    <p:pic>
                      <p:nvPicPr>
                        <p:cNvPr id="58397" name="Object 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10" y="2279"/>
                          <a:ext cx="176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8" name="Object 6"/>
            <p:cNvGraphicFramePr>
              <a:graphicFrameLocks noChangeAspect="1"/>
            </p:cNvGraphicFramePr>
            <p:nvPr/>
          </p:nvGraphicFramePr>
          <p:xfrm>
            <a:off x="3473" y="3838"/>
            <a:ext cx="178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69" r:id="rId9" imgW="152400" imgH="177800" progId="Equation.DSMT4">
                    <p:embed/>
                  </p:oleObj>
                </mc:Choice>
                <mc:Fallback>
                  <p:oleObj r:id="rId9" imgW="152400" imgH="177800" progId="Equation.DSMT4">
                    <p:embed/>
                    <p:pic>
                      <p:nvPicPr>
                        <p:cNvPr id="58398" name="Object 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73" y="3838"/>
                          <a:ext cx="178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9" name="Object 7"/>
            <p:cNvGraphicFramePr>
              <a:graphicFrameLocks noChangeAspect="1"/>
            </p:cNvGraphicFramePr>
            <p:nvPr/>
          </p:nvGraphicFramePr>
          <p:xfrm>
            <a:off x="5277" y="3876"/>
            <a:ext cx="17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0" r:id="rId11" imgW="152400" imgH="177800" progId="Equation.DSMT4">
                    <p:embed/>
                  </p:oleObj>
                </mc:Choice>
                <mc:Fallback>
                  <p:oleObj r:id="rId11" imgW="152400" imgH="177800" progId="Equation.DSMT4">
                    <p:embed/>
                    <p:pic>
                      <p:nvPicPr>
                        <p:cNvPr id="58399" name="Object 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77" y="3876"/>
                          <a:ext cx="17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0" name="Object 8"/>
            <p:cNvGraphicFramePr>
              <a:graphicFrameLocks noChangeAspect="1"/>
            </p:cNvGraphicFramePr>
            <p:nvPr/>
          </p:nvGraphicFramePr>
          <p:xfrm>
            <a:off x="4014" y="3838"/>
            <a:ext cx="14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1" r:id="rId13" imgW="127000" imgH="177165" progId="Equation.DSMT4">
                    <p:embed/>
                  </p:oleObj>
                </mc:Choice>
                <mc:Fallback>
                  <p:oleObj r:id="rId13" imgW="127000" imgH="177165" progId="Equation.DSMT4">
                    <p:embed/>
                    <p:pic>
                      <p:nvPicPr>
                        <p:cNvPr id="58400" name="Object 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14" y="3838"/>
                          <a:ext cx="147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1" name="Object 9"/>
            <p:cNvGraphicFramePr>
              <a:graphicFrameLocks noChangeAspect="1"/>
            </p:cNvGraphicFramePr>
            <p:nvPr/>
          </p:nvGraphicFramePr>
          <p:xfrm>
            <a:off x="3923" y="2704"/>
            <a:ext cx="13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2" r:id="rId15" imgW="114300" imgH="127000" progId="Equation.DSMT4">
                    <p:embed/>
                  </p:oleObj>
                </mc:Choice>
                <mc:Fallback>
                  <p:oleObj r:id="rId15" imgW="114300" imgH="127000" progId="Equation.DSMT4">
                    <p:embed/>
                    <p:pic>
                      <p:nvPicPr>
                        <p:cNvPr id="58401" name="Object 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23" y="2704"/>
                          <a:ext cx="132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2" name="Object 10"/>
            <p:cNvGraphicFramePr>
              <a:graphicFrameLocks noChangeAspect="1"/>
            </p:cNvGraphicFramePr>
            <p:nvPr/>
          </p:nvGraphicFramePr>
          <p:xfrm>
            <a:off x="4921" y="3067"/>
            <a:ext cx="118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3" r:id="rId17" imgW="101600" imgH="127000" progId="Equation.DSMT4">
                    <p:embed/>
                  </p:oleObj>
                </mc:Choice>
                <mc:Fallback>
                  <p:oleObj r:id="rId17" imgW="101600" imgH="127000" progId="Equation.DSMT4">
                    <p:embed/>
                    <p:pic>
                      <p:nvPicPr>
                        <p:cNvPr id="58402" name="Object 1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21" y="3067"/>
                          <a:ext cx="118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3" name="Object 11"/>
            <p:cNvGraphicFramePr>
              <a:graphicFrameLocks noChangeAspect="1"/>
            </p:cNvGraphicFramePr>
            <p:nvPr/>
          </p:nvGraphicFramePr>
          <p:xfrm>
            <a:off x="4921" y="3521"/>
            <a:ext cx="11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4" r:id="rId19" imgW="101600" imgH="152400" progId="Equation.DSMT4">
                    <p:embed/>
                  </p:oleObj>
                </mc:Choice>
                <mc:Fallback>
                  <p:oleObj r:id="rId19" imgW="101600" imgH="152400" progId="Equation.DSMT4">
                    <p:embed/>
                    <p:pic>
                      <p:nvPicPr>
                        <p:cNvPr id="58403" name="Object 1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21" y="3521"/>
                          <a:ext cx="118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04" name="Freeform 20"/>
            <p:cNvSpPr>
              <a:spLocks noChangeAspect="1"/>
            </p:cNvSpPr>
            <p:nvPr/>
          </p:nvSpPr>
          <p:spPr>
            <a:xfrm rot="-2400000">
              <a:off x="4295" y="2570"/>
              <a:ext cx="39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" y="314"/>
                </a:cxn>
                <a:cxn ang="0">
                  <a:pos x="127" y="630"/>
                </a:cxn>
                <a:cxn ang="0">
                  <a:pos x="229" y="839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Line 21"/>
            <p:cNvSpPr>
              <a:spLocks noChangeAspect="1"/>
            </p:cNvSpPr>
            <p:nvPr/>
          </p:nvSpPr>
          <p:spPr>
            <a:xfrm rot="-1500000" flipH="1" flipV="1">
              <a:off x="4422" y="3022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8406" name="Line 22"/>
            <p:cNvSpPr>
              <a:spLocks noChangeAspect="1"/>
            </p:cNvSpPr>
            <p:nvPr/>
          </p:nvSpPr>
          <p:spPr>
            <a:xfrm>
              <a:off x="4067" y="2787"/>
              <a:ext cx="0" cy="10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8407" name="Line 23"/>
            <p:cNvSpPr>
              <a:spLocks noChangeAspect="1"/>
            </p:cNvSpPr>
            <p:nvPr/>
          </p:nvSpPr>
          <p:spPr>
            <a:xfrm>
              <a:off x="4901" y="3566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58408" name="Object 12"/>
            <p:cNvGraphicFramePr>
              <a:graphicFrameLocks noChangeAspect="1"/>
            </p:cNvGraphicFramePr>
            <p:nvPr/>
          </p:nvGraphicFramePr>
          <p:xfrm>
            <a:off x="4830" y="3838"/>
            <a:ext cx="16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5" r:id="rId21" imgW="139700" imgH="177800" progId="Equation.DSMT4">
                    <p:embed/>
                  </p:oleObj>
                </mc:Choice>
                <mc:Fallback>
                  <p:oleObj r:id="rId21" imgW="139700" imgH="177800" progId="Equation.DSMT4">
                    <p:embed/>
                    <p:pic>
                      <p:nvPicPr>
                        <p:cNvPr id="58408" name="Object 1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830" y="3838"/>
                          <a:ext cx="162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9" name="Object 13"/>
            <p:cNvGraphicFramePr>
              <a:graphicFrameLocks noChangeAspect="1"/>
            </p:cNvGraphicFramePr>
            <p:nvPr/>
          </p:nvGraphicFramePr>
          <p:xfrm>
            <a:off x="4355" y="2787"/>
            <a:ext cx="44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6" r:id="rId23" imgW="380365" imgH="165100" progId="Equation.DSMT4">
                    <p:embed/>
                  </p:oleObj>
                </mc:Choice>
                <mc:Fallback>
                  <p:oleObj r:id="rId23" imgW="380365" imgH="165100" progId="Equation.DSMT4">
                    <p:embed/>
                    <p:pic>
                      <p:nvPicPr>
                        <p:cNvPr id="58409" name="Object 13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55" y="2787"/>
                          <a:ext cx="442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10" name="Object 14"/>
            <p:cNvGraphicFramePr>
              <a:graphicFrameLocks noChangeAspect="1"/>
            </p:cNvGraphicFramePr>
            <p:nvPr/>
          </p:nvGraphicFramePr>
          <p:xfrm>
            <a:off x="4173" y="3377"/>
            <a:ext cx="44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77" r:id="rId25" imgW="380365" imgH="165100" progId="Equation.DSMT4">
                    <p:embed/>
                  </p:oleObj>
                </mc:Choice>
                <mc:Fallback>
                  <p:oleObj r:id="rId25" imgW="380365" imgH="165100" progId="Equation.DSMT4">
                    <p:embed/>
                    <p:pic>
                      <p:nvPicPr>
                        <p:cNvPr id="58410" name="Object 1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73" y="3377"/>
                          <a:ext cx="443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36" name="Text Box 28"/>
          <p:cNvSpPr txBox="1"/>
          <p:nvPr/>
        </p:nvSpPr>
        <p:spPr>
          <a:xfrm>
            <a:off x="533400" y="2781300"/>
            <a:ext cx="2678113" cy="6048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在绝热线上</a:t>
            </a:r>
            <a:endParaRPr lang="zh-CN" altLang="en-US" sz="2400" b="1" dirty="0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3037" name="Object 4"/>
          <p:cNvGraphicFramePr/>
          <p:nvPr/>
        </p:nvGraphicFramePr>
        <p:xfrm>
          <a:off x="2608263" y="2708275"/>
          <a:ext cx="29718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8" r:id="rId27" imgW="711200" imgH="190500" progId="Equation.DSMT4">
                  <p:embed/>
                </p:oleObj>
              </mc:Choice>
              <mc:Fallback>
                <p:oleObj r:id="rId27" imgW="711200" imgH="190500" progId="Equation.DSMT4">
                  <p:embed/>
                  <p:pic>
                    <p:nvPicPr>
                      <p:cNvPr id="43037" name="Object 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608263" y="2708275"/>
                        <a:ext cx="2971800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fld id="{9A0DB2DC-4C9A-4742-B13C-FB6460FD3503}" type="slidenum">
              <a:rPr lang="en-US" altLang="zh-CN" sz="2000" b="1" dirty="0">
                <a:solidFill>
                  <a:schemeClr val="accent2"/>
                </a:solidFill>
                <a:ea typeface="黑体" panose="02010609060101010101" pitchFamily="49" charset="-122"/>
              </a:rPr>
              <a:t>40</a:t>
            </a:fld>
            <a:endParaRPr lang="en-US" altLang="zh-CN" sz="20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58378" name="矩形 30"/>
          <p:cNvSpPr/>
          <p:nvPr/>
        </p:nvSpPr>
        <p:spPr>
          <a:xfrm>
            <a:off x="323850" y="158750"/>
            <a:ext cx="64801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(1)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计算每一个过程的熵变是多少？</a:t>
            </a:r>
          </a:p>
        </p:txBody>
      </p:sp>
      <p:sp>
        <p:nvSpPr>
          <p:cNvPr id="58379" name="矩形 31"/>
          <p:cNvSpPr/>
          <p:nvPr/>
        </p:nvSpPr>
        <p:spPr>
          <a:xfrm>
            <a:off x="6640513" y="4130675"/>
            <a:ext cx="5238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8380" name="矩形 32"/>
          <p:cNvSpPr/>
          <p:nvPr/>
        </p:nvSpPr>
        <p:spPr>
          <a:xfrm>
            <a:off x="8172450" y="5516563"/>
            <a:ext cx="5238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8381" name="矩形 33"/>
          <p:cNvSpPr/>
          <p:nvPr/>
        </p:nvSpPr>
        <p:spPr>
          <a:xfrm>
            <a:off x="8151813" y="4778375"/>
            <a:ext cx="5238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8382" name="矩形 34"/>
          <p:cNvSpPr/>
          <p:nvPr/>
        </p:nvSpPr>
        <p:spPr>
          <a:xfrm>
            <a:off x="6754813" y="6351588"/>
            <a:ext cx="11303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=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anose="02010609030101010101" pitchFamily="49" charset="-122"/>
              </a:rPr>
              <a:t>1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44035" name="Object 31"/>
          <p:cNvGraphicFramePr/>
          <p:nvPr/>
        </p:nvGraphicFramePr>
        <p:xfrm>
          <a:off x="6059488" y="2573338"/>
          <a:ext cx="299402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9" r:id="rId29" imgW="1002665" imgH="406400" progId="Equation.DSMT4">
                  <p:embed/>
                </p:oleObj>
              </mc:Choice>
              <mc:Fallback>
                <p:oleObj r:id="rId29" imgW="1002665" imgH="406400" progId="Equation.DSMT4">
                  <p:embed/>
                  <p:pic>
                    <p:nvPicPr>
                      <p:cNvPr id="44035" name="Object 3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059488" y="2573338"/>
                        <a:ext cx="2994025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32"/>
          <p:cNvGraphicFramePr/>
          <p:nvPr/>
        </p:nvGraphicFramePr>
        <p:xfrm>
          <a:off x="141288" y="3582988"/>
          <a:ext cx="53927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0" r:id="rId31" imgW="1562100" imgH="190500" progId="Equation.DSMT4">
                  <p:embed/>
                </p:oleObj>
              </mc:Choice>
              <mc:Fallback>
                <p:oleObj r:id="rId31" imgW="1562100" imgH="190500" progId="Equation.DSMT4">
                  <p:embed/>
                  <p:pic>
                    <p:nvPicPr>
                      <p:cNvPr id="44037" name="Object 3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41288" y="3582988"/>
                        <a:ext cx="5392737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6"/>
          <p:cNvSpPr txBox="1"/>
          <p:nvPr/>
        </p:nvSpPr>
        <p:spPr>
          <a:xfrm>
            <a:off x="71438" y="4292600"/>
            <a:ext cx="6013450" cy="6096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rgbClr val="0000FF"/>
                </a:solidFill>
                <a:ea typeface="楷体_GB2312" panose="02010609030101010101" pitchFamily="49" charset="-122"/>
                <a:sym typeface="Wingdings" panose="05000000000000000000" pitchFamily="2" charset="2"/>
              </a:rPr>
              <a:t>ca</a:t>
            </a: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过程是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等温放热过程</a:t>
            </a:r>
            <a:r>
              <a:rPr lang="zh-CN" altLang="en-US" sz="2400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，熵一定减少</a:t>
            </a:r>
            <a:endParaRPr lang="zh-CN" altLang="en-US" sz="2400" b="1" dirty="0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0" name="Object 33"/>
          <p:cNvGraphicFramePr/>
          <p:nvPr/>
        </p:nvGraphicFramePr>
        <p:xfrm>
          <a:off x="2284413" y="4852988"/>
          <a:ext cx="13477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1" r:id="rId33" imgW="431165" imgH="317500" progId="Equation.DSMT4">
                  <p:embed/>
                </p:oleObj>
              </mc:Choice>
              <mc:Fallback>
                <p:oleObj r:id="rId33" imgW="431165" imgH="317500" progId="Equation.DSMT4">
                  <p:embed/>
                  <p:pic>
                    <p:nvPicPr>
                      <p:cNvPr id="40" name="Object 3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284413" y="4852988"/>
                        <a:ext cx="1347787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/>
          <p:nvPr/>
        </p:nvGraphicFramePr>
        <p:xfrm>
          <a:off x="2997200" y="1711325"/>
          <a:ext cx="3303588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2" r:id="rId35" imgW="1079500" imgH="355600" progId="Equation.DSMT4">
                  <p:embed/>
                </p:oleObj>
              </mc:Choice>
              <mc:Fallback>
                <p:oleObj r:id="rId35" imgW="1079500" imgH="355600" progId="Equation.DSMT4">
                  <p:embed/>
                  <p:pic>
                    <p:nvPicPr>
                      <p:cNvPr id="2" name="Object 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997200" y="1711325"/>
                        <a:ext cx="3303588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3"/>
          <p:cNvGraphicFramePr/>
          <p:nvPr/>
        </p:nvGraphicFramePr>
        <p:xfrm>
          <a:off x="533400" y="4843463"/>
          <a:ext cx="1862138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3" r:id="rId37" imgW="596900" imgH="316865" progId="Equation.DSMT4">
                  <p:embed/>
                </p:oleObj>
              </mc:Choice>
              <mc:Fallback>
                <p:oleObj r:id="rId37" imgW="596900" imgH="316865" progId="Equation.DSMT4">
                  <p:embed/>
                  <p:pic>
                    <p:nvPicPr>
                      <p:cNvPr id="4" name="Object 33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33400" y="4843463"/>
                        <a:ext cx="1862138" cy="985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3"/>
          <p:cNvGraphicFramePr/>
          <p:nvPr/>
        </p:nvGraphicFramePr>
        <p:xfrm>
          <a:off x="3567113" y="4829175"/>
          <a:ext cx="16256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4" r:id="rId39" imgW="520700" imgH="317500" progId="Equation.DSMT4">
                  <p:embed/>
                </p:oleObj>
              </mc:Choice>
              <mc:Fallback>
                <p:oleObj r:id="rId39" imgW="520700" imgH="317500" progId="Equation.DSMT4">
                  <p:embed/>
                  <p:pic>
                    <p:nvPicPr>
                      <p:cNvPr id="41" name="Object 3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567113" y="4829175"/>
                        <a:ext cx="1625600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3"/>
          <p:cNvGraphicFramePr/>
          <p:nvPr/>
        </p:nvGraphicFramePr>
        <p:xfrm>
          <a:off x="2219325" y="5794375"/>
          <a:ext cx="3289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5" r:id="rId41" imgW="1054100" imgH="342900" progId="Equation.DSMT4">
                  <p:embed/>
                </p:oleObj>
              </mc:Choice>
              <mc:Fallback>
                <p:oleObj r:id="rId41" imgW="1054100" imgH="342900" progId="Equation.DSMT4">
                  <p:embed/>
                  <p:pic>
                    <p:nvPicPr>
                      <p:cNvPr id="42" name="Object 3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219325" y="5794375"/>
                        <a:ext cx="32893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429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2" grpId="0"/>
      <p:bldP spid="43036" grpId="0"/>
      <p:bldP spid="3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/>
          <p:nvPr/>
        </p:nvSpPr>
        <p:spPr>
          <a:xfrm>
            <a:off x="179388" y="3068638"/>
            <a:ext cx="5089525" cy="24987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7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等体过程系统从外界吸热，外界向系统放热，系统和外界构成绝热系统，因为经历的过程是可逆的，所以大系统的熵不变，即</a:t>
            </a:r>
          </a:p>
        </p:txBody>
      </p:sp>
      <p:sp>
        <p:nvSpPr>
          <p:cNvPr id="45059" name="Text Box 3"/>
          <p:cNvSpPr txBox="1"/>
          <p:nvPr/>
        </p:nvSpPr>
        <p:spPr>
          <a:xfrm>
            <a:off x="265113" y="1504950"/>
            <a:ext cx="8015287" cy="12430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>
              <a:lnSpc>
                <a:spcPct val="17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因为熵是状态函数，系统经历一个循环过程回到原态，故</a:t>
            </a:r>
          </a:p>
        </p:txBody>
      </p:sp>
      <p:graphicFrame>
        <p:nvGraphicFramePr>
          <p:cNvPr id="45060" name="Object 2"/>
          <p:cNvGraphicFramePr/>
          <p:nvPr/>
        </p:nvGraphicFramePr>
        <p:xfrm>
          <a:off x="2074863" y="5692775"/>
          <a:ext cx="9128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8" r:id="rId3" imgW="355600" imgH="152400" progId="Equation.DSMT4">
                  <p:embed/>
                </p:oleObj>
              </mc:Choice>
              <mc:Fallback>
                <p:oleObj r:id="rId3" imgW="355600" imgH="152400" progId="Equation.DSMT4">
                  <p:embed/>
                  <p:pic>
                    <p:nvPicPr>
                      <p:cNvPr id="45060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4863" y="5692775"/>
                        <a:ext cx="912812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3"/>
          <p:cNvGraphicFramePr/>
          <p:nvPr/>
        </p:nvGraphicFramePr>
        <p:xfrm>
          <a:off x="1258888" y="2282825"/>
          <a:ext cx="12715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9" r:id="rId5" imgW="495300" imgH="190500" progId="Equation.DSMT4">
                  <p:embed/>
                </p:oleObj>
              </mc:Choice>
              <mc:Fallback>
                <p:oleObj r:id="rId5" imgW="495300" imgH="190500" progId="Equation.DSMT4">
                  <p:embed/>
                  <p:pic>
                    <p:nvPicPr>
                      <p:cNvPr id="45061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2282825"/>
                        <a:ext cx="1271587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8" name="Group 6"/>
          <p:cNvGrpSpPr/>
          <p:nvPr/>
        </p:nvGrpSpPr>
        <p:grpSpPr>
          <a:xfrm>
            <a:off x="5251450" y="3284538"/>
            <a:ext cx="3244850" cy="2906712"/>
            <a:chOff x="3410" y="2279"/>
            <a:chExt cx="2044" cy="1831"/>
          </a:xfrm>
        </p:grpSpPr>
        <p:sp>
          <p:nvSpPr>
            <p:cNvPr id="59401" name="Line 7"/>
            <p:cNvSpPr>
              <a:spLocks noChangeAspect="1"/>
            </p:cNvSpPr>
            <p:nvPr/>
          </p:nvSpPr>
          <p:spPr>
            <a:xfrm>
              <a:off x="3664" y="3833"/>
              <a:ext cx="17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9402" name="Line 8"/>
            <p:cNvSpPr>
              <a:spLocks noChangeAspect="1"/>
            </p:cNvSpPr>
            <p:nvPr/>
          </p:nvSpPr>
          <p:spPr>
            <a:xfrm flipV="1">
              <a:off x="3664" y="2296"/>
              <a:ext cx="0" cy="15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9403" name="Freeform 9"/>
            <p:cNvSpPr>
              <a:spLocks noChangeAspect="1"/>
            </p:cNvSpPr>
            <p:nvPr/>
          </p:nvSpPr>
          <p:spPr>
            <a:xfrm rot="-1200000">
              <a:off x="4233" y="2664"/>
              <a:ext cx="506" cy="10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514"/>
                </a:cxn>
                <a:cxn ang="0">
                  <a:pos x="206" y="1029"/>
                </a:cxn>
                <a:cxn ang="0">
                  <a:pos x="374" y="1370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4" name="Line 10"/>
            <p:cNvSpPr>
              <a:spLocks noChangeAspect="1"/>
            </p:cNvSpPr>
            <p:nvPr/>
          </p:nvSpPr>
          <p:spPr>
            <a:xfrm rot="10800000">
              <a:off x="4892" y="3294"/>
              <a:ext cx="0" cy="1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9405" name="Line 11"/>
            <p:cNvSpPr>
              <a:spLocks noChangeAspect="1"/>
            </p:cNvSpPr>
            <p:nvPr/>
          </p:nvSpPr>
          <p:spPr>
            <a:xfrm rot="-300000" flipH="1" flipV="1">
              <a:off x="4377" y="3233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9406" name="Line 12"/>
            <p:cNvSpPr>
              <a:spLocks noChangeAspect="1"/>
            </p:cNvSpPr>
            <p:nvPr/>
          </p:nvSpPr>
          <p:spPr>
            <a:xfrm rot="5400000" flipH="1">
              <a:off x="4677" y="3375"/>
              <a:ext cx="43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9407" name="Object 4"/>
            <p:cNvGraphicFramePr>
              <a:graphicFrameLocks noChangeAspect="1"/>
            </p:cNvGraphicFramePr>
            <p:nvPr/>
          </p:nvGraphicFramePr>
          <p:xfrm>
            <a:off x="3410" y="2279"/>
            <a:ext cx="176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0" r:id="rId7" imgW="152400" imgH="165100" progId="Equation.DSMT4">
                    <p:embed/>
                  </p:oleObj>
                </mc:Choice>
                <mc:Fallback>
                  <p:oleObj r:id="rId7" imgW="152400" imgH="165100" progId="Equation.DSMT4">
                    <p:embed/>
                    <p:pic>
                      <p:nvPicPr>
                        <p:cNvPr id="59407" name="Object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10" y="2279"/>
                          <a:ext cx="176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8" name="Object 5"/>
            <p:cNvGraphicFramePr>
              <a:graphicFrameLocks noChangeAspect="1"/>
            </p:cNvGraphicFramePr>
            <p:nvPr/>
          </p:nvGraphicFramePr>
          <p:xfrm>
            <a:off x="3473" y="3838"/>
            <a:ext cx="178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1" r:id="rId9" imgW="152400" imgH="177800" progId="Equation.DSMT4">
                    <p:embed/>
                  </p:oleObj>
                </mc:Choice>
                <mc:Fallback>
                  <p:oleObj r:id="rId9" imgW="152400" imgH="177800" progId="Equation.DSMT4">
                    <p:embed/>
                    <p:pic>
                      <p:nvPicPr>
                        <p:cNvPr id="59408" name="Object 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73" y="3838"/>
                          <a:ext cx="178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9" name="Object 6"/>
            <p:cNvGraphicFramePr>
              <a:graphicFrameLocks noChangeAspect="1"/>
            </p:cNvGraphicFramePr>
            <p:nvPr/>
          </p:nvGraphicFramePr>
          <p:xfrm>
            <a:off x="5277" y="3876"/>
            <a:ext cx="17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2" r:id="rId11" imgW="152400" imgH="177800" progId="Equation.DSMT4">
                    <p:embed/>
                  </p:oleObj>
                </mc:Choice>
                <mc:Fallback>
                  <p:oleObj r:id="rId11" imgW="152400" imgH="177800" progId="Equation.DSMT4">
                    <p:embed/>
                    <p:pic>
                      <p:nvPicPr>
                        <p:cNvPr id="59409" name="Object 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77" y="3876"/>
                          <a:ext cx="17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0" name="Object 7"/>
            <p:cNvGraphicFramePr>
              <a:graphicFrameLocks noChangeAspect="1"/>
            </p:cNvGraphicFramePr>
            <p:nvPr/>
          </p:nvGraphicFramePr>
          <p:xfrm>
            <a:off x="4014" y="3838"/>
            <a:ext cx="14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3" r:id="rId13" imgW="127000" imgH="177165" progId="Equation.DSMT4">
                    <p:embed/>
                  </p:oleObj>
                </mc:Choice>
                <mc:Fallback>
                  <p:oleObj r:id="rId13" imgW="127000" imgH="177165" progId="Equation.DSMT4">
                    <p:embed/>
                    <p:pic>
                      <p:nvPicPr>
                        <p:cNvPr id="59410" name="Object 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14" y="3838"/>
                          <a:ext cx="147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1" name="Object 8"/>
            <p:cNvGraphicFramePr>
              <a:graphicFrameLocks noChangeAspect="1"/>
            </p:cNvGraphicFramePr>
            <p:nvPr/>
          </p:nvGraphicFramePr>
          <p:xfrm>
            <a:off x="3923" y="2704"/>
            <a:ext cx="13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4" r:id="rId15" imgW="114300" imgH="127000" progId="Equation.DSMT4">
                    <p:embed/>
                  </p:oleObj>
                </mc:Choice>
                <mc:Fallback>
                  <p:oleObj r:id="rId15" imgW="114300" imgH="127000" progId="Equation.DSMT4">
                    <p:embed/>
                    <p:pic>
                      <p:nvPicPr>
                        <p:cNvPr id="59411" name="Object 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23" y="2704"/>
                          <a:ext cx="132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2" name="Object 9"/>
            <p:cNvGraphicFramePr>
              <a:graphicFrameLocks noChangeAspect="1"/>
            </p:cNvGraphicFramePr>
            <p:nvPr/>
          </p:nvGraphicFramePr>
          <p:xfrm>
            <a:off x="4921" y="3067"/>
            <a:ext cx="118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5" r:id="rId17" imgW="101600" imgH="127000" progId="Equation.DSMT4">
                    <p:embed/>
                  </p:oleObj>
                </mc:Choice>
                <mc:Fallback>
                  <p:oleObj r:id="rId17" imgW="101600" imgH="127000" progId="Equation.DSMT4">
                    <p:embed/>
                    <p:pic>
                      <p:nvPicPr>
                        <p:cNvPr id="59412" name="Object 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21" y="3067"/>
                          <a:ext cx="118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3" name="Object 10"/>
            <p:cNvGraphicFramePr>
              <a:graphicFrameLocks noChangeAspect="1"/>
            </p:cNvGraphicFramePr>
            <p:nvPr/>
          </p:nvGraphicFramePr>
          <p:xfrm>
            <a:off x="4921" y="3521"/>
            <a:ext cx="11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6" r:id="rId19" imgW="101600" imgH="152400" progId="Equation.DSMT4">
                    <p:embed/>
                  </p:oleObj>
                </mc:Choice>
                <mc:Fallback>
                  <p:oleObj r:id="rId19" imgW="101600" imgH="152400" progId="Equation.DSMT4">
                    <p:embed/>
                    <p:pic>
                      <p:nvPicPr>
                        <p:cNvPr id="59413" name="Object 1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21" y="3521"/>
                          <a:ext cx="118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4" name="Freeform 20"/>
            <p:cNvSpPr>
              <a:spLocks noChangeAspect="1"/>
            </p:cNvSpPr>
            <p:nvPr/>
          </p:nvSpPr>
          <p:spPr>
            <a:xfrm rot="-2400000">
              <a:off x="4295" y="2570"/>
              <a:ext cx="396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" y="314"/>
                </a:cxn>
                <a:cxn ang="0">
                  <a:pos x="127" y="630"/>
                </a:cxn>
                <a:cxn ang="0">
                  <a:pos x="229" y="839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5" name="Line 21"/>
            <p:cNvSpPr>
              <a:spLocks noChangeAspect="1"/>
            </p:cNvSpPr>
            <p:nvPr/>
          </p:nvSpPr>
          <p:spPr>
            <a:xfrm rot="-1500000" flipH="1" flipV="1">
              <a:off x="4422" y="3022"/>
              <a:ext cx="71" cy="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9416" name="Line 22"/>
            <p:cNvSpPr/>
            <p:nvPr/>
          </p:nvSpPr>
          <p:spPr>
            <a:xfrm>
              <a:off x="4067" y="2787"/>
              <a:ext cx="0" cy="10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9417" name="Line 23"/>
            <p:cNvSpPr/>
            <p:nvPr/>
          </p:nvSpPr>
          <p:spPr>
            <a:xfrm>
              <a:off x="4901" y="3566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59418" name="Object 11"/>
            <p:cNvGraphicFramePr>
              <a:graphicFrameLocks noChangeAspect="1"/>
            </p:cNvGraphicFramePr>
            <p:nvPr/>
          </p:nvGraphicFramePr>
          <p:xfrm>
            <a:off x="4830" y="3838"/>
            <a:ext cx="16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7" r:id="rId21" imgW="139700" imgH="177800" progId="Equation.DSMT4">
                    <p:embed/>
                  </p:oleObj>
                </mc:Choice>
                <mc:Fallback>
                  <p:oleObj r:id="rId21" imgW="139700" imgH="177800" progId="Equation.DSMT4">
                    <p:embed/>
                    <p:pic>
                      <p:nvPicPr>
                        <p:cNvPr id="59418" name="Object 1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830" y="3838"/>
                          <a:ext cx="162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9" name="Object 12"/>
            <p:cNvGraphicFramePr>
              <a:graphicFrameLocks noChangeAspect="1"/>
            </p:cNvGraphicFramePr>
            <p:nvPr/>
          </p:nvGraphicFramePr>
          <p:xfrm>
            <a:off x="4377" y="2795"/>
            <a:ext cx="398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8" r:id="rId23" imgW="342900" imgH="152400" progId="Equation.DSMT4">
                    <p:embed/>
                  </p:oleObj>
                </mc:Choice>
                <mc:Fallback>
                  <p:oleObj r:id="rId23" imgW="342900" imgH="152400" progId="Equation.DSMT4">
                    <p:embed/>
                    <p:pic>
                      <p:nvPicPr>
                        <p:cNvPr id="59419" name="Object 1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77" y="2795"/>
                          <a:ext cx="398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20" name="Object 13"/>
            <p:cNvGraphicFramePr>
              <a:graphicFrameLocks noChangeAspect="1"/>
            </p:cNvGraphicFramePr>
            <p:nvPr/>
          </p:nvGraphicFramePr>
          <p:xfrm>
            <a:off x="4195" y="3385"/>
            <a:ext cx="398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9" r:id="rId25" imgW="342900" imgH="152400" progId="Equation.DSMT4">
                    <p:embed/>
                  </p:oleObj>
                </mc:Choice>
                <mc:Fallback>
                  <p:oleObj r:id="rId25" imgW="342900" imgH="152400" progId="Equation.DSMT4">
                    <p:embed/>
                    <p:pic>
                      <p:nvPicPr>
                        <p:cNvPr id="59420" name="Object 1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95" y="3385"/>
                          <a:ext cx="398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9" name="Text Box 27"/>
          <p:cNvSpPr txBox="1"/>
          <p:nvPr/>
        </p:nvSpPr>
        <p:spPr>
          <a:xfrm>
            <a:off x="457200" y="304800"/>
            <a:ext cx="7391400" cy="10160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(2)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整个循环过程系统的熵变是多少？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(3)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求等体过程与外界环境的总熵变是多少？</a:t>
            </a:r>
          </a:p>
        </p:txBody>
      </p:sp>
      <p:sp>
        <p:nvSpPr>
          <p:cNvPr id="59400" name="Text Box 28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fld id="{9A0DB2DC-4C9A-4742-B13C-FB6460FD3503}" type="slidenum">
              <a:rPr lang="en-US" altLang="zh-CN" sz="2000" b="1" dirty="0">
                <a:solidFill>
                  <a:schemeClr val="accent2"/>
                </a:solidFill>
                <a:ea typeface="黑体" panose="02010609060101010101" pitchFamily="49" charset="-122"/>
              </a:rPr>
              <a:t>41</a:t>
            </a:fld>
            <a:endParaRPr lang="en-US" altLang="zh-CN" sz="20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558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/>
          <p:nvPr/>
        </p:nvGrpSpPr>
        <p:grpSpPr>
          <a:xfrm>
            <a:off x="4689475" y="2278063"/>
            <a:ext cx="4275138" cy="4000500"/>
            <a:chOff x="2969" y="1291"/>
            <a:chExt cx="2693" cy="2505"/>
          </a:xfrm>
        </p:grpSpPr>
        <p:sp>
          <p:nvSpPr>
            <p:cNvPr id="60430" name="Line 3"/>
            <p:cNvSpPr/>
            <p:nvPr/>
          </p:nvSpPr>
          <p:spPr>
            <a:xfrm>
              <a:off x="3259" y="3398"/>
              <a:ext cx="23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0431" name="Line 4"/>
            <p:cNvSpPr/>
            <p:nvPr/>
          </p:nvSpPr>
          <p:spPr>
            <a:xfrm flipV="1">
              <a:off x="3268" y="1391"/>
              <a:ext cx="0" cy="19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0432" name="Freeform 5"/>
            <p:cNvSpPr/>
            <p:nvPr/>
          </p:nvSpPr>
          <p:spPr>
            <a:xfrm>
              <a:off x="3724" y="1489"/>
              <a:ext cx="1361" cy="15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1" y="1137"/>
                </a:cxn>
                <a:cxn ang="0">
                  <a:pos x="1608" y="1784"/>
                </a:cxn>
              </a:cxnLst>
              <a:rect l="0" t="0" r="0" b="0"/>
              <a:pathLst>
                <a:path w="1152" h="1261">
                  <a:moveTo>
                    <a:pt x="0" y="0"/>
                  </a:moveTo>
                  <a:cubicBezTo>
                    <a:pt x="73" y="297"/>
                    <a:pt x="146" y="594"/>
                    <a:pt x="338" y="804"/>
                  </a:cubicBezTo>
                  <a:cubicBezTo>
                    <a:pt x="530" y="1014"/>
                    <a:pt x="841" y="1137"/>
                    <a:pt x="1152" y="1261"/>
                  </a:cubicBez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dash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Text Box 6"/>
            <p:cNvSpPr txBox="1"/>
            <p:nvPr/>
          </p:nvSpPr>
          <p:spPr>
            <a:xfrm>
              <a:off x="2969" y="1291"/>
              <a:ext cx="2693" cy="250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</a:t>
              </a: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p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A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B                          C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10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0                                                   V</a:t>
              </a:r>
            </a:p>
          </p:txBody>
        </p:sp>
        <p:sp>
          <p:nvSpPr>
            <p:cNvPr id="60434" name="Line 8"/>
            <p:cNvSpPr/>
            <p:nvPr/>
          </p:nvSpPr>
          <p:spPr>
            <a:xfrm>
              <a:off x="3816" y="1887"/>
              <a:ext cx="0" cy="99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0435" name="Line 9"/>
            <p:cNvSpPr/>
            <p:nvPr/>
          </p:nvSpPr>
          <p:spPr>
            <a:xfrm flipH="1">
              <a:off x="3805" y="2463"/>
              <a:ext cx="10" cy="15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36" name="Line 10"/>
            <p:cNvSpPr/>
            <p:nvPr/>
          </p:nvSpPr>
          <p:spPr>
            <a:xfrm flipV="1">
              <a:off x="3815" y="2880"/>
              <a:ext cx="974" cy="1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0437" name="Line 11"/>
            <p:cNvSpPr/>
            <p:nvPr/>
          </p:nvSpPr>
          <p:spPr>
            <a:xfrm>
              <a:off x="4123" y="2890"/>
              <a:ext cx="12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38" name="Oval 12"/>
            <p:cNvSpPr/>
            <p:nvPr/>
          </p:nvSpPr>
          <p:spPr>
            <a:xfrm>
              <a:off x="3764" y="182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0439" name="Oval 13"/>
            <p:cNvSpPr/>
            <p:nvPr/>
          </p:nvSpPr>
          <p:spPr>
            <a:xfrm>
              <a:off x="3761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0440" name="Oval 14"/>
            <p:cNvSpPr/>
            <p:nvPr/>
          </p:nvSpPr>
          <p:spPr>
            <a:xfrm>
              <a:off x="4724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60419" name="Text Box 15"/>
          <p:cNvSpPr txBox="1"/>
          <p:nvPr/>
        </p:nvSpPr>
        <p:spPr>
          <a:xfrm>
            <a:off x="328613" y="188913"/>
            <a:ext cx="8393112" cy="15303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4</a:t>
            </a:r>
            <a:r>
              <a:rPr lang="zh-CN" altLang="en-US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、</a:t>
            </a:r>
            <a:r>
              <a:rPr lang="en-US" altLang="zh-CN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2mol</a:t>
            </a:r>
            <a:r>
              <a:rPr lang="zh-CN" altLang="en-US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理想气体，首先被</a:t>
            </a:r>
            <a:r>
              <a:rPr lang="zh-CN" altLang="en-US" sz="2600" b="1" dirty="0">
                <a:solidFill>
                  <a:srgbClr val="262699"/>
                </a:solidFill>
                <a:ea typeface="楷体_GB2312" panose="02010609030101010101" pitchFamily="49" charset="-122"/>
              </a:rPr>
              <a:t>等体冷却</a:t>
            </a:r>
            <a:r>
              <a:rPr lang="zh-CN" altLang="en-US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，然后再</a:t>
            </a:r>
            <a:r>
              <a:rPr lang="zh-CN" altLang="en-US" sz="2600" b="1" dirty="0">
                <a:solidFill>
                  <a:srgbClr val="262699"/>
                </a:solidFill>
                <a:ea typeface="楷体_GB2312" panose="02010609030101010101" pitchFamily="49" charset="-122"/>
              </a:rPr>
              <a:t>等压膨胀</a:t>
            </a:r>
            <a:r>
              <a:rPr lang="zh-CN" altLang="en-US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，使气体温度回到初始温度。假设经过这两个过程后，气体压强只有原来压强的</a:t>
            </a:r>
            <a:r>
              <a:rPr lang="en-US" altLang="zh-CN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1/3</a:t>
            </a:r>
            <a:r>
              <a:rPr lang="zh-CN" altLang="en-US" sz="26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，试求气体的熵变。</a:t>
            </a:r>
          </a:p>
        </p:txBody>
      </p:sp>
      <p:sp>
        <p:nvSpPr>
          <p:cNvPr id="46096" name="Rectangle 16"/>
          <p:cNvSpPr/>
          <p:nvPr/>
        </p:nvSpPr>
        <p:spPr>
          <a:xfrm>
            <a:off x="417513" y="1657350"/>
            <a:ext cx="4025900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解：</a:t>
            </a:r>
          </a:p>
        </p:txBody>
      </p:sp>
      <p:sp>
        <p:nvSpPr>
          <p:cNvPr id="46097" name="Rectangle 17"/>
          <p:cNvSpPr/>
          <p:nvPr/>
        </p:nvSpPr>
        <p:spPr>
          <a:xfrm>
            <a:off x="501650" y="2205038"/>
            <a:ext cx="3925888" cy="1349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        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熵是状态函数，可以在初、末两态间任选一个</a:t>
            </a:r>
            <a:r>
              <a:rPr lang="zh-CN" altLang="en-US" sz="2200" b="1" dirty="0">
                <a:solidFill>
                  <a:srgbClr val="FF0000"/>
                </a:solidFill>
                <a:ea typeface="楷体_GB2312" panose="02010609030101010101" pitchFamily="49" charset="-122"/>
              </a:rPr>
              <a:t>可逆过程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进行计算。可选择两条路径：</a:t>
            </a:r>
          </a:p>
        </p:txBody>
      </p:sp>
      <p:sp>
        <p:nvSpPr>
          <p:cNvPr id="46098" name="Rectangle 18"/>
          <p:cNvSpPr/>
          <p:nvPr/>
        </p:nvSpPr>
        <p:spPr>
          <a:xfrm>
            <a:off x="539750" y="3573463"/>
            <a:ext cx="4032250" cy="936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(1)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就按实际进行的路径，</a:t>
            </a: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AB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（等体）及</a:t>
            </a: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BC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（等压）</a:t>
            </a: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;</a:t>
            </a:r>
          </a:p>
        </p:txBody>
      </p:sp>
      <p:sp>
        <p:nvSpPr>
          <p:cNvPr id="46099" name="Rectangle 19"/>
          <p:cNvSpPr/>
          <p:nvPr/>
        </p:nvSpPr>
        <p:spPr>
          <a:xfrm>
            <a:off x="466725" y="4868863"/>
            <a:ext cx="4465638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(2)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沿等温过程</a:t>
            </a:r>
            <a:r>
              <a:rPr lang="en-US" altLang="zh-CN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AC</a:t>
            </a:r>
            <a:r>
              <a:rPr lang="zh-CN" altLang="en-US" sz="22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60424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fld id="{9A0DB2DC-4C9A-4742-B13C-FB6460FD3503}" type="slidenum">
              <a:rPr lang="en-US" altLang="zh-CN" sz="2000" b="1" dirty="0">
                <a:solidFill>
                  <a:schemeClr val="accent2"/>
                </a:solidFill>
                <a:ea typeface="黑体" panose="02010609060101010101" pitchFamily="49" charset="-122"/>
              </a:rPr>
              <a:t>42</a:t>
            </a:fld>
            <a:endParaRPr lang="en-US" altLang="zh-CN" sz="20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60425" name="矩形 20"/>
          <p:cNvSpPr/>
          <p:nvPr/>
        </p:nvSpPr>
        <p:spPr>
          <a:xfrm>
            <a:off x="6011863" y="2420938"/>
            <a:ext cx="14970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0426" name="矩形 21"/>
          <p:cNvSpPr/>
          <p:nvPr/>
        </p:nvSpPr>
        <p:spPr>
          <a:xfrm>
            <a:off x="5795963" y="4921250"/>
            <a:ext cx="15176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0427" name="矩形 22"/>
          <p:cNvSpPr/>
          <p:nvPr/>
        </p:nvSpPr>
        <p:spPr>
          <a:xfrm>
            <a:off x="7164388" y="4005263"/>
            <a:ext cx="1724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0428" name="Object 10"/>
          <p:cNvGraphicFramePr/>
          <p:nvPr/>
        </p:nvGraphicFramePr>
        <p:xfrm>
          <a:off x="7812088" y="2708275"/>
          <a:ext cx="9350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2" r:id="rId3" imgW="469900" imgH="228600" progId="Equation.DSMT4">
                  <p:embed/>
                </p:oleObj>
              </mc:Choice>
              <mc:Fallback>
                <p:oleObj r:id="rId3" imgW="469900" imgH="228600" progId="Equation.DSMT4">
                  <p:embed/>
                  <p:pic>
                    <p:nvPicPr>
                      <p:cNvPr id="60428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2088" y="2708275"/>
                        <a:ext cx="9350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7"/>
          <p:cNvGraphicFramePr/>
          <p:nvPr/>
        </p:nvGraphicFramePr>
        <p:xfrm>
          <a:off x="7812088" y="3213100"/>
          <a:ext cx="12065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3" r:id="rId5" imgW="596900" imgH="228600" progId="Equation.DSMT4">
                  <p:embed/>
                </p:oleObj>
              </mc:Choice>
              <mc:Fallback>
                <p:oleObj r:id="rId5" imgW="596900" imgH="228600" progId="Equation.DSMT4">
                  <p:embed/>
                  <p:pic>
                    <p:nvPicPr>
                      <p:cNvPr id="60429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2088" y="3213100"/>
                        <a:ext cx="120650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117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6" grpId="0"/>
      <p:bldP spid="46097" grpId="0"/>
      <p:bldP spid="46098" grpId="0"/>
      <p:bldP spid="4609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/>
          <p:nvPr/>
        </p:nvGraphicFramePr>
        <p:xfrm>
          <a:off x="1516063" y="4797425"/>
          <a:ext cx="30575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7" r:id="rId3" imgW="1485900" imgH="431800" progId="Equation.DSMT4">
                  <p:embed/>
                </p:oleObj>
              </mc:Choice>
              <mc:Fallback>
                <p:oleObj r:id="rId3" imgW="1485900" imgH="431800" progId="Equation.DSMT4">
                  <p:embed/>
                  <p:pic>
                    <p:nvPicPr>
                      <p:cNvPr id="47106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6063" y="4797425"/>
                        <a:ext cx="3057525" cy="887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/>
          <p:nvPr/>
        </p:nvGraphicFramePr>
        <p:xfrm>
          <a:off x="893763" y="911225"/>
          <a:ext cx="2524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8" r:id="rId5" imgW="1257300" imgH="203200" progId="Equation.DSMT4">
                  <p:embed/>
                </p:oleObj>
              </mc:Choice>
              <mc:Fallback>
                <p:oleObj r:id="rId5" imgW="1257300" imgH="203200" progId="Equation.DSMT4">
                  <p:embed/>
                  <p:pic>
                    <p:nvPicPr>
                      <p:cNvPr id="47108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3763" y="911225"/>
                        <a:ext cx="252412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/>
          <p:nvPr/>
        </p:nvGraphicFramePr>
        <p:xfrm>
          <a:off x="3492500" y="733425"/>
          <a:ext cx="15446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9" r:id="rId7" imgW="800100" imgH="393700" progId="Equation.DSMT4">
                  <p:embed/>
                </p:oleObj>
              </mc:Choice>
              <mc:Fallback>
                <p:oleObj r:id="rId7" imgW="800100" imgH="393700" progId="Equation.DSMT4">
                  <p:embed/>
                  <p:pic>
                    <p:nvPicPr>
                      <p:cNvPr id="47109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2500" y="733425"/>
                        <a:ext cx="1544638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/>
          <p:nvPr/>
        </p:nvGraphicFramePr>
        <p:xfrm>
          <a:off x="898525" y="1557338"/>
          <a:ext cx="20891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0" r:id="rId9" imgW="1002665" imgH="203200" progId="Equation.DSMT4">
                  <p:embed/>
                </p:oleObj>
              </mc:Choice>
              <mc:Fallback>
                <p:oleObj r:id="rId9" imgW="1002665" imgH="203200" progId="Equation.DSMT4">
                  <p:embed/>
                  <p:pic>
                    <p:nvPicPr>
                      <p:cNvPr id="4711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8525" y="1557338"/>
                        <a:ext cx="2089150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/>
          <p:nvPr/>
        </p:nvGraphicFramePr>
        <p:xfrm>
          <a:off x="950913" y="2060575"/>
          <a:ext cx="176688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1" r:id="rId11" imgW="812165" imgH="393700" progId="Equation.DSMT4">
                  <p:embed/>
                </p:oleObj>
              </mc:Choice>
              <mc:Fallback>
                <p:oleObj r:id="rId11" imgW="812165" imgH="393700" progId="Equation.DSMT4">
                  <p:embed/>
                  <p:pic>
                    <p:nvPicPr>
                      <p:cNvPr id="47111" name="Object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0913" y="2060575"/>
                        <a:ext cx="1766887" cy="855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/>
          <p:nvPr/>
        </p:nvGraphicFramePr>
        <p:xfrm>
          <a:off x="1539875" y="2927350"/>
          <a:ext cx="27463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2" r:id="rId13" imgW="1308100" imgH="444500" progId="Equation.DSMT4">
                  <p:embed/>
                </p:oleObj>
              </mc:Choice>
              <mc:Fallback>
                <p:oleObj r:id="rId13" imgW="1308100" imgH="444500" progId="Equation.DSMT4">
                  <p:embed/>
                  <p:pic>
                    <p:nvPicPr>
                      <p:cNvPr id="47112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9875" y="2927350"/>
                        <a:ext cx="2746375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/>
          <p:cNvGraphicFramePr/>
          <p:nvPr/>
        </p:nvGraphicFramePr>
        <p:xfrm>
          <a:off x="1530350" y="3860800"/>
          <a:ext cx="30416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3" r:id="rId15" imgW="1485900" imgH="431800" progId="Equation.DSMT4">
                  <p:embed/>
                </p:oleObj>
              </mc:Choice>
              <mc:Fallback>
                <p:oleObj r:id="rId15" imgW="1485900" imgH="431800" progId="Equation.DSMT4">
                  <p:embed/>
                  <p:pic>
                    <p:nvPicPr>
                      <p:cNvPr id="47113" name="Object 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30350" y="3860800"/>
                        <a:ext cx="3041650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fld id="{9A0DB2DC-4C9A-4742-B13C-FB6460FD3503}" type="slidenum">
              <a:rPr lang="en-US" altLang="zh-CN" sz="2000" b="1" dirty="0">
                <a:solidFill>
                  <a:schemeClr val="accent2"/>
                </a:solidFill>
                <a:ea typeface="黑体" panose="02010609060101010101" pitchFamily="49" charset="-122"/>
              </a:rPr>
              <a:t>43</a:t>
            </a:fld>
            <a:endParaRPr lang="en-US" altLang="zh-CN" sz="20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pSp>
        <p:nvGrpSpPr>
          <p:cNvPr id="61450" name="Group 2"/>
          <p:cNvGrpSpPr/>
          <p:nvPr/>
        </p:nvGrpSpPr>
        <p:grpSpPr>
          <a:xfrm>
            <a:off x="4689475" y="2278063"/>
            <a:ext cx="4275138" cy="4000500"/>
            <a:chOff x="2969" y="1291"/>
            <a:chExt cx="2693" cy="2505"/>
          </a:xfrm>
        </p:grpSpPr>
        <p:sp>
          <p:nvSpPr>
            <p:cNvPr id="61459" name="Line 3"/>
            <p:cNvSpPr/>
            <p:nvPr/>
          </p:nvSpPr>
          <p:spPr>
            <a:xfrm>
              <a:off x="3259" y="3398"/>
              <a:ext cx="23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1460" name="Line 4"/>
            <p:cNvSpPr/>
            <p:nvPr/>
          </p:nvSpPr>
          <p:spPr>
            <a:xfrm flipV="1">
              <a:off x="3268" y="1391"/>
              <a:ext cx="0" cy="19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1461" name="Freeform 5"/>
            <p:cNvSpPr/>
            <p:nvPr/>
          </p:nvSpPr>
          <p:spPr>
            <a:xfrm>
              <a:off x="3724" y="1489"/>
              <a:ext cx="1361" cy="15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1" y="1137"/>
                </a:cxn>
                <a:cxn ang="0">
                  <a:pos x="1608" y="1784"/>
                </a:cxn>
              </a:cxnLst>
              <a:rect l="0" t="0" r="0" b="0"/>
              <a:pathLst>
                <a:path w="1152" h="1261">
                  <a:moveTo>
                    <a:pt x="0" y="0"/>
                  </a:moveTo>
                  <a:cubicBezTo>
                    <a:pt x="73" y="297"/>
                    <a:pt x="146" y="594"/>
                    <a:pt x="338" y="804"/>
                  </a:cubicBezTo>
                  <a:cubicBezTo>
                    <a:pt x="530" y="1014"/>
                    <a:pt x="841" y="1137"/>
                    <a:pt x="1152" y="1261"/>
                  </a:cubicBez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dash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2" name="Text Box 6"/>
            <p:cNvSpPr txBox="1"/>
            <p:nvPr/>
          </p:nvSpPr>
          <p:spPr>
            <a:xfrm>
              <a:off x="2969" y="1291"/>
              <a:ext cx="2693" cy="250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</a:t>
              </a: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p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A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B                          C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10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0                                                   V</a:t>
              </a:r>
            </a:p>
          </p:txBody>
        </p:sp>
        <p:sp>
          <p:nvSpPr>
            <p:cNvPr id="61463" name="Line 8"/>
            <p:cNvSpPr/>
            <p:nvPr/>
          </p:nvSpPr>
          <p:spPr>
            <a:xfrm>
              <a:off x="3816" y="1887"/>
              <a:ext cx="0" cy="99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1464" name="Line 9"/>
            <p:cNvSpPr/>
            <p:nvPr/>
          </p:nvSpPr>
          <p:spPr>
            <a:xfrm flipH="1">
              <a:off x="3805" y="2463"/>
              <a:ext cx="10" cy="15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65" name="Line 10"/>
            <p:cNvSpPr/>
            <p:nvPr/>
          </p:nvSpPr>
          <p:spPr>
            <a:xfrm flipV="1">
              <a:off x="3815" y="2880"/>
              <a:ext cx="974" cy="1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1466" name="Line 11"/>
            <p:cNvSpPr/>
            <p:nvPr/>
          </p:nvSpPr>
          <p:spPr>
            <a:xfrm>
              <a:off x="4123" y="2890"/>
              <a:ext cx="12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67" name="Oval 12"/>
            <p:cNvSpPr/>
            <p:nvPr/>
          </p:nvSpPr>
          <p:spPr>
            <a:xfrm>
              <a:off x="3764" y="182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1468" name="Oval 13"/>
            <p:cNvSpPr/>
            <p:nvPr/>
          </p:nvSpPr>
          <p:spPr>
            <a:xfrm>
              <a:off x="3761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1469" name="Oval 14"/>
            <p:cNvSpPr/>
            <p:nvPr/>
          </p:nvSpPr>
          <p:spPr>
            <a:xfrm>
              <a:off x="4724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61451" name="矩形 23"/>
          <p:cNvSpPr/>
          <p:nvPr/>
        </p:nvSpPr>
        <p:spPr>
          <a:xfrm>
            <a:off x="6011863" y="2420938"/>
            <a:ext cx="14970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1452" name="矩形 24"/>
          <p:cNvSpPr/>
          <p:nvPr/>
        </p:nvSpPr>
        <p:spPr>
          <a:xfrm>
            <a:off x="5795963" y="4921250"/>
            <a:ext cx="15176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1453" name="矩形 25"/>
          <p:cNvSpPr/>
          <p:nvPr/>
        </p:nvSpPr>
        <p:spPr>
          <a:xfrm>
            <a:off x="7164388" y="4005263"/>
            <a:ext cx="1724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1454" name="Object 10"/>
          <p:cNvGraphicFramePr/>
          <p:nvPr/>
        </p:nvGraphicFramePr>
        <p:xfrm>
          <a:off x="7812088" y="2708275"/>
          <a:ext cx="9350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4" r:id="rId17" imgW="469900" imgH="228600" progId="Equation.DSMT4">
                  <p:embed/>
                </p:oleObj>
              </mc:Choice>
              <mc:Fallback>
                <p:oleObj r:id="rId17" imgW="469900" imgH="228600" progId="Equation.DSMT4">
                  <p:embed/>
                  <p:pic>
                    <p:nvPicPr>
                      <p:cNvPr id="61454" name="Object 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12088" y="2708275"/>
                        <a:ext cx="9350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13"/>
          <p:cNvGraphicFramePr/>
          <p:nvPr/>
        </p:nvGraphicFramePr>
        <p:xfrm>
          <a:off x="7812088" y="3213100"/>
          <a:ext cx="12065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5" r:id="rId19" imgW="596900" imgH="228600" progId="Equation.DSMT4">
                  <p:embed/>
                </p:oleObj>
              </mc:Choice>
              <mc:Fallback>
                <p:oleObj r:id="rId19" imgW="596900" imgH="228600" progId="Equation.DSMT4">
                  <p:embed/>
                  <p:pic>
                    <p:nvPicPr>
                      <p:cNvPr id="61455" name="Object 1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12088" y="3213100"/>
                        <a:ext cx="120650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6" name="矩形 28"/>
          <p:cNvSpPr/>
          <p:nvPr/>
        </p:nvSpPr>
        <p:spPr>
          <a:xfrm>
            <a:off x="395288" y="260350"/>
            <a:ext cx="4811712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(1) AB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（等体）及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BC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（等压）过程</a:t>
            </a:r>
          </a:p>
        </p:txBody>
      </p:sp>
      <p:graphicFrame>
        <p:nvGraphicFramePr>
          <p:cNvPr id="2" name="Object 14"/>
          <p:cNvGraphicFramePr/>
          <p:nvPr/>
        </p:nvGraphicFramePr>
        <p:xfrm>
          <a:off x="2625725" y="2044700"/>
          <a:ext cx="18954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6" r:id="rId21" imgW="901700" imgH="419100" progId="Equation.DSMT4">
                  <p:embed/>
                </p:oleObj>
              </mc:Choice>
              <mc:Fallback>
                <p:oleObj r:id="rId21" imgW="901700" imgH="419100" progId="Equation.DSMT4">
                  <p:embed/>
                  <p:pic>
                    <p:nvPicPr>
                      <p:cNvPr id="2" name="Object 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25725" y="2044700"/>
                        <a:ext cx="18954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/>
          <p:nvPr/>
        </p:nvGraphicFramePr>
        <p:xfrm>
          <a:off x="5064125" y="684213"/>
          <a:ext cx="33353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7" r:id="rId23" imgW="1727200" imgH="444500" progId="Equation.DSMT4">
                  <p:embed/>
                </p:oleObj>
              </mc:Choice>
              <mc:Fallback>
                <p:oleObj r:id="rId23" imgW="1727200" imgH="444500" progId="Equation.DSMT4">
                  <p:embed/>
                  <p:pic>
                    <p:nvPicPr>
                      <p:cNvPr id="3" name="Object 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64125" y="684213"/>
                        <a:ext cx="3335338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643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/>
          <p:nvPr/>
        </p:nvGraphicFramePr>
        <p:xfrm>
          <a:off x="468313" y="4438650"/>
          <a:ext cx="43116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1" r:id="rId3" imgW="2158365" imgH="431800" progId="Equation.DSMT4">
                  <p:embed/>
                </p:oleObj>
              </mc:Choice>
              <mc:Fallback>
                <p:oleObj r:id="rId3" imgW="2158365" imgH="431800" progId="Equation.DSMT4">
                  <p:embed/>
                  <p:pic>
                    <p:nvPicPr>
                      <p:cNvPr id="48130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4438650"/>
                        <a:ext cx="4311650" cy="86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/>
          <p:nvPr/>
        </p:nvGraphicFramePr>
        <p:xfrm>
          <a:off x="466725" y="508000"/>
          <a:ext cx="36004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2" r:id="rId5" imgW="1776730" imgH="203200" progId="Equation.DSMT4">
                  <p:embed/>
                </p:oleObj>
              </mc:Choice>
              <mc:Fallback>
                <p:oleObj r:id="rId5" imgW="1776730" imgH="203200" progId="Equation.DSMT4">
                  <p:embed/>
                  <p:pic>
                    <p:nvPicPr>
                      <p:cNvPr id="62467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" y="508000"/>
                        <a:ext cx="360045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/>
          <p:nvPr/>
        </p:nvGraphicFramePr>
        <p:xfrm>
          <a:off x="768350" y="1052513"/>
          <a:ext cx="19319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3" r:id="rId7" imgW="951865" imgH="228600" progId="Equation.DSMT4">
                  <p:embed/>
                </p:oleObj>
              </mc:Choice>
              <mc:Fallback>
                <p:oleObj r:id="rId7" imgW="951865" imgH="228600" progId="Equation.DSMT4">
                  <p:embed/>
                  <p:pic>
                    <p:nvPicPr>
                      <p:cNvPr id="48132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8350" y="1052513"/>
                        <a:ext cx="1931988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/>
          <p:nvPr/>
        </p:nvGraphicFramePr>
        <p:xfrm>
          <a:off x="1154113" y="1489075"/>
          <a:ext cx="4572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4" r:id="rId9" imgW="2286000" imgH="431800" progId="Equation.DSMT4">
                  <p:embed/>
                </p:oleObj>
              </mc:Choice>
              <mc:Fallback>
                <p:oleObj r:id="rId9" imgW="2286000" imgH="431800" progId="Equation.DSMT4">
                  <p:embed/>
                  <p:pic>
                    <p:nvPicPr>
                      <p:cNvPr id="48133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54113" y="1489075"/>
                        <a:ext cx="45720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/>
          <p:nvPr/>
        </p:nvGraphicFramePr>
        <p:xfrm>
          <a:off x="5842000" y="1484313"/>
          <a:ext cx="13223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5" r:id="rId11" imgW="673100" imgH="431800" progId="Equation.DSMT4">
                  <p:embed/>
                </p:oleObj>
              </mc:Choice>
              <mc:Fallback>
                <p:oleObj r:id="rId11" imgW="673100" imgH="431800" progId="Equation.DSMT4">
                  <p:embed/>
                  <p:pic>
                    <p:nvPicPr>
                      <p:cNvPr id="48134" name="Object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42000" y="1484313"/>
                        <a:ext cx="1322388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/>
          <p:nvPr/>
        </p:nvGraphicFramePr>
        <p:xfrm>
          <a:off x="538163" y="2662238"/>
          <a:ext cx="246856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6" r:id="rId13" imgW="1219200" imgH="203200" progId="Equation.DSMT4">
                  <p:embed/>
                </p:oleObj>
              </mc:Choice>
              <mc:Fallback>
                <p:oleObj r:id="rId13" imgW="1219200" imgH="203200" progId="Equation.DSMT4">
                  <p:embed/>
                  <p:pic>
                    <p:nvPicPr>
                      <p:cNvPr id="48135" name="Object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8163" y="2662238"/>
                        <a:ext cx="2468562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/>
          <p:nvPr/>
        </p:nvGraphicFramePr>
        <p:xfrm>
          <a:off x="3132138" y="2492375"/>
          <a:ext cx="14700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7" r:id="rId15" imgW="748665" imgH="431800" progId="Equation.DSMT4">
                  <p:embed/>
                </p:oleObj>
              </mc:Choice>
              <mc:Fallback>
                <p:oleObj r:id="rId15" imgW="748665" imgH="431800" progId="Equation.DSMT4">
                  <p:embed/>
                  <p:pic>
                    <p:nvPicPr>
                      <p:cNvPr id="48136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2138" y="2492375"/>
                        <a:ext cx="1470025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/>
          <p:nvPr/>
        </p:nvGraphicFramePr>
        <p:xfrm>
          <a:off x="1116013" y="3332163"/>
          <a:ext cx="146685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8" r:id="rId17" imgW="774065" imgH="431800" progId="Equation.DSMT4">
                  <p:embed/>
                </p:oleObj>
              </mc:Choice>
              <mc:Fallback>
                <p:oleObj r:id="rId17" imgW="774065" imgH="431800" progId="Equation.DSMT4">
                  <p:embed/>
                  <p:pic>
                    <p:nvPicPr>
                      <p:cNvPr id="48137" name="Object 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16013" y="3332163"/>
                        <a:ext cx="1466850" cy="817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4" name="Group 2"/>
          <p:cNvGrpSpPr/>
          <p:nvPr/>
        </p:nvGrpSpPr>
        <p:grpSpPr>
          <a:xfrm>
            <a:off x="4689475" y="2708275"/>
            <a:ext cx="4275138" cy="4000500"/>
            <a:chOff x="2969" y="1291"/>
            <a:chExt cx="2693" cy="2505"/>
          </a:xfrm>
        </p:grpSpPr>
        <p:sp>
          <p:nvSpPr>
            <p:cNvPr id="62481" name="Line 3"/>
            <p:cNvSpPr/>
            <p:nvPr/>
          </p:nvSpPr>
          <p:spPr>
            <a:xfrm>
              <a:off x="3259" y="3398"/>
              <a:ext cx="23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2482" name="Line 4"/>
            <p:cNvSpPr/>
            <p:nvPr/>
          </p:nvSpPr>
          <p:spPr>
            <a:xfrm flipV="1">
              <a:off x="3268" y="1391"/>
              <a:ext cx="0" cy="19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2483" name="Freeform 5"/>
            <p:cNvSpPr/>
            <p:nvPr/>
          </p:nvSpPr>
          <p:spPr>
            <a:xfrm>
              <a:off x="3724" y="1489"/>
              <a:ext cx="1361" cy="15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1" y="1137"/>
                </a:cxn>
                <a:cxn ang="0">
                  <a:pos x="1608" y="1784"/>
                </a:cxn>
              </a:cxnLst>
              <a:rect l="0" t="0" r="0" b="0"/>
              <a:pathLst>
                <a:path w="1152" h="1261">
                  <a:moveTo>
                    <a:pt x="0" y="0"/>
                  </a:moveTo>
                  <a:cubicBezTo>
                    <a:pt x="73" y="297"/>
                    <a:pt x="146" y="594"/>
                    <a:pt x="338" y="804"/>
                  </a:cubicBezTo>
                  <a:cubicBezTo>
                    <a:pt x="530" y="1014"/>
                    <a:pt x="841" y="1137"/>
                    <a:pt x="1152" y="1261"/>
                  </a:cubicBez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dash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Text Box 6"/>
            <p:cNvSpPr txBox="1"/>
            <p:nvPr/>
          </p:nvSpPr>
          <p:spPr>
            <a:xfrm>
              <a:off x="2969" y="1291"/>
              <a:ext cx="2693" cy="250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</a:t>
              </a: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p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A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B                          C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10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0                                                   V</a:t>
              </a:r>
            </a:p>
          </p:txBody>
        </p:sp>
        <p:sp>
          <p:nvSpPr>
            <p:cNvPr id="62485" name="Line 8"/>
            <p:cNvSpPr/>
            <p:nvPr/>
          </p:nvSpPr>
          <p:spPr>
            <a:xfrm>
              <a:off x="3816" y="1887"/>
              <a:ext cx="0" cy="99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2486" name="Line 9"/>
            <p:cNvSpPr/>
            <p:nvPr/>
          </p:nvSpPr>
          <p:spPr>
            <a:xfrm flipH="1">
              <a:off x="3805" y="2463"/>
              <a:ext cx="10" cy="15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487" name="Line 10"/>
            <p:cNvSpPr/>
            <p:nvPr/>
          </p:nvSpPr>
          <p:spPr>
            <a:xfrm flipV="1">
              <a:off x="3815" y="2880"/>
              <a:ext cx="974" cy="1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2488" name="Line 11"/>
            <p:cNvSpPr/>
            <p:nvPr/>
          </p:nvSpPr>
          <p:spPr>
            <a:xfrm>
              <a:off x="4123" y="2890"/>
              <a:ext cx="12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489" name="Oval 12"/>
            <p:cNvSpPr/>
            <p:nvPr/>
          </p:nvSpPr>
          <p:spPr>
            <a:xfrm>
              <a:off x="3764" y="182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2490" name="Oval 13"/>
            <p:cNvSpPr/>
            <p:nvPr/>
          </p:nvSpPr>
          <p:spPr>
            <a:xfrm>
              <a:off x="3761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2491" name="Oval 14"/>
            <p:cNvSpPr/>
            <p:nvPr/>
          </p:nvSpPr>
          <p:spPr>
            <a:xfrm>
              <a:off x="4724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62475" name="矩形 22"/>
          <p:cNvSpPr/>
          <p:nvPr/>
        </p:nvSpPr>
        <p:spPr>
          <a:xfrm>
            <a:off x="6011863" y="2851150"/>
            <a:ext cx="14970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2476" name="矩形 23"/>
          <p:cNvSpPr/>
          <p:nvPr/>
        </p:nvSpPr>
        <p:spPr>
          <a:xfrm>
            <a:off x="5795963" y="5353050"/>
            <a:ext cx="15176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2477" name="矩形 24"/>
          <p:cNvSpPr/>
          <p:nvPr/>
        </p:nvSpPr>
        <p:spPr>
          <a:xfrm>
            <a:off x="7164388" y="4435475"/>
            <a:ext cx="1724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2478" name="Object 10"/>
          <p:cNvGraphicFramePr/>
          <p:nvPr/>
        </p:nvGraphicFramePr>
        <p:xfrm>
          <a:off x="7812088" y="3140075"/>
          <a:ext cx="9350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9" r:id="rId19" imgW="469900" imgH="228600" progId="Equation.DSMT4">
                  <p:embed/>
                </p:oleObj>
              </mc:Choice>
              <mc:Fallback>
                <p:oleObj r:id="rId19" imgW="469900" imgH="228600" progId="Equation.DSMT4">
                  <p:embed/>
                  <p:pic>
                    <p:nvPicPr>
                      <p:cNvPr id="62478" name="Object 1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12088" y="3140075"/>
                        <a:ext cx="9350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2"/>
          <p:cNvGraphicFramePr/>
          <p:nvPr/>
        </p:nvGraphicFramePr>
        <p:xfrm>
          <a:off x="7812088" y="3643313"/>
          <a:ext cx="12065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0" r:id="rId21" imgW="596900" imgH="228600" progId="Equation.DSMT4">
                  <p:embed/>
                </p:oleObj>
              </mc:Choice>
              <mc:Fallback>
                <p:oleObj r:id="rId21" imgW="596900" imgH="228600" progId="Equation.DSMT4">
                  <p:embed/>
                  <p:pic>
                    <p:nvPicPr>
                      <p:cNvPr id="62479" name="Object 1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12088" y="3643313"/>
                        <a:ext cx="1206500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/>
          <p:cNvGraphicFramePr/>
          <p:nvPr/>
        </p:nvGraphicFramePr>
        <p:xfrm>
          <a:off x="1801813" y="5276850"/>
          <a:ext cx="15462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1" r:id="rId23" imgW="774065" imgH="228600" progId="Equation.DSMT4">
                  <p:embed/>
                </p:oleObj>
              </mc:Choice>
              <mc:Fallback>
                <p:oleObj r:id="rId23" imgW="774065" imgH="228600" progId="Equation.DSMT4">
                  <p:embed/>
                  <p:pic>
                    <p:nvPicPr>
                      <p:cNvPr id="2" name="Object 1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01813" y="5276850"/>
                        <a:ext cx="1546225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544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/>
          <p:nvPr/>
        </p:nvGraphicFramePr>
        <p:xfrm>
          <a:off x="500063" y="4649788"/>
          <a:ext cx="414337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5" r:id="rId3" imgW="1929765" imgH="673100" progId="Equation.DSMT4">
                  <p:embed/>
                </p:oleObj>
              </mc:Choice>
              <mc:Fallback>
                <p:oleObj r:id="rId3" imgW="1929765" imgH="673100" progId="Equation.DSMT4">
                  <p:embed/>
                  <p:pic>
                    <p:nvPicPr>
                      <p:cNvPr id="49154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3" y="4649788"/>
                        <a:ext cx="4143375" cy="1443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3"/>
          <p:cNvGraphicFramePr/>
          <p:nvPr/>
        </p:nvGraphicFramePr>
        <p:xfrm>
          <a:off x="539750" y="188913"/>
          <a:ext cx="23209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6" r:id="rId5" imgW="1040130" imgH="215900" progId="Equation.DSMT4">
                  <p:embed/>
                </p:oleObj>
              </mc:Choice>
              <mc:Fallback>
                <p:oleObj r:id="rId5" imgW="1040130" imgH="215900" progId="Equation.DSMT4">
                  <p:embed/>
                  <p:pic>
                    <p:nvPicPr>
                      <p:cNvPr id="63491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188913"/>
                        <a:ext cx="2320925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/>
          <p:cNvGraphicFramePr/>
          <p:nvPr/>
        </p:nvGraphicFramePr>
        <p:xfrm>
          <a:off x="806450" y="836613"/>
          <a:ext cx="27066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7" r:id="rId7" imgW="1320165" imgH="203200" progId="Equation.DSMT4">
                  <p:embed/>
                </p:oleObj>
              </mc:Choice>
              <mc:Fallback>
                <p:oleObj r:id="rId7" imgW="1320165" imgH="203200" progId="Equation.DSMT4">
                  <p:embed/>
                  <p:pic>
                    <p:nvPicPr>
                      <p:cNvPr id="49156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6450" y="836613"/>
                        <a:ext cx="27066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/>
          <p:nvPr/>
        </p:nvGraphicFramePr>
        <p:xfrm>
          <a:off x="684213" y="1435100"/>
          <a:ext cx="27352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8" r:id="rId9" imgW="1397000" imgH="393700" progId="Equation.DSMT4">
                  <p:embed/>
                </p:oleObj>
              </mc:Choice>
              <mc:Fallback>
                <p:oleObj r:id="rId9" imgW="1397000" imgH="393700" progId="Equation.DSMT4">
                  <p:embed/>
                  <p:pic>
                    <p:nvPicPr>
                      <p:cNvPr id="49157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4213" y="1435100"/>
                        <a:ext cx="2735262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/>
          <p:nvPr/>
        </p:nvGraphicFramePr>
        <p:xfrm>
          <a:off x="5059363" y="1436688"/>
          <a:ext cx="13335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9" r:id="rId11" imgW="685800" imgH="431800" progId="Equation.DSMT4">
                  <p:embed/>
                </p:oleObj>
              </mc:Choice>
              <mc:Fallback>
                <p:oleObj r:id="rId11" imgW="685800" imgH="431800" progId="Equation.DSMT4">
                  <p:embed/>
                  <p:pic>
                    <p:nvPicPr>
                      <p:cNvPr id="49158" name="Object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59363" y="1436688"/>
                        <a:ext cx="1333500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/>
          <p:nvPr/>
        </p:nvGraphicFramePr>
        <p:xfrm>
          <a:off x="684213" y="2312988"/>
          <a:ext cx="37592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0" r:id="rId13" imgW="1802765" imgH="431800" progId="Equation.DSMT4">
                  <p:embed/>
                </p:oleObj>
              </mc:Choice>
              <mc:Fallback>
                <p:oleObj r:id="rId13" imgW="1802765" imgH="431800" progId="Equation.DSMT4">
                  <p:embed/>
                  <p:pic>
                    <p:nvPicPr>
                      <p:cNvPr id="49159" name="Object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213" y="2312988"/>
                        <a:ext cx="375920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/>
          <p:nvPr/>
        </p:nvGraphicFramePr>
        <p:xfrm>
          <a:off x="684213" y="3213100"/>
          <a:ext cx="36512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1" r:id="rId15" imgW="1929765" imgH="431800" progId="Equation.DSMT4">
                  <p:embed/>
                </p:oleObj>
              </mc:Choice>
              <mc:Fallback>
                <p:oleObj r:id="rId15" imgW="1929765" imgH="431800" progId="Equation.DSMT4">
                  <p:embed/>
                  <p:pic>
                    <p:nvPicPr>
                      <p:cNvPr id="49160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4213" y="3213100"/>
                        <a:ext cx="3651250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Text Box 9"/>
          <p:cNvSpPr txBox="1"/>
          <p:nvPr/>
        </p:nvSpPr>
        <p:spPr>
          <a:xfrm>
            <a:off x="1116013" y="5373688"/>
            <a:ext cx="6911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zh-CN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63498" name="Group 2"/>
          <p:cNvGrpSpPr/>
          <p:nvPr/>
        </p:nvGrpSpPr>
        <p:grpSpPr>
          <a:xfrm>
            <a:off x="4689475" y="2708275"/>
            <a:ext cx="4275138" cy="4000500"/>
            <a:chOff x="2969" y="1291"/>
            <a:chExt cx="2693" cy="2505"/>
          </a:xfrm>
        </p:grpSpPr>
        <p:sp>
          <p:nvSpPr>
            <p:cNvPr id="63506" name="Line 3"/>
            <p:cNvSpPr/>
            <p:nvPr/>
          </p:nvSpPr>
          <p:spPr>
            <a:xfrm>
              <a:off x="3259" y="3398"/>
              <a:ext cx="23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3507" name="Line 4"/>
            <p:cNvSpPr/>
            <p:nvPr/>
          </p:nvSpPr>
          <p:spPr>
            <a:xfrm flipV="1">
              <a:off x="3268" y="1391"/>
              <a:ext cx="0" cy="199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3508" name="Freeform 5"/>
            <p:cNvSpPr/>
            <p:nvPr/>
          </p:nvSpPr>
          <p:spPr>
            <a:xfrm>
              <a:off x="3724" y="1489"/>
              <a:ext cx="1361" cy="15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1" y="1137"/>
                </a:cxn>
                <a:cxn ang="0">
                  <a:pos x="1608" y="1784"/>
                </a:cxn>
              </a:cxnLst>
              <a:rect l="0" t="0" r="0" b="0"/>
              <a:pathLst>
                <a:path w="1152" h="1261">
                  <a:moveTo>
                    <a:pt x="0" y="0"/>
                  </a:moveTo>
                  <a:cubicBezTo>
                    <a:pt x="73" y="297"/>
                    <a:pt x="146" y="594"/>
                    <a:pt x="338" y="804"/>
                  </a:cubicBezTo>
                  <a:cubicBezTo>
                    <a:pt x="530" y="1014"/>
                    <a:pt x="841" y="1137"/>
                    <a:pt x="1152" y="1261"/>
                  </a:cubicBez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dash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Text Box 6"/>
            <p:cNvSpPr txBox="1"/>
            <p:nvPr/>
          </p:nvSpPr>
          <p:spPr>
            <a:xfrm>
              <a:off x="2969" y="1291"/>
              <a:ext cx="2693" cy="250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</a:t>
              </a: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p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A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 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          B                          C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22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en-US" altLang="zh-CN" sz="1000" b="1" dirty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200" b="1" dirty="0">
                  <a:solidFill>
                    <a:srgbClr val="000000"/>
                  </a:solidFill>
                  <a:ea typeface="楷体_GB2312" panose="02010609030101010101" pitchFamily="49" charset="-122"/>
                </a:rPr>
                <a:t>  0                                                   V</a:t>
              </a:r>
            </a:p>
          </p:txBody>
        </p:sp>
        <p:sp>
          <p:nvSpPr>
            <p:cNvPr id="63510" name="Line 8"/>
            <p:cNvSpPr/>
            <p:nvPr/>
          </p:nvSpPr>
          <p:spPr>
            <a:xfrm>
              <a:off x="3816" y="1887"/>
              <a:ext cx="0" cy="99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3511" name="Line 9"/>
            <p:cNvSpPr/>
            <p:nvPr/>
          </p:nvSpPr>
          <p:spPr>
            <a:xfrm flipH="1">
              <a:off x="3805" y="2463"/>
              <a:ext cx="10" cy="15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12" name="Line 10"/>
            <p:cNvSpPr/>
            <p:nvPr/>
          </p:nvSpPr>
          <p:spPr>
            <a:xfrm flipV="1">
              <a:off x="3815" y="2880"/>
              <a:ext cx="974" cy="1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63513" name="Line 11"/>
            <p:cNvSpPr/>
            <p:nvPr/>
          </p:nvSpPr>
          <p:spPr>
            <a:xfrm>
              <a:off x="4123" y="2890"/>
              <a:ext cx="12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14" name="Oval 12"/>
            <p:cNvSpPr/>
            <p:nvPr/>
          </p:nvSpPr>
          <p:spPr>
            <a:xfrm>
              <a:off x="3764" y="182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3515" name="Oval 13"/>
            <p:cNvSpPr/>
            <p:nvPr/>
          </p:nvSpPr>
          <p:spPr>
            <a:xfrm>
              <a:off x="3761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3516" name="Oval 14"/>
            <p:cNvSpPr/>
            <p:nvPr/>
          </p:nvSpPr>
          <p:spPr>
            <a:xfrm>
              <a:off x="4724" y="2817"/>
              <a:ext cx="89" cy="105"/>
            </a:xfrm>
            <a:prstGeom prst="ellipse">
              <a:avLst/>
            </a:prstGeom>
            <a:solidFill>
              <a:srgbClr val="000000"/>
            </a:soli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63499" name="矩形 22"/>
          <p:cNvSpPr/>
          <p:nvPr/>
        </p:nvSpPr>
        <p:spPr>
          <a:xfrm>
            <a:off x="6011863" y="2851150"/>
            <a:ext cx="14970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3500" name="矩形 23"/>
          <p:cNvSpPr/>
          <p:nvPr/>
        </p:nvSpPr>
        <p:spPr>
          <a:xfrm>
            <a:off x="5795963" y="5353050"/>
            <a:ext cx="15176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3501" name="矩形 24"/>
          <p:cNvSpPr/>
          <p:nvPr/>
        </p:nvSpPr>
        <p:spPr>
          <a:xfrm>
            <a:off x="7164388" y="4435475"/>
            <a:ext cx="1724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,V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i="1" dirty="0">
                <a:solidFill>
                  <a:schemeClr val="accent2"/>
                </a:solidFill>
                <a:ea typeface="楷体_GB2312" panose="02010609030101010101" pitchFamily="49" charset="-122"/>
              </a:rPr>
              <a:t>,T</a:t>
            </a:r>
            <a:r>
              <a:rPr lang="en-US" altLang="zh-CN" sz="2400" b="1" i="1" baseline="-25000" dirty="0">
                <a:solidFill>
                  <a:schemeClr val="accent2"/>
                </a:solidFill>
                <a:ea typeface="楷体_GB2312" panose="02010609030101010101" pitchFamily="49" charset="-122"/>
              </a:rPr>
              <a:t>C</a:t>
            </a: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)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3502" name="Object 10"/>
          <p:cNvGraphicFramePr/>
          <p:nvPr/>
        </p:nvGraphicFramePr>
        <p:xfrm>
          <a:off x="7812088" y="3140075"/>
          <a:ext cx="9350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2" r:id="rId17" imgW="469900" imgH="228600" progId="Equation.DSMT4">
                  <p:embed/>
                </p:oleObj>
              </mc:Choice>
              <mc:Fallback>
                <p:oleObj r:id="rId17" imgW="469900" imgH="228600" progId="Equation.DSMT4">
                  <p:embed/>
                  <p:pic>
                    <p:nvPicPr>
                      <p:cNvPr id="63502" name="Object 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12088" y="3140075"/>
                        <a:ext cx="9350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12"/>
          <p:cNvGraphicFramePr/>
          <p:nvPr/>
        </p:nvGraphicFramePr>
        <p:xfrm>
          <a:off x="7812088" y="3643313"/>
          <a:ext cx="12065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3" r:id="rId19" imgW="596900" imgH="228600" progId="Equation.DSMT4">
                  <p:embed/>
                </p:oleObj>
              </mc:Choice>
              <mc:Fallback>
                <p:oleObj r:id="rId19" imgW="596900" imgH="228600" progId="Equation.DSMT4">
                  <p:embed/>
                  <p:pic>
                    <p:nvPicPr>
                      <p:cNvPr id="63503" name="Object 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12088" y="3643313"/>
                        <a:ext cx="1206500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/>
          <p:cNvGraphicFramePr/>
          <p:nvPr/>
        </p:nvGraphicFramePr>
        <p:xfrm>
          <a:off x="1978025" y="4005263"/>
          <a:ext cx="15859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4" r:id="rId21" imgW="837565" imgH="203200" progId="Equation.DSMT4">
                  <p:embed/>
                </p:oleObj>
              </mc:Choice>
              <mc:Fallback>
                <p:oleObj r:id="rId21" imgW="837565" imgH="203200" progId="Equation.DSMT4">
                  <p:embed/>
                  <p:pic>
                    <p:nvPicPr>
                      <p:cNvPr id="2" name="Object 1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78025" y="4005263"/>
                        <a:ext cx="1585913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/>
          <p:nvPr/>
        </p:nvGraphicFramePr>
        <p:xfrm>
          <a:off x="3506788" y="1412875"/>
          <a:ext cx="14668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5" r:id="rId23" imgW="749300" imgH="393700" progId="Equation.DSMT4">
                  <p:embed/>
                </p:oleObj>
              </mc:Choice>
              <mc:Fallback>
                <p:oleObj r:id="rId23" imgW="749300" imgH="393700" progId="Equation.DSMT4">
                  <p:embed/>
                  <p:pic>
                    <p:nvPicPr>
                      <p:cNvPr id="3" name="Object 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06788" y="1412875"/>
                        <a:ext cx="1466850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88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46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868363" y="4435475"/>
            <a:ext cx="3800475" cy="1963738"/>
            <a:chOff x="336" y="576"/>
            <a:chExt cx="2488" cy="1439"/>
          </a:xfrm>
        </p:grpSpPr>
        <p:sp>
          <p:nvSpPr>
            <p:cNvPr id="50214" name="Line 3"/>
            <p:cNvSpPr/>
            <p:nvPr/>
          </p:nvSpPr>
          <p:spPr>
            <a:xfrm>
              <a:off x="586" y="634"/>
              <a:ext cx="0" cy="120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stealth" w="med" len="med"/>
              <a:tailEnd type="none" w="sm" len="sm"/>
            </a:ln>
          </p:spPr>
        </p:sp>
        <p:sp>
          <p:nvSpPr>
            <p:cNvPr id="50215" name="Line 4"/>
            <p:cNvSpPr/>
            <p:nvPr/>
          </p:nvSpPr>
          <p:spPr>
            <a:xfrm>
              <a:off x="586" y="1834"/>
              <a:ext cx="1968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stealth" w="med" len="med"/>
            </a:ln>
          </p:spPr>
        </p:sp>
        <p:sp>
          <p:nvSpPr>
            <p:cNvPr id="463877" name="Rectangle 5"/>
            <p:cNvSpPr>
              <a:spLocks noChangeArrowheads="1"/>
            </p:cNvSpPr>
            <p:nvPr/>
          </p:nvSpPr>
          <p:spPr bwMode="auto">
            <a:xfrm>
              <a:off x="336" y="576"/>
              <a:ext cx="242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</a:p>
          </p:txBody>
        </p:sp>
        <p:sp>
          <p:nvSpPr>
            <p:cNvPr id="463878" name="Rectangle 6"/>
            <p:cNvSpPr>
              <a:spLocks noChangeArrowheads="1"/>
            </p:cNvSpPr>
            <p:nvPr/>
          </p:nvSpPr>
          <p:spPr bwMode="auto">
            <a:xfrm>
              <a:off x="2592" y="1680"/>
              <a:ext cx="232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50218" name="Arc 7"/>
            <p:cNvSpPr/>
            <p:nvPr/>
          </p:nvSpPr>
          <p:spPr>
            <a:xfrm>
              <a:off x="971" y="874"/>
              <a:ext cx="1248" cy="576"/>
            </a:xfrm>
            <a:custGeom>
              <a:avLst/>
              <a:gdLst/>
              <a:ahLst/>
              <a:cxnLst>
                <a:cxn ang="0">
                  <a:pos x="72" y="15"/>
                </a:cxn>
                <a:cxn ang="0">
                  <a:pos x="0" y="0"/>
                </a:cxn>
                <a:cxn ang="0">
                  <a:pos x="72" y="15"/>
                </a:cxn>
                <a:cxn ang="0">
                  <a:pos x="0" y="0"/>
                </a:cxn>
                <a:cxn ang="0">
                  <a:pos x="72" y="0"/>
                </a:cxn>
                <a:cxn ang="0">
                  <a:pos x="72" y="15"/>
                </a:cxn>
              </a:cxnLst>
              <a:rect l="0" t="0" r="0" b="0"/>
              <a:pathLst>
                <a:path w="21600" h="21600" fill="none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50800" cap="rnd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8"/>
            <p:cNvSpPr/>
            <p:nvPr/>
          </p:nvSpPr>
          <p:spPr>
            <a:xfrm>
              <a:off x="970" y="874"/>
              <a:ext cx="0" cy="9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0220" name="Line 9"/>
            <p:cNvSpPr/>
            <p:nvPr/>
          </p:nvSpPr>
          <p:spPr>
            <a:xfrm>
              <a:off x="2218" y="1450"/>
              <a:ext cx="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0221" name="Line 11"/>
            <p:cNvSpPr/>
            <p:nvPr/>
          </p:nvSpPr>
          <p:spPr>
            <a:xfrm>
              <a:off x="1402" y="1306"/>
              <a:ext cx="144" cy="48"/>
            </a:xfrm>
            <a:prstGeom prst="line">
              <a:avLst/>
            </a:prstGeom>
            <a:ln w="50800" cap="flat" cmpd="sng">
              <a:solidFill>
                <a:srgbClr val="FF3300"/>
              </a:solidFill>
              <a:prstDash val="solid"/>
              <a:headEnd type="none" w="sm" len="sm"/>
              <a:tailEnd type="stealth" w="med" len="lg"/>
            </a:ln>
          </p:spPr>
        </p:sp>
      </p:grpSp>
      <p:grpSp>
        <p:nvGrpSpPr>
          <p:cNvPr id="3" name="Group 12"/>
          <p:cNvGrpSpPr/>
          <p:nvPr/>
        </p:nvGrpSpPr>
        <p:grpSpPr>
          <a:xfrm>
            <a:off x="4906963" y="4511675"/>
            <a:ext cx="3708824" cy="1870941"/>
            <a:chOff x="2976" y="576"/>
            <a:chExt cx="2428" cy="1371"/>
          </a:xfrm>
        </p:grpSpPr>
        <p:sp>
          <p:nvSpPr>
            <p:cNvPr id="50206" name="Line 13"/>
            <p:cNvSpPr/>
            <p:nvPr/>
          </p:nvSpPr>
          <p:spPr>
            <a:xfrm>
              <a:off x="3226" y="634"/>
              <a:ext cx="0" cy="120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stealth" w="med" len="med"/>
              <a:tailEnd type="none" w="sm" len="sm"/>
            </a:ln>
          </p:spPr>
        </p:sp>
        <p:sp>
          <p:nvSpPr>
            <p:cNvPr id="50207" name="Line 14"/>
            <p:cNvSpPr/>
            <p:nvPr/>
          </p:nvSpPr>
          <p:spPr>
            <a:xfrm>
              <a:off x="3226" y="1834"/>
              <a:ext cx="1968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stealth" w="med" len="med"/>
            </a:ln>
          </p:spPr>
        </p:sp>
        <p:sp>
          <p:nvSpPr>
            <p:cNvPr id="463887" name="Rectangle 15"/>
            <p:cNvSpPr>
              <a:spLocks noChangeArrowheads="1"/>
            </p:cNvSpPr>
            <p:nvPr/>
          </p:nvSpPr>
          <p:spPr bwMode="auto">
            <a:xfrm>
              <a:off x="2976" y="576"/>
              <a:ext cx="242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T</a:t>
              </a:r>
            </a:p>
          </p:txBody>
        </p:sp>
        <p:sp>
          <p:nvSpPr>
            <p:cNvPr id="463888" name="Rectangle 16"/>
            <p:cNvSpPr>
              <a:spLocks noChangeArrowheads="1"/>
            </p:cNvSpPr>
            <p:nvPr/>
          </p:nvSpPr>
          <p:spPr bwMode="auto">
            <a:xfrm>
              <a:off x="5172" y="1612"/>
              <a:ext cx="232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50210" name="Arc 17"/>
            <p:cNvSpPr/>
            <p:nvPr/>
          </p:nvSpPr>
          <p:spPr>
            <a:xfrm>
              <a:off x="3611" y="874"/>
              <a:ext cx="1248" cy="576"/>
            </a:xfrm>
            <a:custGeom>
              <a:avLst/>
              <a:gdLst/>
              <a:ahLst/>
              <a:cxnLst>
                <a:cxn ang="0">
                  <a:pos x="72" y="15"/>
                </a:cxn>
                <a:cxn ang="0">
                  <a:pos x="0" y="0"/>
                </a:cxn>
                <a:cxn ang="0">
                  <a:pos x="72" y="15"/>
                </a:cxn>
                <a:cxn ang="0">
                  <a:pos x="0" y="0"/>
                </a:cxn>
                <a:cxn ang="0">
                  <a:pos x="72" y="0"/>
                </a:cxn>
                <a:cxn ang="0">
                  <a:pos x="72" y="15"/>
                </a:cxn>
              </a:cxnLst>
              <a:rect l="0" t="0" r="0" b="0"/>
              <a:pathLst>
                <a:path w="21600" h="21600" fill="none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50800" cap="rnd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18"/>
            <p:cNvSpPr/>
            <p:nvPr/>
          </p:nvSpPr>
          <p:spPr>
            <a:xfrm>
              <a:off x="3610" y="874"/>
              <a:ext cx="0" cy="9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0212" name="Line 19"/>
            <p:cNvSpPr/>
            <p:nvPr/>
          </p:nvSpPr>
          <p:spPr>
            <a:xfrm>
              <a:off x="4858" y="1450"/>
              <a:ext cx="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0213" name="Line 21"/>
            <p:cNvSpPr/>
            <p:nvPr/>
          </p:nvSpPr>
          <p:spPr>
            <a:xfrm flipH="1" flipV="1">
              <a:off x="4042" y="1306"/>
              <a:ext cx="192" cy="48"/>
            </a:xfrm>
            <a:prstGeom prst="line">
              <a:avLst/>
            </a:prstGeom>
            <a:ln w="50800" cap="flat" cmpd="sng">
              <a:solidFill>
                <a:srgbClr val="FF3300"/>
              </a:solidFill>
              <a:prstDash val="solid"/>
              <a:headEnd type="none" w="sm" len="sm"/>
              <a:tailEnd type="stealth" w="med" len="lg"/>
            </a:ln>
          </p:spPr>
        </p:sp>
      </p:grpSp>
      <p:sp>
        <p:nvSpPr>
          <p:cNvPr id="463894" name="Rectangle 22"/>
          <p:cNvSpPr>
            <a:spLocks noChangeArrowheads="1"/>
          </p:cNvSpPr>
          <p:nvPr/>
        </p:nvSpPr>
        <p:spPr bwMode="auto">
          <a:xfrm>
            <a:off x="1835150" y="6265863"/>
            <a:ext cx="54006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-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曲线下面积为吸（放）的热</a:t>
            </a:r>
          </a:p>
        </p:txBody>
      </p:sp>
      <p:sp>
        <p:nvSpPr>
          <p:cNvPr id="463895" name="Text Box 23"/>
          <p:cNvSpPr txBox="1">
            <a:spLocks noChangeArrowheads="1"/>
          </p:cNvSpPr>
          <p:nvPr/>
        </p:nvSpPr>
        <p:spPr bwMode="auto">
          <a:xfrm>
            <a:off x="381000" y="-26987"/>
            <a:ext cx="2895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五、温熵图</a:t>
            </a:r>
          </a:p>
        </p:txBody>
      </p:sp>
      <p:sp>
        <p:nvSpPr>
          <p:cNvPr id="463896" name="Rectangle 24"/>
          <p:cNvSpPr>
            <a:spLocks noChangeArrowheads="1"/>
          </p:cNvSpPr>
          <p:nvPr/>
        </p:nvSpPr>
        <p:spPr bwMode="auto">
          <a:xfrm>
            <a:off x="5724525" y="744538"/>
            <a:ext cx="24018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对可逆过程</a:t>
            </a:r>
          </a:p>
        </p:txBody>
      </p:sp>
      <p:sp>
        <p:nvSpPr>
          <p:cNvPr id="50184" name="Line 25"/>
          <p:cNvSpPr/>
          <p:nvPr/>
        </p:nvSpPr>
        <p:spPr>
          <a:xfrm>
            <a:off x="3114675" y="688975"/>
            <a:ext cx="263525" cy="0"/>
          </a:xfrm>
          <a:prstGeom prst="line">
            <a:avLst/>
          </a:prstGeom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63898" name="Object 26"/>
          <p:cNvGraphicFramePr/>
          <p:nvPr/>
        </p:nvGraphicFramePr>
        <p:xfrm>
          <a:off x="1187450" y="549275"/>
          <a:ext cx="3960813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r:id="rId3" imgW="1663065" imgH="444500" progId="Equation.DSMT4">
                  <p:embed/>
                </p:oleObj>
              </mc:Choice>
              <mc:Fallback>
                <p:oleObj r:id="rId3" imgW="1663065" imgH="4445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549275"/>
                        <a:ext cx="3960813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900" name="Text Box 28"/>
          <p:cNvSpPr txBox="1">
            <a:spLocks noChangeArrowheads="1"/>
          </p:cNvSpPr>
          <p:nvPr/>
        </p:nvSpPr>
        <p:spPr bwMode="auto">
          <a:xfrm>
            <a:off x="595313" y="1700213"/>
            <a:ext cx="8153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T—S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图中的任一点表示系统的一个平衡态</a:t>
            </a:r>
          </a:p>
        </p:txBody>
      </p:sp>
      <p:sp>
        <p:nvSpPr>
          <p:cNvPr id="463901" name="Text Box 29"/>
          <p:cNvSpPr txBox="1">
            <a:spLocks noChangeArrowheads="1"/>
          </p:cNvSpPr>
          <p:nvPr/>
        </p:nvSpPr>
        <p:spPr bwMode="auto">
          <a:xfrm>
            <a:off x="595313" y="2265363"/>
            <a:ext cx="8153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T—S</a:t>
            </a:r>
            <a:r>
              <a:rPr kumimoji="1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图中的任一曲线表示系统的一个可逆过程</a:t>
            </a:r>
          </a:p>
        </p:txBody>
      </p:sp>
      <p:grpSp>
        <p:nvGrpSpPr>
          <p:cNvPr id="4" name="Group 30"/>
          <p:cNvGrpSpPr/>
          <p:nvPr/>
        </p:nvGrpSpPr>
        <p:grpSpPr>
          <a:xfrm>
            <a:off x="1265238" y="2851150"/>
            <a:ext cx="2971844" cy="1720751"/>
            <a:chOff x="768" y="1776"/>
            <a:chExt cx="1620" cy="938"/>
          </a:xfrm>
        </p:grpSpPr>
        <p:sp>
          <p:nvSpPr>
            <p:cNvPr id="50199" name="Line 31"/>
            <p:cNvSpPr/>
            <p:nvPr/>
          </p:nvSpPr>
          <p:spPr>
            <a:xfrm>
              <a:off x="768" y="1920"/>
              <a:ext cx="0" cy="65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0" name="Line 32"/>
            <p:cNvSpPr/>
            <p:nvPr/>
          </p:nvSpPr>
          <p:spPr>
            <a:xfrm flipV="1">
              <a:off x="768" y="1824"/>
              <a:ext cx="0" cy="17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1" name="Line 33"/>
            <p:cNvSpPr/>
            <p:nvPr/>
          </p:nvSpPr>
          <p:spPr>
            <a:xfrm>
              <a:off x="768" y="2566"/>
              <a:ext cx="124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2" name="Line 34"/>
            <p:cNvSpPr/>
            <p:nvPr/>
          </p:nvSpPr>
          <p:spPr>
            <a:xfrm>
              <a:off x="1889" y="2566"/>
              <a:ext cx="166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3" name="Line 35"/>
            <p:cNvSpPr/>
            <p:nvPr/>
          </p:nvSpPr>
          <p:spPr>
            <a:xfrm>
              <a:off x="1100" y="2154"/>
              <a:ext cx="706" cy="0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4" name="Text Box 36"/>
            <p:cNvSpPr txBox="1"/>
            <p:nvPr/>
          </p:nvSpPr>
          <p:spPr>
            <a:xfrm>
              <a:off x="2056" y="2451"/>
              <a:ext cx="332" cy="263"/>
            </a:xfrm>
            <a:prstGeom prst="rect">
              <a:avLst/>
            </a:prstGeom>
            <a:noFill/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50205" name="Text Box 37"/>
            <p:cNvSpPr txBox="1"/>
            <p:nvPr/>
          </p:nvSpPr>
          <p:spPr>
            <a:xfrm>
              <a:off x="816" y="1776"/>
              <a:ext cx="332" cy="263"/>
            </a:xfrm>
            <a:prstGeom prst="rect">
              <a:avLst/>
            </a:prstGeom>
            <a:noFill/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T</a:t>
              </a:r>
            </a:p>
          </p:txBody>
        </p:sp>
      </p:grpSp>
      <p:grpSp>
        <p:nvGrpSpPr>
          <p:cNvPr id="5" name="Group 38"/>
          <p:cNvGrpSpPr/>
          <p:nvPr/>
        </p:nvGrpSpPr>
        <p:grpSpPr>
          <a:xfrm>
            <a:off x="5229225" y="2927350"/>
            <a:ext cx="3125851" cy="1674807"/>
            <a:chOff x="3072" y="1824"/>
            <a:chExt cx="1704" cy="913"/>
          </a:xfrm>
        </p:grpSpPr>
        <p:sp>
          <p:nvSpPr>
            <p:cNvPr id="50192" name="Line 39"/>
            <p:cNvSpPr/>
            <p:nvPr/>
          </p:nvSpPr>
          <p:spPr>
            <a:xfrm>
              <a:off x="3072" y="1872"/>
              <a:ext cx="0" cy="72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3" name="Line 40"/>
            <p:cNvSpPr/>
            <p:nvPr/>
          </p:nvSpPr>
          <p:spPr>
            <a:xfrm flipV="1">
              <a:off x="3072" y="1824"/>
              <a:ext cx="0" cy="19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4" name="Line 41"/>
            <p:cNvSpPr/>
            <p:nvPr/>
          </p:nvSpPr>
          <p:spPr>
            <a:xfrm>
              <a:off x="3072" y="2602"/>
              <a:ext cx="132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5" name="Line 42"/>
            <p:cNvSpPr/>
            <p:nvPr/>
          </p:nvSpPr>
          <p:spPr>
            <a:xfrm>
              <a:off x="4260" y="2602"/>
              <a:ext cx="176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6" name="Line 43"/>
            <p:cNvSpPr/>
            <p:nvPr/>
          </p:nvSpPr>
          <p:spPr>
            <a:xfrm>
              <a:off x="3732" y="1956"/>
              <a:ext cx="0" cy="380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7" name="Text Box 44"/>
            <p:cNvSpPr txBox="1"/>
            <p:nvPr/>
          </p:nvSpPr>
          <p:spPr>
            <a:xfrm>
              <a:off x="4424" y="2474"/>
              <a:ext cx="352" cy="263"/>
            </a:xfrm>
            <a:prstGeom prst="rect">
              <a:avLst/>
            </a:prstGeom>
            <a:noFill/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50198" name="Text Box 45"/>
            <p:cNvSpPr txBox="1"/>
            <p:nvPr/>
          </p:nvSpPr>
          <p:spPr>
            <a:xfrm>
              <a:off x="3120" y="1824"/>
              <a:ext cx="288" cy="263"/>
            </a:xfrm>
            <a:prstGeom prst="rect">
              <a:avLst/>
            </a:prstGeom>
            <a:noFill/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T</a:t>
              </a:r>
            </a:p>
          </p:txBody>
        </p:sp>
      </p:grp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335213" y="5418138"/>
            <a:ext cx="10985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Q</a:t>
            </a:r>
            <a:r>
              <a:rPr kumimoji="1" lang="zh-CN" altLang="en-US" sz="32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吸</a:t>
            </a: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6446838" y="5559425"/>
            <a:ext cx="1173163" cy="58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Q</a:t>
            </a:r>
            <a:r>
              <a:rPr kumimoji="1" lang="zh-CN" altLang="en-US" sz="32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6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4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6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6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46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94" grpId="0"/>
      <p:bldP spid="463895" grpId="0"/>
      <p:bldP spid="463896" grpId="0"/>
      <p:bldP spid="463900" grpId="0"/>
      <p:bldP spid="463901" grpId="0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47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2193925" y="1066800"/>
            <a:ext cx="4895850" cy="2889250"/>
            <a:chOff x="1382" y="784"/>
            <a:chExt cx="2950" cy="1709"/>
          </a:xfrm>
        </p:grpSpPr>
        <p:sp>
          <p:nvSpPr>
            <p:cNvPr id="51208" name="Line 3"/>
            <p:cNvSpPr/>
            <p:nvPr/>
          </p:nvSpPr>
          <p:spPr>
            <a:xfrm>
              <a:off x="1728" y="903"/>
              <a:ext cx="0" cy="1346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stealth" w="med" len="med"/>
              <a:tailEnd type="none" w="sm" len="sm"/>
            </a:ln>
          </p:spPr>
        </p:sp>
        <p:sp>
          <p:nvSpPr>
            <p:cNvPr id="51209" name="Rectangle 4"/>
            <p:cNvSpPr/>
            <p:nvPr/>
          </p:nvSpPr>
          <p:spPr>
            <a:xfrm>
              <a:off x="1382" y="784"/>
              <a:ext cx="223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en-US" altLang="zh-CN" sz="2400" b="1" i="1" dirty="0">
                  <a:ea typeface="楷体_GB2312" panose="02010609030101010101" pitchFamily="49" charset="-122"/>
                </a:rPr>
                <a:t>T</a:t>
              </a:r>
            </a:p>
          </p:txBody>
        </p:sp>
        <p:sp>
          <p:nvSpPr>
            <p:cNvPr id="51210" name="Rectangle 5"/>
            <p:cNvSpPr/>
            <p:nvPr/>
          </p:nvSpPr>
          <p:spPr>
            <a:xfrm>
              <a:off x="4118" y="2077"/>
              <a:ext cx="214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en-US" altLang="zh-CN" sz="2400" b="1" i="1" dirty="0">
                  <a:ea typeface="楷体_GB2312" panose="02010609030101010101" pitchFamily="49" charset="-122"/>
                </a:rPr>
                <a:t>S</a:t>
              </a:r>
            </a:p>
          </p:txBody>
        </p:sp>
        <p:sp>
          <p:nvSpPr>
            <p:cNvPr id="51211" name="Line 6"/>
            <p:cNvSpPr/>
            <p:nvPr/>
          </p:nvSpPr>
          <p:spPr>
            <a:xfrm>
              <a:off x="2208" y="1388"/>
              <a:ext cx="0" cy="8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51212" name="Line 7"/>
            <p:cNvSpPr/>
            <p:nvPr/>
          </p:nvSpPr>
          <p:spPr>
            <a:xfrm>
              <a:off x="3360" y="1818"/>
              <a:ext cx="0" cy="43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51213" name="Rectangle 8"/>
            <p:cNvSpPr/>
            <p:nvPr/>
          </p:nvSpPr>
          <p:spPr>
            <a:xfrm>
              <a:off x="2224" y="1180"/>
              <a:ext cx="1120" cy="718"/>
            </a:xfrm>
            <a:prstGeom prst="rect">
              <a:avLst/>
            </a:prstGeom>
            <a:noFill/>
            <a:ln w="508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214" name="Line 9"/>
            <p:cNvSpPr/>
            <p:nvPr/>
          </p:nvSpPr>
          <p:spPr>
            <a:xfrm>
              <a:off x="1728" y="1162"/>
              <a:ext cx="5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1215" name="Line 10"/>
            <p:cNvSpPr/>
            <p:nvPr/>
          </p:nvSpPr>
          <p:spPr>
            <a:xfrm>
              <a:off x="1728" y="1916"/>
              <a:ext cx="5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sm"/>
              <a:tailEnd type="none" w="sm" len="sm"/>
            </a:ln>
          </p:spPr>
        </p:sp>
        <p:sp>
          <p:nvSpPr>
            <p:cNvPr id="51216" name="Line 11"/>
            <p:cNvSpPr/>
            <p:nvPr/>
          </p:nvSpPr>
          <p:spPr>
            <a:xfrm>
              <a:off x="1728" y="2238"/>
              <a:ext cx="240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stealth" w="med" len="med"/>
            </a:ln>
          </p:spPr>
        </p:sp>
        <p:sp>
          <p:nvSpPr>
            <p:cNvPr id="51217" name="Rectangle 12"/>
            <p:cNvSpPr/>
            <p:nvPr/>
          </p:nvSpPr>
          <p:spPr>
            <a:xfrm>
              <a:off x="1382" y="1043"/>
              <a:ext cx="2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en-US" altLang="zh-CN" sz="2400" b="1" i="1" dirty="0">
                  <a:ea typeface="楷体_GB2312" panose="02010609030101010101" pitchFamily="49" charset="-122"/>
                </a:rPr>
                <a:t>T</a:t>
              </a:r>
              <a:r>
                <a:rPr lang="en-US" altLang="zh-CN" sz="2400" b="1" baseline="-25000" dirty="0">
                  <a:ea typeface="楷体_GB2312" panose="02010609030101010101" pitchFamily="49" charset="-122"/>
                </a:rPr>
                <a:t>1</a:t>
              </a:r>
            </a:p>
          </p:txBody>
        </p:sp>
        <p:sp>
          <p:nvSpPr>
            <p:cNvPr id="51218" name="Rectangle 13"/>
            <p:cNvSpPr/>
            <p:nvPr/>
          </p:nvSpPr>
          <p:spPr>
            <a:xfrm>
              <a:off x="1382" y="1689"/>
              <a:ext cx="2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0"/>
                </a:spcBef>
                <a:buNone/>
              </a:pPr>
              <a:r>
                <a:rPr lang="en-US" altLang="zh-CN" sz="2400" b="1" i="1" dirty="0">
                  <a:ea typeface="楷体_GB2312" panose="02010609030101010101" pitchFamily="49" charset="-122"/>
                </a:rPr>
                <a:t>T</a:t>
              </a:r>
              <a:r>
                <a:rPr lang="en-US" altLang="zh-CN" sz="2400" b="1" baseline="-25000" dirty="0">
                  <a:ea typeface="楷体_GB2312" panose="02010609030101010101" pitchFamily="49" charset="-122"/>
                </a:rPr>
                <a:t>2</a:t>
              </a:r>
            </a:p>
          </p:txBody>
        </p:sp>
        <p:sp>
          <p:nvSpPr>
            <p:cNvPr id="51219" name="Line 14"/>
            <p:cNvSpPr/>
            <p:nvPr/>
          </p:nvSpPr>
          <p:spPr>
            <a:xfrm>
              <a:off x="2688" y="1162"/>
              <a:ext cx="192" cy="0"/>
            </a:xfrm>
            <a:prstGeom prst="line">
              <a:avLst/>
            </a:prstGeom>
            <a:ln w="50800" cap="flat" cmpd="sng">
              <a:solidFill>
                <a:srgbClr val="FF3300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51220" name="Rectangle 15"/>
            <p:cNvSpPr/>
            <p:nvPr/>
          </p:nvSpPr>
          <p:spPr>
            <a:xfrm>
              <a:off x="2016" y="1862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d</a:t>
              </a:r>
            </a:p>
          </p:txBody>
        </p:sp>
        <p:sp>
          <p:nvSpPr>
            <p:cNvPr id="51221" name="Rectangle 16"/>
            <p:cNvSpPr/>
            <p:nvPr/>
          </p:nvSpPr>
          <p:spPr>
            <a:xfrm>
              <a:off x="3312" y="1862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c</a:t>
              </a:r>
            </a:p>
          </p:txBody>
        </p:sp>
        <p:sp>
          <p:nvSpPr>
            <p:cNvPr id="51222" name="Rectangle 17"/>
            <p:cNvSpPr/>
            <p:nvPr/>
          </p:nvSpPr>
          <p:spPr>
            <a:xfrm>
              <a:off x="3264" y="839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b</a:t>
              </a:r>
            </a:p>
          </p:txBody>
        </p:sp>
        <p:sp>
          <p:nvSpPr>
            <p:cNvPr id="51223" name="Rectangle 18"/>
            <p:cNvSpPr/>
            <p:nvPr/>
          </p:nvSpPr>
          <p:spPr>
            <a:xfrm>
              <a:off x="2112" y="839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a</a:t>
              </a:r>
            </a:p>
          </p:txBody>
        </p:sp>
        <p:sp>
          <p:nvSpPr>
            <p:cNvPr id="51224" name="Rectangle 19"/>
            <p:cNvSpPr/>
            <p:nvPr/>
          </p:nvSpPr>
          <p:spPr>
            <a:xfrm>
              <a:off x="3264" y="2186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n</a:t>
              </a:r>
            </a:p>
          </p:txBody>
        </p:sp>
        <p:sp>
          <p:nvSpPr>
            <p:cNvPr id="51225" name="Rectangle 20"/>
            <p:cNvSpPr/>
            <p:nvPr/>
          </p:nvSpPr>
          <p:spPr>
            <a:xfrm>
              <a:off x="2064" y="2186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762000">
                <a:spcBef>
                  <a:spcPct val="50000"/>
                </a:spcBef>
                <a:buNone/>
              </a:pPr>
              <a:r>
                <a:rPr lang="en-US" altLang="zh-CN" sz="2800" b="1" i="1" dirty="0">
                  <a:ea typeface="楷体_GB2312" panose="02010609030101010101" pitchFamily="49" charset="-122"/>
                </a:rPr>
                <a:t>m</a:t>
              </a:r>
            </a:p>
          </p:txBody>
        </p:sp>
      </p:grpSp>
      <p:sp>
        <p:nvSpPr>
          <p:cNvPr id="464917" name="Rectangle 21"/>
          <p:cNvSpPr>
            <a:spLocks noChangeArrowheads="1"/>
          </p:cNvSpPr>
          <p:nvPr/>
        </p:nvSpPr>
        <p:spPr bwMode="auto">
          <a:xfrm>
            <a:off x="609600" y="381000"/>
            <a:ext cx="43434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卡诺循环温熵图</a:t>
            </a:r>
          </a:p>
        </p:txBody>
      </p:sp>
      <p:graphicFrame>
        <p:nvGraphicFramePr>
          <p:cNvPr id="464918" name="Object 22"/>
          <p:cNvGraphicFramePr/>
          <p:nvPr/>
        </p:nvGraphicFramePr>
        <p:xfrm>
          <a:off x="1258888" y="4999038"/>
          <a:ext cx="622935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3" r:id="rId3" imgW="2881630" imgH="622300" progId="Equation.DSMT4">
                  <p:embed/>
                </p:oleObj>
              </mc:Choice>
              <mc:Fallback>
                <p:oleObj r:id="rId3" imgW="2881630" imgH="6223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4999038"/>
                        <a:ext cx="6229350" cy="1093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9" name="Object 23"/>
          <p:cNvGraphicFramePr/>
          <p:nvPr/>
        </p:nvGraphicFramePr>
        <p:xfrm>
          <a:off x="3635375" y="2073275"/>
          <a:ext cx="18256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r:id="rId5" imgW="749300" imgH="228600" progId="Equation.DSMT4">
                  <p:embed/>
                </p:oleObj>
              </mc:Choice>
              <mc:Fallback>
                <p:oleObj r:id="rId5" imgW="749300" imgH="2286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375" y="2073275"/>
                        <a:ext cx="182562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0" name="Object 24"/>
          <p:cNvGraphicFramePr>
            <a:graphicFrameLocks noGrp="1"/>
          </p:cNvGraphicFramePr>
          <p:nvPr>
            <p:ph/>
          </p:nvPr>
        </p:nvGraphicFramePr>
        <p:xfrm>
          <a:off x="1258888" y="3860800"/>
          <a:ext cx="10953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r:id="rId7" imgW="508000" imgH="431800" progId="Equation.3">
                  <p:embed/>
                </p:oleObj>
              </mc:Choice>
              <mc:Fallback>
                <p:oleObj r:id="rId7" imgW="508000" imgH="4318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1258888" y="3860800"/>
                        <a:ext cx="1095375" cy="9302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6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6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91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48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5554" name="Text Box 2"/>
          <p:cNvSpPr txBox="1">
            <a:spLocks noChangeArrowheads="1"/>
          </p:cNvSpPr>
          <p:nvPr/>
        </p:nvSpPr>
        <p:spPr bwMode="auto">
          <a:xfrm>
            <a:off x="1600200" y="836613"/>
            <a:ext cx="557371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能与熵是两个基本的物理概念</a:t>
            </a:r>
            <a:endParaRPr kumimoji="1" lang="zh-CN" altLang="en-US" sz="2800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57200" y="2192338"/>
            <a:ext cx="4610100" cy="458787"/>
            <a:chOff x="288" y="1704"/>
            <a:chExt cx="2904" cy="289"/>
          </a:xfrm>
        </p:grpSpPr>
        <p:sp>
          <p:nvSpPr>
            <p:cNvPr id="535556" name="Text Box 4"/>
            <p:cNvSpPr txBox="1">
              <a:spLocks noChangeArrowheads="1"/>
            </p:cNvSpPr>
            <p:nvPr/>
          </p:nvSpPr>
          <p:spPr bwMode="auto">
            <a:xfrm>
              <a:off x="288" y="1705"/>
              <a:ext cx="177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热力学第二定律</a:t>
              </a:r>
              <a:endPara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2" name="AutoShape 5"/>
            <p:cNvSpPr/>
            <p:nvPr/>
          </p:nvSpPr>
          <p:spPr>
            <a:xfrm>
              <a:off x="2064" y="1796"/>
              <a:ext cx="240" cy="1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>
                <a:alpha val="100000"/>
              </a:srgbClr>
            </a:solidFill>
            <a:ln w="28575" cap="flat" cmpd="sng">
              <a:solidFill>
                <a:srgbClr val="008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58" name="Rectangle 6"/>
            <p:cNvSpPr>
              <a:spLocks noChangeArrowheads="1"/>
            </p:cNvSpPr>
            <p:nvPr/>
          </p:nvSpPr>
          <p:spPr bwMode="auto">
            <a:xfrm>
              <a:off x="2304" y="1704"/>
              <a:ext cx="88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熵定律</a:t>
              </a: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457200" y="1485900"/>
            <a:ext cx="4562475" cy="458788"/>
            <a:chOff x="288" y="1296"/>
            <a:chExt cx="2874" cy="289"/>
          </a:xfrm>
        </p:grpSpPr>
        <p:sp>
          <p:nvSpPr>
            <p:cNvPr id="535560" name="Text Box 8"/>
            <p:cNvSpPr txBox="1">
              <a:spLocks noChangeArrowheads="1"/>
            </p:cNvSpPr>
            <p:nvPr/>
          </p:nvSpPr>
          <p:spPr bwMode="auto">
            <a:xfrm>
              <a:off x="288" y="1297"/>
              <a:ext cx="177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热力学第一定律</a:t>
              </a:r>
              <a:endPara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9" name="AutoShape 9"/>
            <p:cNvSpPr/>
            <p:nvPr/>
          </p:nvSpPr>
          <p:spPr>
            <a:xfrm>
              <a:off x="2066" y="1388"/>
              <a:ext cx="240" cy="1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>
                <a:alpha val="100000"/>
              </a:srgbClr>
            </a:solidFill>
            <a:ln w="28575" cap="flat" cmpd="sng">
              <a:solidFill>
                <a:srgbClr val="008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562" name="Rectangle 10"/>
            <p:cNvSpPr>
              <a:spLocks noChangeArrowheads="1"/>
            </p:cNvSpPr>
            <p:nvPr/>
          </p:nvSpPr>
          <p:spPr bwMode="auto">
            <a:xfrm>
              <a:off x="2304" y="1296"/>
              <a:ext cx="85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能定律</a:t>
              </a: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4956175" y="1487488"/>
            <a:ext cx="3121025" cy="457200"/>
            <a:chOff x="3122" y="1313"/>
            <a:chExt cx="1966" cy="288"/>
          </a:xfrm>
        </p:grpSpPr>
        <p:sp>
          <p:nvSpPr>
            <p:cNvPr id="535564" name="Rectangle 12"/>
            <p:cNvSpPr>
              <a:spLocks noChangeArrowheads="1"/>
            </p:cNvSpPr>
            <p:nvPr/>
          </p:nvSpPr>
          <p:spPr bwMode="auto">
            <a:xfrm>
              <a:off x="3456" y="1313"/>
              <a:ext cx="163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保持总量不变</a:t>
              </a:r>
            </a:p>
          </p:txBody>
        </p:sp>
        <p:sp>
          <p:nvSpPr>
            <p:cNvPr id="52247" name="AutoShape 13"/>
            <p:cNvSpPr/>
            <p:nvPr/>
          </p:nvSpPr>
          <p:spPr>
            <a:xfrm>
              <a:off x="3122" y="1409"/>
              <a:ext cx="240" cy="1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>
                <a:alpha val="100000"/>
              </a:srgbClr>
            </a:solidFill>
            <a:ln w="28575" cap="flat" cmpd="sng">
              <a:solidFill>
                <a:srgbClr val="008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4953000" y="2193925"/>
            <a:ext cx="3886200" cy="457200"/>
            <a:chOff x="3120" y="1721"/>
            <a:chExt cx="2448" cy="288"/>
          </a:xfrm>
        </p:grpSpPr>
        <p:sp>
          <p:nvSpPr>
            <p:cNvPr id="535567" name="Rectangle 15"/>
            <p:cNvSpPr>
              <a:spLocks noChangeArrowheads="1"/>
            </p:cNvSpPr>
            <p:nvPr/>
          </p:nvSpPr>
          <p:spPr bwMode="auto">
            <a:xfrm>
              <a:off x="3504" y="1721"/>
              <a:ext cx="206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能量在转化中退化</a:t>
              </a:r>
            </a:p>
          </p:txBody>
        </p:sp>
        <p:sp>
          <p:nvSpPr>
            <p:cNvPr id="52245" name="AutoShape 16"/>
            <p:cNvSpPr/>
            <p:nvPr/>
          </p:nvSpPr>
          <p:spPr>
            <a:xfrm>
              <a:off x="3120" y="1817"/>
              <a:ext cx="240" cy="1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9900">
                <a:alpha val="100000"/>
              </a:srgbClr>
            </a:solidFill>
            <a:ln w="28575" cap="flat" cmpd="sng">
              <a:solidFill>
                <a:srgbClr val="008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5569" name="Text Box 17"/>
          <p:cNvSpPr txBox="1">
            <a:spLocks noChangeArrowheads="1"/>
          </p:cNvSpPr>
          <p:nvPr/>
        </p:nvSpPr>
        <p:spPr bwMode="auto">
          <a:xfrm>
            <a:off x="323850" y="0"/>
            <a:ext cx="82280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六、 熵和能量退降</a:t>
            </a:r>
          </a:p>
        </p:txBody>
      </p:sp>
      <p:sp>
        <p:nvSpPr>
          <p:cNvPr id="535570" name="Text Box 18"/>
          <p:cNvSpPr txBox="1">
            <a:spLocks noChangeArrowheads="1"/>
          </p:cNvSpPr>
          <p:nvPr/>
        </p:nvSpPr>
        <p:spPr bwMode="auto">
          <a:xfrm>
            <a:off x="1219200" y="3994150"/>
            <a:ext cx="4648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但能量在转移转化过程中</a:t>
            </a:r>
            <a:endParaRPr kumimoji="1" lang="zh-CN" altLang="en-US" kern="1200" cap="none" spc="0" normalizeH="0" baseline="0" noProof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5571" name="AutoShape 19"/>
          <p:cNvSpPr/>
          <p:nvPr/>
        </p:nvSpPr>
        <p:spPr>
          <a:xfrm>
            <a:off x="4838700" y="4146550"/>
            <a:ext cx="381000" cy="152400"/>
          </a:xfrm>
          <a:custGeom>
            <a:avLst/>
            <a:gdLst/>
            <a:ahLst/>
            <a:cxnLst>
              <a:cxn ang="0">
                <a:pos x="5040313" y="0"/>
              </a:cxn>
              <a:cxn ang="0">
                <a:pos x="5040313" y="268817"/>
              </a:cxn>
              <a:cxn ang="0">
                <a:pos x="1050061" y="268817"/>
              </a:cxn>
              <a:cxn ang="0">
                <a:pos x="1050061" y="806450"/>
              </a:cxn>
              <a:cxn ang="0">
                <a:pos x="5040313" y="806450"/>
              </a:cxn>
              <a:cxn ang="0">
                <a:pos x="5040313" y="1075267"/>
              </a:cxn>
              <a:cxn ang="0">
                <a:pos x="6720417" y="537633"/>
              </a:cxn>
              <a:cxn ang="0">
                <a:pos x="5040313" y="0"/>
              </a:cxn>
              <a:cxn ang="0">
                <a:pos x="420035" y="268817"/>
              </a:cxn>
              <a:cxn ang="0">
                <a:pos x="420035" y="806450"/>
              </a:cxn>
              <a:cxn ang="0">
                <a:pos x="840052" y="806450"/>
              </a:cxn>
              <a:cxn ang="0">
                <a:pos x="840052" y="268817"/>
              </a:cxn>
              <a:cxn ang="0">
                <a:pos x="420035" y="268817"/>
              </a:cxn>
              <a:cxn ang="0">
                <a:pos x="0" y="268817"/>
              </a:cxn>
              <a:cxn ang="0">
                <a:pos x="0" y="806450"/>
              </a:cxn>
              <a:cxn ang="0">
                <a:pos x="210009" y="806450"/>
              </a:cxn>
              <a:cxn ang="0">
                <a:pos x="210009" y="268817"/>
              </a:cxn>
              <a:cxn ang="0">
                <a:pos x="0" y="268817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9900">
              <a:alpha val="100000"/>
            </a:srgbClr>
          </a:solidFill>
          <a:ln w="9525" cap="flat" cmpd="sng">
            <a:solidFill>
              <a:srgbClr val="008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573" name="Text Box 21"/>
          <p:cNvSpPr txBox="1">
            <a:spLocks noChangeArrowheads="1"/>
          </p:cNvSpPr>
          <p:nvPr/>
        </p:nvSpPr>
        <p:spPr bwMode="auto">
          <a:xfrm>
            <a:off x="5480050" y="3994150"/>
            <a:ext cx="3124200" cy="4572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总量不变，却在退化</a:t>
            </a:r>
          </a:p>
        </p:txBody>
      </p:sp>
      <p:sp>
        <p:nvSpPr>
          <p:cNvPr id="535585" name="Text Box 33"/>
          <p:cNvSpPr txBox="1">
            <a:spLocks noChangeArrowheads="1"/>
          </p:cNvSpPr>
          <p:nvPr/>
        </p:nvSpPr>
        <p:spPr bwMode="auto">
          <a:xfrm>
            <a:off x="1258888" y="2795588"/>
            <a:ext cx="6705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人类社会对能量的利用和能量退化</a:t>
            </a:r>
            <a:endParaRPr kumimoji="1" lang="zh-CN" altLang="en-US" sz="2800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535586" name="Text Box 34"/>
          <p:cNvSpPr txBox="1">
            <a:spLocks noChangeArrowheads="1"/>
          </p:cNvSpPr>
          <p:nvPr/>
        </p:nvSpPr>
        <p:spPr bwMode="auto">
          <a:xfrm>
            <a:off x="1187450" y="3490913"/>
            <a:ext cx="655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人类要利用能量的转化有利于人类社会的发展</a:t>
            </a:r>
            <a:endParaRPr kumimoji="1" lang="zh-CN" altLang="en-US" kern="1200" cap="none" spc="0" normalizeH="0" baseline="0" noProof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5590" name="Text Box 38"/>
          <p:cNvSpPr txBox="1">
            <a:spLocks noChangeArrowheads="1"/>
          </p:cNvSpPr>
          <p:nvPr/>
        </p:nvSpPr>
        <p:spPr bwMode="auto">
          <a:xfrm>
            <a:off x="501650" y="4748213"/>
            <a:ext cx="8534400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设摩擦生热有  </a:t>
            </a:r>
            <a:r>
              <a:rPr kumimoji="1" lang="en-US" altLang="zh-CN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 Q</a:t>
            </a:r>
          </a:p>
        </p:txBody>
      </p:sp>
      <p:sp>
        <p:nvSpPr>
          <p:cNvPr id="535591" name="AutoShape 39"/>
          <p:cNvSpPr/>
          <p:nvPr/>
        </p:nvSpPr>
        <p:spPr>
          <a:xfrm>
            <a:off x="4787900" y="4903788"/>
            <a:ext cx="1152525" cy="288925"/>
          </a:xfrm>
          <a:prstGeom prst="rightArrow">
            <a:avLst>
              <a:gd name="adj1" fmla="val 50000"/>
              <a:gd name="adj2" fmla="val 99577"/>
            </a:avLst>
          </a:prstGeom>
          <a:gradFill rotWithShape="1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35592" name="Text Box 40"/>
          <p:cNvSpPr txBox="1">
            <a:spLocks noChangeArrowheads="1"/>
          </p:cNvSpPr>
          <p:nvPr/>
        </p:nvSpPr>
        <p:spPr bwMode="auto">
          <a:xfrm>
            <a:off x="6016625" y="4829175"/>
            <a:ext cx="20843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A’</a:t>
            </a:r>
            <a:r>
              <a:rPr kumimoji="1" lang="en-US" altLang="zh-CN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  </a:t>
            </a:r>
            <a:r>
              <a:rPr kumimoji="1" lang="en-US" altLang="zh-CN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  A  </a:t>
            </a:r>
            <a:r>
              <a:rPr kumimoji="1" lang="en-US" altLang="zh-CN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</p:txBody>
      </p:sp>
      <p:grpSp>
        <p:nvGrpSpPr>
          <p:cNvPr id="6" name="Group 41"/>
          <p:cNvGrpSpPr/>
          <p:nvPr/>
        </p:nvGrpSpPr>
        <p:grpSpPr>
          <a:xfrm>
            <a:off x="4587875" y="5138738"/>
            <a:ext cx="1766888" cy="1401762"/>
            <a:chOff x="2889" y="845"/>
            <a:chExt cx="1019" cy="883"/>
          </a:xfrm>
        </p:grpSpPr>
        <p:graphicFrame>
          <p:nvGraphicFramePr>
            <p:cNvPr id="52242" name="Object 42"/>
            <p:cNvGraphicFramePr/>
            <p:nvPr/>
          </p:nvGraphicFramePr>
          <p:xfrm>
            <a:off x="2889" y="1126"/>
            <a:ext cx="1019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7" r:id="rId3" imgW="673100" imgH="419100" progId="Equation.DSMT4">
                    <p:embed/>
                  </p:oleObj>
                </mc:Choice>
                <mc:Fallback>
                  <p:oleObj r:id="rId3" imgW="673100" imgH="4191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9" y="1126"/>
                          <a:ext cx="1019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5595" name="Text Box 43"/>
            <p:cNvSpPr txBox="1">
              <a:spLocks noChangeArrowheads="1"/>
            </p:cNvSpPr>
            <p:nvPr/>
          </p:nvSpPr>
          <p:spPr bwMode="auto">
            <a:xfrm>
              <a:off x="3107" y="845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4" grpId="0"/>
      <p:bldP spid="535569" grpId="0"/>
      <p:bldP spid="535570" grpId="0"/>
      <p:bldP spid="535573" grpId="0" animBg="1"/>
      <p:bldP spid="535585" grpId="0"/>
      <p:bldP spid="535586" grpId="0"/>
      <p:bldP spid="535590" grpId="0"/>
      <p:bldP spid="535591" grpId="0" animBg="1"/>
      <p:bldP spid="53559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49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8627" name="Text Box 3"/>
          <p:cNvSpPr txBox="1">
            <a:spLocks noChangeArrowheads="1"/>
          </p:cNvSpPr>
          <p:nvPr/>
        </p:nvSpPr>
        <p:spPr bwMode="auto">
          <a:xfrm>
            <a:off x="962025" y="4530725"/>
            <a:ext cx="32496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这便是</a:t>
            </a:r>
            <a:r>
              <a:rPr kumimoji="1" lang="zh-CN" altLang="en-US" u="sng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能量的退降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endParaRPr kumimoji="1" lang="zh-CN" altLang="en-US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8628" name="Text Box 4"/>
          <p:cNvSpPr txBox="1">
            <a:spLocks noChangeArrowheads="1"/>
          </p:cNvSpPr>
          <p:nvPr/>
        </p:nvSpPr>
        <p:spPr bwMode="auto">
          <a:xfrm>
            <a:off x="501650" y="42863"/>
            <a:ext cx="8534400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设摩擦生热有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 Q</a:t>
            </a:r>
          </a:p>
        </p:txBody>
      </p:sp>
      <p:sp>
        <p:nvSpPr>
          <p:cNvPr id="538629" name="Text Box 5"/>
          <p:cNvSpPr txBox="1">
            <a:spLocks noChangeArrowheads="1"/>
          </p:cNvSpPr>
          <p:nvPr/>
        </p:nvSpPr>
        <p:spPr bwMode="auto">
          <a:xfrm>
            <a:off x="935038" y="3998913"/>
            <a:ext cx="40100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可以作功的能量越来越少了</a:t>
            </a: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!</a:t>
            </a:r>
          </a:p>
        </p:txBody>
      </p:sp>
      <p:sp>
        <p:nvSpPr>
          <p:cNvPr id="538630" name="Text Box 6"/>
          <p:cNvSpPr txBox="1">
            <a:spLocks noChangeArrowheads="1"/>
          </p:cNvSpPr>
          <p:nvPr/>
        </p:nvSpPr>
        <p:spPr bwMode="auto">
          <a:xfrm>
            <a:off x="971550" y="1879600"/>
            <a:ext cx="53276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再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拿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A’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去摩擦生热，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A’ = Q’</a:t>
            </a:r>
          </a:p>
        </p:txBody>
      </p:sp>
      <p:sp>
        <p:nvSpPr>
          <p:cNvPr id="53255" name="AutoShape 7"/>
          <p:cNvSpPr/>
          <p:nvPr/>
        </p:nvSpPr>
        <p:spPr>
          <a:xfrm>
            <a:off x="4787900" y="198438"/>
            <a:ext cx="1152525" cy="288925"/>
          </a:xfrm>
          <a:prstGeom prst="rightArrow">
            <a:avLst>
              <a:gd name="adj1" fmla="val 50000"/>
              <a:gd name="adj2" fmla="val 99577"/>
            </a:avLst>
          </a:prstGeom>
          <a:gradFill rotWithShape="1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38632" name="Text Box 8"/>
          <p:cNvSpPr txBox="1">
            <a:spLocks noChangeArrowheads="1"/>
          </p:cNvSpPr>
          <p:nvPr/>
        </p:nvSpPr>
        <p:spPr bwMode="auto">
          <a:xfrm>
            <a:off x="6016625" y="123825"/>
            <a:ext cx="20843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A’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  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  A 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</p:txBody>
      </p:sp>
      <p:grpSp>
        <p:nvGrpSpPr>
          <p:cNvPr id="53257" name="Group 9"/>
          <p:cNvGrpSpPr/>
          <p:nvPr/>
        </p:nvGrpSpPr>
        <p:grpSpPr>
          <a:xfrm>
            <a:off x="4587875" y="433388"/>
            <a:ext cx="1766888" cy="1401762"/>
            <a:chOff x="2889" y="845"/>
            <a:chExt cx="1019" cy="883"/>
          </a:xfrm>
        </p:grpSpPr>
        <p:graphicFrame>
          <p:nvGraphicFramePr>
            <p:cNvPr id="53266" name="Object 10"/>
            <p:cNvGraphicFramePr/>
            <p:nvPr/>
          </p:nvGraphicFramePr>
          <p:xfrm>
            <a:off x="2889" y="1126"/>
            <a:ext cx="1019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1" r:id="rId3" imgW="673100" imgH="419100" progId="Equation.DSMT4">
                    <p:embed/>
                  </p:oleObj>
                </mc:Choice>
                <mc:Fallback>
                  <p:oleObj r:id="rId3" imgW="673100" imgH="419100" progId="Equation.DSMT4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9" y="1126"/>
                          <a:ext cx="1019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8635" name="Text Box 11"/>
            <p:cNvSpPr txBox="1">
              <a:spLocks noChangeArrowheads="1"/>
            </p:cNvSpPr>
            <p:nvPr/>
          </p:nvSpPr>
          <p:spPr bwMode="auto">
            <a:xfrm>
              <a:off x="3107" y="845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热机</a:t>
              </a:r>
            </a:p>
          </p:txBody>
        </p:sp>
      </p:grpSp>
      <p:sp>
        <p:nvSpPr>
          <p:cNvPr id="538636" name="AutoShape 12"/>
          <p:cNvSpPr/>
          <p:nvPr/>
        </p:nvSpPr>
        <p:spPr>
          <a:xfrm>
            <a:off x="6300788" y="2016125"/>
            <a:ext cx="1152525" cy="288925"/>
          </a:xfrm>
          <a:prstGeom prst="rightArrow">
            <a:avLst>
              <a:gd name="adj1" fmla="val 50000"/>
              <a:gd name="adj2" fmla="val 99577"/>
            </a:avLst>
          </a:prstGeom>
          <a:gradFill rotWithShape="1">
            <a:gsLst>
              <a:gs pos="0">
                <a:srgbClr val="FFCCCC"/>
              </a:gs>
              <a:gs pos="50000">
                <a:srgbClr val="FFFFFF"/>
              </a:gs>
              <a:gs pos="100000">
                <a:srgbClr val="FFCCCC"/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38637" name="Text Box 13"/>
          <p:cNvSpPr txBox="1">
            <a:spLocks noChangeArrowheads="1"/>
          </p:cNvSpPr>
          <p:nvPr/>
        </p:nvSpPr>
        <p:spPr bwMode="auto">
          <a:xfrm>
            <a:off x="7540625" y="1924050"/>
            <a:ext cx="15271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A”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&lt;A’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</p:txBody>
      </p:sp>
      <p:grpSp>
        <p:nvGrpSpPr>
          <p:cNvPr id="3" name="Group 14"/>
          <p:cNvGrpSpPr/>
          <p:nvPr/>
        </p:nvGrpSpPr>
        <p:grpSpPr>
          <a:xfrm>
            <a:off x="6011863" y="2305050"/>
            <a:ext cx="1803400" cy="1401763"/>
            <a:chOff x="3694" y="2024"/>
            <a:chExt cx="1136" cy="883"/>
          </a:xfrm>
        </p:grpSpPr>
        <p:sp>
          <p:nvSpPr>
            <p:cNvPr id="538639" name="Text Box 15"/>
            <p:cNvSpPr txBox="1">
              <a:spLocks noChangeArrowheads="1"/>
            </p:cNvSpPr>
            <p:nvPr/>
          </p:nvSpPr>
          <p:spPr bwMode="auto">
            <a:xfrm>
              <a:off x="3969" y="2024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热机</a:t>
              </a:r>
            </a:p>
          </p:txBody>
        </p:sp>
        <p:graphicFrame>
          <p:nvGraphicFramePr>
            <p:cNvPr id="53265" name="Object 16"/>
            <p:cNvGraphicFramePr/>
            <p:nvPr/>
          </p:nvGraphicFramePr>
          <p:xfrm>
            <a:off x="3694" y="2305"/>
            <a:ext cx="1136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2" r:id="rId5" imgW="749300" imgH="419100" progId="Equation.DSMT4">
                    <p:embed/>
                  </p:oleObj>
                </mc:Choice>
                <mc:Fallback>
                  <p:oleObj r:id="rId5" imgW="749300" imgH="419100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94" y="2305"/>
                          <a:ext cx="1136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/>
          <p:nvPr/>
        </p:nvGrpSpPr>
        <p:grpSpPr>
          <a:xfrm>
            <a:off x="1501775" y="3313113"/>
            <a:ext cx="1122363" cy="638175"/>
            <a:chOff x="946" y="2659"/>
            <a:chExt cx="707" cy="402"/>
          </a:xfrm>
        </p:grpSpPr>
        <p:sp>
          <p:nvSpPr>
            <p:cNvPr id="538642" name="Text Box 18"/>
            <p:cNvSpPr txBox="1">
              <a:spLocks noChangeArrowheads="1"/>
            </p:cNvSpPr>
            <p:nvPr/>
          </p:nvSpPr>
          <p:spPr bwMode="auto">
            <a:xfrm>
              <a:off x="946" y="2659"/>
              <a:ext cx="69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………</a:t>
              </a:r>
            </a:p>
          </p:txBody>
        </p:sp>
        <p:sp>
          <p:nvSpPr>
            <p:cNvPr id="538643" name="Text Box 19"/>
            <p:cNvSpPr txBox="1">
              <a:spLocks noChangeArrowheads="1"/>
            </p:cNvSpPr>
            <p:nvPr/>
          </p:nvSpPr>
          <p:spPr bwMode="auto">
            <a:xfrm>
              <a:off x="958" y="2773"/>
              <a:ext cx="69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………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/>
      <p:bldP spid="538629" grpId="0" bldLvl="0" animBg="1"/>
      <p:bldP spid="538630" grpId="0"/>
      <p:bldP spid="5386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44" name="Object 4"/>
          <p:cNvGraphicFramePr>
            <a:graphicFrameLocks noChangeAspect="1"/>
          </p:cNvGraphicFramePr>
          <p:nvPr/>
        </p:nvGraphicFramePr>
        <p:xfrm>
          <a:off x="1911350" y="987425"/>
          <a:ext cx="3825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" r:id="rId3" imgW="165100" imgH="215900" progId="Equation.3">
                  <p:embed/>
                </p:oleObj>
              </mc:Choice>
              <mc:Fallback>
                <p:oleObj r:id="rId3" imgW="165100" imgH="2159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1350" y="987425"/>
                        <a:ext cx="382588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45" name="Oval 5"/>
          <p:cNvSpPr/>
          <p:nvPr/>
        </p:nvSpPr>
        <p:spPr>
          <a:xfrm>
            <a:off x="920750" y="1673225"/>
            <a:ext cx="457200" cy="457200"/>
          </a:xfrm>
          <a:prstGeom prst="ellipse">
            <a:avLst/>
          </a:prstGeom>
          <a:solidFill>
            <a:srgbClr val="EAEAEA"/>
          </a:solidFill>
          <a:ln w="28575" cap="flat" cmpd="sng">
            <a:solidFill>
              <a:srgbClr val="99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31846" name="Line 6"/>
          <p:cNvSpPr/>
          <p:nvPr/>
        </p:nvSpPr>
        <p:spPr>
          <a:xfrm>
            <a:off x="1377950" y="1901825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31847" name="Rectangle 7"/>
          <p:cNvSpPr/>
          <p:nvPr/>
        </p:nvSpPr>
        <p:spPr>
          <a:xfrm>
            <a:off x="539750" y="2435225"/>
            <a:ext cx="1219200" cy="152400"/>
          </a:xfrm>
          <a:prstGeom prst="rect">
            <a:avLst/>
          </a:prstGeom>
          <a:solidFill>
            <a:srgbClr val="FF33CC"/>
          </a:solidFill>
          <a:ln w="9525" cap="flat" cmpd="sng">
            <a:solidFill>
              <a:srgbClr val="FF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31848" name="Rectangle 8"/>
          <p:cNvSpPr/>
          <p:nvPr/>
        </p:nvSpPr>
        <p:spPr>
          <a:xfrm>
            <a:off x="539750" y="1139825"/>
            <a:ext cx="1219200" cy="1524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31849" name="Line 9"/>
          <p:cNvSpPr/>
          <p:nvPr/>
        </p:nvSpPr>
        <p:spPr>
          <a:xfrm>
            <a:off x="1149350" y="1216025"/>
            <a:ext cx="0" cy="457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31850" name="Line 10"/>
          <p:cNvSpPr/>
          <p:nvPr/>
        </p:nvSpPr>
        <p:spPr>
          <a:xfrm>
            <a:off x="1149350" y="2130425"/>
            <a:ext cx="0" cy="381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931851" name="Object 11"/>
          <p:cNvGraphicFramePr>
            <a:graphicFrameLocks noChangeAspect="1"/>
          </p:cNvGraphicFramePr>
          <p:nvPr/>
        </p:nvGraphicFramePr>
        <p:xfrm>
          <a:off x="1835150" y="2300288"/>
          <a:ext cx="384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6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150" y="2300288"/>
                        <a:ext cx="384175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2" name="Object 12"/>
          <p:cNvGraphicFramePr>
            <a:graphicFrameLocks noChangeAspect="1"/>
          </p:cNvGraphicFramePr>
          <p:nvPr/>
        </p:nvGraphicFramePr>
        <p:xfrm>
          <a:off x="1927225" y="1731963"/>
          <a:ext cx="3810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7" r:id="rId7" imgW="165100" imgH="165100" progId="Equation.DSMT4">
                  <p:embed/>
                </p:oleObj>
              </mc:Choice>
              <mc:Fallback>
                <p:oleObj r:id="rId7" imgW="165100" imgH="1651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7225" y="1731963"/>
                        <a:ext cx="381000" cy="382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3" name="Object 13"/>
          <p:cNvGraphicFramePr>
            <a:graphicFrameLocks noChangeAspect="1"/>
          </p:cNvGraphicFramePr>
          <p:nvPr/>
        </p:nvGraphicFramePr>
        <p:xfrm>
          <a:off x="692150" y="1292225"/>
          <a:ext cx="339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8" r:id="rId9" imgW="190500" imgH="215900" progId="Equation.3">
                  <p:embed/>
                </p:oleObj>
              </mc:Choice>
              <mc:Fallback>
                <p:oleObj r:id="rId9" imgW="190500" imgH="2159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2150" y="1292225"/>
                        <a:ext cx="3397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4" name="Object 14"/>
          <p:cNvGraphicFramePr>
            <a:graphicFrameLocks noChangeAspect="1"/>
          </p:cNvGraphicFramePr>
          <p:nvPr/>
        </p:nvGraphicFramePr>
        <p:xfrm>
          <a:off x="692150" y="2054225"/>
          <a:ext cx="3603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9" r:id="rId11" imgW="203200" imgH="215900" progId="Equation.3">
                  <p:embed/>
                </p:oleObj>
              </mc:Choice>
              <mc:Fallback>
                <p:oleObj r:id="rId11" imgW="203200" imgH="2159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2150" y="2054225"/>
                        <a:ext cx="3603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394512"/>
              </p:ext>
            </p:extLst>
          </p:nvPr>
        </p:nvGraphicFramePr>
        <p:xfrm>
          <a:off x="317500" y="2781300"/>
          <a:ext cx="21669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0" name="Equation" r:id="rId13" imgW="26212800" imgH="9753600" progId="Equation.DSMT4">
                  <p:embed/>
                </p:oleObj>
              </mc:Choice>
              <mc:Fallback>
                <p:oleObj name="Equation" r:id="rId13" imgW="26212800" imgH="97536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7500" y="2781300"/>
                        <a:ext cx="2166938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34925" y="115888"/>
            <a:ext cx="3962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能量退降与熵增</a:t>
            </a:r>
            <a:endParaRPr kumimoji="0" lang="zh-CN" altLang="en-US" sz="2800" b="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7" name="Oval 19"/>
          <p:cNvSpPr/>
          <p:nvPr/>
        </p:nvSpPr>
        <p:spPr>
          <a:xfrm>
            <a:off x="5867400" y="1858963"/>
            <a:ext cx="457200" cy="457200"/>
          </a:xfrm>
          <a:prstGeom prst="ellipse">
            <a:avLst/>
          </a:prstGeom>
          <a:solidFill>
            <a:srgbClr val="EAEAEA"/>
          </a:solidFill>
          <a:ln w="28575" cap="flat" cmpd="sng">
            <a:solidFill>
              <a:srgbClr val="99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E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38" name="Line 20"/>
          <p:cNvSpPr/>
          <p:nvPr/>
        </p:nvSpPr>
        <p:spPr>
          <a:xfrm flipH="1">
            <a:off x="5380038" y="208756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" name="Rectangle 21"/>
          <p:cNvSpPr/>
          <p:nvPr/>
        </p:nvSpPr>
        <p:spPr>
          <a:xfrm>
            <a:off x="5608638" y="2697163"/>
            <a:ext cx="1425575" cy="153987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40" name="Line 22"/>
          <p:cNvSpPr/>
          <p:nvPr/>
        </p:nvSpPr>
        <p:spPr>
          <a:xfrm>
            <a:off x="6065838" y="1401763"/>
            <a:ext cx="0" cy="457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" name="Line 23"/>
          <p:cNvSpPr/>
          <p:nvPr/>
        </p:nvSpPr>
        <p:spPr>
          <a:xfrm>
            <a:off x="6065838" y="2316163"/>
            <a:ext cx="0" cy="381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2" name="Object 24"/>
          <p:cNvGraphicFramePr>
            <a:graphicFrameLocks noChangeAspect="1"/>
          </p:cNvGraphicFramePr>
          <p:nvPr/>
        </p:nvGraphicFramePr>
        <p:xfrm>
          <a:off x="7207250" y="2349500"/>
          <a:ext cx="382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1" r:id="rId15" imgW="165100" imgH="228600" progId="Equation.3">
                  <p:embed/>
                </p:oleObj>
              </mc:Choice>
              <mc:Fallback>
                <p:oleObj r:id="rId15" imgW="165100" imgH="2286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07250" y="2349500"/>
                        <a:ext cx="382588" cy="533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5"/>
          <p:cNvGraphicFramePr>
            <a:graphicFrameLocks noChangeAspect="1"/>
          </p:cNvGraphicFramePr>
          <p:nvPr/>
        </p:nvGraphicFramePr>
        <p:xfrm>
          <a:off x="4932363" y="1903413"/>
          <a:ext cx="5286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2" r:id="rId17" imgW="4876800" imgH="3962400" progId="Equation.DSMT4">
                  <p:embed/>
                </p:oleObj>
              </mc:Choice>
              <mc:Fallback>
                <p:oleObj r:id="rId17" imgW="4876800" imgH="39624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32363" y="1903413"/>
                        <a:ext cx="528637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1"/>
          <p:cNvGraphicFramePr>
            <a:graphicFrameLocks noChangeAspect="1"/>
          </p:cNvGraphicFramePr>
          <p:nvPr/>
        </p:nvGraphicFramePr>
        <p:xfrm>
          <a:off x="5526088" y="2851150"/>
          <a:ext cx="16335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3" r:id="rId19" imgW="16764000" imgH="5486400" progId="Equation.DSMT4">
                  <p:embed/>
                </p:oleObj>
              </mc:Choice>
              <mc:Fallback>
                <p:oleObj r:id="rId19" imgW="16764000" imgH="54864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26088" y="2851150"/>
                        <a:ext cx="163353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0"/>
          <p:cNvGraphicFramePr>
            <a:graphicFrameLocks noChangeAspect="1"/>
          </p:cNvGraphicFramePr>
          <p:nvPr/>
        </p:nvGraphicFramePr>
        <p:xfrm>
          <a:off x="7038975" y="293688"/>
          <a:ext cx="3825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4" r:id="rId21" imgW="165100" imgH="215900" progId="Equation.3">
                  <p:embed/>
                </p:oleObj>
              </mc:Choice>
              <mc:Fallback>
                <p:oleObj r:id="rId21" imgW="165100" imgH="2159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8975" y="293688"/>
                        <a:ext cx="382588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8"/>
          <p:cNvSpPr/>
          <p:nvPr/>
        </p:nvSpPr>
        <p:spPr>
          <a:xfrm>
            <a:off x="5676900" y="485775"/>
            <a:ext cx="1271588" cy="14605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681663" y="1260475"/>
            <a:ext cx="1266825" cy="165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61" name="Line 22"/>
          <p:cNvSpPr/>
          <p:nvPr/>
        </p:nvSpPr>
        <p:spPr>
          <a:xfrm>
            <a:off x="6037263" y="692150"/>
            <a:ext cx="0" cy="5762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" name="Object 41"/>
          <p:cNvGraphicFramePr>
            <a:graphicFrameLocks noChangeAspect="1"/>
          </p:cNvGraphicFramePr>
          <p:nvPr/>
        </p:nvGraphicFramePr>
        <p:xfrm>
          <a:off x="7034213" y="1123950"/>
          <a:ext cx="3825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5" r:id="rId22" imgW="3962400" imgH="5486400" progId="Equation.DSMT4">
                  <p:embed/>
                </p:oleObj>
              </mc:Choice>
              <mc:Fallback>
                <p:oleObj r:id="rId22" imgW="3962400" imgH="54864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034213" y="1123950"/>
                        <a:ext cx="382587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2"/>
          <p:cNvGraphicFramePr>
            <a:graphicFrameLocks noChangeAspect="1"/>
          </p:cNvGraphicFramePr>
          <p:nvPr/>
        </p:nvGraphicFramePr>
        <p:xfrm>
          <a:off x="6162675" y="774700"/>
          <a:ext cx="2730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6" r:id="rId24" imgW="3657600" imgH="4876800" progId="Equation.DSMT4">
                  <p:embed/>
                </p:oleObj>
              </mc:Choice>
              <mc:Fallback>
                <p:oleObj r:id="rId24" imgW="3657600" imgH="48768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62675" y="774700"/>
                        <a:ext cx="273050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4"/>
          <p:cNvGraphicFramePr>
            <a:graphicFrameLocks noChangeAspect="1"/>
          </p:cNvGraphicFramePr>
          <p:nvPr/>
        </p:nvGraphicFramePr>
        <p:xfrm>
          <a:off x="6180138" y="1484313"/>
          <a:ext cx="2730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7" name="Equation" r:id="rId26" imgW="3657600" imgH="4876800" progId="Equation.DSMT4">
                  <p:embed/>
                </p:oleObj>
              </mc:Choice>
              <mc:Fallback>
                <p:oleObj name="Equation" r:id="rId26" imgW="3657600" imgH="48768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80138" y="1484313"/>
                        <a:ext cx="273050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/>
        </p:nvGraphicFramePr>
        <p:xfrm>
          <a:off x="4859338" y="3373438"/>
          <a:ext cx="28130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8" r:id="rId27" imgW="26822400" imgH="9753600" progId="Equation.DSMT4">
                  <p:embed/>
                </p:oleObj>
              </mc:Choice>
              <mc:Fallback>
                <p:oleObj r:id="rId27" imgW="26822400" imgH="97536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859338" y="3373438"/>
                        <a:ext cx="2813050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16"/>
          <p:cNvSpPr>
            <a:spLocks noChangeArrowheads="1"/>
          </p:cNvSpPr>
          <p:nvPr/>
        </p:nvSpPr>
        <p:spPr bwMode="auto">
          <a:xfrm flipH="1">
            <a:off x="3779838" y="44450"/>
            <a:ext cx="1368425" cy="681038"/>
          </a:xfrm>
          <a:prstGeom prst="wedgeRoundRectCallout">
            <a:avLst>
              <a:gd name="adj1" fmla="val -103032"/>
              <a:gd name="adj2" fmla="val 102866"/>
              <a:gd name="adj3" fmla="val 16667"/>
            </a:avLst>
          </a:prstGeom>
          <a:solidFill>
            <a:srgbClr val="0033CC"/>
          </a:solidFill>
          <a:ln w="2857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不可逆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68313" y="614363"/>
            <a:ext cx="14208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卡诺循环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07950" y="5805488"/>
            <a:ext cx="29702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不可逆：自发，熵增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Text Box 18"/>
          <p:cNvSpPr txBox="1">
            <a:spLocks noChangeArrowheads="1"/>
          </p:cNvSpPr>
          <p:nvPr/>
        </p:nvSpPr>
        <p:spPr bwMode="auto">
          <a:xfrm>
            <a:off x="3276600" y="5718175"/>
            <a:ext cx="28082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不可逆过程</a:t>
            </a:r>
            <a:endParaRPr kumimoji="0" lang="zh-CN" altLang="en-US" sz="2800" b="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Text Box 36"/>
          <p:cNvSpPr txBox="1">
            <a:spLocks noChangeArrowheads="1"/>
          </p:cNvSpPr>
          <p:nvPr/>
        </p:nvSpPr>
        <p:spPr bwMode="auto">
          <a:xfrm>
            <a:off x="6732588" y="5718175"/>
            <a:ext cx="310991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能量退降</a:t>
            </a:r>
            <a:endParaRPr kumimoji="0" lang="zh-CN" altLang="en-US" sz="2800" b="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Text Box 18"/>
          <p:cNvSpPr txBox="1">
            <a:spLocks noChangeArrowheads="1"/>
          </p:cNvSpPr>
          <p:nvPr/>
        </p:nvSpPr>
        <p:spPr bwMode="auto">
          <a:xfrm>
            <a:off x="5724525" y="5718175"/>
            <a:ext cx="18002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熵增加</a:t>
            </a:r>
            <a:endParaRPr kumimoji="0" lang="zh-CN" altLang="en-US" sz="2800" b="0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Line 28"/>
          <p:cNvSpPr/>
          <p:nvPr/>
        </p:nvSpPr>
        <p:spPr>
          <a:xfrm>
            <a:off x="5627688" y="5949950"/>
            <a:ext cx="39528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9" name="Line 28"/>
          <p:cNvSpPr/>
          <p:nvPr/>
        </p:nvSpPr>
        <p:spPr>
          <a:xfrm>
            <a:off x="7164388" y="5949950"/>
            <a:ext cx="39528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Oval 19"/>
          <p:cNvSpPr/>
          <p:nvPr/>
        </p:nvSpPr>
        <p:spPr>
          <a:xfrm>
            <a:off x="898525" y="1673225"/>
            <a:ext cx="457200" cy="457200"/>
          </a:xfrm>
          <a:prstGeom prst="ellipse">
            <a:avLst/>
          </a:prstGeom>
          <a:solidFill>
            <a:srgbClr val="EAEAEA"/>
          </a:solidFill>
          <a:ln w="28575" cap="flat" cmpd="sng">
            <a:solidFill>
              <a:srgbClr val="99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E</a:t>
            </a: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25C249-A3A9-4C7B-9345-932A6CB9A37D}"/>
              </a:ext>
            </a:extLst>
          </p:cNvPr>
          <p:cNvSpPr/>
          <p:nvPr/>
        </p:nvSpPr>
        <p:spPr bwMode="auto">
          <a:xfrm>
            <a:off x="932537" y="1343025"/>
            <a:ext cx="88900" cy="3114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4B8A93E-0996-44D5-86E2-5B39BF5EA813}"/>
              </a:ext>
            </a:extLst>
          </p:cNvPr>
          <p:cNvSpPr/>
          <p:nvPr/>
        </p:nvSpPr>
        <p:spPr bwMode="auto">
          <a:xfrm>
            <a:off x="1082675" y="3171447"/>
            <a:ext cx="88900" cy="3114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6" name="Text Box 40">
            <a:extLst>
              <a:ext uri="{FF2B5EF4-FFF2-40B4-BE49-F238E27FC236}">
                <a16:creationId xmlns:a16="http://schemas.microsoft.com/office/drawing/2014/main" id="{BE3AB6F0-12EB-4EF7-81F8-21F3753A4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95812"/>
            <a:ext cx="2084388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A’</a:t>
            </a:r>
            <a:r>
              <a:rPr kumimoji="1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  A  </a:t>
            </a:r>
            <a:endParaRPr kumimoji="1" lang="zh-CN" altLang="en-US" sz="2800" kern="1200" cap="none" spc="0" normalizeH="0" baseline="0" noProof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3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45" grpId="0" bldLvl="0" animBg="1"/>
      <p:bldP spid="931847" grpId="0" bldLvl="0" animBg="1"/>
      <p:bldP spid="931848" grpId="0" bldLvl="0" animBg="1"/>
      <p:bldP spid="37" grpId="0" bldLvl="0" animBg="1"/>
      <p:bldP spid="39" grpId="0" bldLvl="0" animBg="1"/>
      <p:bldP spid="59" grpId="0" bldLvl="0" animBg="1"/>
      <p:bldP spid="60" grpId="0" bldLvl="0" animBg="1"/>
      <p:bldP spid="69" grpId="0" bldLvl="0" animBg="1"/>
      <p:bldP spid="70" grpId="0"/>
      <p:bldP spid="71" grpId="0"/>
      <p:bldP spid="75" grpId="0"/>
      <p:bldP spid="76" grpId="0"/>
      <p:bldP spid="77" grpId="0"/>
      <p:bldP spid="2" grpId="0" bldLvl="0" animBg="1"/>
      <p:bldP spid="4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51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539650" name="Text Box 2"/>
          <p:cNvSpPr txBox="1"/>
          <p:nvPr/>
        </p:nvSpPr>
        <p:spPr>
          <a:xfrm>
            <a:off x="838200" y="188913"/>
            <a:ext cx="6705600" cy="180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</a:rPr>
              <a:t>对热</a:t>
            </a: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  <a:sym typeface="Symbol" panose="05050102010706020507" pitchFamily="18" charset="2"/>
              </a:rPr>
              <a:t></a:t>
            </a: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</a:rPr>
              <a:t>律深入认识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 panose="02010609030101010101" pitchFamily="49" charset="-122"/>
              </a:rPr>
              <a:t>A) </a:t>
            </a:r>
            <a:r>
              <a:rPr lang="zh-CN" altLang="en-US" sz="2800" b="1" dirty="0">
                <a:solidFill>
                  <a:srgbClr val="CC3300"/>
                </a:solidFill>
                <a:ea typeface="仿宋_GB2312" panose="02010609030101010101" pitchFamily="49" charset="-122"/>
              </a:rPr>
              <a:t>熵的角度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ea typeface="仿宋_GB2312" panose="02010609030101010101" pitchFamily="49" charset="-122"/>
              </a:rPr>
              <a:t>     孤立系统 </a:t>
            </a:r>
            <a:r>
              <a:rPr lang="en-US" altLang="zh-CN" sz="2800" b="1" dirty="0">
                <a:ea typeface="仿宋_GB2312" panose="02010609030101010101" pitchFamily="49" charset="-122"/>
              </a:rPr>
              <a:t>…  </a:t>
            </a:r>
            <a:r>
              <a:rPr lang="zh-CN" altLang="en-US" sz="2800" b="1" dirty="0">
                <a:ea typeface="仿宋_GB2312" panose="02010609030101010101" pitchFamily="49" charset="-122"/>
              </a:rPr>
              <a:t>导致熵的增加</a:t>
            </a:r>
          </a:p>
        </p:txBody>
      </p:sp>
      <p:sp>
        <p:nvSpPr>
          <p:cNvPr id="539651" name="Text Box 3"/>
          <p:cNvSpPr txBox="1"/>
          <p:nvPr/>
        </p:nvSpPr>
        <p:spPr>
          <a:xfrm>
            <a:off x="845872" y="2199482"/>
            <a:ext cx="6248400" cy="2443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 panose="02010609030101010101" pitchFamily="49" charset="-122"/>
              </a:rPr>
              <a:t>B) </a:t>
            </a:r>
            <a:r>
              <a:rPr lang="zh-CN" altLang="en-US" sz="2800" b="1" dirty="0">
                <a:solidFill>
                  <a:srgbClr val="CC3300"/>
                </a:solidFill>
                <a:ea typeface="仿宋_GB2312" panose="02010609030101010101" pitchFamily="49" charset="-122"/>
              </a:rPr>
              <a:t>能量退降角度</a:t>
            </a:r>
            <a:r>
              <a:rPr lang="zh-CN" altLang="en-US" sz="2800" b="1" dirty="0">
                <a:ea typeface="仿宋_GB2312" panose="02010609030101010101" pitchFamily="49" charset="-122"/>
              </a:rPr>
              <a:t> 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ea typeface="仿宋_GB2312" panose="02010609030101010101" pitchFamily="49" charset="-122"/>
              </a:rPr>
              <a:t>     孤立系统内发生的自发过程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ea typeface="仿宋_GB2312" panose="02010609030101010101" pitchFamily="49" charset="-122"/>
              </a:rPr>
              <a:t>     必然导致能量的退降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800" b="1" dirty="0">
              <a:ea typeface="仿宋_GB2312" panose="02010609030101010101" pitchFamily="49" charset="-122"/>
            </a:endParaRPr>
          </a:p>
        </p:txBody>
      </p:sp>
      <p:sp>
        <p:nvSpPr>
          <p:cNvPr id="539652" name="Text Box 4"/>
          <p:cNvSpPr txBox="1"/>
          <p:nvPr/>
        </p:nvSpPr>
        <p:spPr>
          <a:xfrm>
            <a:off x="1040708" y="4116308"/>
            <a:ext cx="5715000" cy="11604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</a:rPr>
              <a:t>熵</a:t>
            </a:r>
            <a:r>
              <a:rPr lang="zh-CN" altLang="en-US" sz="2800" b="1" dirty="0">
                <a:solidFill>
                  <a:srgbClr val="FF5050"/>
                </a:solidFill>
                <a:ea typeface="仿宋_GB2312" panose="02010609030101010101" pitchFamily="49" charset="-122"/>
              </a:rPr>
              <a:t>是能量</a:t>
            </a: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</a:rPr>
              <a:t>不可用程度</a:t>
            </a:r>
            <a:r>
              <a:rPr lang="zh-CN" altLang="en-US" sz="2800" b="1" dirty="0">
                <a:solidFill>
                  <a:srgbClr val="FF5050"/>
                </a:solidFill>
                <a:ea typeface="仿宋_GB2312" panose="02010609030101010101" pitchFamily="49" charset="-122"/>
              </a:rPr>
              <a:t>的量度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5050"/>
                </a:solidFill>
                <a:ea typeface="仿宋_GB2312" panose="02010609030101010101" pitchFamily="49" charset="-122"/>
              </a:rPr>
              <a:t>能量危机 就是</a:t>
            </a:r>
            <a:r>
              <a:rPr lang="zh-CN" altLang="en-US" sz="2800" b="1" dirty="0">
                <a:solidFill>
                  <a:schemeClr val="accent2"/>
                </a:solidFill>
                <a:ea typeface="仿宋_GB2312" panose="02010609030101010101" pitchFamily="49" charset="-122"/>
              </a:rPr>
              <a:t>熵的危机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4E151E1-3EC0-4826-A21C-B58CF1114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708" y="5399007"/>
            <a:ext cx="5899150" cy="1160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人类要做的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不是如何保住它的数量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，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而是要</a:t>
            </a:r>
            <a:r>
              <a:rPr kumimoji="1" lang="zh-CN" altLang="en-US" sz="28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珍惜它的质量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9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9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0" grpId="0" build="p"/>
      <p:bldP spid="539651" grpId="0" build="p"/>
      <p:bldP spid="539652" grpId="0" build="p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400" b="0" dirty="0">
                <a:ea typeface="宋体" panose="02010600030101010101" pitchFamily="2" charset="-122"/>
              </a:rPr>
              <a:t>52</a:t>
            </a:fld>
            <a:endParaRPr lang="en-US" altLang="en-US" sz="1400" b="0" dirty="0">
              <a:ea typeface="宋体" panose="02010600030101010101" pitchFamily="2" charset="-122"/>
            </a:endParaRPr>
          </a:p>
        </p:txBody>
      </p:sp>
      <p:sp>
        <p:nvSpPr>
          <p:cNvPr id="1085442" name="文本框 1085441"/>
          <p:cNvSpPr txBox="1"/>
          <p:nvPr/>
        </p:nvSpPr>
        <p:spPr>
          <a:xfrm>
            <a:off x="1487488" y="1341438"/>
            <a:ext cx="3671888" cy="519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CCFFFF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仿宋_GB2312" panose="02010609030101010101" pitchFamily="49" charset="-122"/>
                <a:cs typeface="+mn-cs"/>
              </a:rPr>
              <a:t>单向性：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仿宋_GB2312" panose="02010609030101010101" pitchFamily="49" charset="-122"/>
                <a:cs typeface="+mn-cs"/>
              </a:rPr>
              <a:t>什么方向？</a:t>
            </a:r>
          </a:p>
        </p:txBody>
      </p:sp>
      <p:sp>
        <p:nvSpPr>
          <p:cNvPr id="1085443" name="文本框 1085442"/>
          <p:cNvSpPr txBox="1"/>
          <p:nvPr/>
        </p:nvSpPr>
        <p:spPr>
          <a:xfrm>
            <a:off x="395288" y="234950"/>
            <a:ext cx="8748713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13-9   </a:t>
            </a:r>
            <a:r>
              <a:rPr kumimoji="0" lang="zh-CN" altLang="en-US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热力学概率   热力学第二定律的统计意义</a:t>
            </a:r>
            <a:r>
              <a:rPr kumimoji="0" lang="zh-CN" altLang="en-US" kern="1200" cap="none" spc="0" normalizeH="0" baseline="0" noProof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</a:t>
            </a:r>
          </a:p>
        </p:txBody>
      </p:sp>
      <p:sp>
        <p:nvSpPr>
          <p:cNvPr id="1085444" name="矩形 1085443"/>
          <p:cNvSpPr/>
          <p:nvPr/>
        </p:nvSpPr>
        <p:spPr>
          <a:xfrm>
            <a:off x="1416050" y="765175"/>
            <a:ext cx="6115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自发过程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不可逆的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具有单向性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</a:t>
            </a:r>
          </a:p>
        </p:txBody>
      </p:sp>
      <p:grpSp>
        <p:nvGrpSpPr>
          <p:cNvPr id="1085445" name="组合 1085444"/>
          <p:cNvGrpSpPr/>
          <p:nvPr/>
        </p:nvGrpSpPr>
        <p:grpSpPr>
          <a:xfrm>
            <a:off x="179388" y="1935163"/>
            <a:ext cx="7656512" cy="993775"/>
            <a:chOff x="288" y="480"/>
            <a:chExt cx="4272" cy="626"/>
          </a:xfrm>
        </p:grpSpPr>
        <p:sp>
          <p:nvSpPr>
            <p:cNvPr id="1085446" name="文本框 1085445"/>
            <p:cNvSpPr txBox="1"/>
            <p:nvPr/>
          </p:nvSpPr>
          <p:spPr>
            <a:xfrm>
              <a:off x="288" y="480"/>
              <a:ext cx="42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1">
                  <a:solidFill>
                    <a:srgbClr val="33CC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Wingdings" panose="05000000000000000000" pitchFamily="2" charset="2"/>
                </a:rPr>
                <a:t></a:t>
              </a:r>
              <a:r>
                <a:rPr kumimoji="0" lang="en-US" altLang="zh-CN" sz="2400" kern="1200" cap="none" spc="0" normalizeH="0" baseline="0" noProof="1">
                  <a:solidFill>
                    <a:srgbClr val="33CC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功：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与宏观定向运动相联系，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有序运动</a:t>
              </a:r>
            </a:p>
          </p:txBody>
        </p:sp>
        <p:sp>
          <p:nvSpPr>
            <p:cNvPr id="1085447" name="文本框 1085446"/>
            <p:cNvSpPr txBox="1"/>
            <p:nvPr/>
          </p:nvSpPr>
          <p:spPr>
            <a:xfrm>
              <a:off x="576" y="816"/>
              <a:ext cx="369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热：</a:t>
              </a: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与分子无规则运动相联系</a:t>
              </a:r>
              <a:r>
                <a:rPr kumimoji="0" lang="en-US" altLang="zh-CN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, </a:t>
              </a: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无序运动</a:t>
              </a:r>
            </a:p>
          </p:txBody>
        </p:sp>
      </p:grpSp>
      <p:grpSp>
        <p:nvGrpSpPr>
          <p:cNvPr id="1085448" name="组合 1085447"/>
          <p:cNvGrpSpPr/>
          <p:nvPr/>
        </p:nvGrpSpPr>
        <p:grpSpPr>
          <a:xfrm>
            <a:off x="2339975" y="5540375"/>
            <a:ext cx="6804025" cy="1069975"/>
            <a:chOff x="1872" y="2784"/>
            <a:chExt cx="3744" cy="674"/>
          </a:xfrm>
        </p:grpSpPr>
        <p:sp>
          <p:nvSpPr>
            <p:cNvPr id="1085449" name="文本框 1085448"/>
            <p:cNvSpPr txBox="1"/>
            <p:nvPr/>
          </p:nvSpPr>
          <p:spPr>
            <a:xfrm>
              <a:off x="1872" y="2784"/>
              <a:ext cx="3504" cy="32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CC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单向性：</a:t>
              </a:r>
              <a:r>
                <a:rPr kumimoji="0" lang="zh-CN" altLang="en-US" sz="2800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anose="02010609030101010101" pitchFamily="49" charset="-122"/>
                  <a:ea typeface="仿宋_GB2312" panose="02010609030101010101" pitchFamily="49" charset="-122"/>
                  <a:cs typeface="+mn-cs"/>
                </a:rPr>
                <a:t>无序度增大的方向</a:t>
              </a:r>
            </a:p>
          </p:txBody>
        </p:sp>
        <p:sp>
          <p:nvSpPr>
            <p:cNvPr id="1085450" name="文本框 1085449"/>
            <p:cNvSpPr txBox="1"/>
            <p:nvPr/>
          </p:nvSpPr>
          <p:spPr>
            <a:xfrm>
              <a:off x="1872" y="3168"/>
              <a:ext cx="37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实际自发过程都向无序度增大的方向进行</a:t>
              </a:r>
            </a:p>
          </p:txBody>
        </p:sp>
      </p:grpSp>
      <p:sp>
        <p:nvSpPr>
          <p:cNvPr id="1085451" name="文本框 1085450"/>
          <p:cNvSpPr txBox="1"/>
          <p:nvPr/>
        </p:nvSpPr>
        <p:spPr>
          <a:xfrm>
            <a:off x="249238" y="4257675"/>
            <a:ext cx="23495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 typeface="宋体" panose="02010600030101010101" pitchFamily="2" charset="-122"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33CC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 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自由膨胀</a:t>
            </a:r>
            <a:endParaRPr kumimoji="0" lang="zh-CN" altLang="en-US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85452" name="组合 1085451"/>
          <p:cNvGrpSpPr/>
          <p:nvPr/>
        </p:nvGrpSpPr>
        <p:grpSpPr>
          <a:xfrm>
            <a:off x="282575" y="4797425"/>
            <a:ext cx="2057400" cy="2057400"/>
            <a:chOff x="288" y="2640"/>
            <a:chExt cx="1435" cy="1488"/>
          </a:xfrm>
        </p:grpSpPr>
        <p:pic>
          <p:nvPicPr>
            <p:cNvPr id="112653" name="图片 1085452" descr="TEST5_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" y="2640"/>
              <a:ext cx="1435" cy="148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85454" name="文本框 1085453"/>
            <p:cNvSpPr txBox="1"/>
            <p:nvPr/>
          </p:nvSpPr>
          <p:spPr>
            <a:xfrm>
              <a:off x="1008" y="2784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0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真空</a:t>
              </a:r>
            </a:p>
          </p:txBody>
        </p:sp>
      </p:grpSp>
      <p:sp>
        <p:nvSpPr>
          <p:cNvPr id="1085455" name="文本框 1085454"/>
          <p:cNvSpPr txBox="1"/>
          <p:nvPr/>
        </p:nvSpPr>
        <p:spPr>
          <a:xfrm>
            <a:off x="1547813" y="3016250"/>
            <a:ext cx="22447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热转换       </a:t>
            </a:r>
          </a:p>
        </p:txBody>
      </p:sp>
      <p:grpSp>
        <p:nvGrpSpPr>
          <p:cNvPr id="1085456" name="组合 1085455"/>
          <p:cNvGrpSpPr/>
          <p:nvPr/>
        </p:nvGrpSpPr>
        <p:grpSpPr>
          <a:xfrm>
            <a:off x="3635375" y="2986088"/>
            <a:ext cx="2489200" cy="476250"/>
            <a:chOff x="2562" y="1797"/>
            <a:chExt cx="1568" cy="300"/>
          </a:xfrm>
        </p:grpSpPr>
        <p:sp>
          <p:nvSpPr>
            <p:cNvPr id="1085457" name="文本框 1085456"/>
            <p:cNvSpPr txBox="1"/>
            <p:nvPr/>
          </p:nvSpPr>
          <p:spPr>
            <a:xfrm>
              <a:off x="2562" y="1797"/>
              <a:ext cx="10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无序度</a:t>
              </a:r>
            </a:p>
          </p:txBody>
        </p:sp>
        <p:sp>
          <p:nvSpPr>
            <p:cNvPr id="112658" name="直接连接符 1085457"/>
            <p:cNvSpPr/>
            <p:nvPr/>
          </p:nvSpPr>
          <p:spPr>
            <a:xfrm flipV="1">
              <a:off x="3288" y="1839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85459" name="文本框 1085458"/>
            <p:cNvSpPr txBox="1"/>
            <p:nvPr/>
          </p:nvSpPr>
          <p:spPr>
            <a:xfrm>
              <a:off x="3470" y="1807"/>
              <a:ext cx="66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自动</a:t>
              </a:r>
            </a:p>
          </p:txBody>
        </p:sp>
      </p:grpSp>
      <p:grpSp>
        <p:nvGrpSpPr>
          <p:cNvPr id="1085460" name="组合 1085459"/>
          <p:cNvGrpSpPr/>
          <p:nvPr/>
        </p:nvGrpSpPr>
        <p:grpSpPr>
          <a:xfrm>
            <a:off x="3635375" y="3535363"/>
            <a:ext cx="2819400" cy="488950"/>
            <a:chOff x="2290" y="2170"/>
            <a:chExt cx="1776" cy="308"/>
          </a:xfrm>
        </p:grpSpPr>
        <p:sp>
          <p:nvSpPr>
            <p:cNvPr id="1085461" name="文本框 1085460"/>
            <p:cNvSpPr txBox="1"/>
            <p:nvPr/>
          </p:nvSpPr>
          <p:spPr>
            <a:xfrm>
              <a:off x="2290" y="2170"/>
              <a:ext cx="94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无序度</a:t>
              </a:r>
            </a:p>
          </p:txBody>
        </p:sp>
        <p:sp>
          <p:nvSpPr>
            <p:cNvPr id="112662" name="直接连接符 1085461"/>
            <p:cNvSpPr/>
            <p:nvPr/>
          </p:nvSpPr>
          <p:spPr>
            <a:xfrm flipV="1">
              <a:off x="2992" y="2227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085463" name="文本框 1085462"/>
            <p:cNvSpPr txBox="1"/>
            <p:nvPr/>
          </p:nvSpPr>
          <p:spPr>
            <a:xfrm>
              <a:off x="3229" y="2188"/>
              <a:ext cx="83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非自动</a:t>
              </a:r>
            </a:p>
          </p:txBody>
        </p:sp>
      </p:grpSp>
      <p:sp>
        <p:nvSpPr>
          <p:cNvPr id="1085464" name="文本框 1085463"/>
          <p:cNvSpPr txBox="1"/>
          <p:nvPr/>
        </p:nvSpPr>
        <p:spPr>
          <a:xfrm>
            <a:off x="1547813" y="3592513"/>
            <a:ext cx="22447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zh-CN" altLang="en-US" sz="2400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功转换       </a:t>
            </a:r>
          </a:p>
        </p:txBody>
      </p:sp>
      <p:grpSp>
        <p:nvGrpSpPr>
          <p:cNvPr id="1085465" name="组合 1085464"/>
          <p:cNvGrpSpPr/>
          <p:nvPr/>
        </p:nvGrpSpPr>
        <p:grpSpPr>
          <a:xfrm>
            <a:off x="2411413" y="4767263"/>
            <a:ext cx="6337300" cy="479425"/>
            <a:chOff x="1519" y="3003"/>
            <a:chExt cx="3992" cy="302"/>
          </a:xfrm>
        </p:grpSpPr>
        <p:sp>
          <p:nvSpPr>
            <p:cNvPr id="1085466" name="文本框 1085465"/>
            <p:cNvSpPr txBox="1"/>
            <p:nvPr/>
          </p:nvSpPr>
          <p:spPr>
            <a:xfrm>
              <a:off x="1519" y="3015"/>
              <a:ext cx="62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体积</a:t>
              </a:r>
            </a:p>
          </p:txBody>
        </p:sp>
        <p:sp>
          <p:nvSpPr>
            <p:cNvPr id="112667" name="直接连接符 1085466"/>
            <p:cNvSpPr/>
            <p:nvPr/>
          </p:nvSpPr>
          <p:spPr>
            <a:xfrm flipV="1">
              <a:off x="2018" y="3093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085468" name="文本框 1085467"/>
            <p:cNvSpPr txBox="1"/>
            <p:nvPr/>
          </p:nvSpPr>
          <p:spPr>
            <a:xfrm>
              <a:off x="2297" y="3012"/>
              <a:ext cx="134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位置不确定性</a:t>
              </a:r>
            </a:p>
          </p:txBody>
        </p:sp>
        <p:sp>
          <p:nvSpPr>
            <p:cNvPr id="112669" name="直接连接符 1085468"/>
            <p:cNvSpPr/>
            <p:nvPr/>
          </p:nvSpPr>
          <p:spPr>
            <a:xfrm flipV="1">
              <a:off x="3560" y="302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085470" name="文本框 1085469"/>
            <p:cNvSpPr txBox="1"/>
            <p:nvPr/>
          </p:nvSpPr>
          <p:spPr>
            <a:xfrm>
              <a:off x="3761" y="3012"/>
              <a:ext cx="9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无序度</a:t>
              </a:r>
            </a:p>
          </p:txBody>
        </p:sp>
        <p:sp>
          <p:nvSpPr>
            <p:cNvPr id="112671" name="直接连接符 1085470"/>
            <p:cNvSpPr/>
            <p:nvPr/>
          </p:nvSpPr>
          <p:spPr>
            <a:xfrm flipV="1">
              <a:off x="4454" y="304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085472" name="文本框 1085471"/>
            <p:cNvSpPr txBox="1"/>
            <p:nvPr/>
          </p:nvSpPr>
          <p:spPr>
            <a:xfrm>
              <a:off x="4681" y="3003"/>
              <a:ext cx="83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非自动</a:t>
              </a:r>
            </a:p>
          </p:txBody>
        </p:sp>
      </p:grpSp>
      <p:grpSp>
        <p:nvGrpSpPr>
          <p:cNvPr id="1085473" name="组合 1085472"/>
          <p:cNvGrpSpPr/>
          <p:nvPr/>
        </p:nvGrpSpPr>
        <p:grpSpPr>
          <a:xfrm>
            <a:off x="2411413" y="4229100"/>
            <a:ext cx="5926137" cy="498475"/>
            <a:chOff x="1519" y="2562"/>
            <a:chExt cx="3733" cy="314"/>
          </a:xfrm>
        </p:grpSpPr>
        <p:sp>
          <p:nvSpPr>
            <p:cNvPr id="112674" name="直接连接符 1085473"/>
            <p:cNvSpPr/>
            <p:nvPr/>
          </p:nvSpPr>
          <p:spPr>
            <a:xfrm flipV="1">
              <a:off x="2018" y="261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85475" name="文本框 1085474"/>
            <p:cNvSpPr txBox="1"/>
            <p:nvPr/>
          </p:nvSpPr>
          <p:spPr>
            <a:xfrm>
              <a:off x="2297" y="2562"/>
              <a:ext cx="134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位置不确定性</a:t>
              </a:r>
            </a:p>
          </p:txBody>
        </p:sp>
        <p:sp>
          <p:nvSpPr>
            <p:cNvPr id="112676" name="直接连接符 1085475"/>
            <p:cNvSpPr/>
            <p:nvPr/>
          </p:nvSpPr>
          <p:spPr>
            <a:xfrm flipV="1">
              <a:off x="3560" y="261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85477" name="文本框 1085476"/>
            <p:cNvSpPr txBox="1"/>
            <p:nvPr/>
          </p:nvSpPr>
          <p:spPr>
            <a:xfrm>
              <a:off x="3761" y="2562"/>
              <a:ext cx="9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无序度</a:t>
              </a:r>
            </a:p>
          </p:txBody>
        </p:sp>
        <p:sp>
          <p:nvSpPr>
            <p:cNvPr id="112678" name="直接连接符 1085477"/>
            <p:cNvSpPr/>
            <p:nvPr/>
          </p:nvSpPr>
          <p:spPr>
            <a:xfrm flipV="1">
              <a:off x="4454" y="261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85479" name="文本框 1085478"/>
            <p:cNvSpPr txBox="1"/>
            <p:nvPr/>
          </p:nvSpPr>
          <p:spPr>
            <a:xfrm>
              <a:off x="4681" y="2569"/>
              <a:ext cx="5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自动</a:t>
              </a:r>
            </a:p>
          </p:txBody>
        </p:sp>
        <p:sp>
          <p:nvSpPr>
            <p:cNvPr id="1085480" name="矩形 1085479"/>
            <p:cNvSpPr/>
            <p:nvPr/>
          </p:nvSpPr>
          <p:spPr>
            <a:xfrm>
              <a:off x="1519" y="2586"/>
              <a:ext cx="50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体积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8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8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8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8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8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8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85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85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8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8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8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2" grpId="0" bldLvl="0" animBg="1"/>
      <p:bldP spid="1085444" grpId="0"/>
      <p:bldP spid="1085451" grpId="0"/>
      <p:bldP spid="1085455" grpId="0"/>
      <p:bldP spid="108546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53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86466" name="Text Box 2"/>
          <p:cNvSpPr txBox="1">
            <a:spLocks noChangeArrowheads="1"/>
          </p:cNvSpPr>
          <p:nvPr/>
        </p:nvSpPr>
        <p:spPr bwMode="auto">
          <a:xfrm>
            <a:off x="250825" y="1268413"/>
            <a:ext cx="6858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</a:t>
            </a: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宏观状态与微观状态</a:t>
            </a:r>
          </a:p>
        </p:txBody>
      </p:sp>
      <p:sp>
        <p:nvSpPr>
          <p:cNvPr id="1086467" name="Rectangle 3"/>
          <p:cNvSpPr>
            <a:spLocks noChangeArrowheads="1"/>
          </p:cNvSpPr>
          <p:nvPr/>
        </p:nvSpPr>
        <p:spPr bwMode="auto">
          <a:xfrm>
            <a:off x="539750" y="1844675"/>
            <a:ext cx="39608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（以气体的自由膨胀为例）</a:t>
            </a:r>
          </a:p>
        </p:txBody>
      </p:sp>
      <p:sp>
        <p:nvSpPr>
          <p:cNvPr id="1086468" name="Text Box 4"/>
          <p:cNvSpPr txBox="1">
            <a:spLocks noChangeArrowheads="1"/>
          </p:cNvSpPr>
          <p:nvPr/>
        </p:nvSpPr>
        <p:spPr bwMode="auto">
          <a:xfrm>
            <a:off x="6018213" y="3917950"/>
            <a:ext cx="20161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四个分子</a:t>
            </a:r>
          </a:p>
        </p:txBody>
      </p:sp>
      <p:sp>
        <p:nvSpPr>
          <p:cNvPr id="1086469" name="Text Box 5"/>
          <p:cNvSpPr txBox="1">
            <a:spLocks noChangeArrowheads="1"/>
          </p:cNvSpPr>
          <p:nvPr/>
        </p:nvSpPr>
        <p:spPr bwMode="auto">
          <a:xfrm>
            <a:off x="323850" y="2492375"/>
            <a:ext cx="4930775" cy="515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表示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左，右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各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有多少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个分子      </a:t>
            </a:r>
            <a:endParaRPr kumimoji="1" lang="zh-CN" altLang="en-US" sz="2400" b="0" kern="1200" cap="none" spc="0" normalizeH="0" baseline="0" noProof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6470" name="Text Box 6"/>
          <p:cNvSpPr txBox="1">
            <a:spLocks noChangeArrowheads="1"/>
          </p:cNvSpPr>
          <p:nvPr/>
        </p:nvSpPr>
        <p:spPr bwMode="auto">
          <a:xfrm>
            <a:off x="539750" y="4192588"/>
            <a:ext cx="4614863" cy="515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表示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左，右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各是</a:t>
            </a:r>
            <a:r>
              <a:rPr kumimoji="1" lang="zh-CN" altLang="en-US" sz="24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哪些</a:t>
            </a:r>
            <a:r>
              <a:rPr kumimoji="1" lang="zh-CN" altLang="en-US" sz="2400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分子     </a:t>
            </a:r>
          </a:p>
        </p:txBody>
      </p:sp>
      <p:sp>
        <p:nvSpPr>
          <p:cNvPr id="1086471" name="Rectangle 7"/>
          <p:cNvSpPr>
            <a:spLocks noChangeArrowheads="1"/>
          </p:cNvSpPr>
          <p:nvPr/>
        </p:nvSpPr>
        <p:spPr bwMode="auto">
          <a:xfrm>
            <a:off x="1331913" y="3068638"/>
            <a:ext cx="38893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称为系统的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宏观状态</a:t>
            </a:r>
          </a:p>
        </p:txBody>
      </p:sp>
      <p:sp>
        <p:nvSpPr>
          <p:cNvPr id="1086472" name="Rectangle 8"/>
          <p:cNvSpPr>
            <a:spLocks noChangeArrowheads="1"/>
          </p:cNvSpPr>
          <p:nvPr/>
        </p:nvSpPr>
        <p:spPr bwMode="auto">
          <a:xfrm>
            <a:off x="1573213" y="4724400"/>
            <a:ext cx="3719513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称为系统的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微观状态</a:t>
            </a:r>
          </a:p>
        </p:txBody>
      </p:sp>
      <p:graphicFrame>
        <p:nvGraphicFramePr>
          <p:cNvPr id="1086473" name="Object 9"/>
          <p:cNvGraphicFramePr/>
          <p:nvPr/>
        </p:nvGraphicFramePr>
        <p:xfrm>
          <a:off x="7439025" y="4494213"/>
          <a:ext cx="14541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7" r:id="rId3" imgW="469265" imgH="203200" progId="Equation.3">
                  <p:embed/>
                </p:oleObj>
              </mc:Choice>
              <mc:Fallback>
                <p:oleObj r:id="rId3" imgW="469265" imgH="203200" progId="Equation.3">
                  <p:embed/>
                  <p:pic>
                    <p:nvPicPr>
                      <p:cNvPr id="0" name="图片 34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9025" y="4494213"/>
                        <a:ext cx="1454150" cy="5476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66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4" name="Rectangle 10"/>
          <p:cNvSpPr>
            <a:spLocks noChangeArrowheads="1"/>
          </p:cNvSpPr>
          <p:nvPr/>
        </p:nvSpPr>
        <p:spPr bwMode="auto">
          <a:xfrm>
            <a:off x="5508625" y="4513263"/>
            <a:ext cx="17160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分子编号为</a:t>
            </a:r>
          </a:p>
        </p:txBody>
      </p:sp>
      <p:sp>
        <p:nvSpPr>
          <p:cNvPr id="1086475" name="Text Box 11"/>
          <p:cNvSpPr txBox="1">
            <a:spLocks noChangeArrowheads="1"/>
          </p:cNvSpPr>
          <p:nvPr/>
        </p:nvSpPr>
        <p:spPr bwMode="auto">
          <a:xfrm>
            <a:off x="395288" y="5589588"/>
            <a:ext cx="8001000" cy="865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宏观态与微观态关系：</a:t>
            </a:r>
          </a:p>
          <a:p>
            <a:pPr marR="0" defTabSz="914400" eaLnBrk="0" hangingPunct="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一个宏观态对应多个微观态。</a:t>
            </a:r>
          </a:p>
        </p:txBody>
      </p:sp>
      <p:sp>
        <p:nvSpPr>
          <p:cNvPr id="1086476" name="Text Box 12"/>
          <p:cNvSpPr txBox="1">
            <a:spLocks noChangeArrowheads="1"/>
          </p:cNvSpPr>
          <p:nvPr/>
        </p:nvSpPr>
        <p:spPr bwMode="auto">
          <a:xfrm>
            <a:off x="250825" y="188913"/>
            <a:ext cx="7129463" cy="94615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问题：怎样定量地描写系统状态的无序度和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过程进行的方向性？</a:t>
            </a:r>
            <a:endParaRPr kumimoji="1" lang="zh-CN" altLang="en-US" sz="2800" b="0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6477" name="Rectangle 13"/>
          <p:cNvSpPr/>
          <p:nvPr/>
        </p:nvSpPr>
        <p:spPr>
          <a:xfrm>
            <a:off x="323850" y="2492375"/>
            <a:ext cx="4968875" cy="1152525"/>
          </a:xfrm>
          <a:prstGeom prst="rect">
            <a:avLst/>
          </a:prstGeom>
          <a:noFill/>
          <a:ln w="9525" cap="flat" cmpd="sng">
            <a:solidFill>
              <a:srgbClr val="00BCB8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78" name="Rectangle 14"/>
          <p:cNvSpPr/>
          <p:nvPr/>
        </p:nvSpPr>
        <p:spPr>
          <a:xfrm>
            <a:off x="323850" y="4198938"/>
            <a:ext cx="4968875" cy="1174750"/>
          </a:xfrm>
          <a:prstGeom prst="rect">
            <a:avLst/>
          </a:prstGeom>
          <a:noFill/>
          <a:ln w="9525" cap="flat" cmpd="sng">
            <a:solidFill>
              <a:srgbClr val="00BCB8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79" name="Rectangle 15"/>
          <p:cNvSpPr/>
          <p:nvPr/>
        </p:nvSpPr>
        <p:spPr>
          <a:xfrm>
            <a:off x="5456238" y="2627313"/>
            <a:ext cx="3048000" cy="1219200"/>
          </a:xfrm>
          <a:prstGeom prst="rect">
            <a:avLst/>
          </a:prstGeom>
          <a:gradFill rotWithShape="1">
            <a:gsLst>
              <a:gs pos="0">
                <a:srgbClr val="762525"/>
              </a:gs>
              <a:gs pos="50000">
                <a:srgbClr val="FF5050"/>
              </a:gs>
              <a:gs pos="100000">
                <a:srgbClr val="762525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0" name="Rectangle 16"/>
          <p:cNvSpPr/>
          <p:nvPr/>
        </p:nvSpPr>
        <p:spPr>
          <a:xfrm>
            <a:off x="5540375" y="2722563"/>
            <a:ext cx="2879725" cy="10096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1" name="Rectangle 17" descr="20%"/>
          <p:cNvSpPr/>
          <p:nvPr/>
        </p:nvSpPr>
        <p:spPr>
          <a:xfrm rot="-5400000">
            <a:off x="5722938" y="2527300"/>
            <a:ext cx="1014412" cy="1385888"/>
          </a:xfrm>
          <a:prstGeom prst="rect">
            <a:avLst/>
          </a:prstGeom>
          <a:pattFill prst="pct20">
            <a:fgClr>
              <a:srgbClr val="000000"/>
            </a:fgClr>
            <a:bgClr>
              <a:srgbClr val="FFFFFF"/>
            </a:bgClr>
          </a:pattFill>
          <a:ln w="76200">
            <a:noFill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2" name="Rectangle 18"/>
          <p:cNvSpPr/>
          <p:nvPr/>
        </p:nvSpPr>
        <p:spPr>
          <a:xfrm>
            <a:off x="6931025" y="2584450"/>
            <a:ext cx="77788" cy="11477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3" name="Text Box 19"/>
          <p:cNvSpPr txBox="1"/>
          <p:nvPr/>
        </p:nvSpPr>
        <p:spPr>
          <a:xfrm>
            <a:off x="5867400" y="2008188"/>
            <a:ext cx="232568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气体的自由膨胀</a:t>
            </a:r>
          </a:p>
        </p:txBody>
      </p:sp>
      <p:sp>
        <p:nvSpPr>
          <p:cNvPr id="1086484" name="Rectangle 20" descr="5%"/>
          <p:cNvSpPr/>
          <p:nvPr/>
        </p:nvSpPr>
        <p:spPr>
          <a:xfrm rot="-5400000">
            <a:off x="6451600" y="1785938"/>
            <a:ext cx="1025525" cy="2882900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 w="76200">
            <a:noFill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5" name="Rectangle 21"/>
          <p:cNvSpPr/>
          <p:nvPr/>
        </p:nvSpPr>
        <p:spPr>
          <a:xfrm>
            <a:off x="5537200" y="2713038"/>
            <a:ext cx="2879725" cy="10096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86486" name="Rectangle 22"/>
          <p:cNvSpPr/>
          <p:nvPr/>
        </p:nvSpPr>
        <p:spPr>
          <a:xfrm>
            <a:off x="6943725" y="2614613"/>
            <a:ext cx="77788" cy="11477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5718175" y="2903538"/>
            <a:ext cx="487363" cy="460375"/>
            <a:chOff x="3744" y="2064"/>
            <a:chExt cx="307" cy="290"/>
          </a:xfrm>
        </p:grpSpPr>
        <p:graphicFrame>
          <p:nvGraphicFramePr>
            <p:cNvPr id="113688" name="Object 24"/>
            <p:cNvGraphicFramePr/>
            <p:nvPr/>
          </p:nvGraphicFramePr>
          <p:xfrm>
            <a:off x="3744" y="216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8" r:id="rId5" imgW="114300" imgH="114300" progId="Equation.3">
                    <p:embed/>
                  </p:oleObj>
                </mc:Choice>
                <mc:Fallback>
                  <p:oleObj r:id="rId5" imgW="114300" imgH="114300" progId="Equation.3">
                    <p:embed/>
                    <p:pic>
                      <p:nvPicPr>
                        <p:cNvPr id="0" name="图片 342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44" y="216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89" name="Text Box 25"/>
            <p:cNvSpPr txBox="1"/>
            <p:nvPr/>
          </p:nvSpPr>
          <p:spPr>
            <a:xfrm>
              <a:off x="3840" y="2064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3" name="Group 26"/>
          <p:cNvGrpSpPr/>
          <p:nvPr/>
        </p:nvGrpSpPr>
        <p:grpSpPr>
          <a:xfrm>
            <a:off x="6327775" y="2946400"/>
            <a:ext cx="504825" cy="460375"/>
            <a:chOff x="4128" y="2064"/>
            <a:chExt cx="318" cy="290"/>
          </a:xfrm>
        </p:grpSpPr>
        <p:graphicFrame>
          <p:nvGraphicFramePr>
            <p:cNvPr id="113691" name="Object 27"/>
            <p:cNvGraphicFramePr/>
            <p:nvPr/>
          </p:nvGraphicFramePr>
          <p:xfrm>
            <a:off x="4128" y="216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9" r:id="rId7" imgW="114300" imgH="114300" progId="Equation.3">
                    <p:embed/>
                  </p:oleObj>
                </mc:Choice>
                <mc:Fallback>
                  <p:oleObj r:id="rId7" imgW="114300" imgH="114300" progId="Equation.3">
                    <p:embed/>
                    <p:pic>
                      <p:nvPicPr>
                        <p:cNvPr id="0" name="图片 34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28" y="216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92" name="Text Box 28"/>
            <p:cNvSpPr txBox="1"/>
            <p:nvPr/>
          </p:nvSpPr>
          <p:spPr>
            <a:xfrm>
              <a:off x="4224" y="2064"/>
              <a:ext cx="22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6022975" y="3306763"/>
            <a:ext cx="469900" cy="460375"/>
            <a:chOff x="3936" y="2256"/>
            <a:chExt cx="296" cy="290"/>
          </a:xfrm>
        </p:grpSpPr>
        <p:graphicFrame>
          <p:nvGraphicFramePr>
            <p:cNvPr id="113694" name="Object 30"/>
            <p:cNvGraphicFramePr/>
            <p:nvPr/>
          </p:nvGraphicFramePr>
          <p:xfrm>
            <a:off x="3936" y="2352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0" r:id="rId8" imgW="114300" imgH="114300" progId="Equation.3">
                    <p:embed/>
                  </p:oleObj>
                </mc:Choice>
                <mc:Fallback>
                  <p:oleObj r:id="rId8" imgW="114300" imgH="114300" progId="Equation.3">
                    <p:embed/>
                    <p:pic>
                      <p:nvPicPr>
                        <p:cNvPr id="0" name="图片 34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6" y="2352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95" name="Text Box 31"/>
            <p:cNvSpPr txBox="1"/>
            <p:nvPr/>
          </p:nvSpPr>
          <p:spPr>
            <a:xfrm>
              <a:off x="4032" y="2256"/>
              <a:ext cx="2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5" name="Group 32"/>
          <p:cNvGrpSpPr/>
          <p:nvPr/>
        </p:nvGrpSpPr>
        <p:grpSpPr>
          <a:xfrm>
            <a:off x="6038850" y="2659063"/>
            <a:ext cx="504825" cy="460375"/>
            <a:chOff x="3744" y="2064"/>
            <a:chExt cx="318" cy="290"/>
          </a:xfrm>
        </p:grpSpPr>
        <p:graphicFrame>
          <p:nvGraphicFramePr>
            <p:cNvPr id="113697" name="Object 33"/>
            <p:cNvGraphicFramePr/>
            <p:nvPr/>
          </p:nvGraphicFramePr>
          <p:xfrm>
            <a:off x="3744" y="216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1" r:id="rId9" imgW="114300" imgH="114300" progId="Equation.3">
                    <p:embed/>
                  </p:oleObj>
                </mc:Choice>
                <mc:Fallback>
                  <p:oleObj r:id="rId9" imgW="114300" imgH="114300" progId="Equation.3">
                    <p:embed/>
                    <p:pic>
                      <p:nvPicPr>
                        <p:cNvPr id="0" name="图片 342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44" y="216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98" name="Text Box 34"/>
            <p:cNvSpPr txBox="1"/>
            <p:nvPr/>
          </p:nvSpPr>
          <p:spPr>
            <a:xfrm>
              <a:off x="3840" y="2064"/>
              <a:ext cx="22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8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8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08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8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8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8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86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08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8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8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8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8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108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08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8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08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108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6" grpId="0" bldLvl="0" animBg="1"/>
      <p:bldP spid="1086467" grpId="0" bldLvl="0" animBg="1"/>
      <p:bldP spid="1086468" grpId="0" bldLvl="0" animBg="1"/>
      <p:bldP spid="1086469" grpId="0" bldLvl="0" animBg="1"/>
      <p:bldP spid="1086470" grpId="0" bldLvl="0" animBg="1"/>
      <p:bldP spid="1086471" grpId="0" bldLvl="0" animBg="1"/>
      <p:bldP spid="1086472" grpId="0" bldLvl="0" animBg="1"/>
      <p:bldP spid="1086474" grpId="0" bldLvl="0" animBg="1"/>
      <p:bldP spid="1086475" grpId="0" bldLvl="0" animBg="1"/>
      <p:bldP spid="1086477" grpId="0" bldLvl="0" animBg="1"/>
      <p:bldP spid="1086478" grpId="0" bldLvl="0" animBg="1"/>
      <p:bldP spid="1086479" grpId="0" bldLvl="0" animBg="1"/>
      <p:bldP spid="1086480" grpId="0" bldLvl="0" animBg="1"/>
      <p:bldP spid="1086481" grpId="0" bldLvl="0" animBg="1"/>
      <p:bldP spid="1086482" grpId="0" bldLvl="0" animBg="1"/>
      <p:bldP spid="1086482" grpId="1" bldLvl="0" animBg="1"/>
      <p:bldP spid="1086483" grpId="0"/>
      <p:bldP spid="1086483" grpId="1"/>
      <p:bldP spid="1086484" grpId="0" bldLvl="0" animBg="1"/>
      <p:bldP spid="1086485" grpId="0" bldLvl="0" animBg="1"/>
      <p:bldP spid="1086486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54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18210" name="Text Box 2"/>
          <p:cNvSpPr txBox="1">
            <a:spLocks noChangeArrowheads="1"/>
          </p:cNvSpPr>
          <p:nvPr/>
        </p:nvSpPr>
        <p:spPr bwMode="auto">
          <a:xfrm>
            <a:off x="7710488" y="4005263"/>
            <a:ext cx="1398588" cy="18002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共有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2</a:t>
            </a:r>
            <a:r>
              <a:rPr kumimoji="1" lang="en-US" altLang="zh-CN" sz="2800" kern="1200" cap="none" spc="0" normalizeH="0" baseline="3000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4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=16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个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微观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状态</a:t>
            </a:r>
          </a:p>
        </p:txBody>
      </p:sp>
      <p:graphicFrame>
        <p:nvGraphicFramePr>
          <p:cNvPr id="1118211" name="Object 3"/>
          <p:cNvGraphicFramePr/>
          <p:nvPr/>
        </p:nvGraphicFramePr>
        <p:xfrm>
          <a:off x="107950" y="1196975"/>
          <a:ext cx="12239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1" r:id="rId3" imgW="368300" imgH="393700" progId="Equation.3">
                  <p:embed/>
                </p:oleObj>
              </mc:Choice>
              <mc:Fallback>
                <p:oleObj r:id="rId3" imgW="368300" imgH="393700" progId="Equation.3">
                  <p:embed/>
                  <p:pic>
                    <p:nvPicPr>
                      <p:cNvPr id="0" name="图片 34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950" y="1196975"/>
                        <a:ext cx="1223963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2" name="Object 4"/>
          <p:cNvGraphicFramePr/>
          <p:nvPr/>
        </p:nvGraphicFramePr>
        <p:xfrm>
          <a:off x="7310438" y="1173163"/>
          <a:ext cx="1295400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2" r:id="rId5" imgW="368300" imgH="393700" progId="Equation.3">
                  <p:embed/>
                </p:oleObj>
              </mc:Choice>
              <mc:Fallback>
                <p:oleObj r:id="rId5" imgW="368300" imgH="393700" progId="Equation.3">
                  <p:embed/>
                  <p:pic>
                    <p:nvPicPr>
                      <p:cNvPr id="0" name="图片 34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10438" y="1173163"/>
                        <a:ext cx="1295400" cy="1246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3" name="Object 5"/>
          <p:cNvGraphicFramePr/>
          <p:nvPr/>
        </p:nvGraphicFramePr>
        <p:xfrm>
          <a:off x="2044700" y="4005263"/>
          <a:ext cx="1658938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3" r:id="rId7" imgW="469900" imgH="393700" progId="Equation.3">
                  <p:embed/>
                </p:oleObj>
              </mc:Choice>
              <mc:Fallback>
                <p:oleObj r:id="rId7" imgW="469900" imgH="393700" progId="Equation.3">
                  <p:embed/>
                  <p:pic>
                    <p:nvPicPr>
                      <p:cNvPr id="0" name="图片 34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44700" y="4005263"/>
                        <a:ext cx="1658938" cy="1150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4" name="Object 6"/>
          <p:cNvGraphicFramePr/>
          <p:nvPr/>
        </p:nvGraphicFramePr>
        <p:xfrm>
          <a:off x="5651500" y="4005263"/>
          <a:ext cx="1763713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4" r:id="rId9" imgW="469900" imgH="393700" progId="Equation.3">
                  <p:embed/>
                </p:oleObj>
              </mc:Choice>
              <mc:Fallback>
                <p:oleObj r:id="rId9" imgW="469900" imgH="393700" progId="Equation.3">
                  <p:embed/>
                  <p:pic>
                    <p:nvPicPr>
                      <p:cNvPr id="0" name="图片 34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1500" y="4005263"/>
                        <a:ext cx="1763713" cy="1128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5" name="Object 7"/>
          <p:cNvGraphicFramePr/>
          <p:nvPr/>
        </p:nvGraphicFramePr>
        <p:xfrm>
          <a:off x="3922713" y="5876925"/>
          <a:ext cx="20891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5" r:id="rId11" imgW="495300" imgH="393700" progId="Equation.3">
                  <p:embed/>
                </p:oleObj>
              </mc:Choice>
              <mc:Fallback>
                <p:oleObj r:id="rId11" imgW="495300" imgH="393700" progId="Equation.3">
                  <p:embed/>
                  <p:pic>
                    <p:nvPicPr>
                      <p:cNvPr id="0" name="图片 34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22713" y="5876925"/>
                        <a:ext cx="2089150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6" name="Object 8"/>
          <p:cNvGraphicFramePr/>
          <p:nvPr/>
        </p:nvGraphicFramePr>
        <p:xfrm>
          <a:off x="2124075" y="5799138"/>
          <a:ext cx="10795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6" r:id="rId13" imgW="520700" imgH="431800" progId="Equation.3">
                  <p:embed/>
                </p:oleObj>
              </mc:Choice>
              <mc:Fallback>
                <p:oleObj r:id="rId13" imgW="520700" imgH="431800" progId="Equation.3">
                  <p:embed/>
                  <p:pic>
                    <p:nvPicPr>
                      <p:cNvPr id="0" name="图片 343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24075" y="5799138"/>
                        <a:ext cx="107950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7" name="Line 9"/>
          <p:cNvSpPr/>
          <p:nvPr/>
        </p:nvSpPr>
        <p:spPr>
          <a:xfrm flipH="1">
            <a:off x="1116013" y="115888"/>
            <a:ext cx="71437" cy="431800"/>
          </a:xfrm>
          <a:prstGeom prst="line">
            <a:avLst/>
          </a:prstGeom>
          <a:ln w="9525">
            <a:noFill/>
          </a:ln>
        </p:spPr>
      </p:sp>
      <p:grpSp>
        <p:nvGrpSpPr>
          <p:cNvPr id="114698" name="Group 10"/>
          <p:cNvGrpSpPr/>
          <p:nvPr/>
        </p:nvGrpSpPr>
        <p:grpSpPr>
          <a:xfrm>
            <a:off x="215900" y="44450"/>
            <a:ext cx="8893175" cy="5867400"/>
            <a:chOff x="136" y="119"/>
            <a:chExt cx="5602" cy="3696"/>
          </a:xfrm>
        </p:grpSpPr>
        <p:grpSp>
          <p:nvGrpSpPr>
            <p:cNvPr id="114699" name="Group 11"/>
            <p:cNvGrpSpPr/>
            <p:nvPr/>
          </p:nvGrpSpPr>
          <p:grpSpPr>
            <a:xfrm>
              <a:off x="136" y="119"/>
              <a:ext cx="5602" cy="3696"/>
              <a:chOff x="0" y="48"/>
              <a:chExt cx="5760" cy="3696"/>
            </a:xfrm>
          </p:grpSpPr>
          <p:grpSp>
            <p:nvGrpSpPr>
              <p:cNvPr id="114700" name="Group 12"/>
              <p:cNvGrpSpPr/>
              <p:nvPr/>
            </p:nvGrpSpPr>
            <p:grpSpPr>
              <a:xfrm>
                <a:off x="0" y="48"/>
                <a:ext cx="1152" cy="624"/>
                <a:chOff x="576" y="1536"/>
                <a:chExt cx="1152" cy="624"/>
              </a:xfrm>
            </p:grpSpPr>
            <p:sp>
              <p:nvSpPr>
                <p:cNvPr id="114701" name="Rectangle 13"/>
                <p:cNvSpPr/>
                <p:nvPr/>
              </p:nvSpPr>
              <p:spPr>
                <a:xfrm>
                  <a:off x="576" y="1536"/>
                  <a:ext cx="1152" cy="48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4702" name="Rectangle 14"/>
                <p:cNvSpPr/>
                <p:nvPr/>
              </p:nvSpPr>
              <p:spPr>
                <a:xfrm>
                  <a:off x="576" y="2112"/>
                  <a:ext cx="1152" cy="48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4703" name="Rectangle 15"/>
                <p:cNvSpPr/>
                <p:nvPr/>
              </p:nvSpPr>
              <p:spPr>
                <a:xfrm>
                  <a:off x="576" y="1536"/>
                  <a:ext cx="48" cy="624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4704" name="Rectangle 16"/>
                <p:cNvSpPr/>
                <p:nvPr/>
              </p:nvSpPr>
              <p:spPr>
                <a:xfrm>
                  <a:off x="1680" y="1536"/>
                  <a:ext cx="48" cy="624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114705" name="Group 17"/>
              <p:cNvGrpSpPr/>
              <p:nvPr/>
            </p:nvGrpSpPr>
            <p:grpSpPr>
              <a:xfrm>
                <a:off x="1152" y="48"/>
                <a:ext cx="1152" cy="624"/>
                <a:chOff x="2400" y="1584"/>
                <a:chExt cx="1152" cy="624"/>
              </a:xfrm>
            </p:grpSpPr>
            <p:grpSp>
              <p:nvGrpSpPr>
                <p:cNvPr id="114706" name="Group 18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07" name="Rectangle 19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08" name="Rectangle 20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09" name="Rectangle 21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10" name="Rectangle 22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11" name="Line 23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12" name="Group 24"/>
              <p:cNvGrpSpPr/>
              <p:nvPr/>
            </p:nvGrpSpPr>
            <p:grpSpPr>
              <a:xfrm>
                <a:off x="2304" y="48"/>
                <a:ext cx="1152" cy="624"/>
                <a:chOff x="2400" y="1584"/>
                <a:chExt cx="1152" cy="624"/>
              </a:xfrm>
            </p:grpSpPr>
            <p:grpSp>
              <p:nvGrpSpPr>
                <p:cNvPr id="114713" name="Group 25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14" name="Rectangle 26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15" name="Rectangle 27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16" name="Rectangle 28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17" name="Rectangle 29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18" name="Line 30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19" name="Group 31"/>
              <p:cNvGrpSpPr/>
              <p:nvPr/>
            </p:nvGrpSpPr>
            <p:grpSpPr>
              <a:xfrm>
                <a:off x="4608" y="48"/>
                <a:ext cx="1152" cy="624"/>
                <a:chOff x="2400" y="1584"/>
                <a:chExt cx="1152" cy="624"/>
              </a:xfrm>
            </p:grpSpPr>
            <p:grpSp>
              <p:nvGrpSpPr>
                <p:cNvPr id="114720" name="Group 32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21" name="Rectangle 33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22" name="Rectangle 34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23" name="Rectangle 35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24" name="Rectangle 36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25" name="Line 37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26" name="Group 38"/>
              <p:cNvGrpSpPr/>
              <p:nvPr/>
            </p:nvGrpSpPr>
            <p:grpSpPr>
              <a:xfrm>
                <a:off x="3456" y="48"/>
                <a:ext cx="1152" cy="624"/>
                <a:chOff x="2400" y="1584"/>
                <a:chExt cx="1152" cy="624"/>
              </a:xfrm>
            </p:grpSpPr>
            <p:grpSp>
              <p:nvGrpSpPr>
                <p:cNvPr id="114727" name="Group 39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28" name="Rectangle 40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29" name="Rectangle 41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30" name="Rectangle 42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31" name="Rectangle 43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32" name="Line 44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33" name="Group 45"/>
              <p:cNvGrpSpPr/>
              <p:nvPr/>
            </p:nvGrpSpPr>
            <p:grpSpPr>
              <a:xfrm>
                <a:off x="2304" y="672"/>
                <a:ext cx="1152" cy="624"/>
                <a:chOff x="2400" y="1584"/>
                <a:chExt cx="1152" cy="624"/>
              </a:xfrm>
            </p:grpSpPr>
            <p:grpSp>
              <p:nvGrpSpPr>
                <p:cNvPr id="114734" name="Group 46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35" name="Rectangle 47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36" name="Rectangle 48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37" name="Rectangle 49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38" name="Rectangle 50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39" name="Line 51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40" name="Group 52"/>
              <p:cNvGrpSpPr/>
              <p:nvPr/>
            </p:nvGrpSpPr>
            <p:grpSpPr>
              <a:xfrm>
                <a:off x="1152" y="672"/>
                <a:ext cx="1152" cy="624"/>
                <a:chOff x="2400" y="1584"/>
                <a:chExt cx="1152" cy="624"/>
              </a:xfrm>
            </p:grpSpPr>
            <p:grpSp>
              <p:nvGrpSpPr>
                <p:cNvPr id="114741" name="Group 53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42" name="Rectangle 54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43" name="Rectangle 55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44" name="Rectangle 56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45" name="Rectangle 57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46" name="Line 58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47" name="Group 59"/>
              <p:cNvGrpSpPr/>
              <p:nvPr/>
            </p:nvGrpSpPr>
            <p:grpSpPr>
              <a:xfrm>
                <a:off x="1152" y="1296"/>
                <a:ext cx="1152" cy="624"/>
                <a:chOff x="2400" y="1584"/>
                <a:chExt cx="1152" cy="624"/>
              </a:xfrm>
            </p:grpSpPr>
            <p:grpSp>
              <p:nvGrpSpPr>
                <p:cNvPr id="114748" name="Group 60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49" name="Rectangle 61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0" name="Rectangle 62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1" name="Rectangle 63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2" name="Rectangle 64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53" name="Line 65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54" name="Group 66"/>
              <p:cNvGrpSpPr/>
              <p:nvPr/>
            </p:nvGrpSpPr>
            <p:grpSpPr>
              <a:xfrm>
                <a:off x="1152" y="1920"/>
                <a:ext cx="1152" cy="624"/>
                <a:chOff x="2400" y="1584"/>
                <a:chExt cx="1152" cy="624"/>
              </a:xfrm>
            </p:grpSpPr>
            <p:grpSp>
              <p:nvGrpSpPr>
                <p:cNvPr id="114755" name="Group 67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56" name="Rectangle 68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7" name="Rectangle 69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8" name="Rectangle 70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59" name="Rectangle 71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60" name="Line 72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61" name="Group 73"/>
              <p:cNvGrpSpPr/>
              <p:nvPr/>
            </p:nvGrpSpPr>
            <p:grpSpPr>
              <a:xfrm>
                <a:off x="3456" y="672"/>
                <a:ext cx="1152" cy="624"/>
                <a:chOff x="2400" y="1584"/>
                <a:chExt cx="1152" cy="624"/>
              </a:xfrm>
            </p:grpSpPr>
            <p:grpSp>
              <p:nvGrpSpPr>
                <p:cNvPr id="114762" name="Group 74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63" name="Rectangle 75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64" name="Rectangle 76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65" name="Rectangle 77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66" name="Rectangle 78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67" name="Line 79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68" name="Group 80"/>
              <p:cNvGrpSpPr/>
              <p:nvPr/>
            </p:nvGrpSpPr>
            <p:grpSpPr>
              <a:xfrm>
                <a:off x="2304" y="1296"/>
                <a:ext cx="1152" cy="624"/>
                <a:chOff x="2400" y="1584"/>
                <a:chExt cx="1152" cy="624"/>
              </a:xfrm>
            </p:grpSpPr>
            <p:grpSp>
              <p:nvGrpSpPr>
                <p:cNvPr id="114769" name="Group 81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70" name="Rectangle 82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71" name="Rectangle 83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72" name="Rectangle 84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73" name="Rectangle 85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74" name="Line 86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75" name="Group 87"/>
              <p:cNvGrpSpPr/>
              <p:nvPr/>
            </p:nvGrpSpPr>
            <p:grpSpPr>
              <a:xfrm>
                <a:off x="2304" y="1920"/>
                <a:ext cx="1152" cy="624"/>
                <a:chOff x="2400" y="1584"/>
                <a:chExt cx="1152" cy="624"/>
              </a:xfrm>
            </p:grpSpPr>
            <p:grpSp>
              <p:nvGrpSpPr>
                <p:cNvPr id="114776" name="Group 88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77" name="Rectangle 89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78" name="Rectangle 90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79" name="Rectangle 91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80" name="Rectangle 92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81" name="Line 93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82" name="Group 94"/>
              <p:cNvGrpSpPr/>
              <p:nvPr/>
            </p:nvGrpSpPr>
            <p:grpSpPr>
              <a:xfrm>
                <a:off x="2304" y="2544"/>
                <a:ext cx="1152" cy="624"/>
                <a:chOff x="2400" y="1584"/>
                <a:chExt cx="1152" cy="624"/>
              </a:xfrm>
            </p:grpSpPr>
            <p:grpSp>
              <p:nvGrpSpPr>
                <p:cNvPr id="114783" name="Group 95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84" name="Rectangle 96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85" name="Rectangle 97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86" name="Rectangle 98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87" name="Rectangle 99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88" name="Line 100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89" name="Group 101"/>
              <p:cNvGrpSpPr/>
              <p:nvPr/>
            </p:nvGrpSpPr>
            <p:grpSpPr>
              <a:xfrm>
                <a:off x="2304" y="3120"/>
                <a:ext cx="1152" cy="624"/>
                <a:chOff x="2400" y="1584"/>
                <a:chExt cx="1152" cy="624"/>
              </a:xfrm>
            </p:grpSpPr>
            <p:grpSp>
              <p:nvGrpSpPr>
                <p:cNvPr id="114790" name="Group 102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91" name="Rectangle 103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92" name="Rectangle 104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93" name="Rectangle 105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94" name="Rectangle 106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795" name="Line 107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796" name="Group 108"/>
              <p:cNvGrpSpPr/>
              <p:nvPr/>
            </p:nvGrpSpPr>
            <p:grpSpPr>
              <a:xfrm>
                <a:off x="3456" y="1296"/>
                <a:ext cx="1152" cy="624"/>
                <a:chOff x="2400" y="1584"/>
                <a:chExt cx="1152" cy="624"/>
              </a:xfrm>
            </p:grpSpPr>
            <p:grpSp>
              <p:nvGrpSpPr>
                <p:cNvPr id="114797" name="Group 109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798" name="Rectangle 110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799" name="Rectangle 111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800" name="Rectangle 112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801" name="Rectangle 113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802" name="Line 114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803" name="Group 115"/>
              <p:cNvGrpSpPr/>
              <p:nvPr/>
            </p:nvGrpSpPr>
            <p:grpSpPr>
              <a:xfrm>
                <a:off x="3456" y="1920"/>
                <a:ext cx="1152" cy="624"/>
                <a:chOff x="2400" y="1584"/>
                <a:chExt cx="1152" cy="624"/>
              </a:xfrm>
            </p:grpSpPr>
            <p:grpSp>
              <p:nvGrpSpPr>
                <p:cNvPr id="114804" name="Group 116"/>
                <p:cNvGrpSpPr/>
                <p:nvPr/>
              </p:nvGrpSpPr>
              <p:grpSpPr>
                <a:xfrm>
                  <a:off x="2400" y="1584"/>
                  <a:ext cx="1152" cy="624"/>
                  <a:chOff x="576" y="1536"/>
                  <a:chExt cx="1152" cy="624"/>
                </a:xfrm>
              </p:grpSpPr>
              <p:sp>
                <p:nvSpPr>
                  <p:cNvPr id="114805" name="Rectangle 117"/>
                  <p:cNvSpPr/>
                  <p:nvPr/>
                </p:nvSpPr>
                <p:spPr>
                  <a:xfrm>
                    <a:off x="576" y="1536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806" name="Rectangle 118"/>
                  <p:cNvSpPr/>
                  <p:nvPr/>
                </p:nvSpPr>
                <p:spPr>
                  <a:xfrm>
                    <a:off x="576" y="2112"/>
                    <a:ext cx="1152" cy="48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807" name="Rectangle 119"/>
                  <p:cNvSpPr/>
                  <p:nvPr/>
                </p:nvSpPr>
                <p:spPr>
                  <a:xfrm>
                    <a:off x="576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4808" name="Rectangle 120"/>
                  <p:cNvSpPr/>
                  <p:nvPr/>
                </p:nvSpPr>
                <p:spPr>
                  <a:xfrm>
                    <a:off x="1680" y="1536"/>
                    <a:ext cx="48" cy="624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4809" name="Line 121"/>
                <p:cNvSpPr/>
                <p:nvPr/>
              </p:nvSpPr>
              <p:spPr>
                <a:xfrm>
                  <a:off x="2976" y="158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4810" name="Group 122"/>
              <p:cNvGrpSpPr/>
              <p:nvPr/>
            </p:nvGrpSpPr>
            <p:grpSpPr>
              <a:xfrm>
                <a:off x="0" y="336"/>
                <a:ext cx="251" cy="365"/>
                <a:chOff x="3792" y="3552"/>
                <a:chExt cx="251" cy="365"/>
              </a:xfrm>
            </p:grpSpPr>
            <p:sp>
              <p:nvSpPr>
                <p:cNvPr id="114811" name="Oval 123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3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13" name="Group 125"/>
              <p:cNvGrpSpPr/>
              <p:nvPr/>
            </p:nvGrpSpPr>
            <p:grpSpPr>
              <a:xfrm>
                <a:off x="2352" y="2640"/>
                <a:ext cx="265" cy="384"/>
                <a:chOff x="4416" y="3552"/>
                <a:chExt cx="265" cy="384"/>
              </a:xfrm>
            </p:grpSpPr>
            <p:sp>
              <p:nvSpPr>
                <p:cNvPr id="114814" name="Oval 126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35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16" name="Group 128"/>
              <p:cNvGrpSpPr/>
              <p:nvPr/>
            </p:nvGrpSpPr>
            <p:grpSpPr>
              <a:xfrm>
                <a:off x="192" y="240"/>
                <a:ext cx="237" cy="384"/>
                <a:chOff x="4762" y="3264"/>
                <a:chExt cx="237" cy="384"/>
              </a:xfrm>
            </p:grpSpPr>
            <p:sp>
              <p:nvSpPr>
                <p:cNvPr id="114817" name="Oval 129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38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19" name="Group 131"/>
              <p:cNvGrpSpPr/>
              <p:nvPr/>
            </p:nvGrpSpPr>
            <p:grpSpPr>
              <a:xfrm>
                <a:off x="3072" y="2064"/>
                <a:ext cx="265" cy="384"/>
                <a:chOff x="480" y="1949"/>
                <a:chExt cx="265" cy="384"/>
              </a:xfrm>
            </p:grpSpPr>
            <p:sp>
              <p:nvSpPr>
                <p:cNvPr id="114820" name="Oval 132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41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3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22" name="Group 134"/>
              <p:cNvGrpSpPr/>
              <p:nvPr/>
            </p:nvGrpSpPr>
            <p:grpSpPr>
              <a:xfrm>
                <a:off x="3994" y="259"/>
                <a:ext cx="250" cy="365"/>
                <a:chOff x="3792" y="3552"/>
                <a:chExt cx="250" cy="365"/>
              </a:xfrm>
            </p:grpSpPr>
            <p:sp>
              <p:nvSpPr>
                <p:cNvPr id="114823" name="Oval 135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44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2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25" name="Group 137"/>
              <p:cNvGrpSpPr/>
              <p:nvPr/>
            </p:nvGrpSpPr>
            <p:grpSpPr>
              <a:xfrm>
                <a:off x="4168" y="144"/>
                <a:ext cx="265" cy="384"/>
                <a:chOff x="4416" y="3552"/>
                <a:chExt cx="265" cy="384"/>
              </a:xfrm>
            </p:grpSpPr>
            <p:sp>
              <p:nvSpPr>
                <p:cNvPr id="114826" name="Oval 138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47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3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28" name="Group 140"/>
              <p:cNvGrpSpPr/>
              <p:nvPr/>
            </p:nvGrpSpPr>
            <p:grpSpPr>
              <a:xfrm>
                <a:off x="1872" y="816"/>
                <a:ext cx="237" cy="384"/>
                <a:chOff x="4762" y="3264"/>
                <a:chExt cx="237" cy="384"/>
              </a:xfrm>
            </p:grpSpPr>
            <p:sp>
              <p:nvSpPr>
                <p:cNvPr id="114829" name="Oval 141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50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31" name="Group 143"/>
              <p:cNvGrpSpPr/>
              <p:nvPr/>
            </p:nvGrpSpPr>
            <p:grpSpPr>
              <a:xfrm>
                <a:off x="4330" y="144"/>
                <a:ext cx="236" cy="384"/>
                <a:chOff x="4762" y="3264"/>
                <a:chExt cx="236" cy="384"/>
              </a:xfrm>
            </p:grpSpPr>
            <p:sp>
              <p:nvSpPr>
                <p:cNvPr id="114832" name="Oval 144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53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34" name="Group 146"/>
              <p:cNvGrpSpPr/>
              <p:nvPr/>
            </p:nvGrpSpPr>
            <p:grpSpPr>
              <a:xfrm>
                <a:off x="2880" y="2016"/>
                <a:ext cx="251" cy="365"/>
                <a:chOff x="3792" y="3552"/>
                <a:chExt cx="251" cy="365"/>
              </a:xfrm>
            </p:grpSpPr>
            <p:sp>
              <p:nvSpPr>
                <p:cNvPr id="114835" name="Oval 147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56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37" name="Group 149"/>
              <p:cNvGrpSpPr/>
              <p:nvPr/>
            </p:nvGrpSpPr>
            <p:grpSpPr>
              <a:xfrm>
                <a:off x="4188" y="1920"/>
                <a:ext cx="265" cy="384"/>
                <a:chOff x="4416" y="3552"/>
                <a:chExt cx="265" cy="384"/>
              </a:xfrm>
            </p:grpSpPr>
            <p:sp>
              <p:nvSpPr>
                <p:cNvPr id="114838" name="Oval 150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59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40" name="Group 152"/>
              <p:cNvGrpSpPr/>
              <p:nvPr/>
            </p:nvGrpSpPr>
            <p:grpSpPr>
              <a:xfrm>
                <a:off x="2544" y="768"/>
                <a:ext cx="236" cy="384"/>
                <a:chOff x="4762" y="3264"/>
                <a:chExt cx="236" cy="384"/>
              </a:xfrm>
            </p:grpSpPr>
            <p:sp>
              <p:nvSpPr>
                <p:cNvPr id="114841" name="Oval 153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62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43" name="Group 155"/>
              <p:cNvGrpSpPr/>
              <p:nvPr/>
            </p:nvGrpSpPr>
            <p:grpSpPr>
              <a:xfrm>
                <a:off x="2544" y="1392"/>
                <a:ext cx="265" cy="384"/>
                <a:chOff x="480" y="1949"/>
                <a:chExt cx="265" cy="384"/>
              </a:xfrm>
            </p:grpSpPr>
            <p:sp>
              <p:nvSpPr>
                <p:cNvPr id="114844" name="Oval 156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65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46" name="Group 158"/>
              <p:cNvGrpSpPr/>
              <p:nvPr/>
            </p:nvGrpSpPr>
            <p:grpSpPr>
              <a:xfrm>
                <a:off x="2352" y="1392"/>
                <a:ext cx="250" cy="365"/>
                <a:chOff x="3792" y="3552"/>
                <a:chExt cx="250" cy="365"/>
              </a:xfrm>
            </p:grpSpPr>
            <p:sp>
              <p:nvSpPr>
                <p:cNvPr id="114847" name="Oval 159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68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2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49" name="Group 161"/>
              <p:cNvGrpSpPr/>
              <p:nvPr/>
            </p:nvGrpSpPr>
            <p:grpSpPr>
              <a:xfrm>
                <a:off x="2544" y="192"/>
                <a:ext cx="265" cy="384"/>
                <a:chOff x="4416" y="3552"/>
                <a:chExt cx="265" cy="384"/>
              </a:xfrm>
            </p:grpSpPr>
            <p:sp>
              <p:nvSpPr>
                <p:cNvPr id="114850" name="Oval 162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71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52" name="Group 164"/>
              <p:cNvGrpSpPr/>
              <p:nvPr/>
            </p:nvGrpSpPr>
            <p:grpSpPr>
              <a:xfrm>
                <a:off x="2928" y="144"/>
                <a:ext cx="237" cy="384"/>
                <a:chOff x="4762" y="3264"/>
                <a:chExt cx="237" cy="384"/>
              </a:xfrm>
            </p:grpSpPr>
            <p:sp>
              <p:nvSpPr>
                <p:cNvPr id="114853" name="Oval 165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74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55" name="Group 167"/>
              <p:cNvGrpSpPr/>
              <p:nvPr/>
            </p:nvGrpSpPr>
            <p:grpSpPr>
              <a:xfrm>
                <a:off x="3072" y="768"/>
                <a:ext cx="265" cy="384"/>
                <a:chOff x="480" y="1949"/>
                <a:chExt cx="265" cy="384"/>
              </a:xfrm>
            </p:grpSpPr>
            <p:sp>
              <p:nvSpPr>
                <p:cNvPr id="114856" name="Oval 168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77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3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58" name="Group 170"/>
              <p:cNvGrpSpPr/>
              <p:nvPr/>
            </p:nvGrpSpPr>
            <p:grpSpPr>
              <a:xfrm>
                <a:off x="2304" y="768"/>
                <a:ext cx="251" cy="365"/>
                <a:chOff x="3792" y="3552"/>
                <a:chExt cx="251" cy="365"/>
              </a:xfrm>
            </p:grpSpPr>
            <p:sp>
              <p:nvSpPr>
                <p:cNvPr id="114859" name="Oval 171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80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61" name="Group 173"/>
              <p:cNvGrpSpPr/>
              <p:nvPr/>
            </p:nvGrpSpPr>
            <p:grpSpPr>
              <a:xfrm>
                <a:off x="1902" y="1440"/>
                <a:ext cx="265" cy="384"/>
                <a:chOff x="4416" y="3552"/>
                <a:chExt cx="265" cy="384"/>
              </a:xfrm>
            </p:grpSpPr>
            <p:sp>
              <p:nvSpPr>
                <p:cNvPr id="114862" name="Oval 174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83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64" name="Group 176"/>
              <p:cNvGrpSpPr/>
              <p:nvPr/>
            </p:nvGrpSpPr>
            <p:grpSpPr>
              <a:xfrm>
                <a:off x="5482" y="240"/>
                <a:ext cx="237" cy="384"/>
                <a:chOff x="4762" y="3264"/>
                <a:chExt cx="237" cy="384"/>
              </a:xfrm>
            </p:grpSpPr>
            <p:sp>
              <p:nvSpPr>
                <p:cNvPr id="114865" name="Oval 177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86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67" name="Group 179"/>
              <p:cNvGrpSpPr/>
              <p:nvPr/>
            </p:nvGrpSpPr>
            <p:grpSpPr>
              <a:xfrm>
                <a:off x="3120" y="144"/>
                <a:ext cx="265" cy="384"/>
                <a:chOff x="480" y="1949"/>
                <a:chExt cx="265" cy="384"/>
              </a:xfrm>
            </p:grpSpPr>
            <p:sp>
              <p:nvSpPr>
                <p:cNvPr id="114868" name="Oval 180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89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70" name="Group 182"/>
              <p:cNvGrpSpPr/>
              <p:nvPr/>
            </p:nvGrpSpPr>
            <p:grpSpPr>
              <a:xfrm>
                <a:off x="2304" y="192"/>
                <a:ext cx="251" cy="365"/>
                <a:chOff x="3792" y="3552"/>
                <a:chExt cx="251" cy="365"/>
              </a:xfrm>
            </p:grpSpPr>
            <p:sp>
              <p:nvSpPr>
                <p:cNvPr id="114871" name="Oval 183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92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73" name="Group 185"/>
              <p:cNvGrpSpPr/>
              <p:nvPr/>
            </p:nvGrpSpPr>
            <p:grpSpPr>
              <a:xfrm>
                <a:off x="2400" y="2016"/>
                <a:ext cx="265" cy="384"/>
                <a:chOff x="4416" y="3552"/>
                <a:chExt cx="265" cy="384"/>
              </a:xfrm>
            </p:grpSpPr>
            <p:sp>
              <p:nvSpPr>
                <p:cNvPr id="114874" name="Oval 186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95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76" name="Group 188"/>
              <p:cNvGrpSpPr/>
              <p:nvPr/>
            </p:nvGrpSpPr>
            <p:grpSpPr>
              <a:xfrm>
                <a:off x="2592" y="2016"/>
                <a:ext cx="236" cy="384"/>
                <a:chOff x="4762" y="3264"/>
                <a:chExt cx="236" cy="384"/>
              </a:xfrm>
            </p:grpSpPr>
            <p:sp>
              <p:nvSpPr>
                <p:cNvPr id="114877" name="Oval 189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398" name="Text Box 190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79" name="Group 191"/>
              <p:cNvGrpSpPr/>
              <p:nvPr/>
            </p:nvGrpSpPr>
            <p:grpSpPr>
              <a:xfrm>
                <a:off x="4350" y="2064"/>
                <a:ext cx="265" cy="384"/>
                <a:chOff x="480" y="1949"/>
                <a:chExt cx="265" cy="384"/>
              </a:xfrm>
            </p:grpSpPr>
            <p:sp>
              <p:nvSpPr>
                <p:cNvPr id="114880" name="Oval 192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01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3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82" name="Group 194"/>
              <p:cNvGrpSpPr/>
              <p:nvPr/>
            </p:nvGrpSpPr>
            <p:grpSpPr>
              <a:xfrm>
                <a:off x="1200" y="1488"/>
                <a:ext cx="251" cy="365"/>
                <a:chOff x="3792" y="3552"/>
                <a:chExt cx="251" cy="365"/>
              </a:xfrm>
            </p:grpSpPr>
            <p:sp>
              <p:nvSpPr>
                <p:cNvPr id="114883" name="Oval 195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04" name="Text Box 196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85" name="Group 197"/>
              <p:cNvGrpSpPr/>
              <p:nvPr/>
            </p:nvGrpSpPr>
            <p:grpSpPr>
              <a:xfrm>
                <a:off x="2880" y="816"/>
                <a:ext cx="265" cy="384"/>
                <a:chOff x="4416" y="3552"/>
                <a:chExt cx="265" cy="384"/>
              </a:xfrm>
            </p:grpSpPr>
            <p:sp>
              <p:nvSpPr>
                <p:cNvPr id="114886" name="Oval 198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07" name="Text Box 199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888" name="Group 200"/>
              <p:cNvGrpSpPr/>
              <p:nvPr/>
            </p:nvGrpSpPr>
            <p:grpSpPr>
              <a:xfrm>
                <a:off x="3072" y="1440"/>
                <a:ext cx="237" cy="384"/>
                <a:chOff x="4762" y="3264"/>
                <a:chExt cx="237" cy="384"/>
              </a:xfrm>
            </p:grpSpPr>
            <p:sp>
              <p:nvSpPr>
                <p:cNvPr id="114889" name="Oval 201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10" name="Text Box 202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891" name="Group 203"/>
              <p:cNvGrpSpPr/>
              <p:nvPr/>
            </p:nvGrpSpPr>
            <p:grpSpPr>
              <a:xfrm>
                <a:off x="1422" y="1488"/>
                <a:ext cx="265" cy="384"/>
                <a:chOff x="480" y="1949"/>
                <a:chExt cx="265" cy="384"/>
              </a:xfrm>
            </p:grpSpPr>
            <p:sp>
              <p:nvSpPr>
                <p:cNvPr id="114892" name="Oval 204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13" name="Text Box 205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894" name="Group 206"/>
              <p:cNvGrpSpPr/>
              <p:nvPr/>
            </p:nvGrpSpPr>
            <p:grpSpPr>
              <a:xfrm>
                <a:off x="1200" y="931"/>
                <a:ext cx="251" cy="365"/>
                <a:chOff x="3792" y="3552"/>
                <a:chExt cx="251" cy="365"/>
              </a:xfrm>
            </p:grpSpPr>
            <p:sp>
              <p:nvSpPr>
                <p:cNvPr id="114895" name="Oval 207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16" name="Text Box 208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897" name="Group 209"/>
              <p:cNvGrpSpPr/>
              <p:nvPr/>
            </p:nvGrpSpPr>
            <p:grpSpPr>
              <a:xfrm>
                <a:off x="2880" y="1392"/>
                <a:ext cx="265" cy="384"/>
                <a:chOff x="4416" y="3552"/>
                <a:chExt cx="265" cy="384"/>
              </a:xfrm>
            </p:grpSpPr>
            <p:sp>
              <p:nvSpPr>
                <p:cNvPr id="114898" name="Oval 210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19" name="Text Box 211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00" name="Group 212"/>
              <p:cNvGrpSpPr/>
              <p:nvPr/>
            </p:nvGrpSpPr>
            <p:grpSpPr>
              <a:xfrm>
                <a:off x="4062" y="2064"/>
                <a:ext cx="237" cy="384"/>
                <a:chOff x="4762" y="3264"/>
                <a:chExt cx="237" cy="384"/>
              </a:xfrm>
            </p:grpSpPr>
            <p:sp>
              <p:nvSpPr>
                <p:cNvPr id="114901" name="Oval 213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22" name="Text Box 214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03" name="Group 215"/>
              <p:cNvGrpSpPr/>
              <p:nvPr/>
            </p:nvGrpSpPr>
            <p:grpSpPr>
              <a:xfrm>
                <a:off x="1440" y="912"/>
                <a:ext cx="266" cy="384"/>
                <a:chOff x="480" y="1949"/>
                <a:chExt cx="266" cy="384"/>
              </a:xfrm>
            </p:grpSpPr>
            <p:sp>
              <p:nvSpPr>
                <p:cNvPr id="114904" name="Oval 216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25" name="Text Box 217"/>
                <p:cNvSpPr txBox="1">
                  <a:spLocks noChangeArrowheads="1"/>
                </p:cNvSpPr>
                <p:nvPr/>
              </p:nvSpPr>
              <p:spPr bwMode="auto">
                <a:xfrm>
                  <a:off x="482" y="1968"/>
                  <a:ext cx="26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06" name="Group 218"/>
              <p:cNvGrpSpPr/>
              <p:nvPr/>
            </p:nvGrpSpPr>
            <p:grpSpPr>
              <a:xfrm>
                <a:off x="1916" y="2064"/>
                <a:ext cx="250" cy="365"/>
                <a:chOff x="3792" y="3552"/>
                <a:chExt cx="250" cy="365"/>
              </a:xfrm>
            </p:grpSpPr>
            <p:sp>
              <p:nvSpPr>
                <p:cNvPr id="114907" name="Oval 219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28" name="Text Box 220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2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09" name="Group 221"/>
              <p:cNvGrpSpPr/>
              <p:nvPr/>
            </p:nvGrpSpPr>
            <p:grpSpPr>
              <a:xfrm>
                <a:off x="1296" y="720"/>
                <a:ext cx="265" cy="384"/>
                <a:chOff x="4416" y="3552"/>
                <a:chExt cx="265" cy="384"/>
              </a:xfrm>
            </p:grpSpPr>
            <p:sp>
              <p:nvSpPr>
                <p:cNvPr id="114910" name="Oval 222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31" name="Text Box 223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12" name="Group 224"/>
              <p:cNvGrpSpPr/>
              <p:nvPr/>
            </p:nvGrpSpPr>
            <p:grpSpPr>
              <a:xfrm>
                <a:off x="1296" y="1248"/>
                <a:ext cx="236" cy="384"/>
                <a:chOff x="4762" y="3264"/>
                <a:chExt cx="236" cy="384"/>
              </a:xfrm>
            </p:grpSpPr>
            <p:sp>
              <p:nvSpPr>
                <p:cNvPr id="114913" name="Oval 225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34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15" name="Group 227"/>
              <p:cNvGrpSpPr/>
              <p:nvPr/>
            </p:nvGrpSpPr>
            <p:grpSpPr>
              <a:xfrm>
                <a:off x="1824" y="192"/>
                <a:ext cx="265" cy="384"/>
                <a:chOff x="480" y="1949"/>
                <a:chExt cx="265" cy="384"/>
              </a:xfrm>
            </p:grpSpPr>
            <p:sp>
              <p:nvSpPr>
                <p:cNvPr id="114916" name="Oval 228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37" name="Text Box 229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18" name="Group 230"/>
              <p:cNvGrpSpPr/>
              <p:nvPr/>
            </p:nvGrpSpPr>
            <p:grpSpPr>
              <a:xfrm>
                <a:off x="2592" y="2640"/>
                <a:ext cx="265" cy="384"/>
                <a:chOff x="480" y="1949"/>
                <a:chExt cx="265" cy="384"/>
              </a:xfrm>
            </p:grpSpPr>
            <p:sp>
              <p:nvSpPr>
                <p:cNvPr id="114919" name="Oval 231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40" name="Text Box 232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21" name="Group 233"/>
              <p:cNvGrpSpPr/>
              <p:nvPr/>
            </p:nvGrpSpPr>
            <p:grpSpPr>
              <a:xfrm>
                <a:off x="2880" y="2688"/>
                <a:ext cx="251" cy="365"/>
                <a:chOff x="3792" y="3552"/>
                <a:chExt cx="251" cy="365"/>
              </a:xfrm>
            </p:grpSpPr>
            <p:sp>
              <p:nvSpPr>
                <p:cNvPr id="114922" name="Oval 234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43" name="Text Box 235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24" name="Group 236"/>
              <p:cNvGrpSpPr/>
              <p:nvPr/>
            </p:nvGrpSpPr>
            <p:grpSpPr>
              <a:xfrm>
                <a:off x="3120" y="2688"/>
                <a:ext cx="236" cy="384"/>
                <a:chOff x="4762" y="3264"/>
                <a:chExt cx="236" cy="384"/>
              </a:xfrm>
            </p:grpSpPr>
            <p:sp>
              <p:nvSpPr>
                <p:cNvPr id="114925" name="Oval 237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46" name="Text Box 238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27" name="Group 239"/>
              <p:cNvGrpSpPr/>
              <p:nvPr/>
            </p:nvGrpSpPr>
            <p:grpSpPr>
              <a:xfrm>
                <a:off x="2410" y="3216"/>
                <a:ext cx="236" cy="384"/>
                <a:chOff x="4762" y="3264"/>
                <a:chExt cx="236" cy="384"/>
              </a:xfrm>
            </p:grpSpPr>
            <p:sp>
              <p:nvSpPr>
                <p:cNvPr id="114928" name="Oval 240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49" name="Text Box 241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30" name="Group 242"/>
              <p:cNvGrpSpPr/>
              <p:nvPr/>
            </p:nvGrpSpPr>
            <p:grpSpPr>
              <a:xfrm>
                <a:off x="2592" y="3264"/>
                <a:ext cx="265" cy="384"/>
                <a:chOff x="480" y="1949"/>
                <a:chExt cx="265" cy="384"/>
              </a:xfrm>
            </p:grpSpPr>
            <p:sp>
              <p:nvSpPr>
                <p:cNvPr id="114931" name="Oval 243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52" name="Text Box 244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33" name="Group 245"/>
              <p:cNvGrpSpPr/>
              <p:nvPr/>
            </p:nvGrpSpPr>
            <p:grpSpPr>
              <a:xfrm>
                <a:off x="2880" y="3264"/>
                <a:ext cx="251" cy="365"/>
                <a:chOff x="3792" y="3552"/>
                <a:chExt cx="251" cy="365"/>
              </a:xfrm>
            </p:grpSpPr>
            <p:sp>
              <p:nvSpPr>
                <p:cNvPr id="114934" name="Oval 246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55" name="Text Box 247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36" name="Group 248"/>
              <p:cNvGrpSpPr/>
              <p:nvPr/>
            </p:nvGrpSpPr>
            <p:grpSpPr>
              <a:xfrm>
                <a:off x="3102" y="3264"/>
                <a:ext cx="265" cy="384"/>
                <a:chOff x="4416" y="3552"/>
                <a:chExt cx="265" cy="384"/>
              </a:xfrm>
            </p:grpSpPr>
            <p:sp>
              <p:nvSpPr>
                <p:cNvPr id="114937" name="Oval 249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58" name="Text Box 250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39" name="Group 251"/>
              <p:cNvGrpSpPr/>
              <p:nvPr/>
            </p:nvGrpSpPr>
            <p:grpSpPr>
              <a:xfrm>
                <a:off x="1152" y="259"/>
                <a:ext cx="250" cy="365"/>
                <a:chOff x="3792" y="3552"/>
                <a:chExt cx="250" cy="365"/>
              </a:xfrm>
            </p:grpSpPr>
            <p:sp>
              <p:nvSpPr>
                <p:cNvPr id="114940" name="Oval 252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61" name="Text Box 253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2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42" name="Group 254"/>
              <p:cNvGrpSpPr/>
              <p:nvPr/>
            </p:nvGrpSpPr>
            <p:grpSpPr>
              <a:xfrm>
                <a:off x="1326" y="144"/>
                <a:ext cx="265" cy="384"/>
                <a:chOff x="4416" y="3552"/>
                <a:chExt cx="265" cy="384"/>
              </a:xfrm>
            </p:grpSpPr>
            <p:sp>
              <p:nvSpPr>
                <p:cNvPr id="114943" name="Oval 255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64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3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45" name="Group 257"/>
              <p:cNvGrpSpPr/>
              <p:nvPr/>
            </p:nvGrpSpPr>
            <p:grpSpPr>
              <a:xfrm>
                <a:off x="1488" y="144"/>
                <a:ext cx="236" cy="384"/>
                <a:chOff x="4762" y="3264"/>
                <a:chExt cx="236" cy="384"/>
              </a:xfrm>
            </p:grpSpPr>
            <p:sp>
              <p:nvSpPr>
                <p:cNvPr id="114946" name="Oval 258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6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48" name="Group 260"/>
              <p:cNvGrpSpPr/>
              <p:nvPr/>
            </p:nvGrpSpPr>
            <p:grpSpPr>
              <a:xfrm>
                <a:off x="4062" y="883"/>
                <a:ext cx="251" cy="365"/>
                <a:chOff x="3792" y="3552"/>
                <a:chExt cx="251" cy="365"/>
              </a:xfrm>
            </p:grpSpPr>
            <p:sp>
              <p:nvSpPr>
                <p:cNvPr id="114949" name="Oval 261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70" name="Text Box 262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51" name="Group 263"/>
              <p:cNvGrpSpPr/>
              <p:nvPr/>
            </p:nvGrpSpPr>
            <p:grpSpPr>
              <a:xfrm>
                <a:off x="4302" y="864"/>
                <a:ext cx="265" cy="384"/>
                <a:chOff x="480" y="1949"/>
                <a:chExt cx="265" cy="384"/>
              </a:xfrm>
            </p:grpSpPr>
            <p:sp>
              <p:nvSpPr>
                <p:cNvPr id="114952" name="Oval 264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73" name="Text Box 265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54" name="Group 266"/>
              <p:cNvGrpSpPr/>
              <p:nvPr/>
            </p:nvGrpSpPr>
            <p:grpSpPr>
              <a:xfrm>
                <a:off x="4158" y="672"/>
                <a:ext cx="265" cy="384"/>
                <a:chOff x="4416" y="3552"/>
                <a:chExt cx="265" cy="384"/>
              </a:xfrm>
            </p:grpSpPr>
            <p:sp>
              <p:nvSpPr>
                <p:cNvPr id="114955" name="Oval 267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76" name="Text Box 268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57" name="Group 269"/>
              <p:cNvGrpSpPr/>
              <p:nvPr/>
            </p:nvGrpSpPr>
            <p:grpSpPr>
              <a:xfrm>
                <a:off x="4080" y="1536"/>
                <a:ext cx="251" cy="365"/>
                <a:chOff x="3792" y="3552"/>
                <a:chExt cx="251" cy="365"/>
              </a:xfrm>
            </p:grpSpPr>
            <p:sp>
              <p:nvSpPr>
                <p:cNvPr id="114958" name="Oval 270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79" name="Text Box 271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60" name="Group 272"/>
              <p:cNvGrpSpPr/>
              <p:nvPr/>
            </p:nvGrpSpPr>
            <p:grpSpPr>
              <a:xfrm>
                <a:off x="4302" y="1536"/>
                <a:ext cx="265" cy="384"/>
                <a:chOff x="480" y="1949"/>
                <a:chExt cx="265" cy="384"/>
              </a:xfrm>
            </p:grpSpPr>
            <p:sp>
              <p:nvSpPr>
                <p:cNvPr id="114961" name="Oval 273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82" name="Text Box 274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63" name="Group 275"/>
              <p:cNvGrpSpPr/>
              <p:nvPr/>
            </p:nvGrpSpPr>
            <p:grpSpPr>
              <a:xfrm>
                <a:off x="4080" y="1248"/>
                <a:ext cx="236" cy="384"/>
                <a:chOff x="4762" y="3264"/>
                <a:chExt cx="236" cy="384"/>
              </a:xfrm>
            </p:grpSpPr>
            <p:sp>
              <p:nvSpPr>
                <p:cNvPr id="114964" name="Oval 276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85" name="Text Box 277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66" name="Group 278"/>
              <p:cNvGrpSpPr/>
              <p:nvPr/>
            </p:nvGrpSpPr>
            <p:grpSpPr>
              <a:xfrm>
                <a:off x="1356" y="1968"/>
                <a:ext cx="265" cy="384"/>
                <a:chOff x="4416" y="3552"/>
                <a:chExt cx="265" cy="384"/>
              </a:xfrm>
            </p:grpSpPr>
            <p:sp>
              <p:nvSpPr>
                <p:cNvPr id="114967" name="Oval 279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88" name="Text Box 280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69" name="Group 281"/>
              <p:cNvGrpSpPr/>
              <p:nvPr/>
            </p:nvGrpSpPr>
            <p:grpSpPr>
              <a:xfrm>
                <a:off x="1518" y="2112"/>
                <a:ext cx="265" cy="384"/>
                <a:chOff x="480" y="1949"/>
                <a:chExt cx="265" cy="384"/>
              </a:xfrm>
            </p:grpSpPr>
            <p:sp>
              <p:nvSpPr>
                <p:cNvPr id="114970" name="Oval 282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91" name="Text Box 283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72" name="Group 284"/>
              <p:cNvGrpSpPr/>
              <p:nvPr/>
            </p:nvGrpSpPr>
            <p:grpSpPr>
              <a:xfrm>
                <a:off x="1230" y="2112"/>
                <a:ext cx="236" cy="384"/>
                <a:chOff x="4762" y="3264"/>
                <a:chExt cx="236" cy="384"/>
              </a:xfrm>
            </p:grpSpPr>
            <p:sp>
              <p:nvSpPr>
                <p:cNvPr id="114973" name="Oval 285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94" name="Text Box 286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6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75" name="Group 287"/>
              <p:cNvGrpSpPr/>
              <p:nvPr/>
            </p:nvGrpSpPr>
            <p:grpSpPr>
              <a:xfrm>
                <a:off x="3648" y="768"/>
                <a:ext cx="236" cy="384"/>
                <a:chOff x="4762" y="3264"/>
                <a:chExt cx="236" cy="384"/>
              </a:xfrm>
            </p:grpSpPr>
            <p:sp>
              <p:nvSpPr>
                <p:cNvPr id="114976" name="Oval 288"/>
                <p:cNvSpPr/>
                <p:nvPr/>
              </p:nvSpPr>
              <p:spPr>
                <a:xfrm>
                  <a:off x="484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497" name="Text Box 289"/>
                <p:cNvSpPr txBox="1">
                  <a:spLocks noChangeArrowheads="1"/>
                </p:cNvSpPr>
                <p:nvPr/>
              </p:nvSpPr>
              <p:spPr bwMode="auto">
                <a:xfrm>
                  <a:off x="4762" y="3264"/>
                  <a:ext cx="23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grpSp>
            <p:nvGrpSpPr>
              <p:cNvPr id="114978" name="Group 290"/>
              <p:cNvGrpSpPr/>
              <p:nvPr/>
            </p:nvGrpSpPr>
            <p:grpSpPr>
              <a:xfrm>
                <a:off x="3678" y="1392"/>
                <a:ext cx="265" cy="384"/>
                <a:chOff x="4416" y="3552"/>
                <a:chExt cx="265" cy="384"/>
              </a:xfrm>
            </p:grpSpPr>
            <p:sp>
              <p:nvSpPr>
                <p:cNvPr id="114979" name="Oval 291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00" name="Text Box 292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81" name="Group 293"/>
              <p:cNvGrpSpPr/>
              <p:nvPr/>
            </p:nvGrpSpPr>
            <p:grpSpPr>
              <a:xfrm>
                <a:off x="3600" y="2016"/>
                <a:ext cx="250" cy="365"/>
                <a:chOff x="3792" y="3552"/>
                <a:chExt cx="250" cy="365"/>
              </a:xfrm>
            </p:grpSpPr>
            <p:sp>
              <p:nvSpPr>
                <p:cNvPr id="114982" name="Oval 294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03" name="Text Box 295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0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84" name="Group 296"/>
              <p:cNvGrpSpPr/>
              <p:nvPr/>
            </p:nvGrpSpPr>
            <p:grpSpPr>
              <a:xfrm>
                <a:off x="3600" y="144"/>
                <a:ext cx="265" cy="384"/>
                <a:chOff x="480" y="1949"/>
                <a:chExt cx="265" cy="384"/>
              </a:xfrm>
            </p:grpSpPr>
            <p:sp>
              <p:nvSpPr>
                <p:cNvPr id="114985" name="Oval 297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06" name="Text Box 298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87" name="Group 299"/>
              <p:cNvGrpSpPr/>
              <p:nvPr/>
            </p:nvGrpSpPr>
            <p:grpSpPr>
              <a:xfrm>
                <a:off x="5184" y="307"/>
                <a:ext cx="251" cy="365"/>
                <a:chOff x="3792" y="3552"/>
                <a:chExt cx="251" cy="365"/>
              </a:xfrm>
            </p:grpSpPr>
            <p:sp>
              <p:nvSpPr>
                <p:cNvPr id="114988" name="Oval 300"/>
                <p:cNvSpPr/>
                <p:nvPr/>
              </p:nvSpPr>
              <p:spPr>
                <a:xfrm>
                  <a:off x="3888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09" name="Text Box 301"/>
                <p:cNvSpPr txBox="1">
                  <a:spLocks noChangeArrowheads="1"/>
                </p:cNvSpPr>
                <p:nvPr/>
              </p:nvSpPr>
              <p:spPr bwMode="auto">
                <a:xfrm>
                  <a:off x="3792" y="3552"/>
                  <a:ext cx="251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</p:grpSp>
          <p:grpSp>
            <p:nvGrpSpPr>
              <p:cNvPr id="114990" name="Group 302"/>
              <p:cNvGrpSpPr/>
              <p:nvPr/>
            </p:nvGrpSpPr>
            <p:grpSpPr>
              <a:xfrm>
                <a:off x="288" y="96"/>
                <a:ext cx="265" cy="384"/>
                <a:chOff x="480" y="1949"/>
                <a:chExt cx="265" cy="384"/>
              </a:xfrm>
            </p:grpSpPr>
            <p:sp>
              <p:nvSpPr>
                <p:cNvPr id="114991" name="Oval 303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12" name="Text Box 304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  <p:grpSp>
            <p:nvGrpSpPr>
              <p:cNvPr id="114993" name="Group 305"/>
              <p:cNvGrpSpPr/>
              <p:nvPr/>
            </p:nvGrpSpPr>
            <p:grpSpPr>
              <a:xfrm>
                <a:off x="78" y="96"/>
                <a:ext cx="265" cy="384"/>
                <a:chOff x="4416" y="3552"/>
                <a:chExt cx="265" cy="384"/>
              </a:xfrm>
            </p:grpSpPr>
            <p:sp>
              <p:nvSpPr>
                <p:cNvPr id="114994" name="Oval 306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15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96" name="Group 308"/>
              <p:cNvGrpSpPr/>
              <p:nvPr/>
            </p:nvGrpSpPr>
            <p:grpSpPr>
              <a:xfrm>
                <a:off x="5184" y="96"/>
                <a:ext cx="265" cy="384"/>
                <a:chOff x="4416" y="3552"/>
                <a:chExt cx="265" cy="384"/>
              </a:xfrm>
            </p:grpSpPr>
            <p:sp>
              <p:nvSpPr>
                <p:cNvPr id="114997" name="Oval 309"/>
                <p:cNvSpPr/>
                <p:nvPr/>
              </p:nvSpPr>
              <p:spPr>
                <a:xfrm>
                  <a:off x="4464" y="3552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18" name="Text Box 310"/>
                <p:cNvSpPr txBox="1">
                  <a:spLocks noChangeArrowheads="1"/>
                </p:cNvSpPr>
                <p:nvPr/>
              </p:nvSpPr>
              <p:spPr bwMode="auto">
                <a:xfrm>
                  <a:off x="4416" y="3571"/>
                  <a:ext cx="265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grpSp>
            <p:nvGrpSpPr>
              <p:cNvPr id="114999" name="Group 311"/>
              <p:cNvGrpSpPr/>
              <p:nvPr/>
            </p:nvGrpSpPr>
            <p:grpSpPr>
              <a:xfrm>
                <a:off x="5376" y="96"/>
                <a:ext cx="266" cy="384"/>
                <a:chOff x="480" y="1949"/>
                <a:chExt cx="266" cy="384"/>
              </a:xfrm>
            </p:grpSpPr>
            <p:sp>
              <p:nvSpPr>
                <p:cNvPr id="115000" name="Oval 312"/>
                <p:cNvSpPr/>
                <p:nvPr/>
              </p:nvSpPr>
              <p:spPr>
                <a:xfrm>
                  <a:off x="576" y="1949"/>
                  <a:ext cx="96" cy="96"/>
                </a:xfrm>
                <a:prstGeom prst="ellipse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18521" name="Text Box 313"/>
                <p:cNvSpPr txBox="1">
                  <a:spLocks noChangeArrowheads="1"/>
                </p:cNvSpPr>
                <p:nvPr/>
              </p:nvSpPr>
              <p:spPr bwMode="auto">
                <a:xfrm>
                  <a:off x="480" y="1968"/>
                  <a:ext cx="26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kern="1200" cap="none" spc="0" normalizeH="0" baseline="0" noProof="1">
                      <a:solidFill>
                        <a:schemeClr val="tx2"/>
                      </a:solidFill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</p:grpSp>
        </p:grpSp>
        <p:sp>
          <p:nvSpPr>
            <p:cNvPr id="115002" name="Line 314"/>
            <p:cNvSpPr/>
            <p:nvPr/>
          </p:nvSpPr>
          <p:spPr>
            <a:xfrm>
              <a:off x="748" y="164"/>
              <a:ext cx="0" cy="499"/>
            </a:xfrm>
            <a:prstGeom prst="line">
              <a:avLst/>
            </a:prstGeom>
            <a:ln w="9525" cap="flat" cmpd="sng">
              <a:solidFill>
                <a:srgbClr val="CC3300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1118523" name="Rectangle 315"/>
          <p:cNvSpPr>
            <a:spLocks noChangeArrowheads="1"/>
          </p:cNvSpPr>
          <p:nvPr/>
        </p:nvSpPr>
        <p:spPr bwMode="auto">
          <a:xfrm>
            <a:off x="0" y="5516563"/>
            <a:ext cx="4572000" cy="989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每个宏观态下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微观状态数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=</a:t>
            </a:r>
          </a:p>
        </p:txBody>
      </p:sp>
      <p:sp>
        <p:nvSpPr>
          <p:cNvPr id="1118524" name="Text Box 316"/>
          <p:cNvSpPr txBox="1">
            <a:spLocks noChangeArrowheads="1"/>
          </p:cNvSpPr>
          <p:nvPr/>
        </p:nvSpPr>
        <p:spPr bwMode="auto">
          <a:xfrm>
            <a:off x="0" y="4067175"/>
            <a:ext cx="1970088" cy="9461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从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宏观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上可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分</a:t>
            </a:r>
            <a:r>
              <a:rPr kumimoji="1" lang="en-US" altLang="zh-CN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5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个状态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1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1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1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1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1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1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1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11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10" grpId="0" bldLvl="0" animBg="1"/>
      <p:bldP spid="1118523" grpId="0" bldLvl="0" animBg="1"/>
      <p:bldP spid="1118524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08850" y="733425"/>
            <a:ext cx="752475" cy="5613400"/>
            <a:chOff x="4598" y="481"/>
            <a:chExt cx="474" cy="3536"/>
          </a:xfrm>
        </p:grpSpPr>
        <p:sp>
          <p:nvSpPr>
            <p:cNvPr id="1088515" name="Text Box 3"/>
            <p:cNvSpPr txBox="1">
              <a:spLocks noChangeArrowheads="1"/>
            </p:cNvSpPr>
            <p:nvPr/>
          </p:nvSpPr>
          <p:spPr bwMode="auto">
            <a:xfrm>
              <a:off x="4752" y="481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088516" name="Text Box 4"/>
            <p:cNvSpPr txBox="1">
              <a:spLocks noChangeArrowheads="1"/>
            </p:cNvSpPr>
            <p:nvPr/>
          </p:nvSpPr>
          <p:spPr bwMode="auto">
            <a:xfrm>
              <a:off x="4668" y="817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10</a:t>
              </a:r>
            </a:p>
          </p:txBody>
        </p:sp>
        <p:sp>
          <p:nvSpPr>
            <p:cNvPr id="1088517" name="Text Box 5"/>
            <p:cNvSpPr txBox="1">
              <a:spLocks noChangeArrowheads="1"/>
            </p:cNvSpPr>
            <p:nvPr/>
          </p:nvSpPr>
          <p:spPr bwMode="auto">
            <a:xfrm>
              <a:off x="4668" y="1134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45</a:t>
              </a:r>
            </a:p>
          </p:txBody>
        </p:sp>
        <p:sp>
          <p:nvSpPr>
            <p:cNvPr id="1088518" name="Text Box 6"/>
            <p:cNvSpPr txBox="1">
              <a:spLocks noChangeArrowheads="1"/>
            </p:cNvSpPr>
            <p:nvPr/>
          </p:nvSpPr>
          <p:spPr bwMode="auto">
            <a:xfrm>
              <a:off x="4598" y="1434"/>
              <a:ext cx="45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120</a:t>
              </a:r>
            </a:p>
          </p:txBody>
        </p:sp>
        <p:sp>
          <p:nvSpPr>
            <p:cNvPr id="1088519" name="Text Box 7"/>
            <p:cNvSpPr txBox="1">
              <a:spLocks noChangeArrowheads="1"/>
            </p:cNvSpPr>
            <p:nvPr/>
          </p:nvSpPr>
          <p:spPr bwMode="auto">
            <a:xfrm>
              <a:off x="4608" y="1777"/>
              <a:ext cx="45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210</a:t>
              </a:r>
            </a:p>
          </p:txBody>
        </p:sp>
        <p:sp>
          <p:nvSpPr>
            <p:cNvPr id="1088520" name="Text Box 8"/>
            <p:cNvSpPr txBox="1">
              <a:spLocks noChangeArrowheads="1"/>
            </p:cNvSpPr>
            <p:nvPr/>
          </p:nvSpPr>
          <p:spPr bwMode="auto">
            <a:xfrm>
              <a:off x="4608" y="2094"/>
              <a:ext cx="45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250</a:t>
              </a:r>
            </a:p>
          </p:txBody>
        </p:sp>
        <p:sp>
          <p:nvSpPr>
            <p:cNvPr id="1088521" name="Text Box 9"/>
            <p:cNvSpPr txBox="1">
              <a:spLocks noChangeArrowheads="1"/>
            </p:cNvSpPr>
            <p:nvPr/>
          </p:nvSpPr>
          <p:spPr bwMode="auto">
            <a:xfrm>
              <a:off x="4608" y="2382"/>
              <a:ext cx="45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210</a:t>
              </a:r>
            </a:p>
          </p:txBody>
        </p:sp>
        <p:sp>
          <p:nvSpPr>
            <p:cNvPr id="1088522" name="Text Box 10"/>
            <p:cNvSpPr txBox="1">
              <a:spLocks noChangeArrowheads="1"/>
            </p:cNvSpPr>
            <p:nvPr/>
          </p:nvSpPr>
          <p:spPr bwMode="auto">
            <a:xfrm>
              <a:off x="4608" y="2730"/>
              <a:ext cx="45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120</a:t>
              </a:r>
            </a:p>
          </p:txBody>
        </p:sp>
        <p:sp>
          <p:nvSpPr>
            <p:cNvPr id="1088523" name="Text Box 11"/>
            <p:cNvSpPr txBox="1">
              <a:spLocks noChangeArrowheads="1"/>
            </p:cNvSpPr>
            <p:nvPr/>
          </p:nvSpPr>
          <p:spPr bwMode="auto">
            <a:xfrm>
              <a:off x="4716" y="3066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45</a:t>
              </a:r>
            </a:p>
          </p:txBody>
        </p:sp>
        <p:sp>
          <p:nvSpPr>
            <p:cNvPr id="1088524" name="Text Box 12"/>
            <p:cNvSpPr txBox="1">
              <a:spLocks noChangeArrowheads="1"/>
            </p:cNvSpPr>
            <p:nvPr/>
          </p:nvSpPr>
          <p:spPr bwMode="auto">
            <a:xfrm>
              <a:off x="4716" y="3354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10</a:t>
              </a:r>
            </a:p>
          </p:txBody>
        </p:sp>
        <p:sp>
          <p:nvSpPr>
            <p:cNvPr id="1088525" name="Text Box 13"/>
            <p:cNvSpPr txBox="1">
              <a:spLocks noChangeArrowheads="1"/>
            </p:cNvSpPr>
            <p:nvPr/>
          </p:nvSpPr>
          <p:spPr bwMode="auto">
            <a:xfrm>
              <a:off x="4844" y="3690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4427538" y="-76200"/>
            <a:ext cx="4648200" cy="6934200"/>
            <a:chOff x="2832" y="-48"/>
            <a:chExt cx="2928" cy="4368"/>
          </a:xfrm>
        </p:grpSpPr>
        <p:grpSp>
          <p:nvGrpSpPr>
            <p:cNvPr id="115726" name="Group 15"/>
            <p:cNvGrpSpPr/>
            <p:nvPr/>
          </p:nvGrpSpPr>
          <p:grpSpPr>
            <a:xfrm>
              <a:off x="2832" y="0"/>
              <a:ext cx="2928" cy="4320"/>
              <a:chOff x="2832" y="0"/>
              <a:chExt cx="2544" cy="4320"/>
            </a:xfrm>
          </p:grpSpPr>
          <p:grpSp>
            <p:nvGrpSpPr>
              <p:cNvPr id="115727" name="Group 16"/>
              <p:cNvGrpSpPr/>
              <p:nvPr/>
            </p:nvGrpSpPr>
            <p:grpSpPr>
              <a:xfrm>
                <a:off x="2832" y="480"/>
                <a:ext cx="2544" cy="3840"/>
                <a:chOff x="2832" y="288"/>
                <a:chExt cx="2784" cy="4032"/>
              </a:xfrm>
            </p:grpSpPr>
            <p:sp>
              <p:nvSpPr>
                <p:cNvPr id="115728" name="Rectangle 17"/>
                <p:cNvSpPr/>
                <p:nvPr/>
              </p:nvSpPr>
              <p:spPr>
                <a:xfrm>
                  <a:off x="2832" y="1296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29" name="Rectangle 18"/>
                <p:cNvSpPr/>
                <p:nvPr/>
              </p:nvSpPr>
              <p:spPr>
                <a:xfrm>
                  <a:off x="2832" y="1632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0" name="Rectangle 19"/>
                <p:cNvSpPr/>
                <p:nvPr/>
              </p:nvSpPr>
              <p:spPr>
                <a:xfrm>
                  <a:off x="2832" y="1968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1" name="Rectangle 20"/>
                <p:cNvSpPr/>
                <p:nvPr/>
              </p:nvSpPr>
              <p:spPr>
                <a:xfrm>
                  <a:off x="2832" y="2304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2" name="Rectangle 21"/>
                <p:cNvSpPr/>
                <p:nvPr/>
              </p:nvSpPr>
              <p:spPr>
                <a:xfrm>
                  <a:off x="2832" y="2640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3" name="Rectangle 22"/>
                <p:cNvSpPr/>
                <p:nvPr/>
              </p:nvSpPr>
              <p:spPr>
                <a:xfrm>
                  <a:off x="2832" y="2976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4" name="Rectangle 23"/>
                <p:cNvSpPr/>
                <p:nvPr/>
              </p:nvSpPr>
              <p:spPr>
                <a:xfrm>
                  <a:off x="2832" y="3312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5" name="Rectangle 24"/>
                <p:cNvSpPr/>
                <p:nvPr/>
              </p:nvSpPr>
              <p:spPr>
                <a:xfrm>
                  <a:off x="2832" y="3648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6" name="Rectangle 25"/>
                <p:cNvSpPr/>
                <p:nvPr/>
              </p:nvSpPr>
              <p:spPr>
                <a:xfrm>
                  <a:off x="2832" y="3984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7" name="Rectangle 26"/>
                <p:cNvSpPr/>
                <p:nvPr/>
              </p:nvSpPr>
              <p:spPr>
                <a:xfrm>
                  <a:off x="2832" y="960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8" name="Rectangle 27"/>
                <p:cNvSpPr/>
                <p:nvPr/>
              </p:nvSpPr>
              <p:spPr>
                <a:xfrm>
                  <a:off x="2832" y="624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15739" name="Rectangle 28"/>
                <p:cNvSpPr/>
                <p:nvPr/>
              </p:nvSpPr>
              <p:spPr>
                <a:xfrm>
                  <a:off x="2832" y="288"/>
                  <a:ext cx="2784" cy="336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115740" name="Rectangle 29"/>
              <p:cNvSpPr/>
              <p:nvPr/>
            </p:nvSpPr>
            <p:spPr>
              <a:xfrm>
                <a:off x="2832" y="0"/>
                <a:ext cx="2544" cy="480"/>
              </a:xfrm>
              <a:prstGeom prst="rect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1088542" name="Text Box 30"/>
            <p:cNvSpPr txBox="1">
              <a:spLocks noChangeArrowheads="1"/>
            </p:cNvSpPr>
            <p:nvPr/>
          </p:nvSpPr>
          <p:spPr bwMode="auto">
            <a:xfrm>
              <a:off x="4310" y="100"/>
              <a:ext cx="1241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anose="02010609030101010101" pitchFamily="49" charset="-122"/>
                  <a:cs typeface="+mn-cs"/>
                </a:rPr>
                <a:t>微观状态数</a:t>
              </a:r>
            </a:p>
          </p:txBody>
        </p:sp>
        <p:grpSp>
          <p:nvGrpSpPr>
            <p:cNvPr id="115742" name="Group 31"/>
            <p:cNvGrpSpPr/>
            <p:nvPr/>
          </p:nvGrpSpPr>
          <p:grpSpPr>
            <a:xfrm>
              <a:off x="2832" y="-48"/>
              <a:ext cx="1488" cy="4363"/>
              <a:chOff x="2832" y="-48"/>
              <a:chExt cx="1488" cy="4363"/>
            </a:xfrm>
          </p:grpSpPr>
          <p:sp>
            <p:nvSpPr>
              <p:cNvPr id="115743" name="Line 32"/>
              <p:cNvSpPr/>
              <p:nvPr/>
            </p:nvSpPr>
            <p:spPr>
              <a:xfrm>
                <a:off x="4320" y="0"/>
                <a:ext cx="0" cy="3984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744" name="Line 33"/>
              <p:cNvSpPr/>
              <p:nvPr/>
            </p:nvSpPr>
            <p:spPr>
              <a:xfrm>
                <a:off x="2832" y="240"/>
                <a:ext cx="1488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745" name="Line 34"/>
              <p:cNvSpPr/>
              <p:nvPr/>
            </p:nvSpPr>
            <p:spPr>
              <a:xfrm>
                <a:off x="3600" y="240"/>
                <a:ext cx="0" cy="3744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88547" name="Text Box 35"/>
              <p:cNvSpPr txBox="1">
                <a:spLocks noChangeArrowheads="1"/>
              </p:cNvSpPr>
              <p:nvPr/>
            </p:nvSpPr>
            <p:spPr bwMode="auto">
              <a:xfrm>
                <a:off x="3190" y="-48"/>
                <a:ext cx="7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分子数</a:t>
                </a:r>
              </a:p>
            </p:txBody>
          </p:sp>
          <p:sp>
            <p:nvSpPr>
              <p:cNvPr id="1088548" name="Text Box 36"/>
              <p:cNvSpPr txBox="1">
                <a:spLocks noChangeArrowheads="1"/>
              </p:cNvSpPr>
              <p:nvPr/>
            </p:nvSpPr>
            <p:spPr bwMode="auto">
              <a:xfrm>
                <a:off x="2918" y="172"/>
                <a:ext cx="34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左</a:t>
                </a:r>
              </a:p>
            </p:txBody>
          </p:sp>
          <p:sp>
            <p:nvSpPr>
              <p:cNvPr id="1088549" name="Text Box 37"/>
              <p:cNvSpPr txBox="1">
                <a:spLocks noChangeArrowheads="1"/>
              </p:cNvSpPr>
              <p:nvPr/>
            </p:nvSpPr>
            <p:spPr bwMode="auto">
              <a:xfrm>
                <a:off x="3734" y="172"/>
                <a:ext cx="34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右</a:t>
                </a:r>
              </a:p>
            </p:txBody>
          </p:sp>
          <p:sp>
            <p:nvSpPr>
              <p:cNvPr id="1088550" name="Text Box 38"/>
              <p:cNvSpPr txBox="1">
                <a:spLocks noChangeArrowheads="1"/>
              </p:cNvSpPr>
              <p:nvPr/>
            </p:nvSpPr>
            <p:spPr bwMode="auto">
              <a:xfrm>
                <a:off x="3014" y="474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0</a:t>
                </a:r>
              </a:p>
            </p:txBody>
          </p:sp>
          <p:sp>
            <p:nvSpPr>
              <p:cNvPr id="1088551" name="Text Box 39"/>
              <p:cNvSpPr txBox="1">
                <a:spLocks noChangeArrowheads="1"/>
              </p:cNvSpPr>
              <p:nvPr/>
            </p:nvSpPr>
            <p:spPr bwMode="auto">
              <a:xfrm>
                <a:off x="3020" y="762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1</a:t>
                </a:r>
              </a:p>
            </p:txBody>
          </p:sp>
          <p:sp>
            <p:nvSpPr>
              <p:cNvPr id="1088552" name="Text Box 40"/>
              <p:cNvSpPr txBox="1">
                <a:spLocks noChangeArrowheads="1"/>
              </p:cNvSpPr>
              <p:nvPr/>
            </p:nvSpPr>
            <p:spPr bwMode="auto">
              <a:xfrm>
                <a:off x="3020" y="109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1088553" name="Text Box 41"/>
              <p:cNvSpPr txBox="1">
                <a:spLocks noChangeArrowheads="1"/>
              </p:cNvSpPr>
              <p:nvPr/>
            </p:nvSpPr>
            <p:spPr bwMode="auto">
              <a:xfrm>
                <a:off x="3020" y="1482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3</a:t>
                </a:r>
              </a:p>
            </p:txBody>
          </p:sp>
          <p:sp>
            <p:nvSpPr>
              <p:cNvPr id="1088554" name="Text Box 42"/>
              <p:cNvSpPr txBox="1">
                <a:spLocks noChangeArrowheads="1"/>
              </p:cNvSpPr>
              <p:nvPr/>
            </p:nvSpPr>
            <p:spPr bwMode="auto">
              <a:xfrm>
                <a:off x="3020" y="175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88555" name="Text Box 43"/>
              <p:cNvSpPr txBox="1">
                <a:spLocks noChangeArrowheads="1"/>
              </p:cNvSpPr>
              <p:nvPr/>
            </p:nvSpPr>
            <p:spPr bwMode="auto">
              <a:xfrm>
                <a:off x="3024" y="2106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1088556" name="Text Box 44"/>
              <p:cNvSpPr txBox="1">
                <a:spLocks noChangeArrowheads="1"/>
              </p:cNvSpPr>
              <p:nvPr/>
            </p:nvSpPr>
            <p:spPr bwMode="auto">
              <a:xfrm>
                <a:off x="3024" y="2401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6</a:t>
                </a:r>
              </a:p>
            </p:txBody>
          </p:sp>
          <p:sp>
            <p:nvSpPr>
              <p:cNvPr id="1088557" name="Text Box 45"/>
              <p:cNvSpPr txBox="1">
                <a:spLocks noChangeArrowheads="1"/>
              </p:cNvSpPr>
              <p:nvPr/>
            </p:nvSpPr>
            <p:spPr bwMode="auto">
              <a:xfrm>
                <a:off x="3020" y="273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7</a:t>
                </a:r>
              </a:p>
            </p:txBody>
          </p:sp>
          <p:sp>
            <p:nvSpPr>
              <p:cNvPr id="1088558" name="Text Box 46"/>
              <p:cNvSpPr txBox="1">
                <a:spLocks noChangeArrowheads="1"/>
              </p:cNvSpPr>
              <p:nvPr/>
            </p:nvSpPr>
            <p:spPr bwMode="auto">
              <a:xfrm>
                <a:off x="3024" y="301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8</a:t>
                </a:r>
              </a:p>
            </p:txBody>
          </p:sp>
          <p:sp>
            <p:nvSpPr>
              <p:cNvPr id="1088559" name="Text Box 47"/>
              <p:cNvSpPr txBox="1">
                <a:spLocks noChangeArrowheads="1"/>
              </p:cNvSpPr>
              <p:nvPr/>
            </p:nvSpPr>
            <p:spPr bwMode="auto">
              <a:xfrm>
                <a:off x="3068" y="3354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9</a:t>
                </a:r>
              </a:p>
            </p:txBody>
          </p:sp>
          <p:sp>
            <p:nvSpPr>
              <p:cNvPr id="1088560" name="Text Box 48"/>
              <p:cNvSpPr txBox="1">
                <a:spLocks noChangeArrowheads="1"/>
              </p:cNvSpPr>
              <p:nvPr/>
            </p:nvSpPr>
            <p:spPr bwMode="auto">
              <a:xfrm>
                <a:off x="3036" y="3697"/>
                <a:ext cx="340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en-US" altLang="zh-CN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10</a:t>
                </a:r>
              </a:p>
            </p:txBody>
          </p:sp>
          <p:sp>
            <p:nvSpPr>
              <p:cNvPr id="1088561" name="Text Box 49"/>
              <p:cNvSpPr txBox="1">
                <a:spLocks noChangeArrowheads="1"/>
              </p:cNvSpPr>
              <p:nvPr/>
            </p:nvSpPr>
            <p:spPr bwMode="auto">
              <a:xfrm>
                <a:off x="3788" y="3025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2</a:t>
                </a:r>
              </a:p>
            </p:txBody>
          </p:sp>
          <p:sp>
            <p:nvSpPr>
              <p:cNvPr id="1088562" name="Text Box 50"/>
              <p:cNvSpPr txBox="1">
                <a:spLocks noChangeArrowheads="1"/>
              </p:cNvSpPr>
              <p:nvPr/>
            </p:nvSpPr>
            <p:spPr bwMode="auto">
              <a:xfrm>
                <a:off x="3788" y="273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3</a:t>
                </a:r>
              </a:p>
            </p:txBody>
          </p:sp>
          <p:sp>
            <p:nvSpPr>
              <p:cNvPr id="1088563" name="Text Box 51"/>
              <p:cNvSpPr txBox="1">
                <a:spLocks noChangeArrowheads="1"/>
              </p:cNvSpPr>
              <p:nvPr/>
            </p:nvSpPr>
            <p:spPr bwMode="auto">
              <a:xfrm>
                <a:off x="3788" y="2401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88564" name="Text Box 52"/>
              <p:cNvSpPr txBox="1">
                <a:spLocks noChangeArrowheads="1"/>
              </p:cNvSpPr>
              <p:nvPr/>
            </p:nvSpPr>
            <p:spPr bwMode="auto">
              <a:xfrm>
                <a:off x="3788" y="2094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1088565" name="Text Box 53"/>
              <p:cNvSpPr txBox="1">
                <a:spLocks noChangeArrowheads="1"/>
              </p:cNvSpPr>
              <p:nvPr/>
            </p:nvSpPr>
            <p:spPr bwMode="auto">
              <a:xfrm>
                <a:off x="3788" y="175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6</a:t>
                </a:r>
              </a:p>
            </p:txBody>
          </p:sp>
          <p:sp>
            <p:nvSpPr>
              <p:cNvPr id="1088566" name="Text Box 54"/>
              <p:cNvSpPr txBox="1">
                <a:spLocks noChangeArrowheads="1"/>
              </p:cNvSpPr>
              <p:nvPr/>
            </p:nvSpPr>
            <p:spPr bwMode="auto">
              <a:xfrm>
                <a:off x="3788" y="1422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7</a:t>
                </a:r>
              </a:p>
            </p:txBody>
          </p:sp>
          <p:sp>
            <p:nvSpPr>
              <p:cNvPr id="1088567" name="Text Box 55"/>
              <p:cNvSpPr txBox="1">
                <a:spLocks noChangeArrowheads="1"/>
              </p:cNvSpPr>
              <p:nvPr/>
            </p:nvSpPr>
            <p:spPr bwMode="auto">
              <a:xfrm>
                <a:off x="3788" y="1134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8</a:t>
                </a:r>
              </a:p>
            </p:txBody>
          </p:sp>
          <p:sp>
            <p:nvSpPr>
              <p:cNvPr id="1088568" name="Text Box 56"/>
              <p:cNvSpPr txBox="1">
                <a:spLocks noChangeArrowheads="1"/>
              </p:cNvSpPr>
              <p:nvPr/>
            </p:nvSpPr>
            <p:spPr bwMode="auto">
              <a:xfrm>
                <a:off x="3788" y="79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9</a:t>
                </a:r>
              </a:p>
            </p:txBody>
          </p:sp>
          <p:sp>
            <p:nvSpPr>
              <p:cNvPr id="1088569" name="Text Box 57"/>
              <p:cNvSpPr txBox="1">
                <a:spLocks noChangeArrowheads="1"/>
              </p:cNvSpPr>
              <p:nvPr/>
            </p:nvSpPr>
            <p:spPr bwMode="auto">
              <a:xfrm>
                <a:off x="3660" y="462"/>
                <a:ext cx="396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en-US" altLang="zh-CN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10 </a:t>
                </a:r>
              </a:p>
            </p:txBody>
          </p:sp>
          <p:sp>
            <p:nvSpPr>
              <p:cNvPr id="1088570" name="Text Box 58"/>
              <p:cNvSpPr txBox="1">
                <a:spLocks noChangeArrowheads="1"/>
              </p:cNvSpPr>
              <p:nvPr/>
            </p:nvSpPr>
            <p:spPr bwMode="auto">
              <a:xfrm>
                <a:off x="3792" y="367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0</a:t>
                </a:r>
              </a:p>
            </p:txBody>
          </p:sp>
          <p:sp>
            <p:nvSpPr>
              <p:cNvPr id="1088571" name="Text Box 59"/>
              <p:cNvSpPr txBox="1">
                <a:spLocks noChangeArrowheads="1"/>
              </p:cNvSpPr>
              <p:nvPr/>
            </p:nvSpPr>
            <p:spPr bwMode="auto">
              <a:xfrm>
                <a:off x="3788" y="3390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solidFill>
                      <a:schemeClr val="tx2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1</a:t>
                </a:r>
              </a:p>
            </p:txBody>
          </p:sp>
          <p:sp>
            <p:nvSpPr>
              <p:cNvPr id="1088572" name="Text Box 60"/>
              <p:cNvSpPr txBox="1">
                <a:spLocks noChangeArrowheads="1"/>
              </p:cNvSpPr>
              <p:nvPr/>
            </p:nvSpPr>
            <p:spPr bwMode="auto">
              <a:xfrm>
                <a:off x="3256" y="3988"/>
                <a:ext cx="566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仿宋_GB2312" panose="02010609030101010101" pitchFamily="49" charset="-122"/>
                    <a:cs typeface="+mn-cs"/>
                  </a:rPr>
                  <a:t>总数</a:t>
                </a:r>
              </a:p>
            </p:txBody>
          </p:sp>
        </p:grpSp>
      </p:grpSp>
      <p:sp>
        <p:nvSpPr>
          <p:cNvPr id="1088573" name="Text Box 61"/>
          <p:cNvSpPr txBox="1">
            <a:spLocks noChangeArrowheads="1"/>
          </p:cNvSpPr>
          <p:nvPr/>
        </p:nvSpPr>
        <p:spPr bwMode="auto">
          <a:xfrm>
            <a:off x="6934200" y="6326188"/>
            <a:ext cx="151765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2</a:t>
            </a:r>
            <a:r>
              <a:rPr kumimoji="1" lang="en-US" altLang="zh-CN" sz="2800" kern="1200" cap="none" spc="0" normalizeH="0" baseline="30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10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=1024</a:t>
            </a:r>
          </a:p>
        </p:txBody>
      </p:sp>
      <p:sp>
        <p:nvSpPr>
          <p:cNvPr id="1088574" name="Text Box 62"/>
          <p:cNvSpPr txBox="1">
            <a:spLocks noChangeArrowheads="1"/>
          </p:cNvSpPr>
          <p:nvPr/>
        </p:nvSpPr>
        <p:spPr bwMode="auto">
          <a:xfrm>
            <a:off x="423863" y="3697288"/>
            <a:ext cx="4292600" cy="1814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均匀分布或接近均匀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分布的状态占了</a:t>
            </a: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670</a:t>
            </a: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，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而</a:t>
            </a: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10</a:t>
            </a: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个分子</a:t>
            </a:r>
            <a:r>
              <a:rPr kumimoji="0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全部回到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左（右）边只有</a:t>
            </a:r>
            <a:r>
              <a:rPr kumimoji="0" lang="en-US" altLang="zh-CN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1</a:t>
            </a:r>
            <a:r>
              <a:rPr kumimoji="0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个</a:t>
            </a: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状态。</a:t>
            </a:r>
          </a:p>
        </p:txBody>
      </p:sp>
      <p:sp>
        <p:nvSpPr>
          <p:cNvPr id="1088575" name="Line 63"/>
          <p:cNvSpPr/>
          <p:nvPr/>
        </p:nvSpPr>
        <p:spPr>
          <a:xfrm>
            <a:off x="8172450" y="2971800"/>
            <a:ext cx="0" cy="12192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88576" name="Text Box 64"/>
          <p:cNvSpPr txBox="1">
            <a:spLocks noChangeArrowheads="1"/>
          </p:cNvSpPr>
          <p:nvPr/>
        </p:nvSpPr>
        <p:spPr bwMode="auto">
          <a:xfrm>
            <a:off x="381000" y="296863"/>
            <a:ext cx="30400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如果是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10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个分子呢</a:t>
            </a:r>
          </a:p>
        </p:txBody>
      </p:sp>
      <p:grpSp>
        <p:nvGrpSpPr>
          <p:cNvPr id="7" name="Group 65"/>
          <p:cNvGrpSpPr/>
          <p:nvPr/>
        </p:nvGrpSpPr>
        <p:grpSpPr>
          <a:xfrm>
            <a:off x="685800" y="828675"/>
            <a:ext cx="2743200" cy="1371600"/>
            <a:chOff x="2256" y="2832"/>
            <a:chExt cx="1728" cy="864"/>
          </a:xfrm>
        </p:grpSpPr>
        <p:sp>
          <p:nvSpPr>
            <p:cNvPr id="115777" name="Rectangle 66"/>
            <p:cNvSpPr/>
            <p:nvPr/>
          </p:nvSpPr>
          <p:spPr>
            <a:xfrm>
              <a:off x="2304" y="2832"/>
              <a:ext cx="1680" cy="768"/>
            </a:xfrm>
            <a:prstGeom prst="rect">
              <a:avLst/>
            </a:prstGeom>
            <a:solidFill>
              <a:srgbClr val="96969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115778" name="Group 67"/>
            <p:cNvGrpSpPr/>
            <p:nvPr/>
          </p:nvGrpSpPr>
          <p:grpSpPr>
            <a:xfrm>
              <a:off x="2256" y="2928"/>
              <a:ext cx="1680" cy="768"/>
              <a:chOff x="2256" y="2928"/>
              <a:chExt cx="1680" cy="768"/>
            </a:xfrm>
          </p:grpSpPr>
          <p:sp>
            <p:nvSpPr>
              <p:cNvPr id="115779" name="Line 68"/>
              <p:cNvSpPr/>
              <p:nvPr/>
            </p:nvSpPr>
            <p:spPr>
              <a:xfrm>
                <a:off x="2256" y="3696"/>
                <a:ext cx="1680" cy="0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  <p:sp>
            <p:nvSpPr>
              <p:cNvPr id="115780" name="Line 69"/>
              <p:cNvSpPr/>
              <p:nvPr/>
            </p:nvSpPr>
            <p:spPr>
              <a:xfrm flipV="1">
                <a:off x="2256" y="2928"/>
                <a:ext cx="0" cy="768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  <p:sp>
            <p:nvSpPr>
              <p:cNvPr id="115781" name="Line 70"/>
              <p:cNvSpPr/>
              <p:nvPr/>
            </p:nvSpPr>
            <p:spPr>
              <a:xfrm flipV="1">
                <a:off x="3936" y="2928"/>
                <a:ext cx="0" cy="768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</p:grpSp>
      </p:grpSp>
      <p:grpSp>
        <p:nvGrpSpPr>
          <p:cNvPr id="9" name="Group 71"/>
          <p:cNvGrpSpPr/>
          <p:nvPr/>
        </p:nvGrpSpPr>
        <p:grpSpPr>
          <a:xfrm>
            <a:off x="914400" y="981075"/>
            <a:ext cx="2438400" cy="1219200"/>
            <a:chOff x="2928" y="2784"/>
            <a:chExt cx="1536" cy="768"/>
          </a:xfrm>
        </p:grpSpPr>
        <p:sp>
          <p:nvSpPr>
            <p:cNvPr id="115783" name="Line 72"/>
            <p:cNvSpPr/>
            <p:nvPr/>
          </p:nvSpPr>
          <p:spPr>
            <a:xfrm flipV="1">
              <a:off x="4464" y="2784"/>
              <a:ext cx="0" cy="768"/>
            </a:xfrm>
            <a:prstGeom prst="line">
              <a:avLst/>
            </a:prstGeom>
            <a:ln w="9525" cap="flat" cmpd="sng">
              <a:solidFill>
                <a:srgbClr val="FFFF66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</p:sp>
        <p:sp>
          <p:nvSpPr>
            <p:cNvPr id="115784" name="Oval 73"/>
            <p:cNvSpPr/>
            <p:nvPr/>
          </p:nvSpPr>
          <p:spPr>
            <a:xfrm>
              <a:off x="3120" y="283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85" name="Oval 74"/>
            <p:cNvSpPr/>
            <p:nvPr/>
          </p:nvSpPr>
          <p:spPr>
            <a:xfrm>
              <a:off x="3360" y="2928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86" name="Oval 75"/>
            <p:cNvSpPr/>
            <p:nvPr/>
          </p:nvSpPr>
          <p:spPr>
            <a:xfrm>
              <a:off x="3456" y="331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87" name="Oval 76"/>
            <p:cNvSpPr/>
            <p:nvPr/>
          </p:nvSpPr>
          <p:spPr>
            <a:xfrm>
              <a:off x="3888" y="331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88" name="Oval 77"/>
            <p:cNvSpPr/>
            <p:nvPr/>
          </p:nvSpPr>
          <p:spPr>
            <a:xfrm>
              <a:off x="3792" y="307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89" name="Oval 78"/>
            <p:cNvSpPr/>
            <p:nvPr/>
          </p:nvSpPr>
          <p:spPr>
            <a:xfrm>
              <a:off x="4224" y="331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0" name="Oval 79"/>
            <p:cNvSpPr/>
            <p:nvPr/>
          </p:nvSpPr>
          <p:spPr>
            <a:xfrm>
              <a:off x="4176" y="2928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1" name="Oval 80"/>
            <p:cNvSpPr/>
            <p:nvPr/>
          </p:nvSpPr>
          <p:spPr>
            <a:xfrm>
              <a:off x="3216" y="331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2" name="Oval 81"/>
            <p:cNvSpPr/>
            <p:nvPr/>
          </p:nvSpPr>
          <p:spPr>
            <a:xfrm>
              <a:off x="2928" y="3024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3" name="Oval 82"/>
            <p:cNvSpPr/>
            <p:nvPr/>
          </p:nvSpPr>
          <p:spPr>
            <a:xfrm>
              <a:off x="2928" y="3360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4" name="Oval 83"/>
            <p:cNvSpPr/>
            <p:nvPr/>
          </p:nvSpPr>
          <p:spPr>
            <a:xfrm>
              <a:off x="3792" y="2880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1088596" name="Line 84"/>
          <p:cNvSpPr/>
          <p:nvPr/>
        </p:nvSpPr>
        <p:spPr>
          <a:xfrm flipV="1">
            <a:off x="2057400" y="981075"/>
            <a:ext cx="0" cy="1219200"/>
          </a:xfrm>
          <a:prstGeom prst="line">
            <a:avLst/>
          </a:prstGeom>
          <a:ln w="9525" cap="flat" cmpd="sng">
            <a:solidFill>
              <a:srgbClr val="FFFF66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0" name="Group 85"/>
          <p:cNvGrpSpPr/>
          <p:nvPr/>
        </p:nvGrpSpPr>
        <p:grpSpPr>
          <a:xfrm>
            <a:off x="827088" y="981075"/>
            <a:ext cx="1219200" cy="1219200"/>
            <a:chOff x="672" y="2880"/>
            <a:chExt cx="768" cy="768"/>
          </a:xfrm>
        </p:grpSpPr>
        <p:sp>
          <p:nvSpPr>
            <p:cNvPr id="115797" name="Line 86"/>
            <p:cNvSpPr/>
            <p:nvPr/>
          </p:nvSpPr>
          <p:spPr>
            <a:xfrm flipV="1">
              <a:off x="1440" y="2880"/>
              <a:ext cx="0" cy="768"/>
            </a:xfrm>
            <a:prstGeom prst="line">
              <a:avLst/>
            </a:prstGeom>
            <a:ln w="9525" cap="flat" cmpd="sng">
              <a:solidFill>
                <a:srgbClr val="FFFF66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</p:sp>
        <p:sp>
          <p:nvSpPr>
            <p:cNvPr id="115798" name="Oval 87"/>
            <p:cNvSpPr/>
            <p:nvPr/>
          </p:nvSpPr>
          <p:spPr>
            <a:xfrm>
              <a:off x="768" y="297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799" name="Oval 88"/>
            <p:cNvSpPr/>
            <p:nvPr/>
          </p:nvSpPr>
          <p:spPr>
            <a:xfrm>
              <a:off x="864" y="3120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0" name="Oval 89"/>
            <p:cNvSpPr/>
            <p:nvPr/>
          </p:nvSpPr>
          <p:spPr>
            <a:xfrm>
              <a:off x="960" y="345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1" name="Oval 90"/>
            <p:cNvSpPr/>
            <p:nvPr/>
          </p:nvSpPr>
          <p:spPr>
            <a:xfrm>
              <a:off x="1056" y="3264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2" name="Oval 91"/>
            <p:cNvSpPr/>
            <p:nvPr/>
          </p:nvSpPr>
          <p:spPr>
            <a:xfrm>
              <a:off x="1056" y="297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3" name="Oval 92"/>
            <p:cNvSpPr/>
            <p:nvPr/>
          </p:nvSpPr>
          <p:spPr>
            <a:xfrm>
              <a:off x="1200" y="345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4" name="Oval 93"/>
            <p:cNvSpPr/>
            <p:nvPr/>
          </p:nvSpPr>
          <p:spPr>
            <a:xfrm>
              <a:off x="1248" y="3168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5" name="Oval 94"/>
            <p:cNvSpPr/>
            <p:nvPr/>
          </p:nvSpPr>
          <p:spPr>
            <a:xfrm>
              <a:off x="768" y="3264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6" name="Oval 95"/>
            <p:cNvSpPr/>
            <p:nvPr/>
          </p:nvSpPr>
          <p:spPr>
            <a:xfrm>
              <a:off x="672" y="3120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7" name="Oval 96"/>
            <p:cNvSpPr/>
            <p:nvPr/>
          </p:nvSpPr>
          <p:spPr>
            <a:xfrm>
              <a:off x="672" y="345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5808" name="Oval 97"/>
            <p:cNvSpPr/>
            <p:nvPr/>
          </p:nvSpPr>
          <p:spPr>
            <a:xfrm>
              <a:off x="1248" y="2928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FF00"/>
                </a:gs>
                <a:gs pos="100000">
                  <a:srgbClr val="00A9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1088610" name="Line 98"/>
          <p:cNvSpPr/>
          <p:nvPr/>
        </p:nvSpPr>
        <p:spPr>
          <a:xfrm>
            <a:off x="685800" y="981075"/>
            <a:ext cx="2667000" cy="0"/>
          </a:xfrm>
          <a:prstGeom prst="line">
            <a:avLst/>
          </a:prstGeom>
          <a:ln w="9525" cap="flat" cmpd="sng">
            <a:solidFill>
              <a:srgbClr val="FFFF66"/>
            </a:solidFill>
            <a:prstDash val="solid"/>
            <a:round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sp>
        <p:nvSpPr>
          <p:cNvPr id="1088611" name="Text Box 99"/>
          <p:cNvSpPr txBox="1">
            <a:spLocks noChangeArrowheads="1"/>
          </p:cNvSpPr>
          <p:nvPr/>
        </p:nvSpPr>
        <p:spPr bwMode="auto">
          <a:xfrm>
            <a:off x="1143000" y="2189163"/>
            <a:ext cx="5413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左</a:t>
            </a:r>
          </a:p>
        </p:txBody>
      </p:sp>
      <p:sp>
        <p:nvSpPr>
          <p:cNvPr id="1088612" name="Text Box 100"/>
          <p:cNvSpPr txBox="1">
            <a:spLocks noChangeArrowheads="1"/>
          </p:cNvSpPr>
          <p:nvPr/>
        </p:nvSpPr>
        <p:spPr bwMode="auto">
          <a:xfrm>
            <a:off x="2438400" y="2189163"/>
            <a:ext cx="5413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右</a:t>
            </a:r>
          </a:p>
        </p:txBody>
      </p:sp>
      <p:sp>
        <p:nvSpPr>
          <p:cNvPr id="1088616" name="Line 104"/>
          <p:cNvSpPr/>
          <p:nvPr/>
        </p:nvSpPr>
        <p:spPr>
          <a:xfrm>
            <a:off x="6948488" y="6767513"/>
            <a:ext cx="1368425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8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8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8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8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08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08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08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08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573" grpId="0" bldLvl="0" animBg="1"/>
      <p:bldP spid="1088574" grpId="0" bldLvl="0" animBg="1"/>
      <p:bldP spid="1088576" grpId="0" bldLvl="0" animBg="1"/>
      <p:bldP spid="1088611" grpId="0" bldLvl="0" animBg="1"/>
      <p:bldP spid="1088612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705" name="Text Box 169"/>
          <p:cNvSpPr txBox="1">
            <a:spLocks noChangeArrowheads="1"/>
          </p:cNvSpPr>
          <p:nvPr/>
        </p:nvSpPr>
        <p:spPr bwMode="auto">
          <a:xfrm>
            <a:off x="163513" y="452438"/>
            <a:ext cx="6019800" cy="163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</a:t>
            </a: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热力学概率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某宏观态所包含的</a:t>
            </a:r>
            <a:r>
              <a:rPr kumimoji="1" lang="zh-CN" altLang="en-US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微观态数目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叫做该宏观态的</a:t>
            </a:r>
            <a:r>
              <a:rPr kumimoji="1" lang="zh-CN" altLang="en-US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热力学概率</a:t>
            </a:r>
          </a:p>
        </p:txBody>
      </p:sp>
      <p:graphicFrame>
        <p:nvGraphicFramePr>
          <p:cNvPr id="1089706" name="Object 170"/>
          <p:cNvGraphicFramePr/>
          <p:nvPr/>
        </p:nvGraphicFramePr>
        <p:xfrm>
          <a:off x="4075113" y="164306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5" r:id="rId3" imgW="202565" imgH="177800" progId="Equation.DSMT4">
                  <p:embed/>
                </p:oleObj>
              </mc:Choice>
              <mc:Fallback>
                <p:oleObj r:id="rId3" imgW="202565" imgH="177800" progId="Equation.DSMT4">
                  <p:embed/>
                  <p:pic>
                    <p:nvPicPr>
                      <p:cNvPr id="0" name="图片 34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5113" y="1643063"/>
                        <a:ext cx="45085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71"/>
          <p:cNvGrpSpPr/>
          <p:nvPr/>
        </p:nvGrpSpPr>
        <p:grpSpPr>
          <a:xfrm>
            <a:off x="5708650" y="306388"/>
            <a:ext cx="3429000" cy="3962400"/>
            <a:chOff x="3651" y="1841"/>
            <a:chExt cx="2160" cy="2496"/>
          </a:xfrm>
        </p:grpSpPr>
        <p:grpSp>
          <p:nvGrpSpPr>
            <p:cNvPr id="116740" name="Group 172"/>
            <p:cNvGrpSpPr/>
            <p:nvPr/>
          </p:nvGrpSpPr>
          <p:grpSpPr>
            <a:xfrm>
              <a:off x="3651" y="1841"/>
              <a:ext cx="2160" cy="2496"/>
              <a:chOff x="3600" y="0"/>
              <a:chExt cx="2160" cy="2496"/>
            </a:xfrm>
          </p:grpSpPr>
          <p:sp>
            <p:nvSpPr>
              <p:cNvPr id="1089709" name="Text Box 173"/>
              <p:cNvSpPr txBox="1">
                <a:spLocks noChangeArrowheads="1"/>
              </p:cNvSpPr>
              <p:nvPr/>
            </p:nvSpPr>
            <p:spPr bwMode="auto">
              <a:xfrm>
                <a:off x="3600" y="0"/>
                <a:ext cx="2160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1" lang="en-US" altLang="zh-CN" sz="2800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 </a:t>
                </a:r>
                <a:r>
                  <a:rPr kumimoji="1" lang="zh-CN" altLang="en-US" sz="2800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宏观态     微观态</a:t>
                </a:r>
              </a:p>
            </p:txBody>
          </p:sp>
          <p:grpSp>
            <p:nvGrpSpPr>
              <p:cNvPr id="116742" name="Group 174"/>
              <p:cNvGrpSpPr/>
              <p:nvPr/>
            </p:nvGrpSpPr>
            <p:grpSpPr>
              <a:xfrm>
                <a:off x="3751" y="440"/>
                <a:ext cx="768" cy="343"/>
                <a:chOff x="3168" y="1728"/>
                <a:chExt cx="672" cy="336"/>
              </a:xfrm>
            </p:grpSpPr>
            <p:grpSp>
              <p:nvGrpSpPr>
                <p:cNvPr id="116743" name="Group 175"/>
                <p:cNvGrpSpPr/>
                <p:nvPr/>
              </p:nvGrpSpPr>
              <p:grpSpPr>
                <a:xfrm>
                  <a:off x="3168" y="1728"/>
                  <a:ext cx="672" cy="336"/>
                  <a:chOff x="3024" y="2592"/>
                  <a:chExt cx="672" cy="336"/>
                </a:xfrm>
              </p:grpSpPr>
              <p:sp>
                <p:nvSpPr>
                  <p:cNvPr id="116744" name="Rectangle 176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45" name="Line 177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6746" name="Group 178"/>
                <p:cNvGrpSpPr/>
                <p:nvPr/>
              </p:nvGrpSpPr>
              <p:grpSpPr>
                <a:xfrm>
                  <a:off x="3552" y="1776"/>
                  <a:ext cx="192" cy="192"/>
                  <a:chOff x="3936" y="2688"/>
                  <a:chExt cx="192" cy="192"/>
                </a:xfrm>
              </p:grpSpPr>
              <p:sp>
                <p:nvSpPr>
                  <p:cNvPr id="116747" name="Oval 179"/>
                  <p:cNvSpPr/>
                  <p:nvPr/>
                </p:nvSpPr>
                <p:spPr>
                  <a:xfrm>
                    <a:off x="3984" y="273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48" name="Oval 180"/>
                  <p:cNvSpPr/>
                  <p:nvPr/>
                </p:nvSpPr>
                <p:spPr>
                  <a:xfrm>
                    <a:off x="4080" y="268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49" name="Oval 181"/>
                  <p:cNvSpPr/>
                  <p:nvPr/>
                </p:nvSpPr>
                <p:spPr>
                  <a:xfrm>
                    <a:off x="4080" y="283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50" name="Oval 182"/>
                  <p:cNvSpPr/>
                  <p:nvPr/>
                </p:nvSpPr>
                <p:spPr>
                  <a:xfrm>
                    <a:off x="3936" y="283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grpSp>
            <p:nvGrpSpPr>
              <p:cNvPr id="116751" name="Group 183"/>
              <p:cNvGrpSpPr/>
              <p:nvPr/>
            </p:nvGrpSpPr>
            <p:grpSpPr>
              <a:xfrm>
                <a:off x="3751" y="881"/>
                <a:ext cx="768" cy="342"/>
                <a:chOff x="3168" y="2208"/>
                <a:chExt cx="672" cy="336"/>
              </a:xfrm>
            </p:grpSpPr>
            <p:grpSp>
              <p:nvGrpSpPr>
                <p:cNvPr id="116752" name="Group 184"/>
                <p:cNvGrpSpPr/>
                <p:nvPr/>
              </p:nvGrpSpPr>
              <p:grpSpPr>
                <a:xfrm>
                  <a:off x="3168" y="2208"/>
                  <a:ext cx="672" cy="336"/>
                  <a:chOff x="3024" y="2592"/>
                  <a:chExt cx="672" cy="336"/>
                </a:xfrm>
              </p:grpSpPr>
              <p:sp>
                <p:nvSpPr>
                  <p:cNvPr id="116753" name="Rectangle 185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54" name="Line 186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6755" name="Group 187"/>
                <p:cNvGrpSpPr/>
                <p:nvPr/>
              </p:nvGrpSpPr>
              <p:grpSpPr>
                <a:xfrm>
                  <a:off x="3552" y="2304"/>
                  <a:ext cx="192" cy="192"/>
                  <a:chOff x="4704" y="2496"/>
                  <a:chExt cx="192" cy="192"/>
                </a:xfrm>
              </p:grpSpPr>
              <p:sp>
                <p:nvSpPr>
                  <p:cNvPr id="116756" name="Oval 188"/>
                  <p:cNvSpPr/>
                  <p:nvPr/>
                </p:nvSpPr>
                <p:spPr>
                  <a:xfrm>
                    <a:off x="4704" y="249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57" name="Oval 189"/>
                  <p:cNvSpPr/>
                  <p:nvPr/>
                </p:nvSpPr>
                <p:spPr>
                  <a:xfrm>
                    <a:off x="4848" y="25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58" name="Oval 190"/>
                  <p:cNvSpPr/>
                  <p:nvPr/>
                </p:nvSpPr>
                <p:spPr>
                  <a:xfrm>
                    <a:off x="4752" y="2640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6759" name="Oval 191"/>
                <p:cNvSpPr/>
                <p:nvPr/>
              </p:nvSpPr>
              <p:spPr>
                <a:xfrm>
                  <a:off x="3312" y="2352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sz="2800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116760" name="Group 192"/>
              <p:cNvGrpSpPr/>
              <p:nvPr/>
            </p:nvGrpSpPr>
            <p:grpSpPr>
              <a:xfrm>
                <a:off x="3751" y="1713"/>
                <a:ext cx="768" cy="342"/>
                <a:chOff x="3168" y="3264"/>
                <a:chExt cx="672" cy="336"/>
              </a:xfrm>
            </p:grpSpPr>
            <p:grpSp>
              <p:nvGrpSpPr>
                <p:cNvPr id="116761" name="Group 193"/>
                <p:cNvGrpSpPr/>
                <p:nvPr/>
              </p:nvGrpSpPr>
              <p:grpSpPr>
                <a:xfrm>
                  <a:off x="3168" y="3264"/>
                  <a:ext cx="672" cy="336"/>
                  <a:chOff x="3024" y="2592"/>
                  <a:chExt cx="672" cy="336"/>
                </a:xfrm>
              </p:grpSpPr>
              <p:sp>
                <p:nvSpPr>
                  <p:cNvPr id="116762" name="Rectangle 194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63" name="Line 195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6764" name="Group 196"/>
                <p:cNvGrpSpPr/>
                <p:nvPr/>
              </p:nvGrpSpPr>
              <p:grpSpPr>
                <a:xfrm>
                  <a:off x="3216" y="3360"/>
                  <a:ext cx="192" cy="192"/>
                  <a:chOff x="4704" y="2496"/>
                  <a:chExt cx="192" cy="192"/>
                </a:xfrm>
              </p:grpSpPr>
              <p:sp>
                <p:nvSpPr>
                  <p:cNvPr id="116765" name="Oval 197"/>
                  <p:cNvSpPr/>
                  <p:nvPr/>
                </p:nvSpPr>
                <p:spPr>
                  <a:xfrm>
                    <a:off x="4704" y="249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66" name="Oval 198"/>
                  <p:cNvSpPr/>
                  <p:nvPr/>
                </p:nvSpPr>
                <p:spPr>
                  <a:xfrm>
                    <a:off x="4848" y="25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67" name="Oval 199"/>
                  <p:cNvSpPr/>
                  <p:nvPr/>
                </p:nvSpPr>
                <p:spPr>
                  <a:xfrm>
                    <a:off x="4752" y="2640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6768" name="Oval 200"/>
                <p:cNvSpPr/>
                <p:nvPr/>
              </p:nvSpPr>
              <p:spPr>
                <a:xfrm>
                  <a:off x="3696" y="3456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sz="2800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116769" name="Group 201"/>
              <p:cNvGrpSpPr/>
              <p:nvPr/>
            </p:nvGrpSpPr>
            <p:grpSpPr>
              <a:xfrm>
                <a:off x="3751" y="1321"/>
                <a:ext cx="768" cy="343"/>
                <a:chOff x="3168" y="2736"/>
                <a:chExt cx="672" cy="336"/>
              </a:xfrm>
            </p:grpSpPr>
            <p:grpSp>
              <p:nvGrpSpPr>
                <p:cNvPr id="116770" name="Group 202"/>
                <p:cNvGrpSpPr/>
                <p:nvPr/>
              </p:nvGrpSpPr>
              <p:grpSpPr>
                <a:xfrm>
                  <a:off x="3168" y="2736"/>
                  <a:ext cx="672" cy="336"/>
                  <a:chOff x="3024" y="2592"/>
                  <a:chExt cx="672" cy="336"/>
                </a:xfrm>
              </p:grpSpPr>
              <p:sp>
                <p:nvSpPr>
                  <p:cNvPr id="116771" name="Rectangle 203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72" name="Line 204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6773" name="Group 205"/>
                <p:cNvGrpSpPr/>
                <p:nvPr/>
              </p:nvGrpSpPr>
              <p:grpSpPr>
                <a:xfrm>
                  <a:off x="3264" y="2832"/>
                  <a:ext cx="144" cy="96"/>
                  <a:chOff x="4800" y="3168"/>
                  <a:chExt cx="144" cy="96"/>
                </a:xfrm>
              </p:grpSpPr>
              <p:sp>
                <p:nvSpPr>
                  <p:cNvPr id="116774" name="Oval 206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75" name="Oval 207"/>
                  <p:cNvSpPr/>
                  <p:nvPr/>
                </p:nvSpPr>
                <p:spPr>
                  <a:xfrm>
                    <a:off x="4896" y="321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grpSp>
              <p:nvGrpSpPr>
                <p:cNvPr id="116776" name="Group 208"/>
                <p:cNvGrpSpPr/>
                <p:nvPr/>
              </p:nvGrpSpPr>
              <p:grpSpPr>
                <a:xfrm>
                  <a:off x="3552" y="2832"/>
                  <a:ext cx="144" cy="96"/>
                  <a:chOff x="4800" y="3168"/>
                  <a:chExt cx="144" cy="96"/>
                </a:xfrm>
              </p:grpSpPr>
              <p:sp>
                <p:nvSpPr>
                  <p:cNvPr id="116777" name="Oval 209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78" name="Oval 210"/>
                  <p:cNvSpPr/>
                  <p:nvPr/>
                </p:nvSpPr>
                <p:spPr>
                  <a:xfrm>
                    <a:off x="4896" y="321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grpSp>
            <p:nvGrpSpPr>
              <p:cNvPr id="116779" name="Group 211"/>
              <p:cNvGrpSpPr/>
              <p:nvPr/>
            </p:nvGrpSpPr>
            <p:grpSpPr>
              <a:xfrm>
                <a:off x="3751" y="2153"/>
                <a:ext cx="768" cy="343"/>
                <a:chOff x="3168" y="3792"/>
                <a:chExt cx="672" cy="336"/>
              </a:xfrm>
            </p:grpSpPr>
            <p:grpSp>
              <p:nvGrpSpPr>
                <p:cNvPr id="116780" name="Group 212"/>
                <p:cNvGrpSpPr/>
                <p:nvPr/>
              </p:nvGrpSpPr>
              <p:grpSpPr>
                <a:xfrm>
                  <a:off x="3168" y="3792"/>
                  <a:ext cx="672" cy="336"/>
                  <a:chOff x="3024" y="2592"/>
                  <a:chExt cx="672" cy="336"/>
                </a:xfrm>
              </p:grpSpPr>
              <p:sp>
                <p:nvSpPr>
                  <p:cNvPr id="116781" name="Rectangle 213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82" name="Line 214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6783" name="Group 215"/>
                <p:cNvGrpSpPr/>
                <p:nvPr/>
              </p:nvGrpSpPr>
              <p:grpSpPr>
                <a:xfrm>
                  <a:off x="3216" y="3840"/>
                  <a:ext cx="240" cy="192"/>
                  <a:chOff x="4800" y="3024"/>
                  <a:chExt cx="240" cy="192"/>
                </a:xfrm>
              </p:grpSpPr>
              <p:sp>
                <p:nvSpPr>
                  <p:cNvPr id="116784" name="Oval 216"/>
                  <p:cNvSpPr/>
                  <p:nvPr/>
                </p:nvSpPr>
                <p:spPr>
                  <a:xfrm>
                    <a:off x="4896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85" name="Oval 217"/>
                  <p:cNvSpPr/>
                  <p:nvPr/>
                </p:nvSpPr>
                <p:spPr>
                  <a:xfrm>
                    <a:off x="4800" y="302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86" name="Oval 218"/>
                  <p:cNvSpPr/>
                  <p:nvPr/>
                </p:nvSpPr>
                <p:spPr>
                  <a:xfrm>
                    <a:off x="4992" y="307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6787" name="Oval 219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sz="2800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sp>
            <p:nvSpPr>
              <p:cNvPr id="1089756" name="Text Box 220"/>
              <p:cNvSpPr txBox="1">
                <a:spLocks noChangeArrowheads="1"/>
              </p:cNvSpPr>
              <p:nvPr/>
            </p:nvSpPr>
            <p:spPr bwMode="auto">
              <a:xfrm>
                <a:off x="4752" y="816"/>
                <a:ext cx="604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89757" name="Text Box 221"/>
              <p:cNvSpPr txBox="1">
                <a:spLocks noChangeArrowheads="1"/>
              </p:cNvSpPr>
              <p:nvPr/>
            </p:nvSpPr>
            <p:spPr bwMode="auto">
              <a:xfrm>
                <a:off x="4752" y="1248"/>
                <a:ext cx="384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6</a:t>
                </a:r>
              </a:p>
            </p:txBody>
          </p:sp>
          <p:sp>
            <p:nvSpPr>
              <p:cNvPr id="1089758" name="Text Box 222"/>
              <p:cNvSpPr txBox="1">
                <a:spLocks noChangeArrowheads="1"/>
              </p:cNvSpPr>
              <p:nvPr/>
            </p:nvSpPr>
            <p:spPr bwMode="auto">
              <a:xfrm>
                <a:off x="4752" y="1680"/>
                <a:ext cx="604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89759" name="Text Box 223"/>
              <p:cNvSpPr txBox="1">
                <a:spLocks noChangeArrowheads="1"/>
              </p:cNvSpPr>
              <p:nvPr/>
            </p:nvSpPr>
            <p:spPr bwMode="auto">
              <a:xfrm>
                <a:off x="4752" y="2112"/>
                <a:ext cx="549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1</a:t>
                </a:r>
              </a:p>
            </p:txBody>
          </p:sp>
          <p:sp>
            <p:nvSpPr>
              <p:cNvPr id="1089760" name="Text Box 224"/>
              <p:cNvSpPr txBox="1">
                <a:spLocks noChangeArrowheads="1"/>
              </p:cNvSpPr>
              <p:nvPr/>
            </p:nvSpPr>
            <p:spPr bwMode="auto">
              <a:xfrm>
                <a:off x="4738" y="343"/>
                <a:ext cx="604" cy="3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1</a:t>
                </a:r>
              </a:p>
            </p:txBody>
          </p:sp>
        </p:grpSp>
        <p:graphicFrame>
          <p:nvGraphicFramePr>
            <p:cNvPr id="116793" name="Object 225"/>
            <p:cNvGraphicFramePr/>
            <p:nvPr/>
          </p:nvGraphicFramePr>
          <p:xfrm>
            <a:off x="5073" y="2242"/>
            <a:ext cx="577" cy="2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6" r:id="rId5" imgW="431800" imgH="1091565" progId="Equation.DSMT4">
                    <p:embed/>
                  </p:oleObj>
                </mc:Choice>
                <mc:Fallback>
                  <p:oleObj r:id="rId5" imgW="431800" imgH="1091565" progId="Equation.DSMT4">
                    <p:embed/>
                    <p:pic>
                      <p:nvPicPr>
                        <p:cNvPr id="0" name="图片 34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73" y="2242"/>
                          <a:ext cx="577" cy="20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89763" name="Rectangle 227"/>
          <p:cNvSpPr>
            <a:spLocks noChangeArrowheads="1"/>
          </p:cNvSpPr>
          <p:nvPr/>
        </p:nvSpPr>
        <p:spPr bwMode="auto">
          <a:xfrm>
            <a:off x="-6235" y="2006603"/>
            <a:ext cx="6121400" cy="9667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        </a:t>
            </a:r>
            <a:r>
              <a:rPr kumimoji="1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一定宏观条件下，各种可能的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宏观态中哪一种是实际所能观测到的？</a:t>
            </a:r>
          </a:p>
        </p:txBody>
      </p:sp>
      <p:sp>
        <p:nvSpPr>
          <p:cNvPr id="1090562" name="Text Box 2"/>
          <p:cNvSpPr txBox="1"/>
          <p:nvPr/>
        </p:nvSpPr>
        <p:spPr>
          <a:xfrm>
            <a:off x="406568" y="2971067"/>
            <a:ext cx="4824586" cy="830997"/>
          </a:xfrm>
          <a:prstGeom prst="rect">
            <a:avLst/>
          </a:prstGeom>
          <a:noFill/>
          <a:ln w="28575" cap="flat" cmpd="sng">
            <a:solidFill>
              <a:srgbClr val="FF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等概率假设：对于孤立系，各种可能的微观态出现的概率是相等的。</a:t>
            </a:r>
            <a:endParaRPr lang="zh-CN" altLang="en-US" dirty="0">
              <a:solidFill>
                <a:srgbClr val="660066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62" name="Text Box 7">
            <a:extLst>
              <a:ext uri="{FF2B5EF4-FFF2-40B4-BE49-F238E27FC236}">
                <a16:creationId xmlns:a16="http://schemas.microsoft.com/office/drawing/2014/main" id="{2B218985-4657-4C8C-983F-09DB8CCFA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68" y="5797236"/>
            <a:ext cx="8475495" cy="984250"/>
          </a:xfrm>
          <a:prstGeom prst="rect">
            <a:avLst/>
          </a:prstGeom>
          <a:noFill/>
          <a:ln w="38100">
            <a:solidFill>
              <a:srgbClr val="FF33CC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哪种宏观态包含的微观态数多，这种宏观态出现的可能性就大。</a:t>
            </a:r>
          </a:p>
        </p:txBody>
      </p:sp>
      <p:sp>
        <p:nvSpPr>
          <p:cNvPr id="63" name="AutoShape 8">
            <a:extLst>
              <a:ext uri="{FF2B5EF4-FFF2-40B4-BE49-F238E27FC236}">
                <a16:creationId xmlns:a16="http://schemas.microsoft.com/office/drawing/2014/main" id="{8B9CC3C4-F9CF-4400-8263-8F64947F689E}"/>
              </a:ext>
            </a:extLst>
          </p:cNvPr>
          <p:cNvSpPr/>
          <p:nvPr/>
        </p:nvSpPr>
        <p:spPr>
          <a:xfrm>
            <a:off x="2537847" y="5349460"/>
            <a:ext cx="533400" cy="371953"/>
          </a:xfrm>
          <a:prstGeom prst="downArrow">
            <a:avLst>
              <a:gd name="adj1" fmla="val 50000"/>
              <a:gd name="adj2" fmla="val 28518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0FE7459-782A-408D-B9BC-0CAC7CA66207}"/>
              </a:ext>
            </a:extLst>
          </p:cNvPr>
          <p:cNvSpPr txBox="1"/>
          <p:nvPr/>
        </p:nvSpPr>
        <p:spPr>
          <a:xfrm>
            <a:off x="63388" y="3938551"/>
            <a:ext cx="5482318" cy="8925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如果可能微观态总数为</a:t>
            </a:r>
            <a:r>
              <a:rPr kumimoji="0" lang="zh-CN" altLang="en-US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，则系统的任意微观态出现的概率均为 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1/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</a:t>
            </a:r>
          </a:p>
        </p:txBody>
      </p:sp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26959A69-0669-486F-ADE2-5E720495B0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964731"/>
              </p:ext>
            </p:extLst>
          </p:nvPr>
        </p:nvGraphicFramePr>
        <p:xfrm>
          <a:off x="738535" y="4692475"/>
          <a:ext cx="428942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7" r:id="rId7" imgW="1993265" imgH="393700" progId="Equation.DSMT4">
                  <p:embed/>
                </p:oleObj>
              </mc:Choice>
              <mc:Fallback>
                <p:oleObj r:id="rId7" imgW="1993265" imgH="393700" progId="Equation.DSMT4">
                  <p:embed/>
                  <p:pic>
                    <p:nvPicPr>
                      <p:cNvPr id="751621" name="对象 7516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8535" y="4692475"/>
                        <a:ext cx="4289425" cy="842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8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8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8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763" grpId="0" bldLvl="0" animBg="1"/>
      <p:bldP spid="1090562" grpId="0" bldLvl="0" animBg="1"/>
      <p:bldP spid="62" grpId="0" bldLvl="0" animBg="1"/>
      <p:bldP spid="63" grpId="0" bldLvl="0" animBg="1"/>
      <p:bldP spid="64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57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91588" name="Rectangle 4"/>
          <p:cNvSpPr>
            <a:spLocks noChangeArrowheads="1"/>
          </p:cNvSpPr>
          <p:nvPr/>
        </p:nvSpPr>
        <p:spPr bwMode="auto">
          <a:xfrm>
            <a:off x="179388" y="212725"/>
            <a:ext cx="5716588" cy="989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>
                <a:srgbClr val="CC3300"/>
              </a:buClr>
              <a:buSzTx/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在诸多的宏观态中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热力学概率大的宏观态最易出现</a:t>
            </a:r>
          </a:p>
        </p:txBody>
      </p:sp>
      <p:sp>
        <p:nvSpPr>
          <p:cNvPr id="1091589" name="Text Box 5"/>
          <p:cNvSpPr txBox="1">
            <a:spLocks noChangeArrowheads="1"/>
          </p:cNvSpPr>
          <p:nvPr/>
        </p:nvSpPr>
        <p:spPr bwMode="auto">
          <a:xfrm>
            <a:off x="1763713" y="2978150"/>
            <a:ext cx="3902075" cy="95567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平衡态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就是一定宏观条件下</a:t>
            </a:r>
            <a:r>
              <a:rPr kumimoji="1" lang="en-US" altLang="zh-CN" sz="2800" i="1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en-US" altLang="zh-CN" sz="2800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1" lang="zh-CN" altLang="en-US" sz="2800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最大的状态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</a:t>
            </a:r>
          </a:p>
        </p:txBody>
      </p:sp>
      <p:sp>
        <p:nvSpPr>
          <p:cNvPr id="1091590" name="AutoShape 6"/>
          <p:cNvSpPr/>
          <p:nvPr/>
        </p:nvSpPr>
        <p:spPr>
          <a:xfrm>
            <a:off x="250825" y="3122613"/>
            <a:ext cx="1371600" cy="533400"/>
          </a:xfrm>
          <a:prstGeom prst="rightArrow">
            <a:avLst>
              <a:gd name="adj1" fmla="val 50000"/>
              <a:gd name="adj2" fmla="val 64261"/>
            </a:avLst>
          </a:prstGeom>
          <a:solidFill>
            <a:srgbClr val="33CC33"/>
          </a:soli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118789" name="Group 8"/>
          <p:cNvGrpSpPr/>
          <p:nvPr/>
        </p:nvGrpSpPr>
        <p:grpSpPr>
          <a:xfrm>
            <a:off x="5822950" y="115888"/>
            <a:ext cx="3429000" cy="3962400"/>
            <a:chOff x="3668" y="119"/>
            <a:chExt cx="2160" cy="2496"/>
          </a:xfrm>
        </p:grpSpPr>
        <p:grpSp>
          <p:nvGrpSpPr>
            <p:cNvPr id="118790" name="Group 9"/>
            <p:cNvGrpSpPr/>
            <p:nvPr/>
          </p:nvGrpSpPr>
          <p:grpSpPr>
            <a:xfrm>
              <a:off x="3668" y="119"/>
              <a:ext cx="2160" cy="2496"/>
              <a:chOff x="3600" y="0"/>
              <a:chExt cx="2160" cy="2496"/>
            </a:xfrm>
          </p:grpSpPr>
          <p:sp>
            <p:nvSpPr>
              <p:cNvPr id="1091594" name="Text Box 10"/>
              <p:cNvSpPr txBox="1">
                <a:spLocks noChangeArrowheads="1"/>
              </p:cNvSpPr>
              <p:nvPr/>
            </p:nvSpPr>
            <p:spPr bwMode="auto">
              <a:xfrm>
                <a:off x="3600" y="0"/>
                <a:ext cx="2160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1" lang="en-US" altLang="zh-CN" sz="2800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 </a:t>
                </a:r>
                <a:r>
                  <a:rPr kumimoji="1" lang="zh-CN" altLang="en-US" sz="2800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宏观态     微观态</a:t>
                </a:r>
              </a:p>
            </p:txBody>
          </p:sp>
          <p:grpSp>
            <p:nvGrpSpPr>
              <p:cNvPr id="118792" name="Group 11"/>
              <p:cNvGrpSpPr/>
              <p:nvPr/>
            </p:nvGrpSpPr>
            <p:grpSpPr>
              <a:xfrm>
                <a:off x="3751" y="440"/>
                <a:ext cx="768" cy="343"/>
                <a:chOff x="3168" y="1728"/>
                <a:chExt cx="672" cy="336"/>
              </a:xfrm>
            </p:grpSpPr>
            <p:grpSp>
              <p:nvGrpSpPr>
                <p:cNvPr id="118793" name="Group 12"/>
                <p:cNvGrpSpPr/>
                <p:nvPr/>
              </p:nvGrpSpPr>
              <p:grpSpPr>
                <a:xfrm>
                  <a:off x="3168" y="1728"/>
                  <a:ext cx="672" cy="336"/>
                  <a:chOff x="3024" y="2592"/>
                  <a:chExt cx="672" cy="336"/>
                </a:xfrm>
              </p:grpSpPr>
              <p:sp>
                <p:nvSpPr>
                  <p:cNvPr id="118794" name="Rectangle 13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795" name="Line 14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8796" name="Group 15"/>
                <p:cNvGrpSpPr/>
                <p:nvPr/>
              </p:nvGrpSpPr>
              <p:grpSpPr>
                <a:xfrm>
                  <a:off x="3552" y="1776"/>
                  <a:ext cx="192" cy="192"/>
                  <a:chOff x="3936" y="2688"/>
                  <a:chExt cx="192" cy="192"/>
                </a:xfrm>
              </p:grpSpPr>
              <p:sp>
                <p:nvSpPr>
                  <p:cNvPr id="118797" name="Oval 16"/>
                  <p:cNvSpPr/>
                  <p:nvPr/>
                </p:nvSpPr>
                <p:spPr>
                  <a:xfrm>
                    <a:off x="3984" y="273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798" name="Oval 17"/>
                  <p:cNvSpPr/>
                  <p:nvPr/>
                </p:nvSpPr>
                <p:spPr>
                  <a:xfrm>
                    <a:off x="4080" y="268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799" name="Oval 18"/>
                  <p:cNvSpPr/>
                  <p:nvPr/>
                </p:nvSpPr>
                <p:spPr>
                  <a:xfrm>
                    <a:off x="4080" y="283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00" name="Oval 19"/>
                  <p:cNvSpPr/>
                  <p:nvPr/>
                </p:nvSpPr>
                <p:spPr>
                  <a:xfrm>
                    <a:off x="3936" y="283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grpSp>
            <p:nvGrpSpPr>
              <p:cNvPr id="118801" name="Group 20"/>
              <p:cNvGrpSpPr/>
              <p:nvPr/>
            </p:nvGrpSpPr>
            <p:grpSpPr>
              <a:xfrm>
                <a:off x="3751" y="881"/>
                <a:ext cx="768" cy="342"/>
                <a:chOff x="3168" y="2208"/>
                <a:chExt cx="672" cy="336"/>
              </a:xfrm>
            </p:grpSpPr>
            <p:grpSp>
              <p:nvGrpSpPr>
                <p:cNvPr id="118802" name="Group 21"/>
                <p:cNvGrpSpPr/>
                <p:nvPr/>
              </p:nvGrpSpPr>
              <p:grpSpPr>
                <a:xfrm>
                  <a:off x="3168" y="2208"/>
                  <a:ext cx="672" cy="336"/>
                  <a:chOff x="3024" y="2592"/>
                  <a:chExt cx="672" cy="336"/>
                </a:xfrm>
              </p:grpSpPr>
              <p:sp>
                <p:nvSpPr>
                  <p:cNvPr id="118803" name="Rectangle 22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04" name="Line 23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8805" name="Group 24"/>
                <p:cNvGrpSpPr/>
                <p:nvPr/>
              </p:nvGrpSpPr>
              <p:grpSpPr>
                <a:xfrm>
                  <a:off x="3552" y="2304"/>
                  <a:ext cx="192" cy="192"/>
                  <a:chOff x="4704" y="2496"/>
                  <a:chExt cx="192" cy="192"/>
                </a:xfrm>
              </p:grpSpPr>
              <p:sp>
                <p:nvSpPr>
                  <p:cNvPr id="118806" name="Oval 25"/>
                  <p:cNvSpPr/>
                  <p:nvPr/>
                </p:nvSpPr>
                <p:spPr>
                  <a:xfrm>
                    <a:off x="4704" y="249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07" name="Oval 26"/>
                  <p:cNvSpPr/>
                  <p:nvPr/>
                </p:nvSpPr>
                <p:spPr>
                  <a:xfrm>
                    <a:off x="4848" y="25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08" name="Oval 27"/>
                  <p:cNvSpPr/>
                  <p:nvPr/>
                </p:nvSpPr>
                <p:spPr>
                  <a:xfrm>
                    <a:off x="4752" y="2640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8809" name="Oval 28"/>
                <p:cNvSpPr/>
                <p:nvPr/>
              </p:nvSpPr>
              <p:spPr>
                <a:xfrm>
                  <a:off x="3312" y="2352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118810" name="Group 29"/>
              <p:cNvGrpSpPr/>
              <p:nvPr/>
            </p:nvGrpSpPr>
            <p:grpSpPr>
              <a:xfrm>
                <a:off x="3751" y="1713"/>
                <a:ext cx="768" cy="342"/>
                <a:chOff x="3168" y="3264"/>
                <a:chExt cx="672" cy="336"/>
              </a:xfrm>
            </p:grpSpPr>
            <p:grpSp>
              <p:nvGrpSpPr>
                <p:cNvPr id="118811" name="Group 30"/>
                <p:cNvGrpSpPr/>
                <p:nvPr/>
              </p:nvGrpSpPr>
              <p:grpSpPr>
                <a:xfrm>
                  <a:off x="3168" y="3264"/>
                  <a:ext cx="672" cy="336"/>
                  <a:chOff x="3024" y="2592"/>
                  <a:chExt cx="672" cy="336"/>
                </a:xfrm>
              </p:grpSpPr>
              <p:sp>
                <p:nvSpPr>
                  <p:cNvPr id="118812" name="Rectangle 31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13" name="Line 32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8814" name="Group 33"/>
                <p:cNvGrpSpPr/>
                <p:nvPr/>
              </p:nvGrpSpPr>
              <p:grpSpPr>
                <a:xfrm>
                  <a:off x="3216" y="3360"/>
                  <a:ext cx="192" cy="192"/>
                  <a:chOff x="4704" y="2496"/>
                  <a:chExt cx="192" cy="192"/>
                </a:xfrm>
              </p:grpSpPr>
              <p:sp>
                <p:nvSpPr>
                  <p:cNvPr id="118815" name="Oval 34"/>
                  <p:cNvSpPr/>
                  <p:nvPr/>
                </p:nvSpPr>
                <p:spPr>
                  <a:xfrm>
                    <a:off x="4704" y="249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16" name="Oval 35"/>
                  <p:cNvSpPr/>
                  <p:nvPr/>
                </p:nvSpPr>
                <p:spPr>
                  <a:xfrm>
                    <a:off x="4848" y="25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17" name="Oval 36"/>
                  <p:cNvSpPr/>
                  <p:nvPr/>
                </p:nvSpPr>
                <p:spPr>
                  <a:xfrm>
                    <a:off x="4752" y="2640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sp>
              <p:nvSpPr>
                <p:cNvPr id="118818" name="Oval 37"/>
                <p:cNvSpPr/>
                <p:nvPr/>
              </p:nvSpPr>
              <p:spPr>
                <a:xfrm>
                  <a:off x="3696" y="3456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en-US" dirty="0"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  <p:grpSp>
            <p:nvGrpSpPr>
              <p:cNvPr id="118819" name="Group 38"/>
              <p:cNvGrpSpPr/>
              <p:nvPr/>
            </p:nvGrpSpPr>
            <p:grpSpPr>
              <a:xfrm>
                <a:off x="3751" y="1321"/>
                <a:ext cx="768" cy="343"/>
                <a:chOff x="3168" y="2736"/>
                <a:chExt cx="672" cy="336"/>
              </a:xfrm>
            </p:grpSpPr>
            <p:grpSp>
              <p:nvGrpSpPr>
                <p:cNvPr id="118820" name="Group 39"/>
                <p:cNvGrpSpPr/>
                <p:nvPr/>
              </p:nvGrpSpPr>
              <p:grpSpPr>
                <a:xfrm>
                  <a:off x="3168" y="2736"/>
                  <a:ext cx="672" cy="336"/>
                  <a:chOff x="3024" y="2592"/>
                  <a:chExt cx="672" cy="336"/>
                </a:xfrm>
              </p:grpSpPr>
              <p:sp>
                <p:nvSpPr>
                  <p:cNvPr id="118821" name="Rectangle 40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22" name="Line 41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8823" name="Group 42"/>
                <p:cNvGrpSpPr/>
                <p:nvPr/>
              </p:nvGrpSpPr>
              <p:grpSpPr>
                <a:xfrm>
                  <a:off x="3264" y="2832"/>
                  <a:ext cx="144" cy="96"/>
                  <a:chOff x="4800" y="3168"/>
                  <a:chExt cx="144" cy="96"/>
                </a:xfrm>
              </p:grpSpPr>
              <p:sp>
                <p:nvSpPr>
                  <p:cNvPr id="118824" name="Oval 43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25" name="Oval 44"/>
                  <p:cNvSpPr/>
                  <p:nvPr/>
                </p:nvSpPr>
                <p:spPr>
                  <a:xfrm>
                    <a:off x="4896" y="321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  <p:grpSp>
              <p:nvGrpSpPr>
                <p:cNvPr id="118826" name="Group 45"/>
                <p:cNvGrpSpPr/>
                <p:nvPr/>
              </p:nvGrpSpPr>
              <p:grpSpPr>
                <a:xfrm>
                  <a:off x="3552" y="2832"/>
                  <a:ext cx="144" cy="96"/>
                  <a:chOff x="4800" y="3168"/>
                  <a:chExt cx="144" cy="96"/>
                </a:xfrm>
              </p:grpSpPr>
              <p:sp>
                <p:nvSpPr>
                  <p:cNvPr id="118827" name="Oval 46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28" name="Oval 47"/>
                  <p:cNvSpPr/>
                  <p:nvPr/>
                </p:nvSpPr>
                <p:spPr>
                  <a:xfrm>
                    <a:off x="4896" y="321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grpSp>
            <p:nvGrpSpPr>
              <p:cNvPr id="118829" name="Group 48"/>
              <p:cNvGrpSpPr/>
              <p:nvPr/>
            </p:nvGrpSpPr>
            <p:grpSpPr>
              <a:xfrm>
                <a:off x="3751" y="2153"/>
                <a:ext cx="768" cy="343"/>
                <a:chOff x="3168" y="3792"/>
                <a:chExt cx="672" cy="336"/>
              </a:xfrm>
            </p:grpSpPr>
            <p:grpSp>
              <p:nvGrpSpPr>
                <p:cNvPr id="118830" name="Group 49"/>
                <p:cNvGrpSpPr/>
                <p:nvPr/>
              </p:nvGrpSpPr>
              <p:grpSpPr>
                <a:xfrm>
                  <a:off x="3168" y="3792"/>
                  <a:ext cx="672" cy="336"/>
                  <a:chOff x="3024" y="2592"/>
                  <a:chExt cx="672" cy="336"/>
                </a:xfrm>
              </p:grpSpPr>
              <p:sp>
                <p:nvSpPr>
                  <p:cNvPr id="118831" name="Rectangle 50"/>
                  <p:cNvSpPr/>
                  <p:nvPr/>
                </p:nvSpPr>
                <p:spPr>
                  <a:xfrm>
                    <a:off x="3024" y="2592"/>
                    <a:ext cx="672" cy="33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32" name="Line 51"/>
                  <p:cNvSpPr/>
                  <p:nvPr/>
                </p:nvSpPr>
                <p:spPr>
                  <a:xfrm>
                    <a:off x="3360" y="2592"/>
                    <a:ext cx="0" cy="33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18833" name="Group 52"/>
                <p:cNvGrpSpPr/>
                <p:nvPr/>
              </p:nvGrpSpPr>
              <p:grpSpPr>
                <a:xfrm>
                  <a:off x="3216" y="3840"/>
                  <a:ext cx="240" cy="192"/>
                  <a:chOff x="4800" y="3024"/>
                  <a:chExt cx="240" cy="192"/>
                </a:xfrm>
              </p:grpSpPr>
              <p:sp>
                <p:nvSpPr>
                  <p:cNvPr id="118834" name="Oval 53"/>
                  <p:cNvSpPr/>
                  <p:nvPr/>
                </p:nvSpPr>
                <p:spPr>
                  <a:xfrm>
                    <a:off x="4896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35" name="Oval 54"/>
                  <p:cNvSpPr/>
                  <p:nvPr/>
                </p:nvSpPr>
                <p:spPr>
                  <a:xfrm>
                    <a:off x="4800" y="302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36" name="Oval 55"/>
                  <p:cNvSpPr/>
                  <p:nvPr/>
                </p:nvSpPr>
                <p:spPr>
                  <a:xfrm>
                    <a:off x="4992" y="307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  <p:sp>
                <p:nvSpPr>
                  <p:cNvPr id="118837" name="Oval 56"/>
                  <p:cNvSpPr/>
                  <p:nvPr/>
                </p:nvSpPr>
                <p:spPr>
                  <a:xfrm>
                    <a:off x="4800" y="316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zh-CN" altLang="en-US" dirty="0">
                      <a:latin typeface="Times New Roman" panose="02020603050405020304" pitchFamily="18" charset="0"/>
                      <a:ea typeface="楷体_GB2312" panose="02010609030101010101" pitchFamily="49" charset="-122"/>
                    </a:endParaRPr>
                  </a:p>
                </p:txBody>
              </p:sp>
            </p:grpSp>
          </p:grpSp>
          <p:sp>
            <p:nvSpPr>
              <p:cNvPr id="1091641" name="Text Box 57"/>
              <p:cNvSpPr txBox="1">
                <a:spLocks noChangeArrowheads="1"/>
              </p:cNvSpPr>
              <p:nvPr/>
            </p:nvSpPr>
            <p:spPr bwMode="auto">
              <a:xfrm>
                <a:off x="4752" y="816"/>
                <a:ext cx="604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91642" name="Text Box 58"/>
              <p:cNvSpPr txBox="1">
                <a:spLocks noChangeArrowheads="1"/>
              </p:cNvSpPr>
              <p:nvPr/>
            </p:nvSpPr>
            <p:spPr bwMode="auto">
              <a:xfrm>
                <a:off x="4752" y="1248"/>
                <a:ext cx="384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6</a:t>
                </a:r>
              </a:p>
            </p:txBody>
          </p:sp>
          <p:sp>
            <p:nvSpPr>
              <p:cNvPr id="1091643" name="Text Box 59"/>
              <p:cNvSpPr txBox="1">
                <a:spLocks noChangeArrowheads="1"/>
              </p:cNvSpPr>
              <p:nvPr/>
            </p:nvSpPr>
            <p:spPr bwMode="auto">
              <a:xfrm>
                <a:off x="4752" y="1680"/>
                <a:ext cx="604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4</a:t>
                </a:r>
              </a:p>
            </p:txBody>
          </p:sp>
          <p:sp>
            <p:nvSpPr>
              <p:cNvPr id="1091644" name="Text Box 60"/>
              <p:cNvSpPr txBox="1">
                <a:spLocks noChangeArrowheads="1"/>
              </p:cNvSpPr>
              <p:nvPr/>
            </p:nvSpPr>
            <p:spPr bwMode="auto">
              <a:xfrm>
                <a:off x="4752" y="2112"/>
                <a:ext cx="549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1</a:t>
                </a:r>
              </a:p>
            </p:txBody>
          </p:sp>
          <p:sp>
            <p:nvSpPr>
              <p:cNvPr id="1091645" name="Text Box 61"/>
              <p:cNvSpPr txBox="1">
                <a:spLocks noChangeArrowheads="1"/>
              </p:cNvSpPr>
              <p:nvPr/>
            </p:nvSpPr>
            <p:spPr bwMode="auto">
              <a:xfrm>
                <a:off x="4738" y="343"/>
                <a:ext cx="604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1</a:t>
                </a:r>
              </a:p>
            </p:txBody>
          </p:sp>
        </p:grpSp>
        <p:graphicFrame>
          <p:nvGraphicFramePr>
            <p:cNvPr id="118843" name="Object 62"/>
            <p:cNvGraphicFramePr/>
            <p:nvPr/>
          </p:nvGraphicFramePr>
          <p:xfrm>
            <a:off x="5090" y="470"/>
            <a:ext cx="621" cy="2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73" r:id="rId4" imgW="431800" imgH="1091565" progId="Equation.DSMT4">
                    <p:embed/>
                  </p:oleObj>
                </mc:Choice>
                <mc:Fallback>
                  <p:oleObj r:id="rId4" imgW="431800" imgH="1091565" progId="Equation.DSMT4">
                    <p:embed/>
                    <p:pic>
                      <p:nvPicPr>
                        <p:cNvPr id="0" name="图片 343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90" y="470"/>
                          <a:ext cx="621" cy="21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1648" name="Text Box 64"/>
          <p:cNvSpPr txBox="1"/>
          <p:nvPr/>
        </p:nvSpPr>
        <p:spPr>
          <a:xfrm>
            <a:off x="611188" y="1412875"/>
            <a:ext cx="7380287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两边分子数相同时 </a:t>
            </a:r>
            <a:r>
              <a:rPr lang="zh-CN" altLang="en-US" sz="28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热力学</a:t>
            </a:r>
          </a:p>
          <a:p>
            <a:r>
              <a:rPr lang="zh-CN" altLang="en-US" sz="28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概率最大，对应于</a:t>
            </a:r>
            <a:r>
              <a:rPr lang="zh-CN" altLang="en-US" sz="2800" dirty="0">
                <a:solidFill>
                  <a:srgbClr val="CC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平衡态</a:t>
            </a:r>
            <a:r>
              <a:rPr lang="zh-CN" altLang="en-US" sz="28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800" dirty="0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33400" y="4843463"/>
            <a:ext cx="7494588" cy="5191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>
                <a:srgbClr val="CC3300"/>
              </a:buClr>
              <a:buSzTx/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kumimoji="1" lang="en-US" altLang="zh-CN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热力学概率</a:t>
            </a:r>
            <a:r>
              <a:rPr kumimoji="1" lang="en-US" altLang="zh-CN" sz="2800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W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是分子运动无序性的一种量度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50838" y="5516563"/>
            <a:ext cx="8442325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因此，微观状态数最大的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平衡态是最无序的状态。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39750" y="4338638"/>
            <a:ext cx="16605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W </a:t>
            </a:r>
            <a:r>
              <a:rPr kumimoji="1" lang="zh-CN" altLang="en-US" sz="2800" kern="1200" cap="none" spc="0" normalizeH="0" baseline="0" noProof="0"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意义？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9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91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9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588" grpId="0" bldLvl="0" animBg="1"/>
      <p:bldP spid="1091589" grpId="0" bldLvl="0" animBg="1"/>
      <p:bldP spid="1091590" grpId="0" bldLvl="0" animBg="1"/>
      <p:bldP spid="1091648" grpId="0"/>
      <p:bldP spid="5" grpId="0" build="p"/>
      <p:bldP spid="6" grpId="0" bldLvl="0" animBg="1"/>
      <p:bldP spid="7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38" name="Text Box 2"/>
          <p:cNvSpPr txBox="1">
            <a:spLocks noChangeArrowheads="1"/>
          </p:cNvSpPr>
          <p:nvPr/>
        </p:nvSpPr>
        <p:spPr bwMode="auto">
          <a:xfrm>
            <a:off x="439738" y="420688"/>
            <a:ext cx="6970713" cy="952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    1mol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气体自由膨胀，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都回到一边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去的概率只有</a:t>
            </a:r>
          </a:p>
        </p:txBody>
      </p:sp>
      <p:graphicFrame>
        <p:nvGraphicFramePr>
          <p:cNvPr id="1089539" name="Object 3"/>
          <p:cNvGraphicFramePr/>
          <p:nvPr/>
        </p:nvGraphicFramePr>
        <p:xfrm>
          <a:off x="1943100" y="852488"/>
          <a:ext cx="8921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7" r:id="rId3" imgW="405765" imgH="330200" progId="Equation.3">
                  <p:embed/>
                </p:oleObj>
              </mc:Choice>
              <mc:Fallback>
                <p:oleObj r:id="rId3" imgW="405765" imgH="330200" progId="Equation.3">
                  <p:embed/>
                  <p:pic>
                    <p:nvPicPr>
                      <p:cNvPr id="0" name="图片 34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3100" y="852488"/>
                        <a:ext cx="892175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6343650" y="923925"/>
            <a:ext cx="2743200" cy="1371600"/>
            <a:chOff x="2256" y="2832"/>
            <a:chExt cx="1728" cy="864"/>
          </a:xfrm>
        </p:grpSpPr>
        <p:sp>
          <p:nvSpPr>
            <p:cNvPr id="119812" name="Rectangle 5"/>
            <p:cNvSpPr/>
            <p:nvPr/>
          </p:nvSpPr>
          <p:spPr>
            <a:xfrm>
              <a:off x="2304" y="2832"/>
              <a:ext cx="1680" cy="768"/>
            </a:xfrm>
            <a:prstGeom prst="rect">
              <a:avLst/>
            </a:prstGeom>
            <a:solidFill>
              <a:srgbClr val="96969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119813" name="Group 6"/>
            <p:cNvGrpSpPr/>
            <p:nvPr/>
          </p:nvGrpSpPr>
          <p:grpSpPr>
            <a:xfrm>
              <a:off x="2256" y="2928"/>
              <a:ext cx="1680" cy="768"/>
              <a:chOff x="2256" y="2928"/>
              <a:chExt cx="1680" cy="768"/>
            </a:xfrm>
          </p:grpSpPr>
          <p:sp>
            <p:nvSpPr>
              <p:cNvPr id="119814" name="Line 7"/>
              <p:cNvSpPr/>
              <p:nvPr/>
            </p:nvSpPr>
            <p:spPr>
              <a:xfrm>
                <a:off x="2256" y="3696"/>
                <a:ext cx="1680" cy="0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  <p:sp>
            <p:nvSpPr>
              <p:cNvPr id="119815" name="Line 8"/>
              <p:cNvSpPr/>
              <p:nvPr/>
            </p:nvSpPr>
            <p:spPr>
              <a:xfrm flipV="1">
                <a:off x="2256" y="2928"/>
                <a:ext cx="0" cy="768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  <p:sp>
            <p:nvSpPr>
              <p:cNvPr id="119816" name="Line 9"/>
              <p:cNvSpPr/>
              <p:nvPr/>
            </p:nvSpPr>
            <p:spPr>
              <a:xfrm flipV="1">
                <a:off x="3936" y="2928"/>
                <a:ext cx="0" cy="768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</p:sp>
        </p:grpSp>
      </p:grpSp>
      <p:sp>
        <p:nvSpPr>
          <p:cNvPr id="119817" name="Line 10"/>
          <p:cNvSpPr/>
          <p:nvPr/>
        </p:nvSpPr>
        <p:spPr>
          <a:xfrm flipV="1">
            <a:off x="7715250" y="1076325"/>
            <a:ext cx="0" cy="1219200"/>
          </a:xfrm>
          <a:prstGeom prst="line">
            <a:avLst/>
          </a:prstGeom>
          <a:ln w="9525" cap="flat" cmpd="sng">
            <a:solidFill>
              <a:srgbClr val="FFFF66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089547" name="Line 11"/>
          <p:cNvSpPr/>
          <p:nvPr/>
        </p:nvSpPr>
        <p:spPr>
          <a:xfrm>
            <a:off x="6343650" y="1076325"/>
            <a:ext cx="2667000" cy="0"/>
          </a:xfrm>
          <a:prstGeom prst="line">
            <a:avLst/>
          </a:prstGeom>
          <a:ln w="9525" cap="flat" cmpd="sng">
            <a:solidFill>
              <a:srgbClr val="FFFF66"/>
            </a:solidFill>
            <a:prstDash val="solid"/>
            <a:round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</p:sp>
      <p:grpSp>
        <p:nvGrpSpPr>
          <p:cNvPr id="4" name="Group 12"/>
          <p:cNvGrpSpPr/>
          <p:nvPr/>
        </p:nvGrpSpPr>
        <p:grpSpPr>
          <a:xfrm>
            <a:off x="6419850" y="1152525"/>
            <a:ext cx="1219200" cy="1143000"/>
            <a:chOff x="4416" y="912"/>
            <a:chExt cx="768" cy="720"/>
          </a:xfrm>
        </p:grpSpPr>
        <p:sp>
          <p:nvSpPr>
            <p:cNvPr id="119820" name="Oval 13"/>
            <p:cNvSpPr/>
            <p:nvPr/>
          </p:nvSpPr>
          <p:spPr>
            <a:xfrm>
              <a:off x="4800" y="12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1" name="Oval 14"/>
            <p:cNvSpPr/>
            <p:nvPr/>
          </p:nvSpPr>
          <p:spPr>
            <a:xfrm>
              <a:off x="4704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2" name="Oval 15"/>
            <p:cNvSpPr/>
            <p:nvPr/>
          </p:nvSpPr>
          <p:spPr>
            <a:xfrm>
              <a:off x="4416" y="12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3" name="Oval 16"/>
            <p:cNvSpPr/>
            <p:nvPr/>
          </p:nvSpPr>
          <p:spPr>
            <a:xfrm>
              <a:off x="4992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4" name="Oval 17"/>
            <p:cNvSpPr/>
            <p:nvPr/>
          </p:nvSpPr>
          <p:spPr>
            <a:xfrm>
              <a:off x="4944" y="11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5" name="Oval 18"/>
            <p:cNvSpPr/>
            <p:nvPr/>
          </p:nvSpPr>
          <p:spPr>
            <a:xfrm>
              <a:off x="4512" y="144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6" name="Oval 19"/>
            <p:cNvSpPr/>
            <p:nvPr/>
          </p:nvSpPr>
          <p:spPr>
            <a:xfrm>
              <a:off x="4800" y="148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7" name="Oval 20"/>
            <p:cNvSpPr/>
            <p:nvPr/>
          </p:nvSpPr>
          <p:spPr>
            <a:xfrm>
              <a:off x="4896" y="153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8" name="Oval 21"/>
            <p:cNvSpPr/>
            <p:nvPr/>
          </p:nvSpPr>
          <p:spPr>
            <a:xfrm>
              <a:off x="4464" y="11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29" name="Oval 22"/>
            <p:cNvSpPr/>
            <p:nvPr/>
          </p:nvSpPr>
          <p:spPr>
            <a:xfrm>
              <a:off x="4752" y="10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0" name="Oval 23"/>
            <p:cNvSpPr/>
            <p:nvPr/>
          </p:nvSpPr>
          <p:spPr>
            <a:xfrm>
              <a:off x="4560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1" name="Oval 24"/>
            <p:cNvSpPr/>
            <p:nvPr/>
          </p:nvSpPr>
          <p:spPr>
            <a:xfrm>
              <a:off x="4560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2" name="Oval 25"/>
            <p:cNvSpPr/>
            <p:nvPr/>
          </p:nvSpPr>
          <p:spPr>
            <a:xfrm>
              <a:off x="4752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3" name="Oval 26"/>
            <p:cNvSpPr/>
            <p:nvPr/>
          </p:nvSpPr>
          <p:spPr>
            <a:xfrm>
              <a:off x="4656" y="11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4" name="Oval 27"/>
            <p:cNvSpPr/>
            <p:nvPr/>
          </p:nvSpPr>
          <p:spPr>
            <a:xfrm>
              <a:off x="4752" y="124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5" name="Oval 28"/>
            <p:cNvSpPr/>
            <p:nvPr/>
          </p:nvSpPr>
          <p:spPr>
            <a:xfrm>
              <a:off x="4512" y="153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6" name="Oval 29"/>
            <p:cNvSpPr/>
            <p:nvPr/>
          </p:nvSpPr>
          <p:spPr>
            <a:xfrm>
              <a:off x="4608" y="153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7" name="Oval 30"/>
            <p:cNvSpPr/>
            <p:nvPr/>
          </p:nvSpPr>
          <p:spPr>
            <a:xfrm>
              <a:off x="4896" y="10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8" name="Oval 31"/>
            <p:cNvSpPr/>
            <p:nvPr/>
          </p:nvSpPr>
          <p:spPr>
            <a:xfrm>
              <a:off x="4464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39" name="Oval 32"/>
            <p:cNvSpPr/>
            <p:nvPr/>
          </p:nvSpPr>
          <p:spPr>
            <a:xfrm>
              <a:off x="4656" y="12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0" name="Oval 33"/>
            <p:cNvSpPr/>
            <p:nvPr/>
          </p:nvSpPr>
          <p:spPr>
            <a:xfrm>
              <a:off x="4800" y="11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1" name="Oval 34"/>
            <p:cNvSpPr/>
            <p:nvPr/>
          </p:nvSpPr>
          <p:spPr>
            <a:xfrm>
              <a:off x="4944" y="144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2" name="Oval 35"/>
            <p:cNvSpPr/>
            <p:nvPr/>
          </p:nvSpPr>
          <p:spPr>
            <a:xfrm>
              <a:off x="4896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3" name="Oval 36"/>
            <p:cNvSpPr/>
            <p:nvPr/>
          </p:nvSpPr>
          <p:spPr>
            <a:xfrm>
              <a:off x="4512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4" name="Oval 37"/>
            <p:cNvSpPr/>
            <p:nvPr/>
          </p:nvSpPr>
          <p:spPr>
            <a:xfrm>
              <a:off x="4608" y="10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5" name="Oval 38"/>
            <p:cNvSpPr/>
            <p:nvPr/>
          </p:nvSpPr>
          <p:spPr>
            <a:xfrm>
              <a:off x="4512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6" name="Oval 39"/>
            <p:cNvSpPr/>
            <p:nvPr/>
          </p:nvSpPr>
          <p:spPr>
            <a:xfrm>
              <a:off x="4512" y="13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7" name="Oval 40"/>
            <p:cNvSpPr/>
            <p:nvPr/>
          </p:nvSpPr>
          <p:spPr>
            <a:xfrm>
              <a:off x="4704" y="9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8" name="Oval 41"/>
            <p:cNvSpPr/>
            <p:nvPr/>
          </p:nvSpPr>
          <p:spPr>
            <a:xfrm>
              <a:off x="4896" y="12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49" name="Oval 42"/>
            <p:cNvSpPr/>
            <p:nvPr/>
          </p:nvSpPr>
          <p:spPr>
            <a:xfrm>
              <a:off x="4944" y="11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0" name="Oval 43"/>
            <p:cNvSpPr/>
            <p:nvPr/>
          </p:nvSpPr>
          <p:spPr>
            <a:xfrm>
              <a:off x="4992" y="13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1" name="Oval 44"/>
            <p:cNvSpPr/>
            <p:nvPr/>
          </p:nvSpPr>
          <p:spPr>
            <a:xfrm>
              <a:off x="4416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2" name="Oval 45"/>
            <p:cNvSpPr/>
            <p:nvPr/>
          </p:nvSpPr>
          <p:spPr>
            <a:xfrm>
              <a:off x="4464" y="158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3" name="Oval 46"/>
            <p:cNvSpPr/>
            <p:nvPr/>
          </p:nvSpPr>
          <p:spPr>
            <a:xfrm>
              <a:off x="5136" y="11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4" name="Oval 47"/>
            <p:cNvSpPr/>
            <p:nvPr/>
          </p:nvSpPr>
          <p:spPr>
            <a:xfrm>
              <a:off x="5136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5" name="Oval 48"/>
            <p:cNvSpPr/>
            <p:nvPr/>
          </p:nvSpPr>
          <p:spPr>
            <a:xfrm>
              <a:off x="4704" y="148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6" name="Oval 49"/>
            <p:cNvSpPr/>
            <p:nvPr/>
          </p:nvSpPr>
          <p:spPr>
            <a:xfrm>
              <a:off x="4992" y="153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7" name="Oval 50"/>
            <p:cNvSpPr/>
            <p:nvPr/>
          </p:nvSpPr>
          <p:spPr>
            <a:xfrm>
              <a:off x="5088" y="158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8" name="Oval 51"/>
            <p:cNvSpPr/>
            <p:nvPr/>
          </p:nvSpPr>
          <p:spPr>
            <a:xfrm>
              <a:off x="4656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59" name="Oval 52"/>
            <p:cNvSpPr/>
            <p:nvPr/>
          </p:nvSpPr>
          <p:spPr>
            <a:xfrm>
              <a:off x="5040" y="10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0" name="Oval 53"/>
            <p:cNvSpPr/>
            <p:nvPr/>
          </p:nvSpPr>
          <p:spPr>
            <a:xfrm>
              <a:off x="4752" y="124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1" name="Oval 54"/>
            <p:cNvSpPr/>
            <p:nvPr/>
          </p:nvSpPr>
          <p:spPr>
            <a:xfrm>
              <a:off x="4752" y="144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2" name="Oval 55"/>
            <p:cNvSpPr/>
            <p:nvPr/>
          </p:nvSpPr>
          <p:spPr>
            <a:xfrm>
              <a:off x="4944" y="10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3" name="Oval 56"/>
            <p:cNvSpPr/>
            <p:nvPr/>
          </p:nvSpPr>
          <p:spPr>
            <a:xfrm>
              <a:off x="4848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4" name="Oval 57"/>
            <p:cNvSpPr/>
            <p:nvPr/>
          </p:nvSpPr>
          <p:spPr>
            <a:xfrm>
              <a:off x="4944" y="12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5" name="Oval 58"/>
            <p:cNvSpPr/>
            <p:nvPr/>
          </p:nvSpPr>
          <p:spPr>
            <a:xfrm>
              <a:off x="4704" y="158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6" name="Oval 59"/>
            <p:cNvSpPr/>
            <p:nvPr/>
          </p:nvSpPr>
          <p:spPr>
            <a:xfrm>
              <a:off x="4800" y="158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7" name="Oval 60"/>
            <p:cNvSpPr/>
            <p:nvPr/>
          </p:nvSpPr>
          <p:spPr>
            <a:xfrm>
              <a:off x="5136" y="9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8" name="Oval 61"/>
            <p:cNvSpPr/>
            <p:nvPr/>
          </p:nvSpPr>
          <p:spPr>
            <a:xfrm>
              <a:off x="5136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69" name="Oval 62"/>
            <p:cNvSpPr/>
            <p:nvPr/>
          </p:nvSpPr>
          <p:spPr>
            <a:xfrm>
              <a:off x="4848" y="13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0" name="Oval 63"/>
            <p:cNvSpPr/>
            <p:nvPr/>
          </p:nvSpPr>
          <p:spPr>
            <a:xfrm>
              <a:off x="4992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1" name="Oval 64"/>
            <p:cNvSpPr/>
            <p:nvPr/>
          </p:nvSpPr>
          <p:spPr>
            <a:xfrm>
              <a:off x="5136" y="148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2" name="Oval 65"/>
            <p:cNvSpPr/>
            <p:nvPr/>
          </p:nvSpPr>
          <p:spPr>
            <a:xfrm>
              <a:off x="5088" y="144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3" name="Oval 66"/>
            <p:cNvSpPr/>
            <p:nvPr/>
          </p:nvSpPr>
          <p:spPr>
            <a:xfrm>
              <a:off x="4704" y="10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4" name="Oval 67"/>
            <p:cNvSpPr/>
            <p:nvPr/>
          </p:nvSpPr>
          <p:spPr>
            <a:xfrm>
              <a:off x="4800" y="11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5" name="Oval 68"/>
            <p:cNvSpPr/>
            <p:nvPr/>
          </p:nvSpPr>
          <p:spPr>
            <a:xfrm>
              <a:off x="4704" y="10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6" name="Oval 69"/>
            <p:cNvSpPr/>
            <p:nvPr/>
          </p:nvSpPr>
          <p:spPr>
            <a:xfrm>
              <a:off x="4704" y="13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7" name="Oval 70"/>
            <p:cNvSpPr/>
            <p:nvPr/>
          </p:nvSpPr>
          <p:spPr>
            <a:xfrm>
              <a:off x="4896" y="9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8" name="Oval 71"/>
            <p:cNvSpPr/>
            <p:nvPr/>
          </p:nvSpPr>
          <p:spPr>
            <a:xfrm>
              <a:off x="5088" y="13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79" name="Oval 72"/>
            <p:cNvSpPr/>
            <p:nvPr/>
          </p:nvSpPr>
          <p:spPr>
            <a:xfrm>
              <a:off x="5136" y="12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5" name="Group 73"/>
          <p:cNvGrpSpPr/>
          <p:nvPr/>
        </p:nvGrpSpPr>
        <p:grpSpPr>
          <a:xfrm>
            <a:off x="6572250" y="1304925"/>
            <a:ext cx="914400" cy="838200"/>
            <a:chOff x="3648" y="2688"/>
            <a:chExt cx="576" cy="528"/>
          </a:xfrm>
        </p:grpSpPr>
        <p:sp>
          <p:nvSpPr>
            <p:cNvPr id="119881" name="Line 74"/>
            <p:cNvSpPr/>
            <p:nvPr/>
          </p:nvSpPr>
          <p:spPr>
            <a:xfrm flipH="1">
              <a:off x="3648" y="2688"/>
              <a:ext cx="528" cy="52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9882" name="Line 75"/>
            <p:cNvSpPr/>
            <p:nvPr/>
          </p:nvSpPr>
          <p:spPr>
            <a:xfrm rot="600634">
              <a:off x="3648" y="2736"/>
              <a:ext cx="576" cy="432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" name="Group 76"/>
          <p:cNvGrpSpPr/>
          <p:nvPr/>
        </p:nvGrpSpPr>
        <p:grpSpPr>
          <a:xfrm>
            <a:off x="6496050" y="1152525"/>
            <a:ext cx="2362200" cy="1143000"/>
            <a:chOff x="3072" y="1872"/>
            <a:chExt cx="1584" cy="768"/>
          </a:xfrm>
        </p:grpSpPr>
        <p:sp>
          <p:nvSpPr>
            <p:cNvPr id="119884" name="Oval 77"/>
            <p:cNvSpPr/>
            <p:nvPr/>
          </p:nvSpPr>
          <p:spPr>
            <a:xfrm>
              <a:off x="3600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85" name="Oval 78"/>
            <p:cNvSpPr/>
            <p:nvPr/>
          </p:nvSpPr>
          <p:spPr>
            <a:xfrm>
              <a:off x="4416" y="206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86" name="Oval 79"/>
            <p:cNvSpPr/>
            <p:nvPr/>
          </p:nvSpPr>
          <p:spPr>
            <a:xfrm>
              <a:off x="3600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87" name="Oval 80"/>
            <p:cNvSpPr/>
            <p:nvPr/>
          </p:nvSpPr>
          <p:spPr>
            <a:xfrm>
              <a:off x="3072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88" name="Oval 81"/>
            <p:cNvSpPr/>
            <p:nvPr/>
          </p:nvSpPr>
          <p:spPr>
            <a:xfrm>
              <a:off x="3792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89" name="Oval 82"/>
            <p:cNvSpPr/>
            <p:nvPr/>
          </p:nvSpPr>
          <p:spPr>
            <a:xfrm>
              <a:off x="3504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0" name="Oval 83"/>
            <p:cNvSpPr/>
            <p:nvPr/>
          </p:nvSpPr>
          <p:spPr>
            <a:xfrm>
              <a:off x="3600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1" name="Oval 84"/>
            <p:cNvSpPr/>
            <p:nvPr/>
          </p:nvSpPr>
          <p:spPr>
            <a:xfrm>
              <a:off x="3600" y="24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2" name="Oval 85"/>
            <p:cNvSpPr/>
            <p:nvPr/>
          </p:nvSpPr>
          <p:spPr>
            <a:xfrm>
              <a:off x="3888" y="244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3" name="Oval 86"/>
            <p:cNvSpPr/>
            <p:nvPr/>
          </p:nvSpPr>
          <p:spPr>
            <a:xfrm>
              <a:off x="3984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4" name="Oval 87"/>
            <p:cNvSpPr/>
            <p:nvPr/>
          </p:nvSpPr>
          <p:spPr>
            <a:xfrm>
              <a:off x="3408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5" name="Oval 88"/>
            <p:cNvSpPr/>
            <p:nvPr/>
          </p:nvSpPr>
          <p:spPr>
            <a:xfrm>
              <a:off x="3168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6" name="Oval 89"/>
            <p:cNvSpPr/>
            <p:nvPr/>
          </p:nvSpPr>
          <p:spPr>
            <a:xfrm>
              <a:off x="3648" y="21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7" name="Oval 90"/>
            <p:cNvSpPr/>
            <p:nvPr/>
          </p:nvSpPr>
          <p:spPr>
            <a:xfrm>
              <a:off x="3168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8" name="Oval 91"/>
            <p:cNvSpPr/>
            <p:nvPr/>
          </p:nvSpPr>
          <p:spPr>
            <a:xfrm>
              <a:off x="3840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899" name="Oval 92"/>
            <p:cNvSpPr/>
            <p:nvPr/>
          </p:nvSpPr>
          <p:spPr>
            <a:xfrm>
              <a:off x="3744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0" name="Oval 93"/>
            <p:cNvSpPr/>
            <p:nvPr/>
          </p:nvSpPr>
          <p:spPr>
            <a:xfrm>
              <a:off x="3840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1" name="Oval 94"/>
            <p:cNvSpPr/>
            <p:nvPr/>
          </p:nvSpPr>
          <p:spPr>
            <a:xfrm>
              <a:off x="3600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2" name="Oval 95"/>
            <p:cNvSpPr/>
            <p:nvPr/>
          </p:nvSpPr>
          <p:spPr>
            <a:xfrm>
              <a:off x="3696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3" name="Oval 96"/>
            <p:cNvSpPr/>
            <p:nvPr/>
          </p:nvSpPr>
          <p:spPr>
            <a:xfrm>
              <a:off x="3072" y="206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4" name="Oval 97"/>
            <p:cNvSpPr/>
            <p:nvPr/>
          </p:nvSpPr>
          <p:spPr>
            <a:xfrm>
              <a:off x="4032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5" name="Oval 98"/>
            <p:cNvSpPr/>
            <p:nvPr/>
          </p:nvSpPr>
          <p:spPr>
            <a:xfrm>
              <a:off x="3744" y="22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6" name="Oval 99"/>
            <p:cNvSpPr/>
            <p:nvPr/>
          </p:nvSpPr>
          <p:spPr>
            <a:xfrm>
              <a:off x="3888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7" name="Oval 100"/>
            <p:cNvSpPr/>
            <p:nvPr/>
          </p:nvSpPr>
          <p:spPr>
            <a:xfrm>
              <a:off x="4320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8" name="Oval 101"/>
            <p:cNvSpPr/>
            <p:nvPr/>
          </p:nvSpPr>
          <p:spPr>
            <a:xfrm>
              <a:off x="3216" y="244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09" name="Oval 102"/>
            <p:cNvSpPr/>
            <p:nvPr/>
          </p:nvSpPr>
          <p:spPr>
            <a:xfrm>
              <a:off x="3600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0" name="Oval 103"/>
            <p:cNvSpPr/>
            <p:nvPr/>
          </p:nvSpPr>
          <p:spPr>
            <a:xfrm>
              <a:off x="3696" y="201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1" name="Oval 104"/>
            <p:cNvSpPr/>
            <p:nvPr/>
          </p:nvSpPr>
          <p:spPr>
            <a:xfrm>
              <a:off x="4320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2" name="Oval 105"/>
            <p:cNvSpPr/>
            <p:nvPr/>
          </p:nvSpPr>
          <p:spPr>
            <a:xfrm>
              <a:off x="3600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3" name="Oval 106"/>
            <p:cNvSpPr/>
            <p:nvPr/>
          </p:nvSpPr>
          <p:spPr>
            <a:xfrm>
              <a:off x="3792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4" name="Oval 107"/>
            <p:cNvSpPr/>
            <p:nvPr/>
          </p:nvSpPr>
          <p:spPr>
            <a:xfrm>
              <a:off x="3072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5" name="Oval 108"/>
            <p:cNvSpPr/>
            <p:nvPr/>
          </p:nvSpPr>
          <p:spPr>
            <a:xfrm>
              <a:off x="3072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6" name="Oval 109"/>
            <p:cNvSpPr/>
            <p:nvPr/>
          </p:nvSpPr>
          <p:spPr>
            <a:xfrm>
              <a:off x="3552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7" name="Oval 110"/>
            <p:cNvSpPr/>
            <p:nvPr/>
          </p:nvSpPr>
          <p:spPr>
            <a:xfrm>
              <a:off x="4512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8" name="Oval 111"/>
            <p:cNvSpPr/>
            <p:nvPr/>
          </p:nvSpPr>
          <p:spPr>
            <a:xfrm>
              <a:off x="3264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19" name="Oval 112"/>
            <p:cNvSpPr/>
            <p:nvPr/>
          </p:nvSpPr>
          <p:spPr>
            <a:xfrm>
              <a:off x="3504" y="201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0" name="Oval 113"/>
            <p:cNvSpPr/>
            <p:nvPr/>
          </p:nvSpPr>
          <p:spPr>
            <a:xfrm>
              <a:off x="3504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1" name="Oval 114"/>
            <p:cNvSpPr/>
            <p:nvPr/>
          </p:nvSpPr>
          <p:spPr>
            <a:xfrm>
              <a:off x="3072" y="24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2" name="Oval 115"/>
            <p:cNvSpPr/>
            <p:nvPr/>
          </p:nvSpPr>
          <p:spPr>
            <a:xfrm>
              <a:off x="3360" y="244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3" name="Oval 116"/>
            <p:cNvSpPr/>
            <p:nvPr/>
          </p:nvSpPr>
          <p:spPr>
            <a:xfrm>
              <a:off x="3456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4" name="Oval 117"/>
            <p:cNvSpPr/>
            <p:nvPr/>
          </p:nvSpPr>
          <p:spPr>
            <a:xfrm>
              <a:off x="3552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5" name="Oval 118"/>
            <p:cNvSpPr/>
            <p:nvPr/>
          </p:nvSpPr>
          <p:spPr>
            <a:xfrm>
              <a:off x="3312" y="201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6" name="Oval 119"/>
            <p:cNvSpPr/>
            <p:nvPr/>
          </p:nvSpPr>
          <p:spPr>
            <a:xfrm>
              <a:off x="3120" y="21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7" name="Oval 120"/>
            <p:cNvSpPr/>
            <p:nvPr/>
          </p:nvSpPr>
          <p:spPr>
            <a:xfrm>
              <a:off x="3120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8" name="Oval 121"/>
            <p:cNvSpPr/>
            <p:nvPr/>
          </p:nvSpPr>
          <p:spPr>
            <a:xfrm>
              <a:off x="3312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29" name="Oval 122"/>
            <p:cNvSpPr/>
            <p:nvPr/>
          </p:nvSpPr>
          <p:spPr>
            <a:xfrm>
              <a:off x="3216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0" name="Oval 123"/>
            <p:cNvSpPr/>
            <p:nvPr/>
          </p:nvSpPr>
          <p:spPr>
            <a:xfrm>
              <a:off x="3312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1" name="Oval 124"/>
            <p:cNvSpPr/>
            <p:nvPr/>
          </p:nvSpPr>
          <p:spPr>
            <a:xfrm>
              <a:off x="3072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2" name="Oval 125"/>
            <p:cNvSpPr/>
            <p:nvPr/>
          </p:nvSpPr>
          <p:spPr>
            <a:xfrm>
              <a:off x="3936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3" name="Oval 126"/>
            <p:cNvSpPr/>
            <p:nvPr/>
          </p:nvSpPr>
          <p:spPr>
            <a:xfrm>
              <a:off x="3456" y="196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4" name="Oval 127"/>
            <p:cNvSpPr/>
            <p:nvPr/>
          </p:nvSpPr>
          <p:spPr>
            <a:xfrm>
              <a:off x="3504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5" name="Oval 128"/>
            <p:cNvSpPr/>
            <p:nvPr/>
          </p:nvSpPr>
          <p:spPr>
            <a:xfrm>
              <a:off x="3216" y="22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6" name="Oval 129"/>
            <p:cNvSpPr/>
            <p:nvPr/>
          </p:nvSpPr>
          <p:spPr>
            <a:xfrm>
              <a:off x="3360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7" name="Oval 130"/>
            <p:cNvSpPr/>
            <p:nvPr/>
          </p:nvSpPr>
          <p:spPr>
            <a:xfrm>
              <a:off x="3504" y="24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8" name="Oval 131"/>
            <p:cNvSpPr/>
            <p:nvPr/>
          </p:nvSpPr>
          <p:spPr>
            <a:xfrm>
              <a:off x="3264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39" name="Oval 132"/>
            <p:cNvSpPr/>
            <p:nvPr/>
          </p:nvSpPr>
          <p:spPr>
            <a:xfrm>
              <a:off x="3072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0" name="Oval 133"/>
            <p:cNvSpPr/>
            <p:nvPr/>
          </p:nvSpPr>
          <p:spPr>
            <a:xfrm>
              <a:off x="3168" y="201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1" name="Oval 134"/>
            <p:cNvSpPr/>
            <p:nvPr/>
          </p:nvSpPr>
          <p:spPr>
            <a:xfrm>
              <a:off x="3072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2" name="Oval 135"/>
            <p:cNvSpPr/>
            <p:nvPr/>
          </p:nvSpPr>
          <p:spPr>
            <a:xfrm>
              <a:off x="3072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3" name="Oval 136"/>
            <p:cNvSpPr/>
            <p:nvPr/>
          </p:nvSpPr>
          <p:spPr>
            <a:xfrm>
              <a:off x="3264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4" name="Oval 137"/>
            <p:cNvSpPr/>
            <p:nvPr/>
          </p:nvSpPr>
          <p:spPr>
            <a:xfrm>
              <a:off x="3936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5" name="Oval 138"/>
            <p:cNvSpPr/>
            <p:nvPr/>
          </p:nvSpPr>
          <p:spPr>
            <a:xfrm>
              <a:off x="3984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6" name="Oval 139"/>
            <p:cNvSpPr/>
            <p:nvPr/>
          </p:nvSpPr>
          <p:spPr>
            <a:xfrm>
              <a:off x="4176" y="187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7" name="Oval 140"/>
            <p:cNvSpPr/>
            <p:nvPr/>
          </p:nvSpPr>
          <p:spPr>
            <a:xfrm>
              <a:off x="4224" y="21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8" name="Oval 141"/>
            <p:cNvSpPr/>
            <p:nvPr/>
          </p:nvSpPr>
          <p:spPr>
            <a:xfrm>
              <a:off x="4128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49" name="Oval 142"/>
            <p:cNvSpPr/>
            <p:nvPr/>
          </p:nvSpPr>
          <p:spPr>
            <a:xfrm>
              <a:off x="4176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0" name="Oval 143"/>
            <p:cNvSpPr/>
            <p:nvPr/>
          </p:nvSpPr>
          <p:spPr>
            <a:xfrm>
              <a:off x="3984" y="206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1" name="Oval 144"/>
            <p:cNvSpPr/>
            <p:nvPr/>
          </p:nvSpPr>
          <p:spPr>
            <a:xfrm>
              <a:off x="3840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2" name="Oval 145"/>
            <p:cNvSpPr/>
            <p:nvPr/>
          </p:nvSpPr>
          <p:spPr>
            <a:xfrm>
              <a:off x="4080" y="240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3" name="Oval 146"/>
            <p:cNvSpPr/>
            <p:nvPr/>
          </p:nvSpPr>
          <p:spPr>
            <a:xfrm>
              <a:off x="4176" y="249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4" name="Oval 147"/>
            <p:cNvSpPr/>
            <p:nvPr/>
          </p:nvSpPr>
          <p:spPr>
            <a:xfrm>
              <a:off x="4272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5" name="Oval 148"/>
            <p:cNvSpPr/>
            <p:nvPr/>
          </p:nvSpPr>
          <p:spPr>
            <a:xfrm>
              <a:off x="4608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6" name="Oval 149"/>
            <p:cNvSpPr/>
            <p:nvPr/>
          </p:nvSpPr>
          <p:spPr>
            <a:xfrm>
              <a:off x="4128" y="196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7" name="Oval 150"/>
            <p:cNvSpPr/>
            <p:nvPr/>
          </p:nvSpPr>
          <p:spPr>
            <a:xfrm>
              <a:off x="4032" y="216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8" name="Oval 151"/>
            <p:cNvSpPr/>
            <p:nvPr/>
          </p:nvSpPr>
          <p:spPr>
            <a:xfrm>
              <a:off x="4128" y="22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59" name="Oval 152"/>
            <p:cNvSpPr/>
            <p:nvPr/>
          </p:nvSpPr>
          <p:spPr>
            <a:xfrm>
              <a:off x="3984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0" name="Oval 153"/>
            <p:cNvSpPr/>
            <p:nvPr/>
          </p:nvSpPr>
          <p:spPr>
            <a:xfrm>
              <a:off x="4320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1" name="Oval 154"/>
            <p:cNvSpPr/>
            <p:nvPr/>
          </p:nvSpPr>
          <p:spPr>
            <a:xfrm>
              <a:off x="4032" y="230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2" name="Oval 155"/>
            <p:cNvSpPr/>
            <p:nvPr/>
          </p:nvSpPr>
          <p:spPr>
            <a:xfrm>
              <a:off x="4560" y="206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3" name="Oval 156"/>
            <p:cNvSpPr/>
            <p:nvPr/>
          </p:nvSpPr>
          <p:spPr>
            <a:xfrm>
              <a:off x="4608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4" name="Oval 157"/>
            <p:cNvSpPr/>
            <p:nvPr/>
          </p:nvSpPr>
          <p:spPr>
            <a:xfrm>
              <a:off x="3984" y="206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5" name="Oval 158"/>
            <p:cNvSpPr/>
            <p:nvPr/>
          </p:nvSpPr>
          <p:spPr>
            <a:xfrm>
              <a:off x="4608" y="196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6" name="Oval 159"/>
            <p:cNvSpPr/>
            <p:nvPr/>
          </p:nvSpPr>
          <p:spPr>
            <a:xfrm>
              <a:off x="4080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7" name="Oval 160"/>
            <p:cNvSpPr/>
            <p:nvPr/>
          </p:nvSpPr>
          <p:spPr>
            <a:xfrm>
              <a:off x="4224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8" name="Oval 161"/>
            <p:cNvSpPr/>
            <p:nvPr/>
          </p:nvSpPr>
          <p:spPr>
            <a:xfrm>
              <a:off x="4272" y="2256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69" name="Oval 162"/>
            <p:cNvSpPr/>
            <p:nvPr/>
          </p:nvSpPr>
          <p:spPr>
            <a:xfrm>
              <a:off x="4464" y="1920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70" name="Oval 163"/>
            <p:cNvSpPr/>
            <p:nvPr/>
          </p:nvSpPr>
          <p:spPr>
            <a:xfrm>
              <a:off x="4512" y="2208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71" name="Oval 164"/>
            <p:cNvSpPr/>
            <p:nvPr/>
          </p:nvSpPr>
          <p:spPr>
            <a:xfrm>
              <a:off x="4416" y="2544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72" name="Oval 165"/>
            <p:cNvSpPr/>
            <p:nvPr/>
          </p:nvSpPr>
          <p:spPr>
            <a:xfrm>
              <a:off x="4464" y="235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73" name="Oval 166"/>
            <p:cNvSpPr/>
            <p:nvPr/>
          </p:nvSpPr>
          <p:spPr>
            <a:xfrm>
              <a:off x="4272" y="211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9974" name="Oval 167"/>
            <p:cNvSpPr/>
            <p:nvPr/>
          </p:nvSpPr>
          <p:spPr>
            <a:xfrm>
              <a:off x="4128" y="2592"/>
              <a:ext cx="48" cy="4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1089704" name="Text Box 168"/>
          <p:cNvSpPr txBox="1">
            <a:spLocks noChangeArrowheads="1"/>
          </p:cNvSpPr>
          <p:nvPr/>
        </p:nvSpPr>
        <p:spPr bwMode="auto">
          <a:xfrm>
            <a:off x="115888" y="1644650"/>
            <a:ext cx="6588125" cy="1384300"/>
          </a:xfrm>
          <a:prstGeom prst="rect">
            <a:avLst/>
          </a:prstGeom>
          <a:gradFill rotWithShape="1">
            <a:gsLst>
              <a:gs pos="0">
                <a:srgbClr val="99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  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一个孤立系统内进行的过程总是</a:t>
            </a:r>
            <a:r>
              <a:rPr kumimoji="1" lang="zh-CN" altLang="en-US" sz="2800" u="sng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由微观状态数小的宏观态向微观状态数大的宏观态进行。</a:t>
            </a:r>
          </a:p>
        </p:txBody>
      </p:sp>
      <p:graphicFrame>
        <p:nvGraphicFramePr>
          <p:cNvPr id="101477" name="Object 102"/>
          <p:cNvGraphicFramePr/>
          <p:nvPr/>
        </p:nvGraphicFramePr>
        <p:xfrm>
          <a:off x="2495550" y="4060825"/>
          <a:ext cx="302895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8" r:id="rId5" imgW="1459865" imgH="723900" progId="Equation.3">
                  <p:embed/>
                </p:oleObj>
              </mc:Choice>
              <mc:Fallback>
                <p:oleObj r:id="rId5" imgW="1459865" imgH="723900" progId="Equation.3">
                  <p:embed/>
                  <p:pic>
                    <p:nvPicPr>
                      <p:cNvPr id="0" name="图片 34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5550" y="4060825"/>
                        <a:ext cx="3028950" cy="182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87338" y="3471863"/>
            <a:ext cx="6970713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    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anose="02010609030101010101" pitchFamily="49" charset="-122"/>
                <a:ea typeface="仿宋_GB2312" panose="02010609030101010101" pitchFamily="49" charset="-122"/>
                <a:cs typeface="+mn-cs"/>
              </a:rPr>
              <a:t>处于平衡态的概率：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8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8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8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1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704" grpId="0" bldLvl="0" animBg="1"/>
      <p:bldP spid="3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  <a:t>59</a:t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2306" name="Rectangle 2"/>
          <p:cNvSpPr>
            <a:spLocks noChangeArrowheads="1"/>
          </p:cNvSpPr>
          <p:nvPr/>
        </p:nvSpPr>
        <p:spPr bwMode="auto">
          <a:xfrm>
            <a:off x="323850" y="115888"/>
            <a:ext cx="7827963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二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律的统计意义：自发过程的方向性和限度</a:t>
            </a:r>
          </a:p>
        </p:txBody>
      </p:sp>
      <p:sp>
        <p:nvSpPr>
          <p:cNvPr id="1122322" name="Text Box 18"/>
          <p:cNvSpPr txBox="1">
            <a:spLocks noChangeArrowheads="1"/>
          </p:cNvSpPr>
          <p:nvPr/>
        </p:nvSpPr>
        <p:spPr bwMode="auto">
          <a:xfrm>
            <a:off x="899592" y="721271"/>
            <a:ext cx="18288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平衡态 </a:t>
            </a:r>
          </a:p>
        </p:txBody>
      </p:sp>
      <p:graphicFrame>
        <p:nvGraphicFramePr>
          <p:cNvPr id="1122323" name="Object 19"/>
          <p:cNvGraphicFramePr/>
          <p:nvPr>
            <p:extLst>
              <p:ext uri="{D42A27DB-BD31-4B8C-83A1-F6EECF244321}">
                <p14:modId xmlns:p14="http://schemas.microsoft.com/office/powerpoint/2010/main" val="2367547892"/>
              </p:ext>
            </p:extLst>
          </p:nvPr>
        </p:nvGraphicFramePr>
        <p:xfrm>
          <a:off x="3237979" y="692696"/>
          <a:ext cx="17653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5" r:id="rId3" imgW="698500" imgH="241300" progId="Equation.DSMT4">
                  <p:embed/>
                </p:oleObj>
              </mc:Choice>
              <mc:Fallback>
                <p:oleObj r:id="rId3" imgW="698500" imgH="241300" progId="Equation.DSMT4">
                  <p:embed/>
                  <p:pic>
                    <p:nvPicPr>
                      <p:cNvPr id="0" name="图片 34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7979" y="692696"/>
                        <a:ext cx="1765300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2324" name="Text Box 20"/>
          <p:cNvSpPr txBox="1">
            <a:spLocks noChangeArrowheads="1"/>
          </p:cNvSpPr>
          <p:nvPr/>
        </p:nvSpPr>
        <p:spPr bwMode="auto">
          <a:xfrm>
            <a:off x="5289029" y="721271"/>
            <a:ext cx="34258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  <a:cs typeface="+mn-cs"/>
              </a:rPr>
              <a:t>—</a:t>
            </a:r>
            <a:r>
              <a:rPr kumimoji="1" lang="en-US" altLang="zh-CN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最概然态</a:t>
            </a:r>
            <a:endParaRPr kumimoji="1" lang="zh-CN" altLang="en-US" sz="2400" b="0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2325" name="Text Box 21"/>
          <p:cNvSpPr txBox="1">
            <a:spLocks noChangeArrowheads="1"/>
          </p:cNvSpPr>
          <p:nvPr/>
        </p:nvSpPr>
        <p:spPr bwMode="auto">
          <a:xfrm>
            <a:off x="899592" y="1457871"/>
            <a:ext cx="219075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非平衡态</a:t>
            </a:r>
          </a:p>
        </p:txBody>
      </p:sp>
      <p:graphicFrame>
        <p:nvGraphicFramePr>
          <p:cNvPr id="1122326" name="Object 22"/>
          <p:cNvGraphicFramePr/>
          <p:nvPr>
            <p:extLst>
              <p:ext uri="{D42A27DB-BD31-4B8C-83A1-F6EECF244321}">
                <p14:modId xmlns:p14="http://schemas.microsoft.com/office/powerpoint/2010/main" val="778733010"/>
              </p:ext>
            </p:extLst>
          </p:nvPr>
        </p:nvGraphicFramePr>
        <p:xfrm>
          <a:off x="3203054" y="1457871"/>
          <a:ext cx="1541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6" r:id="rId5" imgW="609600" imgH="241300" progId="Equation.DSMT4">
                  <p:embed/>
                </p:oleObj>
              </mc:Choice>
              <mc:Fallback>
                <p:oleObj r:id="rId5" imgW="609600" imgH="241300" progId="Equation.DSMT4">
                  <p:embed/>
                  <p:pic>
                    <p:nvPicPr>
                      <p:cNvPr id="0" name="图片 34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054" y="1457871"/>
                        <a:ext cx="1541463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3"/>
          <p:cNvGrpSpPr/>
          <p:nvPr/>
        </p:nvGrpSpPr>
        <p:grpSpPr>
          <a:xfrm>
            <a:off x="902767" y="2067471"/>
            <a:ext cx="5772150" cy="612775"/>
            <a:chOff x="492" y="3293"/>
            <a:chExt cx="3636" cy="386"/>
          </a:xfrm>
        </p:grpSpPr>
        <p:sp>
          <p:nvSpPr>
            <p:cNvPr id="1122328" name="Text Box 24"/>
            <p:cNvSpPr txBox="1">
              <a:spLocks noChangeArrowheads="1"/>
            </p:cNvSpPr>
            <p:nvPr/>
          </p:nvSpPr>
          <p:spPr bwMode="auto">
            <a:xfrm>
              <a:off x="492" y="3389"/>
              <a:ext cx="1236" cy="2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非平衡态</a:t>
              </a:r>
              <a:endParaRPr kumimoji="1" lang="zh-CN" altLang="en-US" sz="2400" b="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2329" name="Text Box 25"/>
            <p:cNvSpPr txBox="1">
              <a:spLocks noChangeArrowheads="1"/>
            </p:cNvSpPr>
            <p:nvPr/>
          </p:nvSpPr>
          <p:spPr bwMode="auto">
            <a:xfrm>
              <a:off x="2976" y="3389"/>
              <a:ext cx="1152" cy="2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平衡态 </a:t>
              </a:r>
            </a:p>
          </p:txBody>
        </p:sp>
        <p:grpSp>
          <p:nvGrpSpPr>
            <p:cNvPr id="120858" name="Group 26"/>
            <p:cNvGrpSpPr/>
            <p:nvPr/>
          </p:nvGrpSpPr>
          <p:grpSpPr>
            <a:xfrm>
              <a:off x="1812" y="3293"/>
              <a:ext cx="936" cy="312"/>
              <a:chOff x="2280" y="3269"/>
              <a:chExt cx="936" cy="312"/>
            </a:xfrm>
          </p:grpSpPr>
          <p:sp>
            <p:nvSpPr>
              <p:cNvPr id="120859" name="Line 27"/>
              <p:cNvSpPr/>
              <p:nvPr/>
            </p:nvSpPr>
            <p:spPr>
              <a:xfrm>
                <a:off x="2280" y="3581"/>
                <a:ext cx="936" cy="0"/>
              </a:xfrm>
              <a:prstGeom prst="line">
                <a:avLst/>
              </a:prstGeom>
              <a:ln w="38100" cap="flat" cmpd="sng">
                <a:solidFill>
                  <a:srgbClr val="009999"/>
                </a:solidFill>
                <a:prstDash val="solid"/>
                <a:round/>
                <a:headEnd type="none" w="med" len="med"/>
                <a:tailEnd type="stealth" w="med" len="lg"/>
              </a:ln>
            </p:spPr>
          </p:sp>
          <p:sp>
            <p:nvSpPr>
              <p:cNvPr id="1122332" name="Text Box 28"/>
              <p:cNvSpPr txBox="1">
                <a:spLocks noChangeArrowheads="1"/>
              </p:cNvSpPr>
              <p:nvPr/>
            </p:nvSpPr>
            <p:spPr bwMode="auto">
              <a:xfrm>
                <a:off x="2496" y="3269"/>
                <a:ext cx="564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1" lang="zh-CN" altLang="en-US" sz="2400" kern="1200" cap="none" spc="0" normalizeH="0" baseline="0" noProof="0">
                    <a:solidFill>
                      <a:srgbClr val="CC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自发</a:t>
                </a:r>
              </a:p>
            </p:txBody>
          </p:sp>
        </p:grpSp>
      </p:grpSp>
      <p:graphicFrame>
        <p:nvGraphicFramePr>
          <p:cNvPr id="1122333" name="Object 29"/>
          <p:cNvGraphicFramePr/>
          <p:nvPr>
            <p:extLst>
              <p:ext uri="{D42A27DB-BD31-4B8C-83A1-F6EECF244321}">
                <p14:modId xmlns:p14="http://schemas.microsoft.com/office/powerpoint/2010/main" val="2947926645"/>
              </p:ext>
            </p:extLst>
          </p:nvPr>
        </p:nvGraphicFramePr>
        <p:xfrm>
          <a:off x="2334692" y="2626271"/>
          <a:ext cx="384016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7" r:id="rId7" imgW="1407795" imgH="266065" progId="Equation.DSMT4">
                  <p:embed/>
                </p:oleObj>
              </mc:Choice>
              <mc:Fallback>
                <p:oleObj r:id="rId7" imgW="1407795" imgH="266065" progId="Equation.DSMT4">
                  <p:embed/>
                  <p:pic>
                    <p:nvPicPr>
                      <p:cNvPr id="0" name="图片 34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4692" y="2626271"/>
                        <a:ext cx="3840162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2334" name="Text Box 30"/>
          <p:cNvSpPr txBox="1">
            <a:spLocks noChangeArrowheads="1"/>
          </p:cNvSpPr>
          <p:nvPr/>
        </p:nvSpPr>
        <p:spPr bwMode="auto">
          <a:xfrm>
            <a:off x="6711429" y="2210346"/>
            <a:ext cx="14065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（方向）</a:t>
            </a:r>
          </a:p>
        </p:txBody>
      </p:sp>
      <p:sp>
        <p:nvSpPr>
          <p:cNvPr id="1122335" name="Text Box 31"/>
          <p:cNvSpPr txBox="1">
            <a:spLocks noChangeArrowheads="1"/>
          </p:cNvSpPr>
          <p:nvPr/>
        </p:nvSpPr>
        <p:spPr bwMode="auto">
          <a:xfrm>
            <a:off x="6732067" y="2777083"/>
            <a:ext cx="14065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（限度）</a:t>
            </a:r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CF8B7B2E-8259-4C9F-8544-238263EF2FC2}"/>
              </a:ext>
            </a:extLst>
          </p:cNvPr>
          <p:cNvGrpSpPr/>
          <p:nvPr/>
        </p:nvGrpSpPr>
        <p:grpSpPr>
          <a:xfrm>
            <a:off x="228599" y="5012692"/>
            <a:ext cx="8686800" cy="1235708"/>
            <a:chOff x="192" y="2832"/>
            <a:chExt cx="5472" cy="1248"/>
          </a:xfrm>
        </p:grpSpPr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AB86142A-0762-40A5-BAF2-8789E44B8A1C}"/>
                </a:ext>
              </a:extLst>
            </p:cNvPr>
            <p:cNvSpPr/>
            <p:nvPr/>
          </p:nvSpPr>
          <p:spPr>
            <a:xfrm>
              <a:off x="192" y="2832"/>
              <a:ext cx="5472" cy="1248"/>
            </a:xfrm>
            <a:prstGeom prst="rect">
              <a:avLst/>
            </a:prstGeom>
            <a:gradFill rotWithShape="1">
              <a:gsLst>
                <a:gs pos="0">
                  <a:srgbClr val="FF5050"/>
                </a:gs>
                <a:gs pos="50000">
                  <a:srgbClr val="FFFF00"/>
                </a:gs>
                <a:gs pos="100000">
                  <a:srgbClr val="FF505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pic>
          <p:nvPicPr>
            <p:cNvPr id="35" name="Picture 4" descr="玻尔兹曼">
              <a:extLst>
                <a:ext uri="{FF2B5EF4-FFF2-40B4-BE49-F238E27FC236}">
                  <a16:creationId xmlns:a16="http://schemas.microsoft.com/office/drawing/2014/main" id="{2A861F64-9BE3-4B97-94BB-DB42F791C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9" y="2880"/>
              <a:ext cx="783" cy="1152"/>
            </a:xfrm>
            <a:prstGeom prst="rect">
              <a:avLst/>
            </a:prstGeom>
            <a:gradFill rotWithShape="1">
              <a:gsLst>
                <a:gs pos="0">
                  <a:srgbClr val="FF5050"/>
                </a:gs>
                <a:gs pos="50000">
                  <a:srgbClr val="FFFF00"/>
                </a:gs>
                <a:gs pos="100000">
                  <a:srgbClr val="FF5050"/>
                </a:gs>
              </a:gsLst>
              <a:lin ang="5400000" scaled="1"/>
              <a:tileRect/>
            </a:gradFill>
            <a:ln w="9525" cap="flat" cmpd="sng">
              <a:solidFill>
                <a:srgbClr val="00FF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6" name="Text Box 5">
              <a:extLst>
                <a:ext uri="{FF2B5EF4-FFF2-40B4-BE49-F238E27FC236}">
                  <a16:creationId xmlns:a16="http://schemas.microsoft.com/office/drawing/2014/main" id="{26D440E9-2C6D-4EB9-A714-CD442CA41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911"/>
              <a:ext cx="3819" cy="5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或：“自然界的一切过程都是向着微观状态</a:t>
              </a: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数大的方向进行的”。</a:t>
              </a:r>
            </a:p>
          </p:txBody>
        </p:sp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84B91596-0AFF-476B-91B2-1C7735260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2" y="3486"/>
              <a:ext cx="1348" cy="46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en-US" altLang="zh-CN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---</a:t>
              </a:r>
              <a:r>
                <a:rPr kumimoji="1" lang="zh-CN" altLang="en-US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玻尔兹曼</a:t>
              </a:r>
              <a:r>
                <a:rPr kumimoji="1" lang="en-US" altLang="zh-CN" kern="1200" cap="none" spc="0" normalizeH="0" baseline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----</a:t>
              </a:r>
            </a:p>
          </p:txBody>
        </p:sp>
      </p:grpSp>
      <p:sp>
        <p:nvSpPr>
          <p:cNvPr id="38" name="Text Box 8">
            <a:extLst>
              <a:ext uri="{FF2B5EF4-FFF2-40B4-BE49-F238E27FC236}">
                <a16:creationId xmlns:a16="http://schemas.microsoft.com/office/drawing/2014/main" id="{3811FB9A-29FB-48A4-8508-F20C105E7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312258"/>
            <a:ext cx="7704138" cy="579438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如何用数学形式表达热力学第二定律？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72A4BAEE-FB0E-468E-AA99-36E511732DF2}"/>
              </a:ext>
            </a:extLst>
          </p:cNvPr>
          <p:cNvSpPr/>
          <p:nvPr/>
        </p:nvSpPr>
        <p:spPr>
          <a:xfrm>
            <a:off x="179387" y="3401103"/>
            <a:ext cx="8785225" cy="1547731"/>
          </a:xfrm>
          <a:prstGeom prst="rect">
            <a:avLst/>
          </a:prstGeom>
          <a:gradFill rotWithShape="1">
            <a:gsLst>
              <a:gs pos="0">
                <a:srgbClr val="FF5050"/>
              </a:gs>
              <a:gs pos="50000">
                <a:srgbClr val="FFFF00"/>
              </a:gs>
              <a:gs pos="100000">
                <a:srgbClr val="FF5050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一个不受外界影响的孤立系统，内部所发生的过程，总是由热力学概率小的宏观状态，向热力学概率大的宏观状态进行。</a:t>
            </a:r>
          </a:p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         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------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热二律的统计意义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2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2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12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2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22" grpId="0" bldLvl="0" animBg="1"/>
      <p:bldP spid="1122324" grpId="0" bldLvl="0" animBg="1"/>
      <p:bldP spid="1122325" grpId="0" bldLvl="0" animBg="1"/>
      <p:bldP spid="1122334" grpId="0" bldLvl="0" animBg="1"/>
      <p:bldP spid="1122335" grpId="0" bldLvl="0" animBg="1"/>
      <p:bldP spid="38" grpId="0" uiExpand="1" build="p"/>
      <p:bldP spid="39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0" dirty="0">
                <a:solidFill>
                  <a:schemeClr val="tx1"/>
                </a:solidFill>
                <a:ea typeface="宋体" panose="02010600030101010101" pitchFamily="2" charset="-122"/>
              </a:rPr>
              <a:t>60</a:t>
            </a:fld>
            <a:endParaRPr lang="en-US" altLang="zh-CN" sz="1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882" name="Rectangle 4"/>
          <p:cNvSpPr/>
          <p:nvPr/>
        </p:nvSpPr>
        <p:spPr>
          <a:xfrm>
            <a:off x="0" y="1004888"/>
            <a:ext cx="9374188" cy="5513387"/>
          </a:xfrm>
          <a:prstGeom prst="rect">
            <a:avLst/>
          </a:prstGeom>
          <a:noFill/>
          <a:ln w="9525">
            <a:noFill/>
          </a:ln>
        </p:spPr>
        <p:txBody>
          <a:bodyPr wrap="none" bIns="114264" anchor="ctr" anchorCtr="0">
            <a:spAutoFit/>
          </a:bodyPr>
          <a:lstStyle/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路德维希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·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(Ludwig Edward Boltzmann 1844.2.20-1906.9.5)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热力学和统计物理学的奠基人之一。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1844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年出生于奥地利的维也纳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1866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年获得维也纳大学博士学位。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玻尔兹曼的贡献主要在热力学和统计物理方面。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1869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年，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他将麦克斯韦速度分布律推广到保守力场作用下的情况，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得到了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玻尔兹曼分布律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1872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年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，玻尔兹曼建立了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玻尔兹曼方程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（又称输运方程），用来描述气体从非平衡态</a:t>
            </a:r>
          </a:p>
          <a:p>
            <a:pPr indent="317500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到平衡态过渡的过程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1877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年他又提出了著名的玻尔兹曼熵公式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</a:p>
        </p:txBody>
      </p:sp>
      <p:pic>
        <p:nvPicPr>
          <p:cNvPr id="122883" name="Picture 6" descr="42a98226cffc1e175da49c3f4a90f603728da97739123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588" y="260350"/>
            <a:ext cx="2257425" cy="2857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4" name="Rectangle 8"/>
          <p:cNvSpPr/>
          <p:nvPr/>
        </p:nvSpPr>
        <p:spPr>
          <a:xfrm>
            <a:off x="7164388" y="3213100"/>
            <a:ext cx="14065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玻尔兹曼</a:t>
            </a:r>
          </a:p>
        </p:txBody>
      </p:sp>
      <p:sp>
        <p:nvSpPr>
          <p:cNvPr id="756740" name="Text Box 4"/>
          <p:cNvSpPr txBox="1">
            <a:spLocks noChangeArrowheads="1"/>
          </p:cNvSpPr>
          <p:nvPr/>
        </p:nvSpPr>
        <p:spPr bwMode="auto">
          <a:xfrm>
            <a:off x="107950" y="365125"/>
            <a:ext cx="6624638" cy="434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609600" marR="0" indent="-60960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四、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玻尔兹曼熵（</a:t>
            </a:r>
            <a:r>
              <a:rPr kumimoji="1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1877</a:t>
            </a:r>
            <a:r>
              <a:rPr kumimoji="1" lang="zh-CN" altLang="en-US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）</a:t>
            </a:r>
            <a:endParaRPr kumimoji="1" lang="zh-CN" altLang="en-US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61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56746" name="Text Box 10"/>
          <p:cNvSpPr txBox="1">
            <a:spLocks noChangeArrowheads="1"/>
          </p:cNvSpPr>
          <p:nvPr/>
        </p:nvSpPr>
        <p:spPr bwMode="auto">
          <a:xfrm>
            <a:off x="139700" y="431800"/>
            <a:ext cx="8535988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自然过程的方向性是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有序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无序  </a:t>
            </a: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定性表示</a:t>
            </a: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</a:p>
        </p:txBody>
      </p:sp>
      <p:sp>
        <p:nvSpPr>
          <p:cNvPr id="756747" name="Text Box 11"/>
          <p:cNvSpPr txBox="1">
            <a:spLocks noChangeArrowheads="1"/>
          </p:cNvSpPr>
          <p:nvPr/>
        </p:nvSpPr>
        <p:spPr bwMode="auto">
          <a:xfrm>
            <a:off x="1476375" y="2401888"/>
            <a:ext cx="5407025" cy="582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小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   </a:t>
            </a: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定量表示</a:t>
            </a: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endParaRPr kumimoji="1" lang="en-US" altLang="zh-CN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827088" y="3343275"/>
            <a:ext cx="4608512" cy="1006475"/>
            <a:chOff x="521" y="3220"/>
            <a:chExt cx="2903" cy="634"/>
          </a:xfrm>
        </p:grpSpPr>
        <p:sp>
          <p:nvSpPr>
            <p:cNvPr id="756756" name="Rectangle 20"/>
            <p:cNvSpPr>
              <a:spLocks noChangeArrowheads="1"/>
            </p:cNvSpPr>
            <p:nvPr/>
          </p:nvSpPr>
          <p:spPr bwMode="auto">
            <a:xfrm>
              <a:off x="521" y="3220"/>
              <a:ext cx="2903" cy="634"/>
            </a:xfrm>
            <a:prstGeom prst="rect">
              <a:avLst/>
            </a:prstGeom>
            <a:gradFill rotWithShape="1">
              <a:gsLst>
                <a:gs pos="0">
                  <a:srgbClr val="00CC66"/>
                </a:gs>
                <a:gs pos="50000">
                  <a:schemeClr val="bg1"/>
                </a:gs>
                <a:gs pos="100000">
                  <a:srgbClr val="00CC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756751" name="Text Box 15"/>
            <p:cNvSpPr txBox="1">
              <a:spLocks noChangeArrowheads="1"/>
            </p:cNvSpPr>
            <p:nvPr/>
          </p:nvSpPr>
          <p:spPr bwMode="blackWhite">
            <a:xfrm>
              <a:off x="521" y="3220"/>
              <a:ext cx="2816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定义：某系统宏观状态的熵</a:t>
              </a:r>
            </a:p>
          </p:txBody>
        </p:sp>
        <p:graphicFrame>
          <p:nvGraphicFramePr>
            <p:cNvPr id="123911" name="Object 16"/>
            <p:cNvGraphicFramePr/>
            <p:nvPr/>
          </p:nvGraphicFramePr>
          <p:xfrm>
            <a:off x="1283" y="3560"/>
            <a:ext cx="135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45" r:id="rId3" imgW="659130" imgH="177800" progId="Equation.DSMT4">
                    <p:embed/>
                  </p:oleObj>
                </mc:Choice>
                <mc:Fallback>
                  <p:oleObj r:id="rId3" imgW="659130" imgH="177800" progId="Equation.DSMT4">
                    <p:embed/>
                    <p:pic>
                      <p:nvPicPr>
                        <p:cNvPr id="0" name="图片 34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3" y="3560"/>
                          <a:ext cx="1352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6767" name="Rectangle 31"/>
          <p:cNvSpPr/>
          <p:nvPr/>
        </p:nvSpPr>
        <p:spPr>
          <a:xfrm>
            <a:off x="5078413" y="5949950"/>
            <a:ext cx="3505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</a:t>
            </a:r>
            <a:r>
              <a:rPr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熵的统计意义</a:t>
            </a:r>
          </a:p>
        </p:txBody>
      </p:sp>
      <p:sp>
        <p:nvSpPr>
          <p:cNvPr id="4" name="内容占位符 4"/>
          <p:cNvSpPr/>
          <p:nvPr/>
        </p:nvSpPr>
        <p:spPr bwMode="auto">
          <a:xfrm>
            <a:off x="577850" y="4797425"/>
            <a:ext cx="8458200" cy="45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359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熵是状态函数。</a:t>
            </a:r>
          </a:p>
        </p:txBody>
      </p:sp>
      <p:sp>
        <p:nvSpPr>
          <p:cNvPr id="756769" name="Rectangle 33"/>
          <p:cNvSpPr>
            <a:spLocks noChangeArrowheads="1"/>
          </p:cNvSpPr>
          <p:nvPr/>
        </p:nvSpPr>
        <p:spPr bwMode="auto">
          <a:xfrm>
            <a:off x="468313" y="5373688"/>
            <a:ext cx="8458200" cy="547688"/>
          </a:xfrm>
          <a:prstGeom prst="rect">
            <a:avLst/>
          </a:prstGeom>
          <a:noFill/>
          <a:ln w="9525" algn="ctr">
            <a:noFill/>
            <a:miter lim="800000"/>
            <a:tailEnd type="none" w="lg" len="lg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359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熵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ln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成正比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，所以熵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也是系统无序性的量度。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45175" y="3660775"/>
            <a:ext cx="1708150" cy="10144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玻尔兹曼熵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（统计熵）</a:t>
            </a:r>
            <a:endParaRPr kumimoji="1" lang="en-US" altLang="zh-CN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56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56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6" grpId="0" bldLvl="0" animBg="1"/>
      <p:bldP spid="756747" grpId="0" bldLvl="0" animBg="1"/>
      <p:bldP spid="756767" grpId="0"/>
      <p:bldP spid="4" grpId="0"/>
      <p:bldP spid="756769" grpId="0" bldLvl="0" animBg="1"/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  <a:t>62</a:t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4930" name="Picture 2" descr="Boltzmann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692150"/>
            <a:ext cx="3316288" cy="40322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4931" name="Object 3"/>
          <p:cNvGraphicFramePr/>
          <p:nvPr/>
        </p:nvGraphicFramePr>
        <p:xfrm>
          <a:off x="4356100" y="549275"/>
          <a:ext cx="3998913" cy="568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9" r:id="rId5" imgW="5067300" imgH="7620000" progId="Photoshop.Image.6">
                  <p:embed/>
                </p:oleObj>
              </mc:Choice>
              <mc:Fallback>
                <p:oleObj r:id="rId5" imgW="5067300" imgH="7620000" progId="Photoshop.Image.6">
                  <p:embed/>
                  <p:pic>
                    <p:nvPicPr>
                      <p:cNvPr id="0" name="图片 34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6100" y="549275"/>
                        <a:ext cx="3998913" cy="568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468313" y="3141663"/>
            <a:ext cx="6408737" cy="3014662"/>
            <a:chOff x="295" y="1979"/>
            <a:chExt cx="4037" cy="1899"/>
          </a:xfrm>
        </p:grpSpPr>
        <p:sp>
          <p:nvSpPr>
            <p:cNvPr id="124933" name="Oval 5"/>
            <p:cNvSpPr/>
            <p:nvPr/>
          </p:nvSpPr>
          <p:spPr>
            <a:xfrm>
              <a:off x="3833" y="1979"/>
              <a:ext cx="499" cy="136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124934" name="Group 6"/>
            <p:cNvGrpSpPr/>
            <p:nvPr/>
          </p:nvGrpSpPr>
          <p:grpSpPr>
            <a:xfrm>
              <a:off x="295" y="2115"/>
              <a:ext cx="3674" cy="1763"/>
              <a:chOff x="295" y="2115"/>
              <a:chExt cx="3674" cy="1763"/>
            </a:xfrm>
          </p:grpSpPr>
          <p:graphicFrame>
            <p:nvGraphicFramePr>
              <p:cNvPr id="124935" name="Object 7"/>
              <p:cNvGraphicFramePr/>
              <p:nvPr/>
            </p:nvGraphicFramePr>
            <p:xfrm>
              <a:off x="295" y="3113"/>
              <a:ext cx="2268" cy="7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290" r:id="rId7" imgW="1168400" imgH="393700" progId="Photoshop.Image.6">
                      <p:embed/>
                    </p:oleObj>
                  </mc:Choice>
                  <mc:Fallback>
                    <p:oleObj r:id="rId7" imgW="1168400" imgH="393700" progId="Photoshop.Image.6">
                      <p:embed/>
                      <p:pic>
                        <p:nvPicPr>
                          <p:cNvPr id="0" name="图片 344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5" y="3113"/>
                            <a:ext cx="2268" cy="76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4936" name="Line 8"/>
              <p:cNvSpPr/>
              <p:nvPr/>
            </p:nvSpPr>
            <p:spPr>
              <a:xfrm rot="-10800000" flipV="1">
                <a:off x="2517" y="2115"/>
                <a:ext cx="1452" cy="127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2400" b="0" dirty="0">
                <a:ea typeface="宋体" panose="02010600030101010101" pitchFamily="2" charset="-122"/>
              </a:rPr>
              <a:t>63</a:t>
            </a:fld>
            <a:endParaRPr lang="en-US" altLang="en-US" sz="2400" b="0" dirty="0">
              <a:ea typeface="宋体" panose="02010600030101010101" pitchFamily="2" charset="-122"/>
            </a:endParaRPr>
          </a:p>
        </p:txBody>
      </p:sp>
      <p:sp>
        <p:nvSpPr>
          <p:cNvPr id="740362" name="矩形 740361"/>
          <p:cNvSpPr/>
          <p:nvPr/>
        </p:nvSpPr>
        <p:spPr>
          <a:xfrm>
            <a:off x="1000121" y="1258888"/>
            <a:ext cx="6553200" cy="839787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40356" name="文本框 740355"/>
          <p:cNvSpPr txBox="1"/>
          <p:nvPr/>
        </p:nvSpPr>
        <p:spPr>
          <a:xfrm>
            <a:off x="250825" y="260350"/>
            <a:ext cx="8153400" cy="977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五、熵增加原理</a:t>
            </a:r>
            <a:endParaRPr kumimoji="0" lang="en-US" altLang="zh-CN" kern="1200" cap="none" spc="0" normalizeH="0" baseline="0" noProof="1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rgbClr val="99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   </a:t>
            </a:r>
            <a:r>
              <a:rPr kumimoji="0" lang="zh-CN" altLang="en-US" sz="2400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孤立系统自发过程方向性问题</a:t>
            </a:r>
            <a:endParaRPr kumimoji="0" lang="zh-CN" altLang="en-US" sz="2400" i="1" kern="1200" cap="none" spc="0" normalizeH="0" baseline="0" noProof="1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0357" name="文本框 740356"/>
          <p:cNvSpPr txBox="1"/>
          <p:nvPr/>
        </p:nvSpPr>
        <p:spPr>
          <a:xfrm>
            <a:off x="1074733" y="1450975"/>
            <a:ext cx="64389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孤立系统内进行的过程   熵永不减少 </a:t>
            </a:r>
          </a:p>
        </p:txBody>
      </p:sp>
      <p:graphicFrame>
        <p:nvGraphicFramePr>
          <p:cNvPr id="740358" name="对象 740357"/>
          <p:cNvGraphicFramePr/>
          <p:nvPr>
            <p:extLst>
              <p:ext uri="{D42A27DB-BD31-4B8C-83A1-F6EECF244321}">
                <p14:modId xmlns:p14="http://schemas.microsoft.com/office/powerpoint/2010/main" val="558017857"/>
              </p:ext>
            </p:extLst>
          </p:nvPr>
        </p:nvGraphicFramePr>
        <p:xfrm>
          <a:off x="6257921" y="1433513"/>
          <a:ext cx="12954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1" r:id="rId3" imgW="456565" imgH="177800" progId="Equation.3">
                  <p:embed/>
                </p:oleObj>
              </mc:Choice>
              <mc:Fallback>
                <p:oleObj r:id="rId3" imgW="456565" imgH="177800" progId="Equation.3">
                  <p:embed/>
                  <p:pic>
                    <p:nvPicPr>
                      <p:cNvPr id="0" name="图片 34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57921" y="1433513"/>
                        <a:ext cx="1295400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97" name="文本框 740396"/>
          <p:cNvSpPr txBox="1"/>
          <p:nvPr/>
        </p:nvSpPr>
        <p:spPr>
          <a:xfrm>
            <a:off x="1106487" y="2262981"/>
            <a:ext cx="5386388" cy="584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过程</a:t>
            </a:r>
            <a:r>
              <a:rPr kumimoji="0" lang="zh-CN" altLang="en-US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向熵增大方向自动进行</a:t>
            </a: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!</a:t>
            </a:r>
          </a:p>
        </p:txBody>
      </p:sp>
      <p:sp>
        <p:nvSpPr>
          <p:cNvPr id="756746" name="Text Box 10"/>
          <p:cNvSpPr txBox="1">
            <a:spLocks noChangeArrowheads="1"/>
          </p:cNvSpPr>
          <p:nvPr/>
        </p:nvSpPr>
        <p:spPr bwMode="auto">
          <a:xfrm>
            <a:off x="323846" y="2911476"/>
            <a:ext cx="8535988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自然过程的方向性是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有序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无序  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</a:p>
        </p:txBody>
      </p:sp>
      <p:sp>
        <p:nvSpPr>
          <p:cNvPr id="756747" name="Text Box 11"/>
          <p:cNvSpPr txBox="1">
            <a:spLocks noChangeArrowheads="1"/>
          </p:cNvSpPr>
          <p:nvPr/>
        </p:nvSpPr>
        <p:spPr bwMode="auto">
          <a:xfrm>
            <a:off x="4970458" y="3746501"/>
            <a:ext cx="2895600" cy="582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小  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 </a:t>
            </a:r>
            <a:endParaRPr kumimoji="1" lang="en-US" altLang="zh-CN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6808" y="4308476"/>
            <a:ext cx="1706563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玻尔兹曼熵</a:t>
            </a:r>
            <a:endParaRPr kumimoji="1" lang="en-US" altLang="zh-CN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  <p:graphicFrame>
        <p:nvGraphicFramePr>
          <p:cNvPr id="5" name="Object 16"/>
          <p:cNvGraphicFramePr/>
          <p:nvPr>
            <p:extLst>
              <p:ext uri="{D42A27DB-BD31-4B8C-83A1-F6EECF244321}">
                <p14:modId xmlns:p14="http://schemas.microsoft.com/office/powerpoint/2010/main" val="2655129399"/>
              </p:ext>
            </p:extLst>
          </p:nvPr>
        </p:nvGraphicFramePr>
        <p:xfrm>
          <a:off x="1808158" y="4773614"/>
          <a:ext cx="21494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2" r:id="rId5" imgW="660400" imgH="177165" progId="Equation.DSMT4">
                  <p:embed/>
                </p:oleObj>
              </mc:Choice>
              <mc:Fallback>
                <p:oleObj r:id="rId5" imgW="660400" imgH="177165" progId="Equation.DSMT4">
                  <p:embed/>
                  <p:pic>
                    <p:nvPicPr>
                      <p:cNvPr id="0" name="图片 34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8158" y="4773614"/>
                        <a:ext cx="214947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464050" y="4741865"/>
            <a:ext cx="304165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满足熵增加原理</a:t>
            </a:r>
            <a:endParaRPr kumimoji="0" lang="zh-CN" altLang="en-US" kern="1200" cap="none" spc="0" normalizeH="0" baseline="0" noProof="1"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4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4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7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0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5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7" grpId="0"/>
      <p:bldP spid="740397" grpId="0" build="p"/>
      <p:bldP spid="756746" grpId="0" bldLvl="0" animBg="1"/>
      <p:bldP spid="756747" grpId="0" bldLvl="0" animBg="1"/>
      <p:bldP spid="4" grpId="0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8" name="Rectangle 4"/>
          <p:cNvSpPr/>
          <p:nvPr/>
        </p:nvSpPr>
        <p:spPr>
          <a:xfrm>
            <a:off x="635000" y="1270000"/>
            <a:ext cx="3048000" cy="830263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由玻尔兹曼熵公式（统计熵）</a:t>
            </a:r>
          </a:p>
        </p:txBody>
      </p:sp>
      <p:sp>
        <p:nvSpPr>
          <p:cNvPr id="1055749" name="Text Box 5"/>
          <p:cNvSpPr txBox="1"/>
          <p:nvPr/>
        </p:nvSpPr>
        <p:spPr>
          <a:xfrm>
            <a:off x="5283200" y="1270000"/>
            <a:ext cx="2743200" cy="830263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克劳修斯熵公式 （热力学熵） </a:t>
            </a:r>
          </a:p>
        </p:txBody>
      </p:sp>
      <p:graphicFrame>
        <p:nvGraphicFramePr>
          <p:cNvPr id="1055750" name="Object 6"/>
          <p:cNvGraphicFramePr/>
          <p:nvPr/>
        </p:nvGraphicFramePr>
        <p:xfrm>
          <a:off x="1284288" y="2432050"/>
          <a:ext cx="19796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7" r:id="rId3" imgW="671830" imgH="177800" progId="Equation.3">
                  <p:embed/>
                </p:oleObj>
              </mc:Choice>
              <mc:Fallback>
                <p:oleObj r:id="rId3" imgW="671830" imgH="177800" progId="Equation.3">
                  <p:embed/>
                  <p:pic>
                    <p:nvPicPr>
                      <p:cNvPr id="0" name="图片 34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4288" y="2432050"/>
                        <a:ext cx="1979612" cy="47783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52" name="AutoShape 8"/>
          <p:cNvSpPr/>
          <p:nvPr/>
        </p:nvSpPr>
        <p:spPr>
          <a:xfrm>
            <a:off x="3759200" y="1547813"/>
            <a:ext cx="1173163" cy="207962"/>
          </a:xfrm>
          <a:prstGeom prst="notchedRightArrow">
            <a:avLst>
              <a:gd name="adj1" fmla="val 50000"/>
              <a:gd name="adj2" fmla="val 140743"/>
            </a:avLst>
          </a:prstGeom>
          <a:solidFill>
            <a:srgbClr val="CCFFCC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55753" name="AutoShape 9"/>
          <p:cNvSpPr/>
          <p:nvPr/>
        </p:nvSpPr>
        <p:spPr>
          <a:xfrm>
            <a:off x="3419475" y="2557463"/>
            <a:ext cx="1169988" cy="207962"/>
          </a:xfrm>
          <a:prstGeom prst="notchedRightArrow">
            <a:avLst>
              <a:gd name="adj1" fmla="val 50000"/>
              <a:gd name="adj2" fmla="val 140362"/>
            </a:avLst>
          </a:prstGeom>
          <a:solidFill>
            <a:srgbClr val="CCFFCC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55754" name="Text Box 10"/>
          <p:cNvSpPr txBox="1"/>
          <p:nvPr/>
        </p:nvSpPr>
        <p:spPr>
          <a:xfrm>
            <a:off x="3895725" y="1747838"/>
            <a:ext cx="795338" cy="460375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推导</a:t>
            </a:r>
          </a:p>
        </p:txBody>
      </p:sp>
      <p:sp>
        <p:nvSpPr>
          <p:cNvPr id="1055755" name="Text Box 11"/>
          <p:cNvSpPr txBox="1"/>
          <p:nvPr/>
        </p:nvSpPr>
        <p:spPr>
          <a:xfrm>
            <a:off x="468313" y="3206750"/>
            <a:ext cx="6794500" cy="460375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i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n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理想气体作等温膨胀，体积由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变化到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6984" name="Text Box 12"/>
          <p:cNvSpPr txBox="1"/>
          <p:nvPr/>
        </p:nvSpPr>
        <p:spPr>
          <a:xfrm>
            <a:off x="323850" y="188913"/>
            <a:ext cx="8424863" cy="952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.</a:t>
            </a:r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根据理想气体等温膨胀说明</a:t>
            </a:r>
          </a:p>
          <a:p>
            <a:pPr eaLnBrk="0" hangingPunct="0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    玻尔兹曼熵和克劳修斯熵的等效性</a:t>
            </a:r>
          </a:p>
        </p:txBody>
      </p:sp>
      <p:sp>
        <p:nvSpPr>
          <p:cNvPr id="126985" name="Text Box 13"/>
          <p:cNvSpPr txBox="1"/>
          <p:nvPr/>
        </p:nvSpPr>
        <p:spPr>
          <a:xfrm>
            <a:off x="87313" y="1336675"/>
            <a:ext cx="4905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即</a:t>
            </a:r>
          </a:p>
        </p:txBody>
      </p:sp>
      <p:grpSp>
        <p:nvGrpSpPr>
          <p:cNvPr id="2" name="Group 24"/>
          <p:cNvGrpSpPr/>
          <p:nvPr/>
        </p:nvGrpSpPr>
        <p:grpSpPr>
          <a:xfrm>
            <a:off x="4787900" y="2276475"/>
            <a:ext cx="4176713" cy="788988"/>
            <a:chOff x="3016" y="1434"/>
            <a:chExt cx="2631" cy="497"/>
          </a:xfrm>
        </p:grpSpPr>
        <p:graphicFrame>
          <p:nvGraphicFramePr>
            <p:cNvPr id="126987" name="Object 7"/>
            <p:cNvGraphicFramePr/>
            <p:nvPr/>
          </p:nvGraphicFramePr>
          <p:xfrm>
            <a:off x="3016" y="1434"/>
            <a:ext cx="1693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78" r:id="rId5" imgW="1332865" imgH="393700" progId="Equation.3">
                    <p:embed/>
                  </p:oleObj>
                </mc:Choice>
                <mc:Fallback>
                  <p:oleObj r:id="rId5" imgW="1332865" imgH="393700" progId="Equation.3">
                    <p:embed/>
                    <p:pic>
                      <p:nvPicPr>
                        <p:cNvPr id="0" name="图片 345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16" y="1434"/>
                          <a:ext cx="1693" cy="4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988" name="Object 22"/>
            <p:cNvGraphicFramePr/>
            <p:nvPr/>
          </p:nvGraphicFramePr>
          <p:xfrm>
            <a:off x="4921" y="1434"/>
            <a:ext cx="726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79" r:id="rId7" imgW="571500" imgH="393700" progId="Equation.3">
                    <p:embed/>
                  </p:oleObj>
                </mc:Choice>
                <mc:Fallback>
                  <p:oleObj r:id="rId7" imgW="571500" imgH="393700" progId="Equation.3">
                    <p:embed/>
                    <p:pic>
                      <p:nvPicPr>
                        <p:cNvPr id="0" name="图片 345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21" y="1434"/>
                          <a:ext cx="726" cy="4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5767" name="Rectangle 23"/>
          <p:cNvSpPr/>
          <p:nvPr/>
        </p:nvSpPr>
        <p:spPr>
          <a:xfrm>
            <a:off x="4787900" y="2276475"/>
            <a:ext cx="4176713" cy="86518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940034" name="Text Box 2"/>
          <p:cNvSpPr txBox="1">
            <a:spLocks noChangeArrowheads="1"/>
          </p:cNvSpPr>
          <p:nvPr/>
        </p:nvSpPr>
        <p:spPr bwMode="auto">
          <a:xfrm>
            <a:off x="590550" y="4881563"/>
            <a:ext cx="7848600" cy="1073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一个分子在系统中按位置分布的微观状态数与体积成正比（在平衡态）</a:t>
            </a:r>
          </a:p>
        </p:txBody>
      </p:sp>
      <p:graphicFrame>
        <p:nvGraphicFramePr>
          <p:cNvPr id="940046" name="Object 14"/>
          <p:cNvGraphicFramePr/>
          <p:nvPr/>
        </p:nvGraphicFramePr>
        <p:xfrm>
          <a:off x="5486400" y="5457825"/>
          <a:ext cx="2362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0" r:id="rId9" imgW="913765" imgH="203200" progId="Equation.DSMT4">
                  <p:embed/>
                </p:oleObj>
              </mc:Choice>
              <mc:Fallback>
                <p:oleObj r:id="rId9" imgW="913765" imgH="203200" progId="Equation.DSMT4">
                  <p:embed/>
                  <p:pic>
                    <p:nvPicPr>
                      <p:cNvPr id="0" name="图片 345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86400" y="5457825"/>
                        <a:ext cx="236220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49" name="Text Box 17"/>
          <p:cNvSpPr txBox="1">
            <a:spLocks noChangeArrowheads="1"/>
          </p:cNvSpPr>
          <p:nvPr/>
        </p:nvSpPr>
        <p:spPr bwMode="auto">
          <a:xfrm>
            <a:off x="577850" y="3808413"/>
            <a:ext cx="8688388" cy="1081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1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等温膨胀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温度不变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，所以分子的</a:t>
            </a: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速度分布不变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，只考虑</a:t>
            </a: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位置分布的变化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-----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引起的</a:t>
            </a:r>
            <a:r>
              <a:rPr kumimoji="1" lang="en-US" altLang="zh-CN" sz="2800" i="1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 </a:t>
            </a:r>
            <a:r>
              <a:rPr kumimoji="1" lang="zh-CN" altLang="en-US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5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5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5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5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94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4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94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48" grpId="0" build="p"/>
      <p:bldP spid="1055749" grpId="0" build="p"/>
      <p:bldP spid="1055752" grpId="0" bldLvl="0" animBg="1"/>
      <p:bldP spid="1055753" grpId="0" bldLvl="0" animBg="1"/>
      <p:bldP spid="1055754" grpId="0" build="p"/>
      <p:bldP spid="1055755" grpId="0" build="p"/>
      <p:bldP spid="1055767" grpId="0" bldLvl="0" animBg="1"/>
      <p:bldP spid="940034" grpId="0" bldLvl="0" animBg="1"/>
      <p:bldP spid="940049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65</a:t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5758" name="Text Box 14"/>
          <p:cNvSpPr txBox="1">
            <a:spLocks noChangeArrowheads="1"/>
          </p:cNvSpPr>
          <p:nvPr/>
        </p:nvSpPr>
        <p:spPr bwMode="auto">
          <a:xfrm>
            <a:off x="727075" y="1577975"/>
            <a:ext cx="34290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系统中分子数为</a:t>
            </a:r>
          </a:p>
        </p:txBody>
      </p:sp>
      <p:graphicFrame>
        <p:nvGraphicFramePr>
          <p:cNvPr id="1055759" name="Object 15"/>
          <p:cNvGraphicFramePr/>
          <p:nvPr/>
        </p:nvGraphicFramePr>
        <p:xfrm>
          <a:off x="3160713" y="1619250"/>
          <a:ext cx="6477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1" r:id="rId3" imgW="304800" imgH="228600" progId="Equation.DSMT4">
                  <p:embed/>
                </p:oleObj>
              </mc:Choice>
              <mc:Fallback>
                <p:oleObj r:id="rId3" imgW="304800" imgH="228600" progId="Equation.DSMT4">
                  <p:embed/>
                  <p:pic>
                    <p:nvPicPr>
                      <p:cNvPr id="0" name="图片 34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0713" y="1619250"/>
                        <a:ext cx="647700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60" name="Object 16"/>
          <p:cNvGraphicFramePr/>
          <p:nvPr/>
        </p:nvGraphicFramePr>
        <p:xfrm>
          <a:off x="3521075" y="2460625"/>
          <a:ext cx="15668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2" r:id="rId5" imgW="736600" imgH="228600" progId="Equation.DSMT4">
                  <p:embed/>
                </p:oleObj>
              </mc:Choice>
              <mc:Fallback>
                <p:oleObj r:id="rId5" imgW="736600" imgH="228600" progId="Equation.DSMT4">
                  <p:embed/>
                  <p:pic>
                    <p:nvPicPr>
                      <p:cNvPr id="0" name="图片 34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1075" y="2460625"/>
                        <a:ext cx="1566863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61" name="Text Box 17"/>
          <p:cNvSpPr txBox="1">
            <a:spLocks noChangeArrowheads="1"/>
          </p:cNvSpPr>
          <p:nvPr/>
        </p:nvSpPr>
        <p:spPr bwMode="auto">
          <a:xfrm>
            <a:off x="727075" y="2185988"/>
            <a:ext cx="3802063" cy="755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总的微观状态数</a:t>
            </a: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（热力学概率）为</a:t>
            </a:r>
          </a:p>
        </p:txBody>
      </p:sp>
      <p:sp>
        <p:nvSpPr>
          <p:cNvPr id="1055762" name="Text Box 18"/>
          <p:cNvSpPr txBox="1">
            <a:spLocks noChangeArrowheads="1"/>
          </p:cNvSpPr>
          <p:nvPr/>
        </p:nvSpPr>
        <p:spPr bwMode="auto">
          <a:xfrm>
            <a:off x="727075" y="3022600"/>
            <a:ext cx="47244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系统从体积</a:t>
            </a:r>
            <a:r>
              <a:rPr kumimoji="1" lang="en-US" altLang="zh-CN" sz="2400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i="1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增大到体积</a:t>
            </a:r>
            <a:r>
              <a:rPr kumimoji="1" lang="en-US" altLang="zh-CN" sz="2400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i="1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aphicFrame>
        <p:nvGraphicFramePr>
          <p:cNvPr id="1055763" name="Object 19"/>
          <p:cNvGraphicFramePr/>
          <p:nvPr/>
        </p:nvGraphicFramePr>
        <p:xfrm>
          <a:off x="935038" y="3657600"/>
          <a:ext cx="18335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3" r:id="rId7" imgW="761365" imgH="241300" progId="Equation.DSMT4">
                  <p:embed/>
                </p:oleObj>
              </mc:Choice>
              <mc:Fallback>
                <p:oleObj r:id="rId7" imgW="761365" imgH="241300" progId="Equation.DSMT4">
                  <p:embed/>
                  <p:pic>
                    <p:nvPicPr>
                      <p:cNvPr id="0" name="图片 34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5038" y="3657600"/>
                        <a:ext cx="1833562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64" name="Object 20"/>
          <p:cNvGraphicFramePr/>
          <p:nvPr/>
        </p:nvGraphicFramePr>
        <p:xfrm>
          <a:off x="3384550" y="3670300"/>
          <a:ext cx="19256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4" r:id="rId9" imgW="799465" imgH="241300" progId="Equation.DSMT4">
                  <p:embed/>
                </p:oleObj>
              </mc:Choice>
              <mc:Fallback>
                <p:oleObj r:id="rId9" imgW="799465" imgH="241300" progId="Equation.DSMT4">
                  <p:embed/>
                  <p:pic>
                    <p:nvPicPr>
                      <p:cNvPr id="0" name="图片 34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4550" y="3670300"/>
                        <a:ext cx="1925638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65" name="Object 21"/>
          <p:cNvGraphicFramePr/>
          <p:nvPr/>
        </p:nvGraphicFramePr>
        <p:xfrm>
          <a:off x="5897563" y="3646488"/>
          <a:ext cx="302418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5" r:id="rId11" imgW="1256665" imgH="241300" progId="Equation.DSMT4">
                  <p:embed/>
                </p:oleObj>
              </mc:Choice>
              <mc:Fallback>
                <p:oleObj r:id="rId11" imgW="1256665" imgH="241300" progId="Equation.DSMT4">
                  <p:embed/>
                  <p:pic>
                    <p:nvPicPr>
                      <p:cNvPr id="0" name="图片 346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97563" y="3646488"/>
                        <a:ext cx="3024187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76" name="Text Box 44"/>
          <p:cNvSpPr txBox="1">
            <a:spLocks noChangeArrowheads="1"/>
          </p:cNvSpPr>
          <p:nvPr/>
        </p:nvSpPr>
        <p:spPr bwMode="auto">
          <a:xfrm>
            <a:off x="677863" y="557213"/>
            <a:ext cx="64087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i="1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个分子的按位置的微观状态数：</a:t>
            </a:r>
            <a:endParaRPr kumimoji="1" lang="zh-CN" altLang="en-US" sz="2800" b="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8011" name="Object 45"/>
          <p:cNvGraphicFramePr/>
          <p:nvPr/>
        </p:nvGraphicFramePr>
        <p:xfrm>
          <a:off x="6186488" y="485775"/>
          <a:ext cx="24828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6" r:id="rId13" imgW="888365" imgH="203200" progId="Equation.3">
                  <p:embed/>
                </p:oleObj>
              </mc:Choice>
              <mc:Fallback>
                <p:oleObj r:id="rId13" imgW="888365" imgH="203200" progId="Equation.3">
                  <p:embed/>
                  <p:pic>
                    <p:nvPicPr>
                      <p:cNvPr id="0" name="图片 347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86488" y="485775"/>
                        <a:ext cx="248285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79" name="Text Box 47"/>
          <p:cNvSpPr txBox="1">
            <a:spLocks noChangeArrowheads="1"/>
          </p:cNvSpPr>
          <p:nvPr/>
        </p:nvSpPr>
        <p:spPr bwMode="auto">
          <a:xfrm>
            <a:off x="5573713" y="1047750"/>
            <a:ext cx="3048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（概率相乘法则）</a:t>
            </a:r>
          </a:p>
        </p:txBody>
      </p:sp>
      <p:graphicFrame>
        <p:nvGraphicFramePr>
          <p:cNvPr id="1056772" name="Object 4"/>
          <p:cNvGraphicFramePr/>
          <p:nvPr>
            <p:extLst>
              <p:ext uri="{D42A27DB-BD31-4B8C-83A1-F6EECF244321}">
                <p14:modId xmlns:p14="http://schemas.microsoft.com/office/powerpoint/2010/main" val="248689576"/>
              </p:ext>
            </p:extLst>
          </p:nvPr>
        </p:nvGraphicFramePr>
        <p:xfrm>
          <a:off x="779463" y="4460875"/>
          <a:ext cx="74231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7" name="Equation" r:id="rId15" imgW="2768400" imgH="228600" progId="Equation.DSMT4">
                  <p:embed/>
                </p:oleObj>
              </mc:Choice>
              <mc:Fallback>
                <p:oleObj name="Equation" r:id="rId15" imgW="2768400" imgH="228600" progId="Equation.DSMT4">
                  <p:embed/>
                  <p:pic>
                    <p:nvPicPr>
                      <p:cNvPr id="0" name="图片 346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9463" y="4460875"/>
                        <a:ext cx="7423150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3" name="Object 5"/>
          <p:cNvGraphicFramePr/>
          <p:nvPr/>
        </p:nvGraphicFramePr>
        <p:xfrm>
          <a:off x="1489075" y="5078413"/>
          <a:ext cx="3962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8" r:id="rId17" imgW="1472565" imgH="431800" progId="Equation.DSMT4">
                  <p:embed/>
                </p:oleObj>
              </mc:Choice>
              <mc:Fallback>
                <p:oleObj r:id="rId17" imgW="1472565" imgH="431800" progId="Equation.DSMT4">
                  <p:embed/>
                  <p:pic>
                    <p:nvPicPr>
                      <p:cNvPr id="0" name="图片 345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89075" y="5078413"/>
                        <a:ext cx="3962400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5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5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5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5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5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5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5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5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5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8" grpId="0" bldLvl="0" animBg="1"/>
      <p:bldP spid="1055761" grpId="0" bldLvl="0" animBg="1"/>
      <p:bldP spid="1055762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000" b="0" dirty="0">
                <a:solidFill>
                  <a:schemeClr val="tx1"/>
                </a:solidFill>
                <a:ea typeface="宋体" panose="02010600030101010101" pitchFamily="2" charset="-122"/>
              </a:rPr>
              <a:t>66</a:t>
            </a:fld>
            <a:endParaRPr lang="en-US" altLang="zh-CN" sz="1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9026" name="Object 4"/>
          <p:cNvGraphicFramePr/>
          <p:nvPr/>
        </p:nvGraphicFramePr>
        <p:xfrm>
          <a:off x="703263" y="731838"/>
          <a:ext cx="74231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5" r:id="rId3" imgW="2768600" imgH="228600" progId="Equation.DSMT4">
                  <p:embed/>
                </p:oleObj>
              </mc:Choice>
              <mc:Fallback>
                <p:oleObj r:id="rId3" imgW="2768600" imgH="228600" progId="Equation.DSMT4">
                  <p:embed/>
                  <p:pic>
                    <p:nvPicPr>
                      <p:cNvPr id="0" name="图片 34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263" y="731838"/>
                        <a:ext cx="7423150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7" name="Object 5"/>
          <p:cNvGraphicFramePr/>
          <p:nvPr/>
        </p:nvGraphicFramePr>
        <p:xfrm>
          <a:off x="1412875" y="1349375"/>
          <a:ext cx="3962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6" r:id="rId5" imgW="1472565" imgH="431800" progId="Equation.DSMT4">
                  <p:embed/>
                </p:oleObj>
              </mc:Choice>
              <mc:Fallback>
                <p:oleObj r:id="rId5" imgW="1472565" imgH="431800" progId="Equation.DSMT4">
                  <p:embed/>
                  <p:pic>
                    <p:nvPicPr>
                      <p:cNvPr id="0" name="图片 34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2875" y="1349375"/>
                        <a:ext cx="3962400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7" name="Object 9"/>
          <p:cNvGraphicFramePr/>
          <p:nvPr/>
        </p:nvGraphicFramePr>
        <p:xfrm>
          <a:off x="1485900" y="2500313"/>
          <a:ext cx="18002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7" r:id="rId7" imgW="774065" imgH="431800" progId="Equation.3">
                  <p:embed/>
                </p:oleObj>
              </mc:Choice>
              <mc:Fallback>
                <p:oleObj r:id="rId7" imgW="774065" imgH="431800" progId="Equation.3">
                  <p:embed/>
                  <p:pic>
                    <p:nvPicPr>
                      <p:cNvPr id="0" name="图片 346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85900" y="2500313"/>
                        <a:ext cx="1800225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8" name="Text Box 10"/>
          <p:cNvSpPr txBox="1"/>
          <p:nvPr/>
        </p:nvSpPr>
        <p:spPr>
          <a:xfrm>
            <a:off x="889000" y="3508375"/>
            <a:ext cx="32432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等温膨胀，系统吸热为</a:t>
            </a:r>
          </a:p>
        </p:txBody>
      </p:sp>
      <p:graphicFrame>
        <p:nvGraphicFramePr>
          <p:cNvPr id="129030" name="Object 11"/>
          <p:cNvGraphicFramePr/>
          <p:nvPr/>
        </p:nvGraphicFramePr>
        <p:xfrm>
          <a:off x="4524375" y="28971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8" r:id="rId9" imgW="114300" imgH="215265" progId="Equation.3">
                  <p:embed/>
                </p:oleObj>
              </mc:Choice>
              <mc:Fallback>
                <p:oleObj r:id="rId9" imgW="114300" imgH="215265" progId="Equation.3">
                  <p:embed/>
                  <p:pic>
                    <p:nvPicPr>
                      <p:cNvPr id="0" name="图片 34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24375" y="2897188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82" name="Object 14"/>
          <p:cNvGraphicFramePr/>
          <p:nvPr/>
        </p:nvGraphicFramePr>
        <p:xfrm>
          <a:off x="4230688" y="3297238"/>
          <a:ext cx="26558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9" r:id="rId11" imgW="1142365" imgH="431800" progId="Equation.3">
                  <p:embed/>
                </p:oleObj>
              </mc:Choice>
              <mc:Fallback>
                <p:oleObj r:id="rId11" imgW="1142365" imgH="431800" progId="Equation.3">
                  <p:embed/>
                  <p:pic>
                    <p:nvPicPr>
                      <p:cNvPr id="0" name="图片 347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30688" y="3297238"/>
                        <a:ext cx="2655887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83" name="Text Box 15"/>
          <p:cNvSpPr txBox="1"/>
          <p:nvPr/>
        </p:nvSpPr>
        <p:spPr>
          <a:xfrm>
            <a:off x="7173913" y="3509963"/>
            <a:ext cx="171291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代入上式有</a:t>
            </a:r>
          </a:p>
        </p:txBody>
      </p:sp>
      <p:graphicFrame>
        <p:nvGraphicFramePr>
          <p:cNvPr id="1056784" name="Object 16"/>
          <p:cNvGraphicFramePr/>
          <p:nvPr/>
        </p:nvGraphicFramePr>
        <p:xfrm>
          <a:off x="1701800" y="4157663"/>
          <a:ext cx="11747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90" r:id="rId13" imgW="520700" imgH="393700" progId="Equation.3">
                  <p:embed/>
                </p:oleObj>
              </mc:Choice>
              <mc:Fallback>
                <p:oleObj r:id="rId13" imgW="520700" imgH="393700" progId="Equation.3">
                  <p:embed/>
                  <p:pic>
                    <p:nvPicPr>
                      <p:cNvPr id="0" name="图片 34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01800" y="4157663"/>
                        <a:ext cx="1174750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85" name="Text Box 17"/>
          <p:cNvSpPr txBox="1"/>
          <p:nvPr/>
        </p:nvSpPr>
        <p:spPr>
          <a:xfrm>
            <a:off x="909638" y="5165725"/>
            <a:ext cx="23256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对于微变过程有</a:t>
            </a:r>
          </a:p>
        </p:txBody>
      </p:sp>
      <p:graphicFrame>
        <p:nvGraphicFramePr>
          <p:cNvPr id="1056786" name="Object 18"/>
          <p:cNvGraphicFramePr/>
          <p:nvPr/>
        </p:nvGraphicFramePr>
        <p:xfrm>
          <a:off x="3502025" y="4949825"/>
          <a:ext cx="1295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91" r:id="rId15" imgW="571500" imgH="393700" progId="Equation.3">
                  <p:embed/>
                </p:oleObj>
              </mc:Choice>
              <mc:Fallback>
                <p:oleObj r:id="rId15" imgW="571500" imgH="393700" progId="Equation.3">
                  <p:embed/>
                  <p:pic>
                    <p:nvPicPr>
                      <p:cNvPr id="0" name="图片 347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02025" y="4949825"/>
                        <a:ext cx="1295400" cy="887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88" name="Text Box 20"/>
          <p:cNvSpPr txBox="1"/>
          <p:nvPr/>
        </p:nvSpPr>
        <p:spPr>
          <a:xfrm>
            <a:off x="5373688" y="5092700"/>
            <a:ext cx="26860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rgbClr val="FF505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克劳修斯熵公式</a:t>
            </a:r>
          </a:p>
        </p:txBody>
      </p:sp>
      <p:sp>
        <p:nvSpPr>
          <p:cNvPr id="1056790" name="AutoShape 22"/>
          <p:cNvSpPr/>
          <p:nvPr/>
        </p:nvSpPr>
        <p:spPr>
          <a:xfrm>
            <a:off x="4868863" y="4652963"/>
            <a:ext cx="144462" cy="520700"/>
          </a:xfrm>
          <a:prstGeom prst="rightBrace">
            <a:avLst>
              <a:gd name="adj1" fmla="val 70519"/>
              <a:gd name="adj2" fmla="val 50000"/>
            </a:avLst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5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5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5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5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5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5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5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8" grpId="0"/>
      <p:bldP spid="1056783" grpId="0"/>
      <p:bldP spid="1056785" grpId="0"/>
      <p:bldP spid="1056788" grpId="0"/>
      <p:bldP spid="1056790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000" b="0" dirty="0">
                <a:ea typeface="宋体" panose="02010600030101010101" pitchFamily="2" charset="-122"/>
              </a:rPr>
              <a:t>67</a:t>
            </a:fld>
            <a:endParaRPr lang="en-US" altLang="en-US" sz="1000" b="0" dirty="0">
              <a:ea typeface="宋体" panose="02010600030101010101" pitchFamily="2" charset="-122"/>
            </a:endParaRPr>
          </a:p>
        </p:txBody>
      </p:sp>
      <p:sp>
        <p:nvSpPr>
          <p:cNvPr id="543746" name="文本框 543745"/>
          <p:cNvSpPr txBox="1"/>
          <p:nvPr/>
        </p:nvSpPr>
        <p:spPr>
          <a:xfrm>
            <a:off x="228600" y="1057275"/>
            <a:ext cx="8610600" cy="865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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律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：孤立系统自发过程  无序度增加  熵增加</a:t>
            </a:r>
          </a:p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但生物进化，成长过程有序度增加</a:t>
            </a:r>
          </a:p>
        </p:txBody>
      </p:sp>
      <p:sp>
        <p:nvSpPr>
          <p:cNvPr id="543747" name="文本框 543746"/>
          <p:cNvSpPr txBox="1"/>
          <p:nvPr/>
        </p:nvSpPr>
        <p:spPr>
          <a:xfrm>
            <a:off x="611188" y="1905000"/>
            <a:ext cx="5256213" cy="460375"/>
          </a:xfrm>
          <a:prstGeom prst="rect">
            <a:avLst/>
          </a:prstGeom>
          <a:solidFill>
            <a:srgbClr val="993300"/>
          </a:solidFill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对生物体（开放系统，非孤立系统）</a:t>
            </a:r>
          </a:p>
        </p:txBody>
      </p:sp>
      <p:sp>
        <p:nvSpPr>
          <p:cNvPr id="543748" name="文本框 543747"/>
          <p:cNvSpPr txBox="1"/>
          <p:nvPr/>
        </p:nvSpPr>
        <p:spPr>
          <a:xfrm>
            <a:off x="611188" y="2473325"/>
            <a:ext cx="1712913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系统熵变：</a:t>
            </a:r>
          </a:p>
        </p:txBody>
      </p:sp>
      <p:graphicFrame>
        <p:nvGraphicFramePr>
          <p:cNvPr id="543749" name="对象 543748"/>
          <p:cNvGraphicFramePr/>
          <p:nvPr/>
        </p:nvGraphicFramePr>
        <p:xfrm>
          <a:off x="2339975" y="2498725"/>
          <a:ext cx="18716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9" r:id="rId3" imgW="901065" imgH="228600" progId="Equation.DSMT4">
                  <p:embed/>
                </p:oleObj>
              </mc:Choice>
              <mc:Fallback>
                <p:oleObj r:id="rId3" imgW="901065" imgH="228600" progId="Equation.DSMT4">
                  <p:embed/>
                  <p:pic>
                    <p:nvPicPr>
                      <p:cNvPr id="0" name="图片 34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975" y="2498725"/>
                        <a:ext cx="1871663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750" name="文本框 543749"/>
          <p:cNvSpPr txBox="1"/>
          <p:nvPr/>
        </p:nvSpPr>
        <p:spPr>
          <a:xfrm>
            <a:off x="663575" y="2974975"/>
            <a:ext cx="822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内部不可逆过程造成的熵增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熵产生（大于零）</a:t>
            </a:r>
          </a:p>
        </p:txBody>
      </p:sp>
      <p:sp>
        <p:nvSpPr>
          <p:cNvPr id="543751" name="文本框 543750"/>
          <p:cNvSpPr txBox="1"/>
          <p:nvPr/>
        </p:nvSpPr>
        <p:spPr>
          <a:xfrm>
            <a:off x="684213" y="3459163"/>
            <a:ext cx="8459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与外界之间交换能量与物质造成的熵流通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熵流</a:t>
            </a:r>
          </a:p>
        </p:txBody>
      </p:sp>
      <p:sp>
        <p:nvSpPr>
          <p:cNvPr id="543753" name="文本框 543752"/>
          <p:cNvSpPr txBox="1"/>
          <p:nvPr/>
        </p:nvSpPr>
        <p:spPr>
          <a:xfrm>
            <a:off x="611188" y="4643438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∣&gt;  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 </a:t>
            </a:r>
          </a:p>
        </p:txBody>
      </p:sp>
      <p:sp>
        <p:nvSpPr>
          <p:cNvPr id="543754" name="文本框 543753"/>
          <p:cNvSpPr txBox="1"/>
          <p:nvPr/>
        </p:nvSpPr>
        <p:spPr>
          <a:xfrm>
            <a:off x="3348038" y="4664075"/>
            <a:ext cx="476408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&lt;0,  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↓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，有序度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↑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进化、成长；</a:t>
            </a:r>
          </a:p>
        </p:txBody>
      </p:sp>
      <p:sp>
        <p:nvSpPr>
          <p:cNvPr id="543755" name="文本框 543754"/>
          <p:cNvSpPr txBox="1"/>
          <p:nvPr/>
        </p:nvSpPr>
        <p:spPr>
          <a:xfrm>
            <a:off x="611188" y="5076825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∣=  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 </a:t>
            </a:r>
          </a:p>
        </p:txBody>
      </p:sp>
      <p:sp>
        <p:nvSpPr>
          <p:cNvPr id="543756" name="文本框 543755"/>
          <p:cNvSpPr txBox="1"/>
          <p:nvPr/>
        </p:nvSpPr>
        <p:spPr>
          <a:xfrm>
            <a:off x="3348038" y="5080000"/>
            <a:ext cx="63293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=0,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不变，维持一种有序，成熟阶段；</a:t>
            </a:r>
          </a:p>
        </p:txBody>
      </p:sp>
      <p:sp>
        <p:nvSpPr>
          <p:cNvPr id="543757" name="文本框 543756"/>
          <p:cNvSpPr txBox="1"/>
          <p:nvPr/>
        </p:nvSpPr>
        <p:spPr>
          <a:xfrm>
            <a:off x="611188" y="5562600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∣&lt;  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 </a:t>
            </a:r>
          </a:p>
        </p:txBody>
      </p:sp>
      <p:sp>
        <p:nvSpPr>
          <p:cNvPr id="543758" name="文本框 543757"/>
          <p:cNvSpPr txBox="1"/>
          <p:nvPr/>
        </p:nvSpPr>
        <p:spPr>
          <a:xfrm>
            <a:off x="3348038" y="5562600"/>
            <a:ext cx="484028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&gt;0,   </a:t>
            </a:r>
            <a:r>
              <a:rPr kumimoji="0" lang="en-US" altLang="zh-CN" sz="2400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</a:t>
            </a:r>
            <a:r>
              <a:rPr kumimoji="0" lang="zh-CN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↑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，有序度</a:t>
            </a:r>
            <a:r>
              <a:rPr kumimoji="0" lang="en-US" altLang="zh-CN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↓ </a:t>
            </a: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退化、衰老。</a:t>
            </a:r>
          </a:p>
        </p:txBody>
      </p:sp>
      <p:sp>
        <p:nvSpPr>
          <p:cNvPr id="543759" name="文本框 543758"/>
          <p:cNvSpPr txBox="1"/>
          <p:nvPr/>
        </p:nvSpPr>
        <p:spPr>
          <a:xfrm>
            <a:off x="611188" y="6145213"/>
            <a:ext cx="8447088" cy="717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当体内积熵达到最大时，机体呈现高度混乱状态，处于热力学</a:t>
            </a:r>
          </a:p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平衡    机能丧失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死亡</a:t>
            </a:r>
          </a:p>
        </p:txBody>
      </p:sp>
      <p:sp>
        <p:nvSpPr>
          <p:cNvPr id="543760" name="文本框 543759"/>
          <p:cNvSpPr txBox="1"/>
          <p:nvPr/>
        </p:nvSpPr>
        <p:spPr>
          <a:xfrm>
            <a:off x="649288" y="4005263"/>
            <a:ext cx="6659563" cy="460375"/>
          </a:xfrm>
          <a:prstGeom prst="rect">
            <a:avLst/>
          </a:prstGeom>
          <a:solidFill>
            <a:srgbClr val="993300"/>
          </a:solidFill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系统与环境有能量及物质交换引进负熵 </a:t>
            </a:r>
            <a:r>
              <a:rPr kumimoji="0" lang="en-US" altLang="zh-CN" sz="240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S</a:t>
            </a:r>
            <a:r>
              <a:rPr kumimoji="0" lang="en-US" altLang="zh-CN" sz="2400" i="1" kern="1200" cap="none" spc="0" normalizeH="0" baseline="-25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e</a:t>
            </a:r>
            <a:r>
              <a:rPr kumimoji="0" lang="en-US" altLang="zh-CN" sz="240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&lt;0</a:t>
            </a:r>
            <a:endParaRPr kumimoji="0" lang="en-US" altLang="zh-CN" sz="2400" b="0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543762" name="文本框 543761"/>
          <p:cNvSpPr txBox="1"/>
          <p:nvPr/>
        </p:nvSpPr>
        <p:spPr>
          <a:xfrm>
            <a:off x="7637463" y="1184275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矛盾吗</a:t>
            </a:r>
          </a:p>
        </p:txBody>
      </p:sp>
      <p:sp>
        <p:nvSpPr>
          <p:cNvPr id="543764" name="文本框 543763"/>
          <p:cNvSpPr txBox="1"/>
          <p:nvPr/>
        </p:nvSpPr>
        <p:spPr>
          <a:xfrm>
            <a:off x="1403350" y="115888"/>
            <a:ext cx="4895850" cy="528638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chemeClr val="bg1"/>
              </a:gs>
              <a:gs pos="100000">
                <a:srgbClr val="339933"/>
              </a:gs>
            </a:gsLst>
            <a:lin ang="5400000" scaled="1"/>
            <a:tileRect/>
          </a:gra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zh-CN" altLang="en-US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熵概念的推广</a:t>
            </a: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熵与生命</a:t>
            </a:r>
          </a:p>
        </p:txBody>
      </p:sp>
      <p:sp>
        <p:nvSpPr>
          <p:cNvPr id="543765" name="矩形 543764"/>
          <p:cNvSpPr/>
          <p:nvPr/>
        </p:nvSpPr>
        <p:spPr>
          <a:xfrm>
            <a:off x="7134225" y="1028700"/>
            <a:ext cx="744538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4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4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4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4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4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4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4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4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4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4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54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4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54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6" grpId="0" build="p"/>
      <p:bldP spid="543747" grpId="0" bldLvl="0" animBg="1"/>
      <p:bldP spid="543748" grpId="0"/>
      <p:bldP spid="543750" grpId="0"/>
      <p:bldP spid="543751" grpId="0"/>
      <p:bldP spid="543753" grpId="0"/>
      <p:bldP spid="543754" grpId="0"/>
      <p:bldP spid="543755" grpId="0"/>
      <p:bldP spid="543756" grpId="0"/>
      <p:bldP spid="543757" grpId="0"/>
      <p:bldP spid="543758" grpId="0"/>
      <p:bldP spid="543759" grpId="0"/>
      <p:bldP spid="543760" grpId="0" bldLvl="0" animBg="1"/>
      <p:bldP spid="543762" grpId="0"/>
      <p:bldP spid="54376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2400" b="0" dirty="0">
                <a:ea typeface="宋体" panose="02010600030101010101" pitchFamily="2" charset="-122"/>
              </a:rPr>
              <a:t>68</a:t>
            </a:fld>
            <a:endParaRPr lang="en-US" altLang="en-US" sz="2400" b="0" dirty="0">
              <a:ea typeface="宋体" panose="02010600030101010101" pitchFamily="2" charset="-122"/>
            </a:endParaRPr>
          </a:p>
        </p:txBody>
      </p:sp>
      <p:grpSp>
        <p:nvGrpSpPr>
          <p:cNvPr id="544770" name="组合 544769"/>
          <p:cNvGrpSpPr/>
          <p:nvPr/>
        </p:nvGrpSpPr>
        <p:grpSpPr>
          <a:xfrm>
            <a:off x="685800" y="0"/>
            <a:ext cx="8135938" cy="2276475"/>
            <a:chOff x="431" y="119"/>
            <a:chExt cx="5125" cy="1497"/>
          </a:xfrm>
        </p:grpSpPr>
        <p:sp>
          <p:nvSpPr>
            <p:cNvPr id="133123" name="矩形 544770"/>
            <p:cNvSpPr/>
            <p:nvPr/>
          </p:nvSpPr>
          <p:spPr>
            <a:xfrm>
              <a:off x="431" y="119"/>
              <a:ext cx="5125" cy="1497"/>
            </a:xfrm>
            <a:prstGeom prst="rect">
              <a:avLst/>
            </a:prstGeom>
            <a:gradFill rotWithShape="1">
              <a:gsLst>
                <a:gs pos="0">
                  <a:srgbClr val="FF5050"/>
                </a:gs>
                <a:gs pos="50000">
                  <a:srgbClr val="FFFF00"/>
                </a:gs>
                <a:gs pos="100000">
                  <a:srgbClr val="FF5050"/>
                </a:gs>
              </a:gsLst>
              <a:lin ang="5400000" scaled="1"/>
              <a:tileRect/>
            </a:gradFill>
            <a:ln w="76200" cap="flat" cmpd="tri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44772" name="文本框 544771"/>
            <p:cNvSpPr txBox="1"/>
            <p:nvPr/>
          </p:nvSpPr>
          <p:spPr>
            <a:xfrm>
              <a:off x="1631" y="210"/>
              <a:ext cx="3744" cy="6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‘</a:t>
              </a:r>
              <a:r>
                <a:rPr kumimoji="0" lang="zh-CN" altLang="en-US" sz="28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生命之所以免于死亡，其主要原因就在于他能不断地获得负熵’。</a:t>
              </a:r>
            </a:p>
          </p:txBody>
        </p:sp>
        <p:sp>
          <p:nvSpPr>
            <p:cNvPr id="544773" name="文本框 544772"/>
            <p:cNvSpPr txBox="1"/>
            <p:nvPr/>
          </p:nvSpPr>
          <p:spPr>
            <a:xfrm>
              <a:off x="3649" y="845"/>
              <a:ext cx="1227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</a:t>
              </a:r>
              <a:r>
                <a:rPr kumimoji="0" lang="zh-CN" altLang="en-US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薛定谔</a:t>
              </a:r>
              <a:r>
                <a:rPr kumimoji="0" lang="en-US" altLang="zh-CN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</a:t>
              </a:r>
            </a:p>
          </p:txBody>
        </p:sp>
        <p:pic>
          <p:nvPicPr>
            <p:cNvPr id="133126" name="图片 544773" descr="WLXU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" y="173"/>
              <a:ext cx="894" cy="1369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28575" cap="flat" cmpd="sng">
              <a:solidFill>
                <a:srgbClr val="CC66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544775" name="文本框 544774"/>
          <p:cNvSpPr txBox="1"/>
          <p:nvPr/>
        </p:nvSpPr>
        <p:spPr>
          <a:xfrm>
            <a:off x="2627313" y="1554163"/>
            <a:ext cx="4968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生命赖负熵而存在！</a:t>
            </a:r>
          </a:p>
        </p:txBody>
      </p:sp>
      <p:grpSp>
        <p:nvGrpSpPr>
          <p:cNvPr id="544776" name="组合 544775"/>
          <p:cNvGrpSpPr/>
          <p:nvPr/>
        </p:nvGrpSpPr>
        <p:grpSpPr>
          <a:xfrm>
            <a:off x="5651500" y="3865563"/>
            <a:ext cx="3213100" cy="2992437"/>
            <a:chOff x="3840" y="1440"/>
            <a:chExt cx="1776" cy="2112"/>
          </a:xfrm>
        </p:grpSpPr>
        <p:sp>
          <p:nvSpPr>
            <p:cNvPr id="133129" name="矩形 544776"/>
            <p:cNvSpPr/>
            <p:nvPr/>
          </p:nvSpPr>
          <p:spPr>
            <a:xfrm>
              <a:off x="3840" y="1440"/>
              <a:ext cx="1776" cy="211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33130" name="椭圆 544777"/>
            <p:cNvSpPr/>
            <p:nvPr/>
          </p:nvSpPr>
          <p:spPr>
            <a:xfrm rot="-3241304">
              <a:off x="4296" y="1704"/>
              <a:ext cx="912" cy="1440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44779" name="文本框 544778"/>
            <p:cNvSpPr txBox="1"/>
            <p:nvPr/>
          </p:nvSpPr>
          <p:spPr>
            <a:xfrm>
              <a:off x="4560" y="2419"/>
              <a:ext cx="863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en-US" altLang="zh-CN" sz="2400" i="1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2400" kern="1200" cap="none" spc="0" normalizeH="0" baseline="-2500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240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&gt;0</a:t>
              </a:r>
              <a:endParaRPr kumimoji="0" lang="en-US" altLang="zh-CN" sz="2400" b="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4780" name="文本框 544779"/>
            <p:cNvSpPr txBox="1"/>
            <p:nvPr/>
          </p:nvSpPr>
          <p:spPr>
            <a:xfrm>
              <a:off x="4272" y="2207"/>
              <a:ext cx="960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开放系统</a:t>
              </a:r>
            </a:p>
          </p:txBody>
        </p:sp>
        <p:sp>
          <p:nvSpPr>
            <p:cNvPr id="544781" name="文本框 544780"/>
            <p:cNvSpPr txBox="1"/>
            <p:nvPr/>
          </p:nvSpPr>
          <p:spPr>
            <a:xfrm>
              <a:off x="4464" y="3120"/>
              <a:ext cx="76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环 境</a:t>
              </a:r>
              <a:endParaRPr kumimoji="0" lang="zh-CN" altLang="en-US" sz="2400" b="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44782" name="直接连接符 544781"/>
          <p:cNvSpPr/>
          <p:nvPr/>
        </p:nvSpPr>
        <p:spPr>
          <a:xfrm flipH="1">
            <a:off x="7207250" y="4256088"/>
            <a:ext cx="381000" cy="685800"/>
          </a:xfrm>
          <a:prstGeom prst="line">
            <a:avLst/>
          </a:prstGeom>
          <a:ln w="5715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4783" name="文本框 544782"/>
          <p:cNvSpPr txBox="1"/>
          <p:nvPr/>
        </p:nvSpPr>
        <p:spPr>
          <a:xfrm>
            <a:off x="7542213" y="4292600"/>
            <a:ext cx="99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i="1" kern="1200" cap="none" spc="0" normalizeH="0" baseline="-25000" noProof="1">
                <a:solidFill>
                  <a:srgbClr val="99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 </a:t>
            </a:r>
            <a:r>
              <a:rPr kumimoji="0" lang="en-US" altLang="zh-CN" sz="2400" i="1" kern="1200" cap="none" spc="0" normalizeH="0" baseline="0" noProof="1">
                <a:solidFill>
                  <a:srgbClr val="99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endParaRPr kumimoji="0" lang="en-US" altLang="zh-CN" sz="2400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4784" name="文本框 544783"/>
          <p:cNvSpPr txBox="1"/>
          <p:nvPr/>
        </p:nvSpPr>
        <p:spPr>
          <a:xfrm>
            <a:off x="395288" y="2276475"/>
            <a:ext cx="23764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如：动物进食</a:t>
            </a:r>
          </a:p>
        </p:txBody>
      </p:sp>
      <p:sp>
        <p:nvSpPr>
          <p:cNvPr id="544785" name="文本框 544784"/>
          <p:cNvSpPr txBox="1"/>
          <p:nvPr/>
        </p:nvSpPr>
        <p:spPr>
          <a:xfrm>
            <a:off x="395288" y="2708275"/>
            <a:ext cx="58086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食物：有序度较高（低熵）的大分子物质</a:t>
            </a:r>
          </a:p>
        </p:txBody>
      </p:sp>
      <p:sp>
        <p:nvSpPr>
          <p:cNvPr id="544786" name="文本框 544785"/>
          <p:cNvSpPr txBox="1"/>
          <p:nvPr/>
        </p:nvSpPr>
        <p:spPr>
          <a:xfrm>
            <a:off x="395288" y="3187700"/>
            <a:ext cx="6121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排泄物：有序度较低（高熵）的小分子物质</a:t>
            </a:r>
          </a:p>
        </p:txBody>
      </p:sp>
      <p:sp>
        <p:nvSpPr>
          <p:cNvPr id="544787" name="右大括号 544786"/>
          <p:cNvSpPr/>
          <p:nvPr/>
        </p:nvSpPr>
        <p:spPr>
          <a:xfrm>
            <a:off x="6443663" y="2636838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44788" name="文本框 544787"/>
          <p:cNvSpPr txBox="1"/>
          <p:nvPr/>
        </p:nvSpPr>
        <p:spPr>
          <a:xfrm>
            <a:off x="6784975" y="2852738"/>
            <a:ext cx="14589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获得负熵</a:t>
            </a:r>
          </a:p>
        </p:txBody>
      </p:sp>
      <p:sp>
        <p:nvSpPr>
          <p:cNvPr id="544789" name="文本框 544788"/>
          <p:cNvSpPr txBox="1"/>
          <p:nvPr/>
        </p:nvSpPr>
        <p:spPr>
          <a:xfrm>
            <a:off x="250825" y="3725863"/>
            <a:ext cx="25908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感冒</a:t>
            </a:r>
          </a:p>
        </p:txBody>
      </p:sp>
      <p:sp>
        <p:nvSpPr>
          <p:cNvPr id="544790" name="文本框 544789"/>
          <p:cNvSpPr txBox="1"/>
          <p:nvPr/>
        </p:nvSpPr>
        <p:spPr>
          <a:xfrm>
            <a:off x="1323975" y="3725863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中医说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791" name="文本框 544790"/>
          <p:cNvSpPr txBox="1"/>
          <p:nvPr/>
        </p:nvSpPr>
        <p:spPr>
          <a:xfrm>
            <a:off x="2484438" y="3725863"/>
            <a:ext cx="3140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内有虚火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外感风寒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544792" name="文本框 544791"/>
          <p:cNvSpPr txBox="1"/>
          <p:nvPr/>
        </p:nvSpPr>
        <p:spPr>
          <a:xfrm>
            <a:off x="1354138" y="4195763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西医说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793" name="文本框 544792"/>
          <p:cNvSpPr txBox="1"/>
          <p:nvPr/>
        </p:nvSpPr>
        <p:spPr>
          <a:xfrm>
            <a:off x="2484438" y="4195763"/>
            <a:ext cx="20955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上呼吸道感染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544794" name="文本框 544793"/>
          <p:cNvSpPr txBox="1"/>
          <p:nvPr/>
        </p:nvSpPr>
        <p:spPr>
          <a:xfrm>
            <a:off x="1373188" y="4700588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795" name="矩形 544794"/>
          <p:cNvSpPr/>
          <p:nvPr/>
        </p:nvSpPr>
        <p:spPr>
          <a:xfrm>
            <a:off x="2484438" y="4700588"/>
            <a:ext cx="14827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积熵过多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544796" name="文本框 544795"/>
          <p:cNvSpPr txBox="1"/>
          <p:nvPr/>
        </p:nvSpPr>
        <p:spPr>
          <a:xfrm>
            <a:off x="228600" y="5214938"/>
            <a:ext cx="21494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如何治疗呢</a:t>
            </a:r>
            <a:r>
              <a:rPr kumimoji="0" lang="en-US" altLang="zh-CN" sz="28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?</a:t>
            </a:r>
          </a:p>
        </p:txBody>
      </p:sp>
      <p:sp>
        <p:nvSpPr>
          <p:cNvPr id="544797" name="文本框 544796"/>
          <p:cNvSpPr txBox="1"/>
          <p:nvPr/>
        </p:nvSpPr>
        <p:spPr>
          <a:xfrm>
            <a:off x="2435225" y="5300663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中医说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798" name="文本框 544797"/>
          <p:cNvSpPr txBox="1"/>
          <p:nvPr/>
        </p:nvSpPr>
        <p:spPr>
          <a:xfrm>
            <a:off x="2435225" y="5834063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西医说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799" name="文本框 544798"/>
          <p:cNvSpPr txBox="1"/>
          <p:nvPr/>
        </p:nvSpPr>
        <p:spPr>
          <a:xfrm>
            <a:off x="2435225" y="6367463"/>
            <a:ext cx="12033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物理说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544800" name="文本框 544799"/>
          <p:cNvSpPr txBox="1"/>
          <p:nvPr/>
        </p:nvSpPr>
        <p:spPr>
          <a:xfrm>
            <a:off x="3924300" y="5300663"/>
            <a:ext cx="14827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清热解毒</a:t>
            </a:r>
            <a:r>
              <a:rPr kumimoji="0" lang="en-US" altLang="zh-CN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544801" name="文本框 544800"/>
          <p:cNvSpPr txBox="1"/>
          <p:nvPr/>
        </p:nvSpPr>
        <p:spPr>
          <a:xfrm>
            <a:off x="3941763" y="5834063"/>
            <a:ext cx="14065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抗菌消炎</a:t>
            </a:r>
          </a:p>
        </p:txBody>
      </p:sp>
      <p:sp>
        <p:nvSpPr>
          <p:cNvPr id="544802" name="矩形 544801"/>
          <p:cNvSpPr/>
          <p:nvPr/>
        </p:nvSpPr>
        <p:spPr>
          <a:xfrm>
            <a:off x="3946525" y="6367463"/>
            <a:ext cx="14827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消除积熵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4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44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4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4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4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4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4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4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4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4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54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4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54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54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54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54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544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54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54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54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5" grpId="0"/>
      <p:bldP spid="544783" grpId="0"/>
      <p:bldP spid="544784" grpId="0"/>
      <p:bldP spid="544785" grpId="0"/>
      <p:bldP spid="544786" grpId="0"/>
      <p:bldP spid="544788" grpId="0"/>
      <p:bldP spid="544789" grpId="0"/>
      <p:bldP spid="544790" grpId="0"/>
      <p:bldP spid="544791" grpId="0"/>
      <p:bldP spid="544792" grpId="0"/>
      <p:bldP spid="544793" grpId="0"/>
      <p:bldP spid="544794" grpId="0"/>
      <p:bldP spid="544795" grpId="0"/>
      <p:bldP spid="544796" grpId="0"/>
      <p:bldP spid="544797" grpId="0"/>
      <p:bldP spid="544798" grpId="0"/>
      <p:bldP spid="544799" grpId="0"/>
      <p:bldP spid="544800" grpId="0"/>
      <p:bldP spid="544801" grpId="0"/>
      <p:bldP spid="54480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145" name="直接连接符 10"/>
          <p:cNvCxnSpPr/>
          <p:nvPr/>
        </p:nvCxnSpPr>
        <p:spPr>
          <a:xfrm>
            <a:off x="468313" y="938213"/>
            <a:ext cx="8405812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615950" y="1389063"/>
            <a:ext cx="8255000" cy="11985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    1948</a:t>
            </a:r>
            <a:r>
              <a:rPr lang="zh-CN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年，香农发表的</a:t>
            </a:r>
            <a:r>
              <a:rPr lang="en-US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“</a:t>
            </a:r>
            <a:r>
              <a:rPr lang="zh-CN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通信的数学理论</a:t>
            </a:r>
            <a:r>
              <a:rPr lang="en-US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”</a:t>
            </a:r>
            <a:r>
              <a:rPr lang="zh-CN" altLang="zh-CN" sz="2400" dirty="0">
                <a:latin typeface="宋体" panose="02010600030101010101" pitchFamily="2" charset="-122"/>
                <a:ea typeface="楷体_GB2312" panose="02010609030101010101" pitchFamily="49" charset="-122"/>
              </a:rPr>
              <a:t>指出，任何信息都存在冗余，冗余大小与信息中每个符号的出现概率有关。</a:t>
            </a:r>
            <a:endParaRPr lang="zh-CN" altLang="en-US" sz="2400" dirty="0">
              <a:latin typeface="宋体" panose="02010600030101010101" pitchFamily="2" charset="-122"/>
              <a:ea typeface="楷体_GB2312" panose="0201060903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325" y="2728913"/>
            <a:ext cx="825500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香农借鉴了热力学的概念，引入了</a:t>
            </a: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“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信息熵</a:t>
            </a: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”</a:t>
            </a:r>
            <a:r>
              <a:rPr lang="zh-CN" altLang="en-US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的概念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9125" y="3511550"/>
            <a:ext cx="8251825" cy="1754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在一个系统中，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有序程度越高，所含的信息量就越大，则熵就越小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；反之，无序程度越高，信息量就越小，而熵就越大。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43764" name="文本框 543763"/>
          <p:cNvSpPr txBox="1"/>
          <p:nvPr/>
        </p:nvSpPr>
        <p:spPr>
          <a:xfrm>
            <a:off x="2124075" y="333375"/>
            <a:ext cx="4895850" cy="522288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chemeClr val="bg1"/>
              </a:gs>
              <a:gs pos="100000">
                <a:srgbClr val="339933"/>
              </a:gs>
            </a:gsLst>
            <a:lin ang="5400000" scaled="1"/>
            <a:tileRect/>
          </a:gra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zh-CN" altLang="en-US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熵概念的推广</a:t>
            </a: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熵与</a:t>
            </a:r>
            <a:r>
              <a:rPr kumimoji="0" lang="zh-CN" altLang="en-US" sz="2800" kern="1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信息</a:t>
            </a:r>
            <a:endParaRPr kumimoji="0" lang="zh-CN" altLang="en-US" sz="28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950" y="5273675"/>
            <a:ext cx="8135938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熵是系统的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无序度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、不定度的一种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度量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熵的消除就意味着有序度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信息的产生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信息与熵是互补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的。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03238" y="812800"/>
            <a:ext cx="78501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信息不是物质，也不是能量，它是系统的一个新的属性，即有序化程度或无序化程度，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6263" y="2230438"/>
            <a:ext cx="7848600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信息代表了对熵的负贡献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，熵的减少意味系统有序度增加，按照信息就是负熵的说法，那么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知识是信息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，因而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知识是负熵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6263" y="4160838"/>
            <a:ext cx="7993062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占有知识（信息）多，则熵较小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，所以，为了减少对世界认识的不确定性或无知，我们要尽可能多地积累知识和获取信息。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193" name="直接连接符 10"/>
          <p:cNvCxnSpPr/>
          <p:nvPr/>
        </p:nvCxnSpPr>
        <p:spPr>
          <a:xfrm>
            <a:off x="468313" y="908050"/>
            <a:ext cx="8405812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647700" y="1090613"/>
            <a:ext cx="8116888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自然界中所有的实际过程都是不可逆的，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熵增使能</a:t>
            </a:r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“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质</a:t>
            </a:r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”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衰退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，使越来越多能量转化为内能，弥散于环境中，导致自然环境的无序程度增加。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9763" y="2844800"/>
            <a:ext cx="8126412" cy="2306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例如：在</a:t>
            </a:r>
            <a:r>
              <a:rPr lang="zh-CN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制铁的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生产过程中，输入高熵的原料（铁矿石），低熵的能源（焦炭、水等），经</a:t>
            </a:r>
            <a:r>
              <a:rPr lang="zh-CN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高温熔化铁矿石，根据还原反应生产出纯铁（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低熵产品</a:t>
            </a:r>
            <a:r>
              <a:rPr lang="zh-CN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），同时向环境排放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高熵的废物和废热。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43764" name="文本框 543763"/>
          <p:cNvSpPr txBox="1"/>
          <p:nvPr/>
        </p:nvSpPr>
        <p:spPr>
          <a:xfrm>
            <a:off x="2124075" y="333375"/>
            <a:ext cx="4895850" cy="522288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chemeClr val="bg1"/>
              </a:gs>
              <a:gs pos="100000">
                <a:srgbClr val="339933"/>
              </a:gs>
            </a:gsLst>
            <a:lin ang="5400000" scaled="1"/>
            <a:tileRect/>
          </a:gra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zh-CN" altLang="en-US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熵概念的推广</a:t>
            </a:r>
            <a:r>
              <a:rPr kumimoji="0" lang="en-US" altLang="zh-CN" sz="2800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熵与</a:t>
            </a:r>
            <a:r>
              <a:rPr kumimoji="0" lang="zh-CN" altLang="en-US" sz="2800" kern="1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环境</a:t>
            </a:r>
            <a:endParaRPr kumimoji="0" lang="zh-CN" altLang="en-US" sz="2800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7700" y="5237163"/>
            <a:ext cx="7920038" cy="12017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各种运输工具和机械，各种车辆在大街上扬尘土，吐毒雾，嘈杂扰人心，这是一个熵增过程。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58813" y="712788"/>
            <a:ext cx="8118475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经济的高速发展，人类需求的产品，在耗尽巨量资源和能源的条件下，其数量迅猛增加，导致熵也在迅猛增长。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7938" y="2057400"/>
            <a:ext cx="6372225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物理学使我们认识到低熵发展的重要性！</a:t>
            </a:r>
          </a:p>
        </p:txBody>
      </p:sp>
      <p:sp>
        <p:nvSpPr>
          <p:cNvPr id="5" name="矩形 4"/>
          <p:cNvSpPr/>
          <p:nvPr/>
        </p:nvSpPr>
        <p:spPr>
          <a:xfrm>
            <a:off x="688975" y="2940050"/>
            <a:ext cx="8001000" cy="1668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物理学以及一切自然科学技术应以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人与自然的和谐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为目标，是保护人与自然和谐的力量，人类需要树立正确的自然观，才能实现人类的持续发展。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073" name="直接连接符 10"/>
          <p:cNvCxnSpPr/>
          <p:nvPr/>
        </p:nvCxnSpPr>
        <p:spPr>
          <a:xfrm>
            <a:off x="395288" y="765175"/>
            <a:ext cx="8405812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692150" y="1104900"/>
            <a:ext cx="7812088" cy="1112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根据卡诺定理，可逆热机的效率最高，而不可逆热机的效率不大于可逆热机的效率。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150" y="2387600"/>
            <a:ext cx="7812088" cy="166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可逆过程是一个</a:t>
            </a:r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“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平衡态</a:t>
            </a:r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”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过程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，在这样一个过程中，系统的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熵达到最大值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，是不变的，即可逆过程的熵增为零</a:t>
            </a:r>
            <a:r>
              <a:rPr lang="zh-CN" altLang="en-US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2150" y="4032250"/>
            <a:ext cx="7812088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所以提高热机的效率，就要尽可能使得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热机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的循环过程接近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可逆循环过程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，也就是</a:t>
            </a:r>
            <a:r>
              <a:rPr lang="zh-CN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楷体_GB2312" panose="02010609030101010101" pitchFamily="49" charset="-122"/>
              </a:rPr>
              <a:t>工作在熵不变的过程</a:t>
            </a:r>
            <a:r>
              <a:rPr lang="zh-CN" altLang="zh-CN" sz="2400" dirty="0">
                <a:latin typeface="等线" panose="02010600030101010101" pitchFamily="2" charset="-122"/>
                <a:ea typeface="楷体_GB2312" panose="02010609030101010101" pitchFamily="49" charset="-122"/>
              </a:rPr>
              <a:t>中。</a:t>
            </a:r>
            <a:endParaRPr lang="zh-CN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1675" y="5232400"/>
            <a:ext cx="7802563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实际过程都是不可逆的</a:t>
            </a:r>
            <a:r>
              <a:rPr lang="zh-CN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，即熵增加的，这样的过程中，热机的效率都不大于熵不变过程的效率。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43764" name="文本框 543763"/>
          <p:cNvSpPr txBox="1"/>
          <p:nvPr/>
        </p:nvSpPr>
        <p:spPr>
          <a:xfrm>
            <a:off x="1403350" y="115888"/>
            <a:ext cx="5567363" cy="522288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chemeClr val="bg1"/>
              </a:gs>
              <a:gs pos="100000">
                <a:srgbClr val="339933"/>
              </a:gs>
            </a:gsLst>
            <a:lin ang="5400000" scaled="1"/>
            <a:tileRect/>
          </a:gra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熵概念的推广</a:t>
            </a:r>
            <a:r>
              <a:rPr kumimoji="0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----</a:t>
            </a: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熵与热机效率</a:t>
            </a:r>
          </a:p>
        </p:txBody>
      </p:sp>
    </p:spTree>
    <p:extLst>
      <p:ext uri="{BB962C8B-B14F-4D97-AF65-F5344CB8AC3E}">
        <p14:creationId xmlns:p14="http://schemas.microsoft.com/office/powerpoint/2010/main" val="29057057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74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870402" name="Text Box 2"/>
          <p:cNvSpPr txBox="1">
            <a:spLocks noChangeArrowheads="1"/>
          </p:cNvSpPr>
          <p:nvPr/>
        </p:nvSpPr>
        <p:spPr bwMode="auto">
          <a:xfrm>
            <a:off x="533400" y="260350"/>
            <a:ext cx="822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 </a:t>
            </a:r>
            <a:r>
              <a:rPr kumimoji="1" lang="zh-CN" altLang="en-US" sz="3200" i="1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下列四个假想的循环过程，哪个可行？</a:t>
            </a:r>
          </a:p>
        </p:txBody>
      </p:sp>
      <p:grpSp>
        <p:nvGrpSpPr>
          <p:cNvPr id="71684" name="Group 3"/>
          <p:cNvGrpSpPr/>
          <p:nvPr/>
        </p:nvGrpSpPr>
        <p:grpSpPr>
          <a:xfrm>
            <a:off x="609600" y="981075"/>
            <a:ext cx="3581400" cy="2859088"/>
            <a:chOff x="384" y="864"/>
            <a:chExt cx="2256" cy="1801"/>
          </a:xfrm>
        </p:grpSpPr>
        <p:sp>
          <p:nvSpPr>
            <p:cNvPr id="71733" name="Line 4"/>
            <p:cNvSpPr/>
            <p:nvPr/>
          </p:nvSpPr>
          <p:spPr>
            <a:xfrm>
              <a:off x="768" y="2255"/>
              <a:ext cx="158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34" name="Line 5"/>
            <p:cNvSpPr/>
            <p:nvPr/>
          </p:nvSpPr>
          <p:spPr>
            <a:xfrm flipV="1">
              <a:off x="768" y="954"/>
              <a:ext cx="0" cy="1301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06" name="Text Box 6"/>
            <p:cNvSpPr txBox="1">
              <a:spLocks noChangeArrowheads="1"/>
            </p:cNvSpPr>
            <p:nvPr/>
          </p:nvSpPr>
          <p:spPr bwMode="auto">
            <a:xfrm>
              <a:off x="38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07" name="Text Box 7"/>
            <p:cNvSpPr txBox="1">
              <a:spLocks noChangeArrowheads="1"/>
            </p:cNvSpPr>
            <p:nvPr/>
          </p:nvSpPr>
          <p:spPr bwMode="auto">
            <a:xfrm>
              <a:off x="2160" y="230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1737" name="Group 8"/>
            <p:cNvGrpSpPr/>
            <p:nvPr/>
          </p:nvGrpSpPr>
          <p:grpSpPr>
            <a:xfrm>
              <a:off x="1056" y="1043"/>
              <a:ext cx="864" cy="987"/>
              <a:chOff x="1104" y="1248"/>
              <a:chExt cx="864" cy="1056"/>
            </a:xfrm>
          </p:grpSpPr>
          <p:sp>
            <p:nvSpPr>
              <p:cNvPr id="71744" name="Freeform 9"/>
              <p:cNvSpPr/>
              <p:nvPr/>
            </p:nvSpPr>
            <p:spPr>
              <a:xfrm>
                <a:off x="1104" y="1248"/>
                <a:ext cx="864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336"/>
                  </a:cxn>
                  <a:cxn ang="0">
                    <a:pos x="864" y="528"/>
                  </a:cxn>
                </a:cxnLst>
                <a:rect l="0" t="0" r="0" b="0"/>
                <a:pathLst>
                  <a:path w="864" h="528">
                    <a:moveTo>
                      <a:pt x="0" y="0"/>
                    </a:moveTo>
                    <a:cubicBezTo>
                      <a:pt x="120" y="124"/>
                      <a:pt x="240" y="248"/>
                      <a:pt x="384" y="336"/>
                    </a:cubicBezTo>
                    <a:cubicBezTo>
                      <a:pt x="528" y="424"/>
                      <a:pt x="696" y="476"/>
                      <a:pt x="864" y="528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45" name="Line 10"/>
              <p:cNvSpPr/>
              <p:nvPr/>
            </p:nvSpPr>
            <p:spPr>
              <a:xfrm>
                <a:off x="1968" y="1776"/>
                <a:ext cx="0" cy="52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46" name="Freeform 11"/>
              <p:cNvSpPr/>
              <p:nvPr/>
            </p:nvSpPr>
            <p:spPr>
              <a:xfrm>
                <a:off x="1104" y="1248"/>
                <a:ext cx="864" cy="10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720"/>
                  </a:cxn>
                  <a:cxn ang="0">
                    <a:pos x="864" y="1056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38" name="Line 12"/>
            <p:cNvSpPr/>
            <p:nvPr/>
          </p:nvSpPr>
          <p:spPr>
            <a:xfrm>
              <a:off x="1440" y="1357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39" name="Line 13"/>
            <p:cNvSpPr/>
            <p:nvPr/>
          </p:nvSpPr>
          <p:spPr>
            <a:xfrm>
              <a:off x="1920" y="1672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40" name="Line 14"/>
            <p:cNvSpPr/>
            <p:nvPr/>
          </p:nvSpPr>
          <p:spPr>
            <a:xfrm flipH="1" flipV="1">
              <a:off x="1440" y="1716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15" name="Text Box 15"/>
            <p:cNvSpPr txBox="1">
              <a:spLocks noChangeArrowheads="1"/>
            </p:cNvSpPr>
            <p:nvPr/>
          </p:nvSpPr>
          <p:spPr bwMode="auto">
            <a:xfrm>
              <a:off x="1344" y="999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6" name="Text Box 16"/>
            <p:cNvSpPr txBox="1">
              <a:spLocks noChangeArrowheads="1"/>
            </p:cNvSpPr>
            <p:nvPr/>
          </p:nvSpPr>
          <p:spPr bwMode="auto">
            <a:xfrm>
              <a:off x="912" y="1627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7" name="Text Box 17"/>
            <p:cNvSpPr txBox="1">
              <a:spLocks noChangeArrowheads="1"/>
            </p:cNvSpPr>
            <p:nvPr/>
          </p:nvSpPr>
          <p:spPr bwMode="auto">
            <a:xfrm>
              <a:off x="2112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71685" name="Group 18"/>
          <p:cNvGrpSpPr/>
          <p:nvPr/>
        </p:nvGrpSpPr>
        <p:grpSpPr>
          <a:xfrm>
            <a:off x="4800600" y="981075"/>
            <a:ext cx="3429000" cy="2208213"/>
            <a:chOff x="3024" y="864"/>
            <a:chExt cx="2160" cy="1391"/>
          </a:xfrm>
        </p:grpSpPr>
        <p:sp>
          <p:nvSpPr>
            <p:cNvPr id="71720" name="Line 19"/>
            <p:cNvSpPr/>
            <p:nvPr/>
          </p:nvSpPr>
          <p:spPr>
            <a:xfrm>
              <a:off x="3408" y="225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21" name="Line 20"/>
            <p:cNvSpPr/>
            <p:nvPr/>
          </p:nvSpPr>
          <p:spPr>
            <a:xfrm flipV="1">
              <a:off x="3408" y="954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21" name="Text Box 21"/>
            <p:cNvSpPr txBox="1">
              <a:spLocks noChangeArrowheads="1"/>
            </p:cNvSpPr>
            <p:nvPr/>
          </p:nvSpPr>
          <p:spPr bwMode="auto">
            <a:xfrm>
              <a:off x="302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rgbClr val="00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grpSp>
          <p:nvGrpSpPr>
            <p:cNvPr id="71723" name="Group 22"/>
            <p:cNvGrpSpPr/>
            <p:nvPr/>
          </p:nvGrpSpPr>
          <p:grpSpPr>
            <a:xfrm>
              <a:off x="3696" y="1178"/>
              <a:ext cx="1056" cy="808"/>
              <a:chOff x="3744" y="1296"/>
              <a:chExt cx="1056" cy="864"/>
            </a:xfrm>
          </p:grpSpPr>
          <p:sp>
            <p:nvSpPr>
              <p:cNvPr id="71730" name="Line 23"/>
              <p:cNvSpPr/>
              <p:nvPr/>
            </p:nvSpPr>
            <p:spPr>
              <a:xfrm>
                <a:off x="3744" y="1296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31" name="Freeform 24"/>
              <p:cNvSpPr/>
              <p:nvPr/>
            </p:nvSpPr>
            <p:spPr>
              <a:xfrm>
                <a:off x="4272" y="1296"/>
                <a:ext cx="528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2" y="668"/>
                  </a:cxn>
                  <a:cxn ang="0">
                    <a:pos x="726" y="972"/>
                  </a:cxn>
                </a:cxnLst>
                <a:rect l="0" t="0" r="0" b="0"/>
                <a:pathLst>
                  <a:path w="384" h="768">
                    <a:moveTo>
                      <a:pt x="0" y="0"/>
                    </a:moveTo>
                    <a:cubicBezTo>
                      <a:pt x="40" y="200"/>
                      <a:pt x="80" y="400"/>
                      <a:pt x="144" y="528"/>
                    </a:cubicBezTo>
                    <a:cubicBezTo>
                      <a:pt x="208" y="656"/>
                      <a:pt x="296" y="712"/>
                      <a:pt x="384" y="768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2" name="Freeform 25"/>
              <p:cNvSpPr/>
              <p:nvPr/>
            </p:nvSpPr>
            <p:spPr>
              <a:xfrm>
                <a:off x="3744" y="1296"/>
                <a:ext cx="1056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" y="192"/>
                  </a:cxn>
                  <a:cxn ang="0">
                    <a:pos x="192" y="480"/>
                  </a:cxn>
                  <a:cxn ang="0">
                    <a:pos x="624" y="768"/>
                  </a:cxn>
                  <a:cxn ang="0">
                    <a:pos x="1056" y="864"/>
                  </a:cxn>
                </a:cxnLst>
                <a:rect l="0" t="0" r="0" b="0"/>
                <a:pathLst>
                  <a:path w="1056" h="864">
                    <a:moveTo>
                      <a:pt x="0" y="0"/>
                    </a:moveTo>
                    <a:cubicBezTo>
                      <a:pt x="8" y="56"/>
                      <a:pt x="16" y="112"/>
                      <a:pt x="48" y="192"/>
                    </a:cubicBezTo>
                    <a:cubicBezTo>
                      <a:pt x="80" y="272"/>
                      <a:pt x="96" y="384"/>
                      <a:pt x="192" y="480"/>
                    </a:cubicBezTo>
                    <a:cubicBezTo>
                      <a:pt x="288" y="576"/>
                      <a:pt x="480" y="704"/>
                      <a:pt x="624" y="768"/>
                    </a:cubicBezTo>
                    <a:cubicBezTo>
                      <a:pt x="768" y="832"/>
                      <a:pt x="912" y="848"/>
                      <a:pt x="1056" y="864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24" name="Line 26"/>
            <p:cNvSpPr/>
            <p:nvPr/>
          </p:nvSpPr>
          <p:spPr>
            <a:xfrm>
              <a:off x="3840" y="1178"/>
              <a:ext cx="192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25" name="Line 27"/>
            <p:cNvSpPr/>
            <p:nvPr/>
          </p:nvSpPr>
          <p:spPr>
            <a:xfrm>
              <a:off x="4320" y="1447"/>
              <a:ext cx="96" cy="269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26" name="Line 28"/>
            <p:cNvSpPr/>
            <p:nvPr/>
          </p:nvSpPr>
          <p:spPr>
            <a:xfrm flipH="1" flipV="1">
              <a:off x="3936" y="1672"/>
              <a:ext cx="192" cy="13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29" name="Text Box 29"/>
            <p:cNvSpPr txBox="1">
              <a:spLocks noChangeArrowheads="1"/>
            </p:cNvSpPr>
            <p:nvPr/>
          </p:nvSpPr>
          <p:spPr bwMode="auto">
            <a:xfrm>
              <a:off x="4416" y="135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0" name="Text Box 30"/>
            <p:cNvSpPr txBox="1">
              <a:spLocks noChangeArrowheads="1"/>
            </p:cNvSpPr>
            <p:nvPr/>
          </p:nvSpPr>
          <p:spPr bwMode="auto">
            <a:xfrm>
              <a:off x="3600" y="1761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1" name="Text Box 31"/>
            <p:cNvSpPr txBox="1">
              <a:spLocks noChangeArrowheads="1"/>
            </p:cNvSpPr>
            <p:nvPr/>
          </p:nvSpPr>
          <p:spPr bwMode="auto">
            <a:xfrm>
              <a:off x="4848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grpSp>
        <p:nvGrpSpPr>
          <p:cNvPr id="71686" name="Group 32"/>
          <p:cNvGrpSpPr/>
          <p:nvPr/>
        </p:nvGrpSpPr>
        <p:grpSpPr>
          <a:xfrm>
            <a:off x="609600" y="3403600"/>
            <a:ext cx="3962400" cy="2573338"/>
            <a:chOff x="384" y="2390"/>
            <a:chExt cx="2496" cy="1621"/>
          </a:xfrm>
        </p:grpSpPr>
        <p:sp>
          <p:nvSpPr>
            <p:cNvPr id="71706" name="Line 33"/>
            <p:cNvSpPr/>
            <p:nvPr/>
          </p:nvSpPr>
          <p:spPr>
            <a:xfrm>
              <a:off x="768" y="3780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07" name="Line 34"/>
            <p:cNvSpPr/>
            <p:nvPr/>
          </p:nvSpPr>
          <p:spPr>
            <a:xfrm flipV="1">
              <a:off x="768" y="2479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35" name="Text Box 35"/>
            <p:cNvSpPr txBox="1">
              <a:spLocks noChangeArrowheads="1"/>
            </p:cNvSpPr>
            <p:nvPr/>
          </p:nvSpPr>
          <p:spPr bwMode="auto">
            <a:xfrm>
              <a:off x="384" y="239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6" name="Text Box 36"/>
            <p:cNvSpPr txBox="1">
              <a:spLocks noChangeArrowheads="1"/>
            </p:cNvSpPr>
            <p:nvPr/>
          </p:nvSpPr>
          <p:spPr bwMode="auto">
            <a:xfrm>
              <a:off x="2400" y="3646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rgbClr val="00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grpSp>
          <p:nvGrpSpPr>
            <p:cNvPr id="71710" name="Group 37"/>
            <p:cNvGrpSpPr/>
            <p:nvPr/>
          </p:nvGrpSpPr>
          <p:grpSpPr>
            <a:xfrm>
              <a:off x="1104" y="2524"/>
              <a:ext cx="1056" cy="1124"/>
              <a:chOff x="1008" y="2592"/>
              <a:chExt cx="1200" cy="1202"/>
            </a:xfrm>
          </p:grpSpPr>
          <p:sp>
            <p:nvSpPr>
              <p:cNvPr id="71717" name="Line 38"/>
              <p:cNvSpPr/>
              <p:nvPr/>
            </p:nvSpPr>
            <p:spPr>
              <a:xfrm flipH="1">
                <a:off x="1008" y="2736"/>
                <a:ext cx="0" cy="57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718" name="Freeform 39"/>
              <p:cNvSpPr/>
              <p:nvPr/>
            </p:nvSpPr>
            <p:spPr>
              <a:xfrm rot="4541250" flipH="1">
                <a:off x="958" y="2743"/>
                <a:ext cx="1202" cy="8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3" y="503"/>
                  </a:cxn>
                  <a:cxn ang="0">
                    <a:pos x="1672" y="738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Freeform 40"/>
              <p:cNvSpPr/>
              <p:nvPr/>
            </p:nvSpPr>
            <p:spPr>
              <a:xfrm>
                <a:off x="1008" y="3312"/>
                <a:ext cx="1200" cy="3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8" y="288"/>
                  </a:cxn>
                  <a:cxn ang="0">
                    <a:pos x="1200" y="384"/>
                  </a:cxn>
                </a:cxnLst>
                <a:rect l="0" t="0" r="0" b="0"/>
                <a:pathLst>
                  <a:path w="1200" h="384">
                    <a:moveTo>
                      <a:pt x="0" y="0"/>
                    </a:moveTo>
                    <a:cubicBezTo>
                      <a:pt x="164" y="112"/>
                      <a:pt x="328" y="224"/>
                      <a:pt x="528" y="288"/>
                    </a:cubicBezTo>
                    <a:cubicBezTo>
                      <a:pt x="728" y="352"/>
                      <a:pt x="1088" y="368"/>
                      <a:pt x="1200" y="384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11" name="Line 41"/>
            <p:cNvSpPr/>
            <p:nvPr/>
          </p:nvSpPr>
          <p:spPr>
            <a:xfrm flipV="1">
              <a:off x="1104" y="2838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12" name="Line 42"/>
            <p:cNvSpPr/>
            <p:nvPr/>
          </p:nvSpPr>
          <p:spPr>
            <a:xfrm>
              <a:off x="1392" y="3107"/>
              <a:ext cx="144" cy="13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13" name="Line 43"/>
            <p:cNvSpPr/>
            <p:nvPr/>
          </p:nvSpPr>
          <p:spPr>
            <a:xfrm flipH="1" flipV="1">
              <a:off x="1392" y="3376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44" name="Text Box 44"/>
            <p:cNvSpPr txBox="1">
              <a:spLocks noChangeArrowheads="1"/>
            </p:cNvSpPr>
            <p:nvPr/>
          </p:nvSpPr>
          <p:spPr bwMode="auto">
            <a:xfrm>
              <a:off x="912" y="333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5" name="Text Box 45"/>
            <p:cNvSpPr txBox="1">
              <a:spLocks noChangeArrowheads="1"/>
            </p:cNvSpPr>
            <p:nvPr/>
          </p:nvSpPr>
          <p:spPr bwMode="auto">
            <a:xfrm>
              <a:off x="1440" y="283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6" name="Text Box 46"/>
            <p:cNvSpPr txBox="1">
              <a:spLocks noChangeArrowheads="1"/>
            </p:cNvSpPr>
            <p:nvPr/>
          </p:nvSpPr>
          <p:spPr bwMode="auto">
            <a:xfrm>
              <a:off x="2208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71687" name="Group 47"/>
          <p:cNvGrpSpPr/>
          <p:nvPr/>
        </p:nvGrpSpPr>
        <p:grpSpPr>
          <a:xfrm>
            <a:off x="4800600" y="3189288"/>
            <a:ext cx="4114800" cy="2859087"/>
            <a:chOff x="3024" y="2255"/>
            <a:chExt cx="2592" cy="1801"/>
          </a:xfrm>
        </p:grpSpPr>
        <p:sp>
          <p:nvSpPr>
            <p:cNvPr id="71690" name="Line 48"/>
            <p:cNvSpPr/>
            <p:nvPr/>
          </p:nvSpPr>
          <p:spPr>
            <a:xfrm>
              <a:off x="3408" y="373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691" name="Line 49"/>
            <p:cNvSpPr/>
            <p:nvPr/>
          </p:nvSpPr>
          <p:spPr>
            <a:xfrm flipV="1">
              <a:off x="3408" y="2435"/>
              <a:ext cx="0" cy="130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50" name="Text Box 50"/>
            <p:cNvSpPr txBox="1">
              <a:spLocks noChangeArrowheads="1"/>
            </p:cNvSpPr>
            <p:nvPr/>
          </p:nvSpPr>
          <p:spPr bwMode="auto">
            <a:xfrm>
              <a:off x="3024" y="234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rgbClr val="00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870451" name="Text Box 51"/>
            <p:cNvSpPr txBox="1">
              <a:spLocks noChangeArrowheads="1"/>
            </p:cNvSpPr>
            <p:nvPr/>
          </p:nvSpPr>
          <p:spPr bwMode="auto">
            <a:xfrm>
              <a:off x="4992" y="225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52" name="Text Box 52"/>
            <p:cNvSpPr txBox="1">
              <a:spLocks noChangeArrowheads="1"/>
            </p:cNvSpPr>
            <p:nvPr/>
          </p:nvSpPr>
          <p:spPr bwMode="auto">
            <a:xfrm>
              <a:off x="5136" y="3691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rgbClr val="0033C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grpSp>
          <p:nvGrpSpPr>
            <p:cNvPr id="71695" name="Group 53"/>
            <p:cNvGrpSpPr/>
            <p:nvPr/>
          </p:nvGrpSpPr>
          <p:grpSpPr>
            <a:xfrm>
              <a:off x="3648" y="2659"/>
              <a:ext cx="1200" cy="807"/>
              <a:chOff x="3744" y="2832"/>
              <a:chExt cx="864" cy="816"/>
            </a:xfrm>
          </p:grpSpPr>
          <p:sp>
            <p:nvSpPr>
              <p:cNvPr id="71703" name="Freeform 54"/>
              <p:cNvSpPr/>
              <p:nvPr/>
            </p:nvSpPr>
            <p:spPr>
              <a:xfrm>
                <a:off x="3744" y="2832"/>
                <a:ext cx="528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192"/>
                  </a:cxn>
                  <a:cxn ang="0">
                    <a:pos x="528" y="240"/>
                  </a:cxn>
                </a:cxnLst>
                <a:rect l="0" t="0" r="0" b="0"/>
                <a:pathLst>
                  <a:path w="528" h="240">
                    <a:moveTo>
                      <a:pt x="0" y="0"/>
                    </a:moveTo>
                    <a:cubicBezTo>
                      <a:pt x="76" y="76"/>
                      <a:pt x="152" y="152"/>
                      <a:pt x="240" y="192"/>
                    </a:cubicBezTo>
                    <a:cubicBezTo>
                      <a:pt x="328" y="232"/>
                      <a:pt x="428" y="236"/>
                      <a:pt x="528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4" name="Freeform 55"/>
              <p:cNvSpPr/>
              <p:nvPr/>
            </p:nvSpPr>
            <p:spPr>
              <a:xfrm>
                <a:off x="4272" y="3072"/>
                <a:ext cx="336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36" y="576"/>
                  </a:cxn>
                </a:cxnLst>
                <a:rect l="0" t="0" r="0" b="0"/>
                <a:pathLst>
                  <a:path w="336" h="576">
                    <a:moveTo>
                      <a:pt x="0" y="0"/>
                    </a:moveTo>
                    <a:cubicBezTo>
                      <a:pt x="20" y="120"/>
                      <a:pt x="40" y="240"/>
                      <a:pt x="96" y="336"/>
                    </a:cubicBezTo>
                    <a:cubicBezTo>
                      <a:pt x="152" y="432"/>
                      <a:pt x="244" y="504"/>
                      <a:pt x="336" y="57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Freeform 56"/>
              <p:cNvSpPr/>
              <p:nvPr/>
            </p:nvSpPr>
            <p:spPr>
              <a:xfrm>
                <a:off x="3744" y="2832"/>
                <a:ext cx="86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624"/>
                  </a:cxn>
                  <a:cxn ang="0">
                    <a:pos x="864" y="816"/>
                  </a:cxn>
                </a:cxnLst>
                <a:rect l="0" t="0" r="0" b="0"/>
                <a:pathLst>
                  <a:path w="864" h="816">
                    <a:moveTo>
                      <a:pt x="0" y="0"/>
                    </a:moveTo>
                    <a:cubicBezTo>
                      <a:pt x="120" y="244"/>
                      <a:pt x="240" y="488"/>
                      <a:pt x="384" y="624"/>
                    </a:cubicBezTo>
                    <a:cubicBezTo>
                      <a:pt x="528" y="760"/>
                      <a:pt x="696" y="788"/>
                      <a:pt x="864" y="81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696" name="Line 57"/>
            <p:cNvSpPr/>
            <p:nvPr/>
          </p:nvSpPr>
          <p:spPr>
            <a:xfrm>
              <a:off x="3936" y="2838"/>
              <a:ext cx="192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697" name="Line 58"/>
            <p:cNvSpPr/>
            <p:nvPr/>
          </p:nvSpPr>
          <p:spPr>
            <a:xfrm>
              <a:off x="4416" y="3107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698" name="Line 59"/>
            <p:cNvSpPr/>
            <p:nvPr/>
          </p:nvSpPr>
          <p:spPr>
            <a:xfrm flipH="1" flipV="1">
              <a:off x="4128" y="3242"/>
              <a:ext cx="144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460" name="Text Box 60"/>
            <p:cNvSpPr txBox="1">
              <a:spLocks noChangeArrowheads="1"/>
            </p:cNvSpPr>
            <p:nvPr/>
          </p:nvSpPr>
          <p:spPr bwMode="auto">
            <a:xfrm>
              <a:off x="3552" y="315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1" name="Text Box 61"/>
            <p:cNvSpPr txBox="1">
              <a:spLocks noChangeArrowheads="1"/>
            </p:cNvSpPr>
            <p:nvPr/>
          </p:nvSpPr>
          <p:spPr bwMode="auto">
            <a:xfrm>
              <a:off x="4560" y="2883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2" name="Text Box 62"/>
            <p:cNvSpPr txBox="1">
              <a:spLocks noChangeArrowheads="1"/>
            </p:cNvSpPr>
            <p:nvPr/>
          </p:nvSpPr>
          <p:spPr bwMode="auto">
            <a:xfrm>
              <a:off x="3792" y="2524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3" name="Text Box 63"/>
            <p:cNvSpPr txBox="1">
              <a:spLocks noChangeArrowheads="1"/>
            </p:cNvSpPr>
            <p:nvPr/>
          </p:nvSpPr>
          <p:spPr bwMode="auto">
            <a:xfrm>
              <a:off x="4944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sp>
        <p:nvSpPr>
          <p:cNvPr id="870464" name="Text Box 64"/>
          <p:cNvSpPr txBox="1">
            <a:spLocks noChangeArrowheads="1"/>
          </p:cNvSpPr>
          <p:nvPr/>
        </p:nvSpPr>
        <p:spPr bwMode="auto">
          <a:xfrm>
            <a:off x="5435600" y="5873750"/>
            <a:ext cx="1498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答案：</a:t>
            </a:r>
            <a:endParaRPr kumimoji="1" lang="zh-CN" altLang="en-US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65" name="Text Box 65"/>
          <p:cNvSpPr txBox="1">
            <a:spLocks noChangeArrowheads="1"/>
          </p:cNvSpPr>
          <p:nvPr/>
        </p:nvSpPr>
        <p:spPr bwMode="auto">
          <a:xfrm>
            <a:off x="6858000" y="5873750"/>
            <a:ext cx="60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75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871426" name="Text Box 2"/>
          <p:cNvSpPr txBox="1">
            <a:spLocks noChangeArrowheads="1"/>
          </p:cNvSpPr>
          <p:nvPr/>
        </p:nvSpPr>
        <p:spPr bwMode="auto">
          <a:xfrm>
            <a:off x="323850" y="0"/>
            <a:ext cx="7848600" cy="2333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③  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一定量的理想气体，由平衡状态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变到平衡状态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kern="1200" cap="none" spc="0" normalizeH="0" baseline="-2500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=P</a:t>
            </a:r>
            <a:r>
              <a:rPr kumimoji="1" lang="en-US" altLang="zh-CN" sz="2800" kern="1200" cap="none" spc="0" normalizeH="0" baseline="-2500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），则无论经历的是什么过程，系统必然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    A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）对外作功              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）内能增加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）从外界吸热          </a:t>
            </a:r>
            <a:r>
              <a:rPr kumimoji="1" lang="en-US" altLang="zh-CN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）向外界放热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5535613" y="3851275"/>
            <a:ext cx="2209800" cy="152400"/>
            <a:chOff x="3487" y="2426"/>
            <a:chExt cx="1392" cy="96"/>
          </a:xfrm>
        </p:grpSpPr>
        <p:sp>
          <p:nvSpPr>
            <p:cNvPr id="72747" name="Oval 4"/>
            <p:cNvSpPr/>
            <p:nvPr/>
          </p:nvSpPr>
          <p:spPr>
            <a:xfrm>
              <a:off x="4015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72748" name="Oval 5"/>
            <p:cNvSpPr/>
            <p:nvPr/>
          </p:nvSpPr>
          <p:spPr>
            <a:xfrm>
              <a:off x="4783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72749" name="Line 6"/>
            <p:cNvSpPr/>
            <p:nvPr/>
          </p:nvSpPr>
          <p:spPr>
            <a:xfrm>
              <a:off x="3487" y="2474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4849813" y="2479675"/>
            <a:ext cx="3983037" cy="2865438"/>
            <a:chOff x="3055" y="1562"/>
            <a:chExt cx="2509" cy="1805"/>
          </a:xfrm>
        </p:grpSpPr>
        <p:sp>
          <p:nvSpPr>
            <p:cNvPr id="72741" name="Line 8"/>
            <p:cNvSpPr/>
            <p:nvPr/>
          </p:nvSpPr>
          <p:spPr>
            <a:xfrm flipV="1">
              <a:off x="3487" y="1706"/>
              <a:ext cx="0" cy="15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42" name="Line 9"/>
            <p:cNvSpPr/>
            <p:nvPr/>
          </p:nvSpPr>
          <p:spPr>
            <a:xfrm>
              <a:off x="3487" y="3242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1434" name="Rectangle 10"/>
            <p:cNvSpPr>
              <a:spLocks noChangeArrowheads="1"/>
            </p:cNvSpPr>
            <p:nvPr/>
          </p:nvSpPr>
          <p:spPr bwMode="auto">
            <a:xfrm>
              <a:off x="3055" y="1562"/>
              <a:ext cx="2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871435" name="Rectangle 11"/>
            <p:cNvSpPr>
              <a:spLocks noChangeArrowheads="1"/>
            </p:cNvSpPr>
            <p:nvPr/>
          </p:nvSpPr>
          <p:spPr bwMode="auto">
            <a:xfrm>
              <a:off x="5263" y="3002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871436" name="Rectangle 12"/>
            <p:cNvSpPr>
              <a:spLocks noChangeArrowheads="1"/>
            </p:cNvSpPr>
            <p:nvPr/>
          </p:nvSpPr>
          <p:spPr bwMode="auto">
            <a:xfrm>
              <a:off x="3871" y="1994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871437" name="Rectangle 13"/>
            <p:cNvSpPr>
              <a:spLocks noChangeArrowheads="1"/>
            </p:cNvSpPr>
            <p:nvPr/>
          </p:nvSpPr>
          <p:spPr bwMode="auto">
            <a:xfrm>
              <a:off x="4687" y="1994"/>
              <a:ext cx="287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sp>
        <p:nvSpPr>
          <p:cNvPr id="871438" name="AutoShape 14"/>
          <p:cNvSpPr/>
          <p:nvPr/>
        </p:nvSpPr>
        <p:spPr>
          <a:xfrm rot="10800000">
            <a:off x="7164388" y="1270000"/>
            <a:ext cx="609600" cy="217488"/>
          </a:xfrm>
          <a:prstGeom prst="rightArrow">
            <a:avLst>
              <a:gd name="adj1" fmla="val 50000"/>
              <a:gd name="adj2" fmla="val 69969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6069013" y="3013075"/>
            <a:ext cx="3074987" cy="1951038"/>
            <a:chOff x="3552" y="1920"/>
            <a:chExt cx="1937" cy="1229"/>
          </a:xfrm>
        </p:grpSpPr>
        <p:sp>
          <p:nvSpPr>
            <p:cNvPr id="72737" name="Freeform 16"/>
            <p:cNvSpPr/>
            <p:nvPr/>
          </p:nvSpPr>
          <p:spPr>
            <a:xfrm>
              <a:off x="3552" y="2112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8" name="Freeform 17"/>
            <p:cNvSpPr/>
            <p:nvPr/>
          </p:nvSpPr>
          <p:spPr>
            <a:xfrm>
              <a:off x="4032" y="1920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442" name="Text Box 18"/>
            <p:cNvSpPr txBox="1">
              <a:spLocks noChangeArrowheads="1"/>
            </p:cNvSpPr>
            <p:nvPr/>
          </p:nvSpPr>
          <p:spPr bwMode="auto">
            <a:xfrm>
              <a:off x="4512" y="2784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低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43" name="Text Box 19"/>
            <p:cNvSpPr txBox="1">
              <a:spLocks noChangeArrowheads="1"/>
            </p:cNvSpPr>
            <p:nvPr/>
          </p:nvSpPr>
          <p:spPr bwMode="auto">
            <a:xfrm>
              <a:off x="4944" y="2352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高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395288" y="4076700"/>
            <a:ext cx="4251325" cy="2805113"/>
            <a:chOff x="249" y="2568"/>
            <a:chExt cx="2678" cy="1767"/>
          </a:xfrm>
        </p:grpSpPr>
        <p:sp>
          <p:nvSpPr>
            <p:cNvPr id="871445" name="Rectangle 21"/>
            <p:cNvSpPr>
              <a:spLocks noChangeArrowheads="1"/>
            </p:cNvSpPr>
            <p:nvPr/>
          </p:nvSpPr>
          <p:spPr bwMode="auto">
            <a:xfrm>
              <a:off x="249" y="256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grpSp>
          <p:nvGrpSpPr>
            <p:cNvPr id="72728" name="Group 22"/>
            <p:cNvGrpSpPr/>
            <p:nvPr/>
          </p:nvGrpSpPr>
          <p:grpSpPr>
            <a:xfrm>
              <a:off x="681" y="2705"/>
              <a:ext cx="2246" cy="1630"/>
              <a:chOff x="681" y="2705"/>
              <a:chExt cx="2246" cy="1630"/>
            </a:xfrm>
          </p:grpSpPr>
          <p:sp>
            <p:nvSpPr>
              <p:cNvPr id="72729" name="Line 23"/>
              <p:cNvSpPr/>
              <p:nvPr/>
            </p:nvSpPr>
            <p:spPr>
              <a:xfrm flipV="1">
                <a:off x="681" y="2705"/>
                <a:ext cx="0" cy="15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30" name="Line 24"/>
              <p:cNvSpPr/>
              <p:nvPr/>
            </p:nvSpPr>
            <p:spPr>
              <a:xfrm>
                <a:off x="681" y="4266"/>
                <a:ext cx="19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71449" name="Rectangle 25"/>
              <p:cNvSpPr>
                <a:spLocks noChangeArrowheads="1"/>
              </p:cNvSpPr>
              <p:nvPr/>
            </p:nvSpPr>
            <p:spPr bwMode="auto">
              <a:xfrm>
                <a:off x="2649" y="4008"/>
                <a:ext cx="27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</a:p>
            </p:txBody>
          </p:sp>
          <p:sp>
            <p:nvSpPr>
              <p:cNvPr id="72732" name="Oval 26"/>
              <p:cNvSpPr/>
              <p:nvPr/>
            </p:nvSpPr>
            <p:spPr>
              <a:xfrm>
                <a:off x="1209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72733" name="Oval 27"/>
              <p:cNvSpPr/>
              <p:nvPr/>
            </p:nvSpPr>
            <p:spPr>
              <a:xfrm>
                <a:off x="1977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63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72734" name="Line 28"/>
              <p:cNvSpPr/>
              <p:nvPr/>
            </p:nvSpPr>
            <p:spPr>
              <a:xfrm>
                <a:off x="681" y="3450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headEnd type="none" w="med" len="med"/>
                <a:tailEnd type="none" w="med" len="med"/>
              </a:ln>
            </p:spPr>
          </p:sp>
          <p:sp>
            <p:nvSpPr>
              <p:cNvPr id="871453" name="Rectangle 29"/>
              <p:cNvSpPr>
                <a:spLocks noChangeArrowheads="1"/>
              </p:cNvSpPr>
              <p:nvPr/>
            </p:nvSpPr>
            <p:spPr bwMode="auto">
              <a:xfrm>
                <a:off x="1065" y="3048"/>
                <a:ext cx="278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871454" name="Rectangle 30"/>
              <p:cNvSpPr>
                <a:spLocks noChangeArrowheads="1"/>
              </p:cNvSpPr>
              <p:nvPr/>
            </p:nvSpPr>
            <p:spPr bwMode="auto">
              <a:xfrm>
                <a:off x="2025" y="3096"/>
                <a:ext cx="265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</p:grpSp>
      <p:grpSp>
        <p:nvGrpSpPr>
          <p:cNvPr id="7" name="Group 31"/>
          <p:cNvGrpSpPr/>
          <p:nvPr/>
        </p:nvGrpSpPr>
        <p:grpSpPr>
          <a:xfrm>
            <a:off x="1995488" y="4333875"/>
            <a:ext cx="2057400" cy="2209800"/>
            <a:chOff x="1257" y="2730"/>
            <a:chExt cx="1296" cy="1392"/>
          </a:xfrm>
        </p:grpSpPr>
        <p:grpSp>
          <p:nvGrpSpPr>
            <p:cNvPr id="72716" name="Group 32"/>
            <p:cNvGrpSpPr/>
            <p:nvPr/>
          </p:nvGrpSpPr>
          <p:grpSpPr>
            <a:xfrm>
              <a:off x="1257" y="2730"/>
              <a:ext cx="1296" cy="1392"/>
              <a:chOff x="1257" y="2730"/>
              <a:chExt cx="1296" cy="1392"/>
            </a:xfrm>
          </p:grpSpPr>
          <p:sp>
            <p:nvSpPr>
              <p:cNvPr id="72718" name="Line 33"/>
              <p:cNvSpPr/>
              <p:nvPr/>
            </p:nvSpPr>
            <p:spPr>
              <a:xfrm>
                <a:off x="1257" y="3450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19" name="Line 34"/>
              <p:cNvSpPr/>
              <p:nvPr/>
            </p:nvSpPr>
            <p:spPr>
              <a:xfrm>
                <a:off x="1257" y="4122"/>
                <a:ext cx="124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0" name="Line 35"/>
              <p:cNvSpPr/>
              <p:nvPr/>
            </p:nvSpPr>
            <p:spPr>
              <a:xfrm>
                <a:off x="2505" y="2730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1" name="Line 36"/>
              <p:cNvSpPr/>
              <p:nvPr/>
            </p:nvSpPr>
            <p:spPr>
              <a:xfrm>
                <a:off x="2025" y="2730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2" name="Line 37"/>
              <p:cNvSpPr/>
              <p:nvPr/>
            </p:nvSpPr>
            <p:spPr>
              <a:xfrm>
                <a:off x="2025" y="2730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3" name="Line 38"/>
              <p:cNvSpPr/>
              <p:nvPr/>
            </p:nvSpPr>
            <p:spPr>
              <a:xfrm>
                <a:off x="1257" y="359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4" name="Line 39"/>
              <p:cNvSpPr/>
              <p:nvPr/>
            </p:nvSpPr>
            <p:spPr>
              <a:xfrm>
                <a:off x="1689" y="4122"/>
                <a:ext cx="28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5" name="Line 40"/>
              <p:cNvSpPr/>
              <p:nvPr/>
            </p:nvSpPr>
            <p:spPr>
              <a:xfrm flipV="1">
                <a:off x="2505" y="335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6" name="Line 41"/>
              <p:cNvSpPr/>
              <p:nvPr/>
            </p:nvSpPr>
            <p:spPr>
              <a:xfrm flipH="1">
                <a:off x="2169" y="2730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72717" name="Line 42"/>
            <p:cNvSpPr/>
            <p:nvPr/>
          </p:nvSpPr>
          <p:spPr>
            <a:xfrm>
              <a:off x="2025" y="2922"/>
              <a:ext cx="0" cy="2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71467" name="Rectangle 43"/>
          <p:cNvSpPr>
            <a:spLocks noChangeArrowheads="1"/>
          </p:cNvSpPr>
          <p:nvPr/>
        </p:nvSpPr>
        <p:spPr bwMode="auto">
          <a:xfrm>
            <a:off x="395288" y="2671763"/>
            <a:ext cx="28035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作功正负的判断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871468" name="Rectangle 44"/>
          <p:cNvSpPr>
            <a:spLocks noChangeArrowheads="1"/>
          </p:cNvSpPr>
          <p:nvPr/>
        </p:nvSpPr>
        <p:spPr bwMode="auto">
          <a:xfrm>
            <a:off x="396875" y="3062288"/>
            <a:ext cx="3041650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作功与过程有关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看是否单方向膨胀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7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6" grpId="0"/>
      <p:bldP spid="871438" grpId="0" animBg="1"/>
      <p:bldP spid="871467" grpId="0"/>
      <p:bldP spid="87146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76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979970" name="Text Box 2"/>
          <p:cNvSpPr txBox="1"/>
          <p:nvPr/>
        </p:nvSpPr>
        <p:spPr>
          <a:xfrm>
            <a:off x="428625" y="3141663"/>
            <a:ext cx="332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可逆过程的条件：</a:t>
            </a:r>
          </a:p>
        </p:txBody>
      </p:sp>
      <p:sp>
        <p:nvSpPr>
          <p:cNvPr id="979972" name="Text Box 4"/>
          <p:cNvSpPr txBox="1">
            <a:spLocks noChangeArrowheads="1"/>
          </p:cNvSpPr>
          <p:nvPr/>
        </p:nvSpPr>
        <p:spPr bwMode="auto">
          <a:xfrm>
            <a:off x="454025" y="260350"/>
            <a:ext cx="50292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④</a:t>
            </a:r>
            <a:r>
              <a:rPr kumimoji="1" lang="en-US" altLang="zh-CN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练习：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判断下列说法的正误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1139825" y="793750"/>
            <a:ext cx="6096000" cy="1966913"/>
            <a:chOff x="720" y="2160"/>
            <a:chExt cx="3840" cy="1239"/>
          </a:xfrm>
        </p:grpSpPr>
        <p:sp>
          <p:nvSpPr>
            <p:cNvPr id="73739" name="Text Box 6"/>
            <p:cNvSpPr txBox="1"/>
            <p:nvPr/>
          </p:nvSpPr>
          <p:spPr>
            <a:xfrm>
              <a:off x="720" y="2160"/>
              <a:ext cx="38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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可逆过程一定是准静态过程</a:t>
              </a:r>
            </a:p>
          </p:txBody>
        </p:sp>
        <p:sp>
          <p:nvSpPr>
            <p:cNvPr id="73740" name="Text Box 7"/>
            <p:cNvSpPr txBox="1"/>
            <p:nvPr/>
          </p:nvSpPr>
          <p:spPr>
            <a:xfrm>
              <a:off x="720" y="2448"/>
              <a:ext cx="3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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准静态过程不一定是可逆过程</a:t>
              </a:r>
            </a:p>
          </p:txBody>
        </p:sp>
        <p:sp>
          <p:nvSpPr>
            <p:cNvPr id="73741" name="Text Box 8"/>
            <p:cNvSpPr txBox="1"/>
            <p:nvPr/>
          </p:nvSpPr>
          <p:spPr>
            <a:xfrm>
              <a:off x="720" y="2736"/>
              <a:ext cx="30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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不可逆过程不一定非静态</a:t>
              </a:r>
            </a:p>
          </p:txBody>
        </p:sp>
        <p:sp>
          <p:nvSpPr>
            <p:cNvPr id="73742" name="Text Box 9"/>
            <p:cNvSpPr txBox="1"/>
            <p:nvPr/>
          </p:nvSpPr>
          <p:spPr>
            <a:xfrm>
              <a:off x="720" y="3072"/>
              <a:ext cx="30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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非静态过程一定不可逆</a:t>
              </a:r>
            </a:p>
          </p:txBody>
        </p:sp>
      </p:grpSp>
      <p:sp>
        <p:nvSpPr>
          <p:cNvPr id="979978" name="Text Box 10"/>
          <p:cNvSpPr txBox="1"/>
          <p:nvPr/>
        </p:nvSpPr>
        <p:spPr>
          <a:xfrm>
            <a:off x="835025" y="7175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79" name="Text Box 11"/>
          <p:cNvSpPr txBox="1"/>
          <p:nvPr/>
        </p:nvSpPr>
        <p:spPr>
          <a:xfrm>
            <a:off x="835025" y="21653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80" name="Text Box 12"/>
          <p:cNvSpPr txBox="1"/>
          <p:nvPr/>
        </p:nvSpPr>
        <p:spPr>
          <a:xfrm>
            <a:off x="835025" y="11747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81" name="Text Box 13"/>
          <p:cNvSpPr txBox="1"/>
          <p:nvPr/>
        </p:nvSpPr>
        <p:spPr>
          <a:xfrm>
            <a:off x="835025" y="16319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82" name="Text Box 14"/>
          <p:cNvSpPr txBox="1"/>
          <p:nvPr/>
        </p:nvSpPr>
        <p:spPr>
          <a:xfrm>
            <a:off x="658813" y="3862388"/>
            <a:ext cx="7620000" cy="955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无摩擦的准静态过程是可逆过程，可在</a:t>
            </a:r>
            <a:r>
              <a:rPr lang="en-US" altLang="en-US" sz="2800" b="1" dirty="0">
                <a:latin typeface="宋体" panose="02010600030101010101" pitchFamily="2" charset="-122"/>
              </a:rPr>
              <a:t>p-V</a:t>
            </a:r>
            <a:r>
              <a:rPr lang="zh-CN" altLang="en-US" sz="2800" b="1" dirty="0">
                <a:latin typeface="宋体" panose="02010600030101010101" pitchFamily="2" charset="-122"/>
              </a:rPr>
              <a:t>图上用曲线表示。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7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7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7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7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7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7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0" grpId="0"/>
      <p:bldP spid="979972" grpId="0"/>
      <p:bldP spid="979978" grpId="0"/>
      <p:bldP spid="979979" grpId="0"/>
      <p:bldP spid="979980" grpId="0"/>
      <p:bldP spid="979981" grpId="0"/>
      <p:bldP spid="97998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77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50626" name="Text Box 2"/>
          <p:cNvSpPr txBox="1"/>
          <p:nvPr/>
        </p:nvSpPr>
        <p:spPr>
          <a:xfrm>
            <a:off x="441325" y="422275"/>
            <a:ext cx="7839075" cy="4108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</a:t>
            </a:r>
            <a:r>
              <a:rPr lang="en-US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⑤</a:t>
            </a:r>
            <a:r>
              <a:rPr lang="en-US" altLang="zh-CN" sz="2400" b="1" dirty="0"/>
              <a:t> .  </a:t>
            </a:r>
            <a:r>
              <a:rPr lang="zh-CN" altLang="en-US" sz="2400" b="1" dirty="0"/>
              <a:t>关于可逆和不可逆过程有以下几种说法：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可逆过程一定是平衡过程。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 平衡过程一定是可逆过程。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不可逆过程一定找不到另一过程使系统和外界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        同时复原。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 非平衡过程一定是不可逆过程。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以上说法，正确的是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(A)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、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(B)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(C)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(D)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</p:txBody>
      </p:sp>
      <p:sp>
        <p:nvSpPr>
          <p:cNvPr id="1050627" name="Text Box 3"/>
          <p:cNvSpPr txBox="1"/>
          <p:nvPr/>
        </p:nvSpPr>
        <p:spPr>
          <a:xfrm>
            <a:off x="2117725" y="53752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答案：（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5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26" grpId="0"/>
      <p:bldP spid="10506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AwMWQ4ZTZkY2M1MGE1NGJkMGQ0ZDYzMzExMmY4M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六章 热力学基础（三）">
  <a:themeElements>
    <a:clrScheme name="第六章 热力学基础（三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六章 热力学基础（三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476</TotalTime>
  <Words>5630</Words>
  <Application>Microsoft Office PowerPoint</Application>
  <PresentationFormat>全屏显示(4:3)</PresentationFormat>
  <Paragraphs>1006</Paragraphs>
  <Slides>77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77</vt:i4>
      </vt:variant>
    </vt:vector>
  </HeadingPairs>
  <TitlesOfParts>
    <vt:vector size="97" baseType="lpstr">
      <vt:lpstr>Monotype Sorts</vt:lpstr>
      <vt:lpstr>等线</vt:lpstr>
      <vt:lpstr>仿宋_GB2312</vt:lpstr>
      <vt:lpstr>黑体</vt:lpstr>
      <vt:lpstr>华文楷体</vt:lpstr>
      <vt:lpstr>华文新魏</vt:lpstr>
      <vt:lpstr>楷体_GB2312</vt:lpstr>
      <vt:lpstr>隶书</vt:lpstr>
      <vt:lpstr>宋体</vt:lpstr>
      <vt:lpstr>幼圆</vt:lpstr>
      <vt:lpstr>Arial</vt:lpstr>
      <vt:lpstr>Bookman Old Style</vt:lpstr>
      <vt:lpstr>Symbol</vt:lpstr>
      <vt:lpstr>Times New Roman</vt:lpstr>
      <vt:lpstr>Wingdings</vt:lpstr>
      <vt:lpstr>第六章 热力学基础（三）</vt:lpstr>
      <vt:lpstr>Microsoft Equation 3.0</vt:lpstr>
      <vt:lpstr>MathType 6.0 Equation</vt:lpstr>
      <vt:lpstr>Equation</vt:lpstr>
      <vt:lpstr>Photoshop.Image.6</vt:lpstr>
      <vt:lpstr>PowerPoint 演示文稿</vt:lpstr>
      <vt:lpstr>热力学第二定律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901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742</cp:revision>
  <dcterms:created xsi:type="dcterms:W3CDTF">2007-08-02T09:30:00Z</dcterms:created>
  <dcterms:modified xsi:type="dcterms:W3CDTF">2024-11-08T04:50:38Z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80A847580BC443F1B865C567ADC477DE_13</vt:lpwstr>
  </property>
</Properties>
</file>