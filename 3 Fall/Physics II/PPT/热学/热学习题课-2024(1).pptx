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367" r:id="rId2"/>
    <p:sldId id="525" r:id="rId3"/>
    <p:sldId id="526" r:id="rId4"/>
    <p:sldId id="527" r:id="rId5"/>
    <p:sldId id="372" r:id="rId6"/>
    <p:sldId id="373" r:id="rId7"/>
    <p:sldId id="380" r:id="rId8"/>
    <p:sldId id="374" r:id="rId9"/>
    <p:sldId id="375" r:id="rId10"/>
    <p:sldId id="381" r:id="rId11"/>
    <p:sldId id="376" r:id="rId12"/>
    <p:sldId id="430" r:id="rId13"/>
    <p:sldId id="418" r:id="rId14"/>
    <p:sldId id="727" r:id="rId15"/>
    <p:sldId id="818" r:id="rId16"/>
    <p:sldId id="842" r:id="rId17"/>
    <p:sldId id="564" r:id="rId18"/>
    <p:sldId id="468" r:id="rId19"/>
    <p:sldId id="262" r:id="rId20"/>
    <p:sldId id="263" r:id="rId21"/>
    <p:sldId id="590" r:id="rId22"/>
    <p:sldId id="566" r:id="rId23"/>
    <p:sldId id="272" r:id="rId24"/>
    <p:sldId id="273" r:id="rId25"/>
    <p:sldId id="284" r:id="rId26"/>
    <p:sldId id="424" r:id="rId27"/>
    <p:sldId id="425" r:id="rId28"/>
    <p:sldId id="275" r:id="rId29"/>
    <p:sldId id="408" r:id="rId30"/>
    <p:sldId id="409" r:id="rId31"/>
    <p:sldId id="410" r:id="rId32"/>
    <p:sldId id="411" r:id="rId33"/>
    <p:sldId id="562" r:id="rId34"/>
    <p:sldId id="563" r:id="rId35"/>
    <p:sldId id="473" r:id="rId36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99"/>
    <a:srgbClr val="CCECFF"/>
    <a:srgbClr val="5F5F5F"/>
    <a:srgbClr val="FFFFCC"/>
    <a:srgbClr val="006600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1"/>
    <p:restoredTop sz="94691"/>
  </p:normalViewPr>
  <p:slideViewPr>
    <p:cSldViewPr showGuides="1">
      <p:cViewPr varScale="1">
        <p:scale>
          <a:sx n="108" d="100"/>
          <a:sy n="108" d="100"/>
        </p:scale>
        <p:origin x="1920" y="96"/>
      </p:cViewPr>
      <p:guideLst>
        <p:guide orient="horz" pos="206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3.wmf"/><Relationship Id="rId18" Type="http://schemas.openxmlformats.org/officeDocument/2006/relationships/image" Target="../media/image48.wmf"/><Relationship Id="rId26" Type="http://schemas.openxmlformats.org/officeDocument/2006/relationships/image" Target="../media/image56.wmf"/><Relationship Id="rId3" Type="http://schemas.openxmlformats.org/officeDocument/2006/relationships/image" Target="../media/image33.wmf"/><Relationship Id="rId21" Type="http://schemas.openxmlformats.org/officeDocument/2006/relationships/image" Target="../media/image51.wmf"/><Relationship Id="rId7" Type="http://schemas.openxmlformats.org/officeDocument/2006/relationships/image" Target="../media/image37.wmf"/><Relationship Id="rId12" Type="http://schemas.openxmlformats.org/officeDocument/2006/relationships/image" Target="../media/image42.wmf"/><Relationship Id="rId17" Type="http://schemas.openxmlformats.org/officeDocument/2006/relationships/image" Target="../media/image47.wmf"/><Relationship Id="rId25" Type="http://schemas.openxmlformats.org/officeDocument/2006/relationships/image" Target="../media/image55.wmf"/><Relationship Id="rId2" Type="http://schemas.openxmlformats.org/officeDocument/2006/relationships/image" Target="../media/image32.wmf"/><Relationship Id="rId16" Type="http://schemas.openxmlformats.org/officeDocument/2006/relationships/image" Target="../media/image46.wmf"/><Relationship Id="rId20" Type="http://schemas.openxmlformats.org/officeDocument/2006/relationships/image" Target="../media/image50.wmf"/><Relationship Id="rId29" Type="http://schemas.openxmlformats.org/officeDocument/2006/relationships/image" Target="../media/image59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24" Type="http://schemas.openxmlformats.org/officeDocument/2006/relationships/image" Target="../media/image54.wmf"/><Relationship Id="rId5" Type="http://schemas.openxmlformats.org/officeDocument/2006/relationships/image" Target="../media/image35.wmf"/><Relationship Id="rId15" Type="http://schemas.openxmlformats.org/officeDocument/2006/relationships/image" Target="../media/image45.wmf"/><Relationship Id="rId23" Type="http://schemas.openxmlformats.org/officeDocument/2006/relationships/image" Target="../media/image53.wmf"/><Relationship Id="rId28" Type="http://schemas.openxmlformats.org/officeDocument/2006/relationships/image" Target="../media/image58.wmf"/><Relationship Id="rId10" Type="http://schemas.openxmlformats.org/officeDocument/2006/relationships/image" Target="../media/image40.wmf"/><Relationship Id="rId19" Type="http://schemas.openxmlformats.org/officeDocument/2006/relationships/image" Target="../media/image49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Relationship Id="rId14" Type="http://schemas.openxmlformats.org/officeDocument/2006/relationships/image" Target="../media/image44.wmf"/><Relationship Id="rId22" Type="http://schemas.openxmlformats.org/officeDocument/2006/relationships/image" Target="../media/image52.wmf"/><Relationship Id="rId27" Type="http://schemas.openxmlformats.org/officeDocument/2006/relationships/image" Target="../media/image57.wmf"/><Relationship Id="rId30" Type="http://schemas.openxmlformats.org/officeDocument/2006/relationships/image" Target="../media/image6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4" Type="http://schemas.openxmlformats.org/officeDocument/2006/relationships/image" Target="../media/image6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4" Type="http://schemas.openxmlformats.org/officeDocument/2006/relationships/image" Target="../media/image7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10" Type="http://schemas.openxmlformats.org/officeDocument/2006/relationships/image" Target="../media/image80.wmf"/><Relationship Id="rId4" Type="http://schemas.openxmlformats.org/officeDocument/2006/relationships/image" Target="../media/image74.wmf"/><Relationship Id="rId9" Type="http://schemas.openxmlformats.org/officeDocument/2006/relationships/image" Target="../media/image7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wmf"/><Relationship Id="rId1" Type="http://schemas.openxmlformats.org/officeDocument/2006/relationships/image" Target="../media/image81.emf"/><Relationship Id="rId4" Type="http://schemas.openxmlformats.org/officeDocument/2006/relationships/image" Target="../media/image84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image" Target="../media/image85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4" Type="http://schemas.openxmlformats.org/officeDocument/2006/relationships/image" Target="../media/image9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4" Type="http://schemas.openxmlformats.org/officeDocument/2006/relationships/image" Target="../media/image9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e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emf"/><Relationship Id="rId4" Type="http://schemas.openxmlformats.org/officeDocument/2006/relationships/image" Target="../media/image98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7" Type="http://schemas.openxmlformats.org/officeDocument/2006/relationships/image" Target="../media/image100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4" Type="http://schemas.openxmlformats.org/officeDocument/2006/relationships/image" Target="../media/image11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7" Type="http://schemas.openxmlformats.org/officeDocument/2006/relationships/image" Target="../media/image137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image" Target="../media/image140.wmf"/><Relationship Id="rId7" Type="http://schemas.openxmlformats.org/officeDocument/2006/relationships/image" Target="../media/image144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>
                <a:gamma/>
                <a:tint val="0"/>
                <a:invGamma/>
              </a:schemeClr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9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9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10.wmf"/><Relationship Id="rId10" Type="http://schemas.openxmlformats.org/officeDocument/2006/relationships/image" Target="../media/image4.wmf"/><Relationship Id="rId19" Type="http://schemas.openxmlformats.org/officeDocument/2006/relationships/image" Target="../media/image8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7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7.bin"/><Relationship Id="rId18" Type="http://schemas.openxmlformats.org/officeDocument/2006/relationships/oleObject" Target="../embeddings/oleObject40.bin"/><Relationship Id="rId26" Type="http://schemas.openxmlformats.org/officeDocument/2006/relationships/image" Target="../media/image41.wmf"/><Relationship Id="rId39" Type="http://schemas.openxmlformats.org/officeDocument/2006/relationships/oleObject" Target="../embeddings/oleObject51.bin"/><Relationship Id="rId21" Type="http://schemas.openxmlformats.org/officeDocument/2006/relationships/oleObject" Target="../embeddings/oleObject42.bin"/><Relationship Id="rId34" Type="http://schemas.openxmlformats.org/officeDocument/2006/relationships/image" Target="../media/image45.wmf"/><Relationship Id="rId42" Type="http://schemas.openxmlformats.org/officeDocument/2006/relationships/image" Target="../media/image49.wmf"/><Relationship Id="rId47" Type="http://schemas.openxmlformats.org/officeDocument/2006/relationships/oleObject" Target="../embeddings/oleObject55.bin"/><Relationship Id="rId50" Type="http://schemas.openxmlformats.org/officeDocument/2006/relationships/image" Target="../media/image53.wmf"/><Relationship Id="rId55" Type="http://schemas.openxmlformats.org/officeDocument/2006/relationships/oleObject" Target="../embeddings/oleObject59.bin"/><Relationship Id="rId63" Type="http://schemas.openxmlformats.org/officeDocument/2006/relationships/oleObject" Target="../embeddings/oleObject63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.wmf"/><Relationship Id="rId29" Type="http://schemas.openxmlformats.org/officeDocument/2006/relationships/oleObject" Target="../embeddings/oleObject46.bin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40.wmf"/><Relationship Id="rId32" Type="http://schemas.openxmlformats.org/officeDocument/2006/relationships/image" Target="../media/image44.wmf"/><Relationship Id="rId37" Type="http://schemas.openxmlformats.org/officeDocument/2006/relationships/oleObject" Target="../embeddings/oleObject50.bin"/><Relationship Id="rId40" Type="http://schemas.openxmlformats.org/officeDocument/2006/relationships/image" Target="../media/image48.wmf"/><Relationship Id="rId45" Type="http://schemas.openxmlformats.org/officeDocument/2006/relationships/oleObject" Target="../embeddings/oleObject54.bin"/><Relationship Id="rId53" Type="http://schemas.openxmlformats.org/officeDocument/2006/relationships/oleObject" Target="../embeddings/oleObject58.bin"/><Relationship Id="rId58" Type="http://schemas.openxmlformats.org/officeDocument/2006/relationships/image" Target="../media/image57.wmf"/><Relationship Id="rId5" Type="http://schemas.openxmlformats.org/officeDocument/2006/relationships/oleObject" Target="../embeddings/oleObject33.bin"/><Relationship Id="rId61" Type="http://schemas.openxmlformats.org/officeDocument/2006/relationships/oleObject" Target="../embeddings/oleObject62.bin"/><Relationship Id="rId19" Type="http://schemas.openxmlformats.org/officeDocument/2006/relationships/oleObject" Target="../embeddings/oleObject41.bin"/><Relationship Id="rId14" Type="http://schemas.openxmlformats.org/officeDocument/2006/relationships/image" Target="../media/image36.wmf"/><Relationship Id="rId22" Type="http://schemas.openxmlformats.org/officeDocument/2006/relationships/image" Target="../media/image39.wmf"/><Relationship Id="rId27" Type="http://schemas.openxmlformats.org/officeDocument/2006/relationships/oleObject" Target="../embeddings/oleObject45.bin"/><Relationship Id="rId30" Type="http://schemas.openxmlformats.org/officeDocument/2006/relationships/image" Target="../media/image43.wmf"/><Relationship Id="rId35" Type="http://schemas.openxmlformats.org/officeDocument/2006/relationships/oleObject" Target="../embeddings/oleObject49.bin"/><Relationship Id="rId43" Type="http://schemas.openxmlformats.org/officeDocument/2006/relationships/oleObject" Target="../embeddings/oleObject53.bin"/><Relationship Id="rId48" Type="http://schemas.openxmlformats.org/officeDocument/2006/relationships/image" Target="../media/image52.wmf"/><Relationship Id="rId56" Type="http://schemas.openxmlformats.org/officeDocument/2006/relationships/image" Target="../media/image56.wmf"/><Relationship Id="rId64" Type="http://schemas.openxmlformats.org/officeDocument/2006/relationships/image" Target="../media/image60.wmf"/><Relationship Id="rId8" Type="http://schemas.openxmlformats.org/officeDocument/2006/relationships/image" Target="../media/image33.wmf"/><Relationship Id="rId51" Type="http://schemas.openxmlformats.org/officeDocument/2006/relationships/oleObject" Target="../embeddings/oleObject57.bin"/><Relationship Id="rId3" Type="http://schemas.openxmlformats.org/officeDocument/2006/relationships/oleObject" Target="../embeddings/oleObject32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4.bin"/><Relationship Id="rId33" Type="http://schemas.openxmlformats.org/officeDocument/2006/relationships/oleObject" Target="../embeddings/oleObject48.bin"/><Relationship Id="rId38" Type="http://schemas.openxmlformats.org/officeDocument/2006/relationships/image" Target="../media/image47.wmf"/><Relationship Id="rId46" Type="http://schemas.openxmlformats.org/officeDocument/2006/relationships/image" Target="../media/image51.wmf"/><Relationship Id="rId59" Type="http://schemas.openxmlformats.org/officeDocument/2006/relationships/oleObject" Target="../embeddings/oleObject61.bin"/><Relationship Id="rId20" Type="http://schemas.openxmlformats.org/officeDocument/2006/relationships/image" Target="../media/image38.wmf"/><Relationship Id="rId41" Type="http://schemas.openxmlformats.org/officeDocument/2006/relationships/oleObject" Target="../embeddings/oleObject52.bin"/><Relationship Id="rId54" Type="http://schemas.openxmlformats.org/officeDocument/2006/relationships/image" Target="../media/image55.wmf"/><Relationship Id="rId62" Type="http://schemas.openxmlformats.org/officeDocument/2006/relationships/image" Target="../media/image59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wmf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3.bin"/><Relationship Id="rId28" Type="http://schemas.openxmlformats.org/officeDocument/2006/relationships/image" Target="../media/image42.wmf"/><Relationship Id="rId36" Type="http://schemas.openxmlformats.org/officeDocument/2006/relationships/image" Target="../media/image46.wmf"/><Relationship Id="rId49" Type="http://schemas.openxmlformats.org/officeDocument/2006/relationships/oleObject" Target="../embeddings/oleObject56.bin"/><Relationship Id="rId57" Type="http://schemas.openxmlformats.org/officeDocument/2006/relationships/oleObject" Target="../embeddings/oleObject60.bin"/><Relationship Id="rId10" Type="http://schemas.openxmlformats.org/officeDocument/2006/relationships/image" Target="../media/image34.wmf"/><Relationship Id="rId31" Type="http://schemas.openxmlformats.org/officeDocument/2006/relationships/oleObject" Target="../embeddings/oleObject47.bin"/><Relationship Id="rId44" Type="http://schemas.openxmlformats.org/officeDocument/2006/relationships/image" Target="../media/image50.wmf"/><Relationship Id="rId52" Type="http://schemas.openxmlformats.org/officeDocument/2006/relationships/image" Target="../media/image54.wmf"/><Relationship Id="rId60" Type="http://schemas.openxmlformats.org/officeDocument/2006/relationships/image" Target="../media/image58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9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3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8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7.wmf"/><Relationship Id="rId20" Type="http://schemas.openxmlformats.org/officeDocument/2006/relationships/image" Target="../media/image79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71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6.wmf"/><Relationship Id="rId22" Type="http://schemas.openxmlformats.org/officeDocument/2006/relationships/image" Target="../media/image8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84.emf"/><Relationship Id="rId4" Type="http://schemas.openxmlformats.org/officeDocument/2006/relationships/image" Target="../media/image81.emf"/><Relationship Id="rId9" Type="http://schemas.openxmlformats.org/officeDocument/2006/relationships/oleObject" Target="../embeddings/oleObject8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6.e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85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9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97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103.bin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9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6.e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98.e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0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09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0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06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16.bin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10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1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e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18.bin"/><Relationship Id="rId10" Type="http://schemas.openxmlformats.org/officeDocument/2006/relationships/image" Target="../media/image116.e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20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1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27.bin"/><Relationship Id="rId18" Type="http://schemas.openxmlformats.org/officeDocument/2006/relationships/image" Target="../media/image125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4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6.bin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28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2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33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140.bin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3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7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3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47.bin"/><Relationship Id="rId18" Type="http://schemas.openxmlformats.org/officeDocument/2006/relationships/image" Target="../media/image145.w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14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4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10" Type="http://schemas.openxmlformats.org/officeDocument/2006/relationships/image" Target="../media/image141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43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55.bin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38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40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152.w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5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187450" y="1268413"/>
            <a:ext cx="6697663" cy="2400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60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热力学与统计物理</a:t>
            </a:r>
            <a:endParaRPr kumimoji="1" lang="en-US" altLang="zh-CN" sz="6000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R="0" algn="ctr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60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习  题  课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4932363" y="5157788"/>
            <a:ext cx="2735263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</a:t>
            </a:r>
            <a:r>
              <a:rPr kumimoji="1" lang="zh-CN" altLang="en-US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1" lang="en-US" altLang="zh-CN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</a:t>
            </a:r>
            <a:r>
              <a:rPr kumimoji="1" lang="zh-CN" altLang="en-US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1" lang="en-US" altLang="zh-CN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15</a:t>
            </a:r>
            <a:r>
              <a:rPr kumimoji="1" lang="zh-CN" altLang="en-US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/>
          <p:nvPr/>
        </p:nvSpPr>
        <p:spPr>
          <a:xfrm>
            <a:off x="395288" y="2058988"/>
            <a:ext cx="3529012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2</a:t>
            </a:r>
            <a:r>
              <a:rPr lang="zh-CN" altLang="en-US" sz="2200" dirty="0">
                <a:latin typeface="宋体" panose="02010600030101010101" pitchFamily="2" charset="-122"/>
              </a:rPr>
              <a:t>、理想气体压强公式：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539750" y="179388"/>
            <a:ext cx="3890809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一</a:t>
            </a:r>
            <a:r>
              <a:rPr kumimoji="1" lang="zh-CN" altLang="en-US" sz="36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、统计物理基础</a:t>
            </a:r>
          </a:p>
        </p:txBody>
      </p:sp>
      <p:sp>
        <p:nvSpPr>
          <p:cNvPr id="6148" name="Text Box 4"/>
          <p:cNvSpPr txBox="1"/>
          <p:nvPr/>
        </p:nvSpPr>
        <p:spPr>
          <a:xfrm>
            <a:off x="280603" y="2988015"/>
            <a:ext cx="5233987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sz="2200" dirty="0">
                <a:latin typeface="宋体" panose="02010600030101010101" pitchFamily="2" charset="-122"/>
              </a:rPr>
              <a:t>3</a:t>
            </a:r>
            <a:r>
              <a:rPr lang="zh-CN" altLang="en-US" sz="2200" dirty="0">
                <a:latin typeface="宋体" panose="02010600030101010101" pitchFamily="2" charset="-122"/>
              </a:rPr>
              <a:t>、理想气体温度</a:t>
            </a:r>
            <a:r>
              <a:rPr lang="en-US" altLang="zh-CN" sz="2200" dirty="0">
                <a:latin typeface="宋体" panose="02010600030101010101" pitchFamily="2" charset="-122"/>
              </a:rPr>
              <a:t>-</a:t>
            </a:r>
            <a:r>
              <a:rPr lang="zh-CN" altLang="en-US" sz="2200" dirty="0">
                <a:latin typeface="宋体" panose="02010600030101010101" pitchFamily="2" charset="-122"/>
              </a:rPr>
              <a:t>气体分子平均平动动能与温度的关系：</a:t>
            </a:r>
          </a:p>
        </p:txBody>
      </p:sp>
      <p:graphicFrame>
        <p:nvGraphicFramePr>
          <p:cNvPr id="6149" name="Object 2"/>
          <p:cNvGraphicFramePr/>
          <p:nvPr/>
        </p:nvGraphicFramePr>
        <p:xfrm>
          <a:off x="5178425" y="484822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5" r:id="rId3" imgW="114300" imgH="215265" progId="Equation.3">
                  <p:embed/>
                </p:oleObj>
              </mc:Choice>
              <mc:Fallback>
                <p:oleObj r:id="rId3" imgW="114300" imgH="215265" progId="Equation.3">
                  <p:embed/>
                  <p:pic>
                    <p:nvPicPr>
                      <p:cNvPr id="6149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78425" y="484822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3"/>
          <p:cNvGraphicFramePr/>
          <p:nvPr/>
        </p:nvGraphicFramePr>
        <p:xfrm>
          <a:off x="3779838" y="1776413"/>
          <a:ext cx="297815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6" r:id="rId5" imgW="1180465" imgH="393700" progId="Equation.DSMT4">
                  <p:embed/>
                </p:oleObj>
              </mc:Choice>
              <mc:Fallback>
                <p:oleObj r:id="rId5" imgW="1180465" imgH="393700" progId="Equation.DSMT4">
                  <p:embed/>
                  <p:pic>
                    <p:nvPicPr>
                      <p:cNvPr id="6150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79838" y="1776413"/>
                        <a:ext cx="2978150" cy="992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4"/>
          <p:cNvGraphicFramePr/>
          <p:nvPr/>
        </p:nvGraphicFramePr>
        <p:xfrm>
          <a:off x="5791200" y="2743200"/>
          <a:ext cx="291941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7" r:id="rId7" imgW="1142365" imgH="393700" progId="Equation.DSMT4">
                  <p:embed/>
                </p:oleObj>
              </mc:Choice>
              <mc:Fallback>
                <p:oleObj r:id="rId7" imgW="1142365" imgH="393700" progId="Equation.DSMT4">
                  <p:embed/>
                  <p:pic>
                    <p:nvPicPr>
                      <p:cNvPr id="6151" name="Object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91200" y="2743200"/>
                        <a:ext cx="2919413" cy="1004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5"/>
          <p:cNvGraphicFramePr/>
          <p:nvPr/>
        </p:nvGraphicFramePr>
        <p:xfrm>
          <a:off x="3614738" y="825500"/>
          <a:ext cx="191293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8" r:id="rId9" imgW="812800" imgH="393700" progId="Equation.DSMT4">
                  <p:embed/>
                </p:oleObj>
              </mc:Choice>
              <mc:Fallback>
                <p:oleObj r:id="rId9" imgW="812800" imgH="393700" progId="Equation.DSMT4">
                  <p:embed/>
                  <p:pic>
                    <p:nvPicPr>
                      <p:cNvPr id="6152" name="Object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14738" y="825500"/>
                        <a:ext cx="1912937" cy="92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Text Box 9"/>
          <p:cNvSpPr txBox="1"/>
          <p:nvPr/>
        </p:nvSpPr>
        <p:spPr>
          <a:xfrm>
            <a:off x="395288" y="1008063"/>
            <a:ext cx="3816350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1</a:t>
            </a:r>
            <a:r>
              <a:rPr lang="zh-CN" altLang="en-US" sz="2200" dirty="0">
                <a:latin typeface="宋体" panose="02010600030101010101" pitchFamily="2" charset="-122"/>
              </a:rPr>
              <a:t>、理想气体状态方程：</a:t>
            </a:r>
          </a:p>
        </p:txBody>
      </p:sp>
      <p:sp>
        <p:nvSpPr>
          <p:cNvPr id="6154" name="Text Box 10"/>
          <p:cNvSpPr txBox="1"/>
          <p:nvPr/>
        </p:nvSpPr>
        <p:spPr>
          <a:xfrm>
            <a:off x="439738" y="3859213"/>
            <a:ext cx="4281487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4</a:t>
            </a:r>
            <a:r>
              <a:rPr lang="zh-CN" altLang="en-US" sz="2200" dirty="0">
                <a:latin typeface="宋体" panose="02010600030101010101" pitchFamily="2" charset="-122"/>
              </a:rPr>
              <a:t>、能量均分定理</a:t>
            </a:r>
          </a:p>
        </p:txBody>
      </p:sp>
      <p:graphicFrame>
        <p:nvGraphicFramePr>
          <p:cNvPr id="6155" name="Object 6"/>
          <p:cNvGraphicFramePr/>
          <p:nvPr/>
        </p:nvGraphicFramePr>
        <p:xfrm>
          <a:off x="6051550" y="4343400"/>
          <a:ext cx="7302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9" r:id="rId11" imgW="342900" imgH="393700" progId="Equation.DSMT4">
                  <p:embed/>
                </p:oleObj>
              </mc:Choice>
              <mc:Fallback>
                <p:oleObj r:id="rId11" imgW="342900" imgH="393700" progId="Equation.DSMT4">
                  <p:embed/>
                  <p:pic>
                    <p:nvPicPr>
                      <p:cNvPr id="6155" name="Object 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51550" y="4343400"/>
                        <a:ext cx="73025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Rectangle 14"/>
          <p:cNvSpPr/>
          <p:nvPr/>
        </p:nvSpPr>
        <p:spPr>
          <a:xfrm>
            <a:off x="803275" y="4508500"/>
            <a:ext cx="5241925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平衡态下，分子每个自由度的平均动能为</a:t>
            </a:r>
          </a:p>
        </p:txBody>
      </p:sp>
      <p:graphicFrame>
        <p:nvGraphicFramePr>
          <p:cNvPr id="6159" name="Object 8"/>
          <p:cNvGraphicFramePr/>
          <p:nvPr/>
        </p:nvGraphicFramePr>
        <p:xfrm>
          <a:off x="6430963" y="1008063"/>
          <a:ext cx="14795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0" r:id="rId13" imgW="545465" imgH="203200" progId="Equation.DSMT4">
                  <p:embed/>
                </p:oleObj>
              </mc:Choice>
              <mc:Fallback>
                <p:oleObj r:id="rId13" imgW="545465" imgH="203200" progId="Equation.DSMT4">
                  <p:embed/>
                  <p:pic>
                    <p:nvPicPr>
                      <p:cNvPr id="6159" name="Object 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30963" y="1008063"/>
                        <a:ext cx="1479550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/>
          <p:cNvGraphicFramePr/>
          <p:nvPr/>
        </p:nvGraphicFramePr>
        <p:xfrm>
          <a:off x="5305425" y="497522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1" r:id="rId15" imgW="114300" imgH="215265" progId="Equation.3">
                  <p:embed/>
                </p:oleObj>
              </mc:Choice>
              <mc:Fallback>
                <p:oleObj r:id="rId15" imgW="114300" imgH="215265" progId="Equation.3">
                  <p:embed/>
                  <p:pic>
                    <p:nvPicPr>
                      <p:cNvPr id="2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5425" y="497522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/>
          <p:nvPr/>
        </p:nvGraphicFramePr>
        <p:xfrm>
          <a:off x="4953000" y="5029200"/>
          <a:ext cx="147796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2" r:id="rId16" imgW="622300" imgH="393700" progId="Equation.DSMT4">
                  <p:embed/>
                </p:oleObj>
              </mc:Choice>
              <mc:Fallback>
                <p:oleObj r:id="rId16" imgW="622300" imgH="393700" progId="Equation.DSMT4">
                  <p:embed/>
                  <p:pic>
                    <p:nvPicPr>
                      <p:cNvPr id="3" name="Object 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53000" y="5029200"/>
                        <a:ext cx="1477963" cy="935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3"/>
          <p:cNvSpPr/>
          <p:nvPr/>
        </p:nvSpPr>
        <p:spPr>
          <a:xfrm>
            <a:off x="817563" y="5232400"/>
            <a:ext cx="3879850" cy="4302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自由度为 </a:t>
            </a:r>
            <a:r>
              <a:rPr lang="en-US" altLang="zh-CN" sz="2200" i="1" dirty="0">
                <a:latin typeface="Times New Roman" panose="02020603050405020304" pitchFamily="18" charset="0"/>
              </a:rPr>
              <a:t>i  </a:t>
            </a:r>
            <a:r>
              <a:rPr lang="zh-CN" altLang="en-US" sz="2200" dirty="0">
                <a:latin typeface="Times New Roman" panose="02020603050405020304" pitchFamily="18" charset="0"/>
              </a:rPr>
              <a:t>的分子的平均动能</a:t>
            </a:r>
          </a:p>
        </p:txBody>
      </p:sp>
      <p:graphicFrame>
        <p:nvGraphicFramePr>
          <p:cNvPr id="5" name="Object 9"/>
          <p:cNvGraphicFramePr/>
          <p:nvPr/>
        </p:nvGraphicFramePr>
        <p:xfrm>
          <a:off x="6894513" y="5324475"/>
          <a:ext cx="165893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3" r:id="rId18" imgW="697865" imgH="165100" progId="Equation.DSMT4">
                  <p:embed/>
                </p:oleObj>
              </mc:Choice>
              <mc:Fallback>
                <p:oleObj r:id="rId18" imgW="697865" imgH="165100" progId="Equation.DSMT4">
                  <p:embed/>
                  <p:pic>
                    <p:nvPicPr>
                      <p:cNvPr id="5" name="Object 9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894513" y="5324475"/>
                        <a:ext cx="1658937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7"/>
          <p:cNvSpPr/>
          <p:nvPr/>
        </p:nvSpPr>
        <p:spPr>
          <a:xfrm>
            <a:off x="1258888" y="6021388"/>
            <a:ext cx="1887537" cy="4302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平均总能量：</a:t>
            </a:r>
          </a:p>
        </p:txBody>
      </p:sp>
      <p:graphicFrame>
        <p:nvGraphicFramePr>
          <p:cNvPr id="7" name="Object 7"/>
          <p:cNvGraphicFramePr/>
          <p:nvPr/>
        </p:nvGraphicFramePr>
        <p:xfrm>
          <a:off x="3001963" y="6021388"/>
          <a:ext cx="17192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4" r:id="rId20" imgW="723900" imgH="228600" progId="Equation.DSMT4">
                  <p:embed/>
                </p:oleObj>
              </mc:Choice>
              <mc:Fallback>
                <p:oleObj r:id="rId20" imgW="723900" imgH="228600" progId="Equation.DSMT4">
                  <p:embed/>
                  <p:pic>
                    <p:nvPicPr>
                      <p:cNvPr id="7" name="Object 7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001963" y="6021388"/>
                        <a:ext cx="1719262" cy="544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/>
          <p:nvPr/>
        </p:nvGraphicFramePr>
        <p:xfrm>
          <a:off x="4806950" y="5840413"/>
          <a:ext cx="24447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5" r:id="rId22" imgW="1028700" imgH="393700" progId="Equation.DSMT4">
                  <p:embed/>
                </p:oleObj>
              </mc:Choice>
              <mc:Fallback>
                <p:oleObj r:id="rId22" imgW="1028700" imgH="393700" progId="Equation.DSMT4">
                  <p:embed/>
                  <p:pic>
                    <p:nvPicPr>
                      <p:cNvPr id="9" name="Object 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806950" y="5840413"/>
                        <a:ext cx="2444750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016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9" dur="2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2" dur="20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5" dur="20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8" dur="20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6148" grpId="0"/>
      <p:bldP spid="6153" grpId="0"/>
      <p:bldP spid="6154" grpId="0"/>
      <p:bldP spid="6158" grpId="0"/>
      <p:bldP spid="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2"/>
          <p:cNvSpPr txBox="1"/>
          <p:nvPr/>
        </p:nvSpPr>
        <p:spPr>
          <a:xfrm>
            <a:off x="468313" y="515938"/>
            <a:ext cx="2655887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5</a:t>
            </a:r>
            <a:r>
              <a:rPr lang="zh-CN" altLang="en-US" sz="2200" dirty="0">
                <a:latin typeface="宋体" panose="02010600030101010101" pitchFamily="2" charset="-122"/>
              </a:rPr>
              <a:t>、理想气体内能</a:t>
            </a:r>
          </a:p>
        </p:txBody>
      </p:sp>
      <p:graphicFrame>
        <p:nvGraphicFramePr>
          <p:cNvPr id="7171" name="Object 2"/>
          <p:cNvGraphicFramePr/>
          <p:nvPr/>
        </p:nvGraphicFramePr>
        <p:xfrm>
          <a:off x="2822575" y="260350"/>
          <a:ext cx="203517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3" r:id="rId3" imgW="825500" imgH="393700" progId="Equation.DSMT4">
                  <p:embed/>
                </p:oleObj>
              </mc:Choice>
              <mc:Fallback>
                <p:oleObj r:id="rId3" imgW="825500" imgH="393700" progId="Equation.DSMT4">
                  <p:embed/>
                  <p:pic>
                    <p:nvPicPr>
                      <p:cNvPr id="7171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22575" y="260350"/>
                        <a:ext cx="2035175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3"/>
          <p:cNvGraphicFramePr/>
          <p:nvPr/>
        </p:nvGraphicFramePr>
        <p:xfrm>
          <a:off x="4876800" y="1981200"/>
          <a:ext cx="17605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4" r:id="rId5" imgW="799465" imgH="393700" progId="Equation.DSMT4">
                  <p:embed/>
                </p:oleObj>
              </mc:Choice>
              <mc:Fallback>
                <p:oleObj r:id="rId5" imgW="799465" imgH="393700" progId="Equation.DSMT4">
                  <p:embed/>
                  <p:pic>
                    <p:nvPicPr>
                      <p:cNvPr id="7172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76800" y="1981200"/>
                        <a:ext cx="1760538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4"/>
          <p:cNvGraphicFramePr/>
          <p:nvPr/>
        </p:nvGraphicFramePr>
        <p:xfrm>
          <a:off x="3898900" y="3109913"/>
          <a:ext cx="4414838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5" r:id="rId7" imgW="1993900" imgH="469900" progId="Equation.DSMT4">
                  <p:embed/>
                </p:oleObj>
              </mc:Choice>
              <mc:Fallback>
                <p:oleObj r:id="rId7" imgW="1993900" imgH="469900" progId="Equation.DSMT4">
                  <p:embed/>
                  <p:pic>
                    <p:nvPicPr>
                      <p:cNvPr id="7173" name="Object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98900" y="3109913"/>
                        <a:ext cx="4414838" cy="1039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6"/>
          <p:cNvSpPr/>
          <p:nvPr/>
        </p:nvSpPr>
        <p:spPr>
          <a:xfrm>
            <a:off x="0" y="2286000"/>
            <a:ext cx="4572000" cy="731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速率分布函数（</a:t>
            </a:r>
            <a:r>
              <a:rPr lang="zh-CN" altLang="en-US" dirty="0">
                <a:latin typeface="Times New Roman" panose="02020603050405020304" pitchFamily="18" charset="0"/>
              </a:rPr>
              <a:t>分子速率分布概率密度）</a:t>
            </a:r>
          </a:p>
        </p:txBody>
      </p:sp>
      <p:sp>
        <p:nvSpPr>
          <p:cNvPr id="7175" name="Rectangle 7"/>
          <p:cNvSpPr/>
          <p:nvPr/>
        </p:nvSpPr>
        <p:spPr>
          <a:xfrm>
            <a:off x="873125" y="3468688"/>
            <a:ext cx="2978150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麦克斯韦速率分布函数</a:t>
            </a:r>
          </a:p>
        </p:txBody>
      </p:sp>
      <p:sp>
        <p:nvSpPr>
          <p:cNvPr id="7176" name="Rectangle 8"/>
          <p:cNvSpPr/>
          <p:nvPr/>
        </p:nvSpPr>
        <p:spPr>
          <a:xfrm>
            <a:off x="504825" y="1412875"/>
            <a:ext cx="4572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latin typeface="宋体" panose="02010600030101010101" pitchFamily="2" charset="-122"/>
              </a:rPr>
              <a:t>、速率分布律</a:t>
            </a:r>
          </a:p>
        </p:txBody>
      </p:sp>
      <p:graphicFrame>
        <p:nvGraphicFramePr>
          <p:cNvPr id="7177" name="Object 5"/>
          <p:cNvGraphicFramePr/>
          <p:nvPr/>
        </p:nvGraphicFramePr>
        <p:xfrm>
          <a:off x="5486400" y="1371600"/>
          <a:ext cx="20685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6" r:id="rId9" imgW="939165" imgH="203200" progId="Equation.DSMT4">
                  <p:embed/>
                </p:oleObj>
              </mc:Choice>
              <mc:Fallback>
                <p:oleObj r:id="rId9" imgW="939165" imgH="203200" progId="Equation.DSMT4">
                  <p:embed/>
                  <p:pic>
                    <p:nvPicPr>
                      <p:cNvPr id="7177" name="Object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86400" y="1371600"/>
                        <a:ext cx="2068513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Text Box 10"/>
          <p:cNvSpPr txBox="1"/>
          <p:nvPr/>
        </p:nvSpPr>
        <p:spPr>
          <a:xfrm>
            <a:off x="2286000" y="6019800"/>
            <a:ext cx="1817688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方均根速率</a:t>
            </a:r>
          </a:p>
        </p:txBody>
      </p:sp>
      <p:graphicFrame>
        <p:nvGraphicFramePr>
          <p:cNvPr id="7179" name="Object 6"/>
          <p:cNvGraphicFramePr/>
          <p:nvPr/>
        </p:nvGraphicFramePr>
        <p:xfrm>
          <a:off x="3962400" y="4343400"/>
          <a:ext cx="37338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7" r:id="rId11" imgW="2044065" imgH="444500" progId="Equation.DSMT4">
                  <p:embed/>
                </p:oleObj>
              </mc:Choice>
              <mc:Fallback>
                <p:oleObj r:id="rId11" imgW="2044065" imgH="444500" progId="Equation.DSMT4">
                  <p:embed/>
                  <p:pic>
                    <p:nvPicPr>
                      <p:cNvPr id="7179" name="Object 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62400" y="4343400"/>
                        <a:ext cx="3733800" cy="6572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28575" cap="flat" cmpd="sng">
                        <a:solidFill>
                          <a:srgbClr val="FF99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7"/>
          <p:cNvGraphicFramePr/>
          <p:nvPr/>
        </p:nvGraphicFramePr>
        <p:xfrm>
          <a:off x="3962400" y="5943600"/>
          <a:ext cx="38036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8" r:id="rId13" imgW="2145665" imgH="444500" progId="Equation.DSMT4">
                  <p:embed/>
                </p:oleObj>
              </mc:Choice>
              <mc:Fallback>
                <p:oleObj r:id="rId13" imgW="2145665" imgH="444500" progId="Equation.DSMT4">
                  <p:embed/>
                  <p:pic>
                    <p:nvPicPr>
                      <p:cNvPr id="7180" name="Object 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62400" y="5943600"/>
                        <a:ext cx="3803650" cy="7080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28575" cap="flat" cmpd="sng">
                        <a:solidFill>
                          <a:srgbClr val="FF99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Rectangle 13"/>
          <p:cNvSpPr/>
          <p:nvPr/>
        </p:nvSpPr>
        <p:spPr>
          <a:xfrm>
            <a:off x="2209800" y="4419600"/>
            <a:ext cx="1760538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最概然速率</a:t>
            </a:r>
          </a:p>
        </p:txBody>
      </p:sp>
      <p:sp>
        <p:nvSpPr>
          <p:cNvPr id="7182" name="Rectangle 14"/>
          <p:cNvSpPr/>
          <p:nvPr/>
        </p:nvSpPr>
        <p:spPr>
          <a:xfrm>
            <a:off x="2209800" y="5257800"/>
            <a:ext cx="1546225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平均速率</a:t>
            </a:r>
          </a:p>
        </p:txBody>
      </p:sp>
      <p:sp>
        <p:nvSpPr>
          <p:cNvPr id="7183" name="Rectangle 15"/>
          <p:cNvSpPr/>
          <p:nvPr/>
        </p:nvSpPr>
        <p:spPr>
          <a:xfrm>
            <a:off x="381000" y="5105400"/>
            <a:ext cx="1557338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三种速率</a:t>
            </a:r>
          </a:p>
        </p:txBody>
      </p:sp>
      <p:sp>
        <p:nvSpPr>
          <p:cNvPr id="7184" name="AutoShape 16"/>
          <p:cNvSpPr/>
          <p:nvPr/>
        </p:nvSpPr>
        <p:spPr>
          <a:xfrm>
            <a:off x="1905000" y="4495800"/>
            <a:ext cx="215900" cy="1873250"/>
          </a:xfrm>
          <a:prstGeom prst="leftBrace">
            <a:avLst>
              <a:gd name="adj1" fmla="val 72263"/>
              <a:gd name="adj2" fmla="val 50000"/>
            </a:avLst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85" name="Object 8"/>
          <p:cNvGraphicFramePr/>
          <p:nvPr/>
        </p:nvGraphicFramePr>
        <p:xfrm>
          <a:off x="3962400" y="5105400"/>
          <a:ext cx="381793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9" r:id="rId15" imgW="1967865" imgH="444500" progId="Equation.DSMT4">
                  <p:embed/>
                </p:oleObj>
              </mc:Choice>
              <mc:Fallback>
                <p:oleObj r:id="rId15" imgW="1967865" imgH="444500" progId="Equation.DSMT4">
                  <p:embed/>
                  <p:pic>
                    <p:nvPicPr>
                      <p:cNvPr id="7185" name="Object 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62400" y="5105400"/>
                        <a:ext cx="3817938" cy="7096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28575" cap="flat" cmpd="sng">
                        <a:solidFill>
                          <a:srgbClr val="FF99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9"/>
          <p:cNvGraphicFramePr/>
          <p:nvPr/>
        </p:nvGraphicFramePr>
        <p:xfrm>
          <a:off x="5448300" y="188913"/>
          <a:ext cx="24733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0" r:id="rId17" imgW="1002665" imgH="393700" progId="Equation.DSMT4">
                  <p:embed/>
                </p:oleObj>
              </mc:Choice>
              <mc:Fallback>
                <p:oleObj r:id="rId17" imgW="1002665" imgH="393700" progId="Equation.DSMT4">
                  <p:embed/>
                  <p:pic>
                    <p:nvPicPr>
                      <p:cNvPr id="7186" name="Object 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48300" y="188913"/>
                        <a:ext cx="2473325" cy="969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10"/>
          <p:cNvGraphicFramePr/>
          <p:nvPr/>
        </p:nvGraphicFramePr>
        <p:xfrm>
          <a:off x="7118350" y="2057400"/>
          <a:ext cx="20256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1" r:id="rId19" imgW="888365" imgH="330200" progId="Equation.DSMT4">
                  <p:embed/>
                </p:oleObj>
              </mc:Choice>
              <mc:Fallback>
                <p:oleObj r:id="rId19" imgW="888365" imgH="330200" progId="Equation.DSMT4">
                  <p:embed/>
                  <p:pic>
                    <p:nvPicPr>
                      <p:cNvPr id="7187" name="Object 10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18350" y="2057400"/>
                        <a:ext cx="2025650" cy="842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164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 decel="1000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800" decel="1000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800" decel="100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00" decel="100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800" decel="100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/>
      <p:bldP spid="7175" grpId="0"/>
      <p:bldP spid="7176" grpId="0"/>
      <p:bldP spid="7178" grpId="0"/>
      <p:bldP spid="7181" grpId="0"/>
      <p:bldP spid="7182" grpId="0"/>
      <p:bldP spid="7183" grpId="0"/>
      <p:bldP spid="718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Text Box 5"/>
          <p:cNvSpPr txBox="1"/>
          <p:nvPr/>
        </p:nvSpPr>
        <p:spPr>
          <a:xfrm>
            <a:off x="289992" y="409029"/>
            <a:ext cx="5695950" cy="4298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7</a:t>
            </a:r>
            <a:r>
              <a:rPr lang="zh-CN" altLang="en-US" sz="2200" dirty="0">
                <a:latin typeface="宋体" panose="02010600030101010101" pitchFamily="2" charset="-122"/>
              </a:rPr>
              <a:t>、气体分子的平均碰撞频率和平均自由程</a:t>
            </a:r>
          </a:p>
        </p:txBody>
      </p:sp>
      <p:graphicFrame>
        <p:nvGraphicFramePr>
          <p:cNvPr id="8198" name="Object 2"/>
          <p:cNvGraphicFramePr/>
          <p:nvPr>
            <p:extLst>
              <p:ext uri="{D42A27DB-BD31-4B8C-83A1-F6EECF244321}">
                <p14:modId xmlns:p14="http://schemas.microsoft.com/office/powerpoint/2010/main" val="716000398"/>
              </p:ext>
            </p:extLst>
          </p:nvPr>
        </p:nvGraphicFramePr>
        <p:xfrm>
          <a:off x="871017" y="894804"/>
          <a:ext cx="20161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6" r:id="rId3" imgW="888365" imgH="241300" progId="Equation.DSMT4">
                  <p:embed/>
                </p:oleObj>
              </mc:Choice>
              <mc:Fallback>
                <p:oleObj r:id="rId3" imgW="888365" imgH="241300" progId="Equation.DSMT4">
                  <p:embed/>
                  <p:pic>
                    <p:nvPicPr>
                      <p:cNvPr id="8198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1017" y="894804"/>
                        <a:ext cx="2016125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3"/>
          <p:cNvGraphicFramePr/>
          <p:nvPr>
            <p:extLst>
              <p:ext uri="{D42A27DB-BD31-4B8C-83A1-F6EECF244321}">
                <p14:modId xmlns:p14="http://schemas.microsoft.com/office/powerpoint/2010/main" val="3893632007"/>
              </p:ext>
            </p:extLst>
          </p:nvPr>
        </p:nvGraphicFramePr>
        <p:xfrm>
          <a:off x="899592" y="1556792"/>
          <a:ext cx="427831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7" r:id="rId5" imgW="1802765" imgH="431800" progId="Equation.DSMT4">
                  <p:embed/>
                </p:oleObj>
              </mc:Choice>
              <mc:Fallback>
                <p:oleObj r:id="rId5" imgW="1802765" imgH="431800" progId="Equation.DSMT4">
                  <p:embed/>
                  <p:pic>
                    <p:nvPicPr>
                      <p:cNvPr id="8199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9592" y="1556792"/>
                        <a:ext cx="4278313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633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50825" y="115888"/>
            <a:ext cx="4354077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3600" kern="1200" cap="none" spc="0" normalizeH="0" baseline="0" noProof="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二、热力学第一定律</a:t>
            </a:r>
          </a:p>
        </p:txBody>
      </p:sp>
      <p:sp>
        <p:nvSpPr>
          <p:cNvPr id="9219" name="Text Box 3"/>
          <p:cNvSpPr txBox="1"/>
          <p:nvPr/>
        </p:nvSpPr>
        <p:spPr>
          <a:xfrm>
            <a:off x="762000" y="3540125"/>
            <a:ext cx="2179638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定容摩尔热容量</a:t>
            </a:r>
          </a:p>
        </p:txBody>
      </p:sp>
      <p:graphicFrame>
        <p:nvGraphicFramePr>
          <p:cNvPr id="9220" name="Object 2"/>
          <p:cNvGraphicFramePr/>
          <p:nvPr/>
        </p:nvGraphicFramePr>
        <p:xfrm>
          <a:off x="3352800" y="762000"/>
          <a:ext cx="415766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2" r:id="rId3" imgW="1700530" imgH="355600" progId="Equation.DSMT4">
                  <p:embed/>
                </p:oleObj>
              </mc:Choice>
              <mc:Fallback>
                <p:oleObj r:id="rId3" imgW="1700530" imgH="3556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2800" y="762000"/>
                        <a:ext cx="4157663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3"/>
          <p:cNvGraphicFramePr/>
          <p:nvPr>
            <p:extLst>
              <p:ext uri="{D42A27DB-BD31-4B8C-83A1-F6EECF244321}">
                <p14:modId xmlns:p14="http://schemas.microsoft.com/office/powerpoint/2010/main" val="3377495422"/>
              </p:ext>
            </p:extLst>
          </p:nvPr>
        </p:nvGraphicFramePr>
        <p:xfrm>
          <a:off x="3709988" y="4449763"/>
          <a:ext cx="6159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" name="Equation" r:id="rId5" imgW="304560" imgH="241200" progId="Equation.DSMT4">
                  <p:embed/>
                </p:oleObj>
              </mc:Choice>
              <mc:Fallback>
                <p:oleObj name="Equation" r:id="rId5" imgW="304560" imgH="241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9988" y="4449763"/>
                        <a:ext cx="61595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4"/>
          <p:cNvGraphicFramePr/>
          <p:nvPr>
            <p:extLst>
              <p:ext uri="{D42A27DB-BD31-4B8C-83A1-F6EECF244321}">
                <p14:modId xmlns:p14="http://schemas.microsoft.com/office/powerpoint/2010/main" val="4089621035"/>
              </p:ext>
            </p:extLst>
          </p:nvPr>
        </p:nvGraphicFramePr>
        <p:xfrm>
          <a:off x="3781425" y="3557588"/>
          <a:ext cx="7000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4" name="Equation" r:id="rId7" imgW="304560" imgH="241200" progId="Equation.DSMT4">
                  <p:embed/>
                </p:oleObj>
              </mc:Choice>
              <mc:Fallback>
                <p:oleObj name="Equation" r:id="rId7" imgW="304560" imgH="241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81425" y="3557588"/>
                        <a:ext cx="700088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7"/>
          <p:cNvSpPr/>
          <p:nvPr/>
        </p:nvSpPr>
        <p:spPr>
          <a:xfrm>
            <a:off x="457200" y="914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、功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宋体" panose="02010600030101010101" pitchFamily="2" charset="-122"/>
              </a:rPr>
              <a:t>过程量</a:t>
            </a:r>
          </a:p>
        </p:txBody>
      </p:sp>
      <p:sp>
        <p:nvSpPr>
          <p:cNvPr id="9224" name="Rectangle 8"/>
          <p:cNvSpPr/>
          <p:nvPr/>
        </p:nvSpPr>
        <p:spPr>
          <a:xfrm>
            <a:off x="454025" y="2611438"/>
            <a:ext cx="31273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、热量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宋体" panose="02010600030101010101" pitchFamily="2" charset="-122"/>
              </a:rPr>
              <a:t>过程量</a:t>
            </a:r>
          </a:p>
        </p:txBody>
      </p:sp>
      <p:sp>
        <p:nvSpPr>
          <p:cNvPr id="9225" name="Rectangle 9"/>
          <p:cNvSpPr/>
          <p:nvPr/>
        </p:nvSpPr>
        <p:spPr>
          <a:xfrm>
            <a:off x="762000" y="4441825"/>
            <a:ext cx="2279650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定压摩尔热容量</a:t>
            </a:r>
          </a:p>
        </p:txBody>
      </p:sp>
      <p:graphicFrame>
        <p:nvGraphicFramePr>
          <p:cNvPr id="9226" name="Object 5"/>
          <p:cNvGraphicFramePr/>
          <p:nvPr/>
        </p:nvGraphicFramePr>
        <p:xfrm>
          <a:off x="3563938" y="2468563"/>
          <a:ext cx="36623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" r:id="rId9" imgW="1764665" imgH="393700" progId="Equation.DSMT4">
                  <p:embed/>
                </p:oleObj>
              </mc:Choice>
              <mc:Fallback>
                <p:oleObj r:id="rId9" imgW="1764665" imgH="3937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63938" y="2468563"/>
                        <a:ext cx="3662362" cy="815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Rectangle 11"/>
          <p:cNvSpPr/>
          <p:nvPr/>
        </p:nvSpPr>
        <p:spPr>
          <a:xfrm>
            <a:off x="504825" y="5229225"/>
            <a:ext cx="4572000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宋体" panose="02010600030101010101" pitchFamily="2" charset="-122"/>
              </a:rPr>
              <a:t>4</a:t>
            </a:r>
            <a:r>
              <a:rPr lang="zh-CN" altLang="en-US" sz="2200" dirty="0">
                <a:latin typeface="宋体" panose="02010600030101010101" pitchFamily="2" charset="-122"/>
              </a:rPr>
              <a:t>、热力学第一定律</a:t>
            </a:r>
          </a:p>
        </p:txBody>
      </p:sp>
      <p:graphicFrame>
        <p:nvGraphicFramePr>
          <p:cNvPr id="9228" name="Object 6"/>
          <p:cNvGraphicFramePr/>
          <p:nvPr/>
        </p:nvGraphicFramePr>
        <p:xfrm>
          <a:off x="4643438" y="5805488"/>
          <a:ext cx="18827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6" r:id="rId11" imgW="862965" imgH="203200" progId="Equation.DSMT4">
                  <p:embed/>
                </p:oleObj>
              </mc:Choice>
              <mc:Fallback>
                <p:oleObj r:id="rId11" imgW="862965" imgH="2032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43438" y="5805488"/>
                        <a:ext cx="1882775" cy="442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9" name="Rectangle 13"/>
          <p:cNvSpPr/>
          <p:nvPr/>
        </p:nvSpPr>
        <p:spPr>
          <a:xfrm>
            <a:off x="457200" y="17526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、内能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宋体" panose="02010600030101010101" pitchFamily="2" charset="-122"/>
              </a:rPr>
              <a:t>状态量</a:t>
            </a:r>
          </a:p>
        </p:txBody>
      </p:sp>
      <p:graphicFrame>
        <p:nvGraphicFramePr>
          <p:cNvPr id="9230" name="Object 7"/>
          <p:cNvGraphicFramePr/>
          <p:nvPr>
            <p:extLst>
              <p:ext uri="{D42A27DB-BD31-4B8C-83A1-F6EECF244321}">
                <p14:modId xmlns:p14="http://schemas.microsoft.com/office/powerpoint/2010/main" val="1572799565"/>
              </p:ext>
            </p:extLst>
          </p:nvPr>
        </p:nvGraphicFramePr>
        <p:xfrm>
          <a:off x="3632200" y="1531938"/>
          <a:ext cx="3725863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" name="Equation" r:id="rId13" imgW="1523880" imgH="393480" progId="Equation.DSMT4">
                  <p:embed/>
                </p:oleObj>
              </mc:Choice>
              <mc:Fallback>
                <p:oleObj name="Equation" r:id="rId13" imgW="1523880" imgH="39348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32200" y="1531938"/>
                        <a:ext cx="3725863" cy="960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1" name="Object 15"/>
          <p:cNvGraphicFramePr/>
          <p:nvPr/>
        </p:nvGraphicFramePr>
        <p:xfrm>
          <a:off x="4357688" y="3327400"/>
          <a:ext cx="863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" r:id="rId15" imgW="393700" imgH="393700" progId="Equation.DSMT4">
                  <p:embed/>
                </p:oleObj>
              </mc:Choice>
              <mc:Fallback>
                <p:oleObj r:id="rId15" imgW="393700" imgH="3937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57688" y="3327400"/>
                        <a:ext cx="863600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2" name="Object 16"/>
          <p:cNvGraphicFramePr/>
          <p:nvPr>
            <p:extLst>
              <p:ext uri="{D42A27DB-BD31-4B8C-83A1-F6EECF244321}">
                <p14:modId xmlns:p14="http://schemas.microsoft.com/office/powerpoint/2010/main" val="622561365"/>
              </p:ext>
            </p:extLst>
          </p:nvPr>
        </p:nvGraphicFramePr>
        <p:xfrm>
          <a:off x="4211638" y="4230688"/>
          <a:ext cx="283210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" name="Equation" r:id="rId17" imgW="1384200" imgH="431640" progId="Equation.DSMT4">
                  <p:embed/>
                </p:oleObj>
              </mc:Choice>
              <mc:Fallback>
                <p:oleObj name="Equation" r:id="rId17" imgW="1384200" imgH="43164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11638" y="4230688"/>
                        <a:ext cx="2832100" cy="881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" name="Object 18"/>
          <p:cNvGraphicFramePr/>
          <p:nvPr/>
        </p:nvGraphicFramePr>
        <p:xfrm>
          <a:off x="2555875" y="5805488"/>
          <a:ext cx="14970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" r:id="rId19" imgW="685165" imgH="203200" progId="Equation.DSMT4">
                  <p:embed/>
                </p:oleObj>
              </mc:Choice>
              <mc:Fallback>
                <p:oleObj r:id="rId19" imgW="685165" imgH="2032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55875" y="5805488"/>
                        <a:ext cx="1497013" cy="442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 decel="100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9223" grpId="0"/>
      <p:bldP spid="9224" grpId="0"/>
      <p:bldP spid="9225" grpId="0"/>
      <p:bldP spid="9227" grpId="0"/>
      <p:bldP spid="92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Line 2"/>
          <p:cNvSpPr/>
          <p:nvPr/>
        </p:nvSpPr>
        <p:spPr>
          <a:xfrm>
            <a:off x="85725" y="6515100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6" name="Line 3"/>
          <p:cNvSpPr/>
          <p:nvPr/>
        </p:nvSpPr>
        <p:spPr>
          <a:xfrm>
            <a:off x="722313" y="2014538"/>
            <a:ext cx="0" cy="4487862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4" name="Text Box 4"/>
          <p:cNvSpPr txBox="1"/>
          <p:nvPr/>
        </p:nvSpPr>
        <p:spPr>
          <a:xfrm>
            <a:off x="61913" y="2014538"/>
            <a:ext cx="1246187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过程</a:t>
            </a:r>
          </a:p>
        </p:txBody>
      </p:sp>
      <p:graphicFrame>
        <p:nvGraphicFramePr>
          <p:cNvPr id="10245" name="Object 2"/>
          <p:cNvGraphicFramePr/>
          <p:nvPr/>
        </p:nvGraphicFramePr>
        <p:xfrm>
          <a:off x="1865313" y="2054225"/>
          <a:ext cx="50482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1" r:id="rId3" imgW="241300" imgH="165100" progId="Equation.3">
                  <p:embed/>
                </p:oleObj>
              </mc:Choice>
              <mc:Fallback>
                <p:oleObj r:id="rId3" imgW="241300" imgH="1651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5313" y="2054225"/>
                        <a:ext cx="504825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3"/>
          <p:cNvGraphicFramePr/>
          <p:nvPr/>
        </p:nvGraphicFramePr>
        <p:xfrm>
          <a:off x="3621088" y="2028825"/>
          <a:ext cx="33178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2" r:id="rId5" imgW="152400" imgH="165100" progId="Equation.DSMT4">
                  <p:embed/>
                </p:oleObj>
              </mc:Choice>
              <mc:Fallback>
                <p:oleObj r:id="rId5" imgW="152400" imgH="165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21088" y="2028825"/>
                        <a:ext cx="331787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4"/>
          <p:cNvGraphicFramePr/>
          <p:nvPr/>
        </p:nvGraphicFramePr>
        <p:xfrm>
          <a:off x="5751513" y="2005013"/>
          <a:ext cx="3333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3" r:id="rId7" imgW="152400" imgH="203200" progId="Equation.DSMT4">
                  <p:embed/>
                </p:oleObj>
              </mc:Choice>
              <mc:Fallback>
                <p:oleObj r:id="rId7" imgW="152400" imgH="2032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51513" y="2005013"/>
                        <a:ext cx="333375" cy="44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8"/>
          <p:cNvSpPr txBox="1"/>
          <p:nvPr/>
        </p:nvSpPr>
        <p:spPr>
          <a:xfrm>
            <a:off x="80963" y="2770188"/>
            <a:ext cx="885825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等容</a:t>
            </a:r>
          </a:p>
        </p:txBody>
      </p:sp>
      <p:sp>
        <p:nvSpPr>
          <p:cNvPr id="10249" name="Text Box 9"/>
          <p:cNvSpPr txBox="1"/>
          <p:nvPr/>
        </p:nvSpPr>
        <p:spPr>
          <a:xfrm>
            <a:off x="60325" y="3706813"/>
            <a:ext cx="814388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等压</a:t>
            </a:r>
          </a:p>
        </p:txBody>
      </p:sp>
      <p:sp>
        <p:nvSpPr>
          <p:cNvPr id="10250" name="Text Box 10"/>
          <p:cNvSpPr txBox="1"/>
          <p:nvPr/>
        </p:nvSpPr>
        <p:spPr>
          <a:xfrm>
            <a:off x="47625" y="4643438"/>
            <a:ext cx="814388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等温</a:t>
            </a:r>
          </a:p>
        </p:txBody>
      </p:sp>
      <p:sp>
        <p:nvSpPr>
          <p:cNvPr id="10251" name="Text Box 11"/>
          <p:cNvSpPr txBox="1"/>
          <p:nvPr/>
        </p:nvSpPr>
        <p:spPr>
          <a:xfrm>
            <a:off x="55563" y="5614988"/>
            <a:ext cx="814387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绝热</a:t>
            </a:r>
          </a:p>
        </p:txBody>
      </p:sp>
      <p:graphicFrame>
        <p:nvGraphicFramePr>
          <p:cNvPr id="10252" name="Object 5"/>
          <p:cNvGraphicFramePr/>
          <p:nvPr/>
        </p:nvGraphicFramePr>
        <p:xfrm>
          <a:off x="1631950" y="2620963"/>
          <a:ext cx="11906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4" r:id="rId9" imgW="596900" imgH="393700" progId="Equation.3">
                  <p:embed/>
                </p:oleObj>
              </mc:Choice>
              <mc:Fallback>
                <p:oleObj r:id="rId9" imgW="596900" imgH="3937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31950" y="2620963"/>
                        <a:ext cx="1190625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6"/>
          <p:cNvGraphicFramePr/>
          <p:nvPr/>
        </p:nvGraphicFramePr>
        <p:xfrm>
          <a:off x="1638300" y="3481388"/>
          <a:ext cx="122237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5" r:id="rId11" imgW="596900" imgH="393700" progId="Equation.3">
                  <p:embed/>
                </p:oleObj>
              </mc:Choice>
              <mc:Fallback>
                <p:oleObj r:id="rId11" imgW="596900" imgH="3937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38300" y="3481388"/>
                        <a:ext cx="1222375" cy="785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7"/>
          <p:cNvGraphicFramePr/>
          <p:nvPr/>
        </p:nvGraphicFramePr>
        <p:xfrm>
          <a:off x="1679575" y="5562600"/>
          <a:ext cx="11684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6" r:id="rId13" imgW="609600" imgH="393700" progId="Equation.3">
                  <p:embed/>
                </p:oleObj>
              </mc:Choice>
              <mc:Fallback>
                <p:oleObj r:id="rId13" imgW="609600" imgH="3937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79575" y="5562600"/>
                        <a:ext cx="1168400" cy="730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8"/>
          <p:cNvGraphicFramePr/>
          <p:nvPr/>
        </p:nvGraphicFramePr>
        <p:xfrm>
          <a:off x="1970088" y="4646613"/>
          <a:ext cx="30321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7" r:id="rId15" imgW="127000" imgH="177165" progId="Equation.3">
                  <p:embed/>
                </p:oleObj>
              </mc:Choice>
              <mc:Fallback>
                <p:oleObj r:id="rId15" imgW="127000" imgH="177165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70088" y="4646613"/>
                        <a:ext cx="303212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9"/>
          <p:cNvGraphicFramePr/>
          <p:nvPr/>
        </p:nvGraphicFramePr>
        <p:xfrm>
          <a:off x="3717925" y="2698750"/>
          <a:ext cx="3032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8" r:id="rId17" imgW="127000" imgH="177165" progId="Equation.3">
                  <p:embed/>
                </p:oleObj>
              </mc:Choice>
              <mc:Fallback>
                <p:oleObj r:id="rId17" imgW="127000" imgH="17716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17925" y="2698750"/>
                        <a:ext cx="303213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0"/>
          <p:cNvGraphicFramePr/>
          <p:nvPr/>
        </p:nvGraphicFramePr>
        <p:xfrm>
          <a:off x="5781675" y="5651500"/>
          <a:ext cx="3032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9" r:id="rId18" imgW="127000" imgH="177165" progId="Equation.3">
                  <p:embed/>
                </p:oleObj>
              </mc:Choice>
              <mc:Fallback>
                <p:oleObj r:id="rId18" imgW="127000" imgH="177165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81675" y="5651500"/>
                        <a:ext cx="303213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11"/>
          <p:cNvGraphicFramePr/>
          <p:nvPr/>
        </p:nvGraphicFramePr>
        <p:xfrm>
          <a:off x="5227638" y="2435225"/>
          <a:ext cx="144621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0" r:id="rId19" imgW="596900" imgH="393700" progId="Equation.3">
                  <p:embed/>
                </p:oleObj>
              </mc:Choice>
              <mc:Fallback>
                <p:oleObj r:id="rId19" imgW="596900" imgH="3937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27638" y="2435225"/>
                        <a:ext cx="1446212" cy="922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12"/>
          <p:cNvGraphicFramePr/>
          <p:nvPr/>
        </p:nvGraphicFramePr>
        <p:xfrm>
          <a:off x="3113088" y="4465638"/>
          <a:ext cx="160655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1" r:id="rId21" imgW="762000" imgH="431800" progId="Equation.DSMT4">
                  <p:embed/>
                </p:oleObj>
              </mc:Choice>
              <mc:Fallback>
                <p:oleObj r:id="rId21" imgW="762000" imgH="4318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13088" y="4465638"/>
                        <a:ext cx="1606550" cy="814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" name="Object 13"/>
          <p:cNvGraphicFramePr/>
          <p:nvPr/>
        </p:nvGraphicFramePr>
        <p:xfrm>
          <a:off x="5087938" y="4437063"/>
          <a:ext cx="1700212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2" r:id="rId23" imgW="774065" imgH="431800" progId="Equation.3">
                  <p:embed/>
                </p:oleObj>
              </mc:Choice>
              <mc:Fallback>
                <p:oleObj r:id="rId23" imgW="774065" imgH="4318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87938" y="4437063"/>
                        <a:ext cx="1700212" cy="849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" name="Object 14"/>
          <p:cNvGraphicFramePr/>
          <p:nvPr/>
        </p:nvGraphicFramePr>
        <p:xfrm>
          <a:off x="3232150" y="5518150"/>
          <a:ext cx="14986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3" r:id="rId25" imgW="711200" imgH="393700" progId="Equation.3">
                  <p:embed/>
                </p:oleObj>
              </mc:Choice>
              <mc:Fallback>
                <p:oleObj r:id="rId25" imgW="711200" imgH="3937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232150" y="5518150"/>
                        <a:ext cx="1498600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15"/>
          <p:cNvGraphicFramePr/>
          <p:nvPr/>
        </p:nvGraphicFramePr>
        <p:xfrm>
          <a:off x="3556000" y="3341688"/>
          <a:ext cx="769938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4" r:id="rId27" imgW="355600" imgH="203200" progId="Equation.3">
                  <p:embed/>
                </p:oleObj>
              </mc:Choice>
              <mc:Fallback>
                <p:oleObj r:id="rId27" imgW="355600" imgH="2032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556000" y="3341688"/>
                        <a:ext cx="769938" cy="423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16"/>
          <p:cNvGraphicFramePr/>
          <p:nvPr/>
        </p:nvGraphicFramePr>
        <p:xfrm>
          <a:off x="5170488" y="3454400"/>
          <a:ext cx="14732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" r:id="rId29" imgW="609600" imgH="393700" progId="Equation.3">
                  <p:embed/>
                </p:oleObj>
              </mc:Choice>
              <mc:Fallback>
                <p:oleObj r:id="rId29" imgW="609600" imgH="3937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170488" y="3454400"/>
                        <a:ext cx="1473200" cy="923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7" name="Line 24"/>
          <p:cNvSpPr/>
          <p:nvPr/>
        </p:nvSpPr>
        <p:spPr>
          <a:xfrm>
            <a:off x="9091613" y="969963"/>
            <a:ext cx="0" cy="554990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88" name="Line 25"/>
          <p:cNvSpPr/>
          <p:nvPr/>
        </p:nvSpPr>
        <p:spPr>
          <a:xfrm>
            <a:off x="85725" y="969963"/>
            <a:ext cx="0" cy="554990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89" name="Line 26"/>
          <p:cNvSpPr/>
          <p:nvPr/>
        </p:nvSpPr>
        <p:spPr>
          <a:xfrm>
            <a:off x="95250" y="4427538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0" name="Line 27"/>
          <p:cNvSpPr/>
          <p:nvPr/>
        </p:nvSpPr>
        <p:spPr>
          <a:xfrm>
            <a:off x="107950" y="3346450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1" name="Line 28"/>
          <p:cNvSpPr/>
          <p:nvPr/>
        </p:nvSpPr>
        <p:spPr>
          <a:xfrm>
            <a:off x="107950" y="2513013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2" name="Line 29"/>
          <p:cNvSpPr/>
          <p:nvPr/>
        </p:nvSpPr>
        <p:spPr>
          <a:xfrm>
            <a:off x="95250" y="2000250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3" name="Line 30"/>
          <p:cNvSpPr/>
          <p:nvPr/>
        </p:nvSpPr>
        <p:spPr>
          <a:xfrm>
            <a:off x="76200" y="969963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4" name="Line 31"/>
          <p:cNvSpPr/>
          <p:nvPr/>
        </p:nvSpPr>
        <p:spPr>
          <a:xfrm>
            <a:off x="73025" y="5291138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72" name="Text Box 32"/>
          <p:cNvSpPr txBox="1"/>
          <p:nvPr/>
        </p:nvSpPr>
        <p:spPr>
          <a:xfrm>
            <a:off x="857250" y="2014538"/>
            <a:ext cx="742950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特征</a:t>
            </a:r>
          </a:p>
        </p:txBody>
      </p:sp>
      <p:sp>
        <p:nvSpPr>
          <p:cNvPr id="11296" name="Line 33"/>
          <p:cNvSpPr/>
          <p:nvPr/>
        </p:nvSpPr>
        <p:spPr>
          <a:xfrm>
            <a:off x="1522413" y="2012950"/>
            <a:ext cx="0" cy="4487863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7" name="Line 34"/>
          <p:cNvSpPr/>
          <p:nvPr/>
        </p:nvSpPr>
        <p:spPr>
          <a:xfrm>
            <a:off x="6886575" y="2003425"/>
            <a:ext cx="0" cy="4487863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8" name="Line 35"/>
          <p:cNvSpPr/>
          <p:nvPr/>
        </p:nvSpPr>
        <p:spPr>
          <a:xfrm>
            <a:off x="2940050" y="2003425"/>
            <a:ext cx="0" cy="4487863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9" name="Line 36"/>
          <p:cNvSpPr/>
          <p:nvPr/>
        </p:nvSpPr>
        <p:spPr>
          <a:xfrm>
            <a:off x="5003800" y="2025650"/>
            <a:ext cx="0" cy="4487863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278" name="Object 18"/>
          <p:cNvGraphicFramePr/>
          <p:nvPr/>
        </p:nvGraphicFramePr>
        <p:xfrm>
          <a:off x="747713" y="2655888"/>
          <a:ext cx="800100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6" r:id="rId31" imgW="608330" imgH="177800" progId="Equation.DSMT4">
                  <p:embed/>
                </p:oleObj>
              </mc:Choice>
              <mc:Fallback>
                <p:oleObj r:id="rId31" imgW="608330" imgH="1778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47713" y="2655888"/>
                        <a:ext cx="800100" cy="233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9" name="Object 19"/>
          <p:cNvGraphicFramePr/>
          <p:nvPr/>
        </p:nvGraphicFramePr>
        <p:xfrm>
          <a:off x="838200" y="2971800"/>
          <a:ext cx="615950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7" r:id="rId33" imgW="469265" imgH="177800" progId="Equation.DSMT4">
                  <p:embed/>
                </p:oleObj>
              </mc:Choice>
              <mc:Fallback>
                <p:oleObj r:id="rId33" imgW="469265" imgH="1778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38200" y="2971800"/>
                        <a:ext cx="615950" cy="233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0" name="Object 20"/>
          <p:cNvGraphicFramePr/>
          <p:nvPr/>
        </p:nvGraphicFramePr>
        <p:xfrm>
          <a:off x="760413" y="3781425"/>
          <a:ext cx="8001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8" r:id="rId35" imgW="609600" imgH="190500" progId="Equation.DSMT4">
                  <p:embed/>
                </p:oleObj>
              </mc:Choice>
              <mc:Fallback>
                <p:oleObj r:id="rId35" imgW="609600" imgH="1905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60413" y="3781425"/>
                        <a:ext cx="800100" cy="250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" name="Object 21"/>
          <p:cNvGraphicFramePr/>
          <p:nvPr/>
        </p:nvGraphicFramePr>
        <p:xfrm>
          <a:off x="746125" y="4743450"/>
          <a:ext cx="78422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" r:id="rId37" imgW="595630" imgH="177800" progId="Equation.DSMT4">
                  <p:embed/>
                </p:oleObj>
              </mc:Choice>
              <mc:Fallback>
                <p:oleObj r:id="rId37" imgW="595630" imgH="1778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46125" y="4743450"/>
                        <a:ext cx="784225" cy="233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3" name="Object 23"/>
          <p:cNvGraphicFramePr/>
          <p:nvPr/>
        </p:nvGraphicFramePr>
        <p:xfrm>
          <a:off x="838200" y="5764213"/>
          <a:ext cx="61753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" r:id="rId39" imgW="380365" imgH="203200" progId="Equation.DSMT4">
                  <p:embed/>
                </p:oleObj>
              </mc:Choice>
              <mc:Fallback>
                <p:oleObj r:id="rId39" imgW="380365" imgH="2032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38200" y="5764213"/>
                        <a:ext cx="617538" cy="328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4" name="Object 24"/>
          <p:cNvGraphicFramePr/>
          <p:nvPr/>
        </p:nvGraphicFramePr>
        <p:xfrm>
          <a:off x="3368675" y="3670300"/>
          <a:ext cx="1109663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" r:id="rId41" imgW="545465" imgH="393700" progId="Equation.DSMT4">
                  <p:embed/>
                </p:oleObj>
              </mc:Choice>
              <mc:Fallback>
                <p:oleObj r:id="rId41" imgW="545465" imgH="3937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368675" y="3670300"/>
                        <a:ext cx="1109663" cy="795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5" name="Text Box 45"/>
          <p:cNvSpPr txBox="1"/>
          <p:nvPr/>
        </p:nvSpPr>
        <p:spPr>
          <a:xfrm>
            <a:off x="7500938" y="2051050"/>
            <a:ext cx="742950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备注</a:t>
            </a:r>
          </a:p>
        </p:txBody>
      </p:sp>
      <p:graphicFrame>
        <p:nvGraphicFramePr>
          <p:cNvPr id="10286" name="Object 25"/>
          <p:cNvGraphicFramePr/>
          <p:nvPr/>
        </p:nvGraphicFramePr>
        <p:xfrm>
          <a:off x="7493000" y="2579688"/>
          <a:ext cx="103505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" r:id="rId43" imgW="596900" imgH="393700" progId="Equation.DSMT4">
                  <p:embed/>
                </p:oleObj>
              </mc:Choice>
              <mc:Fallback>
                <p:oleObj r:id="rId43" imgW="596900" imgH="3937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7493000" y="2579688"/>
                        <a:ext cx="1035050" cy="682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7" name="Object 26"/>
          <p:cNvGraphicFramePr/>
          <p:nvPr/>
        </p:nvGraphicFramePr>
        <p:xfrm>
          <a:off x="6996113" y="3554413"/>
          <a:ext cx="191135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" r:id="rId45" imgW="1485900" imgH="431800" progId="Equation.DSMT4">
                  <p:embed/>
                </p:oleObj>
              </mc:Choice>
              <mc:Fallback>
                <p:oleObj r:id="rId45" imgW="1485900" imgH="4318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6996113" y="3554413"/>
                        <a:ext cx="1911350" cy="630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8" name="Object 27"/>
          <p:cNvGraphicFramePr/>
          <p:nvPr/>
        </p:nvGraphicFramePr>
        <p:xfrm>
          <a:off x="7524750" y="4498975"/>
          <a:ext cx="93027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" r:id="rId47" imgW="647700" imgH="393700" progId="Equation.DSMT4">
                  <p:embed/>
                </p:oleObj>
              </mc:Choice>
              <mc:Fallback>
                <p:oleObj r:id="rId47" imgW="647700" imgH="3937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7524750" y="4498975"/>
                        <a:ext cx="930275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9" name="Object 28"/>
          <p:cNvGraphicFramePr/>
          <p:nvPr/>
        </p:nvGraphicFramePr>
        <p:xfrm>
          <a:off x="6923088" y="5307013"/>
          <a:ext cx="9604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" r:id="rId49" imgW="584200" imgH="228600" progId="Equation.DSMT4">
                  <p:embed/>
                </p:oleObj>
              </mc:Choice>
              <mc:Fallback>
                <p:oleObj r:id="rId49" imgW="584200" imgH="2286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6923088" y="5307013"/>
                        <a:ext cx="960437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0" name="Object 29"/>
          <p:cNvGraphicFramePr/>
          <p:nvPr/>
        </p:nvGraphicFramePr>
        <p:xfrm>
          <a:off x="8045450" y="5318125"/>
          <a:ext cx="100806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" r:id="rId51" imgW="660400" imgH="228600" progId="Equation.DSMT4">
                  <p:embed/>
                </p:oleObj>
              </mc:Choice>
              <mc:Fallback>
                <p:oleObj r:id="rId51" imgW="660400" imgH="2286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8045450" y="5318125"/>
                        <a:ext cx="1008063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" name="Object 30"/>
          <p:cNvGraphicFramePr/>
          <p:nvPr/>
        </p:nvGraphicFramePr>
        <p:xfrm>
          <a:off x="6915150" y="5659438"/>
          <a:ext cx="1154113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" r:id="rId53" imgW="774065" imgH="241300" progId="Equation.3">
                  <p:embed/>
                </p:oleObj>
              </mc:Choice>
              <mc:Fallback>
                <p:oleObj r:id="rId53" imgW="774065" imgH="2413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6915150" y="5659438"/>
                        <a:ext cx="1154113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2" name="Object 31"/>
          <p:cNvGraphicFramePr/>
          <p:nvPr/>
        </p:nvGraphicFramePr>
        <p:xfrm>
          <a:off x="7524750" y="6011863"/>
          <a:ext cx="9366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8" r:id="rId55" imgW="735965" imgH="393700" progId="Equation.DSMT4">
                  <p:embed/>
                </p:oleObj>
              </mc:Choice>
              <mc:Fallback>
                <p:oleObj r:id="rId55" imgW="735965" imgH="3937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7524750" y="6011863"/>
                        <a:ext cx="936625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4" name="Text Box 54"/>
          <p:cNvSpPr txBox="1"/>
          <p:nvPr/>
        </p:nvSpPr>
        <p:spPr>
          <a:xfrm>
            <a:off x="107950" y="1066800"/>
            <a:ext cx="1295400" cy="7620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热力学系统：</a:t>
            </a:r>
          </a:p>
        </p:txBody>
      </p:sp>
      <p:graphicFrame>
        <p:nvGraphicFramePr>
          <p:cNvPr id="10296" name="Object 33"/>
          <p:cNvGraphicFramePr/>
          <p:nvPr/>
        </p:nvGraphicFramePr>
        <p:xfrm>
          <a:off x="1331913" y="1120775"/>
          <a:ext cx="1863725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9" r:id="rId57" imgW="812800" imgH="393700" progId="Equation.3">
                  <p:embed/>
                </p:oleObj>
              </mc:Choice>
              <mc:Fallback>
                <p:oleObj r:id="rId57" imgW="812800" imgH="3937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331913" y="1120775"/>
                        <a:ext cx="1863725" cy="842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7" name="Object 34"/>
          <p:cNvGraphicFramePr/>
          <p:nvPr/>
        </p:nvGraphicFramePr>
        <p:xfrm>
          <a:off x="3563938" y="1317625"/>
          <a:ext cx="18129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" r:id="rId59" imgW="735965" imgH="203200" progId="Equation.DSMT4">
                  <p:embed/>
                </p:oleObj>
              </mc:Choice>
              <mc:Fallback>
                <p:oleObj r:id="rId59" imgW="735965" imgH="2032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3563938" y="1317625"/>
                        <a:ext cx="1812925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8" name="Object 35"/>
          <p:cNvGraphicFramePr/>
          <p:nvPr/>
        </p:nvGraphicFramePr>
        <p:xfrm>
          <a:off x="5580063" y="1339850"/>
          <a:ext cx="2116137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1" r:id="rId61" imgW="1002665" imgH="203200" progId="Equation.DSMT4">
                  <p:embed/>
                </p:oleObj>
              </mc:Choice>
              <mc:Fallback>
                <p:oleObj r:id="rId61" imgW="1002665" imgH="2032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5580063" y="1339850"/>
                        <a:ext cx="2116137" cy="433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8" name="Rectangle 59"/>
          <p:cNvSpPr/>
          <p:nvPr/>
        </p:nvSpPr>
        <p:spPr>
          <a:xfrm>
            <a:off x="250825" y="188913"/>
            <a:ext cx="4572000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宋体" panose="02010600030101010101" pitchFamily="2" charset="-122"/>
              </a:rPr>
              <a:t>5</a:t>
            </a:r>
            <a:r>
              <a:rPr lang="zh-CN" altLang="en-US" sz="2200" dirty="0">
                <a:latin typeface="宋体" panose="02010600030101010101" pitchFamily="2" charset="-122"/>
              </a:rPr>
              <a:t>、热力学第一定律的应用</a:t>
            </a:r>
          </a:p>
        </p:txBody>
      </p:sp>
      <p:graphicFrame>
        <p:nvGraphicFramePr>
          <p:cNvPr id="2" name="Object 60"/>
          <p:cNvGraphicFramePr/>
          <p:nvPr/>
        </p:nvGraphicFramePr>
        <p:xfrm>
          <a:off x="7842250" y="1079500"/>
          <a:ext cx="11033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" r:id="rId63" imgW="482600" imgH="431800" progId="Equation.DSMT4">
                  <p:embed/>
                </p:oleObj>
              </mc:Choice>
              <mc:Fallback>
                <p:oleObj r:id="rId63" imgW="482600" imgH="4318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7842250" y="1079500"/>
                        <a:ext cx="1103313" cy="92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20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/>
          <p:nvPr/>
        </p:nvSpPr>
        <p:spPr>
          <a:xfrm>
            <a:off x="468313" y="725488"/>
            <a:ext cx="2046287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Times New Roman" panose="02020603050405020304" pitchFamily="18" charset="0"/>
              </a:rPr>
              <a:t>6</a:t>
            </a:r>
            <a:r>
              <a:rPr lang="zh-CN" altLang="en-US" sz="2200" dirty="0">
                <a:latin typeface="Times New Roman" panose="02020603050405020304" pitchFamily="18" charset="0"/>
              </a:rPr>
              <a:t>、多方过程</a:t>
            </a:r>
          </a:p>
        </p:txBody>
      </p:sp>
      <p:graphicFrame>
        <p:nvGraphicFramePr>
          <p:cNvPr id="10296" name="Object 33"/>
          <p:cNvGraphicFramePr/>
          <p:nvPr/>
        </p:nvGraphicFramePr>
        <p:xfrm>
          <a:off x="1692275" y="1916113"/>
          <a:ext cx="15732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r:id="rId3" imgW="546100" imgH="228600" progId="Equation.3">
                  <p:embed/>
                </p:oleObj>
              </mc:Choice>
              <mc:Fallback>
                <p:oleObj r:id="rId3" imgW="546100" imgH="2286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2275" y="1916113"/>
                        <a:ext cx="1573213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3"/>
          <p:cNvGraphicFramePr/>
          <p:nvPr/>
        </p:nvGraphicFramePr>
        <p:xfrm>
          <a:off x="3563938" y="1084263"/>
          <a:ext cx="2808287" cy="234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r:id="rId5" imgW="1155700" imgH="965200" progId="Equation.3">
                  <p:embed/>
                </p:oleObj>
              </mc:Choice>
              <mc:Fallback>
                <p:oleObj r:id="rId5" imgW="1155700" imgH="9652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63938" y="1084263"/>
                        <a:ext cx="2808287" cy="2344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/>
          <p:nvPr/>
        </p:nvSpPr>
        <p:spPr>
          <a:xfrm>
            <a:off x="509588" y="3649663"/>
            <a:ext cx="2046287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Times New Roman" panose="02020603050405020304" pitchFamily="18" charset="0"/>
              </a:rPr>
              <a:t>7</a:t>
            </a:r>
            <a:r>
              <a:rPr lang="zh-CN" altLang="en-US" sz="2200" dirty="0">
                <a:latin typeface="Times New Roman" panose="02020603050405020304" pitchFamily="18" charset="0"/>
              </a:rPr>
              <a:t>、自由膨胀</a:t>
            </a:r>
          </a:p>
        </p:txBody>
      </p:sp>
      <p:sp>
        <p:nvSpPr>
          <p:cNvPr id="6" name="Rectangle 2"/>
          <p:cNvSpPr/>
          <p:nvPr/>
        </p:nvSpPr>
        <p:spPr>
          <a:xfrm>
            <a:off x="1012825" y="4441825"/>
            <a:ext cx="6799263" cy="831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快速，非准静态过程，不可使用过程方程，而只能使用热力学第一定律。</a:t>
            </a:r>
          </a:p>
        </p:txBody>
      </p:sp>
      <p:sp>
        <p:nvSpPr>
          <p:cNvPr id="12294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/>
          <p:nvPr/>
        </p:nvSpPr>
        <p:spPr>
          <a:xfrm>
            <a:off x="468313" y="725488"/>
            <a:ext cx="2046287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Times New Roman" panose="02020603050405020304" pitchFamily="18" charset="0"/>
              </a:rPr>
              <a:t>8</a:t>
            </a:r>
            <a:r>
              <a:rPr lang="zh-CN" altLang="en-US" sz="2200" dirty="0">
                <a:latin typeface="Times New Roman" panose="02020603050405020304" pitchFamily="18" charset="0"/>
              </a:rPr>
              <a:t>、循环过程</a:t>
            </a:r>
          </a:p>
        </p:txBody>
      </p:sp>
      <p:graphicFrame>
        <p:nvGraphicFramePr>
          <p:cNvPr id="7172" name="Object 4"/>
          <p:cNvGraphicFramePr/>
          <p:nvPr/>
        </p:nvGraphicFramePr>
        <p:xfrm>
          <a:off x="2795588" y="1341438"/>
          <a:ext cx="40100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5" r:id="rId3" imgW="1777365" imgH="431800" progId="Equation.DSMT4">
                  <p:embed/>
                </p:oleObj>
              </mc:Choice>
              <mc:Fallback>
                <p:oleObj r:id="rId3" imgW="1777365" imgH="4318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5588" y="1341438"/>
                        <a:ext cx="4010025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6"/>
          <p:cNvSpPr/>
          <p:nvPr/>
        </p:nvSpPr>
        <p:spPr>
          <a:xfrm>
            <a:off x="457200" y="5422900"/>
            <a:ext cx="2303463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宋体" panose="02010600030101010101" pitchFamily="2" charset="-122"/>
              </a:rPr>
              <a:t>9</a:t>
            </a:r>
            <a:r>
              <a:rPr lang="zh-CN" altLang="en-US" sz="2200" dirty="0">
                <a:latin typeface="宋体" panose="02010600030101010101" pitchFamily="2" charset="-122"/>
              </a:rPr>
              <a:t>、卡诺循环</a:t>
            </a:r>
          </a:p>
        </p:txBody>
      </p:sp>
      <p:graphicFrame>
        <p:nvGraphicFramePr>
          <p:cNvPr id="11271" name="Object 2"/>
          <p:cNvGraphicFramePr/>
          <p:nvPr/>
        </p:nvGraphicFramePr>
        <p:xfrm>
          <a:off x="2362200" y="5194300"/>
          <a:ext cx="12954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6" r:id="rId5" imgW="622300" imgH="431800" progId="Equation.DSMT4">
                  <p:embed/>
                </p:oleObj>
              </mc:Choice>
              <mc:Fallback>
                <p:oleObj r:id="rId5" imgW="622300" imgH="4318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2200" y="5194300"/>
                        <a:ext cx="1295400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9" name="Rectangle 25"/>
          <p:cNvSpPr/>
          <p:nvPr/>
        </p:nvSpPr>
        <p:spPr>
          <a:xfrm>
            <a:off x="914400" y="1500188"/>
            <a:ext cx="20240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</a:rPr>
              <a:t>1.</a:t>
            </a:r>
            <a:r>
              <a:rPr lang="zh-CN" altLang="en-US" sz="2400" dirty="0">
                <a:latin typeface="宋体" panose="02010600030101010101" pitchFamily="2" charset="-122"/>
              </a:rPr>
              <a:t>热机效率：</a:t>
            </a:r>
          </a:p>
        </p:txBody>
      </p:sp>
      <p:sp>
        <p:nvSpPr>
          <p:cNvPr id="11290" name="Text Box 26"/>
          <p:cNvSpPr txBox="1"/>
          <p:nvPr/>
        </p:nvSpPr>
        <p:spPr>
          <a:xfrm>
            <a:off x="914400" y="3606800"/>
            <a:ext cx="19367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2. </a:t>
            </a:r>
            <a:r>
              <a:rPr lang="zh-CN" altLang="en-US" sz="2400" dirty="0">
                <a:latin typeface="Times New Roman" panose="02020603050405020304" pitchFamily="18" charset="0"/>
              </a:rPr>
              <a:t>致冷系数：</a:t>
            </a:r>
          </a:p>
        </p:txBody>
      </p:sp>
      <p:graphicFrame>
        <p:nvGraphicFramePr>
          <p:cNvPr id="11293" name="Object 3"/>
          <p:cNvGraphicFramePr/>
          <p:nvPr/>
        </p:nvGraphicFramePr>
        <p:xfrm>
          <a:off x="3038475" y="3443288"/>
          <a:ext cx="2509838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7" r:id="rId7" imgW="1269365" imgH="431800" progId="Equation.DSMT4">
                  <p:embed/>
                </p:oleObj>
              </mc:Choice>
              <mc:Fallback>
                <p:oleObj r:id="rId7" imgW="1269365" imgH="4318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38475" y="3443288"/>
                        <a:ext cx="2509838" cy="849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7092950" y="188913"/>
            <a:ext cx="1976438" cy="2663825"/>
            <a:chOff x="3652" y="909"/>
            <a:chExt cx="1653" cy="2340"/>
          </a:xfrm>
        </p:grpSpPr>
        <p:sp>
          <p:nvSpPr>
            <p:cNvPr id="13322" name="AutoShape 41" descr="球体"/>
            <p:cNvSpPr/>
            <p:nvPr/>
          </p:nvSpPr>
          <p:spPr>
            <a:xfrm>
              <a:off x="4704" y="1968"/>
              <a:ext cx="506" cy="302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chemeClr val="bg1"/>
              </a:fgClr>
              <a:bgClr>
                <a:srgbClr val="008080"/>
              </a:bgClr>
            </a:pattFill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42"/>
            <p:cNvSpPr>
              <a:spLocks noChangeArrowheads="1"/>
            </p:cNvSpPr>
            <p:nvPr/>
          </p:nvSpPr>
          <p:spPr bwMode="auto">
            <a:xfrm>
              <a:off x="4796" y="1622"/>
              <a:ext cx="509" cy="4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9933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A</a:t>
              </a:r>
              <a:endPara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3324" name="AutoShape 43" descr="球体"/>
            <p:cNvSpPr/>
            <p:nvPr/>
          </p:nvSpPr>
          <p:spPr>
            <a:xfrm rot="5400000" flipV="1">
              <a:off x="4206" y="1373"/>
              <a:ext cx="566" cy="227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chemeClr val="bg1"/>
              </a:fgClr>
              <a:bgClr>
                <a:srgbClr val="FF7C80"/>
              </a:bgClr>
            </a:patt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44"/>
            <p:cNvSpPr>
              <a:spLocks noChangeArrowheads="1"/>
            </p:cNvSpPr>
            <p:nvPr/>
          </p:nvSpPr>
          <p:spPr bwMode="auto">
            <a:xfrm>
              <a:off x="4013" y="2299"/>
              <a:ext cx="426" cy="4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5" name="Rectangle 45"/>
            <p:cNvSpPr>
              <a:spLocks noChangeArrowheads="1"/>
            </p:cNvSpPr>
            <p:nvPr/>
          </p:nvSpPr>
          <p:spPr bwMode="auto">
            <a:xfrm>
              <a:off x="4013" y="1352"/>
              <a:ext cx="426" cy="4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3327" name="AutoShape 46" descr="球体"/>
            <p:cNvSpPr/>
            <p:nvPr/>
          </p:nvSpPr>
          <p:spPr>
            <a:xfrm rot="5400000" flipV="1">
              <a:off x="4226" y="2373"/>
              <a:ext cx="538" cy="236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rgbClr val="3399FF"/>
              </a:fgClr>
              <a:bgClr>
                <a:schemeClr val="bg1"/>
              </a:bgClr>
            </a:patt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Oval 47"/>
            <p:cNvSpPr>
              <a:spLocks noChangeArrowheads="1"/>
            </p:cNvSpPr>
            <p:nvPr/>
          </p:nvSpPr>
          <p:spPr bwMode="auto">
            <a:xfrm>
              <a:off x="4134" y="1785"/>
              <a:ext cx="722" cy="621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993366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933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工作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933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物质</a:t>
              </a:r>
            </a:p>
          </p:txBody>
        </p:sp>
        <p:sp>
          <p:nvSpPr>
            <p:cNvPr id="18" name="Rectangle 48"/>
            <p:cNvSpPr>
              <a:spLocks noChangeArrowheads="1"/>
            </p:cNvSpPr>
            <p:nvPr/>
          </p:nvSpPr>
          <p:spPr bwMode="auto">
            <a:xfrm>
              <a:off x="3773" y="909"/>
              <a:ext cx="1421" cy="487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9900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9900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9" name="Rectangle 49"/>
            <p:cNvSpPr>
              <a:spLocks noChangeArrowheads="1"/>
            </p:cNvSpPr>
            <p:nvPr/>
          </p:nvSpPr>
          <p:spPr bwMode="auto">
            <a:xfrm>
              <a:off x="3778" y="2762"/>
              <a:ext cx="1421" cy="487"/>
            </a:xfrm>
            <a:prstGeom prst="rect">
              <a:avLst/>
            </a:prstGeom>
            <a:gradFill rotWithShape="0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3399FF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20" name="Text Box 50"/>
            <p:cNvSpPr txBox="1">
              <a:spLocks noChangeArrowheads="1"/>
            </p:cNvSpPr>
            <p:nvPr/>
          </p:nvSpPr>
          <p:spPr bwMode="auto">
            <a:xfrm>
              <a:off x="3652" y="2568"/>
              <a:ext cx="226" cy="2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lang="en-US" altLang="zh-CN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35"/>
          <p:cNvGrpSpPr/>
          <p:nvPr/>
        </p:nvGrpSpPr>
        <p:grpSpPr>
          <a:xfrm>
            <a:off x="6875463" y="3213100"/>
            <a:ext cx="2024062" cy="2952750"/>
            <a:chOff x="3515" y="981"/>
            <a:chExt cx="1728" cy="2340"/>
          </a:xfrm>
        </p:grpSpPr>
        <p:sp>
          <p:nvSpPr>
            <p:cNvPr id="13333" name="AutoShape 36" descr="球体"/>
            <p:cNvSpPr/>
            <p:nvPr/>
          </p:nvSpPr>
          <p:spPr>
            <a:xfrm>
              <a:off x="3638" y="2024"/>
              <a:ext cx="506" cy="302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chemeClr val="bg1"/>
              </a:fgClr>
              <a:bgClr>
                <a:srgbClr val="008080"/>
              </a:bgClr>
            </a:pattFill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Rectangle 37"/>
            <p:cNvSpPr/>
            <p:nvPr/>
          </p:nvSpPr>
          <p:spPr>
            <a:xfrm>
              <a:off x="3515" y="1666"/>
              <a:ext cx="445" cy="3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i="1" dirty="0">
                  <a:solidFill>
                    <a:srgbClr val="00808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A</a:t>
              </a:r>
              <a:endParaRPr lang="en-US" altLang="zh-CN" baseline="-25000" dirty="0">
                <a:solidFill>
                  <a:srgbClr val="00808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335" name="AutoShape 38" descr="球体"/>
            <p:cNvSpPr/>
            <p:nvPr/>
          </p:nvSpPr>
          <p:spPr>
            <a:xfrm rot="-5400000">
              <a:off x="4250" y="1626"/>
              <a:ext cx="566" cy="227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chemeClr val="bg1"/>
              </a:fgClr>
              <a:bgClr>
                <a:srgbClr val="FF0000"/>
              </a:bgClr>
            </a:patt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Rectangle 39"/>
            <p:cNvSpPr/>
            <p:nvPr/>
          </p:nvSpPr>
          <p:spPr>
            <a:xfrm>
              <a:off x="4007" y="2408"/>
              <a:ext cx="319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337" name="Rectangle 40"/>
            <p:cNvSpPr/>
            <p:nvPr/>
          </p:nvSpPr>
          <p:spPr>
            <a:xfrm>
              <a:off x="4069" y="1438"/>
              <a:ext cx="319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338" name="AutoShape 41" descr="球体"/>
            <p:cNvSpPr/>
            <p:nvPr/>
          </p:nvSpPr>
          <p:spPr>
            <a:xfrm rot="-5400000">
              <a:off x="4270" y="2629"/>
              <a:ext cx="538" cy="236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rgbClr val="3399FF"/>
              </a:fgClr>
              <a:bgClr>
                <a:schemeClr val="bg1"/>
              </a:bgClr>
            </a:patt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Oval 42"/>
            <p:cNvSpPr/>
            <p:nvPr/>
          </p:nvSpPr>
          <p:spPr>
            <a:xfrm>
              <a:off x="4128" y="1857"/>
              <a:ext cx="802" cy="621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99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r>
                <a:rPr lang="zh-CN" altLang="en-US" sz="1800" dirty="0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工作</a:t>
              </a:r>
            </a:p>
            <a:p>
              <a:r>
                <a:rPr lang="zh-CN" altLang="en-US" sz="1800" dirty="0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物质</a:t>
              </a:r>
            </a:p>
          </p:txBody>
        </p:sp>
        <p:sp>
          <p:nvSpPr>
            <p:cNvPr id="13340" name="Rectangle 43"/>
            <p:cNvSpPr/>
            <p:nvPr/>
          </p:nvSpPr>
          <p:spPr>
            <a:xfrm>
              <a:off x="3817" y="981"/>
              <a:ext cx="1421" cy="486"/>
            </a:xfrm>
            <a:prstGeom prst="rect">
              <a:avLst/>
            </a:prstGeom>
            <a:gradFill rotWithShape="0">
              <a:gsLst>
                <a:gs pos="0">
                  <a:srgbClr val="FF5050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r>
                <a:rPr lang="en-US" altLang="zh-CN" i="1" dirty="0">
                  <a:solidFill>
                    <a:srgbClr val="990033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solidFill>
                    <a:srgbClr val="990033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341" name="Rectangle 44"/>
            <p:cNvSpPr/>
            <p:nvPr/>
          </p:nvSpPr>
          <p:spPr>
            <a:xfrm>
              <a:off x="3822" y="2835"/>
              <a:ext cx="1421" cy="486"/>
            </a:xfrm>
            <a:prstGeom prst="rect">
              <a:avLst/>
            </a:prstGeom>
            <a:gradFill rotWithShape="0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342" name="Text Box 45"/>
            <p:cNvSpPr txBox="1"/>
            <p:nvPr/>
          </p:nvSpPr>
          <p:spPr>
            <a:xfrm>
              <a:off x="3696" y="2640"/>
              <a:ext cx="2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 </a:t>
              </a:r>
            </a:p>
          </p:txBody>
        </p:sp>
      </p:grpSp>
      <p:graphicFrame>
        <p:nvGraphicFramePr>
          <p:cNvPr id="4" name="Object 32"/>
          <p:cNvGraphicFramePr/>
          <p:nvPr/>
        </p:nvGraphicFramePr>
        <p:xfrm>
          <a:off x="4427538" y="5229225"/>
          <a:ext cx="1331912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8" r:id="rId9" imgW="673100" imgH="431800" progId="Equation.DSMT4">
                  <p:embed/>
                </p:oleObj>
              </mc:Choice>
              <mc:Fallback>
                <p:oleObj r:id="rId9" imgW="673100" imgH="4318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5229225"/>
                        <a:ext cx="1331912" cy="84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/>
      <p:bldP spid="11289" grpId="0"/>
      <p:bldP spid="1129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685800" y="2209800"/>
            <a:ext cx="7918450" cy="89535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defRPr/>
            </a:pPr>
            <a:r>
              <a:rPr kumimoji="1" lang="zh-CN" altLang="en-US" sz="2200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200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200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）克劳修斯表述</a:t>
            </a:r>
            <a:r>
              <a:rPr kumimoji="1" lang="en-US" altLang="zh-CN" sz="2200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2200" kern="1200" cap="none" spc="0" normalizeH="0" baseline="0" noProof="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热量不可能自动从低温热源传到高温热源而不产生其它影响。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685800" y="1371600"/>
            <a:ext cx="7931150" cy="866775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defRPr/>
            </a:pPr>
            <a:r>
              <a:rPr kumimoji="1" lang="zh-CN" altLang="en-US" sz="220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20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20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 开尔文表述</a:t>
            </a:r>
            <a:r>
              <a:rPr kumimoji="1" lang="en-US" altLang="zh-CN" sz="220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2200" kern="1200" cap="none" spc="0" normalizeH="0" baseline="0" noProof="0" dirty="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不可能从单一热源吸取热量，使之完全变为有用功而不产生其它影响。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250825" y="228600"/>
            <a:ext cx="431482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3600" kern="1200" cap="none" spc="0" normalizeH="0" baseline="0" noProof="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二、热力学第二定律</a:t>
            </a:r>
          </a:p>
        </p:txBody>
      </p:sp>
      <p:sp>
        <p:nvSpPr>
          <p:cNvPr id="12300" name="Rectangle 12"/>
          <p:cNvSpPr/>
          <p:nvPr/>
        </p:nvSpPr>
        <p:spPr>
          <a:xfrm>
            <a:off x="533400" y="914400"/>
            <a:ext cx="2573338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1</a:t>
            </a:r>
            <a:r>
              <a:rPr lang="zh-CN" altLang="en-US" sz="2200" dirty="0">
                <a:latin typeface="宋体" panose="02010600030101010101" pitchFamily="2" charset="-122"/>
              </a:rPr>
              <a:t>、热力学第二定律</a:t>
            </a:r>
          </a:p>
        </p:txBody>
      </p:sp>
      <p:sp>
        <p:nvSpPr>
          <p:cNvPr id="14" name="矩形 13"/>
          <p:cNvSpPr/>
          <p:nvPr/>
        </p:nvSpPr>
        <p:spPr>
          <a:xfrm>
            <a:off x="4500563" y="1773238"/>
            <a:ext cx="3871913" cy="458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第二类永动机不可能制成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5" name="Text Box 2"/>
          <p:cNvSpPr txBox="1"/>
          <p:nvPr/>
        </p:nvSpPr>
        <p:spPr>
          <a:xfrm>
            <a:off x="755650" y="3201988"/>
            <a:ext cx="8104188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200" dirty="0">
                <a:solidFill>
                  <a:schemeClr val="accent2"/>
                </a:solidFill>
                <a:latin typeface="宋体" panose="02010600030101010101" pitchFamily="2" charset="-122"/>
              </a:rPr>
              <a:t>本质：一切与热现象相联系的宏观自发过程都是不可逆的。</a:t>
            </a:r>
          </a:p>
        </p:txBody>
      </p:sp>
      <p:sp>
        <p:nvSpPr>
          <p:cNvPr id="16" name="Rectangle 5"/>
          <p:cNvSpPr/>
          <p:nvPr/>
        </p:nvSpPr>
        <p:spPr>
          <a:xfrm>
            <a:off x="609600" y="3789363"/>
            <a:ext cx="1746250" cy="4302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2</a:t>
            </a:r>
            <a:r>
              <a:rPr lang="zh-CN" altLang="en-US" sz="2200" dirty="0">
                <a:latin typeface="宋体" panose="02010600030101010101" pitchFamily="2" charset="-122"/>
              </a:rPr>
              <a:t>、卡诺定理</a:t>
            </a:r>
          </a:p>
        </p:txBody>
      </p:sp>
      <p:sp>
        <p:nvSpPr>
          <p:cNvPr id="17" name="矩形 16"/>
          <p:cNvSpPr/>
          <p:nvPr/>
        </p:nvSpPr>
        <p:spPr>
          <a:xfrm>
            <a:off x="684213" y="4292600"/>
            <a:ext cx="8208962" cy="7699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）在相同高温热源（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T1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）和低温热源（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T2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）之间工作的一切</a:t>
            </a:r>
            <a:r>
              <a:rPr lang="zh-CN" altLang="en-US" sz="2200" dirty="0">
                <a:latin typeface="Times New Roman" panose="02020603050405020304" pitchFamily="18" charset="0"/>
              </a:rPr>
              <a:t>可逆热机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，其效率都相等，与工作物质无关 。</a:t>
            </a:r>
          </a:p>
        </p:txBody>
      </p:sp>
      <p:sp>
        <p:nvSpPr>
          <p:cNvPr id="18" name="矩形 17"/>
          <p:cNvSpPr/>
          <p:nvPr/>
        </p:nvSpPr>
        <p:spPr>
          <a:xfrm>
            <a:off x="684213" y="5157788"/>
            <a:ext cx="8208962" cy="768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）在相同的高低温热源之间工作的一切</a:t>
            </a:r>
            <a:r>
              <a:rPr lang="zh-CN" altLang="en-US" sz="2200" dirty="0">
                <a:latin typeface="Times New Roman" panose="02020603050405020304" pitchFamily="18" charset="0"/>
              </a:rPr>
              <a:t>不可逆热机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的效率，不可能高于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实际上是小于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可逆机的效率。</a:t>
            </a:r>
          </a:p>
        </p:txBody>
      </p:sp>
      <p:sp>
        <p:nvSpPr>
          <p:cNvPr id="19" name="矩形 18"/>
          <p:cNvSpPr/>
          <p:nvPr/>
        </p:nvSpPr>
        <p:spPr>
          <a:xfrm>
            <a:off x="827088" y="6092825"/>
            <a:ext cx="3589337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solidFill>
                  <a:schemeClr val="accent2"/>
                </a:solidFill>
                <a:latin typeface="宋体" panose="02010600030101010101" pitchFamily="2" charset="-122"/>
              </a:rPr>
              <a:t>卡诺定理也可用于制冷机。</a:t>
            </a:r>
          </a:p>
        </p:txBody>
      </p:sp>
      <p:sp>
        <p:nvSpPr>
          <p:cNvPr id="14347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9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7" grpId="0" build="p"/>
      <p:bldP spid="12298" grpId="0" build="p"/>
      <p:bldP spid="12300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/>
          <p:nvPr>
            <p:extLst>
              <p:ext uri="{D42A27DB-BD31-4B8C-83A1-F6EECF244321}">
                <p14:modId xmlns:p14="http://schemas.microsoft.com/office/powerpoint/2010/main" val="3318475718"/>
              </p:ext>
            </p:extLst>
          </p:nvPr>
        </p:nvGraphicFramePr>
        <p:xfrm>
          <a:off x="3127788" y="549920"/>
          <a:ext cx="373380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r:id="rId3" imgW="2208530" imgH="393700" progId="Equation.DSMT4">
                  <p:embed/>
                </p:oleObj>
              </mc:Choice>
              <mc:Fallback>
                <p:oleObj r:id="rId3" imgW="2208530" imgH="3937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7788" y="549920"/>
                        <a:ext cx="3733800" cy="665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/>
          <p:nvPr/>
        </p:nvSpPr>
        <p:spPr>
          <a:xfrm>
            <a:off x="384588" y="626120"/>
            <a:ext cx="2573337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3</a:t>
            </a:r>
            <a:r>
              <a:rPr lang="zh-CN" altLang="en-US" sz="2200" dirty="0">
                <a:latin typeface="宋体" panose="02010600030101010101" pitchFamily="2" charset="-122"/>
              </a:rPr>
              <a:t>、克劳修斯熵公式</a:t>
            </a:r>
          </a:p>
        </p:txBody>
      </p:sp>
      <p:graphicFrame>
        <p:nvGraphicFramePr>
          <p:cNvPr id="6" name="Object 4"/>
          <p:cNvGraphicFramePr/>
          <p:nvPr>
            <p:extLst>
              <p:ext uri="{D42A27DB-BD31-4B8C-83A1-F6EECF244321}">
                <p14:modId xmlns:p14="http://schemas.microsoft.com/office/powerpoint/2010/main" val="622648285"/>
              </p:ext>
            </p:extLst>
          </p:nvPr>
        </p:nvGraphicFramePr>
        <p:xfrm>
          <a:off x="7171150" y="1705620"/>
          <a:ext cx="9144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r:id="rId5" imgW="481965" imgH="203200" progId="Equation.DSMT4">
                  <p:embed/>
                </p:oleObj>
              </mc:Choice>
              <mc:Fallback>
                <p:oleObj r:id="rId5" imgW="481965" imgH="2032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71150" y="1705620"/>
                        <a:ext cx="914400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/>
          <p:nvPr/>
        </p:nvSpPr>
        <p:spPr>
          <a:xfrm>
            <a:off x="389350" y="1629420"/>
            <a:ext cx="7386638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宋体" panose="02010600030101010101" pitchFamily="2" charset="-122"/>
              </a:rPr>
              <a:t>4</a:t>
            </a:r>
            <a:r>
              <a:rPr lang="zh-CN" altLang="en-US" sz="2200" dirty="0">
                <a:latin typeface="宋体" panose="02010600030101010101" pitchFamily="2" charset="-122"/>
              </a:rPr>
              <a:t>、熵增加原理：对于孤立系统的自发过程而言，总有</a:t>
            </a:r>
          </a:p>
        </p:txBody>
      </p:sp>
      <p:sp>
        <p:nvSpPr>
          <p:cNvPr id="12" name="Rectangle 13"/>
          <p:cNvSpPr/>
          <p:nvPr/>
        </p:nvSpPr>
        <p:spPr>
          <a:xfrm>
            <a:off x="411575" y="2708920"/>
            <a:ext cx="7386638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宋体" panose="02010600030101010101" pitchFamily="2" charset="-122"/>
              </a:rPr>
              <a:t>5</a:t>
            </a:r>
            <a:r>
              <a:rPr lang="zh-CN" altLang="en-US" sz="2200" dirty="0">
                <a:latin typeface="宋体" panose="02010600030101010101" pitchFamily="2" charset="-122"/>
              </a:rPr>
              <a:t>、热力学基本关系式：</a:t>
            </a:r>
          </a:p>
        </p:txBody>
      </p:sp>
      <p:graphicFrame>
        <p:nvGraphicFramePr>
          <p:cNvPr id="13" name="Object 5"/>
          <p:cNvGraphicFramePr/>
          <p:nvPr>
            <p:extLst>
              <p:ext uri="{D42A27DB-BD31-4B8C-83A1-F6EECF244321}">
                <p14:modId xmlns:p14="http://schemas.microsoft.com/office/powerpoint/2010/main" val="3298573282"/>
              </p:ext>
            </p:extLst>
          </p:nvPr>
        </p:nvGraphicFramePr>
        <p:xfrm>
          <a:off x="3624675" y="2561282"/>
          <a:ext cx="404971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r:id="rId7" imgW="2070100" imgH="393700" progId="Equation.DSMT4">
                  <p:embed/>
                </p:oleObj>
              </mc:Choice>
              <mc:Fallback>
                <p:oleObj r:id="rId7" imgW="2070100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24675" y="2561282"/>
                        <a:ext cx="4049713" cy="763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6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7006050" y="667395"/>
            <a:ext cx="1304925" cy="4302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可逆过程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010071FE-F724-46D0-A176-51CC7F0CCCBF}"/>
              </a:ext>
            </a:extLst>
          </p:cNvPr>
          <p:cNvSpPr txBox="1"/>
          <p:nvPr/>
        </p:nvSpPr>
        <p:spPr>
          <a:xfrm>
            <a:off x="417925" y="5015061"/>
            <a:ext cx="3206750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7</a:t>
            </a:r>
            <a:r>
              <a:rPr lang="zh-CN" altLang="en-US" sz="2200" dirty="0">
                <a:latin typeface="宋体" panose="02010600030101010101" pitchFamily="2" charset="-122"/>
              </a:rPr>
              <a:t>、玻耳兹曼熵公式</a:t>
            </a: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9088642F-1DBB-4AD8-9AD8-008D82E7B0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612289"/>
              </p:ext>
            </p:extLst>
          </p:nvPr>
        </p:nvGraphicFramePr>
        <p:xfrm>
          <a:off x="3202400" y="5089673"/>
          <a:ext cx="1295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r:id="rId9" imgW="671830" imgH="177800" progId="Equation.DSMT4">
                  <p:embed/>
                </p:oleObj>
              </mc:Choice>
              <mc:Fallback>
                <p:oleObj r:id="rId9" imgW="671830" imgH="177800" progId="Equation.DSMT4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E3208301-DA56-4417-A54D-395766136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02400" y="5089673"/>
                        <a:ext cx="1295400" cy="341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5">
            <a:extLst>
              <a:ext uri="{FF2B5EF4-FFF2-40B4-BE49-F238E27FC236}">
                <a16:creationId xmlns:a16="http://schemas.microsoft.com/office/drawing/2014/main" id="{92B7B2D5-0BC8-4D22-ABBA-E4EE4847612A}"/>
              </a:ext>
            </a:extLst>
          </p:cNvPr>
          <p:cNvSpPr/>
          <p:nvPr/>
        </p:nvSpPr>
        <p:spPr>
          <a:xfrm>
            <a:off x="417925" y="3585200"/>
            <a:ext cx="1781175" cy="430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6</a:t>
            </a:r>
            <a:r>
              <a:rPr lang="zh-CN" altLang="en-US" sz="2200" dirty="0">
                <a:latin typeface="宋体" panose="02010600030101010101" pitchFamily="2" charset="-122"/>
              </a:rPr>
              <a:t>、自发过程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956E8AE3-8481-487F-A577-2514A863075D}"/>
              </a:ext>
            </a:extLst>
          </p:cNvPr>
          <p:cNvSpPr/>
          <p:nvPr/>
        </p:nvSpPr>
        <p:spPr>
          <a:xfrm>
            <a:off x="4594637" y="3583613"/>
            <a:ext cx="2520950" cy="4302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无序度增大的方向</a:t>
            </a:r>
          </a:p>
        </p:txBody>
      </p:sp>
      <p:sp>
        <p:nvSpPr>
          <p:cNvPr id="16" name="右箭头 17">
            <a:extLst>
              <a:ext uri="{FF2B5EF4-FFF2-40B4-BE49-F238E27FC236}">
                <a16:creationId xmlns:a16="http://schemas.microsoft.com/office/drawing/2014/main" id="{7BFFAD50-B3B4-425A-8DAE-FAC485ED8C42}"/>
              </a:ext>
            </a:extLst>
          </p:cNvPr>
          <p:cNvSpPr/>
          <p:nvPr/>
        </p:nvSpPr>
        <p:spPr>
          <a:xfrm>
            <a:off x="2146712" y="3655050"/>
            <a:ext cx="576263" cy="288925"/>
          </a:xfrm>
          <a:prstGeom prst="rightArrow">
            <a:avLst>
              <a:gd name="adj1" fmla="val 50000"/>
              <a:gd name="adj2" fmla="val 4985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348823-A135-4F1E-93FF-7C58E050FB55}"/>
              </a:ext>
            </a:extLst>
          </p:cNvPr>
          <p:cNvSpPr/>
          <p:nvPr/>
        </p:nvSpPr>
        <p:spPr>
          <a:xfrm>
            <a:off x="4594637" y="4304338"/>
            <a:ext cx="457200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向热力学概率大的宏观状态进行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C74929A6-DBF6-43C5-8187-9F6C80603191}"/>
              </a:ext>
            </a:extLst>
          </p:cNvPr>
          <p:cNvSpPr/>
          <p:nvPr/>
        </p:nvSpPr>
        <p:spPr>
          <a:xfrm>
            <a:off x="2722975" y="3583613"/>
            <a:ext cx="1079500" cy="4302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方向性</a:t>
            </a:r>
          </a:p>
        </p:txBody>
      </p:sp>
      <p:sp>
        <p:nvSpPr>
          <p:cNvPr id="19" name="右箭头 21">
            <a:extLst>
              <a:ext uri="{FF2B5EF4-FFF2-40B4-BE49-F238E27FC236}">
                <a16:creationId xmlns:a16="http://schemas.microsoft.com/office/drawing/2014/main" id="{26727188-26E4-4962-929A-E3C26BABEE7F}"/>
              </a:ext>
            </a:extLst>
          </p:cNvPr>
          <p:cNvSpPr/>
          <p:nvPr/>
        </p:nvSpPr>
        <p:spPr>
          <a:xfrm>
            <a:off x="3873912" y="3655050"/>
            <a:ext cx="576263" cy="288925"/>
          </a:xfrm>
          <a:prstGeom prst="rightArrow">
            <a:avLst>
              <a:gd name="adj1" fmla="val 50000"/>
              <a:gd name="adj2" fmla="val 4985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" name="右箭头 22">
            <a:extLst>
              <a:ext uri="{FF2B5EF4-FFF2-40B4-BE49-F238E27FC236}">
                <a16:creationId xmlns:a16="http://schemas.microsoft.com/office/drawing/2014/main" id="{00668BC6-849C-4818-8E68-1A94F91BCDA9}"/>
              </a:ext>
            </a:extLst>
          </p:cNvPr>
          <p:cNvSpPr/>
          <p:nvPr/>
        </p:nvSpPr>
        <p:spPr>
          <a:xfrm>
            <a:off x="3873912" y="4375775"/>
            <a:ext cx="576263" cy="287338"/>
          </a:xfrm>
          <a:prstGeom prst="rightArrow">
            <a:avLst>
              <a:gd name="adj1" fmla="val 50000"/>
              <a:gd name="adj2" fmla="val 5012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/>
      <p:bldP spid="8" grpId="0"/>
      <p:bldP spid="10" grpId="0"/>
      <p:bldP spid="14" grpId="0"/>
      <p:bldP spid="15" grpId="0"/>
      <p:bldP spid="16" grpId="0" animBg="1"/>
      <p:bldP spid="17" grpId="0"/>
      <p:bldP spid="18" grpId="0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538288" y="2493963"/>
            <a:ext cx="54102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zh-CN" altLang="en-US" sz="60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习      题</a:t>
            </a:r>
          </a:p>
        </p:txBody>
      </p:sp>
      <p:sp>
        <p:nvSpPr>
          <p:cNvPr id="16386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11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4"/>
          <p:cNvSpPr txBox="1"/>
          <p:nvPr/>
        </p:nvSpPr>
        <p:spPr>
          <a:xfrm>
            <a:off x="518318" y="296015"/>
            <a:ext cx="8107363" cy="301498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7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统计物理中四种类型问题：</a:t>
            </a: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利用能量均分定理、内能公式，计算相关物理量</a:t>
            </a: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麦克斯韦速率分布律相关问题</a:t>
            </a: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(3)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利用三种特征速率公式的一些计算</a:t>
            </a: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(4)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平均自由程相关问题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E41DA0ED-2278-4F49-8218-4C38DBAFD6DA}"/>
              </a:ext>
            </a:extLst>
          </p:cNvPr>
          <p:cNvSpPr txBox="1"/>
          <p:nvPr/>
        </p:nvSpPr>
        <p:spPr>
          <a:xfrm>
            <a:off x="467544" y="3717032"/>
            <a:ext cx="8458200" cy="239077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7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热力学中三种类型问题：</a:t>
            </a: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当理想气体状态发生变化时，求解各有关的物理量，功、热量、内能</a:t>
            </a: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有关循环过程和循环效率</a:t>
            </a: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(3)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熵变计算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  <a:t>13</a:t>
            </a:fld>
            <a:endParaRPr lang="en-US" altLang="zh-CN" sz="1400" b="0" dirty="0"/>
          </a:p>
        </p:txBody>
      </p:sp>
      <p:sp>
        <p:nvSpPr>
          <p:cNvPr id="870402" name="Text Box 2"/>
          <p:cNvSpPr txBox="1">
            <a:spLocks noChangeArrowheads="1"/>
          </p:cNvSpPr>
          <p:nvPr/>
        </p:nvSpPr>
        <p:spPr bwMode="auto">
          <a:xfrm>
            <a:off x="533400" y="260350"/>
            <a:ext cx="8229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kumimoji="1" lang="zh-CN" altLang="en-US" sz="3200" i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下列四个假想的循环过程，哪个可行？</a:t>
            </a:r>
          </a:p>
        </p:txBody>
      </p:sp>
      <p:grpSp>
        <p:nvGrpSpPr>
          <p:cNvPr id="19459" name="Group 3"/>
          <p:cNvGrpSpPr/>
          <p:nvPr/>
        </p:nvGrpSpPr>
        <p:grpSpPr>
          <a:xfrm>
            <a:off x="609600" y="981075"/>
            <a:ext cx="3581400" cy="2859088"/>
            <a:chOff x="384" y="864"/>
            <a:chExt cx="2256" cy="1801"/>
          </a:xfrm>
        </p:grpSpPr>
        <p:sp>
          <p:nvSpPr>
            <p:cNvPr id="19460" name="Line 4"/>
            <p:cNvSpPr/>
            <p:nvPr/>
          </p:nvSpPr>
          <p:spPr>
            <a:xfrm>
              <a:off x="768" y="2255"/>
              <a:ext cx="1584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61" name="Line 5"/>
            <p:cNvSpPr/>
            <p:nvPr/>
          </p:nvSpPr>
          <p:spPr>
            <a:xfrm flipV="1">
              <a:off x="768" y="954"/>
              <a:ext cx="0" cy="1301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06" name="Text Box 6"/>
            <p:cNvSpPr txBox="1">
              <a:spLocks noChangeArrowheads="1"/>
            </p:cNvSpPr>
            <p:nvPr/>
          </p:nvSpPr>
          <p:spPr bwMode="auto">
            <a:xfrm>
              <a:off x="384" y="864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kumimoji="1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07" name="Text Box 7"/>
            <p:cNvSpPr txBox="1">
              <a:spLocks noChangeArrowheads="1"/>
            </p:cNvSpPr>
            <p:nvPr/>
          </p:nvSpPr>
          <p:spPr bwMode="auto">
            <a:xfrm>
              <a:off x="2160" y="2300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9464" name="Group 8"/>
            <p:cNvGrpSpPr/>
            <p:nvPr/>
          </p:nvGrpSpPr>
          <p:grpSpPr>
            <a:xfrm>
              <a:off x="1056" y="1043"/>
              <a:ext cx="864" cy="987"/>
              <a:chOff x="1104" y="1248"/>
              <a:chExt cx="864" cy="1056"/>
            </a:xfrm>
          </p:grpSpPr>
          <p:sp>
            <p:nvSpPr>
              <p:cNvPr id="19465" name="Freeform 9"/>
              <p:cNvSpPr/>
              <p:nvPr/>
            </p:nvSpPr>
            <p:spPr>
              <a:xfrm>
                <a:off x="1104" y="1248"/>
                <a:ext cx="864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4" y="336"/>
                  </a:cxn>
                  <a:cxn ang="0">
                    <a:pos x="864" y="528"/>
                  </a:cxn>
                </a:cxnLst>
                <a:rect l="0" t="0" r="0" b="0"/>
                <a:pathLst>
                  <a:path w="864" h="528">
                    <a:moveTo>
                      <a:pt x="0" y="0"/>
                    </a:moveTo>
                    <a:cubicBezTo>
                      <a:pt x="120" y="124"/>
                      <a:pt x="240" y="248"/>
                      <a:pt x="384" y="336"/>
                    </a:cubicBezTo>
                    <a:cubicBezTo>
                      <a:pt x="528" y="424"/>
                      <a:pt x="696" y="476"/>
                      <a:pt x="864" y="528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66" name="Line 10"/>
              <p:cNvSpPr/>
              <p:nvPr/>
            </p:nvSpPr>
            <p:spPr>
              <a:xfrm>
                <a:off x="1968" y="1776"/>
                <a:ext cx="0" cy="52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67" name="Freeform 11"/>
              <p:cNvSpPr/>
              <p:nvPr/>
            </p:nvSpPr>
            <p:spPr>
              <a:xfrm>
                <a:off x="1104" y="1248"/>
                <a:ext cx="864" cy="105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4" y="720"/>
                  </a:cxn>
                  <a:cxn ang="0">
                    <a:pos x="864" y="1056"/>
                  </a:cxn>
                </a:cxnLst>
                <a:rect l="0" t="0" r="0" b="0"/>
                <a:pathLst>
                  <a:path w="864" h="1056">
                    <a:moveTo>
                      <a:pt x="0" y="0"/>
                    </a:moveTo>
                    <a:cubicBezTo>
                      <a:pt x="120" y="272"/>
                      <a:pt x="240" y="544"/>
                      <a:pt x="384" y="720"/>
                    </a:cubicBezTo>
                    <a:cubicBezTo>
                      <a:pt x="528" y="896"/>
                      <a:pt x="696" y="976"/>
                      <a:pt x="864" y="1056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68" name="Line 12"/>
            <p:cNvSpPr/>
            <p:nvPr/>
          </p:nvSpPr>
          <p:spPr>
            <a:xfrm>
              <a:off x="1440" y="1357"/>
              <a:ext cx="192" cy="9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69" name="Line 13"/>
            <p:cNvSpPr/>
            <p:nvPr/>
          </p:nvSpPr>
          <p:spPr>
            <a:xfrm>
              <a:off x="1920" y="1672"/>
              <a:ext cx="0" cy="22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70" name="Line 14"/>
            <p:cNvSpPr/>
            <p:nvPr/>
          </p:nvSpPr>
          <p:spPr>
            <a:xfrm flipH="1" flipV="1">
              <a:off x="1440" y="1716"/>
              <a:ext cx="96" cy="135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15" name="Text Box 15"/>
            <p:cNvSpPr txBox="1">
              <a:spLocks noChangeArrowheads="1"/>
            </p:cNvSpPr>
            <p:nvPr/>
          </p:nvSpPr>
          <p:spPr bwMode="auto">
            <a:xfrm>
              <a:off x="1344" y="999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16" name="Text Box 16"/>
            <p:cNvSpPr txBox="1">
              <a:spLocks noChangeArrowheads="1"/>
            </p:cNvSpPr>
            <p:nvPr/>
          </p:nvSpPr>
          <p:spPr bwMode="auto">
            <a:xfrm>
              <a:off x="912" y="1627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等温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17" name="Text Box 17"/>
            <p:cNvSpPr txBox="1">
              <a:spLocks noChangeArrowheads="1"/>
            </p:cNvSpPr>
            <p:nvPr/>
          </p:nvSpPr>
          <p:spPr bwMode="auto">
            <a:xfrm>
              <a:off x="2112" y="1851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chemeClr val="tx2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lang="en-US" altLang="zh-CN" sz="3200" noProof="1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474" name="Group 18"/>
          <p:cNvGrpSpPr/>
          <p:nvPr/>
        </p:nvGrpSpPr>
        <p:grpSpPr>
          <a:xfrm>
            <a:off x="4800600" y="981075"/>
            <a:ext cx="3429000" cy="2208213"/>
            <a:chOff x="3024" y="864"/>
            <a:chExt cx="2160" cy="1391"/>
          </a:xfrm>
        </p:grpSpPr>
        <p:sp>
          <p:nvSpPr>
            <p:cNvPr id="19475" name="Line 19"/>
            <p:cNvSpPr/>
            <p:nvPr/>
          </p:nvSpPr>
          <p:spPr>
            <a:xfrm>
              <a:off x="3408" y="2255"/>
              <a:ext cx="15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76" name="Line 20"/>
            <p:cNvSpPr/>
            <p:nvPr/>
          </p:nvSpPr>
          <p:spPr>
            <a:xfrm flipV="1">
              <a:off x="3408" y="954"/>
              <a:ext cx="0" cy="130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21" name="Text Box 21"/>
            <p:cNvSpPr txBox="1">
              <a:spLocks noChangeArrowheads="1"/>
            </p:cNvSpPr>
            <p:nvPr/>
          </p:nvSpPr>
          <p:spPr bwMode="auto">
            <a:xfrm>
              <a:off x="3024" y="864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rgbClr val="0033CC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lang="en-US" altLang="zh-CN" sz="3200" noProof="1">
                <a:solidFill>
                  <a:srgbClr val="0033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19478" name="Group 22"/>
            <p:cNvGrpSpPr/>
            <p:nvPr/>
          </p:nvGrpSpPr>
          <p:grpSpPr>
            <a:xfrm>
              <a:off x="3696" y="1178"/>
              <a:ext cx="1056" cy="808"/>
              <a:chOff x="3744" y="1296"/>
              <a:chExt cx="1056" cy="864"/>
            </a:xfrm>
          </p:grpSpPr>
          <p:sp>
            <p:nvSpPr>
              <p:cNvPr id="19479" name="Line 23"/>
              <p:cNvSpPr/>
              <p:nvPr/>
            </p:nvSpPr>
            <p:spPr>
              <a:xfrm>
                <a:off x="3744" y="1296"/>
                <a:ext cx="52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80" name="Freeform 24"/>
              <p:cNvSpPr/>
              <p:nvPr/>
            </p:nvSpPr>
            <p:spPr>
              <a:xfrm>
                <a:off x="4272" y="1296"/>
                <a:ext cx="528" cy="8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72" y="1071"/>
                  </a:cxn>
                  <a:cxn ang="0">
                    <a:pos x="2595" y="1557"/>
                  </a:cxn>
                </a:cxnLst>
                <a:rect l="0" t="0" r="0" b="0"/>
                <a:pathLst>
                  <a:path w="384" h="768">
                    <a:moveTo>
                      <a:pt x="0" y="0"/>
                    </a:moveTo>
                    <a:cubicBezTo>
                      <a:pt x="40" y="200"/>
                      <a:pt x="80" y="400"/>
                      <a:pt x="144" y="528"/>
                    </a:cubicBezTo>
                    <a:cubicBezTo>
                      <a:pt x="208" y="656"/>
                      <a:pt x="296" y="712"/>
                      <a:pt x="384" y="768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1" name="Freeform 25"/>
              <p:cNvSpPr/>
              <p:nvPr/>
            </p:nvSpPr>
            <p:spPr>
              <a:xfrm>
                <a:off x="3744" y="1296"/>
                <a:ext cx="1056" cy="8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8" y="192"/>
                  </a:cxn>
                  <a:cxn ang="0">
                    <a:pos x="192" y="480"/>
                  </a:cxn>
                  <a:cxn ang="0">
                    <a:pos x="624" y="768"/>
                  </a:cxn>
                  <a:cxn ang="0">
                    <a:pos x="1056" y="864"/>
                  </a:cxn>
                </a:cxnLst>
                <a:rect l="0" t="0" r="0" b="0"/>
                <a:pathLst>
                  <a:path w="1056" h="864">
                    <a:moveTo>
                      <a:pt x="0" y="0"/>
                    </a:moveTo>
                    <a:cubicBezTo>
                      <a:pt x="8" y="56"/>
                      <a:pt x="16" y="112"/>
                      <a:pt x="48" y="192"/>
                    </a:cubicBezTo>
                    <a:cubicBezTo>
                      <a:pt x="80" y="272"/>
                      <a:pt x="96" y="384"/>
                      <a:pt x="192" y="480"/>
                    </a:cubicBezTo>
                    <a:cubicBezTo>
                      <a:pt x="288" y="576"/>
                      <a:pt x="480" y="704"/>
                      <a:pt x="624" y="768"/>
                    </a:cubicBezTo>
                    <a:cubicBezTo>
                      <a:pt x="768" y="832"/>
                      <a:pt x="912" y="848"/>
                      <a:pt x="1056" y="864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82" name="Line 26"/>
            <p:cNvSpPr/>
            <p:nvPr/>
          </p:nvSpPr>
          <p:spPr>
            <a:xfrm>
              <a:off x="3840" y="1178"/>
              <a:ext cx="192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83" name="Line 27"/>
            <p:cNvSpPr/>
            <p:nvPr/>
          </p:nvSpPr>
          <p:spPr>
            <a:xfrm>
              <a:off x="4320" y="1447"/>
              <a:ext cx="96" cy="269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84" name="Line 28"/>
            <p:cNvSpPr/>
            <p:nvPr/>
          </p:nvSpPr>
          <p:spPr>
            <a:xfrm flipH="1" flipV="1">
              <a:off x="3936" y="1672"/>
              <a:ext cx="192" cy="134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29" name="Text Box 29"/>
            <p:cNvSpPr txBox="1">
              <a:spLocks noChangeArrowheads="1"/>
            </p:cNvSpPr>
            <p:nvPr/>
          </p:nvSpPr>
          <p:spPr bwMode="auto">
            <a:xfrm>
              <a:off x="4416" y="1358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30" name="Text Box 30"/>
            <p:cNvSpPr txBox="1">
              <a:spLocks noChangeArrowheads="1"/>
            </p:cNvSpPr>
            <p:nvPr/>
          </p:nvSpPr>
          <p:spPr bwMode="auto">
            <a:xfrm>
              <a:off x="3600" y="1761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31" name="Text Box 31"/>
            <p:cNvSpPr txBox="1">
              <a:spLocks noChangeArrowheads="1"/>
            </p:cNvSpPr>
            <p:nvPr/>
          </p:nvSpPr>
          <p:spPr bwMode="auto">
            <a:xfrm>
              <a:off x="4848" y="1851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chemeClr val="tx2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lang="en-US" altLang="zh-CN" sz="3200" noProof="1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488" name="Group 32"/>
          <p:cNvGrpSpPr/>
          <p:nvPr/>
        </p:nvGrpSpPr>
        <p:grpSpPr>
          <a:xfrm>
            <a:off x="609600" y="3403600"/>
            <a:ext cx="3962400" cy="2573338"/>
            <a:chOff x="384" y="2390"/>
            <a:chExt cx="2496" cy="1621"/>
          </a:xfrm>
        </p:grpSpPr>
        <p:sp>
          <p:nvSpPr>
            <p:cNvPr id="19489" name="Line 33"/>
            <p:cNvSpPr/>
            <p:nvPr/>
          </p:nvSpPr>
          <p:spPr>
            <a:xfrm>
              <a:off x="768" y="3780"/>
              <a:ext cx="15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90" name="Line 34"/>
            <p:cNvSpPr/>
            <p:nvPr/>
          </p:nvSpPr>
          <p:spPr>
            <a:xfrm flipV="1">
              <a:off x="768" y="2479"/>
              <a:ext cx="0" cy="130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35" name="Text Box 35"/>
            <p:cNvSpPr txBox="1">
              <a:spLocks noChangeArrowheads="1"/>
            </p:cNvSpPr>
            <p:nvPr/>
          </p:nvSpPr>
          <p:spPr bwMode="auto">
            <a:xfrm>
              <a:off x="384" y="2390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kumimoji="1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36" name="Text Box 36"/>
            <p:cNvSpPr txBox="1">
              <a:spLocks noChangeArrowheads="1"/>
            </p:cNvSpPr>
            <p:nvPr/>
          </p:nvSpPr>
          <p:spPr bwMode="auto">
            <a:xfrm>
              <a:off x="2400" y="3646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rgbClr val="0033CC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lang="en-US" altLang="zh-CN" sz="3200" noProof="1">
                <a:solidFill>
                  <a:srgbClr val="0033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19493" name="Group 37"/>
            <p:cNvGrpSpPr/>
            <p:nvPr/>
          </p:nvGrpSpPr>
          <p:grpSpPr>
            <a:xfrm>
              <a:off x="1104" y="2524"/>
              <a:ext cx="1056" cy="1124"/>
              <a:chOff x="1008" y="2592"/>
              <a:chExt cx="1200" cy="1202"/>
            </a:xfrm>
          </p:grpSpPr>
          <p:sp>
            <p:nvSpPr>
              <p:cNvPr id="19494" name="Line 38"/>
              <p:cNvSpPr/>
              <p:nvPr/>
            </p:nvSpPr>
            <p:spPr>
              <a:xfrm flipH="1">
                <a:off x="1008" y="2736"/>
                <a:ext cx="0" cy="57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95" name="Freeform 39"/>
              <p:cNvSpPr/>
              <p:nvPr/>
            </p:nvSpPr>
            <p:spPr>
              <a:xfrm rot="4541250" flipH="1">
                <a:off x="965" y="2750"/>
                <a:ext cx="1202" cy="88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85" y="246"/>
                  </a:cxn>
                  <a:cxn ang="0">
                    <a:pos x="6263" y="360"/>
                  </a:cxn>
                </a:cxnLst>
                <a:rect l="0" t="0" r="0" b="0"/>
                <a:pathLst>
                  <a:path w="864" h="1056">
                    <a:moveTo>
                      <a:pt x="0" y="0"/>
                    </a:moveTo>
                    <a:cubicBezTo>
                      <a:pt x="120" y="272"/>
                      <a:pt x="240" y="544"/>
                      <a:pt x="384" y="720"/>
                    </a:cubicBezTo>
                    <a:cubicBezTo>
                      <a:pt x="528" y="896"/>
                      <a:pt x="696" y="976"/>
                      <a:pt x="864" y="1056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6" name="Freeform 40"/>
              <p:cNvSpPr/>
              <p:nvPr/>
            </p:nvSpPr>
            <p:spPr>
              <a:xfrm>
                <a:off x="1008" y="3312"/>
                <a:ext cx="1200" cy="3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28" y="288"/>
                  </a:cxn>
                  <a:cxn ang="0">
                    <a:pos x="1200" y="384"/>
                  </a:cxn>
                </a:cxnLst>
                <a:rect l="0" t="0" r="0" b="0"/>
                <a:pathLst>
                  <a:path w="1200" h="384">
                    <a:moveTo>
                      <a:pt x="0" y="0"/>
                    </a:moveTo>
                    <a:cubicBezTo>
                      <a:pt x="164" y="112"/>
                      <a:pt x="328" y="224"/>
                      <a:pt x="528" y="288"/>
                    </a:cubicBezTo>
                    <a:cubicBezTo>
                      <a:pt x="728" y="352"/>
                      <a:pt x="1088" y="368"/>
                      <a:pt x="1200" y="384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97" name="Line 41"/>
            <p:cNvSpPr/>
            <p:nvPr/>
          </p:nvSpPr>
          <p:spPr>
            <a:xfrm flipV="1">
              <a:off x="1104" y="2838"/>
              <a:ext cx="0" cy="22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98" name="Line 42"/>
            <p:cNvSpPr/>
            <p:nvPr/>
          </p:nvSpPr>
          <p:spPr>
            <a:xfrm>
              <a:off x="1392" y="3107"/>
              <a:ext cx="144" cy="135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99" name="Line 43"/>
            <p:cNvSpPr/>
            <p:nvPr/>
          </p:nvSpPr>
          <p:spPr>
            <a:xfrm flipH="1" flipV="1">
              <a:off x="1392" y="3376"/>
              <a:ext cx="192" cy="9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44" name="Text Box 44"/>
            <p:cNvSpPr txBox="1">
              <a:spLocks noChangeArrowheads="1"/>
            </p:cNvSpPr>
            <p:nvPr/>
          </p:nvSpPr>
          <p:spPr bwMode="auto">
            <a:xfrm>
              <a:off x="912" y="3332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等温</a:t>
              </a:r>
              <a:endParaRPr kumimoji="1" lang="zh-CN" altLang="en-US" sz="3200" kern="1200" cap="none" spc="0" normalizeH="0" baseline="0" noProof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45" name="Text Box 45"/>
            <p:cNvSpPr txBox="1">
              <a:spLocks noChangeArrowheads="1"/>
            </p:cNvSpPr>
            <p:nvPr/>
          </p:nvSpPr>
          <p:spPr bwMode="auto">
            <a:xfrm>
              <a:off x="1440" y="2838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46" name="Text Box 46"/>
            <p:cNvSpPr txBox="1">
              <a:spLocks noChangeArrowheads="1"/>
            </p:cNvSpPr>
            <p:nvPr/>
          </p:nvSpPr>
          <p:spPr bwMode="auto">
            <a:xfrm>
              <a:off x="2208" y="3332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chemeClr val="tx2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endParaRPr lang="en-US" altLang="zh-CN" sz="3200" noProof="1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503" name="Group 47"/>
          <p:cNvGrpSpPr/>
          <p:nvPr/>
        </p:nvGrpSpPr>
        <p:grpSpPr>
          <a:xfrm>
            <a:off x="4800600" y="3189288"/>
            <a:ext cx="4114800" cy="2859087"/>
            <a:chOff x="3024" y="2255"/>
            <a:chExt cx="2592" cy="1801"/>
          </a:xfrm>
        </p:grpSpPr>
        <p:sp>
          <p:nvSpPr>
            <p:cNvPr id="19504" name="Line 48"/>
            <p:cNvSpPr/>
            <p:nvPr/>
          </p:nvSpPr>
          <p:spPr>
            <a:xfrm>
              <a:off x="3408" y="3735"/>
              <a:ext cx="15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505" name="Line 49"/>
            <p:cNvSpPr/>
            <p:nvPr/>
          </p:nvSpPr>
          <p:spPr>
            <a:xfrm flipV="1">
              <a:off x="3408" y="2435"/>
              <a:ext cx="0" cy="130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50" name="Text Box 50"/>
            <p:cNvSpPr txBox="1">
              <a:spLocks noChangeArrowheads="1"/>
            </p:cNvSpPr>
            <p:nvPr/>
          </p:nvSpPr>
          <p:spPr bwMode="auto">
            <a:xfrm>
              <a:off x="3024" y="2345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rgbClr val="0033CC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lang="en-US" altLang="zh-CN" sz="3200" noProof="1">
                <a:solidFill>
                  <a:srgbClr val="0033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870451" name="Text Box 51"/>
            <p:cNvSpPr txBox="1">
              <a:spLocks noChangeArrowheads="1"/>
            </p:cNvSpPr>
            <p:nvPr/>
          </p:nvSpPr>
          <p:spPr bwMode="auto">
            <a:xfrm>
              <a:off x="4992" y="2255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52" name="Text Box 52"/>
            <p:cNvSpPr txBox="1">
              <a:spLocks noChangeArrowheads="1"/>
            </p:cNvSpPr>
            <p:nvPr/>
          </p:nvSpPr>
          <p:spPr bwMode="auto">
            <a:xfrm>
              <a:off x="5136" y="3691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rgbClr val="0033CC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lang="en-US" altLang="zh-CN" sz="3200" noProof="1">
                <a:solidFill>
                  <a:srgbClr val="0033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19509" name="Group 53"/>
            <p:cNvGrpSpPr/>
            <p:nvPr/>
          </p:nvGrpSpPr>
          <p:grpSpPr>
            <a:xfrm>
              <a:off x="3648" y="2659"/>
              <a:ext cx="1200" cy="807"/>
              <a:chOff x="3744" y="2832"/>
              <a:chExt cx="864" cy="816"/>
            </a:xfrm>
          </p:grpSpPr>
          <p:sp>
            <p:nvSpPr>
              <p:cNvPr id="19510" name="Freeform 54"/>
              <p:cNvSpPr/>
              <p:nvPr/>
            </p:nvSpPr>
            <p:spPr>
              <a:xfrm>
                <a:off x="3744" y="2832"/>
                <a:ext cx="528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0" y="192"/>
                  </a:cxn>
                  <a:cxn ang="0">
                    <a:pos x="528" y="240"/>
                  </a:cxn>
                </a:cxnLst>
                <a:rect l="0" t="0" r="0" b="0"/>
                <a:pathLst>
                  <a:path w="528" h="240">
                    <a:moveTo>
                      <a:pt x="0" y="0"/>
                    </a:moveTo>
                    <a:cubicBezTo>
                      <a:pt x="76" y="76"/>
                      <a:pt x="152" y="152"/>
                      <a:pt x="240" y="192"/>
                    </a:cubicBezTo>
                    <a:cubicBezTo>
                      <a:pt x="328" y="232"/>
                      <a:pt x="428" y="236"/>
                      <a:pt x="528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1" name="Freeform 55"/>
              <p:cNvSpPr/>
              <p:nvPr/>
            </p:nvSpPr>
            <p:spPr>
              <a:xfrm>
                <a:off x="4272" y="3072"/>
                <a:ext cx="336" cy="5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336"/>
                  </a:cxn>
                  <a:cxn ang="0">
                    <a:pos x="336" y="576"/>
                  </a:cxn>
                </a:cxnLst>
                <a:rect l="0" t="0" r="0" b="0"/>
                <a:pathLst>
                  <a:path w="336" h="576">
                    <a:moveTo>
                      <a:pt x="0" y="0"/>
                    </a:moveTo>
                    <a:cubicBezTo>
                      <a:pt x="20" y="120"/>
                      <a:pt x="40" y="240"/>
                      <a:pt x="96" y="336"/>
                    </a:cubicBezTo>
                    <a:cubicBezTo>
                      <a:pt x="152" y="432"/>
                      <a:pt x="244" y="504"/>
                      <a:pt x="336" y="576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2" name="Freeform 56"/>
              <p:cNvSpPr/>
              <p:nvPr/>
            </p:nvSpPr>
            <p:spPr>
              <a:xfrm>
                <a:off x="3744" y="2832"/>
                <a:ext cx="864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4" y="624"/>
                  </a:cxn>
                  <a:cxn ang="0">
                    <a:pos x="864" y="816"/>
                  </a:cxn>
                </a:cxnLst>
                <a:rect l="0" t="0" r="0" b="0"/>
                <a:pathLst>
                  <a:path w="864" h="816">
                    <a:moveTo>
                      <a:pt x="0" y="0"/>
                    </a:moveTo>
                    <a:cubicBezTo>
                      <a:pt x="120" y="244"/>
                      <a:pt x="240" y="488"/>
                      <a:pt x="384" y="624"/>
                    </a:cubicBezTo>
                    <a:cubicBezTo>
                      <a:pt x="528" y="760"/>
                      <a:pt x="696" y="788"/>
                      <a:pt x="864" y="816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13" name="Line 57"/>
            <p:cNvSpPr/>
            <p:nvPr/>
          </p:nvSpPr>
          <p:spPr>
            <a:xfrm>
              <a:off x="3936" y="2838"/>
              <a:ext cx="192" cy="45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514" name="Line 58"/>
            <p:cNvSpPr/>
            <p:nvPr/>
          </p:nvSpPr>
          <p:spPr>
            <a:xfrm>
              <a:off x="4416" y="3107"/>
              <a:ext cx="96" cy="135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515" name="Line 59"/>
            <p:cNvSpPr/>
            <p:nvPr/>
          </p:nvSpPr>
          <p:spPr>
            <a:xfrm flipH="1" flipV="1">
              <a:off x="4128" y="3242"/>
              <a:ext cx="144" cy="9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60" name="Text Box 60"/>
            <p:cNvSpPr txBox="1">
              <a:spLocks noChangeArrowheads="1"/>
            </p:cNvSpPr>
            <p:nvPr/>
          </p:nvSpPr>
          <p:spPr bwMode="auto">
            <a:xfrm>
              <a:off x="3552" y="3152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61" name="Text Box 61"/>
            <p:cNvSpPr txBox="1">
              <a:spLocks noChangeArrowheads="1"/>
            </p:cNvSpPr>
            <p:nvPr/>
          </p:nvSpPr>
          <p:spPr bwMode="auto">
            <a:xfrm>
              <a:off x="4560" y="2883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62" name="Text Box 62"/>
            <p:cNvSpPr txBox="1">
              <a:spLocks noChangeArrowheads="1"/>
            </p:cNvSpPr>
            <p:nvPr/>
          </p:nvSpPr>
          <p:spPr bwMode="auto">
            <a:xfrm>
              <a:off x="3792" y="2524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等温</a:t>
              </a:r>
              <a:endParaRPr kumimoji="1" lang="zh-CN" altLang="en-US" sz="3200" kern="1200" cap="none" spc="0" normalizeH="0" baseline="0" noProof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63" name="Text Box 63"/>
            <p:cNvSpPr txBox="1">
              <a:spLocks noChangeArrowheads="1"/>
            </p:cNvSpPr>
            <p:nvPr/>
          </p:nvSpPr>
          <p:spPr bwMode="auto">
            <a:xfrm>
              <a:off x="4944" y="3332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endParaRPr lang="en-US" altLang="zh-CN" sz="3200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870464" name="Text Box 64"/>
          <p:cNvSpPr txBox="1">
            <a:spLocks noChangeArrowheads="1"/>
          </p:cNvSpPr>
          <p:nvPr/>
        </p:nvSpPr>
        <p:spPr bwMode="auto">
          <a:xfrm>
            <a:off x="5435600" y="5873750"/>
            <a:ext cx="1498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32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答案：</a:t>
            </a:r>
            <a:endParaRPr kumimoji="1" lang="zh-CN" altLang="en-US" sz="3200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65" name="Text Box 65"/>
          <p:cNvSpPr txBox="1">
            <a:spLocks noChangeArrowheads="1"/>
          </p:cNvSpPr>
          <p:nvPr/>
        </p:nvSpPr>
        <p:spPr bwMode="auto">
          <a:xfrm>
            <a:off x="6858000" y="5873750"/>
            <a:ext cx="609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endParaRPr lang="en-US" altLang="zh-CN" sz="3200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64" grpId="0"/>
      <p:bldP spid="87046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14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871426" name="Text Box 2"/>
          <p:cNvSpPr txBox="1">
            <a:spLocks noChangeArrowheads="1"/>
          </p:cNvSpPr>
          <p:nvPr/>
        </p:nvSpPr>
        <p:spPr bwMode="auto">
          <a:xfrm>
            <a:off x="323850" y="0"/>
            <a:ext cx="7848600" cy="2333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0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②</a:t>
            </a:r>
            <a:r>
              <a:rPr kumimoji="1" lang="en-US" altLang="zh-CN" sz="2800" b="0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一定量的理想气体，由平衡状态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变到平衡状态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en-US" altLang="zh-CN" sz="2800" kern="1200" cap="none" spc="0" normalizeH="0" baseline="-2500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=P</a:t>
            </a:r>
            <a:r>
              <a:rPr kumimoji="1" lang="en-US" altLang="zh-CN" sz="2800" kern="1200" cap="none" spc="0" normalizeH="0" baseline="-2500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），则无论经历的是什么过程，系统必然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     A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）对外作功              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）内能增加</a:t>
            </a: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）从外界吸热          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）向外界放热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5535613" y="3851275"/>
            <a:ext cx="2209800" cy="152400"/>
            <a:chOff x="3487" y="2426"/>
            <a:chExt cx="1392" cy="96"/>
          </a:xfrm>
        </p:grpSpPr>
        <p:sp>
          <p:nvSpPr>
            <p:cNvPr id="72747" name="Oval 4"/>
            <p:cNvSpPr/>
            <p:nvPr/>
          </p:nvSpPr>
          <p:spPr>
            <a:xfrm>
              <a:off x="4015" y="2426"/>
              <a:ext cx="96" cy="9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72748" name="Oval 5"/>
            <p:cNvSpPr/>
            <p:nvPr/>
          </p:nvSpPr>
          <p:spPr>
            <a:xfrm>
              <a:off x="4783" y="2426"/>
              <a:ext cx="96" cy="9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72749" name="Line 6"/>
            <p:cNvSpPr/>
            <p:nvPr/>
          </p:nvSpPr>
          <p:spPr>
            <a:xfrm>
              <a:off x="3487" y="2474"/>
              <a:ext cx="13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headEnd type="none" w="med" len="med"/>
              <a:tailEnd type="none" w="med" len="med"/>
            </a:ln>
          </p:spPr>
        </p:sp>
      </p:grpSp>
      <p:grpSp>
        <p:nvGrpSpPr>
          <p:cNvPr id="3" name="Group 7"/>
          <p:cNvGrpSpPr/>
          <p:nvPr/>
        </p:nvGrpSpPr>
        <p:grpSpPr>
          <a:xfrm>
            <a:off x="4849813" y="2479675"/>
            <a:ext cx="3983037" cy="2865438"/>
            <a:chOff x="3055" y="1562"/>
            <a:chExt cx="2509" cy="1805"/>
          </a:xfrm>
        </p:grpSpPr>
        <p:sp>
          <p:nvSpPr>
            <p:cNvPr id="72741" name="Line 8"/>
            <p:cNvSpPr/>
            <p:nvPr/>
          </p:nvSpPr>
          <p:spPr>
            <a:xfrm flipV="1">
              <a:off x="3487" y="1706"/>
              <a:ext cx="0" cy="15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742" name="Line 9"/>
            <p:cNvSpPr/>
            <p:nvPr/>
          </p:nvSpPr>
          <p:spPr>
            <a:xfrm>
              <a:off x="3487" y="3242"/>
              <a:ext cx="16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1434" name="Rectangle 10"/>
            <p:cNvSpPr>
              <a:spLocks noChangeArrowheads="1"/>
            </p:cNvSpPr>
            <p:nvPr/>
          </p:nvSpPr>
          <p:spPr bwMode="auto">
            <a:xfrm>
              <a:off x="3055" y="1562"/>
              <a:ext cx="27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  <p:sp>
          <p:nvSpPr>
            <p:cNvPr id="871435" name="Rectangle 11"/>
            <p:cNvSpPr>
              <a:spLocks noChangeArrowheads="1"/>
            </p:cNvSpPr>
            <p:nvPr/>
          </p:nvSpPr>
          <p:spPr bwMode="auto">
            <a:xfrm>
              <a:off x="5263" y="3002"/>
              <a:ext cx="30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</a:p>
          </p:txBody>
        </p:sp>
        <p:sp>
          <p:nvSpPr>
            <p:cNvPr id="871436" name="Rectangle 12"/>
            <p:cNvSpPr>
              <a:spLocks noChangeArrowheads="1"/>
            </p:cNvSpPr>
            <p:nvPr/>
          </p:nvSpPr>
          <p:spPr bwMode="auto">
            <a:xfrm>
              <a:off x="3871" y="1994"/>
              <a:ext cx="30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871437" name="Rectangle 13"/>
            <p:cNvSpPr>
              <a:spLocks noChangeArrowheads="1"/>
            </p:cNvSpPr>
            <p:nvPr/>
          </p:nvSpPr>
          <p:spPr bwMode="auto">
            <a:xfrm>
              <a:off x="4687" y="1994"/>
              <a:ext cx="287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sp>
        <p:nvSpPr>
          <p:cNvPr id="871438" name="AutoShape 14"/>
          <p:cNvSpPr/>
          <p:nvPr/>
        </p:nvSpPr>
        <p:spPr>
          <a:xfrm rot="10800000">
            <a:off x="7164388" y="1270000"/>
            <a:ext cx="609600" cy="217488"/>
          </a:xfrm>
          <a:prstGeom prst="rightArrow">
            <a:avLst>
              <a:gd name="adj1" fmla="val 50000"/>
              <a:gd name="adj2" fmla="val 69969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4" name="Group 15"/>
          <p:cNvGrpSpPr/>
          <p:nvPr/>
        </p:nvGrpSpPr>
        <p:grpSpPr>
          <a:xfrm>
            <a:off x="6069013" y="3013075"/>
            <a:ext cx="3074987" cy="1951038"/>
            <a:chOff x="3552" y="1920"/>
            <a:chExt cx="1937" cy="1229"/>
          </a:xfrm>
        </p:grpSpPr>
        <p:sp>
          <p:nvSpPr>
            <p:cNvPr id="72737" name="Freeform 16"/>
            <p:cNvSpPr/>
            <p:nvPr/>
          </p:nvSpPr>
          <p:spPr>
            <a:xfrm>
              <a:off x="3552" y="2112"/>
              <a:ext cx="864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384"/>
                </a:cxn>
                <a:cxn ang="0">
                  <a:pos x="864" y="768"/>
                </a:cxn>
              </a:cxnLst>
              <a:rect l="0" t="0" r="0" b="0"/>
              <a:pathLst>
                <a:path w="864" h="768">
                  <a:moveTo>
                    <a:pt x="0" y="0"/>
                  </a:moveTo>
                  <a:cubicBezTo>
                    <a:pt x="48" y="128"/>
                    <a:pt x="96" y="256"/>
                    <a:pt x="240" y="384"/>
                  </a:cubicBezTo>
                  <a:cubicBezTo>
                    <a:pt x="384" y="512"/>
                    <a:pt x="624" y="640"/>
                    <a:pt x="864" y="768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38" name="Freeform 17"/>
            <p:cNvSpPr/>
            <p:nvPr/>
          </p:nvSpPr>
          <p:spPr>
            <a:xfrm>
              <a:off x="4032" y="1920"/>
              <a:ext cx="864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384"/>
                </a:cxn>
                <a:cxn ang="0">
                  <a:pos x="864" y="768"/>
                </a:cxn>
              </a:cxnLst>
              <a:rect l="0" t="0" r="0" b="0"/>
              <a:pathLst>
                <a:path w="864" h="768">
                  <a:moveTo>
                    <a:pt x="0" y="0"/>
                  </a:moveTo>
                  <a:cubicBezTo>
                    <a:pt x="48" y="128"/>
                    <a:pt x="96" y="256"/>
                    <a:pt x="240" y="384"/>
                  </a:cubicBezTo>
                  <a:cubicBezTo>
                    <a:pt x="384" y="512"/>
                    <a:pt x="624" y="640"/>
                    <a:pt x="864" y="768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442" name="Text Box 18"/>
            <p:cNvSpPr txBox="1">
              <a:spLocks noChangeArrowheads="1"/>
            </p:cNvSpPr>
            <p:nvPr/>
          </p:nvSpPr>
          <p:spPr bwMode="auto">
            <a:xfrm>
              <a:off x="4512" y="2784"/>
              <a:ext cx="545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zh-CN" altLang="en-US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低</a:t>
              </a:r>
              <a:endParaRPr kumimoji="1" lang="zh-CN" altLang="en-US" sz="32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443" name="Text Box 19"/>
            <p:cNvSpPr txBox="1">
              <a:spLocks noChangeArrowheads="1"/>
            </p:cNvSpPr>
            <p:nvPr/>
          </p:nvSpPr>
          <p:spPr bwMode="auto">
            <a:xfrm>
              <a:off x="4944" y="2352"/>
              <a:ext cx="545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zh-CN" altLang="en-US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高</a:t>
              </a:r>
              <a:endParaRPr kumimoji="1" lang="zh-CN" altLang="en-US" sz="32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Group 20"/>
          <p:cNvGrpSpPr/>
          <p:nvPr/>
        </p:nvGrpSpPr>
        <p:grpSpPr>
          <a:xfrm>
            <a:off x="395288" y="4076700"/>
            <a:ext cx="4251325" cy="2805113"/>
            <a:chOff x="249" y="2568"/>
            <a:chExt cx="2678" cy="1767"/>
          </a:xfrm>
        </p:grpSpPr>
        <p:sp>
          <p:nvSpPr>
            <p:cNvPr id="871445" name="Rectangle 21"/>
            <p:cNvSpPr>
              <a:spLocks noChangeArrowheads="1"/>
            </p:cNvSpPr>
            <p:nvPr/>
          </p:nvSpPr>
          <p:spPr bwMode="auto">
            <a:xfrm>
              <a:off x="249" y="2568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  <p:grpSp>
          <p:nvGrpSpPr>
            <p:cNvPr id="72728" name="Group 22"/>
            <p:cNvGrpSpPr/>
            <p:nvPr/>
          </p:nvGrpSpPr>
          <p:grpSpPr>
            <a:xfrm>
              <a:off x="681" y="2705"/>
              <a:ext cx="2246" cy="1630"/>
              <a:chOff x="681" y="2705"/>
              <a:chExt cx="2246" cy="1630"/>
            </a:xfrm>
          </p:grpSpPr>
          <p:sp>
            <p:nvSpPr>
              <p:cNvPr id="72729" name="Line 23"/>
              <p:cNvSpPr/>
              <p:nvPr/>
            </p:nvSpPr>
            <p:spPr>
              <a:xfrm flipV="1">
                <a:off x="681" y="2705"/>
                <a:ext cx="0" cy="15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30" name="Line 24"/>
              <p:cNvSpPr/>
              <p:nvPr/>
            </p:nvSpPr>
            <p:spPr>
              <a:xfrm>
                <a:off x="681" y="4266"/>
                <a:ext cx="196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71449" name="Rectangle 25"/>
              <p:cNvSpPr>
                <a:spLocks noChangeArrowheads="1"/>
              </p:cNvSpPr>
              <p:nvPr/>
            </p:nvSpPr>
            <p:spPr bwMode="auto">
              <a:xfrm>
                <a:off x="2649" y="4008"/>
                <a:ext cx="27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99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</a:p>
            </p:txBody>
          </p:sp>
          <p:sp>
            <p:nvSpPr>
              <p:cNvPr id="72732" name="Oval 26"/>
              <p:cNvSpPr/>
              <p:nvPr/>
            </p:nvSpPr>
            <p:spPr>
              <a:xfrm>
                <a:off x="1209" y="3402"/>
                <a:ext cx="96" cy="9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72733" name="Oval 27"/>
              <p:cNvSpPr/>
              <p:nvPr/>
            </p:nvSpPr>
            <p:spPr>
              <a:xfrm>
                <a:off x="1977" y="3402"/>
                <a:ext cx="96" cy="96"/>
              </a:xfrm>
              <a:prstGeom prst="ellipse">
                <a:avLst/>
              </a:prstGeom>
              <a:solidFill>
                <a:srgbClr val="FFFFFF"/>
              </a:solidFill>
              <a:ln w="63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72734" name="Line 28"/>
              <p:cNvSpPr/>
              <p:nvPr/>
            </p:nvSpPr>
            <p:spPr>
              <a:xfrm>
                <a:off x="681" y="3450"/>
                <a:ext cx="13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Dot"/>
                <a:headEnd type="none" w="med" len="med"/>
                <a:tailEnd type="none" w="med" len="med"/>
              </a:ln>
            </p:spPr>
          </p:sp>
          <p:sp>
            <p:nvSpPr>
              <p:cNvPr id="871453" name="Rectangle 29"/>
              <p:cNvSpPr>
                <a:spLocks noChangeArrowheads="1"/>
              </p:cNvSpPr>
              <p:nvPr/>
            </p:nvSpPr>
            <p:spPr bwMode="auto">
              <a:xfrm>
                <a:off x="1065" y="3048"/>
                <a:ext cx="278" cy="327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99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871454" name="Rectangle 30"/>
              <p:cNvSpPr>
                <a:spLocks noChangeArrowheads="1"/>
              </p:cNvSpPr>
              <p:nvPr/>
            </p:nvSpPr>
            <p:spPr bwMode="auto">
              <a:xfrm>
                <a:off x="2025" y="3096"/>
                <a:ext cx="265" cy="327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99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</p:grpSp>
      <p:grpSp>
        <p:nvGrpSpPr>
          <p:cNvPr id="7" name="Group 31"/>
          <p:cNvGrpSpPr/>
          <p:nvPr/>
        </p:nvGrpSpPr>
        <p:grpSpPr>
          <a:xfrm>
            <a:off x="1995488" y="4333875"/>
            <a:ext cx="2057400" cy="2209800"/>
            <a:chOff x="1257" y="2730"/>
            <a:chExt cx="1296" cy="1392"/>
          </a:xfrm>
        </p:grpSpPr>
        <p:grpSp>
          <p:nvGrpSpPr>
            <p:cNvPr id="72716" name="Group 32"/>
            <p:cNvGrpSpPr/>
            <p:nvPr/>
          </p:nvGrpSpPr>
          <p:grpSpPr>
            <a:xfrm>
              <a:off x="1257" y="2730"/>
              <a:ext cx="1296" cy="1392"/>
              <a:chOff x="1257" y="2730"/>
              <a:chExt cx="1296" cy="1392"/>
            </a:xfrm>
          </p:grpSpPr>
          <p:sp>
            <p:nvSpPr>
              <p:cNvPr id="72718" name="Line 33"/>
              <p:cNvSpPr/>
              <p:nvPr/>
            </p:nvSpPr>
            <p:spPr>
              <a:xfrm>
                <a:off x="1257" y="3450"/>
                <a:ext cx="0" cy="67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19" name="Line 34"/>
              <p:cNvSpPr/>
              <p:nvPr/>
            </p:nvSpPr>
            <p:spPr>
              <a:xfrm>
                <a:off x="1257" y="4122"/>
                <a:ext cx="124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0" name="Line 35"/>
              <p:cNvSpPr/>
              <p:nvPr/>
            </p:nvSpPr>
            <p:spPr>
              <a:xfrm>
                <a:off x="2505" y="2730"/>
                <a:ext cx="0" cy="139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1" name="Line 36"/>
              <p:cNvSpPr/>
              <p:nvPr/>
            </p:nvSpPr>
            <p:spPr>
              <a:xfrm>
                <a:off x="2025" y="2730"/>
                <a:ext cx="52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2" name="Line 37"/>
              <p:cNvSpPr/>
              <p:nvPr/>
            </p:nvSpPr>
            <p:spPr>
              <a:xfrm>
                <a:off x="2025" y="2730"/>
                <a:ext cx="0" cy="72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3" name="Line 38"/>
              <p:cNvSpPr/>
              <p:nvPr/>
            </p:nvSpPr>
            <p:spPr>
              <a:xfrm>
                <a:off x="1257" y="3594"/>
                <a:ext cx="0" cy="28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24" name="Line 39"/>
              <p:cNvSpPr/>
              <p:nvPr/>
            </p:nvSpPr>
            <p:spPr>
              <a:xfrm>
                <a:off x="1689" y="4122"/>
                <a:ext cx="28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25" name="Line 40"/>
              <p:cNvSpPr/>
              <p:nvPr/>
            </p:nvSpPr>
            <p:spPr>
              <a:xfrm flipV="1">
                <a:off x="2505" y="3354"/>
                <a:ext cx="0" cy="28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26" name="Line 41"/>
              <p:cNvSpPr/>
              <p:nvPr/>
            </p:nvSpPr>
            <p:spPr>
              <a:xfrm flipH="1">
                <a:off x="2169" y="2730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72717" name="Line 42"/>
            <p:cNvSpPr/>
            <p:nvPr/>
          </p:nvSpPr>
          <p:spPr>
            <a:xfrm>
              <a:off x="2025" y="2922"/>
              <a:ext cx="0" cy="24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871467" name="Rectangle 43"/>
          <p:cNvSpPr>
            <a:spLocks noChangeArrowheads="1"/>
          </p:cNvSpPr>
          <p:nvPr/>
        </p:nvSpPr>
        <p:spPr bwMode="auto">
          <a:xfrm>
            <a:off x="395288" y="2671763"/>
            <a:ext cx="28035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作功正负的判断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871468" name="Rectangle 44"/>
          <p:cNvSpPr>
            <a:spLocks noChangeArrowheads="1"/>
          </p:cNvSpPr>
          <p:nvPr/>
        </p:nvSpPr>
        <p:spPr bwMode="auto">
          <a:xfrm>
            <a:off x="396875" y="3062288"/>
            <a:ext cx="3041650" cy="1158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作功与过程有关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看是否单方向膨胀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7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87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87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7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426" grpId="0"/>
      <p:bldP spid="871438" grpId="0" animBg="1"/>
      <p:bldP spid="871467" grpId="0"/>
      <p:bldP spid="8714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15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979972" name="Text Box 4"/>
          <p:cNvSpPr txBox="1">
            <a:spLocks noChangeArrowheads="1"/>
          </p:cNvSpPr>
          <p:nvPr/>
        </p:nvSpPr>
        <p:spPr bwMode="auto">
          <a:xfrm>
            <a:off x="454025" y="260350"/>
            <a:ext cx="50292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③</a:t>
            </a:r>
            <a:r>
              <a:rPr kumimoji="1" lang="en-US" altLang="zh-CN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练习：</a:t>
            </a:r>
            <a:r>
              <a:rPr kumimoji="1" lang="zh-CN" altLang="en-US" sz="2800" kern="1200" cap="none" spc="0" normalizeH="0" baseline="0" noProof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判断下列说法的正误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1139825" y="793750"/>
            <a:ext cx="6096000" cy="1966913"/>
            <a:chOff x="720" y="2160"/>
            <a:chExt cx="3840" cy="1239"/>
          </a:xfrm>
        </p:grpSpPr>
        <p:sp>
          <p:nvSpPr>
            <p:cNvPr id="73739" name="Text Box 6"/>
            <p:cNvSpPr txBox="1"/>
            <p:nvPr/>
          </p:nvSpPr>
          <p:spPr>
            <a:xfrm>
              <a:off x="720" y="2160"/>
              <a:ext cx="38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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可逆过程一定是准静态过程</a:t>
              </a:r>
            </a:p>
          </p:txBody>
        </p:sp>
        <p:sp>
          <p:nvSpPr>
            <p:cNvPr id="73740" name="Text Box 7"/>
            <p:cNvSpPr txBox="1"/>
            <p:nvPr/>
          </p:nvSpPr>
          <p:spPr>
            <a:xfrm>
              <a:off x="720" y="2448"/>
              <a:ext cx="35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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准静态过程不一定是可逆过程</a:t>
              </a:r>
            </a:p>
          </p:txBody>
        </p:sp>
        <p:sp>
          <p:nvSpPr>
            <p:cNvPr id="73741" name="Text Box 8"/>
            <p:cNvSpPr txBox="1"/>
            <p:nvPr/>
          </p:nvSpPr>
          <p:spPr>
            <a:xfrm>
              <a:off x="720" y="2736"/>
              <a:ext cx="30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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不可逆过程不一定非静态</a:t>
              </a:r>
            </a:p>
          </p:txBody>
        </p:sp>
        <p:sp>
          <p:nvSpPr>
            <p:cNvPr id="73742" name="Text Box 9"/>
            <p:cNvSpPr txBox="1"/>
            <p:nvPr/>
          </p:nvSpPr>
          <p:spPr>
            <a:xfrm>
              <a:off x="720" y="3072"/>
              <a:ext cx="30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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非静态过程一定不可逆</a:t>
              </a:r>
            </a:p>
          </p:txBody>
        </p:sp>
      </p:grpSp>
      <p:sp>
        <p:nvSpPr>
          <p:cNvPr id="979978" name="Text Box 10"/>
          <p:cNvSpPr txBox="1"/>
          <p:nvPr/>
        </p:nvSpPr>
        <p:spPr>
          <a:xfrm>
            <a:off x="835025" y="7175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</a:p>
        </p:txBody>
      </p:sp>
      <p:sp>
        <p:nvSpPr>
          <p:cNvPr id="979979" name="Text Box 11"/>
          <p:cNvSpPr txBox="1"/>
          <p:nvPr/>
        </p:nvSpPr>
        <p:spPr>
          <a:xfrm>
            <a:off x="835025" y="21653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</a:p>
        </p:txBody>
      </p:sp>
      <p:sp>
        <p:nvSpPr>
          <p:cNvPr id="979980" name="Text Box 12"/>
          <p:cNvSpPr txBox="1"/>
          <p:nvPr/>
        </p:nvSpPr>
        <p:spPr>
          <a:xfrm>
            <a:off x="835025" y="11747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</a:p>
        </p:txBody>
      </p:sp>
      <p:sp>
        <p:nvSpPr>
          <p:cNvPr id="979981" name="Text Box 13"/>
          <p:cNvSpPr txBox="1"/>
          <p:nvPr/>
        </p:nvSpPr>
        <p:spPr>
          <a:xfrm>
            <a:off x="835025" y="16319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7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79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7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7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7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9972" grpId="0"/>
      <p:bldP spid="979978" grpId="0"/>
      <p:bldP spid="979979" grpId="0"/>
      <p:bldP spid="979980" grpId="0"/>
      <p:bldP spid="97998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" altLang="zh-CN" sz="1400" dirty="0">
                <a:ea typeface="楷体_GB2312" panose="02010609030101010101" pitchFamily="49" charset="-122"/>
              </a:rPr>
              <a:t>16</a:t>
            </a:fld>
            <a:endParaRPr lang="" altLang="zh-CN" sz="1400" dirty="0">
              <a:ea typeface="楷体_GB2312" panose="02010609030101010101" pitchFamily="49" charset="-122"/>
            </a:endParaRPr>
          </a:p>
        </p:txBody>
      </p:sp>
      <p:sp>
        <p:nvSpPr>
          <p:cNvPr id="1050626" name="Text Box 2"/>
          <p:cNvSpPr txBox="1"/>
          <p:nvPr/>
        </p:nvSpPr>
        <p:spPr>
          <a:xfrm>
            <a:off x="441325" y="422275"/>
            <a:ext cx="7914346" cy="415498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④</a:t>
            </a:r>
            <a:r>
              <a:rPr lang="en-US" altLang="zh-CN" sz="2400" b="1" dirty="0"/>
              <a:t> .  </a:t>
            </a:r>
            <a:r>
              <a:rPr lang="zh-CN" altLang="en-US" sz="2400" b="1" dirty="0"/>
              <a:t>关于可逆和不可逆过程有以下几种说法：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 可逆过程一定是平衡过程。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 平衡过程一定是可逆过程。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 不可逆过程一定找不到另一过程使系统和外界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        同时复原。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 非平衡过程一定是不可逆过程。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以上说法，正确的是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(A)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 、 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(B)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）、  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(C)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）、  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）。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(D)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）、  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）。</a:t>
            </a:r>
          </a:p>
        </p:txBody>
      </p:sp>
      <p:sp>
        <p:nvSpPr>
          <p:cNvPr id="1050627" name="Text Box 3"/>
          <p:cNvSpPr txBox="1"/>
          <p:nvPr/>
        </p:nvSpPr>
        <p:spPr>
          <a:xfrm>
            <a:off x="2117725" y="5375275"/>
            <a:ext cx="1928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答案：（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05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05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626" grpId="0"/>
      <p:bldP spid="10506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5" name="矩形 42014"/>
          <p:cNvSpPr/>
          <p:nvPr/>
        </p:nvSpPr>
        <p:spPr>
          <a:xfrm>
            <a:off x="5181600" y="2209800"/>
            <a:ext cx="3962400" cy="3810000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86" name="文本框 41985"/>
          <p:cNvSpPr txBox="1"/>
          <p:nvPr/>
        </p:nvSpPr>
        <p:spPr>
          <a:xfrm>
            <a:off x="377825" y="609600"/>
            <a:ext cx="830580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</a:rPr>
              <a:t>图示的两条曲线分别表示氦，氧两种气体在相同温度</a:t>
            </a:r>
            <a:r>
              <a:rPr lang="en-US" altLang="zh-CN" sz="2400" b="1" dirty="0">
                <a:latin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</a:rPr>
              <a:t>时分子按速率的分布。问（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分别表示哪种气体分子的速率分布曲线？（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）画有斜线的小长条面积表示什么？（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）分布曲线下所包围的面积表示什么？</a:t>
            </a:r>
          </a:p>
        </p:txBody>
      </p:sp>
      <p:sp>
        <p:nvSpPr>
          <p:cNvPr id="41987" name="文本框 41986"/>
          <p:cNvSpPr txBox="1"/>
          <p:nvPr/>
        </p:nvSpPr>
        <p:spPr>
          <a:xfrm>
            <a:off x="377825" y="2667000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解：（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是氧。</a:t>
            </a: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是氦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41988" name="文本框 41987"/>
          <p:cNvSpPr txBox="1"/>
          <p:nvPr/>
        </p:nvSpPr>
        <p:spPr>
          <a:xfrm>
            <a:off x="377825" y="3276600"/>
            <a:ext cx="48768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）速率在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+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400" b="1" dirty="0">
                <a:latin typeface="Times New Roman" panose="02020603050405020304" pitchFamily="18" charset="0"/>
              </a:rPr>
              <a:t>范围内的分子数占总分子数的百分比</a:t>
            </a:r>
          </a:p>
        </p:txBody>
      </p:sp>
      <p:sp>
        <p:nvSpPr>
          <p:cNvPr id="41989" name="文本框 41988"/>
          <p:cNvSpPr txBox="1"/>
          <p:nvPr/>
        </p:nvSpPr>
        <p:spPr>
          <a:xfrm>
            <a:off x="377825" y="4419600"/>
            <a:ext cx="48768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）速率在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</a:t>
            </a:r>
            <a:r>
              <a:rPr lang="zh-CN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整个速率区间内的</a:t>
            </a:r>
            <a:r>
              <a:rPr lang="zh-CN" altLang="en-US" sz="2400" b="1" dirty="0">
                <a:latin typeface="Times New Roman" panose="02020603050405020304" pitchFamily="18" charset="0"/>
              </a:rPr>
              <a:t>分子数的</a:t>
            </a:r>
            <a:r>
              <a:rPr lang="zh-CN" altLang="en-US" sz="2400" dirty="0"/>
              <a:t>百分比的</a:t>
            </a:r>
            <a:r>
              <a:rPr lang="zh-CN" altLang="en-US" sz="2400" b="1" dirty="0">
                <a:latin typeface="Times New Roman" panose="02020603050405020304" pitchFamily="18" charset="0"/>
              </a:rPr>
              <a:t>总和。</a:t>
            </a:r>
          </a:p>
        </p:txBody>
      </p:sp>
      <p:grpSp>
        <p:nvGrpSpPr>
          <p:cNvPr id="42013" name="组合 42012"/>
          <p:cNvGrpSpPr/>
          <p:nvPr/>
        </p:nvGrpSpPr>
        <p:grpSpPr>
          <a:xfrm>
            <a:off x="5181600" y="2133600"/>
            <a:ext cx="3886200" cy="3886200"/>
            <a:chOff x="3264" y="1344"/>
            <a:chExt cx="2448" cy="2448"/>
          </a:xfrm>
        </p:grpSpPr>
        <p:sp>
          <p:nvSpPr>
            <p:cNvPr id="41991" name="直接连接符 41990"/>
            <p:cNvSpPr/>
            <p:nvPr/>
          </p:nvSpPr>
          <p:spPr>
            <a:xfrm>
              <a:off x="3552" y="3456"/>
              <a:ext cx="2160" cy="0"/>
            </a:xfrm>
            <a:prstGeom prst="line">
              <a:avLst/>
            </a:prstGeom>
            <a:ln w="9525" cap="flat" cmpd="sng">
              <a:solidFill>
                <a:srgbClr val="FFFF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2" name="直接连接符 41991"/>
            <p:cNvSpPr/>
            <p:nvPr/>
          </p:nvSpPr>
          <p:spPr>
            <a:xfrm flipV="1">
              <a:off x="3552" y="1584"/>
              <a:ext cx="0" cy="1872"/>
            </a:xfrm>
            <a:prstGeom prst="line">
              <a:avLst/>
            </a:prstGeom>
            <a:ln w="9525" cap="flat" cmpd="sng">
              <a:solidFill>
                <a:srgbClr val="FFFF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3" name="任意多边形 41992"/>
            <p:cNvSpPr/>
            <p:nvPr/>
          </p:nvSpPr>
          <p:spPr>
            <a:xfrm>
              <a:off x="3552" y="1712"/>
              <a:ext cx="1392" cy="1744"/>
            </a:xfrm>
            <a:custGeom>
              <a:avLst/>
              <a:gdLst/>
              <a:ahLst/>
              <a:cxnLst/>
              <a:rect l="0" t="0" r="0" b="0"/>
              <a:pathLst>
                <a:path w="1392" h="1744">
                  <a:moveTo>
                    <a:pt x="0" y="1744"/>
                  </a:moveTo>
                  <a:cubicBezTo>
                    <a:pt x="148" y="888"/>
                    <a:pt x="296" y="32"/>
                    <a:pt x="528" y="16"/>
                  </a:cubicBezTo>
                  <a:cubicBezTo>
                    <a:pt x="760" y="0"/>
                    <a:pt x="1076" y="824"/>
                    <a:pt x="1392" y="1648"/>
                  </a:cubicBezTo>
                </a:path>
              </a:pathLst>
            </a:cu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4" name="任意多边形 41993"/>
            <p:cNvSpPr/>
            <p:nvPr/>
          </p:nvSpPr>
          <p:spPr>
            <a:xfrm>
              <a:off x="3600" y="1832"/>
              <a:ext cx="2064" cy="1624"/>
            </a:xfrm>
            <a:custGeom>
              <a:avLst/>
              <a:gdLst/>
              <a:ahLst/>
              <a:cxnLst/>
              <a:rect l="0" t="0" r="0" b="0"/>
              <a:pathLst>
                <a:path w="2064" h="1624">
                  <a:moveTo>
                    <a:pt x="0" y="1624"/>
                  </a:moveTo>
                  <a:cubicBezTo>
                    <a:pt x="356" y="852"/>
                    <a:pt x="712" y="80"/>
                    <a:pt x="1056" y="40"/>
                  </a:cubicBezTo>
                  <a:cubicBezTo>
                    <a:pt x="1400" y="0"/>
                    <a:pt x="1732" y="692"/>
                    <a:pt x="2064" y="1384"/>
                  </a:cubicBezTo>
                </a:path>
              </a:pathLst>
            </a:custGeom>
            <a:noFill/>
            <a:ln w="9525" cap="flat" cmpd="sng">
              <a:solidFill>
                <a:srgbClr val="FFFF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5" name="直接连接符 41994"/>
            <p:cNvSpPr/>
            <p:nvPr/>
          </p:nvSpPr>
          <p:spPr>
            <a:xfrm>
              <a:off x="3792" y="2256"/>
              <a:ext cx="0" cy="120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7" name="直接连接符 41996"/>
            <p:cNvSpPr/>
            <p:nvPr/>
          </p:nvSpPr>
          <p:spPr>
            <a:xfrm>
              <a:off x="3984" y="1776"/>
              <a:ext cx="0" cy="168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8" name="直接连接符 41997"/>
            <p:cNvSpPr/>
            <p:nvPr/>
          </p:nvSpPr>
          <p:spPr>
            <a:xfrm flipH="1">
              <a:off x="3792" y="3120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1" name="文本框 42000"/>
            <p:cNvSpPr txBox="1"/>
            <p:nvPr/>
          </p:nvSpPr>
          <p:spPr>
            <a:xfrm>
              <a:off x="4656" y="1536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</a:rPr>
                <a:t>2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2002" name="文本框 42001"/>
            <p:cNvSpPr txBox="1"/>
            <p:nvPr/>
          </p:nvSpPr>
          <p:spPr>
            <a:xfrm>
              <a:off x="3312" y="1344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f(v)</a:t>
              </a:r>
            </a:p>
          </p:txBody>
        </p:sp>
        <p:sp>
          <p:nvSpPr>
            <p:cNvPr id="42003" name="文本框 42002"/>
            <p:cNvSpPr txBox="1"/>
            <p:nvPr/>
          </p:nvSpPr>
          <p:spPr>
            <a:xfrm>
              <a:off x="5568" y="3504"/>
              <a:ext cx="1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2004" name="文本框 42003"/>
            <p:cNvSpPr txBox="1"/>
            <p:nvPr/>
          </p:nvSpPr>
          <p:spPr>
            <a:xfrm>
              <a:off x="3661" y="3476"/>
              <a:ext cx="27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2005" name="文本框 42004"/>
            <p:cNvSpPr txBox="1"/>
            <p:nvPr/>
          </p:nvSpPr>
          <p:spPr>
            <a:xfrm>
              <a:off x="3923" y="3464"/>
              <a:ext cx="6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v+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2006" name="文本框 42005"/>
            <p:cNvSpPr txBox="1"/>
            <p:nvPr/>
          </p:nvSpPr>
          <p:spPr>
            <a:xfrm>
              <a:off x="3264" y="3408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2007" name="文本框 42006"/>
            <p:cNvSpPr txBox="1"/>
            <p:nvPr/>
          </p:nvSpPr>
          <p:spPr>
            <a:xfrm>
              <a:off x="3936" y="1488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</a:rPr>
                <a:t>1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2008" name="直接连接符 42007"/>
            <p:cNvSpPr/>
            <p:nvPr/>
          </p:nvSpPr>
          <p:spPr>
            <a:xfrm flipH="1">
              <a:off x="3792" y="2880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9" name="直接连接符 42008"/>
            <p:cNvSpPr/>
            <p:nvPr/>
          </p:nvSpPr>
          <p:spPr>
            <a:xfrm flipH="1">
              <a:off x="3792" y="2640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0" name="直接连接符 42009"/>
            <p:cNvSpPr/>
            <p:nvPr/>
          </p:nvSpPr>
          <p:spPr>
            <a:xfrm flipH="1">
              <a:off x="3792" y="2400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1" name="直接连接符 42010"/>
            <p:cNvSpPr/>
            <p:nvPr/>
          </p:nvSpPr>
          <p:spPr>
            <a:xfrm flipH="1">
              <a:off x="3792" y="2208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2" name="直接连接符 42011"/>
            <p:cNvSpPr/>
            <p:nvPr/>
          </p:nvSpPr>
          <p:spPr>
            <a:xfrm flipH="1">
              <a:off x="3792" y="2016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  <p:bldP spid="41988" grpId="0" build="p"/>
      <p:bldP spid="4198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/>
          <p:nvPr/>
        </p:nvSpPr>
        <p:spPr>
          <a:xfrm>
            <a:off x="468313" y="404813"/>
            <a:ext cx="8351837" cy="1800225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2g</a:t>
            </a:r>
            <a:r>
              <a:rPr lang="zh-CN" altLang="en-US" dirty="0">
                <a:latin typeface="Times New Roman" panose="02020603050405020304" pitchFamily="18" charset="0"/>
              </a:rPr>
              <a:t>氢气与</a:t>
            </a:r>
            <a:r>
              <a:rPr lang="en-US" altLang="zh-CN" dirty="0">
                <a:latin typeface="Times New Roman" panose="02020603050405020304" pitchFamily="18" charset="0"/>
              </a:rPr>
              <a:t>2g</a:t>
            </a:r>
            <a:r>
              <a:rPr lang="zh-CN" altLang="en-US" dirty="0">
                <a:latin typeface="Times New Roman" panose="02020603050405020304" pitchFamily="18" charset="0"/>
              </a:rPr>
              <a:t>氦气分别装在两个容积相同的封闭容器内，温度也相同。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氢气视为刚性双原子分子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氢分子与氦分子的平均平动动能之比；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氢气与氦气压强之比；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氢气与氦气内能之比。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0116" name="Text Box 4"/>
          <p:cNvSpPr txBox="1"/>
          <p:nvPr/>
        </p:nvSpPr>
        <p:spPr>
          <a:xfrm>
            <a:off x="303213" y="2657475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解：</a:t>
            </a:r>
          </a:p>
        </p:txBody>
      </p:sp>
      <p:sp>
        <p:nvSpPr>
          <p:cNvPr id="90117" name="Text Box 5"/>
          <p:cNvSpPr txBox="1"/>
          <p:nvPr/>
        </p:nvSpPr>
        <p:spPr>
          <a:xfrm>
            <a:off x="971550" y="2767013"/>
            <a:ext cx="6000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(1)</a:t>
            </a:r>
          </a:p>
        </p:txBody>
      </p:sp>
      <p:graphicFrame>
        <p:nvGraphicFramePr>
          <p:cNvPr id="90118" name="Object 2"/>
          <p:cNvGraphicFramePr/>
          <p:nvPr/>
        </p:nvGraphicFramePr>
        <p:xfrm>
          <a:off x="1763713" y="2565400"/>
          <a:ext cx="1460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7" r:id="rId3" imgW="1459865" imgH="888365" progId="Equation.3">
                  <p:embed/>
                </p:oleObj>
              </mc:Choice>
              <mc:Fallback>
                <p:oleObj r:id="rId3" imgW="1459865" imgH="888365" progId="Equation.3">
                  <p:embed/>
                  <p:pic>
                    <p:nvPicPr>
                      <p:cNvPr id="90118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713" y="2565400"/>
                        <a:ext cx="14605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9" name="Object 3"/>
          <p:cNvGraphicFramePr/>
          <p:nvPr/>
        </p:nvGraphicFramePr>
        <p:xfrm>
          <a:off x="4140200" y="2778125"/>
          <a:ext cx="1943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8" r:id="rId5" imgW="1943100" imgH="508000" progId="Equation.3">
                  <p:embed/>
                </p:oleObj>
              </mc:Choice>
              <mc:Fallback>
                <p:oleObj r:id="rId5" imgW="1943100" imgH="508000" progId="Equation.3">
                  <p:embed/>
                  <p:pic>
                    <p:nvPicPr>
                      <p:cNvPr id="90119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0200" y="2778125"/>
                        <a:ext cx="19431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0" name="Text Box 8"/>
          <p:cNvSpPr txBox="1"/>
          <p:nvPr/>
        </p:nvSpPr>
        <p:spPr>
          <a:xfrm>
            <a:off x="361950" y="3717926"/>
            <a:ext cx="6000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90121" name="Object 4"/>
          <p:cNvGraphicFramePr/>
          <p:nvPr>
            <p:extLst>
              <p:ext uri="{D42A27DB-BD31-4B8C-83A1-F6EECF244321}">
                <p14:modId xmlns:p14="http://schemas.microsoft.com/office/powerpoint/2010/main" val="1168013703"/>
              </p:ext>
            </p:extLst>
          </p:nvPr>
        </p:nvGraphicFramePr>
        <p:xfrm>
          <a:off x="1095375" y="3563938"/>
          <a:ext cx="1435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9" r:id="rId7" imgW="1435100" imgH="889000" progId="Equation.3">
                  <p:embed/>
                </p:oleObj>
              </mc:Choice>
              <mc:Fallback>
                <p:oleObj r:id="rId7" imgW="1435100" imgH="889000" progId="Equation.3">
                  <p:embed/>
                  <p:pic>
                    <p:nvPicPr>
                      <p:cNvPr id="90121" name="Object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95375" y="3563938"/>
                        <a:ext cx="14351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4" name="Text Box 12"/>
          <p:cNvSpPr txBox="1"/>
          <p:nvPr/>
        </p:nvSpPr>
        <p:spPr>
          <a:xfrm>
            <a:off x="331375" y="5608638"/>
            <a:ext cx="6000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(3)</a:t>
            </a:r>
          </a:p>
        </p:txBody>
      </p:sp>
      <p:graphicFrame>
        <p:nvGraphicFramePr>
          <p:cNvPr id="90125" name="Object 7"/>
          <p:cNvGraphicFramePr/>
          <p:nvPr>
            <p:extLst>
              <p:ext uri="{D42A27DB-BD31-4B8C-83A1-F6EECF244321}">
                <p14:modId xmlns:p14="http://schemas.microsoft.com/office/powerpoint/2010/main" val="1622835333"/>
              </p:ext>
            </p:extLst>
          </p:nvPr>
        </p:nvGraphicFramePr>
        <p:xfrm>
          <a:off x="980662" y="5537201"/>
          <a:ext cx="1676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0" r:id="rId9" imgW="1676400" imgH="889000" progId="Equation.3">
                  <p:embed/>
                </p:oleObj>
              </mc:Choice>
              <mc:Fallback>
                <p:oleObj r:id="rId9" imgW="1676400" imgH="889000" progId="Equation.3">
                  <p:embed/>
                  <p:pic>
                    <p:nvPicPr>
                      <p:cNvPr id="90125" name="Object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80662" y="5537201"/>
                        <a:ext cx="16764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6" name="Object 8"/>
          <p:cNvGraphicFramePr/>
          <p:nvPr>
            <p:extLst>
              <p:ext uri="{D42A27DB-BD31-4B8C-83A1-F6EECF244321}">
                <p14:modId xmlns:p14="http://schemas.microsoft.com/office/powerpoint/2010/main" val="196386819"/>
              </p:ext>
            </p:extLst>
          </p:nvPr>
        </p:nvGraphicFramePr>
        <p:xfrm>
          <a:off x="2996787" y="3736974"/>
          <a:ext cx="30543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1" name="Equation" r:id="rId11" imgW="1218960" imgH="241200" progId="Equation.DSMT4">
                  <p:embed/>
                </p:oleObj>
              </mc:Choice>
              <mc:Fallback>
                <p:oleObj name="Equation" r:id="rId11" imgW="1218960" imgH="241200" progId="Equation.DSMT4">
                  <p:embed/>
                  <p:pic>
                    <p:nvPicPr>
                      <p:cNvPr id="90126" name="Object 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96787" y="3736974"/>
                        <a:ext cx="305435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7" name="Object 9"/>
          <p:cNvGraphicFramePr/>
          <p:nvPr>
            <p:extLst>
              <p:ext uri="{D42A27DB-BD31-4B8C-83A1-F6EECF244321}">
                <p14:modId xmlns:p14="http://schemas.microsoft.com/office/powerpoint/2010/main" val="2023534074"/>
              </p:ext>
            </p:extLst>
          </p:nvPr>
        </p:nvGraphicFramePr>
        <p:xfrm>
          <a:off x="2996787" y="5465763"/>
          <a:ext cx="2844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2" r:id="rId13" imgW="2843530" imgH="1040765" progId="Equation.3">
                  <p:embed/>
                </p:oleObj>
              </mc:Choice>
              <mc:Fallback>
                <p:oleObj r:id="rId13" imgW="2843530" imgH="1040765" progId="Equation.3">
                  <p:embed/>
                  <p:pic>
                    <p:nvPicPr>
                      <p:cNvPr id="90127" name="Object 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96787" y="5465763"/>
                        <a:ext cx="2844800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8" name="Object 10"/>
          <p:cNvGraphicFramePr/>
          <p:nvPr>
            <p:extLst>
              <p:ext uri="{D42A27DB-BD31-4B8C-83A1-F6EECF244321}">
                <p14:modId xmlns:p14="http://schemas.microsoft.com/office/powerpoint/2010/main" val="3205750158"/>
              </p:ext>
            </p:extLst>
          </p:nvPr>
        </p:nvGraphicFramePr>
        <p:xfrm>
          <a:off x="5876512" y="5511801"/>
          <a:ext cx="1828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3" r:id="rId15" imgW="1828800" imgH="889000" progId="Equation.3">
                  <p:embed/>
                </p:oleObj>
              </mc:Choice>
              <mc:Fallback>
                <p:oleObj r:id="rId15" imgW="1828800" imgH="889000" progId="Equation.3">
                  <p:embed/>
                  <p:pic>
                    <p:nvPicPr>
                      <p:cNvPr id="90128" name="Object 1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76512" y="5511801"/>
                        <a:ext cx="18288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9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18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7" name="Object 8">
            <a:extLst>
              <a:ext uri="{FF2B5EF4-FFF2-40B4-BE49-F238E27FC236}">
                <a16:creationId xmlns:a16="http://schemas.microsoft.com/office/drawing/2014/main" id="{340C571A-F028-45A5-AB3C-C812F462F2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6366038"/>
              </p:ext>
            </p:extLst>
          </p:nvPr>
        </p:nvGraphicFramePr>
        <p:xfrm>
          <a:off x="6146800" y="3474244"/>
          <a:ext cx="26733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4" name="Equation" r:id="rId17" imgW="1066680" imgH="419040" progId="Equation.DSMT4">
                  <p:embed/>
                </p:oleObj>
              </mc:Choice>
              <mc:Fallback>
                <p:oleObj name="Equation" r:id="rId17" imgW="1066680" imgH="419040" progId="Equation.DSMT4">
                  <p:embed/>
                  <p:pic>
                    <p:nvPicPr>
                      <p:cNvPr id="90126" name="Object 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146800" y="3474244"/>
                        <a:ext cx="2673350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>
            <a:extLst>
              <a:ext uri="{FF2B5EF4-FFF2-40B4-BE49-F238E27FC236}">
                <a16:creationId xmlns:a16="http://schemas.microsoft.com/office/drawing/2014/main" id="{BD1106C3-011A-4A37-87C2-05869ABF3F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6086957"/>
              </p:ext>
            </p:extLst>
          </p:nvPr>
        </p:nvGraphicFramePr>
        <p:xfrm>
          <a:off x="2965010" y="4603836"/>
          <a:ext cx="16240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5" name="Equation" r:id="rId19" imgW="647640" imgH="241200" progId="Equation.DSMT4">
                  <p:embed/>
                </p:oleObj>
              </mc:Choice>
              <mc:Fallback>
                <p:oleObj name="Equation" r:id="rId19" imgW="647640" imgH="241200" progId="Equation.DSMT4">
                  <p:embed/>
                  <p:pic>
                    <p:nvPicPr>
                      <p:cNvPr id="17" name="Object 8">
                        <a:extLst>
                          <a:ext uri="{FF2B5EF4-FFF2-40B4-BE49-F238E27FC236}">
                            <a16:creationId xmlns:a16="http://schemas.microsoft.com/office/drawing/2014/main" id="{340C571A-F028-45A5-AB3C-C812F462F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65010" y="4603836"/>
                        <a:ext cx="1624012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>
            <a:extLst>
              <a:ext uri="{FF2B5EF4-FFF2-40B4-BE49-F238E27FC236}">
                <a16:creationId xmlns:a16="http://schemas.microsoft.com/office/drawing/2014/main" id="{AE372D4D-9AC8-4946-97E3-F0BE050C22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8034835"/>
              </p:ext>
            </p:extLst>
          </p:nvPr>
        </p:nvGraphicFramePr>
        <p:xfrm>
          <a:off x="4788024" y="4390316"/>
          <a:ext cx="37877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6" name="Equation" r:id="rId21" imgW="1511280" imgH="419040" progId="Equation.DSMT4">
                  <p:embed/>
                </p:oleObj>
              </mc:Choice>
              <mc:Fallback>
                <p:oleObj name="Equation" r:id="rId21" imgW="1511280" imgH="419040" progId="Equation.DSMT4">
                  <p:embed/>
                  <p:pic>
                    <p:nvPicPr>
                      <p:cNvPr id="18" name="Object 8">
                        <a:extLst>
                          <a:ext uri="{FF2B5EF4-FFF2-40B4-BE49-F238E27FC236}">
                            <a16:creationId xmlns:a16="http://schemas.microsoft.com/office/drawing/2014/main" id="{BD1106C3-011A-4A37-87C2-05869ABF3F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788024" y="4390316"/>
                        <a:ext cx="3787775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6" grpId="0"/>
      <p:bldP spid="90117" grpId="0"/>
      <p:bldP spid="90120" grpId="0"/>
      <p:bldP spid="901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6" name="Rectangle 36">
            <a:extLst>
              <a:ext uri="{FF2B5EF4-FFF2-40B4-BE49-F238E27FC236}">
                <a16:creationId xmlns:a16="http://schemas.microsoft.com/office/drawing/2014/main" id="{927BABE9-7E8D-4C3C-8A88-91C797D96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4648200" cy="2971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2" name="Text Box 2">
            <a:extLst>
              <a:ext uri="{FF2B5EF4-FFF2-40B4-BE49-F238E27FC236}">
                <a16:creationId xmlns:a16="http://schemas.microsoft.com/office/drawing/2014/main" id="{2C596A5A-706D-4FA2-A532-3AB4541403B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6200" y="140439"/>
            <a:ext cx="893225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7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、假想的气体分子，其速率分布如图所示。当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&gt; 5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0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时分子数</a:t>
            </a:r>
          </a:p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        为零。试求：（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）根据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,</a:t>
            </a:r>
            <a:r>
              <a:rPr kumimoji="1" lang="zh-CN" altLang="zh-CN" sz="2400" b="1" dirty="0">
                <a:latin typeface="Times New Roman" panose="02020603050405020304" pitchFamily="18" charset="0"/>
              </a:rPr>
              <a:t>表示常数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a </a:t>
            </a:r>
            <a:r>
              <a:rPr kumimoji="1" lang="zh-CN" altLang="zh-CN" sz="2400" b="1" dirty="0">
                <a:latin typeface="Times New Roman" panose="02020603050405020304" pitchFamily="18" charset="0"/>
              </a:rPr>
              <a:t>的值；（2）速率</a:t>
            </a:r>
          </a:p>
          <a:p>
            <a:r>
              <a:rPr kumimoji="1" lang="zh-CN" altLang="zh-CN" sz="2400" b="1" dirty="0">
                <a:latin typeface="Times New Roman" panose="02020603050405020304" pitchFamily="18" charset="0"/>
              </a:rPr>
              <a:t>        在 2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0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到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0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间隔内的分子数；（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）分子的平均速率。</a:t>
            </a:r>
          </a:p>
        </p:txBody>
      </p:sp>
      <p:grpSp>
        <p:nvGrpSpPr>
          <p:cNvPr id="10243" name="Group 3">
            <a:extLst>
              <a:ext uri="{FF2B5EF4-FFF2-40B4-BE49-F238E27FC236}">
                <a16:creationId xmlns:a16="http://schemas.microsoft.com/office/drawing/2014/main" id="{80ADE6CD-A8A9-40FB-865D-B040BB7E85AD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465263"/>
            <a:ext cx="4511675" cy="2756388"/>
            <a:chOff x="96" y="912"/>
            <a:chExt cx="2842" cy="2118"/>
          </a:xfrm>
        </p:grpSpPr>
        <p:sp>
          <p:nvSpPr>
            <p:cNvPr id="10244" name="Line 4">
              <a:extLst>
                <a:ext uri="{FF2B5EF4-FFF2-40B4-BE49-F238E27FC236}">
                  <a16:creationId xmlns:a16="http://schemas.microsoft.com/office/drawing/2014/main" id="{54ED8059-5847-4AFE-B0E9-683EB571E3A7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0" y="2625"/>
              <a:ext cx="234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5" name="Line 5">
              <a:extLst>
                <a:ext uri="{FF2B5EF4-FFF2-40B4-BE49-F238E27FC236}">
                  <a16:creationId xmlns:a16="http://schemas.microsoft.com/office/drawing/2014/main" id="{D31079A9-CA31-401E-99A7-517ABD153C4D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400" y="1176"/>
              <a:ext cx="0" cy="144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6" name="Line 6">
              <a:extLst>
                <a:ext uri="{FF2B5EF4-FFF2-40B4-BE49-F238E27FC236}">
                  <a16:creationId xmlns:a16="http://schemas.microsoft.com/office/drawing/2014/main" id="{E3BD5C18-3D94-4DD7-9773-49B39C92EC9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0" y="2274"/>
              <a:ext cx="1433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7" name="Line 7">
              <a:extLst>
                <a:ext uri="{FF2B5EF4-FFF2-40B4-BE49-F238E27FC236}">
                  <a16:creationId xmlns:a16="http://schemas.microsoft.com/office/drawing/2014/main" id="{282BF10B-32CA-4980-BF81-E6A5FBBA9BEA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0" y="1878"/>
              <a:ext cx="347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8" name="Line 8">
              <a:extLst>
                <a:ext uri="{FF2B5EF4-FFF2-40B4-BE49-F238E27FC236}">
                  <a16:creationId xmlns:a16="http://schemas.microsoft.com/office/drawing/2014/main" id="{DDFF4D6E-4FDB-4C06-AF82-CA246EB2C02D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400" y="1483"/>
              <a:ext cx="782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9" name="Line 9">
              <a:extLst>
                <a:ext uri="{FF2B5EF4-FFF2-40B4-BE49-F238E27FC236}">
                  <a16:creationId xmlns:a16="http://schemas.microsoft.com/office/drawing/2014/main" id="{0AF24B52-36B9-49E8-A148-4410FA0A3E18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747" y="1878"/>
              <a:ext cx="0" cy="747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0" name="Line 10">
              <a:extLst>
                <a:ext uri="{FF2B5EF4-FFF2-40B4-BE49-F238E27FC236}">
                  <a16:creationId xmlns:a16="http://schemas.microsoft.com/office/drawing/2014/main" id="{78106D20-DBB2-451A-8E61-4F08FDA225E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138" y="1483"/>
              <a:ext cx="0" cy="1142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1" name="Line 11">
              <a:extLst>
                <a:ext uri="{FF2B5EF4-FFF2-40B4-BE49-F238E27FC236}">
                  <a16:creationId xmlns:a16="http://schemas.microsoft.com/office/drawing/2014/main" id="{389817A5-8A64-452B-A430-E2699CAF73B1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486" y="1483"/>
              <a:ext cx="0" cy="1142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2" name="Line 12">
              <a:extLst>
                <a:ext uri="{FF2B5EF4-FFF2-40B4-BE49-F238E27FC236}">
                  <a16:creationId xmlns:a16="http://schemas.microsoft.com/office/drawing/2014/main" id="{8C9F7C30-5788-4DF4-9F1F-F78D29BFCCA6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833" y="1878"/>
              <a:ext cx="0" cy="791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3" name="Line 13">
              <a:extLst>
                <a:ext uri="{FF2B5EF4-FFF2-40B4-BE49-F238E27FC236}">
                  <a16:creationId xmlns:a16="http://schemas.microsoft.com/office/drawing/2014/main" id="{1E4F2224-DE91-4962-ABCB-F24FADE1FBDE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400" y="2274"/>
              <a:ext cx="347" cy="351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068CE20A-2DA9-481B-BE7A-685AD7CBB3F5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877" y="2274"/>
              <a:ext cx="304" cy="351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906523AE-CDC5-4C2B-9DC5-374536A10D55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747" y="1878"/>
              <a:ext cx="39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36C525E9-D248-4031-86F4-B7624B643A8B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486" y="1878"/>
              <a:ext cx="39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334DCE4B-2D80-4424-B80C-15BCB135C8C8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1138" y="1483"/>
              <a:ext cx="348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8" name="Text Box 18">
              <a:extLst>
                <a:ext uri="{FF2B5EF4-FFF2-40B4-BE49-F238E27FC236}">
                  <a16:creationId xmlns:a16="http://schemas.microsoft.com/office/drawing/2014/main" id="{611EEFF3-491C-457B-BFF5-3717AF09E53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13" y="912"/>
              <a:ext cx="633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) </a:t>
              </a:r>
            </a:p>
          </p:txBody>
        </p:sp>
        <p:sp>
          <p:nvSpPr>
            <p:cNvPr id="10259" name="Text Box 19">
              <a:extLst>
                <a:ext uri="{FF2B5EF4-FFF2-40B4-BE49-F238E27FC236}">
                  <a16:creationId xmlns:a16="http://schemas.microsoft.com/office/drawing/2014/main" id="{1773836A-A32B-460E-B565-3845E767F9D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736" y="2605"/>
              <a:ext cx="20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0260" name="Text Box 20">
              <a:extLst>
                <a:ext uri="{FF2B5EF4-FFF2-40B4-BE49-F238E27FC236}">
                  <a16:creationId xmlns:a16="http://schemas.microsoft.com/office/drawing/2014/main" id="{C88B45E1-E13E-4152-AE5E-F128CB339490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83" y="2669"/>
              <a:ext cx="265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0261" name="Text Box 21">
              <a:extLst>
                <a:ext uri="{FF2B5EF4-FFF2-40B4-BE49-F238E27FC236}">
                  <a16:creationId xmlns:a16="http://schemas.microsoft.com/office/drawing/2014/main" id="{4069E929-153C-4CDA-AA08-4F13622AF4AA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617" y="2669"/>
              <a:ext cx="29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262" name="Text Box 22">
              <a:extLst>
                <a:ext uri="{FF2B5EF4-FFF2-40B4-BE49-F238E27FC236}">
                  <a16:creationId xmlns:a16="http://schemas.microsoft.com/office/drawing/2014/main" id="{045D7BED-F677-41AF-9DC2-10A49106B23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965" y="2669"/>
              <a:ext cx="379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263" name="Text Box 23">
              <a:extLst>
                <a:ext uri="{FF2B5EF4-FFF2-40B4-BE49-F238E27FC236}">
                  <a16:creationId xmlns:a16="http://schemas.microsoft.com/office/drawing/2014/main" id="{755B9ECE-652B-4DFD-A604-FF3EEC687A36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355" y="2678"/>
              <a:ext cx="372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264" name="Text Box 24">
              <a:extLst>
                <a:ext uri="{FF2B5EF4-FFF2-40B4-BE49-F238E27FC236}">
                  <a16:creationId xmlns:a16="http://schemas.microsoft.com/office/drawing/2014/main" id="{BF64C693-C00C-4088-84D9-3899A00CC89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746" y="2678"/>
              <a:ext cx="372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265" name="Text Box 25">
              <a:extLst>
                <a:ext uri="{FF2B5EF4-FFF2-40B4-BE49-F238E27FC236}">
                  <a16:creationId xmlns:a16="http://schemas.microsoft.com/office/drawing/2014/main" id="{08550D08-6638-4A0E-967A-6DFB98793641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137" y="2675"/>
              <a:ext cx="36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266" name="Text Box 26">
              <a:extLst>
                <a:ext uri="{FF2B5EF4-FFF2-40B4-BE49-F238E27FC236}">
                  <a16:creationId xmlns:a16="http://schemas.microsoft.com/office/drawing/2014/main" id="{E4279A5D-E16E-458A-A1A0-E5798B8C9F2E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77" y="2142"/>
              <a:ext cx="116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a</a:t>
              </a:r>
              <a:endParaRPr kumimoji="1" lang="en-US" altLang="zh-CN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267" name="Text Box 27">
              <a:extLst>
                <a:ext uri="{FF2B5EF4-FFF2-40B4-BE49-F238E27FC236}">
                  <a16:creationId xmlns:a16="http://schemas.microsoft.com/office/drawing/2014/main" id="{4760344D-9B45-48A5-A5ED-D84C4A737DEB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39" y="1746"/>
              <a:ext cx="308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2a</a:t>
              </a:r>
              <a:endParaRPr kumimoji="1" lang="en-US" altLang="zh-CN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268" name="Text Box 28">
              <a:extLst>
                <a:ext uri="{FF2B5EF4-FFF2-40B4-BE49-F238E27FC236}">
                  <a16:creationId xmlns:a16="http://schemas.microsoft.com/office/drawing/2014/main" id="{D152ADEC-3755-426C-A217-519D334CC53D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96" y="1351"/>
              <a:ext cx="308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3a</a:t>
              </a:r>
              <a:endParaRPr kumimoji="1" lang="en-US" altLang="zh-CN" sz="2400" b="1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10269" name="Text Box 29">
            <a:extLst>
              <a:ext uri="{FF2B5EF4-FFF2-40B4-BE49-F238E27FC236}">
                <a16:creationId xmlns:a16="http://schemas.microsoft.com/office/drawing/2014/main" id="{57B5672F-C540-423D-9A4B-D46318C7CF1F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876800" y="1243608"/>
            <a:ext cx="429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解：（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）速率分布可表示为：</a:t>
            </a:r>
          </a:p>
        </p:txBody>
      </p:sp>
      <p:graphicFrame>
        <p:nvGraphicFramePr>
          <p:cNvPr id="10270" name="Object 30">
            <a:extLst>
              <a:ext uri="{FF2B5EF4-FFF2-40B4-BE49-F238E27FC236}">
                <a16:creationId xmlns:a16="http://schemas.microsoft.com/office/drawing/2014/main" id="{0B3A022C-70FB-479F-9E51-14C518C31A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9313" y="1544638"/>
          <a:ext cx="4244975" cy="315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0" name="Equation" r:id="rId3" imgW="2361960" imgH="1828800" progId="Equation.DSMT4">
                  <p:embed/>
                </p:oleObj>
              </mc:Choice>
              <mc:Fallback>
                <p:oleObj name="Equation" r:id="rId3" imgW="2361960" imgH="1828800" progId="Equation.DSMT4">
                  <p:embed/>
                  <p:pic>
                    <p:nvPicPr>
                      <p:cNvPr id="10270" name="Object 30">
                        <a:extLst>
                          <a:ext uri="{FF2B5EF4-FFF2-40B4-BE49-F238E27FC236}">
                            <a16:creationId xmlns:a16="http://schemas.microsoft.com/office/drawing/2014/main" id="{0B3A022C-70FB-479F-9E51-14C518C31A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659313" y="1544638"/>
                        <a:ext cx="4244975" cy="315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1" name="Text Box 31">
            <a:extLst>
              <a:ext uri="{FF2B5EF4-FFF2-40B4-BE49-F238E27FC236}">
                <a16:creationId xmlns:a16="http://schemas.microsoft.com/office/drawing/2014/main" id="{E747E632-0764-4055-B3D3-824AF843C1FD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57200" y="4521200"/>
            <a:ext cx="292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由归一化条件，有：</a:t>
            </a:r>
          </a:p>
        </p:txBody>
      </p:sp>
      <p:graphicFrame>
        <p:nvGraphicFramePr>
          <p:cNvPr id="10272" name="Object 32">
            <a:extLst>
              <a:ext uri="{FF2B5EF4-FFF2-40B4-BE49-F238E27FC236}">
                <a16:creationId xmlns:a16="http://schemas.microsoft.com/office/drawing/2014/main" id="{C74B3720-D680-425D-B8A6-CEFF25F4B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892345"/>
              </p:ext>
            </p:extLst>
          </p:nvPr>
        </p:nvGraphicFramePr>
        <p:xfrm>
          <a:off x="3359307" y="4453416"/>
          <a:ext cx="18097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1" name="Equation" r:id="rId5" imgW="850680" imgH="330120" progId="Equation.DSMT4">
                  <p:embed/>
                </p:oleObj>
              </mc:Choice>
              <mc:Fallback>
                <p:oleObj name="Equation" r:id="rId5" imgW="850680" imgH="330120" progId="Equation.DSMT4">
                  <p:embed/>
                  <p:pic>
                    <p:nvPicPr>
                      <p:cNvPr id="10272" name="Object 32">
                        <a:extLst>
                          <a:ext uri="{FF2B5EF4-FFF2-40B4-BE49-F238E27FC236}">
                            <a16:creationId xmlns:a16="http://schemas.microsoft.com/office/drawing/2014/main" id="{C74B3720-D680-425D-B8A6-CEFF25F4B5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359307" y="4453416"/>
                        <a:ext cx="18097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3" name="Object 33">
            <a:extLst>
              <a:ext uri="{FF2B5EF4-FFF2-40B4-BE49-F238E27FC236}">
                <a16:creationId xmlns:a16="http://schemas.microsoft.com/office/drawing/2014/main" id="{D5C6877E-A096-4395-AF37-AEE269CCF7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2700" y="5154613"/>
          <a:ext cx="89408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2" name="Equation" r:id="rId7" imgW="4101840" imgH="431640" progId="Equation.DSMT4">
                  <p:embed/>
                </p:oleObj>
              </mc:Choice>
              <mc:Fallback>
                <p:oleObj name="Equation" r:id="rId7" imgW="4101840" imgH="431640" progId="Equation.DSMT4">
                  <p:embed/>
                  <p:pic>
                    <p:nvPicPr>
                      <p:cNvPr id="10273" name="Object 33">
                        <a:extLst>
                          <a:ext uri="{FF2B5EF4-FFF2-40B4-BE49-F238E27FC236}">
                            <a16:creationId xmlns:a16="http://schemas.microsoft.com/office/drawing/2014/main" id="{D5C6877E-A096-4395-AF37-AEE269CCF7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-12700" y="5154613"/>
                        <a:ext cx="8940800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4" name="Object 34">
            <a:extLst>
              <a:ext uri="{FF2B5EF4-FFF2-40B4-BE49-F238E27FC236}">
                <a16:creationId xmlns:a16="http://schemas.microsoft.com/office/drawing/2014/main" id="{EADA08DA-25CC-4D3A-9C14-75141B6C1A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984875"/>
          <a:ext cx="9144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3" name="Equation" r:id="rId9" imgW="495000" imgH="431640" progId="Equation.DSMT4">
                  <p:embed/>
                </p:oleObj>
              </mc:Choice>
              <mc:Fallback>
                <p:oleObj name="Equation" r:id="rId9" imgW="495000" imgH="431640" progId="Equation.DSMT4">
                  <p:embed/>
                  <p:pic>
                    <p:nvPicPr>
                      <p:cNvPr id="10274" name="Object 34">
                        <a:extLst>
                          <a:ext uri="{FF2B5EF4-FFF2-40B4-BE49-F238E27FC236}">
                            <a16:creationId xmlns:a16="http://schemas.microsoft.com/office/drawing/2014/main" id="{EADA08DA-25CC-4D3A-9C14-75141B6C1A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981200" y="5984875"/>
                        <a:ext cx="91440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5" name="Text Box 35">
            <a:extLst>
              <a:ext uri="{FF2B5EF4-FFF2-40B4-BE49-F238E27FC236}">
                <a16:creationId xmlns:a16="http://schemas.microsoft.com/office/drawing/2014/main" id="{E984FA54-F163-42A2-8239-1F38B66FF0DF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81000" y="6137275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可得：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9" grpId="0" build="p" autoUpdateAnimBg="0"/>
      <p:bldP spid="10271" grpId="0" build="p" autoUpdateAnimBg="0"/>
      <p:bldP spid="10275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8E712088-F372-4822-815B-09331823A0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6725" y="2185988"/>
          <a:ext cx="6508750" cy="451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2" name="Equation" r:id="rId3" imgW="2450880" imgH="1701720" progId="Equation.DSMT4">
                  <p:embed/>
                </p:oleObj>
              </mc:Choice>
              <mc:Fallback>
                <p:oleObj name="Equation" r:id="rId3" imgW="2450880" imgH="1701720" progId="Equation.DSMT4">
                  <p:embed/>
                  <p:pic>
                    <p:nvPicPr>
                      <p:cNvPr id="11266" name="Object 2">
                        <a:extLst>
                          <a:ext uri="{FF2B5EF4-FFF2-40B4-BE49-F238E27FC236}">
                            <a16:creationId xmlns:a16="http://schemas.microsoft.com/office/drawing/2014/main" id="{8E712088-F372-4822-815B-09331823A0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736725" y="2185988"/>
                        <a:ext cx="6508750" cy="451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3">
            <a:extLst>
              <a:ext uri="{FF2B5EF4-FFF2-40B4-BE49-F238E27FC236}">
                <a16:creationId xmlns:a16="http://schemas.microsoft.com/office/drawing/2014/main" id="{13DB4798-660C-4EF2-8DBD-25B47878476B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09600" y="1728788"/>
            <a:ext cx="328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panose="02020603050405020304" pitchFamily="18" charset="0"/>
              </a:rPr>
              <a:t>(3)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分子的平均速率为：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221B74EE-34F7-4DF5-ABF7-4961803E7249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81000" y="228600"/>
            <a:ext cx="689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）速率分布在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2 v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--3 v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间隔内的分子数 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为</a:t>
            </a:r>
            <a:r>
              <a:rPr kumimoji="1" lang="en-US" altLang="zh-CN" sz="2400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1269" name="Object 5">
            <a:extLst>
              <a:ext uri="{FF2B5EF4-FFF2-40B4-BE49-F238E27FC236}">
                <a16:creationId xmlns:a16="http://schemas.microsoft.com/office/drawing/2014/main" id="{42FCF17A-0CA2-4FFF-98AB-F2013620D4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9813" y="685800"/>
          <a:ext cx="56165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3" name="Equation" r:id="rId5" imgW="2679480" imgH="393480" progId="Equation.DSMT4">
                  <p:embed/>
                </p:oleObj>
              </mc:Choice>
              <mc:Fallback>
                <p:oleObj name="Equation" r:id="rId5" imgW="2679480" imgH="393480" progId="Equation.DSMT4">
                  <p:embed/>
                  <p:pic>
                    <p:nvPicPr>
                      <p:cNvPr id="11269" name="Object 5">
                        <a:extLst>
                          <a:ext uri="{FF2B5EF4-FFF2-40B4-BE49-F238E27FC236}">
                            <a16:creationId xmlns:a16="http://schemas.microsoft.com/office/drawing/2014/main" id="{42FCF17A-0CA2-4FFF-98AB-F2013620D4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039813" y="685800"/>
                        <a:ext cx="561657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  <p:bldP spid="11268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2"/>
          <p:cNvSpPr txBox="1"/>
          <p:nvPr/>
        </p:nvSpPr>
        <p:spPr>
          <a:xfrm>
            <a:off x="361950" y="188913"/>
            <a:ext cx="8531225" cy="86600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/>
              <a:t>8</a:t>
            </a:r>
            <a:r>
              <a:rPr lang="zh-CN" altLang="en-US" sz="2200" dirty="0">
                <a:latin typeface="Times New Roman" panose="02020603050405020304" pitchFamily="18" charset="0"/>
              </a:rPr>
              <a:t>、在半径为 </a:t>
            </a:r>
            <a:r>
              <a:rPr lang="en-US" altLang="en-US" sz="2200" dirty="0">
                <a:latin typeface="Times New Roman" panose="02020603050405020304" pitchFamily="18" charset="0"/>
              </a:rPr>
              <a:t>R </a:t>
            </a:r>
            <a:r>
              <a:rPr lang="zh-CN" altLang="en-US" sz="2200" dirty="0">
                <a:latin typeface="Times New Roman" panose="02020603050405020304" pitchFamily="18" charset="0"/>
              </a:rPr>
              <a:t>的球型容器里贮有分子有效直径为 </a:t>
            </a:r>
            <a:r>
              <a:rPr lang="en-US" altLang="en-US" sz="2200" i="1" dirty="0">
                <a:latin typeface="Times New Roman" panose="02020603050405020304" pitchFamily="18" charset="0"/>
              </a:rPr>
              <a:t>d</a:t>
            </a:r>
            <a:r>
              <a:rPr lang="en-US" altLang="en-US" sz="2200" dirty="0">
                <a:latin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Times New Roman" panose="02020603050405020304" pitchFamily="18" charset="0"/>
              </a:rPr>
              <a:t>的气体，试求该容器中最多可容纳多少个分子，才能使分子之间不至相碰。</a:t>
            </a:r>
          </a:p>
        </p:txBody>
      </p:sp>
      <p:sp>
        <p:nvSpPr>
          <p:cNvPr id="20483" name="Text Box 3"/>
          <p:cNvSpPr txBox="1"/>
          <p:nvPr/>
        </p:nvSpPr>
        <p:spPr>
          <a:xfrm>
            <a:off x="395288" y="1176338"/>
            <a:ext cx="8353425" cy="1028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  <a:spcBef>
                <a:spcPct val="35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解：为使气体分子之间不相碰，则必须使分子的平均自由程不小于容器的直径，必须满足：</a:t>
            </a:r>
          </a:p>
        </p:txBody>
      </p:sp>
      <p:graphicFrame>
        <p:nvGraphicFramePr>
          <p:cNvPr id="20484" name="Object 2"/>
          <p:cNvGraphicFramePr/>
          <p:nvPr/>
        </p:nvGraphicFramePr>
        <p:xfrm>
          <a:off x="3708400" y="1700213"/>
          <a:ext cx="12811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1" r:id="rId3" imgW="481965" imgH="203200" progId="Equation.3">
                  <p:embed/>
                </p:oleObj>
              </mc:Choice>
              <mc:Fallback>
                <p:oleObj r:id="rId3" imgW="481965" imgH="2032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08400" y="1700213"/>
                        <a:ext cx="1281113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3"/>
          <p:cNvGraphicFramePr/>
          <p:nvPr/>
        </p:nvGraphicFramePr>
        <p:xfrm>
          <a:off x="898525" y="2276475"/>
          <a:ext cx="23050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2" r:id="rId5" imgW="951865" imgH="419100" progId="Equation.DSMT4">
                  <p:embed/>
                </p:oleObj>
              </mc:Choice>
              <mc:Fallback>
                <p:oleObj r:id="rId5" imgW="951865" imgH="4191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8525" y="2276475"/>
                        <a:ext cx="2305050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4"/>
          <p:cNvGraphicFramePr/>
          <p:nvPr/>
        </p:nvGraphicFramePr>
        <p:xfrm>
          <a:off x="900113" y="3433763"/>
          <a:ext cx="4352925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3" r:id="rId7" imgW="1853565" imgH="431800" progId="Equation.DSMT4">
                  <p:embed/>
                </p:oleObj>
              </mc:Choice>
              <mc:Fallback>
                <p:oleObj r:id="rId7" imgW="1853565" imgH="4318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0113" y="3433763"/>
                        <a:ext cx="4352925" cy="1147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5"/>
          <p:cNvGraphicFramePr/>
          <p:nvPr/>
        </p:nvGraphicFramePr>
        <p:xfrm>
          <a:off x="973138" y="4908550"/>
          <a:ext cx="6983412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" r:id="rId9" imgW="3161030" imgH="444500" progId="Equation.DSMT4">
                  <p:embed/>
                </p:oleObj>
              </mc:Choice>
              <mc:Fallback>
                <p:oleObj r:id="rId9" imgW="3161030" imgH="4445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3138" y="4908550"/>
                        <a:ext cx="6983412" cy="1112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文本框 45057"/>
          <p:cNvSpPr txBox="1"/>
          <p:nvPr/>
        </p:nvSpPr>
        <p:spPr>
          <a:xfrm>
            <a:off x="238125" y="116632"/>
            <a:ext cx="8914620" cy="83099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9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</a:rPr>
              <a:t>一定量的理想气体，经等压过程从体积</a:t>
            </a:r>
            <a:r>
              <a:rPr lang="en-US" altLang="zh-CN" sz="2400" b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膨胀到</a:t>
            </a:r>
            <a:r>
              <a:rPr lang="en-US" altLang="zh-CN" sz="2400" b="1" dirty="0">
                <a:latin typeface="Times New Roman" panose="02020603050405020304" pitchFamily="18" charset="0"/>
              </a:rPr>
              <a:t>2V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，求：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(1).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平均自由程之比；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(2).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平均速率之比；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(3).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平均动能之比。</a:t>
            </a:r>
          </a:p>
        </p:txBody>
      </p:sp>
      <p:sp>
        <p:nvSpPr>
          <p:cNvPr id="45059" name="文本框 45058"/>
          <p:cNvSpPr txBox="1"/>
          <p:nvPr/>
        </p:nvSpPr>
        <p:spPr>
          <a:xfrm>
            <a:off x="822325" y="10874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endParaRPr sz="2400" b="1" dirty="0">
              <a:latin typeface="Times New Roman" panose="02020603050405020304" pitchFamily="18" charset="0"/>
            </a:endParaRPr>
          </a:p>
        </p:txBody>
      </p:sp>
      <p:sp>
        <p:nvSpPr>
          <p:cNvPr id="45060" name="文本框 45059"/>
          <p:cNvSpPr txBox="1"/>
          <p:nvPr/>
        </p:nvSpPr>
        <p:spPr>
          <a:xfrm>
            <a:off x="746125" y="1163638"/>
            <a:ext cx="79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解：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45061" name="文本框 45060"/>
          <p:cNvSpPr txBox="1"/>
          <p:nvPr/>
        </p:nvSpPr>
        <p:spPr>
          <a:xfrm>
            <a:off x="838200" y="2430016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</a:rPr>
              <a:t>(1).</a:t>
            </a:r>
          </a:p>
        </p:txBody>
      </p:sp>
      <p:graphicFrame>
        <p:nvGraphicFramePr>
          <p:cNvPr id="45062" name="对象 45061"/>
          <p:cNvGraphicFramePr/>
          <p:nvPr>
            <p:extLst>
              <p:ext uri="{D42A27DB-BD31-4B8C-83A1-F6EECF244321}">
                <p14:modId xmlns:p14="http://schemas.microsoft.com/office/powerpoint/2010/main" val="4214585589"/>
              </p:ext>
            </p:extLst>
          </p:nvPr>
        </p:nvGraphicFramePr>
        <p:xfrm>
          <a:off x="1771650" y="2201416"/>
          <a:ext cx="32369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1" r:id="rId3" imgW="1054100" imgH="457200" progId="Equation.DSMT4">
                  <p:embed/>
                </p:oleObj>
              </mc:Choice>
              <mc:Fallback>
                <p:oleObj r:id="rId3" imgW="1054100" imgH="457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71650" y="2201416"/>
                        <a:ext cx="3236913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文本框 45062"/>
          <p:cNvSpPr txBox="1"/>
          <p:nvPr/>
        </p:nvSpPr>
        <p:spPr>
          <a:xfrm>
            <a:off x="762000" y="3691557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</a:rPr>
              <a:t>(2).</a:t>
            </a:r>
          </a:p>
        </p:txBody>
      </p:sp>
      <p:graphicFrame>
        <p:nvGraphicFramePr>
          <p:cNvPr id="45064" name="对象 45063"/>
          <p:cNvGraphicFramePr/>
          <p:nvPr>
            <p:extLst>
              <p:ext uri="{D42A27DB-BD31-4B8C-83A1-F6EECF244321}">
                <p14:modId xmlns:p14="http://schemas.microsoft.com/office/powerpoint/2010/main" val="1491458946"/>
              </p:ext>
            </p:extLst>
          </p:nvPr>
        </p:nvGraphicFramePr>
        <p:xfrm>
          <a:off x="1619250" y="3386757"/>
          <a:ext cx="4249738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2" r:id="rId5" imgW="1383665" imgH="482600" progId="Equation.DSMT4">
                  <p:embed/>
                </p:oleObj>
              </mc:Choice>
              <mc:Fallback>
                <p:oleObj r:id="rId5" imgW="1383665" imgH="4826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3386757"/>
                        <a:ext cx="4249738" cy="112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文本框 45064"/>
          <p:cNvSpPr txBox="1"/>
          <p:nvPr/>
        </p:nvSpPr>
        <p:spPr>
          <a:xfrm>
            <a:off x="838200" y="4954364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</a:rPr>
              <a:t>(3).</a:t>
            </a:r>
          </a:p>
        </p:txBody>
      </p:sp>
      <p:graphicFrame>
        <p:nvGraphicFramePr>
          <p:cNvPr id="45068" name="对象 45067"/>
          <p:cNvGraphicFramePr/>
          <p:nvPr>
            <p:extLst>
              <p:ext uri="{D42A27DB-BD31-4B8C-83A1-F6EECF244321}">
                <p14:modId xmlns:p14="http://schemas.microsoft.com/office/powerpoint/2010/main" val="254728557"/>
              </p:ext>
            </p:extLst>
          </p:nvPr>
        </p:nvGraphicFramePr>
        <p:xfrm>
          <a:off x="1619250" y="4801964"/>
          <a:ext cx="31988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3" r:id="rId7" imgW="1040765" imgH="431800" progId="Equation.DSMT4">
                  <p:embed/>
                </p:oleObj>
              </mc:Choice>
              <mc:Fallback>
                <p:oleObj r:id="rId7" imgW="1040765" imgH="4318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4801964"/>
                        <a:ext cx="3198813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对象 45068"/>
          <p:cNvGraphicFramePr/>
          <p:nvPr/>
        </p:nvGraphicFramePr>
        <p:xfrm>
          <a:off x="1416050" y="1066800"/>
          <a:ext cx="4560888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4" r:id="rId9" imgW="1815465" imgH="431800" progId="Equation.DSMT4">
                  <p:embed/>
                </p:oleObj>
              </mc:Choice>
              <mc:Fallback>
                <p:oleObj r:id="rId9" imgW="1815465" imgH="4318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16050" y="1066800"/>
                        <a:ext cx="4560888" cy="941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  <p:bldP spid="45061" grpId="0" build="p"/>
      <p:bldP spid="45063" grpId="0" build="p"/>
      <p:bldP spid="4506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>
            <a:extLst>
              <a:ext uri="{FF2B5EF4-FFF2-40B4-BE49-F238E27FC236}">
                <a16:creationId xmlns:a16="http://schemas.microsoft.com/office/drawing/2014/main" id="{67FA6510-7901-4CC4-8C40-9FA108D13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"/>
            <a:ext cx="83058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10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、理想气体开始处于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=300K,p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=3.039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10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Pa,V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=4m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状态，先等温膨胀至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16m</a:t>
            </a:r>
            <a:r>
              <a:rPr kumimoji="1" lang="en-US" altLang="zh-CN" sz="2400" b="1" baseline="300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，接着经过一等体过程降到某一压强，再经绝热压缩回到初态。设全部过程都是可逆的且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=1.4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在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P-V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图上画出上述循环。计算每段过程和循环过程所做的功和熵变。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B043A110-89FE-4F9F-A740-13870DD7D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90800"/>
            <a:ext cx="15144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解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）</a:t>
            </a:r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F0587243-0705-458B-8D6A-BFC44BAB8FBB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048000"/>
            <a:ext cx="3733800" cy="3433763"/>
            <a:chOff x="1488" y="1920"/>
            <a:chExt cx="2352" cy="2163"/>
          </a:xfrm>
        </p:grpSpPr>
        <p:sp>
          <p:nvSpPr>
            <p:cNvPr id="41989" name="Line 6">
              <a:extLst>
                <a:ext uri="{FF2B5EF4-FFF2-40B4-BE49-F238E27FC236}">
                  <a16:creationId xmlns:a16="http://schemas.microsoft.com/office/drawing/2014/main" id="{F3F735EB-5521-4A5B-995A-5B089613F9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20"/>
              <a:ext cx="0" cy="1728"/>
            </a:xfrm>
            <a:prstGeom prst="line">
              <a:avLst/>
            </a:prstGeom>
            <a:noFill/>
            <a:ln w="31750">
              <a:solidFill>
                <a:srgbClr val="8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990" name="Group 23">
              <a:extLst>
                <a:ext uri="{FF2B5EF4-FFF2-40B4-BE49-F238E27FC236}">
                  <a16:creationId xmlns:a16="http://schemas.microsoft.com/office/drawing/2014/main" id="{5596E70B-E1E5-4573-94E6-2416460CBA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968"/>
              <a:ext cx="2352" cy="2115"/>
              <a:chOff x="1488" y="1968"/>
              <a:chExt cx="2352" cy="2115"/>
            </a:xfrm>
          </p:grpSpPr>
          <p:sp>
            <p:nvSpPr>
              <p:cNvPr id="41991" name="Line 7">
                <a:extLst>
                  <a:ext uri="{FF2B5EF4-FFF2-40B4-BE49-F238E27FC236}">
                    <a16:creationId xmlns:a16="http://schemas.microsoft.com/office/drawing/2014/main" id="{FD314AA8-B9DB-46ED-96A8-096A2400BE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3648"/>
                <a:ext cx="1824" cy="0"/>
              </a:xfrm>
              <a:prstGeom prst="line">
                <a:avLst/>
              </a:prstGeom>
              <a:noFill/>
              <a:ln w="31750">
                <a:solidFill>
                  <a:srgbClr val="8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2" name="Freeform 8">
                <a:extLst>
                  <a:ext uri="{FF2B5EF4-FFF2-40B4-BE49-F238E27FC236}">
                    <a16:creationId xmlns:a16="http://schemas.microsoft.com/office/drawing/2014/main" id="{1A7BB1D7-642A-4476-A5D8-CC4FA3898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2195"/>
                <a:ext cx="1056" cy="557"/>
              </a:xfrm>
              <a:custGeom>
                <a:avLst/>
                <a:gdLst>
                  <a:gd name="T0" fmla="*/ 0 w 720"/>
                  <a:gd name="T1" fmla="*/ 0 h 400"/>
                  <a:gd name="T2" fmla="*/ 384 w 720"/>
                  <a:gd name="T3" fmla="*/ 336 h 400"/>
                  <a:gd name="T4" fmla="*/ 720 w 720"/>
                  <a:gd name="T5" fmla="*/ 384 h 400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400"/>
                  <a:gd name="T11" fmla="*/ 720 w 720"/>
                  <a:gd name="T12" fmla="*/ 400 h 4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400">
                    <a:moveTo>
                      <a:pt x="0" y="0"/>
                    </a:moveTo>
                    <a:cubicBezTo>
                      <a:pt x="132" y="136"/>
                      <a:pt x="264" y="272"/>
                      <a:pt x="384" y="336"/>
                    </a:cubicBezTo>
                    <a:cubicBezTo>
                      <a:pt x="504" y="400"/>
                      <a:pt x="664" y="376"/>
                      <a:pt x="720" y="384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3" name="Freeform 9">
                <a:extLst>
                  <a:ext uri="{FF2B5EF4-FFF2-40B4-BE49-F238E27FC236}">
                    <a16:creationId xmlns:a16="http://schemas.microsoft.com/office/drawing/2014/main" id="{2C559866-9F81-4A0D-AA7D-06FF8CBFAE6F}"/>
                  </a:ext>
                </a:extLst>
              </p:cNvPr>
              <p:cNvSpPr>
                <a:spLocks/>
              </p:cNvSpPr>
              <p:nvPr/>
            </p:nvSpPr>
            <p:spPr bwMode="auto">
              <a:xfrm rot="21019833">
                <a:off x="1884" y="2167"/>
                <a:ext cx="957" cy="1469"/>
              </a:xfrm>
              <a:custGeom>
                <a:avLst/>
                <a:gdLst>
                  <a:gd name="T0" fmla="*/ 120 w 840"/>
                  <a:gd name="T1" fmla="*/ 0 h 1152"/>
                  <a:gd name="T2" fmla="*/ 120 w 840"/>
                  <a:gd name="T3" fmla="*/ 624 h 1152"/>
                  <a:gd name="T4" fmla="*/ 840 w 840"/>
                  <a:gd name="T5" fmla="*/ 1152 h 1152"/>
                  <a:gd name="T6" fmla="*/ 0 60000 65536"/>
                  <a:gd name="T7" fmla="*/ 0 60000 65536"/>
                  <a:gd name="T8" fmla="*/ 0 60000 65536"/>
                  <a:gd name="T9" fmla="*/ 0 w 840"/>
                  <a:gd name="T10" fmla="*/ 0 h 1152"/>
                  <a:gd name="T11" fmla="*/ 840 w 840"/>
                  <a:gd name="T12" fmla="*/ 1152 h 11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0" h="1152">
                    <a:moveTo>
                      <a:pt x="120" y="0"/>
                    </a:moveTo>
                    <a:cubicBezTo>
                      <a:pt x="60" y="216"/>
                      <a:pt x="0" y="432"/>
                      <a:pt x="120" y="624"/>
                    </a:cubicBezTo>
                    <a:cubicBezTo>
                      <a:pt x="240" y="816"/>
                      <a:pt x="540" y="984"/>
                      <a:pt x="840" y="1152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41994" name="Line 11">
                <a:extLst>
                  <a:ext uri="{FF2B5EF4-FFF2-40B4-BE49-F238E27FC236}">
                    <a16:creationId xmlns:a16="http://schemas.microsoft.com/office/drawing/2014/main" id="{3814669B-4443-48C1-87C0-07DA605642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2736"/>
                <a:ext cx="0" cy="76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5" name="Line 12">
                <a:extLst>
                  <a:ext uri="{FF2B5EF4-FFF2-40B4-BE49-F238E27FC236}">
                    <a16:creationId xmlns:a16="http://schemas.microsoft.com/office/drawing/2014/main" id="{F2B53168-573A-45F6-A684-3E9B897BE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2" y="2640"/>
                <a:ext cx="0" cy="144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6" name="Line 13">
                <a:extLst>
                  <a:ext uri="{FF2B5EF4-FFF2-40B4-BE49-F238E27FC236}">
                    <a16:creationId xmlns:a16="http://schemas.microsoft.com/office/drawing/2014/main" id="{7646FC31-4874-4933-9366-4CC7487A4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512"/>
                <a:ext cx="96" cy="4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7" name="Text Box 14">
                <a:extLst>
                  <a:ext uri="{FF2B5EF4-FFF2-40B4-BE49-F238E27FC236}">
                    <a16:creationId xmlns:a16="http://schemas.microsoft.com/office/drawing/2014/main" id="{6AF4C80B-2EDA-48B5-B62A-2E61B982AA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2" y="3696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41998" name="Text Box 15">
                <a:extLst>
                  <a:ext uri="{FF2B5EF4-FFF2-40B4-BE49-F238E27FC236}">
                    <a16:creationId xmlns:a16="http://schemas.microsoft.com/office/drawing/2014/main" id="{04F064BE-3403-499B-9D45-7E93B87C48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41999" name="Text Box 16">
                <a:extLst>
                  <a:ext uri="{FF2B5EF4-FFF2-40B4-BE49-F238E27FC236}">
                    <a16:creationId xmlns:a16="http://schemas.microsoft.com/office/drawing/2014/main" id="{F155652A-CE9F-4530-BBF6-79AFE8E411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1968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42000" name="Text Box 17">
                <a:extLst>
                  <a:ext uri="{FF2B5EF4-FFF2-40B4-BE49-F238E27FC236}">
                    <a16:creationId xmlns:a16="http://schemas.microsoft.com/office/drawing/2014/main" id="{B39AE097-8888-4D0C-B6AA-A44A7B5055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3312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400" b="1">
                    <a:latin typeface="Times New Roman" panose="02020603050405020304" pitchFamily="18" charset="0"/>
                  </a:rPr>
                  <a:t>3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01" name="Text Box 18">
                <a:extLst>
                  <a:ext uri="{FF2B5EF4-FFF2-40B4-BE49-F238E27FC236}">
                    <a16:creationId xmlns:a16="http://schemas.microsoft.com/office/drawing/2014/main" id="{B8CB5B3A-3EB8-49D3-B624-199011AFB0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2576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400" b="1">
                    <a:latin typeface="Times New Roman" panose="02020603050405020304" pitchFamily="18" charset="0"/>
                  </a:rPr>
                  <a:t>2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02" name="Text Box 19">
                <a:extLst>
                  <a:ext uri="{FF2B5EF4-FFF2-40B4-BE49-F238E27FC236}">
                    <a16:creationId xmlns:a16="http://schemas.microsoft.com/office/drawing/2014/main" id="{1B17C3B0-166C-4BC3-B0E9-3016BE5F78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2064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400" b="1">
                    <a:latin typeface="Times New Roman" panose="02020603050405020304" pitchFamily="18" charset="0"/>
                  </a:rPr>
                  <a:t>1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03" name="Text Box 20">
                <a:extLst>
                  <a:ext uri="{FF2B5EF4-FFF2-40B4-BE49-F238E27FC236}">
                    <a16:creationId xmlns:a16="http://schemas.microsoft.com/office/drawing/2014/main" id="{7E1C166E-FEA9-4F53-AE12-60E1175D4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2352"/>
                <a:ext cx="86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dT=0</a:t>
                </a:r>
              </a:p>
            </p:txBody>
          </p:sp>
          <p:sp>
            <p:nvSpPr>
              <p:cNvPr id="42004" name="Text Box 21">
                <a:extLst>
                  <a:ext uri="{FF2B5EF4-FFF2-40B4-BE49-F238E27FC236}">
                    <a16:creationId xmlns:a16="http://schemas.microsoft.com/office/drawing/2014/main" id="{97FD2090-B52F-43B1-AB93-A488E22390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6" y="3096"/>
                <a:ext cx="86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dQ=0</a:t>
                </a:r>
              </a:p>
            </p:txBody>
          </p:sp>
          <p:sp>
            <p:nvSpPr>
              <p:cNvPr id="42005" name="Text Box 22">
                <a:extLst>
                  <a:ext uri="{FF2B5EF4-FFF2-40B4-BE49-F238E27FC236}">
                    <a16:creationId xmlns:a16="http://schemas.microsoft.com/office/drawing/2014/main" id="{8E342133-80B5-47F7-A566-78DB946534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976"/>
                <a:ext cx="86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dV=0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812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Text Box 2">
            <a:extLst>
              <a:ext uri="{FF2B5EF4-FFF2-40B4-BE49-F238E27FC236}">
                <a16:creationId xmlns:a16="http://schemas.microsoft.com/office/drawing/2014/main" id="{F4480532-4CD9-41AD-91FD-AC42D7C36F59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23850" y="333375"/>
            <a:ext cx="4876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2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等温过程，气体对外做功：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5E1EC4C4-5D1C-4A6F-BF19-C90B492A9B9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684213" y="4551213"/>
            <a:ext cx="5905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3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等容过程，气体对外做功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=0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FEF22BE1-F6AF-458C-8A1B-63FA2FE5275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0" y="2133600"/>
            <a:ext cx="1828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熵的增加：</a:t>
            </a:r>
          </a:p>
        </p:txBody>
      </p:sp>
      <p:graphicFrame>
        <p:nvGraphicFramePr>
          <p:cNvPr id="43015" name="Object 7">
            <a:extLst>
              <a:ext uri="{FF2B5EF4-FFF2-40B4-BE49-F238E27FC236}">
                <a16:creationId xmlns:a16="http://schemas.microsoft.com/office/drawing/2014/main" id="{922F7824-7C93-456B-919A-6113B807407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3838" y="836613"/>
          <a:ext cx="689610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0" name="Equation" r:id="rId3" imgW="3213000" imgH="495000" progId="Equation.DSMT4">
                  <p:embed/>
                </p:oleObj>
              </mc:Choice>
              <mc:Fallback>
                <p:oleObj name="Equation" r:id="rId3" imgW="3213000" imgH="495000" progId="Equation.DSMT4">
                  <p:embed/>
                  <p:pic>
                    <p:nvPicPr>
                      <p:cNvPr id="43015" name="Object 7">
                        <a:extLst>
                          <a:ext uri="{FF2B5EF4-FFF2-40B4-BE49-F238E27FC236}">
                            <a16:creationId xmlns:a16="http://schemas.microsoft.com/office/drawing/2014/main" id="{922F7824-7C93-456B-919A-6113B80740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23838" y="836613"/>
                        <a:ext cx="6896100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8">
            <a:extLst>
              <a:ext uri="{FF2B5EF4-FFF2-40B4-BE49-F238E27FC236}">
                <a16:creationId xmlns:a16="http://schemas.microsoft.com/office/drawing/2014/main" id="{52449822-6563-4764-9D72-8D462146DE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989138"/>
          <a:ext cx="28082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1" name="公式" r:id="rId5" imgW="1295280" imgH="431640" progId="Equation.3">
                  <p:embed/>
                </p:oleObj>
              </mc:Choice>
              <mc:Fallback>
                <p:oleObj name="公式" r:id="rId5" imgW="1295280" imgH="431640" progId="Equation.3">
                  <p:embed/>
                  <p:pic>
                    <p:nvPicPr>
                      <p:cNvPr id="43016" name="Object 8">
                        <a:extLst>
                          <a:ext uri="{FF2B5EF4-FFF2-40B4-BE49-F238E27FC236}">
                            <a16:creationId xmlns:a16="http://schemas.microsoft.com/office/drawing/2014/main" id="{52449822-6563-4764-9D72-8D462146DE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692275" y="1989138"/>
                        <a:ext cx="280828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9">
            <a:extLst>
              <a:ext uri="{FF2B5EF4-FFF2-40B4-BE49-F238E27FC236}">
                <a16:creationId xmlns:a16="http://schemas.microsoft.com/office/drawing/2014/main" id="{2C930842-5772-4D0A-9E41-285B2D157F0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839913" y="5843588"/>
          <a:ext cx="54006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2" name="Equation" r:id="rId7" imgW="2044440" imgH="279360" progId="Equation.DSMT4">
                  <p:embed/>
                </p:oleObj>
              </mc:Choice>
              <mc:Fallback>
                <p:oleObj name="Equation" r:id="rId7" imgW="2044440" imgH="279360" progId="Equation.DSMT4">
                  <p:embed/>
                  <p:pic>
                    <p:nvPicPr>
                      <p:cNvPr id="14342" name="Object 9">
                        <a:extLst>
                          <a:ext uri="{FF2B5EF4-FFF2-40B4-BE49-F238E27FC236}">
                            <a16:creationId xmlns:a16="http://schemas.microsoft.com/office/drawing/2014/main" id="{2C930842-5772-4D0A-9E41-285B2D157F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839913" y="5843588"/>
                        <a:ext cx="540067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>
            <a:extLst>
              <a:ext uri="{FF2B5EF4-FFF2-40B4-BE49-F238E27FC236}">
                <a16:creationId xmlns:a16="http://schemas.microsoft.com/office/drawing/2014/main" id="{A0CB9B4C-39E3-41D5-AF5D-E233BB16DEB6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5150643"/>
            <a:ext cx="6148387" cy="582613"/>
            <a:chOff x="912" y="2985"/>
            <a:chExt cx="3873" cy="367"/>
          </a:xfrm>
        </p:grpSpPr>
        <p:sp>
          <p:nvSpPr>
            <p:cNvPr id="14366" name="Text Box 10">
              <a:extLst>
                <a:ext uri="{FF2B5EF4-FFF2-40B4-BE49-F238E27FC236}">
                  <a16:creationId xmlns:a16="http://schemas.microsoft.com/office/drawing/2014/main" id="{D0AFC1CD-8E97-40AE-85F6-5A6107086041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912" y="3006"/>
              <a:ext cx="131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</a:rPr>
                <a:t>整个循环熵变：</a:t>
              </a:r>
            </a:p>
          </p:txBody>
        </p:sp>
        <p:graphicFrame>
          <p:nvGraphicFramePr>
            <p:cNvPr id="14341" name="Object 11">
              <a:extLst>
                <a:ext uri="{FF2B5EF4-FFF2-40B4-BE49-F238E27FC236}">
                  <a16:creationId xmlns:a16="http://schemas.microsoft.com/office/drawing/2014/main" id="{93C162C3-E39C-49D0-A895-B7163B281F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5" y="2985"/>
            <a:ext cx="2530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83" name="公式" r:id="rId9" imgW="1574640" imgH="228600" progId="Equation.3">
                    <p:embed/>
                  </p:oleObj>
                </mc:Choice>
                <mc:Fallback>
                  <p:oleObj name="公式" r:id="rId9" imgW="1574640" imgH="228600" progId="Equation.3">
                    <p:embed/>
                    <p:pic>
                      <p:nvPicPr>
                        <p:cNvPr id="14341" name="Object 11">
                          <a:extLst>
                            <a:ext uri="{FF2B5EF4-FFF2-40B4-BE49-F238E27FC236}">
                              <a16:creationId xmlns:a16="http://schemas.microsoft.com/office/drawing/2014/main" id="{93C162C3-E39C-49D0-A895-B7163B281F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2255" y="2985"/>
                          <a:ext cx="2530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8" name="Group 14">
            <a:extLst>
              <a:ext uri="{FF2B5EF4-FFF2-40B4-BE49-F238E27FC236}">
                <a16:creationId xmlns:a16="http://schemas.microsoft.com/office/drawing/2014/main" id="{6EB249A0-5AC1-46FE-96A1-C2B4F4A596A2}"/>
              </a:ext>
            </a:extLst>
          </p:cNvPr>
          <p:cNvGrpSpPr>
            <a:grpSpLocks/>
          </p:cNvGrpSpPr>
          <p:nvPr/>
        </p:nvGrpSpPr>
        <p:grpSpPr bwMode="auto">
          <a:xfrm>
            <a:off x="5724128" y="1829007"/>
            <a:ext cx="3276600" cy="2680113"/>
            <a:chOff x="1488" y="1920"/>
            <a:chExt cx="2352" cy="2090"/>
          </a:xfrm>
        </p:grpSpPr>
        <p:sp>
          <p:nvSpPr>
            <p:cNvPr id="14349" name="Line 15">
              <a:extLst>
                <a:ext uri="{FF2B5EF4-FFF2-40B4-BE49-F238E27FC236}">
                  <a16:creationId xmlns:a16="http://schemas.microsoft.com/office/drawing/2014/main" id="{0DC66B7C-2CD4-4AEA-824C-F84269B390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20"/>
              <a:ext cx="0" cy="1728"/>
            </a:xfrm>
            <a:prstGeom prst="line">
              <a:avLst/>
            </a:prstGeom>
            <a:noFill/>
            <a:ln w="31750">
              <a:solidFill>
                <a:srgbClr val="8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350" name="Group 16">
              <a:extLst>
                <a:ext uri="{FF2B5EF4-FFF2-40B4-BE49-F238E27FC236}">
                  <a16:creationId xmlns:a16="http://schemas.microsoft.com/office/drawing/2014/main" id="{E3EFF1FB-692C-4C68-BC1C-CDE89E5DE5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968"/>
              <a:ext cx="2352" cy="2042"/>
              <a:chOff x="1488" y="1968"/>
              <a:chExt cx="2352" cy="2042"/>
            </a:xfrm>
          </p:grpSpPr>
          <p:sp>
            <p:nvSpPr>
              <p:cNvPr id="14351" name="Line 17">
                <a:extLst>
                  <a:ext uri="{FF2B5EF4-FFF2-40B4-BE49-F238E27FC236}">
                    <a16:creationId xmlns:a16="http://schemas.microsoft.com/office/drawing/2014/main" id="{7858B5D6-DC8D-4E73-B24E-9547D94E2B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3648"/>
                <a:ext cx="1824" cy="0"/>
              </a:xfrm>
              <a:prstGeom prst="line">
                <a:avLst/>
              </a:prstGeom>
              <a:noFill/>
              <a:ln w="31750">
                <a:solidFill>
                  <a:srgbClr val="8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2" name="Freeform 18">
                <a:extLst>
                  <a:ext uri="{FF2B5EF4-FFF2-40B4-BE49-F238E27FC236}">
                    <a16:creationId xmlns:a16="http://schemas.microsoft.com/office/drawing/2014/main" id="{4616C347-0F3C-4D82-8407-71F4A14EF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8" y="2352"/>
                <a:ext cx="720" cy="400"/>
              </a:xfrm>
              <a:custGeom>
                <a:avLst/>
                <a:gdLst>
                  <a:gd name="T0" fmla="*/ 0 w 720"/>
                  <a:gd name="T1" fmla="*/ 0 h 400"/>
                  <a:gd name="T2" fmla="*/ 384 w 720"/>
                  <a:gd name="T3" fmla="*/ 336 h 400"/>
                  <a:gd name="T4" fmla="*/ 720 w 720"/>
                  <a:gd name="T5" fmla="*/ 384 h 400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400"/>
                  <a:gd name="T11" fmla="*/ 720 w 720"/>
                  <a:gd name="T12" fmla="*/ 400 h 4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400">
                    <a:moveTo>
                      <a:pt x="0" y="0"/>
                    </a:moveTo>
                    <a:cubicBezTo>
                      <a:pt x="132" y="136"/>
                      <a:pt x="264" y="272"/>
                      <a:pt x="384" y="336"/>
                    </a:cubicBezTo>
                    <a:cubicBezTo>
                      <a:pt x="504" y="400"/>
                      <a:pt x="664" y="376"/>
                      <a:pt x="720" y="384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3" name="Freeform 19">
                <a:extLst>
                  <a:ext uri="{FF2B5EF4-FFF2-40B4-BE49-F238E27FC236}">
                    <a16:creationId xmlns:a16="http://schemas.microsoft.com/office/drawing/2014/main" id="{022CFA5E-5506-452D-9963-EA8964695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0" y="2344"/>
                <a:ext cx="840" cy="1152"/>
              </a:xfrm>
              <a:custGeom>
                <a:avLst/>
                <a:gdLst>
                  <a:gd name="T0" fmla="*/ 120 w 840"/>
                  <a:gd name="T1" fmla="*/ 0 h 1152"/>
                  <a:gd name="T2" fmla="*/ 120 w 840"/>
                  <a:gd name="T3" fmla="*/ 624 h 1152"/>
                  <a:gd name="T4" fmla="*/ 840 w 840"/>
                  <a:gd name="T5" fmla="*/ 1152 h 1152"/>
                  <a:gd name="T6" fmla="*/ 0 60000 65536"/>
                  <a:gd name="T7" fmla="*/ 0 60000 65536"/>
                  <a:gd name="T8" fmla="*/ 0 60000 65536"/>
                  <a:gd name="T9" fmla="*/ 0 w 840"/>
                  <a:gd name="T10" fmla="*/ 0 h 1152"/>
                  <a:gd name="T11" fmla="*/ 840 w 840"/>
                  <a:gd name="T12" fmla="*/ 1152 h 11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0" h="1152">
                    <a:moveTo>
                      <a:pt x="120" y="0"/>
                    </a:moveTo>
                    <a:cubicBezTo>
                      <a:pt x="60" y="216"/>
                      <a:pt x="0" y="432"/>
                      <a:pt x="120" y="624"/>
                    </a:cubicBezTo>
                    <a:cubicBezTo>
                      <a:pt x="240" y="816"/>
                      <a:pt x="540" y="984"/>
                      <a:pt x="840" y="1152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4" name="Line 20">
                <a:extLst>
                  <a:ext uri="{FF2B5EF4-FFF2-40B4-BE49-F238E27FC236}">
                    <a16:creationId xmlns:a16="http://schemas.microsoft.com/office/drawing/2014/main" id="{6DCF3FBF-1188-4B29-A10E-487A90BC5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2736"/>
                <a:ext cx="0" cy="76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5" name="Line 21">
                <a:extLst>
                  <a:ext uri="{FF2B5EF4-FFF2-40B4-BE49-F238E27FC236}">
                    <a16:creationId xmlns:a16="http://schemas.microsoft.com/office/drawing/2014/main" id="{1CF5A385-4DB3-4B35-8936-21255CB3D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2" y="2640"/>
                <a:ext cx="0" cy="144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6" name="Line 22">
                <a:extLst>
                  <a:ext uri="{FF2B5EF4-FFF2-40B4-BE49-F238E27FC236}">
                    <a16:creationId xmlns:a16="http://schemas.microsoft.com/office/drawing/2014/main" id="{9360DEE5-AFEE-4A9D-8CB4-4348B48E2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512"/>
                <a:ext cx="96" cy="4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7" name="Text Box 23">
                <a:extLst>
                  <a:ext uri="{FF2B5EF4-FFF2-40B4-BE49-F238E27FC236}">
                    <a16:creationId xmlns:a16="http://schemas.microsoft.com/office/drawing/2014/main" id="{4C9E3A74-50A4-4B09-A626-AD14305A06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4" y="3698"/>
                <a:ext cx="267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 i="1" dirty="0">
                    <a:latin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14358" name="Text Box 24">
                <a:extLst>
                  <a:ext uri="{FF2B5EF4-FFF2-40B4-BE49-F238E27FC236}">
                    <a16:creationId xmlns:a16="http://schemas.microsoft.com/office/drawing/2014/main" id="{656F894F-F584-45F7-9D15-7D965B296C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7" y="3661"/>
                <a:ext cx="479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 dirty="0">
                    <a:latin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14359" name="Text Box 25">
                <a:extLst>
                  <a:ext uri="{FF2B5EF4-FFF2-40B4-BE49-F238E27FC236}">
                    <a16:creationId xmlns:a16="http://schemas.microsoft.com/office/drawing/2014/main" id="{C327F9CE-0D95-40CB-8E71-362EDB4208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1968"/>
                <a:ext cx="480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 i="1" dirty="0">
                    <a:latin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14360" name="Text Box 26">
                <a:extLst>
                  <a:ext uri="{FF2B5EF4-FFF2-40B4-BE49-F238E27FC236}">
                    <a16:creationId xmlns:a16="http://schemas.microsoft.com/office/drawing/2014/main" id="{E55F7CA8-1AEE-4C67-9A08-00EE3E97E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3311"/>
                <a:ext cx="480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3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1" name="Text Box 27">
                <a:extLst>
                  <a:ext uri="{FF2B5EF4-FFF2-40B4-BE49-F238E27FC236}">
                    <a16:creationId xmlns:a16="http://schemas.microsoft.com/office/drawing/2014/main" id="{626115E6-0D2C-4F73-979E-FD99820283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7" y="2575"/>
                <a:ext cx="481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2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2" name="Text Box 28">
                <a:extLst>
                  <a:ext uri="{FF2B5EF4-FFF2-40B4-BE49-F238E27FC236}">
                    <a16:creationId xmlns:a16="http://schemas.microsoft.com/office/drawing/2014/main" id="{F54A83FA-05F9-4879-B133-F1015306F7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1" y="2065"/>
                <a:ext cx="478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1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3" name="Text Box 29">
                <a:extLst>
                  <a:ext uri="{FF2B5EF4-FFF2-40B4-BE49-F238E27FC236}">
                    <a16:creationId xmlns:a16="http://schemas.microsoft.com/office/drawing/2014/main" id="{7554089B-5F32-4DD8-BA33-CA471D92BE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7" y="2353"/>
                <a:ext cx="865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dT=0</a:t>
                </a:r>
              </a:p>
            </p:txBody>
          </p:sp>
          <p:sp>
            <p:nvSpPr>
              <p:cNvPr id="14364" name="Text Box 30">
                <a:extLst>
                  <a:ext uri="{FF2B5EF4-FFF2-40B4-BE49-F238E27FC236}">
                    <a16:creationId xmlns:a16="http://schemas.microsoft.com/office/drawing/2014/main" id="{EE2E3903-3CEB-4902-AEBC-FA0FFA7F28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5" y="3096"/>
                <a:ext cx="864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dQ=0</a:t>
                </a:r>
              </a:p>
            </p:txBody>
          </p:sp>
          <p:sp>
            <p:nvSpPr>
              <p:cNvPr id="14365" name="Text Box 31">
                <a:extLst>
                  <a:ext uri="{FF2B5EF4-FFF2-40B4-BE49-F238E27FC236}">
                    <a16:creationId xmlns:a16="http://schemas.microsoft.com/office/drawing/2014/main" id="{3D75828D-BFA9-45E5-9EDA-946972BF5E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977"/>
                <a:ext cx="864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dV=0</a:t>
                </a:r>
              </a:p>
            </p:txBody>
          </p:sp>
        </p:grpSp>
      </p:grpSp>
      <p:graphicFrame>
        <p:nvGraphicFramePr>
          <p:cNvPr id="43040" name="Object 32">
            <a:extLst>
              <a:ext uri="{FF2B5EF4-FFF2-40B4-BE49-F238E27FC236}">
                <a16:creationId xmlns:a16="http://schemas.microsoft.com/office/drawing/2014/main" id="{A1C7F450-B7A0-4DFD-BE7E-AC0077BAB4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781300"/>
          <a:ext cx="381635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4" name="公式" r:id="rId11" imgW="1930320" imgH="939600" progId="Equation.3">
                  <p:embed/>
                </p:oleObj>
              </mc:Choice>
              <mc:Fallback>
                <p:oleObj name="公式" r:id="rId11" imgW="1930320" imgH="939600" progId="Equation.3">
                  <p:embed/>
                  <p:pic>
                    <p:nvPicPr>
                      <p:cNvPr id="43040" name="Object 32">
                        <a:extLst>
                          <a:ext uri="{FF2B5EF4-FFF2-40B4-BE49-F238E27FC236}">
                            <a16:creationId xmlns:a16="http://schemas.microsoft.com/office/drawing/2014/main" id="{A1C7F450-B7A0-4DFD-BE7E-AC0077BAB4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124075" y="2781300"/>
                        <a:ext cx="381635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1">
            <a:extLst>
              <a:ext uri="{FF2B5EF4-FFF2-40B4-BE49-F238E27FC236}">
                <a16:creationId xmlns:a16="http://schemas.microsoft.com/office/drawing/2014/main" id="{F1FB912C-7A75-4E7C-95C2-F210CFDF9E7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26998" y="5150643"/>
          <a:ext cx="12954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5" name="Equation" r:id="rId13" imgW="507960" imgH="228600" progId="Equation.DSMT4">
                  <p:embed/>
                </p:oleObj>
              </mc:Choice>
              <mc:Fallback>
                <p:oleObj name="Equation" r:id="rId13" imgW="507960" imgH="228600" progId="Equation.DSMT4">
                  <p:embed/>
                  <p:pic>
                    <p:nvPicPr>
                      <p:cNvPr id="32" name="Object 11">
                        <a:extLst>
                          <a:ext uri="{FF2B5EF4-FFF2-40B4-BE49-F238E27FC236}">
                            <a16:creationId xmlns:a16="http://schemas.microsoft.com/office/drawing/2014/main" id="{F1FB912C-7A75-4E7C-95C2-F210CFDF9E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626998" y="5150643"/>
                        <a:ext cx="12954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A218D0D-BC9F-487C-93BD-962BBD8B012D}"/>
              </a:ext>
            </a:extLst>
          </p:cNvPr>
          <p:cNvSpPr/>
          <p:nvPr/>
        </p:nvSpPr>
        <p:spPr>
          <a:xfrm>
            <a:off x="6444208" y="1484784"/>
            <a:ext cx="2699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800" dirty="0"/>
              <a:t>T</a:t>
            </a:r>
            <a:r>
              <a:rPr kumimoji="1" lang="en-US" altLang="zh-CN" sz="1800" baseline="-25000" dirty="0"/>
              <a:t>1</a:t>
            </a:r>
            <a:r>
              <a:rPr kumimoji="1" lang="en-US" altLang="zh-CN" sz="1800" dirty="0"/>
              <a:t>=300K,p</a:t>
            </a:r>
            <a:r>
              <a:rPr kumimoji="1" lang="en-US" altLang="zh-CN" sz="1800" baseline="-25000" dirty="0"/>
              <a:t>1</a:t>
            </a:r>
            <a:r>
              <a:rPr kumimoji="1" lang="en-US" altLang="zh-CN" sz="1800" dirty="0"/>
              <a:t>=3.039</a:t>
            </a:r>
            <a:r>
              <a:rPr kumimoji="1" lang="en-US" altLang="zh-CN" sz="1800" dirty="0">
                <a:sym typeface="Symbol" panose="05050102010706020507" pitchFamily="18" charset="2"/>
              </a:rPr>
              <a:t>10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5</a:t>
            </a:r>
            <a:r>
              <a:rPr kumimoji="1" lang="en-US" altLang="zh-CN" sz="1800" dirty="0">
                <a:sym typeface="Symbol" panose="05050102010706020507" pitchFamily="18" charset="2"/>
              </a:rPr>
              <a:t>Pa,V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1</a:t>
            </a:r>
            <a:r>
              <a:rPr kumimoji="1" lang="en-US" altLang="zh-CN" sz="1800" dirty="0">
                <a:sym typeface="Symbol" panose="05050102010706020507" pitchFamily="18" charset="2"/>
              </a:rPr>
              <a:t>=4m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3</a:t>
            </a:r>
            <a:r>
              <a:rPr kumimoji="1" lang="en-US" altLang="zh-CN" sz="1800" dirty="0"/>
              <a:t> , </a:t>
            </a:r>
            <a:r>
              <a:rPr kumimoji="1" lang="en-US" altLang="zh-CN" sz="1800" dirty="0">
                <a:sym typeface="Symbol" panose="05050102010706020507" pitchFamily="18" charset="2"/>
              </a:rPr>
              <a:t>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2</a:t>
            </a:r>
            <a:r>
              <a:rPr kumimoji="1" lang="en-US" altLang="zh-CN" sz="1800" dirty="0">
                <a:sym typeface="Symbol" panose="05050102010706020507" pitchFamily="18" charset="2"/>
              </a:rPr>
              <a:t>=V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3</a:t>
            </a:r>
            <a:r>
              <a:rPr kumimoji="1" lang="en-US" altLang="zh-CN" sz="1800" dirty="0">
                <a:sym typeface="Symbol" panose="05050102010706020507" pitchFamily="18" charset="2"/>
              </a:rPr>
              <a:t> = 16m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3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3950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/>
      <p:bldP spid="430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Text Box 4">
            <a:extLst>
              <a:ext uri="{FF2B5EF4-FFF2-40B4-BE49-F238E27FC236}">
                <a16:creationId xmlns:a16="http://schemas.microsoft.com/office/drawing/2014/main" id="{20949D0C-2CE9-4ECE-A20C-D504CE904CD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81000" y="112713"/>
            <a:ext cx="554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1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绝热过程，气体对外做功：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54279" name="Object 7">
            <a:extLst>
              <a:ext uri="{FF2B5EF4-FFF2-40B4-BE49-F238E27FC236}">
                <a16:creationId xmlns:a16="http://schemas.microsoft.com/office/drawing/2014/main" id="{E481F36B-409E-4007-ADC1-447E074092D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41375" y="549275"/>
          <a:ext cx="486568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5" name="Equation" r:id="rId3" imgW="2006280" imgH="393480" progId="Equation.DSMT4">
                  <p:embed/>
                </p:oleObj>
              </mc:Choice>
              <mc:Fallback>
                <p:oleObj name="Equation" r:id="rId3" imgW="2006280" imgH="393480" progId="Equation.DSMT4">
                  <p:embed/>
                  <p:pic>
                    <p:nvPicPr>
                      <p:cNvPr id="54279" name="Object 7">
                        <a:extLst>
                          <a:ext uri="{FF2B5EF4-FFF2-40B4-BE49-F238E27FC236}">
                            <a16:creationId xmlns:a16="http://schemas.microsoft.com/office/drawing/2014/main" id="{E481F36B-409E-4007-ADC1-447E074092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549275"/>
                        <a:ext cx="4865688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>
            <a:extLst>
              <a:ext uri="{FF2B5EF4-FFF2-40B4-BE49-F238E27FC236}">
                <a16:creationId xmlns:a16="http://schemas.microsoft.com/office/drawing/2014/main" id="{B4FAE176-C6E5-4A7E-9C3A-672BD0D70DC6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557338"/>
            <a:ext cx="4752975" cy="1012825"/>
            <a:chOff x="340" y="981"/>
            <a:chExt cx="2994" cy="638"/>
          </a:xfrm>
        </p:grpSpPr>
        <p:sp>
          <p:nvSpPr>
            <p:cNvPr id="15391" name="Text Box 8">
              <a:extLst>
                <a:ext uri="{FF2B5EF4-FFF2-40B4-BE49-F238E27FC236}">
                  <a16:creationId xmlns:a16="http://schemas.microsoft.com/office/drawing/2014/main" id="{6B096214-1AE5-4C11-9ED4-33E5697EA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183"/>
              <a:ext cx="1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由题意</a:t>
              </a:r>
            </a:p>
          </p:txBody>
        </p:sp>
        <p:graphicFrame>
          <p:nvGraphicFramePr>
            <p:cNvPr id="15368" name="Object 9">
              <a:extLst>
                <a:ext uri="{FF2B5EF4-FFF2-40B4-BE49-F238E27FC236}">
                  <a16:creationId xmlns:a16="http://schemas.microsoft.com/office/drawing/2014/main" id="{580494B8-6284-416B-8FA7-F84728D1D1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1" y="981"/>
            <a:ext cx="2223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06" name="公式" r:id="rId5" imgW="1371600" imgH="393480" progId="Equation.3">
                    <p:embed/>
                  </p:oleObj>
                </mc:Choice>
                <mc:Fallback>
                  <p:oleObj name="公式" r:id="rId5" imgW="1371600" imgH="393480" progId="Equation.3">
                    <p:embed/>
                    <p:pic>
                      <p:nvPicPr>
                        <p:cNvPr id="15368" name="Object 9">
                          <a:extLst>
                            <a:ext uri="{FF2B5EF4-FFF2-40B4-BE49-F238E27FC236}">
                              <a16:creationId xmlns:a16="http://schemas.microsoft.com/office/drawing/2014/main" id="{580494B8-6284-416B-8FA7-F84728D1D1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981"/>
                          <a:ext cx="2223" cy="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282" name="Text Box 10">
            <a:extLst>
              <a:ext uri="{FF2B5EF4-FFF2-40B4-BE49-F238E27FC236}">
                <a16:creationId xmlns:a16="http://schemas.microsoft.com/office/drawing/2014/main" id="{4CD6C22F-46A7-4A86-9D67-E69775990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801491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由绝热方程</a:t>
            </a:r>
          </a:p>
        </p:txBody>
      </p:sp>
      <p:graphicFrame>
        <p:nvGraphicFramePr>
          <p:cNvPr id="54283" name="Object 11">
            <a:extLst>
              <a:ext uri="{FF2B5EF4-FFF2-40B4-BE49-F238E27FC236}">
                <a16:creationId xmlns:a16="http://schemas.microsoft.com/office/drawing/2014/main" id="{9502E44A-61C1-497F-B29E-ACA2A7B90BC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67744" y="2513136"/>
          <a:ext cx="4895850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7" name="Equation" r:id="rId7" imgW="2197080" imgH="507960" progId="Equation.DSMT4">
                  <p:embed/>
                </p:oleObj>
              </mc:Choice>
              <mc:Fallback>
                <p:oleObj name="Equation" r:id="rId7" imgW="2197080" imgH="507960" progId="Equation.DSMT4">
                  <p:embed/>
                  <p:pic>
                    <p:nvPicPr>
                      <p:cNvPr id="54283" name="Object 11">
                        <a:extLst>
                          <a:ext uri="{FF2B5EF4-FFF2-40B4-BE49-F238E27FC236}">
                            <a16:creationId xmlns:a16="http://schemas.microsoft.com/office/drawing/2014/main" id="{9502E44A-61C1-497F-B29E-ACA2A7B90B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513136"/>
                        <a:ext cx="4895850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12">
            <a:extLst>
              <a:ext uri="{FF2B5EF4-FFF2-40B4-BE49-F238E27FC236}">
                <a16:creationId xmlns:a16="http://schemas.microsoft.com/office/drawing/2014/main" id="{ACE15F69-681A-4E04-A183-A9D731357E0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27088" y="3658394"/>
          <a:ext cx="53276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8" name="公式" r:id="rId9" imgW="2361960" imgH="393480" progId="Equation.3">
                  <p:embed/>
                </p:oleObj>
              </mc:Choice>
              <mc:Fallback>
                <p:oleObj name="公式" r:id="rId9" imgW="2361960" imgH="393480" progId="Equation.3">
                  <p:embed/>
                  <p:pic>
                    <p:nvPicPr>
                      <p:cNvPr id="54284" name="Object 12">
                        <a:extLst>
                          <a:ext uri="{FF2B5EF4-FFF2-40B4-BE49-F238E27FC236}">
                            <a16:creationId xmlns:a16="http://schemas.microsoft.com/office/drawing/2014/main" id="{ACE15F69-681A-4E04-A183-A9D731357E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658394"/>
                        <a:ext cx="532765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5" name="Object 13">
            <a:extLst>
              <a:ext uri="{FF2B5EF4-FFF2-40B4-BE49-F238E27FC236}">
                <a16:creationId xmlns:a16="http://schemas.microsoft.com/office/drawing/2014/main" id="{FB01F00B-F4F8-4CB9-85D4-8590BA695B0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156325" y="3615531"/>
          <a:ext cx="251936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9" name="公式" r:id="rId11" imgW="1104840" imgH="431640" progId="Equation.3">
                  <p:embed/>
                </p:oleObj>
              </mc:Choice>
              <mc:Fallback>
                <p:oleObj name="公式" r:id="rId11" imgW="1104840" imgH="431640" progId="Equation.3">
                  <p:embed/>
                  <p:pic>
                    <p:nvPicPr>
                      <p:cNvPr id="54285" name="Object 13">
                        <a:extLst>
                          <a:ext uri="{FF2B5EF4-FFF2-40B4-BE49-F238E27FC236}">
                            <a16:creationId xmlns:a16="http://schemas.microsoft.com/office/drawing/2014/main" id="{FB01F00B-F4F8-4CB9-85D4-8590BA695B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3615531"/>
                        <a:ext cx="251936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6" name="Object 14">
            <a:extLst>
              <a:ext uri="{FF2B5EF4-FFF2-40B4-BE49-F238E27FC236}">
                <a16:creationId xmlns:a16="http://schemas.microsoft.com/office/drawing/2014/main" id="{C335079B-E4B9-4A50-AB88-25573B36E90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87463" y="4739481"/>
          <a:ext cx="51117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0" name="公式" r:id="rId13" imgW="2222280" imgH="431640" progId="Equation.3">
                  <p:embed/>
                </p:oleObj>
              </mc:Choice>
              <mc:Fallback>
                <p:oleObj name="公式" r:id="rId13" imgW="2222280" imgH="431640" progId="Equation.3">
                  <p:embed/>
                  <p:pic>
                    <p:nvPicPr>
                      <p:cNvPr id="54286" name="Object 14">
                        <a:extLst>
                          <a:ext uri="{FF2B5EF4-FFF2-40B4-BE49-F238E27FC236}">
                            <a16:creationId xmlns:a16="http://schemas.microsoft.com/office/drawing/2014/main" id="{C335079B-E4B9-4A50-AB88-25573B36E9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4739481"/>
                        <a:ext cx="511175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3" name="Group 16">
            <a:extLst>
              <a:ext uri="{FF2B5EF4-FFF2-40B4-BE49-F238E27FC236}">
                <a16:creationId xmlns:a16="http://schemas.microsoft.com/office/drawing/2014/main" id="{1464286C-333D-476C-9BF6-E04911FA476C}"/>
              </a:ext>
            </a:extLst>
          </p:cNvPr>
          <p:cNvGrpSpPr>
            <a:grpSpLocks/>
          </p:cNvGrpSpPr>
          <p:nvPr/>
        </p:nvGrpSpPr>
        <p:grpSpPr bwMode="auto">
          <a:xfrm>
            <a:off x="5814218" y="395039"/>
            <a:ext cx="3132137" cy="2601913"/>
            <a:chOff x="1488" y="1920"/>
            <a:chExt cx="2352" cy="2214"/>
          </a:xfrm>
        </p:grpSpPr>
        <p:sp>
          <p:nvSpPr>
            <p:cNvPr id="15374" name="Line 17">
              <a:extLst>
                <a:ext uri="{FF2B5EF4-FFF2-40B4-BE49-F238E27FC236}">
                  <a16:creationId xmlns:a16="http://schemas.microsoft.com/office/drawing/2014/main" id="{4B1563C8-7A58-4B42-8718-37643CEC4C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20"/>
              <a:ext cx="0" cy="1728"/>
            </a:xfrm>
            <a:prstGeom prst="line">
              <a:avLst/>
            </a:prstGeom>
            <a:noFill/>
            <a:ln w="31750">
              <a:solidFill>
                <a:srgbClr val="8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75" name="Group 18">
              <a:extLst>
                <a:ext uri="{FF2B5EF4-FFF2-40B4-BE49-F238E27FC236}">
                  <a16:creationId xmlns:a16="http://schemas.microsoft.com/office/drawing/2014/main" id="{3059C6D5-F90C-42AA-82FE-64FC323966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968"/>
              <a:ext cx="2352" cy="2166"/>
              <a:chOff x="1488" y="1968"/>
              <a:chExt cx="2352" cy="2166"/>
            </a:xfrm>
          </p:grpSpPr>
          <p:sp>
            <p:nvSpPr>
              <p:cNvPr id="15376" name="Line 19">
                <a:extLst>
                  <a:ext uri="{FF2B5EF4-FFF2-40B4-BE49-F238E27FC236}">
                    <a16:creationId xmlns:a16="http://schemas.microsoft.com/office/drawing/2014/main" id="{043571C3-CA05-4A3C-97B8-CA006C32F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3648"/>
                <a:ext cx="1824" cy="0"/>
              </a:xfrm>
              <a:prstGeom prst="line">
                <a:avLst/>
              </a:prstGeom>
              <a:noFill/>
              <a:ln w="31750">
                <a:solidFill>
                  <a:srgbClr val="8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77" name="Freeform 20">
                <a:extLst>
                  <a:ext uri="{FF2B5EF4-FFF2-40B4-BE49-F238E27FC236}">
                    <a16:creationId xmlns:a16="http://schemas.microsoft.com/office/drawing/2014/main" id="{1EE3418F-5923-4961-AB45-611B6FD2D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8" y="2352"/>
                <a:ext cx="720" cy="400"/>
              </a:xfrm>
              <a:custGeom>
                <a:avLst/>
                <a:gdLst>
                  <a:gd name="T0" fmla="*/ 0 w 720"/>
                  <a:gd name="T1" fmla="*/ 0 h 400"/>
                  <a:gd name="T2" fmla="*/ 384 w 720"/>
                  <a:gd name="T3" fmla="*/ 336 h 400"/>
                  <a:gd name="T4" fmla="*/ 720 w 720"/>
                  <a:gd name="T5" fmla="*/ 384 h 400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400"/>
                  <a:gd name="T11" fmla="*/ 720 w 720"/>
                  <a:gd name="T12" fmla="*/ 400 h 4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400">
                    <a:moveTo>
                      <a:pt x="0" y="0"/>
                    </a:moveTo>
                    <a:cubicBezTo>
                      <a:pt x="132" y="136"/>
                      <a:pt x="264" y="272"/>
                      <a:pt x="384" y="336"/>
                    </a:cubicBezTo>
                    <a:cubicBezTo>
                      <a:pt x="504" y="400"/>
                      <a:pt x="664" y="376"/>
                      <a:pt x="720" y="384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78" name="Freeform 21">
                <a:extLst>
                  <a:ext uri="{FF2B5EF4-FFF2-40B4-BE49-F238E27FC236}">
                    <a16:creationId xmlns:a16="http://schemas.microsoft.com/office/drawing/2014/main" id="{FDB4FD3C-6268-48D0-A17E-F8B469CA7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0" y="2344"/>
                <a:ext cx="840" cy="1152"/>
              </a:xfrm>
              <a:custGeom>
                <a:avLst/>
                <a:gdLst>
                  <a:gd name="T0" fmla="*/ 120 w 840"/>
                  <a:gd name="T1" fmla="*/ 0 h 1152"/>
                  <a:gd name="T2" fmla="*/ 120 w 840"/>
                  <a:gd name="T3" fmla="*/ 624 h 1152"/>
                  <a:gd name="T4" fmla="*/ 840 w 840"/>
                  <a:gd name="T5" fmla="*/ 1152 h 1152"/>
                  <a:gd name="T6" fmla="*/ 0 60000 65536"/>
                  <a:gd name="T7" fmla="*/ 0 60000 65536"/>
                  <a:gd name="T8" fmla="*/ 0 60000 65536"/>
                  <a:gd name="T9" fmla="*/ 0 w 840"/>
                  <a:gd name="T10" fmla="*/ 0 h 1152"/>
                  <a:gd name="T11" fmla="*/ 840 w 840"/>
                  <a:gd name="T12" fmla="*/ 1152 h 11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0" h="1152">
                    <a:moveTo>
                      <a:pt x="120" y="0"/>
                    </a:moveTo>
                    <a:cubicBezTo>
                      <a:pt x="60" y="216"/>
                      <a:pt x="0" y="432"/>
                      <a:pt x="120" y="624"/>
                    </a:cubicBezTo>
                    <a:cubicBezTo>
                      <a:pt x="240" y="816"/>
                      <a:pt x="540" y="984"/>
                      <a:pt x="840" y="1152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79" name="Line 22">
                <a:extLst>
                  <a:ext uri="{FF2B5EF4-FFF2-40B4-BE49-F238E27FC236}">
                    <a16:creationId xmlns:a16="http://schemas.microsoft.com/office/drawing/2014/main" id="{00BB0B00-3899-4E66-8BC2-350D9DF9A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2736"/>
                <a:ext cx="0" cy="76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0" name="Line 23">
                <a:extLst>
                  <a:ext uri="{FF2B5EF4-FFF2-40B4-BE49-F238E27FC236}">
                    <a16:creationId xmlns:a16="http://schemas.microsoft.com/office/drawing/2014/main" id="{20EB1BF7-29DF-4408-BD18-9814E2E3B4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2" y="2640"/>
                <a:ext cx="0" cy="144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1" name="Line 24">
                <a:extLst>
                  <a:ext uri="{FF2B5EF4-FFF2-40B4-BE49-F238E27FC236}">
                    <a16:creationId xmlns:a16="http://schemas.microsoft.com/office/drawing/2014/main" id="{D79DAF70-5FB3-4586-973D-4F3FB99AD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512"/>
                <a:ext cx="96" cy="4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2" name="Text Box 25">
                <a:extLst>
                  <a:ext uri="{FF2B5EF4-FFF2-40B4-BE49-F238E27FC236}">
                    <a16:creationId xmlns:a16="http://schemas.microsoft.com/office/drawing/2014/main" id="{113DE34B-1424-4E50-9470-F5EA5444B0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2" y="3699"/>
                <a:ext cx="482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15383" name="Text Box 26">
                <a:extLst>
                  <a:ext uri="{FF2B5EF4-FFF2-40B4-BE49-F238E27FC236}">
                    <a16:creationId xmlns:a16="http://schemas.microsoft.com/office/drawing/2014/main" id="{030A5B59-060F-40A5-8E8E-AD1804F5AC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3794"/>
                <a:ext cx="479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84" name="Text Box 27">
                <a:extLst>
                  <a:ext uri="{FF2B5EF4-FFF2-40B4-BE49-F238E27FC236}">
                    <a16:creationId xmlns:a16="http://schemas.microsoft.com/office/drawing/2014/main" id="{27CABB44-B3E3-44AA-B266-9AF7E3FC25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1968"/>
                <a:ext cx="480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15385" name="Text Box 28">
                <a:extLst>
                  <a:ext uri="{FF2B5EF4-FFF2-40B4-BE49-F238E27FC236}">
                    <a16:creationId xmlns:a16="http://schemas.microsoft.com/office/drawing/2014/main" id="{3BFF25BD-8F90-4EA0-9626-F994A80A0E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3311"/>
                <a:ext cx="480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3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86" name="Text Box 29">
                <a:extLst>
                  <a:ext uri="{FF2B5EF4-FFF2-40B4-BE49-F238E27FC236}">
                    <a16:creationId xmlns:a16="http://schemas.microsoft.com/office/drawing/2014/main" id="{FDAB8328-92CD-44E4-AEE9-4D0A014831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7" y="2575"/>
                <a:ext cx="481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2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87" name="Text Box 30">
                <a:extLst>
                  <a:ext uri="{FF2B5EF4-FFF2-40B4-BE49-F238E27FC236}">
                    <a16:creationId xmlns:a16="http://schemas.microsoft.com/office/drawing/2014/main" id="{D26065A0-9979-49F2-AD6D-16E618EF91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1" y="2065"/>
                <a:ext cx="478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1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88" name="Text Box 31">
                <a:extLst>
                  <a:ext uri="{FF2B5EF4-FFF2-40B4-BE49-F238E27FC236}">
                    <a16:creationId xmlns:a16="http://schemas.microsoft.com/office/drawing/2014/main" id="{32BA017B-FAAD-4673-A856-A645CD096A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6" y="2353"/>
                <a:ext cx="866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dT=0</a:t>
                </a:r>
              </a:p>
            </p:txBody>
          </p:sp>
          <p:sp>
            <p:nvSpPr>
              <p:cNvPr id="15389" name="Text Box 32">
                <a:extLst>
                  <a:ext uri="{FF2B5EF4-FFF2-40B4-BE49-F238E27FC236}">
                    <a16:creationId xmlns:a16="http://schemas.microsoft.com/office/drawing/2014/main" id="{C44B4435-645F-4B4A-B2E6-AE436C175E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5" y="3096"/>
                <a:ext cx="864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dQ=0</a:t>
                </a:r>
              </a:p>
            </p:txBody>
          </p:sp>
          <p:sp>
            <p:nvSpPr>
              <p:cNvPr id="15390" name="Text Box 33">
                <a:extLst>
                  <a:ext uri="{FF2B5EF4-FFF2-40B4-BE49-F238E27FC236}">
                    <a16:creationId xmlns:a16="http://schemas.microsoft.com/office/drawing/2014/main" id="{509A64AA-6790-4C12-9FD2-1EE68DC48D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2977"/>
                <a:ext cx="864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dV=0</a:t>
                </a:r>
              </a:p>
            </p:txBody>
          </p:sp>
        </p:grp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6DDCA81A-2A75-46A6-BC5B-2C43657F44E3}"/>
              </a:ext>
            </a:extLst>
          </p:cNvPr>
          <p:cNvSpPr/>
          <p:nvPr/>
        </p:nvSpPr>
        <p:spPr>
          <a:xfrm>
            <a:off x="6371303" y="46365"/>
            <a:ext cx="2699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800" dirty="0"/>
              <a:t>T</a:t>
            </a:r>
            <a:r>
              <a:rPr kumimoji="1" lang="en-US" altLang="zh-CN" sz="1800" baseline="-25000" dirty="0"/>
              <a:t>1</a:t>
            </a:r>
            <a:r>
              <a:rPr kumimoji="1" lang="en-US" altLang="zh-CN" sz="1800" dirty="0"/>
              <a:t>=300K,p</a:t>
            </a:r>
            <a:r>
              <a:rPr kumimoji="1" lang="en-US" altLang="zh-CN" sz="1800" baseline="-25000" dirty="0"/>
              <a:t>1</a:t>
            </a:r>
            <a:r>
              <a:rPr kumimoji="1" lang="en-US" altLang="zh-CN" sz="1800" dirty="0"/>
              <a:t>=3.039</a:t>
            </a:r>
            <a:r>
              <a:rPr kumimoji="1" lang="en-US" altLang="zh-CN" sz="1800" dirty="0">
                <a:sym typeface="Symbol" panose="05050102010706020507" pitchFamily="18" charset="2"/>
              </a:rPr>
              <a:t>10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5</a:t>
            </a:r>
            <a:r>
              <a:rPr kumimoji="1" lang="en-US" altLang="zh-CN" sz="1800" dirty="0">
                <a:sym typeface="Symbol" panose="05050102010706020507" pitchFamily="18" charset="2"/>
              </a:rPr>
              <a:t>Pa,V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1</a:t>
            </a:r>
            <a:r>
              <a:rPr kumimoji="1" lang="en-US" altLang="zh-CN" sz="1800" dirty="0">
                <a:sym typeface="Symbol" panose="05050102010706020507" pitchFamily="18" charset="2"/>
              </a:rPr>
              <a:t>=4m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3</a:t>
            </a:r>
            <a:r>
              <a:rPr kumimoji="1" lang="en-US" altLang="zh-CN" sz="1800" dirty="0"/>
              <a:t> , </a:t>
            </a:r>
            <a:r>
              <a:rPr kumimoji="1" lang="en-US" altLang="zh-CN" sz="1800" dirty="0">
                <a:sym typeface="Symbol" panose="05050102010706020507" pitchFamily="18" charset="2"/>
              </a:rPr>
              <a:t>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2</a:t>
            </a:r>
            <a:r>
              <a:rPr kumimoji="1" lang="en-US" altLang="zh-CN" sz="1800" dirty="0">
                <a:sym typeface="Symbol" panose="05050102010706020507" pitchFamily="18" charset="2"/>
              </a:rPr>
              <a:t>=V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3</a:t>
            </a:r>
            <a:r>
              <a:rPr kumimoji="1" lang="en-US" altLang="zh-CN" sz="1800" dirty="0">
                <a:sym typeface="Symbol" panose="05050102010706020507" pitchFamily="18" charset="2"/>
              </a:rPr>
              <a:t> = 16m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3</a:t>
            </a:r>
            <a:endParaRPr lang="zh-CN" altLang="en-US" sz="1800" dirty="0"/>
          </a:p>
        </p:txBody>
      </p:sp>
      <p:graphicFrame>
        <p:nvGraphicFramePr>
          <p:cNvPr id="33" name="Object 11">
            <a:extLst>
              <a:ext uri="{FF2B5EF4-FFF2-40B4-BE49-F238E27FC236}">
                <a16:creationId xmlns:a16="http://schemas.microsoft.com/office/drawing/2014/main" id="{7DF64B60-E2A0-479C-95FD-91EE7D0EA2E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27088" y="5872956"/>
          <a:ext cx="12954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1" name="Equation" r:id="rId15" imgW="507960" imgH="228600" progId="Equation.DSMT4">
                  <p:embed/>
                </p:oleObj>
              </mc:Choice>
              <mc:Fallback>
                <p:oleObj name="Equation" r:id="rId15" imgW="507960" imgH="228600" progId="Equation.DSMT4">
                  <p:embed/>
                  <p:pic>
                    <p:nvPicPr>
                      <p:cNvPr id="33" name="Object 11">
                        <a:extLst>
                          <a:ext uri="{FF2B5EF4-FFF2-40B4-BE49-F238E27FC236}">
                            <a16:creationId xmlns:a16="http://schemas.microsoft.com/office/drawing/2014/main" id="{7DF64B60-E2A0-479C-95FD-91EE7D0EA2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827088" y="5872956"/>
                        <a:ext cx="12954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607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2"/>
          <p:cNvSpPr txBox="1"/>
          <p:nvPr/>
        </p:nvSpPr>
        <p:spPr>
          <a:xfrm>
            <a:off x="300038" y="188913"/>
            <a:ext cx="8664575" cy="43383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如图所示，一金属圆筒中盛有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1mol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刚性</a:t>
            </a:r>
            <a:r>
              <a:rPr lang="zh-CN" altLang="en-US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双原子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分子的理想气体，用</a:t>
            </a:r>
            <a:r>
              <a:rPr lang="zh-CN" altLang="en-US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可动活塞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封住，圆筒浸在冰水混合物中。迅速推动活塞，使气体从标准状态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活塞位置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压缩到体积为原来一半的状态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活塞位置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</a:rPr>
              <a:t>II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，然后维持活塞不动，使气体温度下降至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 sz="2600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，再让活塞缓慢上升到位置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，完成一次循环。</a:t>
            </a:r>
          </a:p>
          <a:p>
            <a:pPr algn="just">
              <a:lnSpc>
                <a:spcPct val="150000"/>
              </a:lnSpc>
            </a:pP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试在</a:t>
            </a:r>
            <a: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P-V</a:t>
            </a:r>
            <a:r>
              <a:rPr lang="zh-CN" altLang="en-US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图上画出相应的理想循环曲线；        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45058" name="Group 12"/>
          <p:cNvGrpSpPr>
            <a:grpSpLocks noChangeAspect="1"/>
          </p:cNvGrpSpPr>
          <p:nvPr/>
        </p:nvGrpSpPr>
        <p:grpSpPr>
          <a:xfrm>
            <a:off x="7010400" y="4822825"/>
            <a:ext cx="2057400" cy="1882775"/>
            <a:chOff x="2361" y="686"/>
            <a:chExt cx="2818" cy="2582"/>
          </a:xfrm>
        </p:grpSpPr>
        <p:sp>
          <p:nvSpPr>
            <p:cNvPr id="45059" name="AutoShape 13"/>
            <p:cNvSpPr>
              <a:spLocks noChangeAspect="1"/>
            </p:cNvSpPr>
            <p:nvPr/>
          </p:nvSpPr>
          <p:spPr>
            <a:xfrm>
              <a:off x="2361" y="686"/>
              <a:ext cx="2818" cy="25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0" name="Rectangle 14" descr="30%"/>
            <p:cNvSpPr/>
            <p:nvPr/>
          </p:nvSpPr>
          <p:spPr>
            <a:xfrm>
              <a:off x="2361" y="784"/>
              <a:ext cx="2070" cy="2469"/>
            </a:xfrm>
            <a:prstGeom prst="rect">
              <a:avLst/>
            </a:prstGeom>
            <a:pattFill prst="pct30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1" name="Rectangle 15"/>
            <p:cNvSpPr/>
            <p:nvPr/>
          </p:nvSpPr>
          <p:spPr>
            <a:xfrm>
              <a:off x="2559" y="784"/>
              <a:ext cx="1676" cy="2271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2" name="Rectangle 16"/>
            <p:cNvSpPr/>
            <p:nvPr/>
          </p:nvSpPr>
          <p:spPr>
            <a:xfrm>
              <a:off x="2590" y="686"/>
              <a:ext cx="1631" cy="144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3" name="Rectangle 17" descr="深色上对角线"/>
            <p:cNvSpPr/>
            <p:nvPr/>
          </p:nvSpPr>
          <p:spPr>
            <a:xfrm>
              <a:off x="2557" y="1180"/>
              <a:ext cx="1677" cy="196"/>
            </a:xfrm>
            <a:prstGeom prst="rect">
              <a:avLst/>
            </a:prstGeom>
            <a:pattFill prst="dkUpDiag">
              <a:fgClr>
                <a:srgbClr val="000000"/>
              </a:fgClr>
              <a:bgClr>
                <a:srgbClr val="FFFFFF"/>
              </a:bgClr>
            </a:pattFill>
            <a:ln w="9525">
              <a:noFill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4" name="Rectangle 18" descr="深色上对角线"/>
            <p:cNvSpPr/>
            <p:nvPr/>
          </p:nvSpPr>
          <p:spPr>
            <a:xfrm>
              <a:off x="2557" y="2055"/>
              <a:ext cx="1677" cy="196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5" name="Rectangle 19"/>
            <p:cNvSpPr/>
            <p:nvPr/>
          </p:nvSpPr>
          <p:spPr>
            <a:xfrm>
              <a:off x="3355" y="686"/>
              <a:ext cx="98" cy="494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6" name="Text Box 20"/>
            <p:cNvSpPr txBox="1"/>
            <p:nvPr/>
          </p:nvSpPr>
          <p:spPr>
            <a:xfrm>
              <a:off x="4553" y="958"/>
              <a:ext cx="594" cy="6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/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45067" name="Text Box 21"/>
            <p:cNvSpPr txBox="1"/>
            <p:nvPr/>
          </p:nvSpPr>
          <p:spPr>
            <a:xfrm>
              <a:off x="4553" y="1909"/>
              <a:ext cx="593" cy="6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/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II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" name="Rectangle 2"/>
          <p:cNvSpPr/>
          <p:nvPr/>
        </p:nvSpPr>
        <p:spPr>
          <a:xfrm>
            <a:off x="250825" y="3860800"/>
            <a:ext cx="2736850" cy="1939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(1) P-V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图上循环曲线如图所示，其中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ab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为绝热线，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bc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为等体线，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ca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为等温线</a:t>
            </a:r>
          </a:p>
        </p:txBody>
      </p:sp>
      <p:grpSp>
        <p:nvGrpSpPr>
          <p:cNvPr id="3" name="Group 15"/>
          <p:cNvGrpSpPr/>
          <p:nvPr/>
        </p:nvGrpSpPr>
        <p:grpSpPr>
          <a:xfrm>
            <a:off x="2989263" y="3933825"/>
            <a:ext cx="3454400" cy="2909888"/>
            <a:chOff x="3515" y="28"/>
            <a:chExt cx="2176" cy="1833"/>
          </a:xfrm>
        </p:grpSpPr>
        <p:sp>
          <p:nvSpPr>
            <p:cNvPr id="45070" name="Line 16"/>
            <p:cNvSpPr/>
            <p:nvPr/>
          </p:nvSpPr>
          <p:spPr>
            <a:xfrm>
              <a:off x="3832" y="1569"/>
              <a:ext cx="17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5071" name="Line 17"/>
            <p:cNvSpPr/>
            <p:nvPr/>
          </p:nvSpPr>
          <p:spPr>
            <a:xfrm flipV="1">
              <a:off x="3832" y="73"/>
              <a:ext cx="0" cy="14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5072" name="Line 18"/>
            <p:cNvSpPr/>
            <p:nvPr/>
          </p:nvSpPr>
          <p:spPr>
            <a:xfrm>
              <a:off x="4376" y="934"/>
              <a:ext cx="0" cy="63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5073" name="Line 19"/>
            <p:cNvSpPr/>
            <p:nvPr/>
          </p:nvSpPr>
          <p:spPr>
            <a:xfrm flipH="1">
              <a:off x="4965" y="1207"/>
              <a:ext cx="1" cy="36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45074" name="Group 20"/>
            <p:cNvGrpSpPr/>
            <p:nvPr/>
          </p:nvGrpSpPr>
          <p:grpSpPr>
            <a:xfrm>
              <a:off x="4376" y="254"/>
              <a:ext cx="590" cy="953"/>
              <a:chOff x="4241" y="482"/>
              <a:chExt cx="589" cy="771"/>
            </a:xfrm>
          </p:grpSpPr>
          <p:sp>
            <p:nvSpPr>
              <p:cNvPr id="45075" name="Line 21"/>
              <p:cNvSpPr/>
              <p:nvPr/>
            </p:nvSpPr>
            <p:spPr>
              <a:xfrm>
                <a:off x="4241" y="482"/>
                <a:ext cx="0" cy="58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76" name="Freeform 22"/>
              <p:cNvSpPr/>
              <p:nvPr/>
            </p:nvSpPr>
            <p:spPr>
              <a:xfrm>
                <a:off x="4241" y="482"/>
                <a:ext cx="589" cy="7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7" y="499"/>
                  </a:cxn>
                  <a:cxn ang="0">
                    <a:pos x="589" y="771"/>
                  </a:cxn>
                </a:cxnLst>
                <a:rect l="0" t="0" r="0" b="0"/>
                <a:pathLst>
                  <a:path w="589" h="771">
                    <a:moveTo>
                      <a:pt x="0" y="0"/>
                    </a:moveTo>
                    <a:cubicBezTo>
                      <a:pt x="64" y="185"/>
                      <a:pt x="129" y="371"/>
                      <a:pt x="227" y="499"/>
                    </a:cubicBezTo>
                    <a:cubicBezTo>
                      <a:pt x="325" y="627"/>
                      <a:pt x="529" y="726"/>
                      <a:pt x="589" y="771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7" name="Freeform 23"/>
              <p:cNvSpPr/>
              <p:nvPr/>
            </p:nvSpPr>
            <p:spPr>
              <a:xfrm>
                <a:off x="4241" y="1026"/>
                <a:ext cx="589" cy="22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2" y="182"/>
                  </a:cxn>
                  <a:cxn ang="0">
                    <a:pos x="589" y="227"/>
                  </a:cxn>
                </a:cxnLst>
                <a:rect l="0" t="0" r="0" b="0"/>
                <a:pathLst>
                  <a:path w="589" h="227">
                    <a:moveTo>
                      <a:pt x="0" y="0"/>
                    </a:moveTo>
                    <a:cubicBezTo>
                      <a:pt x="87" y="72"/>
                      <a:pt x="174" y="144"/>
                      <a:pt x="272" y="182"/>
                    </a:cubicBezTo>
                    <a:cubicBezTo>
                      <a:pt x="370" y="220"/>
                      <a:pt x="536" y="220"/>
                      <a:pt x="589" y="227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8" name="Line 24"/>
              <p:cNvSpPr/>
              <p:nvPr/>
            </p:nvSpPr>
            <p:spPr>
              <a:xfrm flipH="1" flipV="1">
                <a:off x="4384" y="845"/>
                <a:ext cx="45" cy="9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45079" name="Line 25"/>
              <p:cNvSpPr/>
              <p:nvPr/>
            </p:nvSpPr>
            <p:spPr>
              <a:xfrm>
                <a:off x="4241" y="709"/>
                <a:ext cx="0" cy="1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45080" name="Line 26"/>
              <p:cNvSpPr/>
              <p:nvPr/>
            </p:nvSpPr>
            <p:spPr>
              <a:xfrm>
                <a:off x="4408" y="1148"/>
                <a:ext cx="46" cy="4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</p:grpSp>
        <p:sp>
          <p:nvSpPr>
            <p:cNvPr id="45081" name="Text Box 27"/>
            <p:cNvSpPr txBox="1"/>
            <p:nvPr/>
          </p:nvSpPr>
          <p:spPr>
            <a:xfrm>
              <a:off x="3515" y="28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</a:p>
          </p:txBody>
        </p:sp>
        <p:sp>
          <p:nvSpPr>
            <p:cNvPr id="45082" name="Text Box 28"/>
            <p:cNvSpPr txBox="1"/>
            <p:nvPr/>
          </p:nvSpPr>
          <p:spPr>
            <a:xfrm>
              <a:off x="3559" y="1480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O</a:t>
              </a:r>
            </a:p>
          </p:txBody>
        </p:sp>
        <p:sp>
          <p:nvSpPr>
            <p:cNvPr id="45083" name="Text Box 29"/>
            <p:cNvSpPr txBox="1"/>
            <p:nvPr/>
          </p:nvSpPr>
          <p:spPr>
            <a:xfrm>
              <a:off x="5374" y="1573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</a:p>
          </p:txBody>
        </p:sp>
        <p:sp>
          <p:nvSpPr>
            <p:cNvPr id="45084" name="Text Box 30"/>
            <p:cNvSpPr txBox="1"/>
            <p:nvPr/>
          </p:nvSpPr>
          <p:spPr>
            <a:xfrm>
              <a:off x="4788" y="1573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5085" name="Text Box 31"/>
            <p:cNvSpPr txBox="1"/>
            <p:nvPr/>
          </p:nvSpPr>
          <p:spPr>
            <a:xfrm>
              <a:off x="4105" y="1573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/2</a:t>
              </a:r>
            </a:p>
          </p:txBody>
        </p:sp>
        <p:sp>
          <p:nvSpPr>
            <p:cNvPr id="45086" name="Text Box 32"/>
            <p:cNvSpPr txBox="1"/>
            <p:nvPr/>
          </p:nvSpPr>
          <p:spPr>
            <a:xfrm>
              <a:off x="4920" y="1026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</a:p>
          </p:txBody>
        </p:sp>
        <p:sp>
          <p:nvSpPr>
            <p:cNvPr id="45087" name="Text Box 33"/>
            <p:cNvSpPr txBox="1"/>
            <p:nvPr/>
          </p:nvSpPr>
          <p:spPr>
            <a:xfrm>
              <a:off x="3832" y="799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c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</a:p>
          </p:txBody>
        </p:sp>
        <p:sp>
          <p:nvSpPr>
            <p:cNvPr id="45088" name="Text Box 34"/>
            <p:cNvSpPr txBox="1"/>
            <p:nvPr/>
          </p:nvSpPr>
          <p:spPr>
            <a:xfrm>
              <a:off x="4331" y="73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/>
          <p:nvPr/>
        </p:nvSpPr>
        <p:spPr>
          <a:xfrm>
            <a:off x="-36512" y="1890713"/>
            <a:ext cx="4464050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:(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2)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等体过程放热为</a:t>
            </a:r>
          </a:p>
        </p:txBody>
      </p:sp>
      <p:sp>
        <p:nvSpPr>
          <p:cNvPr id="40964" name="Rectangle 4"/>
          <p:cNvSpPr/>
          <p:nvPr/>
        </p:nvSpPr>
        <p:spPr>
          <a:xfrm>
            <a:off x="682625" y="2611438"/>
            <a:ext cx="3276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等温过程吸热为</a:t>
            </a:r>
          </a:p>
        </p:txBody>
      </p:sp>
      <p:sp>
        <p:nvSpPr>
          <p:cNvPr id="40965" name="Rectangle 5"/>
          <p:cNvSpPr/>
          <p:nvPr/>
        </p:nvSpPr>
        <p:spPr>
          <a:xfrm>
            <a:off x="684213" y="3330575"/>
            <a:ext cx="248443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绝热过程方程</a:t>
            </a:r>
          </a:p>
        </p:txBody>
      </p:sp>
      <p:sp>
        <p:nvSpPr>
          <p:cNvPr id="40966" name="Rectangle 6"/>
          <p:cNvSpPr/>
          <p:nvPr/>
        </p:nvSpPr>
        <p:spPr>
          <a:xfrm>
            <a:off x="576263" y="4076700"/>
            <a:ext cx="270033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双原子分子气体</a:t>
            </a:r>
          </a:p>
        </p:txBody>
      </p:sp>
      <p:sp>
        <p:nvSpPr>
          <p:cNvPr id="40967" name="Rectangle 7"/>
          <p:cNvSpPr/>
          <p:nvPr/>
        </p:nvSpPr>
        <p:spPr>
          <a:xfrm>
            <a:off x="287338" y="4767263"/>
            <a:ext cx="32766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解得系统一次循环放出的净热量为</a:t>
            </a:r>
          </a:p>
        </p:txBody>
      </p:sp>
      <p:sp>
        <p:nvSpPr>
          <p:cNvPr id="40968" name="Rectangle 8"/>
          <p:cNvSpPr/>
          <p:nvPr/>
        </p:nvSpPr>
        <p:spPr>
          <a:xfrm>
            <a:off x="288925" y="5876925"/>
            <a:ext cx="47879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100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次循环放出的总热量全部用来溶解冰，则溶解的冰的质量为</a:t>
            </a:r>
          </a:p>
        </p:txBody>
      </p:sp>
      <p:graphicFrame>
        <p:nvGraphicFramePr>
          <p:cNvPr id="40969" name="Object 2"/>
          <p:cNvGraphicFramePr/>
          <p:nvPr/>
        </p:nvGraphicFramePr>
        <p:xfrm>
          <a:off x="3049588" y="1919288"/>
          <a:ext cx="26130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3" r:id="rId3" imgW="1408430" imgH="254000" progId="Equation.DSMT4">
                  <p:embed/>
                </p:oleObj>
              </mc:Choice>
              <mc:Fallback>
                <p:oleObj r:id="rId3" imgW="1408430" imgH="2540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9588" y="1919288"/>
                        <a:ext cx="2613025" cy="471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3"/>
          <p:cNvGraphicFramePr/>
          <p:nvPr/>
        </p:nvGraphicFramePr>
        <p:xfrm>
          <a:off x="3043238" y="2468563"/>
          <a:ext cx="20701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4" r:id="rId5" imgW="1256665" imgH="495300" progId="Equation.DSMT4">
                  <p:embed/>
                </p:oleObj>
              </mc:Choice>
              <mc:Fallback>
                <p:oleObj r:id="rId5" imgW="1256665" imgH="4953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43238" y="2468563"/>
                        <a:ext cx="2070100" cy="815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4"/>
          <p:cNvGraphicFramePr/>
          <p:nvPr/>
        </p:nvGraphicFramePr>
        <p:xfrm>
          <a:off x="2843213" y="3251200"/>
          <a:ext cx="204311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5" r:id="rId7" imgW="1205865" imgH="444500" progId="Equation.DSMT4">
                  <p:embed/>
                </p:oleObj>
              </mc:Choice>
              <mc:Fallback>
                <p:oleObj r:id="rId7" imgW="1205865" imgH="4445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3213" y="3251200"/>
                        <a:ext cx="2043112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2" name="Object 5"/>
          <p:cNvGraphicFramePr/>
          <p:nvPr/>
        </p:nvGraphicFramePr>
        <p:xfrm>
          <a:off x="3148013" y="3933825"/>
          <a:ext cx="243205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6" r:id="rId9" imgW="1396365" imgH="444500" progId="Equation.DSMT4">
                  <p:embed/>
                </p:oleObj>
              </mc:Choice>
              <mc:Fallback>
                <p:oleObj r:id="rId9" imgW="1396365" imgH="444500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48013" y="3933825"/>
                        <a:ext cx="2432050" cy="773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3" name="Object 6"/>
          <p:cNvGraphicFramePr/>
          <p:nvPr/>
        </p:nvGraphicFramePr>
        <p:xfrm>
          <a:off x="3475038" y="4581525"/>
          <a:ext cx="5103812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7" r:id="rId11" imgW="2868930" imgH="673100" progId="Equation.DSMT4">
                  <p:embed/>
                </p:oleObj>
              </mc:Choice>
              <mc:Fallback>
                <p:oleObj r:id="rId11" imgW="2868930" imgH="673100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75038" y="4581525"/>
                        <a:ext cx="5103812" cy="1196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4" name="Object 7"/>
          <p:cNvGraphicFramePr/>
          <p:nvPr/>
        </p:nvGraphicFramePr>
        <p:xfrm>
          <a:off x="5230813" y="5949950"/>
          <a:ext cx="3228975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8" r:id="rId13" imgW="1854200" imgH="457200" progId="Equation.DSMT4">
                  <p:embed/>
                </p:oleObj>
              </mc:Choice>
              <mc:Fallback>
                <p:oleObj r:id="rId13" imgW="1854200" imgH="4572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30813" y="5949950"/>
                        <a:ext cx="3228975" cy="795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3" name="矩形 34"/>
          <p:cNvSpPr/>
          <p:nvPr/>
        </p:nvSpPr>
        <p:spPr>
          <a:xfrm>
            <a:off x="71438" y="28575"/>
            <a:ext cx="9037637" cy="1816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若做</a:t>
            </a:r>
            <a: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100</a:t>
            </a:r>
            <a:r>
              <a:rPr lang="zh-CN" altLang="en-US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次循环放出的总热量全部用来溶解冰，则有多少冰被融化。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已知：冰的溶解热</a:t>
            </a:r>
            <a:r>
              <a:rPr lang="zh-CN" altLang="en-US" sz="26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=3.3510</a:t>
            </a:r>
            <a:r>
              <a:rPr lang="en-US" altLang="zh-CN" sz="2600" baseline="300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5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J/kg,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普适气体常量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R=8.31J/mol.K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      </a:t>
            </a:r>
            <a:endParaRPr lang="zh-CN" altLang="en-US" sz="2600" dirty="0">
              <a:latin typeface="Times New Roman" panose="02020603050405020304" pitchFamily="18" charset="0"/>
            </a:endParaRPr>
          </a:p>
        </p:txBody>
      </p:sp>
      <p:grpSp>
        <p:nvGrpSpPr>
          <p:cNvPr id="46094" name="Group 15"/>
          <p:cNvGrpSpPr/>
          <p:nvPr/>
        </p:nvGrpSpPr>
        <p:grpSpPr>
          <a:xfrm>
            <a:off x="5581650" y="1311275"/>
            <a:ext cx="3454400" cy="2909888"/>
            <a:chOff x="3515" y="28"/>
            <a:chExt cx="2176" cy="1833"/>
          </a:xfrm>
        </p:grpSpPr>
        <p:sp>
          <p:nvSpPr>
            <p:cNvPr id="46095" name="Line 16"/>
            <p:cNvSpPr/>
            <p:nvPr/>
          </p:nvSpPr>
          <p:spPr>
            <a:xfrm>
              <a:off x="3832" y="1569"/>
              <a:ext cx="17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6096" name="Line 17"/>
            <p:cNvSpPr/>
            <p:nvPr/>
          </p:nvSpPr>
          <p:spPr>
            <a:xfrm flipV="1">
              <a:off x="3832" y="73"/>
              <a:ext cx="0" cy="14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6097" name="Line 18"/>
            <p:cNvSpPr/>
            <p:nvPr/>
          </p:nvSpPr>
          <p:spPr>
            <a:xfrm>
              <a:off x="4376" y="934"/>
              <a:ext cx="0" cy="63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6098" name="Line 19"/>
            <p:cNvSpPr/>
            <p:nvPr/>
          </p:nvSpPr>
          <p:spPr>
            <a:xfrm flipH="1">
              <a:off x="4965" y="1207"/>
              <a:ext cx="1" cy="36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46099" name="Group 20"/>
            <p:cNvGrpSpPr/>
            <p:nvPr/>
          </p:nvGrpSpPr>
          <p:grpSpPr>
            <a:xfrm>
              <a:off x="4376" y="254"/>
              <a:ext cx="590" cy="953"/>
              <a:chOff x="4241" y="482"/>
              <a:chExt cx="589" cy="771"/>
            </a:xfrm>
          </p:grpSpPr>
          <p:sp>
            <p:nvSpPr>
              <p:cNvPr id="46100" name="Line 21"/>
              <p:cNvSpPr/>
              <p:nvPr/>
            </p:nvSpPr>
            <p:spPr>
              <a:xfrm>
                <a:off x="4241" y="482"/>
                <a:ext cx="0" cy="58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101" name="Freeform 22"/>
              <p:cNvSpPr/>
              <p:nvPr/>
            </p:nvSpPr>
            <p:spPr>
              <a:xfrm>
                <a:off x="4241" y="482"/>
                <a:ext cx="589" cy="7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7" y="499"/>
                  </a:cxn>
                  <a:cxn ang="0">
                    <a:pos x="589" y="771"/>
                  </a:cxn>
                </a:cxnLst>
                <a:rect l="0" t="0" r="0" b="0"/>
                <a:pathLst>
                  <a:path w="589" h="771">
                    <a:moveTo>
                      <a:pt x="0" y="0"/>
                    </a:moveTo>
                    <a:cubicBezTo>
                      <a:pt x="64" y="185"/>
                      <a:pt x="129" y="371"/>
                      <a:pt x="227" y="499"/>
                    </a:cubicBezTo>
                    <a:cubicBezTo>
                      <a:pt x="325" y="627"/>
                      <a:pt x="529" y="726"/>
                      <a:pt x="589" y="771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2" name="Freeform 23"/>
              <p:cNvSpPr/>
              <p:nvPr/>
            </p:nvSpPr>
            <p:spPr>
              <a:xfrm>
                <a:off x="4241" y="1026"/>
                <a:ext cx="589" cy="22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2" y="182"/>
                  </a:cxn>
                  <a:cxn ang="0">
                    <a:pos x="589" y="227"/>
                  </a:cxn>
                </a:cxnLst>
                <a:rect l="0" t="0" r="0" b="0"/>
                <a:pathLst>
                  <a:path w="589" h="227">
                    <a:moveTo>
                      <a:pt x="0" y="0"/>
                    </a:moveTo>
                    <a:cubicBezTo>
                      <a:pt x="87" y="72"/>
                      <a:pt x="174" y="144"/>
                      <a:pt x="272" y="182"/>
                    </a:cubicBezTo>
                    <a:cubicBezTo>
                      <a:pt x="370" y="220"/>
                      <a:pt x="536" y="220"/>
                      <a:pt x="589" y="227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3" name="Line 24"/>
              <p:cNvSpPr/>
              <p:nvPr/>
            </p:nvSpPr>
            <p:spPr>
              <a:xfrm flipH="1" flipV="1">
                <a:off x="4384" y="845"/>
                <a:ext cx="45" cy="9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46104" name="Line 25"/>
              <p:cNvSpPr/>
              <p:nvPr/>
            </p:nvSpPr>
            <p:spPr>
              <a:xfrm>
                <a:off x="4241" y="709"/>
                <a:ext cx="0" cy="1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46105" name="Line 26"/>
              <p:cNvSpPr/>
              <p:nvPr/>
            </p:nvSpPr>
            <p:spPr>
              <a:xfrm>
                <a:off x="4408" y="1148"/>
                <a:ext cx="46" cy="4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</p:grpSp>
        <p:sp>
          <p:nvSpPr>
            <p:cNvPr id="46106" name="Text Box 27"/>
            <p:cNvSpPr txBox="1"/>
            <p:nvPr/>
          </p:nvSpPr>
          <p:spPr>
            <a:xfrm>
              <a:off x="3515" y="28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</a:p>
          </p:txBody>
        </p:sp>
        <p:sp>
          <p:nvSpPr>
            <p:cNvPr id="46107" name="Text Box 28"/>
            <p:cNvSpPr txBox="1"/>
            <p:nvPr/>
          </p:nvSpPr>
          <p:spPr>
            <a:xfrm>
              <a:off x="3559" y="1480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O</a:t>
              </a:r>
            </a:p>
          </p:txBody>
        </p:sp>
        <p:sp>
          <p:nvSpPr>
            <p:cNvPr id="46108" name="Text Box 29"/>
            <p:cNvSpPr txBox="1"/>
            <p:nvPr/>
          </p:nvSpPr>
          <p:spPr>
            <a:xfrm>
              <a:off x="5374" y="1573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</a:p>
          </p:txBody>
        </p:sp>
        <p:sp>
          <p:nvSpPr>
            <p:cNvPr id="46109" name="Text Box 30"/>
            <p:cNvSpPr txBox="1"/>
            <p:nvPr/>
          </p:nvSpPr>
          <p:spPr>
            <a:xfrm>
              <a:off x="4788" y="1573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6110" name="Text Box 31"/>
            <p:cNvSpPr txBox="1"/>
            <p:nvPr/>
          </p:nvSpPr>
          <p:spPr>
            <a:xfrm>
              <a:off x="4105" y="1573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/2</a:t>
              </a:r>
            </a:p>
          </p:txBody>
        </p:sp>
        <p:sp>
          <p:nvSpPr>
            <p:cNvPr id="46111" name="Text Box 32"/>
            <p:cNvSpPr txBox="1"/>
            <p:nvPr/>
          </p:nvSpPr>
          <p:spPr>
            <a:xfrm>
              <a:off x="4920" y="1026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</a:p>
          </p:txBody>
        </p:sp>
        <p:sp>
          <p:nvSpPr>
            <p:cNvPr id="46112" name="Text Box 33"/>
            <p:cNvSpPr txBox="1"/>
            <p:nvPr/>
          </p:nvSpPr>
          <p:spPr>
            <a:xfrm>
              <a:off x="3832" y="799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c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</a:p>
          </p:txBody>
        </p:sp>
        <p:sp>
          <p:nvSpPr>
            <p:cNvPr id="46113" name="Text Box 34"/>
            <p:cNvSpPr txBox="1"/>
            <p:nvPr/>
          </p:nvSpPr>
          <p:spPr>
            <a:xfrm>
              <a:off x="4331" y="73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/>
      <p:bldP spid="40964" grpId="0"/>
      <p:bldP spid="40965" grpId="0"/>
      <p:bldP spid="40966" grpId="0"/>
      <p:bldP spid="40967" grpId="0"/>
      <p:bldP spid="4096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8C4FA885-5AC7-4066-A9DF-2F8AF2DEB30D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51520" y="269875"/>
            <a:ext cx="89017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11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、容器内有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11kg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的二氧化碳和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2kg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的氢气，已知混合气体的</a:t>
            </a:r>
          </a:p>
          <a:p>
            <a:pPr algn="just"/>
            <a:r>
              <a:rPr kumimoji="1" lang="zh-CN" altLang="en-US" sz="2400" b="1" dirty="0">
                <a:latin typeface="Times New Roman" panose="02020603050405020304" pitchFamily="18" charset="0"/>
              </a:rPr>
              <a:t>内能是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8.1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10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J,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求：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(1).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混合气体的温度。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(2).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两种气体分子的平</a:t>
            </a:r>
          </a:p>
          <a:p>
            <a:pPr algn="just"/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均动能。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772F0AA1-DD28-47BC-8779-7F5E6F358CF7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974725" y="1641475"/>
            <a:ext cx="1225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解：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(1).</a:t>
            </a:r>
          </a:p>
        </p:txBody>
      </p:sp>
      <p:graphicFrame>
        <p:nvGraphicFramePr>
          <p:cNvPr id="23556" name="Object 4">
            <a:extLst>
              <a:ext uri="{FF2B5EF4-FFF2-40B4-BE49-F238E27FC236}">
                <a16:creationId xmlns:a16="http://schemas.microsoft.com/office/drawing/2014/main" id="{A26C10EF-8367-4C4C-A523-85146AC0C2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78582"/>
              </p:ext>
            </p:extLst>
          </p:nvPr>
        </p:nvGraphicFramePr>
        <p:xfrm>
          <a:off x="2165350" y="1447800"/>
          <a:ext cx="6488113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4" name="Equation" r:id="rId3" imgW="2565360" imgH="482400" progId="Equation.DSMT4">
                  <p:embed/>
                </p:oleObj>
              </mc:Choice>
              <mc:Fallback>
                <p:oleObj name="Equation" r:id="rId3" imgW="2565360" imgH="482400" progId="Equation.DSMT4">
                  <p:embed/>
                  <p:pic>
                    <p:nvPicPr>
                      <p:cNvPr id="23556" name="Object 4">
                        <a:extLst>
                          <a:ext uri="{FF2B5EF4-FFF2-40B4-BE49-F238E27FC236}">
                            <a16:creationId xmlns:a16="http://schemas.microsoft.com/office/drawing/2014/main" id="{A26C10EF-8367-4C4C-A523-85146AC0C2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165350" y="1447800"/>
                        <a:ext cx="6488113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>
            <a:extLst>
              <a:ext uri="{FF2B5EF4-FFF2-40B4-BE49-F238E27FC236}">
                <a16:creationId xmlns:a16="http://schemas.microsoft.com/office/drawing/2014/main" id="{87A3A71E-C8FA-437F-B8E1-3E421BA640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38378"/>
              </p:ext>
            </p:extLst>
          </p:nvPr>
        </p:nvGraphicFramePr>
        <p:xfrm>
          <a:off x="1893888" y="2667000"/>
          <a:ext cx="5354637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5" name="Equation" r:id="rId5" imgW="1930320" imgH="660240" progId="Equation.DSMT4">
                  <p:embed/>
                </p:oleObj>
              </mc:Choice>
              <mc:Fallback>
                <p:oleObj name="Equation" r:id="rId5" imgW="1930320" imgH="660240" progId="Equation.DSMT4">
                  <p:embed/>
                  <p:pic>
                    <p:nvPicPr>
                      <p:cNvPr id="23557" name="Object 5">
                        <a:extLst>
                          <a:ext uri="{FF2B5EF4-FFF2-40B4-BE49-F238E27FC236}">
                            <a16:creationId xmlns:a16="http://schemas.microsoft.com/office/drawing/2014/main" id="{87A3A71E-C8FA-437F-B8E1-3E421BA640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893888" y="2667000"/>
                        <a:ext cx="5354637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Text Box 6">
            <a:extLst>
              <a:ext uri="{FF2B5EF4-FFF2-40B4-BE49-F238E27FC236}">
                <a16:creationId xmlns:a16="http://schemas.microsoft.com/office/drawing/2014/main" id="{B8B0593C-089C-4B67-8CBE-16D4A2EAA65B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600200" y="4648200"/>
            <a:ext cx="615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panose="02020603050405020304" pitchFamily="18" charset="0"/>
              </a:rPr>
              <a:t>(2).</a:t>
            </a:r>
          </a:p>
        </p:txBody>
      </p:sp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C9750C43-0D17-49C5-AE69-FF4641CEC4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2063" y="4648200"/>
          <a:ext cx="44608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6" name="Equation" r:id="rId7" imgW="1650960" imgH="393480" progId="Equation.DSMT4">
                  <p:embed/>
                </p:oleObj>
              </mc:Choice>
              <mc:Fallback>
                <p:oleObj name="Equation" r:id="rId7" imgW="1650960" imgH="393480" progId="Equation.DSMT4">
                  <p:embed/>
                  <p:pic>
                    <p:nvPicPr>
                      <p:cNvPr id="23559" name="Object 7">
                        <a:extLst>
                          <a:ext uri="{FF2B5EF4-FFF2-40B4-BE49-F238E27FC236}">
                            <a16:creationId xmlns:a16="http://schemas.microsoft.com/office/drawing/2014/main" id="{C9750C43-0D17-49C5-AE69-FF4641CEC4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532063" y="4648200"/>
                        <a:ext cx="44608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>
            <a:extLst>
              <a:ext uri="{FF2B5EF4-FFF2-40B4-BE49-F238E27FC236}">
                <a16:creationId xmlns:a16="http://schemas.microsoft.com/office/drawing/2014/main" id="{0505DFA5-130E-475E-8F8A-FB79D07ED3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912381"/>
              </p:ext>
            </p:extLst>
          </p:nvPr>
        </p:nvGraphicFramePr>
        <p:xfrm>
          <a:off x="2600325" y="5591862"/>
          <a:ext cx="43243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7" name="Equation" r:id="rId9" imgW="1600200" imgH="393480" progId="Equation.DSMT4">
                  <p:embed/>
                </p:oleObj>
              </mc:Choice>
              <mc:Fallback>
                <p:oleObj name="Equation" r:id="rId9" imgW="1600200" imgH="393480" progId="Equation.DSMT4">
                  <p:embed/>
                  <p:pic>
                    <p:nvPicPr>
                      <p:cNvPr id="23560" name="Object 8">
                        <a:extLst>
                          <a:ext uri="{FF2B5EF4-FFF2-40B4-BE49-F238E27FC236}">
                            <a16:creationId xmlns:a16="http://schemas.microsoft.com/office/drawing/2014/main" id="{0505DFA5-130E-475E-8F8A-FB79D07ED3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600325" y="5591862"/>
                        <a:ext cx="43243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  <p:bldP spid="23558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5" name="Group 2"/>
          <p:cNvGrpSpPr/>
          <p:nvPr/>
        </p:nvGrpSpPr>
        <p:grpSpPr>
          <a:xfrm>
            <a:off x="300038" y="1989138"/>
            <a:ext cx="4335462" cy="3813175"/>
            <a:chOff x="219" y="1580"/>
            <a:chExt cx="2731" cy="2402"/>
          </a:xfrm>
        </p:grpSpPr>
        <p:sp>
          <p:nvSpPr>
            <p:cNvPr id="47106" name="Line 3"/>
            <p:cNvSpPr/>
            <p:nvPr/>
          </p:nvSpPr>
          <p:spPr>
            <a:xfrm>
              <a:off x="505" y="3685"/>
              <a:ext cx="24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07" name="Line 4"/>
            <p:cNvSpPr/>
            <p:nvPr/>
          </p:nvSpPr>
          <p:spPr>
            <a:xfrm flipV="1">
              <a:off x="496" y="1580"/>
              <a:ext cx="0" cy="21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08" name="Freeform 5"/>
            <p:cNvSpPr/>
            <p:nvPr/>
          </p:nvSpPr>
          <p:spPr>
            <a:xfrm>
              <a:off x="904" y="2006"/>
              <a:ext cx="1430" cy="13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8" y="735"/>
                </a:cxn>
                <a:cxn ang="0">
                  <a:pos x="754" y="1152"/>
                </a:cxn>
                <a:cxn ang="0">
                  <a:pos x="1430" y="1380"/>
                </a:cxn>
              </a:cxnLst>
              <a:rect l="0" t="0" r="0" b="0"/>
              <a:pathLst>
                <a:path w="1430" h="1380">
                  <a:moveTo>
                    <a:pt x="0" y="0"/>
                  </a:moveTo>
                  <a:cubicBezTo>
                    <a:pt x="66" y="271"/>
                    <a:pt x="132" y="543"/>
                    <a:pt x="258" y="735"/>
                  </a:cubicBezTo>
                  <a:cubicBezTo>
                    <a:pt x="384" y="927"/>
                    <a:pt x="559" y="1045"/>
                    <a:pt x="754" y="1152"/>
                  </a:cubicBezTo>
                  <a:cubicBezTo>
                    <a:pt x="949" y="1259"/>
                    <a:pt x="1189" y="1319"/>
                    <a:pt x="1430" y="138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09" name="Freeform 6"/>
            <p:cNvSpPr/>
            <p:nvPr/>
          </p:nvSpPr>
          <p:spPr>
            <a:xfrm>
              <a:off x="1638" y="2006"/>
              <a:ext cx="685" cy="7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0" y="298"/>
                </a:cxn>
                <a:cxn ang="0">
                  <a:pos x="378" y="596"/>
                </a:cxn>
                <a:cxn ang="0">
                  <a:pos x="685" y="794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0" name="Line 7"/>
            <p:cNvSpPr/>
            <p:nvPr/>
          </p:nvSpPr>
          <p:spPr>
            <a:xfrm>
              <a:off x="914" y="2006"/>
              <a:ext cx="7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47111" name="Line 8"/>
            <p:cNvSpPr/>
            <p:nvPr/>
          </p:nvSpPr>
          <p:spPr>
            <a:xfrm>
              <a:off x="2333" y="2792"/>
              <a:ext cx="0" cy="59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47112" name="Line 9"/>
            <p:cNvSpPr/>
            <p:nvPr/>
          </p:nvSpPr>
          <p:spPr>
            <a:xfrm>
              <a:off x="1837" y="2443"/>
              <a:ext cx="139" cy="13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13" name="Line 10"/>
            <p:cNvSpPr/>
            <p:nvPr/>
          </p:nvSpPr>
          <p:spPr>
            <a:xfrm>
              <a:off x="2334" y="2930"/>
              <a:ext cx="0" cy="2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14" name="Line 11"/>
            <p:cNvSpPr/>
            <p:nvPr/>
          </p:nvSpPr>
          <p:spPr>
            <a:xfrm flipH="1" flipV="1">
              <a:off x="1371" y="2959"/>
              <a:ext cx="99" cy="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15" name="Line 12"/>
            <p:cNvSpPr/>
            <p:nvPr/>
          </p:nvSpPr>
          <p:spPr>
            <a:xfrm>
              <a:off x="1202" y="2006"/>
              <a:ext cx="179" cy="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16" name="Text Box 13"/>
            <p:cNvSpPr txBox="1"/>
            <p:nvPr/>
          </p:nvSpPr>
          <p:spPr>
            <a:xfrm>
              <a:off x="268" y="3694"/>
              <a:ext cx="26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 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7117" name="Line 14"/>
            <p:cNvSpPr/>
            <p:nvPr/>
          </p:nvSpPr>
          <p:spPr>
            <a:xfrm>
              <a:off x="904" y="2016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7118" name="Line 15"/>
            <p:cNvSpPr/>
            <p:nvPr/>
          </p:nvSpPr>
          <p:spPr>
            <a:xfrm>
              <a:off x="1646" y="2003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7119" name="Line 16"/>
            <p:cNvSpPr/>
            <p:nvPr/>
          </p:nvSpPr>
          <p:spPr>
            <a:xfrm>
              <a:off x="2318" y="3390"/>
              <a:ext cx="10" cy="29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7120" name="Text Box 17"/>
            <p:cNvSpPr txBox="1"/>
            <p:nvPr/>
          </p:nvSpPr>
          <p:spPr>
            <a:xfrm>
              <a:off x="219" y="1639"/>
              <a:ext cx="155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  b             c</a:t>
              </a:r>
            </a:p>
          </p:txBody>
        </p:sp>
        <p:sp>
          <p:nvSpPr>
            <p:cNvPr id="47121" name="Text Box 18"/>
            <p:cNvSpPr txBox="1"/>
            <p:nvPr/>
          </p:nvSpPr>
          <p:spPr>
            <a:xfrm>
              <a:off x="2423" y="2781"/>
              <a:ext cx="259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47122" name="Rectangle 19"/>
          <p:cNvSpPr/>
          <p:nvPr/>
        </p:nvSpPr>
        <p:spPr>
          <a:xfrm>
            <a:off x="533400" y="228600"/>
            <a:ext cx="8380413" cy="92525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、空气标准狄赛尔循环（柴油内燃机循环）由两个绝热过程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ab</a:t>
            </a:r>
            <a:r>
              <a:rPr lang="zh-CN" altLang="en-US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cd</a:t>
            </a:r>
            <a:r>
              <a:rPr lang="zh-CN" altLang="en-US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、一个等压过程和一个等容过程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da</a:t>
            </a:r>
            <a:r>
              <a:rPr lang="zh-CN" altLang="en-US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组成，试证明此热机效率为：</a:t>
            </a:r>
          </a:p>
        </p:txBody>
      </p:sp>
      <p:graphicFrame>
        <p:nvGraphicFramePr>
          <p:cNvPr id="47123" name="Object 2"/>
          <p:cNvGraphicFramePr/>
          <p:nvPr/>
        </p:nvGraphicFramePr>
        <p:xfrm>
          <a:off x="4654550" y="1647825"/>
          <a:ext cx="3589338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8" r:id="rId3" imgW="1561465" imgH="989965" progId="Equation.DSMT4">
                  <p:embed/>
                </p:oleObj>
              </mc:Choice>
              <mc:Fallback>
                <p:oleObj r:id="rId3" imgW="1561465" imgH="989965" progId="Equation.DSMT4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54550" y="1647825"/>
                        <a:ext cx="3589338" cy="227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/>
          <p:nvPr/>
        </p:nvGraphicFramePr>
        <p:xfrm>
          <a:off x="179388" y="4508500"/>
          <a:ext cx="585946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97" r:id="rId3" imgW="2882900" imgH="228600" progId="Equation.DSMT4">
                  <p:embed/>
                </p:oleObj>
              </mc:Choice>
              <mc:Fallback>
                <p:oleObj r:id="rId3" imgW="2882900" imgH="2286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388" y="4508500"/>
                        <a:ext cx="5859462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 Box 3"/>
          <p:cNvSpPr txBox="1"/>
          <p:nvPr/>
        </p:nvSpPr>
        <p:spPr>
          <a:xfrm>
            <a:off x="611188" y="333375"/>
            <a:ext cx="1022350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证明：</a:t>
            </a:r>
          </a:p>
        </p:txBody>
      </p:sp>
      <p:graphicFrame>
        <p:nvGraphicFramePr>
          <p:cNvPr id="23556" name="Object 3"/>
          <p:cNvGraphicFramePr/>
          <p:nvPr/>
        </p:nvGraphicFramePr>
        <p:xfrm>
          <a:off x="323850" y="908050"/>
          <a:ext cx="33115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98" r:id="rId5" imgW="1750060" imgH="215900" progId="Equation.DSMT4">
                  <p:embed/>
                </p:oleObj>
              </mc:Choice>
              <mc:Fallback>
                <p:oleObj r:id="rId5" imgW="1750060" imgH="2159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850" y="908050"/>
                        <a:ext cx="3311525" cy="407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4"/>
          <p:cNvGraphicFramePr/>
          <p:nvPr/>
        </p:nvGraphicFramePr>
        <p:xfrm>
          <a:off x="323850" y="1398588"/>
          <a:ext cx="370046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99" r:id="rId7" imgW="1942465" imgH="482600" progId="Equation.DSMT4">
                  <p:embed/>
                </p:oleObj>
              </mc:Choice>
              <mc:Fallback>
                <p:oleObj r:id="rId7" imgW="1942465" imgH="4826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850" y="1398588"/>
                        <a:ext cx="3700463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5"/>
          <p:cNvGraphicFramePr/>
          <p:nvPr/>
        </p:nvGraphicFramePr>
        <p:xfrm>
          <a:off x="179388" y="2417763"/>
          <a:ext cx="35290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0" r:id="rId9" imgW="1750060" imgH="215900" progId="Equation.DSMT4">
                  <p:embed/>
                </p:oleObj>
              </mc:Choice>
              <mc:Fallback>
                <p:oleObj r:id="rId9" imgW="1750060" imgH="215900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9388" y="2417763"/>
                        <a:ext cx="3529012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6"/>
          <p:cNvGraphicFramePr/>
          <p:nvPr/>
        </p:nvGraphicFramePr>
        <p:xfrm>
          <a:off x="179388" y="2997200"/>
          <a:ext cx="68310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1" r:id="rId11" imgW="3705225" imgH="254000" progId="Equation.DSMT4">
                  <p:embed/>
                </p:oleObj>
              </mc:Choice>
              <mc:Fallback>
                <p:oleObj r:id="rId11" imgW="3705225" imgH="2540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9388" y="2997200"/>
                        <a:ext cx="6831012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7"/>
          <p:cNvGraphicFramePr/>
          <p:nvPr/>
        </p:nvGraphicFramePr>
        <p:xfrm>
          <a:off x="323850" y="3500438"/>
          <a:ext cx="59531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2" r:id="rId13" imgW="3111500" imgH="469900" progId="Equation.DSMT4">
                  <p:embed/>
                </p:oleObj>
              </mc:Choice>
              <mc:Fallback>
                <p:oleObj r:id="rId13" imgW="3111500" imgH="4699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3850" y="3500438"/>
                        <a:ext cx="5953125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8"/>
          <p:cNvGraphicFramePr/>
          <p:nvPr/>
        </p:nvGraphicFramePr>
        <p:xfrm>
          <a:off x="179388" y="4962525"/>
          <a:ext cx="63373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3" r:id="rId15" imgW="3136900" imgH="508000" progId="Equation.DSMT4">
                  <p:embed/>
                </p:oleObj>
              </mc:Choice>
              <mc:Fallback>
                <p:oleObj r:id="rId15" imgW="3136900" imgH="508000" progId="Equation.DSMT4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9388" y="4962525"/>
                        <a:ext cx="6337300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9"/>
          <p:cNvGraphicFramePr/>
          <p:nvPr/>
        </p:nvGraphicFramePr>
        <p:xfrm>
          <a:off x="179388" y="5927725"/>
          <a:ext cx="63373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4" r:id="rId17" imgW="3084830" imgH="431800" progId="Equation.DSMT4">
                  <p:embed/>
                </p:oleObj>
              </mc:Choice>
              <mc:Fallback>
                <p:oleObj r:id="rId17" imgW="3084830" imgH="4318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9388" y="5927725"/>
                        <a:ext cx="6337300" cy="885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38" name="Group 2"/>
          <p:cNvGrpSpPr>
            <a:grpSpLocks noChangeAspect="1"/>
          </p:cNvGrpSpPr>
          <p:nvPr/>
        </p:nvGrpSpPr>
        <p:grpSpPr>
          <a:xfrm>
            <a:off x="5435600" y="-12700"/>
            <a:ext cx="3529013" cy="3154363"/>
            <a:chOff x="219" y="1580"/>
            <a:chExt cx="2770" cy="2476"/>
          </a:xfrm>
        </p:grpSpPr>
        <p:sp>
          <p:nvSpPr>
            <p:cNvPr id="48139" name="Line 3"/>
            <p:cNvSpPr/>
            <p:nvPr/>
          </p:nvSpPr>
          <p:spPr>
            <a:xfrm>
              <a:off x="505" y="3685"/>
              <a:ext cx="24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0" name="Line 4"/>
            <p:cNvSpPr/>
            <p:nvPr/>
          </p:nvSpPr>
          <p:spPr>
            <a:xfrm flipV="1">
              <a:off x="496" y="1580"/>
              <a:ext cx="0" cy="21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1" name="Freeform 5"/>
            <p:cNvSpPr/>
            <p:nvPr/>
          </p:nvSpPr>
          <p:spPr>
            <a:xfrm>
              <a:off x="904" y="2006"/>
              <a:ext cx="1430" cy="13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8" y="735"/>
                </a:cxn>
                <a:cxn ang="0">
                  <a:pos x="754" y="1152"/>
                </a:cxn>
                <a:cxn ang="0">
                  <a:pos x="1430" y="1380"/>
                </a:cxn>
              </a:cxnLst>
              <a:rect l="0" t="0" r="0" b="0"/>
              <a:pathLst>
                <a:path w="1430" h="1380">
                  <a:moveTo>
                    <a:pt x="0" y="0"/>
                  </a:moveTo>
                  <a:cubicBezTo>
                    <a:pt x="66" y="271"/>
                    <a:pt x="132" y="543"/>
                    <a:pt x="258" y="735"/>
                  </a:cubicBezTo>
                  <a:cubicBezTo>
                    <a:pt x="384" y="927"/>
                    <a:pt x="559" y="1045"/>
                    <a:pt x="754" y="1152"/>
                  </a:cubicBezTo>
                  <a:cubicBezTo>
                    <a:pt x="949" y="1259"/>
                    <a:pt x="1189" y="1319"/>
                    <a:pt x="1430" y="138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2" name="Freeform 6"/>
            <p:cNvSpPr/>
            <p:nvPr/>
          </p:nvSpPr>
          <p:spPr>
            <a:xfrm>
              <a:off x="1638" y="2006"/>
              <a:ext cx="685" cy="7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0" y="298"/>
                </a:cxn>
                <a:cxn ang="0">
                  <a:pos x="378" y="596"/>
                </a:cxn>
                <a:cxn ang="0">
                  <a:pos x="685" y="794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3" name="Line 7"/>
            <p:cNvSpPr/>
            <p:nvPr/>
          </p:nvSpPr>
          <p:spPr>
            <a:xfrm>
              <a:off x="914" y="2006"/>
              <a:ext cx="7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48144" name="Line 8"/>
            <p:cNvSpPr/>
            <p:nvPr/>
          </p:nvSpPr>
          <p:spPr>
            <a:xfrm>
              <a:off x="2333" y="2792"/>
              <a:ext cx="0" cy="59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48145" name="Line 9"/>
            <p:cNvSpPr/>
            <p:nvPr/>
          </p:nvSpPr>
          <p:spPr>
            <a:xfrm>
              <a:off x="1837" y="2443"/>
              <a:ext cx="139" cy="13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6" name="Line 10"/>
            <p:cNvSpPr/>
            <p:nvPr/>
          </p:nvSpPr>
          <p:spPr>
            <a:xfrm>
              <a:off x="2334" y="2930"/>
              <a:ext cx="0" cy="2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7" name="Line 11"/>
            <p:cNvSpPr/>
            <p:nvPr/>
          </p:nvSpPr>
          <p:spPr>
            <a:xfrm flipH="1" flipV="1">
              <a:off x="1371" y="2959"/>
              <a:ext cx="99" cy="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8" name="Line 12"/>
            <p:cNvSpPr/>
            <p:nvPr/>
          </p:nvSpPr>
          <p:spPr>
            <a:xfrm>
              <a:off x="1202" y="2006"/>
              <a:ext cx="179" cy="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9" name="Text Box 13"/>
            <p:cNvSpPr txBox="1"/>
            <p:nvPr/>
          </p:nvSpPr>
          <p:spPr>
            <a:xfrm>
              <a:off x="268" y="3694"/>
              <a:ext cx="2721" cy="3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8150" name="Line 14"/>
            <p:cNvSpPr/>
            <p:nvPr/>
          </p:nvSpPr>
          <p:spPr>
            <a:xfrm>
              <a:off x="904" y="2016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8151" name="Line 15"/>
            <p:cNvSpPr/>
            <p:nvPr/>
          </p:nvSpPr>
          <p:spPr>
            <a:xfrm>
              <a:off x="1646" y="2003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8152" name="Line 16"/>
            <p:cNvSpPr/>
            <p:nvPr/>
          </p:nvSpPr>
          <p:spPr>
            <a:xfrm>
              <a:off x="2318" y="3390"/>
              <a:ext cx="10" cy="29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8153" name="Text Box 17"/>
            <p:cNvSpPr txBox="1"/>
            <p:nvPr/>
          </p:nvSpPr>
          <p:spPr>
            <a:xfrm>
              <a:off x="219" y="1639"/>
              <a:ext cx="1559" cy="3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b         c</a:t>
              </a:r>
            </a:p>
          </p:txBody>
        </p:sp>
        <p:sp>
          <p:nvSpPr>
            <p:cNvPr id="48154" name="Text Box 18"/>
            <p:cNvSpPr txBox="1"/>
            <p:nvPr/>
          </p:nvSpPr>
          <p:spPr>
            <a:xfrm>
              <a:off x="2423" y="2781"/>
              <a:ext cx="259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9" name="Object 3"/>
          <p:cNvGraphicFramePr/>
          <p:nvPr/>
        </p:nvGraphicFramePr>
        <p:xfrm>
          <a:off x="915988" y="95250"/>
          <a:ext cx="640873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1" r:id="rId3" imgW="3098800" imgH="508000" progId="Equation.DSMT4">
                  <p:embed/>
                </p:oleObj>
              </mc:Choice>
              <mc:Fallback>
                <p:oleObj r:id="rId3" imgW="3098800" imgH="508000" progId="Equation.DSMT4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5988" y="95250"/>
                        <a:ext cx="6408737" cy="105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/>
          <p:nvPr/>
        </p:nvGraphicFramePr>
        <p:xfrm>
          <a:off x="971550" y="1196975"/>
          <a:ext cx="6408738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2" r:id="rId5" imgW="3084830" imgH="431800" progId="Equation.DSMT4">
                  <p:embed/>
                </p:oleObj>
              </mc:Choice>
              <mc:Fallback>
                <p:oleObj r:id="rId5" imgW="3084830" imgH="431800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550" y="1196975"/>
                        <a:ext cx="6408738" cy="896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/>
          <p:nvPr/>
        </p:nvGraphicFramePr>
        <p:xfrm>
          <a:off x="952500" y="2205038"/>
          <a:ext cx="56356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3" r:id="rId7" imgW="2842260" imgH="203200" progId="Equation.DSMT4">
                  <p:embed/>
                </p:oleObj>
              </mc:Choice>
              <mc:Fallback>
                <p:oleObj r:id="rId7" imgW="2842260" imgH="203200" progId="Equation.DSMT4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2500" y="2205038"/>
                        <a:ext cx="5635625" cy="401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/>
          <p:nvPr/>
        </p:nvGraphicFramePr>
        <p:xfrm>
          <a:off x="963613" y="2636838"/>
          <a:ext cx="5873750" cy="183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4" r:id="rId9" imgW="2921000" imgH="914400" progId="Equation.DSMT4">
                  <p:embed/>
                </p:oleObj>
              </mc:Choice>
              <mc:Fallback>
                <p:oleObj r:id="rId9" imgW="2921000" imgH="914400" progId="Equation.DSMT4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3613" y="2636838"/>
                        <a:ext cx="5873750" cy="183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6"/>
          <p:cNvGraphicFramePr/>
          <p:nvPr/>
        </p:nvGraphicFramePr>
        <p:xfrm>
          <a:off x="869950" y="4652963"/>
          <a:ext cx="37020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5" r:id="rId11" imgW="1828800" imgH="228600" progId="Equation.DSMT4">
                  <p:embed/>
                </p:oleObj>
              </mc:Choice>
              <mc:Fallback>
                <p:oleObj r:id="rId11" imgW="1828800" imgH="228600" progId="Equation.DSMT4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9950" y="4652963"/>
                        <a:ext cx="370205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/>
          <p:nvPr>
            <p:extLst>
              <p:ext uri="{D42A27DB-BD31-4B8C-83A1-F6EECF244321}">
                <p14:modId xmlns:p14="http://schemas.microsoft.com/office/powerpoint/2010/main" val="2417033816"/>
              </p:ext>
            </p:extLst>
          </p:nvPr>
        </p:nvGraphicFramePr>
        <p:xfrm>
          <a:off x="3505126" y="341462"/>
          <a:ext cx="1695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0" r:id="rId3" imgW="761365" imgH="241300" progId="Equation.DSMT4">
                  <p:embed/>
                </p:oleObj>
              </mc:Choice>
              <mc:Fallback>
                <p:oleObj r:id="rId3" imgW="761365" imgH="241300" progId="Equation.DSMT4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5126" y="341462"/>
                        <a:ext cx="16954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/>
          <p:nvPr>
            <p:extLst>
              <p:ext uri="{D42A27DB-BD31-4B8C-83A1-F6EECF244321}">
                <p14:modId xmlns:p14="http://schemas.microsoft.com/office/powerpoint/2010/main" val="3655334605"/>
              </p:ext>
            </p:extLst>
          </p:nvPr>
        </p:nvGraphicFramePr>
        <p:xfrm>
          <a:off x="160264" y="358924"/>
          <a:ext cx="29559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1" r:id="rId5" imgW="1446530" imgH="203200" progId="Equation.DSMT4">
                  <p:embed/>
                </p:oleObj>
              </mc:Choice>
              <mc:Fallback>
                <p:oleObj r:id="rId5" imgW="1446530" imgH="203200" progId="Equation.DSMT4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264" y="358924"/>
                        <a:ext cx="2955925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/>
          <p:nvPr>
            <p:extLst>
              <p:ext uri="{D42A27DB-BD31-4B8C-83A1-F6EECF244321}">
                <p14:modId xmlns:p14="http://schemas.microsoft.com/office/powerpoint/2010/main" val="2589110996"/>
              </p:ext>
            </p:extLst>
          </p:nvPr>
        </p:nvGraphicFramePr>
        <p:xfrm>
          <a:off x="1417564" y="701824"/>
          <a:ext cx="52990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2" r:id="rId7" imgW="2501900" imgH="508000" progId="Equation.DSMT4">
                  <p:embed/>
                </p:oleObj>
              </mc:Choice>
              <mc:Fallback>
                <p:oleObj r:id="rId7" imgW="2501900" imgH="508000" progId="Equation.DSMT4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17564" y="701824"/>
                        <a:ext cx="5299075" cy="107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/>
          <p:nvPr>
            <p:extLst>
              <p:ext uri="{D42A27DB-BD31-4B8C-83A1-F6EECF244321}">
                <p14:modId xmlns:p14="http://schemas.microsoft.com/office/powerpoint/2010/main" val="4176784244"/>
              </p:ext>
            </p:extLst>
          </p:nvPr>
        </p:nvGraphicFramePr>
        <p:xfrm>
          <a:off x="755576" y="1844824"/>
          <a:ext cx="61722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3" r:id="rId9" imgW="3200400" imgH="228600" progId="Equation.DSMT4">
                  <p:embed/>
                </p:oleObj>
              </mc:Choice>
              <mc:Fallback>
                <p:oleObj r:id="rId9" imgW="3200400" imgH="228600" progId="Equation.DSMT4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5576" y="1844824"/>
                        <a:ext cx="6172200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/>
          <p:nvPr>
            <p:extLst>
              <p:ext uri="{D42A27DB-BD31-4B8C-83A1-F6EECF244321}">
                <p14:modId xmlns:p14="http://schemas.microsoft.com/office/powerpoint/2010/main" val="3080730344"/>
              </p:ext>
            </p:extLst>
          </p:nvPr>
        </p:nvGraphicFramePr>
        <p:xfrm>
          <a:off x="746051" y="2357587"/>
          <a:ext cx="6148388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4" r:id="rId11" imgW="3186430" imgH="241300" progId="Equation.DSMT4">
                  <p:embed/>
                </p:oleObj>
              </mc:Choice>
              <mc:Fallback>
                <p:oleObj r:id="rId11" imgW="3186430" imgH="241300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6051" y="2357587"/>
                        <a:ext cx="6148388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/>
          <p:nvPr>
            <p:extLst>
              <p:ext uri="{D42A27DB-BD31-4B8C-83A1-F6EECF244321}">
                <p14:modId xmlns:p14="http://schemas.microsoft.com/office/powerpoint/2010/main" val="1003381285"/>
              </p:ext>
            </p:extLst>
          </p:nvPr>
        </p:nvGraphicFramePr>
        <p:xfrm>
          <a:off x="807964" y="2933849"/>
          <a:ext cx="33115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5" r:id="rId13" imgW="1727200" imgH="508000" progId="Equation.DSMT4">
                  <p:embed/>
                </p:oleObj>
              </mc:Choice>
              <mc:Fallback>
                <p:oleObj r:id="rId13" imgW="1727200" imgH="508000" progId="Equation.DSMT4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7964" y="2933849"/>
                        <a:ext cx="3311525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/>
          <p:nvPr>
            <p:extLst>
              <p:ext uri="{D42A27DB-BD31-4B8C-83A1-F6EECF244321}">
                <p14:modId xmlns:p14="http://schemas.microsoft.com/office/powerpoint/2010/main" val="647147619"/>
              </p:ext>
            </p:extLst>
          </p:nvPr>
        </p:nvGraphicFramePr>
        <p:xfrm>
          <a:off x="592064" y="3870474"/>
          <a:ext cx="5922962" cy="182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6" r:id="rId15" imgW="2640330" imgH="989965" progId="Equation.DSMT4">
                  <p:embed/>
                </p:oleObj>
              </mc:Choice>
              <mc:Fallback>
                <p:oleObj r:id="rId15" imgW="2640330" imgH="989965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2064" y="3870474"/>
                        <a:ext cx="5922962" cy="182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2">
            <a:extLst>
              <a:ext uri="{FF2B5EF4-FFF2-40B4-BE49-F238E27FC236}">
                <a16:creationId xmlns:a16="http://schemas.microsoft.com/office/drawing/2014/main" id="{895669B9-4BE9-414F-A31A-D4C21CEF24C5}"/>
              </a:ext>
            </a:extLst>
          </p:cNvPr>
          <p:cNvGrpSpPr>
            <a:grpSpLocks noChangeAspect="1"/>
          </p:cNvGrpSpPr>
          <p:nvPr/>
        </p:nvGrpSpPr>
        <p:grpSpPr>
          <a:xfrm>
            <a:off x="6396809" y="3591713"/>
            <a:ext cx="2855836" cy="2495058"/>
            <a:chOff x="20" y="1580"/>
            <a:chExt cx="2969" cy="2594"/>
          </a:xfrm>
        </p:grpSpPr>
        <p:sp>
          <p:nvSpPr>
            <p:cNvPr id="10" name="Line 3">
              <a:extLst>
                <a:ext uri="{FF2B5EF4-FFF2-40B4-BE49-F238E27FC236}">
                  <a16:creationId xmlns:a16="http://schemas.microsoft.com/office/drawing/2014/main" id="{1756F931-0FE7-4FFF-9A94-A7C2EC8A5771}"/>
                </a:ext>
              </a:extLst>
            </p:cNvPr>
            <p:cNvSpPr/>
            <p:nvPr/>
          </p:nvSpPr>
          <p:spPr>
            <a:xfrm>
              <a:off x="505" y="3685"/>
              <a:ext cx="24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1" name="Line 4">
              <a:extLst>
                <a:ext uri="{FF2B5EF4-FFF2-40B4-BE49-F238E27FC236}">
                  <a16:creationId xmlns:a16="http://schemas.microsoft.com/office/drawing/2014/main" id="{E5746CFA-3E2B-46CF-B228-E4C4477DD9BF}"/>
                </a:ext>
              </a:extLst>
            </p:cNvPr>
            <p:cNvSpPr/>
            <p:nvPr/>
          </p:nvSpPr>
          <p:spPr>
            <a:xfrm flipV="1">
              <a:off x="496" y="1580"/>
              <a:ext cx="0" cy="21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949B1B81-2C20-4D69-A9B5-4F3C1998099C}"/>
                </a:ext>
              </a:extLst>
            </p:cNvPr>
            <p:cNvSpPr/>
            <p:nvPr/>
          </p:nvSpPr>
          <p:spPr>
            <a:xfrm>
              <a:off x="904" y="2006"/>
              <a:ext cx="1430" cy="13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8" y="735"/>
                </a:cxn>
                <a:cxn ang="0">
                  <a:pos x="754" y="1152"/>
                </a:cxn>
                <a:cxn ang="0">
                  <a:pos x="1430" y="1380"/>
                </a:cxn>
              </a:cxnLst>
              <a:rect l="0" t="0" r="0" b="0"/>
              <a:pathLst>
                <a:path w="1430" h="1380">
                  <a:moveTo>
                    <a:pt x="0" y="0"/>
                  </a:moveTo>
                  <a:cubicBezTo>
                    <a:pt x="66" y="271"/>
                    <a:pt x="132" y="543"/>
                    <a:pt x="258" y="735"/>
                  </a:cubicBezTo>
                  <a:cubicBezTo>
                    <a:pt x="384" y="927"/>
                    <a:pt x="559" y="1045"/>
                    <a:pt x="754" y="1152"/>
                  </a:cubicBezTo>
                  <a:cubicBezTo>
                    <a:pt x="949" y="1259"/>
                    <a:pt x="1189" y="1319"/>
                    <a:pt x="1430" y="138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7820F60C-395C-46B9-9196-DA024649FD9D}"/>
                </a:ext>
              </a:extLst>
            </p:cNvPr>
            <p:cNvSpPr/>
            <p:nvPr/>
          </p:nvSpPr>
          <p:spPr>
            <a:xfrm>
              <a:off x="1638" y="2006"/>
              <a:ext cx="685" cy="7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0" y="298"/>
                </a:cxn>
                <a:cxn ang="0">
                  <a:pos x="378" y="596"/>
                </a:cxn>
                <a:cxn ang="0">
                  <a:pos x="685" y="794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08330DDB-F8D3-4BEC-9308-1D1991C1C5D0}"/>
                </a:ext>
              </a:extLst>
            </p:cNvPr>
            <p:cNvSpPr/>
            <p:nvPr/>
          </p:nvSpPr>
          <p:spPr>
            <a:xfrm>
              <a:off x="914" y="2006"/>
              <a:ext cx="7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881019C8-FA6F-4385-A207-92F44234FA85}"/>
                </a:ext>
              </a:extLst>
            </p:cNvPr>
            <p:cNvSpPr/>
            <p:nvPr/>
          </p:nvSpPr>
          <p:spPr>
            <a:xfrm>
              <a:off x="2333" y="2792"/>
              <a:ext cx="0" cy="59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C5D27DBF-7EB8-4DF0-A78C-2F598F2CC36D}"/>
                </a:ext>
              </a:extLst>
            </p:cNvPr>
            <p:cNvSpPr/>
            <p:nvPr/>
          </p:nvSpPr>
          <p:spPr>
            <a:xfrm>
              <a:off x="1837" y="2443"/>
              <a:ext cx="139" cy="13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9E0DE4F4-FE26-401D-99CD-86448E6FA52A}"/>
                </a:ext>
              </a:extLst>
            </p:cNvPr>
            <p:cNvSpPr/>
            <p:nvPr/>
          </p:nvSpPr>
          <p:spPr>
            <a:xfrm>
              <a:off x="2334" y="2930"/>
              <a:ext cx="0" cy="2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636CB4EB-6C72-4B4F-B03D-4814EDFBB351}"/>
                </a:ext>
              </a:extLst>
            </p:cNvPr>
            <p:cNvSpPr/>
            <p:nvPr/>
          </p:nvSpPr>
          <p:spPr>
            <a:xfrm flipH="1" flipV="1">
              <a:off x="1371" y="2959"/>
              <a:ext cx="99" cy="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510546EF-F5D0-4DB2-92AE-E22B9650642C}"/>
                </a:ext>
              </a:extLst>
            </p:cNvPr>
            <p:cNvSpPr/>
            <p:nvPr/>
          </p:nvSpPr>
          <p:spPr>
            <a:xfrm>
              <a:off x="1202" y="2006"/>
              <a:ext cx="179" cy="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20" name="Text Box 13">
              <a:extLst>
                <a:ext uri="{FF2B5EF4-FFF2-40B4-BE49-F238E27FC236}">
                  <a16:creationId xmlns:a16="http://schemas.microsoft.com/office/drawing/2014/main" id="{FF35AD52-418E-4B50-A337-3D4F52B480B4}"/>
                </a:ext>
              </a:extLst>
            </p:cNvPr>
            <p:cNvSpPr txBox="1"/>
            <p:nvPr/>
          </p:nvSpPr>
          <p:spPr>
            <a:xfrm>
              <a:off x="268" y="3694"/>
              <a:ext cx="2721" cy="48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9893BD14-4B91-4798-A72F-6ECA937AC833}"/>
                </a:ext>
              </a:extLst>
            </p:cNvPr>
            <p:cNvSpPr/>
            <p:nvPr/>
          </p:nvSpPr>
          <p:spPr>
            <a:xfrm>
              <a:off x="904" y="2016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0A6137D8-9C05-4F65-836B-054D4AA0D58F}"/>
                </a:ext>
              </a:extLst>
            </p:cNvPr>
            <p:cNvSpPr/>
            <p:nvPr/>
          </p:nvSpPr>
          <p:spPr>
            <a:xfrm>
              <a:off x="1646" y="2003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315B0E82-D03E-46A4-B6CA-5405CFD482D6}"/>
                </a:ext>
              </a:extLst>
            </p:cNvPr>
            <p:cNvSpPr/>
            <p:nvPr/>
          </p:nvSpPr>
          <p:spPr>
            <a:xfrm>
              <a:off x="2318" y="3390"/>
              <a:ext cx="10" cy="29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24" name="Text Box 17">
              <a:extLst>
                <a:ext uri="{FF2B5EF4-FFF2-40B4-BE49-F238E27FC236}">
                  <a16:creationId xmlns:a16="http://schemas.microsoft.com/office/drawing/2014/main" id="{6229A818-9564-4F7D-A9C7-5063BFC8F0C5}"/>
                </a:ext>
              </a:extLst>
            </p:cNvPr>
            <p:cNvSpPr txBox="1"/>
            <p:nvPr/>
          </p:nvSpPr>
          <p:spPr>
            <a:xfrm>
              <a:off x="20" y="1639"/>
              <a:ext cx="2403" cy="48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b       c</a:t>
              </a:r>
            </a:p>
          </p:txBody>
        </p:sp>
        <p:sp>
          <p:nvSpPr>
            <p:cNvPr id="25" name="Text Box 18">
              <a:extLst>
                <a:ext uri="{FF2B5EF4-FFF2-40B4-BE49-F238E27FC236}">
                  <a16:creationId xmlns:a16="http://schemas.microsoft.com/office/drawing/2014/main" id="{A199FC53-28E9-4560-A123-2192249FE9FD}"/>
                </a:ext>
              </a:extLst>
            </p:cNvPr>
            <p:cNvSpPr txBox="1"/>
            <p:nvPr/>
          </p:nvSpPr>
          <p:spPr>
            <a:xfrm>
              <a:off x="2390" y="2643"/>
              <a:ext cx="259" cy="86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da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199" name="组合 1026198"/>
          <p:cNvGrpSpPr/>
          <p:nvPr/>
        </p:nvGrpSpPr>
        <p:grpSpPr>
          <a:xfrm>
            <a:off x="0" y="1557338"/>
            <a:ext cx="4038600" cy="3276600"/>
            <a:chOff x="-1272" y="1480"/>
            <a:chExt cx="2544" cy="2064"/>
          </a:xfrm>
        </p:grpSpPr>
        <p:sp>
          <p:nvSpPr>
            <p:cNvPr id="1026186" name="矩形 1026185"/>
            <p:cNvSpPr/>
            <p:nvPr/>
          </p:nvSpPr>
          <p:spPr>
            <a:xfrm>
              <a:off x="-1272" y="1480"/>
              <a:ext cx="2239" cy="206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6187" name="组合 1026186"/>
            <p:cNvGrpSpPr/>
            <p:nvPr/>
          </p:nvGrpSpPr>
          <p:grpSpPr>
            <a:xfrm>
              <a:off x="-1119" y="1709"/>
              <a:ext cx="1933" cy="1204"/>
              <a:chOff x="480" y="1056"/>
              <a:chExt cx="1824" cy="1008"/>
            </a:xfrm>
          </p:grpSpPr>
          <p:sp>
            <p:nvSpPr>
              <p:cNvPr id="1026188" name="棱台 1026187"/>
              <p:cNvSpPr/>
              <p:nvPr/>
            </p:nvSpPr>
            <p:spPr>
              <a:xfrm>
                <a:off x="480" y="1056"/>
                <a:ext cx="1824" cy="1008"/>
              </a:xfrm>
              <a:prstGeom prst="bevel">
                <a:avLst>
                  <a:gd name="adj" fmla="val 9722"/>
                </a:avLst>
              </a:prstGeom>
              <a:solidFill>
                <a:srgbClr val="996633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189" name="矩形 1026188"/>
              <p:cNvSpPr/>
              <p:nvPr/>
            </p:nvSpPr>
            <p:spPr>
              <a:xfrm>
                <a:off x="576" y="1152"/>
                <a:ext cx="1632" cy="81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6190" name="矩形 1026189"/>
            <p:cNvSpPr/>
            <p:nvPr/>
          </p:nvSpPr>
          <p:spPr>
            <a:xfrm>
              <a:off x="-865" y="1939"/>
              <a:ext cx="865" cy="745"/>
            </a:xfrm>
            <a:prstGeom prst="rect">
              <a:avLst/>
            </a:prstGeom>
            <a:solidFill>
              <a:srgbClr val="FFE1FF"/>
            </a:solidFill>
            <a:ln w="9525" cap="flat" cmpd="sng">
              <a:solidFill>
                <a:srgbClr val="CC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191" name="矩形 1026190"/>
            <p:cNvSpPr/>
            <p:nvPr/>
          </p:nvSpPr>
          <p:spPr>
            <a:xfrm>
              <a:off x="0" y="1939"/>
              <a:ext cx="509" cy="745"/>
            </a:xfrm>
            <a:prstGeom prst="rect">
              <a:avLst/>
            </a:prstGeom>
            <a:solidFill>
              <a:srgbClr val="D4EBF8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6192" name="对象 1026191"/>
            <p:cNvGraphicFramePr/>
            <p:nvPr/>
          </p:nvGraphicFramePr>
          <p:xfrm>
            <a:off x="-649" y="2290"/>
            <a:ext cx="215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30" r:id="rId3" imgW="152400" imgH="215900" progId="Equation.3">
                    <p:embed/>
                  </p:oleObj>
                </mc:Choice>
                <mc:Fallback>
                  <p:oleObj r:id="rId3" imgW="152400" imgH="215900" progId="Equation.3">
                    <p:embed/>
                    <p:pic>
                      <p:nvPicPr>
                        <p:cNvPr id="1026192" name="对象 102619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-649" y="2290"/>
                          <a:ext cx="215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193" name="对象 1026192"/>
            <p:cNvGraphicFramePr/>
            <p:nvPr/>
          </p:nvGraphicFramePr>
          <p:xfrm>
            <a:off x="249" y="2296"/>
            <a:ext cx="21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31" r:id="rId5" imgW="165100" imgH="215900" progId="Equation.3">
                    <p:embed/>
                  </p:oleObj>
                </mc:Choice>
                <mc:Fallback>
                  <p:oleObj r:id="rId5" imgW="165100" imgH="215900" progId="Equation.3">
                    <p:embed/>
                    <p:pic>
                      <p:nvPicPr>
                        <p:cNvPr id="1026193" name="对象 102619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9" y="2296"/>
                          <a:ext cx="214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6194" name="组合 1026193"/>
            <p:cNvGrpSpPr/>
            <p:nvPr/>
          </p:nvGrpSpPr>
          <p:grpSpPr>
            <a:xfrm>
              <a:off x="0" y="2856"/>
              <a:ext cx="1272" cy="573"/>
              <a:chOff x="1200" y="2160"/>
              <a:chExt cx="1200" cy="480"/>
            </a:xfrm>
          </p:grpSpPr>
          <p:sp>
            <p:nvSpPr>
              <p:cNvPr id="1026195" name="任意多边形 1026194"/>
              <p:cNvSpPr/>
              <p:nvPr/>
            </p:nvSpPr>
            <p:spPr>
              <a:xfrm>
                <a:off x="1200" y="2160"/>
                <a:ext cx="816" cy="480"/>
              </a:xfrm>
              <a:custGeom>
                <a:avLst/>
                <a:gdLst/>
                <a:ahLst/>
                <a:cxnLst/>
                <a:rect l="0" t="0" r="0" b="0"/>
                <a:pathLst>
                  <a:path w="816" h="480">
                    <a:moveTo>
                      <a:pt x="0" y="144"/>
                    </a:moveTo>
                    <a:lnTo>
                      <a:pt x="0" y="480"/>
                    </a:lnTo>
                    <a:lnTo>
                      <a:pt x="816" y="480"/>
                    </a:lnTo>
                    <a:lnTo>
                      <a:pt x="816" y="144"/>
                    </a:lnTo>
                    <a:lnTo>
                      <a:pt x="288" y="144"/>
                    </a:lnTo>
                    <a:lnTo>
                      <a:pt x="96" y="0"/>
                    </a:lnTo>
                    <a:lnTo>
                      <a:pt x="144" y="144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196" name="文本框 1026195"/>
              <p:cNvSpPr txBox="1"/>
              <p:nvPr/>
            </p:nvSpPr>
            <p:spPr>
              <a:xfrm>
                <a:off x="1200" y="2308"/>
                <a:ext cx="1200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zh-CN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绝热壁</a:t>
                </a:r>
              </a:p>
            </p:txBody>
          </p:sp>
        </p:grpSp>
        <p:graphicFrame>
          <p:nvGraphicFramePr>
            <p:cNvPr id="1026197" name="对象 1026196"/>
            <p:cNvGraphicFramePr/>
            <p:nvPr/>
          </p:nvGraphicFramePr>
          <p:xfrm>
            <a:off x="-853" y="3038"/>
            <a:ext cx="55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32" r:id="rId7" imgW="431165" imgH="215900" progId="Equation.3">
                    <p:embed/>
                  </p:oleObj>
                </mc:Choice>
                <mc:Fallback>
                  <p:oleObj r:id="rId7" imgW="431165" imgH="215900" progId="Equation.3">
                    <p:embed/>
                    <p:pic>
                      <p:nvPicPr>
                        <p:cNvPr id="1026197" name="对象 102619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-853" y="3038"/>
                          <a:ext cx="558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6050" name="文本框 1026049"/>
          <p:cNvSpPr txBox="1"/>
          <p:nvPr/>
        </p:nvSpPr>
        <p:spPr>
          <a:xfrm>
            <a:off x="0" y="52388"/>
            <a:ext cx="52927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28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8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证明热传导的不可逆性。</a:t>
            </a:r>
            <a:endParaRPr lang="zh-CN" altLang="en-US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6051" name="文本框 1026050"/>
          <p:cNvSpPr txBox="1"/>
          <p:nvPr/>
        </p:nvSpPr>
        <p:spPr>
          <a:xfrm>
            <a:off x="609600" y="533400"/>
            <a:ext cx="80010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设有两相同的容器装有相同的气体，质量均为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温度为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&gt;T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）。</a:t>
            </a:r>
          </a:p>
        </p:txBody>
      </p:sp>
      <p:sp>
        <p:nvSpPr>
          <p:cNvPr id="1026052" name="文本框 1026051"/>
          <p:cNvSpPr txBox="1"/>
          <p:nvPr/>
        </p:nvSpPr>
        <p:spPr>
          <a:xfrm>
            <a:off x="3810000" y="990600"/>
            <a:ext cx="4878388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当两容器接触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时间从</a:t>
            </a:r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高温气体向低温气体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传递了热量：</a:t>
            </a:r>
          </a:p>
        </p:txBody>
      </p:sp>
      <p:sp>
        <p:nvSpPr>
          <p:cNvPr id="1026053" name="文本框 1026052"/>
          <p:cNvSpPr txBox="1"/>
          <p:nvPr/>
        </p:nvSpPr>
        <p:spPr>
          <a:xfrm>
            <a:off x="3924300" y="2619375"/>
            <a:ext cx="110109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温度由</a:t>
            </a:r>
          </a:p>
        </p:txBody>
      </p:sp>
      <p:graphicFrame>
        <p:nvGraphicFramePr>
          <p:cNvPr id="1026054" name="对象 1026053"/>
          <p:cNvGraphicFramePr/>
          <p:nvPr/>
        </p:nvGraphicFramePr>
        <p:xfrm>
          <a:off x="5046663" y="2605088"/>
          <a:ext cx="35814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3" r:id="rId9" imgW="1510665" imgH="241300" progId="Equation.DSMT4">
                  <p:embed/>
                </p:oleObj>
              </mc:Choice>
              <mc:Fallback>
                <p:oleObj r:id="rId9" imgW="1510665" imgH="241300" progId="Equation.DSMT4">
                  <p:embed/>
                  <p:pic>
                    <p:nvPicPr>
                      <p:cNvPr id="1026054" name="对象 102605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46663" y="2605088"/>
                        <a:ext cx="3581400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55" name="对象 1026054"/>
          <p:cNvGraphicFramePr/>
          <p:nvPr/>
        </p:nvGraphicFramePr>
        <p:xfrm>
          <a:off x="4284663" y="1916113"/>
          <a:ext cx="6858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4" r:id="rId11" imgW="241300" imgH="203200" progId="Equation.DSMT4">
                  <p:embed/>
                </p:oleObj>
              </mc:Choice>
              <mc:Fallback>
                <p:oleObj r:id="rId11" imgW="241300" imgH="203200" progId="Equation.DSMT4">
                  <p:embed/>
                  <p:pic>
                    <p:nvPicPr>
                      <p:cNvPr id="1026055" name="对象 102605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1916113"/>
                        <a:ext cx="685800" cy="496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56" name="文本框 1026055"/>
          <p:cNvSpPr txBox="1"/>
          <p:nvPr/>
        </p:nvSpPr>
        <p:spPr>
          <a:xfrm>
            <a:off x="4953000" y="1905000"/>
            <a:ext cx="36512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很小可视为准静态过程。</a:t>
            </a:r>
          </a:p>
        </p:txBody>
      </p:sp>
      <p:grpSp>
        <p:nvGrpSpPr>
          <p:cNvPr id="1026160" name="组合 1026159"/>
          <p:cNvGrpSpPr/>
          <p:nvPr/>
        </p:nvGrpSpPr>
        <p:grpSpPr>
          <a:xfrm>
            <a:off x="1417638" y="2420938"/>
            <a:ext cx="1066800" cy="800100"/>
            <a:chOff x="1008" y="2688"/>
            <a:chExt cx="672" cy="504"/>
          </a:xfrm>
        </p:grpSpPr>
        <p:sp>
          <p:nvSpPr>
            <p:cNvPr id="1026161" name="直接连接符 1026160"/>
            <p:cNvSpPr/>
            <p:nvPr/>
          </p:nvSpPr>
          <p:spPr>
            <a:xfrm>
              <a:off x="1008" y="2688"/>
              <a:ext cx="672" cy="0"/>
            </a:xfrm>
            <a:prstGeom prst="line">
              <a:avLst/>
            </a:prstGeom>
            <a:ln w="7620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6162" name="文本框 1026161"/>
            <p:cNvSpPr txBox="1"/>
            <p:nvPr/>
          </p:nvSpPr>
          <p:spPr>
            <a:xfrm>
              <a:off x="1104" y="2827"/>
              <a:ext cx="44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3200" i="1" err="1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d</a:t>
              </a:r>
              <a:r>
                <a:rPr lang="en-US" altLang="zh-CN" sz="320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6164" name="文本框 1026163"/>
          <p:cNvSpPr txBox="1"/>
          <p:nvPr/>
        </p:nvSpPr>
        <p:spPr>
          <a:xfrm>
            <a:off x="3851275" y="3195638"/>
            <a:ext cx="5181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两容器中气体作为一孤立系统</a:t>
            </a:r>
          </a:p>
        </p:txBody>
      </p:sp>
      <p:graphicFrame>
        <p:nvGraphicFramePr>
          <p:cNvPr id="1026165" name="对象 1026164"/>
          <p:cNvGraphicFramePr/>
          <p:nvPr/>
        </p:nvGraphicFramePr>
        <p:xfrm>
          <a:off x="4083050" y="3916363"/>
          <a:ext cx="1600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5" r:id="rId13" imgW="723900" imgH="431800" progId="Equation.DSMT4">
                  <p:embed/>
                </p:oleObj>
              </mc:Choice>
              <mc:Fallback>
                <p:oleObj r:id="rId13" imgW="723900" imgH="431800" progId="Equation.DSMT4">
                  <p:embed/>
                  <p:pic>
                    <p:nvPicPr>
                      <p:cNvPr id="1026165" name="对象 1026164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83050" y="3916363"/>
                        <a:ext cx="16002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66" name="对象 1026165"/>
          <p:cNvGraphicFramePr/>
          <p:nvPr/>
        </p:nvGraphicFramePr>
        <p:xfrm>
          <a:off x="6170613" y="3916363"/>
          <a:ext cx="13541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6" r:id="rId15" imgW="635000" imgH="431800" progId="Equation.DSMT4">
                  <p:embed/>
                </p:oleObj>
              </mc:Choice>
              <mc:Fallback>
                <p:oleObj r:id="rId15" imgW="635000" imgH="431800" progId="Equation.DSMT4">
                  <p:embed/>
                  <p:pic>
                    <p:nvPicPr>
                      <p:cNvPr id="1026166" name="对象 1026165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70613" y="3916363"/>
                        <a:ext cx="1354137" cy="91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167" name="文本框 1026166"/>
          <p:cNvSpPr txBox="1"/>
          <p:nvPr/>
        </p:nvSpPr>
        <p:spPr>
          <a:xfrm>
            <a:off x="323850" y="5084763"/>
            <a:ext cx="23764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系统总熵变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1026168" name="对象 1026167"/>
          <p:cNvGraphicFramePr/>
          <p:nvPr/>
        </p:nvGraphicFramePr>
        <p:xfrm>
          <a:off x="2613025" y="5013325"/>
          <a:ext cx="4459288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7" r:id="rId17" imgW="2031365" imgH="431800" progId="Equation.DSMT4">
                  <p:embed/>
                </p:oleObj>
              </mc:Choice>
              <mc:Fallback>
                <p:oleObj r:id="rId17" imgW="2031365" imgH="431800" progId="Equation.DSMT4">
                  <p:embed/>
                  <p:pic>
                    <p:nvPicPr>
                      <p:cNvPr id="1026168" name="对象 1026167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13025" y="5013325"/>
                        <a:ext cx="4459288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169" name="文本框 1026168"/>
          <p:cNvSpPr txBox="1"/>
          <p:nvPr/>
        </p:nvSpPr>
        <p:spPr>
          <a:xfrm>
            <a:off x="381000" y="6096000"/>
            <a:ext cx="8458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系统熵变是增加的，说明从高温到低温的热传递是能实现的。</a:t>
            </a:r>
          </a:p>
        </p:txBody>
      </p:sp>
      <p:sp>
        <p:nvSpPr>
          <p:cNvPr id="1026170" name="文本框 1026169"/>
          <p:cNvSpPr txBox="1"/>
          <p:nvPr/>
        </p:nvSpPr>
        <p:spPr>
          <a:xfrm>
            <a:off x="7235825" y="5229225"/>
            <a:ext cx="1755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&gt;T</a:t>
            </a:r>
            <a:r>
              <a:rPr lang="en-US" altLang="zh-CN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94999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2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2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2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2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2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2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2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2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02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02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02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02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050" grpId="0"/>
      <p:bldP spid="1026051" grpId="0"/>
      <p:bldP spid="1026052" grpId="0"/>
      <p:bldP spid="1026053" grpId="0"/>
      <p:bldP spid="1026056" grpId="0"/>
      <p:bldP spid="1026164" grpId="0"/>
      <p:bldP spid="1026167" grpId="0"/>
      <p:bldP spid="1026169" grpId="0"/>
      <p:bldP spid="102617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34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27074" name="对象 1027073"/>
          <p:cNvGraphicFramePr/>
          <p:nvPr/>
        </p:nvGraphicFramePr>
        <p:xfrm>
          <a:off x="5580063" y="1773238"/>
          <a:ext cx="147478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4" r:id="rId3" imgW="622300" imgH="431800" progId="Equation.DSMT4">
                  <p:embed/>
                </p:oleObj>
              </mc:Choice>
              <mc:Fallback>
                <p:oleObj r:id="rId3" imgW="622300" imgH="431800" progId="Equation.DSMT4">
                  <p:embed/>
                  <p:pic>
                    <p:nvPicPr>
                      <p:cNvPr id="1027074" name="对象 102707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80063" y="1773238"/>
                        <a:ext cx="1474787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75" name="对象 1027074"/>
          <p:cNvGraphicFramePr/>
          <p:nvPr/>
        </p:nvGraphicFramePr>
        <p:xfrm>
          <a:off x="5378450" y="2997200"/>
          <a:ext cx="182562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5" r:id="rId5" imgW="786765" imgH="431800" progId="Equation.DSMT4">
                  <p:embed/>
                </p:oleObj>
              </mc:Choice>
              <mc:Fallback>
                <p:oleObj r:id="rId5" imgW="786765" imgH="431800" progId="Equation.DSMT4">
                  <p:embed/>
                  <p:pic>
                    <p:nvPicPr>
                      <p:cNvPr id="1027075" name="对象 102707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78450" y="2997200"/>
                        <a:ext cx="1825625" cy="998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6" name="文本框 1027075"/>
          <p:cNvSpPr txBox="1"/>
          <p:nvPr/>
        </p:nvSpPr>
        <p:spPr>
          <a:xfrm>
            <a:off x="4038600" y="533400"/>
            <a:ext cx="4878388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当两容器接触时经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时间从</a:t>
            </a:r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低温气体向高温气体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传递了热量：</a:t>
            </a:r>
          </a:p>
        </p:txBody>
      </p:sp>
      <p:sp>
        <p:nvSpPr>
          <p:cNvPr id="1027077" name="文本框 1027076"/>
          <p:cNvSpPr txBox="1"/>
          <p:nvPr/>
        </p:nvSpPr>
        <p:spPr>
          <a:xfrm>
            <a:off x="4140200" y="1916113"/>
            <a:ext cx="115252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熵变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</a:p>
        </p:txBody>
      </p:sp>
      <p:graphicFrame>
        <p:nvGraphicFramePr>
          <p:cNvPr id="1027078" name="对象 1027077"/>
          <p:cNvGraphicFramePr/>
          <p:nvPr/>
        </p:nvGraphicFramePr>
        <p:xfrm>
          <a:off x="2124075" y="4292600"/>
          <a:ext cx="45688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6" r:id="rId7" imgW="2018665" imgH="431800" progId="Equation.DSMT4">
                  <p:embed/>
                </p:oleObj>
              </mc:Choice>
              <mc:Fallback>
                <p:oleObj r:id="rId7" imgW="2018665" imgH="431800" progId="Equation.DSMT4">
                  <p:embed/>
                  <p:pic>
                    <p:nvPicPr>
                      <p:cNvPr id="1027078" name="对象 102707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24075" y="4292600"/>
                        <a:ext cx="4568825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9" name="文本框 1027078"/>
          <p:cNvSpPr txBox="1"/>
          <p:nvPr/>
        </p:nvSpPr>
        <p:spPr>
          <a:xfrm>
            <a:off x="712788" y="2455863"/>
            <a:ext cx="1905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系统熵变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3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080" name="文本框 1027079"/>
          <p:cNvSpPr txBox="1"/>
          <p:nvPr/>
        </p:nvSpPr>
        <p:spPr>
          <a:xfrm>
            <a:off x="323850" y="5373688"/>
            <a:ext cx="85344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不符合熵增加原理，故不能实现。热量只能自动地从高温传到低温物体。</a:t>
            </a:r>
          </a:p>
        </p:txBody>
      </p:sp>
      <p:sp>
        <p:nvSpPr>
          <p:cNvPr id="1027188" name="文本框 1027187"/>
          <p:cNvSpPr txBox="1"/>
          <p:nvPr/>
        </p:nvSpPr>
        <p:spPr>
          <a:xfrm>
            <a:off x="7092950" y="4508500"/>
            <a:ext cx="1819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&gt;T</a:t>
            </a:r>
            <a:r>
              <a:rPr lang="en-US" altLang="zh-CN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grpSp>
        <p:nvGrpSpPr>
          <p:cNvPr id="1027202" name="组合 1027201"/>
          <p:cNvGrpSpPr/>
          <p:nvPr/>
        </p:nvGrpSpPr>
        <p:grpSpPr>
          <a:xfrm>
            <a:off x="173038" y="296863"/>
            <a:ext cx="4038600" cy="3276600"/>
            <a:chOff x="-1272" y="1480"/>
            <a:chExt cx="2544" cy="2064"/>
          </a:xfrm>
        </p:grpSpPr>
        <p:sp>
          <p:nvSpPr>
            <p:cNvPr id="1027203" name="矩形 1027202"/>
            <p:cNvSpPr/>
            <p:nvPr/>
          </p:nvSpPr>
          <p:spPr>
            <a:xfrm>
              <a:off x="-1272" y="1480"/>
              <a:ext cx="2239" cy="206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7204" name="组合 1027203"/>
            <p:cNvGrpSpPr/>
            <p:nvPr/>
          </p:nvGrpSpPr>
          <p:grpSpPr>
            <a:xfrm>
              <a:off x="-1119" y="1709"/>
              <a:ext cx="1933" cy="1204"/>
              <a:chOff x="480" y="1056"/>
              <a:chExt cx="1824" cy="1008"/>
            </a:xfrm>
          </p:grpSpPr>
          <p:sp>
            <p:nvSpPr>
              <p:cNvPr id="1027205" name="棱台 1027204"/>
              <p:cNvSpPr/>
              <p:nvPr/>
            </p:nvSpPr>
            <p:spPr>
              <a:xfrm>
                <a:off x="480" y="1056"/>
                <a:ext cx="1824" cy="1008"/>
              </a:xfrm>
              <a:prstGeom prst="bevel">
                <a:avLst>
                  <a:gd name="adj" fmla="val 9722"/>
                </a:avLst>
              </a:prstGeom>
              <a:solidFill>
                <a:srgbClr val="996633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206" name="矩形 1027205"/>
              <p:cNvSpPr/>
              <p:nvPr/>
            </p:nvSpPr>
            <p:spPr>
              <a:xfrm>
                <a:off x="576" y="1152"/>
                <a:ext cx="1632" cy="81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7207" name="矩形 1027206"/>
            <p:cNvSpPr/>
            <p:nvPr/>
          </p:nvSpPr>
          <p:spPr>
            <a:xfrm>
              <a:off x="-865" y="1939"/>
              <a:ext cx="865" cy="745"/>
            </a:xfrm>
            <a:prstGeom prst="rect">
              <a:avLst/>
            </a:prstGeom>
            <a:solidFill>
              <a:srgbClr val="FFE1FF"/>
            </a:solidFill>
            <a:ln w="9525" cap="flat" cmpd="sng">
              <a:solidFill>
                <a:srgbClr val="CC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208" name="矩形 1027207"/>
            <p:cNvSpPr/>
            <p:nvPr/>
          </p:nvSpPr>
          <p:spPr>
            <a:xfrm>
              <a:off x="0" y="1939"/>
              <a:ext cx="509" cy="745"/>
            </a:xfrm>
            <a:prstGeom prst="rect">
              <a:avLst/>
            </a:prstGeom>
            <a:solidFill>
              <a:srgbClr val="D4EBF8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7209" name="对象 1027208"/>
            <p:cNvGraphicFramePr/>
            <p:nvPr/>
          </p:nvGraphicFramePr>
          <p:xfrm>
            <a:off x="-649" y="2290"/>
            <a:ext cx="215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7" r:id="rId9" imgW="152400" imgH="215900" progId="Equation.3">
                    <p:embed/>
                  </p:oleObj>
                </mc:Choice>
                <mc:Fallback>
                  <p:oleObj r:id="rId9" imgW="152400" imgH="215900" progId="Equation.3">
                    <p:embed/>
                    <p:pic>
                      <p:nvPicPr>
                        <p:cNvPr id="1027209" name="对象 102720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-649" y="2290"/>
                          <a:ext cx="215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210" name="对象 1027209"/>
            <p:cNvGraphicFramePr/>
            <p:nvPr/>
          </p:nvGraphicFramePr>
          <p:xfrm>
            <a:off x="249" y="2296"/>
            <a:ext cx="21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8" r:id="rId11" imgW="165100" imgH="215900" progId="Equation.3">
                    <p:embed/>
                  </p:oleObj>
                </mc:Choice>
                <mc:Fallback>
                  <p:oleObj r:id="rId11" imgW="165100" imgH="215900" progId="Equation.3">
                    <p:embed/>
                    <p:pic>
                      <p:nvPicPr>
                        <p:cNvPr id="1027210" name="对象 102720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9" y="2296"/>
                          <a:ext cx="214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7211" name="组合 1027210"/>
            <p:cNvGrpSpPr/>
            <p:nvPr/>
          </p:nvGrpSpPr>
          <p:grpSpPr>
            <a:xfrm>
              <a:off x="0" y="2856"/>
              <a:ext cx="1272" cy="573"/>
              <a:chOff x="1200" y="2160"/>
              <a:chExt cx="1200" cy="480"/>
            </a:xfrm>
          </p:grpSpPr>
          <p:sp>
            <p:nvSpPr>
              <p:cNvPr id="1027212" name="任意多边形 1027211"/>
              <p:cNvSpPr/>
              <p:nvPr/>
            </p:nvSpPr>
            <p:spPr>
              <a:xfrm>
                <a:off x="1200" y="2160"/>
                <a:ext cx="816" cy="480"/>
              </a:xfrm>
              <a:custGeom>
                <a:avLst/>
                <a:gdLst/>
                <a:ahLst/>
                <a:cxnLst/>
                <a:rect l="0" t="0" r="0" b="0"/>
                <a:pathLst>
                  <a:path w="816" h="480">
                    <a:moveTo>
                      <a:pt x="0" y="144"/>
                    </a:moveTo>
                    <a:lnTo>
                      <a:pt x="0" y="480"/>
                    </a:lnTo>
                    <a:lnTo>
                      <a:pt x="816" y="480"/>
                    </a:lnTo>
                    <a:lnTo>
                      <a:pt x="816" y="144"/>
                    </a:lnTo>
                    <a:lnTo>
                      <a:pt x="288" y="144"/>
                    </a:lnTo>
                    <a:lnTo>
                      <a:pt x="96" y="0"/>
                    </a:lnTo>
                    <a:lnTo>
                      <a:pt x="144" y="144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213" name="文本框 1027212"/>
              <p:cNvSpPr txBox="1"/>
              <p:nvPr/>
            </p:nvSpPr>
            <p:spPr>
              <a:xfrm>
                <a:off x="1200" y="2308"/>
                <a:ext cx="1200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zh-CN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绝热壁</a:t>
                </a:r>
              </a:p>
            </p:txBody>
          </p:sp>
        </p:grpSp>
        <p:graphicFrame>
          <p:nvGraphicFramePr>
            <p:cNvPr id="1027214" name="对象 1027213"/>
            <p:cNvGraphicFramePr/>
            <p:nvPr/>
          </p:nvGraphicFramePr>
          <p:xfrm>
            <a:off x="-853" y="3038"/>
            <a:ext cx="55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9" r:id="rId13" imgW="431165" imgH="215900" progId="Equation.3">
                    <p:embed/>
                  </p:oleObj>
                </mc:Choice>
                <mc:Fallback>
                  <p:oleObj r:id="rId13" imgW="431165" imgH="215900" progId="Equation.3">
                    <p:embed/>
                    <p:pic>
                      <p:nvPicPr>
                        <p:cNvPr id="1027214" name="对象 102721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-853" y="3038"/>
                          <a:ext cx="558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7185" name="组合 1027184"/>
          <p:cNvGrpSpPr/>
          <p:nvPr/>
        </p:nvGrpSpPr>
        <p:grpSpPr>
          <a:xfrm>
            <a:off x="1504950" y="1228725"/>
            <a:ext cx="1066800" cy="723900"/>
            <a:chOff x="720" y="1632"/>
            <a:chExt cx="672" cy="456"/>
          </a:xfrm>
        </p:grpSpPr>
        <p:sp>
          <p:nvSpPr>
            <p:cNvPr id="1027186" name="文本框 1027185"/>
            <p:cNvSpPr txBox="1"/>
            <p:nvPr/>
          </p:nvSpPr>
          <p:spPr>
            <a:xfrm>
              <a:off x="912" y="1723"/>
              <a:ext cx="44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3200" i="1" err="1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d</a:t>
              </a:r>
              <a:r>
                <a:rPr lang="en-US" altLang="zh-CN" sz="320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187" name="直接连接符 1027186"/>
            <p:cNvSpPr/>
            <p:nvPr/>
          </p:nvSpPr>
          <p:spPr>
            <a:xfrm flipH="1">
              <a:off x="720" y="1632"/>
              <a:ext cx="672" cy="0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399337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2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2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2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2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2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2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076" grpId="0"/>
      <p:bldP spid="1027077" grpId="0"/>
      <p:bldP spid="1027079" grpId="0"/>
      <p:bldP spid="1027080" grpId="0"/>
      <p:bldP spid="102718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90" name="Text Box 6"/>
          <p:cNvSpPr txBox="1"/>
          <p:nvPr/>
        </p:nvSpPr>
        <p:spPr>
          <a:xfrm>
            <a:off x="323850" y="2205038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解：</a:t>
            </a:r>
          </a:p>
        </p:txBody>
      </p:sp>
      <p:graphicFrame>
        <p:nvGraphicFramePr>
          <p:cNvPr id="93191" name="Object 2"/>
          <p:cNvGraphicFramePr/>
          <p:nvPr/>
        </p:nvGraphicFramePr>
        <p:xfrm>
          <a:off x="1330325" y="3036888"/>
          <a:ext cx="1968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3" r:id="rId3" imgW="1968500" imgH="965200" progId="Equation.3">
                  <p:embed/>
                </p:oleObj>
              </mc:Choice>
              <mc:Fallback>
                <p:oleObj r:id="rId3" imgW="1968500" imgH="965200" progId="Equation.3">
                  <p:embed/>
                  <p:pic>
                    <p:nvPicPr>
                      <p:cNvPr id="93191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0325" y="3036888"/>
                        <a:ext cx="19685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2" name="Object 3"/>
          <p:cNvGraphicFramePr/>
          <p:nvPr/>
        </p:nvGraphicFramePr>
        <p:xfrm>
          <a:off x="1323975" y="2381250"/>
          <a:ext cx="59324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4" r:id="rId5" imgW="5925820" imgH="405765" progId="Equation.3">
                  <p:embed/>
                </p:oleObj>
              </mc:Choice>
              <mc:Fallback>
                <p:oleObj r:id="rId5" imgW="5925820" imgH="405765" progId="Equation.3">
                  <p:embed/>
                  <p:pic>
                    <p:nvPicPr>
                      <p:cNvPr id="93192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23975" y="2381250"/>
                        <a:ext cx="5932488" cy="40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3" name="Object 4"/>
          <p:cNvGraphicFramePr/>
          <p:nvPr/>
        </p:nvGraphicFramePr>
        <p:xfrm>
          <a:off x="3387725" y="2967038"/>
          <a:ext cx="3771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5" r:id="rId7" imgW="3771900" imgH="1016000" progId="Equation.3">
                  <p:embed/>
                </p:oleObj>
              </mc:Choice>
              <mc:Fallback>
                <p:oleObj r:id="rId7" imgW="3771900" imgH="1016000" progId="Equation.3">
                  <p:embed/>
                  <p:pic>
                    <p:nvPicPr>
                      <p:cNvPr id="93193" name="Object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87725" y="2967038"/>
                        <a:ext cx="37719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5"/>
          <p:cNvGraphicFramePr/>
          <p:nvPr/>
        </p:nvGraphicFramePr>
        <p:xfrm>
          <a:off x="1724025" y="4414838"/>
          <a:ext cx="2349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6" r:id="rId9" imgW="2348230" imgH="482600" progId="Equation.3">
                  <p:embed/>
                </p:oleObj>
              </mc:Choice>
              <mc:Fallback>
                <p:oleObj r:id="rId9" imgW="2348230" imgH="482600" progId="Equation.3">
                  <p:embed/>
                  <p:pic>
                    <p:nvPicPr>
                      <p:cNvPr id="93194" name="Object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24025" y="4414838"/>
                        <a:ext cx="23495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5" name="Text Box 11"/>
          <p:cNvSpPr txBox="1"/>
          <p:nvPr/>
        </p:nvSpPr>
        <p:spPr>
          <a:xfrm>
            <a:off x="476250" y="5329238"/>
            <a:ext cx="8093075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此计算值大于热水瓶胆的两壁间距，所以氮气分子的平均自由程为 </a:t>
            </a:r>
            <a:r>
              <a:rPr lang="en-US" altLang="zh-CN" dirty="0">
                <a:latin typeface="Times New Roman" panose="02020603050405020304" pitchFamily="18" charset="0"/>
              </a:rPr>
              <a:t>0.4 cm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24583" name="Group 23"/>
          <p:cNvGrpSpPr/>
          <p:nvPr/>
        </p:nvGrpSpPr>
        <p:grpSpPr>
          <a:xfrm>
            <a:off x="322263" y="333375"/>
            <a:ext cx="8497887" cy="1384300"/>
            <a:chOff x="158" y="210"/>
            <a:chExt cx="5353" cy="872"/>
          </a:xfrm>
        </p:grpSpPr>
        <p:sp>
          <p:nvSpPr>
            <p:cNvPr id="24584" name="Text Box 3"/>
            <p:cNvSpPr txBox="1"/>
            <p:nvPr/>
          </p:nvSpPr>
          <p:spPr>
            <a:xfrm>
              <a:off x="158" y="210"/>
              <a:ext cx="5353" cy="872"/>
            </a:xfrm>
            <a:prstGeom prst="rect">
              <a:avLst/>
            </a:prstGeom>
            <a:solidFill>
              <a:srgbClr val="99CCFF"/>
            </a:solidFill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2. </a:t>
              </a:r>
              <a:r>
                <a:rPr lang="zh-CN" altLang="en-US" dirty="0">
                  <a:latin typeface="Times New Roman" panose="02020603050405020304" pitchFamily="18" charset="0"/>
                </a:rPr>
                <a:t>热水瓶胆的两壁间距 </a:t>
              </a:r>
              <a:r>
                <a:rPr lang="zh-CN" altLang="zh-CN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i="1" dirty="0">
                  <a:latin typeface="Times New Roman" panose="02020603050405020304" pitchFamily="18" charset="0"/>
                </a:rPr>
                <a:t> </a:t>
              </a:r>
              <a:r>
                <a:rPr lang="zh-CN" altLang="zh-CN" dirty="0">
                  <a:latin typeface="Times New Roman" panose="02020603050405020304" pitchFamily="18" charset="0"/>
                </a:rPr>
                <a:t>=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zh-CN" dirty="0">
                  <a:latin typeface="Times New Roman" panose="02020603050405020304" pitchFamily="18" charset="0"/>
                </a:rPr>
                <a:t>0.4cm</a:t>
              </a:r>
              <a:r>
                <a:rPr lang="zh-CN" altLang="en-US" dirty="0">
                  <a:latin typeface="Times New Roman" panose="02020603050405020304" pitchFamily="18" charset="0"/>
                </a:rPr>
                <a:t>，其间充满 </a:t>
              </a:r>
              <a:r>
                <a:rPr lang="en-US" altLang="zh-CN" i="1" dirty="0">
                  <a:latin typeface="Times New Roman" panose="02020603050405020304" pitchFamily="18" charset="0"/>
                </a:rPr>
                <a:t>t </a:t>
              </a:r>
              <a:r>
                <a:rPr lang="en-US" altLang="zh-CN" dirty="0">
                  <a:latin typeface="Times New Roman" panose="02020603050405020304" pitchFamily="18" charset="0"/>
                </a:rPr>
                <a:t>= 27    ,  </a:t>
              </a:r>
              <a:r>
                <a:rPr lang="en-US" altLang="zh-CN" i="1" dirty="0">
                  <a:latin typeface="Times New Roman" panose="02020603050405020304" pitchFamily="18" charset="0"/>
                </a:rPr>
                <a:t>p </a:t>
              </a:r>
              <a:r>
                <a:rPr lang="en-US" altLang="zh-CN" dirty="0">
                  <a:latin typeface="Times New Roman" panose="02020603050405020304" pitchFamily="18" charset="0"/>
                </a:rPr>
                <a:t>= 1 Pa </a:t>
              </a:r>
              <a:r>
                <a:rPr lang="zh-CN" altLang="en-US" dirty="0">
                  <a:latin typeface="Times New Roman" panose="02020603050405020304" pitchFamily="18" charset="0"/>
                </a:rPr>
                <a:t>的 </a:t>
              </a:r>
              <a:r>
                <a:rPr lang="en-US" altLang="zh-CN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 </a:t>
              </a:r>
              <a:r>
                <a:rPr lang="zh-CN" altLang="en-US" dirty="0">
                  <a:latin typeface="Times New Roman" panose="02020603050405020304" pitchFamily="18" charset="0"/>
                </a:rPr>
                <a:t>分子的有效直径                           ，</a:t>
              </a:r>
            </a:p>
            <a:p>
              <a:r>
                <a:rPr lang="zh-CN" altLang="en-US" dirty="0">
                  <a:latin typeface="Times New Roman" panose="02020603050405020304" pitchFamily="18" charset="0"/>
                </a:rPr>
                <a:t>问氮气分子的平均自由程是多少？</a:t>
              </a:r>
            </a:p>
          </p:txBody>
        </p:sp>
        <p:graphicFrame>
          <p:nvGraphicFramePr>
            <p:cNvPr id="24585" name="Object 6"/>
            <p:cNvGraphicFramePr/>
            <p:nvPr/>
          </p:nvGraphicFramePr>
          <p:xfrm>
            <a:off x="5125" y="258"/>
            <a:ext cx="22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37" r:id="rId11" imgW="431165" imgH="405765" progId="Equation.DSMT4">
                    <p:embed/>
                  </p:oleObj>
                </mc:Choice>
                <mc:Fallback>
                  <p:oleObj r:id="rId11" imgW="431165" imgH="405765" progId="Equation.DSMT4">
                    <p:embed/>
                    <p:pic>
                      <p:nvPicPr>
                        <p:cNvPr id="24585" name="Object 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125" y="258"/>
                          <a:ext cx="227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6" name="AutoShape 12"/>
            <p:cNvSpPr>
              <a:spLocks noChangeAspect="1" noTextEdit="1"/>
            </p:cNvSpPr>
            <p:nvPr/>
          </p:nvSpPr>
          <p:spPr>
            <a:xfrm>
              <a:off x="3642" y="511"/>
              <a:ext cx="139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4587" name="Rectangle 14"/>
            <p:cNvSpPr/>
            <p:nvPr/>
          </p:nvSpPr>
          <p:spPr>
            <a:xfrm>
              <a:off x="4878" y="527"/>
              <a:ext cx="180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88" name="Rectangle 15"/>
            <p:cNvSpPr/>
            <p:nvPr/>
          </p:nvSpPr>
          <p:spPr>
            <a:xfrm>
              <a:off x="4465" y="527"/>
              <a:ext cx="216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89" name="Rectangle 16"/>
            <p:cNvSpPr/>
            <p:nvPr/>
          </p:nvSpPr>
          <p:spPr>
            <a:xfrm>
              <a:off x="4183" y="527"/>
              <a:ext cx="108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0" name="Rectangle 17"/>
            <p:cNvSpPr/>
            <p:nvPr/>
          </p:nvSpPr>
          <p:spPr>
            <a:xfrm>
              <a:off x="4127" y="527"/>
              <a:ext cx="5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1" name="Rectangle 18"/>
            <p:cNvSpPr/>
            <p:nvPr/>
          </p:nvSpPr>
          <p:spPr>
            <a:xfrm>
              <a:off x="4015" y="527"/>
              <a:ext cx="108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2" name="Rectangle 19"/>
            <p:cNvSpPr/>
            <p:nvPr/>
          </p:nvSpPr>
          <p:spPr>
            <a:xfrm>
              <a:off x="4689" y="514"/>
              <a:ext cx="173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-10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3" name="Rectangle 20"/>
            <p:cNvSpPr/>
            <p:nvPr/>
          </p:nvSpPr>
          <p:spPr>
            <a:xfrm>
              <a:off x="4320" y="502"/>
              <a:ext cx="119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</a:t>
              </a:r>
              <a:endParaRPr lang="en-US" altLang="zh-CN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4594" name="Rectangle 21"/>
            <p:cNvSpPr/>
            <p:nvPr/>
          </p:nvSpPr>
          <p:spPr>
            <a:xfrm>
              <a:off x="3834" y="502"/>
              <a:ext cx="119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5" name="Rectangle 22"/>
            <p:cNvSpPr/>
            <p:nvPr/>
          </p:nvSpPr>
          <p:spPr>
            <a:xfrm>
              <a:off x="3717" y="527"/>
              <a:ext cx="108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596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35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95056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0" grpId="0"/>
      <p:bldP spid="93195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2022</Words>
  <Application>Microsoft Office PowerPoint</Application>
  <PresentationFormat>全屏显示(4:3)</PresentationFormat>
  <Paragraphs>323</Paragraphs>
  <Slides>35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35</vt:i4>
      </vt:variant>
    </vt:vector>
  </HeadingPairs>
  <TitlesOfParts>
    <vt:vector size="50" baseType="lpstr">
      <vt:lpstr>仿宋_GB2312</vt:lpstr>
      <vt:lpstr>黑体</vt:lpstr>
      <vt:lpstr>楷体_GB2312</vt:lpstr>
      <vt:lpstr>隶书</vt:lpstr>
      <vt:lpstr>宋体</vt:lpstr>
      <vt:lpstr>幼圆</vt:lpstr>
      <vt:lpstr>Arial</vt:lpstr>
      <vt:lpstr>Symbol</vt:lpstr>
      <vt:lpstr>Times New Roman</vt:lpstr>
      <vt:lpstr>Wingdings</vt:lpstr>
      <vt:lpstr>默认设计模板</vt:lpstr>
      <vt:lpstr>Microsoft Equation 3.0</vt:lpstr>
      <vt:lpstr>MathType 6.0 Equation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郑少波</dc:creator>
  <cp:lastModifiedBy>Administrator</cp:lastModifiedBy>
  <cp:revision>472</cp:revision>
  <dcterms:created xsi:type="dcterms:W3CDTF">2020-11-24T10:24:00Z</dcterms:created>
  <dcterms:modified xsi:type="dcterms:W3CDTF">2024-11-14T00:16:25Z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2052-11.1.0.11045</vt:lpwstr>
  </property>
  <property fmtid="{D5CDD505-2E9C-101B-9397-08002B2CF9AE}" pid="3" name="ICV">
    <vt:lpwstr>83D2898817A64578B35ACBD4FF5322B2</vt:lpwstr>
  </property>
</Properties>
</file>