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513" r:id="rId2"/>
    <p:sldId id="506" r:id="rId3"/>
    <p:sldId id="518" r:id="rId4"/>
    <p:sldId id="505" r:id="rId5"/>
    <p:sldId id="525" r:id="rId6"/>
    <p:sldId id="515" r:id="rId7"/>
    <p:sldId id="514" r:id="rId8"/>
    <p:sldId id="523" r:id="rId9"/>
    <p:sldId id="442" r:id="rId10"/>
    <p:sldId id="519" r:id="rId11"/>
    <p:sldId id="520" r:id="rId12"/>
    <p:sldId id="517" r:id="rId13"/>
    <p:sldId id="521" r:id="rId14"/>
  </p:sldIdLst>
  <p:sldSz cx="9144000" cy="6858000" type="screen4x3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CCFFFF"/>
    <a:srgbClr val="FF00FF"/>
    <a:srgbClr val="0000FF"/>
    <a:srgbClr val="FF6600"/>
    <a:srgbClr val="FFFFFF"/>
    <a:srgbClr val="FFCCFF"/>
    <a:srgbClr val="FF0000"/>
    <a:srgbClr val="CCECFF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158" y="102"/>
      </p:cViewPr>
      <p:guideLst>
        <p:guide orient="horz" pos="225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98C1-BC89-485C-9D6D-3B17D843DA86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8BD86-A477-4A20-9DFC-3F83B679CE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58470-82AF-4E90-8194-BA56FA67F71A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C1E09-C633-4E35-BACD-D90F808EC58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2576-3833-4BF7-8657-34A3FECA4EEF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1D8E-CE44-4681-B145-17922DCE89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2576-3833-4BF7-8657-34A3FECA4EEF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1D8E-CE44-4681-B145-17922DCE89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2576-3833-4BF7-8657-34A3FECA4EEF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1D8E-CE44-4681-B145-17922DCE89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2576-3833-4BF7-8657-34A3FECA4EEF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1D8E-CE44-4681-B145-17922DCE89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2576-3833-4BF7-8657-34A3FECA4EEF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1D8E-CE44-4681-B145-17922DCE89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2576-3833-4BF7-8657-34A3FECA4EEF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1D8E-CE44-4681-B145-17922DCE89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2576-3833-4BF7-8657-34A3FECA4EEF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1D8E-CE44-4681-B145-17922DCE89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2576-3833-4BF7-8657-34A3FECA4EEF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1D8E-CE44-4681-B145-17922DCE89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2576-3833-4BF7-8657-34A3FECA4EEF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1D8E-CE44-4681-B145-17922DCE89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2576-3833-4BF7-8657-34A3FECA4EEF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1D8E-CE44-4681-B145-17922DCE89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2576-3833-4BF7-8657-34A3FECA4EEF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1D8E-CE44-4681-B145-17922DCE89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52576-3833-4BF7-8657-34A3FECA4EEF}" type="datetimeFigureOut">
              <a:rPr lang="zh-CN" altLang="en-US" smtClean="0"/>
              <a:t>2024.11.23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21D8E-CE44-4681-B145-17922DCE89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jpeg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1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3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827584" y="1386389"/>
            <a:ext cx="71791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J.J.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汤姆逊原子模型</a:t>
            </a:r>
          </a:p>
        </p:txBody>
      </p:sp>
      <p:sp>
        <p:nvSpPr>
          <p:cNvPr id="13" name="Rectangle 22"/>
          <p:cNvSpPr>
            <a:spLocks noChangeArrowheads="1"/>
          </p:cNvSpPr>
          <p:nvPr/>
        </p:nvSpPr>
        <p:spPr bwMode="auto">
          <a:xfrm>
            <a:off x="827583" y="2202525"/>
            <a:ext cx="7179168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卢瑟福原子模型</a:t>
            </a:r>
          </a:p>
        </p:txBody>
      </p:sp>
      <p:cxnSp>
        <p:nvCxnSpPr>
          <p:cNvPr id="15" name="直接连接符 10"/>
          <p:cNvCxnSpPr>
            <a:cxnSpLocks noChangeShapeType="1"/>
          </p:cNvCxnSpPr>
          <p:nvPr/>
        </p:nvCxnSpPr>
        <p:spPr bwMode="auto">
          <a:xfrm>
            <a:off x="457607" y="969197"/>
            <a:ext cx="8405813" cy="0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827583" y="3035013"/>
            <a:ext cx="7272809" cy="576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这些原子中电子如何分布？</a:t>
            </a:r>
          </a:p>
        </p:txBody>
      </p:sp>
      <p:sp>
        <p:nvSpPr>
          <p:cNvPr id="119" name="Text Box 85"/>
          <p:cNvSpPr txBox="1">
            <a:spLocks noChangeArrowheads="1"/>
          </p:cNvSpPr>
          <p:nvPr/>
        </p:nvSpPr>
        <p:spPr bwMode="auto">
          <a:xfrm>
            <a:off x="747142" y="244405"/>
            <a:ext cx="649893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15-12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原子的壳层结构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0"/>
          <p:cNvCxnSpPr>
            <a:cxnSpLocks noChangeShapeType="1"/>
          </p:cNvCxnSpPr>
          <p:nvPr/>
        </p:nvCxnSpPr>
        <p:spPr bwMode="auto">
          <a:xfrm>
            <a:off x="467544" y="1052736"/>
            <a:ext cx="8405813" cy="0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文本框 2"/>
          <p:cNvSpPr txBox="1"/>
          <p:nvPr/>
        </p:nvSpPr>
        <p:spPr>
          <a:xfrm>
            <a:off x="438284" y="332656"/>
            <a:ext cx="550186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一、原子的电子壳层结构</a:t>
            </a:r>
          </a:p>
        </p:txBody>
      </p:sp>
      <p:sp>
        <p:nvSpPr>
          <p:cNvPr id="31" name="Text Box 9"/>
          <p:cNvSpPr txBox="1">
            <a:spLocks noChangeArrowheads="1"/>
          </p:cNvSpPr>
          <p:nvPr/>
        </p:nvSpPr>
        <p:spPr bwMode="auto">
          <a:xfrm>
            <a:off x="680145" y="1309741"/>
            <a:ext cx="73004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电子以四个量子数为标志的可能状态数分布如下：</a:t>
            </a:r>
          </a:p>
        </p:txBody>
      </p:sp>
      <p:sp>
        <p:nvSpPr>
          <p:cNvPr id="32" name="Rectangle 10"/>
          <p:cNvSpPr>
            <a:spLocks noChangeArrowheads="1"/>
          </p:cNvSpPr>
          <p:nvPr/>
        </p:nvSpPr>
        <p:spPr bwMode="auto">
          <a:xfrm>
            <a:off x="909556" y="2028410"/>
            <a:ext cx="777240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①   </a:t>
            </a:r>
            <a:r>
              <a:rPr lang="en-US" altLang="zh-CN" b="1" i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b="1" i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l </a:t>
            </a:r>
            <a:r>
              <a:rPr lang="en-US" altLang="zh-CN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b="1" i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m</a:t>
            </a:r>
            <a:r>
              <a:rPr lang="en-US" altLang="zh-CN" b="1" i="1" baseline="-25000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l</a:t>
            </a:r>
            <a:r>
              <a:rPr lang="en-US" altLang="zh-CN" b="1" i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相同，但 </a:t>
            </a:r>
            <a:r>
              <a:rPr lang="en-US" altLang="zh-CN" b="1" i="1" dirty="0" err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不同的可能状态有两个。            </a:t>
            </a:r>
          </a:p>
        </p:txBody>
      </p:sp>
      <p:sp>
        <p:nvSpPr>
          <p:cNvPr id="33" name="Rectangle 11"/>
          <p:cNvSpPr>
            <a:spLocks noChangeArrowheads="1"/>
          </p:cNvSpPr>
          <p:nvPr/>
        </p:nvSpPr>
        <p:spPr bwMode="auto">
          <a:xfrm>
            <a:off x="807712" y="2747079"/>
            <a:ext cx="8285286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②   </a:t>
            </a:r>
            <a:r>
              <a:rPr lang="en-US" altLang="zh-CN" b="1" i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l </a:t>
            </a:r>
            <a:r>
              <a:rPr lang="zh-CN" altLang="en-US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相同，但 </a:t>
            </a:r>
            <a:r>
              <a:rPr lang="zh-CN" altLang="en-US" b="1" i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b="1" i="1" baseline="-25000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l</a:t>
            </a:r>
            <a:r>
              <a:rPr lang="en-US" altLang="zh-CN" b="1" i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b="1" i="1" dirty="0" err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不同的可能状态有 </a:t>
            </a:r>
            <a:r>
              <a:rPr lang="en-US" altLang="zh-CN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2( 2</a:t>
            </a:r>
            <a:r>
              <a:rPr lang="en-US" altLang="zh-CN" b="1" i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l </a:t>
            </a:r>
            <a:r>
              <a:rPr lang="en-US" altLang="zh-CN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+1)</a:t>
            </a:r>
            <a:r>
              <a:rPr lang="zh-CN" altLang="en-US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个，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        组成一个</a:t>
            </a:r>
            <a:r>
              <a:rPr lang="zh-CN" altLang="en-US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次壳层</a:t>
            </a:r>
            <a:r>
              <a:rPr lang="zh-CN" altLang="en-US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807712" y="4120811"/>
            <a:ext cx="788828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③   </a:t>
            </a:r>
            <a:r>
              <a:rPr lang="en-US" altLang="zh-CN" b="1" i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n </a:t>
            </a:r>
            <a:r>
              <a:rPr lang="zh-CN" altLang="en-US" b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相同 ，但 </a:t>
            </a:r>
            <a:r>
              <a:rPr lang="en-US" altLang="zh-CN" b="1" i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l </a:t>
            </a:r>
            <a:r>
              <a:rPr lang="en-US" altLang="zh-CN" b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b="1" i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b="1" i="1" baseline="-2500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l</a:t>
            </a:r>
            <a:r>
              <a:rPr lang="en-US" altLang="zh-CN" b="1" i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b="1" i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b="1" baseline="-2500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不同的状态有      </a:t>
            </a:r>
          </a:p>
        </p:txBody>
      </p:sp>
      <p:sp>
        <p:nvSpPr>
          <p:cNvPr id="37" name="Text Box 15"/>
          <p:cNvSpPr txBox="1">
            <a:spLocks noChangeArrowheads="1"/>
          </p:cNvSpPr>
          <p:nvPr/>
        </p:nvSpPr>
        <p:spPr bwMode="auto">
          <a:xfrm>
            <a:off x="1403648" y="4775348"/>
            <a:ext cx="3711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组成一个</a:t>
            </a:r>
            <a:r>
              <a:rPr lang="zh-CN" altLang="en-US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壳层</a:t>
            </a:r>
            <a:r>
              <a:rPr lang="zh-CN" altLang="en-US" b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12" name="Group 13"/>
          <p:cNvGrpSpPr/>
          <p:nvPr/>
        </p:nvGrpSpPr>
        <p:grpSpPr bwMode="auto">
          <a:xfrm>
            <a:off x="6680570" y="4179800"/>
            <a:ext cx="1165225" cy="461963"/>
            <a:chOff x="1866" y="3590"/>
            <a:chExt cx="734" cy="291"/>
          </a:xfrm>
        </p:grpSpPr>
        <p:graphicFrame>
          <p:nvGraphicFramePr>
            <p:cNvPr id="13" name="Object 14"/>
            <p:cNvGraphicFramePr>
              <a:graphicFrameLocks noChangeAspect="1"/>
            </p:cNvGraphicFramePr>
            <p:nvPr/>
          </p:nvGraphicFramePr>
          <p:xfrm>
            <a:off x="1866" y="3593"/>
            <a:ext cx="31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3" name="Equation" r:id="rId3" imgW="6096000" imgH="4876800" progId="Equation.DSMT4">
                    <p:embed/>
                  </p:oleObj>
                </mc:Choice>
                <mc:Fallback>
                  <p:oleObj name="Equation" r:id="rId3" imgW="6096000" imgH="4876800" progId="Equation.DSMT4">
                    <p:embed/>
                    <p:pic>
                      <p:nvPicPr>
                        <p:cNvPr id="0" name="Picture 2" descr="image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6" y="3593"/>
                          <a:ext cx="316" cy="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2159" y="3590"/>
              <a:ext cx="4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rgbClr val="002060"/>
                  </a:solidFill>
                  <a:ea typeface="+mn-ea"/>
                  <a:cs typeface="Times New Roman" panose="02020603050405020304" pitchFamily="18" charset="0"/>
                </a:rPr>
                <a:t>个，</a:t>
              </a:r>
            </a:p>
          </p:txBody>
        </p:sp>
      </p:grp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2619293" y="5661248"/>
          <a:ext cx="217646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Equation" r:id="rId5" imgW="26517600" imgH="10363200" progId="Equation.DSMT4">
                  <p:embed/>
                </p:oleObj>
              </mc:Choice>
              <mc:Fallback>
                <p:oleObj name="Equation" r:id="rId5" imgW="26517600" imgH="10363200" progId="Equation.DSMT4">
                  <p:embed/>
                  <p:pic>
                    <p:nvPicPr>
                      <p:cNvPr id="0" name="Picture 1" descr="image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293" y="5661248"/>
                        <a:ext cx="2176463" cy="841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utoUpdateAnimBg="0"/>
      <p:bldP spid="32" grpId="0" autoUpdateAnimBg="0"/>
      <p:bldP spid="33" grpId="0" autoUpdateAnimBg="0"/>
      <p:bldP spid="34" grpId="0" autoUpdateAnimBg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576" y="330511"/>
            <a:ext cx="17283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kumimoji="1" lang="zh-CN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壳层：</a:t>
            </a:r>
            <a:endParaRPr kumimoji="1" lang="zh-CN" altLang="en-US" sz="28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195736" y="365690"/>
            <a:ext cx="6696744" cy="461665"/>
            <a:chOff x="2195736" y="727875"/>
            <a:chExt cx="6696744" cy="461665"/>
          </a:xfrm>
        </p:grpSpPr>
        <p:sp>
          <p:nvSpPr>
            <p:cNvPr id="3" name="矩形 2"/>
            <p:cNvSpPr/>
            <p:nvPr/>
          </p:nvSpPr>
          <p:spPr>
            <a:xfrm>
              <a:off x="2195736" y="727875"/>
              <a:ext cx="669674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2400" b="1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主量子数</a:t>
              </a:r>
              <a:r>
                <a:rPr lang="en-US" altLang="zh-CN" sz="2400" b="1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                                      </a:t>
              </a:r>
              <a:r>
                <a:rPr lang="zh-CN" altLang="zh-CN" sz="2400" b="1" dirty="0"/>
                <a:t>决定着电子的能量，</a:t>
              </a:r>
              <a:r>
                <a:rPr lang="en-US" altLang="zh-CN" sz="2400" b="1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         </a:t>
              </a:r>
              <a:endParaRPr lang="zh-CN" altLang="en-US" sz="2400" b="1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3621088" y="742950"/>
            <a:ext cx="2405062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3" name="Equation" r:id="rId3" imgW="28346400" imgH="4876800" progId="Equation.DSMT4">
                    <p:embed/>
                  </p:oleObj>
                </mc:Choice>
                <mc:Fallback>
                  <p:oleObj name="Equation" r:id="rId3" imgW="28346400" imgH="4876800" progId="Equation.DSMT4">
                    <p:embed/>
                    <p:pic>
                      <p:nvPicPr>
                        <p:cNvPr id="0" name="Picture 6" descr="image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1088" y="742950"/>
                          <a:ext cx="2405062" cy="423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2214826" y="980728"/>
            <a:ext cx="5237494" cy="480519"/>
            <a:chOff x="2214826" y="1462160"/>
            <a:chExt cx="5237494" cy="480519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/>
          </p:nvGraphicFramePr>
          <p:xfrm>
            <a:off x="3707904" y="1513800"/>
            <a:ext cx="2355895" cy="372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4" name="Equation" r:id="rId5" imgW="29870400" imgH="4572000" progId="Equation.DSMT4">
                    <p:embed/>
                  </p:oleObj>
                </mc:Choice>
                <mc:Fallback>
                  <p:oleObj name="Equation" r:id="rId5" imgW="29870400" imgH="4572000" progId="Equation.DSMT4">
                    <p:embed/>
                    <p:pic>
                      <p:nvPicPr>
                        <p:cNvPr id="0" name="Picture 5" descr="image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904" y="1513800"/>
                          <a:ext cx="2355895" cy="3726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2214826" y="1462160"/>
              <a:ext cx="14157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分别叫做</a:t>
              </a:r>
              <a:endPara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6042946" y="1481014"/>
              <a:ext cx="140937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壳层。</a:t>
              </a:r>
            </a:p>
          </p:txBody>
        </p:sp>
      </p:grpSp>
      <p:sp>
        <p:nvSpPr>
          <p:cNvPr id="15" name="矩形 14"/>
          <p:cNvSpPr/>
          <p:nvPr/>
        </p:nvSpPr>
        <p:spPr>
          <a:xfrm>
            <a:off x="755576" y="1628800"/>
            <a:ext cx="20890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kumimoji="1" lang="zh-CN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次壳层：</a:t>
            </a:r>
            <a:endParaRPr kumimoji="1" lang="zh-CN" altLang="en-US" sz="28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922476" y="1677947"/>
            <a:ext cx="4645583" cy="498977"/>
            <a:chOff x="2922476" y="2255018"/>
            <a:chExt cx="4645583" cy="498977"/>
          </a:xfrm>
        </p:grpSpPr>
        <p:graphicFrame>
          <p:nvGraphicFramePr>
            <p:cNvPr id="17" name="对象 16"/>
            <p:cNvGraphicFramePr>
              <a:graphicFrameLocks noChangeAspect="1"/>
            </p:cNvGraphicFramePr>
            <p:nvPr/>
          </p:nvGraphicFramePr>
          <p:xfrm>
            <a:off x="2922476" y="2308522"/>
            <a:ext cx="2072935" cy="445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5" name="Equation" r:id="rId7" imgW="21945600" imgH="4572000" progId="Equation.DSMT4">
                    <p:embed/>
                  </p:oleObj>
                </mc:Choice>
                <mc:Fallback>
                  <p:oleObj name="Equation" r:id="rId7" imgW="21945600" imgH="4572000" progId="Equation.DSMT4">
                    <p:embed/>
                    <p:pic>
                      <p:nvPicPr>
                        <p:cNvPr id="0" name="Picture 4" descr="image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2476" y="2308522"/>
                          <a:ext cx="2072935" cy="4454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17"/>
            <p:cNvSpPr/>
            <p:nvPr/>
          </p:nvSpPr>
          <p:spPr>
            <a:xfrm>
              <a:off x="4921181" y="2255018"/>
              <a:ext cx="264687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的次壳层分别叫做</a:t>
              </a:r>
              <a:endParaRPr lang="zh-CN" altLang="en-US" sz="2400" b="1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922476" y="2374823"/>
            <a:ext cx="3417019" cy="520254"/>
            <a:chOff x="2819830" y="2950530"/>
            <a:chExt cx="3417019" cy="520254"/>
          </a:xfrm>
        </p:grpSpPr>
        <p:graphicFrame>
          <p:nvGraphicFramePr>
            <p:cNvPr id="21" name="对象 20"/>
            <p:cNvGraphicFramePr>
              <a:graphicFrameLocks noChangeAspect="1"/>
            </p:cNvGraphicFramePr>
            <p:nvPr/>
          </p:nvGraphicFramePr>
          <p:xfrm>
            <a:off x="2819830" y="2950530"/>
            <a:ext cx="2003789" cy="520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6" name="Equation" r:id="rId9" imgW="18897600" imgH="4876800" progId="Equation.DSMT4">
                    <p:embed/>
                  </p:oleObj>
                </mc:Choice>
                <mc:Fallback>
                  <p:oleObj name="Equation" r:id="rId9" imgW="18897600" imgH="4876800" progId="Equation.DSMT4">
                    <p:embed/>
                    <p:pic>
                      <p:nvPicPr>
                        <p:cNvPr id="0" name="Picture 3" descr="image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830" y="2950530"/>
                          <a:ext cx="2003789" cy="5202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矩形 21"/>
            <p:cNvSpPr/>
            <p:nvPr/>
          </p:nvSpPr>
          <p:spPr>
            <a:xfrm>
              <a:off x="4814665" y="2974621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2400" b="1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次壳层</a:t>
              </a:r>
              <a:r>
                <a:rPr lang="zh-CN" altLang="en-US" sz="2400" b="1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。</a:t>
              </a:r>
              <a:endParaRPr lang="zh-CN" altLang="en-US" sz="2400" b="1" dirty="0"/>
            </a:p>
          </p:txBody>
        </p:sp>
      </p:grpSp>
      <p:sp>
        <p:nvSpPr>
          <p:cNvPr id="24" name="矩形 23"/>
          <p:cNvSpPr/>
          <p:nvPr/>
        </p:nvSpPr>
        <p:spPr>
          <a:xfrm>
            <a:off x="1078637" y="3210172"/>
            <a:ext cx="40879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每个次壳层含的状态数：</a:t>
            </a:r>
            <a:r>
              <a:rPr lang="zh-CN" altLang="zh-CN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563888" y="3861048"/>
          <a:ext cx="1182121" cy="440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7" name="Equation" r:id="rId11" imgW="13411200" imgH="4876800" progId="Equation.DSMT4">
                  <p:embed/>
                </p:oleObj>
              </mc:Choice>
              <mc:Fallback>
                <p:oleObj name="Equation" r:id="rId11" imgW="13411200" imgH="4876800" progId="Equation.DSMT4">
                  <p:embed/>
                  <p:pic>
                    <p:nvPicPr>
                      <p:cNvPr id="0" name="Picture 2" descr="image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3861048"/>
                        <a:ext cx="1182121" cy="4403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1097574" y="4543582"/>
            <a:ext cx="3624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每个壳层含的状态数：</a:t>
            </a:r>
            <a:endParaRPr lang="zh-CN" altLang="en-US" sz="24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3275856" y="5114801"/>
          <a:ext cx="1971290" cy="90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8" name="Equation" r:id="rId13" imgW="26517600" imgH="10363200" progId="Equation.DSMT4">
                  <p:embed/>
                </p:oleObj>
              </mc:Choice>
              <mc:Fallback>
                <p:oleObj name="Equation" r:id="rId13" imgW="26517600" imgH="10363200" progId="Equation.DSMT4">
                  <p:embed/>
                  <p:pic>
                    <p:nvPicPr>
                      <p:cNvPr id="0" name="Picture 1" descr="image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5114801"/>
                        <a:ext cx="1971290" cy="907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5004048" y="3212976"/>
            <a:ext cx="2026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CN" sz="2400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CN" sz="2400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zh-CN" altLang="en-US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</a:t>
            </a:r>
          </a:p>
        </p:txBody>
      </p:sp>
      <p:sp>
        <p:nvSpPr>
          <p:cNvPr id="34" name="矩形 33"/>
          <p:cNvSpPr/>
          <p:nvPr/>
        </p:nvSpPr>
        <p:spPr>
          <a:xfrm>
            <a:off x="5004048" y="4509120"/>
            <a:ext cx="23535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zh-CN" altLang="en-US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CN" sz="2400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en-US" altLang="zh-CN" sz="2400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zh-CN" altLang="en-US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29" grpId="0"/>
      <p:bldP spid="26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0"/>
          <p:cNvCxnSpPr>
            <a:cxnSpLocks noChangeShapeType="1"/>
          </p:cNvCxnSpPr>
          <p:nvPr/>
        </p:nvCxnSpPr>
        <p:spPr bwMode="auto">
          <a:xfrm>
            <a:off x="467544" y="1052736"/>
            <a:ext cx="8405813" cy="0"/>
          </a:xfrm>
          <a:prstGeom prst="line">
            <a:avLst/>
          </a:prstGeom>
          <a:noFill/>
          <a:ln w="28575" algn="ctr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文本框 2"/>
          <p:cNvSpPr txBox="1"/>
          <p:nvPr/>
        </p:nvSpPr>
        <p:spPr>
          <a:xfrm>
            <a:off x="438284" y="332656"/>
            <a:ext cx="550186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二、元素周期表的解释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08461" y="2974993"/>
            <a:ext cx="806489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      </a:t>
            </a:r>
            <a:r>
              <a:rPr lang="zh-CN" altLang="en-US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在一个原子系统内，不可能有两个或两个以上的电子具有相同的状态，亦即</a:t>
            </a:r>
            <a:r>
              <a:rPr lang="zh-CN" altLang="en-US" b="1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不可能具有完全相同的四个量子数</a:t>
            </a:r>
            <a:r>
              <a:rPr lang="zh-CN" altLang="en-US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40434" y="1220459"/>
            <a:ext cx="8244921" cy="9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66"/>
                </a:solidFill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b="1" dirty="0">
                <a:solidFill>
                  <a:srgbClr val="000066"/>
                </a:solidFill>
                <a:ea typeface="+mn-ea"/>
                <a:cs typeface="Times New Roman" panose="02020603050405020304" pitchFamily="18" charset="0"/>
              </a:rPr>
              <a:t>电子在原子中的分布具有周期性的壳层结构，电子的分布遵从下列两个原理：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561084" y="2372984"/>
            <a:ext cx="53790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、泡利不相容原理</a:t>
            </a:r>
            <a:r>
              <a:rPr lang="zh-CN" altLang="en-US" b="1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（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1925 </a:t>
            </a:r>
            <a:r>
              <a:rPr lang="zh-CN" altLang="en-US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年</a:t>
            </a:r>
            <a:r>
              <a:rPr lang="zh-CN" altLang="en-US" b="1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） 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611560" y="4314556"/>
            <a:ext cx="38164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、能量最小原理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808461" y="4880221"/>
            <a:ext cx="787689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0" lang="zh-CN" altLang="en-US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      原子系统处于正常状态时，每个电子趋向占有</a:t>
            </a:r>
            <a:r>
              <a:rPr kumimoji="0" lang="zh-CN" altLang="en-US" b="1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最低的能级</a:t>
            </a:r>
            <a:r>
              <a:rPr kumimoji="0" lang="zh-CN" altLang="en-US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7" grpId="0" autoUpdateAnimBg="0"/>
      <p:bldP spid="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7" name="Text Box 3"/>
          <p:cNvSpPr txBox="1">
            <a:spLocks noChangeArrowheads="1"/>
          </p:cNvSpPr>
          <p:nvPr/>
        </p:nvSpPr>
        <p:spPr bwMode="blackWhite">
          <a:xfrm>
            <a:off x="1109663" y="692150"/>
            <a:ext cx="4825360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effectLst/>
              </a:rPr>
              <a:t>故每个壳层最多可容纳的电子数：</a:t>
            </a:r>
          </a:p>
        </p:txBody>
      </p:sp>
      <p:graphicFrame>
        <p:nvGraphicFramePr>
          <p:cNvPr id="451588" name="Object 4"/>
          <p:cNvGraphicFramePr>
            <a:graphicFrameLocks noChangeAspect="1"/>
          </p:cNvGraphicFramePr>
          <p:nvPr/>
        </p:nvGraphicFramePr>
        <p:xfrm>
          <a:off x="833438" y="1268760"/>
          <a:ext cx="5837237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Equation" r:id="rId3" imgW="63398400" imgH="10363200" progId="Equation.DSMT4">
                  <p:embed/>
                </p:oleObj>
              </mc:Choice>
              <mc:Fallback>
                <p:oleObj name="Equation" r:id="rId3" imgW="63398400" imgH="10363200" progId="Equation.DSMT4">
                  <p:embed/>
                  <p:pic>
                    <p:nvPicPr>
                      <p:cNvPr id="0" name="Picture 2" descr="image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8" y="1268760"/>
                        <a:ext cx="5837237" cy="947738"/>
                      </a:xfrm>
                      <a:prstGeom prst="rect">
                        <a:avLst/>
                      </a:prstGeom>
                      <a:solidFill>
                        <a:srgbClr val="CC3300"/>
                      </a:solidFill>
                      <a:ln w="57150" cmpd="thinThick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/>
          <p:nvPr/>
        </p:nvGrpSpPr>
        <p:grpSpPr bwMode="auto">
          <a:xfrm>
            <a:off x="738188" y="2492896"/>
            <a:ext cx="8305800" cy="1381125"/>
            <a:chOff x="192" y="1818"/>
            <a:chExt cx="5232" cy="870"/>
          </a:xfrm>
        </p:grpSpPr>
        <p:sp>
          <p:nvSpPr>
            <p:cNvPr id="451590" name="Line 6"/>
            <p:cNvSpPr>
              <a:spLocks noChangeShapeType="1"/>
            </p:cNvSpPr>
            <p:nvPr/>
          </p:nvSpPr>
          <p:spPr bwMode="blackWhite">
            <a:xfrm>
              <a:off x="1536" y="1824"/>
              <a:ext cx="0" cy="864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1591" name="Line 7"/>
            <p:cNvSpPr>
              <a:spLocks noChangeShapeType="1"/>
            </p:cNvSpPr>
            <p:nvPr/>
          </p:nvSpPr>
          <p:spPr bwMode="blackWhite">
            <a:xfrm>
              <a:off x="2208" y="1824"/>
              <a:ext cx="0" cy="864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1592" name="Line 8"/>
            <p:cNvSpPr>
              <a:spLocks noChangeShapeType="1"/>
            </p:cNvSpPr>
            <p:nvPr/>
          </p:nvSpPr>
          <p:spPr bwMode="blackWhite">
            <a:xfrm>
              <a:off x="2880" y="1824"/>
              <a:ext cx="0" cy="864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1593" name="Line 9"/>
            <p:cNvSpPr>
              <a:spLocks noChangeShapeType="1"/>
            </p:cNvSpPr>
            <p:nvPr/>
          </p:nvSpPr>
          <p:spPr bwMode="blackWhite">
            <a:xfrm>
              <a:off x="3504" y="1824"/>
              <a:ext cx="0" cy="864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1594" name="Line 10"/>
            <p:cNvSpPr>
              <a:spLocks noChangeShapeType="1"/>
            </p:cNvSpPr>
            <p:nvPr/>
          </p:nvSpPr>
          <p:spPr bwMode="blackWhite">
            <a:xfrm>
              <a:off x="4128" y="1824"/>
              <a:ext cx="0" cy="864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1595" name="Line 11"/>
            <p:cNvSpPr>
              <a:spLocks noChangeShapeType="1"/>
            </p:cNvSpPr>
            <p:nvPr/>
          </p:nvSpPr>
          <p:spPr bwMode="blackWhite">
            <a:xfrm>
              <a:off x="4752" y="1824"/>
              <a:ext cx="0" cy="864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grpSp>
          <p:nvGrpSpPr>
            <p:cNvPr id="3" name="Group 12"/>
            <p:cNvGrpSpPr/>
            <p:nvPr/>
          </p:nvGrpSpPr>
          <p:grpSpPr bwMode="auto">
            <a:xfrm>
              <a:off x="192" y="2100"/>
              <a:ext cx="5232" cy="343"/>
              <a:chOff x="192" y="1824"/>
              <a:chExt cx="5232" cy="343"/>
            </a:xfrm>
          </p:grpSpPr>
          <p:sp>
            <p:nvSpPr>
              <p:cNvPr id="451597" name="Rectangle 13"/>
              <p:cNvSpPr>
                <a:spLocks noChangeArrowheads="1"/>
              </p:cNvSpPr>
              <p:nvPr/>
            </p:nvSpPr>
            <p:spPr bwMode="blackWhite">
              <a:xfrm>
                <a:off x="192" y="1824"/>
                <a:ext cx="5232" cy="288"/>
              </a:xfrm>
              <a:prstGeom prst="rect">
                <a:avLst/>
              </a:prstGeom>
              <a:noFill/>
              <a:ln w="9525">
                <a:solidFill>
                  <a:srgbClr val="CC33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451598" name="Text Box 14"/>
              <p:cNvSpPr txBox="1">
                <a:spLocks noChangeArrowheads="1"/>
              </p:cNvSpPr>
              <p:nvPr/>
            </p:nvSpPr>
            <p:spPr bwMode="blackWhite">
              <a:xfrm>
                <a:off x="288" y="1856"/>
                <a:ext cx="1039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400" dirty="0">
                    <a:effectLst/>
                  </a:rPr>
                  <a:t>主量子数 </a:t>
                </a:r>
                <a:r>
                  <a:rPr lang="en-US" altLang="zh-CN" sz="2400" b="1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451599" name="Text Box 15"/>
              <p:cNvSpPr txBox="1">
                <a:spLocks noChangeArrowheads="1"/>
              </p:cNvSpPr>
              <p:nvPr/>
            </p:nvSpPr>
            <p:spPr bwMode="blackWhite">
              <a:xfrm>
                <a:off x="1718" y="1857"/>
                <a:ext cx="214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b="1">
                    <a:effectLst/>
                  </a:rPr>
                  <a:t>1</a:t>
                </a:r>
              </a:p>
            </p:txBody>
          </p:sp>
          <p:sp>
            <p:nvSpPr>
              <p:cNvPr id="451600" name="Text Box 16"/>
              <p:cNvSpPr txBox="1">
                <a:spLocks noChangeArrowheads="1"/>
              </p:cNvSpPr>
              <p:nvPr/>
            </p:nvSpPr>
            <p:spPr bwMode="blackWhite">
              <a:xfrm>
                <a:off x="2400" y="1876"/>
                <a:ext cx="214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b="1">
                    <a:effectLst/>
                  </a:rPr>
                  <a:t>2</a:t>
                </a:r>
              </a:p>
            </p:txBody>
          </p:sp>
          <p:sp>
            <p:nvSpPr>
              <p:cNvPr id="451601" name="Text Box 17"/>
              <p:cNvSpPr txBox="1">
                <a:spLocks noChangeArrowheads="1"/>
              </p:cNvSpPr>
              <p:nvPr/>
            </p:nvSpPr>
            <p:spPr bwMode="blackWhite">
              <a:xfrm>
                <a:off x="3020" y="1857"/>
                <a:ext cx="214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b="1">
                    <a:effectLst/>
                  </a:rPr>
                  <a:t>3</a:t>
                </a:r>
              </a:p>
            </p:txBody>
          </p:sp>
          <p:sp>
            <p:nvSpPr>
              <p:cNvPr id="451602" name="Text Box 18"/>
              <p:cNvSpPr txBox="1">
                <a:spLocks noChangeArrowheads="1"/>
              </p:cNvSpPr>
              <p:nvPr/>
            </p:nvSpPr>
            <p:spPr bwMode="blackWhite">
              <a:xfrm>
                <a:off x="3644" y="1850"/>
                <a:ext cx="214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b="1">
                    <a:effectLst/>
                  </a:rPr>
                  <a:t>4</a:t>
                </a:r>
              </a:p>
            </p:txBody>
          </p:sp>
          <p:sp>
            <p:nvSpPr>
              <p:cNvPr id="451603" name="Text Box 19"/>
              <p:cNvSpPr txBox="1">
                <a:spLocks noChangeArrowheads="1"/>
              </p:cNvSpPr>
              <p:nvPr/>
            </p:nvSpPr>
            <p:spPr bwMode="blackWhite">
              <a:xfrm>
                <a:off x="4310" y="1857"/>
                <a:ext cx="214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b="1">
                    <a:effectLst/>
                  </a:rPr>
                  <a:t>5</a:t>
                </a:r>
              </a:p>
            </p:txBody>
          </p:sp>
          <p:sp>
            <p:nvSpPr>
              <p:cNvPr id="451604" name="Text Box 20"/>
              <p:cNvSpPr txBox="1">
                <a:spLocks noChangeArrowheads="1"/>
              </p:cNvSpPr>
              <p:nvPr/>
            </p:nvSpPr>
            <p:spPr bwMode="blackWhite">
              <a:xfrm>
                <a:off x="4940" y="1857"/>
                <a:ext cx="214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b="1">
                    <a:effectLst/>
                  </a:rPr>
                  <a:t>6</a:t>
                </a:r>
              </a:p>
            </p:txBody>
          </p:sp>
        </p:grpSp>
        <p:grpSp>
          <p:nvGrpSpPr>
            <p:cNvPr id="4" name="Group 21"/>
            <p:cNvGrpSpPr/>
            <p:nvPr/>
          </p:nvGrpSpPr>
          <p:grpSpPr bwMode="auto">
            <a:xfrm>
              <a:off x="192" y="1818"/>
              <a:ext cx="5232" cy="330"/>
              <a:chOff x="192" y="2106"/>
              <a:chExt cx="5232" cy="330"/>
            </a:xfrm>
          </p:grpSpPr>
          <p:sp>
            <p:nvSpPr>
              <p:cNvPr id="451606" name="Rectangle 22"/>
              <p:cNvSpPr>
                <a:spLocks noChangeArrowheads="1"/>
              </p:cNvSpPr>
              <p:nvPr/>
            </p:nvSpPr>
            <p:spPr bwMode="blackWhite">
              <a:xfrm>
                <a:off x="192" y="2112"/>
                <a:ext cx="5232" cy="288"/>
              </a:xfrm>
              <a:prstGeom prst="rect">
                <a:avLst/>
              </a:prstGeom>
              <a:noFill/>
              <a:ln w="9525">
                <a:solidFill>
                  <a:srgbClr val="CC33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451607" name="Text Box 23"/>
              <p:cNvSpPr txBox="1">
                <a:spLocks noChangeArrowheads="1"/>
              </p:cNvSpPr>
              <p:nvPr/>
            </p:nvSpPr>
            <p:spPr bwMode="blackWhite">
              <a:xfrm>
                <a:off x="324" y="2106"/>
                <a:ext cx="884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400">
                    <a:effectLst/>
                  </a:rPr>
                  <a:t>壳层符号</a:t>
                </a:r>
              </a:p>
            </p:txBody>
          </p:sp>
          <p:sp>
            <p:nvSpPr>
              <p:cNvPr id="451608" name="Text Box 24"/>
              <p:cNvSpPr txBox="1">
                <a:spLocks noChangeArrowheads="1"/>
              </p:cNvSpPr>
              <p:nvPr/>
            </p:nvSpPr>
            <p:spPr bwMode="blackWhite">
              <a:xfrm>
                <a:off x="1718" y="2126"/>
                <a:ext cx="222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b="1">
                    <a:effectLst/>
                  </a:rPr>
                  <a:t>K</a:t>
                </a:r>
              </a:p>
            </p:txBody>
          </p:sp>
          <p:sp>
            <p:nvSpPr>
              <p:cNvPr id="451609" name="Text Box 25"/>
              <p:cNvSpPr txBox="1">
                <a:spLocks noChangeArrowheads="1"/>
              </p:cNvSpPr>
              <p:nvPr/>
            </p:nvSpPr>
            <p:spPr bwMode="blackWhite">
              <a:xfrm>
                <a:off x="2405" y="2145"/>
                <a:ext cx="198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b="1">
                    <a:effectLst/>
                  </a:rPr>
                  <a:t>L</a:t>
                </a:r>
              </a:p>
            </p:txBody>
          </p:sp>
          <p:sp>
            <p:nvSpPr>
              <p:cNvPr id="451610" name="Text Box 26"/>
              <p:cNvSpPr txBox="1">
                <a:spLocks noChangeArrowheads="1"/>
              </p:cNvSpPr>
              <p:nvPr/>
            </p:nvSpPr>
            <p:spPr bwMode="blackWhite">
              <a:xfrm>
                <a:off x="3014" y="2145"/>
                <a:ext cx="297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b="1">
                    <a:effectLst/>
                  </a:rPr>
                  <a:t>M</a:t>
                </a:r>
              </a:p>
            </p:txBody>
          </p:sp>
          <p:sp>
            <p:nvSpPr>
              <p:cNvPr id="451611" name="Text Box 27"/>
              <p:cNvSpPr txBox="1">
                <a:spLocks noChangeArrowheads="1"/>
              </p:cNvSpPr>
              <p:nvPr/>
            </p:nvSpPr>
            <p:spPr bwMode="blackWhite">
              <a:xfrm>
                <a:off x="3638" y="2145"/>
                <a:ext cx="244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b="1">
                    <a:effectLst/>
                  </a:rPr>
                  <a:t>N</a:t>
                </a:r>
              </a:p>
            </p:txBody>
          </p:sp>
          <p:sp>
            <p:nvSpPr>
              <p:cNvPr id="451612" name="Text Box 28"/>
              <p:cNvSpPr txBox="1">
                <a:spLocks noChangeArrowheads="1"/>
              </p:cNvSpPr>
              <p:nvPr/>
            </p:nvSpPr>
            <p:spPr bwMode="blackWhite">
              <a:xfrm>
                <a:off x="4293" y="2145"/>
                <a:ext cx="248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b="1">
                    <a:effectLst/>
                  </a:rPr>
                  <a:t>O</a:t>
                </a:r>
              </a:p>
            </p:txBody>
          </p:sp>
          <p:sp>
            <p:nvSpPr>
              <p:cNvPr id="451613" name="Text Box 29"/>
              <p:cNvSpPr txBox="1">
                <a:spLocks noChangeArrowheads="1"/>
              </p:cNvSpPr>
              <p:nvPr/>
            </p:nvSpPr>
            <p:spPr bwMode="blackWhite">
              <a:xfrm>
                <a:off x="4960" y="2126"/>
                <a:ext cx="219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b="1">
                    <a:effectLst/>
                  </a:rPr>
                  <a:t>P</a:t>
                </a:r>
              </a:p>
            </p:txBody>
          </p:sp>
        </p:grpSp>
        <p:sp>
          <p:nvSpPr>
            <p:cNvPr id="451614" name="Rectangle 30"/>
            <p:cNvSpPr>
              <a:spLocks noChangeArrowheads="1"/>
            </p:cNvSpPr>
            <p:nvPr/>
          </p:nvSpPr>
          <p:spPr bwMode="blackWhite">
            <a:xfrm>
              <a:off x="192" y="2400"/>
              <a:ext cx="5232" cy="288"/>
            </a:xfrm>
            <a:prstGeom prst="rect">
              <a:avLst/>
            </a:prstGeom>
            <a:noFill/>
            <a:ln w="9525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451615" name="Text Box 31"/>
          <p:cNvSpPr txBox="1">
            <a:spLocks noChangeArrowheads="1"/>
          </p:cNvSpPr>
          <p:nvPr/>
        </p:nvSpPr>
        <p:spPr bwMode="blackWhite">
          <a:xfrm>
            <a:off x="1458913" y="3431109"/>
            <a:ext cx="48442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</a:p>
        </p:txBody>
      </p:sp>
      <p:sp>
        <p:nvSpPr>
          <p:cNvPr id="451616" name="Text Box 32"/>
          <p:cNvSpPr txBox="1">
            <a:spLocks noChangeArrowheads="1"/>
          </p:cNvSpPr>
          <p:nvPr/>
        </p:nvSpPr>
        <p:spPr bwMode="blackWhite">
          <a:xfrm>
            <a:off x="3160713" y="3496196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effectLst/>
              </a:rPr>
              <a:t>2</a:t>
            </a:r>
          </a:p>
        </p:txBody>
      </p:sp>
      <p:sp>
        <p:nvSpPr>
          <p:cNvPr id="451617" name="Text Box 33"/>
          <p:cNvSpPr txBox="1">
            <a:spLocks noChangeArrowheads="1"/>
          </p:cNvSpPr>
          <p:nvPr/>
        </p:nvSpPr>
        <p:spPr bwMode="blackWhite">
          <a:xfrm>
            <a:off x="4243388" y="3507309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effectLst/>
              </a:rPr>
              <a:t>8</a:t>
            </a:r>
          </a:p>
        </p:txBody>
      </p:sp>
      <p:sp>
        <p:nvSpPr>
          <p:cNvPr id="451618" name="Text Box 34"/>
          <p:cNvSpPr txBox="1">
            <a:spLocks noChangeArrowheads="1"/>
          </p:cNvSpPr>
          <p:nvPr/>
        </p:nvSpPr>
        <p:spPr bwMode="blackWhite">
          <a:xfrm>
            <a:off x="5157788" y="3507309"/>
            <a:ext cx="495649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effectLst/>
              </a:rPr>
              <a:t>18</a:t>
            </a:r>
          </a:p>
        </p:txBody>
      </p:sp>
      <p:sp>
        <p:nvSpPr>
          <p:cNvPr id="451619" name="Text Box 35"/>
          <p:cNvSpPr txBox="1">
            <a:spLocks noChangeArrowheads="1"/>
          </p:cNvSpPr>
          <p:nvPr/>
        </p:nvSpPr>
        <p:spPr bwMode="blackWhite">
          <a:xfrm>
            <a:off x="6148388" y="3507309"/>
            <a:ext cx="495649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effectLst/>
              </a:rPr>
              <a:t>32</a:t>
            </a:r>
          </a:p>
        </p:txBody>
      </p:sp>
      <p:sp>
        <p:nvSpPr>
          <p:cNvPr id="451620" name="Text Box 36"/>
          <p:cNvSpPr txBox="1">
            <a:spLocks noChangeArrowheads="1"/>
          </p:cNvSpPr>
          <p:nvPr/>
        </p:nvSpPr>
        <p:spPr bwMode="blackWhite">
          <a:xfrm>
            <a:off x="7158038" y="3507309"/>
            <a:ext cx="495649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effectLst/>
              </a:rPr>
              <a:t>50</a:t>
            </a:r>
          </a:p>
        </p:txBody>
      </p:sp>
      <p:sp>
        <p:nvSpPr>
          <p:cNvPr id="451621" name="Text Box 37"/>
          <p:cNvSpPr txBox="1">
            <a:spLocks noChangeArrowheads="1"/>
          </p:cNvSpPr>
          <p:nvPr/>
        </p:nvSpPr>
        <p:spPr bwMode="blackWhite">
          <a:xfrm>
            <a:off x="8189913" y="3477146"/>
            <a:ext cx="495649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effectLst/>
              </a:rPr>
              <a:t>72</a:t>
            </a:r>
          </a:p>
        </p:txBody>
      </p:sp>
      <p:sp>
        <p:nvSpPr>
          <p:cNvPr id="451622" name="Text Box 38"/>
          <p:cNvSpPr txBox="1">
            <a:spLocks noChangeArrowheads="1"/>
          </p:cNvSpPr>
          <p:nvPr/>
        </p:nvSpPr>
        <p:spPr bwMode="blackWhite">
          <a:xfrm>
            <a:off x="585788" y="4149080"/>
            <a:ext cx="449353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effectLst/>
                <a:latin typeface="黑体" panose="02010609060101010101" pitchFamily="49" charset="-122"/>
              </a:rPr>
              <a:t>各次壳层最多可容纳的电子数：</a:t>
            </a:r>
          </a:p>
        </p:txBody>
      </p:sp>
      <p:grpSp>
        <p:nvGrpSpPr>
          <p:cNvPr id="5" name="Group 39"/>
          <p:cNvGrpSpPr/>
          <p:nvPr/>
        </p:nvGrpSpPr>
        <p:grpSpPr bwMode="auto">
          <a:xfrm>
            <a:off x="893763" y="4606280"/>
            <a:ext cx="7773987" cy="533400"/>
            <a:chOff x="290" y="3067"/>
            <a:chExt cx="4897" cy="336"/>
          </a:xfrm>
        </p:grpSpPr>
        <p:sp>
          <p:nvSpPr>
            <p:cNvPr id="451624" name="Text Box 40"/>
            <p:cNvSpPr txBox="1">
              <a:spLocks noChangeArrowheads="1"/>
            </p:cNvSpPr>
            <p:nvPr/>
          </p:nvSpPr>
          <p:spPr bwMode="blackWhite">
            <a:xfrm>
              <a:off x="1718" y="3103"/>
              <a:ext cx="193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 i="1">
                  <a:effectLst/>
                </a:rPr>
                <a:t>s</a:t>
              </a:r>
            </a:p>
          </p:txBody>
        </p:sp>
        <p:sp>
          <p:nvSpPr>
            <p:cNvPr id="451625" name="Text Box 41"/>
            <p:cNvSpPr txBox="1">
              <a:spLocks noChangeArrowheads="1"/>
            </p:cNvSpPr>
            <p:nvPr/>
          </p:nvSpPr>
          <p:spPr bwMode="blackWhite">
            <a:xfrm>
              <a:off x="2430" y="3067"/>
              <a:ext cx="218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 i="1">
                  <a:effectLst/>
                </a:rPr>
                <a:t>p</a:t>
              </a:r>
            </a:p>
          </p:txBody>
        </p:sp>
        <p:sp>
          <p:nvSpPr>
            <p:cNvPr id="451626" name="Text Box 42"/>
            <p:cNvSpPr txBox="1">
              <a:spLocks noChangeArrowheads="1"/>
            </p:cNvSpPr>
            <p:nvPr/>
          </p:nvSpPr>
          <p:spPr bwMode="blackWhite">
            <a:xfrm>
              <a:off x="3014" y="3086"/>
              <a:ext cx="218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 i="1">
                  <a:effectLst/>
                </a:rPr>
                <a:t>d</a:t>
              </a:r>
            </a:p>
          </p:txBody>
        </p:sp>
        <p:sp>
          <p:nvSpPr>
            <p:cNvPr id="451627" name="Text Box 43"/>
            <p:cNvSpPr txBox="1">
              <a:spLocks noChangeArrowheads="1"/>
            </p:cNvSpPr>
            <p:nvPr/>
          </p:nvSpPr>
          <p:spPr bwMode="blackWhite">
            <a:xfrm>
              <a:off x="3687" y="3115"/>
              <a:ext cx="1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 i="1">
                  <a:effectLst/>
                </a:rPr>
                <a:t>f</a:t>
              </a:r>
            </a:p>
          </p:txBody>
        </p:sp>
        <p:sp>
          <p:nvSpPr>
            <p:cNvPr id="451628" name="Text Box 44"/>
            <p:cNvSpPr txBox="1">
              <a:spLocks noChangeArrowheads="1"/>
            </p:cNvSpPr>
            <p:nvPr/>
          </p:nvSpPr>
          <p:spPr bwMode="blackWhite">
            <a:xfrm>
              <a:off x="4316" y="3067"/>
              <a:ext cx="218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 i="1">
                  <a:effectLst/>
                </a:rPr>
                <a:t>g</a:t>
              </a:r>
            </a:p>
          </p:txBody>
        </p:sp>
        <p:sp>
          <p:nvSpPr>
            <p:cNvPr id="451629" name="Text Box 45"/>
            <p:cNvSpPr txBox="1">
              <a:spLocks noChangeArrowheads="1"/>
            </p:cNvSpPr>
            <p:nvPr/>
          </p:nvSpPr>
          <p:spPr bwMode="blackWhite">
            <a:xfrm>
              <a:off x="4964" y="3103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 i="1">
                  <a:effectLst/>
                </a:rPr>
                <a:t>h</a:t>
              </a:r>
            </a:p>
          </p:txBody>
        </p:sp>
        <p:sp>
          <p:nvSpPr>
            <p:cNvPr id="451630" name="Text Box 46"/>
            <p:cNvSpPr txBox="1">
              <a:spLocks noChangeArrowheads="1"/>
            </p:cNvSpPr>
            <p:nvPr/>
          </p:nvSpPr>
          <p:spPr bwMode="blackWhite">
            <a:xfrm>
              <a:off x="290" y="3095"/>
              <a:ext cx="1086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dirty="0"/>
                <a:t>次</a:t>
              </a:r>
              <a:r>
                <a:rPr lang="zh-CN" altLang="en-US" sz="2400" dirty="0">
                  <a:effectLst/>
                </a:rPr>
                <a:t>壳层符号</a:t>
              </a:r>
            </a:p>
          </p:txBody>
        </p:sp>
      </p:grpSp>
      <p:grpSp>
        <p:nvGrpSpPr>
          <p:cNvPr id="6" name="Group 47"/>
          <p:cNvGrpSpPr/>
          <p:nvPr/>
        </p:nvGrpSpPr>
        <p:grpSpPr bwMode="auto">
          <a:xfrm>
            <a:off x="890588" y="5106348"/>
            <a:ext cx="7731125" cy="476251"/>
            <a:chOff x="633" y="3538"/>
            <a:chExt cx="4870" cy="300"/>
          </a:xfrm>
        </p:grpSpPr>
        <p:sp>
          <p:nvSpPr>
            <p:cNvPr id="451632" name="Text Box 48"/>
            <p:cNvSpPr txBox="1">
              <a:spLocks noChangeArrowheads="1"/>
            </p:cNvSpPr>
            <p:nvPr/>
          </p:nvSpPr>
          <p:spPr bwMode="blackWhite">
            <a:xfrm>
              <a:off x="2063" y="3547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effectLst/>
                </a:rPr>
                <a:t>0</a:t>
              </a:r>
            </a:p>
          </p:txBody>
        </p:sp>
        <p:sp>
          <p:nvSpPr>
            <p:cNvPr id="451633" name="Text Box 49"/>
            <p:cNvSpPr txBox="1">
              <a:spLocks noChangeArrowheads="1"/>
            </p:cNvSpPr>
            <p:nvPr/>
          </p:nvSpPr>
          <p:spPr bwMode="blackWhite">
            <a:xfrm>
              <a:off x="2741" y="3547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effectLst/>
                </a:rPr>
                <a:t>1</a:t>
              </a:r>
            </a:p>
          </p:txBody>
        </p:sp>
        <p:sp>
          <p:nvSpPr>
            <p:cNvPr id="451634" name="Text Box 50"/>
            <p:cNvSpPr txBox="1">
              <a:spLocks noChangeArrowheads="1"/>
            </p:cNvSpPr>
            <p:nvPr/>
          </p:nvSpPr>
          <p:spPr bwMode="blackWhite">
            <a:xfrm>
              <a:off x="3365" y="3547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effectLst/>
                </a:rPr>
                <a:t>2</a:t>
              </a:r>
            </a:p>
          </p:txBody>
        </p:sp>
        <p:sp>
          <p:nvSpPr>
            <p:cNvPr id="451635" name="Text Box 51"/>
            <p:cNvSpPr txBox="1">
              <a:spLocks noChangeArrowheads="1"/>
            </p:cNvSpPr>
            <p:nvPr/>
          </p:nvSpPr>
          <p:spPr bwMode="blackWhite">
            <a:xfrm>
              <a:off x="3999" y="3540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effectLst/>
                </a:rPr>
                <a:t>3</a:t>
              </a:r>
            </a:p>
          </p:txBody>
        </p:sp>
        <p:sp>
          <p:nvSpPr>
            <p:cNvPr id="451636" name="Text Box 52"/>
            <p:cNvSpPr txBox="1">
              <a:spLocks noChangeArrowheads="1"/>
            </p:cNvSpPr>
            <p:nvPr/>
          </p:nvSpPr>
          <p:spPr bwMode="blackWhite">
            <a:xfrm>
              <a:off x="4655" y="3538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effectLst/>
                </a:rPr>
                <a:t>4</a:t>
              </a:r>
            </a:p>
          </p:txBody>
        </p:sp>
        <p:sp>
          <p:nvSpPr>
            <p:cNvPr id="451637" name="Text Box 53"/>
            <p:cNvSpPr txBox="1">
              <a:spLocks noChangeArrowheads="1"/>
            </p:cNvSpPr>
            <p:nvPr/>
          </p:nvSpPr>
          <p:spPr bwMode="blackWhite">
            <a:xfrm>
              <a:off x="5289" y="3547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effectLst/>
                </a:rPr>
                <a:t>5</a:t>
              </a:r>
            </a:p>
          </p:txBody>
        </p:sp>
        <p:sp>
          <p:nvSpPr>
            <p:cNvPr id="451638" name="Text Box 54"/>
            <p:cNvSpPr txBox="1">
              <a:spLocks noChangeArrowheads="1"/>
            </p:cNvSpPr>
            <p:nvPr/>
          </p:nvSpPr>
          <p:spPr bwMode="blackWhite">
            <a:xfrm>
              <a:off x="633" y="3546"/>
              <a:ext cx="103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dirty="0">
                  <a:effectLst/>
                </a:rPr>
                <a:t>角量子数 </a:t>
              </a:r>
              <a:r>
                <a:rPr lang="en-US" altLang="zh-CN" sz="2400" b="1" i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400" dirty="0">
                  <a:effectLst/>
                </a:rPr>
                <a:t> </a:t>
              </a:r>
            </a:p>
          </p:txBody>
        </p:sp>
      </p:grpSp>
      <p:grpSp>
        <p:nvGrpSpPr>
          <p:cNvPr id="7" name="Group 55"/>
          <p:cNvGrpSpPr/>
          <p:nvPr/>
        </p:nvGrpSpPr>
        <p:grpSpPr bwMode="auto">
          <a:xfrm>
            <a:off x="738188" y="4657080"/>
            <a:ext cx="8305800" cy="1344612"/>
            <a:chOff x="192" y="2801"/>
            <a:chExt cx="5232" cy="847"/>
          </a:xfrm>
        </p:grpSpPr>
        <p:sp>
          <p:nvSpPr>
            <p:cNvPr id="451640" name="Rectangle 56"/>
            <p:cNvSpPr>
              <a:spLocks noChangeArrowheads="1"/>
            </p:cNvSpPr>
            <p:nvPr/>
          </p:nvSpPr>
          <p:spPr bwMode="blackWhite">
            <a:xfrm>
              <a:off x="192" y="2801"/>
              <a:ext cx="5232" cy="288"/>
            </a:xfrm>
            <a:prstGeom prst="rect">
              <a:avLst/>
            </a:prstGeom>
            <a:noFill/>
            <a:ln w="9525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1641" name="Rectangle 57"/>
            <p:cNvSpPr>
              <a:spLocks noChangeArrowheads="1"/>
            </p:cNvSpPr>
            <p:nvPr/>
          </p:nvSpPr>
          <p:spPr bwMode="blackWhite">
            <a:xfrm>
              <a:off x="192" y="3089"/>
              <a:ext cx="5232" cy="288"/>
            </a:xfrm>
            <a:prstGeom prst="rect">
              <a:avLst/>
            </a:prstGeom>
            <a:noFill/>
            <a:ln w="9525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1642" name="Line 58"/>
            <p:cNvSpPr>
              <a:spLocks noChangeShapeType="1"/>
            </p:cNvSpPr>
            <p:nvPr/>
          </p:nvSpPr>
          <p:spPr bwMode="blackWhite">
            <a:xfrm>
              <a:off x="2208" y="2801"/>
              <a:ext cx="0" cy="847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1643" name="Line 59"/>
            <p:cNvSpPr>
              <a:spLocks noChangeShapeType="1"/>
            </p:cNvSpPr>
            <p:nvPr/>
          </p:nvSpPr>
          <p:spPr bwMode="blackWhite">
            <a:xfrm>
              <a:off x="2880" y="2801"/>
              <a:ext cx="0" cy="847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1644" name="Line 60"/>
            <p:cNvSpPr>
              <a:spLocks noChangeShapeType="1"/>
            </p:cNvSpPr>
            <p:nvPr/>
          </p:nvSpPr>
          <p:spPr bwMode="blackWhite">
            <a:xfrm>
              <a:off x="3504" y="2801"/>
              <a:ext cx="0" cy="847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1645" name="Line 61"/>
            <p:cNvSpPr>
              <a:spLocks noChangeShapeType="1"/>
            </p:cNvSpPr>
            <p:nvPr/>
          </p:nvSpPr>
          <p:spPr bwMode="blackWhite">
            <a:xfrm>
              <a:off x="4128" y="2801"/>
              <a:ext cx="0" cy="847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1646" name="Line 62"/>
            <p:cNvSpPr>
              <a:spLocks noChangeShapeType="1"/>
            </p:cNvSpPr>
            <p:nvPr/>
          </p:nvSpPr>
          <p:spPr bwMode="blackWhite">
            <a:xfrm>
              <a:off x="4752" y="2801"/>
              <a:ext cx="0" cy="847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1647" name="Line 63"/>
            <p:cNvSpPr>
              <a:spLocks noChangeShapeType="1"/>
            </p:cNvSpPr>
            <p:nvPr/>
          </p:nvSpPr>
          <p:spPr bwMode="blackWhite">
            <a:xfrm>
              <a:off x="1536" y="2801"/>
              <a:ext cx="0" cy="847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1648" name="Rectangle 64"/>
            <p:cNvSpPr>
              <a:spLocks noChangeArrowheads="1"/>
            </p:cNvSpPr>
            <p:nvPr/>
          </p:nvSpPr>
          <p:spPr bwMode="blackWhite">
            <a:xfrm>
              <a:off x="192" y="3360"/>
              <a:ext cx="5232" cy="288"/>
            </a:xfrm>
            <a:prstGeom prst="rect">
              <a:avLst/>
            </a:prstGeom>
            <a:noFill/>
            <a:ln w="9525">
              <a:solidFill>
                <a:srgbClr val="CC33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451649" name="Text Box 65"/>
          <p:cNvSpPr txBox="1">
            <a:spLocks noChangeArrowheads="1"/>
          </p:cNvSpPr>
          <p:nvPr/>
        </p:nvSpPr>
        <p:spPr bwMode="blackWhite">
          <a:xfrm>
            <a:off x="3160713" y="5623867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effectLst/>
              </a:rPr>
              <a:t>2</a:t>
            </a:r>
          </a:p>
        </p:txBody>
      </p:sp>
      <p:sp>
        <p:nvSpPr>
          <p:cNvPr id="451650" name="Text Box 66"/>
          <p:cNvSpPr txBox="1">
            <a:spLocks noChangeArrowheads="1"/>
          </p:cNvSpPr>
          <p:nvPr/>
        </p:nvSpPr>
        <p:spPr bwMode="blackWhite">
          <a:xfrm>
            <a:off x="4237038" y="5634980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effectLst/>
              </a:rPr>
              <a:t>6</a:t>
            </a:r>
          </a:p>
        </p:txBody>
      </p:sp>
      <p:sp>
        <p:nvSpPr>
          <p:cNvPr id="451651" name="Text Box 67"/>
          <p:cNvSpPr txBox="1">
            <a:spLocks noChangeArrowheads="1"/>
          </p:cNvSpPr>
          <p:nvPr/>
        </p:nvSpPr>
        <p:spPr bwMode="blackWhite">
          <a:xfrm>
            <a:off x="5157788" y="5623867"/>
            <a:ext cx="495649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effectLst/>
              </a:rPr>
              <a:t>10</a:t>
            </a:r>
          </a:p>
        </p:txBody>
      </p:sp>
      <p:sp>
        <p:nvSpPr>
          <p:cNvPr id="451652" name="Text Box 68"/>
          <p:cNvSpPr txBox="1">
            <a:spLocks noChangeArrowheads="1"/>
          </p:cNvSpPr>
          <p:nvPr/>
        </p:nvSpPr>
        <p:spPr bwMode="blackWhite">
          <a:xfrm>
            <a:off x="6148388" y="5634980"/>
            <a:ext cx="495649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effectLst/>
              </a:rPr>
              <a:t>14</a:t>
            </a:r>
          </a:p>
        </p:txBody>
      </p:sp>
      <p:sp>
        <p:nvSpPr>
          <p:cNvPr id="451653" name="Text Box 69"/>
          <p:cNvSpPr txBox="1">
            <a:spLocks noChangeArrowheads="1"/>
          </p:cNvSpPr>
          <p:nvPr/>
        </p:nvSpPr>
        <p:spPr bwMode="blackWhite">
          <a:xfrm>
            <a:off x="7215188" y="5604817"/>
            <a:ext cx="495649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effectLst/>
              </a:rPr>
              <a:t>18</a:t>
            </a:r>
          </a:p>
        </p:txBody>
      </p:sp>
      <p:graphicFrame>
        <p:nvGraphicFramePr>
          <p:cNvPr id="451654" name="Object 70"/>
          <p:cNvGraphicFramePr>
            <a:graphicFrameLocks noChangeAspect="1"/>
          </p:cNvGraphicFramePr>
          <p:nvPr/>
        </p:nvGraphicFramePr>
        <p:xfrm>
          <a:off x="5022850" y="4198292"/>
          <a:ext cx="1169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Equation" r:id="rId5" imgW="13106400" imgH="4876800" progId="Equation.DSMT4">
                  <p:embed/>
                </p:oleObj>
              </mc:Choice>
              <mc:Fallback>
                <p:oleObj name="Equation" r:id="rId5" imgW="13106400" imgH="4876800" progId="Equation.DSMT4">
                  <p:embed/>
                  <p:pic>
                    <p:nvPicPr>
                      <p:cNvPr id="0" name="Picture 1" descr="image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850" y="4198292"/>
                        <a:ext cx="1169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655" name="Text Box 71"/>
          <p:cNvSpPr txBox="1">
            <a:spLocks noChangeArrowheads="1"/>
          </p:cNvSpPr>
          <p:nvPr/>
        </p:nvSpPr>
        <p:spPr bwMode="blackWhite">
          <a:xfrm>
            <a:off x="8224838" y="5604817"/>
            <a:ext cx="495649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>
                <a:effectLst/>
              </a:rPr>
              <a:t>22</a:t>
            </a:r>
          </a:p>
        </p:txBody>
      </p:sp>
      <p:sp>
        <p:nvSpPr>
          <p:cNvPr id="451656" name="Text Box 72"/>
          <p:cNvSpPr txBox="1">
            <a:spLocks noChangeArrowheads="1"/>
          </p:cNvSpPr>
          <p:nvPr/>
        </p:nvSpPr>
        <p:spPr bwMode="blackWhite">
          <a:xfrm>
            <a:off x="1536700" y="5507980"/>
            <a:ext cx="48442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endParaRPr lang="en-US" altLang="zh-CN" sz="2400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5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5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5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5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5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5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5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5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5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45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4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45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45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45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45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45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45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7" grpId="0"/>
      <p:bldP spid="451615" grpId="0" autoUpdateAnimBg="0"/>
      <p:bldP spid="451616" grpId="0" autoUpdateAnimBg="0"/>
      <p:bldP spid="451617" grpId="0" autoUpdateAnimBg="0"/>
      <p:bldP spid="451618" grpId="0" autoUpdateAnimBg="0"/>
      <p:bldP spid="451619" grpId="0" autoUpdateAnimBg="0"/>
      <p:bldP spid="451620" grpId="0" autoUpdateAnimBg="0"/>
      <p:bldP spid="451621" grpId="0" autoUpdateAnimBg="0"/>
      <p:bldP spid="451622" grpId="0" autoUpdateAnimBg="0"/>
      <p:bldP spid="451649" grpId="0"/>
      <p:bldP spid="451650" grpId="0"/>
      <p:bldP spid="451651" grpId="0"/>
      <p:bldP spid="451652" grpId="0"/>
      <p:bldP spid="451653" grpId="0"/>
      <p:bldP spid="451655" grpId="0"/>
      <p:bldP spid="45165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2571" y="260648"/>
            <a:ext cx="39709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Aft>
                <a:spcPts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元素周期表的解释：</a:t>
            </a:r>
          </a:p>
        </p:txBody>
      </p:sp>
      <p:sp>
        <p:nvSpPr>
          <p:cNvPr id="11" name="矩形 10"/>
          <p:cNvSpPr/>
          <p:nvPr/>
        </p:nvSpPr>
        <p:spPr>
          <a:xfrm>
            <a:off x="827584" y="2004111"/>
            <a:ext cx="756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能级基本上决定于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主量子数</a:t>
            </a: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越大，能量越高；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 dirty="0">
                <a:cs typeface="Times New Roman" panose="02020603050405020304" pitchFamily="18" charset="0"/>
              </a:rPr>
              <a:t>愈小，能级也愈低。但能级也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1" dirty="0">
                <a:cs typeface="Times New Roman" panose="02020603050405020304" pitchFamily="18" charset="0"/>
              </a:rPr>
              <a:t>有关。</a:t>
            </a:r>
            <a:endParaRPr lang="zh-CN" altLang="zh-CN" sz="24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7584" y="4604935"/>
            <a:ext cx="756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对同一壳层，</a:t>
            </a:r>
            <a:r>
              <a:rPr lang="en-US" altLang="zh-CN" sz="2400" b="1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越大，能量越高，导致不同壳层的次壳层能量交错</a:t>
            </a:r>
            <a:r>
              <a:rPr lang="zh-CN" alt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24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76" y="873865"/>
            <a:ext cx="7560840" cy="113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）电子壳层的填充遵守“</a:t>
            </a:r>
            <a:r>
              <a:rPr lang="zh-CN" altLang="en-US" sz="2400" b="1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能量最小原理</a:t>
            </a:r>
            <a:r>
              <a:rPr lang="zh-CN" alt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”和“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泡利不相容原理”。</a:t>
            </a:r>
            <a:endParaRPr lang="zh-CN" altLang="zh-CN" sz="24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99592" y="3329806"/>
            <a:ext cx="757396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600" b="1" dirty="0">
                <a:solidFill>
                  <a:schemeClr val="tx1"/>
                </a:solidFill>
                <a:ea typeface="楷体_GB2312" pitchFamily="49" charset="-122"/>
              </a:rPr>
              <a:t>电子态表示： </a:t>
            </a:r>
            <a:r>
              <a:rPr kumimoji="0" lang="en-US" altLang="zh-CN" sz="2600" b="1" dirty="0">
                <a:solidFill>
                  <a:schemeClr val="tx1"/>
                </a:solidFill>
                <a:ea typeface="楷体_GB2312" pitchFamily="49" charset="-122"/>
              </a:rPr>
              <a:t>n=2,   </a:t>
            </a:r>
            <a:r>
              <a:rPr kumimoji="0" lang="en-US" altLang="zh-CN" sz="2600" b="1" i="1" dirty="0">
                <a:solidFill>
                  <a:schemeClr val="tx1"/>
                </a:solidFill>
                <a:ea typeface="楷体_GB2312" pitchFamily="49" charset="-122"/>
              </a:rPr>
              <a:t>l </a:t>
            </a:r>
            <a:r>
              <a:rPr kumimoji="0" lang="en-US" altLang="zh-CN" sz="2600" b="1" dirty="0">
                <a:solidFill>
                  <a:schemeClr val="tx1"/>
                </a:solidFill>
                <a:ea typeface="楷体_GB2312" pitchFamily="49" charset="-122"/>
              </a:rPr>
              <a:t>=1 </a:t>
            </a:r>
            <a:r>
              <a:rPr kumimoji="0" lang="zh-CN" altLang="en-US" sz="2600" b="1" dirty="0">
                <a:solidFill>
                  <a:schemeClr val="tx1"/>
                </a:solidFill>
                <a:ea typeface="楷体_GB2312" pitchFamily="49" charset="-122"/>
              </a:rPr>
              <a:t>态用 </a:t>
            </a:r>
            <a:r>
              <a:rPr kumimoji="0" lang="en-US" altLang="zh-CN" sz="2600" b="1" dirty="0">
                <a:solidFill>
                  <a:schemeClr val="tx1"/>
                </a:solidFill>
                <a:ea typeface="楷体_GB2312" pitchFamily="49" charset="-122"/>
              </a:rPr>
              <a:t>2p </a:t>
            </a:r>
            <a:r>
              <a:rPr kumimoji="0" lang="zh-CN" altLang="en-US" sz="2600" b="1" dirty="0">
                <a:solidFill>
                  <a:schemeClr val="tx1"/>
                </a:solidFill>
                <a:ea typeface="楷体_GB2312" pitchFamily="49" charset="-122"/>
              </a:rPr>
              <a:t>表示，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012555" y="3933056"/>
            <a:ext cx="5029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600" b="1">
                <a:solidFill>
                  <a:schemeClr val="tx1"/>
                </a:solidFill>
                <a:ea typeface="楷体_GB2312" pitchFamily="49" charset="-122"/>
              </a:rPr>
              <a:t>n=2,   </a:t>
            </a:r>
            <a:r>
              <a:rPr kumimoji="0" lang="en-US" altLang="zh-CN" sz="2600" b="1" i="1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kumimoji="0" lang="en-US" altLang="zh-CN" sz="2600" b="1">
                <a:solidFill>
                  <a:schemeClr val="tx1"/>
                </a:solidFill>
                <a:ea typeface="楷体_GB2312" pitchFamily="49" charset="-122"/>
              </a:rPr>
              <a:t> =0  </a:t>
            </a:r>
            <a:r>
              <a:rPr kumimoji="0" lang="zh-CN" altLang="en-US" sz="2600" b="1">
                <a:solidFill>
                  <a:schemeClr val="tx1"/>
                </a:solidFill>
                <a:ea typeface="楷体_GB2312" pitchFamily="49" charset="-122"/>
              </a:rPr>
              <a:t>态用 </a:t>
            </a:r>
            <a:r>
              <a:rPr kumimoji="0" lang="en-US" altLang="zh-CN" sz="2600" b="1">
                <a:solidFill>
                  <a:schemeClr val="tx1"/>
                </a:solidFill>
                <a:ea typeface="楷体_GB2312" pitchFamily="49" charset="-122"/>
              </a:rPr>
              <a:t>2s </a:t>
            </a:r>
            <a:r>
              <a:rPr kumimoji="0" lang="zh-CN" altLang="en-US" sz="2600" b="1">
                <a:solidFill>
                  <a:schemeClr val="tx1"/>
                </a:solidFill>
                <a:ea typeface="楷体_GB2312" pitchFamily="49" charset="-122"/>
              </a:rPr>
              <a:t>表示，等等。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uiExpand="1"/>
      <p:bldP spid="7" grpId="0"/>
      <p:bldP spid="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5"/>
          <p:cNvSpPr>
            <a:spLocks noChangeArrowheads="1"/>
          </p:cNvSpPr>
          <p:nvPr/>
        </p:nvSpPr>
        <p:spPr bwMode="auto">
          <a:xfrm>
            <a:off x="990600" y="1679105"/>
            <a:ext cx="17208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>
                <a:solidFill>
                  <a:srgbClr val="FF0066"/>
                </a:solidFill>
                <a:ea typeface="楷体_GB2312" pitchFamily="49" charset="-122"/>
              </a:rPr>
              <a:t>如：</a:t>
            </a:r>
            <a:r>
              <a:rPr lang="zh-CN" altLang="en-US" sz="2600" b="1">
                <a:solidFill>
                  <a:schemeClr val="tx1"/>
                </a:solidFill>
                <a:ea typeface="楷体_GB2312" pitchFamily="49" charset="-122"/>
              </a:rPr>
              <a:t>  </a:t>
            </a:r>
            <a:r>
              <a:rPr lang="en-US" altLang="zh-CN" sz="2600" b="1">
                <a:solidFill>
                  <a:schemeClr val="tx1"/>
                </a:solidFill>
                <a:ea typeface="楷体_GB2312" pitchFamily="49" charset="-122"/>
              </a:rPr>
              <a:t>4s </a:t>
            </a:r>
            <a:r>
              <a:rPr lang="zh-CN" altLang="en-US" sz="2600" b="1">
                <a:solidFill>
                  <a:schemeClr val="tx1"/>
                </a:solidFill>
                <a:ea typeface="楷体_GB2312" pitchFamily="49" charset="-122"/>
              </a:rPr>
              <a:t>：</a:t>
            </a:r>
          </a:p>
        </p:txBody>
      </p:sp>
      <p:sp>
        <p:nvSpPr>
          <p:cNvPr id="7" name="Rectangle 26"/>
          <p:cNvSpPr>
            <a:spLocks noChangeArrowheads="1"/>
          </p:cNvSpPr>
          <p:nvPr/>
        </p:nvSpPr>
        <p:spPr bwMode="auto">
          <a:xfrm>
            <a:off x="1676400" y="2288705"/>
            <a:ext cx="94773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>
                <a:solidFill>
                  <a:schemeClr val="tx1"/>
                </a:solidFill>
                <a:ea typeface="楷体_GB2312" pitchFamily="49" charset="-122"/>
              </a:rPr>
              <a:t>3d</a:t>
            </a:r>
            <a:r>
              <a:rPr lang="zh-CN" altLang="en-US" sz="2600" b="1">
                <a:solidFill>
                  <a:schemeClr val="tx1"/>
                </a:solidFill>
                <a:ea typeface="楷体_GB2312" pitchFamily="49" charset="-122"/>
              </a:rPr>
              <a:t>： </a:t>
            </a:r>
          </a:p>
        </p:txBody>
      </p:sp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2590800" y="1704505"/>
            <a:ext cx="380206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 dirty="0">
                <a:solidFill>
                  <a:schemeClr val="tx1"/>
                </a:solidFill>
                <a:ea typeface="楷体_GB2312" pitchFamily="49" charset="-122"/>
              </a:rPr>
              <a:t>（ </a:t>
            </a:r>
            <a:r>
              <a:rPr lang="en-US" altLang="zh-CN" sz="2600" b="1" dirty="0">
                <a:solidFill>
                  <a:schemeClr val="tx1"/>
                </a:solidFill>
                <a:ea typeface="楷体_GB2312" pitchFamily="49" charset="-122"/>
              </a:rPr>
              <a:t>n+0.7</a:t>
            </a:r>
            <a:r>
              <a:rPr lang="en-US" altLang="zh-CN" sz="2600" b="1" i="1" dirty="0">
                <a:solidFill>
                  <a:schemeClr val="tx1"/>
                </a:solidFill>
                <a:ea typeface="楷体_GB2312" pitchFamily="49" charset="-122"/>
              </a:rPr>
              <a:t> l </a:t>
            </a:r>
            <a:r>
              <a:rPr lang="en-US" altLang="zh-CN" sz="2600" b="1" dirty="0">
                <a:solidFill>
                  <a:schemeClr val="tx1"/>
                </a:solidFill>
                <a:ea typeface="楷体_GB2312" pitchFamily="49" charset="-122"/>
              </a:rPr>
              <a:t>)  = 4   </a:t>
            </a:r>
            <a:r>
              <a:rPr lang="zh-CN" altLang="en-US" sz="2600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5746673" y="1784870"/>
            <a:ext cx="3277493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 dirty="0">
                <a:solidFill>
                  <a:schemeClr val="tx1"/>
                </a:solidFill>
                <a:ea typeface="楷体_GB2312" pitchFamily="49" charset="-122"/>
              </a:rPr>
              <a:t>3d</a:t>
            </a:r>
            <a:r>
              <a:rPr lang="zh-CN" altLang="en-US" sz="2600" b="1" dirty="0">
                <a:solidFill>
                  <a:schemeClr val="tx1"/>
                </a:solidFill>
                <a:ea typeface="楷体_GB2312" pitchFamily="49" charset="-122"/>
              </a:rPr>
              <a:t>的能级高于 </a:t>
            </a:r>
            <a:r>
              <a:rPr lang="en-US" altLang="zh-CN" sz="2600" b="1" dirty="0">
                <a:solidFill>
                  <a:schemeClr val="tx1"/>
                </a:solidFill>
                <a:ea typeface="楷体_GB2312" pitchFamily="49" charset="-122"/>
              </a:rPr>
              <a:t>4s </a:t>
            </a:r>
            <a:r>
              <a:rPr lang="zh-CN" altLang="en-US" sz="2600" b="1" dirty="0">
                <a:solidFill>
                  <a:schemeClr val="tx1"/>
                </a:solidFill>
                <a:ea typeface="楷体_GB2312" pitchFamily="49" charset="-122"/>
              </a:rPr>
              <a:t>的能级。</a:t>
            </a: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2667000" y="2314105"/>
            <a:ext cx="415766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>
                <a:solidFill>
                  <a:schemeClr val="tx1"/>
                </a:solidFill>
                <a:ea typeface="楷体_GB2312" pitchFamily="49" charset="-122"/>
              </a:rPr>
              <a:t>（ </a:t>
            </a:r>
            <a:r>
              <a:rPr lang="en-US" altLang="zh-CN" sz="2600" b="1">
                <a:solidFill>
                  <a:schemeClr val="tx1"/>
                </a:solidFill>
                <a:ea typeface="楷体_GB2312" pitchFamily="49" charset="-122"/>
              </a:rPr>
              <a:t>n+0.7</a:t>
            </a:r>
            <a:r>
              <a:rPr lang="en-US" altLang="zh-CN" sz="2600" b="1" i="1">
                <a:solidFill>
                  <a:schemeClr val="tx1"/>
                </a:solidFill>
                <a:ea typeface="楷体_GB2312" pitchFamily="49" charset="-122"/>
              </a:rPr>
              <a:t> l </a:t>
            </a:r>
            <a:r>
              <a:rPr lang="en-US" altLang="zh-CN" sz="2600" b="1">
                <a:solidFill>
                  <a:schemeClr val="tx1"/>
                </a:solidFill>
                <a:ea typeface="楷体_GB2312" pitchFamily="49" charset="-122"/>
              </a:rPr>
              <a:t>)  = 4.4</a:t>
            </a: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blackWhite">
          <a:xfrm>
            <a:off x="304800" y="2812752"/>
            <a:ext cx="7696200" cy="4638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能级高低次序：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781967"/>
              </p:ext>
            </p:extLst>
          </p:nvPr>
        </p:nvGraphicFramePr>
        <p:xfrm>
          <a:off x="319087" y="3377902"/>
          <a:ext cx="668337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公式" r:id="rId3" imgW="56692800" imgH="10363200" progId="">
                  <p:embed/>
                </p:oleObj>
              </mc:Choice>
              <mc:Fallback>
                <p:oleObj name="公式" r:id="rId3" imgW="56692800" imgH="10363200" progId="">
                  <p:embed/>
                  <p:pic>
                    <p:nvPicPr>
                      <p:cNvPr id="0" name="Picture 2" descr="image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7" y="3377902"/>
                        <a:ext cx="6683375" cy="9572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4"/>
          <p:cNvSpPr>
            <a:spLocks noChangeShapeType="1"/>
          </p:cNvSpPr>
          <p:nvPr/>
        </p:nvSpPr>
        <p:spPr bwMode="blackWhite">
          <a:xfrm>
            <a:off x="3059832" y="3789040"/>
            <a:ext cx="839788" cy="1588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683568" y="168081"/>
            <a:ext cx="7776864" cy="153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5000"/>
              </a:spcBef>
            </a:pPr>
            <a:r>
              <a:rPr kumimoji="0" lang="zh-CN" altLang="en-US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）在某些情况，</a:t>
            </a:r>
            <a:r>
              <a:rPr kumimoji="0" lang="en-US" altLang="zh-CN" b="1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较小的壳层尚未填满，而 </a:t>
            </a:r>
            <a:r>
              <a:rPr kumimoji="0" lang="en-US" altLang="zh-CN" b="1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较大的壳层开始有电子填入了，出现了交错情形，此时，</a:t>
            </a:r>
            <a:r>
              <a:rPr lang="zh-CN" altLang="en-US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可用经验公式 </a:t>
            </a:r>
            <a:r>
              <a:rPr lang="zh-CN" altLang="en-US" b="1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（ </a:t>
            </a:r>
            <a:r>
              <a:rPr lang="en-US" altLang="zh-CN" b="1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n + 0.7</a:t>
            </a:r>
            <a:r>
              <a:rPr lang="en-US" altLang="zh-CN" b="1" i="1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 l </a:t>
            </a:r>
            <a:r>
              <a:rPr lang="en-US" altLang="zh-CN" b="1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的值确定能级的高低。</a:t>
            </a:r>
          </a:p>
        </p:txBody>
      </p:sp>
      <p:grpSp>
        <p:nvGrpSpPr>
          <p:cNvPr id="27" name="Group 22">
            <a:extLst>
              <a:ext uri="{FF2B5EF4-FFF2-40B4-BE49-F238E27FC236}">
                <a16:creationId xmlns:a16="http://schemas.microsoft.com/office/drawing/2014/main" id="{410552FC-F8E9-4120-8793-C9B2F0F66B70}"/>
              </a:ext>
            </a:extLst>
          </p:cNvPr>
          <p:cNvGrpSpPr>
            <a:grpSpLocks/>
          </p:cNvGrpSpPr>
          <p:nvPr/>
        </p:nvGrpSpPr>
        <p:grpSpPr bwMode="auto">
          <a:xfrm>
            <a:off x="5266591" y="3789040"/>
            <a:ext cx="3600450" cy="3130550"/>
            <a:chOff x="3243" y="1344"/>
            <a:chExt cx="2268" cy="1972"/>
          </a:xfrm>
        </p:grpSpPr>
        <p:pic>
          <p:nvPicPr>
            <p:cNvPr id="28" name="Picture 19" descr="MPalelpd01">
              <a:extLst>
                <a:ext uri="{FF2B5EF4-FFF2-40B4-BE49-F238E27FC236}">
                  <a16:creationId xmlns:a16="http://schemas.microsoft.com/office/drawing/2014/main" id="{676E0D3E-F088-47B6-8493-2F99B3692D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3" y="1344"/>
              <a:ext cx="2268" cy="1668"/>
            </a:xfrm>
            <a:prstGeom prst="rect">
              <a:avLst/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Rectangle 20">
              <a:extLst>
                <a:ext uri="{FF2B5EF4-FFF2-40B4-BE49-F238E27FC236}">
                  <a16:creationId xmlns:a16="http://schemas.microsoft.com/office/drawing/2014/main" id="{221044EB-8122-45FA-ADD2-BB3931ECB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3032"/>
              <a:ext cx="1951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spcAft>
                  <a:spcPts val="3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CC0000"/>
                  </a:solidFill>
                  <a:cs typeface="Times New Roman" panose="02020603050405020304" pitchFamily="18" charset="0"/>
                </a:rPr>
                <a:t>电子填充次序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4" grpId="0" autoUpdateAnimBg="0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617752" y="5497354"/>
            <a:ext cx="13563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600" b="1" dirty="0">
                <a:solidFill>
                  <a:schemeClr val="tx1"/>
                </a:solidFill>
                <a:ea typeface="楷体_GB2312" pitchFamily="49" charset="-122"/>
              </a:rPr>
              <a:t>铜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Z=29</a:t>
            </a:r>
            <a:endParaRPr kumimoji="0" lang="zh-CN" altLang="en-US" sz="2600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11" name="Text Box 30"/>
          <p:cNvSpPr txBox="1">
            <a:spLocks noChangeArrowheads="1"/>
          </p:cNvSpPr>
          <p:nvPr/>
        </p:nvSpPr>
        <p:spPr bwMode="auto">
          <a:xfrm>
            <a:off x="1617752" y="4708367"/>
            <a:ext cx="13227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 b="1" dirty="0">
                <a:solidFill>
                  <a:schemeClr val="tx1"/>
                </a:solidFill>
                <a:ea typeface="楷体_GB2312" pitchFamily="49" charset="-122"/>
              </a:rPr>
              <a:t>钾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Z=19</a:t>
            </a:r>
            <a:endParaRPr lang="zh-CN" altLang="en-US" sz="2600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12" name="Text Box 32"/>
          <p:cNvSpPr txBox="1">
            <a:spLocks noChangeArrowheads="1"/>
          </p:cNvSpPr>
          <p:nvPr/>
        </p:nvSpPr>
        <p:spPr bwMode="auto">
          <a:xfrm>
            <a:off x="3150285" y="4702017"/>
            <a:ext cx="2667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1s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2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2s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2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2p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6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3s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2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3p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6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4s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1</a:t>
            </a:r>
            <a:endParaRPr lang="en-US" altLang="zh-CN" sz="2600" dirty="0">
              <a:solidFill>
                <a:srgbClr val="FF0066"/>
              </a:solidFill>
              <a:ea typeface="楷体_GB2312" pitchFamily="49" charset="-122"/>
            </a:endParaRPr>
          </a:p>
        </p:txBody>
      </p:sp>
      <p:sp>
        <p:nvSpPr>
          <p:cNvPr id="13" name="Text Box 33"/>
          <p:cNvSpPr txBox="1">
            <a:spLocks noChangeArrowheads="1"/>
          </p:cNvSpPr>
          <p:nvPr/>
        </p:nvSpPr>
        <p:spPr bwMode="auto">
          <a:xfrm>
            <a:off x="3150285" y="5494179"/>
            <a:ext cx="325602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1s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2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2s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2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2p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6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3s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2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3p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6</a:t>
            </a:r>
            <a:r>
              <a:rPr lang="en-US" altLang="zh-CN" sz="2600" dirty="0">
                <a:solidFill>
                  <a:srgbClr val="002060"/>
                </a:solidFill>
                <a:ea typeface="楷体_GB2312" pitchFamily="49" charset="-122"/>
              </a:rPr>
              <a:t>4s</a:t>
            </a:r>
            <a:r>
              <a:rPr lang="en-US" altLang="zh-CN" sz="2600" baseline="30000" dirty="0">
                <a:solidFill>
                  <a:srgbClr val="002060"/>
                </a:solidFill>
                <a:ea typeface="楷体_GB2312" pitchFamily="49" charset="-122"/>
              </a:rPr>
              <a:t>1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3d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10</a:t>
            </a:r>
            <a:endParaRPr lang="en-US" altLang="zh-CN" sz="2600" dirty="0">
              <a:solidFill>
                <a:srgbClr val="FF0066"/>
              </a:solidFill>
              <a:ea typeface="楷体_GB2312" pitchFamily="49" charset="-122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blackWhite">
          <a:xfrm>
            <a:off x="971600" y="3166299"/>
            <a:ext cx="5257800" cy="5254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:    </a:t>
            </a:r>
            <a:r>
              <a:rPr lang="zh-CN" altLang="en-US" sz="28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氩    </a:t>
            </a:r>
            <a:r>
              <a:rPr lang="en-US" altLang="zh-CN" sz="28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Z = 18</a:t>
            </a:r>
            <a:r>
              <a:rPr lang="zh-CN" altLang="en-US" sz="28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的电子排布</a:t>
            </a:r>
          </a:p>
        </p:txBody>
      </p:sp>
      <p:graphicFrame>
        <p:nvGraphicFramePr>
          <p:cNvPr id="1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886828"/>
              </p:ext>
            </p:extLst>
          </p:nvPr>
        </p:nvGraphicFramePr>
        <p:xfrm>
          <a:off x="1963787" y="3810824"/>
          <a:ext cx="308768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公式" r:id="rId3" imgW="26822400" imgH="5486400" progId="">
                  <p:embed/>
                </p:oleObj>
              </mc:Choice>
              <mc:Fallback>
                <p:oleObj name="公式" r:id="rId3" imgW="26822400" imgH="5486400" progId="">
                  <p:embed/>
                  <p:pic>
                    <p:nvPicPr>
                      <p:cNvPr id="0" name="Picture 1" descr="image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787" y="3810824"/>
                        <a:ext cx="3087688" cy="631825"/>
                      </a:xfrm>
                      <a:prstGeom prst="rect">
                        <a:avLst/>
                      </a:prstGeom>
                      <a:solidFill>
                        <a:srgbClr val="008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33"/>
          <p:cNvSpPr txBox="1">
            <a:spLocks noChangeArrowheads="1"/>
          </p:cNvSpPr>
          <p:nvPr/>
        </p:nvSpPr>
        <p:spPr bwMode="auto">
          <a:xfrm>
            <a:off x="3150285" y="6105049"/>
            <a:ext cx="3205480" cy="49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1s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2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2s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2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2p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6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3s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2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3p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6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</a:rPr>
              <a:t>3d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</a:rPr>
              <a:t>10</a:t>
            </a:r>
            <a:r>
              <a:rPr lang="en-US" altLang="zh-CN" sz="2600" dirty="0">
                <a:solidFill>
                  <a:srgbClr val="002060"/>
                </a:solidFill>
                <a:ea typeface="楷体_GB2312" pitchFamily="49" charset="-122"/>
                <a:sym typeface="+mn-ea"/>
              </a:rPr>
              <a:t>4s</a:t>
            </a:r>
            <a:r>
              <a:rPr lang="en-US" altLang="zh-CN" sz="2600" baseline="30000" dirty="0">
                <a:solidFill>
                  <a:srgbClr val="002060"/>
                </a:solidFill>
                <a:ea typeface="楷体_GB2312" pitchFamily="49" charset="-122"/>
                <a:sym typeface="+mn-ea"/>
              </a:rPr>
              <a:t>1</a:t>
            </a:r>
            <a:endParaRPr lang="en-US" altLang="zh-CN" sz="2600" dirty="0">
              <a:solidFill>
                <a:srgbClr val="FF0066"/>
              </a:solidFill>
              <a:ea typeface="楷体_GB2312" pitchFamily="49" charset="-122"/>
            </a:endParaRPr>
          </a:p>
        </p:txBody>
      </p:sp>
      <p:sp>
        <p:nvSpPr>
          <p:cNvPr id="3" name="Text Box 30"/>
          <p:cNvSpPr txBox="1">
            <a:spLocks noChangeArrowheads="1"/>
          </p:cNvSpPr>
          <p:nvPr/>
        </p:nvSpPr>
        <p:spPr bwMode="auto">
          <a:xfrm>
            <a:off x="6586627" y="6104732"/>
            <a:ext cx="84709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 b="1" dirty="0">
                <a:solidFill>
                  <a:schemeClr val="tx1"/>
                </a:solidFill>
                <a:ea typeface="楷体_GB2312" pitchFamily="49" charset="-122"/>
              </a:rPr>
              <a:t>特例</a:t>
            </a:r>
          </a:p>
        </p:txBody>
      </p:sp>
      <p:sp>
        <p:nvSpPr>
          <p:cNvPr id="5" name="Text Box 30"/>
          <p:cNvSpPr txBox="1">
            <a:spLocks noChangeArrowheads="1"/>
          </p:cNvSpPr>
          <p:nvPr/>
        </p:nvSpPr>
        <p:spPr bwMode="auto">
          <a:xfrm>
            <a:off x="6658382" y="5493862"/>
            <a:ext cx="421640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600" b="1" dirty="0">
                <a:solidFill>
                  <a:srgbClr val="FF0000"/>
                </a:solidFill>
                <a:ea typeface="楷体_GB2312" pitchFamily="49" charset="-122"/>
              </a:rPr>
              <a:t>X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blackWhite">
          <a:xfrm>
            <a:off x="485725" y="2137243"/>
            <a:ext cx="799655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no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每个次壳层容纳电子数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2(2</a:t>
            </a:r>
            <a:r>
              <a:rPr lang="en-US" altLang="zh-CN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+1):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52297" y="2654787"/>
            <a:ext cx="592772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1s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2</a:t>
            </a:r>
            <a:r>
              <a:rPr lang="zh-CN" altLang="en-US" sz="26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，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2s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2</a:t>
            </a:r>
            <a:r>
              <a:rPr lang="zh-CN" altLang="en-US" sz="26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，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2p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6</a:t>
            </a:r>
            <a:r>
              <a:rPr lang="zh-CN" altLang="en-US" sz="26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，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3s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2</a:t>
            </a:r>
            <a:r>
              <a:rPr lang="zh-CN" altLang="en-US" sz="26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，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3p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6</a:t>
            </a:r>
            <a:r>
              <a:rPr lang="zh-CN" altLang="en-US" sz="26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，</a:t>
            </a:r>
            <a:r>
              <a:rPr lang="en-US" altLang="zh-CN" sz="26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4s</a:t>
            </a:r>
            <a:r>
              <a:rPr lang="en-US" altLang="zh-CN" sz="2600" baseline="300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1</a:t>
            </a:r>
            <a:r>
              <a:rPr lang="zh-CN" altLang="en-US" sz="2600" dirty="0">
                <a:solidFill>
                  <a:srgbClr val="FF0066"/>
                </a:solidFill>
                <a:ea typeface="楷体_GB2312" pitchFamily="49" charset="-122"/>
                <a:sym typeface="+mn-ea"/>
              </a:rPr>
              <a:t>。。。。</a:t>
            </a:r>
          </a:p>
        </p:txBody>
      </p:sp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BFA3BCB1-4436-45E5-9CAA-C35CEF8FD6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848611"/>
              </p:ext>
            </p:extLst>
          </p:nvPr>
        </p:nvGraphicFramePr>
        <p:xfrm>
          <a:off x="4014673" y="618959"/>
          <a:ext cx="7016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name="公式" r:id="rId5" imgW="5486400" imgH="4876800" progId="">
                  <p:embed/>
                </p:oleObj>
              </mc:Choice>
              <mc:Fallback>
                <p:oleObj name="公式" r:id="rId5" imgW="5486400" imgH="4876800" progId="">
                  <p:embed/>
                  <p:pic>
                    <p:nvPicPr>
                      <p:cNvPr id="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673" y="618959"/>
                        <a:ext cx="701675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7">
            <a:extLst>
              <a:ext uri="{FF2B5EF4-FFF2-40B4-BE49-F238E27FC236}">
                <a16:creationId xmlns:a16="http://schemas.microsoft.com/office/drawing/2014/main" id="{F383F541-EFFA-49B1-A9B2-5D9582215A39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3790836" y="1190459"/>
            <a:ext cx="304800" cy="304800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tailEnd type="triangle" w="med" len="med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132A5C0A-2597-4B0E-BE08-1E894E5100AD}"/>
              </a:ext>
            </a:extLst>
          </p:cNvPr>
          <p:cNvSpPr>
            <a:spLocks noChangeShapeType="1"/>
          </p:cNvSpPr>
          <p:nvPr/>
        </p:nvSpPr>
        <p:spPr bwMode="blackWhite">
          <a:xfrm flipH="1" flipV="1">
            <a:off x="4476636" y="1190459"/>
            <a:ext cx="304800" cy="381000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tailEnd type="triangle" w="med" len="med"/>
          </a:ln>
          <a:effectLst/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9" name="Line 9">
            <a:extLst>
              <a:ext uri="{FF2B5EF4-FFF2-40B4-BE49-F238E27FC236}">
                <a16:creationId xmlns:a16="http://schemas.microsoft.com/office/drawing/2014/main" id="{1FE1BC15-7571-4789-AF7B-83B906AFAFC6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4657611" y="395121"/>
            <a:ext cx="381000" cy="304800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tailEnd type="triangle" w="med" len="med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F1EEEAB8-F9D7-4790-8505-C3BCE2446B35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871923" y="123659"/>
            <a:ext cx="2209800" cy="4638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effectLst/>
                <a:ea typeface="宋体" panose="02010600030101010101" pitchFamily="2" charset="-122"/>
              </a:rPr>
              <a:t>电子个数</a:t>
            </a:r>
          </a:p>
        </p:txBody>
      </p:sp>
      <p:sp>
        <p:nvSpPr>
          <p:cNvPr id="21" name="Text Box 11">
            <a:extLst>
              <a:ext uri="{FF2B5EF4-FFF2-40B4-BE49-F238E27FC236}">
                <a16:creationId xmlns:a16="http://schemas.microsoft.com/office/drawing/2014/main" id="{164E1295-62A4-47C0-BCD5-A585AD1D72C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333636" y="1438109"/>
            <a:ext cx="635000" cy="4638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ctr" eaLnBrk="1" hangingPunct="1"/>
            <a:r>
              <a:rPr lang="zh-CN" altLang="en-US" sz="2400" b="1" dirty="0">
                <a:effectLst/>
                <a:ea typeface="宋体" panose="02010600030101010101" pitchFamily="2" charset="-122"/>
              </a:rPr>
              <a:t>主</a:t>
            </a: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085A72A4-9B7C-4D2A-8E2B-B5E8F5C1AC97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857636" y="1419059"/>
            <a:ext cx="1981200" cy="4638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effectLst/>
                <a:ea typeface="宋体" panose="02010600030101010101" pitchFamily="2" charset="-122"/>
              </a:rPr>
              <a:t>角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(</a:t>
            </a:r>
            <a:r>
              <a:rPr lang="zh-CN" altLang="en-US" sz="2400" b="1">
                <a:effectLst/>
                <a:ea typeface="宋体" panose="02010600030101010101" pitchFamily="2" charset="-122"/>
              </a:rPr>
              <a:t>副量子数</a:t>
            </a:r>
            <a:r>
              <a:rPr lang="en-US" altLang="zh-CN" sz="2400" b="1">
                <a:effectLst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23" name="Text Box 18">
            <a:extLst>
              <a:ext uri="{FF2B5EF4-FFF2-40B4-BE49-F238E27FC236}">
                <a16:creationId xmlns:a16="http://schemas.microsoft.com/office/drawing/2014/main" id="{FED98504-BC7E-4337-9ADD-FFCF3B471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237" y="971175"/>
            <a:ext cx="26352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kumimoji="0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电子组态表示方法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7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11" grpId="0" autoUpdateAnimBg="0"/>
      <p:bldP spid="12" grpId="0" bldLvl="0" animBg="1"/>
      <p:bldP spid="13" grpId="0" bldLvl="0" animBg="1"/>
      <p:bldP spid="14" grpId="0"/>
      <p:bldP spid="2" grpId="0" bldLvl="0" animBg="1"/>
      <p:bldP spid="3" grpId="0" autoUpdateAnimBg="0"/>
      <p:bldP spid="5" grpId="0" autoUpdateAnimBg="0"/>
      <p:bldP spid="7" grpId="0"/>
      <p:bldP spid="8" grpId="0"/>
      <p:bldP spid="17" grpId="0" animBg="1"/>
      <p:bldP spid="18" grpId="0" animBg="1"/>
      <p:bldP spid="19" grpId="0" animBg="1"/>
      <p:bldP spid="20" grpId="0" autoUpdateAnimBg="0"/>
      <p:bldP spid="21" grpId="0" autoUpdateAnimBg="0"/>
      <p:bldP spid="22" grpId="0" autoUpdateAnimBg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98" name="Picture 3" descr="图片24">
            <a:extLst>
              <a:ext uri="{FF2B5EF4-FFF2-40B4-BE49-F238E27FC236}">
                <a16:creationId xmlns:a16="http://schemas.microsoft.com/office/drawing/2014/main" id="{72FC5F16-A69C-45AA-B016-6D395EAC4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88" y="1052513"/>
            <a:ext cx="7210425" cy="5024437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027" name="Text Box 4">
            <a:extLst>
              <a:ext uri="{FF2B5EF4-FFF2-40B4-BE49-F238E27FC236}">
                <a16:creationId xmlns:a16="http://schemas.microsoft.com/office/drawing/2014/main" id="{498EE4C5-C2DB-4A3D-BF87-AA303A31D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68300"/>
            <a:ext cx="2954338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 eaLnBrk="1" hangingPunct="1">
              <a:lnSpc>
                <a:spcPct val="105000"/>
              </a:lnSpc>
              <a:spcAft>
                <a:spcPct val="20000"/>
              </a:spcAft>
            </a:pPr>
            <a:r>
              <a:rPr lang="zh-CN" altLang="en-US" dirty="0">
                <a:solidFill>
                  <a:srgbClr val="0000CC"/>
                </a:solidFill>
                <a:sym typeface="Calibri" panose="020F0502020204030204" pitchFamily="34" charset="0"/>
              </a:rPr>
              <a:t>元素周期表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Text Box 2"/>
          <p:cNvSpPr txBox="1">
            <a:spLocks noChangeArrowheads="1"/>
          </p:cNvSpPr>
          <p:nvPr/>
        </p:nvSpPr>
        <p:spPr bwMode="auto">
          <a:xfrm>
            <a:off x="250825" y="188913"/>
            <a:ext cx="8785225" cy="714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例 </a:t>
            </a: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设氢原子处于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2p</a:t>
            </a:r>
            <a:r>
              <a:rPr lang="zh-CN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态，求氢原子的能量、角动量大小及角动量的空间取向。</a:t>
            </a:r>
            <a:endParaRPr lang="zh-CN" altLang="en-US" sz="2400" b="1" dirty="0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56707" name="Text Box 3"/>
          <p:cNvSpPr txBox="1">
            <a:spLocks noChangeArrowheads="1"/>
          </p:cNvSpPr>
          <p:nvPr/>
        </p:nvSpPr>
        <p:spPr bwMode="auto">
          <a:xfrm>
            <a:off x="301625" y="1079500"/>
            <a:ext cx="55514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解 </a:t>
            </a:r>
            <a:r>
              <a:rPr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  </a:t>
            </a: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态表示 </a:t>
            </a:r>
            <a:r>
              <a:rPr lang="en-US" altLang="zh-CN" sz="2400" b="1" i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=2, </a:t>
            </a:r>
            <a:r>
              <a:rPr lang="en-US" altLang="zh-CN" sz="2400" b="1" i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2" name="Group 4"/>
          <p:cNvGrpSpPr/>
          <p:nvPr/>
        </p:nvGrpSpPr>
        <p:grpSpPr bwMode="auto">
          <a:xfrm>
            <a:off x="1592263" y="1720850"/>
            <a:ext cx="4710112" cy="790575"/>
            <a:chOff x="976" y="1453"/>
            <a:chExt cx="3058" cy="552"/>
          </a:xfrm>
        </p:grpSpPr>
        <p:sp>
          <p:nvSpPr>
            <p:cNvPr id="456709" name="Text Box 5"/>
            <p:cNvSpPr txBox="1">
              <a:spLocks noChangeArrowheads="1"/>
            </p:cNvSpPr>
            <p:nvPr/>
          </p:nvSpPr>
          <p:spPr bwMode="auto">
            <a:xfrm>
              <a:off x="976" y="1556"/>
              <a:ext cx="3056" cy="32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zh-CN" sz="2400" b="1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得</a:t>
              </a:r>
              <a:endParaRPr lang="zh-CN" altLang="en-US" sz="24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graphicFrame>
          <p:nvGraphicFramePr>
            <p:cNvPr id="456710" name="Object 6"/>
            <p:cNvGraphicFramePr>
              <a:graphicFrameLocks noChangeAspect="1"/>
            </p:cNvGraphicFramePr>
            <p:nvPr/>
          </p:nvGraphicFramePr>
          <p:xfrm>
            <a:off x="1593" y="1453"/>
            <a:ext cx="2441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27" name="Equation" r:id="rId3" imgW="56997600" imgH="13411200" progId="Equation.3">
                    <p:embed/>
                  </p:oleObj>
                </mc:Choice>
                <mc:Fallback>
                  <p:oleObj name="Equation" r:id="rId3" imgW="56997600" imgH="13411200" progId="Equation.3">
                    <p:embed/>
                    <p:pic>
                      <p:nvPicPr>
                        <p:cNvPr id="0" name="Picture 6" descr="image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3" y="1453"/>
                          <a:ext cx="2441" cy="5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6711" name="Text Box 7"/>
          <p:cNvSpPr txBox="1">
            <a:spLocks noChangeArrowheads="1"/>
          </p:cNvSpPr>
          <p:nvPr/>
        </p:nvSpPr>
        <p:spPr bwMode="auto">
          <a:xfrm>
            <a:off x="1179513" y="2520950"/>
            <a:ext cx="4851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4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角动量的大小为</a:t>
            </a:r>
            <a:endParaRPr lang="zh-CN" altLang="en-US" sz="24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456712" name="Object 8"/>
          <p:cNvGraphicFramePr>
            <a:graphicFrameLocks noChangeAspect="1"/>
          </p:cNvGraphicFramePr>
          <p:nvPr/>
        </p:nvGraphicFramePr>
        <p:xfrm>
          <a:off x="3854450" y="2451100"/>
          <a:ext cx="29194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8" name="Equation" r:id="rId5" imgW="41148000" imgH="8534400" progId="Equation.3">
                  <p:embed/>
                </p:oleObj>
              </mc:Choice>
              <mc:Fallback>
                <p:oleObj name="Equation" r:id="rId5" imgW="41148000" imgH="8534400" progId="Equation.3">
                  <p:embed/>
                  <p:pic>
                    <p:nvPicPr>
                      <p:cNvPr id="0" name="Picture 5" descr="image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450" y="2451100"/>
                        <a:ext cx="2919413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6713" name="Text Box 9"/>
          <p:cNvSpPr txBox="1">
            <a:spLocks noChangeArrowheads="1"/>
          </p:cNvSpPr>
          <p:nvPr/>
        </p:nvSpPr>
        <p:spPr bwMode="auto">
          <a:xfrm>
            <a:off x="750888" y="3089275"/>
            <a:ext cx="77660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2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时，</a:t>
            </a:r>
            <a:r>
              <a:rPr lang="en-US" altLang="zh-CN" sz="2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i="1" baseline="-2500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  </a:t>
            </a:r>
            <a:r>
              <a:rPr lang="zh-CN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的可能值是-1, 0, +1，</a:t>
            </a:r>
            <a:endParaRPr lang="zh-CN" altLang="en-US" sz="24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56714" name="Object 10"/>
          <p:cNvGraphicFramePr>
            <a:graphicFrameLocks noChangeAspect="1"/>
          </p:cNvGraphicFramePr>
          <p:nvPr/>
        </p:nvGraphicFramePr>
        <p:xfrm>
          <a:off x="2409825" y="5138738"/>
          <a:ext cx="3817938" cy="171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9" name="Equation" r:id="rId7" imgW="54559200" imgH="25603200" progId="Equation.DSMT4">
                  <p:embed/>
                </p:oleObj>
              </mc:Choice>
              <mc:Fallback>
                <p:oleObj name="Equation" r:id="rId7" imgW="54559200" imgH="25603200" progId="Equation.DSMT4">
                  <p:embed/>
                  <p:pic>
                    <p:nvPicPr>
                      <p:cNvPr id="0" name="Picture 4" descr="image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9825" y="5138738"/>
                        <a:ext cx="3817938" cy="171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6715" name="Object 11"/>
          <p:cNvGraphicFramePr>
            <a:graphicFrameLocks noChangeAspect="1"/>
          </p:cNvGraphicFramePr>
          <p:nvPr/>
        </p:nvGraphicFramePr>
        <p:xfrm>
          <a:off x="6061075" y="1009650"/>
          <a:ext cx="20558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0" name="Equation" r:id="rId9" imgW="33223200" imgH="13716000" progId="Equation.3">
                  <p:embed/>
                </p:oleObj>
              </mc:Choice>
              <mc:Fallback>
                <p:oleObj name="Equation" r:id="rId9" imgW="33223200" imgH="13716000" progId="Equation.3">
                  <p:embed/>
                  <p:pic>
                    <p:nvPicPr>
                      <p:cNvPr id="0" name="Picture 3" descr="image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1075" y="1009650"/>
                        <a:ext cx="2055813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6716" name="Rectangle 12"/>
          <p:cNvSpPr>
            <a:spLocks noChangeArrowheads="1"/>
          </p:cNvSpPr>
          <p:nvPr/>
        </p:nvSpPr>
        <p:spPr bwMode="auto">
          <a:xfrm>
            <a:off x="5033963" y="1090613"/>
            <a:ext cx="7969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4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根据</a:t>
            </a:r>
            <a:endParaRPr lang="zh-CN" altLang="en-US" sz="24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56740" name="Rectangle 36"/>
          <p:cNvSpPr>
            <a:spLocks noChangeArrowheads="1"/>
          </p:cNvSpPr>
          <p:nvPr/>
        </p:nvSpPr>
        <p:spPr bwMode="auto">
          <a:xfrm>
            <a:off x="1268413" y="4403725"/>
            <a:ext cx="53927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角动量方向与外磁场的夹角可能值为：</a:t>
            </a:r>
            <a:endParaRPr lang="zh-CN" altLang="en-US" sz="2400" b="1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56741" name="Object 37"/>
          <p:cNvGraphicFramePr>
            <a:graphicFrameLocks noChangeAspect="1"/>
          </p:cNvGraphicFramePr>
          <p:nvPr/>
        </p:nvGraphicFramePr>
        <p:xfrm>
          <a:off x="1816100" y="3679825"/>
          <a:ext cx="26844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1" name="公式" r:id="rId11" imgW="28041600" imgH="5486400" progId="Equation.3">
                  <p:embed/>
                </p:oleObj>
              </mc:Choice>
              <mc:Fallback>
                <p:oleObj name="公式" r:id="rId11" imgW="28041600" imgH="5486400" progId="Equation.3">
                  <p:embed/>
                  <p:pic>
                    <p:nvPicPr>
                      <p:cNvPr id="0" name="Picture 2" descr="image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3679825"/>
                        <a:ext cx="26844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6742" name="Object 38"/>
          <p:cNvGraphicFramePr>
            <a:graphicFrameLocks noChangeAspect="1"/>
          </p:cNvGraphicFramePr>
          <p:nvPr/>
        </p:nvGraphicFramePr>
        <p:xfrm>
          <a:off x="323850" y="5400675"/>
          <a:ext cx="1800225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2" name="公式" r:id="rId13" imgW="16154400" imgH="9448800" progId="Equation.3">
                  <p:embed/>
                </p:oleObj>
              </mc:Choice>
              <mc:Fallback>
                <p:oleObj name="公式" r:id="rId13" imgW="16154400" imgH="9448800" progId="Equation.3">
                  <p:embed/>
                  <p:pic>
                    <p:nvPicPr>
                      <p:cNvPr id="0" name="Picture 1" descr="image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400675"/>
                        <a:ext cx="1800225" cy="1052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6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6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6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6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5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5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6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07" grpId="0" build="p" autoUpdateAnimBg="0"/>
      <p:bldP spid="456711" grpId="0" build="p" autoUpdateAnimBg="0"/>
      <p:bldP spid="456713" grpId="0" build="p" autoUpdateAnimBg="0"/>
      <p:bldP spid="456716" grpId="0" build="p" autoUpdateAnimBg="0"/>
      <p:bldP spid="4567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87" name="Text Box 19"/>
          <p:cNvSpPr txBox="1">
            <a:spLocks noChangeArrowheads="1"/>
          </p:cNvSpPr>
          <p:nvPr/>
        </p:nvSpPr>
        <p:spPr bwMode="blackWhite">
          <a:xfrm>
            <a:off x="323850" y="476672"/>
            <a:ext cx="8263801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CC3300"/>
                </a:solidFill>
                <a:effectLst/>
                <a:ea typeface="宋体" panose="02010600030101010101" pitchFamily="2" charset="-122"/>
              </a:rPr>
              <a:t>   </a:t>
            </a:r>
            <a:r>
              <a:rPr lang="zh-CN" altLang="en-US" sz="2400" b="1" dirty="0">
                <a:solidFill>
                  <a:srgbClr val="CC3300"/>
                </a:solidFill>
                <a:effectLst/>
                <a:ea typeface="宋体" panose="02010600030101010101" pitchFamily="2" charset="-122"/>
              </a:rPr>
              <a:t>例 </a:t>
            </a:r>
            <a:r>
              <a:rPr lang="en-US" altLang="zh-CN" sz="2400" b="1" dirty="0">
                <a:solidFill>
                  <a:srgbClr val="CC3300"/>
                </a:solidFill>
                <a:effectLst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在氢原子的 </a:t>
            </a:r>
            <a:r>
              <a:rPr lang="en-US" altLang="zh-CN" sz="24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L </a:t>
            </a:r>
            <a:r>
              <a:rPr lang="zh-CN" altLang="en-US" sz="24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壳层中， 电子可能具有的量子数 （</a:t>
            </a:r>
            <a:r>
              <a:rPr lang="en-US" altLang="zh-CN" sz="24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n , l ,</a:t>
            </a:r>
          </a:p>
          <a:p>
            <a:pPr eaLnBrk="1" hangingPunct="1"/>
            <a:r>
              <a:rPr lang="en-US" altLang="zh-CN" sz="24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m</a:t>
            </a:r>
            <a:r>
              <a:rPr lang="en-US" altLang="zh-CN" sz="2400" b="1" baseline="-25000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l </a:t>
            </a:r>
            <a:r>
              <a:rPr lang="en-US" altLang="zh-CN" sz="24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, m</a:t>
            </a:r>
            <a:r>
              <a:rPr lang="en-US" altLang="zh-CN" sz="2400" b="1" baseline="-25000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s</a:t>
            </a:r>
            <a:r>
              <a:rPr lang="en-US" altLang="zh-CN" sz="24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） 是</a:t>
            </a:r>
          </a:p>
        </p:txBody>
      </p:sp>
      <p:graphicFrame>
        <p:nvGraphicFramePr>
          <p:cNvPr id="467988" name="Object 20"/>
          <p:cNvGraphicFramePr>
            <a:graphicFrameLocks noChangeAspect="1"/>
          </p:cNvGraphicFramePr>
          <p:nvPr/>
        </p:nvGraphicFramePr>
        <p:xfrm>
          <a:off x="1085850" y="1452315"/>
          <a:ext cx="6300788" cy="154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公式" r:id="rId3" imgW="68580000" imgH="19507200" progId="Equation.3">
                  <p:embed/>
                </p:oleObj>
              </mc:Choice>
              <mc:Fallback>
                <p:oleObj name="公式" r:id="rId3" imgW="68580000" imgH="19507200" progId="Equation.3">
                  <p:embed/>
                  <p:pic>
                    <p:nvPicPr>
                      <p:cNvPr id="0" name="Picture 1" descr="image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  <a:lum bright="100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1452315"/>
                        <a:ext cx="6300788" cy="1544637"/>
                      </a:xfrm>
                      <a:prstGeom prst="rect">
                        <a:avLst/>
                      </a:prstGeom>
                      <a:solidFill>
                        <a:srgbClr val="008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89" name="Text Box 21"/>
          <p:cNvSpPr txBox="1">
            <a:spLocks noChangeArrowheads="1"/>
          </p:cNvSpPr>
          <p:nvPr/>
        </p:nvSpPr>
        <p:spPr bwMode="blackWhite">
          <a:xfrm>
            <a:off x="4914900" y="3183359"/>
            <a:ext cx="369043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答案： </a:t>
            </a:r>
            <a:r>
              <a:rPr lang="en-US" altLang="zh-CN" sz="2400" b="1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L </a:t>
            </a:r>
            <a:r>
              <a:rPr lang="zh-CN" altLang="en-US" sz="2400" b="1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壳层  </a:t>
            </a:r>
            <a:r>
              <a:rPr lang="en-US" altLang="zh-CN" sz="2400" b="1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n=2 ,  </a:t>
            </a:r>
            <a:r>
              <a:rPr lang="zh-CN" altLang="en-US" sz="2400" b="1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B</a:t>
            </a:r>
            <a:r>
              <a:rPr lang="zh-CN" altLang="en-US" sz="2400" b="1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46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89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71463" y="362039"/>
            <a:ext cx="8693025" cy="9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chemeClr val="accent2"/>
                </a:solidFill>
                <a:ea typeface="楷体_GB2312" pitchFamily="49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ea typeface="楷体_GB2312" pitchFamily="49" charset="-122"/>
              </a:rPr>
              <a:t>3.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氢原子处在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=2 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能级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在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不考虑电子自旋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的情况下，对于各个状态，试按量子数列出它们的波函数。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17500" y="1556792"/>
            <a:ext cx="8419292" cy="208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chemeClr val="accent2"/>
                </a:solidFill>
                <a:ea typeface="楷体_GB2312" pitchFamily="49" charset="-122"/>
              </a:rPr>
              <a:t>解：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       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n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确定后角量子数可取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……  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-1),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共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个值；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        在给定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后磁量子数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m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可取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-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-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+1,…0,…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-1,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        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共（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+1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）个值；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036414" y="3752899"/>
            <a:ext cx="51700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据题意，当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=2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时，可能的波函数为</a:t>
            </a:r>
          </a:p>
        </p:txBody>
      </p:sp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2339752" y="4437112"/>
          <a:ext cx="4008437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Equation" r:id="rId3" imgW="1816100" imgH="292100" progId="Equation.DSMT4">
                  <p:embed/>
                </p:oleObj>
              </mc:Choice>
              <mc:Fallback>
                <p:oleObj name="Equation" r:id="rId3" imgW="1816100" imgH="292100" progId="Equation.DSMT4">
                  <p:embed/>
                  <p:pic>
                    <p:nvPicPr>
                      <p:cNvPr id="0" name="Picture 2" descr="image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437112"/>
                        <a:ext cx="4008437" cy="668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Text Box 2"/>
          <p:cNvSpPr txBox="1">
            <a:spLocks noChangeArrowheads="1"/>
          </p:cNvSpPr>
          <p:nvPr/>
        </p:nvSpPr>
        <p:spPr bwMode="auto">
          <a:xfrm>
            <a:off x="122238" y="193675"/>
            <a:ext cx="8602345" cy="11988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锂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(Z=3) 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原子中含有三个电子，电子的量子态可用</a:t>
            </a:r>
          </a:p>
          <a:p>
            <a:pPr eaLnBrk="1" hangingPunct="1"/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n, l , m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m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 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）四个量子数来描述，若已知其中一个的量</a:t>
            </a:r>
          </a:p>
          <a:p>
            <a:pPr eaLnBrk="1" hangingPunct="1"/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子态为  （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1/2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），则其余两个电子的量子态分别为</a:t>
            </a:r>
          </a:p>
        </p:txBody>
      </p:sp>
      <p:sp>
        <p:nvSpPr>
          <p:cNvPr id="466947" name="Line 3"/>
          <p:cNvSpPr>
            <a:spLocks noChangeShapeType="1"/>
          </p:cNvSpPr>
          <p:nvPr/>
        </p:nvSpPr>
        <p:spPr bwMode="auto">
          <a:xfrm>
            <a:off x="190500" y="1903413"/>
            <a:ext cx="2895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</a:ln>
        </p:spPr>
        <p:txBody>
          <a:bodyPr wrap="none" anchor="ctr"/>
          <a:lstStyle/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6948" name="Text Box 4"/>
          <p:cNvSpPr txBox="1">
            <a:spLocks noChangeArrowheads="1"/>
          </p:cNvSpPr>
          <p:nvPr/>
        </p:nvSpPr>
        <p:spPr bwMode="auto">
          <a:xfrm>
            <a:off x="3476625" y="1466850"/>
            <a:ext cx="4921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</a:p>
        </p:txBody>
      </p:sp>
      <p:sp>
        <p:nvSpPr>
          <p:cNvPr id="466949" name="Line 5"/>
          <p:cNvSpPr>
            <a:spLocks noChangeShapeType="1"/>
          </p:cNvSpPr>
          <p:nvPr/>
        </p:nvSpPr>
        <p:spPr bwMode="auto">
          <a:xfrm>
            <a:off x="4152900" y="1903413"/>
            <a:ext cx="4038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</a:ln>
        </p:spPr>
        <p:txBody>
          <a:bodyPr wrap="none" anchor="ctr"/>
          <a:lstStyle/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6950" name="Text Box 6"/>
          <p:cNvSpPr txBox="1">
            <a:spLocks noChangeArrowheads="1"/>
          </p:cNvSpPr>
          <p:nvPr/>
        </p:nvSpPr>
        <p:spPr bwMode="auto">
          <a:xfrm>
            <a:off x="366713" y="1447800"/>
            <a:ext cx="3170237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 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-1/2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466951" name="Text Box 7"/>
          <p:cNvSpPr txBox="1">
            <a:spLocks noChangeArrowheads="1"/>
          </p:cNvSpPr>
          <p:nvPr/>
        </p:nvSpPr>
        <p:spPr bwMode="auto">
          <a:xfrm>
            <a:off x="4313238" y="1441450"/>
            <a:ext cx="36163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  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±1/2 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466952" name="Text Box 8"/>
          <p:cNvSpPr txBox="1">
            <a:spLocks noChangeArrowheads="1"/>
          </p:cNvSpPr>
          <p:nvPr/>
        </p:nvSpPr>
        <p:spPr bwMode="auto">
          <a:xfrm>
            <a:off x="79375" y="2506663"/>
            <a:ext cx="8846185" cy="9772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第一个电子在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n=1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次壳层，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故第二个电子应填满 </a:t>
            </a:r>
            <a:r>
              <a:rPr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层，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量子数为（</a:t>
            </a:r>
            <a:r>
              <a:rPr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-1/2 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466953" name="Text Box 9"/>
          <p:cNvSpPr txBox="1">
            <a:spLocks noChangeArrowheads="1"/>
          </p:cNvSpPr>
          <p:nvPr/>
        </p:nvSpPr>
        <p:spPr bwMode="auto">
          <a:xfrm>
            <a:off x="688975" y="3695700"/>
            <a:ext cx="8190230" cy="14204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第三个电子在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n=2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次壳层，即取  </a:t>
            </a:r>
            <a:r>
              <a:rPr lang="en-US" altLang="zh-CN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=0 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，因此有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=0,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=±1/2.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第三个电子的量子数为 （</a:t>
            </a:r>
            <a:r>
              <a:rPr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1/2 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或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-1/2 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466954" name="Line 10"/>
          <p:cNvSpPr>
            <a:spLocks noChangeShapeType="1"/>
          </p:cNvSpPr>
          <p:nvPr/>
        </p:nvSpPr>
        <p:spPr bwMode="auto">
          <a:xfrm>
            <a:off x="557213" y="1962150"/>
            <a:ext cx="2663825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</a:ln>
          <a:effectLst/>
        </p:spPr>
        <p:txBody>
          <a:bodyPr/>
          <a:lstStyle/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6955" name="Line 11"/>
          <p:cNvSpPr>
            <a:spLocks noChangeShapeType="1"/>
          </p:cNvSpPr>
          <p:nvPr/>
        </p:nvSpPr>
        <p:spPr bwMode="auto">
          <a:xfrm>
            <a:off x="4445000" y="1933575"/>
            <a:ext cx="2663825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</a:ln>
          <a:effectLst/>
        </p:spPr>
        <p:txBody>
          <a:bodyPr/>
          <a:lstStyle/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66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46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46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46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50" grpId="0" autoUpdateAnimBg="0"/>
      <p:bldP spid="466951" grpId="0" autoUpdateAnimBg="0"/>
      <p:bldP spid="466952" grpId="0" autoUpdateAnimBg="0"/>
      <p:bldP spid="466953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ebd58b5-67d2-488e-b39e-70f26d21dbeb"/>
  <p:tag name="COMMONDATA" val="eyJoZGlkIjoiZGU0NjBmNDc3YmY3ODNkZjQ5MmJlMjNhNWNhMDZlNz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959</Words>
  <Application>Microsoft Office PowerPoint</Application>
  <PresentationFormat>全屏显示(4:3)</PresentationFormat>
  <Paragraphs>129</Paragraphs>
  <Slides>13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等线</vt:lpstr>
      <vt:lpstr>黑体</vt:lpstr>
      <vt:lpstr>楷体_GB2312</vt:lpstr>
      <vt:lpstr>宋体</vt:lpstr>
      <vt:lpstr>Arial</vt:lpstr>
      <vt:lpstr>Calibri</vt:lpstr>
      <vt:lpstr>Tahoma</vt:lpstr>
      <vt:lpstr>Times New Roman</vt:lpstr>
      <vt:lpstr>Wingdings</vt:lpstr>
      <vt:lpstr>Office 主题​​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第16章 几何光学</dc:title>
  <dc:creator>Windows 用户</dc:creator>
  <cp:lastModifiedBy>Administrator</cp:lastModifiedBy>
  <cp:revision>1430</cp:revision>
  <cp:lastPrinted>2018-10-15T23:46:00Z</cp:lastPrinted>
  <dcterms:created xsi:type="dcterms:W3CDTF">2018-08-17T13:53:00Z</dcterms:created>
  <dcterms:modified xsi:type="dcterms:W3CDTF">2024-11-23T02:02:35Z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2052-11.1.0.13607</vt:lpwstr>
  </property>
  <property fmtid="{D5CDD505-2E9C-101B-9397-08002B2CF9AE}" pid="3" name="ICV">
    <vt:lpwstr>4B68315175FE4238A7283AFA94CA37D5</vt:lpwstr>
  </property>
</Properties>
</file>