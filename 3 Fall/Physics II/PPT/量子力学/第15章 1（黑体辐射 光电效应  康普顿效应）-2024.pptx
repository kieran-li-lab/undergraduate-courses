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755" r:id="rId2"/>
    <p:sldId id="756" r:id="rId3"/>
    <p:sldId id="757" r:id="rId4"/>
    <p:sldId id="758" r:id="rId5"/>
    <p:sldId id="759" r:id="rId6"/>
    <p:sldId id="754" r:id="rId7"/>
    <p:sldId id="760" r:id="rId8"/>
    <p:sldId id="761" r:id="rId9"/>
    <p:sldId id="763" r:id="rId10"/>
    <p:sldId id="764" r:id="rId11"/>
    <p:sldId id="765" r:id="rId12"/>
    <p:sldId id="766" r:id="rId13"/>
    <p:sldId id="767" r:id="rId14"/>
    <p:sldId id="768" r:id="rId15"/>
    <p:sldId id="887" r:id="rId16"/>
    <p:sldId id="769" r:id="rId17"/>
    <p:sldId id="783" r:id="rId18"/>
    <p:sldId id="772" r:id="rId19"/>
    <p:sldId id="784" r:id="rId20"/>
    <p:sldId id="774" r:id="rId21"/>
    <p:sldId id="844" r:id="rId22"/>
    <p:sldId id="775" r:id="rId23"/>
    <p:sldId id="790" r:id="rId24"/>
    <p:sldId id="842" r:id="rId25"/>
    <p:sldId id="777" r:id="rId26"/>
    <p:sldId id="839" r:id="rId27"/>
    <p:sldId id="780" r:id="rId28"/>
    <p:sldId id="781" r:id="rId29"/>
    <p:sldId id="793" r:id="rId30"/>
    <p:sldId id="794" r:id="rId31"/>
    <p:sldId id="795" r:id="rId32"/>
    <p:sldId id="796" r:id="rId33"/>
    <p:sldId id="797" r:id="rId34"/>
    <p:sldId id="798" r:id="rId35"/>
    <p:sldId id="835" r:id="rId36"/>
    <p:sldId id="799" r:id="rId37"/>
    <p:sldId id="801" r:id="rId38"/>
    <p:sldId id="802" r:id="rId39"/>
    <p:sldId id="803" r:id="rId40"/>
    <p:sldId id="805" r:id="rId41"/>
    <p:sldId id="845" r:id="rId42"/>
    <p:sldId id="807" r:id="rId43"/>
    <p:sldId id="834" r:id="rId44"/>
    <p:sldId id="829" r:id="rId45"/>
    <p:sldId id="885" r:id="rId46"/>
    <p:sldId id="809" r:id="rId47"/>
    <p:sldId id="811" r:id="rId48"/>
    <p:sldId id="812" r:id="rId49"/>
    <p:sldId id="813" r:id="rId50"/>
    <p:sldId id="814" r:id="rId51"/>
    <p:sldId id="815" r:id="rId52"/>
    <p:sldId id="816" r:id="rId53"/>
    <p:sldId id="817" r:id="rId54"/>
    <p:sldId id="818" r:id="rId55"/>
    <p:sldId id="819" r:id="rId56"/>
    <p:sldId id="820" r:id="rId57"/>
    <p:sldId id="821" r:id="rId58"/>
    <p:sldId id="822" r:id="rId59"/>
    <p:sldId id="823" r:id="rId60"/>
    <p:sldId id="824" r:id="rId61"/>
    <p:sldId id="825" r:id="rId62"/>
    <p:sldId id="886" r:id="rId63"/>
    <p:sldId id="877" r:id="rId64"/>
    <p:sldId id="878" r:id="rId65"/>
    <p:sldId id="884" r:id="rId6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BCB8"/>
    <a:srgbClr val="0000FF"/>
    <a:srgbClr val="99CCFF"/>
    <a:srgbClr val="FF5050"/>
    <a:srgbClr val="000066"/>
    <a:srgbClr val="FFFF00"/>
    <a:srgbClr val="CC00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 showGuides="1">
      <p:cViewPr varScale="1">
        <p:scale>
          <a:sx n="114" d="100"/>
          <a:sy n="114" d="100"/>
        </p:scale>
        <p:origin x="1524" y="102"/>
      </p:cViewPr>
      <p:guideLst>
        <p:guide orient="horz" pos="2205"/>
        <p:guide pos="28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emf"/><Relationship Id="rId1" Type="http://schemas.openxmlformats.org/officeDocument/2006/relationships/image" Target="../media/image8.wmf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e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33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image" Target="../media/image54.emf"/><Relationship Id="rId4" Type="http://schemas.openxmlformats.org/officeDocument/2006/relationships/image" Target="../media/image57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image" Target="../media/image60.emf"/><Relationship Id="rId7" Type="http://schemas.openxmlformats.org/officeDocument/2006/relationships/image" Target="../media/image64.e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Relationship Id="rId9" Type="http://schemas.openxmlformats.org/officeDocument/2006/relationships/image" Target="../media/image66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image" Target="../media/image72.wmf"/><Relationship Id="rId7" Type="http://schemas.openxmlformats.org/officeDocument/2006/relationships/image" Target="../media/image76.e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10" Type="http://schemas.openxmlformats.org/officeDocument/2006/relationships/image" Target="../media/image79.wmf"/><Relationship Id="rId4" Type="http://schemas.openxmlformats.org/officeDocument/2006/relationships/image" Target="../media/image73.wmf"/><Relationship Id="rId9" Type="http://schemas.openxmlformats.org/officeDocument/2006/relationships/image" Target="../media/image78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77.wmf"/><Relationship Id="rId7" Type="http://schemas.openxmlformats.org/officeDocument/2006/relationships/image" Target="../media/image73.wmf"/><Relationship Id="rId2" Type="http://schemas.openxmlformats.org/officeDocument/2006/relationships/image" Target="../media/image70.wmf"/><Relationship Id="rId1" Type="http://schemas.openxmlformats.org/officeDocument/2006/relationships/image" Target="../media/image82.emf"/><Relationship Id="rId6" Type="http://schemas.openxmlformats.org/officeDocument/2006/relationships/image" Target="../media/image78.wmf"/><Relationship Id="rId5" Type="http://schemas.openxmlformats.org/officeDocument/2006/relationships/image" Target="../media/image72.wmf"/><Relationship Id="rId10" Type="http://schemas.openxmlformats.org/officeDocument/2006/relationships/image" Target="../media/image79.wmf"/><Relationship Id="rId4" Type="http://schemas.openxmlformats.org/officeDocument/2006/relationships/image" Target="../media/image71.wmf"/><Relationship Id="rId9" Type="http://schemas.openxmlformats.org/officeDocument/2006/relationships/image" Target="../media/image7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image" Target="../media/image96.emf"/><Relationship Id="rId3" Type="http://schemas.openxmlformats.org/officeDocument/2006/relationships/image" Target="../media/image86.emf"/><Relationship Id="rId7" Type="http://schemas.openxmlformats.org/officeDocument/2006/relationships/image" Target="../media/image90.wmf"/><Relationship Id="rId12" Type="http://schemas.openxmlformats.org/officeDocument/2006/relationships/image" Target="../media/image95.wmf"/><Relationship Id="rId2" Type="http://schemas.openxmlformats.org/officeDocument/2006/relationships/image" Target="../media/image85.emf"/><Relationship Id="rId1" Type="http://schemas.openxmlformats.org/officeDocument/2006/relationships/image" Target="../media/image84.emf"/><Relationship Id="rId6" Type="http://schemas.openxmlformats.org/officeDocument/2006/relationships/image" Target="../media/image89.wmf"/><Relationship Id="rId11" Type="http://schemas.openxmlformats.org/officeDocument/2006/relationships/image" Target="../media/image94.emf"/><Relationship Id="rId5" Type="http://schemas.openxmlformats.org/officeDocument/2006/relationships/image" Target="../media/image88.wmf"/><Relationship Id="rId10" Type="http://schemas.openxmlformats.org/officeDocument/2006/relationships/image" Target="../media/image93.wmf"/><Relationship Id="rId4" Type="http://schemas.openxmlformats.org/officeDocument/2006/relationships/image" Target="../media/image87.emf"/><Relationship Id="rId9" Type="http://schemas.openxmlformats.org/officeDocument/2006/relationships/image" Target="../media/image92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image" Target="../media/image98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2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emf"/><Relationship Id="rId6" Type="http://schemas.openxmlformats.org/officeDocument/2006/relationships/image" Target="../media/image95.wmf"/><Relationship Id="rId5" Type="http://schemas.openxmlformats.org/officeDocument/2006/relationships/image" Target="../media/image108.emf"/><Relationship Id="rId4" Type="http://schemas.openxmlformats.org/officeDocument/2006/relationships/image" Target="../media/image10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5" Type="http://schemas.openxmlformats.org/officeDocument/2006/relationships/image" Target="../media/image108.emf"/><Relationship Id="rId4" Type="http://schemas.openxmlformats.org/officeDocument/2006/relationships/image" Target="../media/image104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4" Type="http://schemas.openxmlformats.org/officeDocument/2006/relationships/image" Target="../media/image116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image" Target="../media/image118.emf"/><Relationship Id="rId1" Type="http://schemas.openxmlformats.org/officeDocument/2006/relationships/image" Target="../media/image117.emf"/><Relationship Id="rId6" Type="http://schemas.openxmlformats.org/officeDocument/2006/relationships/image" Target="../media/image122.emf"/><Relationship Id="rId5" Type="http://schemas.openxmlformats.org/officeDocument/2006/relationships/image" Target="../media/image121.emf"/><Relationship Id="rId4" Type="http://schemas.openxmlformats.org/officeDocument/2006/relationships/image" Target="../media/image120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4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emf"/><Relationship Id="rId4" Type="http://schemas.openxmlformats.org/officeDocument/2006/relationships/image" Target="../media/image128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emf"/><Relationship Id="rId7" Type="http://schemas.openxmlformats.org/officeDocument/2006/relationships/image" Target="../media/image139.emf"/><Relationship Id="rId2" Type="http://schemas.openxmlformats.org/officeDocument/2006/relationships/image" Target="../media/image134.emf"/><Relationship Id="rId1" Type="http://schemas.openxmlformats.org/officeDocument/2006/relationships/image" Target="../media/image133.emf"/><Relationship Id="rId6" Type="http://schemas.openxmlformats.org/officeDocument/2006/relationships/image" Target="../media/image138.emf"/><Relationship Id="rId5" Type="http://schemas.openxmlformats.org/officeDocument/2006/relationships/image" Target="../media/image137.emf"/><Relationship Id="rId4" Type="http://schemas.openxmlformats.org/officeDocument/2006/relationships/image" Target="../media/image136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3" Type="http://schemas.openxmlformats.org/officeDocument/2006/relationships/image" Target="../media/image142.wmf"/><Relationship Id="rId7" Type="http://schemas.openxmlformats.org/officeDocument/2006/relationships/image" Target="../media/image146.emf"/><Relationship Id="rId12" Type="http://schemas.openxmlformats.org/officeDocument/2006/relationships/image" Target="../media/image151.e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emf"/><Relationship Id="rId11" Type="http://schemas.openxmlformats.org/officeDocument/2006/relationships/image" Target="../media/image150.emf"/><Relationship Id="rId5" Type="http://schemas.openxmlformats.org/officeDocument/2006/relationships/image" Target="../media/image144.emf"/><Relationship Id="rId10" Type="http://schemas.openxmlformats.org/officeDocument/2006/relationships/image" Target="../media/image149.emf"/><Relationship Id="rId4" Type="http://schemas.openxmlformats.org/officeDocument/2006/relationships/image" Target="../media/image143.emf"/><Relationship Id="rId9" Type="http://schemas.openxmlformats.org/officeDocument/2006/relationships/image" Target="../media/image148.e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emf"/><Relationship Id="rId3" Type="http://schemas.openxmlformats.org/officeDocument/2006/relationships/image" Target="../media/image154.wmf"/><Relationship Id="rId7" Type="http://schemas.openxmlformats.org/officeDocument/2006/relationships/image" Target="../media/image157.e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6" Type="http://schemas.openxmlformats.org/officeDocument/2006/relationships/image" Target="../media/image142.wmf"/><Relationship Id="rId5" Type="http://schemas.openxmlformats.org/officeDocument/2006/relationships/image" Target="../media/image156.wmf"/><Relationship Id="rId4" Type="http://schemas.openxmlformats.org/officeDocument/2006/relationships/image" Target="../media/image155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wmf"/><Relationship Id="rId1" Type="http://schemas.openxmlformats.org/officeDocument/2006/relationships/image" Target="../media/image159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6" Type="http://schemas.openxmlformats.org/officeDocument/2006/relationships/image" Target="../media/image165.emf"/><Relationship Id="rId5" Type="http://schemas.openxmlformats.org/officeDocument/2006/relationships/image" Target="../media/image164.wmf"/><Relationship Id="rId4" Type="http://schemas.openxmlformats.org/officeDocument/2006/relationships/image" Target="../media/image142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9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emf"/><Relationship Id="rId1" Type="http://schemas.openxmlformats.org/officeDocument/2006/relationships/image" Target="../media/image171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emf"/><Relationship Id="rId1" Type="http://schemas.openxmlformats.org/officeDocument/2006/relationships/image" Target="../media/image173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emf"/><Relationship Id="rId2" Type="http://schemas.openxmlformats.org/officeDocument/2006/relationships/image" Target="../media/image176.emf"/><Relationship Id="rId1" Type="http://schemas.openxmlformats.org/officeDocument/2006/relationships/image" Target="../media/image175.emf"/><Relationship Id="rId4" Type="http://schemas.openxmlformats.org/officeDocument/2006/relationships/image" Target="../media/image178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emf"/><Relationship Id="rId2" Type="http://schemas.openxmlformats.org/officeDocument/2006/relationships/image" Target="../media/image180.emf"/><Relationship Id="rId1" Type="http://schemas.openxmlformats.org/officeDocument/2006/relationships/image" Target="../media/image179.emf"/><Relationship Id="rId5" Type="http://schemas.openxmlformats.org/officeDocument/2006/relationships/image" Target="../media/image183.emf"/><Relationship Id="rId4" Type="http://schemas.openxmlformats.org/officeDocument/2006/relationships/image" Target="../media/image182.e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emf"/><Relationship Id="rId3" Type="http://schemas.openxmlformats.org/officeDocument/2006/relationships/image" Target="../media/image186.emf"/><Relationship Id="rId7" Type="http://schemas.openxmlformats.org/officeDocument/2006/relationships/image" Target="../media/image190.emf"/><Relationship Id="rId2" Type="http://schemas.openxmlformats.org/officeDocument/2006/relationships/image" Target="../media/image185.emf"/><Relationship Id="rId1" Type="http://schemas.openxmlformats.org/officeDocument/2006/relationships/image" Target="../media/image184.emf"/><Relationship Id="rId6" Type="http://schemas.openxmlformats.org/officeDocument/2006/relationships/image" Target="../media/image189.emf"/><Relationship Id="rId5" Type="http://schemas.openxmlformats.org/officeDocument/2006/relationships/image" Target="../media/image188.emf"/><Relationship Id="rId4" Type="http://schemas.openxmlformats.org/officeDocument/2006/relationships/image" Target="../media/image18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>
            <a:extLst>
              <a:ext uri="{FF2B5EF4-FFF2-40B4-BE49-F238E27FC236}">
                <a16:creationId xmlns:a16="http://schemas.microsoft.com/office/drawing/2014/main" id="{F88A98DA-BDD7-4945-BA50-B54B7734FD5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8070A85F-47B9-4C43-8150-ECD8C7E5483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1892" name="Rectangle 4">
            <a:extLst>
              <a:ext uri="{FF2B5EF4-FFF2-40B4-BE49-F238E27FC236}">
                <a16:creationId xmlns:a16="http://schemas.microsoft.com/office/drawing/2014/main" id="{52570B89-DE6A-42C1-B4DA-88936CF9F8F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1893" name="Rectangle 5">
            <a:extLst>
              <a:ext uri="{FF2B5EF4-FFF2-40B4-BE49-F238E27FC236}">
                <a16:creationId xmlns:a16="http://schemas.microsoft.com/office/drawing/2014/main" id="{971BE878-4D55-43E1-BED3-1CD5425EE0F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sz="1200" b="0" noProof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64CD5CF-C909-4919-B495-5D2953F889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7AC496-F03A-4342-8F1D-2A96E5D9647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5D21C4C-5345-4001-9D1E-8F5CDDDB653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DEB95D2-68DB-44F2-B32B-8E06C3BB0C9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B2A6C643-DC3F-47CC-B7A9-3AB0B1CFC75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DA58CE78-C156-43D7-A5F6-49CA8610872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CE3C3530-BCE2-4EBC-8815-74059C56F9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sz="1200" b="0" noProof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D4FD469-2093-41F7-A3DB-901A6D01FD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9E507E37-CF0F-4EC2-B03D-7EE5C9D68D0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6867" name="文本占位符 2">
            <a:extLst>
              <a:ext uri="{FF2B5EF4-FFF2-40B4-BE49-F238E27FC236}">
                <a16:creationId xmlns:a16="http://schemas.microsoft.com/office/drawing/2014/main" id="{FCCB00B2-D4F8-42E0-AF5E-00CD17A51DE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3C594B-0B89-4FE2-8F03-2142BA5736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478ECB-0AF9-4963-A84A-5F5F71EF96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A0B7D0A-BAD9-4F70-A29F-4A677BB12C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A6FE3A-CFA4-43A7-BF28-84E9447AC9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481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F4A700-5E92-4FB1-8FAB-892C24173C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839009-CE73-44E9-B03D-25B2586382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38868A-54A8-4C18-8DE2-C0F4EA0B80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1A698B-3075-4D0D-A998-30AC638F0A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9117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9367A0-058D-4A06-A301-B47D84D66D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E6C193F-4553-4637-98D8-1CD76E941A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CB52CC-7F29-43DB-8FBD-EF7E90E7CB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CE3269-A9FD-4521-90DD-5360EE21A3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36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EE831E-C4A0-461D-9688-A35A7EF9BF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79020-2D05-423B-8D73-B702FF6620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80E450-2C8C-4DD3-8BBA-3DCE057EC2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9DF2C1-1CCB-4CBB-B64E-8A9EEC2464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9261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D4B58CC-BEC6-4211-AE76-6DF9E29224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6311806-33DD-493E-AC03-F2C65CFA81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659AD6A-7D96-4AF0-A438-0F513BE88B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6F8B2-F0C7-4BF1-92FE-18F405D408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0483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A512649-CADF-46BD-95DD-D3A06D61E8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CD5FFB-D769-42A6-8925-2796E0E560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850242E-CBE5-4724-859F-6886473CC3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A78FD5-F3E2-4596-A368-C7731D5353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7749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EEADD37-AE1E-40EB-ACBA-FE9E8804B9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CE04899-BDC3-407D-A24E-FA10BF1C20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ED59698-4135-4490-A6AC-1DE0A4ACA2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F7055-07FF-404E-87BE-36AE83B5B9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2233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C736EE-5956-4E9D-91C0-54800FAA80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46A472-1598-488A-BCCA-0A1A3DFA3D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728C49-D2CB-4D7A-AAF4-B787D17091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2C076A-8E7D-48B8-B23F-59FF5FB431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569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7BC121-E8C3-4ACF-B794-9B0FCEE59D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3FDD23-FA6C-48C6-83FF-6F4EF5634A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B4D43-10D0-48D8-BCE9-2203CFF462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ADE382-B871-444F-985D-60698DD5CB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79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3ED3CE-8E2E-49F1-A041-428EA38E5A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014B95-8587-4AAA-B949-424A3A4F58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98922F-A9E4-4B8F-A437-9E744636F9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24243-4E31-4391-BB02-8279112D91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2562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E328A6-D742-4241-8404-FB66F458D8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01E7B2-CB2F-4D6D-A732-9B140DF775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03FCA8-1E88-4BBC-B85A-915DFBABCB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4962E4-5087-488B-8CF5-FA3945F0DE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213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E090FEE-D54E-4FE5-BA32-8B943CBD8F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D272064-61D0-458A-8A0C-8C1534FFFB5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840B63-99E0-47F9-93DF-0EE39958C8E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68C2EEC-CECB-49AC-8399-43DB5CD46BB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defRPr kumimoji="1"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FDE6AD7-5DFE-44D9-8AD6-F399DD363E9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400" b="0" noProof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DFB9473-B3DE-4291-BD16-E7B24DE730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fkz.lamost.org/view.asp?id=8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1.e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7.w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22.png"/><Relationship Id="rId7" Type="http://schemas.openxmlformats.org/officeDocument/2006/relationships/image" Target="../media/image2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1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31.png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png"/><Relationship Id="rId5" Type="http://schemas.openxmlformats.org/officeDocument/2006/relationships/image" Target="../media/image28.wmf"/><Relationship Id="rId10" Type="http://schemas.openxmlformats.org/officeDocument/2006/relationships/image" Target="../media/image30.wmf"/><Relationship Id="rId4" Type="http://schemas.openxmlformats.org/officeDocument/2006/relationships/oleObject" Target="../embeddings/oleObject19.bin"/><Relationship Id="rId9" Type="http://schemas.openxmlformats.org/officeDocument/2006/relationships/oleObject" Target="../embeddings/oleObject2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1.png"/><Relationship Id="rId4" Type="http://schemas.openxmlformats.org/officeDocument/2006/relationships/image" Target="../media/image3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4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7.e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9.emf"/><Relationship Id="rId4" Type="http://schemas.openxmlformats.org/officeDocument/2006/relationships/image" Target="../media/image36.emf"/><Relationship Id="rId9" Type="http://schemas.openxmlformats.org/officeDocument/2006/relationships/oleObject" Target="../embeddings/oleObject2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45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2.e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44.emf"/><Relationship Id="rId4" Type="http://schemas.openxmlformats.org/officeDocument/2006/relationships/image" Target="../media/image41.e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46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9.e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8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7" Type="http://schemas.openxmlformats.org/officeDocument/2006/relationships/image" Target="../media/image5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51.png"/><Relationship Id="rId4" Type="http://schemas.openxmlformats.org/officeDocument/2006/relationships/image" Target="../media/image52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5.e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57.emf"/><Relationship Id="rId4" Type="http://schemas.openxmlformats.org/officeDocument/2006/relationships/image" Target="../media/image54.emf"/><Relationship Id="rId9" Type="http://schemas.openxmlformats.org/officeDocument/2006/relationships/oleObject" Target="../embeddings/oleObject4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65.e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.emf"/><Relationship Id="rId20" Type="http://schemas.openxmlformats.org/officeDocument/2006/relationships/image" Target="../media/image66.e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6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76.emf"/><Relationship Id="rId26" Type="http://schemas.openxmlformats.org/officeDocument/2006/relationships/oleObject" Target="../embeddings/oleObject68.bin"/><Relationship Id="rId3" Type="http://schemas.openxmlformats.org/officeDocument/2006/relationships/oleObject" Target="../embeddings/oleObject56.bin"/><Relationship Id="rId21" Type="http://schemas.openxmlformats.org/officeDocument/2006/relationships/image" Target="../media/image77.wmf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74.wmf"/><Relationship Id="rId17" Type="http://schemas.openxmlformats.org/officeDocument/2006/relationships/oleObject" Target="../embeddings/oleObject62.bin"/><Relationship Id="rId25" Type="http://schemas.openxmlformats.org/officeDocument/2006/relationships/image" Target="../media/image7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1.png"/><Relationship Id="rId20" Type="http://schemas.openxmlformats.org/officeDocument/2006/relationships/oleObject" Target="../embeddings/oleObject64.bin"/><Relationship Id="rId29" Type="http://schemas.openxmlformats.org/officeDocument/2006/relationships/oleObject" Target="../embeddings/oleObject71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60.bin"/><Relationship Id="rId24" Type="http://schemas.openxmlformats.org/officeDocument/2006/relationships/oleObject" Target="../embeddings/oleObject67.bin"/><Relationship Id="rId5" Type="http://schemas.openxmlformats.org/officeDocument/2006/relationships/oleObject" Target="../embeddings/oleObject57.bin"/><Relationship Id="rId15" Type="http://schemas.openxmlformats.org/officeDocument/2006/relationships/image" Target="../media/image80.png"/><Relationship Id="rId23" Type="http://schemas.openxmlformats.org/officeDocument/2006/relationships/oleObject" Target="../embeddings/oleObject66.bin"/><Relationship Id="rId28" Type="http://schemas.openxmlformats.org/officeDocument/2006/relationships/oleObject" Target="../embeddings/oleObject70.bin"/><Relationship Id="rId10" Type="http://schemas.openxmlformats.org/officeDocument/2006/relationships/image" Target="../media/image73.wmf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70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75.wmf"/><Relationship Id="rId22" Type="http://schemas.openxmlformats.org/officeDocument/2006/relationships/oleObject" Target="../embeddings/oleObject65.bin"/><Relationship Id="rId27" Type="http://schemas.openxmlformats.org/officeDocument/2006/relationships/oleObject" Target="../embeddings/oleObject69.bin"/><Relationship Id="rId30" Type="http://schemas.openxmlformats.org/officeDocument/2006/relationships/image" Target="../media/image7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73.wmf"/><Relationship Id="rId3" Type="http://schemas.openxmlformats.org/officeDocument/2006/relationships/image" Target="../media/image68.png"/><Relationship Id="rId21" Type="http://schemas.openxmlformats.org/officeDocument/2006/relationships/oleObject" Target="../embeddings/oleObject80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wmf"/><Relationship Id="rId20" Type="http://schemas.openxmlformats.org/officeDocument/2006/relationships/image" Target="../media/image74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2.emf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79.wmf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10" Type="http://schemas.openxmlformats.org/officeDocument/2006/relationships/image" Target="../media/image77.wmf"/><Relationship Id="rId19" Type="http://schemas.openxmlformats.org/officeDocument/2006/relationships/oleObject" Target="../embeddings/oleObject79.bin"/><Relationship Id="rId4" Type="http://schemas.openxmlformats.org/officeDocument/2006/relationships/image" Target="../media/image83.png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72.wmf"/><Relationship Id="rId22" Type="http://schemas.openxmlformats.org/officeDocument/2006/relationships/image" Target="../media/image7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91.wmf"/><Relationship Id="rId26" Type="http://schemas.openxmlformats.org/officeDocument/2006/relationships/image" Target="../media/image95.wmf"/><Relationship Id="rId3" Type="http://schemas.openxmlformats.org/officeDocument/2006/relationships/oleObject" Target="../embeddings/oleObject82.bin"/><Relationship Id="rId21" Type="http://schemas.openxmlformats.org/officeDocument/2006/relationships/oleObject" Target="../embeddings/oleObject91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8.wmf"/><Relationship Id="rId17" Type="http://schemas.openxmlformats.org/officeDocument/2006/relationships/oleObject" Target="../embeddings/oleObject89.bin"/><Relationship Id="rId25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0.wmf"/><Relationship Id="rId20" Type="http://schemas.openxmlformats.org/officeDocument/2006/relationships/image" Target="../media/image92.wmf"/><Relationship Id="rId29" Type="http://schemas.openxmlformats.org/officeDocument/2006/relationships/image" Target="../media/image97.png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5.emf"/><Relationship Id="rId11" Type="http://schemas.openxmlformats.org/officeDocument/2006/relationships/oleObject" Target="../embeddings/oleObject86.bin"/><Relationship Id="rId24" Type="http://schemas.openxmlformats.org/officeDocument/2006/relationships/image" Target="../media/image94.emf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23" Type="http://schemas.openxmlformats.org/officeDocument/2006/relationships/oleObject" Target="../embeddings/oleObject92.bin"/><Relationship Id="rId28" Type="http://schemas.openxmlformats.org/officeDocument/2006/relationships/image" Target="../media/image96.emf"/><Relationship Id="rId10" Type="http://schemas.openxmlformats.org/officeDocument/2006/relationships/image" Target="../media/image87.e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84.e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89.wmf"/><Relationship Id="rId22" Type="http://schemas.openxmlformats.org/officeDocument/2006/relationships/image" Target="../media/image93.wmf"/><Relationship Id="rId27" Type="http://schemas.openxmlformats.org/officeDocument/2006/relationships/oleObject" Target="../embeddings/oleObject94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9.e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9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100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103.png"/><Relationship Id="rId4" Type="http://schemas.openxmlformats.org/officeDocument/2006/relationships/image" Target="../media/image102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0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107.wmf"/><Relationship Id="rId4" Type="http://schemas.openxmlformats.org/officeDocument/2006/relationships/image" Target="../media/image104.e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95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08.emf"/><Relationship Id="rId3" Type="http://schemas.openxmlformats.org/officeDocument/2006/relationships/oleObject" Target="../embeddings/oleObject105.bin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04.emf"/><Relationship Id="rId5" Type="http://schemas.openxmlformats.org/officeDocument/2006/relationships/image" Target="../media/image112.png"/><Relationship Id="rId10" Type="http://schemas.openxmlformats.org/officeDocument/2006/relationships/oleObject" Target="../embeddings/oleObject99.bin"/><Relationship Id="rId4" Type="http://schemas.openxmlformats.org/officeDocument/2006/relationships/image" Target="../media/image109.wmf"/><Relationship Id="rId9" Type="http://schemas.openxmlformats.org/officeDocument/2006/relationships/image" Target="../media/image11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e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09.bin"/><Relationship Id="rId10" Type="http://schemas.openxmlformats.org/officeDocument/2006/relationships/image" Target="../media/image116.e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11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13" Type="http://schemas.openxmlformats.org/officeDocument/2006/relationships/oleObject" Target="../embeddings/oleObject117.bin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2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8.e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120.emf"/><Relationship Id="rId4" Type="http://schemas.openxmlformats.org/officeDocument/2006/relationships/image" Target="../media/image117.e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122.e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124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20.bin"/><Relationship Id="rId10" Type="http://schemas.openxmlformats.org/officeDocument/2006/relationships/image" Target="../media/image128.wmf"/><Relationship Id="rId4" Type="http://schemas.openxmlformats.org/officeDocument/2006/relationships/image" Target="../media/image125.emf"/><Relationship Id="rId9" Type="http://schemas.openxmlformats.org/officeDocument/2006/relationships/oleObject" Target="../embeddings/oleObject122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31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13" Type="http://schemas.openxmlformats.org/officeDocument/2006/relationships/oleObject" Target="../embeddings/oleObject130.bin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37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9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34.e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5" Type="http://schemas.openxmlformats.org/officeDocument/2006/relationships/oleObject" Target="../embeddings/oleObject131.bin"/><Relationship Id="rId10" Type="http://schemas.openxmlformats.org/officeDocument/2006/relationships/image" Target="../media/image136.wmf"/><Relationship Id="rId4" Type="http://schemas.openxmlformats.org/officeDocument/2006/relationships/image" Target="../media/image133.e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38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37.bin"/><Relationship Id="rId18" Type="http://schemas.openxmlformats.org/officeDocument/2006/relationships/image" Target="../media/image147.emf"/><Relationship Id="rId26" Type="http://schemas.openxmlformats.org/officeDocument/2006/relationships/image" Target="../media/image151.emf"/><Relationship Id="rId3" Type="http://schemas.openxmlformats.org/officeDocument/2006/relationships/oleObject" Target="../embeddings/oleObject132.bin"/><Relationship Id="rId21" Type="http://schemas.openxmlformats.org/officeDocument/2006/relationships/oleObject" Target="../embeddings/oleObject141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44.emf"/><Relationship Id="rId17" Type="http://schemas.openxmlformats.org/officeDocument/2006/relationships/oleObject" Target="../embeddings/oleObject139.bin"/><Relationship Id="rId25" Type="http://schemas.openxmlformats.org/officeDocument/2006/relationships/oleObject" Target="../embeddings/oleObject1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6.emf"/><Relationship Id="rId20" Type="http://schemas.openxmlformats.org/officeDocument/2006/relationships/image" Target="../media/image148.e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36.bin"/><Relationship Id="rId24" Type="http://schemas.openxmlformats.org/officeDocument/2006/relationships/image" Target="../media/image150.emf"/><Relationship Id="rId5" Type="http://schemas.openxmlformats.org/officeDocument/2006/relationships/oleObject" Target="../embeddings/oleObject133.bin"/><Relationship Id="rId15" Type="http://schemas.openxmlformats.org/officeDocument/2006/relationships/oleObject" Target="../embeddings/oleObject138.bin"/><Relationship Id="rId23" Type="http://schemas.openxmlformats.org/officeDocument/2006/relationships/oleObject" Target="../embeddings/oleObject142.bin"/><Relationship Id="rId10" Type="http://schemas.openxmlformats.org/officeDocument/2006/relationships/image" Target="../media/image143.emf"/><Relationship Id="rId19" Type="http://schemas.openxmlformats.org/officeDocument/2006/relationships/oleObject" Target="../embeddings/oleObject140.bin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35.bin"/><Relationship Id="rId14" Type="http://schemas.openxmlformats.org/officeDocument/2006/relationships/image" Target="../media/image145.emf"/><Relationship Id="rId22" Type="http://schemas.openxmlformats.org/officeDocument/2006/relationships/image" Target="../media/image149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58.e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56.wmf"/><Relationship Id="rId17" Type="http://schemas.openxmlformats.org/officeDocument/2006/relationships/oleObject" Target="../embeddings/oleObject1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7.e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53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10" Type="http://schemas.openxmlformats.org/officeDocument/2006/relationships/image" Target="../media/image155.w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42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59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oleObject" Target="../embeddings/oleObject159.bin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6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0" Type="http://schemas.openxmlformats.org/officeDocument/2006/relationships/image" Target="../media/image142.wmf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65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jpeg"/><Relationship Id="rId2" Type="http://schemas.openxmlformats.org/officeDocument/2006/relationships/image" Target="../media/image166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169.w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72.e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71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74.e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73.e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emf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76.emf"/><Relationship Id="rId5" Type="http://schemas.openxmlformats.org/officeDocument/2006/relationships/oleObject" Target="../embeddings/oleObject166.bin"/><Relationship Id="rId10" Type="http://schemas.openxmlformats.org/officeDocument/2006/relationships/image" Target="../media/image178.emf"/><Relationship Id="rId4" Type="http://schemas.openxmlformats.org/officeDocument/2006/relationships/image" Target="../media/image175.emf"/><Relationship Id="rId9" Type="http://schemas.openxmlformats.org/officeDocument/2006/relationships/oleObject" Target="../embeddings/oleObject168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em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8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80.e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0" Type="http://schemas.openxmlformats.org/officeDocument/2006/relationships/image" Target="../media/image182.emf"/><Relationship Id="rId4" Type="http://schemas.openxmlformats.org/officeDocument/2006/relationships/image" Target="../media/image179.emf"/><Relationship Id="rId9" Type="http://schemas.openxmlformats.org/officeDocument/2006/relationships/oleObject" Target="../embeddings/oleObject172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emf"/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191.emf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88.emf"/><Relationship Id="rId17" Type="http://schemas.openxmlformats.org/officeDocument/2006/relationships/oleObject" Target="../embeddings/oleObject18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0.e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85.emf"/><Relationship Id="rId11" Type="http://schemas.openxmlformats.org/officeDocument/2006/relationships/oleObject" Target="../embeddings/oleObject178.bin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10" Type="http://schemas.openxmlformats.org/officeDocument/2006/relationships/image" Target="../media/image187.emf"/><Relationship Id="rId4" Type="http://schemas.openxmlformats.org/officeDocument/2006/relationships/image" Target="../media/image184.e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8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>
            <a:extLst>
              <a:ext uri="{FF2B5EF4-FFF2-40B4-BE49-F238E27FC236}">
                <a16:creationId xmlns:a16="http://schemas.microsoft.com/office/drawing/2014/main" id="{1391DF4E-EC13-4EE6-A450-8C017DA8FB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8B154A-EA52-49A7-92CE-0C7CD9F19E02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zh-CN" altLang="zh-CN" sz="1400"/>
          </a:p>
        </p:txBody>
      </p:sp>
      <p:sp>
        <p:nvSpPr>
          <p:cNvPr id="901122" name="Text Box 2">
            <a:extLst>
              <a:ext uri="{FF2B5EF4-FFF2-40B4-BE49-F238E27FC236}">
                <a16:creationId xmlns:a16="http://schemas.microsoft.com/office/drawing/2014/main" id="{33847AFF-1116-4ACD-B8CA-ECA69B08D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692150"/>
            <a:ext cx="8686800" cy="1865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     在</a:t>
            </a:r>
            <a:r>
              <a:rPr kumimoji="1" lang="en-US" altLang="zh-CN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20</a:t>
            </a: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世纪初，发生了三次概念上的革命，它们深刻地改变了人们对物理世界的了解，这就是</a:t>
            </a:r>
            <a:r>
              <a:rPr kumimoji="1" lang="zh-CN" altLang="en-US" b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狭义相对论（</a:t>
            </a:r>
            <a:r>
              <a:rPr kumimoji="1" lang="en-US" altLang="zh-CN" b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1905</a:t>
            </a:r>
            <a:r>
              <a:rPr kumimoji="1" lang="zh-CN" altLang="en-US" b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年）、广义相对论（</a:t>
            </a:r>
            <a:r>
              <a:rPr kumimoji="1" lang="en-US" altLang="zh-CN" b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1916</a:t>
            </a:r>
            <a:r>
              <a:rPr kumimoji="1" lang="zh-CN" altLang="en-US" b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年）和量子力学（</a:t>
            </a:r>
            <a:r>
              <a:rPr kumimoji="1" lang="en-US" altLang="zh-CN" b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1925</a:t>
            </a:r>
            <a:r>
              <a:rPr kumimoji="1" lang="zh-CN" altLang="en-US" b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年）。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en-US" altLang="zh-CN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                                                                                      ------</a:t>
            </a: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杨振宁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52B2129B-9B30-4F52-B34D-311D384AC46F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781300"/>
            <a:ext cx="7185025" cy="4159250"/>
            <a:chOff x="396" y="410"/>
            <a:chExt cx="4932" cy="3458"/>
          </a:xfrm>
        </p:grpSpPr>
        <p:pic>
          <p:nvPicPr>
            <p:cNvPr id="4103" name="Picture 5" descr="solway 5'">
              <a:extLst>
                <a:ext uri="{FF2B5EF4-FFF2-40B4-BE49-F238E27FC236}">
                  <a16:creationId xmlns:a16="http://schemas.microsoft.com/office/drawing/2014/main" id="{6BCCE930-DD61-4ED0-9466-EA60FF4847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" y="413"/>
              <a:ext cx="4932" cy="3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04" name="Text Box 6">
              <a:extLst>
                <a:ext uri="{FF2B5EF4-FFF2-40B4-BE49-F238E27FC236}">
                  <a16:creationId xmlns:a16="http://schemas.microsoft.com/office/drawing/2014/main" id="{B1FC4D0F-4F0D-41A3-A422-4E69DB64B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8" y="2747"/>
              <a:ext cx="314" cy="1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</a:rPr>
                <a:t>爱因斯坦</a:t>
              </a:r>
            </a:p>
          </p:txBody>
        </p:sp>
        <p:sp>
          <p:nvSpPr>
            <p:cNvPr id="4105" name="Text Box 7">
              <a:extLst>
                <a:ext uri="{FF2B5EF4-FFF2-40B4-BE49-F238E27FC236}">
                  <a16:creationId xmlns:a16="http://schemas.microsoft.com/office/drawing/2014/main" id="{4D708F9A-E04E-4D50-B6DE-0E48C4008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8" y="2927"/>
              <a:ext cx="313" cy="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</a:rPr>
                <a:t>洛仑兹</a:t>
              </a:r>
            </a:p>
          </p:txBody>
        </p:sp>
        <p:sp>
          <p:nvSpPr>
            <p:cNvPr id="4106" name="Text Box 8">
              <a:extLst>
                <a:ext uri="{FF2B5EF4-FFF2-40B4-BE49-F238E27FC236}">
                  <a16:creationId xmlns:a16="http://schemas.microsoft.com/office/drawing/2014/main" id="{67F539A4-752E-49C2-BE67-4FA24401D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5" y="2778"/>
              <a:ext cx="314" cy="1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</a:rPr>
                <a:t>居里夫人</a:t>
              </a:r>
            </a:p>
          </p:txBody>
        </p:sp>
        <p:sp>
          <p:nvSpPr>
            <p:cNvPr id="4107" name="Text Box 9">
              <a:extLst>
                <a:ext uri="{FF2B5EF4-FFF2-40B4-BE49-F238E27FC236}">
                  <a16:creationId xmlns:a16="http://schemas.microsoft.com/office/drawing/2014/main" id="{90EFD5AA-CF5E-4FBB-AD4D-9DD483EB2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5" y="2879"/>
              <a:ext cx="314" cy="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</a:rPr>
                <a:t>普朗克</a:t>
              </a:r>
            </a:p>
          </p:txBody>
        </p:sp>
        <p:sp>
          <p:nvSpPr>
            <p:cNvPr id="4108" name="Text Box 10">
              <a:extLst>
                <a:ext uri="{FF2B5EF4-FFF2-40B4-BE49-F238E27FC236}">
                  <a16:creationId xmlns:a16="http://schemas.microsoft.com/office/drawing/2014/main" id="{A6D1A708-41B6-4F54-BF6A-F488AAE87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" y="1333"/>
              <a:ext cx="313" cy="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</a:rPr>
                <a:t>德拜</a:t>
              </a:r>
            </a:p>
          </p:txBody>
        </p:sp>
        <p:sp>
          <p:nvSpPr>
            <p:cNvPr id="4109" name="Text Box 11">
              <a:extLst>
                <a:ext uri="{FF2B5EF4-FFF2-40B4-BE49-F238E27FC236}">
                  <a16:creationId xmlns:a16="http://schemas.microsoft.com/office/drawing/2014/main" id="{89E539B1-EC2A-421B-A106-CDDB97868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9" y="1066"/>
              <a:ext cx="313" cy="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</a:rPr>
                <a:t>泡利</a:t>
              </a:r>
            </a:p>
          </p:txBody>
        </p:sp>
        <p:grpSp>
          <p:nvGrpSpPr>
            <p:cNvPr id="4110" name="Group 12">
              <a:extLst>
                <a:ext uri="{FF2B5EF4-FFF2-40B4-BE49-F238E27FC236}">
                  <a16:creationId xmlns:a16="http://schemas.microsoft.com/office/drawing/2014/main" id="{225FF568-6795-47C8-A98E-67B772D20E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8" y="733"/>
              <a:ext cx="314" cy="1165"/>
              <a:chOff x="3216" y="528"/>
              <a:chExt cx="336" cy="1248"/>
            </a:xfrm>
          </p:grpSpPr>
          <p:sp>
            <p:nvSpPr>
              <p:cNvPr id="4127" name="Text Box 13">
                <a:extLst>
                  <a:ext uri="{FF2B5EF4-FFF2-40B4-BE49-F238E27FC236}">
                    <a16:creationId xmlns:a16="http://schemas.microsoft.com/office/drawing/2014/main" id="{4C278345-EEC6-4F57-BDA0-4E150DBEC8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528"/>
                <a:ext cx="336" cy="8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2000">
                    <a:solidFill>
                      <a:schemeClr val="bg1"/>
                    </a:solidFill>
                  </a:rPr>
                  <a:t>康普顿</a:t>
                </a:r>
              </a:p>
            </p:txBody>
          </p:sp>
          <p:sp>
            <p:nvSpPr>
              <p:cNvPr id="4128" name="Line 14">
                <a:extLst>
                  <a:ext uri="{FF2B5EF4-FFF2-40B4-BE49-F238E27FC236}">
                    <a16:creationId xmlns:a16="http://schemas.microsoft.com/office/drawing/2014/main" id="{841F34C8-3112-4862-8C04-7CBAF4A72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16" y="1248"/>
                <a:ext cx="144" cy="52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11" name="Text Box 15">
              <a:extLst>
                <a:ext uri="{FF2B5EF4-FFF2-40B4-BE49-F238E27FC236}">
                  <a16:creationId xmlns:a16="http://schemas.microsoft.com/office/drawing/2014/main" id="{9DF86487-CEF4-43F6-AC19-F77C6EEBB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9" y="780"/>
              <a:ext cx="314" cy="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</a:rPr>
                <a:t>薛定谔</a:t>
              </a:r>
            </a:p>
          </p:txBody>
        </p:sp>
        <p:grpSp>
          <p:nvGrpSpPr>
            <p:cNvPr id="4112" name="Group 16">
              <a:extLst>
                <a:ext uri="{FF2B5EF4-FFF2-40B4-BE49-F238E27FC236}">
                  <a16:creationId xmlns:a16="http://schemas.microsoft.com/office/drawing/2014/main" id="{2AD4AE52-6702-4B00-A13F-E7067D4FA8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2" y="622"/>
              <a:ext cx="313" cy="1234"/>
              <a:chOff x="2588" y="409"/>
              <a:chExt cx="336" cy="1322"/>
            </a:xfrm>
          </p:grpSpPr>
          <p:sp>
            <p:nvSpPr>
              <p:cNvPr id="4125" name="Line 17">
                <a:extLst>
                  <a:ext uri="{FF2B5EF4-FFF2-40B4-BE49-F238E27FC236}">
                    <a16:creationId xmlns:a16="http://schemas.microsoft.com/office/drawing/2014/main" id="{15B6F97C-B2B8-490F-A1F0-5B02CB90F1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155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" name="Text Box 18">
                <a:extLst>
                  <a:ext uri="{FF2B5EF4-FFF2-40B4-BE49-F238E27FC236}">
                    <a16:creationId xmlns:a16="http://schemas.microsoft.com/office/drawing/2014/main" id="{EE4FCA4D-3EA1-46AD-9C6C-7677F6DC00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88" y="409"/>
                <a:ext cx="336" cy="8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2000">
                    <a:solidFill>
                      <a:schemeClr val="bg1"/>
                    </a:solidFill>
                  </a:rPr>
                  <a:t>狄拉克</a:t>
                </a:r>
              </a:p>
            </p:txBody>
          </p:sp>
        </p:grpSp>
        <p:sp>
          <p:nvSpPr>
            <p:cNvPr id="4113" name="Text Box 19">
              <a:extLst>
                <a:ext uri="{FF2B5EF4-FFF2-40B4-BE49-F238E27FC236}">
                  <a16:creationId xmlns:a16="http://schemas.microsoft.com/office/drawing/2014/main" id="{7A1F4215-1A82-4247-BD50-CB4FEEAB1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9" y="410"/>
              <a:ext cx="313" cy="1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</a:rPr>
                <a:t>埃伦费斯特</a:t>
              </a:r>
            </a:p>
          </p:txBody>
        </p:sp>
        <p:grpSp>
          <p:nvGrpSpPr>
            <p:cNvPr id="4114" name="Group 20">
              <a:extLst>
                <a:ext uri="{FF2B5EF4-FFF2-40B4-BE49-F238E27FC236}">
                  <a16:creationId xmlns:a16="http://schemas.microsoft.com/office/drawing/2014/main" id="{DBB50629-E6D7-40B5-B158-E034F749B3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4" y="682"/>
              <a:ext cx="314" cy="1261"/>
              <a:chOff x="1134" y="473"/>
              <a:chExt cx="336" cy="1351"/>
            </a:xfrm>
          </p:grpSpPr>
          <p:sp>
            <p:nvSpPr>
              <p:cNvPr id="4123" name="Text Box 21">
                <a:extLst>
                  <a:ext uri="{FF2B5EF4-FFF2-40B4-BE49-F238E27FC236}">
                    <a16:creationId xmlns:a16="http://schemas.microsoft.com/office/drawing/2014/main" id="{CA73DC31-7877-416A-AB8B-8799894818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4" y="473"/>
                <a:ext cx="336" cy="8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2000">
                    <a:solidFill>
                      <a:schemeClr val="bg1"/>
                    </a:solidFill>
                  </a:rPr>
                  <a:t>布拉格</a:t>
                </a:r>
              </a:p>
            </p:txBody>
          </p:sp>
          <p:sp>
            <p:nvSpPr>
              <p:cNvPr id="4124" name="Line 22">
                <a:extLst>
                  <a:ext uri="{FF2B5EF4-FFF2-40B4-BE49-F238E27FC236}">
                    <a16:creationId xmlns:a16="http://schemas.microsoft.com/office/drawing/2014/main" id="{8108CFB5-74D8-4C52-B16C-4104DB0CDF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1200"/>
                <a:ext cx="144" cy="624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15" name="Group 23">
              <a:extLst>
                <a:ext uri="{FF2B5EF4-FFF2-40B4-BE49-F238E27FC236}">
                  <a16:creationId xmlns:a16="http://schemas.microsoft.com/office/drawing/2014/main" id="{8AFE15DB-1496-48B9-BEC1-5919129CEF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1" y="1405"/>
              <a:ext cx="404" cy="584"/>
              <a:chOff x="4848" y="1248"/>
              <a:chExt cx="432" cy="625"/>
            </a:xfrm>
          </p:grpSpPr>
          <p:sp>
            <p:nvSpPr>
              <p:cNvPr id="4121" name="Text Box 24">
                <a:extLst>
                  <a:ext uri="{FF2B5EF4-FFF2-40B4-BE49-F238E27FC236}">
                    <a16:creationId xmlns:a16="http://schemas.microsoft.com/office/drawing/2014/main" id="{74F82962-F634-4E69-85E0-F6D0AF5D98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4" y="1248"/>
                <a:ext cx="336" cy="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2000">
                    <a:solidFill>
                      <a:schemeClr val="bg1"/>
                    </a:solidFill>
                  </a:rPr>
                  <a:t>玻尔</a:t>
                </a:r>
              </a:p>
            </p:txBody>
          </p:sp>
          <p:sp>
            <p:nvSpPr>
              <p:cNvPr id="4122" name="Line 25">
                <a:extLst>
                  <a:ext uri="{FF2B5EF4-FFF2-40B4-BE49-F238E27FC236}">
                    <a16:creationId xmlns:a16="http://schemas.microsoft.com/office/drawing/2014/main" id="{74F55B88-CE6E-4EC9-865F-6FB8DFBB25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8" y="1728"/>
                <a:ext cx="192" cy="144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16" name="Text Box 26">
              <a:extLst>
                <a:ext uri="{FF2B5EF4-FFF2-40B4-BE49-F238E27FC236}">
                  <a16:creationId xmlns:a16="http://schemas.microsoft.com/office/drawing/2014/main" id="{05FD1D47-1DEC-4ADC-B8A4-6674A89B5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787"/>
              <a:ext cx="314" cy="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</a:rPr>
                <a:t>海森伯</a:t>
              </a:r>
            </a:p>
          </p:txBody>
        </p:sp>
        <p:grpSp>
          <p:nvGrpSpPr>
            <p:cNvPr id="4117" name="Group 27">
              <a:extLst>
                <a:ext uri="{FF2B5EF4-FFF2-40B4-BE49-F238E27FC236}">
                  <a16:creationId xmlns:a16="http://schemas.microsoft.com/office/drawing/2014/main" id="{A49C9285-4EAE-46AF-9F72-602E06CAE8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9" y="981"/>
              <a:ext cx="627" cy="962"/>
              <a:chOff x="4320" y="793"/>
              <a:chExt cx="672" cy="1031"/>
            </a:xfrm>
          </p:grpSpPr>
          <p:sp>
            <p:nvSpPr>
              <p:cNvPr id="4119" name="Text Box 28">
                <a:extLst>
                  <a:ext uri="{FF2B5EF4-FFF2-40B4-BE49-F238E27FC236}">
                    <a16:creationId xmlns:a16="http://schemas.microsoft.com/office/drawing/2014/main" id="{A68816C8-429E-430C-BCF7-DD55655B65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7" y="793"/>
                <a:ext cx="335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2000">
                    <a:solidFill>
                      <a:schemeClr val="bg1"/>
                    </a:solidFill>
                  </a:rPr>
                  <a:t>玻恩</a:t>
                </a:r>
              </a:p>
            </p:txBody>
          </p:sp>
          <p:sp>
            <p:nvSpPr>
              <p:cNvPr id="4120" name="Line 29">
                <a:extLst>
                  <a:ext uri="{FF2B5EF4-FFF2-40B4-BE49-F238E27FC236}">
                    <a16:creationId xmlns:a16="http://schemas.microsoft.com/office/drawing/2014/main" id="{28230B0E-690F-4A73-BFDE-8C5F5057CC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20" y="1296"/>
                <a:ext cx="432" cy="52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18" name="Text Box 30">
              <a:extLst>
                <a:ext uri="{FF2B5EF4-FFF2-40B4-BE49-F238E27FC236}">
                  <a16:creationId xmlns:a16="http://schemas.microsoft.com/office/drawing/2014/main" id="{EA1A0F00-42A8-4DCD-B908-1204CF74D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3" y="2802"/>
              <a:ext cx="313" cy="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</a:rPr>
                <a:t>朗之万</a:t>
              </a:r>
            </a:p>
          </p:txBody>
        </p:sp>
      </p:grpSp>
      <p:sp>
        <p:nvSpPr>
          <p:cNvPr id="901152" name="Text Box 32">
            <a:extLst>
              <a:ext uri="{FF2B5EF4-FFF2-40B4-BE49-F238E27FC236}">
                <a16:creationId xmlns:a16="http://schemas.microsoft.com/office/drawing/2014/main" id="{BCF4FCEE-A16C-4284-9699-177516137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392363"/>
            <a:ext cx="701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</a:rPr>
              <a:t>20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</a:rPr>
              <a:t>世纪初最杰出的一批科学家的合影</a:t>
            </a:r>
            <a:endParaRPr kumimoji="1" lang="zh-CN" altLang="en-US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102" name="Text Box 33">
            <a:extLst>
              <a:ext uri="{FF2B5EF4-FFF2-40B4-BE49-F238E27FC236}">
                <a16:creationId xmlns:a16="http://schemas.microsoft.com/office/drawing/2014/main" id="{C6B8C2B8-4CC8-40FF-9047-665902A69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115888"/>
            <a:ext cx="5105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600" b="0" dirty="0">
                <a:solidFill>
                  <a:schemeClr val="accent2"/>
                </a:solidFill>
                <a:ea typeface="黑体" panose="02010609060101010101" pitchFamily="49" charset="-122"/>
              </a:rPr>
              <a:t>第</a:t>
            </a:r>
            <a:r>
              <a:rPr lang="en-US" altLang="zh-CN" sz="3600" b="0" dirty="0">
                <a:solidFill>
                  <a:schemeClr val="accent2"/>
                </a:solidFill>
                <a:ea typeface="黑体" panose="02010609060101010101" pitchFamily="49" charset="-122"/>
              </a:rPr>
              <a:t>15</a:t>
            </a:r>
            <a:r>
              <a:rPr lang="zh-CN" altLang="en-US" sz="3600" b="0" dirty="0">
                <a:solidFill>
                  <a:schemeClr val="accent2"/>
                </a:solidFill>
                <a:ea typeface="黑体" panose="02010609060101010101" pitchFamily="49" charset="-122"/>
              </a:rPr>
              <a:t>章  量子物理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0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0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22" grpId="0"/>
      <p:bldP spid="90115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>
            <a:extLst>
              <a:ext uri="{FF2B5EF4-FFF2-40B4-BE49-F238E27FC236}">
                <a16:creationId xmlns:a16="http://schemas.microsoft.com/office/drawing/2014/main" id="{C60AE043-7D35-4C86-BA00-DEAD333791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982402-7F1F-4395-A5D3-B9F02DD495E2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zh-CN" altLang="zh-CN" sz="1400"/>
          </a:p>
        </p:txBody>
      </p:sp>
      <p:pic>
        <p:nvPicPr>
          <p:cNvPr id="902147" name="Picture 3" descr="200591821294663154">
            <a:hlinkClick r:id="rId2"/>
            <a:extLst>
              <a:ext uri="{FF2B5EF4-FFF2-40B4-BE49-F238E27FC236}">
                <a16:creationId xmlns:a16="http://schemas.microsoft.com/office/drawing/2014/main" id="{0CAFE500-7456-4118-8FA4-E9122E17F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63" y="1819275"/>
            <a:ext cx="2359025" cy="3024188"/>
          </a:xfrm>
          <a:prstGeom prst="rect">
            <a:avLst/>
          </a:prstGeom>
          <a:noFill/>
          <a:ln w="57150">
            <a:solidFill>
              <a:srgbClr val="CCFF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2148" name="AutoShape 4">
            <a:extLst>
              <a:ext uri="{FF2B5EF4-FFF2-40B4-BE49-F238E27FC236}">
                <a16:creationId xmlns:a16="http://schemas.microsoft.com/office/drawing/2014/main" id="{61A30790-64D7-4826-933B-A86E6C6EE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628775"/>
            <a:ext cx="4646613" cy="2232025"/>
          </a:xfrm>
          <a:prstGeom prst="cloudCallout">
            <a:avLst>
              <a:gd name="adj1" fmla="val -82866"/>
              <a:gd name="adj2" fmla="val 31083"/>
            </a:avLst>
          </a:prstGeom>
          <a:gradFill rotWithShape="1">
            <a:gsLst>
              <a:gs pos="0">
                <a:srgbClr val="00BCB8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bg1"/>
            </a:solidFill>
            <a:rou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华文行楷" panose="02010800040101010101" pitchFamily="2" charset="-122"/>
              </a:rPr>
              <a:t>物理学的大厦已经完成，今后物理学家的任务就是修饰完善这座大厦了。</a:t>
            </a:r>
          </a:p>
        </p:txBody>
      </p:sp>
      <p:sp>
        <p:nvSpPr>
          <p:cNvPr id="902150" name="Text Box 6">
            <a:extLst>
              <a:ext uri="{FF2B5EF4-FFF2-40B4-BE49-F238E27FC236}">
                <a16:creationId xmlns:a16="http://schemas.microsoft.com/office/drawing/2014/main" id="{80C0A2C7-812C-47E2-B6B5-C93D3C31A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895850"/>
            <a:ext cx="2447925" cy="396875"/>
          </a:xfrm>
          <a:prstGeom prst="rect">
            <a:avLst/>
          </a:prstGeom>
          <a:solidFill>
            <a:srgbClr val="CCFFCC"/>
          </a:solidFill>
          <a:ln w="19050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1"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幼圆" panose="02010509060101010101" pitchFamily="49" charset="-122"/>
              </a:rPr>
              <a:t>开尔文</a:t>
            </a: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B36DF3DE-9733-491A-BB60-4912724D63B3}"/>
              </a:ext>
            </a:extLst>
          </p:cNvPr>
          <p:cNvGrpSpPr>
            <a:grpSpLocks/>
          </p:cNvGrpSpPr>
          <p:nvPr/>
        </p:nvGrpSpPr>
        <p:grpSpPr bwMode="auto">
          <a:xfrm>
            <a:off x="7596188" y="4005263"/>
            <a:ext cx="1181100" cy="1368425"/>
            <a:chOff x="2245" y="300"/>
            <a:chExt cx="1016" cy="1332"/>
          </a:xfrm>
        </p:grpSpPr>
        <p:sp>
          <p:nvSpPr>
            <p:cNvPr id="5129" name="Freeform 21">
              <a:extLst>
                <a:ext uri="{FF2B5EF4-FFF2-40B4-BE49-F238E27FC236}">
                  <a16:creationId xmlns:a16="http://schemas.microsoft.com/office/drawing/2014/main" id="{5CE04545-A11C-428B-A4E5-C34177BD3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300"/>
              <a:ext cx="1016" cy="1128"/>
            </a:xfrm>
            <a:custGeom>
              <a:avLst/>
              <a:gdLst>
                <a:gd name="T0" fmla="*/ 280 w 1016"/>
                <a:gd name="T1" fmla="*/ 648 h 1128"/>
                <a:gd name="T2" fmla="*/ 40 w 1016"/>
                <a:gd name="T3" fmla="*/ 552 h 1128"/>
                <a:gd name="T4" fmla="*/ 40 w 1016"/>
                <a:gd name="T5" fmla="*/ 312 h 1128"/>
                <a:gd name="T6" fmla="*/ 88 w 1016"/>
                <a:gd name="T7" fmla="*/ 72 h 1128"/>
                <a:gd name="T8" fmla="*/ 376 w 1016"/>
                <a:gd name="T9" fmla="*/ 24 h 1128"/>
                <a:gd name="T10" fmla="*/ 616 w 1016"/>
                <a:gd name="T11" fmla="*/ 24 h 1128"/>
                <a:gd name="T12" fmla="*/ 856 w 1016"/>
                <a:gd name="T13" fmla="*/ 72 h 1128"/>
                <a:gd name="T14" fmla="*/ 1000 w 1016"/>
                <a:gd name="T15" fmla="*/ 456 h 1128"/>
                <a:gd name="T16" fmla="*/ 952 w 1016"/>
                <a:gd name="T17" fmla="*/ 648 h 1128"/>
                <a:gd name="T18" fmla="*/ 760 w 1016"/>
                <a:gd name="T19" fmla="*/ 696 h 1128"/>
                <a:gd name="T20" fmla="*/ 616 w 1016"/>
                <a:gd name="T21" fmla="*/ 792 h 1128"/>
                <a:gd name="T22" fmla="*/ 520 w 1016"/>
                <a:gd name="T23" fmla="*/ 888 h 1128"/>
                <a:gd name="T24" fmla="*/ 520 w 1016"/>
                <a:gd name="T25" fmla="*/ 1128 h 11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16" h="1128">
                  <a:moveTo>
                    <a:pt x="280" y="648"/>
                  </a:moveTo>
                  <a:cubicBezTo>
                    <a:pt x="180" y="628"/>
                    <a:pt x="80" y="608"/>
                    <a:pt x="40" y="552"/>
                  </a:cubicBezTo>
                  <a:cubicBezTo>
                    <a:pt x="0" y="496"/>
                    <a:pt x="32" y="392"/>
                    <a:pt x="40" y="312"/>
                  </a:cubicBezTo>
                  <a:cubicBezTo>
                    <a:pt x="48" y="232"/>
                    <a:pt x="32" y="120"/>
                    <a:pt x="88" y="72"/>
                  </a:cubicBezTo>
                  <a:cubicBezTo>
                    <a:pt x="144" y="24"/>
                    <a:pt x="288" y="32"/>
                    <a:pt x="376" y="24"/>
                  </a:cubicBezTo>
                  <a:cubicBezTo>
                    <a:pt x="464" y="16"/>
                    <a:pt x="536" y="16"/>
                    <a:pt x="616" y="24"/>
                  </a:cubicBezTo>
                  <a:cubicBezTo>
                    <a:pt x="696" y="32"/>
                    <a:pt x="792" y="0"/>
                    <a:pt x="856" y="72"/>
                  </a:cubicBezTo>
                  <a:cubicBezTo>
                    <a:pt x="920" y="144"/>
                    <a:pt x="984" y="360"/>
                    <a:pt x="1000" y="456"/>
                  </a:cubicBezTo>
                  <a:cubicBezTo>
                    <a:pt x="1016" y="552"/>
                    <a:pt x="992" y="608"/>
                    <a:pt x="952" y="648"/>
                  </a:cubicBezTo>
                  <a:cubicBezTo>
                    <a:pt x="912" y="688"/>
                    <a:pt x="816" y="672"/>
                    <a:pt x="760" y="696"/>
                  </a:cubicBezTo>
                  <a:cubicBezTo>
                    <a:pt x="704" y="720"/>
                    <a:pt x="656" y="760"/>
                    <a:pt x="616" y="792"/>
                  </a:cubicBezTo>
                  <a:cubicBezTo>
                    <a:pt x="576" y="824"/>
                    <a:pt x="536" y="832"/>
                    <a:pt x="520" y="888"/>
                  </a:cubicBezTo>
                  <a:cubicBezTo>
                    <a:pt x="504" y="944"/>
                    <a:pt x="520" y="1096"/>
                    <a:pt x="520" y="1128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" name="Oval 22">
              <a:extLst>
                <a:ext uri="{FF2B5EF4-FFF2-40B4-BE49-F238E27FC236}">
                  <a16:creationId xmlns:a16="http://schemas.microsoft.com/office/drawing/2014/main" id="{9B4F1913-9039-4DDB-8A22-4E949C5F5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536"/>
              <a:ext cx="192" cy="96"/>
            </a:xfrm>
            <a:prstGeom prst="ellipse">
              <a:avLst/>
            </a:prstGeom>
            <a:solidFill>
              <a:srgbClr val="FF6600"/>
            </a:solidFill>
            <a:ln w="762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5131" name="Oval 23">
              <a:extLst>
                <a:ext uri="{FF2B5EF4-FFF2-40B4-BE49-F238E27FC236}">
                  <a16:creationId xmlns:a16="http://schemas.microsoft.com/office/drawing/2014/main" id="{064E9216-C70B-43CC-B39C-EB8BD4D03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432"/>
              <a:ext cx="96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5132" name="Oval 24">
              <a:extLst>
                <a:ext uri="{FF2B5EF4-FFF2-40B4-BE49-F238E27FC236}">
                  <a16:creationId xmlns:a16="http://schemas.microsoft.com/office/drawing/2014/main" id="{EBDAD597-5BC4-405D-9E53-9FDC08EF0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432"/>
              <a:ext cx="96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5133" name="Oval 25">
              <a:extLst>
                <a:ext uri="{FF2B5EF4-FFF2-40B4-BE49-F238E27FC236}">
                  <a16:creationId xmlns:a16="http://schemas.microsoft.com/office/drawing/2014/main" id="{4FA4BF4C-7AAF-4782-974C-11A681A72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43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5134" name="Oval 26">
              <a:extLst>
                <a:ext uri="{FF2B5EF4-FFF2-40B4-BE49-F238E27FC236}">
                  <a16:creationId xmlns:a16="http://schemas.microsoft.com/office/drawing/2014/main" id="{429A78B8-6C62-44E0-AD51-49384D387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432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5135" name="Freeform 27">
              <a:extLst>
                <a:ext uri="{FF2B5EF4-FFF2-40B4-BE49-F238E27FC236}">
                  <a16:creationId xmlns:a16="http://schemas.microsoft.com/office/drawing/2014/main" id="{884DFBF4-4FCE-4D1E-9585-4FBF32386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733"/>
              <a:ext cx="288" cy="96"/>
            </a:xfrm>
            <a:custGeom>
              <a:avLst/>
              <a:gdLst>
                <a:gd name="T0" fmla="*/ 0 w 288"/>
                <a:gd name="T1" fmla="*/ 96 h 96"/>
                <a:gd name="T2" fmla="*/ 144 w 288"/>
                <a:gd name="T3" fmla="*/ 0 h 96"/>
                <a:gd name="T4" fmla="*/ 288 w 288"/>
                <a:gd name="T5" fmla="*/ 96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8" h="96">
                  <a:moveTo>
                    <a:pt x="0" y="96"/>
                  </a:moveTo>
                  <a:cubicBezTo>
                    <a:pt x="48" y="48"/>
                    <a:pt x="96" y="0"/>
                    <a:pt x="144" y="0"/>
                  </a:cubicBezTo>
                  <a:cubicBezTo>
                    <a:pt x="192" y="0"/>
                    <a:pt x="264" y="80"/>
                    <a:pt x="288" y="9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02176" name="Text Box 32">
            <a:extLst>
              <a:ext uri="{FF2B5EF4-FFF2-40B4-BE49-F238E27FC236}">
                <a16:creationId xmlns:a16="http://schemas.microsoft.com/office/drawing/2014/main" id="{5C345A5F-8C05-4E7B-A120-993110F09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8991600" cy="1544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经典物理（</a:t>
            </a: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17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－</a:t>
            </a: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19 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世纪）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牛顿力学   热力学   经典统计力学   经典电磁理论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用于描述宏观世界运动发展规律</a:t>
            </a: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.</a:t>
            </a:r>
            <a:endParaRPr kumimoji="1" lang="en-US" altLang="zh-CN" sz="2800" b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902177" name="Text Box 33">
            <a:extLst>
              <a:ext uri="{FF2B5EF4-FFF2-40B4-BE49-F238E27FC236}">
                <a16:creationId xmlns:a16="http://schemas.microsoft.com/office/drawing/2014/main" id="{06CA85CA-2C33-4A2A-8089-2302EC840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5589588"/>
            <a:ext cx="5699125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十九世纪末  二十世纪初的一些新的</a:t>
            </a:r>
          </a:p>
          <a:p>
            <a:pPr eaLnBrk="1" hangingPunct="1"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实验对经典物理学产生了强有力的冲击。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2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0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90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0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2148" grpId="0" animBg="1"/>
      <p:bldP spid="902150" grpId="0" animBg="1"/>
      <p:bldP spid="902176" grpId="0" build="p"/>
      <p:bldP spid="90217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>
            <a:extLst>
              <a:ext uri="{FF2B5EF4-FFF2-40B4-BE49-F238E27FC236}">
                <a16:creationId xmlns:a16="http://schemas.microsoft.com/office/drawing/2014/main" id="{6306E8E0-C4F9-4652-99F3-C9D18A5878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BF0A36-E28F-4A49-8E6B-6611A46CF33F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zh-CN" altLang="zh-CN" sz="1400"/>
          </a:p>
        </p:txBody>
      </p:sp>
      <p:sp>
        <p:nvSpPr>
          <p:cNvPr id="903193" name="Text Box 25">
            <a:extLst>
              <a:ext uri="{FF2B5EF4-FFF2-40B4-BE49-F238E27FC236}">
                <a16:creationId xmlns:a16="http://schemas.microsoft.com/office/drawing/2014/main" id="{5A1EFB4F-074C-4DBA-9987-EC95F9C2C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3500438"/>
            <a:ext cx="6265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经典物理无法解释这些新的物理现象</a:t>
            </a:r>
          </a:p>
        </p:txBody>
      </p:sp>
      <p:sp>
        <p:nvSpPr>
          <p:cNvPr id="903196" name="Text Box 28">
            <a:extLst>
              <a:ext uri="{FF2B5EF4-FFF2-40B4-BE49-F238E27FC236}">
                <a16:creationId xmlns:a16="http://schemas.microsoft.com/office/drawing/2014/main" id="{7A47E004-B413-4BA9-954D-E83E6E63B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5013325"/>
            <a:ext cx="4913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量子</a:t>
            </a:r>
            <a:r>
              <a:rPr lang="zh-CN" altLang="en-US" sz="2800" b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力学</a:t>
            </a:r>
            <a:r>
              <a:rPr lang="zh-CN" altLang="en-US" sz="2800" b="0">
                <a:solidFill>
                  <a:schemeClr val="accent2"/>
                </a:solidFill>
                <a:ea typeface="黑体" panose="02010609060101010101" pitchFamily="49" charset="-122"/>
              </a:rPr>
              <a:t>的建立（</a:t>
            </a:r>
            <a:r>
              <a:rPr lang="en-US" altLang="zh-CN" sz="2800" b="0">
                <a:solidFill>
                  <a:schemeClr val="accent2"/>
                </a:solidFill>
                <a:ea typeface="黑体" panose="02010609060101010101" pitchFamily="49" charset="-122"/>
              </a:rPr>
              <a:t>20</a:t>
            </a:r>
            <a:r>
              <a:rPr lang="zh-CN" altLang="en-US" sz="2800" b="0">
                <a:solidFill>
                  <a:schemeClr val="accent2"/>
                </a:solidFill>
                <a:ea typeface="黑体" panose="02010609060101010101" pitchFamily="49" charset="-122"/>
              </a:rPr>
              <a:t>世纪）</a:t>
            </a: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46FD8854-2DB7-47DD-B0C6-215E8E58CA78}"/>
              </a:ext>
            </a:extLst>
          </p:cNvPr>
          <p:cNvGrpSpPr>
            <a:grpSpLocks/>
          </p:cNvGrpSpPr>
          <p:nvPr/>
        </p:nvGrpSpPr>
        <p:grpSpPr bwMode="auto">
          <a:xfrm>
            <a:off x="7164388" y="234950"/>
            <a:ext cx="1009650" cy="765175"/>
            <a:chOff x="3016" y="482"/>
            <a:chExt cx="817" cy="635"/>
          </a:xfrm>
        </p:grpSpPr>
        <p:sp>
          <p:nvSpPr>
            <p:cNvPr id="6159" name="AutoShape 36">
              <a:extLst>
                <a:ext uri="{FF2B5EF4-FFF2-40B4-BE49-F238E27FC236}">
                  <a16:creationId xmlns:a16="http://schemas.microsoft.com/office/drawing/2014/main" id="{EAE8DF0B-AB58-4C35-B4FA-A24C26BE3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482"/>
              <a:ext cx="817" cy="635"/>
            </a:xfrm>
            <a:prstGeom prst="cloudCallout">
              <a:avLst>
                <a:gd name="adj1" fmla="val -30417"/>
                <a:gd name="adj2" fmla="val 41653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/>
            </a:p>
          </p:txBody>
        </p:sp>
        <p:grpSp>
          <p:nvGrpSpPr>
            <p:cNvPr id="6160" name="Group 37">
              <a:extLst>
                <a:ext uri="{FF2B5EF4-FFF2-40B4-BE49-F238E27FC236}">
                  <a16:creationId xmlns:a16="http://schemas.microsoft.com/office/drawing/2014/main" id="{C1E5C1A5-6CC0-4FA8-887D-92294DCC84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0" y="627"/>
              <a:ext cx="290" cy="290"/>
              <a:chOff x="1828" y="1462"/>
              <a:chExt cx="290" cy="290"/>
            </a:xfrm>
          </p:grpSpPr>
          <p:sp>
            <p:nvSpPr>
              <p:cNvPr id="6161" name="Arc 38">
                <a:extLst>
                  <a:ext uri="{FF2B5EF4-FFF2-40B4-BE49-F238E27FC236}">
                    <a16:creationId xmlns:a16="http://schemas.microsoft.com/office/drawing/2014/main" id="{B36882F9-9657-413B-A502-BE292A473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831" y="1681"/>
                <a:ext cx="265" cy="71"/>
              </a:xfrm>
              <a:custGeom>
                <a:avLst/>
                <a:gdLst>
                  <a:gd name="T0" fmla="*/ 0 w 42074"/>
                  <a:gd name="T1" fmla="*/ 0 h 21600"/>
                  <a:gd name="T2" fmla="*/ 0 w 42074"/>
                  <a:gd name="T3" fmla="*/ 0 h 21600"/>
                  <a:gd name="T4" fmla="*/ 0 w 42074"/>
                  <a:gd name="T5" fmla="*/ 0 h 21600"/>
                  <a:gd name="T6" fmla="*/ 0 w 42074"/>
                  <a:gd name="T7" fmla="*/ 0 h 21600"/>
                  <a:gd name="T8" fmla="*/ 0 w 42074"/>
                  <a:gd name="T9" fmla="*/ 0 h 21600"/>
                  <a:gd name="T10" fmla="*/ 0 w 42074"/>
                  <a:gd name="T11" fmla="*/ 0 h 21600"/>
                  <a:gd name="T12" fmla="*/ 0 w 42074"/>
                  <a:gd name="T13" fmla="*/ 0 h 216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074" h="21600" fill="none">
                    <a:moveTo>
                      <a:pt x="-1" y="17800"/>
                    </a:moveTo>
                    <a:cubicBezTo>
                      <a:pt x="1840" y="7500"/>
                      <a:pt x="10799" y="-1"/>
                      <a:pt x="21263" y="0"/>
                    </a:cubicBezTo>
                    <a:cubicBezTo>
                      <a:pt x="30965" y="0"/>
                      <a:pt x="39476" y="6468"/>
                      <a:pt x="42074" y="15816"/>
                    </a:cubicBezTo>
                  </a:path>
                  <a:path w="42074" h="21600" stroke="0">
                    <a:moveTo>
                      <a:pt x="-1" y="17800"/>
                    </a:moveTo>
                    <a:cubicBezTo>
                      <a:pt x="1840" y="7500"/>
                      <a:pt x="10799" y="-1"/>
                      <a:pt x="21263" y="0"/>
                    </a:cubicBezTo>
                    <a:cubicBezTo>
                      <a:pt x="30965" y="0"/>
                      <a:pt x="39476" y="6468"/>
                      <a:pt x="42074" y="15816"/>
                    </a:cubicBezTo>
                    <a:lnTo>
                      <a:pt x="21263" y="21600"/>
                    </a:lnTo>
                    <a:lnTo>
                      <a:pt x="-1" y="178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2" name="Oval 39">
                <a:extLst>
                  <a:ext uri="{FF2B5EF4-FFF2-40B4-BE49-F238E27FC236}">
                    <a16:creationId xmlns:a16="http://schemas.microsoft.com/office/drawing/2014/main" id="{04747DA4-BAF4-4E3B-B844-17201FDF09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8" y="1462"/>
                <a:ext cx="90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6163" name="Oval 40">
                <a:extLst>
                  <a:ext uri="{FF2B5EF4-FFF2-40B4-BE49-F238E27FC236}">
                    <a16:creationId xmlns:a16="http://schemas.microsoft.com/office/drawing/2014/main" id="{0039A9AD-1E19-476E-A12D-E09A5F56E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" y="1462"/>
                <a:ext cx="90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</p:grpSp>
      <p:grpSp>
        <p:nvGrpSpPr>
          <p:cNvPr id="4" name="Group 41">
            <a:extLst>
              <a:ext uri="{FF2B5EF4-FFF2-40B4-BE49-F238E27FC236}">
                <a16:creationId xmlns:a16="http://schemas.microsoft.com/office/drawing/2014/main" id="{375EFD4C-5AD7-4720-8230-2DFEA391A563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811213"/>
            <a:ext cx="1116013" cy="576262"/>
            <a:chOff x="4195" y="527"/>
            <a:chExt cx="999" cy="635"/>
          </a:xfrm>
        </p:grpSpPr>
        <p:sp>
          <p:nvSpPr>
            <p:cNvPr id="6154" name="AutoShape 42">
              <a:extLst>
                <a:ext uri="{FF2B5EF4-FFF2-40B4-BE49-F238E27FC236}">
                  <a16:creationId xmlns:a16="http://schemas.microsoft.com/office/drawing/2014/main" id="{A749B8C5-0EA8-4910-AA37-2DD095B7D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527"/>
              <a:ext cx="999" cy="635"/>
            </a:xfrm>
            <a:prstGeom prst="cloudCallout">
              <a:avLst>
                <a:gd name="adj1" fmla="val -33884"/>
                <a:gd name="adj2" fmla="val 59134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000"/>
            </a:p>
          </p:txBody>
        </p:sp>
        <p:grpSp>
          <p:nvGrpSpPr>
            <p:cNvPr id="6155" name="Group 43">
              <a:extLst>
                <a:ext uri="{FF2B5EF4-FFF2-40B4-BE49-F238E27FC236}">
                  <a16:creationId xmlns:a16="http://schemas.microsoft.com/office/drawing/2014/main" id="{C15ADBFF-6444-457D-B2FE-7B75D0B56E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5" y="691"/>
              <a:ext cx="290" cy="290"/>
              <a:chOff x="1828" y="1462"/>
              <a:chExt cx="290" cy="290"/>
            </a:xfrm>
          </p:grpSpPr>
          <p:sp>
            <p:nvSpPr>
              <p:cNvPr id="6156" name="Arc 44">
                <a:extLst>
                  <a:ext uri="{FF2B5EF4-FFF2-40B4-BE49-F238E27FC236}">
                    <a16:creationId xmlns:a16="http://schemas.microsoft.com/office/drawing/2014/main" id="{BB3746AA-51D3-47CA-94E1-6C60ACDC8A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831" y="1681"/>
                <a:ext cx="265" cy="71"/>
              </a:xfrm>
              <a:custGeom>
                <a:avLst/>
                <a:gdLst>
                  <a:gd name="T0" fmla="*/ 0 w 42074"/>
                  <a:gd name="T1" fmla="*/ 0 h 21600"/>
                  <a:gd name="T2" fmla="*/ 0 w 42074"/>
                  <a:gd name="T3" fmla="*/ 0 h 21600"/>
                  <a:gd name="T4" fmla="*/ 0 w 42074"/>
                  <a:gd name="T5" fmla="*/ 0 h 21600"/>
                  <a:gd name="T6" fmla="*/ 0 w 42074"/>
                  <a:gd name="T7" fmla="*/ 0 h 21600"/>
                  <a:gd name="T8" fmla="*/ 0 w 42074"/>
                  <a:gd name="T9" fmla="*/ 0 h 21600"/>
                  <a:gd name="T10" fmla="*/ 0 w 42074"/>
                  <a:gd name="T11" fmla="*/ 0 h 21600"/>
                  <a:gd name="T12" fmla="*/ 0 w 42074"/>
                  <a:gd name="T13" fmla="*/ 0 h 216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074" h="21600" fill="none">
                    <a:moveTo>
                      <a:pt x="-1" y="17800"/>
                    </a:moveTo>
                    <a:cubicBezTo>
                      <a:pt x="1840" y="7500"/>
                      <a:pt x="10799" y="-1"/>
                      <a:pt x="21263" y="0"/>
                    </a:cubicBezTo>
                    <a:cubicBezTo>
                      <a:pt x="30965" y="0"/>
                      <a:pt x="39476" y="6468"/>
                      <a:pt x="42074" y="15816"/>
                    </a:cubicBezTo>
                  </a:path>
                  <a:path w="42074" h="21600" stroke="0">
                    <a:moveTo>
                      <a:pt x="-1" y="17800"/>
                    </a:moveTo>
                    <a:cubicBezTo>
                      <a:pt x="1840" y="7500"/>
                      <a:pt x="10799" y="-1"/>
                      <a:pt x="21263" y="0"/>
                    </a:cubicBezTo>
                    <a:cubicBezTo>
                      <a:pt x="30965" y="0"/>
                      <a:pt x="39476" y="6468"/>
                      <a:pt x="42074" y="15816"/>
                    </a:cubicBezTo>
                    <a:lnTo>
                      <a:pt x="21263" y="21600"/>
                    </a:lnTo>
                    <a:lnTo>
                      <a:pt x="-1" y="178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7" name="Oval 45">
                <a:extLst>
                  <a:ext uri="{FF2B5EF4-FFF2-40B4-BE49-F238E27FC236}">
                    <a16:creationId xmlns:a16="http://schemas.microsoft.com/office/drawing/2014/main" id="{94C2AF1D-3F96-45F3-AD48-DE7BFD42E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8" y="1462"/>
                <a:ext cx="90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6158" name="Oval 46">
                <a:extLst>
                  <a:ext uri="{FF2B5EF4-FFF2-40B4-BE49-F238E27FC236}">
                    <a16:creationId xmlns:a16="http://schemas.microsoft.com/office/drawing/2014/main" id="{BA9F3598-97CC-4548-86E7-9C3B22960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" y="1462"/>
                <a:ext cx="90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</p:grpSp>
      <p:sp>
        <p:nvSpPr>
          <p:cNvPr id="903215" name="Rectangle 47">
            <a:extLst>
              <a:ext uri="{FF2B5EF4-FFF2-40B4-BE49-F238E27FC236}">
                <a16:creationId xmlns:a16="http://schemas.microsoft.com/office/drawing/2014/main" id="{68110E41-242C-43A7-8C56-3D68DBC6E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1027113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CC33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以太说 </a:t>
            </a:r>
          </a:p>
        </p:txBody>
      </p:sp>
      <p:sp>
        <p:nvSpPr>
          <p:cNvPr id="903216" name="Rectangle 48">
            <a:extLst>
              <a:ext uri="{FF2B5EF4-FFF2-40B4-BE49-F238E27FC236}">
                <a16:creationId xmlns:a16="http://schemas.microsoft.com/office/drawing/2014/main" id="{01449D7C-2F4F-4356-A8DB-A0D0341AF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50850"/>
            <a:ext cx="186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CC33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黑体辐射谱 </a:t>
            </a:r>
          </a:p>
        </p:txBody>
      </p:sp>
      <p:sp>
        <p:nvSpPr>
          <p:cNvPr id="903217" name="Rectangle 49">
            <a:extLst>
              <a:ext uri="{FF2B5EF4-FFF2-40B4-BE49-F238E27FC236}">
                <a16:creationId xmlns:a16="http://schemas.microsoft.com/office/drawing/2014/main" id="{A14B3CF8-12E9-44A2-BB14-F74A70E99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792288"/>
            <a:ext cx="9650412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zh-CN" altLang="zh-CN" sz="28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开尔文：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然而，在物理学晴朗的天空上还漂浮着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zh-CN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两朵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800">
                <a:ea typeface="华文新魏" panose="02010800040101010101" pitchFamily="2" charset="-122"/>
              </a:rPr>
              <a:t>令人不安的</a:t>
            </a:r>
            <a:r>
              <a:rPr lang="zh-CN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乌云。</a:t>
            </a:r>
            <a:endParaRPr lang="zh-CN" altLang="en-US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0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03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03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0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03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03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03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90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03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03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3193" grpId="0"/>
      <p:bldP spid="903196" grpId="0"/>
      <p:bldP spid="903215" grpId="0"/>
      <p:bldP spid="9032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>
            <a:extLst>
              <a:ext uri="{FF2B5EF4-FFF2-40B4-BE49-F238E27FC236}">
                <a16:creationId xmlns:a16="http://schemas.microsoft.com/office/drawing/2014/main" id="{5F37F94B-75FB-4D84-95D7-7A2109DA9A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254748-9A45-4410-8D7A-229428D71E15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zh-CN" altLang="zh-CN" sz="1400"/>
          </a:p>
        </p:txBody>
      </p:sp>
      <p:sp>
        <p:nvSpPr>
          <p:cNvPr id="904194" name="Text Box 2">
            <a:extLst>
              <a:ext uri="{FF2B5EF4-FFF2-40B4-BE49-F238E27FC236}">
                <a16:creationId xmlns:a16="http://schemas.microsoft.com/office/drawing/2014/main" id="{3838F88D-3DB3-48A2-BA04-9419AAD74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" y="692150"/>
            <a:ext cx="97202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CC3300"/>
              </a:buClr>
              <a:buFont typeface="Wingdings" panose="05000000000000000000" pitchFamily="2" charset="2"/>
              <a:buChar char="§"/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普朗克首先提出</a:t>
            </a:r>
            <a:r>
              <a:rPr kumimoji="1" lang="zh-CN" altLang="en-US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能量子假说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，成功地解释了黑体辐射现象（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1900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年）</a:t>
            </a:r>
          </a:p>
        </p:txBody>
      </p:sp>
      <p:sp>
        <p:nvSpPr>
          <p:cNvPr id="904195" name="Text Box 3">
            <a:extLst>
              <a:ext uri="{FF2B5EF4-FFF2-40B4-BE49-F238E27FC236}">
                <a16:creationId xmlns:a16="http://schemas.microsoft.com/office/drawing/2014/main" id="{1E22E81B-197F-4D29-8FAC-ACF624600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" y="1346200"/>
            <a:ext cx="9150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CC3300"/>
              </a:buClr>
              <a:buFont typeface="Wingdings" panose="05000000000000000000" pitchFamily="2" charset="2"/>
              <a:buChar char="§"/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爱因斯坦提出</a:t>
            </a:r>
            <a:r>
              <a:rPr kumimoji="1" lang="zh-CN" altLang="en-US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光子假说，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成功地解释了光电效应现象 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(1905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年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</a:p>
        </p:txBody>
      </p:sp>
      <p:sp>
        <p:nvSpPr>
          <p:cNvPr id="904196" name="Text Box 4">
            <a:extLst>
              <a:ext uri="{FF2B5EF4-FFF2-40B4-BE49-F238E27FC236}">
                <a16:creationId xmlns:a16="http://schemas.microsoft.com/office/drawing/2014/main" id="{DFE32712-3CFC-449C-BFCA-5B3836B5A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" y="1989138"/>
            <a:ext cx="66246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CC3300"/>
              </a:buClr>
              <a:buFont typeface="Wingdings" panose="05000000000000000000" pitchFamily="2" charset="2"/>
              <a:buChar char="§"/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康普顿散射进一步证实</a:t>
            </a:r>
            <a:r>
              <a:rPr kumimoji="1" lang="zh-CN" altLang="en-US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光的粒子性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(1923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年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</a:p>
        </p:txBody>
      </p:sp>
      <p:sp>
        <p:nvSpPr>
          <p:cNvPr id="904197" name="Text Box 5">
            <a:extLst>
              <a:ext uri="{FF2B5EF4-FFF2-40B4-BE49-F238E27FC236}">
                <a16:creationId xmlns:a16="http://schemas.microsoft.com/office/drawing/2014/main" id="{D922A6D2-0FD1-43E6-A8BA-47C0F81F1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48063"/>
            <a:ext cx="67278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buClr>
                <a:srgbClr val="CC3300"/>
              </a:buClr>
              <a:buFont typeface="Wingdings" panose="05000000000000000000" pitchFamily="2" charset="2"/>
              <a:buChar char="§"/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德布罗意提出实物粒子的</a:t>
            </a:r>
            <a:r>
              <a:rPr kumimoji="1" lang="zh-CN" altLang="en-US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波粒二象性假说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(1924)</a:t>
            </a:r>
            <a:endParaRPr kumimoji="1" lang="en-US" altLang="zh-CN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</p:txBody>
      </p:sp>
      <p:sp>
        <p:nvSpPr>
          <p:cNvPr id="904198" name="Text Box 6">
            <a:extLst>
              <a:ext uri="{FF2B5EF4-FFF2-40B4-BE49-F238E27FC236}">
                <a16:creationId xmlns:a16="http://schemas.microsoft.com/office/drawing/2014/main" id="{F75EE0D2-CD4C-4AB7-AF47-9EF59A87E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938" y="2606675"/>
            <a:ext cx="9505951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CC3300"/>
              </a:buClr>
              <a:buFont typeface="Wingdings" panose="05000000000000000000" pitchFamily="2" charset="2"/>
              <a:buChar char="§"/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玻尔利用</a:t>
            </a:r>
            <a:r>
              <a:rPr kumimoji="1" lang="zh-CN" altLang="en-US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量子化概念建立了氢原子模型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，成功地解释氢原子光谱         </a:t>
            </a:r>
          </a:p>
          <a:p>
            <a:pPr eaLnBrk="1" hangingPunct="1">
              <a:buClr>
                <a:srgbClr val="CC3300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 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(1913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年 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</a:p>
        </p:txBody>
      </p:sp>
      <p:sp>
        <p:nvSpPr>
          <p:cNvPr id="904199" name="Text Box 7">
            <a:extLst>
              <a:ext uri="{FF2B5EF4-FFF2-40B4-BE49-F238E27FC236}">
                <a16:creationId xmlns:a16="http://schemas.microsoft.com/office/drawing/2014/main" id="{D3C5CF32-6F9B-4481-B5E5-83E87A461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5635625"/>
            <a:ext cx="91805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CC3300"/>
              </a:buClr>
              <a:buFont typeface="Wingdings" panose="05000000000000000000" pitchFamily="2" charset="2"/>
              <a:buChar char="§"/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薛定谔创立了量子力学的</a:t>
            </a:r>
            <a:r>
              <a:rPr kumimoji="1" lang="zh-CN" altLang="en-US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波动力学理论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(1926</a:t>
            </a:r>
            <a:r>
              <a:rPr kumimoji="1" lang="en-US" altLang="zh-CN" b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年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  <a:r>
              <a:rPr kumimoji="1" lang="en-US" altLang="zh-CN" b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</a:p>
        </p:txBody>
      </p:sp>
      <p:sp>
        <p:nvSpPr>
          <p:cNvPr id="904200" name="Text Box 8">
            <a:extLst>
              <a:ext uri="{FF2B5EF4-FFF2-40B4-BE49-F238E27FC236}">
                <a16:creationId xmlns:a16="http://schemas.microsoft.com/office/drawing/2014/main" id="{1151DD79-F66F-430A-8DB2-742089706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225" y="5013325"/>
            <a:ext cx="76739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CC3300"/>
              </a:buClr>
              <a:buFont typeface="Wingdings" panose="05000000000000000000" pitchFamily="2" charset="2"/>
              <a:buChar char="§"/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海森堡等人创立了量子力学的</a:t>
            </a:r>
            <a:r>
              <a:rPr kumimoji="1" lang="zh-CN" altLang="en-US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矩阵力学理论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(1925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年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</a:p>
        </p:txBody>
      </p:sp>
      <p:sp>
        <p:nvSpPr>
          <p:cNvPr id="904201" name="Text Box 9">
            <a:extLst>
              <a:ext uri="{FF2B5EF4-FFF2-40B4-BE49-F238E27FC236}">
                <a16:creationId xmlns:a16="http://schemas.microsoft.com/office/drawing/2014/main" id="{901F6AF8-19CD-4D7A-8A9C-BD2294EFC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8100"/>
            <a:ext cx="48085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</a:rPr>
              <a:t>早期量子论的建立</a:t>
            </a:r>
            <a:r>
              <a:rPr kumimoji="1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</a:rPr>
              <a:t>(1900-1924)</a:t>
            </a:r>
          </a:p>
        </p:txBody>
      </p:sp>
      <p:sp>
        <p:nvSpPr>
          <p:cNvPr id="904202" name="Text Box 10">
            <a:extLst>
              <a:ext uri="{FF2B5EF4-FFF2-40B4-BE49-F238E27FC236}">
                <a16:creationId xmlns:a16="http://schemas.microsoft.com/office/drawing/2014/main" id="{56D31506-F907-46C8-9AD3-8551E7F0F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310063"/>
            <a:ext cx="5164138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</a:rPr>
              <a:t>量子力学体系的建立</a:t>
            </a:r>
            <a:r>
              <a:rPr kumimoji="1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</a:rPr>
              <a:t>(1925-1927)</a:t>
            </a:r>
          </a:p>
        </p:txBody>
      </p:sp>
      <p:sp>
        <p:nvSpPr>
          <p:cNvPr id="904203" name="Text Box 11">
            <a:extLst>
              <a:ext uri="{FF2B5EF4-FFF2-40B4-BE49-F238E27FC236}">
                <a16:creationId xmlns:a16="http://schemas.microsoft.com/office/drawing/2014/main" id="{FEAFB202-1562-41EF-9A5C-8BC7B72B0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6211888"/>
            <a:ext cx="7673976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CC3300"/>
              </a:buClr>
              <a:buFont typeface="Wingdings" panose="05000000000000000000" pitchFamily="2" charset="2"/>
              <a:buChar char="§"/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狄拉克创立了</a:t>
            </a:r>
            <a:r>
              <a:rPr kumimoji="1" lang="zh-CN" altLang="en-US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相对论量子力学理论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(1927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年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0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0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0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0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0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0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0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04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194" grpId="0"/>
      <p:bldP spid="904195" grpId="0"/>
      <p:bldP spid="904196" grpId="0"/>
      <p:bldP spid="904197" grpId="0"/>
      <p:bldP spid="904198" grpId="0"/>
      <p:bldP spid="904199" grpId="0"/>
      <p:bldP spid="904200" grpId="0"/>
      <p:bldP spid="90420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>
            <a:extLst>
              <a:ext uri="{FF2B5EF4-FFF2-40B4-BE49-F238E27FC236}">
                <a16:creationId xmlns:a16="http://schemas.microsoft.com/office/drawing/2014/main" id="{3F1F7163-C5E6-42F5-9C56-23DE454036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E3513F-0800-40CB-9321-7203541EDDB7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zh-CN" altLang="zh-CN" sz="1400"/>
          </a:p>
        </p:txBody>
      </p:sp>
      <p:sp>
        <p:nvSpPr>
          <p:cNvPr id="905218" name="Text Box 2">
            <a:extLst>
              <a:ext uri="{FF2B5EF4-FFF2-40B4-BE49-F238E27FC236}">
                <a16:creationId xmlns:a16="http://schemas.microsoft.com/office/drawing/2014/main" id="{C5380492-25C1-4A5E-A46A-8269CC299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7056438" cy="1382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本篇的主要教学内容：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量子理论的基本概念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量子力学解决问题的基本思路和方法 </a:t>
            </a:r>
          </a:p>
        </p:txBody>
      </p:sp>
      <p:sp>
        <p:nvSpPr>
          <p:cNvPr id="905219" name="Text Box 3">
            <a:extLst>
              <a:ext uri="{FF2B5EF4-FFF2-40B4-BE49-F238E27FC236}">
                <a16:creationId xmlns:a16="http://schemas.microsoft.com/office/drawing/2014/main" id="{CD19BDAB-4C13-4AE3-A507-77F35BC1B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19263"/>
            <a:ext cx="9144000" cy="9890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　对象的特点：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1)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微观客体：线度小 活动范围小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78074B7-4FA8-4E05-8273-DB29E1B9BBFB}"/>
              </a:ext>
            </a:extLst>
          </p:cNvPr>
          <p:cNvGrpSpPr>
            <a:grpSpLocks/>
          </p:cNvGrpSpPr>
          <p:nvPr/>
        </p:nvGrpSpPr>
        <p:grpSpPr bwMode="auto">
          <a:xfrm>
            <a:off x="5651500" y="2247900"/>
            <a:ext cx="1008063" cy="457200"/>
            <a:chOff x="4560" y="3648"/>
            <a:chExt cx="912" cy="423"/>
          </a:xfrm>
        </p:grpSpPr>
        <p:graphicFrame>
          <p:nvGraphicFramePr>
            <p:cNvPr id="8201" name="Object 5">
              <a:extLst>
                <a:ext uri="{FF2B5EF4-FFF2-40B4-BE49-F238E27FC236}">
                  <a16:creationId xmlns:a16="http://schemas.microsoft.com/office/drawing/2014/main" id="{1A353CB3-00AE-4CD0-837B-A8C79A04057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560" y="3648"/>
            <a:ext cx="48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5" r:id="rId3" imgW="247714" imgH="171450" progId="Equation.3">
                    <p:embed/>
                  </p:oleObj>
                </mc:Choice>
                <mc:Fallback>
                  <p:oleObj r:id="rId3" imgW="247714" imgH="171450" progId="Equation.3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3648"/>
                          <a:ext cx="48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2" name="Text Box 6">
              <a:extLst>
                <a:ext uri="{FF2B5EF4-FFF2-40B4-BE49-F238E27FC236}">
                  <a16:creationId xmlns:a16="http://schemas.microsoft.com/office/drawing/2014/main" id="{CC33E7F0-6B9D-4AB3-AEDF-DC10C3D36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9" y="3648"/>
              <a:ext cx="383" cy="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solidFill>
                    <a:srgbClr val="CC3300"/>
                  </a:solidFill>
                </a:rPr>
                <a:t>米</a:t>
              </a:r>
            </a:p>
          </p:txBody>
        </p:sp>
      </p:grpSp>
      <p:sp>
        <p:nvSpPr>
          <p:cNvPr id="905223" name="Text Box 7">
            <a:extLst>
              <a:ext uri="{FF2B5EF4-FFF2-40B4-BE49-F238E27FC236}">
                <a16:creationId xmlns:a16="http://schemas.microsoft.com/office/drawing/2014/main" id="{71A1C285-B0A9-4F7D-A722-22AAE0F18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2779713"/>
            <a:ext cx="8534400" cy="1570037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2) 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除了具有粒子性 还具有明显的波动性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3) 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粒子的能量、角动量等</a:t>
            </a:r>
            <a:r>
              <a:rPr kumimoji="1" lang="zh-CN" alt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取值分立</a:t>
            </a:r>
            <a:r>
              <a:rPr kumimoji="1"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----</a:t>
            </a:r>
            <a:r>
              <a:rPr kumimoji="1" lang="zh-CN" alt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量子化的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   完全脱离了经典物理的模式</a:t>
            </a:r>
          </a:p>
        </p:txBody>
      </p:sp>
      <p:sp>
        <p:nvSpPr>
          <p:cNvPr id="905224" name="Text Box 8">
            <a:extLst>
              <a:ext uri="{FF2B5EF4-FFF2-40B4-BE49-F238E27FC236}">
                <a16:creationId xmlns:a16="http://schemas.microsoft.com/office/drawing/2014/main" id="{8D252DEA-FF9E-4D65-BC8E-7E17C4BD7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508500"/>
            <a:ext cx="8458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新理论是在原有的理论基础上发展起来的</a:t>
            </a:r>
          </a:p>
        </p:txBody>
      </p:sp>
      <p:sp>
        <p:nvSpPr>
          <p:cNvPr id="905225" name="Text Box 9">
            <a:extLst>
              <a:ext uri="{FF2B5EF4-FFF2-40B4-BE49-F238E27FC236}">
                <a16:creationId xmlns:a16="http://schemas.microsoft.com/office/drawing/2014/main" id="{6229B076-4E0C-473D-BFAF-818FFD2AD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5156200"/>
            <a:ext cx="8458200" cy="4333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所以 在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极限情况下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可以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回到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Monotype Sorts"/>
              </a:rPr>
              <a:t>原有的理论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5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5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0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0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05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05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05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905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905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5218" grpId="0" build="p"/>
      <p:bldP spid="905219" grpId="0" build="p"/>
      <p:bldP spid="905223" grpId="0" build="p"/>
      <p:bldP spid="905224" grpId="0" build="p"/>
      <p:bldP spid="90522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>
            <a:extLst>
              <a:ext uri="{FF2B5EF4-FFF2-40B4-BE49-F238E27FC236}">
                <a16:creationId xmlns:a16="http://schemas.microsoft.com/office/drawing/2014/main" id="{EB25B7D0-ED63-4D98-9BC7-5DF6CD9DC4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B16593-0DBF-490D-AEB9-5C2873F18172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zh-CN" altLang="zh-CN" sz="1400"/>
          </a:p>
        </p:txBody>
      </p:sp>
      <p:sp>
        <p:nvSpPr>
          <p:cNvPr id="900098" name="Text Box 2">
            <a:extLst>
              <a:ext uri="{FF2B5EF4-FFF2-40B4-BE49-F238E27FC236}">
                <a16:creationId xmlns:a16="http://schemas.microsoft.com/office/drawing/2014/main" id="{BCFB76D0-7B7D-4F6F-8B1A-8FD8CD445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1628775"/>
            <a:ext cx="8534400" cy="2800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15-1  </a:t>
            </a:r>
            <a:r>
              <a:rPr kumimoji="1" lang="zh-CN" altLang="en-US" sz="32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黑体辐射与普朗克能量子假说</a:t>
            </a:r>
          </a:p>
          <a:p>
            <a:pPr>
              <a:spcBef>
                <a:spcPct val="50000"/>
              </a:spcBef>
              <a:defRPr/>
            </a:pPr>
            <a:r>
              <a:rPr kumimoji="1" lang="en-US" altLang="zh-CN" sz="32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15-2  </a:t>
            </a:r>
            <a:r>
              <a:rPr kumimoji="1" lang="zh-CN" altLang="en-US" sz="32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光电效应与爱因斯坦光量子假说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32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15-3  </a:t>
            </a:r>
            <a:r>
              <a:rPr kumimoji="1" lang="zh-CN" altLang="en-US" sz="32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康普顿效应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32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15-4  </a:t>
            </a:r>
            <a:r>
              <a:rPr kumimoji="1" lang="zh-CN" altLang="en-US" sz="32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玻尔的氢原子理论</a:t>
            </a:r>
          </a:p>
        </p:txBody>
      </p:sp>
      <p:sp>
        <p:nvSpPr>
          <p:cNvPr id="4" name="Text Box 33">
            <a:extLst>
              <a:ext uri="{FF2B5EF4-FFF2-40B4-BE49-F238E27FC236}">
                <a16:creationId xmlns:a16="http://schemas.microsoft.com/office/drawing/2014/main" id="{140924FD-BA7B-4AF8-92CA-0458ED0E1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115888"/>
            <a:ext cx="5105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600" b="0" dirty="0">
                <a:solidFill>
                  <a:schemeClr val="accent2"/>
                </a:solidFill>
                <a:ea typeface="黑体" panose="02010609060101010101" pitchFamily="49" charset="-122"/>
              </a:rPr>
              <a:t>第</a:t>
            </a:r>
            <a:r>
              <a:rPr lang="en-US" altLang="zh-CN" sz="3600" b="0" dirty="0">
                <a:solidFill>
                  <a:schemeClr val="accent2"/>
                </a:solidFill>
                <a:ea typeface="黑体" panose="02010609060101010101" pitchFamily="49" charset="-122"/>
              </a:rPr>
              <a:t>15</a:t>
            </a:r>
            <a:r>
              <a:rPr lang="zh-CN" altLang="en-US" sz="3600" b="0" dirty="0">
                <a:solidFill>
                  <a:schemeClr val="accent2"/>
                </a:solidFill>
                <a:ea typeface="黑体" panose="02010609060101010101" pitchFamily="49" charset="-122"/>
              </a:rPr>
              <a:t>章  量子物理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EDD024-20E9-4C3E-A80C-DADE4B75B90D}"/>
              </a:ext>
            </a:extLst>
          </p:cNvPr>
          <p:cNvSpPr/>
          <p:nvPr/>
        </p:nvSpPr>
        <p:spPr>
          <a:xfrm>
            <a:off x="2124076" y="962174"/>
            <a:ext cx="51737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0" dirty="0">
                <a:ea typeface="黑体" panose="02010609060101010101" pitchFamily="49" charset="-122"/>
              </a:rPr>
              <a:t>（一）早期量子论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>
            <a:extLst>
              <a:ext uri="{FF2B5EF4-FFF2-40B4-BE49-F238E27FC236}">
                <a16:creationId xmlns:a16="http://schemas.microsoft.com/office/drawing/2014/main" id="{6EDFDF4D-B176-4A76-A76B-894BC823EB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13672F-777E-406B-9188-8A1EABBE4300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zh-CN" altLang="zh-CN" sz="1400"/>
          </a:p>
        </p:txBody>
      </p:sp>
      <p:sp>
        <p:nvSpPr>
          <p:cNvPr id="906242" name="Text Box 2">
            <a:extLst>
              <a:ext uri="{FF2B5EF4-FFF2-40B4-BE49-F238E27FC236}">
                <a16:creationId xmlns:a16="http://schemas.microsoft.com/office/drawing/2014/main" id="{5B8AFCDD-88AA-471B-99FD-685F3D42A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260350"/>
            <a:ext cx="85344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15-1  </a:t>
            </a:r>
            <a:r>
              <a:rPr kumimoji="1" lang="zh-CN" altLang="en-US" sz="3200" b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黑体辐射   普朗克的能量子假说</a:t>
            </a:r>
          </a:p>
        </p:txBody>
      </p:sp>
      <p:sp>
        <p:nvSpPr>
          <p:cNvPr id="906243" name="Text Box 3">
            <a:extLst>
              <a:ext uri="{FF2B5EF4-FFF2-40B4-BE49-F238E27FC236}">
                <a16:creationId xmlns:a16="http://schemas.microsoft.com/office/drawing/2014/main" id="{16168377-AA0B-48B0-BC6F-04750B644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90805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一、热辐射及其描述</a:t>
            </a:r>
          </a:p>
        </p:txBody>
      </p:sp>
      <p:sp>
        <p:nvSpPr>
          <p:cNvPr id="906244" name="Text Box 4">
            <a:extLst>
              <a:ext uri="{FF2B5EF4-FFF2-40B4-BE49-F238E27FC236}">
                <a16:creationId xmlns:a16="http://schemas.microsoft.com/office/drawing/2014/main" id="{CB930142-C7BA-464E-AC14-4E231F67B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1989138"/>
            <a:ext cx="691356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因辐射与温度有关，故称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热辐射</a:t>
            </a:r>
          </a:p>
        </p:txBody>
      </p:sp>
      <p:sp>
        <p:nvSpPr>
          <p:cNvPr id="906245" name="Text Box 5">
            <a:extLst>
              <a:ext uri="{FF2B5EF4-FFF2-40B4-BE49-F238E27FC236}">
                <a16:creationId xmlns:a16="http://schemas.microsoft.com/office/drawing/2014/main" id="{2D45B799-8D7A-40B1-BEF4-41DA8DB92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350" y="1412875"/>
            <a:ext cx="8229600" cy="5667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   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物体内部分子、原子由于热运动而向外辐射电磁波。</a:t>
            </a:r>
          </a:p>
        </p:txBody>
      </p:sp>
      <p:sp>
        <p:nvSpPr>
          <p:cNvPr id="906246" name="Rectangle 6">
            <a:extLst>
              <a:ext uri="{FF2B5EF4-FFF2-40B4-BE49-F238E27FC236}">
                <a16:creationId xmlns:a16="http://schemas.microsoft.com/office/drawing/2014/main" id="{29F08047-F968-4C7A-9E37-48C0951518B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16013" y="4935538"/>
            <a:ext cx="650875" cy="1085850"/>
          </a:xfrm>
          <a:prstGeom prst="rect">
            <a:avLst/>
          </a:prstGeom>
          <a:solidFill>
            <a:srgbClr val="7C0000"/>
          </a:solidFill>
          <a:ln w="9525">
            <a:miter lim="800000"/>
            <a:headEnd/>
            <a:tailEnd/>
          </a:ln>
          <a:scene3d>
            <a:camera prst="legacyPerspectiveFront">
              <a:rot lat="20099994" lon="1500000" rev="0"/>
            </a:camera>
            <a:lightRig rig="legacyFlat4" dir="b"/>
          </a:scene3d>
          <a:sp3d extrusionH="887400" prstMaterial="legacyMatte">
            <a:bevelT w="13500" h="13500" prst="angle"/>
            <a:bevelB w="13500" h="13500" prst="angle"/>
            <a:extrusionClr>
              <a:srgbClr val="7C0000"/>
            </a:extrusionClr>
            <a:contourClr>
              <a:srgbClr val="7C0000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06247" name="Rectangle 7">
            <a:extLst>
              <a:ext uri="{FF2B5EF4-FFF2-40B4-BE49-F238E27FC236}">
                <a16:creationId xmlns:a16="http://schemas.microsoft.com/office/drawing/2014/main" id="{C36FB55B-4592-4966-B0FE-909728D1D11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24075" y="4149725"/>
            <a:ext cx="654050" cy="1304925"/>
          </a:xfrm>
          <a:prstGeom prst="rect">
            <a:avLst/>
          </a:prstGeom>
          <a:solidFill>
            <a:srgbClr val="D00000"/>
          </a:solidFill>
          <a:ln w="9525">
            <a:miter lim="800000"/>
            <a:headEnd/>
            <a:tailEnd/>
          </a:ln>
          <a:scene3d>
            <a:camera prst="legacyPerspectiveFront">
              <a:rot lat="20099994" lon="1500000" rev="0"/>
            </a:camera>
            <a:lightRig rig="legacyFlat4" dir="b"/>
          </a:scene3d>
          <a:sp3d extrusionH="887400" prstMaterial="legacyMatte">
            <a:bevelT w="13500" h="13500" prst="angle"/>
            <a:bevelB w="13500" h="13500" prst="angle"/>
            <a:extrusionClr>
              <a:srgbClr val="D00000"/>
            </a:extrusionClr>
            <a:contourClr>
              <a:srgbClr val="D00000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06248" name="Rectangle 8">
            <a:extLst>
              <a:ext uri="{FF2B5EF4-FFF2-40B4-BE49-F238E27FC236}">
                <a16:creationId xmlns:a16="http://schemas.microsoft.com/office/drawing/2014/main" id="{35F7E498-6CD9-4ED2-8E89-F9F0188DD66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341688" y="3644900"/>
            <a:ext cx="654050" cy="1304925"/>
          </a:xfrm>
          <a:prstGeom prst="rect">
            <a:avLst/>
          </a:prstGeom>
          <a:solidFill>
            <a:srgbClr val="FF664D"/>
          </a:solidFill>
          <a:ln w="9525">
            <a:miter lim="800000"/>
            <a:headEnd/>
            <a:tailEnd/>
          </a:ln>
          <a:scene3d>
            <a:camera prst="legacyPerspectiveFront">
              <a:rot lat="20099994" lon="1500000" rev="0"/>
            </a:camera>
            <a:lightRig rig="legacyFlat4" dir="b"/>
          </a:scene3d>
          <a:sp3d extrusionH="887400" prstMaterial="legacyMatte">
            <a:bevelT w="13500" h="13500" prst="angle"/>
            <a:bevelB w="13500" h="13500" prst="angle"/>
            <a:extrusionClr>
              <a:srgbClr val="FF664D"/>
            </a:extrusionClr>
            <a:contourClr>
              <a:srgbClr val="FF664D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06249" name="Rectangle 9">
            <a:extLst>
              <a:ext uri="{FF2B5EF4-FFF2-40B4-BE49-F238E27FC236}">
                <a16:creationId xmlns:a16="http://schemas.microsoft.com/office/drawing/2014/main" id="{DC6B3B43-D3C4-4BD3-965E-F5565CB2D0C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22775" y="2997200"/>
            <a:ext cx="654050" cy="1304925"/>
          </a:xfrm>
          <a:prstGeom prst="rect">
            <a:avLst/>
          </a:prstGeom>
          <a:solidFill>
            <a:srgbClr val="FFB34D"/>
          </a:solidFill>
          <a:ln w="9525">
            <a:miter lim="800000"/>
            <a:headEnd/>
            <a:tailEnd/>
          </a:ln>
          <a:scene3d>
            <a:camera prst="legacyPerspectiveFront">
              <a:rot lat="20099994" lon="1500000" rev="0"/>
            </a:camera>
            <a:lightRig rig="legacyFlat4" dir="b"/>
          </a:scene3d>
          <a:sp3d extrusionH="887400" prstMaterial="legacyMatte">
            <a:bevelT w="13500" h="13500" prst="angle"/>
            <a:bevelB w="13500" h="13500" prst="angle"/>
            <a:extrusionClr>
              <a:srgbClr val="FFB34D"/>
            </a:extrusionClr>
            <a:contourClr>
              <a:srgbClr val="FFB34D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06250" name="Rectangle 10">
            <a:extLst>
              <a:ext uri="{FF2B5EF4-FFF2-40B4-BE49-F238E27FC236}">
                <a16:creationId xmlns:a16="http://schemas.microsoft.com/office/drawing/2014/main" id="{16304060-1098-4E78-AD42-1DDF38B7463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57838" y="2492375"/>
            <a:ext cx="598487" cy="1304925"/>
          </a:xfrm>
          <a:prstGeom prst="rect">
            <a:avLst/>
          </a:prstGeom>
          <a:solidFill>
            <a:srgbClr val="FFFA93"/>
          </a:solidFill>
          <a:ln w="9525">
            <a:miter lim="800000"/>
            <a:headEnd/>
            <a:tailEnd/>
          </a:ln>
          <a:scene3d>
            <a:camera prst="legacyPerspectiveFront">
              <a:rot lat="20099994" lon="1500000" rev="0"/>
            </a:camera>
            <a:lightRig rig="legacyFlat4" dir="b"/>
          </a:scene3d>
          <a:sp3d extrusionH="887400" prstMaterial="legacyMatte">
            <a:bevelT w="13500" h="13500" prst="angle"/>
            <a:bevelB w="13500" h="13500" prst="angle"/>
            <a:extrusionClr>
              <a:srgbClr val="FFFA93"/>
            </a:extrusionClr>
            <a:contourClr>
              <a:srgbClr val="FFFA93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06251" name="Rectangle 11">
            <a:extLst>
              <a:ext uri="{FF2B5EF4-FFF2-40B4-BE49-F238E27FC236}">
                <a16:creationId xmlns:a16="http://schemas.microsoft.com/office/drawing/2014/main" id="{3F43F1C9-3492-4BC1-BDF3-049B0750EAA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781800" y="1989138"/>
            <a:ext cx="598488" cy="1303337"/>
          </a:xfrm>
          <a:prstGeom prst="rect">
            <a:avLst/>
          </a:prstGeom>
          <a:solidFill>
            <a:srgbClr val="FFFFCC"/>
          </a:solidFill>
          <a:ln w="9525">
            <a:miter lim="800000"/>
            <a:headEnd/>
            <a:tailEnd/>
          </a:ln>
          <a:scene3d>
            <a:camera prst="legacyPerspectiveFront">
              <a:rot lat="20099994" lon="1500000" rev="0"/>
            </a:camera>
            <a:lightRig rig="legacyFlat4" dir="b"/>
          </a:scene3d>
          <a:sp3d extrusionH="8874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CC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15AAA5B1-B7AA-4752-9FE0-6F626D4DA28E}"/>
              </a:ext>
            </a:extLst>
          </p:cNvPr>
          <p:cNvGrpSpPr>
            <a:grpSpLocks/>
          </p:cNvGrpSpPr>
          <p:nvPr/>
        </p:nvGrpSpPr>
        <p:grpSpPr bwMode="auto">
          <a:xfrm rot="-438988">
            <a:off x="1476375" y="5013325"/>
            <a:ext cx="3886200" cy="1295400"/>
            <a:chOff x="1920" y="2880"/>
            <a:chExt cx="2448" cy="816"/>
          </a:xfrm>
        </p:grpSpPr>
        <p:sp>
          <p:nvSpPr>
            <p:cNvPr id="10256" name="Line 13">
              <a:extLst>
                <a:ext uri="{FF2B5EF4-FFF2-40B4-BE49-F238E27FC236}">
                  <a16:creationId xmlns:a16="http://schemas.microsoft.com/office/drawing/2014/main" id="{0346C816-2E61-45AD-AAD3-E8A6A1C13D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2880"/>
              <a:ext cx="2448" cy="816"/>
            </a:xfrm>
            <a:prstGeom prst="line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6254" name="Text Box 14">
              <a:extLst>
                <a:ext uri="{FF2B5EF4-FFF2-40B4-BE49-F238E27FC236}">
                  <a16:creationId xmlns:a16="http://schemas.microsoft.com/office/drawing/2014/main" id="{CAE7A716-8D80-4D52-8B98-C46522495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87563">
              <a:off x="2482" y="3305"/>
              <a:ext cx="1584" cy="365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逐渐升温</a:t>
              </a:r>
            </a:p>
          </p:txBody>
        </p:sp>
      </p:grpSp>
      <p:sp>
        <p:nvSpPr>
          <p:cNvPr id="906255" name="Rectangle 15">
            <a:extLst>
              <a:ext uri="{FF2B5EF4-FFF2-40B4-BE49-F238E27FC236}">
                <a16:creationId xmlns:a16="http://schemas.microsoft.com/office/drawing/2014/main" id="{33BED4B5-2472-4985-AD75-93178C8AF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75" y="2565400"/>
            <a:ext cx="508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物体温度升高时颜色的变化</a:t>
            </a:r>
          </a:p>
        </p:txBody>
      </p:sp>
      <p:sp>
        <p:nvSpPr>
          <p:cNvPr id="906256" name="Text Box 16">
            <a:extLst>
              <a:ext uri="{FF2B5EF4-FFF2-40B4-BE49-F238E27FC236}">
                <a16:creationId xmlns:a16="http://schemas.microsoft.com/office/drawing/2014/main" id="{F7D99AB9-1F09-4173-A48F-FA57946A2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075" y="4581525"/>
            <a:ext cx="4386263" cy="2100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直觉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: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低温物体发出的是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红外光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炽热物体发出的是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可见光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高温物体发出的是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紫外光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0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0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0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0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0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06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06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0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0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06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06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906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906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906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0" dur="500"/>
                                        <p:tgtEl>
                                          <p:spTgt spid="906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6243" grpId="0"/>
      <p:bldP spid="906244" grpId="0"/>
      <p:bldP spid="906245" grpId="0"/>
      <p:bldP spid="906246" grpId="0" animBg="1"/>
      <p:bldP spid="906247" grpId="0" animBg="1"/>
      <p:bldP spid="906248" grpId="0" animBg="1"/>
      <p:bldP spid="906249" grpId="0" animBg="1"/>
      <p:bldP spid="906250" grpId="0" animBg="1"/>
      <p:bldP spid="906251" grpId="0" animBg="1"/>
      <p:bldP spid="906255" grpId="0"/>
      <p:bldP spid="90625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>
            <a:extLst>
              <a:ext uri="{FF2B5EF4-FFF2-40B4-BE49-F238E27FC236}">
                <a16:creationId xmlns:a16="http://schemas.microsoft.com/office/drawing/2014/main" id="{C81E0B00-8564-41DF-99B4-C8495C85FB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ABCF91-EC99-41D2-BEB4-D8662E43ECB6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zh-CN" altLang="zh-CN" sz="1400"/>
          </a:p>
        </p:txBody>
      </p:sp>
      <p:pic>
        <p:nvPicPr>
          <p:cNvPr id="907267" name="Picture 3" descr="人脸的红外像">
            <a:extLst>
              <a:ext uri="{FF2B5EF4-FFF2-40B4-BE49-F238E27FC236}">
                <a16:creationId xmlns:a16="http://schemas.microsoft.com/office/drawing/2014/main" id="{EB624D2C-24E9-47A8-9295-BAD899657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81"/>
          <a:stretch>
            <a:fillRect/>
          </a:stretch>
        </p:blipFill>
        <p:spPr bwMode="auto">
          <a:xfrm>
            <a:off x="0" y="0"/>
            <a:ext cx="5953125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7268" name="Text Box 4">
            <a:extLst>
              <a:ext uri="{FF2B5EF4-FFF2-40B4-BE49-F238E27FC236}">
                <a16:creationId xmlns:a16="http://schemas.microsoft.com/office/drawing/2014/main" id="{B2D4CDB0-853E-4118-A94D-196D3E744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113" y="4260850"/>
            <a:ext cx="4870451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红外照相机拍摄的人头部的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热图</a:t>
            </a:r>
            <a:endParaRPr kumimoji="1" lang="zh-CN" altLang="en-US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</p:txBody>
      </p:sp>
      <p:sp>
        <p:nvSpPr>
          <p:cNvPr id="907269" name="Text Box 5">
            <a:extLst>
              <a:ext uri="{FF2B5EF4-FFF2-40B4-BE49-F238E27FC236}">
                <a16:creationId xmlns:a16="http://schemas.microsoft.com/office/drawing/2014/main" id="{37DC4A39-35CB-4832-AA16-3E2F380D3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23850" y="4724400"/>
            <a:ext cx="62547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  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热的地方显白色，冷的地方显黑色</a:t>
            </a:r>
          </a:p>
        </p:txBody>
      </p:sp>
      <p:pic>
        <p:nvPicPr>
          <p:cNvPr id="11270" name="Picture 6" descr="炼钢各种热辐射颜色">
            <a:extLst>
              <a:ext uri="{FF2B5EF4-FFF2-40B4-BE49-F238E27FC236}">
                <a16:creationId xmlns:a16="http://schemas.microsoft.com/office/drawing/2014/main" id="{70353974-ECB5-4F45-BDB6-B0BADA17E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138488"/>
            <a:ext cx="4537075" cy="374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7271" name="Text Box 7">
            <a:extLst>
              <a:ext uri="{FF2B5EF4-FFF2-40B4-BE49-F238E27FC236}">
                <a16:creationId xmlns:a16="http://schemas.microsoft.com/office/drawing/2014/main" id="{7B5AE3B2-3A6E-4846-BD9B-38593F4C5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2133600"/>
            <a:ext cx="1600200" cy="57943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ea typeface="楷体_GB2312" panose="02010609030101010101" pitchFamily="49" charset="-122"/>
              </a:rPr>
              <a:t>钢水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072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07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07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0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0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7268" grpId="0"/>
      <p:bldP spid="907269" grpId="0"/>
      <p:bldP spid="90727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>
            <a:extLst>
              <a:ext uri="{FF2B5EF4-FFF2-40B4-BE49-F238E27FC236}">
                <a16:creationId xmlns:a16="http://schemas.microsoft.com/office/drawing/2014/main" id="{5A42B22D-B4E1-438F-8752-D51985938B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9D6F72-0139-4219-9556-377B0B827E9F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zh-CN" altLang="zh-CN" sz="1400"/>
          </a:p>
        </p:txBody>
      </p:sp>
      <p:sp>
        <p:nvSpPr>
          <p:cNvPr id="909314" name="Text Box 2">
            <a:extLst>
              <a:ext uri="{FF2B5EF4-FFF2-40B4-BE49-F238E27FC236}">
                <a16:creationId xmlns:a16="http://schemas.microsoft.com/office/drawing/2014/main" id="{68AE682C-6259-4045-86F3-6246ECDAC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817563"/>
            <a:ext cx="8734425" cy="1443037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C3300"/>
              </a:buClr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任何物体任何温度均存在热辐射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C3300"/>
              </a:buClr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热辐射谱是连续谱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,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包含有各种波长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频率），但是强度不同。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热辐射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强度按波长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频率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的分布与温度有关</a:t>
            </a:r>
          </a:p>
        </p:txBody>
      </p:sp>
      <p:sp>
        <p:nvSpPr>
          <p:cNvPr id="909315" name="Rectangle 3">
            <a:extLst>
              <a:ext uri="{FF2B5EF4-FFF2-40B4-BE49-F238E27FC236}">
                <a16:creationId xmlns:a16="http://schemas.microsoft.com/office/drawing/2014/main" id="{116383E3-7628-4054-923C-C50F82180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20938"/>
            <a:ext cx="8040688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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 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短波</a:t>
            </a:r>
            <a:r>
              <a:rPr kumimoji="1" lang="zh-CN" altLang="en-US" b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成分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 ， 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r>
              <a:rPr kumimoji="1" lang="zh-CN" altLang="en-US" sz="2800" b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↓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 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长波</a:t>
            </a:r>
            <a:r>
              <a:rPr kumimoji="1" lang="zh-CN" altLang="en-US" b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成分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</a:t>
            </a:r>
            <a:r>
              <a:rPr kumimoji="1"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3317" name="Rectangle 6">
            <a:extLst>
              <a:ext uri="{FF2B5EF4-FFF2-40B4-BE49-F238E27FC236}">
                <a16:creationId xmlns:a16="http://schemas.microsoft.com/office/drawing/2014/main" id="{A9D4032C-A287-41FE-A661-88FD62995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00113" y="82550"/>
            <a:ext cx="525145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chemeClr val="tx2"/>
                </a:solidFill>
                <a:ea typeface="黑体" panose="02010609060101010101" pitchFamily="49" charset="-122"/>
              </a:rPr>
              <a:t>1 .</a:t>
            </a:r>
            <a:r>
              <a:rPr lang="zh-CN" altLang="en-US" sz="2800" b="0">
                <a:solidFill>
                  <a:schemeClr val="tx2"/>
                </a:solidFill>
                <a:ea typeface="黑体" panose="02010609060101010101" pitchFamily="49" charset="-122"/>
              </a:rPr>
              <a:t>热辐射的特点</a:t>
            </a:r>
          </a:p>
        </p:txBody>
      </p:sp>
      <p:grpSp>
        <p:nvGrpSpPr>
          <p:cNvPr id="2" name="Group 64">
            <a:extLst>
              <a:ext uri="{FF2B5EF4-FFF2-40B4-BE49-F238E27FC236}">
                <a16:creationId xmlns:a16="http://schemas.microsoft.com/office/drawing/2014/main" id="{65A7B21E-B781-4F51-AEC5-2F04B139E659}"/>
              </a:ext>
            </a:extLst>
          </p:cNvPr>
          <p:cNvGrpSpPr>
            <a:grpSpLocks/>
          </p:cNvGrpSpPr>
          <p:nvPr/>
        </p:nvGrpSpPr>
        <p:grpSpPr bwMode="auto">
          <a:xfrm>
            <a:off x="490538" y="4052888"/>
            <a:ext cx="1973262" cy="1998662"/>
            <a:chOff x="293" y="388"/>
            <a:chExt cx="1243" cy="1259"/>
          </a:xfrm>
        </p:grpSpPr>
        <p:sp>
          <p:nvSpPr>
            <p:cNvPr id="13365" name="Line 65">
              <a:extLst>
                <a:ext uri="{FF2B5EF4-FFF2-40B4-BE49-F238E27FC236}">
                  <a16:creationId xmlns:a16="http://schemas.microsoft.com/office/drawing/2014/main" id="{148A3DDF-87D8-4949-9759-F36D0930EC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9" y="1363"/>
              <a:ext cx="0" cy="2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6" name="Line 66">
              <a:extLst>
                <a:ext uri="{FF2B5EF4-FFF2-40B4-BE49-F238E27FC236}">
                  <a16:creationId xmlns:a16="http://schemas.microsoft.com/office/drawing/2014/main" id="{111F6B57-B83C-479D-B522-D32ADB44C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8" y="388"/>
              <a:ext cx="0" cy="2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7" name="Line 67">
              <a:extLst>
                <a:ext uri="{FF2B5EF4-FFF2-40B4-BE49-F238E27FC236}">
                  <a16:creationId xmlns:a16="http://schemas.microsoft.com/office/drawing/2014/main" id="{8CFBC0C6-1F5B-45F7-A502-E82D57BFBC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394" y="859"/>
              <a:ext cx="0" cy="2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8" name="Line 68">
              <a:extLst>
                <a:ext uri="{FF2B5EF4-FFF2-40B4-BE49-F238E27FC236}">
                  <a16:creationId xmlns:a16="http://schemas.microsoft.com/office/drawing/2014/main" id="{0D0F5CAE-9A4F-4245-9978-319CFD6D48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35" y="858"/>
              <a:ext cx="0" cy="2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9" name="Line 69">
              <a:extLst>
                <a:ext uri="{FF2B5EF4-FFF2-40B4-BE49-F238E27FC236}">
                  <a16:creationId xmlns:a16="http://schemas.microsoft.com/office/drawing/2014/main" id="{B9A43BC5-C078-40E0-ADFE-3E654D3DEF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2986969">
              <a:off x="557" y="527"/>
              <a:ext cx="1" cy="2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0" name="Line 70">
              <a:extLst>
                <a:ext uri="{FF2B5EF4-FFF2-40B4-BE49-F238E27FC236}">
                  <a16:creationId xmlns:a16="http://schemas.microsoft.com/office/drawing/2014/main" id="{2C91807D-6CA0-49EC-9AE2-5016E84F3DE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2986969">
              <a:off x="1261" y="1199"/>
              <a:ext cx="1" cy="2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1" name="Line 71">
              <a:extLst>
                <a:ext uri="{FF2B5EF4-FFF2-40B4-BE49-F238E27FC236}">
                  <a16:creationId xmlns:a16="http://schemas.microsoft.com/office/drawing/2014/main" id="{9476B544-1212-46B2-AEC9-B89019DC0FE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8386969">
              <a:off x="1234" y="514"/>
              <a:ext cx="1" cy="2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2" name="Line 72">
              <a:extLst>
                <a:ext uri="{FF2B5EF4-FFF2-40B4-BE49-F238E27FC236}">
                  <a16:creationId xmlns:a16="http://schemas.microsoft.com/office/drawing/2014/main" id="{B93138A7-E4C4-485F-B8AD-080878A8C9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8386969">
              <a:off x="567" y="1219"/>
              <a:ext cx="1" cy="2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09385" name="Oval 73">
            <a:extLst>
              <a:ext uri="{FF2B5EF4-FFF2-40B4-BE49-F238E27FC236}">
                <a16:creationId xmlns:a16="http://schemas.microsoft.com/office/drawing/2014/main" id="{096415BD-10F9-45E2-8FD6-F34D3BB7F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8" y="3940175"/>
            <a:ext cx="2190750" cy="2201863"/>
          </a:xfrm>
          <a:prstGeom prst="ellipse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09387" name="Oval 75">
            <a:extLst>
              <a:ext uri="{FF2B5EF4-FFF2-40B4-BE49-F238E27FC236}">
                <a16:creationId xmlns:a16="http://schemas.microsoft.com/office/drawing/2014/main" id="{381F2A65-1FA6-4EAC-AB70-BF32793D2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8" y="4594225"/>
            <a:ext cx="914400" cy="914400"/>
          </a:xfrm>
          <a:prstGeom prst="ellipse">
            <a:avLst/>
          </a:prstGeom>
          <a:gradFill rotWithShape="0">
            <a:gsLst>
              <a:gs pos="0">
                <a:srgbClr val="FFFF00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09388" name="Oval 76">
            <a:extLst>
              <a:ext uri="{FF2B5EF4-FFF2-40B4-BE49-F238E27FC236}">
                <a16:creationId xmlns:a16="http://schemas.microsoft.com/office/drawing/2014/main" id="{1872B67C-9D0A-42FA-A9FA-43878D6F0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4603750"/>
            <a:ext cx="914400" cy="914400"/>
          </a:xfrm>
          <a:prstGeom prst="ellipse">
            <a:avLst/>
          </a:prstGeom>
          <a:solidFill>
            <a:srgbClr val="A50021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09389" name="Oval 77">
            <a:extLst>
              <a:ext uri="{FF2B5EF4-FFF2-40B4-BE49-F238E27FC236}">
                <a16:creationId xmlns:a16="http://schemas.microsoft.com/office/drawing/2014/main" id="{3C8B9200-47A7-49AB-8983-40065DD79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4592638"/>
            <a:ext cx="914400" cy="914400"/>
          </a:xfrm>
          <a:prstGeom prst="ellipse">
            <a:avLst/>
          </a:prstGeom>
          <a:gradFill rotWithShape="0">
            <a:gsLst>
              <a:gs pos="0">
                <a:srgbClr val="A50021"/>
              </a:gs>
              <a:gs pos="100000">
                <a:srgbClr val="8000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09390" name="Oval 78">
            <a:extLst>
              <a:ext uri="{FF2B5EF4-FFF2-40B4-BE49-F238E27FC236}">
                <a16:creationId xmlns:a16="http://schemas.microsoft.com/office/drawing/2014/main" id="{10C3CC8B-57FF-4191-897A-A31C4D49C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4587875"/>
            <a:ext cx="933450" cy="954088"/>
          </a:xfrm>
          <a:prstGeom prst="ellipse">
            <a:avLst/>
          </a:prstGeom>
          <a:solidFill>
            <a:srgbClr val="68686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50188" name="WordArt 79">
            <a:extLst>
              <a:ext uri="{FF2B5EF4-FFF2-40B4-BE49-F238E27FC236}">
                <a16:creationId xmlns:a16="http://schemas.microsoft.com/office/drawing/2014/main" id="{10796761-E1EA-4C0F-9F7F-00BF3A1734C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4713" y="3209925"/>
            <a:ext cx="1219200" cy="409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rgbClr val="FF3300"/>
                  </a:solidFill>
                  <a:round/>
                  <a:headEnd/>
                  <a:tailEnd/>
                </a:ln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炽热状态</a:t>
            </a:r>
          </a:p>
        </p:txBody>
      </p:sp>
      <p:grpSp>
        <p:nvGrpSpPr>
          <p:cNvPr id="3" name="Group 80">
            <a:extLst>
              <a:ext uri="{FF2B5EF4-FFF2-40B4-BE49-F238E27FC236}">
                <a16:creationId xmlns:a16="http://schemas.microsoft.com/office/drawing/2014/main" id="{BD2978FF-B864-456F-AF45-9726D8866E52}"/>
              </a:ext>
            </a:extLst>
          </p:cNvPr>
          <p:cNvGrpSpPr>
            <a:grpSpLocks/>
          </p:cNvGrpSpPr>
          <p:nvPr/>
        </p:nvGrpSpPr>
        <p:grpSpPr bwMode="auto">
          <a:xfrm>
            <a:off x="633413" y="3040063"/>
            <a:ext cx="1738312" cy="628650"/>
            <a:chOff x="1453" y="2678"/>
            <a:chExt cx="1396" cy="243"/>
          </a:xfrm>
        </p:grpSpPr>
        <p:sp>
          <p:nvSpPr>
            <p:cNvPr id="13363" name="Rectangle 81">
              <a:extLst>
                <a:ext uri="{FF2B5EF4-FFF2-40B4-BE49-F238E27FC236}">
                  <a16:creationId xmlns:a16="http://schemas.microsoft.com/office/drawing/2014/main" id="{8C7D26A5-C702-4CD5-B052-F316DEDA2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3" y="2678"/>
              <a:ext cx="1396" cy="2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3364" name="WordArt 82">
              <a:extLst>
                <a:ext uri="{FF2B5EF4-FFF2-40B4-BE49-F238E27FC236}">
                  <a16:creationId xmlns:a16="http://schemas.microsoft.com/office/drawing/2014/main" id="{C9F54214-29CA-48A9-A845-5E43C7D5425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513" y="2704"/>
              <a:ext cx="1274" cy="1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温度逐渐下降</a:t>
              </a:r>
            </a:p>
          </p:txBody>
        </p:sp>
      </p:grpSp>
      <p:grpSp>
        <p:nvGrpSpPr>
          <p:cNvPr id="4" name="Group 83">
            <a:extLst>
              <a:ext uri="{FF2B5EF4-FFF2-40B4-BE49-F238E27FC236}">
                <a16:creationId xmlns:a16="http://schemas.microsoft.com/office/drawing/2014/main" id="{7FB5F3C9-9EBD-494C-9FC0-7413A970930B}"/>
              </a:ext>
            </a:extLst>
          </p:cNvPr>
          <p:cNvGrpSpPr>
            <a:grpSpLocks/>
          </p:cNvGrpSpPr>
          <p:nvPr/>
        </p:nvGrpSpPr>
        <p:grpSpPr bwMode="auto">
          <a:xfrm>
            <a:off x="2859088" y="2708275"/>
            <a:ext cx="6091237" cy="3209925"/>
            <a:chOff x="1801" y="1839"/>
            <a:chExt cx="3837" cy="2022"/>
          </a:xfrm>
        </p:grpSpPr>
        <p:grpSp>
          <p:nvGrpSpPr>
            <p:cNvPr id="13345" name="Group 84">
              <a:extLst>
                <a:ext uri="{FF2B5EF4-FFF2-40B4-BE49-F238E27FC236}">
                  <a16:creationId xmlns:a16="http://schemas.microsoft.com/office/drawing/2014/main" id="{253B826F-DE48-4C2F-99D4-C284B665F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1" y="2641"/>
              <a:ext cx="3837" cy="1220"/>
              <a:chOff x="1801" y="2625"/>
              <a:chExt cx="3837" cy="1220"/>
            </a:xfrm>
          </p:grpSpPr>
          <p:sp>
            <p:nvSpPr>
              <p:cNvPr id="13347" name="Freeform 85" descr="浅色竖线">
                <a:extLst>
                  <a:ext uri="{FF2B5EF4-FFF2-40B4-BE49-F238E27FC236}">
                    <a16:creationId xmlns:a16="http://schemas.microsoft.com/office/drawing/2014/main" id="{C60BE422-3B0B-4CF4-8C79-388B9F06A4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7782">
                <a:off x="2101" y="2625"/>
                <a:ext cx="3156" cy="736"/>
              </a:xfrm>
              <a:custGeom>
                <a:avLst/>
                <a:gdLst>
                  <a:gd name="T0" fmla="*/ 0 w 3156"/>
                  <a:gd name="T1" fmla="*/ 710 h 736"/>
                  <a:gd name="T2" fmla="*/ 186 w 3156"/>
                  <a:gd name="T3" fmla="*/ 686 h 736"/>
                  <a:gd name="T4" fmla="*/ 543 w 3156"/>
                  <a:gd name="T5" fmla="*/ 548 h 736"/>
                  <a:gd name="T6" fmla="*/ 1168 w 3156"/>
                  <a:gd name="T7" fmla="*/ 183 h 736"/>
                  <a:gd name="T8" fmla="*/ 1533 w 3156"/>
                  <a:gd name="T9" fmla="*/ 13 h 736"/>
                  <a:gd name="T10" fmla="*/ 1866 w 3156"/>
                  <a:gd name="T11" fmla="*/ 102 h 736"/>
                  <a:gd name="T12" fmla="*/ 2361 w 3156"/>
                  <a:gd name="T13" fmla="*/ 459 h 736"/>
                  <a:gd name="T14" fmla="*/ 2604 w 3156"/>
                  <a:gd name="T15" fmla="*/ 613 h 736"/>
                  <a:gd name="T16" fmla="*/ 2766 w 3156"/>
                  <a:gd name="T17" fmla="*/ 678 h 736"/>
                  <a:gd name="T18" fmla="*/ 3002 w 3156"/>
                  <a:gd name="T19" fmla="*/ 727 h 736"/>
                  <a:gd name="T20" fmla="*/ 3156 w 3156"/>
                  <a:gd name="T21" fmla="*/ 735 h 7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156" h="736">
                    <a:moveTo>
                      <a:pt x="0" y="710"/>
                    </a:moveTo>
                    <a:cubicBezTo>
                      <a:pt x="48" y="711"/>
                      <a:pt x="96" y="713"/>
                      <a:pt x="186" y="686"/>
                    </a:cubicBezTo>
                    <a:cubicBezTo>
                      <a:pt x="276" y="659"/>
                      <a:pt x="379" y="632"/>
                      <a:pt x="543" y="548"/>
                    </a:cubicBezTo>
                    <a:cubicBezTo>
                      <a:pt x="707" y="464"/>
                      <a:pt x="1003" y="272"/>
                      <a:pt x="1168" y="183"/>
                    </a:cubicBezTo>
                    <a:cubicBezTo>
                      <a:pt x="1333" y="94"/>
                      <a:pt x="1417" y="26"/>
                      <a:pt x="1533" y="13"/>
                    </a:cubicBezTo>
                    <a:cubicBezTo>
                      <a:pt x="1649" y="0"/>
                      <a:pt x="1728" y="28"/>
                      <a:pt x="1866" y="102"/>
                    </a:cubicBezTo>
                    <a:cubicBezTo>
                      <a:pt x="2004" y="176"/>
                      <a:pt x="2238" y="374"/>
                      <a:pt x="2361" y="459"/>
                    </a:cubicBezTo>
                    <a:cubicBezTo>
                      <a:pt x="2484" y="544"/>
                      <a:pt x="2536" y="576"/>
                      <a:pt x="2604" y="613"/>
                    </a:cubicBezTo>
                    <a:cubicBezTo>
                      <a:pt x="2672" y="650"/>
                      <a:pt x="2700" y="659"/>
                      <a:pt x="2766" y="678"/>
                    </a:cubicBezTo>
                    <a:cubicBezTo>
                      <a:pt x="2832" y="697"/>
                      <a:pt x="2937" y="718"/>
                      <a:pt x="3002" y="727"/>
                    </a:cubicBezTo>
                    <a:cubicBezTo>
                      <a:pt x="3067" y="736"/>
                      <a:pt x="3111" y="735"/>
                      <a:pt x="3156" y="735"/>
                    </a:cubicBezTo>
                  </a:path>
                </a:pathLst>
              </a:custGeom>
              <a:blipFill dpi="0" rotWithShape="0">
                <a:blip r:embed="rId3"/>
                <a:srcRect/>
                <a:tile tx="0" ty="0" sx="100000" sy="100000" flip="none" algn="tl"/>
              </a:blip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" name="Line 86">
                <a:extLst>
                  <a:ext uri="{FF2B5EF4-FFF2-40B4-BE49-F238E27FC236}">
                    <a16:creationId xmlns:a16="http://schemas.microsoft.com/office/drawing/2014/main" id="{E1A4020F-0BCA-4163-911D-115CFE82E9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9" y="3359"/>
                <a:ext cx="382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" name="Rectangle 87">
                <a:extLst>
                  <a:ext uri="{FF2B5EF4-FFF2-40B4-BE49-F238E27FC236}">
                    <a16:creationId xmlns:a16="http://schemas.microsoft.com/office/drawing/2014/main" id="{BD669C0E-6CF3-4505-9DAA-321C6CDCE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1" y="3398"/>
                <a:ext cx="3666" cy="148"/>
              </a:xfrm>
              <a:prstGeom prst="rect">
                <a:avLst/>
              </a:prstGeom>
              <a:solidFill>
                <a:srgbClr val="77777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grpSp>
            <p:nvGrpSpPr>
              <p:cNvPr id="13350" name="Group 88">
                <a:extLst>
                  <a:ext uri="{FF2B5EF4-FFF2-40B4-BE49-F238E27FC236}">
                    <a16:creationId xmlns:a16="http://schemas.microsoft.com/office/drawing/2014/main" id="{EB5613D3-8853-46C6-ADBD-0102F6063F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79" y="3405"/>
                <a:ext cx="594" cy="150"/>
                <a:chOff x="3020" y="1482"/>
                <a:chExt cx="594" cy="150"/>
              </a:xfrm>
            </p:grpSpPr>
            <p:sp>
              <p:nvSpPr>
                <p:cNvPr id="13358" name="Rectangle 89">
                  <a:extLst>
                    <a:ext uri="{FF2B5EF4-FFF2-40B4-BE49-F238E27FC236}">
                      <a16:creationId xmlns:a16="http://schemas.microsoft.com/office/drawing/2014/main" id="{AD6015DB-34A9-48D2-934A-A117D64AB0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 flipH="1">
                  <a:off x="3464" y="1481"/>
                  <a:ext cx="148" cy="141"/>
                </a:xfrm>
                <a:prstGeom prst="rect">
                  <a:avLst/>
                </a:prstGeom>
                <a:gradFill rotWithShape="0">
                  <a:gsLst>
                    <a:gs pos="0">
                      <a:srgbClr val="FF0000"/>
                    </a:gs>
                    <a:gs pos="100000">
                      <a:srgbClr val="CC00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3359" name="Rectangle 90">
                  <a:extLst>
                    <a:ext uri="{FF2B5EF4-FFF2-40B4-BE49-F238E27FC236}">
                      <a16:creationId xmlns:a16="http://schemas.microsoft.com/office/drawing/2014/main" id="{E0667BBC-8EA6-4B30-8BBE-8ACAEC0903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 flipH="1">
                  <a:off x="3338" y="1480"/>
                  <a:ext cx="148" cy="141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3360" name="Rectangle 91">
                  <a:extLst>
                    <a:ext uri="{FF2B5EF4-FFF2-40B4-BE49-F238E27FC236}">
                      <a16:creationId xmlns:a16="http://schemas.microsoft.com/office/drawing/2014/main" id="{5873FAD0-0031-473F-885F-4EB0F24D64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 flipH="1">
                  <a:off x="3223" y="1487"/>
                  <a:ext cx="148" cy="140"/>
                </a:xfrm>
                <a:prstGeom prst="rect">
                  <a:avLst/>
                </a:prstGeom>
                <a:gradFill rotWithShape="0">
                  <a:gsLst>
                    <a:gs pos="0">
                      <a:srgbClr val="339933"/>
                    </a:gs>
                    <a:gs pos="100000">
                      <a:srgbClr val="FFFF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3361" name="Rectangle 92">
                  <a:extLst>
                    <a:ext uri="{FF2B5EF4-FFF2-40B4-BE49-F238E27FC236}">
                      <a16:creationId xmlns:a16="http://schemas.microsoft.com/office/drawing/2014/main" id="{4D184486-C2FB-4AF7-B89B-B19A3EDA8D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 flipH="1">
                  <a:off x="3099" y="1479"/>
                  <a:ext cx="147" cy="141"/>
                </a:xfrm>
                <a:prstGeom prst="rect">
                  <a:avLst/>
                </a:prstGeom>
                <a:gradFill rotWithShape="0">
                  <a:gsLst>
                    <a:gs pos="0">
                      <a:srgbClr val="0066CC"/>
                    </a:gs>
                    <a:gs pos="100000">
                      <a:srgbClr val="3399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3362" name="Rectangle 93">
                  <a:extLst>
                    <a:ext uri="{FF2B5EF4-FFF2-40B4-BE49-F238E27FC236}">
                      <a16:creationId xmlns:a16="http://schemas.microsoft.com/office/drawing/2014/main" id="{5E7CE436-2C36-4B8A-A76D-B1EFCF9067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 flipH="1">
                  <a:off x="3011" y="1480"/>
                  <a:ext cx="147" cy="141"/>
                </a:xfrm>
                <a:prstGeom prst="rect">
                  <a:avLst/>
                </a:prstGeom>
                <a:gradFill rotWithShape="0">
                  <a:gsLst>
                    <a:gs pos="0">
                      <a:srgbClr val="666699"/>
                    </a:gs>
                    <a:gs pos="100000">
                      <a:srgbClr val="0066CC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</p:grpSp>
          <p:sp>
            <p:nvSpPr>
              <p:cNvPr id="13351" name="Line 94">
                <a:extLst>
                  <a:ext uri="{FF2B5EF4-FFF2-40B4-BE49-F238E27FC236}">
                    <a16:creationId xmlns:a16="http://schemas.microsoft.com/office/drawing/2014/main" id="{3501957A-F299-4663-A557-5C7C681C89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5" y="3277"/>
                <a:ext cx="0" cy="5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" name="Line 95">
                <a:extLst>
                  <a:ext uri="{FF2B5EF4-FFF2-40B4-BE49-F238E27FC236}">
                    <a16:creationId xmlns:a16="http://schemas.microsoft.com/office/drawing/2014/main" id="{42A26157-9726-4C2A-82E9-2549910E1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7" y="2967"/>
                <a:ext cx="0" cy="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" name="WordArt 96">
                <a:extLst>
                  <a:ext uri="{FF2B5EF4-FFF2-40B4-BE49-F238E27FC236}">
                    <a16:creationId xmlns:a16="http://schemas.microsoft.com/office/drawing/2014/main" id="{539C7C80-DAD2-4462-8590-695D0498254B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5421" y="3586"/>
                <a:ext cx="162" cy="2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rgbClr val="006600"/>
                      </a:solidFill>
                      <a:round/>
                      <a:headEnd/>
                      <a:tailEnd/>
                    </a:ln>
                    <a:solidFill>
                      <a:srgbClr val="006600"/>
                    </a:solidFill>
                    <a:latin typeface="Symbol" panose="05050102010706020507" pitchFamily="18" charset="2"/>
                  </a:rPr>
                  <a:t>l</a:t>
                </a:r>
                <a:endParaRPr lang="zh-CN" altLang="en-US" sz="3600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Symbol" panose="05050102010706020507" pitchFamily="18" charset="2"/>
                </a:endParaRPr>
              </a:p>
            </p:txBody>
          </p:sp>
          <p:sp>
            <p:nvSpPr>
              <p:cNvPr id="13354" name="WordArt 97">
                <a:extLst>
                  <a:ext uri="{FF2B5EF4-FFF2-40B4-BE49-F238E27FC236}">
                    <a16:creationId xmlns:a16="http://schemas.microsoft.com/office/drawing/2014/main" id="{B9E57C7D-D16A-47B0-8855-BF3FEAEC461D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456" y="3604"/>
                <a:ext cx="458" cy="19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楷体_GB2312" panose="02010609030101010101" pitchFamily="49" charset="-122"/>
                  </a:rPr>
                  <a:t>可见光</a:t>
                </a:r>
              </a:p>
            </p:txBody>
          </p:sp>
          <p:sp>
            <p:nvSpPr>
              <p:cNvPr id="13355" name="WordArt 98">
                <a:extLst>
                  <a:ext uri="{FF2B5EF4-FFF2-40B4-BE49-F238E27FC236}">
                    <a16:creationId xmlns:a16="http://schemas.microsoft.com/office/drawing/2014/main" id="{A77CC299-1C5D-4528-80D7-44D3C3FCD801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097" y="3613"/>
                <a:ext cx="443" cy="20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楷体_GB2312" panose="02010609030101010101" pitchFamily="49" charset="-122"/>
                  </a:rPr>
                  <a:t>红外线</a:t>
                </a:r>
              </a:p>
            </p:txBody>
          </p:sp>
          <p:sp>
            <p:nvSpPr>
              <p:cNvPr id="13356" name="WordArt 99">
                <a:extLst>
                  <a:ext uri="{FF2B5EF4-FFF2-40B4-BE49-F238E27FC236}">
                    <a16:creationId xmlns:a16="http://schemas.microsoft.com/office/drawing/2014/main" id="{61892EA4-BE6D-414B-A73A-8DA1FFF88582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1871" y="3604"/>
                <a:ext cx="443" cy="20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楷体_GB2312" panose="02010609030101010101" pitchFamily="49" charset="-122"/>
                  </a:rPr>
                  <a:t>紫外线</a:t>
                </a:r>
              </a:p>
            </p:txBody>
          </p:sp>
          <p:sp>
            <p:nvSpPr>
              <p:cNvPr id="13357" name="WordArt 100">
                <a:extLst>
                  <a:ext uri="{FF2B5EF4-FFF2-40B4-BE49-F238E27FC236}">
                    <a16:creationId xmlns:a16="http://schemas.microsoft.com/office/drawing/2014/main" id="{701DD312-4975-4BED-99A3-0DAF0C0EB62B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5074" y="3588"/>
                <a:ext cx="285" cy="22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楷体_GB2312" panose="02010609030101010101" pitchFamily="49" charset="-122"/>
                  </a:rPr>
                  <a:t>波长</a:t>
                </a:r>
              </a:p>
            </p:txBody>
          </p:sp>
        </p:grpSp>
        <p:sp>
          <p:nvSpPr>
            <p:cNvPr id="13346" name="WordArt 101">
              <a:extLst>
                <a:ext uri="{FF2B5EF4-FFF2-40B4-BE49-F238E27FC236}">
                  <a16:creationId xmlns:a16="http://schemas.microsoft.com/office/drawing/2014/main" id="{C5A451E2-E617-4731-A57A-2F0D7845F469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175" y="1839"/>
              <a:ext cx="2952" cy="22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</p:grpSp>
      <p:grpSp>
        <p:nvGrpSpPr>
          <p:cNvPr id="7" name="Group 103">
            <a:extLst>
              <a:ext uri="{FF2B5EF4-FFF2-40B4-BE49-F238E27FC236}">
                <a16:creationId xmlns:a16="http://schemas.microsoft.com/office/drawing/2014/main" id="{2688096A-D22E-4214-897E-C07988077700}"/>
              </a:ext>
            </a:extLst>
          </p:cNvPr>
          <p:cNvGrpSpPr>
            <a:grpSpLocks/>
          </p:cNvGrpSpPr>
          <p:nvPr/>
        </p:nvGrpSpPr>
        <p:grpSpPr bwMode="auto">
          <a:xfrm>
            <a:off x="2781300" y="3716338"/>
            <a:ext cx="6181725" cy="1493837"/>
            <a:chOff x="1752" y="2474"/>
            <a:chExt cx="3894" cy="941"/>
          </a:xfrm>
        </p:grpSpPr>
        <p:sp>
          <p:nvSpPr>
            <p:cNvPr id="13340" name="Rectangle 104">
              <a:extLst>
                <a:ext uri="{FF2B5EF4-FFF2-40B4-BE49-F238E27FC236}">
                  <a16:creationId xmlns:a16="http://schemas.microsoft.com/office/drawing/2014/main" id="{F5387558-1291-4078-AE84-EDBA36FC4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" y="2474"/>
              <a:ext cx="3894" cy="9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3341" name="Line 105">
              <a:extLst>
                <a:ext uri="{FF2B5EF4-FFF2-40B4-BE49-F238E27FC236}">
                  <a16:creationId xmlns:a16="http://schemas.microsoft.com/office/drawing/2014/main" id="{F34B6D11-1A1A-4450-920B-56012CBB9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2" y="3367"/>
              <a:ext cx="37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Freeform 106" descr="浅色竖线">
              <a:extLst>
                <a:ext uri="{FF2B5EF4-FFF2-40B4-BE49-F238E27FC236}">
                  <a16:creationId xmlns:a16="http://schemas.microsoft.com/office/drawing/2014/main" id="{14490478-B6E7-4542-B964-1D7FD3D8E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0" y="2929"/>
              <a:ext cx="2848" cy="422"/>
            </a:xfrm>
            <a:custGeom>
              <a:avLst/>
              <a:gdLst>
                <a:gd name="T0" fmla="*/ 0 w 2848"/>
                <a:gd name="T1" fmla="*/ 422 h 422"/>
                <a:gd name="T2" fmla="*/ 292 w 2848"/>
                <a:gd name="T3" fmla="*/ 373 h 422"/>
                <a:gd name="T4" fmla="*/ 584 w 2848"/>
                <a:gd name="T5" fmla="*/ 267 h 422"/>
                <a:gd name="T6" fmla="*/ 852 w 2848"/>
                <a:gd name="T7" fmla="*/ 129 h 422"/>
                <a:gd name="T8" fmla="*/ 1079 w 2848"/>
                <a:gd name="T9" fmla="*/ 40 h 422"/>
                <a:gd name="T10" fmla="*/ 1249 w 2848"/>
                <a:gd name="T11" fmla="*/ 8 h 422"/>
                <a:gd name="T12" fmla="*/ 1452 w 2848"/>
                <a:gd name="T13" fmla="*/ 0 h 422"/>
                <a:gd name="T14" fmla="*/ 1696 w 2848"/>
                <a:gd name="T15" fmla="*/ 65 h 422"/>
                <a:gd name="T16" fmla="*/ 2069 w 2848"/>
                <a:gd name="T17" fmla="*/ 276 h 422"/>
                <a:gd name="T18" fmla="*/ 2361 w 2848"/>
                <a:gd name="T19" fmla="*/ 389 h 422"/>
                <a:gd name="T20" fmla="*/ 2848 w 2848"/>
                <a:gd name="T21" fmla="*/ 422 h 4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848" h="422">
                  <a:moveTo>
                    <a:pt x="0" y="422"/>
                  </a:moveTo>
                  <a:lnTo>
                    <a:pt x="292" y="373"/>
                  </a:lnTo>
                  <a:lnTo>
                    <a:pt x="584" y="267"/>
                  </a:lnTo>
                  <a:lnTo>
                    <a:pt x="852" y="129"/>
                  </a:lnTo>
                  <a:lnTo>
                    <a:pt x="1079" y="40"/>
                  </a:lnTo>
                  <a:lnTo>
                    <a:pt x="1249" y="8"/>
                  </a:lnTo>
                  <a:lnTo>
                    <a:pt x="1452" y="0"/>
                  </a:lnTo>
                  <a:lnTo>
                    <a:pt x="1696" y="65"/>
                  </a:lnTo>
                  <a:lnTo>
                    <a:pt x="2069" y="276"/>
                  </a:lnTo>
                  <a:lnTo>
                    <a:pt x="2361" y="389"/>
                  </a:lnTo>
                  <a:lnTo>
                    <a:pt x="2848" y="422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3" name="Line 107">
              <a:extLst>
                <a:ext uri="{FF2B5EF4-FFF2-40B4-BE49-F238E27FC236}">
                  <a16:creationId xmlns:a16="http://schemas.microsoft.com/office/drawing/2014/main" id="{08E98F85-153F-447F-B56E-93B438754D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8" y="3156"/>
              <a:ext cx="1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Line 108">
              <a:extLst>
                <a:ext uri="{FF2B5EF4-FFF2-40B4-BE49-F238E27FC236}">
                  <a16:creationId xmlns:a16="http://schemas.microsoft.com/office/drawing/2014/main" id="{451CC58F-4E79-4314-A294-F2A85E62B5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3" y="3286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09">
            <a:extLst>
              <a:ext uri="{FF2B5EF4-FFF2-40B4-BE49-F238E27FC236}">
                <a16:creationId xmlns:a16="http://schemas.microsoft.com/office/drawing/2014/main" id="{89E61C74-B1B1-425E-8C6C-BAEC1BAB3D2E}"/>
              </a:ext>
            </a:extLst>
          </p:cNvPr>
          <p:cNvGrpSpPr>
            <a:grpSpLocks/>
          </p:cNvGrpSpPr>
          <p:nvPr/>
        </p:nvGrpSpPr>
        <p:grpSpPr bwMode="auto">
          <a:xfrm>
            <a:off x="2665413" y="3690938"/>
            <a:ext cx="6297612" cy="1550987"/>
            <a:chOff x="1679" y="2458"/>
            <a:chExt cx="3967" cy="977"/>
          </a:xfrm>
        </p:grpSpPr>
        <p:sp>
          <p:nvSpPr>
            <p:cNvPr id="13335" name="Rectangle 110">
              <a:extLst>
                <a:ext uri="{FF2B5EF4-FFF2-40B4-BE49-F238E27FC236}">
                  <a16:creationId xmlns:a16="http://schemas.microsoft.com/office/drawing/2014/main" id="{E697A69C-D36E-488A-992C-D1AE5DF4A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9" y="2458"/>
              <a:ext cx="3967" cy="9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3336" name="Freeform 111" descr="浅色竖线">
              <a:extLst>
                <a:ext uri="{FF2B5EF4-FFF2-40B4-BE49-F238E27FC236}">
                  <a16:creationId xmlns:a16="http://schemas.microsoft.com/office/drawing/2014/main" id="{CD95E694-94B1-4B00-B04A-AA9746F0F06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3354">
              <a:off x="2834" y="3084"/>
              <a:ext cx="2417" cy="284"/>
            </a:xfrm>
            <a:custGeom>
              <a:avLst/>
              <a:gdLst>
                <a:gd name="T0" fmla="*/ 0 w 2417"/>
                <a:gd name="T1" fmla="*/ 284 h 284"/>
                <a:gd name="T2" fmla="*/ 333 w 2417"/>
                <a:gd name="T3" fmla="*/ 228 h 284"/>
                <a:gd name="T4" fmla="*/ 722 w 2417"/>
                <a:gd name="T5" fmla="*/ 73 h 284"/>
                <a:gd name="T6" fmla="*/ 941 w 2417"/>
                <a:gd name="T7" fmla="*/ 9 h 284"/>
                <a:gd name="T8" fmla="*/ 1111 w 2417"/>
                <a:gd name="T9" fmla="*/ 0 h 284"/>
                <a:gd name="T10" fmla="*/ 1274 w 2417"/>
                <a:gd name="T11" fmla="*/ 33 h 284"/>
                <a:gd name="T12" fmla="*/ 1509 w 2417"/>
                <a:gd name="T13" fmla="*/ 122 h 284"/>
                <a:gd name="T14" fmla="*/ 1801 w 2417"/>
                <a:gd name="T15" fmla="*/ 220 h 284"/>
                <a:gd name="T16" fmla="*/ 2166 w 2417"/>
                <a:gd name="T17" fmla="*/ 244 h 284"/>
                <a:gd name="T18" fmla="*/ 2417 w 2417"/>
                <a:gd name="T19" fmla="*/ 260 h 2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17" h="284">
                  <a:moveTo>
                    <a:pt x="0" y="284"/>
                  </a:moveTo>
                  <a:lnTo>
                    <a:pt x="333" y="228"/>
                  </a:lnTo>
                  <a:lnTo>
                    <a:pt x="722" y="73"/>
                  </a:lnTo>
                  <a:lnTo>
                    <a:pt x="941" y="9"/>
                  </a:lnTo>
                  <a:lnTo>
                    <a:pt x="1111" y="0"/>
                  </a:lnTo>
                  <a:lnTo>
                    <a:pt x="1274" y="33"/>
                  </a:lnTo>
                  <a:lnTo>
                    <a:pt x="1509" y="122"/>
                  </a:lnTo>
                  <a:lnTo>
                    <a:pt x="1801" y="220"/>
                  </a:lnTo>
                  <a:lnTo>
                    <a:pt x="2166" y="244"/>
                  </a:lnTo>
                  <a:lnTo>
                    <a:pt x="2417" y="260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Line 112">
              <a:extLst>
                <a:ext uri="{FF2B5EF4-FFF2-40B4-BE49-F238E27FC236}">
                  <a16:creationId xmlns:a16="http://schemas.microsoft.com/office/drawing/2014/main" id="{987A2C39-AA71-4A8D-AD4E-2314005580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8" y="3261"/>
              <a:ext cx="1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Line 113">
              <a:extLst>
                <a:ext uri="{FF2B5EF4-FFF2-40B4-BE49-F238E27FC236}">
                  <a16:creationId xmlns:a16="http://schemas.microsoft.com/office/drawing/2014/main" id="{DD792E1B-FC3B-4778-865C-773D7E0114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8" y="3275"/>
              <a:ext cx="1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Line 114">
              <a:extLst>
                <a:ext uri="{FF2B5EF4-FFF2-40B4-BE49-F238E27FC236}">
                  <a16:creationId xmlns:a16="http://schemas.microsoft.com/office/drawing/2014/main" id="{844A5B5D-7234-43B5-AE7F-97AC77C554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2" y="3359"/>
              <a:ext cx="3771" cy="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15">
            <a:extLst>
              <a:ext uri="{FF2B5EF4-FFF2-40B4-BE49-F238E27FC236}">
                <a16:creationId xmlns:a16="http://schemas.microsoft.com/office/drawing/2014/main" id="{40471BD5-877A-4AF0-9923-4FDDBAB91487}"/>
              </a:ext>
            </a:extLst>
          </p:cNvPr>
          <p:cNvGrpSpPr>
            <a:grpSpLocks/>
          </p:cNvGrpSpPr>
          <p:nvPr/>
        </p:nvGrpSpPr>
        <p:grpSpPr bwMode="auto">
          <a:xfrm>
            <a:off x="2663825" y="3662363"/>
            <a:ext cx="6297613" cy="1550987"/>
            <a:chOff x="1679" y="2458"/>
            <a:chExt cx="3967" cy="977"/>
          </a:xfrm>
        </p:grpSpPr>
        <p:sp>
          <p:nvSpPr>
            <p:cNvPr id="13330" name="Rectangle 116">
              <a:extLst>
                <a:ext uri="{FF2B5EF4-FFF2-40B4-BE49-F238E27FC236}">
                  <a16:creationId xmlns:a16="http://schemas.microsoft.com/office/drawing/2014/main" id="{B0E1D324-85AC-4941-A8AF-4B8485235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9" y="2458"/>
              <a:ext cx="3967" cy="9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3331" name="Line 117">
              <a:extLst>
                <a:ext uri="{FF2B5EF4-FFF2-40B4-BE49-F238E27FC236}">
                  <a16:creationId xmlns:a16="http://schemas.microsoft.com/office/drawing/2014/main" id="{E386A7E0-B676-4491-8414-BD2A34193C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8" y="3261"/>
              <a:ext cx="1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" name="Line 118">
              <a:extLst>
                <a:ext uri="{FF2B5EF4-FFF2-40B4-BE49-F238E27FC236}">
                  <a16:creationId xmlns:a16="http://schemas.microsoft.com/office/drawing/2014/main" id="{5BF809BE-A88C-446C-9186-C3BDC6C933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8" y="3275"/>
              <a:ext cx="1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" name="Freeform 119" descr="浅色竖线">
              <a:extLst>
                <a:ext uri="{FF2B5EF4-FFF2-40B4-BE49-F238E27FC236}">
                  <a16:creationId xmlns:a16="http://schemas.microsoft.com/office/drawing/2014/main" id="{B1517072-61C8-4035-BDF5-2F9BFD20A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5" y="3164"/>
              <a:ext cx="2060" cy="203"/>
            </a:xfrm>
            <a:custGeom>
              <a:avLst/>
              <a:gdLst>
                <a:gd name="T0" fmla="*/ 0 w 2060"/>
                <a:gd name="T1" fmla="*/ 203 h 203"/>
                <a:gd name="T2" fmla="*/ 259 w 2060"/>
                <a:gd name="T3" fmla="*/ 162 h 203"/>
                <a:gd name="T4" fmla="*/ 568 w 2060"/>
                <a:gd name="T5" fmla="*/ 57 h 203"/>
                <a:gd name="T6" fmla="*/ 771 w 2060"/>
                <a:gd name="T7" fmla="*/ 0 h 203"/>
                <a:gd name="T8" fmla="*/ 949 w 2060"/>
                <a:gd name="T9" fmla="*/ 8 h 203"/>
                <a:gd name="T10" fmla="*/ 1168 w 2060"/>
                <a:gd name="T11" fmla="*/ 97 h 203"/>
                <a:gd name="T12" fmla="*/ 1371 w 2060"/>
                <a:gd name="T13" fmla="*/ 154 h 203"/>
                <a:gd name="T14" fmla="*/ 1655 w 2060"/>
                <a:gd name="T15" fmla="*/ 178 h 203"/>
                <a:gd name="T16" fmla="*/ 2060 w 2060"/>
                <a:gd name="T17" fmla="*/ 186 h 20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60" h="203">
                  <a:moveTo>
                    <a:pt x="0" y="203"/>
                  </a:moveTo>
                  <a:lnTo>
                    <a:pt x="259" y="162"/>
                  </a:lnTo>
                  <a:lnTo>
                    <a:pt x="568" y="57"/>
                  </a:lnTo>
                  <a:lnTo>
                    <a:pt x="771" y="0"/>
                  </a:lnTo>
                  <a:lnTo>
                    <a:pt x="949" y="8"/>
                  </a:lnTo>
                  <a:lnTo>
                    <a:pt x="1168" y="97"/>
                  </a:lnTo>
                  <a:lnTo>
                    <a:pt x="1371" y="154"/>
                  </a:lnTo>
                  <a:lnTo>
                    <a:pt x="1655" y="178"/>
                  </a:lnTo>
                  <a:lnTo>
                    <a:pt x="2060" y="186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Line 120">
              <a:extLst>
                <a:ext uri="{FF2B5EF4-FFF2-40B4-BE49-F238E27FC236}">
                  <a16:creationId xmlns:a16="http://schemas.microsoft.com/office/drawing/2014/main" id="{34F1836C-833D-4E41-A417-E5C09D6B2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2" y="3359"/>
              <a:ext cx="3771" cy="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09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09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09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9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0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2000"/>
                                        <p:tgtEl>
                                          <p:spTgt spid="90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2000"/>
                                        <p:tgtEl>
                                          <p:spTgt spid="909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2000"/>
                                        <p:tgtEl>
                                          <p:spTgt spid="90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2000"/>
                                        <p:tgtEl>
                                          <p:spTgt spid="90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9314" grpId="0" build="p"/>
      <p:bldP spid="909315" grpId="0"/>
      <p:bldP spid="909385" grpId="0" animBg="1"/>
      <p:bldP spid="909387" grpId="0" animBg="1"/>
      <p:bldP spid="909388" grpId="0" animBg="1"/>
      <p:bldP spid="909389" grpId="0" animBg="1"/>
      <p:bldP spid="90939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>
            <a:extLst>
              <a:ext uri="{FF2B5EF4-FFF2-40B4-BE49-F238E27FC236}">
                <a16:creationId xmlns:a16="http://schemas.microsoft.com/office/drawing/2014/main" id="{9D7691C3-E3DA-466B-B8B4-567F014468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C51B55-4B0A-4637-B9AF-CE5374B0DC8C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zh-CN" altLang="zh-CN" sz="1400"/>
          </a:p>
        </p:txBody>
      </p:sp>
      <p:sp>
        <p:nvSpPr>
          <p:cNvPr id="910338" name="Text Box 2">
            <a:extLst>
              <a:ext uri="{FF2B5EF4-FFF2-40B4-BE49-F238E27FC236}">
                <a16:creationId xmlns:a16="http://schemas.microsoft.com/office/drawing/2014/main" id="{D9D8E143-C80C-4FAA-8A26-16A6D5C25BC3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539750" y="115888"/>
            <a:ext cx="8534400" cy="4556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2. 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描述热辐射的基本物理量       </a:t>
            </a:r>
          </a:p>
        </p:txBody>
      </p:sp>
      <p:sp>
        <p:nvSpPr>
          <p:cNvPr id="910342" name="Text Box 6">
            <a:extLst>
              <a:ext uri="{FF2B5EF4-FFF2-40B4-BE49-F238E27FC236}">
                <a16:creationId xmlns:a16="http://schemas.microsoft.com/office/drawing/2014/main" id="{190D184E-C5D0-4D77-BBCE-85BA96AE06AD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50825" y="765175"/>
            <a:ext cx="2800350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</a:t>
            </a: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）单色辐射出射度</a:t>
            </a:r>
          </a:p>
        </p:txBody>
      </p:sp>
      <p:sp>
        <p:nvSpPr>
          <p:cNvPr id="910343" name="Text Box 7">
            <a:extLst>
              <a:ext uri="{FF2B5EF4-FFF2-40B4-BE49-F238E27FC236}">
                <a16:creationId xmlns:a16="http://schemas.microsoft.com/office/drawing/2014/main" id="{A2915390-0DFC-4846-9531-347F3FC05BBB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55650" y="1268413"/>
            <a:ext cx="7704138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      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指温度为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T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的物体</a:t>
            </a: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单位时间内从单位表面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发出的波长在</a:t>
            </a:r>
            <a:r>
              <a:rPr kumimoji="1" lang="zh-CN" altLang="en-US" i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 </a:t>
            </a: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附近单位波长间隔内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的辐射能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.  </a:t>
            </a:r>
            <a:endParaRPr kumimoji="1"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910344" name="Object 8">
            <a:extLst>
              <a:ext uri="{FF2B5EF4-FFF2-40B4-BE49-F238E27FC236}">
                <a16:creationId xmlns:a16="http://schemas.microsoft.com/office/drawing/2014/main" id="{74085146-C58D-446C-9732-D3C1FA1CA844}"/>
              </a:ext>
            </a:extLst>
          </p:cNvPr>
          <p:cNvGraphicFramePr>
            <a:graphicFrameLocks/>
          </p:cNvGraphicFramePr>
          <p:nvPr/>
        </p:nvGraphicFramePr>
        <p:xfrm>
          <a:off x="1200150" y="2584450"/>
          <a:ext cx="23510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8" r:id="rId3" imgW="876240" imgH="393480" progId="Equation.3">
                  <p:embed/>
                </p:oleObj>
              </mc:Choice>
              <mc:Fallback>
                <p:oleObj r:id="rId3" imgW="876240" imgH="39348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2584450"/>
                        <a:ext cx="2351088" cy="936625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0345" name="Object 9">
            <a:extLst>
              <a:ext uri="{FF2B5EF4-FFF2-40B4-BE49-F238E27FC236}">
                <a16:creationId xmlns:a16="http://schemas.microsoft.com/office/drawing/2014/main" id="{74E0EEB6-0C93-4CF2-9EA0-349D1C4EC317}"/>
              </a:ext>
            </a:extLst>
          </p:cNvPr>
          <p:cNvGraphicFramePr>
            <a:graphicFrameLocks/>
          </p:cNvGraphicFramePr>
          <p:nvPr/>
        </p:nvGraphicFramePr>
        <p:xfrm>
          <a:off x="3851275" y="2800350"/>
          <a:ext cx="13684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9" r:id="rId5" imgW="504908" imgH="199923" progId="Equation.3">
                  <p:embed/>
                </p:oleObj>
              </mc:Choice>
              <mc:Fallback>
                <p:oleObj r:id="rId5" imgW="504908" imgH="199923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800350"/>
                        <a:ext cx="1368425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0346" name="Object 10">
            <a:extLst>
              <a:ext uri="{FF2B5EF4-FFF2-40B4-BE49-F238E27FC236}">
                <a16:creationId xmlns:a16="http://schemas.microsoft.com/office/drawing/2014/main" id="{6C6E29E4-2184-4AA5-95C8-D5E36E2C6073}"/>
              </a:ext>
            </a:extLst>
          </p:cNvPr>
          <p:cNvGraphicFramePr>
            <a:graphicFrameLocks/>
          </p:cNvGraphicFramePr>
          <p:nvPr/>
        </p:nvGraphicFramePr>
        <p:xfrm>
          <a:off x="6764338" y="2173288"/>
          <a:ext cx="6270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" r:id="rId7" imgW="266400" imgH="164880" progId="Equation.3">
                  <p:embed/>
                </p:oleObj>
              </mc:Choice>
              <mc:Fallback>
                <p:oleObj r:id="rId7" imgW="266400" imgH="16488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4338" y="2173288"/>
                        <a:ext cx="62706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0347" name="Object 11">
            <a:extLst>
              <a:ext uri="{FF2B5EF4-FFF2-40B4-BE49-F238E27FC236}">
                <a16:creationId xmlns:a16="http://schemas.microsoft.com/office/drawing/2014/main" id="{8E9C2D2D-65E9-43C8-A056-93E9758DCED6}"/>
              </a:ext>
            </a:extLst>
          </p:cNvPr>
          <p:cNvGraphicFramePr>
            <a:graphicFrameLocks/>
          </p:cNvGraphicFramePr>
          <p:nvPr/>
        </p:nvGraphicFramePr>
        <p:xfrm>
          <a:off x="7326313" y="2617788"/>
          <a:ext cx="16383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1" r:id="rId9" imgW="800024" imgH="171450" progId="Equation.3">
                  <p:embed/>
                </p:oleObj>
              </mc:Choice>
              <mc:Fallback>
                <p:oleObj r:id="rId9" imgW="800024" imgH="17145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313" y="2617788"/>
                        <a:ext cx="1638300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0348" name="Text Box 12">
            <a:extLst>
              <a:ext uri="{FF2B5EF4-FFF2-40B4-BE49-F238E27FC236}">
                <a16:creationId xmlns:a16="http://schemas.microsoft.com/office/drawing/2014/main" id="{82CE94B6-FE73-4EA8-A4C4-9C05FD7CD42C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031038" y="3465513"/>
            <a:ext cx="29289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（单位时间内）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7C614587-8918-4025-920F-B8F1E42E7DC1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2528888"/>
            <a:ext cx="2211388" cy="1782762"/>
            <a:chOff x="190" y="2707"/>
            <a:chExt cx="1393" cy="1123"/>
          </a:xfrm>
        </p:grpSpPr>
        <p:sp>
          <p:nvSpPr>
            <p:cNvPr id="14356" name="Freeform 14">
              <a:extLst>
                <a:ext uri="{FF2B5EF4-FFF2-40B4-BE49-F238E27FC236}">
                  <a16:creationId xmlns:a16="http://schemas.microsoft.com/office/drawing/2014/main" id="{78830E3E-30BB-4D6C-BE0C-B96914FBE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" y="2707"/>
              <a:ext cx="372" cy="1123"/>
            </a:xfrm>
            <a:custGeom>
              <a:avLst/>
              <a:gdLst>
                <a:gd name="T0" fmla="*/ 0 w 660"/>
                <a:gd name="T1" fmla="*/ 0 h 1755"/>
                <a:gd name="T2" fmla="*/ 86 w 660"/>
                <a:gd name="T3" fmla="*/ 196 h 1755"/>
                <a:gd name="T4" fmla="*/ 118 w 660"/>
                <a:gd name="T5" fmla="*/ 460 h 17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0" h="1755">
                  <a:moveTo>
                    <a:pt x="0" y="0"/>
                  </a:moveTo>
                  <a:cubicBezTo>
                    <a:pt x="185" y="229"/>
                    <a:pt x="370" y="458"/>
                    <a:pt x="480" y="750"/>
                  </a:cubicBezTo>
                  <a:cubicBezTo>
                    <a:pt x="590" y="1042"/>
                    <a:pt x="630" y="1588"/>
                    <a:pt x="660" y="1755"/>
                  </a:cubicBezTo>
                </a:path>
              </a:pathLst>
            </a:custGeom>
            <a:noFill/>
            <a:ln w="2857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7" name="Line 15">
              <a:extLst>
                <a:ext uri="{FF2B5EF4-FFF2-40B4-BE49-F238E27FC236}">
                  <a16:creationId xmlns:a16="http://schemas.microsoft.com/office/drawing/2014/main" id="{0FEC3CFA-DB7A-4225-B3AA-6819589706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3" y="2827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8" name="Line 16">
              <a:extLst>
                <a:ext uri="{FF2B5EF4-FFF2-40B4-BE49-F238E27FC236}">
                  <a16:creationId xmlns:a16="http://schemas.microsoft.com/office/drawing/2014/main" id="{BEC4D8AD-805E-4976-9A2A-B1AB1F0432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7" y="2884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9" name="Line 17">
              <a:extLst>
                <a:ext uri="{FF2B5EF4-FFF2-40B4-BE49-F238E27FC236}">
                  <a16:creationId xmlns:a16="http://schemas.microsoft.com/office/drawing/2014/main" id="{2518DA72-4EDA-42A9-B422-CE46FF5506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9" y="2942"/>
              <a:ext cx="84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0" name="Line 18">
              <a:extLst>
                <a:ext uri="{FF2B5EF4-FFF2-40B4-BE49-F238E27FC236}">
                  <a16:creationId xmlns:a16="http://schemas.microsoft.com/office/drawing/2014/main" id="{5D54A881-182F-4EBE-BA5C-2B5B0EA934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0" y="2990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1" name="Line 19">
              <a:extLst>
                <a:ext uri="{FF2B5EF4-FFF2-40B4-BE49-F238E27FC236}">
                  <a16:creationId xmlns:a16="http://schemas.microsoft.com/office/drawing/2014/main" id="{C511E826-15A4-4596-9A0C-CD4ACFE339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4" y="3038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2" name="Line 20">
              <a:extLst>
                <a:ext uri="{FF2B5EF4-FFF2-40B4-BE49-F238E27FC236}">
                  <a16:creationId xmlns:a16="http://schemas.microsoft.com/office/drawing/2014/main" id="{F0E6AD9B-E269-4869-9629-A212F716A3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6" y="3096"/>
              <a:ext cx="85" cy="0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3" name="Line 21">
              <a:extLst>
                <a:ext uri="{FF2B5EF4-FFF2-40B4-BE49-F238E27FC236}">
                  <a16:creationId xmlns:a16="http://schemas.microsoft.com/office/drawing/2014/main" id="{97765C3E-5893-4CB4-945B-EA6B68CD1E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80" y="3153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4" name="Line 22">
              <a:extLst>
                <a:ext uri="{FF2B5EF4-FFF2-40B4-BE49-F238E27FC236}">
                  <a16:creationId xmlns:a16="http://schemas.microsoft.com/office/drawing/2014/main" id="{DDF0FA5E-3871-413C-A5AA-48D6279EC2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6" y="3211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5" name="Line 23">
              <a:extLst>
                <a:ext uri="{FF2B5EF4-FFF2-40B4-BE49-F238E27FC236}">
                  <a16:creationId xmlns:a16="http://schemas.microsoft.com/office/drawing/2014/main" id="{A24B6038-90DD-459D-8777-A090A437C0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0" y="3259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6" name="Line 24">
              <a:extLst>
                <a:ext uri="{FF2B5EF4-FFF2-40B4-BE49-F238E27FC236}">
                  <a16:creationId xmlns:a16="http://schemas.microsoft.com/office/drawing/2014/main" id="{7C289AF5-7CA8-4EB3-844E-0B89331C22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8" y="3307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7" name="Line 25">
              <a:extLst>
                <a:ext uri="{FF2B5EF4-FFF2-40B4-BE49-F238E27FC236}">
                  <a16:creationId xmlns:a16="http://schemas.microsoft.com/office/drawing/2014/main" id="{8449C175-4583-42D9-92A3-37219A4570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4" y="3364"/>
              <a:ext cx="84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8" name="Line 26">
              <a:extLst>
                <a:ext uri="{FF2B5EF4-FFF2-40B4-BE49-F238E27FC236}">
                  <a16:creationId xmlns:a16="http://schemas.microsoft.com/office/drawing/2014/main" id="{9659B1B9-DF52-4F25-A3A9-CE31283A7E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4" y="3422"/>
              <a:ext cx="84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9" name="Line 27">
              <a:extLst>
                <a:ext uri="{FF2B5EF4-FFF2-40B4-BE49-F238E27FC236}">
                  <a16:creationId xmlns:a16="http://schemas.microsoft.com/office/drawing/2014/main" id="{11FFDBB9-104B-4B48-99EE-8F3454B66B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52" y="3470"/>
              <a:ext cx="84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0" name="Line 28">
              <a:extLst>
                <a:ext uri="{FF2B5EF4-FFF2-40B4-BE49-F238E27FC236}">
                  <a16:creationId xmlns:a16="http://schemas.microsoft.com/office/drawing/2014/main" id="{9CF24466-0F75-40D6-95FA-5A088C89C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7" y="3518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1" name="Line 29">
              <a:extLst>
                <a:ext uri="{FF2B5EF4-FFF2-40B4-BE49-F238E27FC236}">
                  <a16:creationId xmlns:a16="http://schemas.microsoft.com/office/drawing/2014/main" id="{9A53D047-9E99-4DD3-A1EB-572A78689C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5" y="3585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2" name="Line 30">
              <a:extLst>
                <a:ext uri="{FF2B5EF4-FFF2-40B4-BE49-F238E27FC236}">
                  <a16:creationId xmlns:a16="http://schemas.microsoft.com/office/drawing/2014/main" id="{3EE15F16-D269-4101-81FD-193505E7EE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5" y="3643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3" name="Line 31">
              <a:extLst>
                <a:ext uri="{FF2B5EF4-FFF2-40B4-BE49-F238E27FC236}">
                  <a16:creationId xmlns:a16="http://schemas.microsoft.com/office/drawing/2014/main" id="{A5068ACE-6C8C-47DC-800D-05D9E0DAF8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5" y="3691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4" name="Line 32">
              <a:extLst>
                <a:ext uri="{FF2B5EF4-FFF2-40B4-BE49-F238E27FC236}">
                  <a16:creationId xmlns:a16="http://schemas.microsoft.com/office/drawing/2014/main" id="{F0897B54-0E78-44BA-962F-CEAEE17ADB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3" y="3739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5" name="Line 33">
              <a:extLst>
                <a:ext uri="{FF2B5EF4-FFF2-40B4-BE49-F238E27FC236}">
                  <a16:creationId xmlns:a16="http://schemas.microsoft.com/office/drawing/2014/main" id="{A302C56F-9E3B-424F-A872-8588488BFD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1" y="3787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6" name="Line 34">
              <a:extLst>
                <a:ext uri="{FF2B5EF4-FFF2-40B4-BE49-F238E27FC236}">
                  <a16:creationId xmlns:a16="http://schemas.microsoft.com/office/drawing/2014/main" id="{C99D1A66-324F-4612-9257-F3ED73EDDE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9" y="2779"/>
              <a:ext cx="85" cy="1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7" name="Line 35">
              <a:extLst>
                <a:ext uri="{FF2B5EF4-FFF2-40B4-BE49-F238E27FC236}">
                  <a16:creationId xmlns:a16="http://schemas.microsoft.com/office/drawing/2014/main" id="{4EB1159F-5EED-4557-AA42-D1F7783270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8" y="2942"/>
              <a:ext cx="51" cy="48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8" name="Line 36">
              <a:extLst>
                <a:ext uri="{FF2B5EF4-FFF2-40B4-BE49-F238E27FC236}">
                  <a16:creationId xmlns:a16="http://schemas.microsoft.com/office/drawing/2014/main" id="{E7DDE29B-2804-4B31-B210-00C812D762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4" y="3144"/>
              <a:ext cx="50" cy="48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9" name="Line 37">
              <a:extLst>
                <a:ext uri="{FF2B5EF4-FFF2-40B4-BE49-F238E27FC236}">
                  <a16:creationId xmlns:a16="http://schemas.microsoft.com/office/drawing/2014/main" id="{BA843EE3-15F6-44B5-AF62-A11403F4DA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8" y="2836"/>
              <a:ext cx="355" cy="23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0" name="Line 38">
              <a:extLst>
                <a:ext uri="{FF2B5EF4-FFF2-40B4-BE49-F238E27FC236}">
                  <a16:creationId xmlns:a16="http://schemas.microsoft.com/office/drawing/2014/main" id="{3D8858F4-64B7-4786-BAF5-9F046CEF5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8" y="3076"/>
              <a:ext cx="347" cy="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1" name="Line 39">
              <a:extLst>
                <a:ext uri="{FF2B5EF4-FFF2-40B4-BE49-F238E27FC236}">
                  <a16:creationId xmlns:a16="http://schemas.microsoft.com/office/drawing/2014/main" id="{21B4B65D-DED2-4AE6-908E-830999532C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8" y="2755"/>
              <a:ext cx="126" cy="29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0376" name="Text Box 40">
              <a:extLst>
                <a:ext uri="{FF2B5EF4-FFF2-40B4-BE49-F238E27FC236}">
                  <a16:creationId xmlns:a16="http://schemas.microsoft.com/office/drawing/2014/main" id="{BAE2C9EB-5958-472C-9BAF-4367157B4E75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20" y="2721"/>
              <a:ext cx="529" cy="3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eaLnBrk="1" hangingPunct="1">
                <a:defRPr/>
              </a:pPr>
              <a:r>
                <a:rPr kumimoji="1" lang="en-US" altLang="zh-CN" b="0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</a:t>
              </a:r>
              <a:r>
                <a:rPr kumimoji="1" lang="en-US" altLang="zh-CN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</a:t>
              </a:r>
            </a:p>
            <a:p>
              <a:pPr algn="just" eaLnBrk="1" hangingPunct="1">
                <a:defRPr/>
              </a:pPr>
              <a:endParaRPr kumimoji="1"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10377" name="Text Box 41">
              <a:extLst>
                <a:ext uri="{FF2B5EF4-FFF2-40B4-BE49-F238E27FC236}">
                  <a16:creationId xmlns:a16="http://schemas.microsoft.com/office/drawing/2014/main" id="{81B02D80-5B1E-432B-9C83-2A5CEC331215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90" y="3232"/>
              <a:ext cx="1322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单位面积</a:t>
              </a:r>
            </a:p>
          </p:txBody>
        </p:sp>
        <p:sp>
          <p:nvSpPr>
            <p:cNvPr id="14384" name="Line 42">
              <a:extLst>
                <a:ext uri="{FF2B5EF4-FFF2-40B4-BE49-F238E27FC236}">
                  <a16:creationId xmlns:a16="http://schemas.microsoft.com/office/drawing/2014/main" id="{94C41914-EBDF-4FBC-B6C3-89EB831FDE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0" y="3044"/>
              <a:ext cx="422" cy="222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5" name="Freeform 43">
              <a:extLst>
                <a:ext uri="{FF2B5EF4-FFF2-40B4-BE49-F238E27FC236}">
                  <a16:creationId xmlns:a16="http://schemas.microsoft.com/office/drawing/2014/main" id="{EE746D7E-010A-4A93-9601-C3A272AF2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966"/>
              <a:ext cx="78" cy="200"/>
            </a:xfrm>
            <a:custGeom>
              <a:avLst/>
              <a:gdLst>
                <a:gd name="T0" fmla="*/ 0 w 78"/>
                <a:gd name="T1" fmla="*/ 0 h 200"/>
                <a:gd name="T2" fmla="*/ 44 w 78"/>
                <a:gd name="T3" fmla="*/ 100 h 200"/>
                <a:gd name="T4" fmla="*/ 78 w 78"/>
                <a:gd name="T5" fmla="*/ 200 h 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200">
                  <a:moveTo>
                    <a:pt x="0" y="0"/>
                  </a:moveTo>
                  <a:cubicBezTo>
                    <a:pt x="15" y="33"/>
                    <a:pt x="31" y="67"/>
                    <a:pt x="44" y="100"/>
                  </a:cubicBezTo>
                  <a:cubicBezTo>
                    <a:pt x="57" y="133"/>
                    <a:pt x="67" y="166"/>
                    <a:pt x="78" y="200"/>
                  </a:cubicBezTo>
                </a:path>
              </a:pathLst>
            </a:custGeom>
            <a:noFill/>
            <a:ln w="38100">
              <a:solidFill>
                <a:srgbClr val="00BCB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10417" name="Text Box 81">
            <a:extLst>
              <a:ext uri="{FF2B5EF4-FFF2-40B4-BE49-F238E27FC236}">
                <a16:creationId xmlns:a16="http://schemas.microsoft.com/office/drawing/2014/main" id="{ACDA608A-7070-4B99-BE76-3251C53851F5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50825" y="4508500"/>
            <a:ext cx="218598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2</a:t>
            </a: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）辐射出射度</a:t>
            </a:r>
          </a:p>
        </p:txBody>
      </p:sp>
      <p:sp>
        <p:nvSpPr>
          <p:cNvPr id="910418" name="Text Box 82">
            <a:extLst>
              <a:ext uri="{FF2B5EF4-FFF2-40B4-BE49-F238E27FC236}">
                <a16:creationId xmlns:a16="http://schemas.microsoft.com/office/drawing/2014/main" id="{A4DB1599-45BF-40C9-A0C2-AF325F35C450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55650" y="5013325"/>
            <a:ext cx="7489825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      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指温度为</a:t>
            </a:r>
            <a:r>
              <a:rPr kumimoji="1" lang="en-US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T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的物体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单位时间内从单位面积上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所辐射</a:t>
            </a:r>
          </a:p>
          <a:p>
            <a:pPr eaLnBrk="1" hangingPunct="1"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的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各种波长的总辐射能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，用</a:t>
            </a:r>
            <a:r>
              <a:rPr kumimoji="1" lang="en-US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M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（</a:t>
            </a:r>
            <a:r>
              <a:rPr kumimoji="1" lang="en-US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T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）表示。</a:t>
            </a:r>
          </a:p>
        </p:txBody>
      </p:sp>
      <p:graphicFrame>
        <p:nvGraphicFramePr>
          <p:cNvPr id="910419" name="Object 83">
            <a:extLst>
              <a:ext uri="{FF2B5EF4-FFF2-40B4-BE49-F238E27FC236}">
                <a16:creationId xmlns:a16="http://schemas.microsoft.com/office/drawing/2014/main" id="{BD73DC65-AC91-4823-9347-75039B33DA1E}"/>
              </a:ext>
            </a:extLst>
          </p:cNvPr>
          <p:cNvGraphicFramePr>
            <a:graphicFrameLocks/>
          </p:cNvGraphicFramePr>
          <p:nvPr/>
        </p:nvGraphicFramePr>
        <p:xfrm>
          <a:off x="5795963" y="6021388"/>
          <a:ext cx="143986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2" r:id="rId11" imgW="514388" imgH="199923" progId="Equation.3">
                  <p:embed/>
                </p:oleObj>
              </mc:Choice>
              <mc:Fallback>
                <p:oleObj r:id="rId11" imgW="514388" imgH="199923" progId="Equation.3">
                  <p:embed/>
                  <p:pic>
                    <p:nvPicPr>
                      <p:cNvPr id="0" name="Object 83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6021388"/>
                        <a:ext cx="1439862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84">
            <a:extLst>
              <a:ext uri="{FF2B5EF4-FFF2-40B4-BE49-F238E27FC236}">
                <a16:creationId xmlns:a16="http://schemas.microsoft.com/office/drawing/2014/main" id="{ECEA9C7D-555E-46EB-B8D2-1B9EBB03A4F5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5876925"/>
            <a:ext cx="4175125" cy="936625"/>
            <a:chOff x="2032" y="1104"/>
            <a:chExt cx="2636" cy="624"/>
          </a:xfrm>
        </p:grpSpPr>
        <p:sp>
          <p:nvSpPr>
            <p:cNvPr id="14354" name="Rectangle 85">
              <a:extLst>
                <a:ext uri="{FF2B5EF4-FFF2-40B4-BE49-F238E27FC236}">
                  <a16:creationId xmlns:a16="http://schemas.microsoft.com/office/drawing/2014/main" id="{5910BFD5-E8FA-48F2-B690-14D8C565F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104"/>
              <a:ext cx="2448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14355" name="Object 86">
              <a:extLst>
                <a:ext uri="{FF2B5EF4-FFF2-40B4-BE49-F238E27FC236}">
                  <a16:creationId xmlns:a16="http://schemas.microsoft.com/office/drawing/2014/main" id="{9F3AEE14-E3D7-412E-AB86-DC25C11BAF3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032" y="1104"/>
            <a:ext cx="2636" cy="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63" r:id="rId13" imgW="1276490" imgH="304936" progId="Equation.3">
                    <p:embed/>
                  </p:oleObj>
                </mc:Choice>
                <mc:Fallback>
                  <p:oleObj r:id="rId13" imgW="1276490" imgH="304936" progId="Equation.3">
                    <p:embed/>
                    <p:pic>
                      <p:nvPicPr>
                        <p:cNvPr id="0" name="Object 8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2" y="1104"/>
                          <a:ext cx="2636" cy="599"/>
                        </a:xfrm>
                        <a:prstGeom prst="rect">
                          <a:avLst/>
                        </a:prstGeom>
                        <a:noFill/>
                        <a:ln w="57150" cmpd="thinThick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52" name="Rectangle 87">
            <a:extLst>
              <a:ext uri="{FF2B5EF4-FFF2-40B4-BE49-F238E27FC236}">
                <a16:creationId xmlns:a16="http://schemas.microsoft.com/office/drawing/2014/main" id="{78675AF9-9A4A-4BDB-B377-A8A62EA84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25" y="6813550"/>
            <a:ext cx="387667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10424" name="Text Box 88">
            <a:extLst>
              <a:ext uri="{FF2B5EF4-FFF2-40B4-BE49-F238E27FC236}">
                <a16:creationId xmlns:a16="http://schemas.microsoft.com/office/drawing/2014/main" id="{E5D2EFBB-15AF-4792-A24A-36A36B166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592513"/>
            <a:ext cx="3981450" cy="7858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kumimoji="1" lang="en-US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kumimoji="1" lang="en-US" altLang="zh-CN" baseline="-25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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取决于</a:t>
            </a:r>
            <a:r>
              <a:rPr kumimoji="1" lang="en-US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，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，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物质种类和表面情况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1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1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1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10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910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91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10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91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910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91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91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0342" grpId="0"/>
      <p:bldP spid="910343" grpId="0"/>
      <p:bldP spid="910348" grpId="0"/>
      <p:bldP spid="910417" grpId="0"/>
      <p:bldP spid="910418" grpId="0"/>
      <p:bldP spid="9104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>
            <a:extLst>
              <a:ext uri="{FF2B5EF4-FFF2-40B4-BE49-F238E27FC236}">
                <a16:creationId xmlns:a16="http://schemas.microsoft.com/office/drawing/2014/main" id="{5B68EDE1-F800-45AE-AC95-02ED31D791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A44657-1A24-4F14-9CE5-4D6C4FE9FEF4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zh-CN" altLang="zh-CN" sz="1400"/>
          </a:p>
        </p:txBody>
      </p:sp>
      <p:grpSp>
        <p:nvGrpSpPr>
          <p:cNvPr id="15363" name="Group 6">
            <a:extLst>
              <a:ext uri="{FF2B5EF4-FFF2-40B4-BE49-F238E27FC236}">
                <a16:creationId xmlns:a16="http://schemas.microsoft.com/office/drawing/2014/main" id="{EF543DE5-0059-4FF0-8F15-C71172FFF634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84150"/>
            <a:ext cx="4175125" cy="936625"/>
            <a:chOff x="2032" y="1104"/>
            <a:chExt cx="2636" cy="624"/>
          </a:xfrm>
        </p:grpSpPr>
        <p:sp>
          <p:nvSpPr>
            <p:cNvPr id="15380" name="Rectangle 7">
              <a:extLst>
                <a:ext uri="{FF2B5EF4-FFF2-40B4-BE49-F238E27FC236}">
                  <a16:creationId xmlns:a16="http://schemas.microsoft.com/office/drawing/2014/main" id="{480D8F4F-951C-4346-AB31-8A29DC532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104"/>
              <a:ext cx="2448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15381" name="Object 8">
              <a:extLst>
                <a:ext uri="{FF2B5EF4-FFF2-40B4-BE49-F238E27FC236}">
                  <a16:creationId xmlns:a16="http://schemas.microsoft.com/office/drawing/2014/main" id="{36F360D4-ADED-4FA0-B3B4-73A48EBC1DA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032" y="1104"/>
            <a:ext cx="2636" cy="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2" r:id="rId3" imgW="1276490" imgH="304936" progId="Equation.3">
                    <p:embed/>
                  </p:oleObj>
                </mc:Choice>
                <mc:Fallback>
                  <p:oleObj r:id="rId3" imgW="1276490" imgH="304936" progId="Equation.3">
                    <p:embed/>
                    <p:pic>
                      <p:nvPicPr>
                        <p:cNvPr id="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2" y="1104"/>
                          <a:ext cx="2636" cy="599"/>
                        </a:xfrm>
                        <a:prstGeom prst="rect">
                          <a:avLst/>
                        </a:prstGeom>
                        <a:noFill/>
                        <a:ln w="57150" cmpd="thinThick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11373" name="Text Box 13">
            <a:extLst>
              <a:ext uri="{FF2B5EF4-FFF2-40B4-BE49-F238E27FC236}">
                <a16:creationId xmlns:a16="http://schemas.microsoft.com/office/drawing/2014/main" id="{DAC7AFD4-D804-45FB-8A5A-7120CAE3B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1408113"/>
            <a:ext cx="822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单色</a:t>
            </a:r>
            <a:r>
              <a:rPr kumimoji="1" lang="zh-CN" alt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吸收比</a:t>
            </a:r>
            <a:r>
              <a:rPr kumimoji="1" lang="zh-CN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单色</a:t>
            </a:r>
            <a:r>
              <a:rPr kumimoji="1" lang="zh-CN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反射比</a:t>
            </a:r>
            <a:endParaRPr kumimoji="1" lang="zh-CN" altLang="en-US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C57A90A6-F32F-4BD9-8CE1-FBE679BB1D61}"/>
              </a:ext>
            </a:extLst>
          </p:cNvPr>
          <p:cNvGrpSpPr>
            <a:grpSpLocks/>
          </p:cNvGrpSpPr>
          <p:nvPr/>
        </p:nvGrpSpPr>
        <p:grpSpPr bwMode="auto">
          <a:xfrm>
            <a:off x="1173163" y="1938338"/>
            <a:ext cx="5472112" cy="1152525"/>
            <a:chOff x="793" y="3521"/>
            <a:chExt cx="3447" cy="726"/>
          </a:xfrm>
        </p:grpSpPr>
        <p:sp>
          <p:nvSpPr>
            <p:cNvPr id="15374" name="Rectangle 17">
              <a:extLst>
                <a:ext uri="{FF2B5EF4-FFF2-40B4-BE49-F238E27FC236}">
                  <a16:creationId xmlns:a16="http://schemas.microsoft.com/office/drawing/2014/main" id="{6ACCD60A-9E52-4F8C-8EDA-4D61955EC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3521"/>
              <a:ext cx="3447" cy="72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911378" name="Text Box 18">
              <a:extLst>
                <a:ext uri="{FF2B5EF4-FFF2-40B4-BE49-F238E27FC236}">
                  <a16:creationId xmlns:a16="http://schemas.microsoft.com/office/drawing/2014/main" id="{C7C006B0-459D-43A9-89F1-F75239683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" y="3777"/>
              <a:ext cx="127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zh-CN" altLang="en-US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若外来辐射能</a:t>
              </a:r>
            </a:p>
          </p:txBody>
        </p:sp>
        <p:sp>
          <p:nvSpPr>
            <p:cNvPr id="15376" name="Line 19">
              <a:extLst>
                <a:ext uri="{FF2B5EF4-FFF2-40B4-BE49-F238E27FC236}">
                  <a16:creationId xmlns:a16="http://schemas.microsoft.com/office/drawing/2014/main" id="{5BC960E7-93EB-46B7-9C2C-B2634C0B78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4" y="3702"/>
              <a:ext cx="318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7" name="Line 20">
              <a:extLst>
                <a:ext uri="{FF2B5EF4-FFF2-40B4-BE49-F238E27FC236}">
                  <a16:creationId xmlns:a16="http://schemas.microsoft.com/office/drawing/2014/main" id="{563361D1-D4A1-4D5F-A594-D221C11B5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4" y="3929"/>
              <a:ext cx="318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381" name="Text Box 21">
              <a:extLst>
                <a:ext uri="{FF2B5EF4-FFF2-40B4-BE49-F238E27FC236}">
                  <a16:creationId xmlns:a16="http://schemas.microsoft.com/office/drawing/2014/main" id="{9CC1C8F3-6345-4E7E-B01F-DC0A41731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9" y="3550"/>
              <a:ext cx="1467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zh-CN" altLang="en-US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部分被物体吸收</a:t>
              </a:r>
            </a:p>
          </p:txBody>
        </p:sp>
        <p:sp>
          <p:nvSpPr>
            <p:cNvPr id="911382" name="Text Box 22">
              <a:extLst>
                <a:ext uri="{FF2B5EF4-FFF2-40B4-BE49-F238E27FC236}">
                  <a16:creationId xmlns:a16="http://schemas.microsoft.com/office/drawing/2014/main" id="{1543A577-7D93-4911-9478-0A5C50EC3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3884"/>
              <a:ext cx="1467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zh-CN" altLang="en-US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部分被物体反射</a:t>
              </a:r>
            </a:p>
          </p:txBody>
        </p:sp>
      </p:grpSp>
      <p:sp>
        <p:nvSpPr>
          <p:cNvPr id="911383" name="Text Box 23">
            <a:extLst>
              <a:ext uri="{FF2B5EF4-FFF2-40B4-BE49-F238E27FC236}">
                <a16:creationId xmlns:a16="http://schemas.microsoft.com/office/drawing/2014/main" id="{5517ADD4-45B9-4551-BC3C-37E31A879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25" y="2273300"/>
            <a:ext cx="2012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（不计透射）</a:t>
            </a:r>
          </a:p>
        </p:txBody>
      </p:sp>
      <p:graphicFrame>
        <p:nvGraphicFramePr>
          <p:cNvPr id="15367" name="Object 24">
            <a:extLst>
              <a:ext uri="{FF2B5EF4-FFF2-40B4-BE49-F238E27FC236}">
                <a16:creationId xmlns:a16="http://schemas.microsoft.com/office/drawing/2014/main" id="{71F420A2-1B3A-4AB9-9223-E60953AF5230}"/>
              </a:ext>
            </a:extLst>
          </p:cNvPr>
          <p:cNvGraphicFramePr>
            <a:graphicFrameLocks/>
          </p:cNvGraphicFramePr>
          <p:nvPr/>
        </p:nvGraphicFramePr>
        <p:xfrm>
          <a:off x="828675" y="184150"/>
          <a:ext cx="20828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3" r:id="rId5" imgW="876240" imgH="393480" progId="Equation.3">
                  <p:embed/>
                </p:oleObj>
              </mc:Choice>
              <mc:Fallback>
                <p:oleObj r:id="rId5" imgW="876240" imgH="393480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184150"/>
                        <a:ext cx="2082800" cy="936625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85" name="Object 25">
            <a:extLst>
              <a:ext uri="{FF2B5EF4-FFF2-40B4-BE49-F238E27FC236}">
                <a16:creationId xmlns:a16="http://schemas.microsoft.com/office/drawing/2014/main" id="{2AD96D80-D7D9-4B94-B0B3-BD47447B315D}"/>
              </a:ext>
            </a:extLst>
          </p:cNvPr>
          <p:cNvGraphicFramePr>
            <a:graphicFrameLocks/>
          </p:cNvGraphicFramePr>
          <p:nvPr/>
        </p:nvGraphicFramePr>
        <p:xfrm>
          <a:off x="1320800" y="5121275"/>
          <a:ext cx="265906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4" r:id="rId7" imgW="1231366" imgH="482391" progId="Equation.DSMT4">
                  <p:embed/>
                </p:oleObj>
              </mc:Choice>
              <mc:Fallback>
                <p:oleObj r:id="rId7" imgW="1231366" imgH="482391" progId="Equation.DSMT4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5121275"/>
                        <a:ext cx="2659063" cy="1041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86" name="Object 26">
            <a:extLst>
              <a:ext uri="{FF2B5EF4-FFF2-40B4-BE49-F238E27FC236}">
                <a16:creationId xmlns:a16="http://schemas.microsoft.com/office/drawing/2014/main" id="{CA1BD973-B67C-4905-ACB5-25F07FDCCA55}"/>
              </a:ext>
            </a:extLst>
          </p:cNvPr>
          <p:cNvGraphicFramePr>
            <a:graphicFrameLocks/>
          </p:cNvGraphicFramePr>
          <p:nvPr/>
        </p:nvGraphicFramePr>
        <p:xfrm>
          <a:off x="4806950" y="5132388"/>
          <a:ext cx="2700338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5" r:id="rId9" imgW="1231366" imgH="482391" progId="Equation.DSMT4">
                  <p:embed/>
                </p:oleObj>
              </mc:Choice>
              <mc:Fallback>
                <p:oleObj r:id="rId9" imgW="1231366" imgH="482391" progId="Equation.DSMT4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950" y="5132388"/>
                        <a:ext cx="2700338" cy="10334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87" name="Text Box 27">
            <a:extLst>
              <a:ext uri="{FF2B5EF4-FFF2-40B4-BE49-F238E27FC236}">
                <a16:creationId xmlns:a16="http://schemas.microsoft.com/office/drawing/2014/main" id="{911036DE-4047-4E25-BB70-FF2D3A769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950" y="6286500"/>
            <a:ext cx="27352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对于不透明物体：</a:t>
            </a:r>
            <a:endParaRPr kumimoji="1" lang="zh-CN" altLang="en-US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911388" name="Object 28">
            <a:extLst>
              <a:ext uri="{FF2B5EF4-FFF2-40B4-BE49-F238E27FC236}">
                <a16:creationId xmlns:a16="http://schemas.microsoft.com/office/drawing/2014/main" id="{A1689EFC-6360-4899-8334-7C7967BD0F88}"/>
              </a:ext>
            </a:extLst>
          </p:cNvPr>
          <p:cNvGraphicFramePr>
            <a:graphicFrameLocks/>
          </p:cNvGraphicFramePr>
          <p:nvPr/>
        </p:nvGraphicFramePr>
        <p:xfrm>
          <a:off x="3971925" y="6315075"/>
          <a:ext cx="319246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6" r:id="rId11" imgW="1319654" imgH="203024" progId="Equation.DSMT4">
                  <p:embed/>
                </p:oleObj>
              </mc:Choice>
              <mc:Fallback>
                <p:oleObj r:id="rId11" imgW="1319654" imgH="203024" progId="Equation.DSMT4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925" y="6315075"/>
                        <a:ext cx="3192463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90" name="Rectangle 30">
            <a:extLst>
              <a:ext uri="{FF2B5EF4-FFF2-40B4-BE49-F238E27FC236}">
                <a16:creationId xmlns:a16="http://schemas.microsoft.com/office/drawing/2014/main" id="{533B3020-1AFC-471F-B68F-025636892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933825"/>
            <a:ext cx="9007475" cy="1200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       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温度为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T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的物体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吸收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（或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反射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）</a:t>
            </a:r>
            <a:r>
              <a:rPr kumimoji="1" lang="zh-CN" altLang="en-US" dirty="0">
                <a:solidFill>
                  <a:srgbClr val="00BCB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波长</a:t>
            </a:r>
            <a:r>
              <a:rPr kumimoji="1" lang="en-US" altLang="zh-CN" i="1" dirty="0">
                <a:solidFill>
                  <a:srgbClr val="00BCB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anose="05050102010706020507" pitchFamily="18" charset="2"/>
                <a:ea typeface="仿宋_GB2312" pitchFamily="49" charset="-122"/>
              </a:rPr>
              <a:t>l</a:t>
            </a:r>
            <a:r>
              <a:rPr kumimoji="1" lang="en-US" altLang="zh-CN" dirty="0">
                <a:solidFill>
                  <a:srgbClr val="00BCB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 </a:t>
            </a:r>
            <a:r>
              <a:rPr kumimoji="1" lang="zh-CN" altLang="en-US" dirty="0">
                <a:solidFill>
                  <a:srgbClr val="00BCB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附近单位波长</a:t>
            </a:r>
            <a:r>
              <a:rPr kumimoji="1" lang="zh-CN" altLang="en-US" dirty="0">
                <a:solidFill>
                  <a:srgbClr val="00BCB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区间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的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辐射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能，与该波长区间的入射能之比，分别称为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单色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吸收比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（或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单色反射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比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）。</a:t>
            </a:r>
          </a:p>
        </p:txBody>
      </p:sp>
      <p:sp>
        <p:nvSpPr>
          <p:cNvPr id="911392" name="Rectangle 32">
            <a:extLst>
              <a:ext uri="{FF2B5EF4-FFF2-40B4-BE49-F238E27FC236}">
                <a16:creationId xmlns:a16="http://schemas.microsoft.com/office/drawing/2014/main" id="{031F60C5-4193-4807-9CDF-82744D0F5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3163888"/>
            <a:ext cx="665638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1740" tIns="0" rIns="6348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ea typeface="仿宋_GB2312" panose="02010609030101010101" pitchFamily="49" charset="-122"/>
              </a:rPr>
              <a:t>      </a:t>
            </a:r>
            <a:r>
              <a:rPr lang="zh-CN" altLang="en-US" sz="2400">
                <a:ea typeface="仿宋_GB2312" panose="02010609030101010101" pitchFamily="49" charset="-122"/>
              </a:rPr>
              <a:t>物体</a:t>
            </a:r>
            <a:r>
              <a:rPr lang="zh-CN" altLang="en-US" sz="2400">
                <a:solidFill>
                  <a:srgbClr val="FF0000"/>
                </a:solidFill>
                <a:ea typeface="仿宋_GB2312" panose="02010609030101010101" pitchFamily="49" charset="-122"/>
              </a:rPr>
              <a:t>吸收</a:t>
            </a:r>
            <a:r>
              <a:rPr lang="zh-CN" altLang="en-US" sz="2400">
                <a:ea typeface="仿宋_GB2312" panose="02010609030101010101" pitchFamily="49" charset="-122"/>
              </a:rPr>
              <a:t>（或</a:t>
            </a:r>
            <a:r>
              <a:rPr lang="zh-CN" altLang="en-US" sz="2400">
                <a:solidFill>
                  <a:srgbClr val="0000FF"/>
                </a:solidFill>
                <a:ea typeface="仿宋_GB2312" panose="02010609030101010101" pitchFamily="49" charset="-122"/>
              </a:rPr>
              <a:t>反射</a:t>
            </a:r>
            <a:r>
              <a:rPr lang="zh-CN" altLang="en-US" sz="2400">
                <a:ea typeface="仿宋_GB2312" panose="02010609030101010101" pitchFamily="49" charset="-122"/>
              </a:rPr>
              <a:t>）的能量与入射的能量之比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ea typeface="仿宋_GB2312" panose="02010609030101010101" pitchFamily="49" charset="-122"/>
              </a:rPr>
              <a:t>------</a:t>
            </a:r>
            <a:r>
              <a:rPr lang="zh-CN" altLang="en-US" sz="2400">
                <a:solidFill>
                  <a:srgbClr val="FF0000"/>
                </a:solidFill>
                <a:ea typeface="仿宋_GB2312" panose="02010609030101010101" pitchFamily="49" charset="-122"/>
              </a:rPr>
              <a:t>吸收比</a:t>
            </a:r>
            <a:r>
              <a:rPr lang="zh-CN" altLang="en-US" sz="2400">
                <a:ea typeface="仿宋_GB2312" panose="02010609030101010101" pitchFamily="49" charset="-122"/>
              </a:rPr>
              <a:t>（或</a:t>
            </a:r>
            <a:r>
              <a:rPr lang="zh-CN" altLang="en-US" sz="2400">
                <a:solidFill>
                  <a:srgbClr val="0000FF"/>
                </a:solidFill>
                <a:ea typeface="仿宋_GB2312" panose="02010609030101010101" pitchFamily="49" charset="-122"/>
              </a:rPr>
              <a:t>反射比</a:t>
            </a:r>
            <a:r>
              <a:rPr lang="zh-CN" altLang="en-US" sz="2400">
                <a:ea typeface="仿宋_GB2312" panose="02010609030101010101" pitchFamily="49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1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1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1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1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91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73" grpId="0" build="p"/>
      <p:bldP spid="911383" grpId="0"/>
      <p:bldP spid="911387" grpId="0" build="p"/>
      <p:bldP spid="911390" grpId="0"/>
      <p:bldP spid="91139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>
            <a:extLst>
              <a:ext uri="{FF2B5EF4-FFF2-40B4-BE49-F238E27FC236}">
                <a16:creationId xmlns:a16="http://schemas.microsoft.com/office/drawing/2014/main" id="{F236F3EE-9101-4860-BE3D-0F11969EC9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6D925D-F908-44EA-9C57-ED804C6C8707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zh-CN" altLang="zh-CN" sz="1400"/>
          </a:p>
        </p:txBody>
      </p:sp>
      <p:sp>
        <p:nvSpPr>
          <p:cNvPr id="912391" name="Text Box 7">
            <a:extLst>
              <a:ext uri="{FF2B5EF4-FFF2-40B4-BE49-F238E27FC236}">
                <a16:creationId xmlns:a16="http://schemas.microsoft.com/office/drawing/2014/main" id="{FEA72604-83C2-4FD0-991A-77B7DAF67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1" y="1594502"/>
            <a:ext cx="62198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讨论 平衡热辐射的规律 </a:t>
            </a:r>
          </a:p>
        </p:txBody>
      </p:sp>
      <p:sp>
        <p:nvSpPr>
          <p:cNvPr id="912392" name="Text Box 8">
            <a:extLst>
              <a:ext uri="{FF2B5EF4-FFF2-40B4-BE49-F238E27FC236}">
                <a16:creationId xmlns:a16="http://schemas.microsoft.com/office/drawing/2014/main" id="{EF427A29-17D4-4938-B5CC-02A958613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068638"/>
            <a:ext cx="4824412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1. </a:t>
            </a: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黑体</a:t>
            </a:r>
          </a:p>
        </p:txBody>
      </p:sp>
      <p:sp>
        <p:nvSpPr>
          <p:cNvPr id="912393" name="Text Box 9">
            <a:extLst>
              <a:ext uri="{FF2B5EF4-FFF2-40B4-BE49-F238E27FC236}">
                <a16:creationId xmlns:a16="http://schemas.microsoft.com/office/drawing/2014/main" id="{6EBF6F58-ED61-49AC-BEB0-75814FDED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671888"/>
            <a:ext cx="8834437" cy="895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kumimoji="1"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         </a:t>
            </a:r>
            <a:r>
              <a:rPr kumimoji="1"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在任何温度下、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对任何波长的热辐射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吸收比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均为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的物体，</a:t>
            </a:r>
          </a:p>
          <a:p>
            <a:pPr>
              <a:lnSpc>
                <a:spcPct val="110000"/>
              </a:lnSpc>
              <a:defRPr/>
            </a:pPr>
            <a:r>
              <a:rPr kumimoji="1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称为</a:t>
            </a:r>
            <a:r>
              <a:rPr kumimoji="1"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绝对黑体</a:t>
            </a:r>
            <a:r>
              <a:rPr kumimoji="1"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</a:t>
            </a:r>
            <a:r>
              <a:rPr kumimoji="1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黑体</a:t>
            </a:r>
            <a:r>
              <a:rPr kumimoji="1"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  <a:r>
              <a:rPr kumimoji="1"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。</a:t>
            </a:r>
          </a:p>
        </p:txBody>
      </p:sp>
      <p:sp>
        <p:nvSpPr>
          <p:cNvPr id="912394" name="Rectangle 10">
            <a:extLst>
              <a:ext uri="{FF2B5EF4-FFF2-40B4-BE49-F238E27FC236}">
                <a16:creationId xmlns:a16="http://schemas.microsoft.com/office/drawing/2014/main" id="{58A6E2CC-A255-4D8D-AA3C-084DDAC49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420938"/>
            <a:ext cx="4897438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二、黑体辐射的实验规律</a:t>
            </a:r>
          </a:p>
        </p:txBody>
      </p:sp>
      <p:sp>
        <p:nvSpPr>
          <p:cNvPr id="912395" name="Text Box 11">
            <a:extLst>
              <a:ext uri="{FF2B5EF4-FFF2-40B4-BE49-F238E27FC236}">
                <a16:creationId xmlns:a16="http://schemas.microsoft.com/office/drawing/2014/main" id="{809A5ACD-0153-40BF-BCD3-4103AECC1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1" y="540402"/>
            <a:ext cx="8604250" cy="895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      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相同时间内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辐射和吸收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的能量恰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相等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时，物体处于温度不变的</a:t>
            </a:r>
            <a:r>
              <a:rPr kumimoji="1" lang="zh-CN" altLang="en-US" u="sng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热平衡状态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。这时的热辐射</a:t>
            </a:r>
            <a:r>
              <a:rPr kumimoji="1"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------</a:t>
            </a:r>
            <a:r>
              <a:rPr kumimoji="1" lang="zh-CN" altLang="en-US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平衡热辐射。</a:t>
            </a:r>
          </a:p>
        </p:txBody>
      </p:sp>
      <p:sp>
        <p:nvSpPr>
          <p:cNvPr id="912403" name="Text Box 19">
            <a:extLst>
              <a:ext uri="{FF2B5EF4-FFF2-40B4-BE49-F238E27FC236}">
                <a16:creationId xmlns:a16="http://schemas.microsoft.com/office/drawing/2014/main" id="{E8D32770-4C96-4039-8758-94D025FDB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660900"/>
            <a:ext cx="80279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>
                <a:srgbClr val="FF6600"/>
              </a:buClr>
              <a:buFont typeface="Wingdings" panose="05000000000000000000" pitchFamily="2" charset="2"/>
              <a:buBlip>
                <a:blip r:embed="rId3"/>
              </a:buBlip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理想模型    实际中的物体吸收比</a:t>
            </a:r>
            <a:r>
              <a:rPr kumimoji="1" lang="zh-CN" altLang="en-US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 </a:t>
            </a:r>
            <a:r>
              <a:rPr kumimoji="1"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总是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小于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1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。</a:t>
            </a:r>
          </a:p>
        </p:txBody>
      </p:sp>
      <p:sp>
        <p:nvSpPr>
          <p:cNvPr id="912405" name="Text Box 21">
            <a:extLst>
              <a:ext uri="{FF2B5EF4-FFF2-40B4-BE49-F238E27FC236}">
                <a16:creationId xmlns:a16="http://schemas.microsoft.com/office/drawing/2014/main" id="{01A3E958-66B7-4A51-A27A-D73CCC2DE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195888"/>
            <a:ext cx="26352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抛光的铜镜表面：</a:t>
            </a:r>
          </a:p>
        </p:txBody>
      </p:sp>
      <p:sp>
        <p:nvSpPr>
          <p:cNvPr id="912406" name="Text Box 22">
            <a:extLst>
              <a:ext uri="{FF2B5EF4-FFF2-40B4-BE49-F238E27FC236}">
                <a16:creationId xmlns:a16="http://schemas.microsoft.com/office/drawing/2014/main" id="{36D79D18-F1EA-455E-8A39-37A3CD8FD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678488"/>
            <a:ext cx="23288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一般金属表面：</a:t>
            </a:r>
          </a:p>
        </p:txBody>
      </p:sp>
      <p:sp>
        <p:nvSpPr>
          <p:cNvPr id="912407" name="Text Box 23">
            <a:extLst>
              <a:ext uri="{FF2B5EF4-FFF2-40B4-BE49-F238E27FC236}">
                <a16:creationId xmlns:a16="http://schemas.microsoft.com/office/drawing/2014/main" id="{90725E36-60E2-4109-9DCE-1B22B37F0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6211888"/>
            <a:ext cx="11033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煤烟：</a:t>
            </a:r>
          </a:p>
        </p:txBody>
      </p:sp>
      <p:graphicFrame>
        <p:nvGraphicFramePr>
          <p:cNvPr id="912408" name="Object 24">
            <a:extLst>
              <a:ext uri="{FF2B5EF4-FFF2-40B4-BE49-F238E27FC236}">
                <a16:creationId xmlns:a16="http://schemas.microsoft.com/office/drawing/2014/main" id="{8F38DE25-8A5D-4938-B194-6390B3134846}"/>
              </a:ext>
            </a:extLst>
          </p:cNvPr>
          <p:cNvGraphicFramePr>
            <a:graphicFrameLocks/>
          </p:cNvGraphicFramePr>
          <p:nvPr/>
        </p:nvGraphicFramePr>
        <p:xfrm>
          <a:off x="3848100" y="5249863"/>
          <a:ext cx="12319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6" r:id="rId4" imgW="542829" imgH="152468" progId="Equation.DSMT4">
                  <p:embed/>
                </p:oleObj>
              </mc:Choice>
              <mc:Fallback>
                <p:oleObj r:id="rId4" imgW="542829" imgH="152468" progId="Equation.DSMT4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5249863"/>
                        <a:ext cx="12319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2409" name="Object 25">
            <a:extLst>
              <a:ext uri="{FF2B5EF4-FFF2-40B4-BE49-F238E27FC236}">
                <a16:creationId xmlns:a16="http://schemas.microsoft.com/office/drawing/2014/main" id="{2A1CA875-BE1B-4744-B0CB-C02547B940E2}"/>
              </a:ext>
            </a:extLst>
          </p:cNvPr>
          <p:cNvGraphicFramePr>
            <a:graphicFrameLocks/>
          </p:cNvGraphicFramePr>
          <p:nvPr/>
        </p:nvGraphicFramePr>
        <p:xfrm>
          <a:off x="3798888" y="5730875"/>
          <a:ext cx="16684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7" r:id="rId6" imgW="781063" imgH="152468" progId="Equation.DSMT4">
                  <p:embed/>
                </p:oleObj>
              </mc:Choice>
              <mc:Fallback>
                <p:oleObj r:id="rId6" imgW="781063" imgH="152468" progId="Equation.DSMT4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888" y="5730875"/>
                        <a:ext cx="166846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2411" name="Object 27">
            <a:extLst>
              <a:ext uri="{FF2B5EF4-FFF2-40B4-BE49-F238E27FC236}">
                <a16:creationId xmlns:a16="http://schemas.microsoft.com/office/drawing/2014/main" id="{D0C7DC29-8EF0-4B95-8D88-E36005233B37}"/>
              </a:ext>
            </a:extLst>
          </p:cNvPr>
          <p:cNvGraphicFramePr>
            <a:graphicFrameLocks/>
          </p:cNvGraphicFramePr>
          <p:nvPr/>
        </p:nvGraphicFramePr>
        <p:xfrm>
          <a:off x="3779838" y="6208713"/>
          <a:ext cx="12969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8" r:id="rId8" imgW="542829" imgH="152468" progId="Equation.3">
                  <p:embed/>
                </p:oleObj>
              </mc:Choice>
              <mc:Fallback>
                <p:oleObj r:id="rId8" imgW="542829" imgH="152468" progId="Equation.3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6208713"/>
                        <a:ext cx="12969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1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1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1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1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1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1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1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1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91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91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91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91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391" grpId="0" build="p"/>
      <p:bldP spid="912392" grpId="0"/>
      <p:bldP spid="912393" grpId="0"/>
      <p:bldP spid="912394" grpId="0"/>
      <p:bldP spid="912395" grpId="0"/>
      <p:bldP spid="912403" grpId="0"/>
      <p:bldP spid="912405" grpId="0"/>
      <p:bldP spid="912406" grpId="0"/>
      <p:bldP spid="91240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>
            <a:extLst>
              <a:ext uri="{FF2B5EF4-FFF2-40B4-BE49-F238E27FC236}">
                <a16:creationId xmlns:a16="http://schemas.microsoft.com/office/drawing/2014/main" id="{ED05E876-D273-42DB-89BF-C42180078E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CBC78A-C492-4BCA-A333-F9078CB2A4E6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zh-CN" altLang="zh-CN" sz="1400"/>
          </a:p>
        </p:txBody>
      </p:sp>
      <p:sp>
        <p:nvSpPr>
          <p:cNvPr id="913428" name="Text Box 20">
            <a:extLst>
              <a:ext uri="{FF2B5EF4-FFF2-40B4-BE49-F238E27FC236}">
                <a16:creationId xmlns:a16="http://schemas.microsoft.com/office/drawing/2014/main" id="{7CEE3A37-5D26-44EC-BAB4-3160A7288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3375"/>
            <a:ext cx="8208962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FF6600"/>
              </a:buClr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黑体模型</a:t>
            </a:r>
            <a:r>
              <a:rPr kumimoji="1" lang="en-US" altLang="zh-CN">
                <a:solidFill>
                  <a:srgbClr val="0099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----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一个不透明的空腔开有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小孔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可近似看成</a:t>
            </a:r>
          </a:p>
          <a:p>
            <a:pPr eaLnBrk="1" hangingPunct="1">
              <a:buClr>
                <a:srgbClr val="FF6600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                        理想的 黑体。</a:t>
            </a:r>
          </a:p>
        </p:txBody>
      </p:sp>
      <p:sp>
        <p:nvSpPr>
          <p:cNvPr id="913429" name="Text Box 21">
            <a:extLst>
              <a:ext uri="{FF2B5EF4-FFF2-40B4-BE49-F238E27FC236}">
                <a16:creationId xmlns:a16="http://schemas.microsoft.com/office/drawing/2014/main" id="{2FCA6105-093C-467A-A025-3D8B00CDC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" y="4838700"/>
            <a:ext cx="802798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>
                <a:srgbClr val="FF6600"/>
              </a:buClr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黑体只是</a:t>
            </a:r>
            <a:r>
              <a:rPr kumimoji="1" lang="zh-CN" alt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</a:t>
            </a:r>
            <a:r>
              <a:rPr kumimoji="1" lang="zh-CN" altLang="en-US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=1</a:t>
            </a:r>
            <a:r>
              <a:rPr kumimoji="1"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，并不一定是黑色的（如太阳）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。</a:t>
            </a:r>
            <a:endParaRPr kumimoji="1" lang="zh-CN" altLang="en-US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913431" name="Arc 23">
            <a:extLst>
              <a:ext uri="{FF2B5EF4-FFF2-40B4-BE49-F238E27FC236}">
                <a16:creationId xmlns:a16="http://schemas.microsoft.com/office/drawing/2014/main" id="{A983079A-89CE-4A98-9ACB-F39878ACAFCF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900113" y="1628775"/>
            <a:ext cx="3657600" cy="2057400"/>
          </a:xfrm>
          <a:custGeom>
            <a:avLst/>
            <a:gdLst>
              <a:gd name="T0" fmla="*/ 2147483646 w 43200"/>
              <a:gd name="T1" fmla="*/ 2147483646 h 43200"/>
              <a:gd name="T2" fmla="*/ 2147483646 w 43200"/>
              <a:gd name="T3" fmla="*/ 2147483646 h 43200"/>
              <a:gd name="T4" fmla="*/ 0 w 43200"/>
              <a:gd name="T5" fmla="*/ 2147483646 h 43200"/>
              <a:gd name="T6" fmla="*/ 2147483646 w 43200"/>
              <a:gd name="T7" fmla="*/ 0 h 43200"/>
              <a:gd name="T8" fmla="*/ 2147483646 w 43200"/>
              <a:gd name="T9" fmla="*/ 2147483646 h 43200"/>
              <a:gd name="T10" fmla="*/ 2147483646 w 43200"/>
              <a:gd name="T11" fmla="*/ 2147483646 h 43200"/>
              <a:gd name="T12" fmla="*/ 2147483646 w 43200"/>
              <a:gd name="T13" fmla="*/ 2147483646 h 43200"/>
              <a:gd name="T14" fmla="*/ 2147483646 w 43200"/>
              <a:gd name="T15" fmla="*/ 2147483646 h 43200"/>
              <a:gd name="T16" fmla="*/ 0 w 43200"/>
              <a:gd name="T17" fmla="*/ 2147483646 h 43200"/>
              <a:gd name="T18" fmla="*/ 2147483646 w 43200"/>
              <a:gd name="T19" fmla="*/ 0 h 43200"/>
              <a:gd name="T20" fmla="*/ 2147483646 w 43200"/>
              <a:gd name="T21" fmla="*/ 2147483646 h 43200"/>
              <a:gd name="T22" fmla="*/ 2147483646 w 43200"/>
              <a:gd name="T23" fmla="*/ 2147483646 h 43200"/>
              <a:gd name="T24" fmla="*/ 2147483646 w 43200"/>
              <a:gd name="T25" fmla="*/ 2147483646 h 432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43200" h="43200" fill="none">
                <a:moveTo>
                  <a:pt x="31172" y="40962"/>
                </a:moveTo>
                <a:cubicBezTo>
                  <a:pt x="28196" y="42434"/>
                  <a:pt x="2492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9539"/>
                  <a:pt x="38844" y="36838"/>
                  <a:pt x="31857" y="40608"/>
                </a:cubicBezTo>
              </a:path>
              <a:path w="43200" h="43200" stroke="0">
                <a:moveTo>
                  <a:pt x="31172" y="40962"/>
                </a:moveTo>
                <a:cubicBezTo>
                  <a:pt x="28196" y="42434"/>
                  <a:pt x="2492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9539"/>
                  <a:pt x="38844" y="36838"/>
                  <a:pt x="31857" y="40608"/>
                </a:cubicBezTo>
                <a:lnTo>
                  <a:pt x="21600" y="21600"/>
                </a:lnTo>
                <a:lnTo>
                  <a:pt x="31172" y="40962"/>
                </a:lnTo>
                <a:close/>
              </a:path>
            </a:pathLst>
          </a:custGeom>
          <a:noFill/>
          <a:ln w="88900">
            <a:solidFill>
              <a:schemeClr val="bg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3432" name="Line 24">
            <a:extLst>
              <a:ext uri="{FF2B5EF4-FFF2-40B4-BE49-F238E27FC236}">
                <a16:creationId xmlns:a16="http://schemas.microsoft.com/office/drawing/2014/main" id="{F7BD5A2E-098F-46B1-96F7-ACA63184D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8125" y="1322388"/>
            <a:ext cx="2209800" cy="2209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3433" name="Line 25">
            <a:extLst>
              <a:ext uri="{FF2B5EF4-FFF2-40B4-BE49-F238E27FC236}">
                <a16:creationId xmlns:a16="http://schemas.microsoft.com/office/drawing/2014/main" id="{D66EFB1A-3472-44CE-B6E6-CD40CBBFAE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9513" y="1781175"/>
            <a:ext cx="0" cy="1676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3434" name="Line 26">
            <a:extLst>
              <a:ext uri="{FF2B5EF4-FFF2-40B4-BE49-F238E27FC236}">
                <a16:creationId xmlns:a16="http://schemas.microsoft.com/office/drawing/2014/main" id="{656CBF87-907A-4DB9-A224-B5B0E9C228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1713" y="1857375"/>
            <a:ext cx="1447800" cy="1828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3435" name="Line 27">
            <a:extLst>
              <a:ext uri="{FF2B5EF4-FFF2-40B4-BE49-F238E27FC236}">
                <a16:creationId xmlns:a16="http://schemas.microsoft.com/office/drawing/2014/main" id="{151D9B7B-AD39-48D7-BC0B-48354BE3EB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81113" y="2085975"/>
            <a:ext cx="990600" cy="1447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3436" name="Line 28">
            <a:extLst>
              <a:ext uri="{FF2B5EF4-FFF2-40B4-BE49-F238E27FC236}">
                <a16:creationId xmlns:a16="http://schemas.microsoft.com/office/drawing/2014/main" id="{0152A0A6-0455-444D-9C54-2B1404B041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6313" y="2162175"/>
            <a:ext cx="30480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3437" name="Line 29">
            <a:extLst>
              <a:ext uri="{FF2B5EF4-FFF2-40B4-BE49-F238E27FC236}">
                <a16:creationId xmlns:a16="http://schemas.microsoft.com/office/drawing/2014/main" id="{DE9D3807-8B3B-4836-8344-7ABB164D9B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33513" y="1628775"/>
            <a:ext cx="1524000" cy="1828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3438" name="Line 30">
            <a:extLst>
              <a:ext uri="{FF2B5EF4-FFF2-40B4-BE49-F238E27FC236}">
                <a16:creationId xmlns:a16="http://schemas.microsoft.com/office/drawing/2014/main" id="{41914C3E-F409-4387-A8F3-153E89FF16C5}"/>
              </a:ext>
            </a:extLst>
          </p:cNvPr>
          <p:cNvSpPr>
            <a:spLocks noChangeShapeType="1"/>
          </p:cNvSpPr>
          <p:nvPr/>
        </p:nvSpPr>
        <p:spPr bwMode="auto">
          <a:xfrm>
            <a:off x="976313" y="2619375"/>
            <a:ext cx="32766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3439" name="Line 31">
            <a:extLst>
              <a:ext uri="{FF2B5EF4-FFF2-40B4-BE49-F238E27FC236}">
                <a16:creationId xmlns:a16="http://schemas.microsoft.com/office/drawing/2014/main" id="{54665EE7-8FE5-4058-B2F9-430E418C5C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57513" y="1628775"/>
            <a:ext cx="1219200" cy="1600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3440" name="Text Box 32">
            <a:extLst>
              <a:ext uri="{FF2B5EF4-FFF2-40B4-BE49-F238E27FC236}">
                <a16:creationId xmlns:a16="http://schemas.microsoft.com/office/drawing/2014/main" id="{09BBCDA9-0CBF-4548-86AC-DF2583443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76700"/>
            <a:ext cx="4608512" cy="45720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观察远处打开的窗子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----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近似黑体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1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1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1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1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1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1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13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91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3429" grpId="0"/>
      <p:bldP spid="91344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>
            <a:extLst>
              <a:ext uri="{FF2B5EF4-FFF2-40B4-BE49-F238E27FC236}">
                <a16:creationId xmlns:a16="http://schemas.microsoft.com/office/drawing/2014/main" id="{C9C4A897-0E01-429C-B70D-13AFBA4254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A7DDEF-E5C9-4BA5-B7AC-32038957F09A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zh-CN" altLang="zh-CN" sz="1400"/>
          </a:p>
        </p:txBody>
      </p:sp>
      <p:sp>
        <p:nvSpPr>
          <p:cNvPr id="914434" name="Text Box 2">
            <a:extLst>
              <a:ext uri="{FF2B5EF4-FFF2-40B4-BE49-F238E27FC236}">
                <a16:creationId xmlns:a16="http://schemas.microsoft.com/office/drawing/2014/main" id="{721CD6A1-E13C-4521-96CD-C3BB2B26BD3E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84163" y="115888"/>
            <a:ext cx="7888287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2. </a:t>
            </a: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基尔霍夫定律（</a:t>
            </a:r>
            <a:r>
              <a:rPr kumimoji="1" lang="en-US" altLang="zh-CN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Kirchhoff’s Law</a:t>
            </a: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）</a:t>
            </a:r>
            <a:r>
              <a:rPr kumimoji="1" lang="en-US" altLang="zh-CN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(1859</a:t>
            </a: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年</a:t>
            </a:r>
            <a:r>
              <a:rPr kumimoji="1" lang="en-US" altLang="zh-CN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)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C4D7559D-ADEF-42EF-B56B-0F876CE2A13B}"/>
              </a:ext>
            </a:extLst>
          </p:cNvPr>
          <p:cNvGrpSpPr>
            <a:grpSpLocks/>
          </p:cNvGrpSpPr>
          <p:nvPr/>
        </p:nvGrpSpPr>
        <p:grpSpPr bwMode="auto">
          <a:xfrm>
            <a:off x="7131050" y="2997200"/>
            <a:ext cx="1905000" cy="2070100"/>
            <a:chOff x="720" y="1768"/>
            <a:chExt cx="1200" cy="1304"/>
          </a:xfrm>
        </p:grpSpPr>
        <p:sp>
          <p:nvSpPr>
            <p:cNvPr id="18449" name="Oval 4">
              <a:extLst>
                <a:ext uri="{FF2B5EF4-FFF2-40B4-BE49-F238E27FC236}">
                  <a16:creationId xmlns:a16="http://schemas.microsoft.com/office/drawing/2014/main" id="{19E048D1-AB23-4D48-AD73-3090E35A6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" y="2009"/>
              <a:ext cx="198" cy="22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8450" name="Oval 5">
              <a:extLst>
                <a:ext uri="{FF2B5EF4-FFF2-40B4-BE49-F238E27FC236}">
                  <a16:creationId xmlns:a16="http://schemas.microsoft.com/office/drawing/2014/main" id="{EA031172-60A1-4C69-B1FD-3EB118C89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" y="2082"/>
              <a:ext cx="226" cy="44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914438" name="Oval 6">
              <a:extLst>
                <a:ext uri="{FF2B5EF4-FFF2-40B4-BE49-F238E27FC236}">
                  <a16:creationId xmlns:a16="http://schemas.microsoft.com/office/drawing/2014/main" id="{57B86093-A635-438E-99C3-CF0E1326C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768"/>
              <a:ext cx="1200" cy="1304"/>
            </a:xfrm>
            <a:prstGeom prst="ellipse">
              <a:avLst/>
            </a:prstGeom>
            <a:noFill/>
            <a:ln w="76200">
              <a:solidFill>
                <a:srgbClr val="993366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kumimoji="1" lang="zh-CN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endParaRPr>
            </a:p>
          </p:txBody>
        </p:sp>
        <p:sp>
          <p:nvSpPr>
            <p:cNvPr id="18452" name="Oval 7">
              <a:extLst>
                <a:ext uri="{FF2B5EF4-FFF2-40B4-BE49-F238E27FC236}">
                  <a16:creationId xmlns:a16="http://schemas.microsoft.com/office/drawing/2014/main" id="{132A25D4-1727-4CA4-A699-A3664CFBD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" y="2621"/>
              <a:ext cx="240" cy="274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8453" name="Oval 8">
              <a:extLst>
                <a:ext uri="{FF2B5EF4-FFF2-40B4-BE49-F238E27FC236}">
                  <a16:creationId xmlns:a16="http://schemas.microsoft.com/office/drawing/2014/main" id="{6E50A010-3690-435C-9FC8-8F5D334C5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" y="2256"/>
              <a:ext cx="339" cy="32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914441" name="Text Box 9">
              <a:extLst>
                <a:ext uri="{FF2B5EF4-FFF2-40B4-BE49-F238E27FC236}">
                  <a16:creationId xmlns:a16="http://schemas.microsoft.com/office/drawing/2014/main" id="{054D85D3-705F-4588-8222-F9BA91273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9" y="1954"/>
              <a:ext cx="261" cy="2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14442" name="Text Box 10">
              <a:extLst>
                <a:ext uri="{FF2B5EF4-FFF2-40B4-BE49-F238E27FC236}">
                  <a16:creationId xmlns:a16="http://schemas.microsoft.com/office/drawing/2014/main" id="{71E8895A-3C61-4BE8-B694-3DD41A411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2112"/>
              <a:ext cx="261" cy="2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914443" name="Text Box 11">
              <a:extLst>
                <a:ext uri="{FF2B5EF4-FFF2-40B4-BE49-F238E27FC236}">
                  <a16:creationId xmlns:a16="http://schemas.microsoft.com/office/drawing/2014/main" id="{EBCFF0F6-9D7B-4E34-9891-A757D5CC3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2592"/>
              <a:ext cx="340" cy="2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914444" name="Text Box 12">
              <a:extLst>
                <a:ext uri="{FF2B5EF4-FFF2-40B4-BE49-F238E27FC236}">
                  <a16:creationId xmlns:a16="http://schemas.microsoft.com/office/drawing/2014/main" id="{383C6202-6911-446B-9547-F6B6690DB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228"/>
              <a:ext cx="360" cy="36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kumimoji="1" lang="zh-CN" altLang="en-US" sz="1800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黑体</a:t>
              </a:r>
            </a:p>
          </p:txBody>
        </p:sp>
        <p:sp>
          <p:nvSpPr>
            <p:cNvPr id="914445" name="Text Box 13">
              <a:extLst>
                <a:ext uri="{FF2B5EF4-FFF2-40B4-BE49-F238E27FC236}">
                  <a16:creationId xmlns:a16="http://schemas.microsoft.com/office/drawing/2014/main" id="{D34296A8-5B4E-4C9E-ADBD-DC0FE76A5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2" y="2155"/>
              <a:ext cx="438" cy="34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i="1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T</a:t>
              </a:r>
            </a:p>
          </p:txBody>
        </p:sp>
      </p:grpSp>
      <p:sp>
        <p:nvSpPr>
          <p:cNvPr id="914446" name="Text Box 14">
            <a:extLst>
              <a:ext uri="{FF2B5EF4-FFF2-40B4-BE49-F238E27FC236}">
                <a16:creationId xmlns:a16="http://schemas.microsoft.com/office/drawing/2014/main" id="{AE0AD6B7-8DDF-41DE-B21F-44358F61E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4589463"/>
            <a:ext cx="2419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定律表明：</a:t>
            </a:r>
          </a:p>
        </p:txBody>
      </p:sp>
      <p:sp>
        <p:nvSpPr>
          <p:cNvPr id="914447" name="Text Box 15">
            <a:extLst>
              <a:ext uri="{FF2B5EF4-FFF2-40B4-BE49-F238E27FC236}">
                <a16:creationId xmlns:a16="http://schemas.microsoft.com/office/drawing/2014/main" id="{4A6FC921-6B61-467E-87E0-E524C9C59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5132388"/>
            <a:ext cx="640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1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）好的辐射体也是好的吸收体</a:t>
            </a:r>
          </a:p>
        </p:txBody>
      </p:sp>
      <p:sp>
        <p:nvSpPr>
          <p:cNvPr id="914449" name="Text Box 17">
            <a:extLst>
              <a:ext uri="{FF2B5EF4-FFF2-40B4-BE49-F238E27FC236}">
                <a16:creationId xmlns:a16="http://schemas.microsoft.com/office/drawing/2014/main" id="{07FBD8F8-6490-44F4-8B6A-A9F43B902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92150"/>
            <a:ext cx="57531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平衡热辐射时有：</a:t>
            </a:r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CFF79BB9-3BC1-48A4-A173-2051A0A7073B}"/>
              </a:ext>
            </a:extLst>
          </p:cNvPr>
          <p:cNvGrpSpPr>
            <a:grpSpLocks/>
          </p:cNvGrpSpPr>
          <p:nvPr/>
        </p:nvGrpSpPr>
        <p:grpSpPr bwMode="auto">
          <a:xfrm>
            <a:off x="841375" y="2276475"/>
            <a:ext cx="6064250" cy="1060450"/>
            <a:chOff x="251" y="1616"/>
            <a:chExt cx="5101" cy="888"/>
          </a:xfrm>
        </p:grpSpPr>
        <p:sp>
          <p:nvSpPr>
            <p:cNvPr id="914451" name="Rectangle 19">
              <a:extLst>
                <a:ext uri="{FF2B5EF4-FFF2-40B4-BE49-F238E27FC236}">
                  <a16:creationId xmlns:a16="http://schemas.microsoft.com/office/drawing/2014/main" id="{CEA8A863-0756-4688-A37B-45B54301CBF5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51" y="1616"/>
              <a:ext cx="5101" cy="861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bg1"/>
                </a:gs>
                <a:gs pos="100000">
                  <a:srgbClr val="CCFFFF"/>
                </a:gs>
              </a:gsLst>
              <a:lin ang="5400000" scaled="1"/>
            </a:gradFill>
            <a:ln w="38100" cmpd="dbl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graphicFrame>
          <p:nvGraphicFramePr>
            <p:cNvPr id="18448" name="Object 20">
              <a:extLst>
                <a:ext uri="{FF2B5EF4-FFF2-40B4-BE49-F238E27FC236}">
                  <a16:creationId xmlns:a16="http://schemas.microsoft.com/office/drawing/2014/main" id="{0465D536-0EDE-443C-B1D7-00678D996A5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84" y="1632"/>
            <a:ext cx="5012" cy="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5" r:id="rId3" imgW="2990914" imgH="419134" progId="Equation.DSMT4">
                    <p:embed/>
                  </p:oleObj>
                </mc:Choice>
                <mc:Fallback>
                  <p:oleObj r:id="rId3" imgW="2990914" imgH="419134" progId="Equation.DSMT4">
                    <p:embed/>
                    <p:pic>
                      <p:nvPicPr>
                        <p:cNvPr id="0" name="Object 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" y="1632"/>
                          <a:ext cx="5012" cy="8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14453" name="Text Box 21">
            <a:extLst>
              <a:ext uri="{FF2B5EF4-FFF2-40B4-BE49-F238E27FC236}">
                <a16:creationId xmlns:a16="http://schemas.microsoft.com/office/drawing/2014/main" id="{A1CCD2A2-4FA2-4C4C-A325-4BB7AAC5B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96975"/>
            <a:ext cx="8088312" cy="860425"/>
          </a:xfrm>
          <a:prstGeom prst="rect">
            <a:avLst/>
          </a:prstGeom>
          <a:noFill/>
          <a:ln w="38100" cmpd="dbl">
            <a:solidFill>
              <a:srgbClr val="006699"/>
            </a:solidFill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任何物体的单色辐射出射度与单色吸收比的比值</a:t>
            </a:r>
            <a:r>
              <a:rPr kumimoji="1"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b="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是一个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与物体性质无关而</a:t>
            </a:r>
            <a:r>
              <a:rPr kumimoji="1" lang="zh-CN" altLang="en-US" b="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只与温度和辐射波长有关的普适函数。</a:t>
            </a:r>
          </a:p>
        </p:txBody>
      </p:sp>
      <p:graphicFrame>
        <p:nvGraphicFramePr>
          <p:cNvPr id="914454" name="Object 22">
            <a:extLst>
              <a:ext uri="{FF2B5EF4-FFF2-40B4-BE49-F238E27FC236}">
                <a16:creationId xmlns:a16="http://schemas.microsoft.com/office/drawing/2014/main" id="{44AD765A-EBA3-4433-A6A7-E4D43A0EA521}"/>
              </a:ext>
            </a:extLst>
          </p:cNvPr>
          <p:cNvGraphicFramePr>
            <a:graphicFrameLocks/>
          </p:cNvGraphicFramePr>
          <p:nvPr/>
        </p:nvGraphicFramePr>
        <p:xfrm>
          <a:off x="1463675" y="3500438"/>
          <a:ext cx="116046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6" r:id="rId5" imgW="504908" imgH="199923" progId="Equation.DSMT4">
                  <p:embed/>
                </p:oleObj>
              </mc:Choice>
              <mc:Fallback>
                <p:oleObj r:id="rId5" imgW="504908" imgH="199923" progId="Equation.DSMT4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675" y="3500438"/>
                        <a:ext cx="116046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4455" name="Text Box 23">
            <a:extLst>
              <a:ext uri="{FF2B5EF4-FFF2-40B4-BE49-F238E27FC236}">
                <a16:creationId xmlns:a16="http://schemas.microsoft.com/office/drawing/2014/main" id="{BCC038AA-F739-456B-9931-E34178D4917F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700338" y="3500438"/>
            <a:ext cx="29416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为黑体的单色辐出度</a:t>
            </a:r>
          </a:p>
        </p:txBody>
      </p:sp>
      <p:sp>
        <p:nvSpPr>
          <p:cNvPr id="914456" name="Text Box 24">
            <a:extLst>
              <a:ext uri="{FF2B5EF4-FFF2-40B4-BE49-F238E27FC236}">
                <a16:creationId xmlns:a16="http://schemas.microsoft.com/office/drawing/2014/main" id="{ABB28EED-AFAA-478F-BFFF-9B7E36C60AD7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700338" y="3952875"/>
            <a:ext cx="411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为黑体的单色吸收比（等于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1)</a:t>
            </a:r>
          </a:p>
        </p:txBody>
      </p:sp>
      <p:graphicFrame>
        <p:nvGraphicFramePr>
          <p:cNvPr id="914457" name="Object 25">
            <a:extLst>
              <a:ext uri="{FF2B5EF4-FFF2-40B4-BE49-F238E27FC236}">
                <a16:creationId xmlns:a16="http://schemas.microsoft.com/office/drawing/2014/main" id="{CBDA2708-4D13-439E-B0EF-1A52CA630B99}"/>
              </a:ext>
            </a:extLst>
          </p:cNvPr>
          <p:cNvGraphicFramePr>
            <a:graphicFrameLocks/>
          </p:cNvGraphicFramePr>
          <p:nvPr/>
        </p:nvGraphicFramePr>
        <p:xfrm>
          <a:off x="1382713" y="3932238"/>
          <a:ext cx="13779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7" r:id="rId7" imgW="533349" imgH="199923" progId="Equation.DSMT4">
                  <p:embed/>
                </p:oleObj>
              </mc:Choice>
              <mc:Fallback>
                <p:oleObj r:id="rId7" imgW="533349" imgH="199923" progId="Equation.DSMT4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2713" y="3932238"/>
                        <a:ext cx="13779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4458" name="Rectangle 26">
            <a:extLst>
              <a:ext uri="{FF2B5EF4-FFF2-40B4-BE49-F238E27FC236}">
                <a16:creationId xmlns:a16="http://schemas.microsoft.com/office/drawing/2014/main" id="{2C9F2631-B237-478E-8B06-02775E96841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979613" y="5635625"/>
            <a:ext cx="799306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2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）黑体是</a:t>
            </a:r>
            <a:r>
              <a:rPr kumimoji="1" lang="zh-CN" altLang="en-US" u="sng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完全的吸收体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因此也是</a:t>
            </a:r>
            <a:r>
              <a:rPr kumimoji="1" lang="zh-CN" altLang="en-US" u="sng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理想的辐射体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1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91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91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91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91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91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14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14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91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4446" grpId="0"/>
      <p:bldP spid="914447" grpId="0"/>
      <p:bldP spid="914449" grpId="0"/>
      <p:bldP spid="914453" grpId="0" animBg="1"/>
      <p:bldP spid="914455" grpId="0"/>
      <p:bldP spid="914456" grpId="0"/>
      <p:bldP spid="9144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>
            <a:extLst>
              <a:ext uri="{FF2B5EF4-FFF2-40B4-BE49-F238E27FC236}">
                <a16:creationId xmlns:a16="http://schemas.microsoft.com/office/drawing/2014/main" id="{8E50822A-1545-4A57-9BA8-1BAD902673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ED46B2-BF6F-4B58-BD5B-C705F0A0B6A2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zh-CN" altLang="zh-CN" sz="1400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82877074-0DED-4BF2-97FE-AC69823DCA2D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125538"/>
            <a:ext cx="3429000" cy="2747962"/>
            <a:chOff x="3424" y="1117"/>
            <a:chExt cx="2160" cy="1731"/>
          </a:xfrm>
        </p:grpSpPr>
        <p:grpSp>
          <p:nvGrpSpPr>
            <p:cNvPr id="19470" name="Group 4">
              <a:extLst>
                <a:ext uri="{FF2B5EF4-FFF2-40B4-BE49-F238E27FC236}">
                  <a16:creationId xmlns:a16="http://schemas.microsoft.com/office/drawing/2014/main" id="{EEB91060-79F5-4D5E-9B6F-87BC8BEB0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4" y="1117"/>
              <a:ext cx="2160" cy="1731"/>
              <a:chOff x="3424" y="1117"/>
              <a:chExt cx="2160" cy="1731"/>
            </a:xfrm>
          </p:grpSpPr>
          <p:sp>
            <p:nvSpPr>
              <p:cNvPr id="19472" name="Line 5">
                <a:extLst>
                  <a:ext uri="{FF2B5EF4-FFF2-40B4-BE49-F238E27FC236}">
                    <a16:creationId xmlns:a16="http://schemas.microsoft.com/office/drawing/2014/main" id="{51C48A09-70FA-4052-9F47-790640B9C4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60" y="1694"/>
                <a:ext cx="528" cy="385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9473" name="Group 6">
                <a:extLst>
                  <a:ext uri="{FF2B5EF4-FFF2-40B4-BE49-F238E27FC236}">
                    <a16:creationId xmlns:a16="http://schemas.microsoft.com/office/drawing/2014/main" id="{92F1F008-3713-41E1-B676-EF45677F22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24" y="1117"/>
                <a:ext cx="2160" cy="1731"/>
                <a:chOff x="480" y="2304"/>
                <a:chExt cx="2448" cy="1632"/>
              </a:xfrm>
            </p:grpSpPr>
            <p:sp>
              <p:nvSpPr>
                <p:cNvPr id="19482" name="Rectangle 7">
                  <a:extLst>
                    <a:ext uri="{FF2B5EF4-FFF2-40B4-BE49-F238E27FC236}">
                      <a16:creationId xmlns:a16="http://schemas.microsoft.com/office/drawing/2014/main" id="{E86446BB-470E-4624-821A-D29791D15C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0" y="2304"/>
                  <a:ext cx="2448" cy="16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9483" name="Rectangle 8">
                  <a:extLst>
                    <a:ext uri="{FF2B5EF4-FFF2-40B4-BE49-F238E27FC236}">
                      <a16:creationId xmlns:a16="http://schemas.microsoft.com/office/drawing/2014/main" id="{709795A9-7C42-4B6A-A520-24D727B784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2" y="2544"/>
                  <a:ext cx="1200" cy="1104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9484" name="Freeform 9">
                  <a:extLst>
                    <a:ext uri="{FF2B5EF4-FFF2-40B4-BE49-F238E27FC236}">
                      <a16:creationId xmlns:a16="http://schemas.microsoft.com/office/drawing/2014/main" id="{CE84DDAE-A1F5-43C5-887B-6D7C38C386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" y="2784"/>
                  <a:ext cx="1088" cy="736"/>
                </a:xfrm>
                <a:custGeom>
                  <a:avLst/>
                  <a:gdLst>
                    <a:gd name="T0" fmla="*/ 1032 w 1088"/>
                    <a:gd name="T1" fmla="*/ 293 h 656"/>
                    <a:gd name="T2" fmla="*/ 936 w 1088"/>
                    <a:gd name="T3" fmla="*/ 293 h 656"/>
                    <a:gd name="T4" fmla="*/ 744 w 1088"/>
                    <a:gd name="T5" fmla="*/ 293 h 656"/>
                    <a:gd name="T6" fmla="*/ 600 w 1088"/>
                    <a:gd name="T7" fmla="*/ 91 h 656"/>
                    <a:gd name="T8" fmla="*/ 264 w 1088"/>
                    <a:gd name="T9" fmla="*/ 22 h 656"/>
                    <a:gd name="T10" fmla="*/ 24 w 1088"/>
                    <a:gd name="T11" fmla="*/ 227 h 656"/>
                    <a:gd name="T12" fmla="*/ 120 w 1088"/>
                    <a:gd name="T13" fmla="*/ 836 h 656"/>
                    <a:gd name="T14" fmla="*/ 552 w 1088"/>
                    <a:gd name="T15" fmla="*/ 767 h 656"/>
                    <a:gd name="T16" fmla="*/ 792 w 1088"/>
                    <a:gd name="T17" fmla="*/ 497 h 656"/>
                    <a:gd name="T18" fmla="*/ 984 w 1088"/>
                    <a:gd name="T19" fmla="*/ 430 h 656"/>
                    <a:gd name="T20" fmla="*/ 1080 w 1088"/>
                    <a:gd name="T21" fmla="*/ 430 h 656"/>
                    <a:gd name="T22" fmla="*/ 1032 w 1088"/>
                    <a:gd name="T23" fmla="*/ 293 h 65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088" h="656">
                      <a:moveTo>
                        <a:pt x="1032" y="208"/>
                      </a:moveTo>
                      <a:cubicBezTo>
                        <a:pt x="1008" y="192"/>
                        <a:pt x="984" y="208"/>
                        <a:pt x="936" y="208"/>
                      </a:cubicBezTo>
                      <a:cubicBezTo>
                        <a:pt x="888" y="208"/>
                        <a:pt x="800" y="232"/>
                        <a:pt x="744" y="208"/>
                      </a:cubicBezTo>
                      <a:cubicBezTo>
                        <a:pt x="688" y="184"/>
                        <a:pt x="680" y="96"/>
                        <a:pt x="600" y="64"/>
                      </a:cubicBezTo>
                      <a:cubicBezTo>
                        <a:pt x="520" y="32"/>
                        <a:pt x="360" y="0"/>
                        <a:pt x="264" y="16"/>
                      </a:cubicBezTo>
                      <a:cubicBezTo>
                        <a:pt x="168" y="32"/>
                        <a:pt x="48" y="64"/>
                        <a:pt x="24" y="160"/>
                      </a:cubicBezTo>
                      <a:cubicBezTo>
                        <a:pt x="0" y="256"/>
                        <a:pt x="32" y="528"/>
                        <a:pt x="120" y="592"/>
                      </a:cubicBezTo>
                      <a:cubicBezTo>
                        <a:pt x="208" y="656"/>
                        <a:pt x="440" y="584"/>
                        <a:pt x="552" y="544"/>
                      </a:cubicBezTo>
                      <a:cubicBezTo>
                        <a:pt x="664" y="504"/>
                        <a:pt x="720" y="392"/>
                        <a:pt x="792" y="352"/>
                      </a:cubicBezTo>
                      <a:cubicBezTo>
                        <a:pt x="864" y="312"/>
                        <a:pt x="936" y="312"/>
                        <a:pt x="984" y="304"/>
                      </a:cubicBezTo>
                      <a:cubicBezTo>
                        <a:pt x="1032" y="296"/>
                        <a:pt x="1072" y="320"/>
                        <a:pt x="1080" y="304"/>
                      </a:cubicBezTo>
                      <a:cubicBezTo>
                        <a:pt x="1088" y="288"/>
                        <a:pt x="1056" y="224"/>
                        <a:pt x="1032" y="20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9474" name="Line 10">
                <a:extLst>
                  <a:ext uri="{FF2B5EF4-FFF2-40B4-BE49-F238E27FC236}">
                    <a16:creationId xmlns:a16="http://schemas.microsoft.com/office/drawing/2014/main" id="{164A5814-ABCF-4B3F-8FA9-8DD0992874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6" y="1676"/>
                <a:ext cx="96" cy="24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5" name="Line 11">
                <a:extLst>
                  <a:ext uri="{FF2B5EF4-FFF2-40B4-BE49-F238E27FC236}">
                    <a16:creationId xmlns:a16="http://schemas.microsoft.com/office/drawing/2014/main" id="{69435869-246B-4022-91E6-4035CD56DE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2" y="1838"/>
                <a:ext cx="144" cy="385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6" name="Line 12">
                <a:extLst>
                  <a:ext uri="{FF2B5EF4-FFF2-40B4-BE49-F238E27FC236}">
                    <a16:creationId xmlns:a16="http://schemas.microsoft.com/office/drawing/2014/main" id="{7069338F-BBBA-48F8-9385-8A0D5DE1E1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60" y="2079"/>
                <a:ext cx="576" cy="144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7" name="Line 13">
                <a:extLst>
                  <a:ext uri="{FF2B5EF4-FFF2-40B4-BE49-F238E27FC236}">
                    <a16:creationId xmlns:a16="http://schemas.microsoft.com/office/drawing/2014/main" id="{95E2C6E5-A2E1-4A36-A373-23CEB926C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44" y="1694"/>
                <a:ext cx="144" cy="625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8" name="Line 14">
                <a:extLst>
                  <a:ext uri="{FF2B5EF4-FFF2-40B4-BE49-F238E27FC236}">
                    <a16:creationId xmlns:a16="http://schemas.microsoft.com/office/drawing/2014/main" id="{E3423069-657D-4A48-871A-26835A449F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0" y="1934"/>
                <a:ext cx="1392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9" name="Line 15">
                <a:extLst>
                  <a:ext uri="{FF2B5EF4-FFF2-40B4-BE49-F238E27FC236}">
                    <a16:creationId xmlns:a16="http://schemas.microsoft.com/office/drawing/2014/main" id="{8E055455-32CB-4A62-92A6-0E0F979E6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60" y="1934"/>
                <a:ext cx="384" cy="385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0" name="Line 16">
                <a:extLst>
                  <a:ext uri="{FF2B5EF4-FFF2-40B4-BE49-F238E27FC236}">
                    <a16:creationId xmlns:a16="http://schemas.microsoft.com/office/drawing/2014/main" id="{AE408FFE-896E-41D7-9BB4-FBAF3DEDDE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60" y="1694"/>
                <a:ext cx="528" cy="385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3425" name="Text Box 17">
                <a:extLst>
                  <a:ext uri="{FF2B5EF4-FFF2-40B4-BE49-F238E27FC236}">
                    <a16:creationId xmlns:a16="http://schemas.microsoft.com/office/drawing/2014/main" id="{3B73823F-B303-4423-B86C-C6CA3E7E1F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9" y="2024"/>
                <a:ext cx="88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kumimoji="1" lang="zh-CN" altLang="en-US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仿宋_GB2312" pitchFamily="49" charset="-122"/>
                  </a:rPr>
                  <a:t>黑体辐射</a:t>
                </a:r>
              </a:p>
            </p:txBody>
          </p:sp>
        </p:grpSp>
        <p:sp>
          <p:nvSpPr>
            <p:cNvPr id="913426" name="Text Box 18">
              <a:extLst>
                <a:ext uri="{FF2B5EF4-FFF2-40B4-BE49-F238E27FC236}">
                  <a16:creationId xmlns:a16="http://schemas.microsoft.com/office/drawing/2014/main" id="{683C4AE2-2D92-4246-A248-3A6A9EF97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0" y="2531"/>
              <a:ext cx="888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加热空腔</a:t>
              </a:r>
            </a:p>
          </p:txBody>
        </p:sp>
      </p:grpSp>
      <p:sp>
        <p:nvSpPr>
          <p:cNvPr id="913428" name="Text Box 20">
            <a:extLst>
              <a:ext uri="{FF2B5EF4-FFF2-40B4-BE49-F238E27FC236}">
                <a16:creationId xmlns:a16="http://schemas.microsoft.com/office/drawing/2014/main" id="{B9DB549E-12D3-458E-B4E4-A4AD22A5C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3375"/>
            <a:ext cx="8208962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FF6600"/>
              </a:buClr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黑体模型</a:t>
            </a:r>
            <a:r>
              <a:rPr kumimoji="1" lang="en-US" altLang="zh-CN">
                <a:solidFill>
                  <a:srgbClr val="0099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----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一个不透明的空腔开有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小孔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可近似看成</a:t>
            </a:r>
          </a:p>
          <a:p>
            <a:pPr eaLnBrk="1" hangingPunct="1">
              <a:buClr>
                <a:srgbClr val="FF6600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                        理想的 黑体。</a:t>
            </a:r>
          </a:p>
        </p:txBody>
      </p:sp>
      <p:sp>
        <p:nvSpPr>
          <p:cNvPr id="19461" name="Arc 23">
            <a:extLst>
              <a:ext uri="{FF2B5EF4-FFF2-40B4-BE49-F238E27FC236}">
                <a16:creationId xmlns:a16="http://schemas.microsoft.com/office/drawing/2014/main" id="{9E257953-E1E0-4435-877A-A0A7B55FC00F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900113" y="1628775"/>
            <a:ext cx="3657600" cy="2057400"/>
          </a:xfrm>
          <a:custGeom>
            <a:avLst/>
            <a:gdLst>
              <a:gd name="T0" fmla="*/ 2147483646 w 43200"/>
              <a:gd name="T1" fmla="*/ 2147483646 h 43200"/>
              <a:gd name="T2" fmla="*/ 2147483646 w 43200"/>
              <a:gd name="T3" fmla="*/ 2147483646 h 43200"/>
              <a:gd name="T4" fmla="*/ 0 w 43200"/>
              <a:gd name="T5" fmla="*/ 2147483646 h 43200"/>
              <a:gd name="T6" fmla="*/ 2147483646 w 43200"/>
              <a:gd name="T7" fmla="*/ 0 h 43200"/>
              <a:gd name="T8" fmla="*/ 2147483646 w 43200"/>
              <a:gd name="T9" fmla="*/ 2147483646 h 43200"/>
              <a:gd name="T10" fmla="*/ 2147483646 w 43200"/>
              <a:gd name="T11" fmla="*/ 2147483646 h 43200"/>
              <a:gd name="T12" fmla="*/ 2147483646 w 43200"/>
              <a:gd name="T13" fmla="*/ 2147483646 h 43200"/>
              <a:gd name="T14" fmla="*/ 2147483646 w 43200"/>
              <a:gd name="T15" fmla="*/ 2147483646 h 43200"/>
              <a:gd name="T16" fmla="*/ 0 w 43200"/>
              <a:gd name="T17" fmla="*/ 2147483646 h 43200"/>
              <a:gd name="T18" fmla="*/ 2147483646 w 43200"/>
              <a:gd name="T19" fmla="*/ 0 h 43200"/>
              <a:gd name="T20" fmla="*/ 2147483646 w 43200"/>
              <a:gd name="T21" fmla="*/ 2147483646 h 43200"/>
              <a:gd name="T22" fmla="*/ 2147483646 w 43200"/>
              <a:gd name="T23" fmla="*/ 2147483646 h 43200"/>
              <a:gd name="T24" fmla="*/ 2147483646 w 43200"/>
              <a:gd name="T25" fmla="*/ 2147483646 h 432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43200" h="43200" fill="none">
                <a:moveTo>
                  <a:pt x="31172" y="40962"/>
                </a:moveTo>
                <a:cubicBezTo>
                  <a:pt x="28196" y="42434"/>
                  <a:pt x="2492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9539"/>
                  <a:pt x="38844" y="36838"/>
                  <a:pt x="31857" y="40608"/>
                </a:cubicBezTo>
              </a:path>
              <a:path w="43200" h="43200" stroke="0">
                <a:moveTo>
                  <a:pt x="31172" y="40962"/>
                </a:moveTo>
                <a:cubicBezTo>
                  <a:pt x="28196" y="42434"/>
                  <a:pt x="2492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9539"/>
                  <a:pt x="38844" y="36838"/>
                  <a:pt x="31857" y="40608"/>
                </a:cubicBezTo>
                <a:lnTo>
                  <a:pt x="21600" y="21600"/>
                </a:lnTo>
                <a:lnTo>
                  <a:pt x="31172" y="40962"/>
                </a:lnTo>
                <a:close/>
              </a:path>
            </a:pathLst>
          </a:custGeom>
          <a:noFill/>
          <a:ln w="88900">
            <a:solidFill>
              <a:schemeClr val="bg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2" name="Line 24">
            <a:extLst>
              <a:ext uri="{FF2B5EF4-FFF2-40B4-BE49-F238E27FC236}">
                <a16:creationId xmlns:a16="http://schemas.microsoft.com/office/drawing/2014/main" id="{511D668C-550E-4D06-B46F-ED0025DD31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8125" y="1322388"/>
            <a:ext cx="2209800" cy="2209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Line 25">
            <a:extLst>
              <a:ext uri="{FF2B5EF4-FFF2-40B4-BE49-F238E27FC236}">
                <a16:creationId xmlns:a16="http://schemas.microsoft.com/office/drawing/2014/main" id="{E10975DE-8684-425F-90CC-1539FF8C78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9513" y="1781175"/>
            <a:ext cx="0" cy="1676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Line 26">
            <a:extLst>
              <a:ext uri="{FF2B5EF4-FFF2-40B4-BE49-F238E27FC236}">
                <a16:creationId xmlns:a16="http://schemas.microsoft.com/office/drawing/2014/main" id="{3D966C23-4841-4AE3-967C-9333ED4716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1713" y="1857375"/>
            <a:ext cx="1447800" cy="1828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5" name="Line 27">
            <a:extLst>
              <a:ext uri="{FF2B5EF4-FFF2-40B4-BE49-F238E27FC236}">
                <a16:creationId xmlns:a16="http://schemas.microsoft.com/office/drawing/2014/main" id="{F0EC631F-CAA4-420D-9EA4-6A52A88359B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81113" y="2085975"/>
            <a:ext cx="990600" cy="1447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6" name="Line 28">
            <a:extLst>
              <a:ext uri="{FF2B5EF4-FFF2-40B4-BE49-F238E27FC236}">
                <a16:creationId xmlns:a16="http://schemas.microsoft.com/office/drawing/2014/main" id="{F6349C57-5A7A-47EE-AA04-B615F5C74D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6313" y="2162175"/>
            <a:ext cx="30480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29">
            <a:extLst>
              <a:ext uri="{FF2B5EF4-FFF2-40B4-BE49-F238E27FC236}">
                <a16:creationId xmlns:a16="http://schemas.microsoft.com/office/drawing/2014/main" id="{073DE6D7-180A-42EB-A25E-EB79AF85A9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33513" y="1628775"/>
            <a:ext cx="1524000" cy="1828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Line 30">
            <a:extLst>
              <a:ext uri="{FF2B5EF4-FFF2-40B4-BE49-F238E27FC236}">
                <a16:creationId xmlns:a16="http://schemas.microsoft.com/office/drawing/2014/main" id="{DDAAEDCA-5CB7-46C9-9A93-029D8E2ADE9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6313" y="2619375"/>
            <a:ext cx="32766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9" name="Line 31">
            <a:extLst>
              <a:ext uri="{FF2B5EF4-FFF2-40B4-BE49-F238E27FC236}">
                <a16:creationId xmlns:a16="http://schemas.microsoft.com/office/drawing/2014/main" id="{226F6E0A-967C-43C8-A349-8AC57D7216C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57513" y="1628775"/>
            <a:ext cx="1219200" cy="1600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>
            <a:extLst>
              <a:ext uri="{FF2B5EF4-FFF2-40B4-BE49-F238E27FC236}">
                <a16:creationId xmlns:a16="http://schemas.microsoft.com/office/drawing/2014/main" id="{FFCB5CEA-C254-4E26-B0B5-99748D2C11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C4CC88-8EB9-4DF3-B3E5-EA988FF73AAE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zh-CN" altLang="zh-CN" sz="1400"/>
          </a:p>
        </p:txBody>
      </p:sp>
      <p:sp>
        <p:nvSpPr>
          <p:cNvPr id="915458" name="Text Box 2">
            <a:extLst>
              <a:ext uri="{FF2B5EF4-FFF2-40B4-BE49-F238E27FC236}">
                <a16:creationId xmlns:a16="http://schemas.microsoft.com/office/drawing/2014/main" id="{3F5051D7-2C6B-4BD9-BE15-C1817DEC6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225" y="1173163"/>
            <a:ext cx="554196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一个黑白花盘子的两张照片</a:t>
            </a:r>
          </a:p>
        </p:txBody>
      </p:sp>
      <p:sp>
        <p:nvSpPr>
          <p:cNvPr id="915459" name="Text Box 3">
            <a:extLst>
              <a:ext uri="{FF2B5EF4-FFF2-40B4-BE49-F238E27FC236}">
                <a16:creationId xmlns:a16="http://schemas.microsoft.com/office/drawing/2014/main" id="{55CCF41D-576B-4B40-9F2F-F14BB8C31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150" y="5357813"/>
            <a:ext cx="328136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0" dirty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室温下，</a:t>
            </a:r>
          </a:p>
        </p:txBody>
      </p:sp>
      <p:sp>
        <p:nvSpPr>
          <p:cNvPr id="915460" name="Text Box 4">
            <a:extLst>
              <a:ext uri="{FF2B5EF4-FFF2-40B4-BE49-F238E27FC236}">
                <a16:creationId xmlns:a16="http://schemas.microsoft.com/office/drawing/2014/main" id="{4BAFE2CE-7A5D-4186-9C36-8C3438B57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5025" y="5357813"/>
            <a:ext cx="374332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b="0" dirty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1100K</a:t>
            </a:r>
            <a:r>
              <a:rPr kumimoji="1" lang="zh-CN" altLang="en-US" sz="2800" b="0" dirty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，</a:t>
            </a:r>
          </a:p>
        </p:txBody>
      </p:sp>
      <p:pic>
        <p:nvPicPr>
          <p:cNvPr id="915461" name="Picture 5" descr="盘的热辐射a">
            <a:extLst>
              <a:ext uri="{FF2B5EF4-FFF2-40B4-BE49-F238E27FC236}">
                <a16:creationId xmlns:a16="http://schemas.microsoft.com/office/drawing/2014/main" id="{B55E3D2F-A92F-4DAF-9D21-D9EEE08C3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63" y="1933575"/>
            <a:ext cx="3205162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5462" name="Picture 6" descr="盘的热辐射b">
            <a:extLst>
              <a:ext uri="{FF2B5EF4-FFF2-40B4-BE49-F238E27FC236}">
                <a16:creationId xmlns:a16="http://schemas.microsoft.com/office/drawing/2014/main" id="{545A97AD-C9DD-4E2E-89A2-F0AB8506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338" y="1997075"/>
            <a:ext cx="3302000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5463" name="Text Box 7">
            <a:extLst>
              <a:ext uri="{FF2B5EF4-FFF2-40B4-BE49-F238E27FC236}">
                <a16:creationId xmlns:a16="http://schemas.microsoft.com/office/drawing/2014/main" id="{303D71E1-8DAF-450F-B7E8-735CE5663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75" y="6140450"/>
            <a:ext cx="53482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夏天有人喜欢穿黑衣，令人费解吗？</a:t>
            </a:r>
          </a:p>
        </p:txBody>
      </p:sp>
      <p:sp>
        <p:nvSpPr>
          <p:cNvPr id="915465" name="Text Box 9">
            <a:extLst>
              <a:ext uri="{FF2B5EF4-FFF2-40B4-BE49-F238E27FC236}">
                <a16:creationId xmlns:a16="http://schemas.microsoft.com/office/drawing/2014/main" id="{B128622C-E912-418A-AE75-26C9236BF8F0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84163" y="115888"/>
            <a:ext cx="7743825" cy="579437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 b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你能用 基尔霍夫定律解释下面的现象吗？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D0E4DD1A-8C08-46E3-A377-36CCD2A50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438" y="5359400"/>
            <a:ext cx="3281362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0" dirty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反射发光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539A2B80-22EA-4520-BD2B-CCD4EB49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5188" y="5357813"/>
            <a:ext cx="27305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0" dirty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自身辐射发光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5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91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91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1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1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1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5458" grpId="0"/>
      <p:bldP spid="915459" grpId="0"/>
      <p:bldP spid="915460" grpId="0"/>
      <p:bldP spid="915463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>
            <a:extLst>
              <a:ext uri="{FF2B5EF4-FFF2-40B4-BE49-F238E27FC236}">
                <a16:creationId xmlns:a16="http://schemas.microsoft.com/office/drawing/2014/main" id="{ED7085CF-A9FC-4D8D-9BC2-FD9DEEDFC3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CC4C93-0716-4531-BB76-86506DFC0F95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zh-CN" altLang="zh-CN" sz="1400"/>
          </a:p>
        </p:txBody>
      </p:sp>
      <p:grpSp>
        <p:nvGrpSpPr>
          <p:cNvPr id="23555" name="Group 111">
            <a:extLst>
              <a:ext uri="{FF2B5EF4-FFF2-40B4-BE49-F238E27FC236}">
                <a16:creationId xmlns:a16="http://schemas.microsoft.com/office/drawing/2014/main" id="{62F7A1F3-8275-48F3-9B30-F99F7493D6C1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476250"/>
            <a:ext cx="4138612" cy="4679950"/>
            <a:chOff x="3107" y="300"/>
            <a:chExt cx="2607" cy="2948"/>
          </a:xfrm>
        </p:grpSpPr>
        <p:pic>
          <p:nvPicPr>
            <p:cNvPr id="23630" name="Picture 100" descr="黑体辐射曲线">
              <a:extLst>
                <a:ext uri="{FF2B5EF4-FFF2-40B4-BE49-F238E27FC236}">
                  <a16:creationId xmlns:a16="http://schemas.microsoft.com/office/drawing/2014/main" id="{6B655C70-14E0-4CB7-8596-49E664D01A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89" t="1563" r="2188" b="2327"/>
            <a:stretch>
              <a:fillRect/>
            </a:stretch>
          </p:blipFill>
          <p:spPr bwMode="auto">
            <a:xfrm>
              <a:off x="3107" y="361"/>
              <a:ext cx="2607" cy="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3631" name="Object 101">
              <a:extLst>
                <a:ext uri="{FF2B5EF4-FFF2-40B4-BE49-F238E27FC236}">
                  <a16:creationId xmlns:a16="http://schemas.microsoft.com/office/drawing/2014/main" id="{40EE88DD-0014-4BA3-B56C-1B5BAAD5EBC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68" y="300"/>
            <a:ext cx="323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8" r:id="rId4" imgW="304536" imgH="228402" progId="Equation.DSMT4">
                    <p:embed/>
                  </p:oleObj>
                </mc:Choice>
                <mc:Fallback>
                  <p:oleObj r:id="rId4" imgW="304536" imgH="228402" progId="Equation.DSMT4">
                    <p:embed/>
                    <p:pic>
                      <p:nvPicPr>
                        <p:cNvPr id="0" name="Object 10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8" y="300"/>
                          <a:ext cx="323" cy="25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B1AD8FBF-BCB4-4CD8-AE44-9E994F6B594D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538288"/>
            <a:ext cx="5689600" cy="4022725"/>
            <a:chOff x="641" y="821"/>
            <a:chExt cx="4680" cy="3006"/>
          </a:xfrm>
        </p:grpSpPr>
        <p:sp>
          <p:nvSpPr>
            <p:cNvPr id="23625" name="Line 6">
              <a:extLst>
                <a:ext uri="{FF2B5EF4-FFF2-40B4-BE49-F238E27FC236}">
                  <a16:creationId xmlns:a16="http://schemas.microsoft.com/office/drawing/2014/main" id="{7A762465-974D-48DC-8E67-23E749CF42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" y="3624"/>
              <a:ext cx="45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6" name="Line 7">
              <a:extLst>
                <a:ext uri="{FF2B5EF4-FFF2-40B4-BE49-F238E27FC236}">
                  <a16:creationId xmlns:a16="http://schemas.microsoft.com/office/drawing/2014/main" id="{2920750D-08D9-426E-AE98-CCB9AEE2E1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8" y="821"/>
              <a:ext cx="14" cy="28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7" name="Freeform 8">
              <a:extLst>
                <a:ext uri="{FF2B5EF4-FFF2-40B4-BE49-F238E27FC236}">
                  <a16:creationId xmlns:a16="http://schemas.microsoft.com/office/drawing/2014/main" id="{001B064C-D521-416A-A524-61B77F170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190"/>
              <a:ext cx="4385" cy="1436"/>
            </a:xfrm>
            <a:custGeom>
              <a:avLst/>
              <a:gdLst>
                <a:gd name="T0" fmla="*/ 0 w 4339"/>
                <a:gd name="T1" fmla="*/ 1326 h 1482"/>
                <a:gd name="T2" fmla="*/ 426 w 4339"/>
                <a:gd name="T3" fmla="*/ 1096 h 1482"/>
                <a:gd name="T4" fmla="*/ 784 w 4339"/>
                <a:gd name="T5" fmla="*/ 767 h 1482"/>
                <a:gd name="T6" fmla="*/ 1022 w 4339"/>
                <a:gd name="T7" fmla="*/ 446 h 1482"/>
                <a:gd name="T8" fmla="*/ 1172 w 4339"/>
                <a:gd name="T9" fmla="*/ 215 h 1482"/>
                <a:gd name="T10" fmla="*/ 1332 w 4339"/>
                <a:gd name="T11" fmla="*/ 75 h 1482"/>
                <a:gd name="T12" fmla="*/ 1498 w 4339"/>
                <a:gd name="T13" fmla="*/ 13 h 1482"/>
                <a:gd name="T14" fmla="*/ 1689 w 4339"/>
                <a:gd name="T15" fmla="*/ 6 h 1482"/>
                <a:gd name="T16" fmla="*/ 1870 w 4339"/>
                <a:gd name="T17" fmla="*/ 47 h 1482"/>
                <a:gd name="T18" fmla="*/ 2132 w 4339"/>
                <a:gd name="T19" fmla="*/ 207 h 1482"/>
                <a:gd name="T20" fmla="*/ 2520 w 4339"/>
                <a:gd name="T21" fmla="*/ 620 h 1482"/>
                <a:gd name="T22" fmla="*/ 2893 w 4339"/>
                <a:gd name="T23" fmla="*/ 906 h 1482"/>
                <a:gd name="T24" fmla="*/ 3369 w 4339"/>
                <a:gd name="T25" fmla="*/ 1151 h 1482"/>
                <a:gd name="T26" fmla="*/ 4090 w 4339"/>
                <a:gd name="T27" fmla="*/ 1297 h 1482"/>
                <a:gd name="T28" fmla="*/ 4367 w 4339"/>
                <a:gd name="T29" fmla="*/ 1340 h 1482"/>
                <a:gd name="T30" fmla="*/ 4478 w 4339"/>
                <a:gd name="T31" fmla="*/ 1346 h 148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339" h="1482">
                  <a:moveTo>
                    <a:pt x="0" y="1457"/>
                  </a:moveTo>
                  <a:cubicBezTo>
                    <a:pt x="143" y="1381"/>
                    <a:pt x="287" y="1306"/>
                    <a:pt x="414" y="1204"/>
                  </a:cubicBezTo>
                  <a:cubicBezTo>
                    <a:pt x="541" y="1102"/>
                    <a:pt x="664" y="962"/>
                    <a:pt x="760" y="843"/>
                  </a:cubicBezTo>
                  <a:cubicBezTo>
                    <a:pt x="856" y="724"/>
                    <a:pt x="927" y="591"/>
                    <a:pt x="990" y="490"/>
                  </a:cubicBezTo>
                  <a:cubicBezTo>
                    <a:pt x="1053" y="389"/>
                    <a:pt x="1086" y="304"/>
                    <a:pt x="1136" y="236"/>
                  </a:cubicBezTo>
                  <a:cubicBezTo>
                    <a:pt x="1186" y="168"/>
                    <a:pt x="1238" y="119"/>
                    <a:pt x="1290" y="82"/>
                  </a:cubicBezTo>
                  <a:cubicBezTo>
                    <a:pt x="1342" y="45"/>
                    <a:pt x="1393" y="26"/>
                    <a:pt x="1451" y="13"/>
                  </a:cubicBezTo>
                  <a:cubicBezTo>
                    <a:pt x="1509" y="0"/>
                    <a:pt x="1576" y="0"/>
                    <a:pt x="1636" y="6"/>
                  </a:cubicBezTo>
                  <a:cubicBezTo>
                    <a:pt x="1696" y="12"/>
                    <a:pt x="1740" y="15"/>
                    <a:pt x="1812" y="52"/>
                  </a:cubicBezTo>
                  <a:cubicBezTo>
                    <a:pt x="1884" y="89"/>
                    <a:pt x="1961" y="123"/>
                    <a:pt x="2066" y="228"/>
                  </a:cubicBezTo>
                  <a:cubicBezTo>
                    <a:pt x="2171" y="333"/>
                    <a:pt x="2319" y="554"/>
                    <a:pt x="2442" y="682"/>
                  </a:cubicBezTo>
                  <a:cubicBezTo>
                    <a:pt x="2565" y="810"/>
                    <a:pt x="2666" y="899"/>
                    <a:pt x="2803" y="996"/>
                  </a:cubicBezTo>
                  <a:cubicBezTo>
                    <a:pt x="2940" y="1093"/>
                    <a:pt x="3071" y="1193"/>
                    <a:pt x="3264" y="1265"/>
                  </a:cubicBezTo>
                  <a:cubicBezTo>
                    <a:pt x="3457" y="1337"/>
                    <a:pt x="3802" y="1391"/>
                    <a:pt x="3963" y="1426"/>
                  </a:cubicBezTo>
                  <a:cubicBezTo>
                    <a:pt x="4124" y="1461"/>
                    <a:pt x="4168" y="1464"/>
                    <a:pt x="4231" y="1473"/>
                  </a:cubicBezTo>
                  <a:cubicBezTo>
                    <a:pt x="4294" y="1482"/>
                    <a:pt x="4316" y="1481"/>
                    <a:pt x="4339" y="1480"/>
                  </a:cubicBezTo>
                </a:path>
              </a:pathLst>
            </a:custGeom>
            <a:solidFill>
              <a:srgbClr val="CC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8" name="WordArt 9">
              <a:extLst>
                <a:ext uri="{FF2B5EF4-FFF2-40B4-BE49-F238E27FC236}">
                  <a16:creationId xmlns:a16="http://schemas.microsoft.com/office/drawing/2014/main" id="{EA118E1C-9BA6-4351-9533-31A8735F80E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117" y="3672"/>
              <a:ext cx="191" cy="14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3968"/>
                </a:avLst>
              </a:prstTxWarp>
            </a:bodyPr>
            <a:lstStyle/>
            <a:p>
              <a:pPr algn="ctr"/>
              <a:r>
                <a:rPr lang="en-US" altLang="zh-CN" sz="12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Symbol" panose="05050102010706020507" pitchFamily="18" charset="2"/>
                </a:rPr>
                <a:t>l</a:t>
              </a:r>
              <a:endParaRPr lang="zh-CN" altLang="en-US" sz="12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3629" name="WordArt 10">
              <a:extLst>
                <a:ext uri="{FF2B5EF4-FFF2-40B4-BE49-F238E27FC236}">
                  <a16:creationId xmlns:a16="http://schemas.microsoft.com/office/drawing/2014/main" id="{CD8E2B8F-1825-4DDF-8A3F-385BA93A538B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641" y="3682"/>
              <a:ext cx="130" cy="14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2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O</a:t>
              </a:r>
              <a:endParaRPr lang="zh-CN" altLang="en-US" sz="12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108">
            <a:extLst>
              <a:ext uri="{FF2B5EF4-FFF2-40B4-BE49-F238E27FC236}">
                <a16:creationId xmlns:a16="http://schemas.microsoft.com/office/drawing/2014/main" id="{517A1EBB-A3AF-4A98-80D3-9F0E39CF31D4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2276475"/>
            <a:ext cx="2584450" cy="293688"/>
            <a:chOff x="1215" y="1779"/>
            <a:chExt cx="1628" cy="185"/>
          </a:xfrm>
        </p:grpSpPr>
        <p:sp>
          <p:nvSpPr>
            <p:cNvPr id="23618" name="WordArt 22">
              <a:extLst>
                <a:ext uri="{FF2B5EF4-FFF2-40B4-BE49-F238E27FC236}">
                  <a16:creationId xmlns:a16="http://schemas.microsoft.com/office/drawing/2014/main" id="{C033A999-FA72-4722-830E-2B75F2CBE06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657" y="1792"/>
              <a:ext cx="365" cy="14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9050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Symbol" panose="05050102010706020507" pitchFamily="18" charset="2"/>
                </a:rPr>
                <a:t>l +    l</a:t>
              </a:r>
              <a:endParaRPr lang="zh-CN" altLang="en-US" sz="3600" kern="10">
                <a:ln w="19050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3619" name="WordArt 23">
              <a:extLst>
                <a:ext uri="{FF2B5EF4-FFF2-40B4-BE49-F238E27FC236}">
                  <a16:creationId xmlns:a16="http://schemas.microsoft.com/office/drawing/2014/main" id="{C9015493-6A62-461C-AF22-BC9829F63F5C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378" y="1808"/>
              <a:ext cx="68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9050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Symbol" panose="05050102010706020507" pitchFamily="18" charset="2"/>
                </a:rPr>
                <a:t>l</a:t>
              </a:r>
              <a:endParaRPr lang="zh-CN" altLang="en-US" sz="3600" kern="10">
                <a:ln w="19050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3620" name="WordArt 24">
              <a:extLst>
                <a:ext uri="{FF2B5EF4-FFF2-40B4-BE49-F238E27FC236}">
                  <a16:creationId xmlns:a16="http://schemas.microsoft.com/office/drawing/2014/main" id="{49DA4ECB-2975-4AC6-B112-95B72B0DBFF0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479" y="1836"/>
              <a:ext cx="101" cy="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~</a:t>
              </a:r>
              <a:endParaRPr lang="zh-CN" altLang="en-US" sz="3600" kern="10">
                <a:ln w="19050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21" name="WordArt 25">
              <a:extLst>
                <a:ext uri="{FF2B5EF4-FFF2-40B4-BE49-F238E27FC236}">
                  <a16:creationId xmlns:a16="http://schemas.microsoft.com/office/drawing/2014/main" id="{AE52E04E-D30B-4058-84FE-AD15837E45D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865" y="1799"/>
              <a:ext cx="65" cy="14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9050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Bookman Old Style" panose="02050604050505020204" pitchFamily="18" charset="0"/>
                </a:rPr>
                <a:t>d</a:t>
              </a:r>
              <a:endParaRPr lang="zh-CN" altLang="en-US" sz="3600" kern="10">
                <a:ln w="19050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23622" name="WordArt 26">
              <a:extLst>
                <a:ext uri="{FF2B5EF4-FFF2-40B4-BE49-F238E27FC236}">
                  <a16:creationId xmlns:a16="http://schemas.microsoft.com/office/drawing/2014/main" id="{3BFA3F8F-4925-443B-89C1-3FE70EFF733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215" y="1792"/>
              <a:ext cx="126" cy="1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楷体_GB2312" panose="02010609030101010101" pitchFamily="49" charset="-122"/>
                </a:rPr>
                <a:t>在</a:t>
              </a:r>
            </a:p>
          </p:txBody>
        </p:sp>
        <p:sp>
          <p:nvSpPr>
            <p:cNvPr id="23623" name="WordArt 27">
              <a:extLst>
                <a:ext uri="{FF2B5EF4-FFF2-40B4-BE49-F238E27FC236}">
                  <a16:creationId xmlns:a16="http://schemas.microsoft.com/office/drawing/2014/main" id="{6B7E07EC-B722-4527-8925-9332F4F3B120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048" y="1796"/>
              <a:ext cx="249" cy="1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2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楷体_GB2312" panose="02010609030101010101" pitchFamily="49" charset="-122"/>
                </a:rPr>
                <a:t>区域</a:t>
              </a:r>
            </a:p>
          </p:txBody>
        </p:sp>
        <p:sp>
          <p:nvSpPr>
            <p:cNvPr id="23624" name="WordArt 28">
              <a:extLst>
                <a:ext uri="{FF2B5EF4-FFF2-40B4-BE49-F238E27FC236}">
                  <a16:creationId xmlns:a16="http://schemas.microsoft.com/office/drawing/2014/main" id="{FE4CE509-286B-44FB-BBD2-0DFB796EF087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375" y="1779"/>
              <a:ext cx="46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楷体_GB2312" panose="02010609030101010101" pitchFamily="49" charset="-122"/>
                </a:rPr>
                <a:t>的辐射能</a:t>
              </a:r>
            </a:p>
          </p:txBody>
        </p:sp>
      </p:grpSp>
      <p:grpSp>
        <p:nvGrpSpPr>
          <p:cNvPr id="5" name="Group 31">
            <a:extLst>
              <a:ext uri="{FF2B5EF4-FFF2-40B4-BE49-F238E27FC236}">
                <a16:creationId xmlns:a16="http://schemas.microsoft.com/office/drawing/2014/main" id="{A52F72C7-9453-48F0-8577-EBC6160B3932}"/>
              </a:ext>
            </a:extLst>
          </p:cNvPr>
          <p:cNvGrpSpPr>
            <a:grpSpLocks/>
          </p:cNvGrpSpPr>
          <p:nvPr/>
        </p:nvGrpSpPr>
        <p:grpSpPr bwMode="auto">
          <a:xfrm>
            <a:off x="1128713" y="2760663"/>
            <a:ext cx="947737" cy="3078162"/>
            <a:chOff x="1480" y="1734"/>
            <a:chExt cx="780" cy="2300"/>
          </a:xfrm>
        </p:grpSpPr>
        <p:sp>
          <p:nvSpPr>
            <p:cNvPr id="23601" name="Freeform 32" descr="浅色上对角线">
              <a:extLst>
                <a:ext uri="{FF2B5EF4-FFF2-40B4-BE49-F238E27FC236}">
                  <a16:creationId xmlns:a16="http://schemas.microsoft.com/office/drawing/2014/main" id="{D6687A8D-19BE-4B73-9CEC-990678203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9" y="2703"/>
              <a:ext cx="78" cy="912"/>
            </a:xfrm>
            <a:custGeom>
              <a:avLst/>
              <a:gdLst>
                <a:gd name="T0" fmla="*/ 2 w 78"/>
                <a:gd name="T1" fmla="*/ 118 h 912"/>
                <a:gd name="T2" fmla="*/ 64 w 78"/>
                <a:gd name="T3" fmla="*/ 20 h 912"/>
                <a:gd name="T4" fmla="*/ 78 w 78"/>
                <a:gd name="T5" fmla="*/ 0 h 912"/>
                <a:gd name="T6" fmla="*/ 78 w 78"/>
                <a:gd name="T7" fmla="*/ 912 h 912"/>
                <a:gd name="T8" fmla="*/ 0 w 78"/>
                <a:gd name="T9" fmla="*/ 912 h 912"/>
                <a:gd name="T10" fmla="*/ 2 w 78"/>
                <a:gd name="T11" fmla="*/ 118 h 9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912">
                  <a:moveTo>
                    <a:pt x="2" y="118"/>
                  </a:moveTo>
                  <a:lnTo>
                    <a:pt x="64" y="20"/>
                  </a:lnTo>
                  <a:lnTo>
                    <a:pt x="78" y="0"/>
                  </a:lnTo>
                  <a:lnTo>
                    <a:pt x="78" y="912"/>
                  </a:lnTo>
                  <a:lnTo>
                    <a:pt x="0" y="912"/>
                  </a:lnTo>
                  <a:lnTo>
                    <a:pt x="2" y="118"/>
                  </a:lnTo>
                  <a:close/>
                </a:path>
              </a:pathLst>
            </a:custGeom>
            <a:blipFill dpi="0" rotWithShape="0">
              <a:blip r:embed="rId6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2" name="Line 33">
              <a:extLst>
                <a:ext uri="{FF2B5EF4-FFF2-40B4-BE49-F238E27FC236}">
                  <a16:creationId xmlns:a16="http://schemas.microsoft.com/office/drawing/2014/main" id="{8FAC6DFD-A1F0-45B4-8703-AF4608BFB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0" y="1734"/>
              <a:ext cx="276" cy="11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3" name="Line 34">
              <a:extLst>
                <a:ext uri="{FF2B5EF4-FFF2-40B4-BE49-F238E27FC236}">
                  <a16:creationId xmlns:a16="http://schemas.microsoft.com/office/drawing/2014/main" id="{466498C7-7465-42D7-8C9D-B31181E54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9" y="3666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4" name="Line 35">
              <a:extLst>
                <a:ext uri="{FF2B5EF4-FFF2-40B4-BE49-F238E27FC236}">
                  <a16:creationId xmlns:a16="http://schemas.microsoft.com/office/drawing/2014/main" id="{B83564F1-F524-46F7-991F-C5DC157DB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7" y="3664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5" name="Line 36">
              <a:extLst>
                <a:ext uri="{FF2B5EF4-FFF2-40B4-BE49-F238E27FC236}">
                  <a16:creationId xmlns:a16="http://schemas.microsoft.com/office/drawing/2014/main" id="{34E2FAB7-EDC2-4E33-A933-EA82DC251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6" y="3847"/>
              <a:ext cx="1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6" name="Line 37">
              <a:extLst>
                <a:ext uri="{FF2B5EF4-FFF2-40B4-BE49-F238E27FC236}">
                  <a16:creationId xmlns:a16="http://schemas.microsoft.com/office/drawing/2014/main" id="{EE1ED345-61F3-4E89-A8D7-879878D5E7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1" y="3849"/>
              <a:ext cx="1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7" name="WordArt 38">
              <a:extLst>
                <a:ext uri="{FF2B5EF4-FFF2-40B4-BE49-F238E27FC236}">
                  <a16:creationId xmlns:a16="http://schemas.microsoft.com/office/drawing/2014/main" id="{72AA9454-1941-4B0C-8F7A-275499F6FEC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493" y="3667"/>
              <a:ext cx="176" cy="10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3968"/>
                </a:avLst>
              </a:prstTxWarp>
            </a:bodyPr>
            <a:lstStyle/>
            <a:p>
              <a:pPr algn="ctr"/>
              <a:r>
                <a:rPr lang="en-US" altLang="zh-CN" sz="1200" i="1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Symbol" panose="05050102010706020507" pitchFamily="18" charset="2"/>
                </a:rPr>
                <a:t>l</a:t>
              </a:r>
              <a:endParaRPr lang="zh-CN" altLang="en-US" sz="1200" i="1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Symbol" panose="05050102010706020507" pitchFamily="18" charset="2"/>
              </a:endParaRPr>
            </a:p>
          </p:txBody>
        </p:sp>
        <p:grpSp>
          <p:nvGrpSpPr>
            <p:cNvPr id="23608" name="Group 39">
              <a:extLst>
                <a:ext uri="{FF2B5EF4-FFF2-40B4-BE49-F238E27FC236}">
                  <a16:creationId xmlns:a16="http://schemas.microsoft.com/office/drawing/2014/main" id="{A3DF9AC3-2E8D-42C0-A029-8AB7302231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7" y="3919"/>
              <a:ext cx="195" cy="115"/>
              <a:chOff x="2538" y="3844"/>
              <a:chExt cx="195" cy="115"/>
            </a:xfrm>
          </p:grpSpPr>
          <p:sp>
            <p:nvSpPr>
              <p:cNvPr id="23616" name="WordArt 40">
                <a:extLst>
                  <a:ext uri="{FF2B5EF4-FFF2-40B4-BE49-F238E27FC236}">
                    <a16:creationId xmlns:a16="http://schemas.microsoft.com/office/drawing/2014/main" id="{4E461801-0E3B-40DC-B1AA-1B502EE6FD92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582" y="3846"/>
                <a:ext cx="151" cy="10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3968"/>
                  </a:avLst>
                </a:prstTxWarp>
              </a:bodyPr>
              <a:lstStyle/>
              <a:p>
                <a:pPr algn="ctr"/>
                <a:r>
                  <a:rPr lang="en-US" altLang="zh-CN" sz="12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  <a:endParaRPr lang="zh-CN" altLang="en-US" sz="12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Symbol" panose="05050102010706020507" pitchFamily="18" charset="2"/>
                </a:endParaRPr>
              </a:p>
            </p:txBody>
          </p:sp>
          <p:sp>
            <p:nvSpPr>
              <p:cNvPr id="23617" name="WordArt 41">
                <a:extLst>
                  <a:ext uri="{FF2B5EF4-FFF2-40B4-BE49-F238E27FC236}">
                    <a16:creationId xmlns:a16="http://schemas.microsoft.com/office/drawing/2014/main" id="{3F0E7288-34F9-4612-A6BB-81F9445CA0DC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538" y="3844"/>
                <a:ext cx="65" cy="11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18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d</a:t>
                </a:r>
                <a:endParaRPr lang="zh-CN" altLang="en-US" sz="18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609" name="WordArt 42">
              <a:extLst>
                <a:ext uri="{FF2B5EF4-FFF2-40B4-BE49-F238E27FC236}">
                  <a16:creationId xmlns:a16="http://schemas.microsoft.com/office/drawing/2014/main" id="{9E305812-5F0A-487B-BA7D-406244E300F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813" y="3669"/>
              <a:ext cx="176" cy="10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3968"/>
                </a:avLst>
              </a:prstTxWarp>
            </a:bodyPr>
            <a:lstStyle/>
            <a:p>
              <a:pPr algn="ctr"/>
              <a:r>
                <a:rPr lang="en-US" altLang="zh-CN" sz="1200" i="1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Symbol" panose="05050102010706020507" pitchFamily="18" charset="2"/>
                </a:rPr>
                <a:t>l</a:t>
              </a:r>
              <a:endParaRPr lang="zh-CN" altLang="en-US" sz="1200" i="1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3610" name="Oval 43">
              <a:extLst>
                <a:ext uri="{FF2B5EF4-FFF2-40B4-BE49-F238E27FC236}">
                  <a16:creationId xmlns:a16="http://schemas.microsoft.com/office/drawing/2014/main" id="{737F1EF1-45EA-4619-90E4-BFE31AAE5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3" y="3608"/>
              <a:ext cx="32" cy="3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3611" name="Oval 44">
              <a:extLst>
                <a:ext uri="{FF2B5EF4-FFF2-40B4-BE49-F238E27FC236}">
                  <a16:creationId xmlns:a16="http://schemas.microsoft.com/office/drawing/2014/main" id="{FD779741-CA88-481A-9CBD-5173619D5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9" y="3604"/>
              <a:ext cx="32" cy="3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grpSp>
          <p:nvGrpSpPr>
            <p:cNvPr id="23612" name="Group 45">
              <a:extLst>
                <a:ext uri="{FF2B5EF4-FFF2-40B4-BE49-F238E27FC236}">
                  <a16:creationId xmlns:a16="http://schemas.microsoft.com/office/drawing/2014/main" id="{54DB88E9-406E-47E4-AB73-53DEBE20EB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2" y="3662"/>
              <a:ext cx="168" cy="111"/>
              <a:chOff x="2538" y="3844"/>
              <a:chExt cx="195" cy="115"/>
            </a:xfrm>
          </p:grpSpPr>
          <p:sp>
            <p:nvSpPr>
              <p:cNvPr id="23614" name="WordArt 46">
                <a:extLst>
                  <a:ext uri="{FF2B5EF4-FFF2-40B4-BE49-F238E27FC236}">
                    <a16:creationId xmlns:a16="http://schemas.microsoft.com/office/drawing/2014/main" id="{2F564348-270D-4BD0-9388-8D612A79668E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582" y="3846"/>
                <a:ext cx="151" cy="10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3968"/>
                  </a:avLst>
                </a:prstTxWarp>
              </a:bodyPr>
              <a:lstStyle/>
              <a:p>
                <a:pPr algn="ctr"/>
                <a:r>
                  <a:rPr lang="en-US" altLang="zh-CN" sz="1200" i="1" kern="10">
                    <a:ln w="9525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solidFill>
                      <a:srgbClr val="008000"/>
                    </a:solidFill>
                    <a:latin typeface="Symbol" panose="05050102010706020507" pitchFamily="18" charset="2"/>
                  </a:rPr>
                  <a:t>l</a:t>
                </a:r>
                <a:endParaRPr lang="zh-CN" altLang="en-US" sz="1200" i="1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Symbol" panose="05050102010706020507" pitchFamily="18" charset="2"/>
                </a:endParaRPr>
              </a:p>
            </p:txBody>
          </p:sp>
          <p:sp>
            <p:nvSpPr>
              <p:cNvPr id="23615" name="WordArt 47">
                <a:extLst>
                  <a:ext uri="{FF2B5EF4-FFF2-40B4-BE49-F238E27FC236}">
                    <a16:creationId xmlns:a16="http://schemas.microsoft.com/office/drawing/2014/main" id="{65E9FCA2-53FD-4C34-A353-31B534A62D8D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538" y="3844"/>
                <a:ext cx="65" cy="11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1800" kern="10">
                    <a:ln w="9525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solidFill>
                      <a:srgbClr val="008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d</a:t>
                </a:r>
                <a:endParaRPr lang="zh-CN" altLang="en-US" sz="18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613" name="WordArt 48">
              <a:extLst>
                <a:ext uri="{FF2B5EF4-FFF2-40B4-BE49-F238E27FC236}">
                  <a16:creationId xmlns:a16="http://schemas.microsoft.com/office/drawing/2014/main" id="{57B52B00-5A4F-45B5-8E0B-5BCF051E930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995" y="3683"/>
              <a:ext cx="67" cy="7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zh-CN" altLang="en-US" sz="3600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104">
            <a:extLst>
              <a:ext uri="{FF2B5EF4-FFF2-40B4-BE49-F238E27FC236}">
                <a16:creationId xmlns:a16="http://schemas.microsoft.com/office/drawing/2014/main" id="{7831C7BC-4522-4107-A2AB-BC899B55DF43}"/>
              </a:ext>
            </a:extLst>
          </p:cNvPr>
          <p:cNvGrpSpPr>
            <a:grpSpLocks/>
          </p:cNvGrpSpPr>
          <p:nvPr/>
        </p:nvGrpSpPr>
        <p:grpSpPr bwMode="auto">
          <a:xfrm>
            <a:off x="1677988" y="4433888"/>
            <a:ext cx="1541462" cy="592137"/>
            <a:chOff x="1057" y="2793"/>
            <a:chExt cx="971" cy="373"/>
          </a:xfrm>
        </p:grpSpPr>
        <p:grpSp>
          <p:nvGrpSpPr>
            <p:cNvPr id="23595" name="Group 85">
              <a:extLst>
                <a:ext uri="{FF2B5EF4-FFF2-40B4-BE49-F238E27FC236}">
                  <a16:creationId xmlns:a16="http://schemas.microsoft.com/office/drawing/2014/main" id="{FFF6ACA6-8FBE-438A-89E8-FFF80284B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7" y="3024"/>
              <a:ext cx="971" cy="142"/>
              <a:chOff x="1987" y="3083"/>
              <a:chExt cx="1268" cy="169"/>
            </a:xfrm>
          </p:grpSpPr>
          <p:sp>
            <p:nvSpPr>
              <p:cNvPr id="23599" name="WordArt 86">
                <a:extLst>
                  <a:ext uri="{FF2B5EF4-FFF2-40B4-BE49-F238E27FC236}">
                    <a16:creationId xmlns:a16="http://schemas.microsoft.com/office/drawing/2014/main" id="{629C31EF-CFF4-4514-A56E-5F752F3651FD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1987" y="3083"/>
                <a:ext cx="823" cy="16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楷体_GB2312" panose="02010609030101010101" pitchFamily="49" charset="-122"/>
                  </a:rPr>
                  <a:t>即曲线覆盖的</a:t>
                </a:r>
              </a:p>
            </p:txBody>
          </p:sp>
          <p:sp>
            <p:nvSpPr>
              <p:cNvPr id="23600" name="WordArt 87">
                <a:extLst>
                  <a:ext uri="{FF2B5EF4-FFF2-40B4-BE49-F238E27FC236}">
                    <a16:creationId xmlns:a16="http://schemas.microsoft.com/office/drawing/2014/main" id="{ADBD3A8D-5D43-4CA6-A6ED-EC8C19EA56D7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823" y="3086"/>
                <a:ext cx="432" cy="1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楷体_GB2312" panose="02010609030101010101" pitchFamily="49" charset="-122"/>
                  </a:rPr>
                  <a:t>总面积</a:t>
                </a:r>
              </a:p>
            </p:txBody>
          </p:sp>
        </p:grpSp>
        <p:grpSp>
          <p:nvGrpSpPr>
            <p:cNvPr id="23596" name="Group 88">
              <a:extLst>
                <a:ext uri="{FF2B5EF4-FFF2-40B4-BE49-F238E27FC236}">
                  <a16:creationId xmlns:a16="http://schemas.microsoft.com/office/drawing/2014/main" id="{F35EB86D-8DC4-4CB4-B011-DD1BCF758E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793"/>
              <a:ext cx="766" cy="160"/>
              <a:chOff x="2103" y="2762"/>
              <a:chExt cx="1001" cy="190"/>
            </a:xfrm>
          </p:grpSpPr>
          <p:sp>
            <p:nvSpPr>
              <p:cNvPr id="23597" name="WordArt 89">
                <a:extLst>
                  <a:ext uri="{FF2B5EF4-FFF2-40B4-BE49-F238E27FC236}">
                    <a16:creationId xmlns:a16="http://schemas.microsoft.com/office/drawing/2014/main" id="{5E85B720-8B4B-4044-8A71-BEB788F4F510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586" y="2762"/>
                <a:ext cx="518" cy="19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CC0000"/>
                      </a:solidFill>
                      <a:round/>
                      <a:headEnd/>
                      <a:tailEnd/>
                    </a:ln>
                    <a:solidFill>
                      <a:srgbClr val="CC0000"/>
                    </a:solidFill>
                    <a:latin typeface="楷体_GB2312" panose="02010609030101010101" pitchFamily="49" charset="-122"/>
                  </a:rPr>
                  <a:t>辐出度</a:t>
                </a:r>
              </a:p>
            </p:txBody>
          </p:sp>
          <p:sp>
            <p:nvSpPr>
              <p:cNvPr id="23598" name="WordArt 90">
                <a:extLst>
                  <a:ext uri="{FF2B5EF4-FFF2-40B4-BE49-F238E27FC236}">
                    <a16:creationId xmlns:a16="http://schemas.microsoft.com/office/drawing/2014/main" id="{A58F51B5-8F03-4246-A1D9-57EC3C6A72F3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103" y="2766"/>
                <a:ext cx="433" cy="18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楷体_GB2312" panose="02010609030101010101" pitchFamily="49" charset="-122"/>
                  </a:rPr>
                  <a:t>黑体的</a:t>
                </a:r>
              </a:p>
            </p:txBody>
          </p:sp>
        </p:grpSp>
      </p:grpSp>
      <p:grpSp>
        <p:nvGrpSpPr>
          <p:cNvPr id="11" name="Group 105">
            <a:extLst>
              <a:ext uri="{FF2B5EF4-FFF2-40B4-BE49-F238E27FC236}">
                <a16:creationId xmlns:a16="http://schemas.microsoft.com/office/drawing/2014/main" id="{3BB413FF-528B-4F9D-A176-E74F34CF59E8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2330450"/>
            <a:ext cx="1465263" cy="266700"/>
            <a:chOff x="381" y="1468"/>
            <a:chExt cx="787" cy="168"/>
          </a:xfrm>
        </p:grpSpPr>
        <p:grpSp>
          <p:nvGrpSpPr>
            <p:cNvPr id="23585" name="Group 11">
              <a:extLst>
                <a:ext uri="{FF2B5EF4-FFF2-40B4-BE49-F238E27FC236}">
                  <a16:creationId xmlns:a16="http://schemas.microsoft.com/office/drawing/2014/main" id="{5C1838A9-9A59-4E80-8D49-45F2589915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" y="1479"/>
              <a:ext cx="544" cy="157"/>
              <a:chOff x="2943" y="1783"/>
              <a:chExt cx="603" cy="165"/>
            </a:xfrm>
          </p:grpSpPr>
          <p:sp>
            <p:nvSpPr>
              <p:cNvPr id="23589" name="WordArt 12">
                <a:extLst>
                  <a:ext uri="{FF2B5EF4-FFF2-40B4-BE49-F238E27FC236}">
                    <a16:creationId xmlns:a16="http://schemas.microsoft.com/office/drawing/2014/main" id="{AD4EFE8C-A142-40B7-BDA9-4FA490ABECFF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943" y="1788"/>
                <a:ext cx="81" cy="15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18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</a:p>
            </p:txBody>
          </p:sp>
          <p:sp>
            <p:nvSpPr>
              <p:cNvPr id="23590" name="WordArt 13">
                <a:extLst>
                  <a:ext uri="{FF2B5EF4-FFF2-40B4-BE49-F238E27FC236}">
                    <a16:creationId xmlns:a16="http://schemas.microsoft.com/office/drawing/2014/main" id="{689BE269-7975-4103-93E9-638D281B4F7E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036" y="1785"/>
                <a:ext cx="174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2764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M</a:t>
                </a:r>
                <a:endPara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23591" name="WordArt 14">
                <a:extLst>
                  <a:ext uri="{FF2B5EF4-FFF2-40B4-BE49-F238E27FC236}">
                    <a16:creationId xmlns:a16="http://schemas.microsoft.com/office/drawing/2014/main" id="{5561E496-431D-4176-BEFC-DF204D88EFF2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196" y="1839"/>
                <a:ext cx="94" cy="10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9343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solidFill>
                      <a:srgbClr val="008000"/>
                    </a:solidFill>
                    <a:latin typeface="Symbol" panose="05050102010706020507" pitchFamily="18" charset="2"/>
                  </a:rPr>
                  <a:t>0 l</a:t>
                </a:r>
                <a:endParaRPr lang="zh-CN" altLang="en-US" sz="3600" i="1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Symbol" panose="05050102010706020507" pitchFamily="18" charset="2"/>
                </a:endParaRPr>
              </a:p>
            </p:txBody>
          </p:sp>
          <p:sp>
            <p:nvSpPr>
              <p:cNvPr id="23592" name="WordArt 15">
                <a:extLst>
                  <a:ext uri="{FF2B5EF4-FFF2-40B4-BE49-F238E27FC236}">
                    <a16:creationId xmlns:a16="http://schemas.microsoft.com/office/drawing/2014/main" id="{25E37307-581E-4478-9B08-FE81ACEA67DD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315" y="1789"/>
                <a:ext cx="44" cy="14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endPara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3593" name="WordArt 16">
                <a:extLst>
                  <a:ext uri="{FF2B5EF4-FFF2-40B4-BE49-F238E27FC236}">
                    <a16:creationId xmlns:a16="http://schemas.microsoft.com/office/drawing/2014/main" id="{C4B2E8B2-7700-4D77-AB6F-33C0875A419C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508" y="1788"/>
                <a:ext cx="38" cy="14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endPara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3594" name="WordArt 17">
                <a:extLst>
                  <a:ext uri="{FF2B5EF4-FFF2-40B4-BE49-F238E27FC236}">
                    <a16:creationId xmlns:a16="http://schemas.microsoft.com/office/drawing/2014/main" id="{C7F68905-1EF0-468A-84F6-4388267DC149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364" y="1783"/>
                <a:ext cx="123" cy="14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1991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solidFill>
                      <a:srgbClr val="008000"/>
                    </a:solidFill>
                    <a:latin typeface="Bookman Old Style" panose="02050604050505020204" pitchFamily="18" charset="0"/>
                  </a:rPr>
                  <a:t>T</a:t>
                </a:r>
                <a:endParaRPr lang="zh-CN" alt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Bookman Old Style" panose="02050604050505020204" pitchFamily="18" charset="0"/>
                </a:endParaRPr>
              </a:p>
            </p:txBody>
          </p:sp>
        </p:grpSp>
        <p:grpSp>
          <p:nvGrpSpPr>
            <p:cNvPr id="23586" name="Group 95">
              <a:extLst>
                <a:ext uri="{FF2B5EF4-FFF2-40B4-BE49-F238E27FC236}">
                  <a16:creationId xmlns:a16="http://schemas.microsoft.com/office/drawing/2014/main" id="{77FC7614-36AF-4651-94DA-0DB64CD406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2" y="1468"/>
              <a:ext cx="196" cy="142"/>
              <a:chOff x="2668" y="992"/>
              <a:chExt cx="331" cy="226"/>
            </a:xfrm>
          </p:grpSpPr>
          <p:sp>
            <p:nvSpPr>
              <p:cNvPr id="23587" name="WordArt 96">
                <a:extLst>
                  <a:ext uri="{FF2B5EF4-FFF2-40B4-BE49-F238E27FC236}">
                    <a16:creationId xmlns:a16="http://schemas.microsoft.com/office/drawing/2014/main" id="{9716C565-9628-4B9B-99E1-D58E82A61AB9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668" y="992"/>
                <a:ext cx="151" cy="22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18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d</a:t>
                </a:r>
                <a:endParaRPr lang="zh-CN" altLang="en-US" sz="18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3588" name="WordArt 97">
                <a:extLst>
                  <a:ext uri="{FF2B5EF4-FFF2-40B4-BE49-F238E27FC236}">
                    <a16:creationId xmlns:a16="http://schemas.microsoft.com/office/drawing/2014/main" id="{B25001DF-880F-4245-B0A9-5AA656E2695B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828" y="993"/>
                <a:ext cx="171" cy="22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9343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  <a:endParaRPr lang="zh-CN" alt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Symbol" panose="05050102010706020507" pitchFamily="18" charset="2"/>
                </a:endParaRPr>
              </a:p>
            </p:txBody>
          </p:sp>
        </p:grpSp>
      </p:grpSp>
      <p:grpSp>
        <p:nvGrpSpPr>
          <p:cNvPr id="14" name="Group 110">
            <a:extLst>
              <a:ext uri="{FF2B5EF4-FFF2-40B4-BE49-F238E27FC236}">
                <a16:creationId xmlns:a16="http://schemas.microsoft.com/office/drawing/2014/main" id="{53A1ED54-E262-401A-958A-957AAC5C7E64}"/>
              </a:ext>
            </a:extLst>
          </p:cNvPr>
          <p:cNvGrpSpPr>
            <a:grpSpLocks/>
          </p:cNvGrpSpPr>
          <p:nvPr/>
        </p:nvGrpSpPr>
        <p:grpSpPr bwMode="auto">
          <a:xfrm>
            <a:off x="307975" y="1341438"/>
            <a:ext cx="4695825" cy="608012"/>
            <a:chOff x="194" y="845"/>
            <a:chExt cx="2343" cy="383"/>
          </a:xfrm>
        </p:grpSpPr>
        <p:sp>
          <p:nvSpPr>
            <p:cNvPr id="23565" name="WordArt 50">
              <a:extLst>
                <a:ext uri="{FF2B5EF4-FFF2-40B4-BE49-F238E27FC236}">
                  <a16:creationId xmlns:a16="http://schemas.microsoft.com/office/drawing/2014/main" id="{C52BF025-5B91-4642-A328-7B6E43F2C7D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94" y="983"/>
              <a:ext cx="132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2764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cs typeface="Times New Roman" panose="02020603050405020304" pitchFamily="18" charset="0"/>
                </a:rPr>
                <a:t>M</a:t>
              </a:r>
              <a:endParaRPr lang="zh-CN" altLang="en-US" sz="3600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3566" name="WordArt 51">
              <a:extLst>
                <a:ext uri="{FF2B5EF4-FFF2-40B4-BE49-F238E27FC236}">
                  <a16:creationId xmlns:a16="http://schemas.microsoft.com/office/drawing/2014/main" id="{6EFC91E6-DA01-4E2D-A476-C2E867A4C21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12" y="1037"/>
              <a:ext cx="72" cy="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9343"/>
                </a:avLst>
              </a:prstTxWarp>
            </a:bodyPr>
            <a:lstStyle/>
            <a:p>
              <a:pPr algn="ctr"/>
              <a:r>
                <a:rPr lang="en-US" altLang="zh-CN" sz="3600" i="1" kern="10" spc="-18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Symbol" panose="05050102010706020507" pitchFamily="18" charset="2"/>
                </a:rPr>
                <a:t>0 l</a:t>
              </a:r>
              <a:endParaRPr lang="zh-CN" altLang="en-US" sz="3600" i="1" kern="10" spc="-18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3567" name="WordArt 52">
              <a:extLst>
                <a:ext uri="{FF2B5EF4-FFF2-40B4-BE49-F238E27FC236}">
                  <a16:creationId xmlns:a16="http://schemas.microsoft.com/office/drawing/2014/main" id="{4BE40F15-3E83-4561-9842-2D6F7B6FF377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04" y="985"/>
              <a:ext cx="41" cy="12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568" name="WordArt 53">
              <a:extLst>
                <a:ext uri="{FF2B5EF4-FFF2-40B4-BE49-F238E27FC236}">
                  <a16:creationId xmlns:a16="http://schemas.microsoft.com/office/drawing/2014/main" id="{59A06886-C30E-4679-8768-F9BF65C0EA7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85" y="983"/>
              <a:ext cx="35" cy="1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569" name="WordArt 54">
              <a:extLst>
                <a:ext uri="{FF2B5EF4-FFF2-40B4-BE49-F238E27FC236}">
                  <a16:creationId xmlns:a16="http://schemas.microsoft.com/office/drawing/2014/main" id="{E21317FF-2FB1-4815-B22B-ADFD3E5E8187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50" y="979"/>
              <a:ext cx="115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1991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Bookman Old Style" panose="02050604050505020204" pitchFamily="18" charset="0"/>
                </a:rPr>
                <a:t>T</a:t>
              </a:r>
              <a:endParaRPr lang="zh-CN" altLang="en-US" sz="3600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Bookman Old Style" panose="02050604050505020204" pitchFamily="18" charset="0"/>
              </a:endParaRPr>
            </a:p>
          </p:txBody>
        </p:sp>
        <p:grpSp>
          <p:nvGrpSpPr>
            <p:cNvPr id="23570" name="Group 55">
              <a:extLst>
                <a:ext uri="{FF2B5EF4-FFF2-40B4-BE49-F238E27FC236}">
                  <a16:creationId xmlns:a16="http://schemas.microsoft.com/office/drawing/2014/main" id="{174CC9CC-5F71-49A5-991F-66DE82E27F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2" y="1027"/>
              <a:ext cx="120" cy="47"/>
              <a:chOff x="1710" y="2910"/>
              <a:chExt cx="344" cy="96"/>
            </a:xfrm>
          </p:grpSpPr>
          <p:sp>
            <p:nvSpPr>
              <p:cNvPr id="23583" name="Line 56">
                <a:extLst>
                  <a:ext uri="{FF2B5EF4-FFF2-40B4-BE49-F238E27FC236}">
                    <a16:creationId xmlns:a16="http://schemas.microsoft.com/office/drawing/2014/main" id="{4EBB3AC3-A23E-401A-B2DF-85C726F251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3" y="2910"/>
                <a:ext cx="34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4" name="Line 57">
                <a:extLst>
                  <a:ext uri="{FF2B5EF4-FFF2-40B4-BE49-F238E27FC236}">
                    <a16:creationId xmlns:a16="http://schemas.microsoft.com/office/drawing/2014/main" id="{9881EB80-E6E7-450A-81E2-27FEE78CD1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0" y="3006"/>
                <a:ext cx="34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71" name="WordArt 58">
              <a:extLst>
                <a:ext uri="{FF2B5EF4-FFF2-40B4-BE49-F238E27FC236}">
                  <a16:creationId xmlns:a16="http://schemas.microsoft.com/office/drawing/2014/main" id="{6E7FCE90-350E-4F39-9A3F-48A4D4733F4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934" y="956"/>
              <a:ext cx="603" cy="16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latin typeface="楷体_GB2312" panose="02010609030101010101" pitchFamily="49" charset="-122"/>
                </a:rPr>
                <a:t>单色辐出度</a:t>
              </a:r>
            </a:p>
          </p:txBody>
        </p:sp>
        <p:sp>
          <p:nvSpPr>
            <p:cNvPr id="23572" name="Line 59">
              <a:extLst>
                <a:ext uri="{FF2B5EF4-FFF2-40B4-BE49-F238E27FC236}">
                  <a16:creationId xmlns:a16="http://schemas.microsoft.com/office/drawing/2014/main" id="{EEC68C16-D447-4BA9-BC74-CEF85774C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9" y="1047"/>
              <a:ext cx="6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573" name="Group 60">
              <a:extLst>
                <a:ext uri="{FF2B5EF4-FFF2-40B4-BE49-F238E27FC236}">
                  <a16:creationId xmlns:a16="http://schemas.microsoft.com/office/drawing/2014/main" id="{DFF251B9-C3F3-4025-A53D-D38527C4DA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6" y="1106"/>
              <a:ext cx="191" cy="122"/>
              <a:chOff x="2538" y="3844"/>
              <a:chExt cx="195" cy="115"/>
            </a:xfrm>
          </p:grpSpPr>
          <p:sp>
            <p:nvSpPr>
              <p:cNvPr id="23581" name="WordArt 61">
                <a:extLst>
                  <a:ext uri="{FF2B5EF4-FFF2-40B4-BE49-F238E27FC236}">
                    <a16:creationId xmlns:a16="http://schemas.microsoft.com/office/drawing/2014/main" id="{D6C7775E-2A72-4AA1-AAF0-A1116AE1D344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582" y="3846"/>
                <a:ext cx="151" cy="10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3968"/>
                  </a:avLst>
                </a:prstTxWarp>
              </a:bodyPr>
              <a:lstStyle/>
              <a:p>
                <a:pPr algn="ctr"/>
                <a:r>
                  <a:rPr lang="en-US" altLang="zh-CN" sz="12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  <a:endParaRPr lang="zh-CN" altLang="en-US" sz="12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Symbol" panose="05050102010706020507" pitchFamily="18" charset="2"/>
                </a:endParaRPr>
              </a:p>
            </p:txBody>
          </p:sp>
          <p:sp>
            <p:nvSpPr>
              <p:cNvPr id="23582" name="WordArt 62">
                <a:extLst>
                  <a:ext uri="{FF2B5EF4-FFF2-40B4-BE49-F238E27FC236}">
                    <a16:creationId xmlns:a16="http://schemas.microsoft.com/office/drawing/2014/main" id="{909C1346-8C63-42F7-9A82-CFEF8052DC0E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538" y="3844"/>
                <a:ext cx="65" cy="11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18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d</a:t>
                </a:r>
                <a:endParaRPr lang="zh-CN" altLang="en-US" sz="18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574" name="WordArt 63">
              <a:extLst>
                <a:ext uri="{FF2B5EF4-FFF2-40B4-BE49-F238E27FC236}">
                  <a16:creationId xmlns:a16="http://schemas.microsoft.com/office/drawing/2014/main" id="{3197C5E1-5D30-4D08-A4E7-30B63EF622D9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931" y="850"/>
              <a:ext cx="74" cy="14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8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</a:t>
              </a:r>
              <a:endParaRPr lang="zh-CN" altLang="en-US" sz="18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575" name="WordArt 64">
              <a:extLst>
                <a:ext uri="{FF2B5EF4-FFF2-40B4-BE49-F238E27FC236}">
                  <a16:creationId xmlns:a16="http://schemas.microsoft.com/office/drawing/2014/main" id="{FEDDD985-1C4D-499C-A958-C4FA8ABFFE70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016" y="847"/>
              <a:ext cx="158" cy="1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2764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M</a:t>
              </a:r>
              <a:endParaRPr lang="zh-CN" alt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3576" name="WordArt 65">
              <a:extLst>
                <a:ext uri="{FF2B5EF4-FFF2-40B4-BE49-F238E27FC236}">
                  <a16:creationId xmlns:a16="http://schemas.microsoft.com/office/drawing/2014/main" id="{C25522A5-C504-4373-8F68-E62EF4C95EA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253" y="851"/>
              <a:ext cx="39" cy="13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endParaRPr lang="zh-CN" alt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577" name="WordArt 66">
              <a:extLst>
                <a:ext uri="{FF2B5EF4-FFF2-40B4-BE49-F238E27FC236}">
                  <a16:creationId xmlns:a16="http://schemas.microsoft.com/office/drawing/2014/main" id="{CF72108A-81B5-43AD-AEB7-BD78251B465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374" y="850"/>
              <a:ext cx="34" cy="13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endParaRPr lang="zh-CN" alt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578" name="WordArt 67">
              <a:extLst>
                <a:ext uri="{FF2B5EF4-FFF2-40B4-BE49-F238E27FC236}">
                  <a16:creationId xmlns:a16="http://schemas.microsoft.com/office/drawing/2014/main" id="{A9C1F5B4-9A5E-406B-85E6-45503C35895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274" y="845"/>
              <a:ext cx="112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1991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Bookman Old Style" panose="02050604050505020204" pitchFamily="18" charset="0"/>
                </a:rPr>
                <a:t>T</a:t>
              </a:r>
              <a:endParaRPr lang="zh-CN" altLang="en-US" sz="3600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23579" name="WordArt 68">
              <a:extLst>
                <a:ext uri="{FF2B5EF4-FFF2-40B4-BE49-F238E27FC236}">
                  <a16:creationId xmlns:a16="http://schemas.microsoft.com/office/drawing/2014/main" id="{29653F74-2678-4682-8DBC-9A20B8CC95B9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556" y="950"/>
              <a:ext cx="345" cy="1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楷体_GB2312" panose="02010609030101010101" pitchFamily="49" charset="-122"/>
                </a:rPr>
                <a:t>黑体的</a:t>
              </a:r>
            </a:p>
          </p:txBody>
        </p:sp>
        <p:graphicFrame>
          <p:nvGraphicFramePr>
            <p:cNvPr id="23580" name="Object 109">
              <a:extLst>
                <a:ext uri="{FF2B5EF4-FFF2-40B4-BE49-F238E27FC236}">
                  <a16:creationId xmlns:a16="http://schemas.microsoft.com/office/drawing/2014/main" id="{E0A6168B-33DF-4EA0-AA09-CF4BD07BAC1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62" y="924"/>
            <a:ext cx="106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9" r:id="rId7" imgW="126720" imgH="177480" progId="Equation.DSMT4">
                    <p:embed/>
                  </p:oleObj>
                </mc:Choice>
                <mc:Fallback>
                  <p:oleObj r:id="rId7" imgW="126720" imgH="177480" progId="Equation.DSMT4">
                    <p:embed/>
                    <p:pic>
                      <p:nvPicPr>
                        <p:cNvPr id="0" name="Object 10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2" y="924"/>
                          <a:ext cx="106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30928" name="Object 112">
            <a:extLst>
              <a:ext uri="{FF2B5EF4-FFF2-40B4-BE49-F238E27FC236}">
                <a16:creationId xmlns:a16="http://schemas.microsoft.com/office/drawing/2014/main" id="{DF5E1489-3920-4B07-890B-714EEC7A81BC}"/>
              </a:ext>
            </a:extLst>
          </p:cNvPr>
          <p:cNvGraphicFramePr>
            <a:graphicFrameLocks/>
          </p:cNvGraphicFramePr>
          <p:nvPr/>
        </p:nvGraphicFramePr>
        <p:xfrm>
          <a:off x="1728788" y="3348038"/>
          <a:ext cx="29146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" r:id="rId9" imgW="1358310" imgH="482391" progId="Equation.DSMT4">
                  <p:embed/>
                </p:oleObj>
              </mc:Choice>
              <mc:Fallback>
                <p:oleObj r:id="rId9" imgW="1358310" imgH="482391" progId="Equation.DSMT4">
                  <p:embed/>
                  <p:pic>
                    <p:nvPicPr>
                      <p:cNvPr id="0" name="Object 112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3348038"/>
                        <a:ext cx="291465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0930" name="Text Box 114">
            <a:extLst>
              <a:ext uri="{FF2B5EF4-FFF2-40B4-BE49-F238E27FC236}">
                <a16:creationId xmlns:a16="http://schemas.microsoft.com/office/drawing/2014/main" id="{74344DDB-0E0F-4BAE-BB75-B5BD29F46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5661025"/>
            <a:ext cx="43053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不同温度下的黑体辐射曲线</a:t>
            </a:r>
          </a:p>
        </p:txBody>
      </p:sp>
      <p:sp>
        <p:nvSpPr>
          <p:cNvPr id="87" name="Text Box 2">
            <a:extLst>
              <a:ext uri="{FF2B5EF4-FFF2-40B4-BE49-F238E27FC236}">
                <a16:creationId xmlns:a16="http://schemas.microsoft.com/office/drawing/2014/main" id="{1496BE26-4B68-48B7-B1FA-7E78D9A9A853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11188" y="188913"/>
            <a:ext cx="41148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3.</a:t>
            </a: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黑体辐射实验规律</a:t>
            </a:r>
          </a:p>
        </p:txBody>
      </p:sp>
      <p:sp>
        <p:nvSpPr>
          <p:cNvPr id="80" name="Text Box 9">
            <a:extLst>
              <a:ext uri="{FF2B5EF4-FFF2-40B4-BE49-F238E27FC236}">
                <a16:creationId xmlns:a16="http://schemas.microsoft.com/office/drawing/2014/main" id="{90FEA59A-BB1F-4C5E-ABCE-44ABB774B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6092825"/>
            <a:ext cx="4051300" cy="5302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曲线与横轴围的面积就</a:t>
            </a:r>
            <a:r>
              <a:rPr kumimoji="1" lang="en-US" altLang="zh-CN" i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M</a:t>
            </a:r>
            <a:r>
              <a:rPr kumimoji="1" lang="en-US" altLang="zh-CN" baseline="-25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0</a:t>
            </a:r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(</a:t>
            </a:r>
            <a:r>
              <a:rPr kumimoji="1" lang="en-US" altLang="zh-CN" i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</a:t>
            </a:r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)</a:t>
            </a:r>
            <a:endParaRPr kumimoji="1" lang="en-US" altLang="zh-CN" b="0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0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30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930" grpId="0"/>
      <p:bldP spid="8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>
            <a:extLst>
              <a:ext uri="{FF2B5EF4-FFF2-40B4-BE49-F238E27FC236}">
                <a16:creationId xmlns:a16="http://schemas.microsoft.com/office/drawing/2014/main" id="{A50836CA-0B50-4308-92C7-2D5F2BD387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F4372B-E6E1-4EBE-BCAB-0DA3F8107CD9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zh-CN" altLang="zh-CN" sz="1400"/>
          </a:p>
        </p:txBody>
      </p:sp>
      <p:sp>
        <p:nvSpPr>
          <p:cNvPr id="918531" name="Text Box 3">
            <a:extLst>
              <a:ext uri="{FF2B5EF4-FFF2-40B4-BE49-F238E27FC236}">
                <a16:creationId xmlns:a16="http://schemas.microsoft.com/office/drawing/2014/main" id="{0A03E401-9EEB-4222-8FBD-010CB6235B10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68313" y="3860800"/>
            <a:ext cx="3654425" cy="1844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物理意义：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对于黑体，温度越高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辐出度</a:t>
            </a:r>
            <a:r>
              <a:rPr kumimoji="1" lang="en-US" altLang="zh-CN" b="0" i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M</a:t>
            </a:r>
            <a:r>
              <a:rPr kumimoji="1" lang="en-US" altLang="zh-CN" b="0" baseline="-2500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0</a:t>
            </a: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（</a:t>
            </a:r>
            <a:r>
              <a:rPr kumimoji="1" lang="en-US" altLang="zh-CN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T</a:t>
            </a: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）越大且随</a:t>
            </a:r>
            <a:r>
              <a:rPr kumimoji="1" lang="en-US" altLang="zh-CN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T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增高而迅速增大。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77FD532A-2C22-4D16-A3AC-75D2DF99DD3F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196975"/>
            <a:ext cx="4897438" cy="1295400"/>
            <a:chOff x="0" y="2841"/>
            <a:chExt cx="3107" cy="816"/>
          </a:xfrm>
        </p:grpSpPr>
        <p:sp>
          <p:nvSpPr>
            <p:cNvPr id="24588" name="Rectangle 5">
              <a:extLst>
                <a:ext uri="{FF2B5EF4-FFF2-40B4-BE49-F238E27FC236}">
                  <a16:creationId xmlns:a16="http://schemas.microsoft.com/office/drawing/2014/main" id="{D202F9FE-9BFD-4658-AC79-E24E41A8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41"/>
              <a:ext cx="3107" cy="816"/>
            </a:xfrm>
            <a:prstGeom prst="rect">
              <a:avLst/>
            </a:prstGeom>
            <a:solidFill>
              <a:srgbClr val="CC3300"/>
            </a:solidFill>
            <a:ln w="38100" cmpd="dbl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918534" name="Text Box 6">
              <a:extLst>
                <a:ext uri="{FF2B5EF4-FFF2-40B4-BE49-F238E27FC236}">
                  <a16:creationId xmlns:a16="http://schemas.microsoft.com/office/drawing/2014/main" id="{E86500EB-62C0-4D07-B7B6-EFCB1C3F550E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04" y="3273"/>
              <a:ext cx="2812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3200" i="1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Symbol" panose="05050102010706020507" pitchFamily="18" charset="2"/>
                </a:rPr>
                <a:t></a:t>
              </a:r>
              <a:r>
                <a:rPr kumimoji="1" lang="en-US" altLang="zh-CN" sz="3200" i="1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= </a:t>
              </a:r>
              <a:r>
                <a:rPr kumimoji="1" lang="en-US" altLang="zh-CN"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5.67</a:t>
              </a:r>
              <a:r>
                <a:rPr kumimoji="1" lang="en-US" altLang="zh-CN"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Symbol" panose="05050102010706020507" pitchFamily="18" charset="2"/>
                </a:rPr>
                <a:t></a:t>
              </a:r>
              <a:r>
                <a:rPr kumimoji="1" lang="en-US" altLang="zh-CN"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10</a:t>
              </a:r>
              <a:r>
                <a:rPr kumimoji="1" lang="en-US" altLang="zh-CN" sz="3200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-8 </a:t>
              </a:r>
              <a:r>
                <a:rPr kumimoji="1" lang="en-US" altLang="zh-CN"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W</a:t>
              </a:r>
              <a:r>
                <a:rPr kumimoji="1" lang="en-US" altLang="zh-CN" sz="3200" i="1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/</a:t>
              </a:r>
              <a:r>
                <a:rPr kumimoji="1" lang="en-US" altLang="zh-CN"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m</a:t>
              </a:r>
              <a:r>
                <a:rPr kumimoji="1" lang="en-US" altLang="zh-CN" sz="3200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r>
                <a:rPr kumimoji="1" lang="en-US" altLang="zh-CN"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K</a:t>
              </a:r>
              <a:r>
                <a:rPr kumimoji="1" lang="en-US" altLang="zh-CN" sz="3200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4</a:t>
              </a:r>
            </a:p>
          </p:txBody>
        </p:sp>
        <p:graphicFrame>
          <p:nvGraphicFramePr>
            <p:cNvPr id="24590" name="Object 7">
              <a:extLst>
                <a:ext uri="{FF2B5EF4-FFF2-40B4-BE49-F238E27FC236}">
                  <a16:creationId xmlns:a16="http://schemas.microsoft.com/office/drawing/2014/main" id="{801069A1-3B5B-417A-8B0F-4834C2F527C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60" y="2856"/>
            <a:ext cx="1433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15" r:id="rId3" imgW="857212" imgH="209414" progId="Equation.DSMT4">
                    <p:embed/>
                  </p:oleObj>
                </mc:Choice>
                <mc:Fallback>
                  <p:oleObj r:id="rId3" imgW="857212" imgH="209414" progId="Equation.DSMT4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0" y="2856"/>
                          <a:ext cx="1433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18536" name="Text Box 8">
            <a:extLst>
              <a:ext uri="{FF2B5EF4-FFF2-40B4-BE49-F238E27FC236}">
                <a16:creationId xmlns:a16="http://schemas.microsoft.com/office/drawing/2014/main" id="{F4655E50-6B4C-4166-92D8-B5245070447D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50825" y="115888"/>
            <a:ext cx="6697663" cy="968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1)  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实验规律之一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      </a:t>
            </a: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----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斯特藩 </a:t>
            </a:r>
            <a:r>
              <a:rPr kumimoji="1" lang="en-US" altLang="zh-CN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- 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玻耳兹曼定律</a:t>
            </a:r>
            <a:endParaRPr kumimoji="1" lang="zh-CN" altLang="en-US" sz="2800" b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918537" name="Text Box 9">
            <a:extLst>
              <a:ext uri="{FF2B5EF4-FFF2-40B4-BE49-F238E27FC236}">
                <a16:creationId xmlns:a16="http://schemas.microsoft.com/office/drawing/2014/main" id="{E993861B-F5A3-4873-B006-D3004CA4F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6092825"/>
            <a:ext cx="4051300" cy="5302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曲线与横轴围的面积就</a:t>
            </a:r>
            <a:r>
              <a:rPr kumimoji="1" lang="en-US" altLang="zh-CN" i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M</a:t>
            </a:r>
            <a:r>
              <a:rPr kumimoji="1" lang="en-US" altLang="zh-CN" baseline="-250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0</a:t>
            </a:r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(</a:t>
            </a:r>
            <a:r>
              <a:rPr kumimoji="1" lang="en-US" altLang="zh-CN" i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</a:t>
            </a:r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)</a:t>
            </a:r>
            <a:endParaRPr kumimoji="1" lang="en-US" altLang="zh-CN" b="0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918539" name="Text Box 11">
            <a:extLst>
              <a:ext uri="{FF2B5EF4-FFF2-40B4-BE49-F238E27FC236}">
                <a16:creationId xmlns:a16="http://schemas.microsoft.com/office/drawing/2014/main" id="{B9D85154-A366-4F03-83C4-964926409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5661025"/>
            <a:ext cx="43053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不同温度下的黑体辐射曲线</a:t>
            </a:r>
          </a:p>
        </p:txBody>
      </p:sp>
      <p:grpSp>
        <p:nvGrpSpPr>
          <p:cNvPr id="24584" name="Group 15">
            <a:extLst>
              <a:ext uri="{FF2B5EF4-FFF2-40B4-BE49-F238E27FC236}">
                <a16:creationId xmlns:a16="http://schemas.microsoft.com/office/drawing/2014/main" id="{AD4A0216-17DA-4C81-BB76-7460E5D5EA21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476250"/>
            <a:ext cx="4138612" cy="4679950"/>
            <a:chOff x="3107" y="300"/>
            <a:chExt cx="2607" cy="2948"/>
          </a:xfrm>
        </p:grpSpPr>
        <p:pic>
          <p:nvPicPr>
            <p:cNvPr id="24586" name="Picture 16" descr="黑体辐射曲线">
              <a:extLst>
                <a:ext uri="{FF2B5EF4-FFF2-40B4-BE49-F238E27FC236}">
                  <a16:creationId xmlns:a16="http://schemas.microsoft.com/office/drawing/2014/main" id="{80CFB08F-AC0F-4710-BBEA-243740C672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89" t="1563" r="2188" b="2327"/>
            <a:stretch>
              <a:fillRect/>
            </a:stretch>
          </p:blipFill>
          <p:spPr bwMode="auto">
            <a:xfrm>
              <a:off x="3107" y="361"/>
              <a:ext cx="2607" cy="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4587" name="Object 17">
              <a:extLst>
                <a:ext uri="{FF2B5EF4-FFF2-40B4-BE49-F238E27FC236}">
                  <a16:creationId xmlns:a16="http://schemas.microsoft.com/office/drawing/2014/main" id="{54AA5915-EAAC-4E8B-929D-50FB9B334E0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68" y="300"/>
            <a:ext cx="323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16" r:id="rId6" imgW="304536" imgH="228402" progId="Equation.DSMT4">
                    <p:embed/>
                  </p:oleObj>
                </mc:Choice>
                <mc:Fallback>
                  <p:oleObj r:id="rId6" imgW="304536" imgH="228402" progId="Equation.DSMT4">
                    <p:embed/>
                    <p:pic>
                      <p:nvPicPr>
                        <p:cNvPr id="0" name="Object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8" y="300"/>
                          <a:ext cx="323" cy="25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18546" name="Rectangle 18">
            <a:extLst>
              <a:ext uri="{FF2B5EF4-FFF2-40B4-BE49-F238E27FC236}">
                <a16:creationId xmlns:a16="http://schemas.microsoft.com/office/drawing/2014/main" id="{1F7BDC15-5D96-4D9A-BB66-70F8021D2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565400"/>
            <a:ext cx="24479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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：斯特藩常量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18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185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1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1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8531" grpId="0"/>
      <p:bldP spid="918536" grpId="0" build="p"/>
      <p:bldP spid="91854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4">
            <a:extLst>
              <a:ext uri="{FF2B5EF4-FFF2-40B4-BE49-F238E27FC236}">
                <a16:creationId xmlns:a16="http://schemas.microsoft.com/office/drawing/2014/main" id="{5B91D39F-D919-480F-B904-71B430622B0C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376488"/>
            <a:ext cx="7762875" cy="3578225"/>
            <a:chOff x="431" y="1536"/>
            <a:chExt cx="4890" cy="2254"/>
          </a:xfrm>
        </p:grpSpPr>
        <p:grpSp>
          <p:nvGrpSpPr>
            <p:cNvPr id="25713" name="Group 233">
              <a:extLst>
                <a:ext uri="{FF2B5EF4-FFF2-40B4-BE49-F238E27FC236}">
                  <a16:creationId xmlns:a16="http://schemas.microsoft.com/office/drawing/2014/main" id="{06CB1B9B-E666-4B44-AE5B-96A89DC593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" y="1536"/>
              <a:ext cx="4890" cy="2254"/>
              <a:chOff x="431" y="1536"/>
              <a:chExt cx="4890" cy="2254"/>
            </a:xfrm>
          </p:grpSpPr>
          <p:sp>
            <p:nvSpPr>
              <p:cNvPr id="25715" name="Freeform 122">
                <a:extLst>
                  <a:ext uri="{FF2B5EF4-FFF2-40B4-BE49-F238E27FC236}">
                    <a16:creationId xmlns:a16="http://schemas.microsoft.com/office/drawing/2014/main" id="{750BABD2-7828-4E8F-9821-3344D210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" y="1582"/>
                <a:ext cx="4890" cy="2208"/>
              </a:xfrm>
              <a:custGeom>
                <a:avLst/>
                <a:gdLst>
                  <a:gd name="T0" fmla="*/ 0 w 4890"/>
                  <a:gd name="T1" fmla="*/ 2208 h 2208"/>
                  <a:gd name="T2" fmla="*/ 96 w 4890"/>
                  <a:gd name="T3" fmla="*/ 2202 h 2208"/>
                  <a:gd name="T4" fmla="*/ 204 w 4890"/>
                  <a:gd name="T5" fmla="*/ 2184 h 2208"/>
                  <a:gd name="T6" fmla="*/ 330 w 4890"/>
                  <a:gd name="T7" fmla="*/ 2106 h 2208"/>
                  <a:gd name="T8" fmla="*/ 408 w 4890"/>
                  <a:gd name="T9" fmla="*/ 1998 h 2208"/>
                  <a:gd name="T10" fmla="*/ 462 w 4890"/>
                  <a:gd name="T11" fmla="*/ 1848 h 2208"/>
                  <a:gd name="T12" fmla="*/ 528 w 4890"/>
                  <a:gd name="T13" fmla="*/ 1620 h 2208"/>
                  <a:gd name="T14" fmla="*/ 594 w 4890"/>
                  <a:gd name="T15" fmla="*/ 1224 h 2208"/>
                  <a:gd name="T16" fmla="*/ 642 w 4890"/>
                  <a:gd name="T17" fmla="*/ 870 h 2208"/>
                  <a:gd name="T18" fmla="*/ 708 w 4890"/>
                  <a:gd name="T19" fmla="*/ 534 h 2208"/>
                  <a:gd name="T20" fmla="*/ 756 w 4890"/>
                  <a:gd name="T21" fmla="*/ 312 h 2208"/>
                  <a:gd name="T22" fmla="*/ 816 w 4890"/>
                  <a:gd name="T23" fmla="*/ 144 h 2208"/>
                  <a:gd name="T24" fmla="*/ 864 w 4890"/>
                  <a:gd name="T25" fmla="*/ 54 h 2208"/>
                  <a:gd name="T26" fmla="*/ 924 w 4890"/>
                  <a:gd name="T27" fmla="*/ 6 h 2208"/>
                  <a:gd name="T28" fmla="*/ 960 w 4890"/>
                  <a:gd name="T29" fmla="*/ 0 h 2208"/>
                  <a:gd name="T30" fmla="*/ 1032 w 4890"/>
                  <a:gd name="T31" fmla="*/ 18 h 2208"/>
                  <a:gd name="T32" fmla="*/ 1104 w 4890"/>
                  <a:gd name="T33" fmla="*/ 78 h 2208"/>
                  <a:gd name="T34" fmla="*/ 1194 w 4890"/>
                  <a:gd name="T35" fmla="*/ 186 h 2208"/>
                  <a:gd name="T36" fmla="*/ 1338 w 4890"/>
                  <a:gd name="T37" fmla="*/ 390 h 2208"/>
                  <a:gd name="T38" fmla="*/ 1554 w 4890"/>
                  <a:gd name="T39" fmla="*/ 744 h 2208"/>
                  <a:gd name="T40" fmla="*/ 1668 w 4890"/>
                  <a:gd name="T41" fmla="*/ 912 h 2208"/>
                  <a:gd name="T42" fmla="*/ 1854 w 4890"/>
                  <a:gd name="T43" fmla="*/ 1176 h 2208"/>
                  <a:gd name="T44" fmla="*/ 2016 w 4890"/>
                  <a:gd name="T45" fmla="*/ 1362 h 2208"/>
                  <a:gd name="T46" fmla="*/ 2214 w 4890"/>
                  <a:gd name="T47" fmla="*/ 1548 h 2208"/>
                  <a:gd name="T48" fmla="*/ 2478 w 4890"/>
                  <a:gd name="T49" fmla="*/ 1722 h 2208"/>
                  <a:gd name="T50" fmla="*/ 2712 w 4890"/>
                  <a:gd name="T51" fmla="*/ 1830 h 2208"/>
                  <a:gd name="T52" fmla="*/ 2994 w 4890"/>
                  <a:gd name="T53" fmla="*/ 1938 h 2208"/>
                  <a:gd name="T54" fmla="*/ 3420 w 4890"/>
                  <a:gd name="T55" fmla="*/ 2052 h 2208"/>
                  <a:gd name="T56" fmla="*/ 3810 w 4890"/>
                  <a:gd name="T57" fmla="*/ 2124 h 2208"/>
                  <a:gd name="T58" fmla="*/ 4260 w 4890"/>
                  <a:gd name="T59" fmla="*/ 2160 h 2208"/>
                  <a:gd name="T60" fmla="*/ 4668 w 4890"/>
                  <a:gd name="T61" fmla="*/ 2172 h 2208"/>
                  <a:gd name="T62" fmla="*/ 4890 w 4890"/>
                  <a:gd name="T63" fmla="*/ 2184 h 220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4890" h="2208">
                    <a:moveTo>
                      <a:pt x="0" y="2208"/>
                    </a:moveTo>
                    <a:lnTo>
                      <a:pt x="96" y="2202"/>
                    </a:lnTo>
                    <a:lnTo>
                      <a:pt x="204" y="2184"/>
                    </a:lnTo>
                    <a:lnTo>
                      <a:pt x="330" y="2106"/>
                    </a:lnTo>
                    <a:lnTo>
                      <a:pt x="408" y="1998"/>
                    </a:lnTo>
                    <a:lnTo>
                      <a:pt x="462" y="1848"/>
                    </a:lnTo>
                    <a:lnTo>
                      <a:pt x="528" y="1620"/>
                    </a:lnTo>
                    <a:lnTo>
                      <a:pt x="594" y="1224"/>
                    </a:lnTo>
                    <a:lnTo>
                      <a:pt x="642" y="870"/>
                    </a:lnTo>
                    <a:lnTo>
                      <a:pt x="708" y="534"/>
                    </a:lnTo>
                    <a:lnTo>
                      <a:pt x="756" y="312"/>
                    </a:lnTo>
                    <a:lnTo>
                      <a:pt x="816" y="144"/>
                    </a:lnTo>
                    <a:lnTo>
                      <a:pt x="864" y="54"/>
                    </a:lnTo>
                    <a:lnTo>
                      <a:pt x="924" y="6"/>
                    </a:lnTo>
                    <a:lnTo>
                      <a:pt x="960" y="0"/>
                    </a:lnTo>
                    <a:lnTo>
                      <a:pt x="1032" y="18"/>
                    </a:lnTo>
                    <a:lnTo>
                      <a:pt x="1104" y="78"/>
                    </a:lnTo>
                    <a:lnTo>
                      <a:pt x="1194" y="186"/>
                    </a:lnTo>
                    <a:lnTo>
                      <a:pt x="1338" y="390"/>
                    </a:lnTo>
                    <a:lnTo>
                      <a:pt x="1554" y="744"/>
                    </a:lnTo>
                    <a:lnTo>
                      <a:pt x="1668" y="912"/>
                    </a:lnTo>
                    <a:lnTo>
                      <a:pt x="1854" y="1176"/>
                    </a:lnTo>
                    <a:lnTo>
                      <a:pt x="2016" y="1362"/>
                    </a:lnTo>
                    <a:lnTo>
                      <a:pt x="2214" y="1548"/>
                    </a:lnTo>
                    <a:lnTo>
                      <a:pt x="2478" y="1722"/>
                    </a:lnTo>
                    <a:lnTo>
                      <a:pt x="2712" y="1830"/>
                    </a:lnTo>
                    <a:lnTo>
                      <a:pt x="2994" y="1938"/>
                    </a:lnTo>
                    <a:lnTo>
                      <a:pt x="3420" y="2052"/>
                    </a:lnTo>
                    <a:lnTo>
                      <a:pt x="3810" y="2124"/>
                    </a:lnTo>
                    <a:lnTo>
                      <a:pt x="4260" y="2160"/>
                    </a:lnTo>
                    <a:lnTo>
                      <a:pt x="4668" y="2172"/>
                    </a:lnTo>
                    <a:lnTo>
                      <a:pt x="4890" y="2184"/>
                    </a:lnTo>
                  </a:path>
                </a:pathLst>
              </a:custGeom>
              <a:solidFill>
                <a:srgbClr val="EBEDF5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6" name="WordArt 127">
                <a:extLst>
                  <a:ext uri="{FF2B5EF4-FFF2-40B4-BE49-F238E27FC236}">
                    <a16:creationId xmlns:a16="http://schemas.microsoft.com/office/drawing/2014/main" id="{CA2C909B-9DB6-4C0A-A04F-A9F7D94B557C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 rot="3384391">
                <a:off x="1512" y="1825"/>
                <a:ext cx="719" cy="130"/>
              </a:xfrm>
              <a:prstGeom prst="rect">
                <a:avLst/>
              </a:prstGeom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solidFill>
                      <a:srgbClr val="008000"/>
                    </a:solidFill>
                    <a:cs typeface="Times New Roman" panose="02020603050405020304" pitchFamily="18" charset="0"/>
                  </a:rPr>
                  <a:t>2 0 0 0 K</a:t>
                </a:r>
                <a:endParaRPr lang="zh-CN" altLang="en-US" sz="3600" kern="10">
                  <a:solidFill>
                    <a:srgbClr val="008000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714" name="Rectangle 232">
              <a:extLst>
                <a:ext uri="{FF2B5EF4-FFF2-40B4-BE49-F238E27FC236}">
                  <a16:creationId xmlns:a16="http://schemas.microsoft.com/office/drawing/2014/main" id="{887A1934-4669-4630-9B97-3516B7AED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9" y="2416"/>
              <a:ext cx="6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ea typeface="楷体_GB2312" panose="02010609030101010101" pitchFamily="49" charset="-122"/>
                </a:rPr>
                <a:t>M</a:t>
              </a:r>
              <a:r>
                <a:rPr lang="en-US" altLang="zh-CN" sz="2400" baseline="-25000">
                  <a:solidFill>
                    <a:schemeClr val="accent2"/>
                  </a:solidFill>
                  <a:ea typeface="楷体_GB2312" panose="02010609030101010101" pitchFamily="49" charset="-122"/>
                </a:rPr>
                <a:t>0</a:t>
              </a:r>
              <a:r>
                <a:rPr lang="en-US" altLang="zh-CN" sz="2400">
                  <a:solidFill>
                    <a:schemeClr val="accent2"/>
                  </a:solidFill>
                  <a:ea typeface="楷体_GB2312" panose="02010609030101010101" pitchFamily="49" charset="-122"/>
                </a:rPr>
                <a:t>(T)</a:t>
              </a:r>
            </a:p>
          </p:txBody>
        </p:sp>
      </p:grpSp>
      <p:grpSp>
        <p:nvGrpSpPr>
          <p:cNvPr id="4" name="Group 62">
            <a:extLst>
              <a:ext uri="{FF2B5EF4-FFF2-40B4-BE49-F238E27FC236}">
                <a16:creationId xmlns:a16="http://schemas.microsoft.com/office/drawing/2014/main" id="{18F8BEF7-B30C-4853-9090-8978A3D3C0B5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1620838"/>
            <a:ext cx="8569325" cy="4900612"/>
            <a:chOff x="168" y="1055"/>
            <a:chExt cx="5398" cy="3087"/>
          </a:xfrm>
        </p:grpSpPr>
        <p:sp>
          <p:nvSpPr>
            <p:cNvPr id="25656" name="Rectangle 63">
              <a:extLst>
                <a:ext uri="{FF2B5EF4-FFF2-40B4-BE49-F238E27FC236}">
                  <a16:creationId xmlns:a16="http://schemas.microsoft.com/office/drawing/2014/main" id="{1152CDCA-9C2A-4045-BD36-E6A6A9262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" y="3833"/>
              <a:ext cx="5189" cy="9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grpSp>
          <p:nvGrpSpPr>
            <p:cNvPr id="25657" name="Group 64">
              <a:extLst>
                <a:ext uri="{FF2B5EF4-FFF2-40B4-BE49-F238E27FC236}">
                  <a16:creationId xmlns:a16="http://schemas.microsoft.com/office/drawing/2014/main" id="{BC8A9657-D7C6-4C78-8F9E-5AF6F2C4E5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" y="1055"/>
              <a:ext cx="787" cy="2747"/>
              <a:chOff x="168" y="1055"/>
              <a:chExt cx="787" cy="2747"/>
            </a:xfrm>
          </p:grpSpPr>
          <p:sp>
            <p:nvSpPr>
              <p:cNvPr id="25697" name="Line 65">
                <a:extLst>
                  <a:ext uri="{FF2B5EF4-FFF2-40B4-BE49-F238E27FC236}">
                    <a16:creationId xmlns:a16="http://schemas.microsoft.com/office/drawing/2014/main" id="{2DEF1F3C-8F2E-41A7-85BF-CB2AB13CA6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389" y="1698"/>
                <a:ext cx="0" cy="2104"/>
              </a:xfrm>
              <a:prstGeom prst="line">
                <a:avLst/>
              </a:prstGeom>
              <a:noFill/>
              <a:ln w="9525">
                <a:solidFill>
                  <a:srgbClr val="DDDDD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8" name="Line 66">
                <a:extLst>
                  <a:ext uri="{FF2B5EF4-FFF2-40B4-BE49-F238E27FC236}">
                    <a16:creationId xmlns:a16="http://schemas.microsoft.com/office/drawing/2014/main" id="{2D92B027-8A10-49B0-A41F-91DF372F49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" y="1092"/>
                <a:ext cx="0" cy="26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9" name="Line 67">
                <a:extLst>
                  <a:ext uri="{FF2B5EF4-FFF2-40B4-BE49-F238E27FC236}">
                    <a16:creationId xmlns:a16="http://schemas.microsoft.com/office/drawing/2014/main" id="{FE72D9B4-188D-45AE-AD07-31ADCBFA27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" y="1686"/>
                <a:ext cx="8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0" name="Line 68">
                <a:extLst>
                  <a:ext uri="{FF2B5EF4-FFF2-40B4-BE49-F238E27FC236}">
                    <a16:creationId xmlns:a16="http://schemas.microsoft.com/office/drawing/2014/main" id="{1AB0D7B8-AE9E-4B63-99AB-6140634EC4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" y="2735"/>
                <a:ext cx="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1" name="Line 69">
                <a:extLst>
                  <a:ext uri="{FF2B5EF4-FFF2-40B4-BE49-F238E27FC236}">
                    <a16:creationId xmlns:a16="http://schemas.microsoft.com/office/drawing/2014/main" id="{3EC3B0F8-E191-434C-99DE-0DE3A1E60D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" y="3255"/>
                <a:ext cx="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2" name="Line 70">
                <a:extLst>
                  <a:ext uri="{FF2B5EF4-FFF2-40B4-BE49-F238E27FC236}">
                    <a16:creationId xmlns:a16="http://schemas.microsoft.com/office/drawing/2014/main" id="{5C4246FB-0F19-42BE-957C-FF66B4B999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9" y="3260"/>
                <a:ext cx="4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3" name="Line 71">
                <a:extLst>
                  <a:ext uri="{FF2B5EF4-FFF2-40B4-BE49-F238E27FC236}">
                    <a16:creationId xmlns:a16="http://schemas.microsoft.com/office/drawing/2014/main" id="{BB4BFE05-76F6-4C25-B212-4375E02AB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" y="2212"/>
                <a:ext cx="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4" name="Line 72">
                <a:extLst>
                  <a:ext uri="{FF2B5EF4-FFF2-40B4-BE49-F238E27FC236}">
                    <a16:creationId xmlns:a16="http://schemas.microsoft.com/office/drawing/2014/main" id="{0095CE04-4873-4762-A4FE-B28D297409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" y="2736"/>
                <a:ext cx="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5" name="Line 73">
                <a:extLst>
                  <a:ext uri="{FF2B5EF4-FFF2-40B4-BE49-F238E27FC236}">
                    <a16:creationId xmlns:a16="http://schemas.microsoft.com/office/drawing/2014/main" id="{5D425D9B-0C48-4C01-8019-EEEA2A773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" y="2215"/>
                <a:ext cx="6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6" name="WordArt 74">
                <a:extLst>
                  <a:ext uri="{FF2B5EF4-FFF2-40B4-BE49-F238E27FC236}">
                    <a16:creationId xmlns:a16="http://schemas.microsoft.com/office/drawing/2014/main" id="{8405C9B0-1642-4055-9DD4-693A31092109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 rot="5400000">
                <a:off x="-604" y="2255"/>
                <a:ext cx="1690" cy="146"/>
              </a:xfrm>
              <a:prstGeom prst="rect">
                <a:avLst/>
              </a:prstGeom>
            </p:spPr>
            <p:txBody>
              <a:bodyPr vert="eaVert"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 fontAlgn="auto"/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黑体的单色辐出度</a:t>
                </a:r>
              </a:p>
            </p:txBody>
          </p:sp>
          <p:grpSp>
            <p:nvGrpSpPr>
              <p:cNvPr id="25707" name="Group 75">
                <a:extLst>
                  <a:ext uri="{FF2B5EF4-FFF2-40B4-BE49-F238E27FC236}">
                    <a16:creationId xmlns:a16="http://schemas.microsoft.com/office/drawing/2014/main" id="{E3305CDA-A65B-4E53-B55B-32F1EDF24F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" y="1055"/>
                <a:ext cx="496" cy="150"/>
                <a:chOff x="1818" y="1209"/>
                <a:chExt cx="557" cy="180"/>
              </a:xfrm>
            </p:grpSpPr>
            <p:sp>
              <p:nvSpPr>
                <p:cNvPr id="25708" name="WordArt 76">
                  <a:extLst>
                    <a:ext uri="{FF2B5EF4-FFF2-40B4-BE49-F238E27FC236}">
                      <a16:creationId xmlns:a16="http://schemas.microsoft.com/office/drawing/2014/main" id="{638CB6F3-033F-43FB-9FD4-B1E88D71014D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818" y="1214"/>
                  <a:ext cx="173" cy="15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42764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952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2"/>
                      </a:solidFill>
                      <a:cs typeface="Times New Roman" panose="02020603050405020304" pitchFamily="18" charset="0"/>
                    </a:rPr>
                    <a:t>M</a:t>
                  </a:r>
                  <a:endParaRPr lang="zh-CN" alt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709" name="WordArt 77">
                  <a:extLst>
                    <a:ext uri="{FF2B5EF4-FFF2-40B4-BE49-F238E27FC236}">
                      <a16:creationId xmlns:a16="http://schemas.microsoft.com/office/drawing/2014/main" id="{BF67F059-FBC2-4710-ACD9-D97F75EFCEAB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72" y="1278"/>
                  <a:ext cx="94" cy="11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9343"/>
                    </a:avLst>
                  </a:prstTxWarp>
                </a:bodyPr>
                <a:lstStyle/>
                <a:p>
                  <a:pPr algn="ctr"/>
                  <a:r>
                    <a:rPr lang="en-US" altLang="zh-CN" sz="3600" i="1" kern="10">
                      <a:ln w="9525">
                        <a:solidFill>
                          <a:srgbClr val="008000"/>
                        </a:solidFill>
                        <a:round/>
                        <a:headEnd/>
                        <a:tailEnd/>
                      </a:ln>
                      <a:solidFill>
                        <a:srgbClr val="008000"/>
                      </a:solidFill>
                      <a:latin typeface="Symbol" panose="05050102010706020507" pitchFamily="18" charset="2"/>
                    </a:rPr>
                    <a:t>0 l</a:t>
                  </a:r>
                  <a:endParaRPr lang="zh-CN" altLang="en-US" sz="3600" i="1" kern="10">
                    <a:ln w="9525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solidFill>
                      <a:srgbClr val="008000"/>
                    </a:solidFill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25710" name="WordArt 78">
                  <a:extLst>
                    <a:ext uri="{FF2B5EF4-FFF2-40B4-BE49-F238E27FC236}">
                      <a16:creationId xmlns:a16="http://schemas.microsoft.com/office/drawing/2014/main" id="{84E40F98-9DDF-4E37-A66B-AE58ADB08773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092" y="1216"/>
                  <a:ext cx="54" cy="14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  <a:endPara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711" name="WordArt 79">
                  <a:extLst>
                    <a:ext uri="{FF2B5EF4-FFF2-40B4-BE49-F238E27FC236}">
                      <a16:creationId xmlns:a16="http://schemas.microsoft.com/office/drawing/2014/main" id="{D9FBFD7F-03CA-4CB4-9928-98974307A45A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329" y="1214"/>
                  <a:ext cx="46" cy="14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)</a:t>
                  </a:r>
                  <a:endPara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712" name="WordArt 80">
                  <a:extLst>
                    <a:ext uri="{FF2B5EF4-FFF2-40B4-BE49-F238E27FC236}">
                      <a16:creationId xmlns:a16="http://schemas.microsoft.com/office/drawing/2014/main" id="{D21DC793-5F0B-4AAF-AFF1-8EB6ABE3888C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152" y="1209"/>
                  <a:ext cx="150" cy="15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41991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9525">
                        <a:solidFill>
                          <a:srgbClr val="008000"/>
                        </a:solidFill>
                        <a:round/>
                        <a:headEnd/>
                        <a:tailEnd/>
                      </a:ln>
                      <a:solidFill>
                        <a:srgbClr val="008000"/>
                      </a:solidFill>
                      <a:latin typeface="Bookman Old Style" panose="02050604050505020204" pitchFamily="18" charset="0"/>
                    </a:rPr>
                    <a:t>T</a:t>
                  </a:r>
                  <a:endParaRPr lang="zh-CN" altLang="en-US" sz="3600" kern="10">
                    <a:ln w="9525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solidFill>
                      <a:srgbClr val="008000"/>
                    </a:solidFill>
                    <a:latin typeface="Bookman Old Style" panose="02050604050505020204" pitchFamily="18" charset="0"/>
                  </a:endParaRPr>
                </a:p>
              </p:txBody>
            </p:sp>
          </p:grpSp>
        </p:grpSp>
        <p:sp>
          <p:nvSpPr>
            <p:cNvPr id="25658" name="Line 81">
              <a:extLst>
                <a:ext uri="{FF2B5EF4-FFF2-40B4-BE49-F238E27FC236}">
                  <a16:creationId xmlns:a16="http://schemas.microsoft.com/office/drawing/2014/main" id="{18CCA486-BE5B-421E-8675-1264133A03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008" y="2176"/>
              <a:ext cx="0" cy="3228"/>
            </a:xfrm>
            <a:prstGeom prst="line">
              <a:avLst/>
            </a:prstGeom>
            <a:noFill/>
            <a:ln w="9525">
              <a:solidFill>
                <a:srgbClr val="DDDDD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9" name="Line 82">
              <a:extLst>
                <a:ext uri="{FF2B5EF4-FFF2-40B4-BE49-F238E27FC236}">
                  <a16:creationId xmlns:a16="http://schemas.microsoft.com/office/drawing/2014/main" id="{5C4A6994-5B98-4663-B1B0-4D1D2B1FB77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004" y="2176"/>
              <a:ext cx="0" cy="3229"/>
            </a:xfrm>
            <a:prstGeom prst="line">
              <a:avLst/>
            </a:prstGeom>
            <a:noFill/>
            <a:ln w="9525">
              <a:solidFill>
                <a:srgbClr val="DDDDD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0" name="Line 83">
              <a:extLst>
                <a:ext uri="{FF2B5EF4-FFF2-40B4-BE49-F238E27FC236}">
                  <a16:creationId xmlns:a16="http://schemas.microsoft.com/office/drawing/2014/main" id="{F2612E3A-5CD0-4308-BFBE-581C3A7C14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6" y="3772"/>
              <a:ext cx="0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1" name="Line 84">
              <a:extLst>
                <a:ext uri="{FF2B5EF4-FFF2-40B4-BE49-F238E27FC236}">
                  <a16:creationId xmlns:a16="http://schemas.microsoft.com/office/drawing/2014/main" id="{F8D1E911-0D35-49DC-AF54-7C5DD375E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4" y="3773"/>
              <a:ext cx="1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2" name="Line 85">
              <a:extLst>
                <a:ext uri="{FF2B5EF4-FFF2-40B4-BE49-F238E27FC236}">
                  <a16:creationId xmlns:a16="http://schemas.microsoft.com/office/drawing/2014/main" id="{83BABEFD-74DF-41D9-9A2E-1E861464F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" y="3768"/>
              <a:ext cx="1" cy="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3" name="Line 86">
              <a:extLst>
                <a:ext uri="{FF2B5EF4-FFF2-40B4-BE49-F238E27FC236}">
                  <a16:creationId xmlns:a16="http://schemas.microsoft.com/office/drawing/2014/main" id="{93E2B667-6F55-491E-8F7B-16E885157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" y="3769"/>
              <a:ext cx="1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4" name="Line 87">
              <a:extLst>
                <a:ext uri="{FF2B5EF4-FFF2-40B4-BE49-F238E27FC236}">
                  <a16:creationId xmlns:a16="http://schemas.microsoft.com/office/drawing/2014/main" id="{90D98699-0B31-4E7F-97B2-C6E661EC4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2" y="3766"/>
              <a:ext cx="1" cy="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5" name="Line 88">
              <a:extLst>
                <a:ext uri="{FF2B5EF4-FFF2-40B4-BE49-F238E27FC236}">
                  <a16:creationId xmlns:a16="http://schemas.microsoft.com/office/drawing/2014/main" id="{B367B985-1626-4D16-ACB4-922967FEAE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2" y="3756"/>
              <a:ext cx="1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6" name="Line 89">
              <a:extLst>
                <a:ext uri="{FF2B5EF4-FFF2-40B4-BE49-F238E27FC236}">
                  <a16:creationId xmlns:a16="http://schemas.microsoft.com/office/drawing/2014/main" id="{9CE8D0F1-A5C2-4918-BE10-50BEA05F9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2" y="3760"/>
              <a:ext cx="1" cy="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7" name="Line 90">
              <a:extLst>
                <a:ext uri="{FF2B5EF4-FFF2-40B4-BE49-F238E27FC236}">
                  <a16:creationId xmlns:a16="http://schemas.microsoft.com/office/drawing/2014/main" id="{BA972C8B-EF11-47CF-85FF-3303BE690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3" y="3765"/>
              <a:ext cx="0" cy="1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8" name="Line 91">
              <a:extLst>
                <a:ext uri="{FF2B5EF4-FFF2-40B4-BE49-F238E27FC236}">
                  <a16:creationId xmlns:a16="http://schemas.microsoft.com/office/drawing/2014/main" id="{37E2A62C-5AC4-40E1-9CAE-E15F51EAFD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1" y="3771"/>
              <a:ext cx="0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9" name="Line 92">
              <a:extLst>
                <a:ext uri="{FF2B5EF4-FFF2-40B4-BE49-F238E27FC236}">
                  <a16:creationId xmlns:a16="http://schemas.microsoft.com/office/drawing/2014/main" id="{707EEC7C-2298-4C71-BEBA-7495944B96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8" y="3772"/>
              <a:ext cx="0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0" name="Line 93">
              <a:extLst>
                <a:ext uri="{FF2B5EF4-FFF2-40B4-BE49-F238E27FC236}">
                  <a16:creationId xmlns:a16="http://schemas.microsoft.com/office/drawing/2014/main" id="{0DA58FC9-25DE-4497-A8D8-5A8F0218F9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8" y="3772"/>
              <a:ext cx="0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1" name="Line 94">
              <a:extLst>
                <a:ext uri="{FF2B5EF4-FFF2-40B4-BE49-F238E27FC236}">
                  <a16:creationId xmlns:a16="http://schemas.microsoft.com/office/drawing/2014/main" id="{55FA3821-1C37-4541-A52E-9ABEE1057D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3" y="3772"/>
              <a:ext cx="0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2" name="Line 95">
              <a:extLst>
                <a:ext uri="{FF2B5EF4-FFF2-40B4-BE49-F238E27FC236}">
                  <a16:creationId xmlns:a16="http://schemas.microsoft.com/office/drawing/2014/main" id="{84A3CB36-6796-495E-8655-152B786096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2" y="3773"/>
              <a:ext cx="0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73" name="Group 96">
              <a:extLst>
                <a:ext uri="{FF2B5EF4-FFF2-40B4-BE49-F238E27FC236}">
                  <a16:creationId xmlns:a16="http://schemas.microsoft.com/office/drawing/2014/main" id="{F9E7DDFE-878F-4C27-AE30-9421152245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5" y="3841"/>
              <a:ext cx="282" cy="87"/>
              <a:chOff x="719" y="3689"/>
              <a:chExt cx="301" cy="115"/>
            </a:xfrm>
          </p:grpSpPr>
          <p:sp>
            <p:nvSpPr>
              <p:cNvPr id="25692" name="Rectangle 97">
                <a:extLst>
                  <a:ext uri="{FF2B5EF4-FFF2-40B4-BE49-F238E27FC236}">
                    <a16:creationId xmlns:a16="http://schemas.microsoft.com/office/drawing/2014/main" id="{8FC10D4D-0772-48BA-849C-A27BE3DEF2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H="1">
                <a:off x="911" y="3691"/>
                <a:ext cx="112" cy="95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CC000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25693" name="Rectangle 98">
                <a:extLst>
                  <a:ext uri="{FF2B5EF4-FFF2-40B4-BE49-F238E27FC236}">
                    <a16:creationId xmlns:a16="http://schemas.microsoft.com/office/drawing/2014/main" id="{DECD3032-35C3-46AD-9A02-A194974BD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H="1">
                <a:off x="751" y="3699"/>
                <a:ext cx="115" cy="84"/>
              </a:xfrm>
              <a:prstGeom prst="rect">
                <a:avLst/>
              </a:prstGeom>
              <a:gradFill rotWithShape="0">
                <a:gsLst>
                  <a:gs pos="0">
                    <a:srgbClr val="339933"/>
                  </a:gs>
                  <a:gs pos="100000">
                    <a:srgbClr val="FFFF0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25694" name="Rectangle 99">
                <a:extLst>
                  <a:ext uri="{FF2B5EF4-FFF2-40B4-BE49-F238E27FC236}">
                    <a16:creationId xmlns:a16="http://schemas.microsoft.com/office/drawing/2014/main" id="{7706465D-FFED-4287-95AD-F85B9B86F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H="1">
                <a:off x="673" y="3724"/>
                <a:ext cx="112" cy="31"/>
              </a:xfrm>
              <a:prstGeom prst="rect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0066CC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25695" name="Rectangle 100">
                <a:extLst>
                  <a:ext uri="{FF2B5EF4-FFF2-40B4-BE49-F238E27FC236}">
                    <a16:creationId xmlns:a16="http://schemas.microsoft.com/office/drawing/2014/main" id="{7ADEF268-ACA5-4906-B726-16B2BCADA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H="1">
                <a:off x="710" y="3730"/>
                <a:ext cx="112" cy="32"/>
              </a:xfrm>
              <a:prstGeom prst="rect">
                <a:avLst/>
              </a:prstGeom>
              <a:gradFill rotWithShape="0">
                <a:gsLst>
                  <a:gs pos="0">
                    <a:srgbClr val="0066CC"/>
                  </a:gs>
                  <a:gs pos="100000">
                    <a:srgbClr val="3399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25696" name="Rectangle 101">
                <a:extLst>
                  <a:ext uri="{FF2B5EF4-FFF2-40B4-BE49-F238E27FC236}">
                    <a16:creationId xmlns:a16="http://schemas.microsoft.com/office/drawing/2014/main" id="{295D0F9C-39B8-41F5-BB1C-7434483D3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H="1">
                <a:off x="822" y="3693"/>
                <a:ext cx="113" cy="94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100000">
                    <a:srgbClr val="FF000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25674" name="Line 102">
              <a:extLst>
                <a:ext uri="{FF2B5EF4-FFF2-40B4-BE49-F238E27FC236}">
                  <a16:creationId xmlns:a16="http://schemas.microsoft.com/office/drawing/2014/main" id="{8920CC8A-E38E-4C41-9ABE-F33FE3883D3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957" y="1206"/>
              <a:ext cx="3" cy="51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5" name="Line 103">
              <a:extLst>
                <a:ext uri="{FF2B5EF4-FFF2-40B4-BE49-F238E27FC236}">
                  <a16:creationId xmlns:a16="http://schemas.microsoft.com/office/drawing/2014/main" id="{A78224FE-7A48-4349-90AF-A69CBAB77B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" y="3765"/>
              <a:ext cx="0" cy="1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76" name="Group 104">
              <a:extLst>
                <a:ext uri="{FF2B5EF4-FFF2-40B4-BE49-F238E27FC236}">
                  <a16:creationId xmlns:a16="http://schemas.microsoft.com/office/drawing/2014/main" id="{1F56129A-6E3A-4002-B086-726166875B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1" y="3958"/>
              <a:ext cx="562" cy="182"/>
              <a:chOff x="4417" y="3151"/>
              <a:chExt cx="562" cy="167"/>
            </a:xfrm>
          </p:grpSpPr>
          <p:sp>
            <p:nvSpPr>
              <p:cNvPr id="25690" name="WordArt 105">
                <a:extLst>
                  <a:ext uri="{FF2B5EF4-FFF2-40B4-BE49-F238E27FC236}">
                    <a16:creationId xmlns:a16="http://schemas.microsoft.com/office/drawing/2014/main" id="{2EB50C49-4FDA-4656-9706-36EEE0727290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4417" y="3157"/>
                <a:ext cx="321" cy="16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波 长</a:t>
                </a:r>
              </a:p>
            </p:txBody>
          </p:sp>
          <p:sp>
            <p:nvSpPr>
              <p:cNvPr id="25691" name="WordArt 106">
                <a:extLst>
                  <a:ext uri="{FF2B5EF4-FFF2-40B4-BE49-F238E27FC236}">
                    <a16:creationId xmlns:a16="http://schemas.microsoft.com/office/drawing/2014/main" id="{9C042A79-450D-43B3-B420-2F74D53307DA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4788" y="3151"/>
                <a:ext cx="191" cy="1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3968"/>
                  </a:avLst>
                </a:prstTxWarp>
              </a:bodyPr>
              <a:lstStyle/>
              <a:p>
                <a:pPr algn="ctr"/>
                <a:r>
                  <a:rPr lang="en-US" altLang="zh-CN" sz="12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  <a:endParaRPr lang="zh-CN" altLang="en-US" sz="12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Symbol" panose="05050102010706020507" pitchFamily="18" charset="2"/>
                </a:endParaRPr>
              </a:p>
            </p:txBody>
          </p:sp>
        </p:grpSp>
        <p:sp>
          <p:nvSpPr>
            <p:cNvPr id="25677" name="WordArt 107">
              <a:extLst>
                <a:ext uri="{FF2B5EF4-FFF2-40B4-BE49-F238E27FC236}">
                  <a16:creationId xmlns:a16="http://schemas.microsoft.com/office/drawing/2014/main" id="{ECA0A2D8-F281-4139-9072-F698B98B1EA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092" y="4008"/>
              <a:ext cx="60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4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1</a:t>
              </a:r>
              <a:endParaRPr lang="zh-CN" altLang="en-US" sz="14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678" name="WordArt 108">
              <a:extLst>
                <a:ext uri="{FF2B5EF4-FFF2-40B4-BE49-F238E27FC236}">
                  <a16:creationId xmlns:a16="http://schemas.microsoft.com/office/drawing/2014/main" id="{8CE8BD92-60CF-45F1-AB23-4D699DC8D2C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810" y="4006"/>
              <a:ext cx="60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4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2</a:t>
              </a:r>
              <a:endParaRPr lang="zh-CN" altLang="en-US" sz="14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679" name="WordArt 109">
              <a:extLst>
                <a:ext uri="{FF2B5EF4-FFF2-40B4-BE49-F238E27FC236}">
                  <a16:creationId xmlns:a16="http://schemas.microsoft.com/office/drawing/2014/main" id="{19A16FF6-568E-4F31-8BE1-0D63E86FDCAA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546" y="4003"/>
              <a:ext cx="60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4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3</a:t>
              </a:r>
              <a:endParaRPr lang="zh-CN" altLang="en-US" sz="14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680" name="WordArt 110">
              <a:extLst>
                <a:ext uri="{FF2B5EF4-FFF2-40B4-BE49-F238E27FC236}">
                  <a16:creationId xmlns:a16="http://schemas.microsoft.com/office/drawing/2014/main" id="{C46A669C-7697-4D99-920F-805BB0BEFC66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247" y="4012"/>
              <a:ext cx="60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4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4</a:t>
              </a:r>
              <a:endParaRPr lang="zh-CN" altLang="en-US" sz="14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681" name="WordArt 111">
              <a:extLst>
                <a:ext uri="{FF2B5EF4-FFF2-40B4-BE49-F238E27FC236}">
                  <a16:creationId xmlns:a16="http://schemas.microsoft.com/office/drawing/2014/main" id="{72092266-A5B2-4A96-A564-07B6BCE03589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987" y="4028"/>
              <a:ext cx="60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4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5</a:t>
              </a:r>
              <a:endParaRPr lang="zh-CN" altLang="en-US" sz="14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682" name="WordArt 112">
              <a:extLst>
                <a:ext uri="{FF2B5EF4-FFF2-40B4-BE49-F238E27FC236}">
                  <a16:creationId xmlns:a16="http://schemas.microsoft.com/office/drawing/2014/main" id="{2FA1C49D-C19E-4C35-BE1F-2FDD39AB8C5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45" y="4004"/>
              <a:ext cx="60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4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0</a:t>
              </a:r>
              <a:endParaRPr lang="zh-CN" altLang="en-US" sz="14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25683" name="Group 113">
              <a:extLst>
                <a:ext uri="{FF2B5EF4-FFF2-40B4-BE49-F238E27FC236}">
                  <a16:creationId xmlns:a16="http://schemas.microsoft.com/office/drawing/2014/main" id="{358E6D32-5C7A-4C36-A1F6-877181127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7" y="4030"/>
              <a:ext cx="95" cy="84"/>
              <a:chOff x="1781" y="2282"/>
              <a:chExt cx="577" cy="577"/>
            </a:xfrm>
          </p:grpSpPr>
          <p:sp>
            <p:nvSpPr>
              <p:cNvPr id="25688" name="Line 114">
                <a:extLst>
                  <a:ext uri="{FF2B5EF4-FFF2-40B4-BE49-F238E27FC236}">
                    <a16:creationId xmlns:a16="http://schemas.microsoft.com/office/drawing/2014/main" id="{CB30129C-D053-4D31-873E-22D0DA090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2" y="2282"/>
                <a:ext cx="576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89" name="Line 115">
                <a:extLst>
                  <a:ext uri="{FF2B5EF4-FFF2-40B4-BE49-F238E27FC236}">
                    <a16:creationId xmlns:a16="http://schemas.microsoft.com/office/drawing/2014/main" id="{090641A5-269D-4CDC-9653-1AEFF4170B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1" y="2282"/>
                <a:ext cx="577" cy="57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84" name="WordArt 116">
              <a:extLst>
                <a:ext uri="{FF2B5EF4-FFF2-40B4-BE49-F238E27FC236}">
                  <a16:creationId xmlns:a16="http://schemas.microsoft.com/office/drawing/2014/main" id="{73B2C926-FAF8-45C6-AF48-55D6E178D306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276" y="4011"/>
              <a:ext cx="147" cy="11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10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685" name="WordArt 117">
              <a:extLst>
                <a:ext uri="{FF2B5EF4-FFF2-40B4-BE49-F238E27FC236}">
                  <a16:creationId xmlns:a16="http://schemas.microsoft.com/office/drawing/2014/main" id="{D7FA27F1-B9B1-4852-B176-B4D290FC608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530" y="3976"/>
              <a:ext cx="65" cy="6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4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6</a:t>
              </a:r>
              <a:endParaRPr lang="zh-CN" altLang="en-US" sz="14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686" name="Line 118">
              <a:extLst>
                <a:ext uri="{FF2B5EF4-FFF2-40B4-BE49-F238E27FC236}">
                  <a16:creationId xmlns:a16="http://schemas.microsoft.com/office/drawing/2014/main" id="{648E6584-CDE6-4EEA-A022-4BA5977B0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7" y="4020"/>
              <a:ext cx="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7" name="WordArt 119">
              <a:extLst>
                <a:ext uri="{FF2B5EF4-FFF2-40B4-BE49-F238E27FC236}">
                  <a16:creationId xmlns:a16="http://schemas.microsoft.com/office/drawing/2014/main" id="{C804F36F-CBD5-464E-8B29-29DA7D98A190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650" y="3993"/>
              <a:ext cx="131" cy="12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m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931968" name="Rectangle 128">
            <a:extLst>
              <a:ext uri="{FF2B5EF4-FFF2-40B4-BE49-F238E27FC236}">
                <a16:creationId xmlns:a16="http://schemas.microsoft.com/office/drawing/2014/main" id="{1A9392D2-C3F9-4F63-9CBC-0AF40C029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3816350"/>
            <a:ext cx="935037" cy="525463"/>
          </a:xfrm>
          <a:prstGeom prst="rect">
            <a:avLst/>
          </a:prstGeom>
          <a:solidFill>
            <a:srgbClr val="EBED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31976" name="Rectangle 136">
            <a:extLst>
              <a:ext uri="{FF2B5EF4-FFF2-40B4-BE49-F238E27FC236}">
                <a16:creationId xmlns:a16="http://schemas.microsoft.com/office/drawing/2014/main" id="{BC989311-84E4-4F41-9C81-598B729C1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5113338"/>
            <a:ext cx="939800" cy="469900"/>
          </a:xfrm>
          <a:prstGeom prst="rect">
            <a:avLst/>
          </a:prstGeom>
          <a:solidFill>
            <a:srgbClr val="D9DA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32049" name="Text Box 209">
            <a:extLst>
              <a:ext uri="{FF2B5EF4-FFF2-40B4-BE49-F238E27FC236}">
                <a16:creationId xmlns:a16="http://schemas.microsoft.com/office/drawing/2014/main" id="{0988A7D4-4FF6-447C-98DB-61565BAAE816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107950" y="190500"/>
            <a:ext cx="6908800" cy="862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2) 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实验规律二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    </a:t>
            </a: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------ 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维恩位移定律</a:t>
            </a:r>
            <a:endParaRPr kumimoji="1" lang="zh-CN" altLang="en-US" sz="2800" b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932050" name="Text Box 210">
            <a:extLst>
              <a:ext uri="{FF2B5EF4-FFF2-40B4-BE49-F238E27FC236}">
                <a16:creationId xmlns:a16="http://schemas.microsoft.com/office/drawing/2014/main" id="{EEF3E7E0-4526-43EB-8747-C7AE036B4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2636838"/>
            <a:ext cx="33115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b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称为维恩常量</a:t>
            </a:r>
          </a:p>
        </p:txBody>
      </p:sp>
      <p:grpSp>
        <p:nvGrpSpPr>
          <p:cNvPr id="10" name="Group 211">
            <a:extLst>
              <a:ext uri="{FF2B5EF4-FFF2-40B4-BE49-F238E27FC236}">
                <a16:creationId xmlns:a16="http://schemas.microsoft.com/office/drawing/2014/main" id="{41E99B48-89A7-4519-8CA5-65D66B619FDE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1125538"/>
            <a:ext cx="4321175" cy="1379537"/>
            <a:chOff x="113" y="845"/>
            <a:chExt cx="2812" cy="960"/>
          </a:xfrm>
        </p:grpSpPr>
        <p:sp>
          <p:nvSpPr>
            <p:cNvPr id="25653" name="Rectangle 212">
              <a:extLst>
                <a:ext uri="{FF2B5EF4-FFF2-40B4-BE49-F238E27FC236}">
                  <a16:creationId xmlns:a16="http://schemas.microsoft.com/office/drawing/2014/main" id="{F9C30187-8CC9-4945-A067-4BB473BC7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845"/>
              <a:ext cx="2676" cy="960"/>
            </a:xfrm>
            <a:prstGeom prst="rect">
              <a:avLst/>
            </a:prstGeom>
            <a:solidFill>
              <a:srgbClr val="CC3300"/>
            </a:solidFill>
            <a:ln w="19050">
              <a:solidFill>
                <a:srgbClr val="FF99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932053" name="Text Box 213">
              <a:extLst>
                <a:ext uri="{FF2B5EF4-FFF2-40B4-BE49-F238E27FC236}">
                  <a16:creationId xmlns:a16="http://schemas.microsoft.com/office/drawing/2014/main" id="{D9C742B5-DFEA-471A-88E3-6050E9B32459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61" y="1414"/>
              <a:ext cx="2764" cy="3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800" i="1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</a:t>
              </a:r>
              <a:r>
                <a:rPr kumimoji="1" lang="en-US" altLang="zh-CN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= 2.897756×10</a:t>
              </a:r>
              <a:r>
                <a:rPr kumimoji="1" lang="en-US" altLang="zh-CN" sz="2800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-3</a:t>
              </a:r>
              <a:r>
                <a:rPr kumimoji="1" lang="en-US" altLang="zh-CN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m·K</a:t>
              </a:r>
            </a:p>
          </p:txBody>
        </p:sp>
        <p:graphicFrame>
          <p:nvGraphicFramePr>
            <p:cNvPr id="25655" name="Object 214">
              <a:extLst>
                <a:ext uri="{FF2B5EF4-FFF2-40B4-BE49-F238E27FC236}">
                  <a16:creationId xmlns:a16="http://schemas.microsoft.com/office/drawing/2014/main" id="{0155E8D8-F900-4B81-B57C-C84A052B76D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9" y="886"/>
            <a:ext cx="1241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41" r:id="rId3" imgW="552310" imgH="199923" progId="Equation.DSMT4">
                    <p:embed/>
                  </p:oleObj>
                </mc:Choice>
                <mc:Fallback>
                  <p:oleObj r:id="rId3" imgW="552310" imgH="199923" progId="Equation.DSMT4">
                    <p:embed/>
                    <p:pic>
                      <p:nvPicPr>
                        <p:cNvPr id="0" name="Object 2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886"/>
                          <a:ext cx="1241" cy="459"/>
                        </a:xfrm>
                        <a:prstGeom prst="rect">
                          <a:avLst/>
                        </a:prstGeom>
                        <a:solidFill>
                          <a:srgbClr val="CC33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2055" name="Text Box 215">
            <a:extLst>
              <a:ext uri="{FF2B5EF4-FFF2-40B4-BE49-F238E27FC236}">
                <a16:creationId xmlns:a16="http://schemas.microsoft.com/office/drawing/2014/main" id="{633A7589-EFC1-4C3A-9170-47D38748C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3933825"/>
            <a:ext cx="87518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温度 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T↑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，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峰值波长</a:t>
            </a:r>
            <a:r>
              <a:rPr kumimoji="1" lang="en-US" altLang="zh-CN" i="1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λ</a:t>
            </a:r>
            <a:r>
              <a:rPr kumimoji="1" lang="en-US" altLang="zh-CN" baseline="-2500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m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向短波方向移动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。</a:t>
            </a:r>
          </a:p>
        </p:txBody>
      </p:sp>
      <p:grpSp>
        <p:nvGrpSpPr>
          <p:cNvPr id="11" name="Group 229">
            <a:extLst>
              <a:ext uri="{FF2B5EF4-FFF2-40B4-BE49-F238E27FC236}">
                <a16:creationId xmlns:a16="http://schemas.microsoft.com/office/drawing/2014/main" id="{A5D3C724-95D7-4B63-AF0C-F4270D32A103}"/>
              </a:ext>
            </a:extLst>
          </p:cNvPr>
          <p:cNvGrpSpPr>
            <a:grpSpLocks/>
          </p:cNvGrpSpPr>
          <p:nvPr/>
        </p:nvGrpSpPr>
        <p:grpSpPr bwMode="auto">
          <a:xfrm>
            <a:off x="871538" y="4159250"/>
            <a:ext cx="7086600" cy="1803400"/>
            <a:chOff x="567" y="4556"/>
            <a:chExt cx="4464" cy="1136"/>
          </a:xfrm>
        </p:grpSpPr>
        <p:grpSp>
          <p:nvGrpSpPr>
            <p:cNvPr id="25649" name="Group 228">
              <a:extLst>
                <a:ext uri="{FF2B5EF4-FFF2-40B4-BE49-F238E27FC236}">
                  <a16:creationId xmlns:a16="http://schemas.microsoft.com/office/drawing/2014/main" id="{A7BDDBEA-F847-4529-92AB-B9CCFE2138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4556"/>
              <a:ext cx="4464" cy="1136"/>
              <a:chOff x="567" y="4556"/>
              <a:chExt cx="4464" cy="1136"/>
            </a:xfrm>
          </p:grpSpPr>
          <p:sp>
            <p:nvSpPr>
              <p:cNvPr id="25651" name="Freeform 130">
                <a:extLst>
                  <a:ext uri="{FF2B5EF4-FFF2-40B4-BE49-F238E27FC236}">
                    <a16:creationId xmlns:a16="http://schemas.microsoft.com/office/drawing/2014/main" id="{F4B8780D-2B44-4754-9F4F-85228876A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" y="4556"/>
                <a:ext cx="4464" cy="1136"/>
              </a:xfrm>
              <a:custGeom>
                <a:avLst/>
                <a:gdLst>
                  <a:gd name="T0" fmla="*/ 0 w 4464"/>
                  <a:gd name="T1" fmla="*/ 1136 h 1136"/>
                  <a:gd name="T2" fmla="*/ 114 w 4464"/>
                  <a:gd name="T3" fmla="*/ 1130 h 1136"/>
                  <a:gd name="T4" fmla="*/ 228 w 4464"/>
                  <a:gd name="T5" fmla="*/ 1100 h 1136"/>
                  <a:gd name="T6" fmla="*/ 348 w 4464"/>
                  <a:gd name="T7" fmla="*/ 1040 h 1136"/>
                  <a:gd name="T8" fmla="*/ 432 w 4464"/>
                  <a:gd name="T9" fmla="*/ 944 h 1136"/>
                  <a:gd name="T10" fmla="*/ 504 w 4464"/>
                  <a:gd name="T11" fmla="*/ 800 h 1136"/>
                  <a:gd name="T12" fmla="*/ 558 w 4464"/>
                  <a:gd name="T13" fmla="*/ 626 h 1136"/>
                  <a:gd name="T14" fmla="*/ 636 w 4464"/>
                  <a:gd name="T15" fmla="*/ 404 h 1136"/>
                  <a:gd name="T16" fmla="*/ 714 w 4464"/>
                  <a:gd name="T17" fmla="*/ 248 h 1136"/>
                  <a:gd name="T18" fmla="*/ 798 w 4464"/>
                  <a:gd name="T19" fmla="*/ 134 h 1136"/>
                  <a:gd name="T20" fmla="*/ 882 w 4464"/>
                  <a:gd name="T21" fmla="*/ 62 h 1136"/>
                  <a:gd name="T22" fmla="*/ 990 w 4464"/>
                  <a:gd name="T23" fmla="*/ 8 h 1136"/>
                  <a:gd name="T24" fmla="*/ 1050 w 4464"/>
                  <a:gd name="T25" fmla="*/ 14 h 1136"/>
                  <a:gd name="T26" fmla="*/ 1122 w 4464"/>
                  <a:gd name="T27" fmla="*/ 32 h 1136"/>
                  <a:gd name="T28" fmla="*/ 1284 w 4464"/>
                  <a:gd name="T29" fmla="*/ 134 h 1136"/>
                  <a:gd name="T30" fmla="*/ 1458 w 4464"/>
                  <a:gd name="T31" fmla="*/ 266 h 1136"/>
                  <a:gd name="T32" fmla="*/ 1668 w 4464"/>
                  <a:gd name="T33" fmla="*/ 428 h 1136"/>
                  <a:gd name="T34" fmla="*/ 1932 w 4464"/>
                  <a:gd name="T35" fmla="*/ 602 h 1136"/>
                  <a:gd name="T36" fmla="*/ 2148 w 4464"/>
                  <a:gd name="T37" fmla="*/ 722 h 1136"/>
                  <a:gd name="T38" fmla="*/ 2448 w 4464"/>
                  <a:gd name="T39" fmla="*/ 842 h 1136"/>
                  <a:gd name="T40" fmla="*/ 2844 w 4464"/>
                  <a:gd name="T41" fmla="*/ 950 h 1136"/>
                  <a:gd name="T42" fmla="*/ 3222 w 4464"/>
                  <a:gd name="T43" fmla="*/ 1022 h 1136"/>
                  <a:gd name="T44" fmla="*/ 3636 w 4464"/>
                  <a:gd name="T45" fmla="*/ 1094 h 1136"/>
                  <a:gd name="T46" fmla="*/ 3960 w 4464"/>
                  <a:gd name="T47" fmla="*/ 1118 h 1136"/>
                  <a:gd name="T48" fmla="*/ 4350 w 4464"/>
                  <a:gd name="T49" fmla="*/ 1124 h 1136"/>
                  <a:gd name="T50" fmla="*/ 4464 w 4464"/>
                  <a:gd name="T51" fmla="*/ 1136 h 11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4464" h="1136">
                    <a:moveTo>
                      <a:pt x="0" y="1136"/>
                    </a:moveTo>
                    <a:cubicBezTo>
                      <a:pt x="38" y="1136"/>
                      <a:pt x="76" y="1136"/>
                      <a:pt x="114" y="1130"/>
                    </a:cubicBezTo>
                    <a:cubicBezTo>
                      <a:pt x="152" y="1124"/>
                      <a:pt x="189" y="1115"/>
                      <a:pt x="228" y="1100"/>
                    </a:cubicBezTo>
                    <a:cubicBezTo>
                      <a:pt x="267" y="1085"/>
                      <a:pt x="314" y="1066"/>
                      <a:pt x="348" y="1040"/>
                    </a:cubicBezTo>
                    <a:cubicBezTo>
                      <a:pt x="382" y="1014"/>
                      <a:pt x="406" y="984"/>
                      <a:pt x="432" y="944"/>
                    </a:cubicBezTo>
                    <a:cubicBezTo>
                      <a:pt x="458" y="904"/>
                      <a:pt x="483" y="853"/>
                      <a:pt x="504" y="800"/>
                    </a:cubicBezTo>
                    <a:cubicBezTo>
                      <a:pt x="525" y="747"/>
                      <a:pt x="536" y="692"/>
                      <a:pt x="558" y="626"/>
                    </a:cubicBezTo>
                    <a:cubicBezTo>
                      <a:pt x="580" y="560"/>
                      <a:pt x="610" y="467"/>
                      <a:pt x="636" y="404"/>
                    </a:cubicBezTo>
                    <a:cubicBezTo>
                      <a:pt x="662" y="341"/>
                      <a:pt x="687" y="293"/>
                      <a:pt x="714" y="248"/>
                    </a:cubicBezTo>
                    <a:cubicBezTo>
                      <a:pt x="741" y="203"/>
                      <a:pt x="770" y="165"/>
                      <a:pt x="798" y="134"/>
                    </a:cubicBezTo>
                    <a:cubicBezTo>
                      <a:pt x="826" y="103"/>
                      <a:pt x="850" y="83"/>
                      <a:pt x="882" y="62"/>
                    </a:cubicBezTo>
                    <a:cubicBezTo>
                      <a:pt x="914" y="41"/>
                      <a:pt x="962" y="16"/>
                      <a:pt x="990" y="8"/>
                    </a:cubicBezTo>
                    <a:cubicBezTo>
                      <a:pt x="1018" y="0"/>
                      <a:pt x="1028" y="10"/>
                      <a:pt x="1050" y="14"/>
                    </a:cubicBezTo>
                    <a:cubicBezTo>
                      <a:pt x="1072" y="18"/>
                      <a:pt x="1083" y="12"/>
                      <a:pt x="1122" y="32"/>
                    </a:cubicBezTo>
                    <a:cubicBezTo>
                      <a:pt x="1161" y="52"/>
                      <a:pt x="1228" y="95"/>
                      <a:pt x="1284" y="134"/>
                    </a:cubicBezTo>
                    <a:cubicBezTo>
                      <a:pt x="1340" y="173"/>
                      <a:pt x="1394" y="217"/>
                      <a:pt x="1458" y="266"/>
                    </a:cubicBezTo>
                    <a:cubicBezTo>
                      <a:pt x="1522" y="315"/>
                      <a:pt x="1589" y="372"/>
                      <a:pt x="1668" y="428"/>
                    </a:cubicBezTo>
                    <a:cubicBezTo>
                      <a:pt x="1747" y="484"/>
                      <a:pt x="1852" y="553"/>
                      <a:pt x="1932" y="602"/>
                    </a:cubicBezTo>
                    <a:cubicBezTo>
                      <a:pt x="2012" y="651"/>
                      <a:pt x="2062" y="682"/>
                      <a:pt x="2148" y="722"/>
                    </a:cubicBezTo>
                    <a:cubicBezTo>
                      <a:pt x="2234" y="762"/>
                      <a:pt x="2332" y="804"/>
                      <a:pt x="2448" y="842"/>
                    </a:cubicBezTo>
                    <a:cubicBezTo>
                      <a:pt x="2564" y="880"/>
                      <a:pt x="2715" y="920"/>
                      <a:pt x="2844" y="950"/>
                    </a:cubicBezTo>
                    <a:cubicBezTo>
                      <a:pt x="2973" y="980"/>
                      <a:pt x="3090" y="998"/>
                      <a:pt x="3222" y="1022"/>
                    </a:cubicBezTo>
                    <a:cubicBezTo>
                      <a:pt x="3354" y="1046"/>
                      <a:pt x="3513" y="1078"/>
                      <a:pt x="3636" y="1094"/>
                    </a:cubicBezTo>
                    <a:cubicBezTo>
                      <a:pt x="3759" y="1110"/>
                      <a:pt x="3841" y="1113"/>
                      <a:pt x="3960" y="1118"/>
                    </a:cubicBezTo>
                    <a:cubicBezTo>
                      <a:pt x="4079" y="1123"/>
                      <a:pt x="4266" y="1121"/>
                      <a:pt x="4350" y="1124"/>
                    </a:cubicBezTo>
                    <a:cubicBezTo>
                      <a:pt x="4434" y="1127"/>
                      <a:pt x="4449" y="1131"/>
                      <a:pt x="4464" y="1136"/>
                    </a:cubicBezTo>
                  </a:path>
                </a:pathLst>
              </a:custGeom>
              <a:solidFill>
                <a:srgbClr val="D9DAE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52" name="WordArt 135">
                <a:extLst>
                  <a:ext uri="{FF2B5EF4-FFF2-40B4-BE49-F238E27FC236}">
                    <a16:creationId xmlns:a16="http://schemas.microsoft.com/office/drawing/2014/main" id="{ACCC5874-7FC8-48D9-8646-16335F271A75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 rot="2170792">
                <a:off x="1637" y="4559"/>
                <a:ext cx="694" cy="129"/>
              </a:xfrm>
              <a:prstGeom prst="rect">
                <a:avLst/>
              </a:prstGeom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solidFill>
                      <a:srgbClr val="008000"/>
                    </a:solidFill>
                    <a:cs typeface="Times New Roman" panose="02020603050405020304" pitchFamily="18" charset="0"/>
                  </a:rPr>
                  <a:t>1 7 5 0 K</a:t>
                </a:r>
                <a:endParaRPr lang="zh-CN" altLang="en-US" sz="3600" kern="10">
                  <a:solidFill>
                    <a:srgbClr val="008000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650" name="Text Box 227">
              <a:extLst>
                <a:ext uri="{FF2B5EF4-FFF2-40B4-BE49-F238E27FC236}">
                  <a16:creationId xmlns:a16="http://schemas.microsoft.com/office/drawing/2014/main" id="{51643094-ECF1-4C2D-90C6-BC4A95672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" y="5047"/>
              <a:ext cx="6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ea typeface="楷体_GB2312" panose="02010609030101010101" pitchFamily="49" charset="-122"/>
                </a:rPr>
                <a:t>M</a:t>
              </a:r>
              <a:r>
                <a:rPr lang="en-US" altLang="zh-CN" sz="2400" baseline="-25000">
                  <a:solidFill>
                    <a:schemeClr val="accent2"/>
                  </a:solidFill>
                  <a:ea typeface="楷体_GB2312" panose="02010609030101010101" pitchFamily="49" charset="-122"/>
                </a:rPr>
                <a:t>0</a:t>
              </a:r>
              <a:r>
                <a:rPr lang="en-US" altLang="zh-CN" sz="2400">
                  <a:solidFill>
                    <a:schemeClr val="accent2"/>
                  </a:solidFill>
                  <a:ea typeface="楷体_GB2312" panose="02010609030101010101" pitchFamily="49" charset="-122"/>
                </a:rPr>
                <a:t>(T)</a:t>
              </a:r>
            </a:p>
          </p:txBody>
        </p:sp>
      </p:grpSp>
      <p:grpSp>
        <p:nvGrpSpPr>
          <p:cNvPr id="13" name="Group 226">
            <a:extLst>
              <a:ext uri="{FF2B5EF4-FFF2-40B4-BE49-F238E27FC236}">
                <a16:creationId xmlns:a16="http://schemas.microsoft.com/office/drawing/2014/main" id="{9322D5DD-36CB-4B4F-8193-7E27042B8DAA}"/>
              </a:ext>
            </a:extLst>
          </p:cNvPr>
          <p:cNvGrpSpPr>
            <a:grpSpLocks/>
          </p:cNvGrpSpPr>
          <p:nvPr/>
        </p:nvGrpSpPr>
        <p:grpSpPr bwMode="auto">
          <a:xfrm>
            <a:off x="1138238" y="4911725"/>
            <a:ext cx="6343650" cy="1017588"/>
            <a:chOff x="711" y="5057"/>
            <a:chExt cx="3996" cy="641"/>
          </a:xfrm>
        </p:grpSpPr>
        <p:grpSp>
          <p:nvGrpSpPr>
            <p:cNvPr id="25645" name="Group 225">
              <a:extLst>
                <a:ext uri="{FF2B5EF4-FFF2-40B4-BE49-F238E27FC236}">
                  <a16:creationId xmlns:a16="http://schemas.microsoft.com/office/drawing/2014/main" id="{2BAB5207-3D44-44FD-A8E3-711D37A751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1" y="5057"/>
              <a:ext cx="3996" cy="641"/>
              <a:chOff x="711" y="5057"/>
              <a:chExt cx="3996" cy="641"/>
            </a:xfrm>
          </p:grpSpPr>
          <p:sp>
            <p:nvSpPr>
              <p:cNvPr id="25647" name="Freeform 138">
                <a:extLst>
                  <a:ext uri="{FF2B5EF4-FFF2-40B4-BE49-F238E27FC236}">
                    <a16:creationId xmlns:a16="http://schemas.microsoft.com/office/drawing/2014/main" id="{7ACAD639-26E5-47A9-905C-0B7C5E861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" y="5138"/>
                <a:ext cx="3996" cy="560"/>
              </a:xfrm>
              <a:custGeom>
                <a:avLst/>
                <a:gdLst>
                  <a:gd name="T0" fmla="*/ 0 w 3996"/>
                  <a:gd name="T1" fmla="*/ 560 h 560"/>
                  <a:gd name="T2" fmla="*/ 84 w 3996"/>
                  <a:gd name="T3" fmla="*/ 554 h 560"/>
                  <a:gd name="T4" fmla="*/ 192 w 3996"/>
                  <a:gd name="T5" fmla="*/ 530 h 560"/>
                  <a:gd name="T6" fmla="*/ 306 w 3996"/>
                  <a:gd name="T7" fmla="*/ 482 h 560"/>
                  <a:gd name="T8" fmla="*/ 492 w 3996"/>
                  <a:gd name="T9" fmla="*/ 290 h 560"/>
                  <a:gd name="T10" fmla="*/ 624 w 3996"/>
                  <a:gd name="T11" fmla="*/ 134 h 560"/>
                  <a:gd name="T12" fmla="*/ 744 w 3996"/>
                  <a:gd name="T13" fmla="*/ 50 h 560"/>
                  <a:gd name="T14" fmla="*/ 894 w 3996"/>
                  <a:gd name="T15" fmla="*/ 8 h 560"/>
                  <a:gd name="T16" fmla="*/ 972 w 3996"/>
                  <a:gd name="T17" fmla="*/ 2 h 560"/>
                  <a:gd name="T18" fmla="*/ 1044 w 3996"/>
                  <a:gd name="T19" fmla="*/ 8 h 560"/>
                  <a:gd name="T20" fmla="*/ 1188 w 3996"/>
                  <a:gd name="T21" fmla="*/ 38 h 560"/>
                  <a:gd name="T22" fmla="*/ 1428 w 3996"/>
                  <a:gd name="T23" fmla="*/ 134 h 560"/>
                  <a:gd name="T24" fmla="*/ 1686 w 3996"/>
                  <a:gd name="T25" fmla="*/ 218 h 560"/>
                  <a:gd name="T26" fmla="*/ 1962 w 3996"/>
                  <a:gd name="T27" fmla="*/ 308 h 560"/>
                  <a:gd name="T28" fmla="*/ 2226 w 3996"/>
                  <a:gd name="T29" fmla="*/ 380 h 560"/>
                  <a:gd name="T30" fmla="*/ 2532 w 3996"/>
                  <a:gd name="T31" fmla="*/ 434 h 560"/>
                  <a:gd name="T32" fmla="*/ 2832 w 3996"/>
                  <a:gd name="T33" fmla="*/ 482 h 560"/>
                  <a:gd name="T34" fmla="*/ 3210 w 3996"/>
                  <a:gd name="T35" fmla="*/ 524 h 560"/>
                  <a:gd name="T36" fmla="*/ 3504 w 3996"/>
                  <a:gd name="T37" fmla="*/ 548 h 560"/>
                  <a:gd name="T38" fmla="*/ 3996 w 3996"/>
                  <a:gd name="T39" fmla="*/ 560 h 56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3996" h="560">
                    <a:moveTo>
                      <a:pt x="0" y="560"/>
                    </a:moveTo>
                    <a:cubicBezTo>
                      <a:pt x="26" y="559"/>
                      <a:pt x="52" y="559"/>
                      <a:pt x="84" y="554"/>
                    </a:cubicBezTo>
                    <a:cubicBezTo>
                      <a:pt x="116" y="549"/>
                      <a:pt x="155" y="542"/>
                      <a:pt x="192" y="530"/>
                    </a:cubicBezTo>
                    <a:cubicBezTo>
                      <a:pt x="229" y="518"/>
                      <a:pt x="256" y="522"/>
                      <a:pt x="306" y="482"/>
                    </a:cubicBezTo>
                    <a:cubicBezTo>
                      <a:pt x="356" y="442"/>
                      <a:pt x="439" y="348"/>
                      <a:pt x="492" y="290"/>
                    </a:cubicBezTo>
                    <a:cubicBezTo>
                      <a:pt x="545" y="232"/>
                      <a:pt x="582" y="174"/>
                      <a:pt x="624" y="134"/>
                    </a:cubicBezTo>
                    <a:cubicBezTo>
                      <a:pt x="666" y="94"/>
                      <a:pt x="699" y="71"/>
                      <a:pt x="744" y="50"/>
                    </a:cubicBezTo>
                    <a:cubicBezTo>
                      <a:pt x="789" y="29"/>
                      <a:pt x="856" y="16"/>
                      <a:pt x="894" y="8"/>
                    </a:cubicBezTo>
                    <a:cubicBezTo>
                      <a:pt x="932" y="0"/>
                      <a:pt x="947" y="2"/>
                      <a:pt x="972" y="2"/>
                    </a:cubicBezTo>
                    <a:cubicBezTo>
                      <a:pt x="997" y="2"/>
                      <a:pt x="1008" y="2"/>
                      <a:pt x="1044" y="8"/>
                    </a:cubicBezTo>
                    <a:cubicBezTo>
                      <a:pt x="1080" y="14"/>
                      <a:pt x="1124" y="17"/>
                      <a:pt x="1188" y="38"/>
                    </a:cubicBezTo>
                    <a:cubicBezTo>
                      <a:pt x="1252" y="59"/>
                      <a:pt x="1345" y="104"/>
                      <a:pt x="1428" y="134"/>
                    </a:cubicBezTo>
                    <a:cubicBezTo>
                      <a:pt x="1511" y="164"/>
                      <a:pt x="1597" y="189"/>
                      <a:pt x="1686" y="218"/>
                    </a:cubicBezTo>
                    <a:cubicBezTo>
                      <a:pt x="1775" y="247"/>
                      <a:pt x="1872" y="281"/>
                      <a:pt x="1962" y="308"/>
                    </a:cubicBezTo>
                    <a:cubicBezTo>
                      <a:pt x="2052" y="335"/>
                      <a:pt x="2131" y="359"/>
                      <a:pt x="2226" y="380"/>
                    </a:cubicBezTo>
                    <a:cubicBezTo>
                      <a:pt x="2321" y="401"/>
                      <a:pt x="2431" y="417"/>
                      <a:pt x="2532" y="434"/>
                    </a:cubicBezTo>
                    <a:cubicBezTo>
                      <a:pt x="2633" y="451"/>
                      <a:pt x="2719" y="467"/>
                      <a:pt x="2832" y="482"/>
                    </a:cubicBezTo>
                    <a:cubicBezTo>
                      <a:pt x="2945" y="497"/>
                      <a:pt x="3098" y="513"/>
                      <a:pt x="3210" y="524"/>
                    </a:cubicBezTo>
                    <a:cubicBezTo>
                      <a:pt x="3322" y="535"/>
                      <a:pt x="3373" y="542"/>
                      <a:pt x="3504" y="548"/>
                    </a:cubicBezTo>
                    <a:cubicBezTo>
                      <a:pt x="3635" y="554"/>
                      <a:pt x="3815" y="557"/>
                      <a:pt x="3996" y="560"/>
                    </a:cubicBezTo>
                  </a:path>
                </a:pathLst>
              </a:custGeom>
              <a:solidFill>
                <a:srgbClr val="CFD0E7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8" name="WordArt 144">
                <a:extLst>
                  <a:ext uri="{FF2B5EF4-FFF2-40B4-BE49-F238E27FC236}">
                    <a16:creationId xmlns:a16="http://schemas.microsoft.com/office/drawing/2014/main" id="{39FF5714-00C9-4D22-9521-E33F26A466F1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 rot="1313661">
                <a:off x="1709" y="5057"/>
                <a:ext cx="710" cy="121"/>
              </a:xfrm>
              <a:prstGeom prst="rect">
                <a:avLst/>
              </a:prstGeom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solidFill>
                      <a:srgbClr val="008000"/>
                    </a:solidFill>
                    <a:cs typeface="Times New Roman" panose="02020603050405020304" pitchFamily="18" charset="0"/>
                  </a:rPr>
                  <a:t>1 5 0 0 K</a:t>
                </a:r>
                <a:endParaRPr lang="zh-CN" altLang="en-US" sz="3600" kern="10">
                  <a:solidFill>
                    <a:srgbClr val="008000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646" name="Text Box 223">
              <a:extLst>
                <a:ext uri="{FF2B5EF4-FFF2-40B4-BE49-F238E27FC236}">
                  <a16:creationId xmlns:a16="http://schemas.microsoft.com/office/drawing/2014/main" id="{5B4D3FD6-292C-4169-95B9-1D852197F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2" y="5244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zh-CN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grpSp>
        <p:nvGrpSpPr>
          <p:cNvPr id="15" name="Group 235">
            <a:extLst>
              <a:ext uri="{FF2B5EF4-FFF2-40B4-BE49-F238E27FC236}">
                <a16:creationId xmlns:a16="http://schemas.microsoft.com/office/drawing/2014/main" id="{C14845C0-8335-4417-850B-AA723F15C140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6121400"/>
            <a:ext cx="1120775" cy="692150"/>
            <a:chOff x="1202" y="3884"/>
            <a:chExt cx="706" cy="436"/>
          </a:xfrm>
        </p:grpSpPr>
        <p:grpSp>
          <p:nvGrpSpPr>
            <p:cNvPr id="25633" name="Group 197">
              <a:extLst>
                <a:ext uri="{FF2B5EF4-FFF2-40B4-BE49-F238E27FC236}">
                  <a16:creationId xmlns:a16="http://schemas.microsoft.com/office/drawing/2014/main" id="{CA24C422-0114-4EEE-AE78-19498247D6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3" y="3884"/>
              <a:ext cx="399" cy="136"/>
              <a:chOff x="1403" y="3674"/>
              <a:chExt cx="533" cy="88"/>
            </a:xfrm>
          </p:grpSpPr>
          <p:sp>
            <p:nvSpPr>
              <p:cNvPr id="25641" name="AutoShape 198">
                <a:extLst>
                  <a:ext uri="{FF2B5EF4-FFF2-40B4-BE49-F238E27FC236}">
                    <a16:creationId xmlns:a16="http://schemas.microsoft.com/office/drawing/2014/main" id="{0C38AE9B-CC84-4622-9E32-1CACB8A335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89" y="3674"/>
                <a:ext cx="47" cy="88"/>
              </a:xfrm>
              <a:prstGeom prst="triangle">
                <a:avLst>
                  <a:gd name="adj" fmla="val 50000"/>
                </a:avLst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25642" name="AutoShape 199">
                <a:extLst>
                  <a:ext uri="{FF2B5EF4-FFF2-40B4-BE49-F238E27FC236}">
                    <a16:creationId xmlns:a16="http://schemas.microsoft.com/office/drawing/2014/main" id="{A05F9A38-857B-4424-B5CD-E20C4EFEC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729" y="3674"/>
                <a:ext cx="47" cy="88"/>
              </a:xfrm>
              <a:prstGeom prst="triangle">
                <a:avLst>
                  <a:gd name="adj" fmla="val 50000"/>
                </a:avLst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25643" name="AutoShape 200">
                <a:extLst>
                  <a:ext uri="{FF2B5EF4-FFF2-40B4-BE49-F238E27FC236}">
                    <a16:creationId xmlns:a16="http://schemas.microsoft.com/office/drawing/2014/main" id="{C22F2FCE-5E2D-4FD5-939F-624E06695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581" y="3674"/>
                <a:ext cx="47" cy="88"/>
              </a:xfrm>
              <a:prstGeom prst="triangle">
                <a:avLst>
                  <a:gd name="adj" fmla="val 50000"/>
                </a:avLst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25644" name="AutoShape 201">
                <a:extLst>
                  <a:ext uri="{FF2B5EF4-FFF2-40B4-BE49-F238E27FC236}">
                    <a16:creationId xmlns:a16="http://schemas.microsoft.com/office/drawing/2014/main" id="{9138CF7F-E7C8-4E75-9F37-BD7DCC99C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403" y="3674"/>
                <a:ext cx="47" cy="88"/>
              </a:xfrm>
              <a:prstGeom prst="triangle">
                <a:avLst>
                  <a:gd name="adj" fmla="val 50000"/>
                </a:avLst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25634" name="Group 202">
              <a:extLst>
                <a:ext uri="{FF2B5EF4-FFF2-40B4-BE49-F238E27FC236}">
                  <a16:creationId xmlns:a16="http://schemas.microsoft.com/office/drawing/2014/main" id="{87163C35-D921-45B8-90A3-089F0D1581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2" y="4075"/>
              <a:ext cx="706" cy="245"/>
              <a:chOff x="1452" y="3890"/>
              <a:chExt cx="797" cy="245"/>
            </a:xfrm>
          </p:grpSpPr>
          <p:grpSp>
            <p:nvGrpSpPr>
              <p:cNvPr id="25635" name="Group 203">
                <a:extLst>
                  <a:ext uri="{FF2B5EF4-FFF2-40B4-BE49-F238E27FC236}">
                    <a16:creationId xmlns:a16="http://schemas.microsoft.com/office/drawing/2014/main" id="{2863ABE8-FE1F-4289-8463-A57453B169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6" y="3890"/>
                <a:ext cx="773" cy="245"/>
                <a:chOff x="1405" y="3866"/>
                <a:chExt cx="773" cy="245"/>
              </a:xfrm>
            </p:grpSpPr>
            <p:sp>
              <p:nvSpPr>
                <p:cNvPr id="25637" name="Rectangle 204">
                  <a:extLst>
                    <a:ext uri="{FF2B5EF4-FFF2-40B4-BE49-F238E27FC236}">
                      <a16:creationId xmlns:a16="http://schemas.microsoft.com/office/drawing/2014/main" id="{6CCEE6D2-EDAA-423F-A9FE-9C158E24F2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5" y="3866"/>
                  <a:ext cx="773" cy="2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grpSp>
              <p:nvGrpSpPr>
                <p:cNvPr id="25638" name="Group 205">
                  <a:extLst>
                    <a:ext uri="{FF2B5EF4-FFF2-40B4-BE49-F238E27FC236}">
                      <a16:creationId xmlns:a16="http://schemas.microsoft.com/office/drawing/2014/main" id="{AA24EE80-F921-4EE4-932C-00FF0F70E2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8" y="3873"/>
                  <a:ext cx="334" cy="165"/>
                  <a:chOff x="1713" y="3508"/>
                  <a:chExt cx="408" cy="218"/>
                </a:xfrm>
              </p:grpSpPr>
              <p:sp>
                <p:nvSpPr>
                  <p:cNvPr id="25639" name="WordArt 206">
                    <a:extLst>
                      <a:ext uri="{FF2B5EF4-FFF2-40B4-BE49-F238E27FC236}">
                        <a16:creationId xmlns:a16="http://schemas.microsoft.com/office/drawing/2014/main" id="{8024C026-C785-4065-ADEE-62C5D3D61FF8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1713" y="3508"/>
                    <a:ext cx="209" cy="216"/>
                  </a:xfrm>
                  <a:prstGeom prst="rect">
                    <a:avLst/>
                  </a:prstGeom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fromWordArt="1">
                    <a:prstTxWarp prst="textPlain">
                      <a:avLst>
                        <a:gd name="adj" fmla="val 59343"/>
                      </a:avLst>
                    </a:prstTxWarp>
                  </a:bodyPr>
                  <a:lstStyle/>
                  <a:p>
                    <a:pPr algn="ctr"/>
                    <a:r>
                      <a:rPr lang="en-US" altLang="zh-CN" sz="3600" i="1" kern="10"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noFill/>
                        <a:latin typeface="Symbol" panose="05050102010706020507" pitchFamily="18" charset="2"/>
                      </a:rPr>
                      <a:t>l</a:t>
                    </a:r>
                    <a:endParaRPr lang="zh-CN" alt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noFill/>
                      <a:latin typeface="Symbol" panose="05050102010706020507" pitchFamily="18" charset="2"/>
                    </a:endParaRPr>
                  </a:p>
                </p:txBody>
              </p:sp>
              <p:sp>
                <p:nvSpPr>
                  <p:cNvPr id="25640" name="WordArt 207">
                    <a:extLst>
                      <a:ext uri="{FF2B5EF4-FFF2-40B4-BE49-F238E27FC236}">
                        <a16:creationId xmlns:a16="http://schemas.microsoft.com/office/drawing/2014/main" id="{DD765D77-F592-4F03-AAC7-82302AAF36CF}"/>
                      </a:ext>
                    </a:extLst>
                  </p:cNvPr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1918" y="3638"/>
                    <a:ext cx="203" cy="88"/>
                  </a:xfrm>
                  <a:prstGeom prst="rect">
                    <a:avLst/>
                  </a:prstGeom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fromWordArt="1">
                    <a:prstTxWarp prst="textPlain">
                      <a:avLst>
                        <a:gd name="adj" fmla="val 41667"/>
                      </a:avLst>
                    </a:prstTxWarp>
                  </a:bodyPr>
                  <a:lstStyle/>
                  <a:p>
                    <a:pPr algn="ctr"/>
                    <a:r>
                      <a:rPr lang="en-US" altLang="zh-CN" sz="3600" kern="10">
                        <a:ln w="9525">
                          <a:solidFill>
                            <a:schemeClr val="tx2"/>
                          </a:solidFill>
                          <a:round/>
                          <a:headEnd/>
                          <a:tailEnd/>
                        </a:ln>
                        <a:noFill/>
                        <a:cs typeface="Times New Roman" panose="02020603050405020304" pitchFamily="18" charset="0"/>
                      </a:rPr>
                      <a:t>m</a:t>
                    </a:r>
                    <a:endParaRPr lang="zh-CN" altLang="en-US" sz="3600" kern="10">
                      <a:ln w="952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noFill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25636" name="Line 208">
                <a:extLst>
                  <a:ext uri="{FF2B5EF4-FFF2-40B4-BE49-F238E27FC236}">
                    <a16:creationId xmlns:a16="http://schemas.microsoft.com/office/drawing/2014/main" id="{2E62108B-1396-4E4A-BF0C-5B254BDED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52" y="3994"/>
                <a:ext cx="3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0" name="Group 231">
            <a:extLst>
              <a:ext uri="{FF2B5EF4-FFF2-40B4-BE49-F238E27FC236}">
                <a16:creationId xmlns:a16="http://schemas.microsoft.com/office/drawing/2014/main" id="{CCC985F7-4286-4362-84FD-528667DD7161}"/>
              </a:ext>
            </a:extLst>
          </p:cNvPr>
          <p:cNvGrpSpPr>
            <a:grpSpLocks/>
          </p:cNvGrpSpPr>
          <p:nvPr/>
        </p:nvGrpSpPr>
        <p:grpSpPr bwMode="auto">
          <a:xfrm>
            <a:off x="1316038" y="5414963"/>
            <a:ext cx="6743700" cy="584200"/>
            <a:chOff x="847" y="6140"/>
            <a:chExt cx="4248" cy="368"/>
          </a:xfrm>
        </p:grpSpPr>
        <p:grpSp>
          <p:nvGrpSpPr>
            <p:cNvPr id="25629" name="Group 230">
              <a:extLst>
                <a:ext uri="{FF2B5EF4-FFF2-40B4-BE49-F238E27FC236}">
                  <a16:creationId xmlns:a16="http://schemas.microsoft.com/office/drawing/2014/main" id="{011E7662-F0C1-4FB9-89A0-EA9805BE1A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7" y="6140"/>
              <a:ext cx="4248" cy="329"/>
              <a:chOff x="847" y="6140"/>
              <a:chExt cx="4248" cy="329"/>
            </a:xfrm>
          </p:grpSpPr>
          <p:sp>
            <p:nvSpPr>
              <p:cNvPr id="25631" name="Freeform 147">
                <a:extLst>
                  <a:ext uri="{FF2B5EF4-FFF2-40B4-BE49-F238E27FC236}">
                    <a16:creationId xmlns:a16="http://schemas.microsoft.com/office/drawing/2014/main" id="{766AD5F9-372C-4D37-B509-1C3053AF5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7" y="6253"/>
                <a:ext cx="4248" cy="216"/>
              </a:xfrm>
              <a:custGeom>
                <a:avLst/>
                <a:gdLst>
                  <a:gd name="T0" fmla="*/ 0 w 4248"/>
                  <a:gd name="T1" fmla="*/ 211 h 216"/>
                  <a:gd name="T2" fmla="*/ 102 w 4248"/>
                  <a:gd name="T3" fmla="*/ 211 h 216"/>
                  <a:gd name="T4" fmla="*/ 246 w 4248"/>
                  <a:gd name="T5" fmla="*/ 181 h 216"/>
                  <a:gd name="T6" fmla="*/ 462 w 4248"/>
                  <a:gd name="T7" fmla="*/ 103 h 216"/>
                  <a:gd name="T8" fmla="*/ 696 w 4248"/>
                  <a:gd name="T9" fmla="*/ 31 h 216"/>
                  <a:gd name="T10" fmla="*/ 852 w 4248"/>
                  <a:gd name="T11" fmla="*/ 7 h 216"/>
                  <a:gd name="T12" fmla="*/ 924 w 4248"/>
                  <a:gd name="T13" fmla="*/ 1 h 216"/>
                  <a:gd name="T14" fmla="*/ 1080 w 4248"/>
                  <a:gd name="T15" fmla="*/ 13 h 216"/>
                  <a:gd name="T16" fmla="*/ 1260 w 4248"/>
                  <a:gd name="T17" fmla="*/ 43 h 216"/>
                  <a:gd name="T18" fmla="*/ 1542 w 4248"/>
                  <a:gd name="T19" fmla="*/ 91 h 216"/>
                  <a:gd name="T20" fmla="*/ 1770 w 4248"/>
                  <a:gd name="T21" fmla="*/ 121 h 216"/>
                  <a:gd name="T22" fmla="*/ 2118 w 4248"/>
                  <a:gd name="T23" fmla="*/ 151 h 216"/>
                  <a:gd name="T24" fmla="*/ 2532 w 4248"/>
                  <a:gd name="T25" fmla="*/ 169 h 216"/>
                  <a:gd name="T26" fmla="*/ 2868 w 4248"/>
                  <a:gd name="T27" fmla="*/ 187 h 216"/>
                  <a:gd name="T28" fmla="*/ 4248 w 4248"/>
                  <a:gd name="T29" fmla="*/ 211 h 21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4248" h="216">
                    <a:moveTo>
                      <a:pt x="0" y="211"/>
                    </a:moveTo>
                    <a:cubicBezTo>
                      <a:pt x="30" y="213"/>
                      <a:pt x="61" y="216"/>
                      <a:pt x="102" y="211"/>
                    </a:cubicBezTo>
                    <a:cubicBezTo>
                      <a:pt x="143" y="206"/>
                      <a:pt x="186" y="199"/>
                      <a:pt x="246" y="181"/>
                    </a:cubicBezTo>
                    <a:cubicBezTo>
                      <a:pt x="306" y="163"/>
                      <a:pt x="387" y="128"/>
                      <a:pt x="462" y="103"/>
                    </a:cubicBezTo>
                    <a:cubicBezTo>
                      <a:pt x="537" y="78"/>
                      <a:pt x="631" y="47"/>
                      <a:pt x="696" y="31"/>
                    </a:cubicBezTo>
                    <a:cubicBezTo>
                      <a:pt x="761" y="15"/>
                      <a:pt x="814" y="12"/>
                      <a:pt x="852" y="7"/>
                    </a:cubicBezTo>
                    <a:cubicBezTo>
                      <a:pt x="890" y="2"/>
                      <a:pt x="886" y="0"/>
                      <a:pt x="924" y="1"/>
                    </a:cubicBezTo>
                    <a:cubicBezTo>
                      <a:pt x="962" y="2"/>
                      <a:pt x="1024" y="6"/>
                      <a:pt x="1080" y="13"/>
                    </a:cubicBezTo>
                    <a:cubicBezTo>
                      <a:pt x="1136" y="20"/>
                      <a:pt x="1183" y="30"/>
                      <a:pt x="1260" y="43"/>
                    </a:cubicBezTo>
                    <a:cubicBezTo>
                      <a:pt x="1337" y="56"/>
                      <a:pt x="1457" y="78"/>
                      <a:pt x="1542" y="91"/>
                    </a:cubicBezTo>
                    <a:cubicBezTo>
                      <a:pt x="1627" y="104"/>
                      <a:pt x="1674" y="111"/>
                      <a:pt x="1770" y="121"/>
                    </a:cubicBezTo>
                    <a:cubicBezTo>
                      <a:pt x="1866" y="131"/>
                      <a:pt x="1991" y="143"/>
                      <a:pt x="2118" y="151"/>
                    </a:cubicBezTo>
                    <a:cubicBezTo>
                      <a:pt x="2245" y="159"/>
                      <a:pt x="2407" y="163"/>
                      <a:pt x="2532" y="169"/>
                    </a:cubicBezTo>
                    <a:cubicBezTo>
                      <a:pt x="2657" y="175"/>
                      <a:pt x="2582" y="180"/>
                      <a:pt x="2868" y="187"/>
                    </a:cubicBezTo>
                    <a:cubicBezTo>
                      <a:pt x="3154" y="194"/>
                      <a:pt x="3701" y="202"/>
                      <a:pt x="4248" y="211"/>
                    </a:cubicBezTo>
                  </a:path>
                </a:pathLst>
              </a:custGeom>
              <a:solidFill>
                <a:srgbClr val="C0C2E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2" name="WordArt 153">
                <a:extLst>
                  <a:ext uri="{FF2B5EF4-FFF2-40B4-BE49-F238E27FC236}">
                    <a16:creationId xmlns:a16="http://schemas.microsoft.com/office/drawing/2014/main" id="{C3128E5D-B5E0-4ACB-ACE9-5B5523E2EED2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 rot="540198">
                <a:off x="1753" y="6140"/>
                <a:ext cx="717" cy="126"/>
              </a:xfrm>
              <a:prstGeom prst="rect">
                <a:avLst/>
              </a:prstGeom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solidFill>
                      <a:srgbClr val="008000"/>
                    </a:solidFill>
                    <a:cs typeface="Times New Roman" panose="02020603050405020304" pitchFamily="18" charset="0"/>
                  </a:rPr>
                  <a:t>1 0 0 0 K</a:t>
                </a:r>
                <a:endParaRPr lang="zh-CN" altLang="en-US" sz="3600" kern="10">
                  <a:solidFill>
                    <a:srgbClr val="008000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630" name="Text Box 224">
              <a:extLst>
                <a:ext uri="{FF2B5EF4-FFF2-40B4-BE49-F238E27FC236}">
                  <a16:creationId xmlns:a16="http://schemas.microsoft.com/office/drawing/2014/main" id="{9786A859-EFBA-42EB-9EF6-C8E41C802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3" y="6258"/>
              <a:ext cx="5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accent2"/>
                  </a:solidFill>
                  <a:ea typeface="楷体_GB2312" panose="02010609030101010101" pitchFamily="49" charset="-122"/>
                </a:rPr>
                <a:t>M</a:t>
              </a:r>
              <a:r>
                <a:rPr lang="en-US" altLang="zh-CN" sz="2000" baseline="-25000">
                  <a:solidFill>
                    <a:schemeClr val="accent2"/>
                  </a:solidFill>
                  <a:ea typeface="楷体_GB2312" panose="02010609030101010101" pitchFamily="49" charset="-122"/>
                </a:rPr>
                <a:t>0</a:t>
              </a:r>
              <a:r>
                <a:rPr lang="en-US" altLang="zh-CN" sz="2000">
                  <a:solidFill>
                    <a:schemeClr val="accent2"/>
                  </a:solidFill>
                  <a:ea typeface="楷体_GB2312" panose="02010609030101010101" pitchFamily="49" charset="-122"/>
                </a:rPr>
                <a:t>(T)</a:t>
              </a:r>
            </a:p>
          </p:txBody>
        </p:sp>
      </p:grpSp>
      <p:grpSp>
        <p:nvGrpSpPr>
          <p:cNvPr id="22" name="Group 164">
            <a:extLst>
              <a:ext uri="{FF2B5EF4-FFF2-40B4-BE49-F238E27FC236}">
                <a16:creationId xmlns:a16="http://schemas.microsoft.com/office/drawing/2014/main" id="{122C50F2-7BC9-4836-901F-7EA8BE5D2329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451100"/>
            <a:ext cx="119063" cy="3590925"/>
            <a:chOff x="1392" y="1570"/>
            <a:chExt cx="75" cy="2262"/>
          </a:xfrm>
        </p:grpSpPr>
        <p:sp>
          <p:nvSpPr>
            <p:cNvPr id="25627" name="Line 165">
              <a:extLst>
                <a:ext uri="{FF2B5EF4-FFF2-40B4-BE49-F238E27FC236}">
                  <a16:creationId xmlns:a16="http://schemas.microsoft.com/office/drawing/2014/main" id="{BD33479C-BAF8-4C3E-B091-FFD110A39D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27" y="1570"/>
              <a:ext cx="1" cy="22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non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8" name="Oval 166">
              <a:extLst>
                <a:ext uri="{FF2B5EF4-FFF2-40B4-BE49-F238E27FC236}">
                  <a16:creationId xmlns:a16="http://schemas.microsoft.com/office/drawing/2014/main" id="{EFA8312D-36EF-4924-ABD9-963086F9B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769"/>
              <a:ext cx="75" cy="63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931994" name="Rectangle 154">
            <a:extLst>
              <a:ext uri="{FF2B5EF4-FFF2-40B4-BE49-F238E27FC236}">
                <a16:creationId xmlns:a16="http://schemas.microsoft.com/office/drawing/2014/main" id="{07683196-2290-4166-8589-83A1E2F66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850" y="5689600"/>
            <a:ext cx="754063" cy="234950"/>
          </a:xfrm>
          <a:prstGeom prst="rect">
            <a:avLst/>
          </a:prstGeom>
          <a:solidFill>
            <a:srgbClr val="C0C2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23" name="Group 155">
            <a:extLst>
              <a:ext uri="{FF2B5EF4-FFF2-40B4-BE49-F238E27FC236}">
                <a16:creationId xmlns:a16="http://schemas.microsoft.com/office/drawing/2014/main" id="{D7687BDD-66A9-4BE6-B779-6C5DD3BF383B}"/>
              </a:ext>
            </a:extLst>
          </p:cNvPr>
          <p:cNvGrpSpPr>
            <a:grpSpLocks/>
          </p:cNvGrpSpPr>
          <p:nvPr/>
        </p:nvGrpSpPr>
        <p:grpSpPr bwMode="auto">
          <a:xfrm>
            <a:off x="2720975" y="5635625"/>
            <a:ext cx="106363" cy="415925"/>
            <a:chOff x="2008" y="3410"/>
            <a:chExt cx="67" cy="262"/>
          </a:xfrm>
        </p:grpSpPr>
        <p:sp>
          <p:nvSpPr>
            <p:cNvPr id="25625" name="Line 156">
              <a:extLst>
                <a:ext uri="{FF2B5EF4-FFF2-40B4-BE49-F238E27FC236}">
                  <a16:creationId xmlns:a16="http://schemas.microsoft.com/office/drawing/2014/main" id="{1BD75A8C-19F3-4859-BCA7-4F8D73E620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41" y="3410"/>
              <a:ext cx="0" cy="2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6" name="Oval 157">
              <a:extLst>
                <a:ext uri="{FF2B5EF4-FFF2-40B4-BE49-F238E27FC236}">
                  <a16:creationId xmlns:a16="http://schemas.microsoft.com/office/drawing/2014/main" id="{246E9CE4-0F84-4345-B880-33FBAE1E0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" y="3609"/>
              <a:ext cx="67" cy="63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grpSp>
        <p:nvGrpSpPr>
          <p:cNvPr id="24" name="Group 161">
            <a:extLst>
              <a:ext uri="{FF2B5EF4-FFF2-40B4-BE49-F238E27FC236}">
                <a16:creationId xmlns:a16="http://schemas.microsoft.com/office/drawing/2014/main" id="{34D3E62E-DE9B-4FB1-9D68-2FF41DBA6303}"/>
              </a:ext>
            </a:extLst>
          </p:cNvPr>
          <p:cNvGrpSpPr>
            <a:grpSpLocks/>
          </p:cNvGrpSpPr>
          <p:nvPr/>
        </p:nvGrpSpPr>
        <p:grpSpPr bwMode="auto">
          <a:xfrm>
            <a:off x="2381250" y="4154488"/>
            <a:ext cx="106363" cy="1885950"/>
            <a:chOff x="1713" y="2484"/>
            <a:chExt cx="67" cy="1188"/>
          </a:xfrm>
        </p:grpSpPr>
        <p:sp>
          <p:nvSpPr>
            <p:cNvPr id="25623" name="Line 162">
              <a:extLst>
                <a:ext uri="{FF2B5EF4-FFF2-40B4-BE49-F238E27FC236}">
                  <a16:creationId xmlns:a16="http://schemas.microsoft.com/office/drawing/2014/main" id="{91AD26FC-E3BE-4AB4-9781-13AA330D1E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4" y="2484"/>
              <a:ext cx="0" cy="1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Oval 163">
              <a:extLst>
                <a:ext uri="{FF2B5EF4-FFF2-40B4-BE49-F238E27FC236}">
                  <a16:creationId xmlns:a16="http://schemas.microsoft.com/office/drawing/2014/main" id="{E14BF3B9-015C-4EA4-B785-290FE52E0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3" y="3609"/>
              <a:ext cx="67" cy="63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grpSp>
        <p:nvGrpSpPr>
          <p:cNvPr id="25" name="Group 158">
            <a:extLst>
              <a:ext uri="{FF2B5EF4-FFF2-40B4-BE49-F238E27FC236}">
                <a16:creationId xmlns:a16="http://schemas.microsoft.com/office/drawing/2014/main" id="{DBD8E09D-B9E5-4E4B-95CB-C0062E969A68}"/>
              </a:ext>
            </a:extLst>
          </p:cNvPr>
          <p:cNvGrpSpPr>
            <a:grpSpLocks/>
          </p:cNvGrpSpPr>
          <p:nvPr/>
        </p:nvGrpSpPr>
        <p:grpSpPr bwMode="auto">
          <a:xfrm>
            <a:off x="2570163" y="5072063"/>
            <a:ext cx="106362" cy="965200"/>
            <a:chOff x="1863" y="3064"/>
            <a:chExt cx="67" cy="608"/>
          </a:xfrm>
        </p:grpSpPr>
        <p:sp>
          <p:nvSpPr>
            <p:cNvPr id="25621" name="Line 159">
              <a:extLst>
                <a:ext uri="{FF2B5EF4-FFF2-40B4-BE49-F238E27FC236}">
                  <a16:creationId xmlns:a16="http://schemas.microsoft.com/office/drawing/2014/main" id="{455F2373-C3FE-4977-9F06-60391B91CD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95" y="3064"/>
              <a:ext cx="0" cy="5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Oval 160">
              <a:extLst>
                <a:ext uri="{FF2B5EF4-FFF2-40B4-BE49-F238E27FC236}">
                  <a16:creationId xmlns:a16="http://schemas.microsoft.com/office/drawing/2014/main" id="{0D42DAEA-1B89-46FA-AADB-59613CF51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3" y="3609"/>
              <a:ext cx="67" cy="63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25619" name="Rectangle 237">
            <a:extLst>
              <a:ext uri="{FF2B5EF4-FFF2-40B4-BE49-F238E27FC236}">
                <a16:creationId xmlns:a16="http://schemas.microsoft.com/office/drawing/2014/main" id="{C0453F46-704F-4E5E-8CE5-3FF4F6611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0"/>
            <a:ext cx="251936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25620" name="Object 239">
            <a:extLst>
              <a:ext uri="{FF2B5EF4-FFF2-40B4-BE49-F238E27FC236}">
                <a16:creationId xmlns:a16="http://schemas.microsoft.com/office/drawing/2014/main" id="{A3E1F285-021E-4749-9B58-40693E4962AE}"/>
              </a:ext>
            </a:extLst>
          </p:cNvPr>
          <p:cNvGraphicFramePr>
            <a:graphicFrameLocks/>
          </p:cNvGraphicFramePr>
          <p:nvPr/>
        </p:nvGraphicFramePr>
        <p:xfrm>
          <a:off x="6804025" y="117475"/>
          <a:ext cx="22590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2" r:id="rId5" imgW="857212" imgH="209414" progId="Equation.DSMT4">
                  <p:embed/>
                </p:oleObj>
              </mc:Choice>
              <mc:Fallback>
                <p:oleObj r:id="rId5" imgW="857212" imgH="209414" progId="Equation.DSMT4">
                  <p:embed/>
                  <p:pic>
                    <p:nvPicPr>
                      <p:cNvPr id="0" name="Object 23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117475"/>
                        <a:ext cx="2259013" cy="6477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0066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3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3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93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93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932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932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932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68" grpId="0" animBg="1"/>
      <p:bldP spid="931976" grpId="0" animBg="1"/>
      <p:bldP spid="932049" grpId="0" build="p"/>
      <p:bldP spid="932050" grpId="0" build="p"/>
      <p:bldP spid="932055" grpId="0"/>
      <p:bldP spid="93199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>
            <a:extLst>
              <a:ext uri="{FF2B5EF4-FFF2-40B4-BE49-F238E27FC236}">
                <a16:creationId xmlns:a16="http://schemas.microsoft.com/office/drawing/2014/main" id="{4BEE87C2-3617-4157-9F1D-9ED03A21E0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C69875-35AA-4E87-AEFE-41055C006DC1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zh-CN" altLang="zh-CN" sz="1400"/>
          </a:p>
        </p:txBody>
      </p:sp>
      <p:sp>
        <p:nvSpPr>
          <p:cNvPr id="920578" name="Text Box 2">
            <a:extLst>
              <a:ext uri="{FF2B5EF4-FFF2-40B4-BE49-F238E27FC236}">
                <a16:creationId xmlns:a16="http://schemas.microsoft.com/office/drawing/2014/main" id="{895FBA90-BFC3-44EF-BDD4-A5A7C3CAA1F3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23850" y="260350"/>
            <a:ext cx="7416800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例</a:t>
            </a:r>
            <a:r>
              <a:rPr kumimoji="1" lang="en-US" altLang="zh-CN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</a:t>
            </a:r>
            <a:r>
              <a:rPr kumimoji="1" lang="zh-CN" altLang="en-US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：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太阳可以看成黑体，地球上测出其峰值波长为 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b="0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m</a:t>
            </a:r>
            <a:r>
              <a:rPr kumimoji="1"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=510nm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，则其表面温度和辐出度为多少？</a:t>
            </a:r>
            <a:endParaRPr kumimoji="1" lang="zh-CN" altLang="en-US" b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920579" name="Text Box 3">
            <a:extLst>
              <a:ext uri="{FF2B5EF4-FFF2-40B4-BE49-F238E27FC236}">
                <a16:creationId xmlns:a16="http://schemas.microsoft.com/office/drawing/2014/main" id="{C002D55C-A123-4A6C-8D65-94C4DA75691C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1114425" y="1346200"/>
            <a:ext cx="40338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Monotype Sorts"/>
              </a:rPr>
              <a:t>维恩位移定律</a:t>
            </a:r>
            <a:endParaRPr kumimoji="1" lang="zh-CN" altLang="en-US" b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20580" name="Object 4">
            <a:extLst>
              <a:ext uri="{FF2B5EF4-FFF2-40B4-BE49-F238E27FC236}">
                <a16:creationId xmlns:a16="http://schemas.microsoft.com/office/drawing/2014/main" id="{FB98F6E2-F51A-421D-9B5F-267F96BB0284}"/>
              </a:ext>
            </a:extLst>
          </p:cNvPr>
          <p:cNvGraphicFramePr>
            <a:graphicFrameLocks/>
          </p:cNvGraphicFramePr>
          <p:nvPr/>
        </p:nvGraphicFramePr>
        <p:xfrm>
          <a:off x="1235075" y="1952625"/>
          <a:ext cx="18240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0" r:id="rId3" imgW="504908" imgH="199923" progId="Equation.DSMT4">
                  <p:embed/>
                </p:oleObj>
              </mc:Choice>
              <mc:Fallback>
                <p:oleObj r:id="rId3" imgW="504908" imgH="199923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1952625"/>
                        <a:ext cx="18240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0581" name="Object 5">
            <a:extLst>
              <a:ext uri="{FF2B5EF4-FFF2-40B4-BE49-F238E27FC236}">
                <a16:creationId xmlns:a16="http://schemas.microsoft.com/office/drawing/2014/main" id="{1F1C6F69-4625-4AF3-8597-A7700AB38253}"/>
              </a:ext>
            </a:extLst>
          </p:cNvPr>
          <p:cNvGraphicFramePr>
            <a:graphicFrameLocks/>
          </p:cNvGraphicFramePr>
          <p:nvPr/>
        </p:nvGraphicFramePr>
        <p:xfrm>
          <a:off x="1190625" y="2493963"/>
          <a:ext cx="46767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1" r:id="rId5" imgW="2038286" imgH="428625" progId="Equation.3">
                  <p:embed/>
                </p:oleObj>
              </mc:Choice>
              <mc:Fallback>
                <p:oleObj r:id="rId5" imgW="2038286" imgH="428625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2493963"/>
                        <a:ext cx="4676775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0583" name="Object 7">
            <a:extLst>
              <a:ext uri="{FF2B5EF4-FFF2-40B4-BE49-F238E27FC236}">
                <a16:creationId xmlns:a16="http://schemas.microsoft.com/office/drawing/2014/main" id="{6986A7D8-6CD8-4E1D-A8F2-DE904E194A50}"/>
              </a:ext>
            </a:extLst>
          </p:cNvPr>
          <p:cNvGraphicFramePr>
            <a:graphicFrameLocks/>
          </p:cNvGraphicFramePr>
          <p:nvPr/>
        </p:nvGraphicFramePr>
        <p:xfrm>
          <a:off x="2211388" y="4941888"/>
          <a:ext cx="351313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2" r:id="rId7" imgW="1343159" imgH="199923" progId="Equation.3">
                  <p:embed/>
                </p:oleObj>
              </mc:Choice>
              <mc:Fallback>
                <p:oleObj r:id="rId7" imgW="1343159" imgH="199923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388" y="4941888"/>
                        <a:ext cx="3513137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0584" name="Object 8">
            <a:extLst>
              <a:ext uri="{FF2B5EF4-FFF2-40B4-BE49-F238E27FC236}">
                <a16:creationId xmlns:a16="http://schemas.microsoft.com/office/drawing/2014/main" id="{2498B384-F812-4F85-B65F-86999390EF19}"/>
              </a:ext>
            </a:extLst>
          </p:cNvPr>
          <p:cNvGraphicFramePr>
            <a:graphicFrameLocks/>
          </p:cNvGraphicFramePr>
          <p:nvPr/>
        </p:nvGraphicFramePr>
        <p:xfrm>
          <a:off x="2201863" y="5589588"/>
          <a:ext cx="29464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3" r:id="rId9" imgW="1114406" imgH="171450" progId="Equation.3">
                  <p:embed/>
                </p:oleObj>
              </mc:Choice>
              <mc:Fallback>
                <p:oleObj r:id="rId9" imgW="1114406" imgH="17145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3" y="5589588"/>
                        <a:ext cx="29464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0585" name="Text Box 9">
            <a:extLst>
              <a:ext uri="{FF2B5EF4-FFF2-40B4-BE49-F238E27FC236}">
                <a16:creationId xmlns:a16="http://schemas.microsoft.com/office/drawing/2014/main" id="{F2E072D0-93A2-44B5-86DE-5E6219DD05DF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93700" y="1346200"/>
            <a:ext cx="7937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</a:p>
        </p:txBody>
      </p:sp>
      <p:sp>
        <p:nvSpPr>
          <p:cNvPr id="920586" name="Rectangle 10">
            <a:extLst>
              <a:ext uri="{FF2B5EF4-FFF2-40B4-BE49-F238E27FC236}">
                <a16:creationId xmlns:a16="http://schemas.microsoft.com/office/drawing/2014/main" id="{A59E23F1-B17E-4269-890D-535BB9D8C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773488"/>
            <a:ext cx="3689350" cy="420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Monotype Sorts"/>
              </a:rPr>
              <a:t>由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Monotype Sorts"/>
              </a:rPr>
              <a:t>斯特藩 </a:t>
            </a:r>
            <a:r>
              <a:rPr kumimoji="1" lang="en-US" altLang="zh-CN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Monotype Sorts"/>
              </a:rPr>
              <a:t>- 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Monotype Sorts"/>
              </a:rPr>
              <a:t>玻耳兹曼定律</a:t>
            </a:r>
          </a:p>
        </p:txBody>
      </p:sp>
      <p:graphicFrame>
        <p:nvGraphicFramePr>
          <p:cNvPr id="920588" name="Object 12">
            <a:extLst>
              <a:ext uri="{FF2B5EF4-FFF2-40B4-BE49-F238E27FC236}">
                <a16:creationId xmlns:a16="http://schemas.microsoft.com/office/drawing/2014/main" id="{AFB05BD1-0786-4E4C-B5DE-FED2EB1DD7FF}"/>
              </a:ext>
            </a:extLst>
          </p:cNvPr>
          <p:cNvGraphicFramePr>
            <a:graphicFrameLocks/>
          </p:cNvGraphicFramePr>
          <p:nvPr/>
        </p:nvGraphicFramePr>
        <p:xfrm>
          <a:off x="1058863" y="4351338"/>
          <a:ext cx="22748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4" r:id="rId11" imgW="857212" imgH="209414" progId="Equation.DSMT4">
                  <p:embed/>
                </p:oleObj>
              </mc:Choice>
              <mc:Fallback>
                <p:oleObj r:id="rId11" imgW="857212" imgH="209414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4351338"/>
                        <a:ext cx="2274887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20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2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2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2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2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2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2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2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0579" grpId="0"/>
      <p:bldP spid="920585" grpId="0"/>
      <p:bldP spid="92058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>
            <a:extLst>
              <a:ext uri="{FF2B5EF4-FFF2-40B4-BE49-F238E27FC236}">
                <a16:creationId xmlns:a16="http://schemas.microsoft.com/office/drawing/2014/main" id="{D11B546D-0BBE-4147-89A0-798DAC41EA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DA87D8-BE03-479A-A715-4367DAF2B726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zh-CN" altLang="zh-CN" sz="1400"/>
          </a:p>
        </p:txBody>
      </p:sp>
      <p:graphicFrame>
        <p:nvGraphicFramePr>
          <p:cNvPr id="1002518" name="Object 22">
            <a:extLst>
              <a:ext uri="{FF2B5EF4-FFF2-40B4-BE49-F238E27FC236}">
                <a16:creationId xmlns:a16="http://schemas.microsoft.com/office/drawing/2014/main" id="{587E8DAB-F349-4AAF-808A-EEE011CD3064}"/>
              </a:ext>
            </a:extLst>
          </p:cNvPr>
          <p:cNvGraphicFramePr>
            <a:graphicFrameLocks/>
          </p:cNvGraphicFramePr>
          <p:nvPr/>
        </p:nvGraphicFramePr>
        <p:xfrm>
          <a:off x="3348038" y="2708275"/>
          <a:ext cx="12398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8" r:id="rId3" imgW="514388" imgH="209414" progId="Equation.DSMT4">
                  <p:embed/>
                </p:oleObj>
              </mc:Choice>
              <mc:Fallback>
                <p:oleObj r:id="rId3" imgW="514388" imgH="209414" progId="Equation.DSMT4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708275"/>
                        <a:ext cx="123983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2519" name="Object 23">
            <a:extLst>
              <a:ext uri="{FF2B5EF4-FFF2-40B4-BE49-F238E27FC236}">
                <a16:creationId xmlns:a16="http://schemas.microsoft.com/office/drawing/2014/main" id="{427DB5AE-4867-4146-8315-F5CC2B788083}"/>
              </a:ext>
            </a:extLst>
          </p:cNvPr>
          <p:cNvGraphicFramePr>
            <a:graphicFrameLocks/>
          </p:cNvGraphicFramePr>
          <p:nvPr/>
        </p:nvGraphicFramePr>
        <p:xfrm>
          <a:off x="1600200" y="3556000"/>
          <a:ext cx="23622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9" r:id="rId5" imgW="1038257" imgH="390661" progId="Equation.DSMT4">
                  <p:embed/>
                </p:oleObj>
              </mc:Choice>
              <mc:Fallback>
                <p:oleObj r:id="rId5" imgW="1038257" imgH="390661" progId="Equation.DSMT4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556000"/>
                        <a:ext cx="23622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2520" name="Object 24">
            <a:extLst>
              <a:ext uri="{FF2B5EF4-FFF2-40B4-BE49-F238E27FC236}">
                <a16:creationId xmlns:a16="http://schemas.microsoft.com/office/drawing/2014/main" id="{4307F1D8-3B9F-4C46-8B85-EA392E6DEE17}"/>
              </a:ext>
            </a:extLst>
          </p:cNvPr>
          <p:cNvGraphicFramePr>
            <a:graphicFrameLocks/>
          </p:cNvGraphicFramePr>
          <p:nvPr/>
        </p:nvGraphicFramePr>
        <p:xfrm>
          <a:off x="1447800" y="4459288"/>
          <a:ext cx="48847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0" r:id="rId7" imgW="2019325" imgH="390661" progId="Equation.DSMT4">
                  <p:embed/>
                </p:oleObj>
              </mc:Choice>
              <mc:Fallback>
                <p:oleObj r:id="rId7" imgW="2019325" imgH="390661" progId="Equation.DSMT4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459288"/>
                        <a:ext cx="488473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21" name="Text Box 25">
            <a:extLst>
              <a:ext uri="{FF2B5EF4-FFF2-40B4-BE49-F238E27FC236}">
                <a16:creationId xmlns:a16="http://schemas.microsoft.com/office/drawing/2014/main" id="{DEBB5B27-2F9D-42CD-BB36-CDFCDB4B1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035175"/>
            <a:ext cx="662463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 </a:t>
            </a:r>
            <a:r>
              <a:rPr kumimoji="1" lang="zh-CN" alt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解 ：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太阳单位时间辐射能量，即辐射功率为</a:t>
            </a:r>
          </a:p>
        </p:txBody>
      </p:sp>
      <p:sp>
        <p:nvSpPr>
          <p:cNvPr id="1002522" name="Text Box 26">
            <a:extLst>
              <a:ext uri="{FF2B5EF4-FFF2-40B4-BE49-F238E27FC236}">
                <a16:creationId xmlns:a16="http://schemas.microsoft.com/office/drawing/2014/main" id="{65886E94-AF31-49B3-A4D5-A9BC4F157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791200"/>
            <a:ext cx="26352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故太阳表面温度为</a:t>
            </a:r>
          </a:p>
        </p:txBody>
      </p:sp>
      <p:grpSp>
        <p:nvGrpSpPr>
          <p:cNvPr id="28680" name="Group 27">
            <a:extLst>
              <a:ext uri="{FF2B5EF4-FFF2-40B4-BE49-F238E27FC236}">
                <a16:creationId xmlns:a16="http://schemas.microsoft.com/office/drawing/2014/main" id="{ED97E646-51FD-431E-BE96-DFD41A0E76DC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2133600"/>
            <a:ext cx="2133600" cy="1676400"/>
            <a:chOff x="4080" y="2208"/>
            <a:chExt cx="1344" cy="1056"/>
          </a:xfrm>
        </p:grpSpPr>
        <p:sp>
          <p:nvSpPr>
            <p:cNvPr id="28686" name="Oval 28">
              <a:extLst>
                <a:ext uri="{FF2B5EF4-FFF2-40B4-BE49-F238E27FC236}">
                  <a16:creationId xmlns:a16="http://schemas.microsoft.com/office/drawing/2014/main" id="{D0A3F0FF-1538-4878-B8BB-0A623F274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640"/>
              <a:ext cx="192" cy="192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8687" name="Line 29">
              <a:extLst>
                <a:ext uri="{FF2B5EF4-FFF2-40B4-BE49-F238E27FC236}">
                  <a16:creationId xmlns:a16="http://schemas.microsoft.com/office/drawing/2014/main" id="{E4F7BF83-6186-42E6-87CC-6BBF4A956B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6" y="2640"/>
              <a:ext cx="48" cy="96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2526" name="Text Box 30">
              <a:extLst>
                <a:ext uri="{FF2B5EF4-FFF2-40B4-BE49-F238E27FC236}">
                  <a16:creationId xmlns:a16="http://schemas.microsoft.com/office/drawing/2014/main" id="{F2FA1C1D-C3C4-4EF8-865D-7FE0BB8D1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2" y="2649"/>
              <a:ext cx="232" cy="250"/>
            </a:xfrm>
            <a:prstGeom prst="rect">
              <a:avLst/>
            </a:prstGeom>
            <a:noFill/>
            <a:ln w="381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28689" name="Oval 31">
              <a:extLst>
                <a:ext uri="{FF2B5EF4-FFF2-40B4-BE49-F238E27FC236}">
                  <a16:creationId xmlns:a16="http://schemas.microsoft.com/office/drawing/2014/main" id="{ABAA2F66-9036-4FA1-890B-C9137155D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208"/>
              <a:ext cx="1056" cy="1056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28690" name="Line 32">
              <a:extLst>
                <a:ext uri="{FF2B5EF4-FFF2-40B4-BE49-F238E27FC236}">
                  <a16:creationId xmlns:a16="http://schemas.microsoft.com/office/drawing/2014/main" id="{64E9DA0B-050E-4581-9C96-614E0926F7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16" y="2496"/>
              <a:ext cx="480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2529" name="Text Box 33">
              <a:extLst>
                <a:ext uri="{FF2B5EF4-FFF2-40B4-BE49-F238E27FC236}">
                  <a16:creationId xmlns:a16="http://schemas.microsoft.com/office/drawing/2014/main" id="{E4A2ABC5-1DDF-4C84-8C52-FDB3E32FF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352"/>
              <a:ext cx="201" cy="288"/>
            </a:xfrm>
            <a:prstGeom prst="rect">
              <a:avLst/>
            </a:prstGeom>
            <a:noFill/>
            <a:ln w="381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28692" name="Oval 34">
              <a:extLst>
                <a:ext uri="{FF2B5EF4-FFF2-40B4-BE49-F238E27FC236}">
                  <a16:creationId xmlns:a16="http://schemas.microsoft.com/office/drawing/2014/main" id="{2366C4E2-A5E8-454C-B67B-00DDF4E38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880"/>
              <a:ext cx="96" cy="9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002531" name="Text Box 35">
              <a:extLst>
                <a:ext uri="{FF2B5EF4-FFF2-40B4-BE49-F238E27FC236}">
                  <a16:creationId xmlns:a16="http://schemas.microsoft.com/office/drawing/2014/main" id="{A69C4C04-DEBA-4352-8099-6D86FBB168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976"/>
              <a:ext cx="374" cy="212"/>
            </a:xfrm>
            <a:prstGeom prst="rect">
              <a:avLst/>
            </a:prstGeom>
            <a:noFill/>
            <a:ln w="381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zh-CN" altLang="en-US" sz="16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地球</a:t>
              </a:r>
            </a:p>
          </p:txBody>
        </p:sp>
      </p:grpSp>
      <p:graphicFrame>
        <p:nvGraphicFramePr>
          <p:cNvPr id="1002532" name="Object 36">
            <a:extLst>
              <a:ext uri="{FF2B5EF4-FFF2-40B4-BE49-F238E27FC236}">
                <a16:creationId xmlns:a16="http://schemas.microsoft.com/office/drawing/2014/main" id="{FC730334-2D0C-4993-B432-49CF5CECE233}"/>
              </a:ext>
            </a:extLst>
          </p:cNvPr>
          <p:cNvGraphicFramePr>
            <a:graphicFrameLocks/>
          </p:cNvGraphicFramePr>
          <p:nvPr/>
        </p:nvGraphicFramePr>
        <p:xfrm>
          <a:off x="3779838" y="5516563"/>
          <a:ext cx="3813175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1" r:id="rId9" imgW="1600353" imgH="390661" progId="Equation.DSMT4">
                  <p:embed/>
                </p:oleObj>
              </mc:Choice>
              <mc:Fallback>
                <p:oleObj r:id="rId9" imgW="1600353" imgH="390661" progId="Equation.DSMT4">
                  <p:embed/>
                  <p:pic>
                    <p:nvPicPr>
                      <p:cNvPr id="0" name="Object 3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516563"/>
                        <a:ext cx="3813175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37">
            <a:extLst>
              <a:ext uri="{FF2B5EF4-FFF2-40B4-BE49-F238E27FC236}">
                <a16:creationId xmlns:a16="http://schemas.microsoft.com/office/drawing/2014/main" id="{3200DA91-D7CF-45DA-9CAC-522751D28213}"/>
              </a:ext>
            </a:extLst>
          </p:cNvPr>
          <p:cNvGraphicFramePr>
            <a:graphicFrameLocks/>
          </p:cNvGraphicFramePr>
          <p:nvPr/>
        </p:nvGraphicFramePr>
        <p:xfrm>
          <a:off x="3203575" y="1233488"/>
          <a:ext cx="24320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2" r:id="rId11" imgW="1028776" imgH="171450" progId="Equation.DSMT4">
                  <p:embed/>
                </p:oleObj>
              </mc:Choice>
              <mc:Fallback>
                <p:oleObj r:id="rId11" imgW="1028776" imgH="171450" progId="Equation.DSMT4">
                  <p:embed/>
                  <p:pic>
                    <p:nvPicPr>
                      <p:cNvPr id="0" name="Object 3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233488"/>
                        <a:ext cx="24320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34" name="Text Box 38">
            <a:extLst>
              <a:ext uri="{FF2B5EF4-FFF2-40B4-BE49-F238E27FC236}">
                <a16:creationId xmlns:a16="http://schemas.microsoft.com/office/drawing/2014/main" id="{0B55F356-E2FD-4156-A574-1B28C6CF8915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4925" y="115888"/>
            <a:ext cx="8640763" cy="1570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</a:t>
            </a:r>
            <a:r>
              <a:rPr kumimoji="1" lang="zh-CN" alt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例 </a:t>
            </a:r>
            <a:r>
              <a:rPr kumimoji="1" lang="en-US" altLang="zh-CN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. 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太阳单位时间辐射到地球大气层外表面单位面积的辐射能量 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I</a:t>
            </a:r>
            <a:r>
              <a:rPr kumimoji="1" lang="en-US" altLang="zh-CN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o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称为太阳常量，实验测得其值为 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I</a:t>
            </a:r>
            <a:r>
              <a:rPr kumimoji="1" lang="en-US" altLang="zh-CN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o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=1.35 kW/m</a:t>
            </a:r>
            <a:r>
              <a:rPr kumimoji="1" lang="en-US" altLang="zh-CN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。试把太阳近似当作黑体，由太阳常量估计太阳表面的温度。太阳，地球之间的平均距离为                                太阳半径为</a:t>
            </a:r>
          </a:p>
        </p:txBody>
      </p:sp>
      <p:graphicFrame>
        <p:nvGraphicFramePr>
          <p:cNvPr id="28684" name="Object 39">
            <a:extLst>
              <a:ext uri="{FF2B5EF4-FFF2-40B4-BE49-F238E27FC236}">
                <a16:creationId xmlns:a16="http://schemas.microsoft.com/office/drawing/2014/main" id="{30D02166-7562-4A8C-AC69-C949D4DE5A86}"/>
              </a:ext>
            </a:extLst>
          </p:cNvPr>
          <p:cNvGraphicFramePr>
            <a:graphicFrameLocks/>
          </p:cNvGraphicFramePr>
          <p:nvPr/>
        </p:nvGraphicFramePr>
        <p:xfrm>
          <a:off x="7092950" y="1230313"/>
          <a:ext cx="20161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3" r:id="rId13" imgW="1038257" imgH="171450" progId="Equation.DSMT4">
                  <p:embed/>
                </p:oleObj>
              </mc:Choice>
              <mc:Fallback>
                <p:oleObj r:id="rId13" imgW="1038257" imgH="171450" progId="Equation.DSMT4">
                  <p:embed/>
                  <p:pic>
                    <p:nvPicPr>
                      <p:cNvPr id="0" name="Object 39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1230313"/>
                        <a:ext cx="201612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1">
            <a:extLst>
              <a:ext uri="{FF2B5EF4-FFF2-40B4-BE49-F238E27FC236}">
                <a16:creationId xmlns:a16="http://schemas.microsoft.com/office/drawing/2014/main" id="{00062510-8035-410F-8FE4-9BE620D859F7}"/>
              </a:ext>
            </a:extLst>
          </p:cNvPr>
          <p:cNvGraphicFramePr>
            <a:graphicFrameLocks/>
          </p:cNvGraphicFramePr>
          <p:nvPr/>
        </p:nvGraphicFramePr>
        <p:xfrm>
          <a:off x="1462088" y="2708275"/>
          <a:ext cx="17875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4" r:id="rId15" imgW="762102" imgH="209414" progId="Equation.DSMT4">
                  <p:embed/>
                </p:oleObj>
              </mc:Choice>
              <mc:Fallback>
                <p:oleObj r:id="rId15" imgW="762102" imgH="209414" progId="Equation.DSMT4">
                  <p:embed/>
                  <p:pic>
                    <p:nvPicPr>
                      <p:cNvPr id="0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2708275"/>
                        <a:ext cx="17875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00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100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2521" grpId="0"/>
      <p:bldP spid="10025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>
            <a:extLst>
              <a:ext uri="{FF2B5EF4-FFF2-40B4-BE49-F238E27FC236}">
                <a16:creationId xmlns:a16="http://schemas.microsoft.com/office/drawing/2014/main" id="{54E427D6-E784-4E29-AAC7-BC0AF3DBD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8D00F3-3114-4780-8F99-DDE8E111905B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zh-CN" altLang="zh-CN" sz="1400"/>
          </a:p>
        </p:txBody>
      </p:sp>
      <p:sp>
        <p:nvSpPr>
          <p:cNvPr id="921602" name="Text Box 2">
            <a:extLst>
              <a:ext uri="{FF2B5EF4-FFF2-40B4-BE49-F238E27FC236}">
                <a16:creationId xmlns:a16="http://schemas.microsoft.com/office/drawing/2014/main" id="{AD597993-A0C4-4352-80DD-026D5FF61F2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68313" y="620713"/>
            <a:ext cx="58674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四、经典物理学遇到的困难</a:t>
            </a:r>
          </a:p>
        </p:txBody>
      </p:sp>
      <p:sp>
        <p:nvSpPr>
          <p:cNvPr id="921603" name="Rectangle 3">
            <a:extLst>
              <a:ext uri="{FF2B5EF4-FFF2-40B4-BE49-F238E27FC236}">
                <a16:creationId xmlns:a16="http://schemas.microsoft.com/office/drawing/2014/main" id="{0F02A232-7D6A-42F8-8CC4-60962294745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23850" y="44450"/>
            <a:ext cx="8496300" cy="519113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如何从理论上建立符合实验规律的函数式</a:t>
            </a:r>
            <a:r>
              <a:rPr kumimoji="1" lang="en-US" altLang="zh-CN" sz="2800" b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? </a:t>
            </a:r>
          </a:p>
        </p:txBody>
      </p:sp>
      <p:sp>
        <p:nvSpPr>
          <p:cNvPr id="921605" name="Text Box 5">
            <a:extLst>
              <a:ext uri="{FF2B5EF4-FFF2-40B4-BE49-F238E27FC236}">
                <a16:creationId xmlns:a16="http://schemas.microsoft.com/office/drawing/2014/main" id="{986A4FE8-B601-4458-ACCA-C3D193502543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700338" y="2952750"/>
            <a:ext cx="19208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0" i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c</a:t>
            </a:r>
            <a:r>
              <a:rPr kumimoji="1" lang="en-US" altLang="zh-CN" sz="2800" b="0" baseline="-2500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0" i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,c</a:t>
            </a:r>
            <a:r>
              <a:rPr kumimoji="1" lang="en-US" altLang="zh-CN" sz="2800" b="0" baseline="-2500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0" i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为常数</a:t>
            </a:r>
            <a:endParaRPr kumimoji="1" lang="zh-CN" altLang="en-US" b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921606" name="Text Box 6">
            <a:extLst>
              <a:ext uri="{FF2B5EF4-FFF2-40B4-BE49-F238E27FC236}">
                <a16:creationId xmlns:a16="http://schemas.microsoft.com/office/drawing/2014/main" id="{BF050B45-E17F-498D-9A89-7ED8A0EE0078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989263" y="1166813"/>
            <a:ext cx="6696075" cy="82232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defRPr/>
            </a:pP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1896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年维恩从经典热力学及统计</a:t>
            </a:r>
          </a:p>
          <a:p>
            <a:pPr marL="457200" indent="-457200" eaLnBrk="1" hangingPunct="1"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理论及实验数据的分析得出</a:t>
            </a:r>
          </a:p>
        </p:txBody>
      </p:sp>
      <p:sp>
        <p:nvSpPr>
          <p:cNvPr id="921607" name="Rectangle 7">
            <a:extLst>
              <a:ext uri="{FF2B5EF4-FFF2-40B4-BE49-F238E27FC236}">
                <a16:creationId xmlns:a16="http://schemas.microsoft.com/office/drawing/2014/main" id="{4CFE39A4-86BD-4AB6-85D6-E691D7A07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8" y="2049463"/>
            <a:ext cx="3810000" cy="947737"/>
          </a:xfrm>
          <a:prstGeom prst="rect">
            <a:avLst/>
          </a:prstGeom>
          <a:noFill/>
          <a:ln w="19050">
            <a:solidFill>
              <a:srgbClr val="0099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21608" name="Text Box 8">
            <a:extLst>
              <a:ext uri="{FF2B5EF4-FFF2-40B4-BE49-F238E27FC236}">
                <a16:creationId xmlns:a16="http://schemas.microsoft.com/office/drawing/2014/main" id="{69EAED9C-0ABA-4B9B-8BB2-CEC8FBB3529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81000" y="1125538"/>
            <a:ext cx="2895600" cy="519112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维恩公式</a:t>
            </a:r>
          </a:p>
        </p:txBody>
      </p:sp>
      <p:sp>
        <p:nvSpPr>
          <p:cNvPr id="921609" name="Text Box 9">
            <a:extLst>
              <a:ext uri="{FF2B5EF4-FFF2-40B4-BE49-F238E27FC236}">
                <a16:creationId xmlns:a16="http://schemas.microsoft.com/office/drawing/2014/main" id="{575CB47E-EFA5-407E-912C-D2DFFF9B6552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872038" y="2276475"/>
            <a:ext cx="5029200" cy="45720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b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短波方向与实验符合较好</a:t>
            </a:r>
          </a:p>
        </p:txBody>
      </p:sp>
      <p:sp>
        <p:nvSpPr>
          <p:cNvPr id="921611" name="Text Box 11">
            <a:extLst>
              <a:ext uri="{FF2B5EF4-FFF2-40B4-BE49-F238E27FC236}">
                <a16:creationId xmlns:a16="http://schemas.microsoft.com/office/drawing/2014/main" id="{6374CBE9-46A1-4464-B3EA-E75992CC2B39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31800" y="3429000"/>
            <a:ext cx="9396413" cy="1042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en-US" altLang="zh-CN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2. </a:t>
            </a: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瑞利</a:t>
            </a:r>
            <a:r>
              <a:rPr kumimoji="1" lang="en-US" altLang="zh-CN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-</a:t>
            </a: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金斯公式</a:t>
            </a: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</a:t>
            </a: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1900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年从经典电动力学和统计物理学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                                   理论 推导而得</a:t>
            </a:r>
          </a:p>
        </p:txBody>
      </p:sp>
      <p:graphicFrame>
        <p:nvGraphicFramePr>
          <p:cNvPr id="921612" name="Object 12">
            <a:extLst>
              <a:ext uri="{FF2B5EF4-FFF2-40B4-BE49-F238E27FC236}">
                <a16:creationId xmlns:a16="http://schemas.microsoft.com/office/drawing/2014/main" id="{0643058D-8DF7-4C3C-BE2E-8F8E7BEE32B8}"/>
              </a:ext>
            </a:extLst>
          </p:cNvPr>
          <p:cNvGraphicFramePr>
            <a:graphicFrameLocks/>
          </p:cNvGraphicFramePr>
          <p:nvPr/>
        </p:nvGraphicFramePr>
        <p:xfrm>
          <a:off x="655638" y="5634038"/>
          <a:ext cx="36290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0" r:id="rId3" imgW="1571606" imgH="171450" progId="Equation.3">
                  <p:embed/>
                </p:oleObj>
              </mc:Choice>
              <mc:Fallback>
                <p:oleObj r:id="rId3" imgW="1571606" imgH="171450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5634038"/>
                        <a:ext cx="362902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13" name="Rectangle 13">
            <a:extLst>
              <a:ext uri="{FF2B5EF4-FFF2-40B4-BE49-F238E27FC236}">
                <a16:creationId xmlns:a16="http://schemas.microsoft.com/office/drawing/2014/main" id="{0FF881D4-B472-40F5-8639-9CFFEB3D5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4538663"/>
            <a:ext cx="3887788" cy="1122362"/>
          </a:xfrm>
          <a:prstGeom prst="rect">
            <a:avLst/>
          </a:prstGeom>
          <a:noFill/>
          <a:ln w="19050">
            <a:solidFill>
              <a:srgbClr val="0099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21614" name="Text Box 14">
            <a:extLst>
              <a:ext uri="{FF2B5EF4-FFF2-40B4-BE49-F238E27FC236}">
                <a16:creationId xmlns:a16="http://schemas.microsoft.com/office/drawing/2014/main" id="{3EF61B67-AD0F-498F-927B-6C9CBA3D876F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932363" y="4652963"/>
            <a:ext cx="5715000" cy="1004887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b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长波方向与实验符合较好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b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Monotype Sorts"/>
              </a:rPr>
              <a:t>短波方向得出灾难性的结论</a:t>
            </a:r>
          </a:p>
        </p:txBody>
      </p:sp>
      <p:sp>
        <p:nvSpPr>
          <p:cNvPr id="921615" name="Text Box 15">
            <a:extLst>
              <a:ext uri="{FF2B5EF4-FFF2-40B4-BE49-F238E27FC236}">
                <a16:creationId xmlns:a16="http://schemas.microsoft.com/office/drawing/2014/main" id="{58AB5FAA-272A-4206-B1A6-B720F25B3E7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932363" y="5805488"/>
            <a:ext cx="5715000" cy="519112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kumimoji="1" lang="zh-CN" altLang="en-US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紫外灾难”</a:t>
            </a:r>
            <a:endParaRPr kumimoji="1" lang="zh-CN" altLang="en-US" sz="2800"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1616" name="Text Box 16">
            <a:extLst>
              <a:ext uri="{FF2B5EF4-FFF2-40B4-BE49-F238E27FC236}">
                <a16:creationId xmlns:a16="http://schemas.microsoft.com/office/drawing/2014/main" id="{9349AC59-262D-43B4-93E2-C04F5D2C4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6165850"/>
            <a:ext cx="245268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i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c</a:t>
            </a: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为真空中的光速</a:t>
            </a:r>
          </a:p>
        </p:txBody>
      </p:sp>
      <p:graphicFrame>
        <p:nvGraphicFramePr>
          <p:cNvPr id="921620" name="Object 20">
            <a:extLst>
              <a:ext uri="{FF2B5EF4-FFF2-40B4-BE49-F238E27FC236}">
                <a16:creationId xmlns:a16="http://schemas.microsoft.com/office/drawing/2014/main" id="{841808D8-99EF-4B29-AAA9-CBD849628CB0}"/>
              </a:ext>
            </a:extLst>
          </p:cNvPr>
          <p:cNvGraphicFramePr>
            <a:graphicFrameLocks/>
          </p:cNvGraphicFramePr>
          <p:nvPr/>
        </p:nvGraphicFramePr>
        <p:xfrm>
          <a:off x="1036638" y="2049463"/>
          <a:ext cx="263048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1" r:id="rId5" imgW="1114406" imgH="419134" progId="Equation.DSMT4">
                  <p:embed/>
                </p:oleObj>
              </mc:Choice>
              <mc:Fallback>
                <p:oleObj r:id="rId5" imgW="1114406" imgH="419134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2049463"/>
                        <a:ext cx="2630487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21" name="Object 21">
            <a:extLst>
              <a:ext uri="{FF2B5EF4-FFF2-40B4-BE49-F238E27FC236}">
                <a16:creationId xmlns:a16="http://schemas.microsoft.com/office/drawing/2014/main" id="{BD45FC69-161C-461D-967B-914B5D216CB7}"/>
              </a:ext>
            </a:extLst>
          </p:cNvPr>
          <p:cNvGraphicFramePr>
            <a:graphicFrameLocks/>
          </p:cNvGraphicFramePr>
          <p:nvPr/>
        </p:nvGraphicFramePr>
        <p:xfrm>
          <a:off x="1028700" y="4652963"/>
          <a:ext cx="2613025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2" r:id="rId7" imgW="1114406" imgH="361882" progId="Equation.DSMT4">
                  <p:embed/>
                </p:oleObj>
              </mc:Choice>
              <mc:Fallback>
                <p:oleObj r:id="rId7" imgW="1114406" imgH="361882" progId="Equation.DSMT4">
                  <p:embed/>
                  <p:pic>
                    <p:nvPicPr>
                      <p:cNvPr id="0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4652963"/>
                        <a:ext cx="2613025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2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2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92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92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92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2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92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92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500"/>
                                        <p:tgtEl>
                                          <p:spTgt spid="921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6" dur="500"/>
                                        <p:tgtEl>
                                          <p:spTgt spid="921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0" fill="hold"/>
                                        <p:tgtEl>
                                          <p:spTgt spid="921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0" fill="hold"/>
                                        <p:tgtEl>
                                          <p:spTgt spid="921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02" grpId="0"/>
      <p:bldP spid="921605" grpId="0"/>
      <p:bldP spid="921606" grpId="0"/>
      <p:bldP spid="921607" grpId="0" animBg="1"/>
      <p:bldP spid="921608" grpId="0"/>
      <p:bldP spid="921609" grpId="0"/>
      <p:bldP spid="921611" grpId="0"/>
      <p:bldP spid="921613" grpId="0" animBg="1"/>
      <p:bldP spid="921614" grpId="0" build="p"/>
      <p:bldP spid="921615" grpId="0"/>
      <p:bldP spid="9216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>
            <a:extLst>
              <a:ext uri="{FF2B5EF4-FFF2-40B4-BE49-F238E27FC236}">
                <a16:creationId xmlns:a16="http://schemas.microsoft.com/office/drawing/2014/main" id="{E163EE53-E7DB-4224-9E12-3DFA3E10BF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8EA1C7-B2DD-4149-8A56-85E6E3D27223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zh-CN" altLang="zh-CN" sz="1400"/>
          </a:p>
        </p:txBody>
      </p:sp>
      <p:grpSp>
        <p:nvGrpSpPr>
          <p:cNvPr id="30723" name="Group 34">
            <a:extLst>
              <a:ext uri="{FF2B5EF4-FFF2-40B4-BE49-F238E27FC236}">
                <a16:creationId xmlns:a16="http://schemas.microsoft.com/office/drawing/2014/main" id="{0095A481-27EA-4B57-9C2F-DDF179BB3973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549275"/>
            <a:ext cx="8353425" cy="5303838"/>
            <a:chOff x="158" y="316"/>
            <a:chExt cx="5262" cy="3341"/>
          </a:xfrm>
        </p:grpSpPr>
        <p:grpSp>
          <p:nvGrpSpPr>
            <p:cNvPr id="30732" name="Group 32">
              <a:extLst>
                <a:ext uri="{FF2B5EF4-FFF2-40B4-BE49-F238E27FC236}">
                  <a16:creationId xmlns:a16="http://schemas.microsoft.com/office/drawing/2014/main" id="{4678FB8F-FC17-4D18-BD49-7E9282C710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" y="316"/>
              <a:ext cx="5262" cy="3341"/>
              <a:chOff x="158" y="316"/>
              <a:chExt cx="5262" cy="3341"/>
            </a:xfrm>
          </p:grpSpPr>
          <p:pic>
            <p:nvPicPr>
              <p:cNvPr id="30734" name="Picture 4" descr="Image1661">
                <a:extLst>
                  <a:ext uri="{FF2B5EF4-FFF2-40B4-BE49-F238E27FC236}">
                    <a16:creationId xmlns:a16="http://schemas.microsoft.com/office/drawing/2014/main" id="{42B720B1-7E56-4966-8B9E-3C8990914A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8" y="316"/>
                <a:ext cx="5262" cy="33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735" name="Rectangle 31">
                <a:extLst>
                  <a:ext uri="{FF2B5EF4-FFF2-40B4-BE49-F238E27FC236}">
                    <a16:creationId xmlns:a16="http://schemas.microsoft.com/office/drawing/2014/main" id="{752B2B32-B80F-451D-A340-F2D6FD929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7960141">
                <a:off x="2284" y="2126"/>
                <a:ext cx="1179" cy="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30733" name="Rectangle 33">
              <a:extLst>
                <a:ext uri="{FF2B5EF4-FFF2-40B4-BE49-F238E27FC236}">
                  <a16:creationId xmlns:a16="http://schemas.microsoft.com/office/drawing/2014/main" id="{246F5EE6-611D-40B6-AF80-FF85E0D55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1706"/>
              <a:ext cx="1043" cy="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30724" name="Rectangle 2">
            <a:extLst>
              <a:ext uri="{FF2B5EF4-FFF2-40B4-BE49-F238E27FC236}">
                <a16:creationId xmlns:a16="http://schemas.microsoft.com/office/drawing/2014/main" id="{1FC5554B-C9D3-406F-9F22-20578DE80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4457700"/>
            <a:ext cx="18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b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939013" name="Rectangle 5">
            <a:extLst>
              <a:ext uri="{FF2B5EF4-FFF2-40B4-BE49-F238E27FC236}">
                <a16:creationId xmlns:a16="http://schemas.microsoft.com/office/drawing/2014/main" id="{BDC92EB6-1E41-432F-821D-EA2B047AC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661025"/>
            <a:ext cx="7704137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黑体辐射的理论公式与实验结果的比较 </a:t>
            </a:r>
          </a:p>
        </p:txBody>
      </p:sp>
      <p:sp>
        <p:nvSpPr>
          <p:cNvPr id="939014" name="Rectangle 6">
            <a:extLst>
              <a:ext uri="{FF2B5EF4-FFF2-40B4-BE49-F238E27FC236}">
                <a16:creationId xmlns:a16="http://schemas.microsoft.com/office/drawing/2014/main" id="{1AE0BAE2-53AB-416C-B546-17890C73A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506663"/>
            <a:ext cx="18415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endParaRPr lang="zh-CN" altLang="zh-CN" sz="28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9015" name="Text Box 7">
            <a:extLst>
              <a:ext uri="{FF2B5EF4-FFF2-40B4-BE49-F238E27FC236}">
                <a16:creationId xmlns:a16="http://schemas.microsoft.com/office/drawing/2014/main" id="{CD8C65B2-0072-486B-91DD-44F84E3545F8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-71438" y="44450"/>
            <a:ext cx="9467851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由经典理论导出的 </a:t>
            </a:r>
            <a:r>
              <a:rPr kumimoji="1"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M</a:t>
            </a:r>
            <a:r>
              <a:rPr kumimoji="1" lang="en-US" altLang="zh-CN" sz="2800" baseline="-250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  <a:sym typeface="Symbol" panose="05050102010706020507" pitchFamily="18" charset="2"/>
              </a:rPr>
              <a:t>0</a:t>
            </a:r>
            <a:r>
              <a:rPr kumimoji="1" lang="el-GR" altLang="zh-CN" sz="2800" i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λ</a:t>
            </a:r>
            <a:r>
              <a:rPr kumimoji="1" lang="en-US" altLang="zh-CN" sz="2800" i="1" baseline="-250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(</a:t>
            </a:r>
            <a:r>
              <a:rPr kumimoji="1"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T</a:t>
            </a:r>
            <a:r>
              <a:rPr kumimoji="1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)</a:t>
            </a:r>
            <a:r>
              <a:rPr kumimoji="1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～</a:t>
            </a:r>
            <a:r>
              <a:rPr kumimoji="1" lang="el-GR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λ</a:t>
            </a:r>
            <a:r>
              <a:rPr kumimoji="1"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公式都与实验结果不符合！</a:t>
            </a:r>
          </a:p>
        </p:txBody>
      </p:sp>
      <p:sp>
        <p:nvSpPr>
          <p:cNvPr id="939016" name="Line 8">
            <a:extLst>
              <a:ext uri="{FF2B5EF4-FFF2-40B4-BE49-F238E27FC236}">
                <a16:creationId xmlns:a16="http://schemas.microsoft.com/office/drawing/2014/main" id="{7FBF0CF8-BC4F-46DC-A382-D98260A4D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549275"/>
            <a:ext cx="3168650" cy="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9017" name="Text Box 9">
            <a:extLst>
              <a:ext uri="{FF2B5EF4-FFF2-40B4-BE49-F238E27FC236}">
                <a16:creationId xmlns:a16="http://schemas.microsoft.com/office/drawing/2014/main" id="{B721F7B5-D12B-410A-9079-8A9EBC2E3271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1631950" y="6165850"/>
            <a:ext cx="6324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32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物理学晴朗天空中的一朵乌云</a:t>
            </a:r>
            <a:r>
              <a:rPr kumimoji="1" lang="en-US" altLang="zh-CN" sz="32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!</a:t>
            </a:r>
          </a:p>
        </p:txBody>
      </p:sp>
      <p:sp>
        <p:nvSpPr>
          <p:cNvPr id="939038" name="Text Box 30">
            <a:extLst>
              <a:ext uri="{FF2B5EF4-FFF2-40B4-BE49-F238E27FC236}">
                <a16:creationId xmlns:a16="http://schemas.microsoft.com/office/drawing/2014/main" id="{8513066C-CB29-4308-9B3B-6460A5700406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1908175" y="4556125"/>
            <a:ext cx="5029200" cy="45720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(</a:t>
            </a:r>
            <a:r>
              <a:rPr kumimoji="1" lang="zh-CN" altLang="en-US" b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短波符合较好</a:t>
            </a:r>
            <a:r>
              <a:rPr kumimoji="1" lang="en-US" altLang="zh-CN" b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939037" name="Text Box 29">
            <a:extLst>
              <a:ext uri="{FF2B5EF4-FFF2-40B4-BE49-F238E27FC236}">
                <a16:creationId xmlns:a16="http://schemas.microsoft.com/office/drawing/2014/main" id="{B4ADB28C-3807-4DFA-B053-EA6EF930381B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859338" y="2205038"/>
            <a:ext cx="5029200" cy="45720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b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(</a:t>
            </a:r>
            <a:r>
              <a:rPr kumimoji="1" lang="zh-CN" altLang="en-US" b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长波符合较好</a:t>
            </a:r>
            <a:r>
              <a:rPr kumimoji="1" lang="en-US" altLang="zh-CN" b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)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3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3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3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3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39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9015" grpId="0"/>
      <p:bldP spid="939017" grpId="0"/>
      <p:bldP spid="939038" grpId="0"/>
      <p:bldP spid="93903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>
            <a:extLst>
              <a:ext uri="{FF2B5EF4-FFF2-40B4-BE49-F238E27FC236}">
                <a16:creationId xmlns:a16="http://schemas.microsoft.com/office/drawing/2014/main" id="{5021718B-5B92-4FB6-AC8B-F7FBCEA918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E3E164-A152-46EC-B9EA-AB26E5226884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zh-CN" altLang="zh-CN" sz="1400"/>
          </a:p>
        </p:txBody>
      </p:sp>
      <p:sp>
        <p:nvSpPr>
          <p:cNvPr id="996356" name="Text Box 4">
            <a:extLst>
              <a:ext uri="{FF2B5EF4-FFF2-40B4-BE49-F238E27FC236}">
                <a16:creationId xmlns:a16="http://schemas.microsoft.com/office/drawing/2014/main" id="{BDB11A47-A800-4098-B4CC-B8F183839E02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81000" y="44450"/>
            <a:ext cx="8077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五、普朗克黑体辐射公式和能量子假说</a:t>
            </a:r>
          </a:p>
        </p:txBody>
      </p:sp>
      <p:sp>
        <p:nvSpPr>
          <p:cNvPr id="996358" name="Text Box 6">
            <a:extLst>
              <a:ext uri="{FF2B5EF4-FFF2-40B4-BE49-F238E27FC236}">
                <a16:creationId xmlns:a16="http://schemas.microsoft.com/office/drawing/2014/main" id="{F8BB690A-AD35-4CA3-BAF1-FB4737B95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681038"/>
            <a:ext cx="8424862" cy="210026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kumimoji="1" lang="en-US" altLang="zh-CN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      </a:t>
            </a:r>
            <a:r>
              <a:rPr kumimoji="1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普朗克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planck,1858-1947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年）德国物理学家。父亲是法学教授。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1874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年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10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月进入慕尼黑大学，最初主攻数学，但很快被物理学所吸引。他的老师约利（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Jolly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）曾极力劝说他不要研究物理，约利讲：在这一学术领域里，已经没有本质上新的东西待发现的了。但是普朗克还是坚持抛弃了纯数学。</a:t>
            </a:r>
          </a:p>
        </p:txBody>
      </p:sp>
      <p:sp>
        <p:nvSpPr>
          <p:cNvPr id="996359" name="Text Box 7">
            <a:extLst>
              <a:ext uri="{FF2B5EF4-FFF2-40B4-BE49-F238E27FC236}">
                <a16:creationId xmlns:a16="http://schemas.microsoft.com/office/drawing/2014/main" id="{B2B5FC12-924D-4B49-9A4C-E6874EC4F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924175"/>
            <a:ext cx="8688387" cy="89535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     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普朗克早期致力于熵的研究。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1894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年他把注意力转到黑体辐射上。当时人们</a:t>
            </a:r>
            <a:r>
              <a:rPr kumimoji="1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已了解维恩公式在短波内与实验相符。</a:t>
            </a:r>
            <a:endParaRPr kumimoji="1" lang="zh-CN" altLang="en-US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996360" name="Text Box 8">
            <a:extLst>
              <a:ext uri="{FF2B5EF4-FFF2-40B4-BE49-F238E27FC236}">
                <a16:creationId xmlns:a16="http://schemas.microsoft.com/office/drawing/2014/main" id="{B3AB0A49-2768-44A4-9336-068F7C0DC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3" y="3933825"/>
            <a:ext cx="9136062" cy="53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   1900.10.7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实验物理学家</a:t>
            </a:r>
            <a:r>
              <a:rPr kumimoji="1"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鲁本斯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Rubens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给</a:t>
            </a:r>
            <a:r>
              <a:rPr kumimoji="1"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普朗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克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(M.Planck)</a:t>
            </a:r>
          </a:p>
        </p:txBody>
      </p:sp>
      <p:sp>
        <p:nvSpPr>
          <p:cNvPr id="996361" name="Rectangle 9">
            <a:extLst>
              <a:ext uri="{FF2B5EF4-FFF2-40B4-BE49-F238E27FC236}">
                <a16:creationId xmlns:a16="http://schemas.microsoft.com/office/drawing/2014/main" id="{54840246-6081-491C-90D9-D42826BBB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437063"/>
            <a:ext cx="9207500" cy="53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带来了</a:t>
            </a:r>
            <a:r>
              <a:rPr kumimoji="1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瑞利</a:t>
            </a:r>
            <a:r>
              <a:rPr kumimoji="1" lang="en-US" altLang="zh-CN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kumimoji="1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金斯公式在长波内与实验相符的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信息。</a:t>
            </a:r>
          </a:p>
        </p:txBody>
      </p:sp>
      <p:sp>
        <p:nvSpPr>
          <p:cNvPr id="996362" name="Rectangle 10">
            <a:extLst>
              <a:ext uri="{FF2B5EF4-FFF2-40B4-BE49-F238E27FC236}">
                <a16:creationId xmlns:a16="http://schemas.microsoft.com/office/drawing/2014/main" id="{1EA3E3E5-6BF4-43AC-9C13-9ABD5BF8E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013325"/>
            <a:ext cx="78533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当晚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普朗克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就用</a:t>
            </a: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内差法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做出了一个公式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----</a:t>
            </a: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黑体辐射公式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996363" name="Text Box 11">
            <a:extLst>
              <a:ext uri="{FF2B5EF4-FFF2-40B4-BE49-F238E27FC236}">
                <a16:creationId xmlns:a16="http://schemas.microsoft.com/office/drawing/2014/main" id="{09F80A7B-2646-4872-9110-3FA354211E2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81050" y="5805488"/>
            <a:ext cx="7561263" cy="8588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1900.10.19 </a:t>
            </a: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普朗克在德国物理学会</a:t>
            </a:r>
          </a:p>
          <a:p>
            <a:pPr marL="457200" indent="-457200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会议上提出这个黑体辐射公式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9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96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6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96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96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9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6358" grpId="0"/>
      <p:bldP spid="996359" grpId="0"/>
      <p:bldP spid="996360" grpId="0"/>
      <p:bldP spid="996361" grpId="0"/>
      <p:bldP spid="996362" grpId="0"/>
      <p:bldP spid="99636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>
            <a:extLst>
              <a:ext uri="{FF2B5EF4-FFF2-40B4-BE49-F238E27FC236}">
                <a16:creationId xmlns:a16="http://schemas.microsoft.com/office/drawing/2014/main" id="{B953475F-FEBB-495A-A7B8-8C535A4A9D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A87772-46D4-4D3C-9CFF-A1EB8E54A7DD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zh-CN" altLang="zh-CN" sz="1400"/>
          </a:p>
        </p:txBody>
      </p:sp>
      <p:graphicFrame>
        <p:nvGraphicFramePr>
          <p:cNvPr id="32771" name="Object 25">
            <a:extLst>
              <a:ext uri="{FF2B5EF4-FFF2-40B4-BE49-F238E27FC236}">
                <a16:creationId xmlns:a16="http://schemas.microsoft.com/office/drawing/2014/main" id="{3FB5791F-DDEA-40F5-9ADB-C5DF68C91EF0}"/>
              </a:ext>
            </a:extLst>
          </p:cNvPr>
          <p:cNvGraphicFramePr>
            <a:graphicFrameLocks/>
          </p:cNvGraphicFramePr>
          <p:nvPr/>
        </p:nvGraphicFramePr>
        <p:xfrm>
          <a:off x="939800" y="1195388"/>
          <a:ext cx="42084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2" r:id="rId3" imgW="2000365" imgH="199923" progId="Equation.3">
                  <p:embed/>
                </p:oleObj>
              </mc:Choice>
              <mc:Fallback>
                <p:oleObj r:id="rId3" imgW="2000365" imgH="199923" progId="Equation.3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1195388"/>
                        <a:ext cx="42084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3675" name="Picture 27" descr="Image1661">
            <a:extLst>
              <a:ext uri="{FF2B5EF4-FFF2-40B4-BE49-F238E27FC236}">
                <a16:creationId xmlns:a16="http://schemas.microsoft.com/office/drawing/2014/main" id="{15D7F94F-F6FC-4BCA-8C13-BC9182B73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332038"/>
            <a:ext cx="7129463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677" name="Rectangle 29">
            <a:extLst>
              <a:ext uri="{FF2B5EF4-FFF2-40B4-BE49-F238E27FC236}">
                <a16:creationId xmlns:a16="http://schemas.microsoft.com/office/drawing/2014/main" id="{9639CE21-0362-46FD-A124-63E7ED6D1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1703388"/>
            <a:ext cx="856615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鲁本斯（</a:t>
            </a:r>
            <a:r>
              <a:rPr kumimoji="1" lang="en-US" altLang="zh-CN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Rubens</a:t>
            </a: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）把这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“幸运地猜出来的内插公式”</a:t>
            </a:r>
          </a:p>
          <a:p>
            <a:pPr eaLnBrk="1" hangingPunct="1">
              <a:defRPr/>
            </a:pP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同最新的实验结果比较  发现：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在全波段与实验结果惊人的符合</a:t>
            </a:r>
          </a:p>
        </p:txBody>
      </p:sp>
      <p:sp>
        <p:nvSpPr>
          <p:cNvPr id="923678" name="Rectangle 30">
            <a:extLst>
              <a:ext uri="{FF2B5EF4-FFF2-40B4-BE49-F238E27FC236}">
                <a16:creationId xmlns:a16="http://schemas.microsoft.com/office/drawing/2014/main" id="{ACB970D0-8D41-4DF6-B3ED-A30938205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063" y="4149725"/>
            <a:ext cx="1554162" cy="406400"/>
          </a:xfrm>
          <a:prstGeom prst="rect">
            <a:avLst/>
          </a:prstGeom>
          <a:noFill/>
          <a:ln w="28575">
            <a:solidFill>
              <a:srgbClr val="FF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23679" name="Rectangle 31">
            <a:extLst>
              <a:ext uri="{FF2B5EF4-FFF2-40B4-BE49-F238E27FC236}">
                <a16:creationId xmlns:a16="http://schemas.microsoft.com/office/drawing/2014/main" id="{B46E2FA8-3F79-4FF1-A925-B979443A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5013325"/>
            <a:ext cx="1284288" cy="406400"/>
          </a:xfrm>
          <a:prstGeom prst="rect">
            <a:avLst/>
          </a:prstGeom>
          <a:noFill/>
          <a:ln w="28575">
            <a:solidFill>
              <a:srgbClr val="FF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23680" name="Rectangle 32">
            <a:extLst>
              <a:ext uri="{FF2B5EF4-FFF2-40B4-BE49-F238E27FC236}">
                <a16:creationId xmlns:a16="http://schemas.microsoft.com/office/drawing/2014/main" id="{B28657D9-3E2B-4F21-88C8-D027884E4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319088"/>
            <a:ext cx="36544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——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普朗克公式</a:t>
            </a:r>
            <a:endParaRPr kumimoji="1" lang="zh-CN" altLang="en-US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2777" name="Object 34">
            <a:extLst>
              <a:ext uri="{FF2B5EF4-FFF2-40B4-BE49-F238E27FC236}">
                <a16:creationId xmlns:a16="http://schemas.microsoft.com/office/drawing/2014/main" id="{132D1909-5069-4752-99FE-F57D318E05D6}"/>
              </a:ext>
            </a:extLst>
          </p:cNvPr>
          <p:cNvGraphicFramePr>
            <a:graphicFrameLocks/>
          </p:cNvGraphicFramePr>
          <p:nvPr/>
        </p:nvGraphicFramePr>
        <p:xfrm>
          <a:off x="539750" y="44450"/>
          <a:ext cx="3811588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3" r:id="rId6" imgW="1647755" imgH="457098" progId="Equation.DSMT4">
                  <p:embed/>
                </p:oleObj>
              </mc:Choice>
              <mc:Fallback>
                <p:oleObj r:id="rId6" imgW="1647755" imgH="457098" progId="Equation.DSMT4">
                  <p:embed/>
                  <p:pic>
                    <p:nvPicPr>
                      <p:cNvPr id="0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4450"/>
                        <a:ext cx="3811588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23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2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2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92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677" grpId="0"/>
      <p:bldP spid="923678" grpId="0" animBg="1"/>
      <p:bldP spid="92367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>
            <a:extLst>
              <a:ext uri="{FF2B5EF4-FFF2-40B4-BE49-F238E27FC236}">
                <a16:creationId xmlns:a16="http://schemas.microsoft.com/office/drawing/2014/main" id="{31607015-A9CE-46D3-8382-49B5605F6F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12525B-1849-483A-B221-F60413A8A771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zh-CN" altLang="zh-CN" sz="1400"/>
          </a:p>
        </p:txBody>
      </p:sp>
      <p:sp>
        <p:nvSpPr>
          <p:cNvPr id="991237" name="Rectangle 5">
            <a:extLst>
              <a:ext uri="{FF2B5EF4-FFF2-40B4-BE49-F238E27FC236}">
                <a16:creationId xmlns:a16="http://schemas.microsoft.com/office/drawing/2014/main" id="{9A1E76E8-38C9-4370-9841-0B84FA6D1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0" y="896938"/>
            <a:ext cx="36544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——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普朗克公式</a:t>
            </a:r>
            <a:endParaRPr kumimoji="1" lang="zh-CN" altLang="en-US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3796" name="Object 7">
            <a:extLst>
              <a:ext uri="{FF2B5EF4-FFF2-40B4-BE49-F238E27FC236}">
                <a16:creationId xmlns:a16="http://schemas.microsoft.com/office/drawing/2014/main" id="{D50A3359-BD90-43BA-B49C-759B805D8088}"/>
              </a:ext>
            </a:extLst>
          </p:cNvPr>
          <p:cNvGraphicFramePr>
            <a:graphicFrameLocks/>
          </p:cNvGraphicFramePr>
          <p:nvPr/>
        </p:nvGraphicFramePr>
        <p:xfrm>
          <a:off x="1403350" y="1557338"/>
          <a:ext cx="42084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7" r:id="rId3" imgW="2000365" imgH="199923" progId="Equation.3">
                  <p:embed/>
                </p:oleObj>
              </mc:Choice>
              <mc:Fallback>
                <p:oleObj r:id="rId3" imgW="2000365" imgH="199923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557338"/>
                        <a:ext cx="42084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8">
            <a:extLst>
              <a:ext uri="{FF2B5EF4-FFF2-40B4-BE49-F238E27FC236}">
                <a16:creationId xmlns:a16="http://schemas.microsoft.com/office/drawing/2014/main" id="{DF015ED1-AAE2-418A-864D-34F956BC448F}"/>
              </a:ext>
            </a:extLst>
          </p:cNvPr>
          <p:cNvGraphicFramePr>
            <a:graphicFrameLocks/>
          </p:cNvGraphicFramePr>
          <p:nvPr/>
        </p:nvGraphicFramePr>
        <p:xfrm>
          <a:off x="1403350" y="549275"/>
          <a:ext cx="3811588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8" r:id="rId5" imgW="1647755" imgH="457098" progId="Equation.DSMT4">
                  <p:embed/>
                </p:oleObj>
              </mc:Choice>
              <mc:Fallback>
                <p:oleObj r:id="rId5" imgW="1647755" imgH="457098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49275"/>
                        <a:ext cx="3811588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1242" name="Text Box 10">
            <a:extLst>
              <a:ext uri="{FF2B5EF4-FFF2-40B4-BE49-F238E27FC236}">
                <a16:creationId xmlns:a16="http://schemas.microsoft.com/office/drawing/2014/main" id="{448B600E-4564-4ABF-B77C-E8B194E25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060575"/>
            <a:ext cx="5688012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2. </a:t>
            </a: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普朗克能量子假说</a:t>
            </a:r>
          </a:p>
        </p:txBody>
      </p:sp>
      <p:sp>
        <p:nvSpPr>
          <p:cNvPr id="991243" name="Text Box 11">
            <a:extLst>
              <a:ext uri="{FF2B5EF4-FFF2-40B4-BE49-F238E27FC236}">
                <a16:creationId xmlns:a16="http://schemas.microsoft.com/office/drawing/2014/main" id="{0984E195-B7D4-4CA1-B525-F872A9EC0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0" y="2965450"/>
            <a:ext cx="6710363" cy="977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黑体辐射中的分子 原子可看作线性谐振子</a:t>
            </a: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振动时向外辐射能量（也可吸收能量）</a:t>
            </a:r>
          </a:p>
        </p:txBody>
      </p:sp>
      <p:sp>
        <p:nvSpPr>
          <p:cNvPr id="991250" name="Rectangle 18">
            <a:extLst>
              <a:ext uri="{FF2B5EF4-FFF2-40B4-BE49-F238E27FC236}">
                <a16:creationId xmlns:a16="http://schemas.microsoft.com/office/drawing/2014/main" id="{07B77B84-DB0E-4A49-B3A0-79D851002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5888"/>
            <a:ext cx="374015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1. </a:t>
            </a: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普朗克黑体辐射公式</a:t>
            </a:r>
          </a:p>
        </p:txBody>
      </p:sp>
      <p:sp>
        <p:nvSpPr>
          <p:cNvPr id="991255" name="Rectangle 23">
            <a:extLst>
              <a:ext uri="{FF2B5EF4-FFF2-40B4-BE49-F238E27FC236}">
                <a16:creationId xmlns:a16="http://schemas.microsoft.com/office/drawing/2014/main" id="{4C536BEA-E4BD-4E1C-AA1D-E751EA2B4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463800"/>
            <a:ext cx="2673350" cy="6048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基本物理思想：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BAE72215-AA06-46B3-9122-BD17323E9CA3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4079875"/>
            <a:ext cx="7531100" cy="2119313"/>
            <a:chOff x="657" y="2570"/>
            <a:chExt cx="4744" cy="1335"/>
          </a:xfrm>
        </p:grpSpPr>
        <p:sp>
          <p:nvSpPr>
            <p:cNvPr id="991257" name="Rectangle 25">
              <a:extLst>
                <a:ext uri="{FF2B5EF4-FFF2-40B4-BE49-F238E27FC236}">
                  <a16:creationId xmlns:a16="http://schemas.microsoft.com/office/drawing/2014/main" id="{C0C12BAD-8755-436E-BD03-7820D7307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3299"/>
              <a:ext cx="4672" cy="291"/>
            </a:xfrm>
            <a:prstGeom prst="rec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bg1"/>
                </a:gs>
                <a:gs pos="100000">
                  <a:srgbClr val="CCFFFF"/>
                </a:gs>
              </a:gsLst>
              <a:lin ang="5400000" scaled="1"/>
            </a:gradFill>
            <a:ln w="9525">
              <a:solidFill>
                <a:srgbClr val="00BCB8"/>
              </a:solidFill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sp>
          <p:nvSpPr>
            <p:cNvPr id="991258" name="Rectangle 26">
              <a:extLst>
                <a:ext uri="{FF2B5EF4-FFF2-40B4-BE49-F238E27FC236}">
                  <a16:creationId xmlns:a16="http://schemas.microsoft.com/office/drawing/2014/main" id="{1378F9E6-50C9-4B65-83A9-94BE4E30C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" y="2570"/>
              <a:ext cx="4492" cy="66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kumimoji="1" lang="en-US" altLang="zh-CN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        </a:t>
              </a:r>
              <a:r>
                <a:rPr kumimoji="1" lang="zh-CN" altLang="en-US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谐振子的能量是不连续的。</a:t>
              </a:r>
              <a:r>
                <a:rPr kumimoji="1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对于一定频率</a:t>
              </a:r>
              <a:r>
                <a:rPr kumimoji="1" lang="zh-CN" altLang="en-US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 </a:t>
              </a:r>
              <a:r>
                <a:rPr kumimoji="1" lang="zh-CN" altLang="en-US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  <a:sym typeface="Symbol" panose="05050102010706020507" pitchFamily="18" charset="2"/>
                </a:rPr>
                <a:t></a:t>
              </a:r>
              <a:r>
                <a:rPr kumimoji="1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的电磁辐射</a:t>
              </a:r>
              <a:r>
                <a:rPr kumimoji="1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, </a:t>
              </a:r>
              <a:r>
                <a:rPr kumimoji="1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物体只能以 </a:t>
              </a:r>
              <a:r>
                <a:rPr kumimoji="1" lang="en-US" altLang="zh-CN" i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h</a:t>
              </a:r>
              <a:r>
                <a:rPr kumimoji="1" lang="en-US" altLang="zh-CN" i="1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  <a:sym typeface="Symbol" panose="05050102010706020507" pitchFamily="18" charset="2"/>
                </a:rPr>
                <a:t> </a:t>
              </a:r>
              <a:r>
                <a:rPr kumimoji="1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楷体" panose="02010600040101010101" pitchFamily="2" charset="-122"/>
                </a:rPr>
                <a:t>为单位发射或吸收它。</a:t>
              </a:r>
              <a:endParaRPr kumimoji="1" lang="zh-CN" altLang="en-US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endParaRPr>
            </a:p>
          </p:txBody>
        </p:sp>
        <p:sp>
          <p:nvSpPr>
            <p:cNvPr id="991260" name="Text Box 28">
              <a:extLst>
                <a:ext uri="{FF2B5EF4-FFF2-40B4-BE49-F238E27FC236}">
                  <a16:creationId xmlns:a16="http://schemas.microsoft.com/office/drawing/2014/main" id="{190BF14C-3CC6-4BD4-88DA-E2899AD5D6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249"/>
              <a:ext cx="4608" cy="65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30000"/>
                </a:lnSpc>
                <a:defRPr/>
              </a:pPr>
              <a:r>
                <a:rPr kumimoji="1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        </a:t>
              </a:r>
              <a:r>
                <a:rPr kumimoji="1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即：物体发射或吸收电磁辐射只能以</a:t>
              </a:r>
              <a:r>
                <a:rPr kumimoji="1" lang="zh-CN" altLang="en-US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“量子”</a:t>
              </a:r>
              <a:r>
                <a:rPr kumimoji="1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的</a:t>
              </a:r>
            </a:p>
            <a:p>
              <a:pPr eaLnBrk="1" hangingPunct="1">
                <a:lnSpc>
                  <a:spcPct val="130000"/>
                </a:lnSpc>
                <a:defRPr/>
              </a:pPr>
              <a:r>
                <a:rPr kumimoji="1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形式进行</a:t>
              </a:r>
              <a:r>
                <a:rPr kumimoji="1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, </a:t>
              </a:r>
              <a:r>
                <a:rPr kumimoji="1" lang="zh-CN" altLang="en-US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每个能量子能量为</a:t>
              </a:r>
              <a:r>
                <a:rPr kumimoji="1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:</a:t>
              </a:r>
            </a:p>
          </p:txBody>
        </p:sp>
      </p:grpSp>
      <p:graphicFrame>
        <p:nvGraphicFramePr>
          <p:cNvPr id="991261" name="Object 29">
            <a:extLst>
              <a:ext uri="{FF2B5EF4-FFF2-40B4-BE49-F238E27FC236}">
                <a16:creationId xmlns:a16="http://schemas.microsoft.com/office/drawing/2014/main" id="{ACEE8B49-01A4-4B78-A6AC-203DB3BE74D7}"/>
              </a:ext>
            </a:extLst>
          </p:cNvPr>
          <p:cNvGraphicFramePr>
            <a:graphicFrameLocks/>
          </p:cNvGraphicFramePr>
          <p:nvPr/>
        </p:nvGraphicFramePr>
        <p:xfrm>
          <a:off x="5348288" y="5734050"/>
          <a:ext cx="10239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9" r:id="rId7" imgW="400012" imgH="152468" progId="Equation.DSMT4">
                  <p:embed/>
                </p:oleObj>
              </mc:Choice>
              <mc:Fallback>
                <p:oleObj r:id="rId7" imgW="400012" imgH="152468" progId="Equation.DSMT4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8288" y="5734050"/>
                        <a:ext cx="102393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66" name="Object 34">
            <a:extLst>
              <a:ext uri="{FF2B5EF4-FFF2-40B4-BE49-F238E27FC236}">
                <a16:creationId xmlns:a16="http://schemas.microsoft.com/office/drawing/2014/main" id="{E5AA08F0-15A1-44CA-B470-D25FF855E768}"/>
              </a:ext>
            </a:extLst>
          </p:cNvPr>
          <p:cNvGraphicFramePr>
            <a:graphicFrameLocks/>
          </p:cNvGraphicFramePr>
          <p:nvPr/>
        </p:nvGraphicFramePr>
        <p:xfrm>
          <a:off x="2771775" y="6319838"/>
          <a:ext cx="14922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0" r:id="rId9" imgW="533349" imgH="152468" progId="Equation.3">
                  <p:embed/>
                </p:oleObj>
              </mc:Choice>
              <mc:Fallback>
                <p:oleObj r:id="rId9" imgW="533349" imgH="152468" progId="Equation.3">
                  <p:embed/>
                  <p:pic>
                    <p:nvPicPr>
                      <p:cNvPr id="0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6319838"/>
                        <a:ext cx="1492250" cy="471487"/>
                      </a:xfrm>
                      <a:prstGeom prst="rect">
                        <a:avLst/>
                      </a:prstGeom>
                      <a:solidFill>
                        <a:srgbClr val="CC3300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1267" name="Rectangle 35">
            <a:extLst>
              <a:ext uri="{FF2B5EF4-FFF2-40B4-BE49-F238E27FC236}">
                <a16:creationId xmlns:a16="http://schemas.microsoft.com/office/drawing/2014/main" id="{81BD1856-DABD-4D73-B0C6-DDCFD9CCC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6308725"/>
            <a:ext cx="338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2400" i="1">
                <a:sym typeface="Symbol" panose="05050102010706020507" pitchFamily="18" charset="2"/>
              </a:rPr>
              <a:t>n = </a:t>
            </a:r>
            <a:r>
              <a:rPr lang="en-US" altLang="zh-CN" sz="2400">
                <a:sym typeface="Symbol" panose="05050102010706020507" pitchFamily="18" charset="2"/>
              </a:rPr>
              <a:t>1, 2 , 3</a:t>
            </a:r>
            <a:r>
              <a:rPr lang="en-US" altLang="zh-CN" sz="2400" i="1">
                <a:sym typeface="Symbol" panose="05050102010706020507" pitchFamily="18" charset="2"/>
              </a:rPr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9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91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91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9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99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9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1242" grpId="0"/>
      <p:bldP spid="991243" grpId="0" build="p"/>
      <p:bldP spid="991255" grpId="0"/>
      <p:bldP spid="99126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>
            <a:extLst>
              <a:ext uri="{FF2B5EF4-FFF2-40B4-BE49-F238E27FC236}">
                <a16:creationId xmlns:a16="http://schemas.microsoft.com/office/drawing/2014/main" id="{48C432F3-78BC-4497-89BF-7A212D93BD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8CF646-5E33-4B0E-9ACF-27662AB8B579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zh-CN" altLang="zh-CN" sz="1400"/>
          </a:p>
        </p:txBody>
      </p:sp>
      <p:sp>
        <p:nvSpPr>
          <p:cNvPr id="926722" name="Text Box 2">
            <a:extLst>
              <a:ext uri="{FF2B5EF4-FFF2-40B4-BE49-F238E27FC236}">
                <a16:creationId xmlns:a16="http://schemas.microsoft.com/office/drawing/2014/main" id="{B62E1871-BC56-4720-884F-EE07ECB3C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88" y="4195763"/>
            <a:ext cx="86852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1921 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叶企孙，</a:t>
            </a:r>
            <a:r>
              <a:rPr kumimoji="1"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W.Duane</a:t>
            </a:r>
            <a:r>
              <a:rPr kumimoji="1"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， </a:t>
            </a:r>
            <a:r>
              <a:rPr kumimoji="1"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H.H.Palmer  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测得普朗克常量：</a:t>
            </a:r>
            <a:endParaRPr kumimoji="1" lang="zh-CN" altLang="en-US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926723" name="Object 3">
            <a:extLst>
              <a:ext uri="{FF2B5EF4-FFF2-40B4-BE49-F238E27FC236}">
                <a16:creationId xmlns:a16="http://schemas.microsoft.com/office/drawing/2014/main" id="{CA9B97A7-33D4-4DFE-8033-0CE2988F58F1}"/>
              </a:ext>
            </a:extLst>
          </p:cNvPr>
          <p:cNvGraphicFramePr>
            <a:graphicFrameLocks/>
          </p:cNvGraphicFramePr>
          <p:nvPr/>
        </p:nvGraphicFramePr>
        <p:xfrm>
          <a:off x="2960688" y="4556125"/>
          <a:ext cx="4729162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7" r:id="rId3" imgW="1878785" imgH="241195" progId="Equation.3">
                  <p:embed/>
                </p:oleObj>
              </mc:Choice>
              <mc:Fallback>
                <p:oleObj r:id="rId3" imgW="1878785" imgH="241195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4556125"/>
                        <a:ext cx="4729162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724" name="Text Box 4">
            <a:extLst>
              <a:ext uri="{FF2B5EF4-FFF2-40B4-BE49-F238E27FC236}">
                <a16:creationId xmlns:a16="http://schemas.microsoft.com/office/drawing/2014/main" id="{8386A553-B813-403C-BB11-0323F14A9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5151438"/>
            <a:ext cx="357028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1986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推荐值：</a:t>
            </a:r>
            <a:endParaRPr kumimoji="1" lang="zh-CN" altLang="en-US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926725" name="Object 5">
            <a:extLst>
              <a:ext uri="{FF2B5EF4-FFF2-40B4-BE49-F238E27FC236}">
                <a16:creationId xmlns:a16="http://schemas.microsoft.com/office/drawing/2014/main" id="{8FACD65B-260E-4757-8175-7571EDFC9EA1}"/>
              </a:ext>
            </a:extLst>
          </p:cNvPr>
          <p:cNvGraphicFramePr>
            <a:graphicFrameLocks/>
          </p:cNvGraphicFramePr>
          <p:nvPr/>
        </p:nvGraphicFramePr>
        <p:xfrm>
          <a:off x="2949575" y="5065713"/>
          <a:ext cx="44132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8" r:id="rId5" imgW="1699587" imgH="215619" progId="Equation.3">
                  <p:embed/>
                </p:oleObj>
              </mc:Choice>
              <mc:Fallback>
                <p:oleObj r:id="rId5" imgW="1699587" imgH="215619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575" y="5065713"/>
                        <a:ext cx="44132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726" name="Object 6">
            <a:extLst>
              <a:ext uri="{FF2B5EF4-FFF2-40B4-BE49-F238E27FC236}">
                <a16:creationId xmlns:a16="http://schemas.microsoft.com/office/drawing/2014/main" id="{84D2298F-CD80-4882-9478-9AE3F8119B08}"/>
              </a:ext>
            </a:extLst>
          </p:cNvPr>
          <p:cNvGraphicFramePr>
            <a:graphicFrameLocks/>
          </p:cNvGraphicFramePr>
          <p:nvPr/>
        </p:nvGraphicFramePr>
        <p:xfrm>
          <a:off x="2768600" y="6257925"/>
          <a:ext cx="32924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9" r:id="rId7" imgW="1238263" imgH="190432" progId="Equation.3">
                  <p:embed/>
                </p:oleObj>
              </mc:Choice>
              <mc:Fallback>
                <p:oleObj r:id="rId7" imgW="1238263" imgH="190432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600" y="6257925"/>
                        <a:ext cx="32924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727" name="Text Box 7">
            <a:extLst>
              <a:ext uri="{FF2B5EF4-FFF2-40B4-BE49-F238E27FC236}">
                <a16:creationId xmlns:a16="http://schemas.microsoft.com/office/drawing/2014/main" id="{BF7A1AA1-D4F7-4A6E-8551-4E413A201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5727700"/>
            <a:ext cx="35702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1998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推荐值：</a:t>
            </a:r>
            <a:endParaRPr kumimoji="1" lang="zh-CN" altLang="en-US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926728" name="Object 8">
            <a:extLst>
              <a:ext uri="{FF2B5EF4-FFF2-40B4-BE49-F238E27FC236}">
                <a16:creationId xmlns:a16="http://schemas.microsoft.com/office/drawing/2014/main" id="{D884C171-9FEF-4AC7-993F-B13CC16BF15E}"/>
              </a:ext>
            </a:extLst>
          </p:cNvPr>
          <p:cNvGraphicFramePr>
            <a:graphicFrameLocks/>
          </p:cNvGraphicFramePr>
          <p:nvPr/>
        </p:nvGraphicFramePr>
        <p:xfrm>
          <a:off x="2903538" y="5681663"/>
          <a:ext cx="46116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0" r:id="rId9" imgW="1775688" imgH="215619" progId="Equation.3">
                  <p:embed/>
                </p:oleObj>
              </mc:Choice>
              <mc:Fallback>
                <p:oleObj r:id="rId9" imgW="1775688" imgH="215619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538" y="5681663"/>
                        <a:ext cx="4611687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729" name="Text Box 9">
            <a:extLst>
              <a:ext uri="{FF2B5EF4-FFF2-40B4-BE49-F238E27FC236}">
                <a16:creationId xmlns:a16="http://schemas.microsoft.com/office/drawing/2014/main" id="{702B3746-6905-4791-8623-11522F578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0" y="6329363"/>
            <a:ext cx="22050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一般取：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FD54AC2C-E4DB-4C97-8B44-C530EA60C178}"/>
              </a:ext>
            </a:extLst>
          </p:cNvPr>
          <p:cNvGrpSpPr>
            <a:grpSpLocks/>
          </p:cNvGrpSpPr>
          <p:nvPr/>
        </p:nvGrpSpPr>
        <p:grpSpPr bwMode="auto">
          <a:xfrm>
            <a:off x="4041775" y="1077913"/>
            <a:ext cx="714375" cy="2408237"/>
            <a:chOff x="2546" y="824"/>
            <a:chExt cx="450" cy="1245"/>
          </a:xfrm>
        </p:grpSpPr>
        <p:sp>
          <p:nvSpPr>
            <p:cNvPr id="34843" name="Line 12">
              <a:extLst>
                <a:ext uri="{FF2B5EF4-FFF2-40B4-BE49-F238E27FC236}">
                  <a16:creationId xmlns:a16="http://schemas.microsoft.com/office/drawing/2014/main" id="{369E06BF-5316-423B-87C7-2B4DA747B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2" y="1585"/>
              <a:ext cx="234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4" name="Line 13">
              <a:extLst>
                <a:ext uri="{FF2B5EF4-FFF2-40B4-BE49-F238E27FC236}">
                  <a16:creationId xmlns:a16="http://schemas.microsoft.com/office/drawing/2014/main" id="{8318D061-442A-4CE2-AA11-6BC5F23D76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6" y="1417"/>
              <a:ext cx="221" cy="1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5" name="Line 14">
              <a:extLst>
                <a:ext uri="{FF2B5EF4-FFF2-40B4-BE49-F238E27FC236}">
                  <a16:creationId xmlns:a16="http://schemas.microsoft.com/office/drawing/2014/main" id="{9D7B239F-8418-489A-A75E-53D4E76F2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2" y="1192"/>
              <a:ext cx="221" cy="1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6" name="Line 15">
              <a:extLst>
                <a:ext uri="{FF2B5EF4-FFF2-40B4-BE49-F238E27FC236}">
                  <a16:creationId xmlns:a16="http://schemas.microsoft.com/office/drawing/2014/main" id="{16097309-8D5D-4802-9038-7CA8697EF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2" y="830"/>
              <a:ext cx="221" cy="1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7" name="Line 16">
              <a:extLst>
                <a:ext uri="{FF2B5EF4-FFF2-40B4-BE49-F238E27FC236}">
                  <a16:creationId xmlns:a16="http://schemas.microsoft.com/office/drawing/2014/main" id="{00D3B493-7D39-49F8-87DA-AAAA74836C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3" y="2054"/>
              <a:ext cx="221" cy="1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8" name="Line 17">
              <a:extLst>
                <a:ext uri="{FF2B5EF4-FFF2-40B4-BE49-F238E27FC236}">
                  <a16:creationId xmlns:a16="http://schemas.microsoft.com/office/drawing/2014/main" id="{32FE7A52-52A8-4B71-8B58-7DB0D2876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1" y="824"/>
              <a:ext cx="0" cy="1245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926738" name="Object 18">
            <a:extLst>
              <a:ext uri="{FF2B5EF4-FFF2-40B4-BE49-F238E27FC236}">
                <a16:creationId xmlns:a16="http://schemas.microsoft.com/office/drawing/2014/main" id="{C14BA118-6B73-43D6-88D2-298287D8BE3C}"/>
              </a:ext>
            </a:extLst>
          </p:cNvPr>
          <p:cNvGraphicFramePr>
            <a:graphicFrameLocks/>
          </p:cNvGraphicFramePr>
          <p:nvPr/>
        </p:nvGraphicFramePr>
        <p:xfrm>
          <a:off x="5767388" y="836613"/>
          <a:ext cx="253523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1" r:id="rId11" imgW="1117115" imgH="241195" progId="Equation.DSMT4">
                  <p:embed/>
                </p:oleObj>
              </mc:Choice>
              <mc:Fallback>
                <p:oleObj r:id="rId11" imgW="1117115" imgH="241195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7388" y="836613"/>
                        <a:ext cx="2535237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742" name="Object 22">
            <a:extLst>
              <a:ext uri="{FF2B5EF4-FFF2-40B4-BE49-F238E27FC236}">
                <a16:creationId xmlns:a16="http://schemas.microsoft.com/office/drawing/2014/main" id="{EEABCF0B-9DE8-40AD-ABDE-E4E8CCC67B10}"/>
              </a:ext>
            </a:extLst>
          </p:cNvPr>
          <p:cNvGraphicFramePr>
            <a:graphicFrameLocks/>
          </p:cNvGraphicFramePr>
          <p:nvPr/>
        </p:nvGraphicFramePr>
        <p:xfrm>
          <a:off x="5795963" y="1601788"/>
          <a:ext cx="1630362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2" r:id="rId13" imgW="723586" imgH="228501" progId="Equation.DSMT4">
                  <p:embed/>
                </p:oleObj>
              </mc:Choice>
              <mc:Fallback>
                <p:oleObj r:id="rId13" imgW="723586" imgH="228501" progId="Equation.DSMT4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1601788"/>
                        <a:ext cx="1630362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745" name="Text Box 25">
            <a:extLst>
              <a:ext uri="{FF2B5EF4-FFF2-40B4-BE49-F238E27FC236}">
                <a16:creationId xmlns:a16="http://schemas.microsoft.com/office/drawing/2014/main" id="{26F48A38-30A2-4DB5-A520-F042E6D43D55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859338" y="2728913"/>
            <a:ext cx="120015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sz="2000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维恩公式</a:t>
            </a:r>
          </a:p>
        </p:txBody>
      </p:sp>
      <p:sp>
        <p:nvSpPr>
          <p:cNvPr id="926746" name="Text Box 26">
            <a:extLst>
              <a:ext uri="{FF2B5EF4-FFF2-40B4-BE49-F238E27FC236}">
                <a16:creationId xmlns:a16="http://schemas.microsoft.com/office/drawing/2014/main" id="{721E1953-2A6C-4574-9065-BE0BC753CC63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860925" y="3665538"/>
            <a:ext cx="3240088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000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瑞利</a:t>
            </a:r>
            <a:r>
              <a:rPr kumimoji="1" lang="en-US" altLang="zh-CN" sz="2000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zh-CN" altLang="en-US" sz="2000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金斯公式</a:t>
            </a:r>
          </a:p>
        </p:txBody>
      </p:sp>
      <p:sp>
        <p:nvSpPr>
          <p:cNvPr id="926747" name="Rectangle 27">
            <a:extLst>
              <a:ext uri="{FF2B5EF4-FFF2-40B4-BE49-F238E27FC236}">
                <a16:creationId xmlns:a16="http://schemas.microsoft.com/office/drawing/2014/main" id="{C9DC315E-DDA9-4BC5-A486-239E5D4DF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1289050"/>
            <a:ext cx="2681288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000" b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斯特藩 </a:t>
            </a:r>
            <a:r>
              <a:rPr kumimoji="1" lang="en-US" altLang="zh-CN" sz="2000" b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- </a:t>
            </a:r>
            <a:r>
              <a:rPr kumimoji="1" lang="zh-CN" altLang="en-US" sz="2000" b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玻耳兹曼定律</a:t>
            </a:r>
          </a:p>
        </p:txBody>
      </p:sp>
      <p:sp>
        <p:nvSpPr>
          <p:cNvPr id="926748" name="Rectangle 28">
            <a:extLst>
              <a:ext uri="{FF2B5EF4-FFF2-40B4-BE49-F238E27FC236}">
                <a16:creationId xmlns:a16="http://schemas.microsoft.com/office/drawing/2014/main" id="{87B0B08B-5800-4033-B33D-6A229F008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2009775"/>
            <a:ext cx="170815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000" b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维恩位移定律</a:t>
            </a:r>
          </a:p>
        </p:txBody>
      </p:sp>
      <p:graphicFrame>
        <p:nvGraphicFramePr>
          <p:cNvPr id="926749" name="Object 29">
            <a:extLst>
              <a:ext uri="{FF2B5EF4-FFF2-40B4-BE49-F238E27FC236}">
                <a16:creationId xmlns:a16="http://schemas.microsoft.com/office/drawing/2014/main" id="{8F7A7489-4C7A-4505-8237-CDE8A845E948}"/>
              </a:ext>
            </a:extLst>
          </p:cNvPr>
          <p:cNvGraphicFramePr>
            <a:graphicFrameLocks/>
          </p:cNvGraphicFramePr>
          <p:nvPr/>
        </p:nvGraphicFramePr>
        <p:xfrm>
          <a:off x="165100" y="1685925"/>
          <a:ext cx="3811588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3" r:id="rId15" imgW="1647755" imgH="457098" progId="Equation.DSMT4">
                  <p:embed/>
                </p:oleObj>
              </mc:Choice>
              <mc:Fallback>
                <p:oleObj r:id="rId15" imgW="1647755" imgH="457098" progId="Equation.DSMT4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" y="1685925"/>
                        <a:ext cx="3811588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750" name="Text Box 30">
            <a:extLst>
              <a:ext uri="{FF2B5EF4-FFF2-40B4-BE49-F238E27FC236}">
                <a16:creationId xmlns:a16="http://schemas.microsoft.com/office/drawing/2014/main" id="{07B63B07-8AC9-4269-904C-C3D8E875F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7263" y="893763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积分</a:t>
            </a:r>
          </a:p>
        </p:txBody>
      </p:sp>
      <p:sp>
        <p:nvSpPr>
          <p:cNvPr id="926751" name="Text Box 31">
            <a:extLst>
              <a:ext uri="{FF2B5EF4-FFF2-40B4-BE49-F238E27FC236}">
                <a16:creationId xmlns:a16="http://schemas.microsoft.com/office/drawing/2014/main" id="{A9ABD9DE-BE98-4564-B7FA-C859B89FF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3613" y="1614488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求导</a:t>
            </a:r>
          </a:p>
        </p:txBody>
      </p:sp>
      <p:graphicFrame>
        <p:nvGraphicFramePr>
          <p:cNvPr id="926752" name="Object 32">
            <a:extLst>
              <a:ext uri="{FF2B5EF4-FFF2-40B4-BE49-F238E27FC236}">
                <a16:creationId xmlns:a16="http://schemas.microsoft.com/office/drawing/2014/main" id="{EC3AC17B-69B4-499C-B6B5-B486D35C5048}"/>
              </a:ext>
            </a:extLst>
          </p:cNvPr>
          <p:cNvGraphicFramePr>
            <a:graphicFrameLocks/>
          </p:cNvGraphicFramePr>
          <p:nvPr/>
        </p:nvGraphicFramePr>
        <p:xfrm>
          <a:off x="6156325" y="3074988"/>
          <a:ext cx="2354263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4" r:id="rId17" imgW="1114406" imgH="361882" progId="Equation.DSMT4">
                  <p:embed/>
                </p:oleObj>
              </mc:Choice>
              <mc:Fallback>
                <p:oleObj r:id="rId17" imgW="1114406" imgH="361882" progId="Equation.DSMT4">
                  <p:embed/>
                  <p:pic>
                    <p:nvPicPr>
                      <p:cNvPr id="0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3074988"/>
                        <a:ext cx="2354263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753" name="Text Box 33">
            <a:extLst>
              <a:ext uri="{FF2B5EF4-FFF2-40B4-BE49-F238E27FC236}">
                <a16:creationId xmlns:a16="http://schemas.microsoft.com/office/drawing/2014/main" id="{A19BE382-E253-4FF4-B04D-B2D16911B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3613" y="3233738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长波段</a:t>
            </a:r>
          </a:p>
        </p:txBody>
      </p:sp>
      <p:sp>
        <p:nvSpPr>
          <p:cNvPr id="926754" name="Text Box 34">
            <a:extLst>
              <a:ext uri="{FF2B5EF4-FFF2-40B4-BE49-F238E27FC236}">
                <a16:creationId xmlns:a16="http://schemas.microsoft.com/office/drawing/2014/main" id="{F1FFA303-7E43-4720-B172-19E013F1B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308225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短波段</a:t>
            </a:r>
          </a:p>
        </p:txBody>
      </p:sp>
      <p:graphicFrame>
        <p:nvGraphicFramePr>
          <p:cNvPr id="926755" name="Object 35">
            <a:extLst>
              <a:ext uri="{FF2B5EF4-FFF2-40B4-BE49-F238E27FC236}">
                <a16:creationId xmlns:a16="http://schemas.microsoft.com/office/drawing/2014/main" id="{A3ECA94F-7108-42E5-A3EC-63606A4E7EDD}"/>
              </a:ext>
            </a:extLst>
          </p:cNvPr>
          <p:cNvGraphicFramePr>
            <a:graphicFrameLocks/>
          </p:cNvGraphicFramePr>
          <p:nvPr/>
        </p:nvGraphicFramePr>
        <p:xfrm>
          <a:off x="6156325" y="2063750"/>
          <a:ext cx="24479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5" r:id="rId19" imgW="1152633" imgH="419134" progId="Equation.DSMT4">
                  <p:embed/>
                </p:oleObj>
              </mc:Choice>
              <mc:Fallback>
                <p:oleObj r:id="rId19" imgW="1152633" imgH="419134" progId="Equation.DSMT4">
                  <p:embed/>
                  <p:pic>
                    <p:nvPicPr>
                      <p:cNvPr id="0" name="Object 35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2063750"/>
                        <a:ext cx="244792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756" name="Text Box 36">
            <a:extLst>
              <a:ext uri="{FF2B5EF4-FFF2-40B4-BE49-F238E27FC236}">
                <a16:creationId xmlns:a16="http://schemas.microsoft.com/office/drawing/2014/main" id="{37491A6D-B6A2-4CD4-984C-53B4316FF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12" y="338501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由普朗克公式可导出其他所有热辐射公式：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92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92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2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92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2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2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92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92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926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92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926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92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2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2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2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2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2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2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26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92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22" grpId="0"/>
      <p:bldP spid="926724" grpId="0"/>
      <p:bldP spid="926727" grpId="0"/>
      <p:bldP spid="926729" grpId="0"/>
      <p:bldP spid="926745" grpId="0"/>
      <p:bldP spid="926746" grpId="0"/>
      <p:bldP spid="926747" grpId="0"/>
      <p:bldP spid="926748" grpId="0"/>
      <p:bldP spid="926750" grpId="0"/>
      <p:bldP spid="926751" grpId="0"/>
      <p:bldP spid="926753" grpId="0"/>
      <p:bldP spid="926754" grpId="0"/>
      <p:bldP spid="92675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>
            <a:extLst>
              <a:ext uri="{FF2B5EF4-FFF2-40B4-BE49-F238E27FC236}">
                <a16:creationId xmlns:a16="http://schemas.microsoft.com/office/drawing/2014/main" id="{96F2A5E5-D7D6-4DA4-A1F5-09E8E0B715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1FC237-3682-4074-9916-4533ED6E739B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zh-CN" altLang="zh-CN" sz="140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BC4EAE39-0333-440E-A56E-E8A8E9B5B395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889125"/>
            <a:ext cx="11282363" cy="4708525"/>
            <a:chOff x="431" y="1207"/>
            <a:chExt cx="7334" cy="3130"/>
          </a:xfrm>
        </p:grpSpPr>
        <p:sp>
          <p:nvSpPr>
            <p:cNvPr id="927747" name="Text Box 3">
              <a:extLst>
                <a:ext uri="{FF2B5EF4-FFF2-40B4-BE49-F238E27FC236}">
                  <a16:creationId xmlns:a16="http://schemas.microsoft.com/office/drawing/2014/main" id="{C0AEC1B2-E348-45D7-8760-45D48253D0A3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061" y="3103"/>
              <a:ext cx="4704" cy="34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获</a:t>
              </a:r>
              <a:r>
                <a:rPr kumimoji="1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1918</a:t>
              </a:r>
              <a:r>
                <a:rPr kumimoji="1" lang="zh-CN" altLang="en-US" sz="28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年诺贝尔奖</a:t>
              </a:r>
            </a:p>
          </p:txBody>
        </p:sp>
        <p:pic>
          <p:nvPicPr>
            <p:cNvPr id="35848" name="Picture 4" descr="Planck">
              <a:extLst>
                <a:ext uri="{FF2B5EF4-FFF2-40B4-BE49-F238E27FC236}">
                  <a16:creationId xmlns:a16="http://schemas.microsoft.com/office/drawing/2014/main" id="{BD3D958C-DFF1-4B4A-9B52-3AD907D2D8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" y="1207"/>
              <a:ext cx="2357" cy="3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7749" name="Text Box 5">
              <a:extLst>
                <a:ext uri="{FF2B5EF4-FFF2-40B4-BE49-F238E27FC236}">
                  <a16:creationId xmlns:a16="http://schemas.microsoft.com/office/drawing/2014/main" id="{D55F8C11-572E-4A75-A3A3-CD00C5892633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994" y="2250"/>
              <a:ext cx="2766" cy="57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65000"/>
                </a:lnSpc>
                <a:spcBef>
                  <a:spcPct val="50000"/>
                </a:spcBef>
                <a:defRPr/>
              </a:pPr>
              <a:r>
                <a:rPr kumimoji="1" lang="en-US" altLang="zh-CN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M.Planck</a:t>
              </a:r>
              <a:r>
                <a:rPr kumimoji="1" lang="en-US" altLang="zh-CN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</a:rPr>
                <a:t> </a:t>
              </a:r>
              <a:r>
                <a:rPr kumimoji="1" lang="zh-CN" altLang="en-US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</a:rPr>
                <a:t>德国人  </a:t>
              </a:r>
            </a:p>
            <a:p>
              <a:pPr eaLnBrk="1" hangingPunct="1">
                <a:lnSpc>
                  <a:spcPct val="65000"/>
                </a:lnSpc>
                <a:spcBef>
                  <a:spcPct val="50000"/>
                </a:spcBef>
                <a:defRPr/>
              </a:pPr>
              <a:r>
                <a:rPr kumimoji="1" lang="zh-CN" altLang="en-US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 </a:t>
              </a:r>
              <a:r>
                <a:rPr kumimoji="1" lang="en-US" altLang="zh-CN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(1858</a:t>
              </a:r>
              <a:r>
                <a:rPr kumimoji="1" lang="zh-CN" altLang="en-US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－</a:t>
              </a:r>
              <a:r>
                <a:rPr kumimoji="1" lang="en-US" altLang="zh-CN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1947)</a:t>
              </a:r>
              <a:endPara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endParaRPr>
            </a:p>
          </p:txBody>
        </p:sp>
        <p:sp>
          <p:nvSpPr>
            <p:cNvPr id="927750" name="Rectangle 6">
              <a:extLst>
                <a:ext uri="{FF2B5EF4-FFF2-40B4-BE49-F238E27FC236}">
                  <a16:creationId xmlns:a16="http://schemas.microsoft.com/office/drawing/2014/main" id="{45C25E88-6F8D-40F2-8CD6-772E509E9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1763"/>
              <a:ext cx="816" cy="34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zh-CN" altLang="en-US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普朗克</a:t>
              </a:r>
            </a:p>
          </p:txBody>
        </p:sp>
      </p:grpSp>
      <p:sp>
        <p:nvSpPr>
          <p:cNvPr id="927751" name="Text Box 7">
            <a:extLst>
              <a:ext uri="{FF2B5EF4-FFF2-40B4-BE49-F238E27FC236}">
                <a16:creationId xmlns:a16="http://schemas.microsoft.com/office/drawing/2014/main" id="{FB5958B1-26A3-4602-B87B-E471EA329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13" y="1187450"/>
            <a:ext cx="7285037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后来  </a:t>
            </a:r>
            <a:r>
              <a:rPr kumimoji="1" lang="zh-CN" altLang="en-US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这一天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被定为</a:t>
            </a:r>
            <a:r>
              <a:rPr kumimoji="1" lang="zh-CN" altLang="en-US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“量子论的诞生日”</a:t>
            </a:r>
            <a:r>
              <a:rPr kumimoji="1"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927752" name="Rectangle 8">
            <a:extLst>
              <a:ext uri="{FF2B5EF4-FFF2-40B4-BE49-F238E27FC236}">
                <a16:creationId xmlns:a16="http://schemas.microsoft.com/office/drawing/2014/main" id="{44BC679C-DF75-426A-AA42-2E1DDA6B0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628650"/>
            <a:ext cx="7321550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的理论”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的论文交到了德国自然科学会，</a:t>
            </a:r>
          </a:p>
        </p:txBody>
      </p:sp>
      <p:sp>
        <p:nvSpPr>
          <p:cNvPr id="927753" name="Text Box 9">
            <a:extLst>
              <a:ext uri="{FF2B5EF4-FFF2-40B4-BE49-F238E27FC236}">
                <a16:creationId xmlns:a16="http://schemas.microsoft.com/office/drawing/2014/main" id="{6621D9F9-DA51-420B-915A-E446A15FB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44450"/>
            <a:ext cx="8412162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1900.12.14. </a:t>
            </a:r>
            <a:r>
              <a:rPr kumimoji="1" lang="en-US" altLang="zh-CN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Planck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把题为</a:t>
            </a:r>
            <a:r>
              <a:rPr kumimoji="1"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“关于正常谱中能量分布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7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751" grpId="0"/>
      <p:bldP spid="927752" grpId="0" bldLvl="0" animBg="1"/>
      <p:bldP spid="92775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>
            <a:extLst>
              <a:ext uri="{FF2B5EF4-FFF2-40B4-BE49-F238E27FC236}">
                <a16:creationId xmlns:a16="http://schemas.microsoft.com/office/drawing/2014/main" id="{6032B8AF-6761-4456-BDFC-096171805D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17E682-EA6B-482F-AFE1-CCDACAE1716B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zh-CN" altLang="zh-CN" sz="1400"/>
          </a:p>
        </p:txBody>
      </p:sp>
      <p:sp>
        <p:nvSpPr>
          <p:cNvPr id="943106" name="Text Box 2">
            <a:extLst>
              <a:ext uri="{FF2B5EF4-FFF2-40B4-BE49-F238E27FC236}">
                <a16:creationId xmlns:a16="http://schemas.microsoft.com/office/drawing/2014/main" id="{99C94D90-7684-4742-BA19-4BAF1FB9A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0"/>
            <a:ext cx="81534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kumimoji="1" lang="en-US" altLang="zh-CN" sz="3200" b="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15-2   </a:t>
            </a:r>
            <a:r>
              <a:rPr kumimoji="1" lang="zh-CN" altLang="en-US" sz="3200" b="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光电效应与爱因斯坦光量子假说</a:t>
            </a:r>
          </a:p>
        </p:txBody>
      </p:sp>
      <p:sp>
        <p:nvSpPr>
          <p:cNvPr id="943107" name="Rectangle 3">
            <a:extLst>
              <a:ext uri="{FF2B5EF4-FFF2-40B4-BE49-F238E27FC236}">
                <a16:creationId xmlns:a16="http://schemas.microsoft.com/office/drawing/2014/main" id="{385D8C20-5F85-4F71-A1B3-B7AA5B39C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888" y="3352800"/>
            <a:ext cx="4675187" cy="608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defRPr/>
            </a:pP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光电效应是</a:t>
            </a:r>
            <a:r>
              <a:rPr kumimoji="1" lang="zh-CN" altLang="en-US" b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赫兹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在</a:t>
            </a:r>
            <a:r>
              <a:rPr kumimoji="1"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1887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年发现的，</a:t>
            </a:r>
          </a:p>
        </p:txBody>
      </p:sp>
      <p:sp>
        <p:nvSpPr>
          <p:cNvPr id="943108" name="Rectangle 4">
            <a:extLst>
              <a:ext uri="{FF2B5EF4-FFF2-40B4-BE49-F238E27FC236}">
                <a16:creationId xmlns:a16="http://schemas.microsoft.com/office/drawing/2014/main" id="{DBE813BA-2E33-4534-B4D4-525D0FFA0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114800"/>
            <a:ext cx="5010150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当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1896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年</a:t>
            </a:r>
            <a:r>
              <a:rPr kumimoji="1"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汤姆逊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发现了电子之后，</a:t>
            </a:r>
          </a:p>
        </p:txBody>
      </p:sp>
      <p:sp>
        <p:nvSpPr>
          <p:cNvPr id="943109" name="Rectangle 5">
            <a:extLst>
              <a:ext uri="{FF2B5EF4-FFF2-40B4-BE49-F238E27FC236}">
                <a16:creationId xmlns:a16="http://schemas.microsoft.com/office/drawing/2014/main" id="{5CB98048-35F0-4FF5-90E6-78D3AF99A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938" y="4724400"/>
            <a:ext cx="4743450" cy="830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勒纳德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才证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明了所发出的带电粒子是电子。</a:t>
            </a:r>
          </a:p>
        </p:txBody>
      </p:sp>
      <p:sp>
        <p:nvSpPr>
          <p:cNvPr id="943110" name="Text Box 6">
            <a:extLst>
              <a:ext uri="{FF2B5EF4-FFF2-40B4-BE49-F238E27FC236}">
                <a16:creationId xmlns:a16="http://schemas.microsoft.com/office/drawing/2014/main" id="{3A79073E-3B69-435C-94DD-7FA0208B4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035675"/>
            <a:ext cx="441960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阴极</a:t>
            </a:r>
            <a:r>
              <a:rPr kumimoji="1" lang="en-US" altLang="zh-CN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K-</a:t>
            </a:r>
            <a:r>
              <a:rPr kumimoji="1" lang="en-US" altLang="zh-CN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--</a:t>
            </a:r>
            <a:r>
              <a:rPr kumimoji="1" lang="zh-CN" altLang="en-US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镀有金属或金属氧化物</a:t>
            </a:r>
          </a:p>
          <a:p>
            <a:pPr eaLnBrk="1" hangingPunct="1">
              <a:defRPr/>
            </a:pPr>
            <a:r>
              <a:rPr kumimoji="1" lang="zh-CN" altLang="en-US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阳极</a:t>
            </a:r>
            <a:r>
              <a:rPr kumimoji="1" lang="en-US" altLang="zh-CN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A-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--</a:t>
            </a:r>
            <a:r>
              <a:rPr kumimoji="1" lang="zh-CN" altLang="en-US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是金属丝网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  <a:endParaRPr kumimoji="1" lang="zh-CN" altLang="en-US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943111" name="Oval 7">
            <a:extLst>
              <a:ext uri="{FF2B5EF4-FFF2-40B4-BE49-F238E27FC236}">
                <a16:creationId xmlns:a16="http://schemas.microsoft.com/office/drawing/2014/main" id="{6ADEAAED-DAAF-4713-85B3-E93F965FE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685800"/>
            <a:ext cx="3240088" cy="577850"/>
          </a:xfrm>
          <a:prstGeom prst="ellipse">
            <a:avLst/>
          </a:prstGeom>
          <a:noFill/>
          <a:ln w="28575">
            <a:solidFill>
              <a:srgbClr val="9900CC"/>
            </a:solidFill>
            <a:round/>
          </a:ln>
          <a:effectLst>
            <a:prstShdw prst="shdw17" dist="17961" dir="2700000">
              <a:srgbClr val="9900CC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光电效应</a:t>
            </a:r>
            <a:endParaRPr kumimoji="1" lang="zh-CN" altLang="en-US" sz="3200" b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09CA28B1-4FA3-4129-8062-E6A342BF535B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795588"/>
            <a:ext cx="4052888" cy="3148012"/>
            <a:chOff x="340" y="1831"/>
            <a:chExt cx="2825" cy="2281"/>
          </a:xfrm>
        </p:grpSpPr>
        <p:sp>
          <p:nvSpPr>
            <p:cNvPr id="37967" name="Rectangle 9">
              <a:extLst>
                <a:ext uri="{FF2B5EF4-FFF2-40B4-BE49-F238E27FC236}">
                  <a16:creationId xmlns:a16="http://schemas.microsoft.com/office/drawing/2014/main" id="{7DD19710-0DB4-47B3-B2BE-D990CCA1F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2671"/>
              <a:ext cx="2675" cy="8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7968" name="Rectangle 10">
              <a:extLst>
                <a:ext uri="{FF2B5EF4-FFF2-40B4-BE49-F238E27FC236}">
                  <a16:creationId xmlns:a16="http://schemas.microsoft.com/office/drawing/2014/main" id="{AE0F6EA2-41EB-427F-BDCC-5C07A8C96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3664"/>
              <a:ext cx="2675" cy="33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7969" name="Line 11">
              <a:extLst>
                <a:ext uri="{FF2B5EF4-FFF2-40B4-BE49-F238E27FC236}">
                  <a16:creationId xmlns:a16="http://schemas.microsoft.com/office/drawing/2014/main" id="{3A63EB05-3726-482A-9271-1DDA823F0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" y="3156"/>
              <a:ext cx="26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0" name="Line 12">
              <a:extLst>
                <a:ext uri="{FF2B5EF4-FFF2-40B4-BE49-F238E27FC236}">
                  <a16:creationId xmlns:a16="http://schemas.microsoft.com/office/drawing/2014/main" id="{826C3F26-4059-497F-9D57-9B50BC4A20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5" y="2982"/>
              <a:ext cx="0" cy="8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1" name="Rectangle 13">
              <a:extLst>
                <a:ext uri="{FF2B5EF4-FFF2-40B4-BE49-F238E27FC236}">
                  <a16:creationId xmlns:a16="http://schemas.microsoft.com/office/drawing/2014/main" id="{AEA3E6DD-5DF8-4AD5-99F8-407512638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3630"/>
              <a:ext cx="1096" cy="7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7972" name="Line 14">
              <a:extLst>
                <a:ext uri="{FF2B5EF4-FFF2-40B4-BE49-F238E27FC236}">
                  <a16:creationId xmlns:a16="http://schemas.microsoft.com/office/drawing/2014/main" id="{1F5D2A56-95A9-4D1F-9C56-CB4969064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3" y="3492"/>
              <a:ext cx="1300" cy="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3" name="Line 15">
              <a:extLst>
                <a:ext uri="{FF2B5EF4-FFF2-40B4-BE49-F238E27FC236}">
                  <a16:creationId xmlns:a16="http://schemas.microsoft.com/office/drawing/2014/main" id="{EEEA9C87-ECE5-409D-80CB-3B4B4F47C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2" y="349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4" name="Oval 16">
              <a:extLst>
                <a:ext uri="{FF2B5EF4-FFF2-40B4-BE49-F238E27FC236}">
                  <a16:creationId xmlns:a16="http://schemas.microsoft.com/office/drawing/2014/main" id="{81DFFAEA-D404-4247-9345-C868F1C47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2999"/>
              <a:ext cx="331" cy="31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7975" name="Rectangle 17">
              <a:extLst>
                <a:ext uri="{FF2B5EF4-FFF2-40B4-BE49-F238E27FC236}">
                  <a16:creationId xmlns:a16="http://schemas.microsoft.com/office/drawing/2014/main" id="{66A2F3FD-8804-4D17-A297-47F071FED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3866"/>
              <a:ext cx="458" cy="23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7976" name="Line 18">
              <a:extLst>
                <a:ext uri="{FF2B5EF4-FFF2-40B4-BE49-F238E27FC236}">
                  <a16:creationId xmlns:a16="http://schemas.microsoft.com/office/drawing/2014/main" id="{433B3739-016A-4284-867A-FEE91DC7E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0" y="3872"/>
              <a:ext cx="0" cy="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7" name="Line 19">
              <a:extLst>
                <a:ext uri="{FF2B5EF4-FFF2-40B4-BE49-F238E27FC236}">
                  <a16:creationId xmlns:a16="http://schemas.microsoft.com/office/drawing/2014/main" id="{2763B9E1-D538-484E-A762-E15444C12D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3918"/>
              <a:ext cx="0" cy="1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8" name="Line 20">
              <a:extLst>
                <a:ext uri="{FF2B5EF4-FFF2-40B4-BE49-F238E27FC236}">
                  <a16:creationId xmlns:a16="http://schemas.microsoft.com/office/drawing/2014/main" id="{2E802F5D-E03B-47DE-A1FA-D79BE090A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8" y="3919"/>
              <a:ext cx="0" cy="1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9" name="Line 21">
              <a:extLst>
                <a:ext uri="{FF2B5EF4-FFF2-40B4-BE49-F238E27FC236}">
                  <a16:creationId xmlns:a16="http://schemas.microsoft.com/office/drawing/2014/main" id="{FFF19693-B49F-442D-A1DA-994659B91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2" y="3873"/>
              <a:ext cx="0" cy="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0" name="WordArt 22">
              <a:extLst>
                <a:ext uri="{FF2B5EF4-FFF2-40B4-BE49-F238E27FC236}">
                  <a16:creationId xmlns:a16="http://schemas.microsoft.com/office/drawing/2014/main" id="{D51B53E4-9D96-46B7-A71B-93020F14DCC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542" y="3085"/>
              <a:ext cx="228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0088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V</a:t>
              </a:r>
              <a:endParaRPr lang="zh-CN" altLang="en-US" sz="3600" i="1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7981" name="WordArt 23">
              <a:extLst>
                <a:ext uri="{FF2B5EF4-FFF2-40B4-BE49-F238E27FC236}">
                  <a16:creationId xmlns:a16="http://schemas.microsoft.com/office/drawing/2014/main" id="{18C84DEF-8D01-4F71-A082-77BCD25FBCB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083" y="3805"/>
              <a:ext cx="151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2857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zh-CN" altLang="en-US" sz="3600" kern="10">
                <a:ln w="2857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982" name="Line 24">
              <a:extLst>
                <a:ext uri="{FF2B5EF4-FFF2-40B4-BE49-F238E27FC236}">
                  <a16:creationId xmlns:a16="http://schemas.microsoft.com/office/drawing/2014/main" id="{A70F52CE-7215-4963-8265-619B444BA3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899"/>
              <a:ext cx="1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83" name="Rectangle 25">
              <a:extLst>
                <a:ext uri="{FF2B5EF4-FFF2-40B4-BE49-F238E27FC236}">
                  <a16:creationId xmlns:a16="http://schemas.microsoft.com/office/drawing/2014/main" id="{301D2904-928B-40B5-946B-5165A9166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" y="1831"/>
              <a:ext cx="2675" cy="7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7984" name="Oval 26">
              <a:extLst>
                <a:ext uri="{FF2B5EF4-FFF2-40B4-BE49-F238E27FC236}">
                  <a16:creationId xmlns:a16="http://schemas.microsoft.com/office/drawing/2014/main" id="{795BBD0C-FFE4-4499-8EED-9413239BD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2038"/>
              <a:ext cx="331" cy="31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7985" name="WordArt 27">
              <a:extLst>
                <a:ext uri="{FF2B5EF4-FFF2-40B4-BE49-F238E27FC236}">
                  <a16:creationId xmlns:a16="http://schemas.microsoft.com/office/drawing/2014/main" id="{EFD26F54-6E7B-47D3-8323-9EC71F55DE7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16" y="2089"/>
              <a:ext cx="172" cy="17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512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A</a:t>
              </a:r>
              <a:endParaRPr lang="zh-CN" altLang="en-US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37986" name="Group 28">
              <a:extLst>
                <a:ext uri="{FF2B5EF4-FFF2-40B4-BE49-F238E27FC236}">
                  <a16:creationId xmlns:a16="http://schemas.microsoft.com/office/drawing/2014/main" id="{B90CF3AC-7480-400F-BB55-93C76260E9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5" y="2504"/>
              <a:ext cx="553" cy="336"/>
              <a:chOff x="1455" y="2504"/>
              <a:chExt cx="553" cy="336"/>
            </a:xfrm>
          </p:grpSpPr>
          <p:sp>
            <p:nvSpPr>
              <p:cNvPr id="3" name="Rectangle 29">
                <a:extLst>
                  <a:ext uri="{FF2B5EF4-FFF2-40B4-BE49-F238E27FC236}">
                    <a16:creationId xmlns:a16="http://schemas.microsoft.com/office/drawing/2014/main" id="{3C43E0EE-89F2-46A5-BDA0-8A2F46BEB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2" y="2504"/>
                <a:ext cx="491" cy="3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7988" name="Oval 30">
                <a:extLst>
                  <a:ext uri="{FF2B5EF4-FFF2-40B4-BE49-F238E27FC236}">
                    <a16:creationId xmlns:a16="http://schemas.microsoft.com/office/drawing/2014/main" id="{8DC5A24F-9261-473B-A791-C496BEA94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9" y="2532"/>
                <a:ext cx="60" cy="6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7989" name="Oval 31">
                <a:extLst>
                  <a:ext uri="{FF2B5EF4-FFF2-40B4-BE49-F238E27FC236}">
                    <a16:creationId xmlns:a16="http://schemas.microsoft.com/office/drawing/2014/main" id="{F6737A16-9F10-4180-89D4-AA7037D96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3" y="2527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7990" name="Oval 32">
                <a:extLst>
                  <a:ext uri="{FF2B5EF4-FFF2-40B4-BE49-F238E27FC236}">
                    <a16:creationId xmlns:a16="http://schemas.microsoft.com/office/drawing/2014/main" id="{8EC19688-C162-4265-B68B-FF0767CA3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6" y="2756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7991" name="Oval 33">
                <a:extLst>
                  <a:ext uri="{FF2B5EF4-FFF2-40B4-BE49-F238E27FC236}">
                    <a16:creationId xmlns:a16="http://schemas.microsoft.com/office/drawing/2014/main" id="{77011E08-EA2C-48EE-A129-6D500CE6A5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8" y="2757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7992" name="Oval 34">
                <a:extLst>
                  <a:ext uri="{FF2B5EF4-FFF2-40B4-BE49-F238E27FC236}">
                    <a16:creationId xmlns:a16="http://schemas.microsoft.com/office/drawing/2014/main" id="{DA34F2D5-B7C4-431C-8364-7B027E84E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3" y="2647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7993" name="Oval 35">
                <a:extLst>
                  <a:ext uri="{FF2B5EF4-FFF2-40B4-BE49-F238E27FC236}">
                    <a16:creationId xmlns:a16="http://schemas.microsoft.com/office/drawing/2014/main" id="{364F6014-DD6C-444D-9192-853E4844B7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2642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7994" name="Line 36">
                <a:extLst>
                  <a:ext uri="{FF2B5EF4-FFF2-40B4-BE49-F238E27FC236}">
                    <a16:creationId xmlns:a16="http://schemas.microsoft.com/office/drawing/2014/main" id="{A808BC46-0C95-45C7-A646-4237C1F02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12" y="2571"/>
                <a:ext cx="438" cy="2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Oval 37">
                <a:extLst>
                  <a:ext uri="{FF2B5EF4-FFF2-40B4-BE49-F238E27FC236}">
                    <a16:creationId xmlns:a16="http://schemas.microsoft.com/office/drawing/2014/main" id="{C44E9D84-2CE2-474D-AAF7-24EA950B4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8" y="2598"/>
                <a:ext cx="141" cy="14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7996" name="Line 38">
                <a:extLst>
                  <a:ext uri="{FF2B5EF4-FFF2-40B4-BE49-F238E27FC236}">
                    <a16:creationId xmlns:a16="http://schemas.microsoft.com/office/drawing/2014/main" id="{97C9B6ED-CE02-46F1-B8CA-7C0BFE76A2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8" y="2568"/>
                <a:ext cx="432" cy="2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97" name="AutoShape 39">
                <a:extLst>
                  <a:ext uri="{FF2B5EF4-FFF2-40B4-BE49-F238E27FC236}">
                    <a16:creationId xmlns:a16="http://schemas.microsoft.com/office/drawing/2014/main" id="{30DF6248-F379-48B2-9A81-A55D7D8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503493">
                <a:off x="1663" y="2593"/>
                <a:ext cx="169" cy="19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204" y="9116"/>
                    </a:moveTo>
                    <a:cubicBezTo>
                      <a:pt x="3009" y="5005"/>
                      <a:pt x="6611" y="2040"/>
                      <a:pt x="10800" y="2041"/>
                    </a:cubicBezTo>
                    <a:cubicBezTo>
                      <a:pt x="14988" y="2041"/>
                      <a:pt x="18590" y="5005"/>
                      <a:pt x="19395" y="9116"/>
                    </a:cubicBezTo>
                    <a:lnTo>
                      <a:pt x="21398" y="8723"/>
                    </a:lnTo>
                    <a:cubicBezTo>
                      <a:pt x="20405" y="3655"/>
                      <a:pt x="15964" y="-1"/>
                      <a:pt x="10799" y="0"/>
                    </a:cubicBezTo>
                    <a:cubicBezTo>
                      <a:pt x="5635" y="0"/>
                      <a:pt x="1194" y="3655"/>
                      <a:pt x="201" y="8723"/>
                    </a:cubicBezTo>
                    <a:lnTo>
                      <a:pt x="2204" y="9116"/>
                    </a:lnTo>
                    <a:close/>
                  </a:path>
                </a:pathLst>
              </a:custGeom>
              <a:solidFill>
                <a:schemeClr val="tx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40">
            <a:extLst>
              <a:ext uri="{FF2B5EF4-FFF2-40B4-BE49-F238E27FC236}">
                <a16:creationId xmlns:a16="http://schemas.microsoft.com/office/drawing/2014/main" id="{BA8340B0-0E9D-48EE-A7F3-5AABCF58A577}"/>
              </a:ext>
            </a:extLst>
          </p:cNvPr>
          <p:cNvGrpSpPr>
            <a:grpSpLocks/>
          </p:cNvGrpSpPr>
          <p:nvPr/>
        </p:nvGrpSpPr>
        <p:grpSpPr bwMode="auto">
          <a:xfrm>
            <a:off x="1978025" y="3449638"/>
            <a:ext cx="855663" cy="482600"/>
            <a:chOff x="1506" y="2305"/>
            <a:chExt cx="597" cy="350"/>
          </a:xfrm>
        </p:grpSpPr>
        <p:sp>
          <p:nvSpPr>
            <p:cNvPr id="37963" name="Line 41">
              <a:extLst>
                <a:ext uri="{FF2B5EF4-FFF2-40B4-BE49-F238E27FC236}">
                  <a16:creationId xmlns:a16="http://schemas.microsoft.com/office/drawing/2014/main" id="{7480A87C-CE66-488F-B805-029B0A02D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6" y="2415"/>
              <a:ext cx="69" cy="234"/>
            </a:xfrm>
            <a:prstGeom prst="line">
              <a:avLst/>
            </a:prstGeom>
            <a:noFill/>
            <a:ln w="57150" cmpd="thickThin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4" name="Line 42">
              <a:extLst>
                <a:ext uri="{FF2B5EF4-FFF2-40B4-BE49-F238E27FC236}">
                  <a16:creationId xmlns:a16="http://schemas.microsoft.com/office/drawing/2014/main" id="{769CB620-C9AE-4F16-8DB4-F6CE0BAC5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6" y="2421"/>
              <a:ext cx="69" cy="234"/>
            </a:xfrm>
            <a:prstGeom prst="line">
              <a:avLst/>
            </a:prstGeom>
            <a:noFill/>
            <a:ln w="57150" cmpd="thickThin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5" name="Rectangle 43">
              <a:extLst>
                <a:ext uri="{FF2B5EF4-FFF2-40B4-BE49-F238E27FC236}">
                  <a16:creationId xmlns:a16="http://schemas.microsoft.com/office/drawing/2014/main" id="{63F45CDB-BB30-4F60-AE25-F81B1E180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" y="2382"/>
              <a:ext cx="585" cy="6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7966" name="Oval 44">
              <a:extLst>
                <a:ext uri="{FF2B5EF4-FFF2-40B4-BE49-F238E27FC236}">
                  <a16:creationId xmlns:a16="http://schemas.microsoft.com/office/drawing/2014/main" id="{30D3F541-DAEB-46EA-B776-BEE40C695C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99085">
              <a:off x="1786" y="2305"/>
              <a:ext cx="71" cy="10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grpSp>
        <p:nvGrpSpPr>
          <p:cNvPr id="5" name="Group 45">
            <a:extLst>
              <a:ext uri="{FF2B5EF4-FFF2-40B4-BE49-F238E27FC236}">
                <a16:creationId xmlns:a16="http://schemas.microsoft.com/office/drawing/2014/main" id="{41DE3D11-3581-498B-B0D5-665D583E899F}"/>
              </a:ext>
            </a:extLst>
          </p:cNvPr>
          <p:cNvGrpSpPr>
            <a:grpSpLocks/>
          </p:cNvGrpSpPr>
          <p:nvPr/>
        </p:nvGrpSpPr>
        <p:grpSpPr bwMode="auto">
          <a:xfrm>
            <a:off x="1441450" y="3594100"/>
            <a:ext cx="1712913" cy="157163"/>
            <a:chOff x="1132" y="2410"/>
            <a:chExt cx="1194" cy="114"/>
          </a:xfrm>
        </p:grpSpPr>
        <p:sp>
          <p:nvSpPr>
            <p:cNvPr id="37961" name="WordArt 46">
              <a:extLst>
                <a:ext uri="{FF2B5EF4-FFF2-40B4-BE49-F238E27FC236}">
                  <a16:creationId xmlns:a16="http://schemas.microsoft.com/office/drawing/2014/main" id="{658FA08D-6AB1-4FC1-B845-69B64D655500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235" y="2410"/>
              <a:ext cx="91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38100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zh-CN" altLang="en-US" sz="3600" kern="10">
                <a:ln w="38100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962" name="Line 47">
              <a:extLst>
                <a:ext uri="{FF2B5EF4-FFF2-40B4-BE49-F238E27FC236}">
                  <a16:creationId xmlns:a16="http://schemas.microsoft.com/office/drawing/2014/main" id="{BC8A6681-9DC8-41EB-9A2B-7B39085A80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2" y="2483"/>
              <a:ext cx="1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48">
            <a:extLst>
              <a:ext uri="{FF2B5EF4-FFF2-40B4-BE49-F238E27FC236}">
                <a16:creationId xmlns:a16="http://schemas.microsoft.com/office/drawing/2014/main" id="{E6949A44-FB7B-4221-855F-70ED938D0A65}"/>
              </a:ext>
            </a:extLst>
          </p:cNvPr>
          <p:cNvGrpSpPr>
            <a:grpSpLocks/>
          </p:cNvGrpSpPr>
          <p:nvPr/>
        </p:nvGrpSpPr>
        <p:grpSpPr bwMode="auto">
          <a:xfrm>
            <a:off x="855663" y="1557338"/>
            <a:ext cx="3219450" cy="1817687"/>
            <a:chOff x="724" y="935"/>
            <a:chExt cx="2244" cy="1316"/>
          </a:xfrm>
        </p:grpSpPr>
        <p:sp>
          <p:nvSpPr>
            <p:cNvPr id="943153" name="Oval 49">
              <a:extLst>
                <a:ext uri="{FF2B5EF4-FFF2-40B4-BE49-F238E27FC236}">
                  <a16:creationId xmlns:a16="http://schemas.microsoft.com/office/drawing/2014/main" id="{536643DD-1DF7-4785-9A67-DE35119C1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391"/>
              <a:ext cx="675" cy="85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9804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sp>
          <p:nvSpPr>
            <p:cNvPr id="943154" name="Oval 50">
              <a:extLst>
                <a:ext uri="{FF2B5EF4-FFF2-40B4-BE49-F238E27FC236}">
                  <a16:creationId xmlns:a16="http://schemas.microsoft.com/office/drawing/2014/main" id="{8458AEC9-A096-41F2-A673-0CCDDCF56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0" y="1391"/>
              <a:ext cx="679" cy="85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9804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sp>
          <p:nvSpPr>
            <p:cNvPr id="943155" name="Rectangle 51">
              <a:extLst>
                <a:ext uri="{FF2B5EF4-FFF2-40B4-BE49-F238E27FC236}">
                  <a16:creationId xmlns:a16="http://schemas.microsoft.com/office/drawing/2014/main" id="{52BEDB03-8291-4C9E-ABE5-E2730F2A3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" y="1383"/>
              <a:ext cx="1342" cy="868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89804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89804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sp>
          <p:nvSpPr>
            <p:cNvPr id="37949" name="Line 52">
              <a:extLst>
                <a:ext uri="{FF2B5EF4-FFF2-40B4-BE49-F238E27FC236}">
                  <a16:creationId xmlns:a16="http://schemas.microsoft.com/office/drawing/2014/main" id="{A899E95D-89E2-4D93-9010-4D62637EF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2" y="1391"/>
              <a:ext cx="13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0" name="Line 53">
              <a:extLst>
                <a:ext uri="{FF2B5EF4-FFF2-40B4-BE49-F238E27FC236}">
                  <a16:creationId xmlns:a16="http://schemas.microsoft.com/office/drawing/2014/main" id="{867CF7AC-20CD-4629-8183-72F2423809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8" y="2241"/>
              <a:ext cx="1358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1" name="Rectangle 54" descr="70%">
              <a:extLst>
                <a:ext uri="{FF2B5EF4-FFF2-40B4-BE49-F238E27FC236}">
                  <a16:creationId xmlns:a16="http://schemas.microsoft.com/office/drawing/2014/main" id="{732E2872-DE36-47FD-BC0C-D7CE5D0C3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" y="1508"/>
              <a:ext cx="87" cy="631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7952" name="Rectangle 55" descr="小纸屑">
              <a:extLst>
                <a:ext uri="{FF2B5EF4-FFF2-40B4-BE49-F238E27FC236}">
                  <a16:creationId xmlns:a16="http://schemas.microsoft.com/office/drawing/2014/main" id="{8721E493-5C35-44DC-B0A9-4770AD052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1495"/>
              <a:ext cx="87" cy="631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7953" name="Line 56">
              <a:extLst>
                <a:ext uri="{FF2B5EF4-FFF2-40B4-BE49-F238E27FC236}">
                  <a16:creationId xmlns:a16="http://schemas.microsoft.com/office/drawing/2014/main" id="{80680425-DDD5-4D98-9263-1322E5C79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1832"/>
              <a:ext cx="4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4" name="Line 57">
              <a:extLst>
                <a:ext uri="{FF2B5EF4-FFF2-40B4-BE49-F238E27FC236}">
                  <a16:creationId xmlns:a16="http://schemas.microsoft.com/office/drawing/2014/main" id="{7C7009D5-DCEC-42F7-989F-97E5F4DDD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832"/>
              <a:ext cx="4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5" name="Rectangle 58">
              <a:extLst>
                <a:ext uri="{FF2B5EF4-FFF2-40B4-BE49-F238E27FC236}">
                  <a16:creationId xmlns:a16="http://schemas.microsoft.com/office/drawing/2014/main" id="{5AA3AAF2-1C26-445B-87D3-E3887A239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6" y="1164"/>
              <a:ext cx="118" cy="13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7956" name="Freeform 59">
              <a:extLst>
                <a:ext uri="{FF2B5EF4-FFF2-40B4-BE49-F238E27FC236}">
                  <a16:creationId xmlns:a16="http://schemas.microsoft.com/office/drawing/2014/main" id="{BBCB9C45-1876-45BC-B0E4-51644D17A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052"/>
              <a:ext cx="662" cy="366"/>
            </a:xfrm>
            <a:custGeom>
              <a:avLst/>
              <a:gdLst>
                <a:gd name="T0" fmla="*/ 462 w 662"/>
                <a:gd name="T1" fmla="*/ 0 h 366"/>
                <a:gd name="T2" fmla="*/ 662 w 662"/>
                <a:gd name="T3" fmla="*/ 222 h 366"/>
                <a:gd name="T4" fmla="*/ 506 w 662"/>
                <a:gd name="T5" fmla="*/ 338 h 366"/>
                <a:gd name="T6" fmla="*/ 468 w 662"/>
                <a:gd name="T7" fmla="*/ 366 h 366"/>
                <a:gd name="T8" fmla="*/ 0 w 662"/>
                <a:gd name="T9" fmla="*/ 366 h 366"/>
                <a:gd name="T10" fmla="*/ 462 w 662"/>
                <a:gd name="T11" fmla="*/ 0 h 3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2" h="366">
                  <a:moveTo>
                    <a:pt x="462" y="0"/>
                  </a:moveTo>
                  <a:lnTo>
                    <a:pt x="662" y="222"/>
                  </a:lnTo>
                  <a:lnTo>
                    <a:pt x="506" y="338"/>
                  </a:lnTo>
                  <a:lnTo>
                    <a:pt x="468" y="366"/>
                  </a:lnTo>
                  <a:lnTo>
                    <a:pt x="0" y="366"/>
                  </a:lnTo>
                  <a:lnTo>
                    <a:pt x="462" y="0"/>
                  </a:lnTo>
                  <a:close/>
                </a:path>
              </a:pathLst>
            </a:custGeom>
            <a:gradFill rotWithShape="0">
              <a:gsLst>
                <a:gs pos="0">
                  <a:srgbClr val="B8B8B8"/>
                </a:gs>
                <a:gs pos="50000">
                  <a:srgbClr val="F0F0F0"/>
                </a:gs>
                <a:gs pos="100000">
                  <a:srgbClr val="B8B8B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7" name="Line 60">
              <a:extLst>
                <a:ext uri="{FF2B5EF4-FFF2-40B4-BE49-F238E27FC236}">
                  <a16:creationId xmlns:a16="http://schemas.microsoft.com/office/drawing/2014/main" id="{B3FD1091-5FBF-4AF8-862D-46ABFB7083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2" y="1272"/>
              <a:ext cx="172" cy="1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8" name="Line 61">
              <a:extLst>
                <a:ext uri="{FF2B5EF4-FFF2-40B4-BE49-F238E27FC236}">
                  <a16:creationId xmlns:a16="http://schemas.microsoft.com/office/drawing/2014/main" id="{CFC1B281-A312-4176-B776-98EFD7E34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6" y="1048"/>
              <a:ext cx="436" cy="3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9" name="Line 62">
              <a:extLst>
                <a:ext uri="{FF2B5EF4-FFF2-40B4-BE49-F238E27FC236}">
                  <a16:creationId xmlns:a16="http://schemas.microsoft.com/office/drawing/2014/main" id="{6B60407E-B620-4679-AEEA-7264B3AD2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4"/>
              <a:ext cx="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167" name="Rectangle 63">
              <a:extLst>
                <a:ext uri="{FF2B5EF4-FFF2-40B4-BE49-F238E27FC236}">
                  <a16:creationId xmlns:a16="http://schemas.microsoft.com/office/drawing/2014/main" id="{E22837F7-5F18-4241-ACD5-228C7B6161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862957">
              <a:off x="1937" y="1105"/>
              <a:ext cx="406" cy="6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8000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80000"/>
                    <a:invGamma/>
                  </a:schemeClr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</p:grpSp>
      <p:grpSp>
        <p:nvGrpSpPr>
          <p:cNvPr id="7" name="Group 64">
            <a:extLst>
              <a:ext uri="{FF2B5EF4-FFF2-40B4-BE49-F238E27FC236}">
                <a16:creationId xmlns:a16="http://schemas.microsoft.com/office/drawing/2014/main" id="{9A868131-597E-43C3-948F-4713FB94D202}"/>
              </a:ext>
            </a:extLst>
          </p:cNvPr>
          <p:cNvGrpSpPr>
            <a:grpSpLocks/>
          </p:cNvGrpSpPr>
          <p:nvPr/>
        </p:nvGrpSpPr>
        <p:grpSpPr bwMode="auto">
          <a:xfrm>
            <a:off x="1620838" y="1393825"/>
            <a:ext cx="1778000" cy="1639888"/>
            <a:chOff x="1257" y="816"/>
            <a:chExt cx="1239" cy="1188"/>
          </a:xfrm>
        </p:grpSpPr>
        <p:sp>
          <p:nvSpPr>
            <p:cNvPr id="37943" name="Freeform 65">
              <a:extLst>
                <a:ext uri="{FF2B5EF4-FFF2-40B4-BE49-F238E27FC236}">
                  <a16:creationId xmlns:a16="http://schemas.microsoft.com/office/drawing/2014/main" id="{CB79489B-18B3-43B0-81EA-F12C9CDEE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" y="816"/>
              <a:ext cx="1239" cy="1188"/>
            </a:xfrm>
            <a:custGeom>
              <a:avLst/>
              <a:gdLst>
                <a:gd name="T0" fmla="*/ 1023 w 1239"/>
                <a:gd name="T1" fmla="*/ 54 h 1188"/>
                <a:gd name="T2" fmla="*/ 0 w 1239"/>
                <a:gd name="T3" fmla="*/ 879 h 1188"/>
                <a:gd name="T4" fmla="*/ 0 w 1239"/>
                <a:gd name="T5" fmla="*/ 1188 h 1188"/>
                <a:gd name="T6" fmla="*/ 1239 w 1239"/>
                <a:gd name="T7" fmla="*/ 192 h 1188"/>
                <a:gd name="T8" fmla="*/ 1095 w 1239"/>
                <a:gd name="T9" fmla="*/ 0 h 1188"/>
                <a:gd name="T10" fmla="*/ 795 w 1239"/>
                <a:gd name="T11" fmla="*/ 240 h 1188"/>
                <a:gd name="T12" fmla="*/ 756 w 1239"/>
                <a:gd name="T13" fmla="*/ 261 h 11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9" h="1188">
                  <a:moveTo>
                    <a:pt x="1023" y="54"/>
                  </a:moveTo>
                  <a:lnTo>
                    <a:pt x="0" y="879"/>
                  </a:lnTo>
                  <a:lnTo>
                    <a:pt x="0" y="1188"/>
                  </a:lnTo>
                  <a:lnTo>
                    <a:pt x="1239" y="192"/>
                  </a:lnTo>
                  <a:lnTo>
                    <a:pt x="1095" y="0"/>
                  </a:lnTo>
                  <a:lnTo>
                    <a:pt x="795" y="240"/>
                  </a:lnTo>
                  <a:lnTo>
                    <a:pt x="756" y="261"/>
                  </a:lnTo>
                </a:path>
              </a:pathLst>
            </a:custGeom>
            <a:solidFill>
              <a:srgbClr val="FF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170" name="Rectangle 66">
              <a:extLst>
                <a:ext uri="{FF2B5EF4-FFF2-40B4-BE49-F238E27FC236}">
                  <a16:creationId xmlns:a16="http://schemas.microsoft.com/office/drawing/2014/main" id="{B5B7E716-EAAE-454C-9DCF-28B0E45CA0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862957">
              <a:off x="1931" y="1097"/>
              <a:ext cx="407" cy="71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8000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80000"/>
                    <a:invGamma/>
                  </a:schemeClr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sp>
          <p:nvSpPr>
            <p:cNvPr id="37945" name="Line 67">
              <a:extLst>
                <a:ext uri="{FF2B5EF4-FFF2-40B4-BE49-F238E27FC236}">
                  <a16:creationId xmlns:a16="http://schemas.microsoft.com/office/drawing/2014/main" id="{8453CC1F-C488-45B8-B79C-B718EBFDB8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6" y="1239"/>
              <a:ext cx="336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68">
            <a:extLst>
              <a:ext uri="{FF2B5EF4-FFF2-40B4-BE49-F238E27FC236}">
                <a16:creationId xmlns:a16="http://schemas.microsoft.com/office/drawing/2014/main" id="{91EADA9D-9EBC-4B98-81FC-F37CEC099901}"/>
              </a:ext>
            </a:extLst>
          </p:cNvPr>
          <p:cNvGrpSpPr>
            <a:grpSpLocks/>
          </p:cNvGrpSpPr>
          <p:nvPr/>
        </p:nvGrpSpPr>
        <p:grpSpPr bwMode="auto">
          <a:xfrm>
            <a:off x="2919413" y="4086225"/>
            <a:ext cx="1233487" cy="368300"/>
            <a:chOff x="2186" y="2766"/>
            <a:chExt cx="860" cy="267"/>
          </a:xfrm>
        </p:grpSpPr>
        <p:sp>
          <p:nvSpPr>
            <p:cNvPr id="37941" name="WordArt 69">
              <a:extLst>
                <a:ext uri="{FF2B5EF4-FFF2-40B4-BE49-F238E27FC236}">
                  <a16:creationId xmlns:a16="http://schemas.microsoft.com/office/drawing/2014/main" id="{3BE2C48B-4D41-4092-ADD9-8B07CC30161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186" y="2766"/>
              <a:ext cx="671" cy="2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楷体_GB2312" panose="02010609030101010101" pitchFamily="49" charset="-122"/>
                </a:rPr>
                <a:t>加速电势差</a:t>
              </a:r>
            </a:p>
          </p:txBody>
        </p:sp>
        <p:sp>
          <p:nvSpPr>
            <p:cNvPr id="37942" name="WordArt 70">
              <a:extLst>
                <a:ext uri="{FF2B5EF4-FFF2-40B4-BE49-F238E27FC236}">
                  <a16:creationId xmlns:a16="http://schemas.microsoft.com/office/drawing/2014/main" id="{5EC76854-E3BB-4807-8D35-2A778D4A902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871" y="2819"/>
              <a:ext cx="175" cy="1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38889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U</a:t>
              </a:r>
              <a:endParaRPr lang="zh-CN" alt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71">
            <a:extLst>
              <a:ext uri="{FF2B5EF4-FFF2-40B4-BE49-F238E27FC236}">
                <a16:creationId xmlns:a16="http://schemas.microsoft.com/office/drawing/2014/main" id="{5B76C50B-8EA2-4964-AE39-7ED9216062CA}"/>
              </a:ext>
            </a:extLst>
          </p:cNvPr>
          <p:cNvGrpSpPr>
            <a:grpSpLocks/>
          </p:cNvGrpSpPr>
          <p:nvPr/>
        </p:nvGrpSpPr>
        <p:grpSpPr bwMode="auto">
          <a:xfrm>
            <a:off x="317500" y="1993900"/>
            <a:ext cx="914400" cy="798513"/>
            <a:chOff x="349" y="1251"/>
            <a:chExt cx="637" cy="578"/>
          </a:xfrm>
        </p:grpSpPr>
        <p:sp>
          <p:nvSpPr>
            <p:cNvPr id="37938" name="Line 72">
              <a:extLst>
                <a:ext uri="{FF2B5EF4-FFF2-40B4-BE49-F238E27FC236}">
                  <a16:creationId xmlns:a16="http://schemas.microsoft.com/office/drawing/2014/main" id="{06C380DB-40E0-4EBB-B0F3-B94C8AEA3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" y="1829"/>
              <a:ext cx="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9" name="WordArt 73">
              <a:extLst>
                <a:ext uri="{FF2B5EF4-FFF2-40B4-BE49-F238E27FC236}">
                  <a16:creationId xmlns:a16="http://schemas.microsoft.com/office/drawing/2014/main" id="{B1433645-8871-4E26-8B18-9DF401E64116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49" y="1251"/>
              <a:ext cx="637" cy="24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楷体_GB2312" panose="02010609030101010101" pitchFamily="49" charset="-122"/>
                </a:rPr>
                <a:t>光电流</a:t>
              </a:r>
            </a:p>
          </p:txBody>
        </p:sp>
        <p:sp>
          <p:nvSpPr>
            <p:cNvPr id="37940" name="WordArt 74">
              <a:extLst>
                <a:ext uri="{FF2B5EF4-FFF2-40B4-BE49-F238E27FC236}">
                  <a16:creationId xmlns:a16="http://schemas.microsoft.com/office/drawing/2014/main" id="{B5B8DBA0-6558-474D-8369-21B873F10AC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06" y="1584"/>
              <a:ext cx="110" cy="17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7273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i</a:t>
              </a:r>
              <a:endParaRPr lang="zh-CN" altLang="en-US" sz="3600" i="1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75">
            <a:extLst>
              <a:ext uri="{FF2B5EF4-FFF2-40B4-BE49-F238E27FC236}">
                <a16:creationId xmlns:a16="http://schemas.microsoft.com/office/drawing/2014/main" id="{37270174-1BD8-4501-A697-163ED8CBA8A2}"/>
              </a:ext>
            </a:extLst>
          </p:cNvPr>
          <p:cNvGrpSpPr>
            <a:grpSpLocks/>
          </p:cNvGrpSpPr>
          <p:nvPr/>
        </p:nvGrpSpPr>
        <p:grpSpPr bwMode="auto">
          <a:xfrm>
            <a:off x="1663700" y="2508250"/>
            <a:ext cx="1241425" cy="355600"/>
            <a:chOff x="1287" y="1623"/>
            <a:chExt cx="865" cy="258"/>
          </a:xfrm>
        </p:grpSpPr>
        <p:grpSp>
          <p:nvGrpSpPr>
            <p:cNvPr id="37926" name="Group 76">
              <a:extLst>
                <a:ext uri="{FF2B5EF4-FFF2-40B4-BE49-F238E27FC236}">
                  <a16:creationId xmlns:a16="http://schemas.microsoft.com/office/drawing/2014/main" id="{A307265A-8FDD-465D-9031-F3A5F6BA72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7" y="1623"/>
              <a:ext cx="111" cy="113"/>
              <a:chOff x="3850" y="2270"/>
              <a:chExt cx="107" cy="105"/>
            </a:xfrm>
          </p:grpSpPr>
          <p:sp>
            <p:nvSpPr>
              <p:cNvPr id="37936" name="Oval 77">
                <a:extLst>
                  <a:ext uri="{FF2B5EF4-FFF2-40B4-BE49-F238E27FC236}">
                    <a16:creationId xmlns:a16="http://schemas.microsoft.com/office/drawing/2014/main" id="{5AFB634D-96D0-4FEF-8984-8CE1058A1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0" y="2270"/>
                <a:ext cx="107" cy="105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7937" name="Rectangle 78">
                <a:extLst>
                  <a:ext uri="{FF2B5EF4-FFF2-40B4-BE49-F238E27FC236}">
                    <a16:creationId xmlns:a16="http://schemas.microsoft.com/office/drawing/2014/main" id="{C37A54D9-F225-4B38-89F5-AA3558E32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8" y="2310"/>
                <a:ext cx="79" cy="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37927" name="Line 79">
              <a:extLst>
                <a:ext uri="{FF2B5EF4-FFF2-40B4-BE49-F238E27FC236}">
                  <a16:creationId xmlns:a16="http://schemas.microsoft.com/office/drawing/2014/main" id="{821C45C6-BEA9-454F-9425-C5727C78A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2" y="1677"/>
              <a:ext cx="2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28" name="Group 80">
              <a:extLst>
                <a:ext uri="{FF2B5EF4-FFF2-40B4-BE49-F238E27FC236}">
                  <a16:creationId xmlns:a16="http://schemas.microsoft.com/office/drawing/2014/main" id="{9506FAE2-68D3-4708-A957-EDAEC8DB6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7" y="1768"/>
              <a:ext cx="111" cy="113"/>
              <a:chOff x="3850" y="2270"/>
              <a:chExt cx="107" cy="105"/>
            </a:xfrm>
          </p:grpSpPr>
          <p:sp>
            <p:nvSpPr>
              <p:cNvPr id="37934" name="Oval 81">
                <a:extLst>
                  <a:ext uri="{FF2B5EF4-FFF2-40B4-BE49-F238E27FC236}">
                    <a16:creationId xmlns:a16="http://schemas.microsoft.com/office/drawing/2014/main" id="{582B6E79-0EE9-4D35-B9C5-0C465654B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0" y="2270"/>
                <a:ext cx="107" cy="105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7935" name="Rectangle 82">
                <a:extLst>
                  <a:ext uri="{FF2B5EF4-FFF2-40B4-BE49-F238E27FC236}">
                    <a16:creationId xmlns:a16="http://schemas.microsoft.com/office/drawing/2014/main" id="{A4072057-6058-4E1D-958B-29A518B73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8" y="2310"/>
                <a:ext cx="79" cy="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37929" name="Line 83">
              <a:extLst>
                <a:ext uri="{FF2B5EF4-FFF2-40B4-BE49-F238E27FC236}">
                  <a16:creationId xmlns:a16="http://schemas.microsoft.com/office/drawing/2014/main" id="{FEBFA929-C1D0-4F22-834B-AA982904C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822"/>
              <a:ext cx="2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30" name="Group 84">
              <a:extLst>
                <a:ext uri="{FF2B5EF4-FFF2-40B4-BE49-F238E27FC236}">
                  <a16:creationId xmlns:a16="http://schemas.microsoft.com/office/drawing/2014/main" id="{268875A9-EC64-4859-89CB-F279CE375C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2" y="1734"/>
              <a:ext cx="111" cy="113"/>
              <a:chOff x="3850" y="2270"/>
              <a:chExt cx="107" cy="105"/>
            </a:xfrm>
          </p:grpSpPr>
          <p:sp>
            <p:nvSpPr>
              <p:cNvPr id="37932" name="Oval 85">
                <a:extLst>
                  <a:ext uri="{FF2B5EF4-FFF2-40B4-BE49-F238E27FC236}">
                    <a16:creationId xmlns:a16="http://schemas.microsoft.com/office/drawing/2014/main" id="{0FD672B8-FC94-4629-92DA-A18A900AF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0" y="2270"/>
                <a:ext cx="107" cy="105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7933" name="Rectangle 86">
                <a:extLst>
                  <a:ext uri="{FF2B5EF4-FFF2-40B4-BE49-F238E27FC236}">
                    <a16:creationId xmlns:a16="http://schemas.microsoft.com/office/drawing/2014/main" id="{A5E6B3E2-26BD-4F82-9468-375872BD1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8" y="2310"/>
                <a:ext cx="79" cy="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37931" name="Line 87">
              <a:extLst>
                <a:ext uri="{FF2B5EF4-FFF2-40B4-BE49-F238E27FC236}">
                  <a16:creationId xmlns:a16="http://schemas.microsoft.com/office/drawing/2014/main" id="{ADF716A1-D399-404E-BA35-2B83231D14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4" y="1792"/>
              <a:ext cx="2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88">
            <a:extLst>
              <a:ext uri="{FF2B5EF4-FFF2-40B4-BE49-F238E27FC236}">
                <a16:creationId xmlns:a16="http://schemas.microsoft.com/office/drawing/2014/main" id="{D84D76F4-87D1-4844-AFA2-E71340900CA4}"/>
              </a:ext>
            </a:extLst>
          </p:cNvPr>
          <p:cNvGrpSpPr>
            <a:grpSpLocks/>
          </p:cNvGrpSpPr>
          <p:nvPr/>
        </p:nvGrpSpPr>
        <p:grpSpPr bwMode="auto">
          <a:xfrm>
            <a:off x="1955800" y="2916238"/>
            <a:ext cx="1030288" cy="239712"/>
            <a:chOff x="3677" y="2107"/>
            <a:chExt cx="718" cy="173"/>
          </a:xfrm>
        </p:grpSpPr>
        <p:sp>
          <p:nvSpPr>
            <p:cNvPr id="37924" name="Rectangle 89">
              <a:extLst>
                <a:ext uri="{FF2B5EF4-FFF2-40B4-BE49-F238E27FC236}">
                  <a16:creationId xmlns:a16="http://schemas.microsoft.com/office/drawing/2014/main" id="{55F39E43-BB0B-4D8A-A530-8E66F07B5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7" y="2107"/>
              <a:ext cx="718" cy="1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7925" name="WordArt 90">
              <a:extLst>
                <a:ext uri="{FF2B5EF4-FFF2-40B4-BE49-F238E27FC236}">
                  <a16:creationId xmlns:a16="http://schemas.microsoft.com/office/drawing/2014/main" id="{9F3D97AB-77D9-450B-B383-66F11BF71740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695" y="2127"/>
              <a:ext cx="674" cy="14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楷体_GB2312" panose="02010609030101010101" pitchFamily="49" charset="-122"/>
                </a:rPr>
                <a:t>光电子</a:t>
              </a:r>
            </a:p>
          </p:txBody>
        </p:sp>
      </p:grpSp>
      <p:sp>
        <p:nvSpPr>
          <p:cNvPr id="59410" name="WordArt 91">
            <a:extLst>
              <a:ext uri="{FF2B5EF4-FFF2-40B4-BE49-F238E27FC236}">
                <a16:creationId xmlns:a16="http://schemas.microsoft.com/office/drawing/2014/main" id="{1DE7C646-D3B0-4F59-A23C-0005A1D2F12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66875" y="1516063"/>
            <a:ext cx="866775" cy="1603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楷体_GB2312" panose="02010609030101010101" pitchFamily="49" charset="-122"/>
              </a:rPr>
              <a:t>石英窗</a:t>
            </a:r>
          </a:p>
        </p:txBody>
      </p:sp>
      <p:grpSp>
        <p:nvGrpSpPr>
          <p:cNvPr id="15" name="Group 92">
            <a:extLst>
              <a:ext uri="{FF2B5EF4-FFF2-40B4-BE49-F238E27FC236}">
                <a16:creationId xmlns:a16="http://schemas.microsoft.com/office/drawing/2014/main" id="{4C262DD9-6BF5-4B80-B18D-2E7333706196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498725"/>
            <a:ext cx="598488" cy="447675"/>
            <a:chOff x="624" y="1430"/>
            <a:chExt cx="377" cy="282"/>
          </a:xfrm>
        </p:grpSpPr>
        <p:sp>
          <p:nvSpPr>
            <p:cNvPr id="37922" name="WordArt 93">
              <a:extLst>
                <a:ext uri="{FF2B5EF4-FFF2-40B4-BE49-F238E27FC236}">
                  <a16:creationId xmlns:a16="http://schemas.microsoft.com/office/drawing/2014/main" id="{37BDDBB2-AAC6-4607-9B19-CD45E8DD7F6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761" y="1430"/>
              <a:ext cx="122" cy="10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K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923" name="WordArt 94">
              <a:extLst>
                <a:ext uri="{FF2B5EF4-FFF2-40B4-BE49-F238E27FC236}">
                  <a16:creationId xmlns:a16="http://schemas.microsoft.com/office/drawing/2014/main" id="{4597BDAE-0BB9-40A5-8C11-74C29838D71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624" y="1632"/>
              <a:ext cx="377" cy="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楷体_GB2312" panose="02010609030101010101" pitchFamily="49" charset="-122"/>
                </a:rPr>
                <a:t>阴极</a:t>
              </a:r>
            </a:p>
          </p:txBody>
        </p:sp>
      </p:grpSp>
      <p:grpSp>
        <p:nvGrpSpPr>
          <p:cNvPr id="16" name="Group 95">
            <a:extLst>
              <a:ext uri="{FF2B5EF4-FFF2-40B4-BE49-F238E27FC236}">
                <a16:creationId xmlns:a16="http://schemas.microsoft.com/office/drawing/2014/main" id="{1CB6335F-F974-4F67-B055-0304C3D4DF05}"/>
              </a:ext>
            </a:extLst>
          </p:cNvPr>
          <p:cNvGrpSpPr>
            <a:grpSpLocks/>
          </p:cNvGrpSpPr>
          <p:nvPr/>
        </p:nvGrpSpPr>
        <p:grpSpPr bwMode="auto">
          <a:xfrm>
            <a:off x="3482975" y="2501900"/>
            <a:ext cx="301625" cy="568325"/>
            <a:chOff x="2555" y="1619"/>
            <a:chExt cx="210" cy="411"/>
          </a:xfrm>
        </p:grpSpPr>
        <p:sp>
          <p:nvSpPr>
            <p:cNvPr id="37920" name="WordArt 96">
              <a:extLst>
                <a:ext uri="{FF2B5EF4-FFF2-40B4-BE49-F238E27FC236}">
                  <a16:creationId xmlns:a16="http://schemas.microsoft.com/office/drawing/2014/main" id="{3EEF496B-DD35-4A51-A711-7981CA1E0C29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555" y="1619"/>
              <a:ext cx="145" cy="12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921" name="WordArt 97">
              <a:extLst>
                <a:ext uri="{FF2B5EF4-FFF2-40B4-BE49-F238E27FC236}">
                  <a16:creationId xmlns:a16="http://schemas.microsoft.com/office/drawing/2014/main" id="{0EB25CE5-AFAC-4790-ADB1-53490FF9CF8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560" y="1859"/>
              <a:ext cx="205" cy="17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楷体_GB2312" panose="02010609030101010101" pitchFamily="49" charset="-122"/>
                </a:rPr>
                <a:t>阳极</a:t>
              </a:r>
            </a:p>
          </p:txBody>
        </p:sp>
      </p:grpSp>
      <p:grpSp>
        <p:nvGrpSpPr>
          <p:cNvPr id="17" name="Group 98">
            <a:extLst>
              <a:ext uri="{FF2B5EF4-FFF2-40B4-BE49-F238E27FC236}">
                <a16:creationId xmlns:a16="http://schemas.microsoft.com/office/drawing/2014/main" id="{7DBB3A4F-2915-4E38-B541-51EEF8B50604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438275"/>
            <a:ext cx="868363" cy="641350"/>
            <a:chOff x="2464" y="848"/>
            <a:chExt cx="606" cy="465"/>
          </a:xfrm>
        </p:grpSpPr>
        <p:sp>
          <p:nvSpPr>
            <p:cNvPr id="37987" name="WordArt 99">
              <a:extLst>
                <a:ext uri="{FF2B5EF4-FFF2-40B4-BE49-F238E27FC236}">
                  <a16:creationId xmlns:a16="http://schemas.microsoft.com/office/drawing/2014/main" id="{17AE6423-07AD-4C14-959E-C9F5D929660C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536" y="848"/>
              <a:ext cx="314" cy="21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3600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楷体_GB2312"/>
                </a:rPr>
                <a:t>光强</a:t>
              </a:r>
              <a:r>
                <a:rPr lang="en-US" altLang="zh-CN" sz="3600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楷体_GB2312"/>
                </a:rPr>
                <a:t>I</a:t>
              </a:r>
              <a:endParaRPr lang="zh-CN" altLang="en-US" sz="3600" kern="10">
                <a:ln w="9525">
                  <a:solidFill>
                    <a:srgbClr val="006600"/>
                  </a:solidFill>
                  <a:round/>
                  <a:headEnd/>
                  <a:tailEnd/>
                </a:ln>
                <a:solidFill>
                  <a:srgbClr val="006600"/>
                </a:solidFill>
                <a:latin typeface="楷体_GB2312"/>
              </a:endParaRPr>
            </a:p>
          </p:txBody>
        </p:sp>
        <p:sp>
          <p:nvSpPr>
            <p:cNvPr id="37917" name="WordArt 100">
              <a:extLst>
                <a:ext uri="{FF2B5EF4-FFF2-40B4-BE49-F238E27FC236}">
                  <a16:creationId xmlns:a16="http://schemas.microsoft.com/office/drawing/2014/main" id="{99074184-937C-4780-94E7-3BFE0BD08D2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926" y="887"/>
              <a:ext cx="120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latin typeface="Bookman Old Style" panose="02050604050505020204" pitchFamily="18" charset="0"/>
                </a:rPr>
                <a:t>I</a:t>
              </a:r>
              <a:endParaRPr lang="zh-CN" altLang="en-US" sz="3600" i="1" kern="10">
                <a:ln w="9525">
                  <a:solidFill>
                    <a:schemeClr val="bg1"/>
                  </a:solidFill>
                  <a:round/>
                  <a:headEnd/>
                  <a:tailEnd/>
                </a:ln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37918" name="WordArt 101">
              <a:extLst>
                <a:ext uri="{FF2B5EF4-FFF2-40B4-BE49-F238E27FC236}">
                  <a16:creationId xmlns:a16="http://schemas.microsoft.com/office/drawing/2014/main" id="{38ED15B4-BEF4-49F3-9325-D7353F63AAB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464" y="1108"/>
              <a:ext cx="455" cy="20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楷体_GB2312" panose="02010609030101010101" pitchFamily="49" charset="-122"/>
                </a:rPr>
                <a:t>光频率</a:t>
              </a:r>
            </a:p>
          </p:txBody>
        </p:sp>
        <p:sp>
          <p:nvSpPr>
            <p:cNvPr id="37919" name="WordArt 102">
              <a:extLst>
                <a:ext uri="{FF2B5EF4-FFF2-40B4-BE49-F238E27FC236}">
                  <a16:creationId xmlns:a16="http://schemas.microsoft.com/office/drawing/2014/main" id="{22D27C08-C547-4B80-BB99-9B12E6EE395A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951" y="1164"/>
              <a:ext cx="119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Symbol" panose="05050102010706020507" pitchFamily="18" charset="2"/>
                </a:rPr>
                <a:t>n</a:t>
              </a:r>
              <a:endParaRPr lang="zh-CN" altLang="en-US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</p:grpSp>
      <p:grpSp>
        <p:nvGrpSpPr>
          <p:cNvPr id="18" name="Group 103">
            <a:extLst>
              <a:ext uri="{FF2B5EF4-FFF2-40B4-BE49-F238E27FC236}">
                <a16:creationId xmlns:a16="http://schemas.microsoft.com/office/drawing/2014/main" id="{556E0060-AD31-47DC-900E-171B47870DC2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1698625"/>
            <a:ext cx="3533775" cy="1006475"/>
            <a:chOff x="2764" y="762"/>
            <a:chExt cx="2463" cy="729"/>
          </a:xfrm>
        </p:grpSpPr>
        <p:sp>
          <p:nvSpPr>
            <p:cNvPr id="37912" name="Line 104">
              <a:extLst>
                <a:ext uri="{FF2B5EF4-FFF2-40B4-BE49-F238E27FC236}">
                  <a16:creationId xmlns:a16="http://schemas.microsoft.com/office/drawing/2014/main" id="{992591D2-23FE-4884-82AE-F9D61B53C7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4" y="1039"/>
              <a:ext cx="791" cy="4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13" name="Group 105">
              <a:extLst>
                <a:ext uri="{FF2B5EF4-FFF2-40B4-BE49-F238E27FC236}">
                  <a16:creationId xmlns:a16="http://schemas.microsoft.com/office/drawing/2014/main" id="{E7429E7C-1041-402F-BFF5-6210F9A8DC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2" y="762"/>
              <a:ext cx="1665" cy="289"/>
              <a:chOff x="3493" y="1070"/>
              <a:chExt cx="1665" cy="289"/>
            </a:xfrm>
          </p:grpSpPr>
          <p:sp>
            <p:nvSpPr>
              <p:cNvPr id="37914" name="WordArt 106">
                <a:extLst>
                  <a:ext uri="{FF2B5EF4-FFF2-40B4-BE49-F238E27FC236}">
                    <a16:creationId xmlns:a16="http://schemas.microsoft.com/office/drawing/2014/main" id="{40C62C8F-BE59-4D61-AE83-EDC7B268B66C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493" y="1070"/>
                <a:ext cx="737" cy="28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2800" kern="10">
                    <a:ln w="9525">
                      <a:solidFill>
                        <a:srgbClr val="CC0000"/>
                      </a:solidFill>
                      <a:round/>
                      <a:headEnd/>
                      <a:tailEnd/>
                    </a:ln>
                    <a:solidFill>
                      <a:srgbClr val="CC0000"/>
                    </a:solidFill>
                    <a:latin typeface="楷体_GB2312" panose="02010609030101010101" pitchFamily="49" charset="-122"/>
                  </a:rPr>
                  <a:t>光电管</a:t>
                </a:r>
              </a:p>
            </p:txBody>
          </p:sp>
          <p:sp>
            <p:nvSpPr>
              <p:cNvPr id="37995" name="WordArt 107">
                <a:extLst>
                  <a:ext uri="{FF2B5EF4-FFF2-40B4-BE49-F238E27FC236}">
                    <a16:creationId xmlns:a16="http://schemas.microsoft.com/office/drawing/2014/main" id="{EABFA6F4-2648-43B5-A61E-35B7E98AE999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4604" y="1076"/>
                <a:ext cx="554" cy="18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zh-CN" alt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真空</a:t>
                </a:r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endPara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9415" name="WordArt 108">
            <a:extLst>
              <a:ext uri="{FF2B5EF4-FFF2-40B4-BE49-F238E27FC236}">
                <a16:creationId xmlns:a16="http://schemas.microsoft.com/office/drawing/2014/main" id="{3B3CD9ED-1252-4FB1-9C4E-F41E39904A4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682875" y="5011738"/>
            <a:ext cx="915988" cy="1857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电位器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4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94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4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4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4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107" grpId="0" bldLvl="0" animBg="1"/>
      <p:bldP spid="943108" grpId="0"/>
      <p:bldP spid="943109" grpId="0" bldLvl="0" animBg="1"/>
      <p:bldP spid="943110" grpId="0"/>
      <p:bldP spid="9431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>
            <a:extLst>
              <a:ext uri="{FF2B5EF4-FFF2-40B4-BE49-F238E27FC236}">
                <a16:creationId xmlns:a16="http://schemas.microsoft.com/office/drawing/2014/main" id="{942C0511-8D13-4582-AEC8-98B36C35B9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58865D-7529-47DB-979F-3BDC8D667426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zh-CN" altLang="zh-CN" sz="1400"/>
          </a:p>
        </p:txBody>
      </p:sp>
      <p:sp>
        <p:nvSpPr>
          <p:cNvPr id="944130" name="Text Box 2">
            <a:extLst>
              <a:ext uri="{FF2B5EF4-FFF2-40B4-BE49-F238E27FC236}">
                <a16:creationId xmlns:a16="http://schemas.microsoft.com/office/drawing/2014/main" id="{72727A9D-E1B4-4586-8C65-627BACAB0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660876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32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</a:t>
            </a:r>
            <a:r>
              <a:rPr kumimoji="1" lang="zh-CN" altLang="en-US" sz="32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kumimoji="1" lang="zh-CN" altLang="en-US" sz="32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光电效应的实验规律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56080905-0CF8-4FF6-95F9-FBB811CDEA7E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3933825"/>
            <a:ext cx="3397250" cy="2708275"/>
            <a:chOff x="3456" y="2640"/>
            <a:chExt cx="2112" cy="1689"/>
          </a:xfrm>
        </p:grpSpPr>
        <p:sp>
          <p:nvSpPr>
            <p:cNvPr id="39042" name="Rectangle 5">
              <a:extLst>
                <a:ext uri="{FF2B5EF4-FFF2-40B4-BE49-F238E27FC236}">
                  <a16:creationId xmlns:a16="http://schemas.microsoft.com/office/drawing/2014/main" id="{FF5A4BA2-2C92-44A9-97C2-D8CA0F358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640"/>
              <a:ext cx="2112" cy="16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cxnSp>
          <p:nvCxnSpPr>
            <p:cNvPr id="39043" name="AutoShape 6">
              <a:extLst>
                <a:ext uri="{FF2B5EF4-FFF2-40B4-BE49-F238E27FC236}">
                  <a16:creationId xmlns:a16="http://schemas.microsoft.com/office/drawing/2014/main" id="{E952EECE-9918-4366-9197-457FBB8328E9}"/>
                </a:ext>
              </a:extLst>
            </p:cNvPr>
            <p:cNvCxnSpPr>
              <a:cxnSpLocks noChangeShapeType="1"/>
              <a:stCxn id="39042" idx="0"/>
            </p:cNvCxnSpPr>
            <p:nvPr/>
          </p:nvCxnSpPr>
          <p:spPr bwMode="auto">
            <a:xfrm rot="-5400000" flipH="1" flipV="1">
              <a:off x="3959" y="2469"/>
              <a:ext cx="382" cy="724"/>
            </a:xfrm>
            <a:prstGeom prst="curvedConnector4">
              <a:avLst>
                <a:gd name="adj1" fmla="val -34125"/>
                <a:gd name="adj2" fmla="val -16574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cxnSp>
        <p:sp>
          <p:nvSpPr>
            <p:cNvPr id="39044" name="Line 7">
              <a:extLst>
                <a:ext uri="{FF2B5EF4-FFF2-40B4-BE49-F238E27FC236}">
                  <a16:creationId xmlns:a16="http://schemas.microsoft.com/office/drawing/2014/main" id="{D09CBE76-7EA9-409B-B406-8CAF94AE89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4009"/>
              <a:ext cx="18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45" name="Line 8">
              <a:extLst>
                <a:ext uri="{FF2B5EF4-FFF2-40B4-BE49-F238E27FC236}">
                  <a16:creationId xmlns:a16="http://schemas.microsoft.com/office/drawing/2014/main" id="{41C37119-881C-4869-95A1-73E8A092ED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2" y="2794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46" name="Line 9">
              <a:extLst>
                <a:ext uri="{FF2B5EF4-FFF2-40B4-BE49-F238E27FC236}">
                  <a16:creationId xmlns:a16="http://schemas.microsoft.com/office/drawing/2014/main" id="{14C2BCA6-2C0A-4560-8C97-DB43823FF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2" y="3353"/>
              <a:ext cx="11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9047" name="Object 11">
              <a:extLst>
                <a:ext uri="{FF2B5EF4-FFF2-40B4-BE49-F238E27FC236}">
                  <a16:creationId xmlns:a16="http://schemas.microsoft.com/office/drawing/2014/main" id="{1996BE06-1FAC-4A76-866D-16285123D2F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68" y="3075"/>
            <a:ext cx="18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46" r:id="rId3" imgW="203024" imgH="317225" progId="Equation.3">
                    <p:embed/>
                  </p:oleObj>
                </mc:Choice>
                <mc:Fallback>
                  <p:oleObj r:id="rId3" imgW="203024" imgH="317225" progId="Equation.3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8" y="3075"/>
                          <a:ext cx="183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048" name="Object 13">
              <a:extLst>
                <a:ext uri="{FF2B5EF4-FFF2-40B4-BE49-F238E27FC236}">
                  <a16:creationId xmlns:a16="http://schemas.microsoft.com/office/drawing/2014/main" id="{24DC9733-C460-4341-A9E8-387697B5244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19" y="2662"/>
            <a:ext cx="201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47" r:id="rId5" imgW="88554" imgH="164458" progId="Equation.3">
                    <p:embed/>
                  </p:oleObj>
                </mc:Choice>
                <mc:Fallback>
                  <p:oleObj r:id="rId5" imgW="88554" imgH="164458" progId="Equation.3">
                    <p:embed/>
                    <p:pic>
                      <p:nvPicPr>
                        <p:cNvPr id="0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9" y="2662"/>
                          <a:ext cx="201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049" name="Object 14">
              <a:extLst>
                <a:ext uri="{FF2B5EF4-FFF2-40B4-BE49-F238E27FC236}">
                  <a16:creationId xmlns:a16="http://schemas.microsoft.com/office/drawing/2014/main" id="{AEA26FF0-C6DF-4EE4-8C21-5903DC43482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03" y="3105"/>
            <a:ext cx="520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48" r:id="rId7" imgW="190252" imgH="215619" progId="Equation.DSMT4">
                    <p:embed/>
                  </p:oleObj>
                </mc:Choice>
                <mc:Fallback>
                  <p:oleObj r:id="rId7" imgW="190252" imgH="215619" progId="Equation.DSMT4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3" y="3105"/>
                          <a:ext cx="520" cy="5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050" name="Object 16">
              <a:extLst>
                <a:ext uri="{FF2B5EF4-FFF2-40B4-BE49-F238E27FC236}">
                  <a16:creationId xmlns:a16="http://schemas.microsoft.com/office/drawing/2014/main" id="{DADDA128-98CC-4EA8-9CB3-C991A41F023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84" y="4031"/>
            <a:ext cx="270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49" r:id="rId9" imgW="126725" imgH="139397" progId="Equation.3">
                    <p:embed/>
                  </p:oleObj>
                </mc:Choice>
                <mc:Fallback>
                  <p:oleObj r:id="rId9" imgW="126725" imgH="139397" progId="Equation.3">
                    <p:embed/>
                    <p:pic>
                      <p:nvPicPr>
                        <p:cNvPr id="0" name="Object 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4031"/>
                          <a:ext cx="270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051" name="Object 17">
              <a:extLst>
                <a:ext uri="{FF2B5EF4-FFF2-40B4-BE49-F238E27FC236}">
                  <a16:creationId xmlns:a16="http://schemas.microsoft.com/office/drawing/2014/main" id="{9C579B13-FA05-4192-8E4A-D0AA76F662B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471" y="3981"/>
            <a:ext cx="400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50" r:id="rId11" imgW="317225" imgH="228402" progId="Equation.3">
                    <p:embed/>
                  </p:oleObj>
                </mc:Choice>
                <mc:Fallback>
                  <p:oleObj r:id="rId11" imgW="317225" imgH="228402" progId="Equation.3">
                    <p:embed/>
                    <p:pic>
                      <p:nvPicPr>
                        <p:cNvPr id="0" name="Object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1" y="3981"/>
                          <a:ext cx="400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052" name="Object 18">
              <a:extLst>
                <a:ext uri="{FF2B5EF4-FFF2-40B4-BE49-F238E27FC236}">
                  <a16:creationId xmlns:a16="http://schemas.microsoft.com/office/drawing/2014/main" id="{A3373A0A-C484-4845-BF8E-0DCE87D103C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249" y="4031"/>
            <a:ext cx="22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51" r:id="rId13" imgW="241195" imgH="241195" progId="Equation.3">
                    <p:embed/>
                  </p:oleObj>
                </mc:Choice>
                <mc:Fallback>
                  <p:oleObj r:id="rId13" imgW="241195" imgH="241195" progId="Equation.3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9" y="4031"/>
                          <a:ext cx="22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53" name="Freeform 19">
              <a:extLst>
                <a:ext uri="{FF2B5EF4-FFF2-40B4-BE49-F238E27FC236}">
                  <a16:creationId xmlns:a16="http://schemas.microsoft.com/office/drawing/2014/main" id="{445F1B03-2AAB-431C-8A97-A99612E22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3343"/>
              <a:ext cx="1489" cy="660"/>
            </a:xfrm>
            <a:custGeom>
              <a:avLst/>
              <a:gdLst>
                <a:gd name="T0" fmla="*/ 0 w 1489"/>
                <a:gd name="T1" fmla="*/ 541 h 729"/>
                <a:gd name="T2" fmla="*/ 193 w 1489"/>
                <a:gd name="T3" fmla="*/ 511 h 729"/>
                <a:gd name="T4" fmla="*/ 361 w 1489"/>
                <a:gd name="T5" fmla="*/ 439 h 729"/>
                <a:gd name="T6" fmla="*/ 523 w 1489"/>
                <a:gd name="T7" fmla="*/ 301 h 729"/>
                <a:gd name="T8" fmla="*/ 704 w 1489"/>
                <a:gd name="T9" fmla="*/ 100 h 729"/>
                <a:gd name="T10" fmla="*/ 813 w 1489"/>
                <a:gd name="T11" fmla="*/ 20 h 729"/>
                <a:gd name="T12" fmla="*/ 1045 w 1489"/>
                <a:gd name="T13" fmla="*/ 4 h 729"/>
                <a:gd name="T14" fmla="*/ 1489 w 1489"/>
                <a:gd name="T15" fmla="*/ 4 h 7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9" h="729">
                  <a:moveTo>
                    <a:pt x="0" y="729"/>
                  </a:moveTo>
                  <a:cubicBezTo>
                    <a:pt x="32" y="722"/>
                    <a:pt x="133" y="711"/>
                    <a:pt x="193" y="688"/>
                  </a:cubicBezTo>
                  <a:cubicBezTo>
                    <a:pt x="253" y="665"/>
                    <a:pt x="306" y="639"/>
                    <a:pt x="361" y="592"/>
                  </a:cubicBezTo>
                  <a:cubicBezTo>
                    <a:pt x="416" y="545"/>
                    <a:pt x="466" y="482"/>
                    <a:pt x="523" y="406"/>
                  </a:cubicBezTo>
                  <a:cubicBezTo>
                    <a:pt x="580" y="330"/>
                    <a:pt x="656" y="199"/>
                    <a:pt x="704" y="136"/>
                  </a:cubicBezTo>
                  <a:cubicBezTo>
                    <a:pt x="752" y="73"/>
                    <a:pt x="756" y="49"/>
                    <a:pt x="813" y="27"/>
                  </a:cubicBezTo>
                  <a:cubicBezTo>
                    <a:pt x="870" y="5"/>
                    <a:pt x="932" y="8"/>
                    <a:pt x="1045" y="4"/>
                  </a:cubicBezTo>
                  <a:cubicBezTo>
                    <a:pt x="1158" y="0"/>
                    <a:pt x="1397" y="4"/>
                    <a:pt x="1489" y="4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3">
            <a:extLst>
              <a:ext uri="{FF2B5EF4-FFF2-40B4-BE49-F238E27FC236}">
                <a16:creationId xmlns:a16="http://schemas.microsoft.com/office/drawing/2014/main" id="{1165725D-DE32-4C1D-9F38-9C1122096351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197100"/>
            <a:ext cx="3195638" cy="4300538"/>
            <a:chOff x="304" y="1176"/>
            <a:chExt cx="1936" cy="2402"/>
          </a:xfrm>
        </p:grpSpPr>
        <p:sp>
          <p:nvSpPr>
            <p:cNvPr id="38944" name="Rectangle 24">
              <a:extLst>
                <a:ext uri="{FF2B5EF4-FFF2-40B4-BE49-F238E27FC236}">
                  <a16:creationId xmlns:a16="http://schemas.microsoft.com/office/drawing/2014/main" id="{87B0C30B-6A8F-40F0-B2FE-7A12C6413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" y="2587"/>
              <a:ext cx="1816" cy="56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45" name="Rectangle 25">
              <a:extLst>
                <a:ext uri="{FF2B5EF4-FFF2-40B4-BE49-F238E27FC236}">
                  <a16:creationId xmlns:a16="http://schemas.microsoft.com/office/drawing/2014/main" id="{15550D30-4302-437E-A43E-21F2B7CD6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" y="3269"/>
              <a:ext cx="1816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46" name="Line 26">
              <a:extLst>
                <a:ext uri="{FF2B5EF4-FFF2-40B4-BE49-F238E27FC236}">
                  <a16:creationId xmlns:a16="http://schemas.microsoft.com/office/drawing/2014/main" id="{620B9379-F332-40C2-900C-D733424A1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" y="2920"/>
              <a:ext cx="18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7" name="Line 27">
              <a:extLst>
                <a:ext uri="{FF2B5EF4-FFF2-40B4-BE49-F238E27FC236}">
                  <a16:creationId xmlns:a16="http://schemas.microsoft.com/office/drawing/2014/main" id="{4FAFF6F7-8C05-4EA2-8FD6-1FA08B71F7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40" y="2801"/>
              <a:ext cx="0" cy="6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8" name="Rectangle 28">
              <a:extLst>
                <a:ext uri="{FF2B5EF4-FFF2-40B4-BE49-F238E27FC236}">
                  <a16:creationId xmlns:a16="http://schemas.microsoft.com/office/drawing/2014/main" id="{54E38006-81FF-495A-B2C4-E5F3BBFC9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" y="3246"/>
              <a:ext cx="745" cy="5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49" name="Line 29">
              <a:extLst>
                <a:ext uri="{FF2B5EF4-FFF2-40B4-BE49-F238E27FC236}">
                  <a16:creationId xmlns:a16="http://schemas.microsoft.com/office/drawing/2014/main" id="{A1739B28-B3C4-4B71-B766-4D57A215B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3" y="3153"/>
              <a:ext cx="0" cy="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0" name="Oval 30">
              <a:extLst>
                <a:ext uri="{FF2B5EF4-FFF2-40B4-BE49-F238E27FC236}">
                  <a16:creationId xmlns:a16="http://schemas.microsoft.com/office/drawing/2014/main" id="{9121A591-DF2C-4F0E-80AC-B11FB2C71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" y="2812"/>
              <a:ext cx="224" cy="21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51" name="Rectangle 31">
              <a:extLst>
                <a:ext uri="{FF2B5EF4-FFF2-40B4-BE49-F238E27FC236}">
                  <a16:creationId xmlns:a16="http://schemas.microsoft.com/office/drawing/2014/main" id="{903710C0-E6BE-4207-A845-78E64DFBD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7" y="3408"/>
              <a:ext cx="311" cy="16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52" name="Line 32">
              <a:extLst>
                <a:ext uri="{FF2B5EF4-FFF2-40B4-BE49-F238E27FC236}">
                  <a16:creationId xmlns:a16="http://schemas.microsoft.com/office/drawing/2014/main" id="{6F2C77C3-D884-471A-893A-450CF9FEA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3413"/>
              <a:ext cx="0" cy="1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3" name="Line 33">
              <a:extLst>
                <a:ext uri="{FF2B5EF4-FFF2-40B4-BE49-F238E27FC236}">
                  <a16:creationId xmlns:a16="http://schemas.microsoft.com/office/drawing/2014/main" id="{631057EE-21F2-49DD-80DC-8DA183294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" y="3444"/>
              <a:ext cx="0" cy="1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4" name="Line 34">
              <a:extLst>
                <a:ext uri="{FF2B5EF4-FFF2-40B4-BE49-F238E27FC236}">
                  <a16:creationId xmlns:a16="http://schemas.microsoft.com/office/drawing/2014/main" id="{2FC2BDB5-DC51-4A45-A548-9354DFEBA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3445"/>
              <a:ext cx="0" cy="1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5" name="Line 35">
              <a:extLst>
                <a:ext uri="{FF2B5EF4-FFF2-40B4-BE49-F238E27FC236}">
                  <a16:creationId xmlns:a16="http://schemas.microsoft.com/office/drawing/2014/main" id="{C367FCA8-D923-4296-92E7-E0E3E493E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4" y="3414"/>
              <a:ext cx="0" cy="1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6" name="WordArt 36">
              <a:extLst>
                <a:ext uri="{FF2B5EF4-FFF2-40B4-BE49-F238E27FC236}">
                  <a16:creationId xmlns:a16="http://schemas.microsoft.com/office/drawing/2014/main" id="{B5C74A07-54FC-47DC-B7AC-C5933A24054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139" y="2872"/>
              <a:ext cx="153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0088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V</a:t>
              </a:r>
              <a:endParaRPr lang="zh-CN" altLang="en-US" sz="3600" i="1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8957" name="WordArt 37">
              <a:extLst>
                <a:ext uri="{FF2B5EF4-FFF2-40B4-BE49-F238E27FC236}">
                  <a16:creationId xmlns:a16="http://schemas.microsoft.com/office/drawing/2014/main" id="{7960E833-41D3-43C2-B3F4-31A49418CD8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505" y="3366"/>
              <a:ext cx="103" cy="9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zh-CN" altLang="en-US" sz="3600" kern="10">
                <a:ln w="19050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958" name="Line 38">
              <a:extLst>
                <a:ext uri="{FF2B5EF4-FFF2-40B4-BE49-F238E27FC236}">
                  <a16:creationId xmlns:a16="http://schemas.microsoft.com/office/drawing/2014/main" id="{2ADF0243-A9B5-4F14-A30C-C7DBE18A5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4" y="3432"/>
              <a:ext cx="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9" name="Rectangle 39">
              <a:extLst>
                <a:ext uri="{FF2B5EF4-FFF2-40B4-BE49-F238E27FC236}">
                  <a16:creationId xmlns:a16="http://schemas.microsoft.com/office/drawing/2014/main" id="{DA40207C-938C-41D4-919E-7B884E364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" y="2008"/>
              <a:ext cx="1815" cy="50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60" name="Oval 40">
              <a:extLst>
                <a:ext uri="{FF2B5EF4-FFF2-40B4-BE49-F238E27FC236}">
                  <a16:creationId xmlns:a16="http://schemas.microsoft.com/office/drawing/2014/main" id="{C10BE25D-C579-4AC5-B9DE-08421F7B8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" y="2150"/>
              <a:ext cx="225" cy="21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61" name="WordArt 41">
              <a:extLst>
                <a:ext uri="{FF2B5EF4-FFF2-40B4-BE49-F238E27FC236}">
                  <a16:creationId xmlns:a16="http://schemas.microsoft.com/office/drawing/2014/main" id="{09CEEF50-9E53-4080-95EA-F96E5B97BEB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74" y="2186"/>
              <a:ext cx="117" cy="12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512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A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38962" name="Group 42">
              <a:extLst>
                <a:ext uri="{FF2B5EF4-FFF2-40B4-BE49-F238E27FC236}">
                  <a16:creationId xmlns:a16="http://schemas.microsoft.com/office/drawing/2014/main" id="{1444DB01-26BD-4FA8-8917-40061E0988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0" y="2471"/>
              <a:ext cx="374" cy="231"/>
              <a:chOff x="1455" y="2504"/>
              <a:chExt cx="553" cy="336"/>
            </a:xfrm>
          </p:grpSpPr>
          <p:sp>
            <p:nvSpPr>
              <p:cNvPr id="39031" name="Rectangle 43">
                <a:extLst>
                  <a:ext uri="{FF2B5EF4-FFF2-40B4-BE49-F238E27FC236}">
                    <a16:creationId xmlns:a16="http://schemas.microsoft.com/office/drawing/2014/main" id="{E16228E0-128F-4B5F-8C5F-10BC5FC6F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2" y="2504"/>
                <a:ext cx="491" cy="3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9032" name="Oval 44">
                <a:extLst>
                  <a:ext uri="{FF2B5EF4-FFF2-40B4-BE49-F238E27FC236}">
                    <a16:creationId xmlns:a16="http://schemas.microsoft.com/office/drawing/2014/main" id="{67F309B3-EBC9-47CC-80AF-F75E37C55E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9" y="2532"/>
                <a:ext cx="60" cy="63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9033" name="Oval 45">
                <a:extLst>
                  <a:ext uri="{FF2B5EF4-FFF2-40B4-BE49-F238E27FC236}">
                    <a16:creationId xmlns:a16="http://schemas.microsoft.com/office/drawing/2014/main" id="{24218160-0AD8-48F7-A647-A96BD530DC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3" y="2527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9034" name="Oval 46">
                <a:extLst>
                  <a:ext uri="{FF2B5EF4-FFF2-40B4-BE49-F238E27FC236}">
                    <a16:creationId xmlns:a16="http://schemas.microsoft.com/office/drawing/2014/main" id="{D94E8F37-07C4-4BB9-878A-16B7EE214E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6" y="2756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9035" name="Oval 47">
                <a:extLst>
                  <a:ext uri="{FF2B5EF4-FFF2-40B4-BE49-F238E27FC236}">
                    <a16:creationId xmlns:a16="http://schemas.microsoft.com/office/drawing/2014/main" id="{C1EFC47D-07B2-4A38-A8B8-0722AD2149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8" y="2757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9036" name="Oval 48">
                <a:extLst>
                  <a:ext uri="{FF2B5EF4-FFF2-40B4-BE49-F238E27FC236}">
                    <a16:creationId xmlns:a16="http://schemas.microsoft.com/office/drawing/2014/main" id="{93C90B74-5B87-4CBB-A0CF-C116D13AD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3" y="2647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9037" name="Oval 49">
                <a:extLst>
                  <a:ext uri="{FF2B5EF4-FFF2-40B4-BE49-F238E27FC236}">
                    <a16:creationId xmlns:a16="http://schemas.microsoft.com/office/drawing/2014/main" id="{8FCC533B-FFEA-44EC-9F44-1E1A1B065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2642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9038" name="Line 50">
                <a:extLst>
                  <a:ext uri="{FF2B5EF4-FFF2-40B4-BE49-F238E27FC236}">
                    <a16:creationId xmlns:a16="http://schemas.microsoft.com/office/drawing/2014/main" id="{039091F0-7699-4539-9966-2E7543A76F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12" y="2571"/>
                <a:ext cx="438" cy="2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039" name="Oval 51">
                <a:extLst>
                  <a:ext uri="{FF2B5EF4-FFF2-40B4-BE49-F238E27FC236}">
                    <a16:creationId xmlns:a16="http://schemas.microsoft.com/office/drawing/2014/main" id="{1D94E144-83E1-4A43-A3AA-AAC0D7CFD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8" y="2598"/>
                <a:ext cx="141" cy="1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9040" name="Line 52">
                <a:extLst>
                  <a:ext uri="{FF2B5EF4-FFF2-40B4-BE49-F238E27FC236}">
                    <a16:creationId xmlns:a16="http://schemas.microsoft.com/office/drawing/2014/main" id="{5CCA827D-A817-493C-8634-513AD1EE6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8" y="2568"/>
                <a:ext cx="432" cy="20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041" name="AutoShape 53">
                <a:extLst>
                  <a:ext uri="{FF2B5EF4-FFF2-40B4-BE49-F238E27FC236}">
                    <a16:creationId xmlns:a16="http://schemas.microsoft.com/office/drawing/2014/main" id="{6F5181B1-0A15-48F7-8DD4-3AF2AEA9AD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503493">
                <a:off x="1663" y="2593"/>
                <a:ext cx="169" cy="19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204" y="9116"/>
                    </a:moveTo>
                    <a:cubicBezTo>
                      <a:pt x="3009" y="5005"/>
                      <a:pt x="6611" y="2040"/>
                      <a:pt x="10800" y="2041"/>
                    </a:cubicBezTo>
                    <a:cubicBezTo>
                      <a:pt x="14988" y="2041"/>
                      <a:pt x="18590" y="5005"/>
                      <a:pt x="19395" y="9116"/>
                    </a:cubicBezTo>
                    <a:lnTo>
                      <a:pt x="21398" y="8723"/>
                    </a:lnTo>
                    <a:cubicBezTo>
                      <a:pt x="20405" y="3655"/>
                      <a:pt x="15964" y="-1"/>
                      <a:pt x="10799" y="0"/>
                    </a:cubicBezTo>
                    <a:cubicBezTo>
                      <a:pt x="5635" y="0"/>
                      <a:pt x="1194" y="3655"/>
                      <a:pt x="201" y="8723"/>
                    </a:cubicBezTo>
                    <a:lnTo>
                      <a:pt x="2204" y="9116"/>
                    </a:lnTo>
                    <a:close/>
                  </a:path>
                </a:pathLst>
              </a:custGeom>
              <a:solidFill>
                <a:schemeClr val="tx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963" name="Oval 54">
              <a:extLst>
                <a:ext uri="{FF2B5EF4-FFF2-40B4-BE49-F238E27FC236}">
                  <a16:creationId xmlns:a16="http://schemas.microsoft.com/office/drawing/2014/main" id="{B5D311F5-3EC3-4A44-9DE6-630C0F67C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2490"/>
              <a:ext cx="41" cy="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64" name="Oval 55">
              <a:extLst>
                <a:ext uri="{FF2B5EF4-FFF2-40B4-BE49-F238E27FC236}">
                  <a16:creationId xmlns:a16="http://schemas.microsoft.com/office/drawing/2014/main" id="{4F874F01-E9CA-438D-8BF7-86A95C157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" y="2487"/>
              <a:ext cx="40" cy="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65" name="Oval 56">
              <a:extLst>
                <a:ext uri="{FF2B5EF4-FFF2-40B4-BE49-F238E27FC236}">
                  <a16:creationId xmlns:a16="http://schemas.microsoft.com/office/drawing/2014/main" id="{5B709B6D-CCF7-4B74-91B3-E2D1E369C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" y="2645"/>
              <a:ext cx="40" cy="4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66" name="Oval 57">
              <a:extLst>
                <a:ext uri="{FF2B5EF4-FFF2-40B4-BE49-F238E27FC236}">
                  <a16:creationId xmlns:a16="http://schemas.microsoft.com/office/drawing/2014/main" id="{861E9B51-0D84-4460-8A9C-2792322C5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4" y="2645"/>
              <a:ext cx="40" cy="4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67" name="Oval 58">
              <a:extLst>
                <a:ext uri="{FF2B5EF4-FFF2-40B4-BE49-F238E27FC236}">
                  <a16:creationId xmlns:a16="http://schemas.microsoft.com/office/drawing/2014/main" id="{317C34A5-1161-4F68-B437-1A1B3E41D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" y="2569"/>
              <a:ext cx="41" cy="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68" name="Oval 59">
              <a:extLst>
                <a:ext uri="{FF2B5EF4-FFF2-40B4-BE49-F238E27FC236}">
                  <a16:creationId xmlns:a16="http://schemas.microsoft.com/office/drawing/2014/main" id="{715A2943-F2D7-491D-912C-59A89E22F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" y="2565"/>
              <a:ext cx="42" cy="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69" name="Line 60">
              <a:extLst>
                <a:ext uri="{FF2B5EF4-FFF2-40B4-BE49-F238E27FC236}">
                  <a16:creationId xmlns:a16="http://schemas.microsoft.com/office/drawing/2014/main" id="{22ED0E62-FDFB-43D5-88CA-B9F803EBB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18" y="2518"/>
              <a:ext cx="298" cy="1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0" name="Oval 61">
              <a:extLst>
                <a:ext uri="{FF2B5EF4-FFF2-40B4-BE49-F238E27FC236}">
                  <a16:creationId xmlns:a16="http://schemas.microsoft.com/office/drawing/2014/main" id="{B4E19CBA-A808-44DD-83FD-7EDA28913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2536"/>
              <a:ext cx="96" cy="1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71" name="Line 62">
              <a:extLst>
                <a:ext uri="{FF2B5EF4-FFF2-40B4-BE49-F238E27FC236}">
                  <a16:creationId xmlns:a16="http://schemas.microsoft.com/office/drawing/2014/main" id="{E299BB36-10CE-4AEC-BEF3-B4D5930A9F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2" y="2515"/>
              <a:ext cx="294" cy="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2" name="AutoShape 63">
              <a:extLst>
                <a:ext uri="{FF2B5EF4-FFF2-40B4-BE49-F238E27FC236}">
                  <a16:creationId xmlns:a16="http://schemas.microsoft.com/office/drawing/2014/main" id="{496F6A2B-7B21-41E4-B972-F2459AE6F5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503493">
              <a:off x="1220" y="2533"/>
              <a:ext cx="115" cy="1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00" h="21600">
                  <a:moveTo>
                    <a:pt x="2204" y="9116"/>
                  </a:moveTo>
                  <a:cubicBezTo>
                    <a:pt x="3009" y="5005"/>
                    <a:pt x="6611" y="2040"/>
                    <a:pt x="10800" y="2041"/>
                  </a:cubicBezTo>
                  <a:cubicBezTo>
                    <a:pt x="14988" y="2041"/>
                    <a:pt x="18590" y="5005"/>
                    <a:pt x="19395" y="9116"/>
                  </a:cubicBezTo>
                  <a:lnTo>
                    <a:pt x="21398" y="8723"/>
                  </a:lnTo>
                  <a:cubicBezTo>
                    <a:pt x="20405" y="3655"/>
                    <a:pt x="15964" y="-1"/>
                    <a:pt x="10799" y="0"/>
                  </a:cubicBezTo>
                  <a:cubicBezTo>
                    <a:pt x="5635" y="0"/>
                    <a:pt x="1194" y="3655"/>
                    <a:pt x="201" y="8723"/>
                  </a:cubicBezTo>
                  <a:lnTo>
                    <a:pt x="2204" y="9116"/>
                  </a:lnTo>
                  <a:close/>
                </a:path>
              </a:pathLst>
            </a:custGeom>
            <a:solidFill>
              <a:schemeClr val="tx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3" name="Line 64">
              <a:extLst>
                <a:ext uri="{FF2B5EF4-FFF2-40B4-BE49-F238E27FC236}">
                  <a16:creationId xmlns:a16="http://schemas.microsoft.com/office/drawing/2014/main" id="{41CB0B3D-F6DA-41BC-8F96-DBB57A99FD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" y="2512"/>
              <a:ext cx="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8974" name="Group 65">
              <a:extLst>
                <a:ext uri="{FF2B5EF4-FFF2-40B4-BE49-F238E27FC236}">
                  <a16:creationId xmlns:a16="http://schemas.microsoft.com/office/drawing/2014/main" id="{F0F37D5D-252F-4BC3-8B41-FF6651EBC5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0" y="2383"/>
              <a:ext cx="811" cy="78"/>
              <a:chOff x="1132" y="2410"/>
              <a:chExt cx="1194" cy="114"/>
            </a:xfrm>
          </p:grpSpPr>
          <p:sp>
            <p:nvSpPr>
              <p:cNvPr id="39029" name="WordArt 66">
                <a:extLst>
                  <a:ext uri="{FF2B5EF4-FFF2-40B4-BE49-F238E27FC236}">
                    <a16:creationId xmlns:a16="http://schemas.microsoft.com/office/drawing/2014/main" id="{EF5072AA-64E5-4BDA-847A-0FA7A02445A6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235" y="2410"/>
                <a:ext cx="91" cy="11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285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  <a:endParaRPr lang="zh-CN" altLang="en-US" sz="3600" kern="10">
                  <a:ln w="2857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9030" name="Line 67">
                <a:extLst>
                  <a:ext uri="{FF2B5EF4-FFF2-40B4-BE49-F238E27FC236}">
                    <a16:creationId xmlns:a16="http://schemas.microsoft.com/office/drawing/2014/main" id="{D4095E59-92FE-4389-AAF8-B69E8B8B5D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2" y="2483"/>
                <a:ext cx="10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44196" name="Oval 68">
              <a:extLst>
                <a:ext uri="{FF2B5EF4-FFF2-40B4-BE49-F238E27FC236}">
                  <a16:creationId xmlns:a16="http://schemas.microsoft.com/office/drawing/2014/main" id="{A0E9DD1E-E312-4A5B-8CC3-247DF3F7C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1707"/>
              <a:ext cx="455" cy="58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9804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sp>
          <p:nvSpPr>
            <p:cNvPr id="944197" name="Oval 69">
              <a:extLst>
                <a:ext uri="{FF2B5EF4-FFF2-40B4-BE49-F238E27FC236}">
                  <a16:creationId xmlns:a16="http://schemas.microsoft.com/office/drawing/2014/main" id="{C4DC2A0E-5C0C-4A3A-8857-6DB0329B9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8" y="1707"/>
              <a:ext cx="461" cy="58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9804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sp>
          <p:nvSpPr>
            <p:cNvPr id="944198" name="Rectangle 70">
              <a:extLst>
                <a:ext uri="{FF2B5EF4-FFF2-40B4-BE49-F238E27FC236}">
                  <a16:creationId xmlns:a16="http://schemas.microsoft.com/office/drawing/2014/main" id="{34F190E0-2A21-4452-AD4B-033F6B306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" y="1700"/>
              <a:ext cx="912" cy="598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89804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89804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sp>
          <p:nvSpPr>
            <p:cNvPr id="38978" name="Line 71">
              <a:extLst>
                <a:ext uri="{FF2B5EF4-FFF2-40B4-BE49-F238E27FC236}">
                  <a16:creationId xmlns:a16="http://schemas.microsoft.com/office/drawing/2014/main" id="{C020D158-0192-4A0C-BCC4-EBCF67A89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7" y="1707"/>
              <a:ext cx="9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9" name="Line 72">
              <a:extLst>
                <a:ext uri="{FF2B5EF4-FFF2-40B4-BE49-F238E27FC236}">
                  <a16:creationId xmlns:a16="http://schemas.microsoft.com/office/drawing/2014/main" id="{237933AC-89C1-434C-87FF-043B0528DE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8" y="2292"/>
              <a:ext cx="92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0" name="Rectangle 73" descr="50%">
              <a:extLst>
                <a:ext uri="{FF2B5EF4-FFF2-40B4-BE49-F238E27FC236}">
                  <a16:creationId xmlns:a16="http://schemas.microsoft.com/office/drawing/2014/main" id="{1D6DE6DC-AFFB-4022-A428-32B0690C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" y="1777"/>
              <a:ext cx="59" cy="435"/>
            </a:xfrm>
            <a:prstGeom prst="rect">
              <a:avLst/>
            </a:prstGeom>
            <a:blipFill dpi="0" rotWithShape="0">
              <a:blip r:embed="rId1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81" name="Line 74">
              <a:extLst>
                <a:ext uri="{FF2B5EF4-FFF2-40B4-BE49-F238E27FC236}">
                  <a16:creationId xmlns:a16="http://schemas.microsoft.com/office/drawing/2014/main" id="{FCC56FEE-D9CB-4451-AD9A-40F24E03C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" y="2009"/>
              <a:ext cx="32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2" name="Line 75">
              <a:extLst>
                <a:ext uri="{FF2B5EF4-FFF2-40B4-BE49-F238E27FC236}">
                  <a16:creationId xmlns:a16="http://schemas.microsoft.com/office/drawing/2014/main" id="{59BD407D-BEDD-4963-B768-3A33A005AD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2009"/>
              <a:ext cx="32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3" name="Rectangle 76">
              <a:extLst>
                <a:ext uri="{FF2B5EF4-FFF2-40B4-BE49-F238E27FC236}">
                  <a16:creationId xmlns:a16="http://schemas.microsoft.com/office/drawing/2014/main" id="{3144B54C-7AD9-4717-A03C-7654B0BD0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6" y="1549"/>
              <a:ext cx="80" cy="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8984" name="Freeform 77">
              <a:extLst>
                <a:ext uri="{FF2B5EF4-FFF2-40B4-BE49-F238E27FC236}">
                  <a16:creationId xmlns:a16="http://schemas.microsoft.com/office/drawing/2014/main" id="{1472E2ED-F861-43A2-8E39-4251F277E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1472"/>
              <a:ext cx="450" cy="252"/>
            </a:xfrm>
            <a:custGeom>
              <a:avLst/>
              <a:gdLst>
                <a:gd name="T0" fmla="*/ 145 w 662"/>
                <a:gd name="T1" fmla="*/ 0 h 366"/>
                <a:gd name="T2" fmla="*/ 208 w 662"/>
                <a:gd name="T3" fmla="*/ 72 h 366"/>
                <a:gd name="T4" fmla="*/ 159 w 662"/>
                <a:gd name="T5" fmla="*/ 110 h 366"/>
                <a:gd name="T6" fmla="*/ 147 w 662"/>
                <a:gd name="T7" fmla="*/ 120 h 366"/>
                <a:gd name="T8" fmla="*/ 0 w 662"/>
                <a:gd name="T9" fmla="*/ 120 h 366"/>
                <a:gd name="T10" fmla="*/ 145 w 662"/>
                <a:gd name="T11" fmla="*/ 0 h 3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2" h="366">
                  <a:moveTo>
                    <a:pt x="462" y="0"/>
                  </a:moveTo>
                  <a:lnTo>
                    <a:pt x="662" y="222"/>
                  </a:lnTo>
                  <a:lnTo>
                    <a:pt x="506" y="338"/>
                  </a:lnTo>
                  <a:lnTo>
                    <a:pt x="468" y="366"/>
                  </a:lnTo>
                  <a:lnTo>
                    <a:pt x="0" y="366"/>
                  </a:lnTo>
                  <a:lnTo>
                    <a:pt x="462" y="0"/>
                  </a:lnTo>
                  <a:close/>
                </a:path>
              </a:pathLst>
            </a:custGeom>
            <a:gradFill rotWithShape="0">
              <a:gsLst>
                <a:gs pos="0">
                  <a:srgbClr val="B8B8B8"/>
                </a:gs>
                <a:gs pos="50000">
                  <a:srgbClr val="F0F0F0"/>
                </a:gs>
                <a:gs pos="100000">
                  <a:srgbClr val="B8B8B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5" name="Line 78">
              <a:extLst>
                <a:ext uri="{FF2B5EF4-FFF2-40B4-BE49-F238E27FC236}">
                  <a16:creationId xmlns:a16="http://schemas.microsoft.com/office/drawing/2014/main" id="{D841E536-965B-41F3-993D-1E27D76DF1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63" y="1620"/>
              <a:ext cx="115" cy="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6" name="Line 79">
              <a:extLst>
                <a:ext uri="{FF2B5EF4-FFF2-40B4-BE49-F238E27FC236}">
                  <a16:creationId xmlns:a16="http://schemas.microsoft.com/office/drawing/2014/main" id="{C84A2FE0-5E0D-4F89-851B-DFF686550E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2" y="1471"/>
              <a:ext cx="296" cy="2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7" name="Line 80">
              <a:extLst>
                <a:ext uri="{FF2B5EF4-FFF2-40B4-BE49-F238E27FC236}">
                  <a16:creationId xmlns:a16="http://schemas.microsoft.com/office/drawing/2014/main" id="{50238695-6BA5-47C9-A882-67C57C841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4" y="1707"/>
              <a:ext cx="3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8" name="Freeform 81">
              <a:extLst>
                <a:ext uri="{FF2B5EF4-FFF2-40B4-BE49-F238E27FC236}">
                  <a16:creationId xmlns:a16="http://schemas.microsoft.com/office/drawing/2014/main" id="{CAB5E797-A20A-4691-9346-940338479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1310"/>
              <a:ext cx="841" cy="817"/>
            </a:xfrm>
            <a:custGeom>
              <a:avLst/>
              <a:gdLst>
                <a:gd name="T0" fmla="*/ 320 w 1239"/>
                <a:gd name="T1" fmla="*/ 17 h 1188"/>
                <a:gd name="T2" fmla="*/ 0 w 1239"/>
                <a:gd name="T3" fmla="*/ 285 h 1188"/>
                <a:gd name="T4" fmla="*/ 0 w 1239"/>
                <a:gd name="T5" fmla="*/ 386 h 1188"/>
                <a:gd name="T6" fmla="*/ 388 w 1239"/>
                <a:gd name="T7" fmla="*/ 63 h 1188"/>
                <a:gd name="T8" fmla="*/ 342 w 1239"/>
                <a:gd name="T9" fmla="*/ 0 h 1188"/>
                <a:gd name="T10" fmla="*/ 249 w 1239"/>
                <a:gd name="T11" fmla="*/ 78 h 1188"/>
                <a:gd name="T12" fmla="*/ 236 w 1239"/>
                <a:gd name="T13" fmla="*/ 85 h 11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9" h="1188">
                  <a:moveTo>
                    <a:pt x="1023" y="54"/>
                  </a:moveTo>
                  <a:lnTo>
                    <a:pt x="0" y="879"/>
                  </a:lnTo>
                  <a:lnTo>
                    <a:pt x="0" y="1188"/>
                  </a:lnTo>
                  <a:lnTo>
                    <a:pt x="1239" y="192"/>
                  </a:lnTo>
                  <a:lnTo>
                    <a:pt x="1095" y="0"/>
                  </a:lnTo>
                  <a:lnTo>
                    <a:pt x="795" y="240"/>
                  </a:lnTo>
                  <a:lnTo>
                    <a:pt x="756" y="261"/>
                  </a:lnTo>
                </a:path>
              </a:pathLst>
            </a:custGeom>
            <a:solidFill>
              <a:srgbClr val="FF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4210" name="Rectangle 82">
              <a:extLst>
                <a:ext uri="{FF2B5EF4-FFF2-40B4-BE49-F238E27FC236}">
                  <a16:creationId xmlns:a16="http://schemas.microsoft.com/office/drawing/2014/main" id="{FC750EDA-5639-413A-9C00-8623FB3D2C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862957">
              <a:off x="1405" y="1508"/>
              <a:ext cx="278" cy="4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8000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80000"/>
                    <a:invGamma/>
                  </a:schemeClr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sp>
          <p:nvSpPr>
            <p:cNvPr id="38990" name="Line 83">
              <a:extLst>
                <a:ext uri="{FF2B5EF4-FFF2-40B4-BE49-F238E27FC236}">
                  <a16:creationId xmlns:a16="http://schemas.microsoft.com/office/drawing/2014/main" id="{54B60768-A08F-45E0-94BC-42EE5C0DBE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16" y="1601"/>
              <a:ext cx="228" cy="1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1" name="WordArt 84">
              <a:extLst>
                <a:ext uri="{FF2B5EF4-FFF2-40B4-BE49-F238E27FC236}">
                  <a16:creationId xmlns:a16="http://schemas.microsoft.com/office/drawing/2014/main" id="{D6629CEE-094D-404E-A6E1-1BA825BDDD76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537" y="2653"/>
              <a:ext cx="447" cy="15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317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加速电压</a:t>
              </a:r>
            </a:p>
          </p:txBody>
        </p:sp>
        <p:sp>
          <p:nvSpPr>
            <p:cNvPr id="38992" name="WordArt 85">
              <a:extLst>
                <a:ext uri="{FF2B5EF4-FFF2-40B4-BE49-F238E27FC236}">
                  <a16:creationId xmlns:a16="http://schemas.microsoft.com/office/drawing/2014/main" id="{D07B2F7C-A6BE-4CC1-8811-62A39CB23ED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024" y="2689"/>
              <a:ext cx="119" cy="11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38889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U</a:t>
              </a:r>
              <a:endParaRPr lang="zh-CN" altLang="en-US" sz="3600" kern="10">
                <a:ln w="317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993" name="Line 86">
              <a:extLst>
                <a:ext uri="{FF2B5EF4-FFF2-40B4-BE49-F238E27FC236}">
                  <a16:creationId xmlns:a16="http://schemas.microsoft.com/office/drawing/2014/main" id="{E1A31A65-28E8-4CBF-B13C-6845247A1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" y="2007"/>
              <a:ext cx="1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4" name="WordArt 87">
              <a:extLst>
                <a:ext uri="{FF2B5EF4-FFF2-40B4-BE49-F238E27FC236}">
                  <a16:creationId xmlns:a16="http://schemas.microsoft.com/office/drawing/2014/main" id="{467C967C-E64C-428F-AEA9-0FDCB169CDC6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04" y="1640"/>
              <a:ext cx="339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317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光电流</a:t>
              </a:r>
            </a:p>
          </p:txBody>
        </p:sp>
        <p:sp>
          <p:nvSpPr>
            <p:cNvPr id="38995" name="WordArt 88">
              <a:extLst>
                <a:ext uri="{FF2B5EF4-FFF2-40B4-BE49-F238E27FC236}">
                  <a16:creationId xmlns:a16="http://schemas.microsoft.com/office/drawing/2014/main" id="{3C7193D6-2062-4E1D-AF00-450F0665804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34" y="1839"/>
              <a:ext cx="76" cy="12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7273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i</a:t>
              </a:r>
              <a:endParaRPr lang="zh-CN" altLang="en-US" sz="3600" i="1" kern="10">
                <a:ln w="317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38996" name="Group 89">
              <a:extLst>
                <a:ext uri="{FF2B5EF4-FFF2-40B4-BE49-F238E27FC236}">
                  <a16:creationId xmlns:a16="http://schemas.microsoft.com/office/drawing/2014/main" id="{02AFCCD8-924B-4059-BDC9-A6C3A1E2C1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5" y="1865"/>
              <a:ext cx="587" cy="177"/>
              <a:chOff x="1287" y="1623"/>
              <a:chExt cx="865" cy="258"/>
            </a:xfrm>
          </p:grpSpPr>
          <p:grpSp>
            <p:nvGrpSpPr>
              <p:cNvPr id="39017" name="Group 90">
                <a:extLst>
                  <a:ext uri="{FF2B5EF4-FFF2-40B4-BE49-F238E27FC236}">
                    <a16:creationId xmlns:a16="http://schemas.microsoft.com/office/drawing/2014/main" id="{58449296-928D-4291-AE20-7EC95F656C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7" y="1623"/>
                <a:ext cx="111" cy="113"/>
                <a:chOff x="3850" y="2270"/>
                <a:chExt cx="107" cy="105"/>
              </a:xfrm>
            </p:grpSpPr>
            <p:sp>
              <p:nvSpPr>
                <p:cNvPr id="39027" name="Oval 91">
                  <a:extLst>
                    <a:ext uri="{FF2B5EF4-FFF2-40B4-BE49-F238E27FC236}">
                      <a16:creationId xmlns:a16="http://schemas.microsoft.com/office/drawing/2014/main" id="{91A954F0-558D-4658-91CE-DFD49418EB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0" y="2270"/>
                  <a:ext cx="107" cy="10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folHlink"/>
                    </a:gs>
                    <a:gs pos="100000">
                      <a:srgbClr val="000000"/>
                    </a:gs>
                  </a:gsLst>
                  <a:path path="rect">
                    <a:fillToRect r="100000" b="100000"/>
                  </a:path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39028" name="Rectangle 92">
                  <a:extLst>
                    <a:ext uri="{FF2B5EF4-FFF2-40B4-BE49-F238E27FC236}">
                      <a16:creationId xmlns:a16="http://schemas.microsoft.com/office/drawing/2014/main" id="{87503249-5A3C-43A9-9DA1-598398E43E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8" y="2310"/>
                  <a:ext cx="79" cy="1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</p:grpSp>
          <p:sp>
            <p:nvSpPr>
              <p:cNvPr id="39018" name="Line 93">
                <a:extLst>
                  <a:ext uri="{FF2B5EF4-FFF2-40B4-BE49-F238E27FC236}">
                    <a16:creationId xmlns:a16="http://schemas.microsoft.com/office/drawing/2014/main" id="{B66A32AB-8C40-4435-8922-E23B99C7A0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2" y="1677"/>
                <a:ext cx="268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9019" name="Group 94">
                <a:extLst>
                  <a:ext uri="{FF2B5EF4-FFF2-40B4-BE49-F238E27FC236}">
                    <a16:creationId xmlns:a16="http://schemas.microsoft.com/office/drawing/2014/main" id="{563D4954-B303-4483-998F-F38C49CAFE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7" y="1768"/>
                <a:ext cx="111" cy="113"/>
                <a:chOff x="3850" y="2270"/>
                <a:chExt cx="107" cy="105"/>
              </a:xfrm>
            </p:grpSpPr>
            <p:sp>
              <p:nvSpPr>
                <p:cNvPr id="39025" name="Oval 95">
                  <a:extLst>
                    <a:ext uri="{FF2B5EF4-FFF2-40B4-BE49-F238E27FC236}">
                      <a16:creationId xmlns:a16="http://schemas.microsoft.com/office/drawing/2014/main" id="{2F6FD713-B339-4E2C-AFE3-CD51AD3BA4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0" y="2270"/>
                  <a:ext cx="107" cy="10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folHlink"/>
                    </a:gs>
                    <a:gs pos="100000">
                      <a:srgbClr val="000000"/>
                    </a:gs>
                  </a:gsLst>
                  <a:path path="rect">
                    <a:fillToRect r="100000" b="100000"/>
                  </a:path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39026" name="Rectangle 96">
                  <a:extLst>
                    <a:ext uri="{FF2B5EF4-FFF2-40B4-BE49-F238E27FC236}">
                      <a16:creationId xmlns:a16="http://schemas.microsoft.com/office/drawing/2014/main" id="{55839A9F-7D5F-40C0-BF45-C00B8B9A16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8" y="2310"/>
                  <a:ext cx="79" cy="1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</p:grpSp>
          <p:sp>
            <p:nvSpPr>
              <p:cNvPr id="39020" name="Line 97">
                <a:extLst>
                  <a:ext uri="{FF2B5EF4-FFF2-40B4-BE49-F238E27FC236}">
                    <a16:creationId xmlns:a16="http://schemas.microsoft.com/office/drawing/2014/main" id="{AA8BF412-3EBA-4069-9E59-C3AD78381F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3" y="1822"/>
                <a:ext cx="268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9021" name="Group 98">
                <a:extLst>
                  <a:ext uri="{FF2B5EF4-FFF2-40B4-BE49-F238E27FC236}">
                    <a16:creationId xmlns:a16="http://schemas.microsoft.com/office/drawing/2014/main" id="{454EA962-A656-4B01-9F25-FBC36039E9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2" y="1734"/>
                <a:ext cx="111" cy="113"/>
                <a:chOff x="3850" y="2270"/>
                <a:chExt cx="107" cy="105"/>
              </a:xfrm>
            </p:grpSpPr>
            <p:sp>
              <p:nvSpPr>
                <p:cNvPr id="39023" name="Oval 99">
                  <a:extLst>
                    <a:ext uri="{FF2B5EF4-FFF2-40B4-BE49-F238E27FC236}">
                      <a16:creationId xmlns:a16="http://schemas.microsoft.com/office/drawing/2014/main" id="{F7405B2C-8F88-4E4A-9A90-999F5C1640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0" y="2270"/>
                  <a:ext cx="107" cy="10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folHlink"/>
                    </a:gs>
                    <a:gs pos="100000">
                      <a:srgbClr val="000000"/>
                    </a:gs>
                  </a:gsLst>
                  <a:path path="rect">
                    <a:fillToRect r="100000" b="100000"/>
                  </a:path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39024" name="Rectangle 100">
                  <a:extLst>
                    <a:ext uri="{FF2B5EF4-FFF2-40B4-BE49-F238E27FC236}">
                      <a16:creationId xmlns:a16="http://schemas.microsoft.com/office/drawing/2014/main" id="{98A49861-08AF-4972-A51F-76A3D666D6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8" y="2310"/>
                  <a:ext cx="79" cy="1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</p:grpSp>
          <p:sp>
            <p:nvSpPr>
              <p:cNvPr id="39022" name="Line 101">
                <a:extLst>
                  <a:ext uri="{FF2B5EF4-FFF2-40B4-BE49-F238E27FC236}">
                    <a16:creationId xmlns:a16="http://schemas.microsoft.com/office/drawing/2014/main" id="{FB467B45-077C-447B-BBCB-F7FDE1CD07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4" y="1792"/>
                <a:ext cx="268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997" name="Group 102">
              <a:extLst>
                <a:ext uri="{FF2B5EF4-FFF2-40B4-BE49-F238E27FC236}">
                  <a16:creationId xmlns:a16="http://schemas.microsoft.com/office/drawing/2014/main" id="{933C36B6-D441-4425-9A9D-79D312327A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3" y="2070"/>
              <a:ext cx="489" cy="119"/>
              <a:chOff x="3677" y="2107"/>
              <a:chExt cx="718" cy="173"/>
            </a:xfrm>
          </p:grpSpPr>
          <p:sp>
            <p:nvSpPr>
              <p:cNvPr id="39015" name="Rectangle 103">
                <a:extLst>
                  <a:ext uri="{FF2B5EF4-FFF2-40B4-BE49-F238E27FC236}">
                    <a16:creationId xmlns:a16="http://schemas.microsoft.com/office/drawing/2014/main" id="{21A05127-F683-46DD-9765-172FF8EF87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7" y="2107"/>
                <a:ext cx="718" cy="17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9016" name="WordArt 104">
                <a:extLst>
                  <a:ext uri="{FF2B5EF4-FFF2-40B4-BE49-F238E27FC236}">
                    <a16:creationId xmlns:a16="http://schemas.microsoft.com/office/drawing/2014/main" id="{FE64C6E6-88F7-4301-A366-1E959CF6EF1B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695" y="2127"/>
                <a:ext cx="674" cy="1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楷体_GB2312" panose="02010609030101010101" pitchFamily="49" charset="-122"/>
                  </a:rPr>
                  <a:t>光电子</a:t>
                </a:r>
              </a:p>
            </p:txBody>
          </p:sp>
        </p:grpSp>
        <p:sp>
          <p:nvSpPr>
            <p:cNvPr id="38998" name="WordArt 105">
              <a:extLst>
                <a:ext uri="{FF2B5EF4-FFF2-40B4-BE49-F238E27FC236}">
                  <a16:creationId xmlns:a16="http://schemas.microsoft.com/office/drawing/2014/main" id="{0DFBBEE3-90ED-4DCF-AE6C-32E5F3C1B30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748" y="1852"/>
              <a:ext cx="92" cy="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K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999" name="WordArt 106">
              <a:extLst>
                <a:ext uri="{FF2B5EF4-FFF2-40B4-BE49-F238E27FC236}">
                  <a16:creationId xmlns:a16="http://schemas.microsoft.com/office/drawing/2014/main" id="{94FA6139-90A7-4692-854E-76AB11A0D87B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826" y="1862"/>
              <a:ext cx="98" cy="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012" name="WordArt 107">
              <a:extLst>
                <a:ext uri="{FF2B5EF4-FFF2-40B4-BE49-F238E27FC236}">
                  <a16:creationId xmlns:a16="http://schemas.microsoft.com/office/drawing/2014/main" id="{1BE4799E-0E12-4FEB-82E9-44C8DF3BBB4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761" y="1233"/>
              <a:ext cx="336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3600" kern="10">
                  <a:ln w="317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光强</a:t>
              </a:r>
              <a:r>
                <a:rPr lang="en-US" altLang="zh-CN" sz="3600" kern="10">
                  <a:ln w="317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endParaRPr lang="zh-CN" altLang="en-US" sz="3600" kern="10">
                <a:ln w="3175">
                  <a:solidFill>
                    <a:srgbClr val="006600"/>
                  </a:solidFill>
                  <a:round/>
                  <a:headEnd/>
                  <a:tailEnd/>
                </a:ln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001" name="Line 108">
              <a:extLst>
                <a:ext uri="{FF2B5EF4-FFF2-40B4-BE49-F238E27FC236}">
                  <a16:creationId xmlns:a16="http://schemas.microsoft.com/office/drawing/2014/main" id="{1F130BA3-4A6A-44D0-8CBC-3C70BB2DC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3152"/>
              <a:ext cx="882" cy="2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2" name="WordArt 109">
              <a:extLst>
                <a:ext uri="{FF2B5EF4-FFF2-40B4-BE49-F238E27FC236}">
                  <a16:creationId xmlns:a16="http://schemas.microsoft.com/office/drawing/2014/main" id="{EF696EBE-EE16-40CE-B835-94CA3204C20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447" y="3113"/>
              <a:ext cx="435" cy="9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电位器</a:t>
              </a:r>
            </a:p>
          </p:txBody>
        </p:sp>
        <p:sp>
          <p:nvSpPr>
            <p:cNvPr id="39003" name="Rectangle 110" descr="60%">
              <a:extLst>
                <a:ext uri="{FF2B5EF4-FFF2-40B4-BE49-F238E27FC236}">
                  <a16:creationId xmlns:a16="http://schemas.microsoft.com/office/drawing/2014/main" id="{A4D91898-4951-4F90-9F15-E82226DB0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1787"/>
              <a:ext cx="59" cy="434"/>
            </a:xfrm>
            <a:prstGeom prst="rect">
              <a:avLst/>
            </a:prstGeom>
            <a:blipFill dpi="0" rotWithShape="0">
              <a:blip r:embed="rId16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grpSp>
          <p:nvGrpSpPr>
            <p:cNvPr id="39004" name="Group 111">
              <a:extLst>
                <a:ext uri="{FF2B5EF4-FFF2-40B4-BE49-F238E27FC236}">
                  <a16:creationId xmlns:a16="http://schemas.microsoft.com/office/drawing/2014/main" id="{56473722-95F0-4803-99BA-E5F2AF492D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4" y="2331"/>
              <a:ext cx="416" cy="244"/>
              <a:chOff x="1506" y="2305"/>
              <a:chExt cx="597" cy="350"/>
            </a:xfrm>
          </p:grpSpPr>
          <p:sp>
            <p:nvSpPr>
              <p:cNvPr id="39011" name="Line 112">
                <a:extLst>
                  <a:ext uri="{FF2B5EF4-FFF2-40B4-BE49-F238E27FC236}">
                    <a16:creationId xmlns:a16="http://schemas.microsoft.com/office/drawing/2014/main" id="{2B51AD68-93CF-4092-9FE3-9CEBB3F1B9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6" y="2415"/>
                <a:ext cx="69" cy="23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Line 113">
                <a:extLst>
                  <a:ext uri="{FF2B5EF4-FFF2-40B4-BE49-F238E27FC236}">
                    <a16:creationId xmlns:a16="http://schemas.microsoft.com/office/drawing/2014/main" id="{AA4714D0-DF32-4409-8404-63335749FC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86" y="2421"/>
                <a:ext cx="69" cy="23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013" name="Rectangle 114">
                <a:extLst>
                  <a:ext uri="{FF2B5EF4-FFF2-40B4-BE49-F238E27FC236}">
                    <a16:creationId xmlns:a16="http://schemas.microsoft.com/office/drawing/2014/main" id="{1BFD7AEF-0742-48B3-8E51-DCFEB07D0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8" y="2382"/>
                <a:ext cx="585" cy="6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9014" name="Oval 115">
                <a:extLst>
                  <a:ext uri="{FF2B5EF4-FFF2-40B4-BE49-F238E27FC236}">
                    <a16:creationId xmlns:a16="http://schemas.microsoft.com/office/drawing/2014/main" id="{1162455B-D176-494B-8D60-9026D57299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99085">
                <a:off x="1786" y="2305"/>
                <a:ext cx="71" cy="10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grpSp>
          <p:nvGrpSpPr>
            <p:cNvPr id="39005" name="Group 116">
              <a:extLst>
                <a:ext uri="{FF2B5EF4-FFF2-40B4-BE49-F238E27FC236}">
                  <a16:creationId xmlns:a16="http://schemas.microsoft.com/office/drawing/2014/main" id="{E1A23EE1-E3D0-479A-A01B-4543EFC758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7" y="1176"/>
              <a:ext cx="754" cy="169"/>
              <a:chOff x="2469" y="3764"/>
              <a:chExt cx="731" cy="154"/>
            </a:xfrm>
          </p:grpSpPr>
          <p:sp>
            <p:nvSpPr>
              <p:cNvPr id="39006" name="WordArt 117">
                <a:extLst>
                  <a:ext uri="{FF2B5EF4-FFF2-40B4-BE49-F238E27FC236}">
                    <a16:creationId xmlns:a16="http://schemas.microsoft.com/office/drawing/2014/main" id="{8039CE9F-2463-4AD3-9AC5-340038988D8E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526" y="3769"/>
                <a:ext cx="309" cy="14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光频率</a:t>
                </a:r>
              </a:p>
            </p:txBody>
          </p:sp>
          <p:sp>
            <p:nvSpPr>
              <p:cNvPr id="39007" name="WordArt 118">
                <a:extLst>
                  <a:ext uri="{FF2B5EF4-FFF2-40B4-BE49-F238E27FC236}">
                    <a16:creationId xmlns:a16="http://schemas.microsoft.com/office/drawing/2014/main" id="{B2ECE877-7CB2-4EBF-94EC-8393F2ACB739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862" y="3791"/>
                <a:ext cx="81" cy="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Symbol" panose="05050102010706020507" pitchFamily="18" charset="2"/>
                  </a:rPr>
                  <a:t>n</a:t>
                </a:r>
                <a:endParaRPr lang="zh-CN" altLang="en-US" sz="3600" i="1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Symbol" panose="05050102010706020507" pitchFamily="18" charset="2"/>
                </a:endParaRPr>
              </a:p>
            </p:txBody>
          </p:sp>
          <p:sp>
            <p:nvSpPr>
              <p:cNvPr id="39008" name="WordArt 119">
                <a:extLst>
                  <a:ext uri="{FF2B5EF4-FFF2-40B4-BE49-F238E27FC236}">
                    <a16:creationId xmlns:a16="http://schemas.microsoft.com/office/drawing/2014/main" id="{D436FF53-586D-44A8-AAD3-190BB9EC12D0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977" y="3767"/>
                <a:ext cx="172" cy="14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一定</a:t>
                </a:r>
              </a:p>
            </p:txBody>
          </p:sp>
          <p:sp>
            <p:nvSpPr>
              <p:cNvPr id="39009" name="WordArt 120">
                <a:extLst>
                  <a:ext uri="{FF2B5EF4-FFF2-40B4-BE49-F238E27FC236}">
                    <a16:creationId xmlns:a16="http://schemas.microsoft.com/office/drawing/2014/main" id="{3B0FA022-B660-4272-9B67-48573F54824E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469" y="3764"/>
                <a:ext cx="29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endPara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9010" name="WordArt 121">
                <a:extLst>
                  <a:ext uri="{FF2B5EF4-FFF2-40B4-BE49-F238E27FC236}">
                    <a16:creationId xmlns:a16="http://schemas.microsoft.com/office/drawing/2014/main" id="{722F0A7C-35C7-4B5C-B8C2-65644EB86B86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 flipH="1">
                <a:off x="3171" y="3772"/>
                <a:ext cx="29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endPara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3" name="Group 125">
            <a:extLst>
              <a:ext uri="{FF2B5EF4-FFF2-40B4-BE49-F238E27FC236}">
                <a16:creationId xmlns:a16="http://schemas.microsoft.com/office/drawing/2014/main" id="{CF3236C2-8330-4F19-8504-38708C76F820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836613"/>
            <a:ext cx="3849687" cy="500062"/>
            <a:chOff x="884" y="1083"/>
            <a:chExt cx="2425" cy="315"/>
          </a:xfrm>
        </p:grpSpPr>
        <p:sp>
          <p:nvSpPr>
            <p:cNvPr id="944254" name="Text Box 126">
              <a:extLst>
                <a:ext uri="{FF2B5EF4-FFF2-40B4-BE49-F238E27FC236}">
                  <a16:creationId xmlns:a16="http://schemas.microsoft.com/office/drawing/2014/main" id="{24CAA8AC-4DEC-4852-AE3D-D5ADBC48FF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1083"/>
              <a:ext cx="199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1.</a:t>
              </a:r>
              <a:r>
                <a:rPr kumimoji="1" lang="zh-CN" altLang="en-US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频率</a:t>
              </a:r>
              <a:r>
                <a:rPr kumimoji="1" lang="zh-CN" altLang="en-US" b="0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 </a:t>
              </a:r>
              <a:r>
                <a:rPr kumimoji="1" lang="zh-CN" altLang="en-US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一定时，</a:t>
              </a:r>
            </a:p>
          </p:txBody>
        </p:sp>
        <p:graphicFrame>
          <p:nvGraphicFramePr>
            <p:cNvPr id="38943" name="Object 2">
              <a:extLst>
                <a:ext uri="{FF2B5EF4-FFF2-40B4-BE49-F238E27FC236}">
                  <a16:creationId xmlns:a16="http://schemas.microsoft.com/office/drawing/2014/main" id="{3E64640C-6EFD-4F62-9FF0-ECF5B607123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08" y="1083"/>
            <a:ext cx="701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52" r:id="rId17" imgW="457200" imgH="190432" progId="Equation.3">
                    <p:embed/>
                  </p:oleObj>
                </mc:Choice>
                <mc:Fallback>
                  <p:oleObj r:id="rId17" imgW="457200" imgH="190432" progId="Equation.3">
                    <p:embed/>
                    <p:pic>
                      <p:nvPicPr>
                        <p:cNvPr id="0" name="Object 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1083"/>
                          <a:ext cx="701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4257" name="Rectangle 129">
            <a:extLst>
              <a:ext uri="{FF2B5EF4-FFF2-40B4-BE49-F238E27FC236}">
                <a16:creationId xmlns:a16="http://schemas.microsoft.com/office/drawing/2014/main" id="{150E54F0-77D3-4F3B-B3D3-9A8AA030C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76475"/>
            <a:ext cx="30956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于是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 ：</a:t>
            </a:r>
            <a:r>
              <a:rPr kumimoji="1" lang="en-US" altLang="zh-CN" sz="280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i</a:t>
            </a:r>
            <a:r>
              <a:rPr kumimoji="1" lang="en-US" altLang="zh-CN" sz="2800" baseline="-25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m</a:t>
            </a:r>
            <a:r>
              <a: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=</a:t>
            </a:r>
            <a:r>
              <a:rPr kumimoji="1" lang="en-US" altLang="zh-CN" sz="280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ne</a:t>
            </a:r>
          </a:p>
        </p:txBody>
      </p:sp>
      <p:sp>
        <p:nvSpPr>
          <p:cNvPr id="944258" name="Rectangle 130">
            <a:extLst>
              <a:ext uri="{FF2B5EF4-FFF2-40B4-BE49-F238E27FC236}">
                <a16:creationId xmlns:a16="http://schemas.microsoft.com/office/drawing/2014/main" id="{8F5E5419-4E1E-4FF7-891A-325D87262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075" y="3074988"/>
            <a:ext cx="2362200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kumimoji="1" lang="en-US" altLang="zh-CN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n∝ I</a:t>
            </a:r>
          </a:p>
        </p:txBody>
      </p:sp>
      <p:sp>
        <p:nvSpPr>
          <p:cNvPr id="944260" name="Rectangle 132">
            <a:extLst>
              <a:ext uri="{FF2B5EF4-FFF2-40B4-BE49-F238E27FC236}">
                <a16:creationId xmlns:a16="http://schemas.microsoft.com/office/drawing/2014/main" id="{E67AA0DA-0C65-40F2-85BE-B5744761A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1628775"/>
            <a:ext cx="68357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设</a:t>
            </a:r>
            <a:r>
              <a:rPr kumimoji="1" lang="en-US" altLang="zh-CN" sz="2800" i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n:</a:t>
            </a:r>
            <a:r>
              <a:rPr kumimoji="1" lang="en-US" altLang="zh-CN" i="1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单位时间内从金属表面逸出的电子数</a:t>
            </a: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C2942CA4-4C32-4A72-ABBE-B4C3474428D4}"/>
              </a:ext>
            </a:extLst>
          </p:cNvPr>
          <p:cNvGrpSpPr>
            <a:grpSpLocks/>
          </p:cNvGrpSpPr>
          <p:nvPr/>
        </p:nvGrpSpPr>
        <p:grpSpPr bwMode="auto">
          <a:xfrm>
            <a:off x="1195388" y="3941763"/>
            <a:ext cx="3397250" cy="2708275"/>
            <a:chOff x="3456" y="2640"/>
            <a:chExt cx="2112" cy="1689"/>
          </a:xfrm>
        </p:grpSpPr>
        <p:sp>
          <p:nvSpPr>
            <p:cNvPr id="38925" name="Rectangle 5">
              <a:extLst>
                <a:ext uri="{FF2B5EF4-FFF2-40B4-BE49-F238E27FC236}">
                  <a16:creationId xmlns:a16="http://schemas.microsoft.com/office/drawing/2014/main" id="{EAB7E09B-C12C-48E4-9619-24083C78D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640"/>
              <a:ext cx="2112" cy="16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cxnSp>
          <p:nvCxnSpPr>
            <p:cNvPr id="38926" name="AutoShape 6">
              <a:extLst>
                <a:ext uri="{FF2B5EF4-FFF2-40B4-BE49-F238E27FC236}">
                  <a16:creationId xmlns:a16="http://schemas.microsoft.com/office/drawing/2014/main" id="{4355B024-3D15-4F01-A5DB-DECA30348AFA}"/>
                </a:ext>
              </a:extLst>
            </p:cNvPr>
            <p:cNvCxnSpPr>
              <a:cxnSpLocks noChangeShapeType="1"/>
              <a:stCxn id="38925" idx="0"/>
            </p:cNvCxnSpPr>
            <p:nvPr/>
          </p:nvCxnSpPr>
          <p:spPr bwMode="auto">
            <a:xfrm rot="-5400000" flipH="1" flipV="1">
              <a:off x="3959" y="2469"/>
              <a:ext cx="382" cy="724"/>
            </a:xfrm>
            <a:prstGeom prst="curvedConnector4">
              <a:avLst>
                <a:gd name="adj1" fmla="val -34125"/>
                <a:gd name="adj2" fmla="val -16574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cxnSp>
        <p:sp>
          <p:nvSpPr>
            <p:cNvPr id="38927" name="Line 7">
              <a:extLst>
                <a:ext uri="{FF2B5EF4-FFF2-40B4-BE49-F238E27FC236}">
                  <a16:creationId xmlns:a16="http://schemas.microsoft.com/office/drawing/2014/main" id="{2E0E631E-C5B4-4C2F-AF32-D193D5CBCE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4009"/>
              <a:ext cx="18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8" name="Line 8">
              <a:extLst>
                <a:ext uri="{FF2B5EF4-FFF2-40B4-BE49-F238E27FC236}">
                  <a16:creationId xmlns:a16="http://schemas.microsoft.com/office/drawing/2014/main" id="{98F813C7-A9FB-4584-98C8-1A5C40CFF8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2" y="2794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9" name="Line 9">
              <a:extLst>
                <a:ext uri="{FF2B5EF4-FFF2-40B4-BE49-F238E27FC236}">
                  <a16:creationId xmlns:a16="http://schemas.microsoft.com/office/drawing/2014/main" id="{21B94849-CB28-4C2D-8BC9-8ECC03950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2" y="3353"/>
              <a:ext cx="11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0" name="Line 10">
              <a:extLst>
                <a:ext uri="{FF2B5EF4-FFF2-40B4-BE49-F238E27FC236}">
                  <a16:creationId xmlns:a16="http://schemas.microsoft.com/office/drawing/2014/main" id="{F4F36AF2-8334-4FED-A152-8B2A67C53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2" y="3090"/>
              <a:ext cx="11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31" name="Object 127">
              <a:extLst>
                <a:ext uri="{FF2B5EF4-FFF2-40B4-BE49-F238E27FC236}">
                  <a16:creationId xmlns:a16="http://schemas.microsoft.com/office/drawing/2014/main" id="{3DB9F20C-F6C3-4062-934B-80D2DB63653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68" y="3075"/>
            <a:ext cx="18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53" r:id="rId19" imgW="203024" imgH="317225" progId="Equation.3">
                    <p:embed/>
                  </p:oleObj>
                </mc:Choice>
                <mc:Fallback>
                  <p:oleObj r:id="rId19" imgW="203024" imgH="317225" progId="Equation.3">
                    <p:embed/>
                    <p:pic>
                      <p:nvPicPr>
                        <p:cNvPr id="0" name="Object 12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8" y="3075"/>
                          <a:ext cx="183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2" name="Object 12">
              <a:extLst>
                <a:ext uri="{FF2B5EF4-FFF2-40B4-BE49-F238E27FC236}">
                  <a16:creationId xmlns:a16="http://schemas.microsoft.com/office/drawing/2014/main" id="{DECB6197-AD59-4544-9E59-32266BEE116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97" y="2814"/>
            <a:ext cx="194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54" r:id="rId20" imgW="215619" imgH="317087" progId="Equation.3">
                    <p:embed/>
                  </p:oleObj>
                </mc:Choice>
                <mc:Fallback>
                  <p:oleObj r:id="rId20" imgW="215619" imgH="317087" progId="Equation.3">
                    <p:embed/>
                    <p:pic>
                      <p:nvPicPr>
                        <p:cNvPr id="0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7" y="2814"/>
                          <a:ext cx="194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3" name="Object 129">
              <a:extLst>
                <a:ext uri="{FF2B5EF4-FFF2-40B4-BE49-F238E27FC236}">
                  <a16:creationId xmlns:a16="http://schemas.microsoft.com/office/drawing/2014/main" id="{CC6299CE-FAE6-4274-84B2-5DA76C88FC2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19" y="2662"/>
            <a:ext cx="201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55" r:id="rId22" imgW="88554" imgH="164458" progId="Equation.3">
                    <p:embed/>
                  </p:oleObj>
                </mc:Choice>
                <mc:Fallback>
                  <p:oleObj r:id="rId22" imgW="88554" imgH="164458" progId="Equation.3">
                    <p:embed/>
                    <p:pic>
                      <p:nvPicPr>
                        <p:cNvPr id="0" name="Object 12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9" y="2662"/>
                          <a:ext cx="201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4" name="Object 130">
              <a:extLst>
                <a:ext uri="{FF2B5EF4-FFF2-40B4-BE49-F238E27FC236}">
                  <a16:creationId xmlns:a16="http://schemas.microsoft.com/office/drawing/2014/main" id="{EF4612A1-6E61-4A80-8F0B-34410BC14FB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03" y="3105"/>
            <a:ext cx="520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56" r:id="rId23" imgW="190252" imgH="215619" progId="Equation.DSMT4">
                    <p:embed/>
                  </p:oleObj>
                </mc:Choice>
                <mc:Fallback>
                  <p:oleObj r:id="rId23" imgW="190252" imgH="215619" progId="Equation.DSMT4">
                    <p:embed/>
                    <p:pic>
                      <p:nvPicPr>
                        <p:cNvPr id="0" name="Object 13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3" y="3105"/>
                          <a:ext cx="520" cy="5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5" name="Object 15">
              <a:extLst>
                <a:ext uri="{FF2B5EF4-FFF2-40B4-BE49-F238E27FC236}">
                  <a16:creationId xmlns:a16="http://schemas.microsoft.com/office/drawing/2014/main" id="{93BF8038-BD27-40D6-A300-DC7FB192628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62" y="2771"/>
            <a:ext cx="417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57" r:id="rId24" imgW="202936" imgH="215619" progId="Equation.3">
                    <p:embed/>
                  </p:oleObj>
                </mc:Choice>
                <mc:Fallback>
                  <p:oleObj r:id="rId24" imgW="202936" imgH="215619" progId="Equation.3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2" y="2771"/>
                          <a:ext cx="417" cy="4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6" name="Object 132">
              <a:extLst>
                <a:ext uri="{FF2B5EF4-FFF2-40B4-BE49-F238E27FC236}">
                  <a16:creationId xmlns:a16="http://schemas.microsoft.com/office/drawing/2014/main" id="{C2B6B918-5C77-43BB-A2F4-0A36EFC0AEB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84" y="4031"/>
            <a:ext cx="270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58" r:id="rId26" imgW="126725" imgH="139397" progId="Equation.3">
                    <p:embed/>
                  </p:oleObj>
                </mc:Choice>
                <mc:Fallback>
                  <p:oleObj r:id="rId26" imgW="126725" imgH="139397" progId="Equation.3">
                    <p:embed/>
                    <p:pic>
                      <p:nvPicPr>
                        <p:cNvPr id="0" name="Object 1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4031"/>
                          <a:ext cx="270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7" name="Object 133">
              <a:extLst>
                <a:ext uri="{FF2B5EF4-FFF2-40B4-BE49-F238E27FC236}">
                  <a16:creationId xmlns:a16="http://schemas.microsoft.com/office/drawing/2014/main" id="{0964C466-8648-417F-AA62-D16FA6BF8EA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471" y="3981"/>
            <a:ext cx="400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59" r:id="rId27" imgW="317225" imgH="228402" progId="Equation.3">
                    <p:embed/>
                  </p:oleObj>
                </mc:Choice>
                <mc:Fallback>
                  <p:oleObj r:id="rId27" imgW="317225" imgH="228402" progId="Equation.3">
                    <p:embed/>
                    <p:pic>
                      <p:nvPicPr>
                        <p:cNvPr id="0" name="Object 13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1" y="3981"/>
                          <a:ext cx="400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8" name="Object 134">
              <a:extLst>
                <a:ext uri="{FF2B5EF4-FFF2-40B4-BE49-F238E27FC236}">
                  <a16:creationId xmlns:a16="http://schemas.microsoft.com/office/drawing/2014/main" id="{DBE1337F-0E4F-43D7-A2CF-FC4B6118C03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249" y="4031"/>
            <a:ext cx="22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60" r:id="rId28" imgW="241195" imgH="241195" progId="Equation.3">
                    <p:embed/>
                  </p:oleObj>
                </mc:Choice>
                <mc:Fallback>
                  <p:oleObj r:id="rId28" imgW="241195" imgH="241195" progId="Equation.3">
                    <p:embed/>
                    <p:pic>
                      <p:nvPicPr>
                        <p:cNvPr id="0" name="Object 1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9" y="4031"/>
                          <a:ext cx="22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9" name="Freeform 19">
              <a:extLst>
                <a:ext uri="{FF2B5EF4-FFF2-40B4-BE49-F238E27FC236}">
                  <a16:creationId xmlns:a16="http://schemas.microsoft.com/office/drawing/2014/main" id="{B741D83E-8336-4D89-98D9-0D89EB9F8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3343"/>
              <a:ext cx="1489" cy="660"/>
            </a:xfrm>
            <a:custGeom>
              <a:avLst/>
              <a:gdLst>
                <a:gd name="T0" fmla="*/ 0 w 1489"/>
                <a:gd name="T1" fmla="*/ 541 h 729"/>
                <a:gd name="T2" fmla="*/ 193 w 1489"/>
                <a:gd name="T3" fmla="*/ 511 h 729"/>
                <a:gd name="T4" fmla="*/ 361 w 1489"/>
                <a:gd name="T5" fmla="*/ 439 h 729"/>
                <a:gd name="T6" fmla="*/ 523 w 1489"/>
                <a:gd name="T7" fmla="*/ 301 h 729"/>
                <a:gd name="T8" fmla="*/ 704 w 1489"/>
                <a:gd name="T9" fmla="*/ 100 h 729"/>
                <a:gd name="T10" fmla="*/ 813 w 1489"/>
                <a:gd name="T11" fmla="*/ 20 h 729"/>
                <a:gd name="T12" fmla="*/ 1045 w 1489"/>
                <a:gd name="T13" fmla="*/ 4 h 729"/>
                <a:gd name="T14" fmla="*/ 1489 w 1489"/>
                <a:gd name="T15" fmla="*/ 4 h 7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9" h="729">
                  <a:moveTo>
                    <a:pt x="0" y="729"/>
                  </a:moveTo>
                  <a:cubicBezTo>
                    <a:pt x="32" y="722"/>
                    <a:pt x="133" y="711"/>
                    <a:pt x="193" y="688"/>
                  </a:cubicBezTo>
                  <a:cubicBezTo>
                    <a:pt x="253" y="665"/>
                    <a:pt x="306" y="639"/>
                    <a:pt x="361" y="592"/>
                  </a:cubicBezTo>
                  <a:cubicBezTo>
                    <a:pt x="416" y="545"/>
                    <a:pt x="466" y="482"/>
                    <a:pt x="523" y="406"/>
                  </a:cubicBezTo>
                  <a:cubicBezTo>
                    <a:pt x="580" y="330"/>
                    <a:pt x="656" y="199"/>
                    <a:pt x="704" y="136"/>
                  </a:cubicBezTo>
                  <a:cubicBezTo>
                    <a:pt x="752" y="73"/>
                    <a:pt x="756" y="49"/>
                    <a:pt x="813" y="27"/>
                  </a:cubicBezTo>
                  <a:cubicBezTo>
                    <a:pt x="870" y="5"/>
                    <a:pt x="932" y="8"/>
                    <a:pt x="1045" y="4"/>
                  </a:cubicBezTo>
                  <a:cubicBezTo>
                    <a:pt x="1158" y="0"/>
                    <a:pt x="1397" y="4"/>
                    <a:pt x="1489" y="4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0" name="Freeform 20">
              <a:extLst>
                <a:ext uri="{FF2B5EF4-FFF2-40B4-BE49-F238E27FC236}">
                  <a16:creationId xmlns:a16="http://schemas.microsoft.com/office/drawing/2014/main" id="{E7BDA7F9-46DD-421E-A23F-954D62B52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3077"/>
              <a:ext cx="1501" cy="932"/>
            </a:xfrm>
            <a:custGeom>
              <a:avLst/>
              <a:gdLst>
                <a:gd name="T0" fmla="*/ 0 w 1501"/>
                <a:gd name="T1" fmla="*/ 763 h 1030"/>
                <a:gd name="T2" fmla="*/ 271 w 1501"/>
                <a:gd name="T3" fmla="*/ 648 h 1030"/>
                <a:gd name="T4" fmla="*/ 445 w 1501"/>
                <a:gd name="T5" fmla="*/ 434 h 1030"/>
                <a:gd name="T6" fmla="*/ 555 w 1501"/>
                <a:gd name="T7" fmla="*/ 201 h 1030"/>
                <a:gd name="T8" fmla="*/ 684 w 1501"/>
                <a:gd name="T9" fmla="*/ 53 h 1030"/>
                <a:gd name="T10" fmla="*/ 937 w 1501"/>
                <a:gd name="T11" fmla="*/ 7 h 1030"/>
                <a:gd name="T12" fmla="*/ 1501 w 1501"/>
                <a:gd name="T13" fmla="*/ 7 h 10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1" h="1030">
                  <a:moveTo>
                    <a:pt x="0" y="1030"/>
                  </a:moveTo>
                  <a:cubicBezTo>
                    <a:pt x="45" y="1004"/>
                    <a:pt x="197" y="948"/>
                    <a:pt x="271" y="874"/>
                  </a:cubicBezTo>
                  <a:cubicBezTo>
                    <a:pt x="345" y="800"/>
                    <a:pt x="398" y="686"/>
                    <a:pt x="445" y="586"/>
                  </a:cubicBezTo>
                  <a:cubicBezTo>
                    <a:pt x="492" y="486"/>
                    <a:pt x="515" y="357"/>
                    <a:pt x="555" y="271"/>
                  </a:cubicBezTo>
                  <a:cubicBezTo>
                    <a:pt x="595" y="185"/>
                    <a:pt x="620" y="115"/>
                    <a:pt x="684" y="72"/>
                  </a:cubicBezTo>
                  <a:cubicBezTo>
                    <a:pt x="748" y="29"/>
                    <a:pt x="801" y="20"/>
                    <a:pt x="937" y="10"/>
                  </a:cubicBezTo>
                  <a:cubicBezTo>
                    <a:pt x="1073" y="0"/>
                    <a:pt x="1384" y="10"/>
                    <a:pt x="1501" y="1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41" name="Object 21">
              <a:extLst>
                <a:ext uri="{FF2B5EF4-FFF2-40B4-BE49-F238E27FC236}">
                  <a16:creationId xmlns:a16="http://schemas.microsoft.com/office/drawing/2014/main" id="{C7A91594-AFDE-4583-BCAD-0939CF2BFE1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560" y="3591"/>
            <a:ext cx="720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61" r:id="rId29" imgW="659827" imgH="317225" progId="Equation.3">
                    <p:embed/>
                  </p:oleObj>
                </mc:Choice>
                <mc:Fallback>
                  <p:oleObj r:id="rId29" imgW="659827" imgH="317225" progId="Equation.3">
                    <p:embed/>
                    <p:pic>
                      <p:nvPicPr>
                        <p:cNvPr id="0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3591"/>
                          <a:ext cx="720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Text Box 126">
            <a:extLst>
              <a:ext uri="{FF2B5EF4-FFF2-40B4-BE49-F238E27FC236}">
                <a16:creationId xmlns:a16="http://schemas.microsoft.com/office/drawing/2014/main" id="{7F629A50-BD2A-416E-91AC-785145B29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4672013"/>
            <a:ext cx="1225550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sz="1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入射光强</a:t>
            </a:r>
          </a:p>
        </p:txBody>
      </p:sp>
      <p:sp>
        <p:nvSpPr>
          <p:cNvPr id="5" name="Rectangle 132">
            <a:extLst>
              <a:ext uri="{FF2B5EF4-FFF2-40B4-BE49-F238E27FC236}">
                <a16:creationId xmlns:a16="http://schemas.microsoft.com/office/drawing/2014/main" id="{C3947825-F231-41B6-BB9A-4B9D56F94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3067050"/>
            <a:ext cx="2562225" cy="708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sz="2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anose="02010600040101010101" pitchFamily="2" charset="-122"/>
              </a:rPr>
              <a:t>入射光强越大，产生光电子越多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4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44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4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4257" grpId="0"/>
      <p:bldP spid="944258" grpId="0"/>
      <p:bldP spid="944260" grpId="0"/>
      <p:bldP spid="4" grpId="0" animBg="1"/>
      <p:bldP spid="5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>
            <a:extLst>
              <a:ext uri="{FF2B5EF4-FFF2-40B4-BE49-F238E27FC236}">
                <a16:creationId xmlns:a16="http://schemas.microsoft.com/office/drawing/2014/main" id="{B274E8E2-43B9-4D24-A2C7-C4D3C6C1A6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E7CEBD-8773-452C-B720-C3A5DB1720B0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zh-CN" altLang="zh-CN" sz="1400"/>
          </a:p>
        </p:txBody>
      </p:sp>
      <p:grpSp>
        <p:nvGrpSpPr>
          <p:cNvPr id="39939" name="Group 2">
            <a:extLst>
              <a:ext uri="{FF2B5EF4-FFF2-40B4-BE49-F238E27FC236}">
                <a16:creationId xmlns:a16="http://schemas.microsoft.com/office/drawing/2014/main" id="{10E6578B-2910-430B-8E4C-5DA99DB794AD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252788"/>
            <a:ext cx="4052888" cy="3148012"/>
            <a:chOff x="340" y="1831"/>
            <a:chExt cx="2825" cy="2281"/>
          </a:xfrm>
        </p:grpSpPr>
        <p:sp>
          <p:nvSpPr>
            <p:cNvPr id="40052" name="Rectangle 3">
              <a:extLst>
                <a:ext uri="{FF2B5EF4-FFF2-40B4-BE49-F238E27FC236}">
                  <a16:creationId xmlns:a16="http://schemas.microsoft.com/office/drawing/2014/main" id="{4CC2159D-31BB-46B6-9B24-187FAE21A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2671"/>
              <a:ext cx="2675" cy="8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053" name="Rectangle 4">
              <a:extLst>
                <a:ext uri="{FF2B5EF4-FFF2-40B4-BE49-F238E27FC236}">
                  <a16:creationId xmlns:a16="http://schemas.microsoft.com/office/drawing/2014/main" id="{0B65D734-3173-48DC-92EE-4C80E64A1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3664"/>
              <a:ext cx="2675" cy="33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054" name="Line 5">
              <a:extLst>
                <a:ext uri="{FF2B5EF4-FFF2-40B4-BE49-F238E27FC236}">
                  <a16:creationId xmlns:a16="http://schemas.microsoft.com/office/drawing/2014/main" id="{80F88EE8-EBA7-4C2E-A0ED-0B1395369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" y="3156"/>
              <a:ext cx="26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5" name="Line 6">
              <a:extLst>
                <a:ext uri="{FF2B5EF4-FFF2-40B4-BE49-F238E27FC236}">
                  <a16:creationId xmlns:a16="http://schemas.microsoft.com/office/drawing/2014/main" id="{ED7545D2-7619-4E33-AD0A-1F7524C49B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5" y="2982"/>
              <a:ext cx="0" cy="8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Rectangle 7">
              <a:extLst>
                <a:ext uri="{FF2B5EF4-FFF2-40B4-BE49-F238E27FC236}">
                  <a16:creationId xmlns:a16="http://schemas.microsoft.com/office/drawing/2014/main" id="{6522F015-0641-43B4-ABA1-F31E353F2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3630"/>
              <a:ext cx="1096" cy="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057" name="Line 8">
              <a:extLst>
                <a:ext uri="{FF2B5EF4-FFF2-40B4-BE49-F238E27FC236}">
                  <a16:creationId xmlns:a16="http://schemas.microsoft.com/office/drawing/2014/main" id="{EBB1CD2A-58E9-40A2-AFA8-E4C672EE6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3" y="3492"/>
              <a:ext cx="1300" cy="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8" name="Line 9">
              <a:extLst>
                <a:ext uri="{FF2B5EF4-FFF2-40B4-BE49-F238E27FC236}">
                  <a16:creationId xmlns:a16="http://schemas.microsoft.com/office/drawing/2014/main" id="{F4E3057B-2C22-4B83-9F99-1784B0E3E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2" y="3494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9" name="Oval 10">
              <a:extLst>
                <a:ext uri="{FF2B5EF4-FFF2-40B4-BE49-F238E27FC236}">
                  <a16:creationId xmlns:a16="http://schemas.microsoft.com/office/drawing/2014/main" id="{D6071EC6-8CAC-4A20-A294-B515B649E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2999"/>
              <a:ext cx="331" cy="31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060" name="Rectangle 11">
              <a:extLst>
                <a:ext uri="{FF2B5EF4-FFF2-40B4-BE49-F238E27FC236}">
                  <a16:creationId xmlns:a16="http://schemas.microsoft.com/office/drawing/2014/main" id="{DEBDB004-6900-47BD-AB0B-C3EBFAC74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3866"/>
              <a:ext cx="458" cy="2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061" name="Line 12">
              <a:extLst>
                <a:ext uri="{FF2B5EF4-FFF2-40B4-BE49-F238E27FC236}">
                  <a16:creationId xmlns:a16="http://schemas.microsoft.com/office/drawing/2014/main" id="{C0126102-4B38-4EEF-93F8-606F36EC4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0" y="3872"/>
              <a:ext cx="0" cy="2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2" name="Line 13">
              <a:extLst>
                <a:ext uri="{FF2B5EF4-FFF2-40B4-BE49-F238E27FC236}">
                  <a16:creationId xmlns:a16="http://schemas.microsoft.com/office/drawing/2014/main" id="{47ABB4F5-6561-4AFD-B24C-27DBC5137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3918"/>
              <a:ext cx="0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3" name="Line 14">
              <a:extLst>
                <a:ext uri="{FF2B5EF4-FFF2-40B4-BE49-F238E27FC236}">
                  <a16:creationId xmlns:a16="http://schemas.microsoft.com/office/drawing/2014/main" id="{0DB52A48-4A72-471A-BC43-8B234ADB07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8" y="3919"/>
              <a:ext cx="0" cy="1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4" name="Line 15">
              <a:extLst>
                <a:ext uri="{FF2B5EF4-FFF2-40B4-BE49-F238E27FC236}">
                  <a16:creationId xmlns:a16="http://schemas.microsoft.com/office/drawing/2014/main" id="{FEA86B08-8BA1-45A0-A163-2BEB1B372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2" y="3873"/>
              <a:ext cx="0" cy="2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5" name="WordArt 16">
              <a:extLst>
                <a:ext uri="{FF2B5EF4-FFF2-40B4-BE49-F238E27FC236}">
                  <a16:creationId xmlns:a16="http://schemas.microsoft.com/office/drawing/2014/main" id="{4066C19D-FD68-4074-93A4-01C020E86AF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542" y="3085"/>
              <a:ext cx="228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0088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V</a:t>
              </a:r>
              <a:endParaRPr lang="zh-CN" altLang="en-US" sz="3600" i="1" kern="10"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0066" name="WordArt 17">
              <a:extLst>
                <a:ext uri="{FF2B5EF4-FFF2-40B4-BE49-F238E27FC236}">
                  <a16:creationId xmlns:a16="http://schemas.microsoft.com/office/drawing/2014/main" id="{40B17778-E2A7-4127-9A9D-2251574A5E00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083" y="3805"/>
              <a:ext cx="151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9050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zh-CN" altLang="en-US" sz="3600" kern="10">
                <a:ln w="19050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067" name="Line 18">
              <a:extLst>
                <a:ext uri="{FF2B5EF4-FFF2-40B4-BE49-F238E27FC236}">
                  <a16:creationId xmlns:a16="http://schemas.microsoft.com/office/drawing/2014/main" id="{F9048BB5-83B6-48E8-BC14-CAD2A0E804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899"/>
              <a:ext cx="1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68" name="Rectangle 19">
              <a:extLst>
                <a:ext uri="{FF2B5EF4-FFF2-40B4-BE49-F238E27FC236}">
                  <a16:creationId xmlns:a16="http://schemas.microsoft.com/office/drawing/2014/main" id="{3F50167E-F0D4-40AD-80B4-AB215459B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" y="1831"/>
              <a:ext cx="2675" cy="7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069" name="Oval 20">
              <a:extLst>
                <a:ext uri="{FF2B5EF4-FFF2-40B4-BE49-F238E27FC236}">
                  <a16:creationId xmlns:a16="http://schemas.microsoft.com/office/drawing/2014/main" id="{6B825E0B-548B-4EE9-A5E5-3FB1BDF4F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2038"/>
              <a:ext cx="331" cy="31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070" name="WordArt 21">
              <a:extLst>
                <a:ext uri="{FF2B5EF4-FFF2-40B4-BE49-F238E27FC236}">
                  <a16:creationId xmlns:a16="http://schemas.microsoft.com/office/drawing/2014/main" id="{D992840E-BC46-4E2A-AC9F-0FD39C3D14E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16" y="2089"/>
              <a:ext cx="172" cy="17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512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A</a:t>
              </a:r>
              <a:endParaRPr lang="zh-CN" altLang="en-US" sz="3600" kern="10"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40071" name="Group 22">
              <a:extLst>
                <a:ext uri="{FF2B5EF4-FFF2-40B4-BE49-F238E27FC236}">
                  <a16:creationId xmlns:a16="http://schemas.microsoft.com/office/drawing/2014/main" id="{52DA1314-8475-4355-919A-55444FC34F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5" y="2504"/>
              <a:ext cx="553" cy="336"/>
              <a:chOff x="1455" y="2504"/>
              <a:chExt cx="553" cy="336"/>
            </a:xfrm>
          </p:grpSpPr>
          <p:sp>
            <p:nvSpPr>
              <p:cNvPr id="40072" name="Rectangle 23">
                <a:extLst>
                  <a:ext uri="{FF2B5EF4-FFF2-40B4-BE49-F238E27FC236}">
                    <a16:creationId xmlns:a16="http://schemas.microsoft.com/office/drawing/2014/main" id="{ECC687A5-9D57-47F9-92A6-F283D8F56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2" y="2504"/>
                <a:ext cx="491" cy="3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73" name="Oval 24">
                <a:extLst>
                  <a:ext uri="{FF2B5EF4-FFF2-40B4-BE49-F238E27FC236}">
                    <a16:creationId xmlns:a16="http://schemas.microsoft.com/office/drawing/2014/main" id="{41CE4863-CD17-4802-8D75-A940A12F0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9" y="2532"/>
                <a:ext cx="60" cy="63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74" name="Oval 25">
                <a:extLst>
                  <a:ext uri="{FF2B5EF4-FFF2-40B4-BE49-F238E27FC236}">
                    <a16:creationId xmlns:a16="http://schemas.microsoft.com/office/drawing/2014/main" id="{BFC934A5-7A80-4669-9E37-AF8F644DCC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3" y="2527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75" name="Oval 26">
                <a:extLst>
                  <a:ext uri="{FF2B5EF4-FFF2-40B4-BE49-F238E27FC236}">
                    <a16:creationId xmlns:a16="http://schemas.microsoft.com/office/drawing/2014/main" id="{D8D9B998-4D09-46CA-A3CF-AFD21C8E98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6" y="2756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76" name="Oval 27">
                <a:extLst>
                  <a:ext uri="{FF2B5EF4-FFF2-40B4-BE49-F238E27FC236}">
                    <a16:creationId xmlns:a16="http://schemas.microsoft.com/office/drawing/2014/main" id="{70657B28-5F3C-446C-8D15-18B83904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8" y="2757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77" name="Oval 28">
                <a:extLst>
                  <a:ext uri="{FF2B5EF4-FFF2-40B4-BE49-F238E27FC236}">
                    <a16:creationId xmlns:a16="http://schemas.microsoft.com/office/drawing/2014/main" id="{6F5C5A7E-5929-43B8-B407-3E5D0551A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3" y="2647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78" name="Oval 29">
                <a:extLst>
                  <a:ext uri="{FF2B5EF4-FFF2-40B4-BE49-F238E27FC236}">
                    <a16:creationId xmlns:a16="http://schemas.microsoft.com/office/drawing/2014/main" id="{92DBBC0B-9F61-4534-BFCC-908E921AF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2642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79" name="Line 30">
                <a:extLst>
                  <a:ext uri="{FF2B5EF4-FFF2-40B4-BE49-F238E27FC236}">
                    <a16:creationId xmlns:a16="http://schemas.microsoft.com/office/drawing/2014/main" id="{71DFBF40-1771-4B40-ABBF-7626BBF536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12" y="2571"/>
                <a:ext cx="438" cy="2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80" name="Oval 31">
                <a:extLst>
                  <a:ext uri="{FF2B5EF4-FFF2-40B4-BE49-F238E27FC236}">
                    <a16:creationId xmlns:a16="http://schemas.microsoft.com/office/drawing/2014/main" id="{1CA5532C-0CC9-470B-9E03-D1D74A691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8" y="2598"/>
                <a:ext cx="141" cy="14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81" name="Line 32">
                <a:extLst>
                  <a:ext uri="{FF2B5EF4-FFF2-40B4-BE49-F238E27FC236}">
                    <a16:creationId xmlns:a16="http://schemas.microsoft.com/office/drawing/2014/main" id="{F5A22EAE-48D4-4DFA-A99A-FD416FCA20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8" y="2568"/>
                <a:ext cx="432" cy="20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82" name="AutoShape 33">
                <a:extLst>
                  <a:ext uri="{FF2B5EF4-FFF2-40B4-BE49-F238E27FC236}">
                    <a16:creationId xmlns:a16="http://schemas.microsoft.com/office/drawing/2014/main" id="{8A1F7326-48E1-41EE-A0B3-DFB33F56E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503493">
                <a:off x="1663" y="2593"/>
                <a:ext cx="169" cy="19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204" y="9116"/>
                    </a:moveTo>
                    <a:cubicBezTo>
                      <a:pt x="3009" y="5005"/>
                      <a:pt x="6611" y="2040"/>
                      <a:pt x="10800" y="2041"/>
                    </a:cubicBezTo>
                    <a:cubicBezTo>
                      <a:pt x="14988" y="2041"/>
                      <a:pt x="18590" y="5005"/>
                      <a:pt x="19395" y="9116"/>
                    </a:cubicBezTo>
                    <a:lnTo>
                      <a:pt x="21398" y="8723"/>
                    </a:lnTo>
                    <a:cubicBezTo>
                      <a:pt x="20405" y="3655"/>
                      <a:pt x="15964" y="-1"/>
                      <a:pt x="10799" y="0"/>
                    </a:cubicBezTo>
                    <a:cubicBezTo>
                      <a:pt x="5635" y="0"/>
                      <a:pt x="1194" y="3655"/>
                      <a:pt x="201" y="8723"/>
                    </a:cubicBezTo>
                    <a:lnTo>
                      <a:pt x="2204" y="9116"/>
                    </a:lnTo>
                    <a:close/>
                  </a:path>
                </a:pathLst>
              </a:custGeom>
              <a:solidFill>
                <a:schemeClr val="tx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9940" name="Group 34">
            <a:extLst>
              <a:ext uri="{FF2B5EF4-FFF2-40B4-BE49-F238E27FC236}">
                <a16:creationId xmlns:a16="http://schemas.microsoft.com/office/drawing/2014/main" id="{5EA3309E-AB34-4658-A022-684B11B1D072}"/>
              </a:ext>
            </a:extLst>
          </p:cNvPr>
          <p:cNvGrpSpPr>
            <a:grpSpLocks/>
          </p:cNvGrpSpPr>
          <p:nvPr/>
        </p:nvGrpSpPr>
        <p:grpSpPr bwMode="auto">
          <a:xfrm>
            <a:off x="6626225" y="3906838"/>
            <a:ext cx="855663" cy="482600"/>
            <a:chOff x="1506" y="2305"/>
            <a:chExt cx="597" cy="350"/>
          </a:xfrm>
        </p:grpSpPr>
        <p:sp>
          <p:nvSpPr>
            <p:cNvPr id="40048" name="Line 35">
              <a:extLst>
                <a:ext uri="{FF2B5EF4-FFF2-40B4-BE49-F238E27FC236}">
                  <a16:creationId xmlns:a16="http://schemas.microsoft.com/office/drawing/2014/main" id="{CB33BE97-02E9-47C8-945F-0CB4B689E3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6" y="2415"/>
              <a:ext cx="69" cy="234"/>
            </a:xfrm>
            <a:prstGeom prst="line">
              <a:avLst/>
            </a:prstGeom>
            <a:noFill/>
            <a:ln w="57150" cmpd="thickThin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49" name="Line 36">
              <a:extLst>
                <a:ext uri="{FF2B5EF4-FFF2-40B4-BE49-F238E27FC236}">
                  <a16:creationId xmlns:a16="http://schemas.microsoft.com/office/drawing/2014/main" id="{5DF0A406-3BB7-4E69-B9EE-F99CB93787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6" y="2421"/>
              <a:ext cx="69" cy="234"/>
            </a:xfrm>
            <a:prstGeom prst="line">
              <a:avLst/>
            </a:prstGeom>
            <a:noFill/>
            <a:ln w="57150" cmpd="thickThin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50" name="Rectangle 37">
              <a:extLst>
                <a:ext uri="{FF2B5EF4-FFF2-40B4-BE49-F238E27FC236}">
                  <a16:creationId xmlns:a16="http://schemas.microsoft.com/office/drawing/2014/main" id="{FEE3A733-9720-4C45-AD72-E14E8302D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" y="2382"/>
              <a:ext cx="585" cy="6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051" name="Oval 38">
              <a:extLst>
                <a:ext uri="{FF2B5EF4-FFF2-40B4-BE49-F238E27FC236}">
                  <a16:creationId xmlns:a16="http://schemas.microsoft.com/office/drawing/2014/main" id="{2571D2EC-F2BD-4359-9619-5F56EA92052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99085">
              <a:off x="1786" y="2305"/>
              <a:ext cx="71" cy="10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grpSp>
        <p:nvGrpSpPr>
          <p:cNvPr id="5" name="Group 39">
            <a:extLst>
              <a:ext uri="{FF2B5EF4-FFF2-40B4-BE49-F238E27FC236}">
                <a16:creationId xmlns:a16="http://schemas.microsoft.com/office/drawing/2014/main" id="{72F6D251-A8D0-4E65-97B0-CFC8B6F7075A}"/>
              </a:ext>
            </a:extLst>
          </p:cNvPr>
          <p:cNvGrpSpPr>
            <a:grpSpLocks/>
          </p:cNvGrpSpPr>
          <p:nvPr/>
        </p:nvGrpSpPr>
        <p:grpSpPr bwMode="auto">
          <a:xfrm>
            <a:off x="6567488" y="3860800"/>
            <a:ext cx="1025525" cy="784225"/>
            <a:chOff x="1455" y="2272"/>
            <a:chExt cx="715" cy="568"/>
          </a:xfrm>
        </p:grpSpPr>
        <p:sp>
          <p:nvSpPr>
            <p:cNvPr id="40033" name="Freeform 40">
              <a:extLst>
                <a:ext uri="{FF2B5EF4-FFF2-40B4-BE49-F238E27FC236}">
                  <a16:creationId xmlns:a16="http://schemas.microsoft.com/office/drawing/2014/main" id="{1F980337-24CD-4665-8B4A-557D4EA2C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6" y="2294"/>
              <a:ext cx="324" cy="433"/>
            </a:xfrm>
            <a:custGeom>
              <a:avLst/>
              <a:gdLst>
                <a:gd name="T0" fmla="*/ 38 w 324"/>
                <a:gd name="T1" fmla="*/ 8 h 433"/>
                <a:gd name="T2" fmla="*/ 154 w 324"/>
                <a:gd name="T3" fmla="*/ 6 h 433"/>
                <a:gd name="T4" fmla="*/ 310 w 324"/>
                <a:gd name="T5" fmla="*/ 10 h 433"/>
                <a:gd name="T6" fmla="*/ 324 w 324"/>
                <a:gd name="T7" fmla="*/ 22 h 433"/>
                <a:gd name="T8" fmla="*/ 318 w 324"/>
                <a:gd name="T9" fmla="*/ 202 h 433"/>
                <a:gd name="T10" fmla="*/ 276 w 324"/>
                <a:gd name="T11" fmla="*/ 214 h 433"/>
                <a:gd name="T12" fmla="*/ 252 w 324"/>
                <a:gd name="T13" fmla="*/ 226 h 433"/>
                <a:gd name="T14" fmla="*/ 240 w 324"/>
                <a:gd name="T15" fmla="*/ 242 h 433"/>
                <a:gd name="T16" fmla="*/ 220 w 324"/>
                <a:gd name="T17" fmla="*/ 256 h 433"/>
                <a:gd name="T18" fmla="*/ 212 w 324"/>
                <a:gd name="T19" fmla="*/ 314 h 433"/>
                <a:gd name="T20" fmla="*/ 206 w 324"/>
                <a:gd name="T21" fmla="*/ 338 h 433"/>
                <a:gd name="T22" fmla="*/ 200 w 324"/>
                <a:gd name="T23" fmla="*/ 356 h 433"/>
                <a:gd name="T24" fmla="*/ 176 w 324"/>
                <a:gd name="T25" fmla="*/ 430 h 433"/>
                <a:gd name="T26" fmla="*/ 68 w 324"/>
                <a:gd name="T27" fmla="*/ 424 h 433"/>
                <a:gd name="T28" fmla="*/ 34 w 324"/>
                <a:gd name="T29" fmla="*/ 414 h 433"/>
                <a:gd name="T30" fmla="*/ 12 w 324"/>
                <a:gd name="T31" fmla="*/ 406 h 433"/>
                <a:gd name="T32" fmla="*/ 0 w 324"/>
                <a:gd name="T33" fmla="*/ 304 h 433"/>
                <a:gd name="T34" fmla="*/ 14 w 324"/>
                <a:gd name="T35" fmla="*/ 114 h 433"/>
                <a:gd name="T36" fmla="*/ 18 w 324"/>
                <a:gd name="T37" fmla="*/ 44 h 433"/>
                <a:gd name="T38" fmla="*/ 24 w 324"/>
                <a:gd name="T39" fmla="*/ 28 h 433"/>
                <a:gd name="T40" fmla="*/ 36 w 324"/>
                <a:gd name="T41" fmla="*/ 20 h 433"/>
                <a:gd name="T42" fmla="*/ 50 w 324"/>
                <a:gd name="T43" fmla="*/ 8 h 433"/>
                <a:gd name="T44" fmla="*/ 52 w 324"/>
                <a:gd name="T45" fmla="*/ 40 h 433"/>
                <a:gd name="T46" fmla="*/ 48 w 324"/>
                <a:gd name="T47" fmla="*/ 24 h 433"/>
                <a:gd name="T48" fmla="*/ 42 w 324"/>
                <a:gd name="T49" fmla="*/ 20 h 433"/>
                <a:gd name="T50" fmla="*/ 38 w 324"/>
                <a:gd name="T51" fmla="*/ 8 h 43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24" h="433">
                  <a:moveTo>
                    <a:pt x="38" y="8"/>
                  </a:moveTo>
                  <a:cubicBezTo>
                    <a:pt x="78" y="7"/>
                    <a:pt x="115" y="8"/>
                    <a:pt x="154" y="6"/>
                  </a:cubicBezTo>
                  <a:cubicBezTo>
                    <a:pt x="204" y="0"/>
                    <a:pt x="261" y="9"/>
                    <a:pt x="310" y="10"/>
                  </a:cubicBezTo>
                  <a:cubicBezTo>
                    <a:pt x="318" y="13"/>
                    <a:pt x="317" y="17"/>
                    <a:pt x="324" y="22"/>
                  </a:cubicBezTo>
                  <a:cubicBezTo>
                    <a:pt x="323" y="64"/>
                    <a:pt x="322" y="161"/>
                    <a:pt x="318" y="202"/>
                  </a:cubicBezTo>
                  <a:cubicBezTo>
                    <a:pt x="317" y="211"/>
                    <a:pt x="280" y="213"/>
                    <a:pt x="276" y="214"/>
                  </a:cubicBezTo>
                  <a:cubicBezTo>
                    <a:pt x="267" y="217"/>
                    <a:pt x="252" y="226"/>
                    <a:pt x="252" y="226"/>
                  </a:cubicBezTo>
                  <a:cubicBezTo>
                    <a:pt x="247" y="233"/>
                    <a:pt x="247" y="237"/>
                    <a:pt x="240" y="242"/>
                  </a:cubicBezTo>
                  <a:cubicBezTo>
                    <a:pt x="235" y="249"/>
                    <a:pt x="220" y="256"/>
                    <a:pt x="220" y="256"/>
                  </a:cubicBezTo>
                  <a:cubicBezTo>
                    <a:pt x="209" y="273"/>
                    <a:pt x="216" y="295"/>
                    <a:pt x="212" y="314"/>
                  </a:cubicBezTo>
                  <a:cubicBezTo>
                    <a:pt x="212" y="314"/>
                    <a:pt x="207" y="334"/>
                    <a:pt x="206" y="338"/>
                  </a:cubicBezTo>
                  <a:cubicBezTo>
                    <a:pt x="204" y="344"/>
                    <a:pt x="200" y="356"/>
                    <a:pt x="200" y="356"/>
                  </a:cubicBezTo>
                  <a:cubicBezTo>
                    <a:pt x="199" y="382"/>
                    <a:pt x="207" y="422"/>
                    <a:pt x="176" y="430"/>
                  </a:cubicBezTo>
                  <a:cubicBezTo>
                    <a:pt x="155" y="429"/>
                    <a:pt x="98" y="433"/>
                    <a:pt x="68" y="424"/>
                  </a:cubicBezTo>
                  <a:cubicBezTo>
                    <a:pt x="57" y="421"/>
                    <a:pt x="45" y="418"/>
                    <a:pt x="34" y="414"/>
                  </a:cubicBezTo>
                  <a:cubicBezTo>
                    <a:pt x="27" y="411"/>
                    <a:pt x="12" y="406"/>
                    <a:pt x="12" y="406"/>
                  </a:cubicBezTo>
                  <a:cubicBezTo>
                    <a:pt x="5" y="372"/>
                    <a:pt x="4" y="338"/>
                    <a:pt x="0" y="304"/>
                  </a:cubicBezTo>
                  <a:cubicBezTo>
                    <a:pt x="4" y="241"/>
                    <a:pt x="10" y="178"/>
                    <a:pt x="14" y="114"/>
                  </a:cubicBezTo>
                  <a:cubicBezTo>
                    <a:pt x="15" y="91"/>
                    <a:pt x="10" y="66"/>
                    <a:pt x="18" y="44"/>
                  </a:cubicBezTo>
                  <a:cubicBezTo>
                    <a:pt x="20" y="39"/>
                    <a:pt x="20" y="32"/>
                    <a:pt x="24" y="28"/>
                  </a:cubicBezTo>
                  <a:cubicBezTo>
                    <a:pt x="27" y="24"/>
                    <a:pt x="36" y="20"/>
                    <a:pt x="36" y="20"/>
                  </a:cubicBezTo>
                  <a:cubicBezTo>
                    <a:pt x="39" y="4"/>
                    <a:pt x="34" y="8"/>
                    <a:pt x="50" y="8"/>
                  </a:cubicBezTo>
                  <a:cubicBezTo>
                    <a:pt x="51" y="19"/>
                    <a:pt x="53" y="29"/>
                    <a:pt x="52" y="40"/>
                  </a:cubicBezTo>
                  <a:cubicBezTo>
                    <a:pt x="51" y="45"/>
                    <a:pt x="50" y="29"/>
                    <a:pt x="48" y="24"/>
                  </a:cubicBezTo>
                  <a:cubicBezTo>
                    <a:pt x="47" y="22"/>
                    <a:pt x="44" y="21"/>
                    <a:pt x="42" y="20"/>
                  </a:cubicBezTo>
                  <a:cubicBezTo>
                    <a:pt x="41" y="16"/>
                    <a:pt x="38" y="8"/>
                    <a:pt x="38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4" name="Rectangle 41">
              <a:extLst>
                <a:ext uri="{FF2B5EF4-FFF2-40B4-BE49-F238E27FC236}">
                  <a16:creationId xmlns:a16="http://schemas.microsoft.com/office/drawing/2014/main" id="{5957244F-1DE6-4EA2-8888-602ACD6E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" y="2272"/>
              <a:ext cx="518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grpSp>
          <p:nvGrpSpPr>
            <p:cNvPr id="40035" name="Group 42">
              <a:extLst>
                <a:ext uri="{FF2B5EF4-FFF2-40B4-BE49-F238E27FC236}">
                  <a16:creationId xmlns:a16="http://schemas.microsoft.com/office/drawing/2014/main" id="{D6856E00-54B8-4D87-9782-D396E8A933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5" y="2504"/>
              <a:ext cx="553" cy="336"/>
              <a:chOff x="1455" y="2504"/>
              <a:chExt cx="553" cy="336"/>
            </a:xfrm>
          </p:grpSpPr>
          <p:sp>
            <p:nvSpPr>
              <p:cNvPr id="40037" name="Rectangle 43">
                <a:extLst>
                  <a:ext uri="{FF2B5EF4-FFF2-40B4-BE49-F238E27FC236}">
                    <a16:creationId xmlns:a16="http://schemas.microsoft.com/office/drawing/2014/main" id="{2BCB50F7-54C9-4742-A489-B00C6C620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2" y="2504"/>
                <a:ext cx="491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38" name="Oval 44">
                <a:extLst>
                  <a:ext uri="{FF2B5EF4-FFF2-40B4-BE49-F238E27FC236}">
                    <a16:creationId xmlns:a16="http://schemas.microsoft.com/office/drawing/2014/main" id="{7E3202A1-4D5E-4142-9B72-52B172190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9" y="2532"/>
                <a:ext cx="60" cy="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39" name="Oval 45">
                <a:extLst>
                  <a:ext uri="{FF2B5EF4-FFF2-40B4-BE49-F238E27FC236}">
                    <a16:creationId xmlns:a16="http://schemas.microsoft.com/office/drawing/2014/main" id="{AE2273D5-745F-409F-A9B2-6516349D3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3" y="2527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40" name="Oval 46">
                <a:extLst>
                  <a:ext uri="{FF2B5EF4-FFF2-40B4-BE49-F238E27FC236}">
                    <a16:creationId xmlns:a16="http://schemas.microsoft.com/office/drawing/2014/main" id="{AAABB176-A95D-4E84-95C7-019B6DE9C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6" y="2756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41" name="Oval 47">
                <a:extLst>
                  <a:ext uri="{FF2B5EF4-FFF2-40B4-BE49-F238E27FC236}">
                    <a16:creationId xmlns:a16="http://schemas.microsoft.com/office/drawing/2014/main" id="{97A59448-F003-4566-82D0-1B2FF2293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8" y="2757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42" name="Oval 48">
                <a:extLst>
                  <a:ext uri="{FF2B5EF4-FFF2-40B4-BE49-F238E27FC236}">
                    <a16:creationId xmlns:a16="http://schemas.microsoft.com/office/drawing/2014/main" id="{3299401D-F2E3-4E0B-BA4B-276890A8F2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3" y="2647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43" name="Oval 49">
                <a:extLst>
                  <a:ext uri="{FF2B5EF4-FFF2-40B4-BE49-F238E27FC236}">
                    <a16:creationId xmlns:a16="http://schemas.microsoft.com/office/drawing/2014/main" id="{89574628-9303-4932-AFB1-91CE52658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2642"/>
                <a:ext cx="60" cy="6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44" name="Line 50">
                <a:extLst>
                  <a:ext uri="{FF2B5EF4-FFF2-40B4-BE49-F238E27FC236}">
                    <a16:creationId xmlns:a16="http://schemas.microsoft.com/office/drawing/2014/main" id="{450EEC7B-A71E-4B19-B4AD-7775DB574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12" y="2571"/>
                <a:ext cx="438" cy="2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45" name="Oval 51">
                <a:extLst>
                  <a:ext uri="{FF2B5EF4-FFF2-40B4-BE49-F238E27FC236}">
                    <a16:creationId xmlns:a16="http://schemas.microsoft.com/office/drawing/2014/main" id="{2CD9BBF8-2CA9-4637-968F-71CF6DAD4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8" y="2598"/>
                <a:ext cx="141" cy="14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46" name="Line 52">
                <a:extLst>
                  <a:ext uri="{FF2B5EF4-FFF2-40B4-BE49-F238E27FC236}">
                    <a16:creationId xmlns:a16="http://schemas.microsoft.com/office/drawing/2014/main" id="{B5BCAB1B-9CC1-4FE3-861B-793A9D2A8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8" y="2568"/>
                <a:ext cx="432" cy="20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47" name="AutoShape 53">
                <a:extLst>
                  <a:ext uri="{FF2B5EF4-FFF2-40B4-BE49-F238E27FC236}">
                    <a16:creationId xmlns:a16="http://schemas.microsoft.com/office/drawing/2014/main" id="{F4D97884-21AD-449E-BDA1-9280CD8DA3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503493">
                <a:off x="1663" y="2593"/>
                <a:ext cx="169" cy="19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204" y="9116"/>
                    </a:moveTo>
                    <a:cubicBezTo>
                      <a:pt x="3009" y="5005"/>
                      <a:pt x="6611" y="2040"/>
                      <a:pt x="10800" y="2041"/>
                    </a:cubicBezTo>
                    <a:cubicBezTo>
                      <a:pt x="14988" y="2041"/>
                      <a:pt x="18590" y="5005"/>
                      <a:pt x="19395" y="9116"/>
                    </a:cubicBezTo>
                    <a:lnTo>
                      <a:pt x="21398" y="8723"/>
                    </a:lnTo>
                    <a:cubicBezTo>
                      <a:pt x="20405" y="3655"/>
                      <a:pt x="15964" y="-1"/>
                      <a:pt x="10799" y="0"/>
                    </a:cubicBezTo>
                    <a:cubicBezTo>
                      <a:pt x="5635" y="0"/>
                      <a:pt x="1194" y="3655"/>
                      <a:pt x="201" y="8723"/>
                    </a:cubicBezTo>
                    <a:lnTo>
                      <a:pt x="2204" y="9116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0036" name="Line 54">
              <a:extLst>
                <a:ext uri="{FF2B5EF4-FFF2-40B4-BE49-F238E27FC236}">
                  <a16:creationId xmlns:a16="http://schemas.microsoft.com/office/drawing/2014/main" id="{F900627A-B665-453E-A533-C73667E62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8" y="2564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55">
            <a:extLst>
              <a:ext uri="{FF2B5EF4-FFF2-40B4-BE49-F238E27FC236}">
                <a16:creationId xmlns:a16="http://schemas.microsoft.com/office/drawing/2014/main" id="{21E5DED8-756D-4586-8FFC-294071161E3C}"/>
              </a:ext>
            </a:extLst>
          </p:cNvPr>
          <p:cNvGrpSpPr>
            <a:grpSpLocks/>
          </p:cNvGrpSpPr>
          <p:nvPr/>
        </p:nvGrpSpPr>
        <p:grpSpPr bwMode="auto">
          <a:xfrm>
            <a:off x="6643688" y="4413250"/>
            <a:ext cx="981075" cy="511175"/>
            <a:chOff x="1503" y="2672"/>
            <a:chExt cx="684" cy="370"/>
          </a:xfrm>
        </p:grpSpPr>
        <p:sp>
          <p:nvSpPr>
            <p:cNvPr id="40027" name="Line 56">
              <a:extLst>
                <a:ext uri="{FF2B5EF4-FFF2-40B4-BE49-F238E27FC236}">
                  <a16:creationId xmlns:a16="http://schemas.microsoft.com/office/drawing/2014/main" id="{05FCCC8A-0CEF-4C6C-B3BA-DDB5BC7959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5" y="2672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0028" name="Group 57">
              <a:extLst>
                <a:ext uri="{FF2B5EF4-FFF2-40B4-BE49-F238E27FC236}">
                  <a16:creationId xmlns:a16="http://schemas.microsoft.com/office/drawing/2014/main" id="{49F4E4CA-F4F7-419F-8DE7-B2898C6530A9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503" y="2692"/>
              <a:ext cx="597" cy="350"/>
              <a:chOff x="1506" y="2305"/>
              <a:chExt cx="597" cy="350"/>
            </a:xfrm>
          </p:grpSpPr>
          <p:sp>
            <p:nvSpPr>
              <p:cNvPr id="40029" name="Line 58">
                <a:extLst>
                  <a:ext uri="{FF2B5EF4-FFF2-40B4-BE49-F238E27FC236}">
                    <a16:creationId xmlns:a16="http://schemas.microsoft.com/office/drawing/2014/main" id="{07198B6D-BD3C-49E2-A6DD-61A0CFA3E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6" y="2415"/>
                <a:ext cx="69" cy="234"/>
              </a:xfrm>
              <a:prstGeom prst="line">
                <a:avLst/>
              </a:prstGeom>
              <a:noFill/>
              <a:ln w="57150" cmpd="thickThin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30" name="Line 59">
                <a:extLst>
                  <a:ext uri="{FF2B5EF4-FFF2-40B4-BE49-F238E27FC236}">
                    <a16:creationId xmlns:a16="http://schemas.microsoft.com/office/drawing/2014/main" id="{DB264AC9-4130-4A67-A8DD-AB456A4DC0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86" y="2421"/>
                <a:ext cx="69" cy="234"/>
              </a:xfrm>
              <a:prstGeom prst="line">
                <a:avLst/>
              </a:prstGeom>
              <a:noFill/>
              <a:ln w="57150" cmpd="thickThin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31" name="Rectangle 60">
                <a:extLst>
                  <a:ext uri="{FF2B5EF4-FFF2-40B4-BE49-F238E27FC236}">
                    <a16:creationId xmlns:a16="http://schemas.microsoft.com/office/drawing/2014/main" id="{5095CEEB-4B60-444D-883D-A5EF19176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8" y="2382"/>
                <a:ext cx="585" cy="6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0032" name="Oval 61">
                <a:extLst>
                  <a:ext uri="{FF2B5EF4-FFF2-40B4-BE49-F238E27FC236}">
                    <a16:creationId xmlns:a16="http://schemas.microsoft.com/office/drawing/2014/main" id="{9864C764-9EED-445C-B2F6-0543F74BB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99085">
                <a:off x="1786" y="2305"/>
                <a:ext cx="71" cy="10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</p:grpSp>
      <p:grpSp>
        <p:nvGrpSpPr>
          <p:cNvPr id="39943" name="Group 62">
            <a:extLst>
              <a:ext uri="{FF2B5EF4-FFF2-40B4-BE49-F238E27FC236}">
                <a16:creationId xmlns:a16="http://schemas.microsoft.com/office/drawing/2014/main" id="{B51C0F6E-D35A-471A-B006-68C5E763408E}"/>
              </a:ext>
            </a:extLst>
          </p:cNvPr>
          <p:cNvGrpSpPr>
            <a:grpSpLocks/>
          </p:cNvGrpSpPr>
          <p:nvPr/>
        </p:nvGrpSpPr>
        <p:grpSpPr bwMode="auto">
          <a:xfrm>
            <a:off x="6089650" y="4051300"/>
            <a:ext cx="1712913" cy="157163"/>
            <a:chOff x="1132" y="2410"/>
            <a:chExt cx="1194" cy="114"/>
          </a:xfrm>
        </p:grpSpPr>
        <p:sp>
          <p:nvSpPr>
            <p:cNvPr id="40025" name="WordArt 63">
              <a:extLst>
                <a:ext uri="{FF2B5EF4-FFF2-40B4-BE49-F238E27FC236}">
                  <a16:creationId xmlns:a16="http://schemas.microsoft.com/office/drawing/2014/main" id="{E318BC4D-9EE6-4296-9D53-684AB89B166C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235" y="2410"/>
              <a:ext cx="91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38100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zh-CN" altLang="en-US" sz="3600" kern="10">
                <a:ln w="38100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026" name="Line 64">
              <a:extLst>
                <a:ext uri="{FF2B5EF4-FFF2-40B4-BE49-F238E27FC236}">
                  <a16:creationId xmlns:a16="http://schemas.microsoft.com/office/drawing/2014/main" id="{7BF41023-D110-40FB-85DA-2B5FE2B670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2" y="2483"/>
              <a:ext cx="1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944" name="Group 65">
            <a:extLst>
              <a:ext uri="{FF2B5EF4-FFF2-40B4-BE49-F238E27FC236}">
                <a16:creationId xmlns:a16="http://schemas.microsoft.com/office/drawing/2014/main" id="{715F2BD2-2CD3-4EA0-8F19-122FBC33DD48}"/>
              </a:ext>
            </a:extLst>
          </p:cNvPr>
          <p:cNvGrpSpPr>
            <a:grpSpLocks/>
          </p:cNvGrpSpPr>
          <p:nvPr/>
        </p:nvGrpSpPr>
        <p:grpSpPr bwMode="auto">
          <a:xfrm>
            <a:off x="5503863" y="2014538"/>
            <a:ext cx="3219450" cy="1817687"/>
            <a:chOff x="724" y="935"/>
            <a:chExt cx="2244" cy="1316"/>
          </a:xfrm>
        </p:grpSpPr>
        <p:sp>
          <p:nvSpPr>
            <p:cNvPr id="945218" name="Oval 66">
              <a:extLst>
                <a:ext uri="{FF2B5EF4-FFF2-40B4-BE49-F238E27FC236}">
                  <a16:creationId xmlns:a16="http://schemas.microsoft.com/office/drawing/2014/main" id="{859450C5-D734-4BDA-A542-A85D32B47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391"/>
              <a:ext cx="675" cy="85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9804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sp>
          <p:nvSpPr>
            <p:cNvPr id="945219" name="Oval 67">
              <a:extLst>
                <a:ext uri="{FF2B5EF4-FFF2-40B4-BE49-F238E27FC236}">
                  <a16:creationId xmlns:a16="http://schemas.microsoft.com/office/drawing/2014/main" id="{B6D3DA4E-70FB-41CE-98F8-8886985D9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0" y="1391"/>
              <a:ext cx="679" cy="85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9804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sp>
          <p:nvSpPr>
            <p:cNvPr id="945220" name="Rectangle 68">
              <a:extLst>
                <a:ext uri="{FF2B5EF4-FFF2-40B4-BE49-F238E27FC236}">
                  <a16:creationId xmlns:a16="http://schemas.microsoft.com/office/drawing/2014/main" id="{79D35832-D7F0-4D01-ABF9-8558B250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" y="1383"/>
              <a:ext cx="1342" cy="868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89804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89804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sp>
          <p:nvSpPr>
            <p:cNvPr id="40013" name="Line 69">
              <a:extLst>
                <a:ext uri="{FF2B5EF4-FFF2-40B4-BE49-F238E27FC236}">
                  <a16:creationId xmlns:a16="http://schemas.microsoft.com/office/drawing/2014/main" id="{EC548590-C3D0-4201-AF40-B5D3C940A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2" y="1391"/>
              <a:ext cx="1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4" name="Line 70">
              <a:extLst>
                <a:ext uri="{FF2B5EF4-FFF2-40B4-BE49-F238E27FC236}">
                  <a16:creationId xmlns:a16="http://schemas.microsoft.com/office/drawing/2014/main" id="{FB93F1D7-6B53-4269-AFFC-50319E4566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8" y="2241"/>
              <a:ext cx="1358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5" name="Rectangle 71" descr="70%">
              <a:extLst>
                <a:ext uri="{FF2B5EF4-FFF2-40B4-BE49-F238E27FC236}">
                  <a16:creationId xmlns:a16="http://schemas.microsoft.com/office/drawing/2014/main" id="{7061D8A4-6615-41EA-B180-47C874B8B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" y="1508"/>
              <a:ext cx="87" cy="631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016" name="Rectangle 72" descr="点式菱形">
              <a:extLst>
                <a:ext uri="{FF2B5EF4-FFF2-40B4-BE49-F238E27FC236}">
                  <a16:creationId xmlns:a16="http://schemas.microsoft.com/office/drawing/2014/main" id="{364110CA-918D-4F7F-9F3B-28E9E1344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1495"/>
              <a:ext cx="87" cy="631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017" name="Line 73">
              <a:extLst>
                <a:ext uri="{FF2B5EF4-FFF2-40B4-BE49-F238E27FC236}">
                  <a16:creationId xmlns:a16="http://schemas.microsoft.com/office/drawing/2014/main" id="{63560973-5BE9-4816-8D21-E0EEA74B18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1832"/>
              <a:ext cx="4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8" name="Line 74">
              <a:extLst>
                <a:ext uri="{FF2B5EF4-FFF2-40B4-BE49-F238E27FC236}">
                  <a16:creationId xmlns:a16="http://schemas.microsoft.com/office/drawing/2014/main" id="{F09EAE35-F514-477F-996A-9E4B5DA7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832"/>
              <a:ext cx="4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9" name="Rectangle 75">
              <a:extLst>
                <a:ext uri="{FF2B5EF4-FFF2-40B4-BE49-F238E27FC236}">
                  <a16:creationId xmlns:a16="http://schemas.microsoft.com/office/drawing/2014/main" id="{49687F83-C8A5-4B91-A4A5-AEE0798CD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6" y="1164"/>
              <a:ext cx="118" cy="13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020" name="Freeform 76">
              <a:extLst>
                <a:ext uri="{FF2B5EF4-FFF2-40B4-BE49-F238E27FC236}">
                  <a16:creationId xmlns:a16="http://schemas.microsoft.com/office/drawing/2014/main" id="{415FA39A-7C05-44C9-9EA9-780B022CA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052"/>
              <a:ext cx="662" cy="366"/>
            </a:xfrm>
            <a:custGeom>
              <a:avLst/>
              <a:gdLst>
                <a:gd name="T0" fmla="*/ 462 w 662"/>
                <a:gd name="T1" fmla="*/ 0 h 366"/>
                <a:gd name="T2" fmla="*/ 662 w 662"/>
                <a:gd name="T3" fmla="*/ 222 h 366"/>
                <a:gd name="T4" fmla="*/ 506 w 662"/>
                <a:gd name="T5" fmla="*/ 338 h 366"/>
                <a:gd name="T6" fmla="*/ 468 w 662"/>
                <a:gd name="T7" fmla="*/ 366 h 366"/>
                <a:gd name="T8" fmla="*/ 0 w 662"/>
                <a:gd name="T9" fmla="*/ 366 h 366"/>
                <a:gd name="T10" fmla="*/ 462 w 662"/>
                <a:gd name="T11" fmla="*/ 0 h 3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2" h="366">
                  <a:moveTo>
                    <a:pt x="462" y="0"/>
                  </a:moveTo>
                  <a:lnTo>
                    <a:pt x="662" y="222"/>
                  </a:lnTo>
                  <a:lnTo>
                    <a:pt x="506" y="338"/>
                  </a:lnTo>
                  <a:lnTo>
                    <a:pt x="468" y="366"/>
                  </a:lnTo>
                  <a:lnTo>
                    <a:pt x="0" y="366"/>
                  </a:lnTo>
                  <a:lnTo>
                    <a:pt x="462" y="0"/>
                  </a:lnTo>
                  <a:close/>
                </a:path>
              </a:pathLst>
            </a:custGeom>
            <a:gradFill rotWithShape="0">
              <a:gsLst>
                <a:gs pos="0">
                  <a:srgbClr val="B8B8B8"/>
                </a:gs>
                <a:gs pos="50000">
                  <a:srgbClr val="F0F0F0"/>
                </a:gs>
                <a:gs pos="100000">
                  <a:srgbClr val="B8B8B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1" name="Line 77">
              <a:extLst>
                <a:ext uri="{FF2B5EF4-FFF2-40B4-BE49-F238E27FC236}">
                  <a16:creationId xmlns:a16="http://schemas.microsoft.com/office/drawing/2014/main" id="{865E2605-2586-4DE7-AECA-C91840CE50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2" y="1272"/>
              <a:ext cx="172" cy="1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2" name="Line 78">
              <a:extLst>
                <a:ext uri="{FF2B5EF4-FFF2-40B4-BE49-F238E27FC236}">
                  <a16:creationId xmlns:a16="http://schemas.microsoft.com/office/drawing/2014/main" id="{99DC2DAF-4AB3-4F75-90D3-FAE4E6EA2D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6" y="1048"/>
              <a:ext cx="436" cy="3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3" name="Line 79">
              <a:extLst>
                <a:ext uri="{FF2B5EF4-FFF2-40B4-BE49-F238E27FC236}">
                  <a16:creationId xmlns:a16="http://schemas.microsoft.com/office/drawing/2014/main" id="{AC52645A-78B0-43BC-927D-F35500BD1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4"/>
              <a:ext cx="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5232" name="Rectangle 80">
              <a:extLst>
                <a:ext uri="{FF2B5EF4-FFF2-40B4-BE49-F238E27FC236}">
                  <a16:creationId xmlns:a16="http://schemas.microsoft.com/office/drawing/2014/main" id="{CC24C8C9-48C1-434B-A805-18473654B0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862957">
              <a:off x="1937" y="1105"/>
              <a:ext cx="406" cy="6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8000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80000"/>
                    <a:invGamma/>
                  </a:schemeClr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</p:grpSp>
      <p:grpSp>
        <p:nvGrpSpPr>
          <p:cNvPr id="39945" name="Group 81">
            <a:extLst>
              <a:ext uri="{FF2B5EF4-FFF2-40B4-BE49-F238E27FC236}">
                <a16:creationId xmlns:a16="http://schemas.microsoft.com/office/drawing/2014/main" id="{30BE7087-8967-4BCB-8052-42EF23438433}"/>
              </a:ext>
            </a:extLst>
          </p:cNvPr>
          <p:cNvGrpSpPr>
            <a:grpSpLocks/>
          </p:cNvGrpSpPr>
          <p:nvPr/>
        </p:nvGrpSpPr>
        <p:grpSpPr bwMode="auto">
          <a:xfrm>
            <a:off x="6269038" y="1851025"/>
            <a:ext cx="1778000" cy="1639888"/>
            <a:chOff x="1257" y="816"/>
            <a:chExt cx="1239" cy="1188"/>
          </a:xfrm>
        </p:grpSpPr>
        <p:sp>
          <p:nvSpPr>
            <p:cNvPr id="40007" name="Freeform 82">
              <a:extLst>
                <a:ext uri="{FF2B5EF4-FFF2-40B4-BE49-F238E27FC236}">
                  <a16:creationId xmlns:a16="http://schemas.microsoft.com/office/drawing/2014/main" id="{CD4CE090-0C86-4638-AC49-B5CB90F22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" y="816"/>
              <a:ext cx="1239" cy="1188"/>
            </a:xfrm>
            <a:custGeom>
              <a:avLst/>
              <a:gdLst>
                <a:gd name="T0" fmla="*/ 1023 w 1239"/>
                <a:gd name="T1" fmla="*/ 54 h 1188"/>
                <a:gd name="T2" fmla="*/ 0 w 1239"/>
                <a:gd name="T3" fmla="*/ 879 h 1188"/>
                <a:gd name="T4" fmla="*/ 0 w 1239"/>
                <a:gd name="T5" fmla="*/ 1188 h 1188"/>
                <a:gd name="T6" fmla="*/ 1239 w 1239"/>
                <a:gd name="T7" fmla="*/ 192 h 1188"/>
                <a:gd name="T8" fmla="*/ 1095 w 1239"/>
                <a:gd name="T9" fmla="*/ 0 h 1188"/>
                <a:gd name="T10" fmla="*/ 795 w 1239"/>
                <a:gd name="T11" fmla="*/ 240 h 1188"/>
                <a:gd name="T12" fmla="*/ 756 w 1239"/>
                <a:gd name="T13" fmla="*/ 261 h 11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9" h="1188">
                  <a:moveTo>
                    <a:pt x="1023" y="54"/>
                  </a:moveTo>
                  <a:lnTo>
                    <a:pt x="0" y="879"/>
                  </a:lnTo>
                  <a:lnTo>
                    <a:pt x="0" y="1188"/>
                  </a:lnTo>
                  <a:lnTo>
                    <a:pt x="1239" y="192"/>
                  </a:lnTo>
                  <a:lnTo>
                    <a:pt x="1095" y="0"/>
                  </a:lnTo>
                  <a:lnTo>
                    <a:pt x="795" y="240"/>
                  </a:lnTo>
                  <a:lnTo>
                    <a:pt x="756" y="261"/>
                  </a:lnTo>
                </a:path>
              </a:pathLst>
            </a:custGeom>
            <a:solidFill>
              <a:srgbClr val="FF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5235" name="Rectangle 83">
              <a:extLst>
                <a:ext uri="{FF2B5EF4-FFF2-40B4-BE49-F238E27FC236}">
                  <a16:creationId xmlns:a16="http://schemas.microsoft.com/office/drawing/2014/main" id="{037D56C9-3401-4872-A0EA-AAB847F4DA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862957">
              <a:off x="1931" y="1097"/>
              <a:ext cx="407" cy="71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8000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80000"/>
                    <a:invGamma/>
                  </a:schemeClr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sp>
          <p:nvSpPr>
            <p:cNvPr id="40009" name="Line 84">
              <a:extLst>
                <a:ext uri="{FF2B5EF4-FFF2-40B4-BE49-F238E27FC236}">
                  <a16:creationId xmlns:a16="http://schemas.microsoft.com/office/drawing/2014/main" id="{707F24A0-A7F1-4B5B-BC77-8D4E2FD4EE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6" y="1239"/>
              <a:ext cx="336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85">
            <a:extLst>
              <a:ext uri="{FF2B5EF4-FFF2-40B4-BE49-F238E27FC236}">
                <a16:creationId xmlns:a16="http://schemas.microsoft.com/office/drawing/2014/main" id="{88206471-4071-4713-A666-372FBE6C874F}"/>
              </a:ext>
            </a:extLst>
          </p:cNvPr>
          <p:cNvGrpSpPr>
            <a:grpSpLocks/>
          </p:cNvGrpSpPr>
          <p:nvPr/>
        </p:nvGrpSpPr>
        <p:grpSpPr bwMode="auto">
          <a:xfrm>
            <a:off x="6053138" y="4017963"/>
            <a:ext cx="1800225" cy="249237"/>
            <a:chOff x="3645" y="2683"/>
            <a:chExt cx="1255" cy="181"/>
          </a:xfrm>
        </p:grpSpPr>
        <p:sp>
          <p:nvSpPr>
            <p:cNvPr id="40003" name="Rectangle 86">
              <a:extLst>
                <a:ext uri="{FF2B5EF4-FFF2-40B4-BE49-F238E27FC236}">
                  <a16:creationId xmlns:a16="http://schemas.microsoft.com/office/drawing/2014/main" id="{00300DB5-7D42-42B9-AA69-EBED7F909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1" y="2683"/>
              <a:ext cx="189" cy="1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004" name="Rectangle 87">
              <a:extLst>
                <a:ext uri="{FF2B5EF4-FFF2-40B4-BE49-F238E27FC236}">
                  <a16:creationId xmlns:a16="http://schemas.microsoft.com/office/drawing/2014/main" id="{12EC18E8-E59A-4B60-8A1E-804BC8133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5" y="2691"/>
              <a:ext cx="190" cy="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005" name="WordArt 88">
              <a:extLst>
                <a:ext uri="{FF2B5EF4-FFF2-40B4-BE49-F238E27FC236}">
                  <a16:creationId xmlns:a16="http://schemas.microsoft.com/office/drawing/2014/main" id="{F2B8867D-5AD9-4BA1-BE28-BC9B35B7763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 flipH="1">
              <a:off x="3666" y="2711"/>
              <a:ext cx="123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38100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zh-CN" altLang="en-US" sz="3600" kern="10">
                <a:ln w="38100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006" name="Line 89">
              <a:extLst>
                <a:ext uri="{FF2B5EF4-FFF2-40B4-BE49-F238E27FC236}">
                  <a16:creationId xmlns:a16="http://schemas.microsoft.com/office/drawing/2014/main" id="{3D24FA59-0373-4404-9035-4CD290E5D7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56" y="2784"/>
              <a:ext cx="1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947" name="WordArt 91">
            <a:extLst>
              <a:ext uri="{FF2B5EF4-FFF2-40B4-BE49-F238E27FC236}">
                <a16:creationId xmlns:a16="http://schemas.microsoft.com/office/drawing/2014/main" id="{4E4C7598-703B-4CE3-B0B9-8A6FE91A216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567613" y="4543425"/>
            <a:ext cx="962025" cy="368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rgbClr val="006600"/>
                  </a:solidFill>
                  <a:round/>
                  <a:headEnd/>
                  <a:tailEnd/>
                </a:ln>
                <a:solidFill>
                  <a:srgbClr val="006600"/>
                </a:solidFill>
                <a:latin typeface="楷体_GB2312" panose="02010609030101010101" pitchFamily="49" charset="-122"/>
              </a:rPr>
              <a:t>加速电势差</a:t>
            </a:r>
          </a:p>
        </p:txBody>
      </p:sp>
      <p:grpSp>
        <p:nvGrpSpPr>
          <p:cNvPr id="39948" name="Group 93">
            <a:extLst>
              <a:ext uri="{FF2B5EF4-FFF2-40B4-BE49-F238E27FC236}">
                <a16:creationId xmlns:a16="http://schemas.microsoft.com/office/drawing/2014/main" id="{0F443AE8-5D0F-400E-B01E-F47CA46A3649}"/>
              </a:ext>
            </a:extLst>
          </p:cNvPr>
          <p:cNvGrpSpPr>
            <a:grpSpLocks/>
          </p:cNvGrpSpPr>
          <p:nvPr/>
        </p:nvGrpSpPr>
        <p:grpSpPr bwMode="auto">
          <a:xfrm>
            <a:off x="4965700" y="2451100"/>
            <a:ext cx="914400" cy="798513"/>
            <a:chOff x="349" y="1251"/>
            <a:chExt cx="637" cy="578"/>
          </a:xfrm>
        </p:grpSpPr>
        <p:sp>
          <p:nvSpPr>
            <p:cNvPr id="40000" name="Line 94">
              <a:extLst>
                <a:ext uri="{FF2B5EF4-FFF2-40B4-BE49-F238E27FC236}">
                  <a16:creationId xmlns:a16="http://schemas.microsoft.com/office/drawing/2014/main" id="{32D24D78-4764-4A08-A955-5E98843229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" y="1829"/>
              <a:ext cx="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1" name="WordArt 95">
              <a:extLst>
                <a:ext uri="{FF2B5EF4-FFF2-40B4-BE49-F238E27FC236}">
                  <a16:creationId xmlns:a16="http://schemas.microsoft.com/office/drawing/2014/main" id="{FD0C19B0-D1FF-4CF4-A9AB-41F33AADFA9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49" y="1251"/>
              <a:ext cx="637" cy="24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楷体_GB2312" panose="02010609030101010101" pitchFamily="49" charset="-122"/>
                </a:rPr>
                <a:t>光电流</a:t>
              </a:r>
            </a:p>
          </p:txBody>
        </p:sp>
        <p:sp>
          <p:nvSpPr>
            <p:cNvPr id="40002" name="WordArt 96">
              <a:extLst>
                <a:ext uri="{FF2B5EF4-FFF2-40B4-BE49-F238E27FC236}">
                  <a16:creationId xmlns:a16="http://schemas.microsoft.com/office/drawing/2014/main" id="{E7A7DA5B-1EB0-40F3-9792-923CE47B3BF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06" y="1584"/>
              <a:ext cx="110" cy="17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7273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i</a:t>
              </a:r>
              <a:endParaRPr lang="zh-CN" altLang="en-US" sz="3600" i="1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39949" name="Group 97">
            <a:extLst>
              <a:ext uri="{FF2B5EF4-FFF2-40B4-BE49-F238E27FC236}">
                <a16:creationId xmlns:a16="http://schemas.microsoft.com/office/drawing/2014/main" id="{543D9F0D-1F7D-42E0-B478-576DD6506987}"/>
              </a:ext>
            </a:extLst>
          </p:cNvPr>
          <p:cNvGrpSpPr>
            <a:grpSpLocks/>
          </p:cNvGrpSpPr>
          <p:nvPr/>
        </p:nvGrpSpPr>
        <p:grpSpPr bwMode="auto">
          <a:xfrm>
            <a:off x="6311900" y="2965450"/>
            <a:ext cx="1241425" cy="355600"/>
            <a:chOff x="1287" y="1623"/>
            <a:chExt cx="865" cy="258"/>
          </a:xfrm>
        </p:grpSpPr>
        <p:grpSp>
          <p:nvGrpSpPr>
            <p:cNvPr id="39988" name="Group 98">
              <a:extLst>
                <a:ext uri="{FF2B5EF4-FFF2-40B4-BE49-F238E27FC236}">
                  <a16:creationId xmlns:a16="http://schemas.microsoft.com/office/drawing/2014/main" id="{9AE62A35-FC92-4060-93F9-2F51284B72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7" y="1623"/>
              <a:ext cx="111" cy="113"/>
              <a:chOff x="3850" y="2270"/>
              <a:chExt cx="107" cy="105"/>
            </a:xfrm>
          </p:grpSpPr>
          <p:sp>
            <p:nvSpPr>
              <p:cNvPr id="39998" name="Oval 99">
                <a:extLst>
                  <a:ext uri="{FF2B5EF4-FFF2-40B4-BE49-F238E27FC236}">
                    <a16:creationId xmlns:a16="http://schemas.microsoft.com/office/drawing/2014/main" id="{C918A307-6CEB-49C3-A0EA-28CACC239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0" y="2270"/>
                <a:ext cx="107" cy="105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9999" name="Rectangle 100">
                <a:extLst>
                  <a:ext uri="{FF2B5EF4-FFF2-40B4-BE49-F238E27FC236}">
                    <a16:creationId xmlns:a16="http://schemas.microsoft.com/office/drawing/2014/main" id="{2E8CABAE-0DE2-4AFB-8EE1-E31C2B7173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8" y="2310"/>
                <a:ext cx="79" cy="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39989" name="Line 101">
              <a:extLst>
                <a:ext uri="{FF2B5EF4-FFF2-40B4-BE49-F238E27FC236}">
                  <a16:creationId xmlns:a16="http://schemas.microsoft.com/office/drawing/2014/main" id="{A88B7D0C-E8D0-4C15-9D6E-F606C9351F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2" y="1677"/>
              <a:ext cx="2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9990" name="Group 102">
              <a:extLst>
                <a:ext uri="{FF2B5EF4-FFF2-40B4-BE49-F238E27FC236}">
                  <a16:creationId xmlns:a16="http://schemas.microsoft.com/office/drawing/2014/main" id="{FA0D78A8-4DE5-47B9-9920-63AB8B581B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7" y="1768"/>
              <a:ext cx="111" cy="113"/>
              <a:chOff x="3850" y="2270"/>
              <a:chExt cx="107" cy="105"/>
            </a:xfrm>
          </p:grpSpPr>
          <p:sp>
            <p:nvSpPr>
              <p:cNvPr id="39996" name="Oval 103">
                <a:extLst>
                  <a:ext uri="{FF2B5EF4-FFF2-40B4-BE49-F238E27FC236}">
                    <a16:creationId xmlns:a16="http://schemas.microsoft.com/office/drawing/2014/main" id="{4AB2C41B-8421-4A0F-8B39-4EDE4ADD2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0" y="2270"/>
                <a:ext cx="107" cy="105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9997" name="Rectangle 104">
                <a:extLst>
                  <a:ext uri="{FF2B5EF4-FFF2-40B4-BE49-F238E27FC236}">
                    <a16:creationId xmlns:a16="http://schemas.microsoft.com/office/drawing/2014/main" id="{68B381F0-8F30-45ED-97EB-F822655BF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8" y="2310"/>
                <a:ext cx="79" cy="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39991" name="Line 105">
              <a:extLst>
                <a:ext uri="{FF2B5EF4-FFF2-40B4-BE49-F238E27FC236}">
                  <a16:creationId xmlns:a16="http://schemas.microsoft.com/office/drawing/2014/main" id="{0979C55A-F2B4-42BF-ABA5-346E1F2F6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822"/>
              <a:ext cx="2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9992" name="Group 106">
              <a:extLst>
                <a:ext uri="{FF2B5EF4-FFF2-40B4-BE49-F238E27FC236}">
                  <a16:creationId xmlns:a16="http://schemas.microsoft.com/office/drawing/2014/main" id="{21746756-F34C-473E-93E7-2F5D589FD9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2" y="1734"/>
              <a:ext cx="111" cy="113"/>
              <a:chOff x="3850" y="2270"/>
              <a:chExt cx="107" cy="105"/>
            </a:xfrm>
          </p:grpSpPr>
          <p:sp>
            <p:nvSpPr>
              <p:cNvPr id="39994" name="Oval 107">
                <a:extLst>
                  <a:ext uri="{FF2B5EF4-FFF2-40B4-BE49-F238E27FC236}">
                    <a16:creationId xmlns:a16="http://schemas.microsoft.com/office/drawing/2014/main" id="{FAE59FF7-F8D5-4DB5-83E1-21AD7A0AB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0" y="2270"/>
                <a:ext cx="107" cy="105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39995" name="Rectangle 108">
                <a:extLst>
                  <a:ext uri="{FF2B5EF4-FFF2-40B4-BE49-F238E27FC236}">
                    <a16:creationId xmlns:a16="http://schemas.microsoft.com/office/drawing/2014/main" id="{371C4BC2-61C2-47F5-9EC7-051067DE5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8" y="2310"/>
                <a:ext cx="79" cy="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39993" name="Line 109">
              <a:extLst>
                <a:ext uri="{FF2B5EF4-FFF2-40B4-BE49-F238E27FC236}">
                  <a16:creationId xmlns:a16="http://schemas.microsoft.com/office/drawing/2014/main" id="{6EE245F3-939B-42F7-991B-AF8BB735C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4" y="1792"/>
              <a:ext cx="2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950" name="Group 110">
            <a:extLst>
              <a:ext uri="{FF2B5EF4-FFF2-40B4-BE49-F238E27FC236}">
                <a16:creationId xmlns:a16="http://schemas.microsoft.com/office/drawing/2014/main" id="{9CF93FFD-2607-47F6-821E-2BBF23543899}"/>
              </a:ext>
            </a:extLst>
          </p:cNvPr>
          <p:cNvGrpSpPr>
            <a:grpSpLocks/>
          </p:cNvGrpSpPr>
          <p:nvPr/>
        </p:nvGrpSpPr>
        <p:grpSpPr bwMode="auto">
          <a:xfrm>
            <a:off x="6604000" y="3373438"/>
            <a:ext cx="1030288" cy="239712"/>
            <a:chOff x="3677" y="2107"/>
            <a:chExt cx="718" cy="173"/>
          </a:xfrm>
        </p:grpSpPr>
        <p:sp>
          <p:nvSpPr>
            <p:cNvPr id="39986" name="Rectangle 111">
              <a:extLst>
                <a:ext uri="{FF2B5EF4-FFF2-40B4-BE49-F238E27FC236}">
                  <a16:creationId xmlns:a16="http://schemas.microsoft.com/office/drawing/2014/main" id="{ADA4EBF2-AF2B-41AD-8092-320FC7F76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7" y="2107"/>
              <a:ext cx="718" cy="1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39987" name="WordArt 112">
              <a:extLst>
                <a:ext uri="{FF2B5EF4-FFF2-40B4-BE49-F238E27FC236}">
                  <a16:creationId xmlns:a16="http://schemas.microsoft.com/office/drawing/2014/main" id="{6BCF4712-DD65-4249-A0DB-F1490B69F42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695" y="2127"/>
              <a:ext cx="674" cy="14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楷体_GB2312" panose="02010609030101010101" pitchFamily="49" charset="-122"/>
                </a:rPr>
                <a:t>光电子</a:t>
              </a:r>
            </a:p>
          </p:txBody>
        </p:sp>
      </p:grpSp>
      <p:sp>
        <p:nvSpPr>
          <p:cNvPr id="39951" name="WordArt 113">
            <a:extLst>
              <a:ext uri="{FF2B5EF4-FFF2-40B4-BE49-F238E27FC236}">
                <a16:creationId xmlns:a16="http://schemas.microsoft.com/office/drawing/2014/main" id="{247E03A6-C9F4-4A0A-B7D9-033585A9AA6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15075" y="1973263"/>
            <a:ext cx="866775" cy="1603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楷体_GB2312" panose="02010609030101010101" pitchFamily="49" charset="-122"/>
              </a:rPr>
              <a:t>石英窗</a:t>
            </a:r>
          </a:p>
        </p:txBody>
      </p:sp>
      <p:grpSp>
        <p:nvGrpSpPr>
          <p:cNvPr id="39952" name="Group 114">
            <a:extLst>
              <a:ext uri="{FF2B5EF4-FFF2-40B4-BE49-F238E27FC236}">
                <a16:creationId xmlns:a16="http://schemas.microsoft.com/office/drawing/2014/main" id="{FAA09ADC-2969-4894-9FC8-68C26E72A185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2955925"/>
            <a:ext cx="598488" cy="447675"/>
            <a:chOff x="624" y="1430"/>
            <a:chExt cx="377" cy="282"/>
          </a:xfrm>
        </p:grpSpPr>
        <p:sp>
          <p:nvSpPr>
            <p:cNvPr id="39984" name="WordArt 115">
              <a:extLst>
                <a:ext uri="{FF2B5EF4-FFF2-40B4-BE49-F238E27FC236}">
                  <a16:creationId xmlns:a16="http://schemas.microsoft.com/office/drawing/2014/main" id="{5E2FC389-B334-48F5-A221-DA3EDB6C18C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761" y="1430"/>
              <a:ext cx="122" cy="10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K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985" name="WordArt 116">
              <a:extLst>
                <a:ext uri="{FF2B5EF4-FFF2-40B4-BE49-F238E27FC236}">
                  <a16:creationId xmlns:a16="http://schemas.microsoft.com/office/drawing/2014/main" id="{A1193BB0-8DE3-497D-9F35-D20519ECB5E6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624" y="1632"/>
              <a:ext cx="377" cy="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楷体_GB2312" panose="02010609030101010101" pitchFamily="49" charset="-122"/>
                </a:rPr>
                <a:t>阴极</a:t>
              </a:r>
            </a:p>
          </p:txBody>
        </p:sp>
      </p:grpSp>
      <p:grpSp>
        <p:nvGrpSpPr>
          <p:cNvPr id="39953" name="Group 117">
            <a:extLst>
              <a:ext uri="{FF2B5EF4-FFF2-40B4-BE49-F238E27FC236}">
                <a16:creationId xmlns:a16="http://schemas.microsoft.com/office/drawing/2014/main" id="{6AFA7CC7-1784-4D41-9EE0-36CE825BB769}"/>
              </a:ext>
            </a:extLst>
          </p:cNvPr>
          <p:cNvGrpSpPr>
            <a:grpSpLocks/>
          </p:cNvGrpSpPr>
          <p:nvPr/>
        </p:nvGrpSpPr>
        <p:grpSpPr bwMode="auto">
          <a:xfrm>
            <a:off x="8131175" y="2959100"/>
            <a:ext cx="301625" cy="568325"/>
            <a:chOff x="2555" y="1619"/>
            <a:chExt cx="210" cy="411"/>
          </a:xfrm>
        </p:grpSpPr>
        <p:sp>
          <p:nvSpPr>
            <p:cNvPr id="39982" name="WordArt 118">
              <a:extLst>
                <a:ext uri="{FF2B5EF4-FFF2-40B4-BE49-F238E27FC236}">
                  <a16:creationId xmlns:a16="http://schemas.microsoft.com/office/drawing/2014/main" id="{0F611A08-971A-475C-9ECA-665564FFEB7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555" y="1619"/>
              <a:ext cx="145" cy="12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983" name="WordArt 119">
              <a:extLst>
                <a:ext uri="{FF2B5EF4-FFF2-40B4-BE49-F238E27FC236}">
                  <a16:creationId xmlns:a16="http://schemas.microsoft.com/office/drawing/2014/main" id="{24C1A1E5-EFDE-4FD6-AA16-1C8759F7846C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560" y="1859"/>
              <a:ext cx="205" cy="17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楷体_GB2312" panose="02010609030101010101" pitchFamily="49" charset="-122"/>
                </a:rPr>
                <a:t>阳极</a:t>
              </a:r>
            </a:p>
          </p:txBody>
        </p:sp>
      </p:grpSp>
      <p:sp>
        <p:nvSpPr>
          <p:cNvPr id="39954" name="WordArt 125">
            <a:extLst>
              <a:ext uri="{FF2B5EF4-FFF2-40B4-BE49-F238E27FC236}">
                <a16:creationId xmlns:a16="http://schemas.microsoft.com/office/drawing/2014/main" id="{444E7ECF-619C-43A5-94ED-92E753B7211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586788" y="4603750"/>
            <a:ext cx="306387" cy="241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34000"/>
              </a:avLst>
            </a:prstTxWarp>
          </a:bodyPr>
          <a:lstStyle/>
          <a:p>
            <a:pPr algn="ctr"/>
            <a:r>
              <a:rPr lang="en-US" altLang="zh-CN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rPr>
              <a:t>U</a:t>
            </a:r>
            <a:endParaRPr lang="zh-CN" altLang="en-US" sz="3600" kern="10">
              <a:ln w="9525">
                <a:solidFill>
                  <a:schemeClr val="tx1"/>
                </a:solidFill>
                <a:round/>
                <a:headEnd/>
                <a:tailEnd/>
              </a:ln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39955" name="Group 127">
            <a:extLst>
              <a:ext uri="{FF2B5EF4-FFF2-40B4-BE49-F238E27FC236}">
                <a16:creationId xmlns:a16="http://schemas.microsoft.com/office/drawing/2014/main" id="{18623054-FDB5-4926-9491-57354D6F42E5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1895475"/>
            <a:ext cx="868363" cy="641350"/>
            <a:chOff x="2464" y="848"/>
            <a:chExt cx="606" cy="465"/>
          </a:xfrm>
        </p:grpSpPr>
        <p:sp>
          <p:nvSpPr>
            <p:cNvPr id="40056" name="WordArt 128">
              <a:extLst>
                <a:ext uri="{FF2B5EF4-FFF2-40B4-BE49-F238E27FC236}">
                  <a16:creationId xmlns:a16="http://schemas.microsoft.com/office/drawing/2014/main" id="{14FFCBE1-DEB7-467E-89D3-4133CCD899E6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536" y="848"/>
              <a:ext cx="314" cy="21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3600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楷体_GB2312"/>
                </a:rPr>
                <a:t>光强</a:t>
              </a:r>
              <a:r>
                <a:rPr lang="en-US" altLang="zh-CN" sz="3600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楷体_GB2312"/>
                </a:rPr>
                <a:t>I</a:t>
              </a:r>
              <a:endParaRPr lang="zh-CN" altLang="en-US" sz="3600" kern="10">
                <a:ln w="9525">
                  <a:solidFill>
                    <a:srgbClr val="006600"/>
                  </a:solidFill>
                  <a:round/>
                  <a:headEnd/>
                  <a:tailEnd/>
                </a:ln>
                <a:solidFill>
                  <a:srgbClr val="006600"/>
                </a:solidFill>
                <a:latin typeface="楷体_GB2312"/>
              </a:endParaRPr>
            </a:p>
          </p:txBody>
        </p:sp>
        <p:sp>
          <p:nvSpPr>
            <p:cNvPr id="39979" name="WordArt 129">
              <a:extLst>
                <a:ext uri="{FF2B5EF4-FFF2-40B4-BE49-F238E27FC236}">
                  <a16:creationId xmlns:a16="http://schemas.microsoft.com/office/drawing/2014/main" id="{68269E3D-6333-4AF3-9440-89B4C6598C12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926" y="887"/>
              <a:ext cx="120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latin typeface="Bookman Old Style" panose="02050604050505020204" pitchFamily="18" charset="0"/>
                </a:rPr>
                <a:t>I</a:t>
              </a:r>
              <a:endParaRPr lang="zh-CN" altLang="en-US" sz="3600" i="1" kern="10">
                <a:ln w="9525">
                  <a:solidFill>
                    <a:schemeClr val="bg1"/>
                  </a:solidFill>
                  <a:round/>
                  <a:headEnd/>
                  <a:tailEnd/>
                </a:ln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39980" name="WordArt 130">
              <a:extLst>
                <a:ext uri="{FF2B5EF4-FFF2-40B4-BE49-F238E27FC236}">
                  <a16:creationId xmlns:a16="http://schemas.microsoft.com/office/drawing/2014/main" id="{BAC5095B-4236-4325-BE8B-0953B3C9ABE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464" y="1108"/>
              <a:ext cx="455" cy="20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楷体_GB2312" panose="02010609030101010101" pitchFamily="49" charset="-122"/>
                </a:rPr>
                <a:t>光频率</a:t>
              </a:r>
            </a:p>
          </p:txBody>
        </p:sp>
        <p:sp>
          <p:nvSpPr>
            <p:cNvPr id="39981" name="WordArt 131">
              <a:extLst>
                <a:ext uri="{FF2B5EF4-FFF2-40B4-BE49-F238E27FC236}">
                  <a16:creationId xmlns:a16="http://schemas.microsoft.com/office/drawing/2014/main" id="{F88EAEF0-D12D-4E7F-BFF0-BF27FF3D4479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951" y="1164"/>
              <a:ext cx="119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Symbol" panose="05050102010706020507" pitchFamily="18" charset="2"/>
                </a:rPr>
                <a:t>n</a:t>
              </a:r>
              <a:endParaRPr lang="zh-CN" altLang="en-US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</p:grpSp>
      <p:sp>
        <p:nvSpPr>
          <p:cNvPr id="39956" name="WordArt 132">
            <a:extLst>
              <a:ext uri="{FF2B5EF4-FFF2-40B4-BE49-F238E27FC236}">
                <a16:creationId xmlns:a16="http://schemas.microsoft.com/office/drawing/2014/main" id="{DE6F4A3A-637A-49F8-91D2-F6A3570DBF0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331075" y="5468938"/>
            <a:ext cx="915988" cy="1857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电位器</a:t>
            </a:r>
          </a:p>
        </p:txBody>
      </p:sp>
      <p:graphicFrame>
        <p:nvGraphicFramePr>
          <p:cNvPr id="945285" name="Object 133">
            <a:extLst>
              <a:ext uri="{FF2B5EF4-FFF2-40B4-BE49-F238E27FC236}">
                <a16:creationId xmlns:a16="http://schemas.microsoft.com/office/drawing/2014/main" id="{956CC363-4932-47C1-A5BE-466F046A5A33}"/>
              </a:ext>
            </a:extLst>
          </p:cNvPr>
          <p:cNvGraphicFramePr>
            <a:graphicFrameLocks/>
          </p:cNvGraphicFramePr>
          <p:nvPr/>
        </p:nvGraphicFramePr>
        <p:xfrm>
          <a:off x="612775" y="1989138"/>
          <a:ext cx="2363788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03" r:id="rId5" imgW="914400" imgH="361882" progId="Equation.DSMT4">
                  <p:embed/>
                </p:oleObj>
              </mc:Choice>
              <mc:Fallback>
                <p:oleObj r:id="rId5" imgW="914400" imgH="361882" progId="Equation.DSMT4">
                  <p:embed/>
                  <p:pic>
                    <p:nvPicPr>
                      <p:cNvPr id="0" name="Object 13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1989138"/>
                        <a:ext cx="2363788" cy="9842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66CCFF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18900000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5286" name="Rectangle 134">
            <a:extLst>
              <a:ext uri="{FF2B5EF4-FFF2-40B4-BE49-F238E27FC236}">
                <a16:creationId xmlns:a16="http://schemas.microsoft.com/office/drawing/2014/main" id="{6E3765F1-D965-45D2-87DB-E67396C9D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814388"/>
            <a:ext cx="4897437" cy="7858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当加反向电压</a:t>
            </a:r>
            <a:r>
              <a:rPr kumimoji="1" lang="en-US" altLang="zh-CN" b="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U</a:t>
            </a: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=</a:t>
            </a:r>
            <a:r>
              <a:rPr kumimoji="1" lang="en-US" altLang="zh-CN" b="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U</a:t>
            </a:r>
            <a:r>
              <a:rPr kumimoji="1" lang="en-US" altLang="zh-CN" b="0" baseline="-25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0</a:t>
            </a:r>
            <a:r>
              <a:rPr kumimoji="1" lang="zh-CN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时，</a:t>
            </a:r>
            <a:r>
              <a:rPr kumimoji="1" lang="zh-CN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zh-CN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endParaRPr kumimoji="1" lang="en-US" altLang="zh-CN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kumimoji="1" lang="en-US" altLang="zh-CN" b="0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zh-CN" b="0" baseline="-250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r>
              <a:rPr kumimoji="1" lang="en-US" altLang="zh-CN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----</a:t>
            </a:r>
            <a:r>
              <a:rPr kumimoji="1" lang="zh-CN" altLang="zh-CN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截止电压</a:t>
            </a:r>
            <a:r>
              <a:rPr kumimoji="1" lang="zh-CN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             </a:t>
            </a:r>
            <a:endParaRPr kumimoji="1" lang="zh-CN" altLang="en-US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945287" name="Rectangle 135">
            <a:extLst>
              <a:ext uri="{FF2B5EF4-FFF2-40B4-BE49-F238E27FC236}">
                <a16:creationId xmlns:a16="http://schemas.microsoft.com/office/drawing/2014/main" id="{21D34082-A029-42AE-847E-3AE7F8316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2400"/>
            <a:ext cx="2317750" cy="403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85000"/>
              </a:lnSpc>
              <a:defRPr/>
            </a:pPr>
            <a:r>
              <a:rPr kumimoji="1" lang="en-US" altLang="zh-CN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2</a:t>
            </a: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.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存在截止电压</a:t>
            </a:r>
          </a:p>
        </p:txBody>
      </p:sp>
      <p:grpSp>
        <p:nvGrpSpPr>
          <p:cNvPr id="39960" name="Group 157">
            <a:extLst>
              <a:ext uri="{FF2B5EF4-FFF2-40B4-BE49-F238E27FC236}">
                <a16:creationId xmlns:a16="http://schemas.microsoft.com/office/drawing/2014/main" id="{1431F068-DC4E-439A-8D55-C7EE0A6BFFFB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3789363"/>
            <a:ext cx="3397250" cy="2708275"/>
            <a:chOff x="3456" y="2640"/>
            <a:chExt cx="2112" cy="1689"/>
          </a:xfrm>
        </p:grpSpPr>
        <p:sp>
          <p:nvSpPr>
            <p:cNvPr id="39961" name="Rectangle 158">
              <a:extLst>
                <a:ext uri="{FF2B5EF4-FFF2-40B4-BE49-F238E27FC236}">
                  <a16:creationId xmlns:a16="http://schemas.microsoft.com/office/drawing/2014/main" id="{6E004074-1AF2-447A-9689-546940415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640"/>
              <a:ext cx="2112" cy="16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cxnSp>
          <p:nvCxnSpPr>
            <p:cNvPr id="39962" name="AutoShape 159">
              <a:extLst>
                <a:ext uri="{FF2B5EF4-FFF2-40B4-BE49-F238E27FC236}">
                  <a16:creationId xmlns:a16="http://schemas.microsoft.com/office/drawing/2014/main" id="{FC90924E-07B7-491E-90D4-66D5382FC520}"/>
                </a:ext>
              </a:extLst>
            </p:cNvPr>
            <p:cNvCxnSpPr>
              <a:cxnSpLocks noChangeShapeType="1"/>
              <a:stCxn id="39961" idx="0"/>
            </p:cNvCxnSpPr>
            <p:nvPr/>
          </p:nvCxnSpPr>
          <p:spPr bwMode="auto">
            <a:xfrm rot="-5400000" flipH="1" flipV="1">
              <a:off x="3959" y="2469"/>
              <a:ext cx="382" cy="724"/>
            </a:xfrm>
            <a:prstGeom prst="curvedConnector4">
              <a:avLst>
                <a:gd name="adj1" fmla="val -34125"/>
                <a:gd name="adj2" fmla="val -16574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cxnSp>
        <p:sp>
          <p:nvSpPr>
            <p:cNvPr id="39963" name="Line 160">
              <a:extLst>
                <a:ext uri="{FF2B5EF4-FFF2-40B4-BE49-F238E27FC236}">
                  <a16:creationId xmlns:a16="http://schemas.microsoft.com/office/drawing/2014/main" id="{D9218DCB-9840-49EB-8C71-2F1CA52567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4009"/>
              <a:ext cx="18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4" name="Line 161">
              <a:extLst>
                <a:ext uri="{FF2B5EF4-FFF2-40B4-BE49-F238E27FC236}">
                  <a16:creationId xmlns:a16="http://schemas.microsoft.com/office/drawing/2014/main" id="{658335A6-4BE1-4F6D-9DD8-F4FF809AA0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2" y="2794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5" name="Line 162">
              <a:extLst>
                <a:ext uri="{FF2B5EF4-FFF2-40B4-BE49-F238E27FC236}">
                  <a16:creationId xmlns:a16="http://schemas.microsoft.com/office/drawing/2014/main" id="{C2ABEB04-F19B-4FED-BF30-1664E032B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2" y="3353"/>
              <a:ext cx="11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6" name="Line 163">
              <a:extLst>
                <a:ext uri="{FF2B5EF4-FFF2-40B4-BE49-F238E27FC236}">
                  <a16:creationId xmlns:a16="http://schemas.microsoft.com/office/drawing/2014/main" id="{6E6E1E9D-7B47-45E0-B37E-4B4AE29BF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2" y="3090"/>
              <a:ext cx="11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9967" name="Object 164">
              <a:extLst>
                <a:ext uri="{FF2B5EF4-FFF2-40B4-BE49-F238E27FC236}">
                  <a16:creationId xmlns:a16="http://schemas.microsoft.com/office/drawing/2014/main" id="{21DD28F4-B889-49C5-B9F6-B23E190DBC2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68" y="3075"/>
            <a:ext cx="18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04" r:id="rId7" imgW="203024" imgH="317225" progId="Equation.3">
                    <p:embed/>
                  </p:oleObj>
                </mc:Choice>
                <mc:Fallback>
                  <p:oleObj r:id="rId7" imgW="203024" imgH="317225" progId="Equation.3">
                    <p:embed/>
                    <p:pic>
                      <p:nvPicPr>
                        <p:cNvPr id="0" name="Object 16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8" y="3075"/>
                          <a:ext cx="183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8" name="Object 165">
              <a:extLst>
                <a:ext uri="{FF2B5EF4-FFF2-40B4-BE49-F238E27FC236}">
                  <a16:creationId xmlns:a16="http://schemas.microsoft.com/office/drawing/2014/main" id="{28EC3188-36C4-4011-97B1-DCB2E8F15FD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97" y="2814"/>
            <a:ext cx="194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05" r:id="rId9" imgW="215619" imgH="317087" progId="Equation.3">
                    <p:embed/>
                  </p:oleObj>
                </mc:Choice>
                <mc:Fallback>
                  <p:oleObj r:id="rId9" imgW="215619" imgH="317087" progId="Equation.3">
                    <p:embed/>
                    <p:pic>
                      <p:nvPicPr>
                        <p:cNvPr id="0" name="Object 16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7" y="2814"/>
                          <a:ext cx="194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9" name="Object 166">
              <a:extLst>
                <a:ext uri="{FF2B5EF4-FFF2-40B4-BE49-F238E27FC236}">
                  <a16:creationId xmlns:a16="http://schemas.microsoft.com/office/drawing/2014/main" id="{D4325012-ED3B-43E8-9BB5-A77217E1335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19" y="2662"/>
            <a:ext cx="201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06" r:id="rId11" imgW="88554" imgH="164458" progId="Equation.3">
                    <p:embed/>
                  </p:oleObj>
                </mc:Choice>
                <mc:Fallback>
                  <p:oleObj r:id="rId11" imgW="88554" imgH="164458" progId="Equation.3">
                    <p:embed/>
                    <p:pic>
                      <p:nvPicPr>
                        <p:cNvPr id="0" name="Object 16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9" y="2662"/>
                          <a:ext cx="201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0" name="Object 167">
              <a:extLst>
                <a:ext uri="{FF2B5EF4-FFF2-40B4-BE49-F238E27FC236}">
                  <a16:creationId xmlns:a16="http://schemas.microsoft.com/office/drawing/2014/main" id="{31E28226-6ED8-4C49-8978-72AD7C13CAE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03" y="3105"/>
            <a:ext cx="520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07" r:id="rId13" imgW="190252" imgH="215619" progId="Equation.DSMT4">
                    <p:embed/>
                  </p:oleObj>
                </mc:Choice>
                <mc:Fallback>
                  <p:oleObj r:id="rId13" imgW="190252" imgH="215619" progId="Equation.DSMT4">
                    <p:embed/>
                    <p:pic>
                      <p:nvPicPr>
                        <p:cNvPr id="0" name="Object 16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3" y="3105"/>
                          <a:ext cx="520" cy="5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1" name="Object 168">
              <a:extLst>
                <a:ext uri="{FF2B5EF4-FFF2-40B4-BE49-F238E27FC236}">
                  <a16:creationId xmlns:a16="http://schemas.microsoft.com/office/drawing/2014/main" id="{AB0E2798-D93E-47CD-8515-02A6FB4C4E7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62" y="2771"/>
            <a:ext cx="417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08" r:id="rId15" imgW="202936" imgH="215619" progId="Equation.3">
                    <p:embed/>
                  </p:oleObj>
                </mc:Choice>
                <mc:Fallback>
                  <p:oleObj r:id="rId15" imgW="202936" imgH="215619" progId="Equation.3">
                    <p:embed/>
                    <p:pic>
                      <p:nvPicPr>
                        <p:cNvPr id="0" name="Object 16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2" y="2771"/>
                          <a:ext cx="417" cy="4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2" name="Object 169">
              <a:extLst>
                <a:ext uri="{FF2B5EF4-FFF2-40B4-BE49-F238E27FC236}">
                  <a16:creationId xmlns:a16="http://schemas.microsoft.com/office/drawing/2014/main" id="{103E3E4B-4C2C-4C7C-926C-027FD42A04A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84" y="4031"/>
            <a:ext cx="270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09" r:id="rId17" imgW="126725" imgH="139397" progId="Equation.3">
                    <p:embed/>
                  </p:oleObj>
                </mc:Choice>
                <mc:Fallback>
                  <p:oleObj r:id="rId17" imgW="126725" imgH="139397" progId="Equation.3">
                    <p:embed/>
                    <p:pic>
                      <p:nvPicPr>
                        <p:cNvPr id="0" name="Object 16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4031"/>
                          <a:ext cx="270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3" name="Object 170">
              <a:extLst>
                <a:ext uri="{FF2B5EF4-FFF2-40B4-BE49-F238E27FC236}">
                  <a16:creationId xmlns:a16="http://schemas.microsoft.com/office/drawing/2014/main" id="{364B3530-D115-4BC7-946D-D652013CC50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471" y="3981"/>
            <a:ext cx="400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10" r:id="rId19" imgW="317225" imgH="228402" progId="Equation.3">
                    <p:embed/>
                  </p:oleObj>
                </mc:Choice>
                <mc:Fallback>
                  <p:oleObj r:id="rId19" imgW="317225" imgH="228402" progId="Equation.3">
                    <p:embed/>
                    <p:pic>
                      <p:nvPicPr>
                        <p:cNvPr id="0" name="Object 17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1" y="3981"/>
                          <a:ext cx="400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4" name="Object 171">
              <a:extLst>
                <a:ext uri="{FF2B5EF4-FFF2-40B4-BE49-F238E27FC236}">
                  <a16:creationId xmlns:a16="http://schemas.microsoft.com/office/drawing/2014/main" id="{3A16D35E-1F54-4E98-81A2-453027B5C6D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249" y="4031"/>
            <a:ext cx="22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11" r:id="rId21" imgW="241195" imgH="241195" progId="Equation.3">
                    <p:embed/>
                  </p:oleObj>
                </mc:Choice>
                <mc:Fallback>
                  <p:oleObj r:id="rId21" imgW="241195" imgH="241195" progId="Equation.3">
                    <p:embed/>
                    <p:pic>
                      <p:nvPicPr>
                        <p:cNvPr id="0" name="Object 17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9" y="4031"/>
                          <a:ext cx="22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75" name="Freeform 172">
              <a:extLst>
                <a:ext uri="{FF2B5EF4-FFF2-40B4-BE49-F238E27FC236}">
                  <a16:creationId xmlns:a16="http://schemas.microsoft.com/office/drawing/2014/main" id="{12FAAFD8-7DD5-46B7-BD93-260A254CB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3343"/>
              <a:ext cx="1489" cy="660"/>
            </a:xfrm>
            <a:custGeom>
              <a:avLst/>
              <a:gdLst>
                <a:gd name="T0" fmla="*/ 0 w 1489"/>
                <a:gd name="T1" fmla="*/ 541 h 729"/>
                <a:gd name="T2" fmla="*/ 193 w 1489"/>
                <a:gd name="T3" fmla="*/ 511 h 729"/>
                <a:gd name="T4" fmla="*/ 361 w 1489"/>
                <a:gd name="T5" fmla="*/ 439 h 729"/>
                <a:gd name="T6" fmla="*/ 523 w 1489"/>
                <a:gd name="T7" fmla="*/ 301 h 729"/>
                <a:gd name="T8" fmla="*/ 704 w 1489"/>
                <a:gd name="T9" fmla="*/ 100 h 729"/>
                <a:gd name="T10" fmla="*/ 813 w 1489"/>
                <a:gd name="T11" fmla="*/ 20 h 729"/>
                <a:gd name="T12" fmla="*/ 1045 w 1489"/>
                <a:gd name="T13" fmla="*/ 4 h 729"/>
                <a:gd name="T14" fmla="*/ 1489 w 1489"/>
                <a:gd name="T15" fmla="*/ 4 h 7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9" h="729">
                  <a:moveTo>
                    <a:pt x="0" y="729"/>
                  </a:moveTo>
                  <a:cubicBezTo>
                    <a:pt x="32" y="722"/>
                    <a:pt x="133" y="711"/>
                    <a:pt x="193" y="688"/>
                  </a:cubicBezTo>
                  <a:cubicBezTo>
                    <a:pt x="253" y="665"/>
                    <a:pt x="306" y="639"/>
                    <a:pt x="361" y="592"/>
                  </a:cubicBezTo>
                  <a:cubicBezTo>
                    <a:pt x="416" y="545"/>
                    <a:pt x="466" y="482"/>
                    <a:pt x="523" y="406"/>
                  </a:cubicBezTo>
                  <a:cubicBezTo>
                    <a:pt x="580" y="330"/>
                    <a:pt x="656" y="199"/>
                    <a:pt x="704" y="136"/>
                  </a:cubicBezTo>
                  <a:cubicBezTo>
                    <a:pt x="752" y="73"/>
                    <a:pt x="756" y="49"/>
                    <a:pt x="813" y="27"/>
                  </a:cubicBezTo>
                  <a:cubicBezTo>
                    <a:pt x="870" y="5"/>
                    <a:pt x="932" y="8"/>
                    <a:pt x="1045" y="4"/>
                  </a:cubicBezTo>
                  <a:cubicBezTo>
                    <a:pt x="1158" y="0"/>
                    <a:pt x="1397" y="4"/>
                    <a:pt x="1489" y="4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6" name="Freeform 173">
              <a:extLst>
                <a:ext uri="{FF2B5EF4-FFF2-40B4-BE49-F238E27FC236}">
                  <a16:creationId xmlns:a16="http://schemas.microsoft.com/office/drawing/2014/main" id="{01A62DB8-0B0D-4F1F-B633-CECCA947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3077"/>
              <a:ext cx="1501" cy="932"/>
            </a:xfrm>
            <a:custGeom>
              <a:avLst/>
              <a:gdLst>
                <a:gd name="T0" fmla="*/ 0 w 1501"/>
                <a:gd name="T1" fmla="*/ 763 h 1030"/>
                <a:gd name="T2" fmla="*/ 271 w 1501"/>
                <a:gd name="T3" fmla="*/ 648 h 1030"/>
                <a:gd name="T4" fmla="*/ 445 w 1501"/>
                <a:gd name="T5" fmla="*/ 434 h 1030"/>
                <a:gd name="T6" fmla="*/ 555 w 1501"/>
                <a:gd name="T7" fmla="*/ 201 h 1030"/>
                <a:gd name="T8" fmla="*/ 684 w 1501"/>
                <a:gd name="T9" fmla="*/ 53 h 1030"/>
                <a:gd name="T10" fmla="*/ 937 w 1501"/>
                <a:gd name="T11" fmla="*/ 7 h 1030"/>
                <a:gd name="T12" fmla="*/ 1501 w 1501"/>
                <a:gd name="T13" fmla="*/ 7 h 10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1" h="1030">
                  <a:moveTo>
                    <a:pt x="0" y="1030"/>
                  </a:moveTo>
                  <a:cubicBezTo>
                    <a:pt x="45" y="1004"/>
                    <a:pt x="197" y="948"/>
                    <a:pt x="271" y="874"/>
                  </a:cubicBezTo>
                  <a:cubicBezTo>
                    <a:pt x="345" y="800"/>
                    <a:pt x="398" y="686"/>
                    <a:pt x="445" y="586"/>
                  </a:cubicBezTo>
                  <a:cubicBezTo>
                    <a:pt x="492" y="486"/>
                    <a:pt x="515" y="357"/>
                    <a:pt x="555" y="271"/>
                  </a:cubicBezTo>
                  <a:cubicBezTo>
                    <a:pt x="595" y="185"/>
                    <a:pt x="620" y="115"/>
                    <a:pt x="684" y="72"/>
                  </a:cubicBezTo>
                  <a:cubicBezTo>
                    <a:pt x="748" y="29"/>
                    <a:pt x="801" y="20"/>
                    <a:pt x="937" y="10"/>
                  </a:cubicBezTo>
                  <a:cubicBezTo>
                    <a:pt x="1073" y="0"/>
                    <a:pt x="1384" y="10"/>
                    <a:pt x="1501" y="1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9977" name="Object 174">
              <a:extLst>
                <a:ext uri="{FF2B5EF4-FFF2-40B4-BE49-F238E27FC236}">
                  <a16:creationId xmlns:a16="http://schemas.microsoft.com/office/drawing/2014/main" id="{E8B5656D-43AF-4291-A772-EEC7ECF49D1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560" y="3591"/>
            <a:ext cx="720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12" r:id="rId23" imgW="659827" imgH="317225" progId="Equation.3">
                    <p:embed/>
                  </p:oleObj>
                </mc:Choice>
                <mc:Fallback>
                  <p:oleObj r:id="rId23" imgW="659827" imgH="317225" progId="Equation.3">
                    <p:embed/>
                    <p:pic>
                      <p:nvPicPr>
                        <p:cNvPr id="0" name="Object 17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3591"/>
                          <a:ext cx="720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4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4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94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28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3">
            <a:extLst>
              <a:ext uri="{FF2B5EF4-FFF2-40B4-BE49-F238E27FC236}">
                <a16:creationId xmlns:a16="http://schemas.microsoft.com/office/drawing/2014/main" id="{67EE0C8D-ED40-4B52-9B28-AE72B885EC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B56271-9856-47FA-97CF-904C0DD39295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zh-CN" altLang="zh-CN" sz="1400"/>
          </a:p>
        </p:txBody>
      </p:sp>
      <p:sp>
        <p:nvSpPr>
          <p:cNvPr id="946178" name="Text Box 2">
            <a:extLst>
              <a:ext uri="{FF2B5EF4-FFF2-40B4-BE49-F238E27FC236}">
                <a16:creationId xmlns:a16="http://schemas.microsoft.com/office/drawing/2014/main" id="{EBB609A8-011F-4DF6-8A5C-58ED19D7C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217863"/>
            <a:ext cx="29718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红限频率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3F2AB62A-CF06-4F32-951B-BF5AC120D131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3141663"/>
            <a:ext cx="1981200" cy="914400"/>
            <a:chOff x="1872" y="2112"/>
            <a:chExt cx="1248" cy="576"/>
          </a:xfrm>
        </p:grpSpPr>
        <p:sp>
          <p:nvSpPr>
            <p:cNvPr id="946180" name="Rectangle 4">
              <a:extLst>
                <a:ext uri="{FF2B5EF4-FFF2-40B4-BE49-F238E27FC236}">
                  <a16:creationId xmlns:a16="http://schemas.microsoft.com/office/drawing/2014/main" id="{7C1AFDD6-585B-439E-8BE4-91DB1C474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12"/>
              <a:ext cx="1248" cy="576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graphicFrame>
          <p:nvGraphicFramePr>
            <p:cNvPr id="41073" name="Object 5">
              <a:extLst>
                <a:ext uri="{FF2B5EF4-FFF2-40B4-BE49-F238E27FC236}">
                  <a16:creationId xmlns:a16="http://schemas.microsoft.com/office/drawing/2014/main" id="{9B9D684D-62B7-47EA-B2B8-F62856F1268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67" y="2112"/>
            <a:ext cx="770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0" r:id="rId3" imgW="504908" imgH="361882" progId="Equation.3">
                    <p:embed/>
                  </p:oleObj>
                </mc:Choice>
                <mc:Fallback>
                  <p:oleObj r:id="rId3" imgW="504908" imgH="361882" progId="Equation.3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7" y="2112"/>
                          <a:ext cx="770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65" name="Group 6">
            <a:extLst>
              <a:ext uri="{FF2B5EF4-FFF2-40B4-BE49-F238E27FC236}">
                <a16:creationId xmlns:a16="http://schemas.microsoft.com/office/drawing/2014/main" id="{1118A3B1-EAAB-463C-B889-00C6A98825C1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609600"/>
            <a:ext cx="4246562" cy="506413"/>
            <a:chOff x="1519" y="384"/>
            <a:chExt cx="2675" cy="319"/>
          </a:xfrm>
        </p:grpSpPr>
        <p:graphicFrame>
          <p:nvGraphicFramePr>
            <p:cNvPr id="41070" name="Object 8">
              <a:extLst>
                <a:ext uri="{FF2B5EF4-FFF2-40B4-BE49-F238E27FC236}">
                  <a16:creationId xmlns:a16="http://schemas.microsoft.com/office/drawing/2014/main" id="{F5959652-6884-41AC-9987-980EF3105F1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19" y="391"/>
            <a:ext cx="27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1" r:id="rId5" imgW="171565" imgH="199923" progId="Equation.DSMT4">
                    <p:embed/>
                  </p:oleObj>
                </mc:Choice>
                <mc:Fallback>
                  <p:oleObj r:id="rId5" imgW="171565" imgH="199923" progId="Equation.DSMT4">
                    <p:embed/>
                    <p:pic>
                      <p:nvPicPr>
                        <p:cNvPr id="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391"/>
                          <a:ext cx="278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6185" name="Text Box 9">
              <a:extLst>
                <a:ext uri="{FF2B5EF4-FFF2-40B4-BE49-F238E27FC236}">
                  <a16:creationId xmlns:a16="http://schemas.microsoft.com/office/drawing/2014/main" id="{00DA1976-E504-4A7A-834C-6E9C7D9897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384"/>
              <a:ext cx="1632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kumimoji="1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与光强 </a:t>
              </a:r>
              <a:r>
                <a:rPr kumimoji="1" lang="en-US" altLang="zh-CN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I </a:t>
              </a:r>
              <a:r>
                <a:rPr kumimoji="1" lang="zh-CN" altLang="en-U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无关</a:t>
              </a:r>
              <a:r>
                <a:rPr kumimoji="1" lang="en-US" altLang="zh-CN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,</a:t>
              </a:r>
              <a:endPara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endParaRPr>
            </a:p>
          </p:txBody>
        </p:sp>
      </p:grpSp>
      <p:sp>
        <p:nvSpPr>
          <p:cNvPr id="946186" name="Text Box 10">
            <a:extLst>
              <a:ext uri="{FF2B5EF4-FFF2-40B4-BE49-F238E27FC236}">
                <a16:creationId xmlns:a16="http://schemas.microsoft.com/office/drawing/2014/main" id="{11C39918-B440-4C6A-B1F3-8D638E123B62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04800" y="76200"/>
            <a:ext cx="51816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15000"/>
              </a:spcBef>
              <a:defRPr/>
            </a:pPr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3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. 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存在红限频率</a:t>
            </a:r>
          </a:p>
        </p:txBody>
      </p:sp>
      <p:graphicFrame>
        <p:nvGraphicFramePr>
          <p:cNvPr id="946187" name="Object 11">
            <a:extLst>
              <a:ext uri="{FF2B5EF4-FFF2-40B4-BE49-F238E27FC236}">
                <a16:creationId xmlns:a16="http://schemas.microsoft.com/office/drawing/2014/main" id="{A802C0AB-FC5A-446A-83FA-EDAAEA1838C3}"/>
              </a:ext>
            </a:extLst>
          </p:cNvPr>
          <p:cNvGraphicFramePr>
            <a:graphicFrameLocks/>
          </p:cNvGraphicFramePr>
          <p:nvPr/>
        </p:nvGraphicFramePr>
        <p:xfrm>
          <a:off x="928688" y="2100263"/>
          <a:ext cx="3282950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2" r:id="rId7" imgW="1447749" imgH="361882" progId="Equation.DSMT4">
                  <p:embed/>
                </p:oleObj>
              </mc:Choice>
              <mc:Fallback>
                <p:oleObj r:id="rId7" imgW="1447749" imgH="361882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2100263"/>
                        <a:ext cx="3282950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6188" name="Rectangle 12">
            <a:extLst>
              <a:ext uri="{FF2B5EF4-FFF2-40B4-BE49-F238E27FC236}">
                <a16:creationId xmlns:a16="http://schemas.microsoft.com/office/drawing/2014/main" id="{C79030FA-C33E-433E-9C11-A85421D608C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167188" y="982663"/>
            <a:ext cx="5072062" cy="5381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kumimoji="1" lang="en-US" altLang="zh-CN" i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</a:t>
            </a:r>
            <a:r>
              <a:rPr kumimoji="1"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是常数，而</a:t>
            </a:r>
            <a:r>
              <a:rPr kumimoji="1"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     </a:t>
            </a:r>
            <a:r>
              <a:rPr kumimoji="1"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由阴极金属材料决定</a:t>
            </a:r>
            <a:endParaRPr kumimoji="1" lang="zh-CN" altLang="en-US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  <a:sym typeface="Wingdings" panose="05000000000000000000" pitchFamily="2" charset="2"/>
            </a:endParaRPr>
          </a:p>
        </p:txBody>
      </p:sp>
      <p:graphicFrame>
        <p:nvGraphicFramePr>
          <p:cNvPr id="946189" name="Object 13">
            <a:extLst>
              <a:ext uri="{FF2B5EF4-FFF2-40B4-BE49-F238E27FC236}">
                <a16:creationId xmlns:a16="http://schemas.microsoft.com/office/drawing/2014/main" id="{3C4E2EB6-9F0A-4E1A-AD7E-BA5DDA23332A}"/>
              </a:ext>
            </a:extLst>
          </p:cNvPr>
          <p:cNvGraphicFramePr>
            <a:graphicFrameLocks/>
          </p:cNvGraphicFramePr>
          <p:nvPr/>
        </p:nvGraphicFramePr>
        <p:xfrm>
          <a:off x="4727575" y="2133600"/>
          <a:ext cx="1525588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3" r:id="rId9" imgW="695433" imgH="361882" progId="Equation.3">
                  <p:embed/>
                </p:oleObj>
              </mc:Choice>
              <mc:Fallback>
                <p:oleObj r:id="rId9" imgW="695433" imgH="361882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2133600"/>
                        <a:ext cx="1525588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6190" name="Text Box 14">
            <a:extLst>
              <a:ext uri="{FF2B5EF4-FFF2-40B4-BE49-F238E27FC236}">
                <a16:creationId xmlns:a16="http://schemas.microsoft.com/office/drawing/2014/main" id="{46999F56-F8D4-4166-A3E1-B1DDF7797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20713"/>
            <a:ext cx="1520825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实验指出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64B61553-5CAB-40EC-93C7-7AA5ADA7D8EC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4252913"/>
            <a:ext cx="3124200" cy="2376487"/>
            <a:chOff x="3504" y="1095"/>
            <a:chExt cx="1968" cy="1497"/>
          </a:xfrm>
        </p:grpSpPr>
        <p:sp>
          <p:nvSpPr>
            <p:cNvPr id="41058" name="Rectangle 16">
              <a:extLst>
                <a:ext uri="{FF2B5EF4-FFF2-40B4-BE49-F238E27FC236}">
                  <a16:creationId xmlns:a16="http://schemas.microsoft.com/office/drawing/2014/main" id="{79445DB7-A9BA-4136-87F7-86A99072C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104"/>
              <a:ext cx="1968" cy="14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1059" name="Line 17">
              <a:extLst>
                <a:ext uri="{FF2B5EF4-FFF2-40B4-BE49-F238E27FC236}">
                  <a16:creationId xmlns:a16="http://schemas.microsoft.com/office/drawing/2014/main" id="{67C9A7FD-9DF8-4080-BCFF-FACC3F046C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3" y="1386"/>
              <a:ext cx="581" cy="95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0" name="Line 18">
              <a:extLst>
                <a:ext uri="{FF2B5EF4-FFF2-40B4-BE49-F238E27FC236}">
                  <a16:creationId xmlns:a16="http://schemas.microsoft.com/office/drawing/2014/main" id="{483F7F56-D1D3-420D-8C64-4D9FCBC555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0" y="1386"/>
              <a:ext cx="582" cy="95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1" name="Line 19">
              <a:extLst>
                <a:ext uri="{FF2B5EF4-FFF2-40B4-BE49-F238E27FC236}">
                  <a16:creationId xmlns:a16="http://schemas.microsoft.com/office/drawing/2014/main" id="{AB11CEBD-ADA5-4394-AA25-E08484F03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4" y="1386"/>
              <a:ext cx="581" cy="951"/>
            </a:xfrm>
            <a:prstGeom prst="line">
              <a:avLst/>
            </a:prstGeom>
            <a:noFill/>
            <a:ln w="38100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062" name="Object 20">
              <a:extLst>
                <a:ext uri="{FF2B5EF4-FFF2-40B4-BE49-F238E27FC236}">
                  <a16:creationId xmlns:a16="http://schemas.microsoft.com/office/drawing/2014/main" id="{D332A829-2403-45CA-92D8-A7B22AC53F2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762" y="1095"/>
            <a:ext cx="281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4" r:id="rId11" imgW="203024" imgH="228402" progId="Equation.3">
                    <p:embed/>
                  </p:oleObj>
                </mc:Choice>
                <mc:Fallback>
                  <p:oleObj r:id="rId11" imgW="203024" imgH="228402" progId="Equation.3">
                    <p:embed/>
                    <p:pic>
                      <p:nvPicPr>
                        <p:cNvPr id="0" name="Object 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2" y="1095"/>
                          <a:ext cx="281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63" name="Object 21">
              <a:extLst>
                <a:ext uri="{FF2B5EF4-FFF2-40B4-BE49-F238E27FC236}">
                  <a16:creationId xmlns:a16="http://schemas.microsoft.com/office/drawing/2014/main" id="{DF96F486-45EC-42D2-ACE9-92026A0745B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843" y="2296"/>
            <a:ext cx="233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5" r:id="rId13" imgW="241195" imgH="330057" progId="Equation.3">
                    <p:embed/>
                  </p:oleObj>
                </mc:Choice>
                <mc:Fallback>
                  <p:oleObj r:id="rId13" imgW="241195" imgH="330057" progId="Equation.3">
                    <p:embed/>
                    <p:pic>
                      <p:nvPicPr>
                        <p:cNvPr id="0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3" y="2296"/>
                          <a:ext cx="233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64" name="Object 22">
              <a:extLst>
                <a:ext uri="{FF2B5EF4-FFF2-40B4-BE49-F238E27FC236}">
                  <a16:creationId xmlns:a16="http://schemas.microsoft.com/office/drawing/2014/main" id="{3D318C99-00EC-4BE5-A755-E6B73259CCC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171" y="2358"/>
            <a:ext cx="171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6" r:id="rId15" imgW="177492" imgH="190170" progId="Equation.3">
                    <p:embed/>
                  </p:oleObj>
                </mc:Choice>
                <mc:Fallback>
                  <p:oleObj r:id="rId15" imgW="177492" imgH="190170" progId="Equation.3">
                    <p:embed/>
                    <p:pic>
                      <p:nvPicPr>
                        <p:cNvPr id="0" name="Object 2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1" y="2358"/>
                          <a:ext cx="171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65" name="Object 23">
              <a:extLst>
                <a:ext uri="{FF2B5EF4-FFF2-40B4-BE49-F238E27FC236}">
                  <a16:creationId xmlns:a16="http://schemas.microsoft.com/office/drawing/2014/main" id="{5F9CE03F-7730-43FF-82B5-B84A3714F84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83" y="1147"/>
            <a:ext cx="321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7" r:id="rId17" imgW="215526" imgH="177492" progId="Equation.3">
                    <p:embed/>
                  </p:oleObj>
                </mc:Choice>
                <mc:Fallback>
                  <p:oleObj r:id="rId17" imgW="215526" imgH="177492" progId="Equation.3">
                    <p:embed/>
                    <p:pic>
                      <p:nvPicPr>
                        <p:cNvPr id="0" name="Object 2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3" y="1147"/>
                          <a:ext cx="321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66" name="Object 24">
              <a:extLst>
                <a:ext uri="{FF2B5EF4-FFF2-40B4-BE49-F238E27FC236}">
                  <a16:creationId xmlns:a16="http://schemas.microsoft.com/office/drawing/2014/main" id="{BDBC9B1B-95EA-4800-8EA5-1685915FF9C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52" y="1142"/>
            <a:ext cx="345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8" r:id="rId19" imgW="240882" imgH="177492" progId="Equation.3">
                    <p:embed/>
                  </p:oleObj>
                </mc:Choice>
                <mc:Fallback>
                  <p:oleObj r:id="rId19" imgW="240882" imgH="177492" progId="Equation.3">
                    <p:embed/>
                    <p:pic>
                      <p:nvPicPr>
                        <p:cNvPr id="0" name="Object 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142"/>
                          <a:ext cx="345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67" name="Object 25">
              <a:extLst>
                <a:ext uri="{FF2B5EF4-FFF2-40B4-BE49-F238E27FC236}">
                  <a16:creationId xmlns:a16="http://schemas.microsoft.com/office/drawing/2014/main" id="{5807A740-E6B5-47FF-82DC-A7DE0DEA2E8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088" y="1139"/>
            <a:ext cx="341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9" r:id="rId21" imgW="228204" imgH="177492" progId="Equation.3">
                    <p:embed/>
                  </p:oleObj>
                </mc:Choice>
                <mc:Fallback>
                  <p:oleObj r:id="rId21" imgW="228204" imgH="177492" progId="Equation.3">
                    <p:embed/>
                    <p:pic>
                      <p:nvPicPr>
                        <p:cNvPr id="0" name="Object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1139"/>
                          <a:ext cx="341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68" name="Line 26">
              <a:extLst>
                <a:ext uri="{FF2B5EF4-FFF2-40B4-BE49-F238E27FC236}">
                  <a16:creationId xmlns:a16="http://schemas.microsoft.com/office/drawing/2014/main" id="{CEDF5F4B-96DC-443F-A5DB-D1B508D574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9" y="2344"/>
              <a:ext cx="161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9" name="Line 27">
              <a:extLst>
                <a:ext uri="{FF2B5EF4-FFF2-40B4-BE49-F238E27FC236}">
                  <a16:creationId xmlns:a16="http://schemas.microsoft.com/office/drawing/2014/main" id="{DB1F7CFD-4476-4193-B175-12C0E2296A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8" y="1269"/>
              <a:ext cx="0" cy="10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946204" name="Object 28">
            <a:extLst>
              <a:ext uri="{FF2B5EF4-FFF2-40B4-BE49-F238E27FC236}">
                <a16:creationId xmlns:a16="http://schemas.microsoft.com/office/drawing/2014/main" id="{0E4A8FAA-1F98-4D4E-9DE8-06E38D5A21A1}"/>
              </a:ext>
            </a:extLst>
          </p:cNvPr>
          <p:cNvGraphicFramePr>
            <a:graphicFrameLocks/>
          </p:cNvGraphicFramePr>
          <p:nvPr/>
        </p:nvGraphicFramePr>
        <p:xfrm>
          <a:off x="893763" y="1211263"/>
          <a:ext cx="2279650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0" r:id="rId23" imgW="1028776" imgH="361882" progId="Equation.DSMT4">
                  <p:embed/>
                </p:oleObj>
              </mc:Choice>
              <mc:Fallback>
                <p:oleObj r:id="rId23" imgW="1028776" imgH="361882" progId="Equation.DSMT4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1211263"/>
                        <a:ext cx="2279650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9">
            <a:extLst>
              <a:ext uri="{FF2B5EF4-FFF2-40B4-BE49-F238E27FC236}">
                <a16:creationId xmlns:a16="http://schemas.microsoft.com/office/drawing/2014/main" id="{5CA0C1E2-98E7-4B74-84DE-8DD4C3A89B42}"/>
              </a:ext>
            </a:extLst>
          </p:cNvPr>
          <p:cNvGrpSpPr>
            <a:grpSpLocks/>
          </p:cNvGrpSpPr>
          <p:nvPr/>
        </p:nvGrpSpPr>
        <p:grpSpPr bwMode="auto">
          <a:xfrm>
            <a:off x="5753100" y="2941638"/>
            <a:ext cx="3333750" cy="3916362"/>
            <a:chOff x="3463" y="969"/>
            <a:chExt cx="2100" cy="2467"/>
          </a:xfrm>
        </p:grpSpPr>
        <p:sp>
          <p:nvSpPr>
            <p:cNvPr id="41009" name="Line 30">
              <a:extLst>
                <a:ext uri="{FF2B5EF4-FFF2-40B4-BE49-F238E27FC236}">
                  <a16:creationId xmlns:a16="http://schemas.microsoft.com/office/drawing/2014/main" id="{B068C907-68F9-4140-AA14-49179894DD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51" y="971"/>
              <a:ext cx="8" cy="24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0" name="Line 31">
              <a:extLst>
                <a:ext uri="{FF2B5EF4-FFF2-40B4-BE49-F238E27FC236}">
                  <a16:creationId xmlns:a16="http://schemas.microsoft.com/office/drawing/2014/main" id="{540E5E82-D9BA-4C96-8FCF-DF968000D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8" y="969"/>
              <a:ext cx="0" cy="24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1" name="Line 32">
              <a:extLst>
                <a:ext uri="{FF2B5EF4-FFF2-40B4-BE49-F238E27FC236}">
                  <a16:creationId xmlns:a16="http://schemas.microsoft.com/office/drawing/2014/main" id="{61695A3C-408A-47A6-933A-FA4514D55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9" y="969"/>
              <a:ext cx="0" cy="24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2" name="Line 33">
              <a:extLst>
                <a:ext uri="{FF2B5EF4-FFF2-40B4-BE49-F238E27FC236}">
                  <a16:creationId xmlns:a16="http://schemas.microsoft.com/office/drawing/2014/main" id="{87AC29B4-9A92-43BA-9602-93247A345B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7" y="985"/>
              <a:ext cx="8" cy="24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3" name="Line 34">
              <a:extLst>
                <a:ext uri="{FF2B5EF4-FFF2-40B4-BE49-F238E27FC236}">
                  <a16:creationId xmlns:a16="http://schemas.microsoft.com/office/drawing/2014/main" id="{822E4FD4-ED9A-40FE-A6DB-C0D9B84AF6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518" y="-49"/>
              <a:ext cx="0" cy="2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4" name="Line 35">
              <a:extLst>
                <a:ext uri="{FF2B5EF4-FFF2-40B4-BE49-F238E27FC236}">
                  <a16:creationId xmlns:a16="http://schemas.microsoft.com/office/drawing/2014/main" id="{0923C2DA-F73D-46E0-B682-DE09F453012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97" y="2380"/>
              <a:ext cx="8" cy="2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15" name="Group 36">
              <a:extLst>
                <a:ext uri="{FF2B5EF4-FFF2-40B4-BE49-F238E27FC236}">
                  <a16:creationId xmlns:a16="http://schemas.microsoft.com/office/drawing/2014/main" id="{1F12900B-0600-433F-BD69-ECD9A281BA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4" y="1495"/>
              <a:ext cx="160" cy="1833"/>
              <a:chOff x="2057" y="1227"/>
              <a:chExt cx="160" cy="1833"/>
            </a:xfrm>
          </p:grpSpPr>
          <p:sp>
            <p:nvSpPr>
              <p:cNvPr id="41041" name="Rectangle 37">
                <a:extLst>
                  <a:ext uri="{FF2B5EF4-FFF2-40B4-BE49-F238E27FC236}">
                    <a16:creationId xmlns:a16="http://schemas.microsoft.com/office/drawing/2014/main" id="{FBE59E2A-9BD2-402A-8C37-B55FBAE85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3" y="1929"/>
                <a:ext cx="149" cy="1110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rgbClr val="80808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42" name="Rectangle 38">
                <a:extLst>
                  <a:ext uri="{FF2B5EF4-FFF2-40B4-BE49-F238E27FC236}">
                    <a16:creationId xmlns:a16="http://schemas.microsoft.com/office/drawing/2014/main" id="{0187E99D-0E1A-43DC-A7B1-F25FBCCA4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0" y="1249"/>
                <a:ext cx="152" cy="57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43" name="Rectangle 39">
                <a:extLst>
                  <a:ext uri="{FF2B5EF4-FFF2-40B4-BE49-F238E27FC236}">
                    <a16:creationId xmlns:a16="http://schemas.microsoft.com/office/drawing/2014/main" id="{07EF949F-529B-4969-B066-81AB73039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1" y="1343"/>
                <a:ext cx="153" cy="56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44" name="Rectangle 40">
                <a:extLst>
                  <a:ext uri="{FF2B5EF4-FFF2-40B4-BE49-F238E27FC236}">
                    <a16:creationId xmlns:a16="http://schemas.microsoft.com/office/drawing/2014/main" id="{3D28BD9B-0DE7-44FF-9D39-D296B6BACB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1" y="1440"/>
                <a:ext cx="151" cy="47"/>
              </a:xfrm>
              <a:prstGeom prst="rect">
                <a:avLst/>
              </a:prstGeom>
              <a:solidFill>
                <a:srgbClr val="CCFF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45" name="Rectangle 41">
                <a:extLst>
                  <a:ext uri="{FF2B5EF4-FFF2-40B4-BE49-F238E27FC236}">
                    <a16:creationId xmlns:a16="http://schemas.microsoft.com/office/drawing/2014/main" id="{5FAA7C2D-E47F-48A5-8737-7C0EC0F072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0" y="1526"/>
                <a:ext cx="152" cy="49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46" name="Rectangle 42">
                <a:extLst>
                  <a:ext uri="{FF2B5EF4-FFF2-40B4-BE49-F238E27FC236}">
                    <a16:creationId xmlns:a16="http://schemas.microsoft.com/office/drawing/2014/main" id="{6F991F66-B77E-47C4-BBCB-60E556991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1" y="1613"/>
                <a:ext cx="153" cy="56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47" name="Rectangle 43">
                <a:extLst>
                  <a:ext uri="{FF2B5EF4-FFF2-40B4-BE49-F238E27FC236}">
                    <a16:creationId xmlns:a16="http://schemas.microsoft.com/office/drawing/2014/main" id="{7479BCB7-65FB-4CAA-9FB0-0B72D98CC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0" y="1703"/>
                <a:ext cx="155" cy="50"/>
              </a:xfrm>
              <a:prstGeom prst="rect">
                <a:avLst/>
              </a:prstGeom>
              <a:solidFill>
                <a:srgbClr val="6600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48" name="Rectangle 44">
                <a:extLst>
                  <a:ext uri="{FF2B5EF4-FFF2-40B4-BE49-F238E27FC236}">
                    <a16:creationId xmlns:a16="http://schemas.microsoft.com/office/drawing/2014/main" id="{DB3833FA-65A0-4681-AF27-C252B3CF4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1" y="1573"/>
                <a:ext cx="153" cy="41"/>
              </a:xfrm>
              <a:prstGeom prst="rect">
                <a:avLst/>
              </a:prstGeom>
              <a:gradFill rotWithShape="0">
                <a:gsLst>
                  <a:gs pos="0">
                    <a:srgbClr val="33CC33"/>
                  </a:gs>
                  <a:gs pos="100000">
                    <a:srgbClr val="339966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49" name="Rectangle 45">
                <a:extLst>
                  <a:ext uri="{FF2B5EF4-FFF2-40B4-BE49-F238E27FC236}">
                    <a16:creationId xmlns:a16="http://schemas.microsoft.com/office/drawing/2014/main" id="{208F8FFF-E060-4050-89E2-57E3718EE2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1" y="1303"/>
                <a:ext cx="151" cy="41"/>
              </a:xfrm>
              <a:prstGeom prst="rect">
                <a:avLst/>
              </a:prstGeom>
              <a:gradFill rotWithShape="0">
                <a:gsLst>
                  <a:gs pos="0">
                    <a:srgbClr val="FF3300"/>
                  </a:gs>
                  <a:gs pos="100000">
                    <a:srgbClr val="FFCC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50" name="Rectangle 46">
                <a:extLst>
                  <a:ext uri="{FF2B5EF4-FFF2-40B4-BE49-F238E27FC236}">
                    <a16:creationId xmlns:a16="http://schemas.microsoft.com/office/drawing/2014/main" id="{90D174BE-B9FF-4538-ABA2-3C9AC62ED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1" y="1397"/>
                <a:ext cx="149" cy="43"/>
              </a:xfrm>
              <a:prstGeom prst="rect">
                <a:avLst/>
              </a:prstGeom>
              <a:gradFill rotWithShape="0">
                <a:gsLst>
                  <a:gs pos="0">
                    <a:srgbClr val="FFCC00"/>
                  </a:gs>
                  <a:gs pos="100000">
                    <a:srgbClr val="CCFF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51" name="Rectangle 47">
                <a:extLst>
                  <a:ext uri="{FF2B5EF4-FFF2-40B4-BE49-F238E27FC236}">
                    <a16:creationId xmlns:a16="http://schemas.microsoft.com/office/drawing/2014/main" id="{C874F3BC-DF3E-43E7-BA6F-62CDFE14F8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" y="1483"/>
                <a:ext cx="154" cy="44"/>
              </a:xfrm>
              <a:prstGeom prst="rect">
                <a:avLst/>
              </a:prstGeom>
              <a:gradFill rotWithShape="0">
                <a:gsLst>
                  <a:gs pos="0">
                    <a:srgbClr val="CCFF33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52" name="Rectangle 48">
                <a:extLst>
                  <a:ext uri="{FF2B5EF4-FFF2-40B4-BE49-F238E27FC236}">
                    <a16:creationId xmlns:a16="http://schemas.microsoft.com/office/drawing/2014/main" id="{0ADDC43F-9667-4ADB-9A71-04B02CC26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8" y="1666"/>
                <a:ext cx="147" cy="38"/>
              </a:xfrm>
              <a:prstGeom prst="rect">
                <a:avLst/>
              </a:prstGeom>
              <a:gradFill rotWithShape="0">
                <a:gsLst>
                  <a:gs pos="0">
                    <a:srgbClr val="339966"/>
                  </a:gs>
                  <a:gs pos="100000">
                    <a:srgbClr val="6600C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53" name="Rectangle 49">
                <a:extLst>
                  <a:ext uri="{FF2B5EF4-FFF2-40B4-BE49-F238E27FC236}">
                    <a16:creationId xmlns:a16="http://schemas.microsoft.com/office/drawing/2014/main" id="{EFD1E426-8D97-4F0D-BB30-F5E5F9A25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1" y="1740"/>
                <a:ext cx="153" cy="42"/>
              </a:xfrm>
              <a:prstGeom prst="rect">
                <a:avLst/>
              </a:prstGeom>
              <a:gradFill rotWithShape="0">
                <a:gsLst>
                  <a:gs pos="0">
                    <a:srgbClr val="6600CC"/>
                  </a:gs>
                  <a:gs pos="100000">
                    <a:srgbClr val="9900C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54" name="Rectangle 50">
                <a:extLst>
                  <a:ext uri="{FF2B5EF4-FFF2-40B4-BE49-F238E27FC236}">
                    <a16:creationId xmlns:a16="http://schemas.microsoft.com/office/drawing/2014/main" id="{300325F0-235F-4EFC-85DF-492E78437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3" y="1227"/>
                <a:ext cx="152" cy="25"/>
              </a:xfrm>
              <a:prstGeom prst="rect">
                <a:avLst/>
              </a:prstGeom>
              <a:gradFill rotWithShape="0">
                <a:gsLst>
                  <a:gs pos="0">
                    <a:srgbClr val="CC0000"/>
                  </a:gs>
                  <a:gs pos="100000">
                    <a:srgbClr val="FF33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55" name="Rectangle 51">
                <a:extLst>
                  <a:ext uri="{FF2B5EF4-FFF2-40B4-BE49-F238E27FC236}">
                    <a16:creationId xmlns:a16="http://schemas.microsoft.com/office/drawing/2014/main" id="{85EBEDB3-716A-40CC-8828-3C90B19ACD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1" y="1770"/>
                <a:ext cx="154" cy="50"/>
              </a:xfrm>
              <a:prstGeom prst="rect">
                <a:avLst/>
              </a:prstGeom>
              <a:gradFill rotWithShape="0">
                <a:gsLst>
                  <a:gs pos="0">
                    <a:srgbClr val="9900CC"/>
                  </a:gs>
                  <a:gs pos="100000">
                    <a:srgbClr val="660066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56" name="Rectangle 52">
                <a:extLst>
                  <a:ext uri="{FF2B5EF4-FFF2-40B4-BE49-F238E27FC236}">
                    <a16:creationId xmlns:a16="http://schemas.microsoft.com/office/drawing/2014/main" id="{B3135CD4-3828-472A-9AC7-156FB5DB7F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7" y="1814"/>
                <a:ext cx="148" cy="172"/>
              </a:xfrm>
              <a:prstGeom prst="rect">
                <a:avLst/>
              </a:prstGeom>
              <a:gradFill rotWithShape="0">
                <a:gsLst>
                  <a:gs pos="0">
                    <a:srgbClr val="660066"/>
                  </a:gs>
                  <a:gs pos="100000">
                    <a:srgbClr val="80808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1057" name="Rectangle 53">
                <a:extLst>
                  <a:ext uri="{FF2B5EF4-FFF2-40B4-BE49-F238E27FC236}">
                    <a16:creationId xmlns:a16="http://schemas.microsoft.com/office/drawing/2014/main" id="{C5580AB6-F0DF-40A4-B419-DE5E62824A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7" y="1227"/>
                <a:ext cx="160" cy="1833"/>
              </a:xfrm>
              <a:prstGeom prst="rect">
                <a:avLst/>
              </a:prstGeom>
              <a:noFill/>
              <a:ln w="5715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41016" name="Line 54">
              <a:extLst>
                <a:ext uri="{FF2B5EF4-FFF2-40B4-BE49-F238E27FC236}">
                  <a16:creationId xmlns:a16="http://schemas.microsoft.com/office/drawing/2014/main" id="{E084ACE1-9F46-4BA8-87D9-D833AA4BB6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521" y="358"/>
              <a:ext cx="0" cy="20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17" name="Group 55">
              <a:extLst>
                <a:ext uri="{FF2B5EF4-FFF2-40B4-BE49-F238E27FC236}">
                  <a16:creationId xmlns:a16="http://schemas.microsoft.com/office/drawing/2014/main" id="{7249650D-A85E-4C01-A251-AEE271E4C2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89" y="1080"/>
              <a:ext cx="124" cy="52"/>
              <a:chOff x="1260" y="2371"/>
              <a:chExt cx="151" cy="53"/>
            </a:xfrm>
          </p:grpSpPr>
          <p:sp>
            <p:nvSpPr>
              <p:cNvPr id="41039" name="Line 56">
                <a:extLst>
                  <a:ext uri="{FF2B5EF4-FFF2-40B4-BE49-F238E27FC236}">
                    <a16:creationId xmlns:a16="http://schemas.microsoft.com/office/drawing/2014/main" id="{26025400-67AA-4A5B-B6CF-A8A309469D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0" y="2371"/>
                <a:ext cx="15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0" name="Line 57">
                <a:extLst>
                  <a:ext uri="{FF2B5EF4-FFF2-40B4-BE49-F238E27FC236}">
                    <a16:creationId xmlns:a16="http://schemas.microsoft.com/office/drawing/2014/main" id="{7AF137B1-43F2-4616-9150-673ABA0AF0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0" y="2424"/>
                <a:ext cx="15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018" name="Group 58">
              <a:extLst>
                <a:ext uri="{FF2B5EF4-FFF2-40B4-BE49-F238E27FC236}">
                  <a16:creationId xmlns:a16="http://schemas.microsoft.com/office/drawing/2014/main" id="{77C0360C-F44D-4EDB-A708-F0B670507D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5" y="1046"/>
              <a:ext cx="171" cy="143"/>
              <a:chOff x="2152" y="3542"/>
              <a:chExt cx="204" cy="175"/>
            </a:xfrm>
          </p:grpSpPr>
          <p:sp>
            <p:nvSpPr>
              <p:cNvPr id="41037" name="WordArt 59">
                <a:extLst>
                  <a:ext uri="{FF2B5EF4-FFF2-40B4-BE49-F238E27FC236}">
                    <a16:creationId xmlns:a16="http://schemas.microsoft.com/office/drawing/2014/main" id="{7BA1044E-1486-468C-A390-641F19FD9888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152" y="3542"/>
                <a:ext cx="130" cy="15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rgbClr val="CC0000"/>
                      </a:solidFill>
                      <a:round/>
                      <a:headEnd/>
                      <a:tailEnd/>
                    </a:ln>
                    <a:solidFill>
                      <a:srgbClr val="CC0000"/>
                    </a:solidFill>
                    <a:latin typeface="Symbol" panose="05050102010706020507" pitchFamily="18" charset="2"/>
                  </a:rPr>
                  <a:t>n</a:t>
                </a:r>
                <a:endParaRPr lang="zh-CN" altLang="en-US" sz="3600" i="1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latin typeface="Symbol" panose="05050102010706020507" pitchFamily="18" charset="2"/>
                </a:endParaRPr>
              </a:p>
            </p:txBody>
          </p:sp>
          <p:sp>
            <p:nvSpPr>
              <p:cNvPr id="41038" name="WordArt 60">
                <a:extLst>
                  <a:ext uri="{FF2B5EF4-FFF2-40B4-BE49-F238E27FC236}">
                    <a16:creationId xmlns:a16="http://schemas.microsoft.com/office/drawing/2014/main" id="{0B789995-476A-4CF9-832F-318A40ED3C1F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274" y="3625"/>
                <a:ext cx="82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1400" kern="10">
                    <a:ln w="9525">
                      <a:solidFill>
                        <a:srgbClr val="CC0000"/>
                      </a:solidFill>
                      <a:round/>
                      <a:headEnd/>
                      <a:tailEnd/>
                    </a:ln>
                    <a:solidFill>
                      <a:srgbClr val="CC0000"/>
                    </a:solidFill>
                    <a:cs typeface="Times New Roman" panose="02020603050405020304" pitchFamily="18" charset="0"/>
                  </a:rPr>
                  <a:t>0</a:t>
                </a:r>
                <a:endParaRPr lang="zh-CN" altLang="en-US" sz="14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1019" name="WordArt 61">
              <a:extLst>
                <a:ext uri="{FF2B5EF4-FFF2-40B4-BE49-F238E27FC236}">
                  <a16:creationId xmlns:a16="http://schemas.microsoft.com/office/drawing/2014/main" id="{4DCDCD4A-EDB7-4DCF-9A75-8863DE7A755A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347" y="1052"/>
              <a:ext cx="81" cy="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latin typeface="Symbol" panose="05050102010706020507" pitchFamily="18" charset="2"/>
                </a:rPr>
                <a:t>n</a:t>
              </a:r>
              <a:endParaRPr lang="zh-CN" altLang="en-US" sz="3600" i="1" kern="10">
                <a:ln w="9525">
                  <a:solidFill>
                    <a:srgbClr val="CC0000"/>
                  </a:solidFill>
                  <a:round/>
                  <a:headEnd/>
                  <a:tailEnd/>
                </a:ln>
                <a:solidFill>
                  <a:srgbClr val="CC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41020" name="WordArt 62">
              <a:extLst>
                <a:ext uri="{FF2B5EF4-FFF2-40B4-BE49-F238E27FC236}">
                  <a16:creationId xmlns:a16="http://schemas.microsoft.com/office/drawing/2014/main" id="{1D0943E0-7D8C-4D7A-83CF-D80824FB8A3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423" y="1099"/>
              <a:ext cx="51" cy="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4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cs typeface="Times New Roman" panose="02020603050405020304" pitchFamily="18" charset="0"/>
                </a:rPr>
                <a:t>0</a:t>
              </a:r>
              <a:endParaRPr lang="zh-CN" altLang="en-US" sz="1400" kern="10">
                <a:ln w="9525">
                  <a:solidFill>
                    <a:srgbClr val="CC0000"/>
                  </a:solidFill>
                  <a:round/>
                  <a:headEnd/>
                  <a:tailEnd/>
                </a:ln>
                <a:solidFill>
                  <a:srgbClr val="CC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1021" name="WordArt 63">
              <a:extLst>
                <a:ext uri="{FF2B5EF4-FFF2-40B4-BE49-F238E27FC236}">
                  <a16:creationId xmlns:a16="http://schemas.microsoft.com/office/drawing/2014/main" id="{35964F31-2056-429A-8DB0-08EE6B96274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70" y="1036"/>
              <a:ext cx="147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3968"/>
                </a:avLst>
              </a:prstTxWarp>
            </a:bodyPr>
            <a:lstStyle/>
            <a:p>
              <a:pPr algn="ctr"/>
              <a:r>
                <a:rPr lang="en-US" altLang="zh-CN" sz="1200" i="1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latin typeface="Symbol" panose="05050102010706020507" pitchFamily="18" charset="2"/>
                </a:rPr>
                <a:t>l</a:t>
              </a:r>
              <a:endParaRPr lang="zh-CN" altLang="en-US" sz="1200" i="1" kern="10">
                <a:ln w="9525">
                  <a:solidFill>
                    <a:srgbClr val="CC0000"/>
                  </a:solidFill>
                  <a:round/>
                  <a:headEnd/>
                  <a:tailEnd/>
                </a:ln>
                <a:solidFill>
                  <a:srgbClr val="CC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41022" name="WordArt 64">
              <a:extLst>
                <a:ext uri="{FF2B5EF4-FFF2-40B4-BE49-F238E27FC236}">
                  <a16:creationId xmlns:a16="http://schemas.microsoft.com/office/drawing/2014/main" id="{07E4F44D-453F-4CE7-B06E-BE147F3CA72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168" y="1058"/>
              <a:ext cx="77" cy="9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2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c</a:t>
              </a:r>
              <a:endParaRPr lang="zh-CN" altLang="en-US" sz="12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1023" name="Line 65">
              <a:extLst>
                <a:ext uri="{FF2B5EF4-FFF2-40B4-BE49-F238E27FC236}">
                  <a16:creationId xmlns:a16="http://schemas.microsoft.com/office/drawing/2014/main" id="{5A32F19E-7323-4DF7-871E-6E6BABD94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59" y="1029"/>
              <a:ext cx="63" cy="1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4" name="WordArt 66">
              <a:extLst>
                <a:ext uri="{FF2B5EF4-FFF2-40B4-BE49-F238E27FC236}">
                  <a16:creationId xmlns:a16="http://schemas.microsoft.com/office/drawing/2014/main" id="{339B2EEC-03C1-4F25-A3B0-3F0F257EB6E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923" y="1127"/>
              <a:ext cx="51" cy="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4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cs typeface="Times New Roman" panose="02020603050405020304" pitchFamily="18" charset="0"/>
                </a:rPr>
                <a:t>0</a:t>
              </a:r>
              <a:endParaRPr lang="zh-CN" altLang="en-US" sz="1400" kern="10">
                <a:ln w="9525">
                  <a:solidFill>
                    <a:srgbClr val="CC0000"/>
                  </a:solidFill>
                  <a:round/>
                  <a:headEnd/>
                  <a:tailEnd/>
                </a:ln>
                <a:solidFill>
                  <a:srgbClr val="CC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1026" name="WordArt 67">
              <a:extLst>
                <a:ext uri="{FF2B5EF4-FFF2-40B4-BE49-F238E27FC236}">
                  <a16:creationId xmlns:a16="http://schemas.microsoft.com/office/drawing/2014/main" id="{D919D7B6-662F-4FC3-B588-6CCD176E156C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637" y="1720"/>
              <a:ext cx="1437" cy="1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钾 </a:t>
              </a:r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K     5.43    552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027" name="WordArt 68">
              <a:extLst>
                <a:ext uri="{FF2B5EF4-FFF2-40B4-BE49-F238E27FC236}">
                  <a16:creationId xmlns:a16="http://schemas.microsoft.com/office/drawing/2014/main" id="{8A1BDF1A-F331-42D7-A92A-8E60149C3A17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640" y="1491"/>
              <a:ext cx="1443" cy="1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銫 </a:t>
              </a:r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Cs    4.69     640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028" name="WordArt 69">
              <a:extLst>
                <a:ext uri="{FF2B5EF4-FFF2-40B4-BE49-F238E27FC236}">
                  <a16:creationId xmlns:a16="http://schemas.microsoft.com/office/drawing/2014/main" id="{C8416B40-BE41-487E-BCA3-BA5437CFB85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636" y="1981"/>
              <a:ext cx="1438" cy="1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钙 </a:t>
              </a:r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Ca    6.55     458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029" name="WordArt 70">
              <a:extLst>
                <a:ext uri="{FF2B5EF4-FFF2-40B4-BE49-F238E27FC236}">
                  <a16:creationId xmlns:a16="http://schemas.microsoft.com/office/drawing/2014/main" id="{49097506-B86F-4EE5-AA10-D8414463BF8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641" y="2244"/>
              <a:ext cx="1437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锌 </a:t>
              </a:r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Zn    8.06     372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030" name="WordArt 71">
              <a:extLst>
                <a:ext uri="{FF2B5EF4-FFF2-40B4-BE49-F238E27FC236}">
                  <a16:creationId xmlns:a16="http://schemas.microsoft.com/office/drawing/2014/main" id="{2B157A27-5ABB-48B2-9C0F-7DC57EF066D0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640" y="2501"/>
              <a:ext cx="1437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铝 </a:t>
              </a:r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Al     9.03    332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031" name="WordArt 72">
              <a:extLst>
                <a:ext uri="{FF2B5EF4-FFF2-40B4-BE49-F238E27FC236}">
                  <a16:creationId xmlns:a16="http://schemas.microsoft.com/office/drawing/2014/main" id="{5E50B2E0-A88A-439A-8EFB-281B03015167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643" y="2742"/>
              <a:ext cx="1431" cy="13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铜 </a:t>
              </a:r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Cu    10.80     278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032" name="WordArt 73">
              <a:extLst>
                <a:ext uri="{FF2B5EF4-FFF2-40B4-BE49-F238E27FC236}">
                  <a16:creationId xmlns:a16="http://schemas.microsoft.com/office/drawing/2014/main" id="{50399639-BB93-4A47-8461-9FF523B634E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653" y="2958"/>
              <a:ext cx="1410" cy="13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银 </a:t>
              </a:r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Ag    11.55     260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033" name="WordArt 74">
              <a:extLst>
                <a:ext uri="{FF2B5EF4-FFF2-40B4-BE49-F238E27FC236}">
                  <a16:creationId xmlns:a16="http://schemas.microsoft.com/office/drawing/2014/main" id="{3D37CBAC-6FE0-44BF-9464-0BFBFEC7277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649" y="3198"/>
              <a:ext cx="1411" cy="1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铂 </a:t>
              </a:r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Pt    15.28    196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" name="WordArt 75">
              <a:extLst>
                <a:ext uri="{FF2B5EF4-FFF2-40B4-BE49-F238E27FC236}">
                  <a16:creationId xmlns:a16="http://schemas.microsoft.com/office/drawing/2014/main" id="{E5D778EB-BB30-42B3-A671-9558BCA1BDB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622" y="1119"/>
              <a:ext cx="422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金  属</a:t>
              </a:r>
            </a:p>
          </p:txBody>
        </p:sp>
        <p:sp>
          <p:nvSpPr>
            <p:cNvPr id="41034" name="WordArt 76">
              <a:extLst>
                <a:ext uri="{FF2B5EF4-FFF2-40B4-BE49-F238E27FC236}">
                  <a16:creationId xmlns:a16="http://schemas.microsoft.com/office/drawing/2014/main" id="{0E6E4F27-2363-444A-98F8-D72FE108C13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990" y="1245"/>
              <a:ext cx="337" cy="9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( nm )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1036" name="WordArt 77">
              <a:extLst>
                <a:ext uri="{FF2B5EF4-FFF2-40B4-BE49-F238E27FC236}">
                  <a16:creationId xmlns:a16="http://schemas.microsoft.com/office/drawing/2014/main" id="{638ABEB3-465C-4F81-A2BE-E0C3C13AB35A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224" y="1248"/>
              <a:ext cx="463" cy="10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（</a:t>
              </a:r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10  Hz</a:t>
              </a:r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）</a:t>
              </a:r>
            </a:p>
          </p:txBody>
        </p:sp>
        <p:sp>
          <p:nvSpPr>
            <p:cNvPr id="6" name="WordArt 78">
              <a:extLst>
                <a:ext uri="{FF2B5EF4-FFF2-40B4-BE49-F238E27FC236}">
                  <a16:creationId xmlns:a16="http://schemas.microsoft.com/office/drawing/2014/main" id="{450CA47C-9B3C-4357-90F2-FEB263FB9676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408" y="1239"/>
              <a:ext cx="67" cy="5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14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79">
            <a:extLst>
              <a:ext uri="{FF2B5EF4-FFF2-40B4-BE49-F238E27FC236}">
                <a16:creationId xmlns:a16="http://schemas.microsoft.com/office/drawing/2014/main" id="{2B9F336E-D2F3-46FF-B122-70464576E836}"/>
              </a:ext>
            </a:extLst>
          </p:cNvPr>
          <p:cNvGrpSpPr>
            <a:grpSpLocks/>
          </p:cNvGrpSpPr>
          <p:nvPr/>
        </p:nvGrpSpPr>
        <p:grpSpPr bwMode="auto">
          <a:xfrm>
            <a:off x="0" y="4141788"/>
            <a:ext cx="2282825" cy="2563812"/>
            <a:chOff x="0" y="2609"/>
            <a:chExt cx="1438" cy="1615"/>
          </a:xfrm>
        </p:grpSpPr>
        <p:sp>
          <p:nvSpPr>
            <p:cNvPr id="40978" name="Line 80">
              <a:extLst>
                <a:ext uri="{FF2B5EF4-FFF2-40B4-BE49-F238E27FC236}">
                  <a16:creationId xmlns:a16="http://schemas.microsoft.com/office/drawing/2014/main" id="{061CDCF3-DA2B-4FDF-854A-B7A095AE16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" y="2615"/>
              <a:ext cx="0" cy="15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9" name="Line 81">
              <a:extLst>
                <a:ext uri="{FF2B5EF4-FFF2-40B4-BE49-F238E27FC236}">
                  <a16:creationId xmlns:a16="http://schemas.microsoft.com/office/drawing/2014/main" id="{4E8DA2DA-195A-40D6-8DAC-ADE32CFEA8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703" y="2911"/>
              <a:ext cx="0" cy="14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0" name="WordArt 82">
              <a:extLst>
                <a:ext uri="{FF2B5EF4-FFF2-40B4-BE49-F238E27FC236}">
                  <a16:creationId xmlns:a16="http://schemas.microsoft.com/office/drawing/2014/main" id="{5D1818EF-9A0E-4DEB-BA5F-BA1A35744116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75" y="3646"/>
              <a:ext cx="69" cy="10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zh-CN" alt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0981" name="Group 83">
              <a:extLst>
                <a:ext uri="{FF2B5EF4-FFF2-40B4-BE49-F238E27FC236}">
                  <a16:creationId xmlns:a16="http://schemas.microsoft.com/office/drawing/2014/main" id="{1BA586D6-A3CA-45F5-97E0-A88F5D3A39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" y="2674"/>
              <a:ext cx="225" cy="153"/>
              <a:chOff x="2170" y="1869"/>
              <a:chExt cx="237" cy="161"/>
            </a:xfrm>
          </p:grpSpPr>
          <p:sp>
            <p:nvSpPr>
              <p:cNvPr id="41007" name="WordArt 84">
                <a:extLst>
                  <a:ext uri="{FF2B5EF4-FFF2-40B4-BE49-F238E27FC236}">
                    <a16:creationId xmlns:a16="http://schemas.microsoft.com/office/drawing/2014/main" id="{EBA62D5C-1536-40A6-8AA4-45E642DA1951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170" y="1869"/>
                <a:ext cx="200" cy="15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4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U</a:t>
                </a:r>
                <a:endPara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41008" name="WordArt 85">
                <a:extLst>
                  <a:ext uri="{FF2B5EF4-FFF2-40B4-BE49-F238E27FC236}">
                    <a16:creationId xmlns:a16="http://schemas.microsoft.com/office/drawing/2014/main" id="{F41E1B3F-22BC-4B81-AED9-789B739D341E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328" y="1945"/>
                <a:ext cx="79" cy="8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0</a:t>
                </a:r>
                <a:endPara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0982" name="WordArt 86">
              <a:extLst>
                <a:ext uri="{FF2B5EF4-FFF2-40B4-BE49-F238E27FC236}">
                  <a16:creationId xmlns:a16="http://schemas.microsoft.com/office/drawing/2014/main" id="{20D8A42F-39B7-431B-836B-ACBE309089E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299" y="3413"/>
              <a:ext cx="95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Symbol" panose="05050102010706020507" pitchFamily="18" charset="2"/>
                </a:rPr>
                <a:t>n</a:t>
              </a:r>
              <a:endParaRPr lang="zh-CN" altLang="en-US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grpSp>
          <p:nvGrpSpPr>
            <p:cNvPr id="40983" name="Group 87">
              <a:extLst>
                <a:ext uri="{FF2B5EF4-FFF2-40B4-BE49-F238E27FC236}">
                  <a16:creationId xmlns:a16="http://schemas.microsoft.com/office/drawing/2014/main" id="{A5A12BC4-0858-4CC4-A287-474BC0DBEB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5" y="3741"/>
              <a:ext cx="126" cy="157"/>
              <a:chOff x="3126" y="3636"/>
              <a:chExt cx="191" cy="196"/>
            </a:xfrm>
          </p:grpSpPr>
          <p:sp>
            <p:nvSpPr>
              <p:cNvPr id="41005" name="WordArt 88">
                <a:extLst>
                  <a:ext uri="{FF2B5EF4-FFF2-40B4-BE49-F238E27FC236}">
                    <a16:creationId xmlns:a16="http://schemas.microsoft.com/office/drawing/2014/main" id="{DAC4FCA1-AFBB-4D36-92AC-91AEB5100B79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126" y="3636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Symbol" panose="05050102010706020507" pitchFamily="18" charset="2"/>
                  </a:rPr>
                  <a:t>n</a:t>
                </a:r>
                <a:endParaRPr lang="zh-CN" alt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Symbol" panose="05050102010706020507" pitchFamily="18" charset="2"/>
                </a:endParaRPr>
              </a:p>
            </p:txBody>
          </p:sp>
          <p:sp>
            <p:nvSpPr>
              <p:cNvPr id="41006" name="WordArt 89">
                <a:extLst>
                  <a:ext uri="{FF2B5EF4-FFF2-40B4-BE49-F238E27FC236}">
                    <a16:creationId xmlns:a16="http://schemas.microsoft.com/office/drawing/2014/main" id="{7098B92F-4112-4075-8106-66CD9E057793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237" y="3732"/>
                <a:ext cx="8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0984" name="Line 90">
              <a:extLst>
                <a:ext uri="{FF2B5EF4-FFF2-40B4-BE49-F238E27FC236}">
                  <a16:creationId xmlns:a16="http://schemas.microsoft.com/office/drawing/2014/main" id="{75E5207D-B24E-4215-A986-5F7C7825A6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0" y="2674"/>
              <a:ext cx="619" cy="93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5" name="Line 91">
              <a:extLst>
                <a:ext uri="{FF2B5EF4-FFF2-40B4-BE49-F238E27FC236}">
                  <a16:creationId xmlns:a16="http://schemas.microsoft.com/office/drawing/2014/main" id="{0D74D507-A796-430B-B8AC-48D46CDD10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" y="3638"/>
              <a:ext cx="311" cy="4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6" name="Oval 92">
              <a:extLst>
                <a:ext uri="{FF2B5EF4-FFF2-40B4-BE49-F238E27FC236}">
                  <a16:creationId xmlns:a16="http://schemas.microsoft.com/office/drawing/2014/main" id="{15011675-099B-476A-8A1B-AC9000AED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" y="4014"/>
              <a:ext cx="50" cy="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987" name="Oval 93">
              <a:extLst>
                <a:ext uri="{FF2B5EF4-FFF2-40B4-BE49-F238E27FC236}">
                  <a16:creationId xmlns:a16="http://schemas.microsoft.com/office/drawing/2014/main" id="{0465CFAE-95BC-457B-A7A3-B662C8E90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" y="3574"/>
              <a:ext cx="53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0988" name="Line 94">
              <a:extLst>
                <a:ext uri="{FF2B5EF4-FFF2-40B4-BE49-F238E27FC236}">
                  <a16:creationId xmlns:a16="http://schemas.microsoft.com/office/drawing/2014/main" id="{29646EF7-B299-42A7-BDDA-D89BD5360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" y="3569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9" name="Line 95">
              <a:extLst>
                <a:ext uri="{FF2B5EF4-FFF2-40B4-BE49-F238E27FC236}">
                  <a16:creationId xmlns:a16="http://schemas.microsoft.com/office/drawing/2014/main" id="{E335DAB2-86EA-4BB4-AD61-3F90DD2C7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3572"/>
              <a:ext cx="0" cy="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0" name="Line 96">
              <a:extLst>
                <a:ext uri="{FF2B5EF4-FFF2-40B4-BE49-F238E27FC236}">
                  <a16:creationId xmlns:a16="http://schemas.microsoft.com/office/drawing/2014/main" id="{E40B6E74-DF37-4F1C-B308-554122BDDD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9" y="3579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1" name="WordArt 97">
              <a:extLst>
                <a:ext uri="{FF2B5EF4-FFF2-40B4-BE49-F238E27FC236}">
                  <a16:creationId xmlns:a16="http://schemas.microsoft.com/office/drawing/2014/main" id="{3C1792E4-581A-4E1A-BAC2-06D7A4A5CC8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57" y="3642"/>
              <a:ext cx="31" cy="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992" name="WordArt 98">
              <a:extLst>
                <a:ext uri="{FF2B5EF4-FFF2-40B4-BE49-F238E27FC236}">
                  <a16:creationId xmlns:a16="http://schemas.microsoft.com/office/drawing/2014/main" id="{D300582A-4E51-44A9-A4AB-F0CBF7F7DC8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792" y="3636"/>
              <a:ext cx="32" cy="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8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993" name="WordArt 99">
              <a:extLst>
                <a:ext uri="{FF2B5EF4-FFF2-40B4-BE49-F238E27FC236}">
                  <a16:creationId xmlns:a16="http://schemas.microsoft.com/office/drawing/2014/main" id="{8C3754A5-0579-4D00-9E57-778B67D7A25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993" y="3634"/>
              <a:ext cx="52" cy="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0994" name="Group 100">
              <a:extLst>
                <a:ext uri="{FF2B5EF4-FFF2-40B4-BE49-F238E27FC236}">
                  <a16:creationId xmlns:a16="http://schemas.microsoft.com/office/drawing/2014/main" id="{7BF66A1F-CFDD-4B33-A761-F9BB186C73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6" y="3657"/>
              <a:ext cx="272" cy="99"/>
              <a:chOff x="3644" y="3543"/>
              <a:chExt cx="172" cy="83"/>
            </a:xfrm>
          </p:grpSpPr>
          <p:grpSp>
            <p:nvGrpSpPr>
              <p:cNvPr id="41000" name="Group 101">
                <a:extLst>
                  <a:ext uri="{FF2B5EF4-FFF2-40B4-BE49-F238E27FC236}">
                    <a16:creationId xmlns:a16="http://schemas.microsoft.com/office/drawing/2014/main" id="{4B24A026-1DC0-48B9-A867-2F44B21BD1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4" y="3567"/>
                <a:ext cx="41" cy="52"/>
                <a:chOff x="1781" y="2282"/>
                <a:chExt cx="577" cy="577"/>
              </a:xfrm>
            </p:grpSpPr>
            <p:sp>
              <p:nvSpPr>
                <p:cNvPr id="41003" name="Line 102">
                  <a:extLst>
                    <a:ext uri="{FF2B5EF4-FFF2-40B4-BE49-F238E27FC236}">
                      <a16:creationId xmlns:a16="http://schemas.microsoft.com/office/drawing/2014/main" id="{6F943801-CB01-48EC-9DAC-3E33330BAF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82" y="2282"/>
                  <a:ext cx="576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004" name="Line 103">
                  <a:extLst>
                    <a:ext uri="{FF2B5EF4-FFF2-40B4-BE49-F238E27FC236}">
                      <a16:creationId xmlns:a16="http://schemas.microsoft.com/office/drawing/2014/main" id="{98C94B2F-E6C2-4EE3-BF78-5067563EB7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1" y="2282"/>
                  <a:ext cx="577" cy="5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1001" name="WordArt 104">
                <a:extLst>
                  <a:ext uri="{FF2B5EF4-FFF2-40B4-BE49-F238E27FC236}">
                    <a16:creationId xmlns:a16="http://schemas.microsoft.com/office/drawing/2014/main" id="{50348ED8-C8EB-430B-8BF8-F953A143371B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709" y="3556"/>
                <a:ext cx="64" cy="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10</a:t>
                </a:r>
                <a:endParaRPr lang="zh-CN" altLang="en-US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41002" name="WordArt 105">
                <a:extLst>
                  <a:ext uri="{FF2B5EF4-FFF2-40B4-BE49-F238E27FC236}">
                    <a16:creationId xmlns:a16="http://schemas.microsoft.com/office/drawing/2014/main" id="{54F12C52-C17C-4809-A1E4-E62676E377E6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778" y="3543"/>
                <a:ext cx="38" cy="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1400" kern="10"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14</a:t>
                </a:r>
                <a:endParaRPr lang="zh-CN" altLang="en-US" sz="14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0995" name="Group 106">
              <a:extLst>
                <a:ext uri="{FF2B5EF4-FFF2-40B4-BE49-F238E27FC236}">
                  <a16:creationId xmlns:a16="http://schemas.microsoft.com/office/drawing/2014/main" id="{52BF8048-5E5C-4BF6-9F66-0029E98D5E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6" y="2609"/>
              <a:ext cx="166" cy="130"/>
              <a:chOff x="3993" y="2724"/>
              <a:chExt cx="174" cy="112"/>
            </a:xfrm>
          </p:grpSpPr>
          <p:sp>
            <p:nvSpPr>
              <p:cNvPr id="40998" name="WordArt 107">
                <a:extLst>
                  <a:ext uri="{FF2B5EF4-FFF2-40B4-BE49-F238E27FC236}">
                    <a16:creationId xmlns:a16="http://schemas.microsoft.com/office/drawing/2014/main" id="{18FFBBED-890D-4D87-B692-C0FCF021AEDB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993" y="2724"/>
                <a:ext cx="105" cy="1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1200" kern="10">
                    <a:ln w="9525">
                      <a:solidFill>
                        <a:srgbClr val="CC0000"/>
                      </a:solidFill>
                      <a:round/>
                      <a:headEnd/>
                      <a:tailEnd/>
                    </a:ln>
                    <a:solidFill>
                      <a:srgbClr val="CC0000"/>
                    </a:solidFill>
                    <a:cs typeface="Times New Roman" panose="02020603050405020304" pitchFamily="18" charset="0"/>
                  </a:rPr>
                  <a:t>N</a:t>
                </a:r>
                <a:endParaRPr lang="zh-CN" altLang="en-US" sz="12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40999" name="WordArt 108">
                <a:extLst>
                  <a:ext uri="{FF2B5EF4-FFF2-40B4-BE49-F238E27FC236}">
                    <a16:creationId xmlns:a16="http://schemas.microsoft.com/office/drawing/2014/main" id="{93D15E37-C828-41EB-8F21-49B60972CCC3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4109" y="2778"/>
                <a:ext cx="58" cy="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1200" i="1" kern="10">
                    <a:ln w="3175">
                      <a:solidFill>
                        <a:srgbClr val="CC0000"/>
                      </a:solidFill>
                      <a:round/>
                      <a:headEnd/>
                      <a:tailEnd/>
                    </a:ln>
                    <a:solidFill>
                      <a:srgbClr val="CC0000"/>
                    </a:solidFill>
                    <a:cs typeface="Times New Roman" panose="02020603050405020304" pitchFamily="18" charset="0"/>
                  </a:rPr>
                  <a:t>a</a:t>
                </a:r>
                <a:endParaRPr lang="zh-CN" altLang="en-US" sz="1200" i="1" kern="10">
                  <a:ln w="317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0996" name="WordArt 109">
              <a:extLst>
                <a:ext uri="{FF2B5EF4-FFF2-40B4-BE49-F238E27FC236}">
                  <a16:creationId xmlns:a16="http://schemas.microsoft.com/office/drawing/2014/main" id="{6464A71A-3A9A-4E9D-81ED-88DAE88D661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216" y="3801"/>
              <a:ext cx="126" cy="8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Hz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40997" name="Object 110">
              <a:extLst>
                <a:ext uri="{FF2B5EF4-FFF2-40B4-BE49-F238E27FC236}">
                  <a16:creationId xmlns:a16="http://schemas.microsoft.com/office/drawing/2014/main" id="{F647113D-C36C-4E97-B05A-B21B7436B90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26" y="3888"/>
            <a:ext cx="21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41" r:id="rId25" imgW="126725" imgH="202760" progId="Equation.3">
                    <p:embed/>
                  </p:oleObj>
                </mc:Choice>
                <mc:Fallback>
                  <p:oleObj r:id="rId25" imgW="126725" imgH="202760" progId="Equation.3">
                    <p:embed/>
                    <p:pic>
                      <p:nvPicPr>
                        <p:cNvPr id="0" name="Object 1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" y="3888"/>
                          <a:ext cx="21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4" name="Text Box 7">
            <a:extLst>
              <a:ext uri="{FF2B5EF4-FFF2-40B4-BE49-F238E27FC236}">
                <a16:creationId xmlns:a16="http://schemas.microsoft.com/office/drawing/2014/main" id="{82FDA022-E3AC-4526-98E5-FA0388718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95313"/>
            <a:ext cx="324008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与频率</a:t>
            </a:r>
            <a:r>
              <a:rPr kumimoji="1" lang="zh-CN" altLang="en-US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 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呈线性关系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;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</p:txBody>
      </p:sp>
      <p:graphicFrame>
        <p:nvGraphicFramePr>
          <p:cNvPr id="112" name="Object 112">
            <a:extLst>
              <a:ext uri="{FF2B5EF4-FFF2-40B4-BE49-F238E27FC236}">
                <a16:creationId xmlns:a16="http://schemas.microsoft.com/office/drawing/2014/main" id="{AC6622EB-4AAA-46CD-851C-93FE8A5B281A}"/>
              </a:ext>
            </a:extLst>
          </p:cNvPr>
          <p:cNvGraphicFramePr>
            <a:graphicFrameLocks/>
          </p:cNvGraphicFramePr>
          <p:nvPr/>
        </p:nvGraphicFramePr>
        <p:xfrm>
          <a:off x="2855913" y="650875"/>
          <a:ext cx="1243012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2" name="Equation" r:id="rId27" imgW="542829" imgH="171450" progId="Equation.DSMT4">
                  <p:embed/>
                </p:oleObj>
              </mc:Choice>
              <mc:Fallback>
                <p:oleObj name="Equation" r:id="rId27" imgW="542829" imgH="171450" progId="Equation.DSMT4">
                  <p:embed/>
                  <p:pic>
                    <p:nvPicPr>
                      <p:cNvPr id="0" name="Object 112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650875"/>
                        <a:ext cx="1243012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28A5E0E-B0A0-423D-AA54-0923AC07F4E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943600" y="1044079"/>
            <a:ext cx="478208" cy="461665"/>
          </a:xfrm>
          <a:prstGeom prst="rect">
            <a:avLst/>
          </a:prstGeom>
          <a:blipFill>
            <a:blip r:embed="rId29"/>
            <a:stretch>
              <a:fillRect l="-1282" r="-1282" b="-1842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946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4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4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46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4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4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6178" grpId="0"/>
      <p:bldP spid="946186" grpId="0"/>
      <p:bldP spid="946188" grpId="0" build="p"/>
      <p:bldP spid="1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3">
            <a:extLst>
              <a:ext uri="{FF2B5EF4-FFF2-40B4-BE49-F238E27FC236}">
                <a16:creationId xmlns:a16="http://schemas.microsoft.com/office/drawing/2014/main" id="{EFCF8563-3D52-4C70-8AE2-C8944A0A18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739CE9-819E-4E71-94FC-6A88F9D53009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zh-CN" altLang="zh-CN" sz="1400"/>
          </a:p>
        </p:txBody>
      </p:sp>
      <p:sp>
        <p:nvSpPr>
          <p:cNvPr id="947202" name="Rectangle 2">
            <a:extLst>
              <a:ext uri="{FF2B5EF4-FFF2-40B4-BE49-F238E27FC236}">
                <a16:creationId xmlns:a16="http://schemas.microsoft.com/office/drawing/2014/main" id="{451F5003-E9B8-46E8-9A3E-FE6CF2482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" y="2209800"/>
            <a:ext cx="8001000" cy="1524000"/>
          </a:xfrm>
          <a:prstGeom prst="rect">
            <a:avLst/>
          </a:prstGeom>
          <a:noFill/>
          <a:ln w="38100" cmpd="dbl">
            <a:solidFill>
              <a:srgbClr val="00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47203" name="AutoShape 3">
            <a:extLst>
              <a:ext uri="{FF2B5EF4-FFF2-40B4-BE49-F238E27FC236}">
                <a16:creationId xmlns:a16="http://schemas.microsoft.com/office/drawing/2014/main" id="{82123C9F-E477-42F2-A850-AB752265E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90800"/>
            <a:ext cx="603250" cy="838200"/>
          </a:xfrm>
          <a:custGeom>
            <a:avLst/>
            <a:gdLst>
              <a:gd name="T0" fmla="*/ 352895581 w 21600"/>
              <a:gd name="T1" fmla="*/ 0 h 21600"/>
              <a:gd name="T2" fmla="*/ 352895581 w 21600"/>
              <a:gd name="T3" fmla="*/ 315555291 h 21600"/>
              <a:gd name="T4" fmla="*/ 73519977 w 21600"/>
              <a:gd name="T5" fmla="*/ 315555291 h 21600"/>
              <a:gd name="T6" fmla="*/ 73519977 w 21600"/>
              <a:gd name="T7" fmla="*/ 946665913 h 21600"/>
              <a:gd name="T8" fmla="*/ 352895581 w 21600"/>
              <a:gd name="T9" fmla="*/ 946665913 h 21600"/>
              <a:gd name="T10" fmla="*/ 352895581 w 21600"/>
              <a:gd name="T11" fmla="*/ 1262221204 h 21600"/>
              <a:gd name="T12" fmla="*/ 470526929 w 21600"/>
              <a:gd name="T13" fmla="*/ 631110583 h 21600"/>
              <a:gd name="T14" fmla="*/ 29407823 w 21600"/>
              <a:gd name="T15" fmla="*/ 315555291 h 21600"/>
              <a:gd name="T16" fmla="*/ 29407823 w 21600"/>
              <a:gd name="T17" fmla="*/ 946665913 h 21600"/>
              <a:gd name="T18" fmla="*/ 58815674 w 21600"/>
              <a:gd name="T19" fmla="*/ 946665913 h 21600"/>
              <a:gd name="T20" fmla="*/ 58815674 w 21600"/>
              <a:gd name="T21" fmla="*/ 315555291 h 21600"/>
              <a:gd name="T22" fmla="*/ 0 w 21600"/>
              <a:gd name="T23" fmla="*/ 315555291 h 21600"/>
              <a:gd name="T24" fmla="*/ 0 w 21600"/>
              <a:gd name="T25" fmla="*/ 946665913 h 21600"/>
              <a:gd name="T26" fmla="*/ 14704303 w 21600"/>
              <a:gd name="T27" fmla="*/ 946665913 h 21600"/>
              <a:gd name="T28" fmla="*/ 14704303 w 21600"/>
              <a:gd name="T29" fmla="*/ 315555291 h 2160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7204" name="Rectangle 4">
            <a:extLst>
              <a:ext uri="{FF2B5EF4-FFF2-40B4-BE49-F238E27FC236}">
                <a16:creationId xmlns:a16="http://schemas.microsoft.com/office/drawing/2014/main" id="{EF3D02DF-C540-46F9-B50D-7A3C469026E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46138" y="2286000"/>
            <a:ext cx="9288462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kumimoji="1" lang="en-US" altLang="zh-CN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光电子最大初动能与入射光频率呈线性关系；与 </a:t>
            </a:r>
            <a:r>
              <a:rPr kumimoji="1" lang="en-US" altLang="zh-CN" b="0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I 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无关</a:t>
            </a:r>
            <a:endParaRPr kumimoji="1" lang="zh-CN" altLang="en-US" b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947205" name="Text Box 5">
            <a:extLst>
              <a:ext uri="{FF2B5EF4-FFF2-40B4-BE49-F238E27FC236}">
                <a16:creationId xmlns:a16="http://schemas.microsoft.com/office/drawing/2014/main" id="{86057A19-6E6E-45B5-B65A-28E1BA9B8BE2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04800" y="4030663"/>
            <a:ext cx="4419600" cy="622300"/>
          </a:xfrm>
          <a:prstGeom prst="rect">
            <a:avLst/>
          </a:prstGeom>
          <a:noFill/>
          <a:ln w="2857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45000"/>
              </a:lnSpc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4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.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光电效应是瞬时发生的</a:t>
            </a:r>
            <a:endParaRPr kumimoji="1" lang="zh-CN" altLang="en-US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947206" name="Text Box 6">
            <a:extLst>
              <a:ext uri="{FF2B5EF4-FFF2-40B4-BE49-F238E27FC236}">
                <a16:creationId xmlns:a16="http://schemas.microsoft.com/office/drawing/2014/main" id="{53CD1C29-8A8D-4300-8B42-1C5AB49E447E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09600" y="4694238"/>
            <a:ext cx="9070975" cy="895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不论入射光强多小，只要入射频率 </a:t>
            </a:r>
            <a:r>
              <a:rPr kumimoji="1" lang="en-US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ν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 &gt; </a:t>
            </a:r>
            <a:r>
              <a:rPr kumimoji="1" lang="en-US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ν</a:t>
            </a:r>
            <a:r>
              <a:rPr kumimoji="1" lang="en-US" altLang="zh-CN" baseline="-25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，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光电效应的弛豫时间小于 </a:t>
            </a: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10</a:t>
            </a:r>
            <a:r>
              <a:rPr kumimoji="1" lang="en-US" altLang="zh-CN" b="0" baseline="30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-9</a:t>
            </a: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 s 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Wingdings" panose="05000000000000000000" pitchFamily="2" charset="2"/>
              </a:rPr>
              <a:t>。</a:t>
            </a:r>
          </a:p>
        </p:txBody>
      </p:sp>
      <p:sp>
        <p:nvSpPr>
          <p:cNvPr id="947207" name="Rectangle 7">
            <a:extLst>
              <a:ext uri="{FF2B5EF4-FFF2-40B4-BE49-F238E27FC236}">
                <a16:creationId xmlns:a16="http://schemas.microsoft.com/office/drawing/2014/main" id="{D2081879-DA48-4852-83A9-2E685DBEB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35275"/>
            <a:ext cx="952500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Wingdings" panose="05000000000000000000" pitchFamily="2" charset="2"/>
              </a:rPr>
              <a:t>）对于每一种金属，只有当入射光频率</a:t>
            </a:r>
            <a:r>
              <a:rPr kumimoji="1" lang="en-US" altLang="zh-CN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Wingdings" panose="05000000000000000000" pitchFamily="2" charset="2"/>
              </a:rPr>
              <a:t>ν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Wingdings" panose="05000000000000000000" pitchFamily="2" charset="2"/>
              </a:rPr>
              <a:t> &gt; </a:t>
            </a:r>
            <a:r>
              <a:rPr kumimoji="1" lang="en-US" altLang="zh-CN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ν</a:t>
            </a:r>
            <a:r>
              <a:rPr kumimoji="1" lang="en-US" altLang="zh-CN" baseline="-250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时，</a:t>
            </a:r>
          </a:p>
          <a:p>
            <a:pPr eaLnBrk="1" hangingPunct="1"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         才会产生光电效应。 </a:t>
            </a:r>
          </a:p>
        </p:txBody>
      </p:sp>
      <p:sp>
        <p:nvSpPr>
          <p:cNvPr id="947208" name="Text Box 8">
            <a:extLst>
              <a:ext uri="{FF2B5EF4-FFF2-40B4-BE49-F238E27FC236}">
                <a16:creationId xmlns:a16="http://schemas.microsoft.com/office/drawing/2014/main" id="{18A7D150-B0B8-4F18-AE31-407058E9A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219200"/>
            <a:ext cx="29718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红限频率</a:t>
            </a:r>
          </a:p>
        </p:txBody>
      </p:sp>
      <p:grpSp>
        <p:nvGrpSpPr>
          <p:cNvPr id="41994" name="Group 9">
            <a:extLst>
              <a:ext uri="{FF2B5EF4-FFF2-40B4-BE49-F238E27FC236}">
                <a16:creationId xmlns:a16="http://schemas.microsoft.com/office/drawing/2014/main" id="{E5ECC8B8-232D-46C2-AAB2-53128C575DB6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143000"/>
            <a:ext cx="1981200" cy="914400"/>
            <a:chOff x="1872" y="2112"/>
            <a:chExt cx="1248" cy="576"/>
          </a:xfrm>
        </p:grpSpPr>
        <p:sp>
          <p:nvSpPr>
            <p:cNvPr id="947210" name="Rectangle 10">
              <a:extLst>
                <a:ext uri="{FF2B5EF4-FFF2-40B4-BE49-F238E27FC236}">
                  <a16:creationId xmlns:a16="http://schemas.microsoft.com/office/drawing/2014/main" id="{5F3A7F3E-3D42-4AAE-80D8-DA4AA89D0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12"/>
              <a:ext cx="1248" cy="576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graphicFrame>
          <p:nvGraphicFramePr>
            <p:cNvPr id="41997" name="Object 11">
              <a:extLst>
                <a:ext uri="{FF2B5EF4-FFF2-40B4-BE49-F238E27FC236}">
                  <a16:creationId xmlns:a16="http://schemas.microsoft.com/office/drawing/2014/main" id="{0C925243-5559-4D5E-BF57-868E7EE403E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67" y="2112"/>
            <a:ext cx="770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22" r:id="rId3" imgW="504908" imgH="361882" progId="Equation.3">
                    <p:embed/>
                  </p:oleObj>
                </mc:Choice>
                <mc:Fallback>
                  <p:oleObj r:id="rId3" imgW="504908" imgH="361882" progId="Equation.3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7" y="2112"/>
                          <a:ext cx="770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995" name="Object 12">
            <a:extLst>
              <a:ext uri="{FF2B5EF4-FFF2-40B4-BE49-F238E27FC236}">
                <a16:creationId xmlns:a16="http://schemas.microsoft.com/office/drawing/2014/main" id="{1FFA9153-90C2-45EB-ADFC-247A6D44747D}"/>
              </a:ext>
            </a:extLst>
          </p:cNvPr>
          <p:cNvGraphicFramePr>
            <a:graphicFrameLocks/>
          </p:cNvGraphicFramePr>
          <p:nvPr/>
        </p:nvGraphicFramePr>
        <p:xfrm>
          <a:off x="1712913" y="-33338"/>
          <a:ext cx="3084512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3" r:id="rId5" imgW="1352639" imgH="361882" progId="Equation.3">
                  <p:embed/>
                </p:oleObj>
              </mc:Choice>
              <mc:Fallback>
                <p:oleObj r:id="rId5" imgW="1352639" imgH="361882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913" y="-33338"/>
                        <a:ext cx="3084512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4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94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4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4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94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94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7202" grpId="0" animBg="1"/>
      <p:bldP spid="947204" grpId="0"/>
      <p:bldP spid="947205" grpId="0"/>
      <p:bldP spid="947206" grpId="0"/>
      <p:bldP spid="94720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3">
            <a:extLst>
              <a:ext uri="{FF2B5EF4-FFF2-40B4-BE49-F238E27FC236}">
                <a16:creationId xmlns:a16="http://schemas.microsoft.com/office/drawing/2014/main" id="{FEE38FC7-3328-4EDB-BCB6-344EB89F46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EA0BCD-502E-4A88-B528-7391F6D4499E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zh-CN" altLang="zh-CN" sz="14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E4BCDD14-215D-4819-BA76-25E6AE03D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84963"/>
            <a:ext cx="9144000" cy="166687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157DB6B-5F32-47CD-B10D-650E111E9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025" y="865188"/>
            <a:ext cx="92075" cy="5835650"/>
          </a:xfrm>
          <a:prstGeom prst="rect">
            <a:avLst/>
          </a:prstGeom>
          <a:solidFill>
            <a:srgbClr val="99CCFF"/>
          </a:soli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43013" name="Rectangle 4">
            <a:extLst>
              <a:ext uri="{FF2B5EF4-FFF2-40B4-BE49-F238E27FC236}">
                <a16:creationId xmlns:a16="http://schemas.microsoft.com/office/drawing/2014/main" id="{4F0E339C-F5BB-4019-992D-3435AF3FEE9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0" y="1397000"/>
            <a:ext cx="9144000" cy="111125"/>
          </a:xfrm>
          <a:prstGeom prst="rect">
            <a:avLst/>
          </a:prstGeom>
          <a:solidFill>
            <a:srgbClr val="99CCFF"/>
          </a:soli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43014" name="Rectangle 5">
            <a:extLst>
              <a:ext uri="{FF2B5EF4-FFF2-40B4-BE49-F238E27FC236}">
                <a16:creationId xmlns:a16="http://schemas.microsoft.com/office/drawing/2014/main" id="{AC60D93D-A472-472B-A8F1-09AD96793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9625"/>
            <a:ext cx="9144000" cy="87313"/>
          </a:xfrm>
          <a:prstGeom prst="rect">
            <a:avLst/>
          </a:prstGeom>
          <a:solidFill>
            <a:srgbClr val="99CCFF"/>
          </a:soli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AB07B34D-82F1-4BFA-8129-D776AE12A8D6}"/>
              </a:ext>
            </a:extLst>
          </p:cNvPr>
          <p:cNvGrpSpPr>
            <a:grpSpLocks/>
          </p:cNvGrpSpPr>
          <p:nvPr/>
        </p:nvGrpSpPr>
        <p:grpSpPr bwMode="auto">
          <a:xfrm>
            <a:off x="415925" y="1795463"/>
            <a:ext cx="3875088" cy="1233487"/>
            <a:chOff x="262" y="1131"/>
            <a:chExt cx="2441" cy="777"/>
          </a:xfrm>
        </p:grpSpPr>
        <p:sp>
          <p:nvSpPr>
            <p:cNvPr id="43081" name="WordArt 7">
              <a:extLst>
                <a:ext uri="{FF2B5EF4-FFF2-40B4-BE49-F238E27FC236}">
                  <a16:creationId xmlns:a16="http://schemas.microsoft.com/office/drawing/2014/main" id="{4A77CAFD-BD80-4CC7-9283-0B6E732D1F87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98" y="1131"/>
              <a:ext cx="1994" cy="16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latin typeface="楷体_GB2312" panose="02010609030101010101" pitchFamily="49" charset="-122"/>
                </a:rPr>
                <a:t>初动能与光强有关</a:t>
              </a:r>
            </a:p>
          </p:txBody>
        </p:sp>
        <p:sp>
          <p:nvSpPr>
            <p:cNvPr id="43082" name="WordArt 8">
              <a:extLst>
                <a:ext uri="{FF2B5EF4-FFF2-40B4-BE49-F238E27FC236}">
                  <a16:creationId xmlns:a16="http://schemas.microsoft.com/office/drawing/2014/main" id="{3A73BDFF-9804-47E1-9910-3FACDA4F2617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812" y="1716"/>
              <a:ext cx="891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应与光强有关</a:t>
              </a:r>
            </a:p>
          </p:txBody>
        </p:sp>
        <p:sp>
          <p:nvSpPr>
            <p:cNvPr id="43083" name="WordArt 9">
              <a:extLst>
                <a:ext uri="{FF2B5EF4-FFF2-40B4-BE49-F238E27FC236}">
                  <a16:creationId xmlns:a16="http://schemas.microsoft.com/office/drawing/2014/main" id="{8FDDD3BB-CEDB-4024-8390-488116FAEDE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3" y="1425"/>
              <a:ext cx="2203" cy="19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电子从具有一定振幅的光波中吸收</a:t>
              </a:r>
            </a:p>
          </p:txBody>
        </p:sp>
        <p:sp>
          <p:nvSpPr>
            <p:cNvPr id="43018" name="WordArt 10">
              <a:extLst>
                <a:ext uri="{FF2B5EF4-FFF2-40B4-BE49-F238E27FC236}">
                  <a16:creationId xmlns:a16="http://schemas.microsoft.com/office/drawing/2014/main" id="{77BF7B33-1FC8-461A-BE7C-99BAC644F21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63" y="1703"/>
              <a:ext cx="1307" cy="2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能量而逸出</a:t>
              </a:r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其初动能</a:t>
              </a:r>
            </a:p>
          </p:txBody>
        </p:sp>
        <p:grpSp>
          <p:nvGrpSpPr>
            <p:cNvPr id="43085" name="Group 11">
              <a:extLst>
                <a:ext uri="{FF2B5EF4-FFF2-40B4-BE49-F238E27FC236}">
                  <a16:creationId xmlns:a16="http://schemas.microsoft.com/office/drawing/2014/main" id="{21DBF883-0333-4953-AE88-926A2D29EC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" y="1147"/>
              <a:ext cx="143" cy="146"/>
              <a:chOff x="3045" y="1834"/>
              <a:chExt cx="101" cy="101"/>
            </a:xfrm>
          </p:grpSpPr>
          <p:sp>
            <p:nvSpPr>
              <p:cNvPr id="43086" name="Oval 12">
                <a:extLst>
                  <a:ext uri="{FF2B5EF4-FFF2-40B4-BE49-F238E27FC236}">
                    <a16:creationId xmlns:a16="http://schemas.microsoft.com/office/drawing/2014/main" id="{44AFDB85-9BF1-41F9-85B2-9871B1B29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834"/>
                <a:ext cx="101" cy="101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9E00"/>
                  </a:gs>
                </a:gsLst>
                <a:lin ang="2700000" scaled="1"/>
              </a:gradFill>
              <a:ln w="9525">
                <a:solidFill>
                  <a:srgbClr val="0099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3087" name="Oval 13">
                <a:extLst>
                  <a:ext uri="{FF2B5EF4-FFF2-40B4-BE49-F238E27FC236}">
                    <a16:creationId xmlns:a16="http://schemas.microsoft.com/office/drawing/2014/main" id="{B2E7E18D-3129-4F72-9B77-1C7FDDB2F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011591">
                <a:off x="3061" y="1850"/>
                <a:ext cx="39" cy="44"/>
              </a:xfrm>
              <a:prstGeom prst="ellipse">
                <a:avLst/>
              </a:prstGeom>
              <a:gradFill rotWithShape="0">
                <a:gsLst>
                  <a:gs pos="0">
                    <a:srgbClr val="7BFFDC"/>
                  </a:gs>
                  <a:gs pos="100000">
                    <a:srgbClr val="00D09A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476ADC2F-73FD-474A-810E-64C7FFA80694}"/>
              </a:ext>
            </a:extLst>
          </p:cNvPr>
          <p:cNvGrpSpPr>
            <a:grpSpLocks/>
          </p:cNvGrpSpPr>
          <p:nvPr/>
        </p:nvGrpSpPr>
        <p:grpSpPr bwMode="auto">
          <a:xfrm>
            <a:off x="436563" y="3327400"/>
            <a:ext cx="4016375" cy="1250950"/>
            <a:chOff x="275" y="2096"/>
            <a:chExt cx="2530" cy="788"/>
          </a:xfrm>
        </p:grpSpPr>
        <p:sp>
          <p:nvSpPr>
            <p:cNvPr id="43075" name="WordArt 15">
              <a:extLst>
                <a:ext uri="{FF2B5EF4-FFF2-40B4-BE49-F238E27FC236}">
                  <a16:creationId xmlns:a16="http://schemas.microsoft.com/office/drawing/2014/main" id="{06C0E17E-A588-4D35-9AD3-908FA114917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5" y="2374"/>
              <a:ext cx="2330" cy="19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2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不论什么频率，只要光足够强，总可  </a:t>
              </a:r>
            </a:p>
          </p:txBody>
        </p:sp>
        <p:sp>
          <p:nvSpPr>
            <p:cNvPr id="43076" name="WordArt 16">
              <a:extLst>
                <a:ext uri="{FF2B5EF4-FFF2-40B4-BE49-F238E27FC236}">
                  <a16:creationId xmlns:a16="http://schemas.microsoft.com/office/drawing/2014/main" id="{A11C6049-96BD-4FFE-95FD-5B5BE71C486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87" y="2689"/>
              <a:ext cx="2240" cy="19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连续供给电子足够的能量而逸出。</a:t>
              </a:r>
            </a:p>
          </p:txBody>
        </p:sp>
        <p:sp>
          <p:nvSpPr>
            <p:cNvPr id="43077" name="WordArt 17">
              <a:extLst>
                <a:ext uri="{FF2B5EF4-FFF2-40B4-BE49-F238E27FC236}">
                  <a16:creationId xmlns:a16="http://schemas.microsoft.com/office/drawing/2014/main" id="{BCC15683-20B4-4ED5-9173-8CCAFE5D5B01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99" y="2096"/>
              <a:ext cx="990" cy="1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latin typeface="楷体_GB2312" panose="02010609030101010101" pitchFamily="49" charset="-122"/>
                </a:rPr>
                <a:t>无红限</a:t>
              </a:r>
            </a:p>
          </p:txBody>
        </p:sp>
        <p:grpSp>
          <p:nvGrpSpPr>
            <p:cNvPr id="43078" name="Group 18">
              <a:extLst>
                <a:ext uri="{FF2B5EF4-FFF2-40B4-BE49-F238E27FC236}">
                  <a16:creationId xmlns:a16="http://schemas.microsoft.com/office/drawing/2014/main" id="{84002D4C-4E48-45AA-B38A-FAD76948A1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" y="2112"/>
              <a:ext cx="143" cy="146"/>
              <a:chOff x="3045" y="1834"/>
              <a:chExt cx="101" cy="101"/>
            </a:xfrm>
          </p:grpSpPr>
          <p:sp>
            <p:nvSpPr>
              <p:cNvPr id="43079" name="Oval 19">
                <a:extLst>
                  <a:ext uri="{FF2B5EF4-FFF2-40B4-BE49-F238E27FC236}">
                    <a16:creationId xmlns:a16="http://schemas.microsoft.com/office/drawing/2014/main" id="{91EDE92D-7ABB-4141-A617-2BD2203EEE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834"/>
                <a:ext cx="101" cy="101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9E00"/>
                  </a:gs>
                </a:gsLst>
                <a:lin ang="2700000" scaled="1"/>
              </a:gradFill>
              <a:ln w="9525">
                <a:solidFill>
                  <a:srgbClr val="0099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3080" name="Oval 20">
                <a:extLst>
                  <a:ext uri="{FF2B5EF4-FFF2-40B4-BE49-F238E27FC236}">
                    <a16:creationId xmlns:a16="http://schemas.microsoft.com/office/drawing/2014/main" id="{A5F8A018-849E-4B8A-AB0A-93B6D3B55A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011591">
                <a:off x="3061" y="1850"/>
                <a:ext cx="39" cy="44"/>
              </a:xfrm>
              <a:prstGeom prst="ellipse">
                <a:avLst/>
              </a:prstGeom>
              <a:gradFill rotWithShape="0">
                <a:gsLst>
                  <a:gs pos="0">
                    <a:srgbClr val="7BFFDC"/>
                  </a:gs>
                  <a:gs pos="100000">
                    <a:srgbClr val="00D09A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</p:grpSp>
      <p:grpSp>
        <p:nvGrpSpPr>
          <p:cNvPr id="6" name="Group 21">
            <a:extLst>
              <a:ext uri="{FF2B5EF4-FFF2-40B4-BE49-F238E27FC236}">
                <a16:creationId xmlns:a16="http://schemas.microsoft.com/office/drawing/2014/main" id="{EAC3CEAD-B040-45AE-9860-94575D0FB409}"/>
              </a:ext>
            </a:extLst>
          </p:cNvPr>
          <p:cNvGrpSpPr>
            <a:grpSpLocks/>
          </p:cNvGrpSpPr>
          <p:nvPr/>
        </p:nvGrpSpPr>
        <p:grpSpPr bwMode="auto">
          <a:xfrm>
            <a:off x="409575" y="4891088"/>
            <a:ext cx="3954463" cy="1320800"/>
            <a:chOff x="258" y="3081"/>
            <a:chExt cx="2491" cy="832"/>
          </a:xfrm>
        </p:grpSpPr>
        <p:sp>
          <p:nvSpPr>
            <p:cNvPr id="43069" name="WordArt 22">
              <a:extLst>
                <a:ext uri="{FF2B5EF4-FFF2-40B4-BE49-F238E27FC236}">
                  <a16:creationId xmlns:a16="http://schemas.microsoft.com/office/drawing/2014/main" id="{85D9F38A-B66A-47DE-87BA-9C3465893FD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05" y="3081"/>
              <a:ext cx="2027" cy="1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latin typeface="楷体_GB2312" panose="02010609030101010101" pitchFamily="49" charset="-122"/>
                </a:rPr>
                <a:t>响应快慢取决光强</a:t>
              </a:r>
            </a:p>
          </p:txBody>
        </p:sp>
        <p:sp>
          <p:nvSpPr>
            <p:cNvPr id="43070" name="WordArt 23">
              <a:extLst>
                <a:ext uri="{FF2B5EF4-FFF2-40B4-BE49-F238E27FC236}">
                  <a16:creationId xmlns:a16="http://schemas.microsoft.com/office/drawing/2014/main" id="{EA6C0E35-76F8-4175-9405-49ABE6D0F889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5" y="3386"/>
              <a:ext cx="2219" cy="20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光强越弱，电子从连续光波中吸收</a:t>
              </a:r>
            </a:p>
          </p:txBody>
        </p:sp>
        <p:sp>
          <p:nvSpPr>
            <p:cNvPr id="43071" name="WordArt 24">
              <a:extLst>
                <a:ext uri="{FF2B5EF4-FFF2-40B4-BE49-F238E27FC236}">
                  <a16:creationId xmlns:a16="http://schemas.microsoft.com/office/drawing/2014/main" id="{3D18738C-DDE0-4A68-91B8-240E1821EE8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76" y="3708"/>
              <a:ext cx="2273" cy="20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并累积能量到逸出所需的时间越长。</a:t>
              </a:r>
            </a:p>
          </p:txBody>
        </p:sp>
        <p:grpSp>
          <p:nvGrpSpPr>
            <p:cNvPr id="43072" name="Group 25">
              <a:extLst>
                <a:ext uri="{FF2B5EF4-FFF2-40B4-BE49-F238E27FC236}">
                  <a16:creationId xmlns:a16="http://schemas.microsoft.com/office/drawing/2014/main" id="{B07CD8DF-7381-4378-A33E-5EF254E0CA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" y="3085"/>
              <a:ext cx="143" cy="146"/>
              <a:chOff x="3045" y="1834"/>
              <a:chExt cx="101" cy="101"/>
            </a:xfrm>
          </p:grpSpPr>
          <p:sp>
            <p:nvSpPr>
              <p:cNvPr id="43073" name="Oval 26">
                <a:extLst>
                  <a:ext uri="{FF2B5EF4-FFF2-40B4-BE49-F238E27FC236}">
                    <a16:creationId xmlns:a16="http://schemas.microsoft.com/office/drawing/2014/main" id="{62C94D1B-FE1B-48BE-8098-CC184B8C0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5" y="1834"/>
                <a:ext cx="101" cy="101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009E00"/>
                  </a:gs>
                </a:gsLst>
                <a:lin ang="2700000" scaled="1"/>
              </a:gradFill>
              <a:ln w="9525">
                <a:solidFill>
                  <a:srgbClr val="0099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3074" name="Oval 27">
                <a:extLst>
                  <a:ext uri="{FF2B5EF4-FFF2-40B4-BE49-F238E27FC236}">
                    <a16:creationId xmlns:a16="http://schemas.microsoft.com/office/drawing/2014/main" id="{769DAB66-EE86-4FCE-8A5B-517243B38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011591">
                <a:off x="3061" y="1850"/>
                <a:ext cx="39" cy="44"/>
              </a:xfrm>
              <a:prstGeom prst="ellipse">
                <a:avLst/>
              </a:prstGeom>
              <a:gradFill rotWithShape="0">
                <a:gsLst>
                  <a:gs pos="0">
                    <a:srgbClr val="7BFFDC"/>
                  </a:gs>
                  <a:gs pos="100000">
                    <a:srgbClr val="00D09A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</p:grpSp>
      <p:grpSp>
        <p:nvGrpSpPr>
          <p:cNvPr id="8" name="Group 28">
            <a:extLst>
              <a:ext uri="{FF2B5EF4-FFF2-40B4-BE49-F238E27FC236}">
                <a16:creationId xmlns:a16="http://schemas.microsoft.com/office/drawing/2014/main" id="{E99A0136-0C5E-4CF7-ABEE-678D5E6CC5BF}"/>
              </a:ext>
            </a:extLst>
          </p:cNvPr>
          <p:cNvGrpSpPr>
            <a:grpSpLocks/>
          </p:cNvGrpSpPr>
          <p:nvPr/>
        </p:nvGrpSpPr>
        <p:grpSpPr bwMode="auto">
          <a:xfrm>
            <a:off x="4895850" y="3268663"/>
            <a:ext cx="3867150" cy="1343025"/>
            <a:chOff x="3084" y="2059"/>
            <a:chExt cx="2436" cy="846"/>
          </a:xfrm>
        </p:grpSpPr>
        <p:grpSp>
          <p:nvGrpSpPr>
            <p:cNvPr id="43055" name="Group 29">
              <a:extLst>
                <a:ext uri="{FF2B5EF4-FFF2-40B4-BE49-F238E27FC236}">
                  <a16:creationId xmlns:a16="http://schemas.microsoft.com/office/drawing/2014/main" id="{56E4F586-F20C-4C28-B7F0-C70716642E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1" y="2370"/>
              <a:ext cx="2117" cy="198"/>
              <a:chOff x="3401" y="2333"/>
              <a:chExt cx="2117" cy="236"/>
            </a:xfrm>
          </p:grpSpPr>
          <p:sp>
            <p:nvSpPr>
              <p:cNvPr id="43063" name="Freeform 30">
                <a:extLst>
                  <a:ext uri="{FF2B5EF4-FFF2-40B4-BE49-F238E27FC236}">
                    <a16:creationId xmlns:a16="http://schemas.microsoft.com/office/drawing/2014/main" id="{8C29D6EF-C243-406E-B37E-A280EA5F43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2408"/>
                <a:ext cx="172" cy="127"/>
              </a:xfrm>
              <a:custGeom>
                <a:avLst/>
                <a:gdLst>
                  <a:gd name="T0" fmla="*/ 15 w 576"/>
                  <a:gd name="T1" fmla="*/ 0 h 576"/>
                  <a:gd name="T2" fmla="*/ 0 w 576"/>
                  <a:gd name="T3" fmla="*/ 3 h 576"/>
                  <a:gd name="T4" fmla="*/ 15 w 576"/>
                  <a:gd name="T5" fmla="*/ 6 h 5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76" h="576">
                    <a:moveTo>
                      <a:pt x="576" y="0"/>
                    </a:moveTo>
                    <a:lnTo>
                      <a:pt x="0" y="299"/>
                    </a:lnTo>
                    <a:lnTo>
                      <a:pt x="576" y="57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4" name="WordArt 31">
                <a:extLst>
                  <a:ext uri="{FF2B5EF4-FFF2-40B4-BE49-F238E27FC236}">
                    <a16:creationId xmlns:a16="http://schemas.microsoft.com/office/drawing/2014/main" id="{3A1A0FC0-C85B-40C4-8BBA-FB42EAE4BCF2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401" y="2397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Symbol" panose="05050102010706020507" pitchFamily="18" charset="2"/>
                  </a:rPr>
                  <a:t>n</a:t>
                </a:r>
                <a:endParaRPr lang="zh-CN" alt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Symbol" panose="05050102010706020507" pitchFamily="18" charset="2"/>
                </a:endParaRPr>
              </a:p>
            </p:txBody>
          </p:sp>
          <p:grpSp>
            <p:nvGrpSpPr>
              <p:cNvPr id="43065" name="Group 32">
                <a:extLst>
                  <a:ext uri="{FF2B5EF4-FFF2-40B4-BE49-F238E27FC236}">
                    <a16:creationId xmlns:a16="http://schemas.microsoft.com/office/drawing/2014/main" id="{1C741838-2811-48A6-A9D7-B8330B1606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27" y="2360"/>
                <a:ext cx="191" cy="196"/>
                <a:chOff x="3126" y="3636"/>
                <a:chExt cx="191" cy="196"/>
              </a:xfrm>
            </p:grpSpPr>
            <p:sp>
              <p:nvSpPr>
                <p:cNvPr id="43067" name="WordArt 33">
                  <a:extLst>
                    <a:ext uri="{FF2B5EF4-FFF2-40B4-BE49-F238E27FC236}">
                      <a16:creationId xmlns:a16="http://schemas.microsoft.com/office/drawing/2014/main" id="{FBB32A53-B52A-4739-97E4-B349AE8BE710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126" y="3636"/>
                  <a:ext cx="152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i="1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n</a:t>
                  </a:r>
                  <a:endParaRPr lang="zh-CN" alt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43068" name="WordArt 34">
                  <a:extLst>
                    <a:ext uri="{FF2B5EF4-FFF2-40B4-BE49-F238E27FC236}">
                      <a16:creationId xmlns:a16="http://schemas.microsoft.com/office/drawing/2014/main" id="{D7222F8E-371F-428C-8403-89C3E9665306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37" y="3732"/>
                  <a:ext cx="80" cy="10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  <a:endParaRPr lang="zh-CN" alt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3066" name="WordArt 35">
                <a:extLst>
                  <a:ext uri="{FF2B5EF4-FFF2-40B4-BE49-F238E27FC236}">
                    <a16:creationId xmlns:a16="http://schemas.microsoft.com/office/drawing/2014/main" id="{6B258984-131C-444D-8D1E-8BDDB896BF76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821" y="2333"/>
                <a:ext cx="1441" cy="23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金属材料的截止频率</a:t>
                </a:r>
              </a:p>
            </p:txBody>
          </p:sp>
        </p:grpSp>
        <p:sp>
          <p:nvSpPr>
            <p:cNvPr id="43056" name="WordArt 36">
              <a:extLst>
                <a:ext uri="{FF2B5EF4-FFF2-40B4-BE49-F238E27FC236}">
                  <a16:creationId xmlns:a16="http://schemas.microsoft.com/office/drawing/2014/main" id="{3ADB6E53-F407-4441-8316-31BF911BFC9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353" y="2691"/>
              <a:ext cx="2167" cy="2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时，无论入射光多强，均无电子逸出。</a:t>
              </a:r>
            </a:p>
          </p:txBody>
        </p:sp>
        <p:sp>
          <p:nvSpPr>
            <p:cNvPr id="43057" name="WordArt 37">
              <a:extLst>
                <a:ext uri="{FF2B5EF4-FFF2-40B4-BE49-F238E27FC236}">
                  <a16:creationId xmlns:a16="http://schemas.microsoft.com/office/drawing/2014/main" id="{7FB3EBBA-46D7-4525-AF7D-40ADADDE9C1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375" y="2086"/>
              <a:ext cx="990" cy="1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latin typeface="楷体_GB2312" panose="02010609030101010101" pitchFamily="49" charset="-122"/>
                </a:rPr>
                <a:t>有红限</a:t>
              </a:r>
            </a:p>
          </p:txBody>
        </p:sp>
        <p:grpSp>
          <p:nvGrpSpPr>
            <p:cNvPr id="43058" name="Group 38">
              <a:extLst>
                <a:ext uri="{FF2B5EF4-FFF2-40B4-BE49-F238E27FC236}">
                  <a16:creationId xmlns:a16="http://schemas.microsoft.com/office/drawing/2014/main" id="{5A624FAD-43DB-40DE-A93B-E20FAF6538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4" y="2059"/>
              <a:ext cx="192" cy="191"/>
              <a:chOff x="891" y="201"/>
              <a:chExt cx="269" cy="261"/>
            </a:xfrm>
          </p:grpSpPr>
          <p:sp>
            <p:nvSpPr>
              <p:cNvPr id="43059" name="Oval 39">
                <a:extLst>
                  <a:ext uri="{FF2B5EF4-FFF2-40B4-BE49-F238E27FC236}">
                    <a16:creationId xmlns:a16="http://schemas.microsoft.com/office/drawing/2014/main" id="{C83B5979-B788-4ACD-BB67-210F8AD81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1" y="201"/>
                <a:ext cx="269" cy="261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 w="9525">
                <a:solidFill>
                  <a:schemeClr val="bg1">
                    <a:alpha val="50195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grpSp>
            <p:nvGrpSpPr>
              <p:cNvPr id="43060" name="Group 40">
                <a:extLst>
                  <a:ext uri="{FF2B5EF4-FFF2-40B4-BE49-F238E27FC236}">
                    <a16:creationId xmlns:a16="http://schemas.microsoft.com/office/drawing/2014/main" id="{C259D8CC-DD62-4C9A-AC0E-3F400AB70B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7" y="238"/>
                <a:ext cx="201" cy="189"/>
                <a:chOff x="2136" y="1382"/>
                <a:chExt cx="576" cy="576"/>
              </a:xfrm>
            </p:grpSpPr>
            <p:sp>
              <p:nvSpPr>
                <p:cNvPr id="43061" name="Oval 41">
                  <a:extLst>
                    <a:ext uri="{FF2B5EF4-FFF2-40B4-BE49-F238E27FC236}">
                      <a16:creationId xmlns:a16="http://schemas.microsoft.com/office/drawing/2014/main" id="{1F8F90A5-B701-4268-A02B-C018D07D77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" y="1382"/>
                  <a:ext cx="576" cy="57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/>
                    </a:gs>
                    <a:gs pos="100000">
                      <a:srgbClr val="EC0000"/>
                    </a:gs>
                  </a:gsLst>
                  <a:lin ang="2700000" scaled="1"/>
                </a:gradFill>
                <a:ln w="28575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43062" name="Oval 42">
                  <a:extLst>
                    <a:ext uri="{FF2B5EF4-FFF2-40B4-BE49-F238E27FC236}">
                      <a16:creationId xmlns:a16="http://schemas.microsoft.com/office/drawing/2014/main" id="{DF40F1F0-0691-44A9-8F70-EF8BDA9502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3104273">
                  <a:off x="2206" y="1476"/>
                  <a:ext cx="232" cy="14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</a:gradFill>
                <a:ln w="28575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</p:grpSp>
        </p:grpSp>
      </p:grpSp>
      <p:grpSp>
        <p:nvGrpSpPr>
          <p:cNvPr id="13" name="Group 43">
            <a:extLst>
              <a:ext uri="{FF2B5EF4-FFF2-40B4-BE49-F238E27FC236}">
                <a16:creationId xmlns:a16="http://schemas.microsoft.com/office/drawing/2014/main" id="{A5B7E9E0-0DBA-4634-8881-901A558C15A5}"/>
              </a:ext>
            </a:extLst>
          </p:cNvPr>
          <p:cNvGrpSpPr>
            <a:grpSpLocks/>
          </p:cNvGrpSpPr>
          <p:nvPr/>
        </p:nvGrpSpPr>
        <p:grpSpPr bwMode="auto">
          <a:xfrm>
            <a:off x="4930775" y="4878388"/>
            <a:ext cx="3846513" cy="1335087"/>
            <a:chOff x="3106" y="3073"/>
            <a:chExt cx="2423" cy="841"/>
          </a:xfrm>
        </p:grpSpPr>
        <p:sp>
          <p:nvSpPr>
            <p:cNvPr id="43032" name="WordArt 44">
              <a:extLst>
                <a:ext uri="{FF2B5EF4-FFF2-40B4-BE49-F238E27FC236}">
                  <a16:creationId xmlns:a16="http://schemas.microsoft.com/office/drawing/2014/main" id="{52C04DD3-0E32-4711-BA67-BA84D7A049C4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387" y="3098"/>
              <a:ext cx="1169" cy="1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latin typeface="楷体_GB2312" panose="02010609030101010101" pitchFamily="49" charset="-122"/>
                </a:rPr>
                <a:t>瞬时响应</a:t>
              </a:r>
            </a:p>
          </p:txBody>
        </p:sp>
        <p:grpSp>
          <p:nvGrpSpPr>
            <p:cNvPr id="43033" name="Group 45">
              <a:extLst>
                <a:ext uri="{FF2B5EF4-FFF2-40B4-BE49-F238E27FC236}">
                  <a16:creationId xmlns:a16="http://schemas.microsoft.com/office/drawing/2014/main" id="{094A2EA4-D6FE-4166-A990-6BB25E853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2" y="3380"/>
              <a:ext cx="2079" cy="211"/>
              <a:chOff x="3405" y="3335"/>
              <a:chExt cx="2139" cy="241"/>
            </a:xfrm>
          </p:grpSpPr>
          <p:sp>
            <p:nvSpPr>
              <p:cNvPr id="43049" name="WordArt 46">
                <a:extLst>
                  <a:ext uri="{FF2B5EF4-FFF2-40B4-BE49-F238E27FC236}">
                    <a16:creationId xmlns:a16="http://schemas.microsoft.com/office/drawing/2014/main" id="{179F9E96-0343-445D-9BF7-D02A68EE0C38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405" y="3335"/>
                <a:ext cx="2139" cy="2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只要            不论光强多弱，</a:t>
                </a:r>
              </a:p>
            </p:txBody>
          </p:sp>
          <p:sp>
            <p:nvSpPr>
              <p:cNvPr id="43050" name="WordArt 47">
                <a:extLst>
                  <a:ext uri="{FF2B5EF4-FFF2-40B4-BE49-F238E27FC236}">
                    <a16:creationId xmlns:a16="http://schemas.microsoft.com/office/drawing/2014/main" id="{C192D72D-9794-4DFC-B380-5DBBBD4A0309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789" y="3361"/>
                <a:ext cx="129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Symbol" panose="05050102010706020507" pitchFamily="18" charset="2"/>
                  </a:rPr>
                  <a:t>n</a:t>
                </a:r>
                <a:endParaRPr lang="zh-CN" alt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Symbol" panose="05050102010706020507" pitchFamily="18" charset="2"/>
                </a:endParaRPr>
              </a:p>
            </p:txBody>
          </p:sp>
          <p:sp>
            <p:nvSpPr>
              <p:cNvPr id="43051" name="Freeform 48">
                <a:extLst>
                  <a:ext uri="{FF2B5EF4-FFF2-40B4-BE49-F238E27FC236}">
                    <a16:creationId xmlns:a16="http://schemas.microsoft.com/office/drawing/2014/main" id="{D94B6F7C-23B8-47D0-9847-C13E0947A5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969" y="3388"/>
                <a:ext cx="172" cy="127"/>
              </a:xfrm>
              <a:custGeom>
                <a:avLst/>
                <a:gdLst>
                  <a:gd name="T0" fmla="*/ 15 w 576"/>
                  <a:gd name="T1" fmla="*/ 0 h 576"/>
                  <a:gd name="T2" fmla="*/ 0 w 576"/>
                  <a:gd name="T3" fmla="*/ 3 h 576"/>
                  <a:gd name="T4" fmla="*/ 15 w 576"/>
                  <a:gd name="T5" fmla="*/ 6 h 5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76" h="576">
                    <a:moveTo>
                      <a:pt x="576" y="0"/>
                    </a:moveTo>
                    <a:lnTo>
                      <a:pt x="0" y="299"/>
                    </a:lnTo>
                    <a:lnTo>
                      <a:pt x="576" y="57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3052" name="Group 49">
                <a:extLst>
                  <a:ext uri="{FF2B5EF4-FFF2-40B4-BE49-F238E27FC236}">
                    <a16:creationId xmlns:a16="http://schemas.microsoft.com/office/drawing/2014/main" id="{C2462029-F9EF-4DD7-B489-A74B0B6AA5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68" y="3380"/>
                <a:ext cx="191" cy="196"/>
                <a:chOff x="3126" y="3636"/>
                <a:chExt cx="191" cy="196"/>
              </a:xfrm>
            </p:grpSpPr>
            <p:sp>
              <p:nvSpPr>
                <p:cNvPr id="43053" name="WordArt 50">
                  <a:extLst>
                    <a:ext uri="{FF2B5EF4-FFF2-40B4-BE49-F238E27FC236}">
                      <a16:creationId xmlns:a16="http://schemas.microsoft.com/office/drawing/2014/main" id="{D1E3888B-58CA-4586-B203-E2CC27F161E4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126" y="3636"/>
                  <a:ext cx="152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i="1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solidFill>
                        <a:srgbClr val="000000"/>
                      </a:solidFill>
                      <a:latin typeface="Symbol" panose="05050102010706020507" pitchFamily="18" charset="2"/>
                    </a:rPr>
                    <a:t>n</a:t>
                  </a:r>
                  <a:endParaRPr lang="zh-CN" alt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Symbol" panose="05050102010706020507" pitchFamily="18" charset="2"/>
                  </a:endParaRPr>
                </a:p>
              </p:txBody>
            </p:sp>
            <p:sp>
              <p:nvSpPr>
                <p:cNvPr id="43054" name="WordArt 51">
                  <a:extLst>
                    <a:ext uri="{FF2B5EF4-FFF2-40B4-BE49-F238E27FC236}">
                      <a16:creationId xmlns:a16="http://schemas.microsoft.com/office/drawing/2014/main" id="{82DB9D92-B02B-4883-8BB3-FEA3DAD42760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37" y="3732"/>
                  <a:ext cx="80" cy="10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  <a:endParaRPr lang="zh-CN" alt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43034" name="WordArt 52">
              <a:extLst>
                <a:ext uri="{FF2B5EF4-FFF2-40B4-BE49-F238E27FC236}">
                  <a16:creationId xmlns:a16="http://schemas.microsoft.com/office/drawing/2014/main" id="{8B3E2B6F-5392-48EE-B4EF-F2B5D9F7EDF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229" y="3713"/>
              <a:ext cx="1593" cy="20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几乎同时观察到光电效应。</a:t>
              </a:r>
            </a:p>
          </p:txBody>
        </p:sp>
        <p:grpSp>
          <p:nvGrpSpPr>
            <p:cNvPr id="43035" name="Group 53">
              <a:extLst>
                <a:ext uri="{FF2B5EF4-FFF2-40B4-BE49-F238E27FC236}">
                  <a16:creationId xmlns:a16="http://schemas.microsoft.com/office/drawing/2014/main" id="{5ED2CA72-F3DE-4838-AF77-DBE710C6B5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6" y="3073"/>
              <a:ext cx="192" cy="191"/>
              <a:chOff x="891" y="201"/>
              <a:chExt cx="269" cy="261"/>
            </a:xfrm>
          </p:grpSpPr>
          <p:sp>
            <p:nvSpPr>
              <p:cNvPr id="43045" name="Oval 54">
                <a:extLst>
                  <a:ext uri="{FF2B5EF4-FFF2-40B4-BE49-F238E27FC236}">
                    <a16:creationId xmlns:a16="http://schemas.microsoft.com/office/drawing/2014/main" id="{50E6C0E5-B359-4DD3-B911-FBF5AAB84C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1" y="201"/>
                <a:ext cx="269" cy="261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 w="9525">
                <a:solidFill>
                  <a:schemeClr val="bg1">
                    <a:alpha val="50195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grpSp>
            <p:nvGrpSpPr>
              <p:cNvPr id="43046" name="Group 55">
                <a:extLst>
                  <a:ext uri="{FF2B5EF4-FFF2-40B4-BE49-F238E27FC236}">
                    <a16:creationId xmlns:a16="http://schemas.microsoft.com/office/drawing/2014/main" id="{0BEBE59B-DBDA-4701-B33C-5930A5FCF1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7" y="238"/>
                <a:ext cx="201" cy="189"/>
                <a:chOff x="2136" y="1382"/>
                <a:chExt cx="576" cy="576"/>
              </a:xfrm>
            </p:grpSpPr>
            <p:sp>
              <p:nvSpPr>
                <p:cNvPr id="43047" name="Oval 56">
                  <a:extLst>
                    <a:ext uri="{FF2B5EF4-FFF2-40B4-BE49-F238E27FC236}">
                      <a16:creationId xmlns:a16="http://schemas.microsoft.com/office/drawing/2014/main" id="{60F9E87B-5FA5-4BC1-8DAA-5A200D3E4E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" y="1382"/>
                  <a:ext cx="576" cy="57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/>
                    </a:gs>
                    <a:gs pos="100000">
                      <a:srgbClr val="EC0000"/>
                    </a:gs>
                  </a:gsLst>
                  <a:lin ang="2700000" scaled="1"/>
                </a:gradFill>
                <a:ln w="28575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43048" name="Oval 57">
                  <a:extLst>
                    <a:ext uri="{FF2B5EF4-FFF2-40B4-BE49-F238E27FC236}">
                      <a16:creationId xmlns:a16="http://schemas.microsoft.com/office/drawing/2014/main" id="{5CADA3DF-283B-496B-BDA8-B70BC1DC41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3104273">
                  <a:off x="2206" y="1476"/>
                  <a:ext cx="232" cy="14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</a:gradFill>
                <a:ln w="28575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</p:grpSp>
        </p:grpSp>
        <p:grpSp>
          <p:nvGrpSpPr>
            <p:cNvPr id="43036" name="Group 58">
              <a:extLst>
                <a:ext uri="{FF2B5EF4-FFF2-40B4-BE49-F238E27FC236}">
                  <a16:creationId xmlns:a16="http://schemas.microsoft.com/office/drawing/2014/main" id="{0E4FC0B6-46FB-4C3B-95C2-71FB7D3622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1" y="3693"/>
              <a:ext cx="668" cy="206"/>
              <a:chOff x="3978" y="3940"/>
              <a:chExt cx="1057" cy="168"/>
            </a:xfrm>
          </p:grpSpPr>
          <p:sp>
            <p:nvSpPr>
              <p:cNvPr id="43037" name="WordArt 59">
                <a:extLst>
                  <a:ext uri="{FF2B5EF4-FFF2-40B4-BE49-F238E27FC236}">
                    <a16:creationId xmlns:a16="http://schemas.microsoft.com/office/drawing/2014/main" id="{07B14595-EEAD-4396-A32C-2666167520B3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978" y="3968"/>
                <a:ext cx="1057" cy="1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楷体_GB2312" panose="02010609030101010101" pitchFamily="49" charset="-122"/>
                  </a:rPr>
                  <a:t>（         ）</a:t>
                </a:r>
              </a:p>
            </p:txBody>
          </p:sp>
          <p:grpSp>
            <p:nvGrpSpPr>
              <p:cNvPr id="43038" name="Group 60">
                <a:extLst>
                  <a:ext uri="{FF2B5EF4-FFF2-40B4-BE49-F238E27FC236}">
                    <a16:creationId xmlns:a16="http://schemas.microsoft.com/office/drawing/2014/main" id="{DF88F6CA-F2E4-47B3-892E-AF24AA2506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71" y="3940"/>
                <a:ext cx="440" cy="148"/>
                <a:chOff x="3099" y="1850"/>
                <a:chExt cx="688" cy="257"/>
              </a:xfrm>
            </p:grpSpPr>
            <p:sp>
              <p:nvSpPr>
                <p:cNvPr id="43040" name="WordArt 61">
                  <a:extLst>
                    <a:ext uri="{FF2B5EF4-FFF2-40B4-BE49-F238E27FC236}">
                      <a16:creationId xmlns:a16="http://schemas.microsoft.com/office/drawing/2014/main" id="{4EA267B3-C887-4A22-BC6F-2022DC43AC84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671" y="1963"/>
                  <a:ext cx="116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s</a:t>
                  </a:r>
                  <a:endParaRPr lang="zh-CN" alt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041" name="WordArt 62">
                  <a:extLst>
                    <a:ext uri="{FF2B5EF4-FFF2-40B4-BE49-F238E27FC236}">
                      <a16:creationId xmlns:a16="http://schemas.microsoft.com/office/drawing/2014/main" id="{C5D0A797-3E07-4389-95AF-C42DAD46004D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19" y="1905"/>
                  <a:ext cx="121" cy="19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  <a:endParaRPr lang="zh-CN" alt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042" name="WordArt 63">
                  <a:extLst>
                    <a:ext uri="{FF2B5EF4-FFF2-40B4-BE49-F238E27FC236}">
                      <a16:creationId xmlns:a16="http://schemas.microsoft.com/office/drawing/2014/main" id="{EA30E706-E099-4148-8E6B-675C4D57FBFE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99" y="1909"/>
                  <a:ext cx="100" cy="19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</a:t>
                  </a:r>
                  <a:endParaRPr lang="zh-CN" alt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043" name="Line 64">
                  <a:extLst>
                    <a:ext uri="{FF2B5EF4-FFF2-40B4-BE49-F238E27FC236}">
                      <a16:creationId xmlns:a16="http://schemas.microsoft.com/office/drawing/2014/main" id="{A966A68C-418D-472F-8428-75E1BA6E49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7" y="1909"/>
                  <a:ext cx="9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44" name="WordArt 65">
                  <a:extLst>
                    <a:ext uri="{FF2B5EF4-FFF2-40B4-BE49-F238E27FC236}">
                      <a16:creationId xmlns:a16="http://schemas.microsoft.com/office/drawing/2014/main" id="{34197EC2-0357-4A52-8C3A-3D5908406908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510" y="1850"/>
                  <a:ext cx="85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9</a:t>
                  </a:r>
                  <a:endParaRPr lang="zh-CN" alt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3039" name="WordArt 66">
                <a:extLst>
                  <a:ext uri="{FF2B5EF4-FFF2-40B4-BE49-F238E27FC236}">
                    <a16:creationId xmlns:a16="http://schemas.microsoft.com/office/drawing/2014/main" id="{F2147783-B6AE-47AD-B3A6-9DF02EC5EB30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4089" y="3970"/>
                <a:ext cx="329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小于</a:t>
                </a:r>
              </a:p>
            </p:txBody>
          </p:sp>
        </p:grpSp>
      </p:grpSp>
      <p:sp>
        <p:nvSpPr>
          <p:cNvPr id="948291" name="Rectangle 67">
            <a:extLst>
              <a:ext uri="{FF2B5EF4-FFF2-40B4-BE49-F238E27FC236}">
                <a16:creationId xmlns:a16="http://schemas.microsoft.com/office/drawing/2014/main" id="{BD664236-4E15-4B27-9239-8DD91C84C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-76200"/>
            <a:ext cx="6280150" cy="798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5000"/>
              </a:lnSpc>
              <a:defRPr/>
            </a:pPr>
            <a:r>
              <a:rPr kumimoji="1" lang="zh-CN" altLang="en-US" sz="3200" b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二</a:t>
            </a:r>
            <a:r>
              <a:rPr kumimoji="1" lang="en-US" altLang="zh-CN" sz="3200" b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.</a:t>
            </a:r>
            <a:r>
              <a:rPr kumimoji="1" lang="zh-CN" altLang="en-US" sz="3200" b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经典波动理论遇到的困难</a:t>
            </a:r>
            <a:r>
              <a:rPr kumimoji="1" lang="zh-CN" altLang="en-US"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     </a:t>
            </a:r>
          </a:p>
        </p:txBody>
      </p:sp>
      <p:sp>
        <p:nvSpPr>
          <p:cNvPr id="948292" name="Rectangle 68">
            <a:extLst>
              <a:ext uri="{FF2B5EF4-FFF2-40B4-BE49-F238E27FC236}">
                <a16:creationId xmlns:a16="http://schemas.microsoft.com/office/drawing/2014/main" id="{F0F5E952-96C2-4218-B6CF-DB0EB1D17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860425"/>
            <a:ext cx="23272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sz="28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经典波动理论</a:t>
            </a:r>
          </a:p>
        </p:txBody>
      </p:sp>
      <p:sp>
        <p:nvSpPr>
          <p:cNvPr id="948293" name="Rectangle 69">
            <a:extLst>
              <a:ext uri="{FF2B5EF4-FFF2-40B4-BE49-F238E27FC236}">
                <a16:creationId xmlns:a16="http://schemas.microsoft.com/office/drawing/2014/main" id="{2348E567-E5EF-44F9-B6E5-D0D65FFD4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860425"/>
            <a:ext cx="30416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sz="28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光电效应实验规律</a:t>
            </a:r>
          </a:p>
        </p:txBody>
      </p:sp>
      <p:grpSp>
        <p:nvGrpSpPr>
          <p:cNvPr id="20" name="Group 70">
            <a:extLst>
              <a:ext uri="{FF2B5EF4-FFF2-40B4-BE49-F238E27FC236}">
                <a16:creationId xmlns:a16="http://schemas.microsoft.com/office/drawing/2014/main" id="{61834CD7-4C9F-4E1F-935B-E163D2E83916}"/>
              </a:ext>
            </a:extLst>
          </p:cNvPr>
          <p:cNvGrpSpPr>
            <a:grpSpLocks/>
          </p:cNvGrpSpPr>
          <p:nvPr/>
        </p:nvGrpSpPr>
        <p:grpSpPr bwMode="auto">
          <a:xfrm>
            <a:off x="4875213" y="1774825"/>
            <a:ext cx="3592512" cy="1341438"/>
            <a:chOff x="3071" y="1118"/>
            <a:chExt cx="2263" cy="845"/>
          </a:xfrm>
        </p:grpSpPr>
        <p:sp>
          <p:nvSpPr>
            <p:cNvPr id="43024" name="WordArt 71">
              <a:extLst>
                <a:ext uri="{FF2B5EF4-FFF2-40B4-BE49-F238E27FC236}">
                  <a16:creationId xmlns:a16="http://schemas.microsoft.com/office/drawing/2014/main" id="{210E2821-34BA-4CD0-B9A9-2984E14EB86B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803" y="1776"/>
              <a:ext cx="1085" cy="18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与入射光强无关</a:t>
              </a:r>
            </a:p>
          </p:txBody>
        </p:sp>
        <p:sp>
          <p:nvSpPr>
            <p:cNvPr id="43025" name="WordArt 72">
              <a:extLst>
                <a:ext uri="{FF2B5EF4-FFF2-40B4-BE49-F238E27FC236}">
                  <a16:creationId xmlns:a16="http://schemas.microsoft.com/office/drawing/2014/main" id="{79ECB644-4071-457C-A4A7-FB1449FF24F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3340" y="1132"/>
              <a:ext cx="1994" cy="16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latin typeface="楷体_GB2312" panose="02010609030101010101" pitchFamily="49" charset="-122"/>
                </a:rPr>
                <a:t>初动能与光强无关</a:t>
              </a:r>
            </a:p>
          </p:txBody>
        </p:sp>
        <p:grpSp>
          <p:nvGrpSpPr>
            <p:cNvPr id="43026" name="Group 73">
              <a:extLst>
                <a:ext uri="{FF2B5EF4-FFF2-40B4-BE49-F238E27FC236}">
                  <a16:creationId xmlns:a16="http://schemas.microsoft.com/office/drawing/2014/main" id="{C3ABE4B7-0E3A-4118-927A-53E659FD35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1" y="1118"/>
              <a:ext cx="192" cy="191"/>
              <a:chOff x="891" y="201"/>
              <a:chExt cx="269" cy="261"/>
            </a:xfrm>
          </p:grpSpPr>
          <p:sp>
            <p:nvSpPr>
              <p:cNvPr id="43028" name="Oval 74">
                <a:extLst>
                  <a:ext uri="{FF2B5EF4-FFF2-40B4-BE49-F238E27FC236}">
                    <a16:creationId xmlns:a16="http://schemas.microsoft.com/office/drawing/2014/main" id="{C5FC0BD9-F962-4B34-AD74-2237F4F8A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1" y="201"/>
                <a:ext cx="269" cy="261"/>
              </a:xfrm>
              <a:prstGeom prst="ellipse">
                <a:avLst/>
              </a:prstGeom>
              <a:solidFill>
                <a:schemeClr val="bg1">
                  <a:alpha val="50195"/>
                </a:schemeClr>
              </a:solidFill>
              <a:ln w="9525">
                <a:solidFill>
                  <a:schemeClr val="bg1">
                    <a:alpha val="50195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grpSp>
            <p:nvGrpSpPr>
              <p:cNvPr id="43029" name="Group 75">
                <a:extLst>
                  <a:ext uri="{FF2B5EF4-FFF2-40B4-BE49-F238E27FC236}">
                    <a16:creationId xmlns:a16="http://schemas.microsoft.com/office/drawing/2014/main" id="{CE54EEF7-8159-4CA2-AE09-D99DA9FC1E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7" y="238"/>
                <a:ext cx="201" cy="189"/>
                <a:chOff x="2136" y="1382"/>
                <a:chExt cx="576" cy="576"/>
              </a:xfrm>
            </p:grpSpPr>
            <p:sp>
              <p:nvSpPr>
                <p:cNvPr id="43030" name="Oval 76">
                  <a:extLst>
                    <a:ext uri="{FF2B5EF4-FFF2-40B4-BE49-F238E27FC236}">
                      <a16:creationId xmlns:a16="http://schemas.microsoft.com/office/drawing/2014/main" id="{A30B7810-F15B-4CD0-8E88-B8DF568C1E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6" y="1382"/>
                  <a:ext cx="576" cy="57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/>
                    </a:gs>
                    <a:gs pos="100000">
                      <a:srgbClr val="EC0000"/>
                    </a:gs>
                  </a:gsLst>
                  <a:lin ang="2700000" scaled="1"/>
                </a:gradFill>
                <a:ln w="28575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43031" name="Oval 77">
                  <a:extLst>
                    <a:ext uri="{FF2B5EF4-FFF2-40B4-BE49-F238E27FC236}">
                      <a16:creationId xmlns:a16="http://schemas.microsoft.com/office/drawing/2014/main" id="{161E9372-DC58-4085-B8B9-262A51B894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3104273">
                  <a:off x="2206" y="1476"/>
                  <a:ext cx="232" cy="14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</a:gradFill>
                <a:ln w="28575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</p:grpSp>
        </p:grpSp>
        <p:graphicFrame>
          <p:nvGraphicFramePr>
            <p:cNvPr id="43027" name="Object 78">
              <a:extLst>
                <a:ext uri="{FF2B5EF4-FFF2-40B4-BE49-F238E27FC236}">
                  <a16:creationId xmlns:a16="http://schemas.microsoft.com/office/drawing/2014/main" id="{19E9A300-3C7F-4413-BD7F-97B7EABE12D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360" y="1248"/>
            <a:ext cx="1836" cy="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00" r:id="rId3" imgW="1276490" imgH="361882" progId="Equation.3">
                    <p:embed/>
                  </p:oleObj>
                </mc:Choice>
                <mc:Fallback>
                  <p:oleObj r:id="rId3" imgW="1276490" imgH="361882" progId="Equation.3">
                    <p:embed/>
                    <p:pic>
                      <p:nvPicPr>
                        <p:cNvPr id="0" name="Object 7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1248"/>
                          <a:ext cx="1836" cy="5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3">
            <a:extLst>
              <a:ext uri="{FF2B5EF4-FFF2-40B4-BE49-F238E27FC236}">
                <a16:creationId xmlns:a16="http://schemas.microsoft.com/office/drawing/2014/main" id="{8C91EF66-43D6-4349-B511-120F6D31E0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003DCD-CC13-45DF-B36F-159E0155810C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zh-CN" altLang="zh-CN" sz="1400"/>
          </a:p>
        </p:txBody>
      </p:sp>
      <p:sp>
        <p:nvSpPr>
          <p:cNvPr id="44035" name="Text Box 2">
            <a:extLst>
              <a:ext uri="{FF2B5EF4-FFF2-40B4-BE49-F238E27FC236}">
                <a16:creationId xmlns:a16="http://schemas.microsoft.com/office/drawing/2014/main" id="{63860FEF-BD18-4DB3-AAB1-FAB894A82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7380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ea typeface="楷体_GB2312" panose="02010609030101010101" pitchFamily="49" charset="-122"/>
              </a:rPr>
              <a:t>爱因斯坦 </a:t>
            </a:r>
            <a:r>
              <a:rPr lang="en-US" altLang="zh-CN">
                <a:solidFill>
                  <a:schemeClr val="accent2"/>
                </a:solidFill>
                <a:ea typeface="楷体_GB2312" panose="02010609030101010101" pitchFamily="49" charset="-122"/>
              </a:rPr>
              <a:t>( Albert Einstein, 1879—1955 ) </a:t>
            </a:r>
          </a:p>
        </p:txBody>
      </p:sp>
      <p:pic>
        <p:nvPicPr>
          <p:cNvPr id="986115" name="Picture 3">
            <a:extLst>
              <a:ext uri="{FF2B5EF4-FFF2-40B4-BE49-F238E27FC236}">
                <a16:creationId xmlns:a16="http://schemas.microsoft.com/office/drawing/2014/main" id="{779DD7FA-CCFD-4307-95CE-EF900B8B0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938" y="836613"/>
            <a:ext cx="2116137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6117" name="Text Box 5">
            <a:extLst>
              <a:ext uri="{FF2B5EF4-FFF2-40B4-BE49-F238E27FC236}">
                <a16:creationId xmlns:a16="http://schemas.microsoft.com/office/drawing/2014/main" id="{2D442271-B15D-4329-99CE-B41A06D15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027113"/>
            <a:ext cx="6842125" cy="5426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buFontTx/>
              <a:buChar char="•"/>
              <a:defRPr/>
            </a:pPr>
            <a:r>
              <a: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1905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年创立了</a:t>
            </a:r>
            <a:r>
              <a:rPr kumimoji="1" lang="zh-CN" altLang="en-US" sz="2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狭义相对论</a:t>
            </a:r>
          </a:p>
          <a:p>
            <a:pPr eaLnBrk="1" hangingPunct="1">
              <a:lnSpc>
                <a:spcPct val="125000"/>
              </a:lnSpc>
              <a:buFontTx/>
              <a:buChar char="•"/>
              <a:defRPr/>
            </a:pPr>
            <a:r>
              <a: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1916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年创立了</a:t>
            </a:r>
            <a:r>
              <a:rPr kumimoji="1" lang="zh-CN" altLang="en-US" sz="2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广义相对论</a:t>
            </a:r>
          </a:p>
          <a:p>
            <a:pPr eaLnBrk="1" hangingPunct="1">
              <a:lnSpc>
                <a:spcPct val="125000"/>
              </a:lnSpc>
              <a:buFontTx/>
              <a:buChar char="•"/>
              <a:defRPr/>
            </a:pPr>
            <a:r>
              <a: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1921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年获诺贝尔物理学奖</a:t>
            </a:r>
          </a:p>
          <a:p>
            <a:pPr eaLnBrk="1" hangingPunct="1">
              <a:lnSpc>
                <a:spcPct val="125000"/>
              </a:lnSpc>
              <a:buFontTx/>
              <a:buChar char="•"/>
              <a:defRPr/>
            </a:pPr>
            <a:r>
              <a: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1906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年用量子理论说明了固体热容与温度的关系</a:t>
            </a:r>
          </a:p>
          <a:p>
            <a:pPr eaLnBrk="1" hangingPunct="1">
              <a:lnSpc>
                <a:spcPct val="125000"/>
              </a:lnSpc>
              <a:buFontTx/>
              <a:buChar char="•"/>
              <a:defRPr/>
            </a:pPr>
            <a:r>
              <a: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1912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年用</a:t>
            </a:r>
            <a:r>
              <a:rPr kumimoji="1" lang="zh-CN" altLang="en-US" sz="2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光量子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概念建立了光化学定律</a:t>
            </a:r>
          </a:p>
          <a:p>
            <a:pPr eaLnBrk="1" hangingPunct="1">
              <a:lnSpc>
                <a:spcPct val="125000"/>
              </a:lnSpc>
              <a:buFontTx/>
              <a:buChar char="•"/>
              <a:defRPr/>
            </a:pPr>
            <a:r>
              <a: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1916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年提出</a:t>
            </a:r>
            <a:r>
              <a:rPr kumimoji="1" lang="zh-CN" altLang="en-US" sz="2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受激辐射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的概念，为激光的出现奠定了理论基础</a:t>
            </a:r>
          </a:p>
          <a:p>
            <a:pPr eaLnBrk="1" hangingPunct="1">
              <a:lnSpc>
                <a:spcPct val="125000"/>
              </a:lnSpc>
              <a:buFontTx/>
              <a:buChar char="•"/>
              <a:defRPr/>
            </a:pPr>
            <a:r>
              <a: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1924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年提出了</a:t>
            </a:r>
            <a:r>
              <a:rPr kumimoji="1" lang="zh-CN" altLang="en-US" sz="2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量子统计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方法</a:t>
            </a:r>
            <a:r>
              <a: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--</a:t>
            </a:r>
            <a:r>
              <a:rPr kumimoji="1" lang="zh-CN" altLang="en-US" sz="2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玻色</a:t>
            </a:r>
            <a:r>
              <a:rPr kumimoji="1" lang="en-US" altLang="zh-CN" sz="2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kumimoji="1" lang="zh-CN" altLang="en-US" sz="2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爱因斯坦统计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法。</a:t>
            </a:r>
          </a:p>
        </p:txBody>
      </p:sp>
      <p:sp>
        <p:nvSpPr>
          <p:cNvPr id="986118" name="Line 6">
            <a:extLst>
              <a:ext uri="{FF2B5EF4-FFF2-40B4-BE49-F238E27FC236}">
                <a16:creationId xmlns:a16="http://schemas.microsoft.com/office/drawing/2014/main" id="{CF6903C4-74C9-4A68-9A68-CEFD66FF267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6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6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6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6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86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86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86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611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3">
            <a:extLst>
              <a:ext uri="{FF2B5EF4-FFF2-40B4-BE49-F238E27FC236}">
                <a16:creationId xmlns:a16="http://schemas.microsoft.com/office/drawing/2014/main" id="{30EC19A3-5746-4E6F-9535-33B7275991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C50C23-6D08-4FB0-A3A5-573839005FDA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zh-CN" altLang="zh-CN" sz="1400"/>
          </a:p>
        </p:txBody>
      </p:sp>
      <p:sp>
        <p:nvSpPr>
          <p:cNvPr id="949250" name="Text Box 2">
            <a:extLst>
              <a:ext uri="{FF2B5EF4-FFF2-40B4-BE49-F238E27FC236}">
                <a16:creationId xmlns:a16="http://schemas.microsoft.com/office/drawing/2014/main" id="{139A2BB5-A936-403E-88D3-93827A6B4FD5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57200" y="55563"/>
            <a:ext cx="5919788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32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三</a:t>
            </a:r>
            <a:r>
              <a:rPr kumimoji="1" lang="zh-CN" altLang="en-US" sz="32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kumimoji="1" lang="zh-CN" altLang="en-US" sz="32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光子假说   光的二象性 </a:t>
            </a:r>
          </a:p>
        </p:txBody>
      </p:sp>
      <p:sp>
        <p:nvSpPr>
          <p:cNvPr id="949251" name="Text Box 3">
            <a:extLst>
              <a:ext uri="{FF2B5EF4-FFF2-40B4-BE49-F238E27FC236}">
                <a16:creationId xmlns:a16="http://schemas.microsoft.com/office/drawing/2014/main" id="{DA8EF657-DDF4-4FDF-93AC-CE2CD199B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09750"/>
            <a:ext cx="8748713" cy="1373188"/>
          </a:xfrm>
          <a:prstGeom prst="rect">
            <a:avLst/>
          </a:prstGeom>
          <a:gradFill rotWithShape="1">
            <a:gsLst>
              <a:gs pos="0">
                <a:srgbClr val="CCFF66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0" dirty="0">
                <a:ea typeface="黑体" panose="02010609060101010101" pitchFamily="49" charset="-122"/>
              </a:rPr>
              <a:t>       </a:t>
            </a:r>
            <a:r>
              <a:rPr lang="zh-CN" altLang="en-US" sz="2800" b="0" dirty="0">
                <a:ea typeface="黑体" panose="02010609060101010101" pitchFamily="49" charset="-122"/>
              </a:rPr>
              <a:t>一束光就是一束以</a:t>
            </a:r>
            <a:r>
              <a:rPr lang="en-US" altLang="zh-CN" sz="2800" b="0" dirty="0">
                <a:ea typeface="黑体" panose="02010609060101010101" pitchFamily="49" charset="-122"/>
              </a:rPr>
              <a:t>c</a:t>
            </a:r>
            <a:r>
              <a:rPr lang="en-US" altLang="zh-CN" sz="2800" b="0" i="1" dirty="0">
                <a:ea typeface="黑体" panose="02010609060101010101" pitchFamily="49" charset="-122"/>
              </a:rPr>
              <a:t> </a:t>
            </a:r>
            <a:r>
              <a:rPr lang="zh-CN" altLang="en-US" sz="2800" b="0" dirty="0">
                <a:ea typeface="黑体" panose="02010609060101010101" pitchFamily="49" charset="-122"/>
              </a:rPr>
              <a:t>运动的粒子流</a:t>
            </a:r>
            <a:r>
              <a:rPr lang="en-US" altLang="zh-CN" sz="2800" b="0" dirty="0">
                <a:ea typeface="黑体" panose="02010609060101010101" pitchFamily="49" charset="-122"/>
              </a:rPr>
              <a:t>,</a:t>
            </a:r>
            <a:r>
              <a:rPr lang="zh-CN" altLang="en-US" sz="2800" b="0" dirty="0">
                <a:ea typeface="黑体" panose="02010609060101010101" pitchFamily="49" charset="-122"/>
              </a:rPr>
              <a:t>这些粒子称为光量子（或光子</a:t>
            </a:r>
            <a:r>
              <a:rPr lang="en-US" altLang="zh-CN" sz="2800" b="0" dirty="0">
                <a:ea typeface="黑体" panose="02010609060101010101" pitchFamily="49" charset="-122"/>
              </a:rPr>
              <a:t>)</a:t>
            </a:r>
            <a:r>
              <a:rPr lang="zh-CN" altLang="en-US" sz="2800" b="0" dirty="0">
                <a:ea typeface="黑体" panose="02010609060101010101" pitchFamily="49" charset="-122"/>
              </a:rPr>
              <a:t>。</a:t>
            </a:r>
            <a:r>
              <a:rPr lang="zh-CN" altLang="en-US" sz="2800" b="0" dirty="0">
                <a:ea typeface="黑体" panose="02010609060101010101" pitchFamily="49" charset="-122"/>
                <a:sym typeface="Symbol" panose="05050102010706020507" pitchFamily="18" charset="2"/>
              </a:rPr>
              <a:t>每个光量子的能量为 </a:t>
            </a:r>
            <a:r>
              <a:rPr lang="zh-CN" altLang="en-US" sz="2800" i="1" dirty="0">
                <a:ea typeface="黑体" panose="02010609060101010101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2800" dirty="0">
                <a:ea typeface="黑体" panose="02010609060101010101" pitchFamily="49" charset="-122"/>
                <a:sym typeface="Symbol" panose="05050102010706020507" pitchFamily="18" charset="2"/>
              </a:rPr>
              <a:t>= </a:t>
            </a:r>
            <a:r>
              <a:rPr lang="en-US" altLang="zh-CN" sz="2800" i="1" dirty="0">
                <a:ea typeface="黑体" panose="02010609060101010101" pitchFamily="49" charset="-122"/>
                <a:sym typeface="Symbol" panose="05050102010706020507" pitchFamily="18" charset="2"/>
              </a:rPr>
              <a:t>h</a:t>
            </a:r>
            <a:r>
              <a:rPr lang="en-US" altLang="zh-CN" sz="2800" b="0" dirty="0"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0" dirty="0">
                <a:ea typeface="黑体" panose="02010609060101010101" pitchFamily="49" charset="-122"/>
                <a:sym typeface="Symbol" panose="05050102010706020507" pitchFamily="18" charset="2"/>
              </a:rPr>
              <a:t>，它不能再分割，而只能整个地被吸收或产生出来。</a:t>
            </a:r>
          </a:p>
        </p:txBody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5CB74304-0B36-45F2-B656-8C79E788E8D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828800" y="4422775"/>
            <a:ext cx="36607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buClr>
                <a:schemeClr val="folHlink"/>
              </a:buClr>
              <a:buFont typeface="Wingdings" panose="05000000000000000000" pitchFamily="2" charset="2"/>
              <a:buChar char="q"/>
              <a:defRPr/>
            </a:pPr>
            <a:r>
              <a:rPr kumimoji="1" lang="en-US" altLang="zh-CN" sz="2800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光子具有 </a:t>
            </a:r>
            <a:r>
              <a:rPr kumimoji="1" lang="zh-CN" altLang="en-US" sz="2800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kumimoji="1" lang="zh-CN" altLang="en-US" sz="2800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整体性</a:t>
            </a:r>
            <a:r>
              <a:rPr kumimoji="1" lang="zh-CN" altLang="en-US" sz="2800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endParaRPr kumimoji="1" lang="zh-CN" altLang="en-US" sz="2800" b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49253" name="Rectangle 5">
            <a:extLst>
              <a:ext uri="{FF2B5EF4-FFF2-40B4-BE49-F238E27FC236}">
                <a16:creationId xmlns:a16="http://schemas.microsoft.com/office/drawing/2014/main" id="{97260418-0E71-4D0F-937D-5E8B9CCC7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214938"/>
            <a:ext cx="565785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>
                <a:schemeClr val="folHlink"/>
              </a:buClr>
              <a:buFont typeface="Wingdings" panose="05000000000000000000" pitchFamily="2" charset="2"/>
              <a:buChar char="q"/>
              <a:defRPr/>
            </a:pPr>
            <a:r>
              <a:rPr kumimoji="1" lang="en-US" altLang="zh-CN" sz="2800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一个光子只能整个地被电子吸收</a:t>
            </a:r>
          </a:p>
        </p:txBody>
      </p:sp>
      <p:sp>
        <p:nvSpPr>
          <p:cNvPr id="949254" name="Oval 6">
            <a:extLst>
              <a:ext uri="{FF2B5EF4-FFF2-40B4-BE49-F238E27FC236}">
                <a16:creationId xmlns:a16="http://schemas.microsoft.com/office/drawing/2014/main" id="{C9CB9326-8FA1-4A33-AB9D-801B3BA22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685800"/>
            <a:ext cx="5715000" cy="7620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>
            <a:prstShdw prst="shdw17" dist="17961" dir="27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accent2"/>
                </a:solidFill>
                <a:ea typeface="华文新魏" panose="02010800040101010101" pitchFamily="2" charset="-122"/>
              </a:rPr>
              <a:t>  Einstein</a:t>
            </a:r>
            <a:r>
              <a:rPr lang="zh-CN" altLang="en-US" sz="2800" dirty="0">
                <a:solidFill>
                  <a:schemeClr val="accent2"/>
                </a:solidFill>
                <a:ea typeface="华文新魏" panose="02010800040101010101" pitchFamily="2" charset="-122"/>
              </a:rPr>
              <a:t>光子假说</a:t>
            </a:r>
            <a:r>
              <a:rPr lang="zh-CN" altLang="en-US" sz="2800" dirty="0">
                <a:solidFill>
                  <a:schemeClr val="accent2"/>
                </a:solidFill>
              </a:rPr>
              <a:t>（</a:t>
            </a:r>
            <a:r>
              <a:rPr lang="en-US" altLang="zh-CN" sz="2800" dirty="0">
                <a:solidFill>
                  <a:schemeClr val="accent2"/>
                </a:solidFill>
              </a:rPr>
              <a:t>1905</a:t>
            </a:r>
            <a:r>
              <a:rPr lang="zh-CN" altLang="en-US" sz="2800" dirty="0">
                <a:solidFill>
                  <a:schemeClr val="accent2"/>
                </a:solidFill>
                <a:ea typeface="华文新魏" panose="02010800040101010101" pitchFamily="2" charset="-122"/>
              </a:rPr>
              <a:t>年</a:t>
            </a:r>
            <a:r>
              <a:rPr lang="zh-CN" altLang="en-US" sz="2800" dirty="0">
                <a:solidFill>
                  <a:schemeClr val="accent2"/>
                </a:solidFill>
              </a:rPr>
              <a:t>）</a:t>
            </a:r>
          </a:p>
        </p:txBody>
      </p:sp>
      <p:sp>
        <p:nvSpPr>
          <p:cNvPr id="949255" name="AutoShape 7">
            <a:extLst>
              <a:ext uri="{FF2B5EF4-FFF2-40B4-BE49-F238E27FC236}">
                <a16:creationId xmlns:a16="http://schemas.microsoft.com/office/drawing/2014/main" id="{854600E9-879A-4666-A667-242CEFBE1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332163"/>
            <a:ext cx="1219200" cy="6858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chemeClr val="bg1"/>
              </a:gs>
              <a:gs pos="100000">
                <a:srgbClr val="CCFFFF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zh-CN" altLang="en-US" sz="32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隶书" panose="02010509060101010101" pitchFamily="49" charset="-122"/>
              </a:rPr>
              <a:t>说明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4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4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4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4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251" grpId="0" animBg="1"/>
      <p:bldP spid="949252" grpId="0"/>
      <p:bldP spid="949253" grpId="0"/>
      <p:bldP spid="949254" grpId="0" animBg="1"/>
      <p:bldP spid="94925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3">
            <a:extLst>
              <a:ext uri="{FF2B5EF4-FFF2-40B4-BE49-F238E27FC236}">
                <a16:creationId xmlns:a16="http://schemas.microsoft.com/office/drawing/2014/main" id="{D875F99F-79A2-4FE4-A057-4230D1D100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A036B3-428E-4A02-B53F-C45E4B831D9B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zh-CN" altLang="zh-CN" sz="1400"/>
          </a:p>
        </p:txBody>
      </p:sp>
      <p:sp>
        <p:nvSpPr>
          <p:cNvPr id="951298" name="Text Box 2">
            <a:extLst>
              <a:ext uri="{FF2B5EF4-FFF2-40B4-BE49-F238E27FC236}">
                <a16:creationId xmlns:a16="http://schemas.microsoft.com/office/drawing/2014/main" id="{C0C36AB0-A195-445B-9876-141DEAD56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6200" y="4475163"/>
            <a:ext cx="8383588" cy="968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eaLnBrk="1" hangingPunct="1">
              <a:lnSpc>
                <a:spcPct val="120000"/>
              </a:lnSpc>
              <a:defRPr/>
            </a:pPr>
            <a:r>
              <a:rPr kumimoji="1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　　</a:t>
            </a:r>
            <a:r>
              <a:rPr kumimoji="1" lang="en-US" altLang="zh-CN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(1)  </a:t>
            </a:r>
            <a:r>
              <a:rPr kumimoji="1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饱和光电流强度与光强成正比</a:t>
            </a:r>
            <a:r>
              <a:rPr kumimoji="1" lang="en-US" altLang="zh-CN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</a:t>
            </a:r>
            <a:r>
              <a:rPr kumimoji="1" lang="en-US" altLang="zh-CN" i="1">
                <a:solidFill>
                  <a:srgbClr val="CC0000"/>
                </a:solidFill>
                <a:ea typeface="仿宋_GB2312" pitchFamily="49" charset="-122"/>
              </a:rPr>
              <a:t>ν</a:t>
            </a:r>
            <a:r>
              <a:rPr kumimoji="1" lang="zh-CN" altLang="en-US">
                <a:solidFill>
                  <a:srgbClr val="CC0000"/>
                </a:solidFill>
                <a:ea typeface="仿宋_GB2312" pitchFamily="49" charset="-122"/>
              </a:rPr>
              <a:t>一定）</a:t>
            </a:r>
            <a:endParaRPr kumimoji="1" lang="zh-CN" altLang="en-US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 algn="just" eaLnBrk="1" hangingPunct="1">
              <a:lnSpc>
                <a:spcPct val="120000"/>
              </a:lnSpc>
              <a:defRPr/>
            </a:pPr>
            <a:r>
              <a:rPr kumimoji="1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　　</a:t>
            </a:r>
          </a:p>
        </p:txBody>
      </p:sp>
      <p:graphicFrame>
        <p:nvGraphicFramePr>
          <p:cNvPr id="951299" name="Object 3">
            <a:extLst>
              <a:ext uri="{FF2B5EF4-FFF2-40B4-BE49-F238E27FC236}">
                <a16:creationId xmlns:a16="http://schemas.microsoft.com/office/drawing/2014/main" id="{EC65906D-86B6-4336-AB23-8F472E560E11}"/>
              </a:ext>
            </a:extLst>
          </p:cNvPr>
          <p:cNvGraphicFramePr>
            <a:graphicFrameLocks/>
          </p:cNvGraphicFramePr>
          <p:nvPr/>
        </p:nvGraphicFramePr>
        <p:xfrm>
          <a:off x="1417638" y="3462338"/>
          <a:ext cx="3700462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9" r:id="rId3" imgW="1076178" imgH="361882" progId="Equation.DSMT4">
                  <p:embed/>
                </p:oleObj>
              </mc:Choice>
              <mc:Fallback>
                <p:oleObj r:id="rId3" imgW="1076178" imgH="361882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638" y="3462338"/>
                        <a:ext cx="3700462" cy="9048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accent1"/>
                          </a:gs>
                          <a:gs pos="50000">
                            <a:schemeClr val="bg1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189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1300" name="Rectangle 4">
            <a:extLst>
              <a:ext uri="{FF2B5EF4-FFF2-40B4-BE49-F238E27FC236}">
                <a16:creationId xmlns:a16="http://schemas.microsoft.com/office/drawing/2014/main" id="{ECDD1236-41D6-4C04-9040-BF0D9F21F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774700"/>
            <a:ext cx="8588375" cy="749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   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一个光子将全部能量交给一个电子， 电子克服金属对它的束缚，从金属中逸出。</a:t>
            </a:r>
          </a:p>
        </p:txBody>
      </p:sp>
      <p:sp>
        <p:nvSpPr>
          <p:cNvPr id="951301" name="Text Box 5">
            <a:extLst>
              <a:ext uri="{FF2B5EF4-FFF2-40B4-BE49-F238E27FC236}">
                <a16:creationId xmlns:a16="http://schemas.microsoft.com/office/drawing/2014/main" id="{61183C15-5703-4F7C-BE27-992E48A6FE95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5105400" y="3614738"/>
            <a:ext cx="2924175" cy="579437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32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光电效应方程</a:t>
            </a:r>
          </a:p>
        </p:txBody>
      </p:sp>
      <p:sp>
        <p:nvSpPr>
          <p:cNvPr id="951302" name="Oval 6">
            <a:extLst>
              <a:ext uri="{FF2B5EF4-FFF2-40B4-BE49-F238E27FC236}">
                <a16:creationId xmlns:a16="http://schemas.microsoft.com/office/drawing/2014/main" id="{79C0531B-3B9D-4746-8D01-7EE6A93EF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85725"/>
            <a:ext cx="5715000" cy="649288"/>
          </a:xfrm>
          <a:prstGeom prst="ellipse">
            <a:avLst/>
          </a:prstGeom>
          <a:noFill/>
          <a:ln w="9525">
            <a:solidFill>
              <a:srgbClr val="CC00FF"/>
            </a:solidFill>
            <a:round/>
          </a:ln>
          <a:effectLst>
            <a:prstShdw prst="shdw17" dist="17961" dir="2700000">
              <a:srgbClr val="CC00FF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zh-CN" altLang="en-US" sz="32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rPr>
              <a:t>对光电效应的解释</a:t>
            </a:r>
          </a:p>
        </p:txBody>
      </p:sp>
      <p:sp>
        <p:nvSpPr>
          <p:cNvPr id="951303" name="Rectangle 7">
            <a:extLst>
              <a:ext uri="{FF2B5EF4-FFF2-40B4-BE49-F238E27FC236}">
                <a16:creationId xmlns:a16="http://schemas.microsoft.com/office/drawing/2014/main" id="{B03834CA-32CF-47E1-8060-9D0CFB65E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5876925"/>
            <a:ext cx="81311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333399"/>
              </a:buClr>
              <a:buFont typeface="Wingdings" panose="05000000000000000000" pitchFamily="2" charset="2"/>
              <a:buNone/>
              <a:defRPr/>
            </a:pPr>
            <a:r>
              <a:rPr kumimoji="1" lang="en-US" altLang="zh-CN" i="1">
                <a:solidFill>
                  <a:schemeClr val="tx2"/>
                </a:solidFill>
              </a:rPr>
              <a:t>ν</a:t>
            </a:r>
            <a:r>
              <a:rPr kumimoji="1" lang="zh-CN" altLang="en-US">
                <a:solidFill>
                  <a:schemeClr val="tx2"/>
                </a:solidFill>
                <a:ea typeface="仿宋_GB2312" pitchFamily="49" charset="-122"/>
              </a:rPr>
              <a:t>一定</a:t>
            </a:r>
            <a:r>
              <a:rPr kumimoji="1" lang="en-US" altLang="zh-CN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I </a:t>
            </a:r>
            <a:r>
              <a:rPr kumimoji="1"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  </a:t>
            </a:r>
            <a:r>
              <a:rPr kumimoji="1" lang="en-US" altLang="zh-CN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N</a:t>
            </a:r>
            <a:r>
              <a:rPr kumimoji="1"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  </a:t>
            </a:r>
            <a:r>
              <a:rPr kumimoji="1"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单位时间打出</a:t>
            </a:r>
            <a:r>
              <a:rPr kumimoji="1" lang="zh-CN" altLang="en-US" u="sng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光电子</a:t>
            </a:r>
            <a:r>
              <a:rPr kumimoji="1"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多 </a:t>
            </a:r>
            <a:r>
              <a:rPr kumimoji="1" lang="en-US" altLang="zh-CN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m</a:t>
            </a:r>
            <a:r>
              <a:rPr kumimoji="1" lang="en-US" altLang="zh-CN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 ----  </a:t>
            </a:r>
            <a:r>
              <a:rPr kumimoji="1" lang="en-US" altLang="zh-CN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m</a:t>
            </a:r>
            <a:r>
              <a:rPr kumimoji="1"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∝</a:t>
            </a:r>
            <a:r>
              <a:rPr kumimoji="1" lang="en-US" altLang="zh-CN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 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9255505F-E111-4880-A852-11D02A15544A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709738"/>
            <a:ext cx="858838" cy="1576387"/>
            <a:chOff x="880" y="794"/>
            <a:chExt cx="773" cy="1565"/>
          </a:xfrm>
        </p:grpSpPr>
        <p:sp>
          <p:nvSpPr>
            <p:cNvPr id="46124" name="Rectangle 10" descr="60%">
              <a:extLst>
                <a:ext uri="{FF2B5EF4-FFF2-40B4-BE49-F238E27FC236}">
                  <a16:creationId xmlns:a16="http://schemas.microsoft.com/office/drawing/2014/main" id="{4B594908-A9CC-4766-8646-08FC3285E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" y="794"/>
              <a:ext cx="554" cy="1565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grpSp>
          <p:nvGrpSpPr>
            <p:cNvPr id="46125" name="Group 11">
              <a:extLst>
                <a:ext uri="{FF2B5EF4-FFF2-40B4-BE49-F238E27FC236}">
                  <a16:creationId xmlns:a16="http://schemas.microsoft.com/office/drawing/2014/main" id="{36303AA1-73D5-45F9-88F7-93184F7300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1503"/>
              <a:ext cx="198" cy="193"/>
              <a:chOff x="3850" y="2270"/>
              <a:chExt cx="107" cy="105"/>
            </a:xfrm>
          </p:grpSpPr>
          <p:sp>
            <p:nvSpPr>
              <p:cNvPr id="46127" name="Oval 12">
                <a:extLst>
                  <a:ext uri="{FF2B5EF4-FFF2-40B4-BE49-F238E27FC236}">
                    <a16:creationId xmlns:a16="http://schemas.microsoft.com/office/drawing/2014/main" id="{0E17BB0B-8CF8-481A-8F0A-49AF6279C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0" y="2270"/>
                <a:ext cx="107" cy="105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rgbClr val="000000"/>
                  </a:gs>
                </a:gsLst>
                <a:path path="rect">
                  <a:fillToRect r="100000" b="100000"/>
                </a:path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6128" name="Rectangle 13">
                <a:extLst>
                  <a:ext uri="{FF2B5EF4-FFF2-40B4-BE49-F238E27FC236}">
                    <a16:creationId xmlns:a16="http://schemas.microsoft.com/office/drawing/2014/main" id="{9C62373F-52B4-4727-9240-D91952D4B2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8" y="2310"/>
                <a:ext cx="79" cy="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46126" name="Line 14">
              <a:extLst>
                <a:ext uri="{FF2B5EF4-FFF2-40B4-BE49-F238E27FC236}">
                  <a16:creationId xmlns:a16="http://schemas.microsoft.com/office/drawing/2014/main" id="{42F44080-46A0-4DFC-82DC-6A38BC77D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1543"/>
              <a:ext cx="2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5955E005-7EA4-47CD-A51F-0D50BF86DE1F}"/>
              </a:ext>
            </a:extLst>
          </p:cNvPr>
          <p:cNvGrpSpPr>
            <a:grpSpLocks/>
          </p:cNvGrpSpPr>
          <p:nvPr/>
        </p:nvGrpSpPr>
        <p:grpSpPr bwMode="auto">
          <a:xfrm>
            <a:off x="3600450" y="1557338"/>
            <a:ext cx="1803400" cy="785812"/>
            <a:chOff x="2268" y="1056"/>
            <a:chExt cx="1136" cy="495"/>
          </a:xfrm>
        </p:grpSpPr>
        <p:sp>
          <p:nvSpPr>
            <p:cNvPr id="46119" name="Line 16">
              <a:extLst>
                <a:ext uri="{FF2B5EF4-FFF2-40B4-BE49-F238E27FC236}">
                  <a16:creationId xmlns:a16="http://schemas.microsoft.com/office/drawing/2014/main" id="{4D79471E-8166-4074-BBF1-2EC6518BA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68" y="1296"/>
              <a:ext cx="756" cy="255"/>
            </a:xfrm>
            <a:prstGeom prst="line">
              <a:avLst/>
            </a:prstGeom>
            <a:noFill/>
            <a:ln w="101600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120" name="Group 17">
              <a:extLst>
                <a:ext uri="{FF2B5EF4-FFF2-40B4-BE49-F238E27FC236}">
                  <a16:creationId xmlns:a16="http://schemas.microsoft.com/office/drawing/2014/main" id="{10BBBEAE-F2A8-4D24-8152-D8BBB5DAB3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056"/>
              <a:ext cx="236" cy="149"/>
              <a:chOff x="1036" y="1830"/>
              <a:chExt cx="355" cy="265"/>
            </a:xfrm>
          </p:grpSpPr>
          <p:sp>
            <p:nvSpPr>
              <p:cNvPr id="46122" name="WordArt 18">
                <a:extLst>
                  <a:ext uri="{FF2B5EF4-FFF2-40B4-BE49-F238E27FC236}">
                    <a16:creationId xmlns:a16="http://schemas.microsoft.com/office/drawing/2014/main" id="{238D942A-3BF3-436A-8F42-7A08291513BE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1239" y="1908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latin typeface="Symbol" panose="05050102010706020507" pitchFamily="18" charset="2"/>
                  </a:rPr>
                  <a:t>n</a:t>
                </a:r>
                <a:endParaRPr lang="zh-CN" altLang="en-US" sz="3600" i="1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endParaRPr>
              </a:p>
            </p:txBody>
          </p:sp>
          <p:sp>
            <p:nvSpPr>
              <p:cNvPr id="46123" name="WordArt 19">
                <a:extLst>
                  <a:ext uri="{FF2B5EF4-FFF2-40B4-BE49-F238E27FC236}">
                    <a16:creationId xmlns:a16="http://schemas.microsoft.com/office/drawing/2014/main" id="{FBAAC1D3-898B-4DF1-9DF4-62C1972E5ED2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1036" y="1830"/>
                <a:ext cx="166" cy="2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h</a:t>
                </a:r>
                <a:endParaRPr lang="zh-CN" altLang="en-US" sz="3600" i="1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6121" name="WordArt 20">
              <a:extLst>
                <a:ext uri="{FF2B5EF4-FFF2-40B4-BE49-F238E27FC236}">
                  <a16:creationId xmlns:a16="http://schemas.microsoft.com/office/drawing/2014/main" id="{FD3C654F-DB6F-4D2C-BFD6-DEC0197F13F3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318" y="1056"/>
              <a:ext cx="776" cy="17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latin typeface="楷体_GB2312" panose="02010609030101010101" pitchFamily="49" charset="-122"/>
                </a:rPr>
                <a:t>入射光子能量</a:t>
              </a:r>
            </a:p>
          </p:txBody>
        </p:sp>
      </p:grpSp>
      <p:grpSp>
        <p:nvGrpSpPr>
          <p:cNvPr id="6" name="Group 21">
            <a:extLst>
              <a:ext uri="{FF2B5EF4-FFF2-40B4-BE49-F238E27FC236}">
                <a16:creationId xmlns:a16="http://schemas.microsoft.com/office/drawing/2014/main" id="{0BE3FAB3-2884-4680-AD8B-159B2DF9A56B}"/>
              </a:ext>
            </a:extLst>
          </p:cNvPr>
          <p:cNvGrpSpPr>
            <a:grpSpLocks/>
          </p:cNvGrpSpPr>
          <p:nvPr/>
        </p:nvGrpSpPr>
        <p:grpSpPr bwMode="auto">
          <a:xfrm>
            <a:off x="3498850" y="2395538"/>
            <a:ext cx="1301750" cy="889000"/>
            <a:chOff x="1413" y="1489"/>
            <a:chExt cx="957" cy="675"/>
          </a:xfrm>
        </p:grpSpPr>
        <p:grpSp>
          <p:nvGrpSpPr>
            <p:cNvPr id="46109" name="Group 22">
              <a:extLst>
                <a:ext uri="{FF2B5EF4-FFF2-40B4-BE49-F238E27FC236}">
                  <a16:creationId xmlns:a16="http://schemas.microsoft.com/office/drawing/2014/main" id="{6DF78FD7-5C3D-4FB9-B3A7-06741834D1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2" y="1489"/>
              <a:ext cx="346" cy="180"/>
              <a:chOff x="1740" y="1456"/>
              <a:chExt cx="346" cy="180"/>
            </a:xfrm>
          </p:grpSpPr>
          <p:sp>
            <p:nvSpPr>
              <p:cNvPr id="46117" name="Rectangle 23">
                <a:extLst>
                  <a:ext uri="{FF2B5EF4-FFF2-40B4-BE49-F238E27FC236}">
                    <a16:creationId xmlns:a16="http://schemas.microsoft.com/office/drawing/2014/main" id="{209CDFD4-B5A4-468E-96D1-36A75CB7F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1456"/>
                <a:ext cx="112" cy="18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46118" name="AutoShape 24">
                <a:extLst>
                  <a:ext uri="{FF2B5EF4-FFF2-40B4-BE49-F238E27FC236}">
                    <a16:creationId xmlns:a16="http://schemas.microsoft.com/office/drawing/2014/main" id="{FC48D892-0AC2-4760-8FA7-55C9399053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" y="1456"/>
                <a:ext cx="324" cy="1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  <a:gd name="T22" fmla="*/ 0 w 21600"/>
                  <a:gd name="T23" fmla="*/ 0 h 21600"/>
                  <a:gd name="T24" fmla="*/ 0 w 21600"/>
                  <a:gd name="T25" fmla="*/ 0 h 21600"/>
                  <a:gd name="T26" fmla="*/ 0 w 21600"/>
                  <a:gd name="T27" fmla="*/ 0 h 21600"/>
                  <a:gd name="T28" fmla="*/ 0 w 21600"/>
                  <a:gd name="T29" fmla="*/ 0 h 2160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1600" h="21600">
                    <a:moveTo>
                      <a:pt x="8424" y="0"/>
                    </a:moveTo>
                    <a:lnTo>
                      <a:pt x="8424" y="4588"/>
                    </a:lnTo>
                    <a:lnTo>
                      <a:pt x="3375" y="4588"/>
                    </a:lnTo>
                    <a:lnTo>
                      <a:pt x="3375" y="17012"/>
                    </a:lnTo>
                    <a:lnTo>
                      <a:pt x="8424" y="17012"/>
                    </a:lnTo>
                    <a:lnTo>
                      <a:pt x="8424" y="21600"/>
                    </a:lnTo>
                    <a:lnTo>
                      <a:pt x="21600" y="10800"/>
                    </a:lnTo>
                    <a:lnTo>
                      <a:pt x="8424" y="0"/>
                    </a:lnTo>
                    <a:close/>
                  </a:path>
                  <a:path w="21600" h="21600">
                    <a:moveTo>
                      <a:pt x="1350" y="4588"/>
                    </a:moveTo>
                    <a:lnTo>
                      <a:pt x="1350" y="17012"/>
                    </a:lnTo>
                    <a:lnTo>
                      <a:pt x="2700" y="17012"/>
                    </a:lnTo>
                    <a:lnTo>
                      <a:pt x="2700" y="4588"/>
                    </a:lnTo>
                    <a:lnTo>
                      <a:pt x="1350" y="4588"/>
                    </a:lnTo>
                    <a:close/>
                  </a:path>
                  <a:path w="21600" h="21600">
                    <a:moveTo>
                      <a:pt x="0" y="4588"/>
                    </a:moveTo>
                    <a:lnTo>
                      <a:pt x="0" y="17012"/>
                    </a:lnTo>
                    <a:lnTo>
                      <a:pt x="675" y="17012"/>
                    </a:lnTo>
                    <a:lnTo>
                      <a:pt x="675" y="4588"/>
                    </a:lnTo>
                    <a:lnTo>
                      <a:pt x="0" y="4588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6110" name="Group 25">
              <a:extLst>
                <a:ext uri="{FF2B5EF4-FFF2-40B4-BE49-F238E27FC236}">
                  <a16:creationId xmlns:a16="http://schemas.microsoft.com/office/drawing/2014/main" id="{113572CC-090D-49F7-8142-4C104AF4A9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3" y="1844"/>
              <a:ext cx="957" cy="320"/>
              <a:chOff x="1413" y="1844"/>
              <a:chExt cx="957" cy="320"/>
            </a:xfrm>
          </p:grpSpPr>
          <p:grpSp>
            <p:nvGrpSpPr>
              <p:cNvPr id="46111" name="Group 26">
                <a:extLst>
                  <a:ext uri="{FF2B5EF4-FFF2-40B4-BE49-F238E27FC236}">
                    <a16:creationId xmlns:a16="http://schemas.microsoft.com/office/drawing/2014/main" id="{574B01CA-23BA-4DBF-8B56-6A727C9158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13" y="1844"/>
                <a:ext cx="353" cy="320"/>
                <a:chOff x="1554" y="1732"/>
                <a:chExt cx="353" cy="320"/>
              </a:xfrm>
            </p:grpSpPr>
            <p:sp>
              <p:nvSpPr>
                <p:cNvPr id="46115" name="WordArt 27">
                  <a:extLst>
                    <a:ext uri="{FF2B5EF4-FFF2-40B4-BE49-F238E27FC236}">
                      <a16:creationId xmlns:a16="http://schemas.microsoft.com/office/drawing/2014/main" id="{AFF8E26B-618F-4430-8A2F-9FED69E87997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558" y="1732"/>
                  <a:ext cx="349" cy="3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</a:bodyPr>
                <a:lstStyle/>
                <a:p>
                  <a:pPr algn="ctr"/>
                  <a:r>
                    <a:rPr lang="en-US" altLang="zh-CN" sz="3600" i="1" kern="10">
                      <a:ln w="101600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bg1"/>
                      </a:solidFill>
                      <a:cs typeface="Times New Roman" panose="02020603050405020304" pitchFamily="18" charset="0"/>
                    </a:rPr>
                    <a:t>A</a:t>
                  </a:r>
                  <a:endParaRPr lang="zh-CN" altLang="en-US" sz="3600" i="1" kern="10">
                    <a:ln w="1016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bg1"/>
                    </a:solidFill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116" name="WordArt 28">
                  <a:extLst>
                    <a:ext uri="{FF2B5EF4-FFF2-40B4-BE49-F238E27FC236}">
                      <a16:creationId xmlns:a16="http://schemas.microsoft.com/office/drawing/2014/main" id="{A65A3F5A-617F-4D2D-89CB-108066532F85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554" y="1740"/>
                  <a:ext cx="202" cy="22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625"/>
                    </a:avLst>
                  </a:prstTxWarp>
                </a:bodyPr>
                <a:lstStyle/>
                <a:p>
                  <a:pPr algn="ctr"/>
                  <a:r>
                    <a:rPr lang="en-US" altLang="zh-CN" sz="2000" i="1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A</a:t>
                  </a:r>
                  <a:endParaRPr lang="zh-CN" altLang="en-US" sz="2000" i="1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6112" name="Group 29">
                <a:extLst>
                  <a:ext uri="{FF2B5EF4-FFF2-40B4-BE49-F238E27FC236}">
                    <a16:creationId xmlns:a16="http://schemas.microsoft.com/office/drawing/2014/main" id="{92E7D1D5-87A5-4A03-B0D0-309021E137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6" y="1952"/>
                <a:ext cx="564" cy="161"/>
                <a:chOff x="367" y="1900"/>
                <a:chExt cx="564" cy="161"/>
              </a:xfrm>
            </p:grpSpPr>
            <p:sp>
              <p:nvSpPr>
                <p:cNvPr id="46113" name="WordArt 30">
                  <a:extLst>
                    <a:ext uri="{FF2B5EF4-FFF2-40B4-BE49-F238E27FC236}">
                      <a16:creationId xmlns:a16="http://schemas.microsoft.com/office/drawing/2014/main" id="{962C058E-659D-4E6F-91C5-66A13B6058D2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70" y="1900"/>
                  <a:ext cx="561" cy="15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zh-CN" altLang="en-US" sz="3600" kern="10">
                      <a:ln w="76200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bg1"/>
                      </a:solidFill>
                      <a:latin typeface="楷体_GB2312" panose="02010609030101010101" pitchFamily="49" charset="-122"/>
                    </a:rPr>
                    <a:t>逸出功</a:t>
                  </a:r>
                </a:p>
              </p:txBody>
            </p:sp>
            <p:sp>
              <p:nvSpPr>
                <p:cNvPr id="46114" name="WordArt 31">
                  <a:extLst>
                    <a:ext uri="{FF2B5EF4-FFF2-40B4-BE49-F238E27FC236}">
                      <a16:creationId xmlns:a16="http://schemas.microsoft.com/office/drawing/2014/main" id="{FDCBE0E6-705B-4AE5-A0E1-3121A652C69B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67" y="1903"/>
                  <a:ext cx="561" cy="15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zh-CN" altLang="en-US" sz="3600" kern="1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rgbClr val="FF0000"/>
                      </a:solidFill>
                      <a:latin typeface="楷体_GB2312" panose="02010609030101010101" pitchFamily="49" charset="-122"/>
                    </a:rPr>
                    <a:t>逸出功</a:t>
                  </a:r>
                </a:p>
              </p:txBody>
            </p:sp>
          </p:grpSp>
        </p:grpSp>
      </p:grpSp>
      <p:grpSp>
        <p:nvGrpSpPr>
          <p:cNvPr id="11" name="Group 32">
            <a:extLst>
              <a:ext uri="{FF2B5EF4-FFF2-40B4-BE49-F238E27FC236}">
                <a16:creationId xmlns:a16="http://schemas.microsoft.com/office/drawing/2014/main" id="{F6BD7DC2-39AB-40B4-AC19-409042982E04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2230438"/>
            <a:ext cx="1941513" cy="990600"/>
            <a:chOff x="1549" y="1549"/>
            <a:chExt cx="1587" cy="642"/>
          </a:xfrm>
        </p:grpSpPr>
        <p:grpSp>
          <p:nvGrpSpPr>
            <p:cNvPr id="46096" name="Group 33">
              <a:extLst>
                <a:ext uri="{FF2B5EF4-FFF2-40B4-BE49-F238E27FC236}">
                  <a16:creationId xmlns:a16="http://schemas.microsoft.com/office/drawing/2014/main" id="{1C07A553-F1D8-479E-B333-70E54BBF2C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9" y="1663"/>
              <a:ext cx="519" cy="160"/>
              <a:chOff x="2132" y="1472"/>
              <a:chExt cx="606" cy="193"/>
            </a:xfrm>
          </p:grpSpPr>
          <p:grpSp>
            <p:nvGrpSpPr>
              <p:cNvPr id="46105" name="Group 34">
                <a:extLst>
                  <a:ext uri="{FF2B5EF4-FFF2-40B4-BE49-F238E27FC236}">
                    <a16:creationId xmlns:a16="http://schemas.microsoft.com/office/drawing/2014/main" id="{E3FF9665-C001-47AC-A906-8742070AFA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32" y="1472"/>
                <a:ext cx="198" cy="193"/>
                <a:chOff x="3850" y="2270"/>
                <a:chExt cx="107" cy="105"/>
              </a:xfrm>
            </p:grpSpPr>
            <p:sp>
              <p:nvSpPr>
                <p:cNvPr id="46107" name="Oval 35">
                  <a:extLst>
                    <a:ext uri="{FF2B5EF4-FFF2-40B4-BE49-F238E27FC236}">
                      <a16:creationId xmlns:a16="http://schemas.microsoft.com/office/drawing/2014/main" id="{717022A1-DEDB-42C8-BC3A-4FFE080BDE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0" y="2270"/>
                  <a:ext cx="107" cy="10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folHlink"/>
                    </a:gs>
                    <a:gs pos="100000">
                      <a:srgbClr val="000000"/>
                    </a:gs>
                  </a:gsLst>
                  <a:path path="rect">
                    <a:fillToRect r="100000" b="100000"/>
                  </a:path>
                </a:gra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46108" name="Rectangle 36">
                  <a:extLst>
                    <a:ext uri="{FF2B5EF4-FFF2-40B4-BE49-F238E27FC236}">
                      <a16:creationId xmlns:a16="http://schemas.microsoft.com/office/drawing/2014/main" id="{EDA2AD4F-2A8C-4E7C-A7C5-32B108DB1D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8" y="2310"/>
                  <a:ext cx="79" cy="1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</p:grpSp>
          <p:sp>
            <p:nvSpPr>
              <p:cNvPr id="46106" name="Line 37">
                <a:extLst>
                  <a:ext uri="{FF2B5EF4-FFF2-40B4-BE49-F238E27FC236}">
                    <a16:creationId xmlns:a16="http://schemas.microsoft.com/office/drawing/2014/main" id="{5E334AB3-2CFF-42FC-8863-21166C849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2" y="1562"/>
                <a:ext cx="366" cy="0"/>
              </a:xfrm>
              <a:prstGeom prst="line">
                <a:avLst/>
              </a:prstGeom>
              <a:noFill/>
              <a:ln w="19050" cap="rnd">
                <a:solidFill>
                  <a:schemeClr val="tx1"/>
                </a:solidFill>
                <a:prstDash val="sysDot"/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097" name="WordArt 38">
              <a:extLst>
                <a:ext uri="{FF2B5EF4-FFF2-40B4-BE49-F238E27FC236}">
                  <a16:creationId xmlns:a16="http://schemas.microsoft.com/office/drawing/2014/main" id="{AE878237-117E-4C47-B41F-4D2AE369E2B0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479" y="1656"/>
              <a:ext cx="190" cy="11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m</a:t>
              </a:r>
              <a:endParaRPr lang="zh-CN" altLang="en-US" sz="3600" i="1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6098" name="WordArt 39">
              <a:extLst>
                <a:ext uri="{FF2B5EF4-FFF2-40B4-BE49-F238E27FC236}">
                  <a16:creationId xmlns:a16="http://schemas.microsoft.com/office/drawing/2014/main" id="{04258786-1D87-4B82-89F0-D52BC40BCE7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301" y="1549"/>
              <a:ext cx="85" cy="1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zh-CN" alt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6099" name="WordArt 40">
              <a:extLst>
                <a:ext uri="{FF2B5EF4-FFF2-40B4-BE49-F238E27FC236}">
                  <a16:creationId xmlns:a16="http://schemas.microsoft.com/office/drawing/2014/main" id="{6D9934E8-036A-4677-A0EC-E3E861159772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292" y="1754"/>
              <a:ext cx="97" cy="10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zh-CN" alt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6100" name="Line 41">
              <a:extLst>
                <a:ext uri="{FF2B5EF4-FFF2-40B4-BE49-F238E27FC236}">
                  <a16:creationId xmlns:a16="http://schemas.microsoft.com/office/drawing/2014/main" id="{0B997940-153E-48EB-8CCC-91427DBF89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6" y="1704"/>
              <a:ext cx="2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1" name="WordArt 42">
              <a:extLst>
                <a:ext uri="{FF2B5EF4-FFF2-40B4-BE49-F238E27FC236}">
                  <a16:creationId xmlns:a16="http://schemas.microsoft.com/office/drawing/2014/main" id="{4198F395-B18C-439C-AAF7-E4EBF1CC06DA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879" y="1708"/>
              <a:ext cx="257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12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m a x</a:t>
              </a:r>
              <a:endParaRPr lang="zh-CN" altLang="en-US" sz="1200" i="1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6102" name="WordArt 43">
              <a:extLst>
                <a:ext uri="{FF2B5EF4-FFF2-40B4-BE49-F238E27FC236}">
                  <a16:creationId xmlns:a16="http://schemas.microsoft.com/office/drawing/2014/main" id="{B7F22C58-2977-47D1-A0EB-7AAA4AA059F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721" y="1659"/>
              <a:ext cx="145" cy="11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Book Antiqua" panose="02040602050305030304" pitchFamily="18" charset="0"/>
                </a:rPr>
                <a:t>v</a:t>
              </a:r>
              <a:endParaRPr lang="zh-CN" altLang="en-US" sz="3600" i="1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6103" name="WordArt 44">
              <a:extLst>
                <a:ext uri="{FF2B5EF4-FFF2-40B4-BE49-F238E27FC236}">
                  <a16:creationId xmlns:a16="http://schemas.microsoft.com/office/drawing/2014/main" id="{AED6A245-756C-47EF-AF59-6F09D8DF7B79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903" y="1582"/>
              <a:ext cx="79" cy="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zh-CN" alt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6104" name="WordArt 45">
              <a:extLst>
                <a:ext uri="{FF2B5EF4-FFF2-40B4-BE49-F238E27FC236}">
                  <a16:creationId xmlns:a16="http://schemas.microsoft.com/office/drawing/2014/main" id="{FB1D416A-7844-4109-8044-792CAD468FF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119" y="2028"/>
              <a:ext cx="859" cy="16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楷体_GB2312" panose="02010609030101010101" pitchFamily="49" charset="-122"/>
                </a:rPr>
                <a:t>光电子最大初动能</a:t>
              </a:r>
            </a:p>
          </p:txBody>
        </p:sp>
      </p:grpSp>
      <p:sp>
        <p:nvSpPr>
          <p:cNvPr id="951342" name="Text Box 46">
            <a:extLst>
              <a:ext uri="{FF2B5EF4-FFF2-40B4-BE49-F238E27FC236}">
                <a16:creationId xmlns:a16="http://schemas.microsoft.com/office/drawing/2014/main" id="{134A292A-A6EA-4771-98C3-03D1CD371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013325"/>
            <a:ext cx="4572000" cy="371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75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  <a:defRPr/>
            </a:pPr>
            <a:r>
              <a:rPr kumimoji="1" lang="en-US" altLang="zh-CN" b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b="0" i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</a:t>
            </a:r>
            <a:r>
              <a:rPr kumimoji="1" lang="en-US" altLang="zh-CN" i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I =Nh</a:t>
            </a:r>
            <a:r>
              <a:rPr kumimoji="1" lang="en-US" altLang="zh-CN" i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</a:t>
            </a:r>
            <a:r>
              <a:rPr kumimoji="1" lang="en-US" altLang="zh-CN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</a:t>
            </a:r>
            <a:endParaRPr kumimoji="1" lang="en-US" altLang="zh-CN" b="0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951343" name="Text Box 47">
            <a:extLst>
              <a:ext uri="{FF2B5EF4-FFF2-40B4-BE49-F238E27FC236}">
                <a16:creationId xmlns:a16="http://schemas.microsoft.com/office/drawing/2014/main" id="{2607D653-24BA-496B-B578-3A6019334A97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1116013" y="5419725"/>
            <a:ext cx="5765800" cy="457200"/>
          </a:xfrm>
          <a:prstGeom prst="rect">
            <a:avLst/>
          </a:prstGeom>
          <a:noFill/>
          <a:ln w="28575">
            <a:noFill/>
            <a:miter lim="800000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i="1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N 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即</a:t>
            </a:r>
            <a:r>
              <a:rPr kumimoji="1" lang="zh-CN" altLang="zh-CN" u="sng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单位时间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入射到</a:t>
            </a:r>
            <a:r>
              <a:rPr kumimoji="1" lang="zh-CN" altLang="zh-CN" u="sng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单位面积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上</a:t>
            </a:r>
            <a:r>
              <a:rPr kumimoji="1" lang="zh-CN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的光子数</a:t>
            </a:r>
            <a:endParaRPr kumimoji="1" lang="zh-CN" altLang="en-US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DC844F1-C6D0-4EB2-909B-2B3B69D9E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205" y="4207668"/>
            <a:ext cx="249462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dirty="0">
                <a:ea typeface="黑体" panose="02010609060101010101" pitchFamily="49" charset="-122"/>
              </a:rPr>
              <a:t>光强：单位时间光射到单位面积上的能量</a:t>
            </a:r>
            <a:endParaRPr lang="zh-CN" altLang="en-US" sz="2400" dirty="0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1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5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51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951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51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95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8" grpId="0" build="p" bldLvl="2"/>
      <p:bldP spid="951300" grpId="0" build="p"/>
      <p:bldP spid="951301" grpId="0"/>
      <p:bldP spid="951303" grpId="0"/>
      <p:bldP spid="951342" grpId="0" build="p"/>
      <p:bldP spid="951343" grpId="0" build="p"/>
      <p:bldP spid="4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3">
            <a:extLst>
              <a:ext uri="{FF2B5EF4-FFF2-40B4-BE49-F238E27FC236}">
                <a16:creationId xmlns:a16="http://schemas.microsoft.com/office/drawing/2014/main" id="{2F00322E-7927-4590-A667-1CD99416E0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08E069-0D8E-4411-9D52-DD366038D942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zh-CN" altLang="zh-CN" sz="1400"/>
          </a:p>
        </p:txBody>
      </p:sp>
      <p:sp>
        <p:nvSpPr>
          <p:cNvPr id="952322" name="Text Box 2">
            <a:extLst>
              <a:ext uri="{FF2B5EF4-FFF2-40B4-BE49-F238E27FC236}">
                <a16:creationId xmlns:a16="http://schemas.microsoft.com/office/drawing/2014/main" id="{A0560E49-428B-4775-81ED-548876728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151188"/>
            <a:ext cx="8362950" cy="5667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kumimoji="1" lang="zh-CN" altLang="en-US">
                <a:solidFill>
                  <a:schemeClr val="tx1"/>
                </a:solidFill>
                <a:ea typeface="仿宋_GB2312" pitchFamily="49" charset="-122"/>
              </a:rPr>
              <a:t>　　</a:t>
            </a:r>
            <a:r>
              <a:rPr kumimoji="1" lang="en-US" altLang="zh-CN">
                <a:solidFill>
                  <a:schemeClr val="tx1"/>
                </a:solidFill>
                <a:ea typeface="仿宋_GB2312" pitchFamily="49" charset="-122"/>
              </a:rPr>
              <a:t>(3)  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红限频率的存在</a:t>
            </a:r>
          </a:p>
        </p:txBody>
      </p:sp>
      <p:sp>
        <p:nvSpPr>
          <p:cNvPr id="952323" name="Rectangle 3">
            <a:extLst>
              <a:ext uri="{FF2B5EF4-FFF2-40B4-BE49-F238E27FC236}">
                <a16:creationId xmlns:a16="http://schemas.microsoft.com/office/drawing/2014/main" id="{814ED556-EDA1-45E6-B337-138970843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4124325"/>
            <a:ext cx="60436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h</a:t>
            </a:r>
            <a:r>
              <a:rPr kumimoji="1"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 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&gt;</a:t>
            </a:r>
            <a:r>
              <a:rPr kumimoji="1"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A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时才能产生光电效应</a:t>
            </a:r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----</a:t>
            </a: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存在红限频率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B6BD49B-1E2B-4866-A71B-2EFD8169A838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3108325"/>
            <a:ext cx="2514600" cy="838200"/>
            <a:chOff x="2688" y="1968"/>
            <a:chExt cx="1584" cy="528"/>
          </a:xfrm>
        </p:grpSpPr>
        <p:sp>
          <p:nvSpPr>
            <p:cNvPr id="952325" name="Rectangle 5">
              <a:extLst>
                <a:ext uri="{FF2B5EF4-FFF2-40B4-BE49-F238E27FC236}">
                  <a16:creationId xmlns:a16="http://schemas.microsoft.com/office/drawing/2014/main" id="{C2955EF2-5D26-4057-B92B-DDC8258A3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968"/>
              <a:ext cx="1584" cy="528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graphicFrame>
          <p:nvGraphicFramePr>
            <p:cNvPr id="47156" name="Object 6">
              <a:extLst>
                <a:ext uri="{FF2B5EF4-FFF2-40B4-BE49-F238E27FC236}">
                  <a16:creationId xmlns:a16="http://schemas.microsoft.com/office/drawing/2014/main" id="{071A5972-E18D-464B-8E51-8303580DC3B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847" y="1968"/>
            <a:ext cx="560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29" r:id="rId3" imgW="438239" imgH="361882" progId="Equation.DSMT4">
                    <p:embed/>
                  </p:oleObj>
                </mc:Choice>
                <mc:Fallback>
                  <p:oleObj r:id="rId3" imgW="438239" imgH="361882" progId="Equation.DSMT4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7" y="1968"/>
                          <a:ext cx="560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2328" name="Text Box 8">
            <a:extLst>
              <a:ext uri="{FF2B5EF4-FFF2-40B4-BE49-F238E27FC236}">
                <a16:creationId xmlns:a16="http://schemas.microsoft.com/office/drawing/2014/main" id="{45590571-F022-433B-9609-B391E9B35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28600"/>
            <a:ext cx="6629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kumimoji="1" lang="en-US" altLang="zh-CN">
                <a:solidFill>
                  <a:schemeClr val="tx1"/>
                </a:solidFill>
                <a:ea typeface="仿宋_GB2312" pitchFamily="49" charset="-122"/>
              </a:rPr>
              <a:t>(2)  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截止电压与频率成线性关系</a:t>
            </a:r>
          </a:p>
        </p:txBody>
      </p:sp>
      <p:sp>
        <p:nvSpPr>
          <p:cNvPr id="952330" name="Text Box 10">
            <a:extLst>
              <a:ext uri="{FF2B5EF4-FFF2-40B4-BE49-F238E27FC236}">
                <a16:creationId xmlns:a16="http://schemas.microsoft.com/office/drawing/2014/main" id="{DBA132D3-0810-473D-907E-FF4A311A5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988" y="6223000"/>
            <a:ext cx="8990012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华文新魏" panose="02010800040101010101" pitchFamily="2" charset="-122"/>
              </a:rPr>
              <a:t>光量子</a:t>
            </a:r>
            <a:r>
              <a:rPr kumimoji="1" lang="zh-CN" altLang="en-US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假设解释了光电效应的全部实验规律！</a:t>
            </a:r>
          </a:p>
        </p:txBody>
      </p:sp>
      <p:sp>
        <p:nvSpPr>
          <p:cNvPr id="952331" name="Text Box 11">
            <a:extLst>
              <a:ext uri="{FF2B5EF4-FFF2-40B4-BE49-F238E27FC236}">
                <a16:creationId xmlns:a16="http://schemas.microsoft.com/office/drawing/2014/main" id="{6A00CEB8-60E5-40BF-8C3F-5A65AEBD3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737100"/>
            <a:ext cx="8305800" cy="1443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　　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(4)  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光电效应的瞬时性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　　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Wingdings" panose="05000000000000000000" pitchFamily="2" charset="2"/>
              </a:rPr>
              <a:t>一个光子的能量可以立即被金属中的一个电子吸收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Wingdings" panose="05000000000000000000" pitchFamily="2" charset="2"/>
              </a:rPr>
              <a:t>         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Wingdings" panose="05000000000000000000" pitchFamily="2" charset="2"/>
              </a:rPr>
              <a:t>----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Wingdings" panose="05000000000000000000" pitchFamily="2" charset="2"/>
              </a:rPr>
              <a:t>瞬时性</a:t>
            </a:r>
            <a:endParaRPr kumimoji="1" lang="zh-CN" altLang="en-US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</p:txBody>
      </p:sp>
      <p:graphicFrame>
        <p:nvGraphicFramePr>
          <p:cNvPr id="952332" name="Object 12">
            <a:extLst>
              <a:ext uri="{FF2B5EF4-FFF2-40B4-BE49-F238E27FC236}">
                <a16:creationId xmlns:a16="http://schemas.microsoft.com/office/drawing/2014/main" id="{E97E9947-13FE-4C96-9083-1D9F72BCBB0D}"/>
              </a:ext>
            </a:extLst>
          </p:cNvPr>
          <p:cNvGraphicFramePr>
            <a:graphicFrameLocks/>
          </p:cNvGraphicFramePr>
          <p:nvPr/>
        </p:nvGraphicFramePr>
        <p:xfrm>
          <a:off x="1335088" y="1752600"/>
          <a:ext cx="4043362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0" r:id="rId5" imgW="1967646" imgH="393529" progId="Equation.DSMT4">
                  <p:embed/>
                </p:oleObj>
              </mc:Choice>
              <mc:Fallback>
                <p:oleObj r:id="rId5" imgW="1967646" imgH="393529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088" y="1752600"/>
                        <a:ext cx="4043362" cy="78581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accent1"/>
                          </a:gs>
                          <a:gs pos="50000">
                            <a:schemeClr val="bg1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66CC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33" name="Object 13">
            <a:extLst>
              <a:ext uri="{FF2B5EF4-FFF2-40B4-BE49-F238E27FC236}">
                <a16:creationId xmlns:a16="http://schemas.microsoft.com/office/drawing/2014/main" id="{A9625849-81F1-45E3-A6C3-A1C48CD810AD}"/>
              </a:ext>
            </a:extLst>
          </p:cNvPr>
          <p:cNvGraphicFramePr>
            <a:graphicFrameLocks/>
          </p:cNvGraphicFramePr>
          <p:nvPr/>
        </p:nvGraphicFramePr>
        <p:xfrm>
          <a:off x="1176338" y="838200"/>
          <a:ext cx="446087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1" r:id="rId7" imgW="2170758" imgH="393529" progId="Equation.DSMT4">
                  <p:embed/>
                </p:oleObj>
              </mc:Choice>
              <mc:Fallback>
                <p:oleObj r:id="rId7" imgW="2170758" imgH="393529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38" y="838200"/>
                        <a:ext cx="4460875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4">
            <a:extLst>
              <a:ext uri="{FF2B5EF4-FFF2-40B4-BE49-F238E27FC236}">
                <a16:creationId xmlns:a16="http://schemas.microsoft.com/office/drawing/2014/main" id="{6D8BCD37-9BB4-4056-ADF9-174E0E5AE885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584325"/>
            <a:ext cx="3595688" cy="1082675"/>
            <a:chOff x="3360" y="998"/>
            <a:chExt cx="2265" cy="682"/>
          </a:xfrm>
        </p:grpSpPr>
        <p:graphicFrame>
          <p:nvGraphicFramePr>
            <p:cNvPr id="47151" name="Object 15">
              <a:extLst>
                <a:ext uri="{FF2B5EF4-FFF2-40B4-BE49-F238E27FC236}">
                  <a16:creationId xmlns:a16="http://schemas.microsoft.com/office/drawing/2014/main" id="{88B41F3C-79FC-4C56-A685-33BFABAC8D8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06" y="1200"/>
            <a:ext cx="1319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32" r:id="rId9" imgW="774364" imgH="228501" progId="Equation.3">
                    <p:embed/>
                  </p:oleObj>
                </mc:Choice>
                <mc:Fallback>
                  <p:oleObj r:id="rId9" imgW="774364" imgH="228501" progId="Equation.3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1200"/>
                          <a:ext cx="1319" cy="337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CCFFCC"/>
                            </a:gs>
                            <a:gs pos="50000">
                              <a:srgbClr val="FFFFFF"/>
                            </a:gs>
                            <a:gs pos="100000">
                              <a:srgbClr val="CCFFCC"/>
                            </a:gs>
                          </a:gsLst>
                          <a:lin ang="5400000" scaled="1"/>
                        </a:gradFill>
                        <a:ln w="9525">
                          <a:solidFill>
                            <a:srgbClr val="66CCFF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336" name="Text Box 16">
              <a:extLst>
                <a:ext uri="{FF2B5EF4-FFF2-40B4-BE49-F238E27FC236}">
                  <a16:creationId xmlns:a16="http://schemas.microsoft.com/office/drawing/2014/main" id="{1E13E6EA-FDDD-4BFA-9AEF-615F27F49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998"/>
              <a:ext cx="841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200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 </a:t>
              </a:r>
              <a:r>
                <a:rPr kumimoji="1" lang="zh-CN" altLang="en-US" sz="200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实验规律</a:t>
              </a:r>
            </a:p>
          </p:txBody>
        </p:sp>
        <p:sp>
          <p:nvSpPr>
            <p:cNvPr id="47153" name="AutoShape 17">
              <a:extLst>
                <a:ext uri="{FF2B5EF4-FFF2-40B4-BE49-F238E27FC236}">
                  <a16:creationId xmlns:a16="http://schemas.microsoft.com/office/drawing/2014/main" id="{63BF8E98-4812-4C5B-A2A3-7ED89ACAB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248"/>
              <a:ext cx="765" cy="192"/>
            </a:xfrm>
            <a:prstGeom prst="leftRightArrow">
              <a:avLst>
                <a:gd name="adj1" fmla="val 50000"/>
                <a:gd name="adj2" fmla="val 7957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CCFFFF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rgbClr val="66C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952338" name="Text Box 18">
              <a:extLst>
                <a:ext uri="{FF2B5EF4-FFF2-40B4-BE49-F238E27FC236}">
                  <a16:creationId xmlns:a16="http://schemas.microsoft.com/office/drawing/2014/main" id="{ED79D282-EC79-46C0-B8FF-6CA62E22F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" y="1430"/>
              <a:ext cx="438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00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相符</a:t>
              </a:r>
            </a:p>
          </p:txBody>
        </p:sp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16C5E160-FE9A-48A2-AA42-66A33EE599DA}"/>
              </a:ext>
            </a:extLst>
          </p:cNvPr>
          <p:cNvGrpSpPr>
            <a:grpSpLocks/>
          </p:cNvGrpSpPr>
          <p:nvPr/>
        </p:nvGrpSpPr>
        <p:grpSpPr bwMode="auto">
          <a:xfrm>
            <a:off x="5375275" y="3068638"/>
            <a:ext cx="1228725" cy="801687"/>
            <a:chOff x="3386" y="1943"/>
            <a:chExt cx="774" cy="505"/>
          </a:xfrm>
        </p:grpSpPr>
        <p:graphicFrame>
          <p:nvGraphicFramePr>
            <p:cNvPr id="47149" name="Object 20">
              <a:extLst>
                <a:ext uri="{FF2B5EF4-FFF2-40B4-BE49-F238E27FC236}">
                  <a16:creationId xmlns:a16="http://schemas.microsoft.com/office/drawing/2014/main" id="{55259711-E93F-44F5-BC6C-2BF071DFB02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568" y="1977"/>
            <a:ext cx="592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33" r:id="rId11" imgW="266675" imgH="361882" progId="Equation.3">
                    <p:embed/>
                  </p:oleObj>
                </mc:Choice>
                <mc:Fallback>
                  <p:oleObj r:id="rId11" imgW="266675" imgH="361882" progId="Equation.3">
                    <p:embed/>
                    <p:pic>
                      <p:nvPicPr>
                        <p:cNvPr id="0" name="Object 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8" y="1977"/>
                          <a:ext cx="592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341" name="Text Box 21">
              <a:extLst>
                <a:ext uri="{FF2B5EF4-FFF2-40B4-BE49-F238E27FC236}">
                  <a16:creationId xmlns:a16="http://schemas.microsoft.com/office/drawing/2014/main" id="{6E513437-A127-4C3D-8A34-D0A7FB806D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6" y="1943"/>
              <a:ext cx="486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80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仿宋_GB2312" pitchFamily="49" charset="-122"/>
                </a:rPr>
                <a:t>  </a:t>
              </a:r>
              <a:r>
                <a:rPr lang="zh-CN" altLang="en-US" sz="180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仿宋_GB2312" pitchFamily="49" charset="-122"/>
                </a:rPr>
                <a:t>实验</a:t>
              </a:r>
            </a:p>
          </p:txBody>
        </p:sp>
      </p:grpSp>
      <p:grpSp>
        <p:nvGrpSpPr>
          <p:cNvPr id="21" name="Group 79">
            <a:extLst>
              <a:ext uri="{FF2B5EF4-FFF2-40B4-BE49-F238E27FC236}">
                <a16:creationId xmlns:a16="http://schemas.microsoft.com/office/drawing/2014/main" id="{75BD2D98-0A20-4FC9-82EA-01BD7B9371DF}"/>
              </a:ext>
            </a:extLst>
          </p:cNvPr>
          <p:cNvGrpSpPr>
            <a:grpSpLocks/>
          </p:cNvGrpSpPr>
          <p:nvPr/>
        </p:nvGrpSpPr>
        <p:grpSpPr bwMode="auto">
          <a:xfrm>
            <a:off x="7596188" y="123825"/>
            <a:ext cx="1114425" cy="1620838"/>
            <a:chOff x="0" y="2609"/>
            <a:chExt cx="1438" cy="1615"/>
          </a:xfrm>
        </p:grpSpPr>
        <p:sp>
          <p:nvSpPr>
            <p:cNvPr id="47118" name="Line 80">
              <a:extLst>
                <a:ext uri="{FF2B5EF4-FFF2-40B4-BE49-F238E27FC236}">
                  <a16:creationId xmlns:a16="http://schemas.microsoft.com/office/drawing/2014/main" id="{C45730CA-22FD-4C28-BE98-960AA81B84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" y="2615"/>
              <a:ext cx="0" cy="15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9" name="Line 81">
              <a:extLst>
                <a:ext uri="{FF2B5EF4-FFF2-40B4-BE49-F238E27FC236}">
                  <a16:creationId xmlns:a16="http://schemas.microsoft.com/office/drawing/2014/main" id="{37B3F84C-FB9E-43E3-8CE2-DCFD38054F7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703" y="2911"/>
              <a:ext cx="0" cy="14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0" name="WordArt 82">
              <a:extLst>
                <a:ext uri="{FF2B5EF4-FFF2-40B4-BE49-F238E27FC236}">
                  <a16:creationId xmlns:a16="http://schemas.microsoft.com/office/drawing/2014/main" id="{6815CABC-A587-471B-8D31-90CC5086974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75" y="3646"/>
              <a:ext cx="69" cy="10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zh-CN" alt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7121" name="Group 83">
              <a:extLst>
                <a:ext uri="{FF2B5EF4-FFF2-40B4-BE49-F238E27FC236}">
                  <a16:creationId xmlns:a16="http://schemas.microsoft.com/office/drawing/2014/main" id="{8BF2B6B0-116C-417C-9E5E-A71D3C1D0B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" y="2674"/>
              <a:ext cx="225" cy="153"/>
              <a:chOff x="2170" y="1869"/>
              <a:chExt cx="237" cy="161"/>
            </a:xfrm>
          </p:grpSpPr>
          <p:sp>
            <p:nvSpPr>
              <p:cNvPr id="47147" name="WordArt 84">
                <a:extLst>
                  <a:ext uri="{FF2B5EF4-FFF2-40B4-BE49-F238E27FC236}">
                    <a16:creationId xmlns:a16="http://schemas.microsoft.com/office/drawing/2014/main" id="{5B9C6CE9-B52D-4AAD-A5C6-D5A16BCB7908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170" y="1869"/>
                <a:ext cx="200" cy="15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4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U</a:t>
                </a:r>
                <a:endPara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47148" name="WordArt 85">
                <a:extLst>
                  <a:ext uri="{FF2B5EF4-FFF2-40B4-BE49-F238E27FC236}">
                    <a16:creationId xmlns:a16="http://schemas.microsoft.com/office/drawing/2014/main" id="{BF352A8D-E70B-49E2-9856-7E6E06B4250B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2328" y="1945"/>
                <a:ext cx="79" cy="8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0</a:t>
                </a:r>
                <a:endPara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7122" name="WordArt 86">
              <a:extLst>
                <a:ext uri="{FF2B5EF4-FFF2-40B4-BE49-F238E27FC236}">
                  <a16:creationId xmlns:a16="http://schemas.microsoft.com/office/drawing/2014/main" id="{5DC285A7-2016-41BA-B4E9-6C6C2241F4B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299" y="3413"/>
              <a:ext cx="95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Symbol" panose="05050102010706020507" pitchFamily="18" charset="2"/>
                </a:rPr>
                <a:t>n</a:t>
              </a:r>
              <a:endParaRPr lang="zh-CN" altLang="en-US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grpSp>
          <p:nvGrpSpPr>
            <p:cNvPr id="47123" name="Group 87">
              <a:extLst>
                <a:ext uri="{FF2B5EF4-FFF2-40B4-BE49-F238E27FC236}">
                  <a16:creationId xmlns:a16="http://schemas.microsoft.com/office/drawing/2014/main" id="{3C4A53D0-5040-45F8-B704-0EF742609A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5" y="3741"/>
              <a:ext cx="126" cy="157"/>
              <a:chOff x="3126" y="3636"/>
              <a:chExt cx="191" cy="196"/>
            </a:xfrm>
          </p:grpSpPr>
          <p:sp>
            <p:nvSpPr>
              <p:cNvPr id="47145" name="WordArt 88">
                <a:extLst>
                  <a:ext uri="{FF2B5EF4-FFF2-40B4-BE49-F238E27FC236}">
                    <a16:creationId xmlns:a16="http://schemas.microsoft.com/office/drawing/2014/main" id="{903A8CC8-4667-4E06-9EA1-28E070506828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126" y="3636"/>
                <a:ext cx="152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Symbol" panose="05050102010706020507" pitchFamily="18" charset="2"/>
                  </a:rPr>
                  <a:t>n</a:t>
                </a:r>
                <a:endParaRPr lang="zh-CN" alt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Symbol" panose="05050102010706020507" pitchFamily="18" charset="2"/>
                </a:endParaRPr>
              </a:p>
            </p:txBody>
          </p:sp>
          <p:sp>
            <p:nvSpPr>
              <p:cNvPr id="47146" name="WordArt 89">
                <a:extLst>
                  <a:ext uri="{FF2B5EF4-FFF2-40B4-BE49-F238E27FC236}">
                    <a16:creationId xmlns:a16="http://schemas.microsoft.com/office/drawing/2014/main" id="{DFAD10E6-B7EB-4636-94F2-DA43774CDA43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237" y="3732"/>
                <a:ext cx="80" cy="1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7124" name="Line 90">
              <a:extLst>
                <a:ext uri="{FF2B5EF4-FFF2-40B4-BE49-F238E27FC236}">
                  <a16:creationId xmlns:a16="http://schemas.microsoft.com/office/drawing/2014/main" id="{B2D31B98-0191-4BAC-9750-ACD355BF25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0" y="2674"/>
              <a:ext cx="619" cy="93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5" name="Line 91">
              <a:extLst>
                <a:ext uri="{FF2B5EF4-FFF2-40B4-BE49-F238E27FC236}">
                  <a16:creationId xmlns:a16="http://schemas.microsoft.com/office/drawing/2014/main" id="{3AE0A928-89AC-4549-A312-53F5726139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" y="3638"/>
              <a:ext cx="311" cy="4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6" name="Oval 92">
              <a:extLst>
                <a:ext uri="{FF2B5EF4-FFF2-40B4-BE49-F238E27FC236}">
                  <a16:creationId xmlns:a16="http://schemas.microsoft.com/office/drawing/2014/main" id="{8225849E-3FCA-45BB-8719-EF5B6F2B9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" y="4014"/>
              <a:ext cx="50" cy="6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7127" name="Oval 93">
              <a:extLst>
                <a:ext uri="{FF2B5EF4-FFF2-40B4-BE49-F238E27FC236}">
                  <a16:creationId xmlns:a16="http://schemas.microsoft.com/office/drawing/2014/main" id="{2BFB961C-6F33-4A53-8195-22E0C27EB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" y="3574"/>
              <a:ext cx="53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7128" name="Line 94">
              <a:extLst>
                <a:ext uri="{FF2B5EF4-FFF2-40B4-BE49-F238E27FC236}">
                  <a16:creationId xmlns:a16="http://schemas.microsoft.com/office/drawing/2014/main" id="{FD034BE8-FFDC-4210-BAF4-16A2E51647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" y="3569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9" name="Line 95">
              <a:extLst>
                <a:ext uri="{FF2B5EF4-FFF2-40B4-BE49-F238E27FC236}">
                  <a16:creationId xmlns:a16="http://schemas.microsoft.com/office/drawing/2014/main" id="{5F62FBAA-4C24-4E96-BC90-19BCC6976B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3572"/>
              <a:ext cx="0" cy="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0" name="Line 96">
              <a:extLst>
                <a:ext uri="{FF2B5EF4-FFF2-40B4-BE49-F238E27FC236}">
                  <a16:creationId xmlns:a16="http://schemas.microsoft.com/office/drawing/2014/main" id="{A47FD1DF-66BF-4316-A7C6-934CB4876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9" y="3579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1" name="WordArt 97">
              <a:extLst>
                <a:ext uri="{FF2B5EF4-FFF2-40B4-BE49-F238E27FC236}">
                  <a16:creationId xmlns:a16="http://schemas.microsoft.com/office/drawing/2014/main" id="{0D6AB7BC-509D-48D8-A2AF-AE2720D752DC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57" y="3642"/>
              <a:ext cx="31" cy="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7132" name="WordArt 98">
              <a:extLst>
                <a:ext uri="{FF2B5EF4-FFF2-40B4-BE49-F238E27FC236}">
                  <a16:creationId xmlns:a16="http://schemas.microsoft.com/office/drawing/2014/main" id="{4172C300-7834-46C1-BD6C-3DD10D5B3047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792" y="3636"/>
              <a:ext cx="32" cy="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8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7133" name="WordArt 99">
              <a:extLst>
                <a:ext uri="{FF2B5EF4-FFF2-40B4-BE49-F238E27FC236}">
                  <a16:creationId xmlns:a16="http://schemas.microsoft.com/office/drawing/2014/main" id="{0714BFB1-EFA4-42B4-814F-DD6325EF6CF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993" y="3634"/>
              <a:ext cx="52" cy="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12</a:t>
              </a:r>
              <a:endParaRPr lang="zh-CN" altLang="en-US" sz="3600" kern="10">
                <a:ln w="31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7134" name="Group 100">
              <a:extLst>
                <a:ext uri="{FF2B5EF4-FFF2-40B4-BE49-F238E27FC236}">
                  <a16:creationId xmlns:a16="http://schemas.microsoft.com/office/drawing/2014/main" id="{555928BB-3BA5-4CA1-B64D-87162D0C0D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6" y="3657"/>
              <a:ext cx="272" cy="99"/>
              <a:chOff x="3644" y="3543"/>
              <a:chExt cx="172" cy="83"/>
            </a:xfrm>
          </p:grpSpPr>
          <p:grpSp>
            <p:nvGrpSpPr>
              <p:cNvPr id="47140" name="Group 101">
                <a:extLst>
                  <a:ext uri="{FF2B5EF4-FFF2-40B4-BE49-F238E27FC236}">
                    <a16:creationId xmlns:a16="http://schemas.microsoft.com/office/drawing/2014/main" id="{A16BD5BF-1B67-49F2-B096-436A23CADA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4" y="3567"/>
                <a:ext cx="41" cy="52"/>
                <a:chOff x="1781" y="2282"/>
                <a:chExt cx="577" cy="577"/>
              </a:xfrm>
            </p:grpSpPr>
            <p:sp>
              <p:nvSpPr>
                <p:cNvPr id="47143" name="Line 102">
                  <a:extLst>
                    <a:ext uri="{FF2B5EF4-FFF2-40B4-BE49-F238E27FC236}">
                      <a16:creationId xmlns:a16="http://schemas.microsoft.com/office/drawing/2014/main" id="{EFA4BDF4-FF27-4801-A6FA-A4A998B15F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82" y="2282"/>
                  <a:ext cx="576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44" name="Line 103">
                  <a:extLst>
                    <a:ext uri="{FF2B5EF4-FFF2-40B4-BE49-F238E27FC236}">
                      <a16:creationId xmlns:a16="http://schemas.microsoft.com/office/drawing/2014/main" id="{676470D9-C81C-4FE3-957B-84DEE038B4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81" y="2282"/>
                  <a:ext cx="577" cy="5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7141" name="WordArt 104">
                <a:extLst>
                  <a:ext uri="{FF2B5EF4-FFF2-40B4-BE49-F238E27FC236}">
                    <a16:creationId xmlns:a16="http://schemas.microsoft.com/office/drawing/2014/main" id="{39DDDF44-B84B-4E8E-BF71-1FA6881652D1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709" y="3556"/>
                <a:ext cx="64" cy="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10</a:t>
                </a:r>
                <a:endParaRPr lang="zh-CN" altLang="en-US" sz="36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47142" name="WordArt 105">
                <a:extLst>
                  <a:ext uri="{FF2B5EF4-FFF2-40B4-BE49-F238E27FC236}">
                    <a16:creationId xmlns:a16="http://schemas.microsoft.com/office/drawing/2014/main" id="{11282B76-DF45-4C19-B15A-0915A15D6C3B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778" y="3543"/>
                <a:ext cx="38" cy="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1400" kern="10"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14</a:t>
                </a:r>
                <a:endParaRPr lang="zh-CN" altLang="en-US" sz="1400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135" name="Group 106">
              <a:extLst>
                <a:ext uri="{FF2B5EF4-FFF2-40B4-BE49-F238E27FC236}">
                  <a16:creationId xmlns:a16="http://schemas.microsoft.com/office/drawing/2014/main" id="{035A6396-108D-42F4-81FB-8B3A986E19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6" y="2609"/>
              <a:ext cx="166" cy="130"/>
              <a:chOff x="3993" y="2724"/>
              <a:chExt cx="174" cy="112"/>
            </a:xfrm>
          </p:grpSpPr>
          <p:sp>
            <p:nvSpPr>
              <p:cNvPr id="47138" name="WordArt 107">
                <a:extLst>
                  <a:ext uri="{FF2B5EF4-FFF2-40B4-BE49-F238E27FC236}">
                    <a16:creationId xmlns:a16="http://schemas.microsoft.com/office/drawing/2014/main" id="{2B430D4B-5CC2-4DFB-AE78-32D58C628032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993" y="2724"/>
                <a:ext cx="105" cy="1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1200" kern="10">
                    <a:ln w="9525">
                      <a:solidFill>
                        <a:srgbClr val="CC0000"/>
                      </a:solidFill>
                      <a:round/>
                      <a:headEnd/>
                      <a:tailEnd/>
                    </a:ln>
                    <a:solidFill>
                      <a:srgbClr val="CC0000"/>
                    </a:solidFill>
                    <a:cs typeface="Times New Roman" panose="02020603050405020304" pitchFamily="18" charset="0"/>
                  </a:rPr>
                  <a:t>N</a:t>
                </a:r>
                <a:endParaRPr lang="zh-CN" altLang="en-US" sz="12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47139" name="WordArt 108">
                <a:extLst>
                  <a:ext uri="{FF2B5EF4-FFF2-40B4-BE49-F238E27FC236}">
                    <a16:creationId xmlns:a16="http://schemas.microsoft.com/office/drawing/2014/main" id="{C463637D-3C89-4756-85ED-1D6A3A44A4D8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4109" y="2778"/>
                <a:ext cx="58" cy="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1200" i="1" kern="10">
                    <a:ln w="3175">
                      <a:solidFill>
                        <a:srgbClr val="CC0000"/>
                      </a:solidFill>
                      <a:round/>
                      <a:headEnd/>
                      <a:tailEnd/>
                    </a:ln>
                    <a:solidFill>
                      <a:srgbClr val="CC0000"/>
                    </a:solidFill>
                    <a:cs typeface="Times New Roman" panose="02020603050405020304" pitchFamily="18" charset="0"/>
                  </a:rPr>
                  <a:t>a</a:t>
                </a:r>
                <a:endParaRPr lang="zh-CN" altLang="en-US" sz="1200" i="1" kern="10">
                  <a:ln w="3175">
                    <a:solidFill>
                      <a:srgbClr val="CC0000"/>
                    </a:solidFill>
                    <a:round/>
                    <a:headEnd/>
                    <a:tailEnd/>
                  </a:ln>
                  <a:solidFill>
                    <a:srgbClr val="CC0000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7136" name="WordArt 109">
              <a:extLst>
                <a:ext uri="{FF2B5EF4-FFF2-40B4-BE49-F238E27FC236}">
                  <a16:creationId xmlns:a16="http://schemas.microsoft.com/office/drawing/2014/main" id="{1430866D-5032-4AC4-A0CB-FF4EA39CDD56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216" y="3801"/>
              <a:ext cx="126" cy="8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Hz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47137" name="Object 110">
              <a:extLst>
                <a:ext uri="{FF2B5EF4-FFF2-40B4-BE49-F238E27FC236}">
                  <a16:creationId xmlns:a16="http://schemas.microsoft.com/office/drawing/2014/main" id="{07FA1617-CA89-4AB1-B538-D9782C3FE63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26" y="3888"/>
            <a:ext cx="21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34" r:id="rId13" imgW="126725" imgH="202760" progId="Equation.3">
                    <p:embed/>
                  </p:oleObj>
                </mc:Choice>
                <mc:Fallback>
                  <p:oleObj r:id="rId13" imgW="126725" imgH="202760" progId="Equation.3">
                    <p:embed/>
                    <p:pic>
                      <p:nvPicPr>
                        <p:cNvPr id="0" name="Object 1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" y="3888"/>
                          <a:ext cx="21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5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5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5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2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2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52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5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22" grpId="0" build="p" bldLvl="2"/>
      <p:bldP spid="952323" grpId="0"/>
      <p:bldP spid="952330" grpId="0"/>
      <p:bldP spid="952331" grpId="0" build="p" bldLvl="2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>
            <a:extLst>
              <a:ext uri="{FF2B5EF4-FFF2-40B4-BE49-F238E27FC236}">
                <a16:creationId xmlns:a16="http://schemas.microsoft.com/office/drawing/2014/main" id="{F96F06F4-A4A2-45F6-AAF0-7DD72A5A5B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45CABE-E01E-4697-93DE-1AD5EB9FD21E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zh-CN" altLang="zh-CN" sz="1400"/>
          </a:p>
        </p:txBody>
      </p:sp>
      <p:sp>
        <p:nvSpPr>
          <p:cNvPr id="953349" name="Line 5">
            <a:extLst>
              <a:ext uri="{FF2B5EF4-FFF2-40B4-BE49-F238E27FC236}">
                <a16:creationId xmlns:a16="http://schemas.microsoft.com/office/drawing/2014/main" id="{AFD537A5-9C2A-4511-85C5-DFF945996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5019" y="3062287"/>
            <a:ext cx="1123950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53350" name="Object 6">
            <a:extLst>
              <a:ext uri="{FF2B5EF4-FFF2-40B4-BE49-F238E27FC236}">
                <a16:creationId xmlns:a16="http://schemas.microsoft.com/office/drawing/2014/main" id="{4CCFDC77-59CD-4E8A-B8CB-8C6B7E022D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7183444"/>
              </p:ext>
            </p:extLst>
          </p:nvPr>
        </p:nvGraphicFramePr>
        <p:xfrm>
          <a:off x="6257591" y="2535237"/>
          <a:ext cx="2033588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3" name="Equation" r:id="rId3" imgW="850680" imgH="419040" progId="Equation.DSMT4">
                  <p:embed/>
                </p:oleObj>
              </mc:Choice>
              <mc:Fallback>
                <p:oleObj name="Equation" r:id="rId3" imgW="850680" imgH="41904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7591" y="2535237"/>
                        <a:ext cx="2033588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51" name="Rectangle 7">
            <a:extLst>
              <a:ext uri="{FF2B5EF4-FFF2-40B4-BE49-F238E27FC236}">
                <a16:creationId xmlns:a16="http://schemas.microsoft.com/office/drawing/2014/main" id="{DF12E47D-946A-4681-ACB1-10025E373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307975"/>
            <a:ext cx="86836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1916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年</a:t>
            </a:r>
            <a:r>
              <a:rPr kumimoji="1" lang="zh-CN" altLang="en-US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密立根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（</a:t>
            </a:r>
            <a:r>
              <a:rPr kumimoji="1" lang="en-US" altLang="zh-CN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R.A.Milikan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）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做了精确的光电效应实验，</a:t>
            </a:r>
          </a:p>
        </p:txBody>
      </p:sp>
      <p:sp>
        <p:nvSpPr>
          <p:cNvPr id="953352" name="Rectangle 8">
            <a:extLst>
              <a:ext uri="{FF2B5EF4-FFF2-40B4-BE49-F238E27FC236}">
                <a16:creationId xmlns:a16="http://schemas.microsoft.com/office/drawing/2014/main" id="{F4A526CD-2278-4A92-945F-7EE34EC18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25" y="836613"/>
            <a:ext cx="4740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利用</a:t>
            </a:r>
            <a:r>
              <a:rPr kumimoji="1" lang="en-US" altLang="zh-CN" b="0" i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U</a:t>
            </a:r>
            <a:r>
              <a:rPr kumimoji="1" lang="en-US" altLang="zh-CN" b="0" i="1" baseline="-250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0</a:t>
            </a:r>
            <a:r>
              <a:rPr kumimoji="1" lang="en-US" altLang="zh-CN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—</a:t>
            </a:r>
            <a:r>
              <a:rPr kumimoji="1" lang="en-US" altLang="zh-CN" b="0" i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 </a:t>
            </a:r>
            <a:r>
              <a:rPr kumimoji="1" lang="zh-CN" altLang="en-US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的直线斜率</a:t>
            </a:r>
            <a:r>
              <a:rPr kumimoji="1" lang="zh-CN" altLang="en-US" b="0" i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kumimoji="1" lang="zh-CN" altLang="en-US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</a:p>
        </p:txBody>
      </p:sp>
      <p:sp>
        <p:nvSpPr>
          <p:cNvPr id="953353" name="Text Box 9">
            <a:extLst>
              <a:ext uri="{FF2B5EF4-FFF2-40B4-BE49-F238E27FC236}">
                <a16:creationId xmlns:a16="http://schemas.microsoft.com/office/drawing/2014/main" id="{4E305DA6-8F18-46CA-A21D-13A82B190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4281488"/>
            <a:ext cx="72771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这和当时用其他方法定出的</a:t>
            </a:r>
            <a:r>
              <a:rPr kumimoji="1" lang="en-US" altLang="zh-CN" b="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h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符合得很好。</a:t>
            </a:r>
          </a:p>
        </p:txBody>
      </p:sp>
      <p:sp>
        <p:nvSpPr>
          <p:cNvPr id="953354" name="Rectangle 10">
            <a:extLst>
              <a:ext uri="{FF2B5EF4-FFF2-40B4-BE49-F238E27FC236}">
                <a16:creationId xmlns:a16="http://schemas.microsoft.com/office/drawing/2014/main" id="{56FC528F-18A8-4D70-86F3-D8E84BB5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4864100"/>
            <a:ext cx="63722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从而进一步</a:t>
            </a:r>
            <a:r>
              <a:rPr kumimoji="1" lang="zh-CN" altLang="en-US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证实了爱因斯坦的光子理论。</a:t>
            </a:r>
          </a:p>
        </p:txBody>
      </p:sp>
      <p:sp>
        <p:nvSpPr>
          <p:cNvPr id="953355" name="Rectangle 11">
            <a:extLst>
              <a:ext uri="{FF2B5EF4-FFF2-40B4-BE49-F238E27FC236}">
                <a16:creationId xmlns:a16="http://schemas.microsoft.com/office/drawing/2014/main" id="{4B4BAF8C-8B1F-4204-BEBD-AA398F8A3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836613"/>
            <a:ext cx="38306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定出</a:t>
            </a:r>
            <a:r>
              <a:rPr kumimoji="1" lang="en-US" altLang="zh-CN" b="0" i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h </a:t>
            </a:r>
            <a:r>
              <a:rPr kumimoji="1" lang="en-US" altLang="zh-CN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= 6.5610</a:t>
            </a:r>
            <a:r>
              <a:rPr kumimoji="1" lang="en-US" altLang="zh-CN" b="0" baseline="300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-34</a:t>
            </a:r>
            <a:r>
              <a:rPr kumimoji="1" lang="en-US" altLang="zh-CN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J.s</a:t>
            </a:r>
            <a:r>
              <a:rPr kumimoji="1" lang="zh-CN" altLang="en-US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953358" name="Rectangle 14">
            <a:extLst>
              <a:ext uri="{FF2B5EF4-FFF2-40B4-BE49-F238E27FC236}">
                <a16:creationId xmlns:a16="http://schemas.microsoft.com/office/drawing/2014/main" id="{D0C8483F-342D-4810-9B0B-DB1616AFE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6161088"/>
            <a:ext cx="46291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密立根</a:t>
            </a:r>
            <a:r>
              <a:rPr kumimoji="1" lang="en-US" altLang="zh-CN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---- 1923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年诺贝尔物理学奖</a:t>
            </a:r>
          </a:p>
        </p:txBody>
      </p:sp>
      <p:sp>
        <p:nvSpPr>
          <p:cNvPr id="953359" name="Text Box 15">
            <a:extLst>
              <a:ext uri="{FF2B5EF4-FFF2-40B4-BE49-F238E27FC236}">
                <a16:creationId xmlns:a16="http://schemas.microsoft.com/office/drawing/2014/main" id="{8A76A02B-E65E-4307-9AC7-D9BB941E7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8" y="5635625"/>
            <a:ext cx="686276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爱因斯坦</a:t>
            </a:r>
            <a:r>
              <a:rPr kumimoji="1" lang="en-US" altLang="zh-CN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----1921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年获诺贝尔物理奖</a:t>
            </a:r>
          </a:p>
        </p:txBody>
      </p:sp>
      <p:grpSp>
        <p:nvGrpSpPr>
          <p:cNvPr id="48145" name="Group 16">
            <a:extLst>
              <a:ext uri="{FF2B5EF4-FFF2-40B4-BE49-F238E27FC236}">
                <a16:creationId xmlns:a16="http://schemas.microsoft.com/office/drawing/2014/main" id="{3BF5228B-F070-487C-BDF8-9AF92E1EDD21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438275"/>
            <a:ext cx="4149725" cy="2447925"/>
            <a:chOff x="325" y="831"/>
            <a:chExt cx="2614" cy="1542"/>
          </a:xfrm>
        </p:grpSpPr>
        <p:pic>
          <p:nvPicPr>
            <p:cNvPr id="48151" name="Picture 17" descr="10">
              <a:extLst>
                <a:ext uri="{FF2B5EF4-FFF2-40B4-BE49-F238E27FC236}">
                  <a16:creationId xmlns:a16="http://schemas.microsoft.com/office/drawing/2014/main" id="{D0CEE399-6E87-4372-8138-F00B3F118A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" y="831"/>
              <a:ext cx="2614" cy="1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48152" name="Object 18">
              <a:extLst>
                <a:ext uri="{FF2B5EF4-FFF2-40B4-BE49-F238E27FC236}">
                  <a16:creationId xmlns:a16="http://schemas.microsoft.com/office/drawing/2014/main" id="{B1C521AB-5D61-4373-B9F5-221FF6DD322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8" y="963"/>
            <a:ext cx="80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14" r:id="rId6" imgW="126725" imgH="177415" progId="Equation.3">
                    <p:embed/>
                  </p:oleObj>
                </mc:Choice>
                <mc:Fallback>
                  <p:oleObj r:id="rId6" imgW="126725" imgH="177415" progId="Equation.3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" y="963"/>
                          <a:ext cx="80" cy="11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46" name="Group 19">
            <a:extLst>
              <a:ext uri="{FF2B5EF4-FFF2-40B4-BE49-F238E27FC236}">
                <a16:creationId xmlns:a16="http://schemas.microsoft.com/office/drawing/2014/main" id="{FD3B9994-87C8-49A7-A3D1-13C16B87E980}"/>
              </a:ext>
            </a:extLst>
          </p:cNvPr>
          <p:cNvGrpSpPr>
            <a:grpSpLocks/>
          </p:cNvGrpSpPr>
          <p:nvPr/>
        </p:nvGrpSpPr>
        <p:grpSpPr bwMode="auto">
          <a:xfrm>
            <a:off x="6588125" y="3671888"/>
            <a:ext cx="2286000" cy="3186112"/>
            <a:chOff x="4150" y="2313"/>
            <a:chExt cx="1440" cy="2007"/>
          </a:xfrm>
        </p:grpSpPr>
        <p:grpSp>
          <p:nvGrpSpPr>
            <p:cNvPr id="48147" name="Group 20">
              <a:extLst>
                <a:ext uri="{FF2B5EF4-FFF2-40B4-BE49-F238E27FC236}">
                  <a16:creationId xmlns:a16="http://schemas.microsoft.com/office/drawing/2014/main" id="{E25EE19D-5E3D-44F5-A663-8FB35464FD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0" y="2313"/>
              <a:ext cx="1440" cy="2007"/>
              <a:chOff x="528" y="1104"/>
              <a:chExt cx="1440" cy="2007"/>
            </a:xfrm>
          </p:grpSpPr>
          <p:graphicFrame>
            <p:nvGraphicFramePr>
              <p:cNvPr id="48149" name="Object 21">
                <a:extLst>
                  <a:ext uri="{FF2B5EF4-FFF2-40B4-BE49-F238E27FC236}">
                    <a16:creationId xmlns:a16="http://schemas.microsoft.com/office/drawing/2014/main" id="{D77D331C-B4CA-4D49-89E4-22A947B74317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49" y="1104"/>
              <a:ext cx="1371" cy="19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15" r:id="rId8" imgW="942857" imgH="1352381" progId="MS_ClipArt_Gallery.2">
                      <p:embed/>
                    </p:oleObj>
                  </mc:Choice>
                  <mc:Fallback>
                    <p:oleObj r:id="rId8" imgW="942857" imgH="1352381" progId="MS_ClipArt_Gallery.2">
                      <p:embed/>
                      <p:pic>
                        <p:nvPicPr>
                          <p:cNvPr id="0" name="Object 2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9" y="1104"/>
                            <a:ext cx="1371" cy="19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150" name="Text Box 22">
                <a:extLst>
                  <a:ext uri="{FF2B5EF4-FFF2-40B4-BE49-F238E27FC236}">
                    <a16:creationId xmlns:a16="http://schemas.microsoft.com/office/drawing/2014/main" id="{393E51F5-8655-49DC-AA5F-F75607C39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2784"/>
                <a:ext cx="1440" cy="3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/>
                  <a:t>     </a:t>
                </a:r>
                <a:r>
                  <a:rPr lang="zh-CN" altLang="en-US" sz="2800"/>
                  <a:t>密立根</a:t>
                </a:r>
              </a:p>
            </p:txBody>
          </p:sp>
        </p:grpSp>
        <p:sp>
          <p:nvSpPr>
            <p:cNvPr id="48148" name="Rectangle 23">
              <a:extLst>
                <a:ext uri="{FF2B5EF4-FFF2-40B4-BE49-F238E27FC236}">
                  <a16:creationId xmlns:a16="http://schemas.microsoft.com/office/drawing/2014/main" id="{8C716965-165C-436D-80DC-2898F8869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0" y="3648"/>
              <a:ext cx="11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1868 — 1953</a:t>
              </a:r>
            </a:p>
          </p:txBody>
        </p:sp>
      </p:grpSp>
      <p:grpSp>
        <p:nvGrpSpPr>
          <p:cNvPr id="25" name="Group 4">
            <a:extLst>
              <a:ext uri="{FF2B5EF4-FFF2-40B4-BE49-F238E27FC236}">
                <a16:creationId xmlns:a16="http://schemas.microsoft.com/office/drawing/2014/main" id="{9E4E8376-4974-4512-9D2B-7D29228312F4}"/>
              </a:ext>
            </a:extLst>
          </p:cNvPr>
          <p:cNvGrpSpPr>
            <a:grpSpLocks/>
          </p:cNvGrpSpPr>
          <p:nvPr/>
        </p:nvGrpSpPr>
        <p:grpSpPr bwMode="auto">
          <a:xfrm>
            <a:off x="5148064" y="1542126"/>
            <a:ext cx="2514600" cy="838200"/>
            <a:chOff x="2688" y="1968"/>
            <a:chExt cx="1584" cy="528"/>
          </a:xfrm>
        </p:grpSpPr>
        <p:sp>
          <p:nvSpPr>
            <p:cNvPr id="26" name="Rectangle 5">
              <a:extLst>
                <a:ext uri="{FF2B5EF4-FFF2-40B4-BE49-F238E27FC236}">
                  <a16:creationId xmlns:a16="http://schemas.microsoft.com/office/drawing/2014/main" id="{6F5B2E77-0CE2-41E4-9EEB-0D6193545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968"/>
              <a:ext cx="1584" cy="528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kumimoji="1" lang="zh-CN" altLang="en-US"/>
            </a:p>
          </p:txBody>
        </p:sp>
        <p:graphicFrame>
          <p:nvGraphicFramePr>
            <p:cNvPr id="27" name="Object 6">
              <a:extLst>
                <a:ext uri="{FF2B5EF4-FFF2-40B4-BE49-F238E27FC236}">
                  <a16:creationId xmlns:a16="http://schemas.microsoft.com/office/drawing/2014/main" id="{894C9882-2CBF-4E04-8793-1055F437518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847" y="1968"/>
            <a:ext cx="560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16" r:id="rId10" imgW="438239" imgH="361882" progId="Equation.DSMT4">
                    <p:embed/>
                  </p:oleObj>
                </mc:Choice>
                <mc:Fallback>
                  <p:oleObj r:id="rId10" imgW="438239" imgH="361882" progId="Equation.DSMT4">
                    <p:embed/>
                    <p:pic>
                      <p:nvPicPr>
                        <p:cNvPr id="47156" name="Object 6">
                          <a:extLst>
                            <a:ext uri="{FF2B5EF4-FFF2-40B4-BE49-F238E27FC236}">
                              <a16:creationId xmlns:a16="http://schemas.microsoft.com/office/drawing/2014/main" id="{071A5972-E18D-464B-8E51-8303580DC3B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7" y="1968"/>
                          <a:ext cx="560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Group 19">
            <a:extLst>
              <a:ext uri="{FF2B5EF4-FFF2-40B4-BE49-F238E27FC236}">
                <a16:creationId xmlns:a16="http://schemas.microsoft.com/office/drawing/2014/main" id="{C718F4AD-9F07-451C-8487-1629F72F86B4}"/>
              </a:ext>
            </a:extLst>
          </p:cNvPr>
          <p:cNvGrpSpPr>
            <a:grpSpLocks/>
          </p:cNvGrpSpPr>
          <p:nvPr/>
        </p:nvGrpSpPr>
        <p:grpSpPr bwMode="auto">
          <a:xfrm>
            <a:off x="6256139" y="1502439"/>
            <a:ext cx="1228725" cy="801687"/>
            <a:chOff x="3386" y="1943"/>
            <a:chExt cx="774" cy="505"/>
          </a:xfrm>
        </p:grpSpPr>
        <p:graphicFrame>
          <p:nvGraphicFramePr>
            <p:cNvPr id="29" name="Object 20">
              <a:extLst>
                <a:ext uri="{FF2B5EF4-FFF2-40B4-BE49-F238E27FC236}">
                  <a16:creationId xmlns:a16="http://schemas.microsoft.com/office/drawing/2014/main" id="{7368939A-BA01-4A20-812C-DCF404F0DE8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568" y="1977"/>
            <a:ext cx="592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17" r:id="rId12" imgW="266675" imgH="361882" progId="Equation.3">
                    <p:embed/>
                  </p:oleObj>
                </mc:Choice>
                <mc:Fallback>
                  <p:oleObj r:id="rId12" imgW="266675" imgH="361882" progId="Equation.3">
                    <p:embed/>
                    <p:pic>
                      <p:nvPicPr>
                        <p:cNvPr id="47149" name="Object 20">
                          <a:extLst>
                            <a:ext uri="{FF2B5EF4-FFF2-40B4-BE49-F238E27FC236}">
                              <a16:creationId xmlns:a16="http://schemas.microsoft.com/office/drawing/2014/main" id="{55259711-E93F-44F5-BC6C-2BF071DFB02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8" y="1977"/>
                          <a:ext cx="592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21">
              <a:extLst>
                <a:ext uri="{FF2B5EF4-FFF2-40B4-BE49-F238E27FC236}">
                  <a16:creationId xmlns:a16="http://schemas.microsoft.com/office/drawing/2014/main" id="{73DDA0A0-0A85-4F13-BBC6-B2E4F7AA06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6" y="1943"/>
              <a:ext cx="486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80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仿宋_GB2312" pitchFamily="49" charset="-122"/>
                </a:rPr>
                <a:t>  </a:t>
              </a:r>
              <a:r>
                <a:rPr lang="zh-CN" altLang="en-US" sz="180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仿宋_GB2312" pitchFamily="49" charset="-122"/>
                </a:rPr>
                <a:t>实验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5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5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5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5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5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5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5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53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351" grpId="0"/>
      <p:bldP spid="953352" grpId="0"/>
      <p:bldP spid="953353" grpId="0"/>
      <p:bldP spid="953354" grpId="0"/>
      <p:bldP spid="953355" grpId="0"/>
      <p:bldP spid="953358" grpId="0"/>
      <p:bldP spid="95335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>
            <a:extLst>
              <a:ext uri="{FF2B5EF4-FFF2-40B4-BE49-F238E27FC236}">
                <a16:creationId xmlns:a16="http://schemas.microsoft.com/office/drawing/2014/main" id="{DB6D957C-27FA-4B15-BE40-B6F4F35F7B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BDCD4A-5D04-430A-B456-043740669C57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zh-CN" altLang="zh-CN" sz="1400"/>
          </a:p>
        </p:txBody>
      </p:sp>
      <p:sp>
        <p:nvSpPr>
          <p:cNvPr id="49155" name="Text Box 2">
            <a:extLst>
              <a:ext uri="{FF2B5EF4-FFF2-40B4-BE49-F238E27FC236}">
                <a16:creationId xmlns:a16="http://schemas.microsoft.com/office/drawing/2014/main" id="{2E02BE85-7DF3-468A-8441-DB4A6F8A6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098550"/>
            <a:ext cx="2317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光子的能量：</a:t>
            </a:r>
            <a:endParaRPr lang="zh-CN" altLang="en-US" sz="2800" b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955395" name="Text Box 3">
            <a:extLst>
              <a:ext uri="{FF2B5EF4-FFF2-40B4-BE49-F238E27FC236}">
                <a16:creationId xmlns:a16="http://schemas.microsoft.com/office/drawing/2014/main" id="{02A5A6DF-1096-46DC-8C88-10DBA510B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62150"/>
            <a:ext cx="2317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光子的质量：</a:t>
            </a:r>
            <a:endParaRPr lang="zh-CN" altLang="en-US" sz="2800" b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955396" name="Object 4">
            <a:extLst>
              <a:ext uri="{FF2B5EF4-FFF2-40B4-BE49-F238E27FC236}">
                <a16:creationId xmlns:a16="http://schemas.microsoft.com/office/drawing/2014/main" id="{06BD5E25-2D58-409C-8C12-99FAD30D3F26}"/>
              </a:ext>
            </a:extLst>
          </p:cNvPr>
          <p:cNvGraphicFramePr>
            <a:graphicFrameLocks/>
          </p:cNvGraphicFramePr>
          <p:nvPr/>
        </p:nvGraphicFramePr>
        <p:xfrm>
          <a:off x="3419475" y="2700338"/>
          <a:ext cx="2630488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5" r:id="rId3" imgW="1154698" imgH="406048" progId="Equation.3">
                  <p:embed/>
                </p:oleObj>
              </mc:Choice>
              <mc:Fallback>
                <p:oleObj r:id="rId3" imgW="1154698" imgH="40604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700338"/>
                        <a:ext cx="2630488" cy="9191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33CC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5397" name="Object 5">
            <a:extLst>
              <a:ext uri="{FF2B5EF4-FFF2-40B4-BE49-F238E27FC236}">
                <a16:creationId xmlns:a16="http://schemas.microsoft.com/office/drawing/2014/main" id="{224CB88B-6118-4DB5-9BC1-050E6985F893}"/>
              </a:ext>
            </a:extLst>
          </p:cNvPr>
          <p:cNvGraphicFramePr>
            <a:graphicFrameLocks/>
          </p:cNvGraphicFramePr>
          <p:nvPr/>
        </p:nvGraphicFramePr>
        <p:xfrm>
          <a:off x="3419475" y="1719263"/>
          <a:ext cx="2543175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6" r:id="rId5" imgW="1154698" imgH="406048" progId="Equation.3">
                  <p:embed/>
                </p:oleObj>
              </mc:Choice>
              <mc:Fallback>
                <p:oleObj r:id="rId5" imgW="1154698" imgH="406048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719263"/>
                        <a:ext cx="2543175" cy="8905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33CC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5398" name="Text Box 6">
            <a:extLst>
              <a:ext uri="{FF2B5EF4-FFF2-40B4-BE49-F238E27FC236}">
                <a16:creationId xmlns:a16="http://schemas.microsoft.com/office/drawing/2014/main" id="{55803D63-9D9D-45E1-94A5-045D4CB04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2889250"/>
            <a:ext cx="2317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光子的动量：</a:t>
            </a:r>
            <a:endParaRPr lang="zh-CN" altLang="en-US" sz="2800" b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955399" name="Text Box 7">
            <a:extLst>
              <a:ext uri="{FF2B5EF4-FFF2-40B4-BE49-F238E27FC236}">
                <a16:creationId xmlns:a16="http://schemas.microsoft.com/office/drawing/2014/main" id="{80EF759F-C5A3-428C-AC49-E26CA8B3D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1098550"/>
            <a:ext cx="1546225" cy="528638"/>
          </a:xfrm>
          <a:prstGeom prst="rect">
            <a:avLst/>
          </a:prstGeom>
          <a:noFill/>
          <a:ln w="9525">
            <a:solidFill>
              <a:srgbClr val="0033CC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ym typeface="Symbol" panose="05050102010706020507" pitchFamily="18" charset="2"/>
              </a:rPr>
              <a:t></a:t>
            </a:r>
            <a:r>
              <a:rPr lang="en-US" altLang="zh-CN" sz="2800" i="1"/>
              <a:t>  = h</a:t>
            </a:r>
            <a:r>
              <a:rPr lang="en-US" altLang="zh-CN" sz="2800" i="1">
                <a:sym typeface="Symbol" panose="05050102010706020507" pitchFamily="18" charset="2"/>
              </a:rPr>
              <a:t></a:t>
            </a:r>
            <a:endParaRPr lang="en-US" altLang="zh-CN" sz="280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55400" name="Text Box 8">
            <a:extLst>
              <a:ext uri="{FF2B5EF4-FFF2-40B4-BE49-F238E27FC236}">
                <a16:creationId xmlns:a16="http://schemas.microsoft.com/office/drawing/2014/main" id="{EFA32199-1987-4158-BA09-F800371D8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2906713"/>
            <a:ext cx="2332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(1917</a:t>
            </a:r>
            <a:r>
              <a:rPr lang="zh-CN" altLang="en-US" sz="2800">
                <a:latin typeface="宋体" panose="02010600030101010101" pitchFamily="2" charset="-122"/>
              </a:rPr>
              <a:t>年提出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49162" name="Oval 27">
            <a:extLst>
              <a:ext uri="{FF2B5EF4-FFF2-40B4-BE49-F238E27FC236}">
                <a16:creationId xmlns:a16="http://schemas.microsoft.com/office/drawing/2014/main" id="{B714CA1B-8173-45AE-88F5-16731FB29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1025" y="260350"/>
            <a:ext cx="5816600" cy="647700"/>
          </a:xfrm>
          <a:prstGeom prst="ellipse">
            <a:avLst/>
          </a:prstGeom>
          <a:noFill/>
          <a:ln w="9525">
            <a:solidFill>
              <a:srgbClr val="9900CC"/>
            </a:solidFill>
            <a:round/>
            <a:headEnd/>
            <a:tailEnd/>
          </a:ln>
          <a:effectLst>
            <a:prstShdw prst="shdw17" dist="17961" dir="2700000">
              <a:srgbClr val="5C007A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  <a:latin typeface="宋体" panose="02010600030101010101" pitchFamily="2" charset="-122"/>
              </a:rPr>
              <a:t>光的波粒二象性</a:t>
            </a:r>
          </a:p>
        </p:txBody>
      </p:sp>
      <p:sp>
        <p:nvSpPr>
          <p:cNvPr id="955420" name="Rectangle 28">
            <a:extLst>
              <a:ext uri="{FF2B5EF4-FFF2-40B4-BE49-F238E27FC236}">
                <a16:creationId xmlns:a16="http://schemas.microsoft.com/office/drawing/2014/main" id="{7BE1E4D5-66E4-4100-A7C1-FCFBF74E0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365625"/>
            <a:ext cx="1927225" cy="15113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50000">
                <a:schemeClr val="bg1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kumimoji="1" lang="zh-CN" altLang="en-US"/>
          </a:p>
        </p:txBody>
      </p:sp>
      <p:graphicFrame>
        <p:nvGraphicFramePr>
          <p:cNvPr id="24580" name="Object 29">
            <a:extLst>
              <a:ext uri="{FF2B5EF4-FFF2-40B4-BE49-F238E27FC236}">
                <a16:creationId xmlns:a16="http://schemas.microsoft.com/office/drawing/2014/main" id="{4F81C490-DABE-40E9-946B-5F58F71CBF95}"/>
              </a:ext>
            </a:extLst>
          </p:cNvPr>
          <p:cNvGraphicFramePr>
            <a:graphicFrameLocks/>
          </p:cNvGraphicFramePr>
          <p:nvPr/>
        </p:nvGraphicFramePr>
        <p:xfrm>
          <a:off x="3055938" y="4518025"/>
          <a:ext cx="111283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7" r:id="rId7" imgW="438239" imgH="152468" progId="Equation.3">
                  <p:embed/>
                </p:oleObj>
              </mc:Choice>
              <mc:Fallback>
                <p:oleObj r:id="rId7" imgW="438239" imgH="152468" progId="Equation.3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938" y="4518025"/>
                        <a:ext cx="1112837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30">
            <a:extLst>
              <a:ext uri="{FF2B5EF4-FFF2-40B4-BE49-F238E27FC236}">
                <a16:creationId xmlns:a16="http://schemas.microsoft.com/office/drawing/2014/main" id="{32C91B80-B96F-4A70-99C8-C456D4661C73}"/>
              </a:ext>
            </a:extLst>
          </p:cNvPr>
          <p:cNvGraphicFramePr>
            <a:graphicFrameLocks/>
          </p:cNvGraphicFramePr>
          <p:nvPr/>
        </p:nvGraphicFramePr>
        <p:xfrm>
          <a:off x="3116263" y="4899025"/>
          <a:ext cx="10048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8" r:id="rId9" imgW="390531" imgH="361882" progId="Equation.3">
                  <p:embed/>
                </p:oleObj>
              </mc:Choice>
              <mc:Fallback>
                <p:oleObj r:id="rId9" imgW="390531" imgH="361882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4899025"/>
                        <a:ext cx="10048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5423" name="Rectangle 31">
            <a:extLst>
              <a:ext uri="{FF2B5EF4-FFF2-40B4-BE49-F238E27FC236}">
                <a16:creationId xmlns:a16="http://schemas.microsoft.com/office/drawing/2014/main" id="{3E3C45F8-820F-4042-9015-4EA80DFE2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670425"/>
            <a:ext cx="19621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光子理论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基本关系式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5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5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955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5395" grpId="0"/>
      <p:bldP spid="955398" grpId="0"/>
      <p:bldP spid="955399" grpId="0" animBg="1"/>
      <p:bldP spid="955400" grpId="0"/>
      <p:bldP spid="955420" grpId="0" animBg="1"/>
      <p:bldP spid="95542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4">
            <a:extLst>
              <a:ext uri="{FF2B5EF4-FFF2-40B4-BE49-F238E27FC236}">
                <a16:creationId xmlns:a16="http://schemas.microsoft.com/office/drawing/2014/main" id="{4DDA1104-4224-4099-BAA6-717C30A3F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3813" y="447675"/>
            <a:ext cx="1260475" cy="528638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50000">
                <a:schemeClr val="bg1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粒子性</a:t>
            </a:r>
          </a:p>
        </p:txBody>
      </p:sp>
      <p:sp>
        <p:nvSpPr>
          <p:cNvPr id="50178" name="Text Box 5">
            <a:extLst>
              <a:ext uri="{FF2B5EF4-FFF2-40B4-BE49-F238E27FC236}">
                <a16:creationId xmlns:a16="http://schemas.microsoft.com/office/drawing/2014/main" id="{A4DAA0AE-9952-40F5-9872-686980C3B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471488"/>
            <a:ext cx="1260475" cy="528637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50000">
                <a:srgbClr val="FFFFFF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波动性</a:t>
            </a:r>
          </a:p>
        </p:txBody>
      </p:sp>
      <p:sp>
        <p:nvSpPr>
          <p:cNvPr id="1003526" name="Text Box 6">
            <a:extLst>
              <a:ext uri="{FF2B5EF4-FFF2-40B4-BE49-F238E27FC236}">
                <a16:creationId xmlns:a16="http://schemas.microsoft.com/office/drawing/2014/main" id="{0AE93290-8F7B-4F4F-A0F1-325C9F026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200150"/>
            <a:ext cx="2501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（能量）</a:t>
            </a:r>
          </a:p>
        </p:txBody>
      </p:sp>
      <p:sp>
        <p:nvSpPr>
          <p:cNvPr id="1003527" name="Text Box 7">
            <a:extLst>
              <a:ext uri="{FF2B5EF4-FFF2-40B4-BE49-F238E27FC236}">
                <a16:creationId xmlns:a16="http://schemas.microsoft.com/office/drawing/2014/main" id="{D6C898A7-054F-4AFB-A964-804CD8472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17526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（频率）</a:t>
            </a:r>
          </a:p>
        </p:txBody>
      </p:sp>
      <p:sp>
        <p:nvSpPr>
          <p:cNvPr id="1003528" name="Text Box 8">
            <a:extLst>
              <a:ext uri="{FF2B5EF4-FFF2-40B4-BE49-F238E27FC236}">
                <a16:creationId xmlns:a16="http://schemas.microsoft.com/office/drawing/2014/main" id="{E86055B7-5BCA-4528-859E-3DFEE4767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1752600"/>
            <a:ext cx="2501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（动量）</a:t>
            </a:r>
          </a:p>
        </p:txBody>
      </p:sp>
      <p:sp>
        <p:nvSpPr>
          <p:cNvPr id="1003529" name="Text Box 9">
            <a:extLst>
              <a:ext uri="{FF2B5EF4-FFF2-40B4-BE49-F238E27FC236}">
                <a16:creationId xmlns:a16="http://schemas.microsoft.com/office/drawing/2014/main" id="{3AB5B7E2-B208-4741-8599-595E9D7FD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120015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（波长）</a:t>
            </a:r>
          </a:p>
        </p:txBody>
      </p:sp>
      <p:graphicFrame>
        <p:nvGraphicFramePr>
          <p:cNvPr id="1003530" name="Object 10">
            <a:extLst>
              <a:ext uri="{FF2B5EF4-FFF2-40B4-BE49-F238E27FC236}">
                <a16:creationId xmlns:a16="http://schemas.microsoft.com/office/drawing/2014/main" id="{BB612410-46FC-48C6-916F-A1E0DC64387B}"/>
              </a:ext>
            </a:extLst>
          </p:cNvPr>
          <p:cNvGraphicFramePr>
            <a:graphicFrameLocks/>
          </p:cNvGraphicFramePr>
          <p:nvPr/>
        </p:nvGraphicFramePr>
        <p:xfrm>
          <a:off x="5462588" y="1209675"/>
          <a:ext cx="4445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4" r:id="rId3" imgW="95110" imgH="114198" progId="Equation.3">
                  <p:embed/>
                </p:oleObj>
              </mc:Choice>
              <mc:Fallback>
                <p:oleObj r:id="rId3" imgW="95110" imgH="114198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588" y="1209675"/>
                        <a:ext cx="4445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31" name="Object 11">
            <a:extLst>
              <a:ext uri="{FF2B5EF4-FFF2-40B4-BE49-F238E27FC236}">
                <a16:creationId xmlns:a16="http://schemas.microsoft.com/office/drawing/2014/main" id="{F51FC515-D66F-465B-A079-4A58CE843A4B}"/>
              </a:ext>
            </a:extLst>
          </p:cNvPr>
          <p:cNvGraphicFramePr>
            <a:graphicFrameLocks/>
          </p:cNvGraphicFramePr>
          <p:nvPr/>
        </p:nvGraphicFramePr>
        <p:xfrm>
          <a:off x="1446213" y="1154113"/>
          <a:ext cx="4413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5" r:id="rId5" imgW="114376" imgH="152468" progId="Equation.3">
                  <p:embed/>
                </p:oleObj>
              </mc:Choice>
              <mc:Fallback>
                <p:oleObj r:id="rId5" imgW="114376" imgH="152468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13" y="1154113"/>
                        <a:ext cx="44132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32" name="Object 12">
            <a:extLst>
              <a:ext uri="{FF2B5EF4-FFF2-40B4-BE49-F238E27FC236}">
                <a16:creationId xmlns:a16="http://schemas.microsoft.com/office/drawing/2014/main" id="{45CB7F6D-19C7-4307-8D64-66423075FA9F}"/>
              </a:ext>
            </a:extLst>
          </p:cNvPr>
          <p:cNvGraphicFramePr>
            <a:graphicFrameLocks/>
          </p:cNvGraphicFramePr>
          <p:nvPr/>
        </p:nvGraphicFramePr>
        <p:xfrm>
          <a:off x="5386388" y="1746250"/>
          <a:ext cx="4429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6" r:id="rId7" imgW="123857" imgH="133486" progId="Equation.3">
                  <p:embed/>
                </p:oleObj>
              </mc:Choice>
              <mc:Fallback>
                <p:oleObj r:id="rId7" imgW="123857" imgH="133486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388" y="1746250"/>
                        <a:ext cx="442912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33" name="Object 13">
            <a:extLst>
              <a:ext uri="{FF2B5EF4-FFF2-40B4-BE49-F238E27FC236}">
                <a16:creationId xmlns:a16="http://schemas.microsoft.com/office/drawing/2014/main" id="{B615D3B6-E14B-4706-A574-88ACC0AC84A7}"/>
              </a:ext>
            </a:extLst>
          </p:cNvPr>
          <p:cNvGraphicFramePr>
            <a:graphicFrameLocks/>
          </p:cNvGraphicFramePr>
          <p:nvPr/>
        </p:nvGraphicFramePr>
        <p:xfrm>
          <a:off x="1476375" y="1801813"/>
          <a:ext cx="4429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7" r:id="rId9" imgW="95110" imgH="114198" progId="Equation.3">
                  <p:embed/>
                </p:oleObj>
              </mc:Choice>
              <mc:Fallback>
                <p:oleObj r:id="rId9" imgW="95110" imgH="114198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801813"/>
                        <a:ext cx="4429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37F963B4-3177-4D93-BE6F-AE5CD185E626}"/>
              </a:ext>
            </a:extLst>
          </p:cNvPr>
          <p:cNvGrpSpPr>
            <a:grpSpLocks/>
          </p:cNvGrpSpPr>
          <p:nvPr/>
        </p:nvGrpSpPr>
        <p:grpSpPr bwMode="auto">
          <a:xfrm>
            <a:off x="2554288" y="1384300"/>
            <a:ext cx="2209800" cy="641350"/>
            <a:chOff x="2112" y="1576"/>
            <a:chExt cx="1392" cy="404"/>
          </a:xfrm>
        </p:grpSpPr>
        <p:sp>
          <p:nvSpPr>
            <p:cNvPr id="50197" name="Text Box 15">
              <a:extLst>
                <a:ext uri="{FF2B5EF4-FFF2-40B4-BE49-F238E27FC236}">
                  <a16:creationId xmlns:a16="http://schemas.microsoft.com/office/drawing/2014/main" id="{4E6C5DF4-B775-46B8-9E2B-A7CBB94B8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" y="1576"/>
              <a:ext cx="27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i="1">
                  <a:solidFill>
                    <a:srgbClr val="CC3300"/>
                  </a:solidFill>
                  <a:ea typeface="华文楷体" panose="02010600040101010101" pitchFamily="2" charset="-122"/>
                </a:rPr>
                <a:t>h</a:t>
              </a:r>
            </a:p>
          </p:txBody>
        </p:sp>
        <p:sp>
          <p:nvSpPr>
            <p:cNvPr id="50198" name="Line 16">
              <a:extLst>
                <a:ext uri="{FF2B5EF4-FFF2-40B4-BE49-F238E27FC236}">
                  <a16:creationId xmlns:a16="http://schemas.microsoft.com/office/drawing/2014/main" id="{B624716A-7285-49DD-A95C-EDA3F52CB5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584"/>
              <a:ext cx="576" cy="144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9" name="Line 17">
              <a:extLst>
                <a:ext uri="{FF2B5EF4-FFF2-40B4-BE49-F238E27FC236}">
                  <a16:creationId xmlns:a16="http://schemas.microsoft.com/office/drawing/2014/main" id="{7F4F7B6B-6CB3-4C60-B8A5-4DAE5DA17F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24"/>
              <a:ext cx="576" cy="144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0" name="Line 18">
              <a:extLst>
                <a:ext uri="{FF2B5EF4-FFF2-40B4-BE49-F238E27FC236}">
                  <a16:creationId xmlns:a16="http://schemas.microsoft.com/office/drawing/2014/main" id="{04C9A031-CF25-484C-A3EF-748BE6FF5F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12" y="1584"/>
              <a:ext cx="576" cy="144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1" name="Line 19">
              <a:extLst>
                <a:ext uri="{FF2B5EF4-FFF2-40B4-BE49-F238E27FC236}">
                  <a16:creationId xmlns:a16="http://schemas.microsoft.com/office/drawing/2014/main" id="{EC890195-F09C-45E3-8F92-722B531D24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1824"/>
              <a:ext cx="576" cy="144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03540" name="Text Box 20">
            <a:extLst>
              <a:ext uri="{FF2B5EF4-FFF2-40B4-BE49-F238E27FC236}">
                <a16:creationId xmlns:a16="http://schemas.microsoft.com/office/drawing/2014/main" id="{E0BA5E33-1B81-4EF0-ACE5-E2378595F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088" y="2462213"/>
            <a:ext cx="449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两组力学量通过</a:t>
            </a:r>
            <a:r>
              <a:rPr lang="en-US" altLang="zh-CN" sz="2800" b="0" i="1">
                <a:solidFill>
                  <a:srgbClr val="CC3300"/>
                </a:solidFill>
                <a:ea typeface="黑体" panose="02010609060101010101" pitchFamily="49" charset="-122"/>
              </a:rPr>
              <a:t>h</a:t>
            </a:r>
            <a:r>
              <a:rPr lang="zh-CN" altLang="en-US" sz="2800" b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来联系</a:t>
            </a:r>
          </a:p>
        </p:txBody>
      </p:sp>
      <p:sp>
        <p:nvSpPr>
          <p:cNvPr id="1003541" name="Rectangle 21">
            <a:extLst>
              <a:ext uri="{FF2B5EF4-FFF2-40B4-BE49-F238E27FC236}">
                <a16:creationId xmlns:a16="http://schemas.microsoft.com/office/drawing/2014/main" id="{0774FE7F-DD0F-4C06-B76C-A95296032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775" y="260350"/>
            <a:ext cx="1927225" cy="15113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50000">
                <a:schemeClr val="bg1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kumimoji="1" lang="zh-CN" altLang="en-US"/>
          </a:p>
        </p:txBody>
      </p:sp>
      <p:graphicFrame>
        <p:nvGraphicFramePr>
          <p:cNvPr id="50191" name="Object 22">
            <a:extLst>
              <a:ext uri="{FF2B5EF4-FFF2-40B4-BE49-F238E27FC236}">
                <a16:creationId xmlns:a16="http://schemas.microsoft.com/office/drawing/2014/main" id="{F65FF5A9-1E2E-4C0E-8115-AAA823028EC1}"/>
              </a:ext>
            </a:extLst>
          </p:cNvPr>
          <p:cNvGraphicFramePr>
            <a:graphicFrameLocks/>
          </p:cNvGraphicFramePr>
          <p:nvPr/>
        </p:nvGraphicFramePr>
        <p:xfrm>
          <a:off x="7605713" y="384175"/>
          <a:ext cx="111283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8" r:id="rId11" imgW="438239" imgH="152468" progId="Equation.3">
                  <p:embed/>
                </p:oleObj>
              </mc:Choice>
              <mc:Fallback>
                <p:oleObj r:id="rId11" imgW="438239" imgH="152468" progId="Equation.3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5713" y="384175"/>
                        <a:ext cx="1112837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2" name="Object 23">
            <a:extLst>
              <a:ext uri="{FF2B5EF4-FFF2-40B4-BE49-F238E27FC236}">
                <a16:creationId xmlns:a16="http://schemas.microsoft.com/office/drawing/2014/main" id="{80C89CC6-3758-40ED-B2D6-14B3B6DF1872}"/>
              </a:ext>
            </a:extLst>
          </p:cNvPr>
          <p:cNvGraphicFramePr>
            <a:graphicFrameLocks/>
          </p:cNvGraphicFramePr>
          <p:nvPr/>
        </p:nvGraphicFramePr>
        <p:xfrm>
          <a:off x="7666038" y="765175"/>
          <a:ext cx="10048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79" r:id="rId13" imgW="390531" imgH="361882" progId="Equation.3">
                  <p:embed/>
                </p:oleObj>
              </mc:Choice>
              <mc:Fallback>
                <p:oleObj r:id="rId13" imgW="390531" imgH="361882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6038" y="765175"/>
                        <a:ext cx="10048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44" name="Text Box 24">
            <a:extLst>
              <a:ext uri="{FF2B5EF4-FFF2-40B4-BE49-F238E27FC236}">
                <a16:creationId xmlns:a16="http://schemas.microsoft.com/office/drawing/2014/main" id="{230CF0F3-6DFE-404C-B8BD-DAA02A640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838" y="3500438"/>
            <a:ext cx="2373312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光有二象性</a:t>
            </a:r>
          </a:p>
        </p:txBody>
      </p:sp>
      <p:sp>
        <p:nvSpPr>
          <p:cNvPr id="1003545" name="Text Box 25">
            <a:extLst>
              <a:ext uri="{FF2B5EF4-FFF2-40B4-BE49-F238E27FC236}">
                <a16:creationId xmlns:a16="http://schemas.microsoft.com/office/drawing/2014/main" id="{99CBAF79-CDC2-400E-A630-696F15D03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3213100"/>
            <a:ext cx="65786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波长长或障碍物小→波动性突出</a:t>
            </a:r>
          </a:p>
        </p:txBody>
      </p:sp>
      <p:sp>
        <p:nvSpPr>
          <p:cNvPr id="1003546" name="Text Box 26">
            <a:extLst>
              <a:ext uri="{FF2B5EF4-FFF2-40B4-BE49-F238E27FC236}">
                <a16:creationId xmlns:a16="http://schemas.microsoft.com/office/drawing/2014/main" id="{35D6843E-B2AF-4B90-9541-C9B533B88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3773488"/>
            <a:ext cx="6402388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波长短或障碍物大→粒子性突出</a:t>
            </a:r>
          </a:p>
        </p:txBody>
      </p:sp>
      <p:sp>
        <p:nvSpPr>
          <p:cNvPr id="1003547" name="AutoShape 27">
            <a:extLst>
              <a:ext uri="{FF2B5EF4-FFF2-40B4-BE49-F238E27FC236}">
                <a16:creationId xmlns:a16="http://schemas.microsoft.com/office/drawing/2014/main" id="{B8DF0EDE-5C80-4597-8561-F6CCF0297F14}"/>
              </a:ext>
            </a:extLst>
          </p:cNvPr>
          <p:cNvSpPr>
            <a:spLocks/>
          </p:cNvSpPr>
          <p:nvPr/>
        </p:nvSpPr>
        <p:spPr bwMode="auto">
          <a:xfrm>
            <a:off x="6302375" y="3355975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03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0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0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0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03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00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00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00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00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0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0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00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0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26" grpId="0"/>
      <p:bldP spid="1003527" grpId="0"/>
      <p:bldP spid="1003528" grpId="0"/>
      <p:bldP spid="1003529" grpId="0"/>
      <p:bldP spid="1003540" grpId="0"/>
      <p:bldP spid="1003544" grpId="0"/>
      <p:bldP spid="1003545" grpId="0"/>
      <p:bldP spid="1003546" grpId="0"/>
      <p:bldP spid="100354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>
            <a:extLst>
              <a:ext uri="{FF2B5EF4-FFF2-40B4-BE49-F238E27FC236}">
                <a16:creationId xmlns:a16="http://schemas.microsoft.com/office/drawing/2014/main" id="{440B6EFA-533A-496F-890D-EDCDB020D0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B34FA-1A28-4EBD-A14F-EC71982B09FA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zh-CN" altLang="zh-CN" sz="1400"/>
          </a:p>
        </p:txBody>
      </p:sp>
      <p:sp>
        <p:nvSpPr>
          <p:cNvPr id="957442" name="Rectangle 2">
            <a:extLst>
              <a:ext uri="{FF2B5EF4-FFF2-40B4-BE49-F238E27FC236}">
                <a16:creationId xmlns:a16="http://schemas.microsoft.com/office/drawing/2014/main" id="{CB29D307-EEE5-416F-9752-CA1D6F8D8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-36513"/>
            <a:ext cx="5105400" cy="7985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45000"/>
              </a:lnSpc>
              <a:defRPr/>
            </a:pPr>
            <a:r>
              <a:rPr kumimoji="1" lang="zh-CN" altLang="en-US" sz="3200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  <a:sym typeface="Wingdings" panose="05000000000000000000" pitchFamily="2" charset="2"/>
              </a:rPr>
              <a:t>四</a:t>
            </a:r>
            <a:r>
              <a:rPr kumimoji="1" lang="zh-CN" altLang="en-US" sz="32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kumimoji="1" lang="zh-CN" altLang="en-US" sz="3200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  <a:sym typeface="Wingdings" panose="05000000000000000000" pitchFamily="2" charset="2"/>
              </a:rPr>
              <a:t>光电效应的应用</a:t>
            </a:r>
          </a:p>
        </p:txBody>
      </p:sp>
      <p:pic>
        <p:nvPicPr>
          <p:cNvPr id="957443" name="Picture 3">
            <a:extLst>
              <a:ext uri="{FF2B5EF4-FFF2-40B4-BE49-F238E27FC236}">
                <a16:creationId xmlns:a16="http://schemas.microsoft.com/office/drawing/2014/main" id="{47CCBF26-CC83-412B-A8A7-7E39EFB4C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10000"/>
            <a:ext cx="2393950" cy="2590800"/>
          </a:xfrm>
          <a:prstGeom prst="rect">
            <a:avLst/>
          </a:prstGeom>
          <a:noFill/>
          <a:ln w="127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7444" name="Text Box 4">
            <a:extLst>
              <a:ext uri="{FF2B5EF4-FFF2-40B4-BE49-F238E27FC236}">
                <a16:creationId xmlns:a16="http://schemas.microsoft.com/office/drawing/2014/main" id="{CB2AFBD9-4409-4EEA-928A-2D36A4D4E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438400"/>
            <a:ext cx="3168650" cy="1187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如：</a:t>
            </a:r>
            <a:r>
              <a:rPr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光控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继电器、自动控制、自动计数、自动报警等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7484" name="Text Box 44">
            <a:extLst>
              <a:ext uri="{FF2B5EF4-FFF2-40B4-BE49-F238E27FC236}">
                <a16:creationId xmlns:a16="http://schemas.microsoft.com/office/drawing/2014/main" id="{924109D4-83DC-4D1D-B174-6D481A7CA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914400"/>
            <a:ext cx="8928100" cy="1370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、光电管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 利用</a:t>
            </a:r>
            <a:r>
              <a:rPr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饱和电流与照射光强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的线性关系，实现</a:t>
            </a:r>
            <a:r>
              <a:rPr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光信号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→</a:t>
            </a:r>
            <a:r>
              <a:rPr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电信号的转换。</a:t>
            </a:r>
          </a:p>
        </p:txBody>
      </p:sp>
      <p:sp>
        <p:nvSpPr>
          <p:cNvPr id="46" name="Text Box 8">
            <a:extLst>
              <a:ext uri="{FF2B5EF4-FFF2-40B4-BE49-F238E27FC236}">
                <a16:creationId xmlns:a16="http://schemas.microsoft.com/office/drawing/2014/main" id="{86A958DA-24FB-4A1A-805A-069D00E78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357563"/>
            <a:ext cx="4724400" cy="2492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、光电成像器件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 光电导摄像管等，可以将辐射图像转换成或增强为可观察、记录、传输、存储和进行处理的图像，广泛地应用于天文学、空间科学、电视等领域。</a:t>
            </a:r>
            <a:endParaRPr lang="zh-CN" altLang="en-US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57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5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4" grpId="0"/>
      <p:bldP spid="957484" grpId="0"/>
      <p:bldP spid="4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66">
            <a:alpha val="5019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34" name="Group 2">
            <a:extLst>
              <a:ext uri="{FF2B5EF4-FFF2-40B4-BE49-F238E27FC236}">
                <a16:creationId xmlns:a16="http://schemas.microsoft.com/office/drawing/2014/main" id="{EEC8EDF3-0D85-4138-BE0C-3568D004423E}"/>
              </a:ext>
            </a:extLst>
          </p:cNvPr>
          <p:cNvGrpSpPr>
            <a:grpSpLocks/>
          </p:cNvGrpSpPr>
          <p:nvPr/>
        </p:nvGrpSpPr>
        <p:grpSpPr bwMode="auto">
          <a:xfrm>
            <a:off x="1193800" y="1412875"/>
            <a:ext cx="6835775" cy="4641850"/>
            <a:chOff x="752" y="1347"/>
            <a:chExt cx="4306" cy="2924"/>
          </a:xfrm>
        </p:grpSpPr>
        <p:grpSp>
          <p:nvGrpSpPr>
            <p:cNvPr id="69641" name="Group 3">
              <a:extLst>
                <a:ext uri="{FF2B5EF4-FFF2-40B4-BE49-F238E27FC236}">
                  <a16:creationId xmlns:a16="http://schemas.microsoft.com/office/drawing/2014/main" id="{BC3BBD22-AEDF-4E9E-9152-D5F27354FD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0" y="1347"/>
              <a:ext cx="1776" cy="1525"/>
              <a:chOff x="2074" y="1326"/>
              <a:chExt cx="1776" cy="1525"/>
            </a:xfrm>
          </p:grpSpPr>
          <p:grpSp>
            <p:nvGrpSpPr>
              <p:cNvPr id="69672" name="Group 4">
                <a:extLst>
                  <a:ext uri="{FF2B5EF4-FFF2-40B4-BE49-F238E27FC236}">
                    <a16:creationId xmlns:a16="http://schemas.microsoft.com/office/drawing/2014/main" id="{92A2227C-0E39-448C-AE28-EC5F50F215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24" y="1326"/>
                <a:ext cx="1726" cy="1525"/>
                <a:chOff x="2256" y="1480"/>
                <a:chExt cx="1726" cy="1525"/>
              </a:xfrm>
            </p:grpSpPr>
            <p:sp>
              <p:nvSpPr>
                <p:cNvPr id="69674" name="Line 5">
                  <a:extLst>
                    <a:ext uri="{FF2B5EF4-FFF2-40B4-BE49-F238E27FC236}">
                      <a16:creationId xmlns:a16="http://schemas.microsoft.com/office/drawing/2014/main" id="{F411A702-3D79-40EC-A1E8-1E5E169C46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56" y="2706"/>
                  <a:ext cx="1545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675" name="Line 6">
                  <a:extLst>
                    <a:ext uri="{FF2B5EF4-FFF2-40B4-BE49-F238E27FC236}">
                      <a16:creationId xmlns:a16="http://schemas.microsoft.com/office/drawing/2014/main" id="{7504A8EF-8963-4223-8EBA-0FD50B61E9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64" y="1530"/>
                  <a:ext cx="0" cy="1176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676" name="Freeform 7">
                  <a:extLst>
                    <a:ext uri="{FF2B5EF4-FFF2-40B4-BE49-F238E27FC236}">
                      <a16:creationId xmlns:a16="http://schemas.microsoft.com/office/drawing/2014/main" id="{6A030E5D-4C3C-4864-B455-874DE8E414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82" y="1578"/>
                  <a:ext cx="1398" cy="1128"/>
                </a:xfrm>
                <a:custGeom>
                  <a:avLst/>
                  <a:gdLst>
                    <a:gd name="T0" fmla="*/ 0 w 1256"/>
                    <a:gd name="T1" fmla="*/ 1471 h 988"/>
                    <a:gd name="T2" fmla="*/ 307 w 1256"/>
                    <a:gd name="T3" fmla="*/ 1189 h 988"/>
                    <a:gd name="T4" fmla="*/ 536 w 1256"/>
                    <a:gd name="T5" fmla="*/ 809 h 988"/>
                    <a:gd name="T6" fmla="*/ 979 w 1256"/>
                    <a:gd name="T7" fmla="*/ 148 h 988"/>
                    <a:gd name="T8" fmla="*/ 1732 w 1256"/>
                    <a:gd name="T9" fmla="*/ 0 h 9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56" h="988">
                      <a:moveTo>
                        <a:pt x="0" y="988"/>
                      </a:moveTo>
                      <a:cubicBezTo>
                        <a:pt x="79" y="930"/>
                        <a:pt x="158" y="873"/>
                        <a:pt x="223" y="799"/>
                      </a:cubicBezTo>
                      <a:cubicBezTo>
                        <a:pt x="288" y="725"/>
                        <a:pt x="308" y="660"/>
                        <a:pt x="389" y="544"/>
                      </a:cubicBezTo>
                      <a:cubicBezTo>
                        <a:pt x="470" y="428"/>
                        <a:pt x="566" y="191"/>
                        <a:pt x="711" y="100"/>
                      </a:cubicBezTo>
                      <a:cubicBezTo>
                        <a:pt x="856" y="9"/>
                        <a:pt x="1056" y="4"/>
                        <a:pt x="1256" y="0"/>
                      </a:cubicBezTo>
                    </a:path>
                  </a:pathLst>
                </a:custGeom>
                <a:noFill/>
                <a:ln w="38100">
                  <a:solidFill>
                    <a:srgbClr val="00FF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677" name="Freeform 8">
                  <a:extLst>
                    <a:ext uri="{FF2B5EF4-FFF2-40B4-BE49-F238E27FC236}">
                      <a16:creationId xmlns:a16="http://schemas.microsoft.com/office/drawing/2014/main" id="{35B2CB74-3040-4E89-BF86-985B4C403C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2" y="1674"/>
                  <a:ext cx="1227" cy="1029"/>
                </a:xfrm>
                <a:custGeom>
                  <a:avLst/>
                  <a:gdLst>
                    <a:gd name="T0" fmla="*/ 0 w 1256"/>
                    <a:gd name="T1" fmla="*/ 1116 h 988"/>
                    <a:gd name="T2" fmla="*/ 208 w 1256"/>
                    <a:gd name="T3" fmla="*/ 903 h 988"/>
                    <a:gd name="T4" fmla="*/ 362 w 1256"/>
                    <a:gd name="T5" fmla="*/ 616 h 988"/>
                    <a:gd name="T6" fmla="*/ 663 w 1256"/>
                    <a:gd name="T7" fmla="*/ 112 h 988"/>
                    <a:gd name="T8" fmla="*/ 1171 w 1256"/>
                    <a:gd name="T9" fmla="*/ 0 h 9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56" h="988">
                      <a:moveTo>
                        <a:pt x="0" y="988"/>
                      </a:moveTo>
                      <a:cubicBezTo>
                        <a:pt x="79" y="930"/>
                        <a:pt x="158" y="873"/>
                        <a:pt x="223" y="799"/>
                      </a:cubicBezTo>
                      <a:cubicBezTo>
                        <a:pt x="288" y="725"/>
                        <a:pt x="308" y="660"/>
                        <a:pt x="389" y="544"/>
                      </a:cubicBezTo>
                      <a:cubicBezTo>
                        <a:pt x="470" y="428"/>
                        <a:pt x="566" y="191"/>
                        <a:pt x="711" y="100"/>
                      </a:cubicBezTo>
                      <a:cubicBezTo>
                        <a:pt x="856" y="9"/>
                        <a:pt x="1056" y="4"/>
                        <a:pt x="1256" y="0"/>
                      </a:cubicBezTo>
                    </a:path>
                  </a:pathLst>
                </a:custGeom>
                <a:noFill/>
                <a:ln w="38100">
                  <a:solidFill>
                    <a:srgbClr val="00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678" name="Text Box 9">
                  <a:extLst>
                    <a:ext uri="{FF2B5EF4-FFF2-40B4-BE49-F238E27FC236}">
                      <a16:creationId xmlns:a16="http://schemas.microsoft.com/office/drawing/2014/main" id="{E55FE246-0E4F-4B34-9651-82AA3411F4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82" y="2717"/>
                  <a:ext cx="40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i="1">
                      <a:solidFill>
                        <a:schemeClr val="bg1"/>
                      </a:solidFill>
                    </a:rPr>
                    <a:t>U</a:t>
                  </a:r>
                </a:p>
              </p:txBody>
            </p:sp>
            <p:sp>
              <p:nvSpPr>
                <p:cNvPr id="69679" name="Text Box 10">
                  <a:extLst>
                    <a:ext uri="{FF2B5EF4-FFF2-40B4-BE49-F238E27FC236}">
                      <a16:creationId xmlns:a16="http://schemas.microsoft.com/office/drawing/2014/main" id="{3C3E2F33-5D45-44EB-BE76-8BA20E0BB1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56" y="1480"/>
                  <a:ext cx="27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i="1">
                      <a:solidFill>
                        <a:schemeClr val="bg1"/>
                      </a:solidFill>
                    </a:rPr>
                    <a:t>i</a:t>
                  </a:r>
                </a:p>
              </p:txBody>
            </p:sp>
            <p:sp>
              <p:nvSpPr>
                <p:cNvPr id="69680" name="Text Box 11">
                  <a:extLst>
                    <a:ext uri="{FF2B5EF4-FFF2-40B4-BE49-F238E27FC236}">
                      <a16:creationId xmlns:a16="http://schemas.microsoft.com/office/drawing/2014/main" id="{142EC9EA-4BD1-433B-B79F-AABD1FF397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49" y="2640"/>
                  <a:ext cx="32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b="0" i="1">
                      <a:solidFill>
                        <a:schemeClr val="bg1"/>
                      </a:solidFill>
                    </a:rPr>
                    <a:t>o</a:t>
                  </a:r>
                </a:p>
              </p:txBody>
            </p:sp>
          </p:grpSp>
          <p:sp>
            <p:nvSpPr>
              <p:cNvPr id="69673" name="Text Box 12">
                <a:extLst>
                  <a:ext uri="{FF2B5EF4-FFF2-40B4-BE49-F238E27FC236}">
                    <a16:creationId xmlns:a16="http://schemas.microsoft.com/office/drawing/2014/main" id="{8570A50D-C894-47EC-BD59-9A2DB0E773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74" y="1962"/>
                <a:ext cx="51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 i="1">
                    <a:solidFill>
                      <a:schemeClr val="bg1"/>
                    </a:solidFill>
                  </a:rPr>
                  <a:t>(</a:t>
                </a:r>
                <a:r>
                  <a:rPr lang="en-US" altLang="zh-CN" sz="2800" b="0" i="1">
                    <a:solidFill>
                      <a:schemeClr val="bg1"/>
                    </a:solidFill>
                  </a:rPr>
                  <a:t>B)</a:t>
                </a:r>
                <a:endParaRPr lang="en-US" altLang="zh-CN" sz="28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9642" name="Group 13">
              <a:extLst>
                <a:ext uri="{FF2B5EF4-FFF2-40B4-BE49-F238E27FC236}">
                  <a16:creationId xmlns:a16="http://schemas.microsoft.com/office/drawing/2014/main" id="{454EEF5A-F7DB-4344-B0EC-91A5A2D93F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2" y="2746"/>
              <a:ext cx="1822" cy="1525"/>
              <a:chOff x="3786" y="1314"/>
              <a:chExt cx="1822" cy="1525"/>
            </a:xfrm>
          </p:grpSpPr>
          <p:grpSp>
            <p:nvGrpSpPr>
              <p:cNvPr id="69663" name="Group 14">
                <a:extLst>
                  <a:ext uri="{FF2B5EF4-FFF2-40B4-BE49-F238E27FC236}">
                    <a16:creationId xmlns:a16="http://schemas.microsoft.com/office/drawing/2014/main" id="{FC1EA480-082E-4A71-BEF4-ADA7F6391C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2" y="1314"/>
                <a:ext cx="1726" cy="1525"/>
                <a:chOff x="3860" y="1512"/>
                <a:chExt cx="1726" cy="1525"/>
              </a:xfrm>
            </p:grpSpPr>
            <p:sp>
              <p:nvSpPr>
                <p:cNvPr id="69665" name="Line 15">
                  <a:extLst>
                    <a:ext uri="{FF2B5EF4-FFF2-40B4-BE49-F238E27FC236}">
                      <a16:creationId xmlns:a16="http://schemas.microsoft.com/office/drawing/2014/main" id="{3933D40C-ECC8-4A84-8B58-9722B058CC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60" y="2738"/>
                  <a:ext cx="1545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666" name="Line 16">
                  <a:extLst>
                    <a:ext uri="{FF2B5EF4-FFF2-40B4-BE49-F238E27FC236}">
                      <a16:creationId xmlns:a16="http://schemas.microsoft.com/office/drawing/2014/main" id="{FD693123-F138-43E5-80EB-C947BDEBDE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468" y="1562"/>
                  <a:ext cx="0" cy="1176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667" name="Freeform 17">
                  <a:extLst>
                    <a:ext uri="{FF2B5EF4-FFF2-40B4-BE49-F238E27FC236}">
                      <a16:creationId xmlns:a16="http://schemas.microsoft.com/office/drawing/2014/main" id="{9683D38A-AAF8-43FE-910B-7735E095CA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1721"/>
                  <a:ext cx="1031" cy="1017"/>
                </a:xfrm>
                <a:custGeom>
                  <a:avLst/>
                  <a:gdLst>
                    <a:gd name="T0" fmla="*/ 0 w 1256"/>
                    <a:gd name="T1" fmla="*/ 1078 h 988"/>
                    <a:gd name="T2" fmla="*/ 123 w 1256"/>
                    <a:gd name="T3" fmla="*/ 871 h 988"/>
                    <a:gd name="T4" fmla="*/ 215 w 1256"/>
                    <a:gd name="T5" fmla="*/ 593 h 988"/>
                    <a:gd name="T6" fmla="*/ 393 w 1256"/>
                    <a:gd name="T7" fmla="*/ 109 h 988"/>
                    <a:gd name="T8" fmla="*/ 694 w 1256"/>
                    <a:gd name="T9" fmla="*/ 0 h 9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56" h="988">
                      <a:moveTo>
                        <a:pt x="0" y="988"/>
                      </a:moveTo>
                      <a:cubicBezTo>
                        <a:pt x="79" y="930"/>
                        <a:pt x="158" y="873"/>
                        <a:pt x="223" y="799"/>
                      </a:cubicBezTo>
                      <a:cubicBezTo>
                        <a:pt x="288" y="725"/>
                        <a:pt x="308" y="660"/>
                        <a:pt x="389" y="544"/>
                      </a:cubicBezTo>
                      <a:cubicBezTo>
                        <a:pt x="470" y="428"/>
                        <a:pt x="566" y="191"/>
                        <a:pt x="711" y="100"/>
                      </a:cubicBezTo>
                      <a:cubicBezTo>
                        <a:pt x="856" y="9"/>
                        <a:pt x="1056" y="4"/>
                        <a:pt x="1256" y="0"/>
                      </a:cubicBezTo>
                    </a:path>
                  </a:pathLst>
                </a:custGeom>
                <a:noFill/>
                <a:ln w="38100">
                  <a:solidFill>
                    <a:srgbClr val="00FF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668" name="Freeform 18">
                  <a:extLst>
                    <a:ext uri="{FF2B5EF4-FFF2-40B4-BE49-F238E27FC236}">
                      <a16:creationId xmlns:a16="http://schemas.microsoft.com/office/drawing/2014/main" id="{85D0406D-1B2C-452C-8F27-F8BFBD0FC8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2" y="1706"/>
                  <a:ext cx="1227" cy="1029"/>
                </a:xfrm>
                <a:custGeom>
                  <a:avLst/>
                  <a:gdLst>
                    <a:gd name="T0" fmla="*/ 0 w 1256"/>
                    <a:gd name="T1" fmla="*/ 1116 h 988"/>
                    <a:gd name="T2" fmla="*/ 208 w 1256"/>
                    <a:gd name="T3" fmla="*/ 903 h 988"/>
                    <a:gd name="T4" fmla="*/ 362 w 1256"/>
                    <a:gd name="T5" fmla="*/ 616 h 988"/>
                    <a:gd name="T6" fmla="*/ 663 w 1256"/>
                    <a:gd name="T7" fmla="*/ 112 h 988"/>
                    <a:gd name="T8" fmla="*/ 1171 w 1256"/>
                    <a:gd name="T9" fmla="*/ 0 h 9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56" h="988">
                      <a:moveTo>
                        <a:pt x="0" y="988"/>
                      </a:moveTo>
                      <a:cubicBezTo>
                        <a:pt x="79" y="930"/>
                        <a:pt x="158" y="873"/>
                        <a:pt x="223" y="799"/>
                      </a:cubicBezTo>
                      <a:cubicBezTo>
                        <a:pt x="288" y="725"/>
                        <a:pt x="308" y="660"/>
                        <a:pt x="389" y="544"/>
                      </a:cubicBezTo>
                      <a:cubicBezTo>
                        <a:pt x="470" y="428"/>
                        <a:pt x="566" y="191"/>
                        <a:pt x="711" y="100"/>
                      </a:cubicBezTo>
                      <a:cubicBezTo>
                        <a:pt x="856" y="9"/>
                        <a:pt x="1056" y="4"/>
                        <a:pt x="1256" y="0"/>
                      </a:cubicBezTo>
                    </a:path>
                  </a:pathLst>
                </a:custGeom>
                <a:noFill/>
                <a:ln w="38100">
                  <a:solidFill>
                    <a:srgbClr val="00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669" name="Text Box 19">
                  <a:extLst>
                    <a:ext uri="{FF2B5EF4-FFF2-40B4-BE49-F238E27FC236}">
                      <a16:creationId xmlns:a16="http://schemas.microsoft.com/office/drawing/2014/main" id="{6BE7EDBB-9B23-4778-8F0B-DBABB1A9BE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86" y="2749"/>
                  <a:ext cx="40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i="1">
                      <a:solidFill>
                        <a:schemeClr val="bg1"/>
                      </a:solidFill>
                    </a:rPr>
                    <a:t>U</a:t>
                  </a:r>
                </a:p>
              </p:txBody>
            </p:sp>
            <p:sp>
              <p:nvSpPr>
                <p:cNvPr id="69670" name="Text Box 20">
                  <a:extLst>
                    <a:ext uri="{FF2B5EF4-FFF2-40B4-BE49-F238E27FC236}">
                      <a16:creationId xmlns:a16="http://schemas.microsoft.com/office/drawing/2014/main" id="{88E6432A-A30C-41D7-B642-F5FDA14662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60" y="1512"/>
                  <a:ext cx="27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i="1">
                      <a:solidFill>
                        <a:schemeClr val="bg1"/>
                      </a:solidFill>
                    </a:rPr>
                    <a:t>i</a:t>
                  </a:r>
                </a:p>
              </p:txBody>
            </p:sp>
            <p:sp>
              <p:nvSpPr>
                <p:cNvPr id="69671" name="Text Box 21">
                  <a:extLst>
                    <a:ext uri="{FF2B5EF4-FFF2-40B4-BE49-F238E27FC236}">
                      <a16:creationId xmlns:a16="http://schemas.microsoft.com/office/drawing/2014/main" id="{4932EA27-6183-4431-A312-A6B903F7B3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53" y="2672"/>
                  <a:ext cx="32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b="0" i="1">
                      <a:solidFill>
                        <a:schemeClr val="bg1"/>
                      </a:solidFill>
                    </a:rPr>
                    <a:t>o</a:t>
                  </a:r>
                </a:p>
              </p:txBody>
            </p:sp>
          </p:grpSp>
          <p:sp>
            <p:nvSpPr>
              <p:cNvPr id="69664" name="Text Box 22">
                <a:extLst>
                  <a:ext uri="{FF2B5EF4-FFF2-40B4-BE49-F238E27FC236}">
                    <a16:creationId xmlns:a16="http://schemas.microsoft.com/office/drawing/2014/main" id="{130DD227-C4C8-463C-BC96-E71720D900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6" y="1970"/>
                <a:ext cx="51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 i="1">
                    <a:solidFill>
                      <a:schemeClr val="bg1"/>
                    </a:solidFill>
                  </a:rPr>
                  <a:t>(</a:t>
                </a:r>
                <a:r>
                  <a:rPr lang="en-US" altLang="zh-CN" sz="2800" b="0" i="1">
                    <a:solidFill>
                      <a:schemeClr val="bg1"/>
                    </a:solidFill>
                  </a:rPr>
                  <a:t>C)</a:t>
                </a:r>
                <a:endParaRPr lang="en-US" altLang="zh-CN" sz="28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9643" name="Group 23">
              <a:extLst>
                <a:ext uri="{FF2B5EF4-FFF2-40B4-BE49-F238E27FC236}">
                  <a16:creationId xmlns:a16="http://schemas.microsoft.com/office/drawing/2014/main" id="{41FD4C63-1044-46C7-9E2B-6EC76AEC50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9" y="2736"/>
              <a:ext cx="1789" cy="1525"/>
              <a:chOff x="331" y="1326"/>
              <a:chExt cx="1789" cy="1525"/>
            </a:xfrm>
          </p:grpSpPr>
          <p:grpSp>
            <p:nvGrpSpPr>
              <p:cNvPr id="69653" name="Group 24">
                <a:extLst>
                  <a:ext uri="{FF2B5EF4-FFF2-40B4-BE49-F238E27FC236}">
                    <a16:creationId xmlns:a16="http://schemas.microsoft.com/office/drawing/2014/main" id="{49B4F5E4-564C-4779-91B8-8C0FFB1C8A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" y="1326"/>
                <a:ext cx="1726" cy="1525"/>
                <a:chOff x="441" y="1472"/>
                <a:chExt cx="1726" cy="1525"/>
              </a:xfrm>
            </p:grpSpPr>
            <p:grpSp>
              <p:nvGrpSpPr>
                <p:cNvPr id="69655" name="Group 25">
                  <a:extLst>
                    <a:ext uri="{FF2B5EF4-FFF2-40B4-BE49-F238E27FC236}">
                      <a16:creationId xmlns:a16="http://schemas.microsoft.com/office/drawing/2014/main" id="{B9DFDA99-8062-441A-9241-52C9033C42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1" y="1522"/>
                  <a:ext cx="1545" cy="1176"/>
                  <a:chOff x="2886" y="2266"/>
                  <a:chExt cx="1889" cy="1343"/>
                </a:xfrm>
              </p:grpSpPr>
              <p:sp>
                <p:nvSpPr>
                  <p:cNvPr id="69659" name="Line 26">
                    <a:extLst>
                      <a:ext uri="{FF2B5EF4-FFF2-40B4-BE49-F238E27FC236}">
                        <a16:creationId xmlns:a16="http://schemas.microsoft.com/office/drawing/2014/main" id="{104369E3-0402-4FA6-BBDF-32259C246DA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86" y="3609"/>
                    <a:ext cx="1889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660" name="Line 27">
                    <a:extLst>
                      <a:ext uri="{FF2B5EF4-FFF2-40B4-BE49-F238E27FC236}">
                        <a16:creationId xmlns:a16="http://schemas.microsoft.com/office/drawing/2014/main" id="{2FD59DE2-E29C-4EB3-A480-1458D31DBB3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29" y="2266"/>
                    <a:ext cx="0" cy="1343"/>
                  </a:xfrm>
                  <a:prstGeom prst="line">
                    <a:avLst/>
                  </a:prstGeom>
                  <a:noFill/>
                  <a:ln w="19050">
                    <a:solidFill>
                      <a:schemeClr val="bg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661" name="Freeform 28">
                    <a:extLst>
                      <a:ext uri="{FF2B5EF4-FFF2-40B4-BE49-F238E27FC236}">
                        <a16:creationId xmlns:a16="http://schemas.microsoft.com/office/drawing/2014/main" id="{910F084A-367C-42DE-9E58-E6B63C775A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40" y="2688"/>
                    <a:ext cx="1668" cy="921"/>
                  </a:xfrm>
                  <a:custGeom>
                    <a:avLst/>
                    <a:gdLst>
                      <a:gd name="T0" fmla="*/ 0 w 1256"/>
                      <a:gd name="T1" fmla="*/ 801 h 988"/>
                      <a:gd name="T2" fmla="*/ 522 w 1256"/>
                      <a:gd name="T3" fmla="*/ 647 h 988"/>
                      <a:gd name="T4" fmla="*/ 912 w 1256"/>
                      <a:gd name="T5" fmla="*/ 441 h 988"/>
                      <a:gd name="T6" fmla="*/ 1665 w 1256"/>
                      <a:gd name="T7" fmla="*/ 81 h 988"/>
                      <a:gd name="T8" fmla="*/ 2942 w 1256"/>
                      <a:gd name="T9" fmla="*/ 0 h 9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256" h="988">
                        <a:moveTo>
                          <a:pt x="0" y="988"/>
                        </a:moveTo>
                        <a:cubicBezTo>
                          <a:pt x="79" y="930"/>
                          <a:pt x="158" y="873"/>
                          <a:pt x="223" y="799"/>
                        </a:cubicBezTo>
                        <a:cubicBezTo>
                          <a:pt x="288" y="725"/>
                          <a:pt x="308" y="660"/>
                          <a:pt x="389" y="544"/>
                        </a:cubicBezTo>
                        <a:cubicBezTo>
                          <a:pt x="470" y="428"/>
                          <a:pt x="566" y="191"/>
                          <a:pt x="711" y="100"/>
                        </a:cubicBezTo>
                        <a:cubicBezTo>
                          <a:pt x="856" y="9"/>
                          <a:pt x="1056" y="4"/>
                          <a:pt x="1256" y="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662" name="Freeform 29">
                    <a:extLst>
                      <a:ext uri="{FF2B5EF4-FFF2-40B4-BE49-F238E27FC236}">
                        <a16:creationId xmlns:a16="http://schemas.microsoft.com/office/drawing/2014/main" id="{1D13E98E-EED4-4717-A3A7-4D54ED70C2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36" y="2430"/>
                    <a:ext cx="1500" cy="1176"/>
                  </a:xfrm>
                  <a:custGeom>
                    <a:avLst/>
                    <a:gdLst>
                      <a:gd name="T0" fmla="*/ 0 w 1256"/>
                      <a:gd name="T1" fmla="*/ 1666 h 988"/>
                      <a:gd name="T2" fmla="*/ 380 w 1256"/>
                      <a:gd name="T3" fmla="*/ 1347 h 988"/>
                      <a:gd name="T4" fmla="*/ 663 w 1256"/>
                      <a:gd name="T5" fmla="*/ 918 h 988"/>
                      <a:gd name="T6" fmla="*/ 1211 w 1256"/>
                      <a:gd name="T7" fmla="*/ 169 h 988"/>
                      <a:gd name="T8" fmla="*/ 2139 w 1256"/>
                      <a:gd name="T9" fmla="*/ 0 h 9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256" h="988">
                        <a:moveTo>
                          <a:pt x="0" y="988"/>
                        </a:moveTo>
                        <a:cubicBezTo>
                          <a:pt x="79" y="930"/>
                          <a:pt x="158" y="873"/>
                          <a:pt x="223" y="799"/>
                        </a:cubicBezTo>
                        <a:cubicBezTo>
                          <a:pt x="288" y="725"/>
                          <a:pt x="308" y="660"/>
                          <a:pt x="389" y="544"/>
                        </a:cubicBezTo>
                        <a:cubicBezTo>
                          <a:pt x="470" y="428"/>
                          <a:pt x="566" y="191"/>
                          <a:pt x="711" y="100"/>
                        </a:cubicBezTo>
                        <a:cubicBezTo>
                          <a:pt x="856" y="9"/>
                          <a:pt x="1056" y="4"/>
                          <a:pt x="1256" y="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9656" name="Text Box 30">
                  <a:extLst>
                    <a:ext uri="{FF2B5EF4-FFF2-40B4-BE49-F238E27FC236}">
                      <a16:creationId xmlns:a16="http://schemas.microsoft.com/office/drawing/2014/main" id="{0950FB49-B1D9-4BBD-B8AB-E46707561E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67" y="2709"/>
                  <a:ext cx="40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i="1">
                      <a:solidFill>
                        <a:schemeClr val="bg1"/>
                      </a:solidFill>
                    </a:rPr>
                    <a:t>U</a:t>
                  </a:r>
                </a:p>
              </p:txBody>
            </p:sp>
            <p:sp>
              <p:nvSpPr>
                <p:cNvPr id="69657" name="Text Box 31">
                  <a:extLst>
                    <a:ext uri="{FF2B5EF4-FFF2-40B4-BE49-F238E27FC236}">
                      <a16:creationId xmlns:a16="http://schemas.microsoft.com/office/drawing/2014/main" id="{290B9337-83E0-4A0C-915A-34AB77032E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1" y="1472"/>
                  <a:ext cx="27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i="1">
                      <a:solidFill>
                        <a:schemeClr val="bg1"/>
                      </a:solidFill>
                    </a:rPr>
                    <a:t>i</a:t>
                  </a:r>
                </a:p>
              </p:txBody>
            </p:sp>
            <p:sp>
              <p:nvSpPr>
                <p:cNvPr id="69658" name="Text Box 32">
                  <a:extLst>
                    <a:ext uri="{FF2B5EF4-FFF2-40B4-BE49-F238E27FC236}">
                      <a16:creationId xmlns:a16="http://schemas.microsoft.com/office/drawing/2014/main" id="{2E588663-9935-4164-A7FA-E7161294E0A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34" y="2632"/>
                  <a:ext cx="32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b="0" i="1">
                      <a:solidFill>
                        <a:schemeClr val="bg1"/>
                      </a:solidFill>
                    </a:rPr>
                    <a:t>o</a:t>
                  </a:r>
                </a:p>
              </p:txBody>
            </p:sp>
          </p:grpSp>
          <p:sp>
            <p:nvSpPr>
              <p:cNvPr id="69654" name="Text Box 33">
                <a:extLst>
                  <a:ext uri="{FF2B5EF4-FFF2-40B4-BE49-F238E27FC236}">
                    <a16:creationId xmlns:a16="http://schemas.microsoft.com/office/drawing/2014/main" id="{D8B30FBC-3478-4FB7-80BC-B9D05D1BB6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" y="1940"/>
                <a:ext cx="51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 i="1">
                    <a:solidFill>
                      <a:schemeClr val="bg1"/>
                    </a:solidFill>
                  </a:rPr>
                  <a:t>(</a:t>
                </a:r>
                <a:r>
                  <a:rPr lang="en-US" altLang="zh-CN" sz="2800" b="0" i="1">
                    <a:solidFill>
                      <a:schemeClr val="bg1"/>
                    </a:solidFill>
                  </a:rPr>
                  <a:t>D)</a:t>
                </a:r>
                <a:endParaRPr lang="en-US" altLang="zh-CN" sz="28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9644" name="Group 34">
              <a:extLst>
                <a:ext uri="{FF2B5EF4-FFF2-40B4-BE49-F238E27FC236}">
                  <a16:creationId xmlns:a16="http://schemas.microsoft.com/office/drawing/2014/main" id="{6E1524F0-705F-42B4-A33F-1699AF59B6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2" y="1349"/>
              <a:ext cx="1776" cy="1525"/>
              <a:chOff x="802" y="1349"/>
              <a:chExt cx="1776" cy="1525"/>
            </a:xfrm>
          </p:grpSpPr>
          <p:sp>
            <p:nvSpPr>
              <p:cNvPr id="69645" name="Line 35">
                <a:extLst>
                  <a:ext uri="{FF2B5EF4-FFF2-40B4-BE49-F238E27FC236}">
                    <a16:creationId xmlns:a16="http://schemas.microsoft.com/office/drawing/2014/main" id="{62687633-22B3-4878-A67F-BF0711C8F7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52" y="2575"/>
                <a:ext cx="1545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46" name="Line 36">
                <a:extLst>
                  <a:ext uri="{FF2B5EF4-FFF2-40B4-BE49-F238E27FC236}">
                    <a16:creationId xmlns:a16="http://schemas.microsoft.com/office/drawing/2014/main" id="{E3EDBE71-A7E1-491D-9806-31C2D16CB8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60" y="1399"/>
                <a:ext cx="0" cy="1176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47" name="Text Box 37">
                <a:extLst>
                  <a:ext uri="{FF2B5EF4-FFF2-40B4-BE49-F238E27FC236}">
                    <a16:creationId xmlns:a16="http://schemas.microsoft.com/office/drawing/2014/main" id="{2B89C257-3028-47C1-AF82-F2EBC59457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8" y="2586"/>
                <a:ext cx="40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>
                    <a:solidFill>
                      <a:schemeClr val="bg1"/>
                    </a:solidFill>
                  </a:rPr>
                  <a:t>U</a:t>
                </a:r>
              </a:p>
            </p:txBody>
          </p:sp>
          <p:sp>
            <p:nvSpPr>
              <p:cNvPr id="69648" name="Text Box 38">
                <a:extLst>
                  <a:ext uri="{FF2B5EF4-FFF2-40B4-BE49-F238E27FC236}">
                    <a16:creationId xmlns:a16="http://schemas.microsoft.com/office/drawing/2014/main" id="{D5C63C53-0AA4-4280-B24D-8023394DE1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2" y="1349"/>
                <a:ext cx="27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>
                    <a:solidFill>
                      <a:schemeClr val="bg1"/>
                    </a:solidFill>
                  </a:rPr>
                  <a:t>i</a:t>
                </a:r>
              </a:p>
            </p:txBody>
          </p:sp>
          <p:sp>
            <p:nvSpPr>
              <p:cNvPr id="69649" name="Text Box 39">
                <a:extLst>
                  <a:ext uri="{FF2B5EF4-FFF2-40B4-BE49-F238E27FC236}">
                    <a16:creationId xmlns:a16="http://schemas.microsoft.com/office/drawing/2014/main" id="{C42E66CE-5469-4B8B-8DFF-51EFCF7AF8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5" y="2509"/>
                <a:ext cx="32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 i="1">
                    <a:solidFill>
                      <a:schemeClr val="bg1"/>
                    </a:solidFill>
                  </a:rPr>
                  <a:t>o</a:t>
                </a:r>
              </a:p>
            </p:txBody>
          </p:sp>
          <p:sp>
            <p:nvSpPr>
              <p:cNvPr id="69650" name="Text Box 40">
                <a:extLst>
                  <a:ext uri="{FF2B5EF4-FFF2-40B4-BE49-F238E27FC236}">
                    <a16:creationId xmlns:a16="http://schemas.microsoft.com/office/drawing/2014/main" id="{C7239B8C-15DB-45E1-ADAE-27E5FE3742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2" y="1942"/>
                <a:ext cx="51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 i="1">
                    <a:solidFill>
                      <a:schemeClr val="bg1"/>
                    </a:solidFill>
                  </a:rPr>
                  <a:t>(</a:t>
                </a:r>
                <a:r>
                  <a:rPr lang="en-US" altLang="zh-CN" sz="2800" b="0" i="1">
                    <a:solidFill>
                      <a:schemeClr val="bg1"/>
                    </a:solidFill>
                  </a:rPr>
                  <a:t>A)</a:t>
                </a:r>
                <a:endParaRPr lang="en-US" altLang="zh-CN" sz="2800">
                  <a:solidFill>
                    <a:schemeClr val="bg1"/>
                  </a:solidFill>
                </a:endParaRPr>
              </a:p>
            </p:txBody>
          </p:sp>
          <p:sp>
            <p:nvSpPr>
              <p:cNvPr id="69651" name="Freeform 41">
                <a:extLst>
                  <a:ext uri="{FF2B5EF4-FFF2-40B4-BE49-F238E27FC236}">
                    <a16:creationId xmlns:a16="http://schemas.microsoft.com/office/drawing/2014/main" id="{09AC7B5C-8FE2-4AF2-810A-AC159A1E8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1410"/>
                <a:ext cx="1300" cy="1173"/>
              </a:xfrm>
              <a:custGeom>
                <a:avLst/>
                <a:gdLst>
                  <a:gd name="T0" fmla="*/ 9 w 1507"/>
                  <a:gd name="T1" fmla="*/ 1125 h 1198"/>
                  <a:gd name="T2" fmla="*/ 100 w 1507"/>
                  <a:gd name="T3" fmla="*/ 1024 h 1198"/>
                  <a:gd name="T4" fmla="*/ 142 w 1507"/>
                  <a:gd name="T5" fmla="*/ 970 h 1198"/>
                  <a:gd name="T6" fmla="*/ 181 w 1507"/>
                  <a:gd name="T7" fmla="*/ 912 h 1198"/>
                  <a:gd name="T8" fmla="*/ 198 w 1507"/>
                  <a:gd name="T9" fmla="*/ 881 h 1198"/>
                  <a:gd name="T10" fmla="*/ 214 w 1507"/>
                  <a:gd name="T11" fmla="*/ 847 h 1198"/>
                  <a:gd name="T12" fmla="*/ 241 w 1507"/>
                  <a:gd name="T13" fmla="*/ 784 h 1198"/>
                  <a:gd name="T14" fmla="*/ 263 w 1507"/>
                  <a:gd name="T15" fmla="*/ 730 h 1198"/>
                  <a:gd name="T16" fmla="*/ 279 w 1507"/>
                  <a:gd name="T17" fmla="*/ 691 h 1198"/>
                  <a:gd name="T18" fmla="*/ 299 w 1507"/>
                  <a:gd name="T19" fmla="*/ 648 h 1198"/>
                  <a:gd name="T20" fmla="*/ 297 w 1507"/>
                  <a:gd name="T21" fmla="*/ 652 h 1198"/>
                  <a:gd name="T22" fmla="*/ 320 w 1507"/>
                  <a:gd name="T23" fmla="*/ 602 h 1198"/>
                  <a:gd name="T24" fmla="*/ 334 w 1507"/>
                  <a:gd name="T25" fmla="*/ 569 h 1198"/>
                  <a:gd name="T26" fmla="*/ 359 w 1507"/>
                  <a:gd name="T27" fmla="*/ 505 h 1198"/>
                  <a:gd name="T28" fmla="*/ 386 w 1507"/>
                  <a:gd name="T29" fmla="*/ 437 h 1198"/>
                  <a:gd name="T30" fmla="*/ 430 w 1507"/>
                  <a:gd name="T31" fmla="*/ 330 h 1198"/>
                  <a:gd name="T32" fmla="*/ 439 w 1507"/>
                  <a:gd name="T33" fmla="*/ 291 h 1198"/>
                  <a:gd name="T34" fmla="*/ 461 w 1507"/>
                  <a:gd name="T35" fmla="*/ 264 h 1198"/>
                  <a:gd name="T36" fmla="*/ 496 w 1507"/>
                  <a:gd name="T37" fmla="*/ 204 h 1198"/>
                  <a:gd name="T38" fmla="*/ 535 w 1507"/>
                  <a:gd name="T39" fmla="*/ 153 h 1198"/>
                  <a:gd name="T40" fmla="*/ 539 w 1507"/>
                  <a:gd name="T41" fmla="*/ 133 h 1198"/>
                  <a:gd name="T42" fmla="*/ 554 w 1507"/>
                  <a:gd name="T43" fmla="*/ 132 h 1198"/>
                  <a:gd name="T44" fmla="*/ 596 w 1507"/>
                  <a:gd name="T45" fmla="*/ 100 h 1198"/>
                  <a:gd name="T46" fmla="*/ 643 w 1507"/>
                  <a:gd name="T47" fmla="*/ 73 h 1198"/>
                  <a:gd name="T48" fmla="*/ 694 w 1507"/>
                  <a:gd name="T49" fmla="*/ 55 h 1198"/>
                  <a:gd name="T50" fmla="*/ 690 w 1507"/>
                  <a:gd name="T51" fmla="*/ 56 h 1198"/>
                  <a:gd name="T52" fmla="*/ 743 w 1507"/>
                  <a:gd name="T53" fmla="*/ 42 h 1198"/>
                  <a:gd name="T54" fmla="*/ 797 w 1507"/>
                  <a:gd name="T55" fmla="*/ 32 h 1198"/>
                  <a:gd name="T56" fmla="*/ 910 w 1507"/>
                  <a:gd name="T57" fmla="*/ 23 h 1198"/>
                  <a:gd name="T58" fmla="*/ 967 w 1507"/>
                  <a:gd name="T59" fmla="*/ 0 h 1198"/>
                  <a:gd name="T60" fmla="*/ 853 w 1507"/>
                  <a:gd name="T61" fmla="*/ 6 h 1198"/>
                  <a:gd name="T62" fmla="*/ 769 w 1507"/>
                  <a:gd name="T63" fmla="*/ 16 h 1198"/>
                  <a:gd name="T64" fmla="*/ 716 w 1507"/>
                  <a:gd name="T65" fmla="*/ 24 h 1198"/>
                  <a:gd name="T66" fmla="*/ 688 w 1507"/>
                  <a:gd name="T67" fmla="*/ 33 h 1198"/>
                  <a:gd name="T68" fmla="*/ 637 w 1507"/>
                  <a:gd name="T69" fmla="*/ 54 h 1198"/>
                  <a:gd name="T70" fmla="*/ 590 w 1507"/>
                  <a:gd name="T71" fmla="*/ 78 h 1198"/>
                  <a:gd name="T72" fmla="*/ 545 w 1507"/>
                  <a:gd name="T73" fmla="*/ 114 h 1198"/>
                  <a:gd name="T74" fmla="*/ 534 w 1507"/>
                  <a:gd name="T75" fmla="*/ 124 h 1198"/>
                  <a:gd name="T76" fmla="*/ 504 w 1507"/>
                  <a:gd name="T77" fmla="*/ 161 h 1198"/>
                  <a:gd name="T78" fmla="*/ 468 w 1507"/>
                  <a:gd name="T79" fmla="*/ 216 h 1198"/>
                  <a:gd name="T80" fmla="*/ 433 w 1507"/>
                  <a:gd name="T81" fmla="*/ 283 h 1198"/>
                  <a:gd name="T82" fmla="*/ 416 w 1507"/>
                  <a:gd name="T83" fmla="*/ 321 h 1198"/>
                  <a:gd name="T84" fmla="*/ 371 w 1507"/>
                  <a:gd name="T85" fmla="*/ 428 h 1198"/>
                  <a:gd name="T86" fmla="*/ 344 w 1507"/>
                  <a:gd name="T87" fmla="*/ 496 h 1198"/>
                  <a:gd name="T88" fmla="*/ 320 w 1507"/>
                  <a:gd name="T89" fmla="*/ 561 h 1198"/>
                  <a:gd name="T90" fmla="*/ 315 w 1507"/>
                  <a:gd name="T91" fmla="*/ 593 h 1198"/>
                  <a:gd name="T92" fmla="*/ 297 w 1507"/>
                  <a:gd name="T93" fmla="*/ 614 h 1198"/>
                  <a:gd name="T94" fmla="*/ 297 w 1507"/>
                  <a:gd name="T95" fmla="*/ 613 h 1198"/>
                  <a:gd name="T96" fmla="*/ 285 w 1507"/>
                  <a:gd name="T97" fmla="*/ 639 h 1198"/>
                  <a:gd name="T98" fmla="*/ 265 w 1507"/>
                  <a:gd name="T99" fmla="*/ 682 h 1198"/>
                  <a:gd name="T100" fmla="*/ 249 w 1507"/>
                  <a:gd name="T101" fmla="*/ 722 h 1198"/>
                  <a:gd name="T102" fmla="*/ 227 w 1507"/>
                  <a:gd name="T103" fmla="*/ 775 h 1198"/>
                  <a:gd name="T104" fmla="*/ 200 w 1507"/>
                  <a:gd name="T105" fmla="*/ 838 h 1198"/>
                  <a:gd name="T106" fmla="*/ 203 w 1507"/>
                  <a:gd name="T107" fmla="*/ 834 h 1198"/>
                  <a:gd name="T108" fmla="*/ 179 w 1507"/>
                  <a:gd name="T109" fmla="*/ 880 h 1198"/>
                  <a:gd name="T110" fmla="*/ 151 w 1507"/>
                  <a:gd name="T111" fmla="*/ 926 h 1198"/>
                  <a:gd name="T112" fmla="*/ 110 w 1507"/>
                  <a:gd name="T113" fmla="*/ 982 h 1198"/>
                  <a:gd name="T114" fmla="*/ 45 w 1507"/>
                  <a:gd name="T115" fmla="*/ 1058 h 1198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1507" h="1198">
                    <a:moveTo>
                      <a:pt x="0" y="1179"/>
                    </a:moveTo>
                    <a:lnTo>
                      <a:pt x="14" y="1198"/>
                    </a:lnTo>
                    <a:lnTo>
                      <a:pt x="86" y="1145"/>
                    </a:lnTo>
                    <a:lnTo>
                      <a:pt x="155" y="1091"/>
                    </a:lnTo>
                    <a:lnTo>
                      <a:pt x="188" y="1063"/>
                    </a:lnTo>
                    <a:lnTo>
                      <a:pt x="221" y="1034"/>
                    </a:lnTo>
                    <a:lnTo>
                      <a:pt x="252" y="1004"/>
                    </a:lnTo>
                    <a:lnTo>
                      <a:pt x="282" y="971"/>
                    </a:lnTo>
                    <a:lnTo>
                      <a:pt x="296" y="955"/>
                    </a:lnTo>
                    <a:lnTo>
                      <a:pt x="308" y="939"/>
                    </a:lnTo>
                    <a:lnTo>
                      <a:pt x="332" y="906"/>
                    </a:lnTo>
                    <a:lnTo>
                      <a:pt x="334" y="902"/>
                    </a:lnTo>
                    <a:lnTo>
                      <a:pt x="356" y="869"/>
                    </a:lnTo>
                    <a:lnTo>
                      <a:pt x="376" y="835"/>
                    </a:lnTo>
                    <a:lnTo>
                      <a:pt x="398" y="798"/>
                    </a:lnTo>
                    <a:lnTo>
                      <a:pt x="410" y="778"/>
                    </a:lnTo>
                    <a:lnTo>
                      <a:pt x="422" y="758"/>
                    </a:lnTo>
                    <a:lnTo>
                      <a:pt x="435" y="736"/>
                    </a:lnTo>
                    <a:lnTo>
                      <a:pt x="450" y="714"/>
                    </a:lnTo>
                    <a:lnTo>
                      <a:pt x="466" y="690"/>
                    </a:lnTo>
                    <a:lnTo>
                      <a:pt x="455" y="685"/>
                    </a:lnTo>
                    <a:lnTo>
                      <a:pt x="463" y="694"/>
                    </a:lnTo>
                    <a:lnTo>
                      <a:pt x="482" y="667"/>
                    </a:lnTo>
                    <a:lnTo>
                      <a:pt x="499" y="641"/>
                    </a:lnTo>
                    <a:lnTo>
                      <a:pt x="501" y="637"/>
                    </a:lnTo>
                    <a:lnTo>
                      <a:pt x="520" y="606"/>
                    </a:lnTo>
                    <a:lnTo>
                      <a:pt x="539" y="573"/>
                    </a:lnTo>
                    <a:lnTo>
                      <a:pt x="559" y="538"/>
                    </a:lnTo>
                    <a:lnTo>
                      <a:pt x="580" y="502"/>
                    </a:lnTo>
                    <a:lnTo>
                      <a:pt x="601" y="465"/>
                    </a:lnTo>
                    <a:lnTo>
                      <a:pt x="646" y="388"/>
                    </a:lnTo>
                    <a:lnTo>
                      <a:pt x="670" y="351"/>
                    </a:lnTo>
                    <a:lnTo>
                      <a:pt x="695" y="314"/>
                    </a:lnTo>
                    <a:lnTo>
                      <a:pt x="684" y="309"/>
                    </a:lnTo>
                    <a:lnTo>
                      <a:pt x="692" y="318"/>
                    </a:lnTo>
                    <a:lnTo>
                      <a:pt x="718" y="282"/>
                    </a:lnTo>
                    <a:lnTo>
                      <a:pt x="745" y="248"/>
                    </a:lnTo>
                    <a:lnTo>
                      <a:pt x="773" y="217"/>
                    </a:lnTo>
                    <a:lnTo>
                      <a:pt x="802" y="188"/>
                    </a:lnTo>
                    <a:lnTo>
                      <a:pt x="833" y="162"/>
                    </a:lnTo>
                    <a:lnTo>
                      <a:pt x="848" y="150"/>
                    </a:lnTo>
                    <a:lnTo>
                      <a:pt x="840" y="142"/>
                    </a:lnTo>
                    <a:lnTo>
                      <a:pt x="844" y="153"/>
                    </a:lnTo>
                    <a:lnTo>
                      <a:pt x="862" y="141"/>
                    </a:lnTo>
                    <a:lnTo>
                      <a:pt x="894" y="123"/>
                    </a:lnTo>
                    <a:lnTo>
                      <a:pt x="928" y="106"/>
                    </a:lnTo>
                    <a:lnTo>
                      <a:pt x="964" y="91"/>
                    </a:lnTo>
                    <a:lnTo>
                      <a:pt x="1002" y="79"/>
                    </a:lnTo>
                    <a:lnTo>
                      <a:pt x="1040" y="68"/>
                    </a:lnTo>
                    <a:lnTo>
                      <a:pt x="1080" y="58"/>
                    </a:lnTo>
                    <a:lnTo>
                      <a:pt x="1075" y="47"/>
                    </a:lnTo>
                    <a:lnTo>
                      <a:pt x="1075" y="59"/>
                    </a:lnTo>
                    <a:lnTo>
                      <a:pt x="1115" y="51"/>
                    </a:lnTo>
                    <a:lnTo>
                      <a:pt x="1157" y="45"/>
                    </a:lnTo>
                    <a:lnTo>
                      <a:pt x="1199" y="40"/>
                    </a:lnTo>
                    <a:lnTo>
                      <a:pt x="1242" y="35"/>
                    </a:lnTo>
                    <a:lnTo>
                      <a:pt x="1329" y="30"/>
                    </a:lnTo>
                    <a:lnTo>
                      <a:pt x="1418" y="26"/>
                    </a:lnTo>
                    <a:lnTo>
                      <a:pt x="1507" y="24"/>
                    </a:lnTo>
                    <a:lnTo>
                      <a:pt x="1507" y="0"/>
                    </a:lnTo>
                    <a:lnTo>
                      <a:pt x="1418" y="2"/>
                    </a:lnTo>
                    <a:lnTo>
                      <a:pt x="1329" y="6"/>
                    </a:lnTo>
                    <a:lnTo>
                      <a:pt x="1242" y="11"/>
                    </a:lnTo>
                    <a:lnTo>
                      <a:pt x="1199" y="16"/>
                    </a:lnTo>
                    <a:lnTo>
                      <a:pt x="1157" y="21"/>
                    </a:lnTo>
                    <a:lnTo>
                      <a:pt x="1115" y="27"/>
                    </a:lnTo>
                    <a:lnTo>
                      <a:pt x="1075" y="35"/>
                    </a:lnTo>
                    <a:lnTo>
                      <a:pt x="1071" y="36"/>
                    </a:lnTo>
                    <a:lnTo>
                      <a:pt x="1031" y="46"/>
                    </a:lnTo>
                    <a:lnTo>
                      <a:pt x="993" y="57"/>
                    </a:lnTo>
                    <a:lnTo>
                      <a:pt x="955" y="69"/>
                    </a:lnTo>
                    <a:lnTo>
                      <a:pt x="919" y="84"/>
                    </a:lnTo>
                    <a:lnTo>
                      <a:pt x="885" y="101"/>
                    </a:lnTo>
                    <a:lnTo>
                      <a:pt x="850" y="121"/>
                    </a:lnTo>
                    <a:lnTo>
                      <a:pt x="835" y="131"/>
                    </a:lnTo>
                    <a:lnTo>
                      <a:pt x="831" y="133"/>
                    </a:lnTo>
                    <a:lnTo>
                      <a:pt x="816" y="145"/>
                    </a:lnTo>
                    <a:lnTo>
                      <a:pt x="785" y="171"/>
                    </a:lnTo>
                    <a:lnTo>
                      <a:pt x="756" y="200"/>
                    </a:lnTo>
                    <a:lnTo>
                      <a:pt x="728" y="231"/>
                    </a:lnTo>
                    <a:lnTo>
                      <a:pt x="701" y="265"/>
                    </a:lnTo>
                    <a:lnTo>
                      <a:pt x="675" y="301"/>
                    </a:lnTo>
                    <a:lnTo>
                      <a:pt x="673" y="305"/>
                    </a:lnTo>
                    <a:lnTo>
                      <a:pt x="648" y="342"/>
                    </a:lnTo>
                    <a:lnTo>
                      <a:pt x="624" y="379"/>
                    </a:lnTo>
                    <a:lnTo>
                      <a:pt x="579" y="456"/>
                    </a:lnTo>
                    <a:lnTo>
                      <a:pt x="558" y="493"/>
                    </a:lnTo>
                    <a:lnTo>
                      <a:pt x="537" y="529"/>
                    </a:lnTo>
                    <a:lnTo>
                      <a:pt x="517" y="564"/>
                    </a:lnTo>
                    <a:lnTo>
                      <a:pt x="498" y="597"/>
                    </a:lnTo>
                    <a:lnTo>
                      <a:pt x="479" y="628"/>
                    </a:lnTo>
                    <a:lnTo>
                      <a:pt x="490" y="632"/>
                    </a:lnTo>
                    <a:lnTo>
                      <a:pt x="482" y="624"/>
                    </a:lnTo>
                    <a:lnTo>
                      <a:pt x="463" y="654"/>
                    </a:lnTo>
                    <a:lnTo>
                      <a:pt x="472" y="660"/>
                    </a:lnTo>
                    <a:lnTo>
                      <a:pt x="463" y="653"/>
                    </a:lnTo>
                    <a:lnTo>
                      <a:pt x="446" y="677"/>
                    </a:lnTo>
                    <a:lnTo>
                      <a:pt x="444" y="681"/>
                    </a:lnTo>
                    <a:lnTo>
                      <a:pt x="428" y="705"/>
                    </a:lnTo>
                    <a:lnTo>
                      <a:pt x="413" y="727"/>
                    </a:lnTo>
                    <a:lnTo>
                      <a:pt x="400" y="749"/>
                    </a:lnTo>
                    <a:lnTo>
                      <a:pt x="388" y="769"/>
                    </a:lnTo>
                    <a:lnTo>
                      <a:pt x="376" y="789"/>
                    </a:lnTo>
                    <a:lnTo>
                      <a:pt x="354" y="826"/>
                    </a:lnTo>
                    <a:lnTo>
                      <a:pt x="334" y="860"/>
                    </a:lnTo>
                    <a:lnTo>
                      <a:pt x="312" y="893"/>
                    </a:lnTo>
                    <a:lnTo>
                      <a:pt x="323" y="898"/>
                    </a:lnTo>
                    <a:lnTo>
                      <a:pt x="315" y="889"/>
                    </a:lnTo>
                    <a:lnTo>
                      <a:pt x="291" y="922"/>
                    </a:lnTo>
                    <a:lnTo>
                      <a:pt x="279" y="938"/>
                    </a:lnTo>
                    <a:lnTo>
                      <a:pt x="264" y="955"/>
                    </a:lnTo>
                    <a:lnTo>
                      <a:pt x="235" y="987"/>
                    </a:lnTo>
                    <a:lnTo>
                      <a:pt x="204" y="1017"/>
                    </a:lnTo>
                    <a:lnTo>
                      <a:pt x="171" y="1046"/>
                    </a:lnTo>
                    <a:lnTo>
                      <a:pt x="138" y="1074"/>
                    </a:lnTo>
                    <a:lnTo>
                      <a:pt x="69" y="1128"/>
                    </a:lnTo>
                    <a:lnTo>
                      <a:pt x="0" y="1179"/>
                    </a:lnTo>
                    <a:close/>
                  </a:path>
                </a:pathLst>
              </a:cu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52" name="Freeform 42">
                <a:extLst>
                  <a:ext uri="{FF2B5EF4-FFF2-40B4-BE49-F238E27FC236}">
                    <a16:creationId xmlns:a16="http://schemas.microsoft.com/office/drawing/2014/main" id="{3E5342D2-0332-46BF-9C61-9EFC7FFD4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5" y="1726"/>
                <a:ext cx="1262" cy="845"/>
              </a:xfrm>
              <a:custGeom>
                <a:avLst/>
                <a:gdLst>
                  <a:gd name="T0" fmla="*/ 0 w 1262"/>
                  <a:gd name="T1" fmla="*/ 924 h 808"/>
                  <a:gd name="T2" fmla="*/ 245 w 1262"/>
                  <a:gd name="T3" fmla="*/ 756 h 808"/>
                  <a:gd name="T4" fmla="*/ 417 w 1262"/>
                  <a:gd name="T5" fmla="*/ 492 h 808"/>
                  <a:gd name="T6" fmla="*/ 625 w 1262"/>
                  <a:gd name="T7" fmla="*/ 210 h 808"/>
                  <a:gd name="T8" fmla="*/ 723 w 1262"/>
                  <a:gd name="T9" fmla="*/ 98 h 808"/>
                  <a:gd name="T10" fmla="*/ 980 w 1262"/>
                  <a:gd name="T11" fmla="*/ 28 h 808"/>
                  <a:gd name="T12" fmla="*/ 1262 w 1262"/>
                  <a:gd name="T13" fmla="*/ 0 h 8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62" h="808">
                    <a:moveTo>
                      <a:pt x="0" y="808"/>
                    </a:moveTo>
                    <a:cubicBezTo>
                      <a:pt x="87" y="766"/>
                      <a:pt x="175" y="724"/>
                      <a:pt x="245" y="661"/>
                    </a:cubicBezTo>
                    <a:cubicBezTo>
                      <a:pt x="315" y="598"/>
                      <a:pt x="354" y="508"/>
                      <a:pt x="417" y="429"/>
                    </a:cubicBezTo>
                    <a:cubicBezTo>
                      <a:pt x="480" y="350"/>
                      <a:pt x="574" y="241"/>
                      <a:pt x="625" y="184"/>
                    </a:cubicBezTo>
                    <a:cubicBezTo>
                      <a:pt x="676" y="127"/>
                      <a:pt x="664" y="113"/>
                      <a:pt x="723" y="86"/>
                    </a:cubicBezTo>
                    <a:cubicBezTo>
                      <a:pt x="782" y="59"/>
                      <a:pt x="890" y="39"/>
                      <a:pt x="980" y="25"/>
                    </a:cubicBezTo>
                    <a:cubicBezTo>
                      <a:pt x="1070" y="11"/>
                      <a:pt x="1166" y="5"/>
                      <a:pt x="1262" y="0"/>
                    </a:cubicBezTo>
                  </a:path>
                </a:pathLst>
              </a:custGeom>
              <a:noFill/>
              <a:ln w="38100">
                <a:solidFill>
                  <a:srgbClr val="66FF33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9635" name="Text Box 43">
            <a:extLst>
              <a:ext uri="{FF2B5EF4-FFF2-40B4-BE49-F238E27FC236}">
                <a16:creationId xmlns:a16="http://schemas.microsoft.com/office/drawing/2014/main" id="{6E7FEB5E-EAC7-4545-8128-28B31B27D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861004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FF00"/>
                </a:solidFill>
              </a:rPr>
              <a:t>    </a:t>
            </a:r>
            <a:r>
              <a:rPr lang="zh-CN" altLang="en-US" sz="2400" dirty="0">
                <a:solidFill>
                  <a:srgbClr val="00FF00"/>
                </a:solidFill>
              </a:rPr>
              <a:t>例</a:t>
            </a:r>
            <a:r>
              <a:rPr lang="en-US" altLang="zh-CN" sz="2400" dirty="0">
                <a:solidFill>
                  <a:srgbClr val="00FF00"/>
                </a:solidFill>
              </a:rPr>
              <a:t>1.</a:t>
            </a:r>
            <a:r>
              <a:rPr lang="en-US" altLang="zh-CN" sz="2400" dirty="0">
                <a:solidFill>
                  <a:schemeClr val="bg1"/>
                </a:solidFill>
              </a:rPr>
              <a:t>  </a:t>
            </a:r>
            <a:r>
              <a:rPr lang="zh-CN" altLang="en-US" sz="2400" dirty="0">
                <a:solidFill>
                  <a:schemeClr val="bg1"/>
                </a:solidFill>
              </a:rPr>
              <a:t>以一定频率的单色光照射在某种金属上，测出其光电流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的曲线如图中实线所示，然后在</a:t>
            </a:r>
            <a:r>
              <a:rPr lang="zh-CN" altLang="en-US" sz="2400" dirty="0">
                <a:solidFill>
                  <a:srgbClr val="00FF00"/>
                </a:solidFill>
              </a:rPr>
              <a:t>光强不变</a:t>
            </a:r>
            <a:r>
              <a:rPr lang="zh-CN" altLang="en-US" sz="2400" dirty="0">
                <a:solidFill>
                  <a:schemeClr val="bg1"/>
                </a:solidFill>
              </a:rPr>
              <a:t>的条件下</a:t>
            </a:r>
            <a:r>
              <a:rPr lang="zh-CN" altLang="en-US" sz="2400" dirty="0">
                <a:solidFill>
                  <a:srgbClr val="00FF00"/>
                </a:solidFill>
              </a:rPr>
              <a:t>增大照射光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FF00"/>
                </a:solidFill>
              </a:rPr>
              <a:t>的频率</a:t>
            </a:r>
            <a:r>
              <a:rPr lang="zh-CN" altLang="en-US" sz="2400" dirty="0">
                <a:solidFill>
                  <a:schemeClr val="bg1"/>
                </a:solidFill>
              </a:rPr>
              <a:t>，测出其光电流的曲线如图中虚线所示。满足题意的图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是：</a:t>
            </a:r>
          </a:p>
        </p:txBody>
      </p:sp>
      <p:sp>
        <p:nvSpPr>
          <p:cNvPr id="985132" name="Text Box 44">
            <a:extLst>
              <a:ext uri="{FF2B5EF4-FFF2-40B4-BE49-F238E27FC236}">
                <a16:creationId xmlns:a16="http://schemas.microsoft.com/office/drawing/2014/main" id="{7CBF8165-9FE8-4DC9-A0D6-639A64642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87692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FFFF"/>
                </a:solidFill>
              </a:rPr>
              <a:t>解：</a:t>
            </a:r>
          </a:p>
        </p:txBody>
      </p:sp>
      <p:graphicFrame>
        <p:nvGraphicFramePr>
          <p:cNvPr id="985133" name="Object 45">
            <a:extLst>
              <a:ext uri="{FF2B5EF4-FFF2-40B4-BE49-F238E27FC236}">
                <a16:creationId xmlns:a16="http://schemas.microsoft.com/office/drawing/2014/main" id="{4E8094B3-9010-429C-9E9C-6C0E261B9841}"/>
              </a:ext>
            </a:extLst>
          </p:cNvPr>
          <p:cNvGraphicFramePr>
            <a:graphicFrameLocks/>
          </p:cNvGraphicFramePr>
          <p:nvPr/>
        </p:nvGraphicFramePr>
        <p:xfrm>
          <a:off x="1187450" y="5862638"/>
          <a:ext cx="76946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95" r:id="rId3" imgW="3714788" imgH="199923" progId="Equation.3">
                  <p:embed/>
                </p:oleObj>
              </mc:Choice>
              <mc:Fallback>
                <p:oleObj r:id="rId3" imgW="3714788" imgH="199923" progId="Equation.3">
                  <p:embed/>
                  <p:pic>
                    <p:nvPicPr>
                      <p:cNvPr id="0" name="Object 4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862638"/>
                        <a:ext cx="769461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134" name="Text Box 46">
            <a:extLst>
              <a:ext uri="{FF2B5EF4-FFF2-40B4-BE49-F238E27FC236}">
                <a16:creationId xmlns:a16="http://schemas.microsoft.com/office/drawing/2014/main" id="{87CE790D-43EF-4556-A600-4DBE98248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3475" y="6332538"/>
            <a:ext cx="4573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FF00"/>
                </a:solidFill>
              </a:rPr>
              <a:t>2)  </a:t>
            </a:r>
            <a:r>
              <a:rPr lang="zh-CN" altLang="en-US" sz="2400">
                <a:solidFill>
                  <a:srgbClr val="FFFF00"/>
                </a:solidFill>
              </a:rPr>
              <a:t>截至电压与频率成线性关系。</a:t>
            </a:r>
          </a:p>
        </p:txBody>
      </p:sp>
      <p:sp>
        <p:nvSpPr>
          <p:cNvPr id="985135" name="Text Box 47">
            <a:extLst>
              <a:ext uri="{FF2B5EF4-FFF2-40B4-BE49-F238E27FC236}">
                <a16:creationId xmlns:a16="http://schemas.microsoft.com/office/drawing/2014/main" id="{24AF484C-D301-485E-9520-CE55C4835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6381750"/>
            <a:ext cx="1522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答案：</a:t>
            </a:r>
            <a:r>
              <a:rPr lang="en-US" altLang="zh-CN" sz="2400">
                <a:solidFill>
                  <a:srgbClr val="FFFF00"/>
                </a:solidFill>
              </a:rPr>
              <a:t>(D)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503004F-9761-47F1-9A7F-7EA8BF83C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154781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dirty="0">
                <a:ea typeface="黑体" panose="02010609060101010101" pitchFamily="49" charset="-122"/>
              </a:rPr>
              <a:t>光强：单位时间光射到单位面积上的能量</a:t>
            </a:r>
            <a:endParaRPr lang="zh-CN" altLang="en-US" sz="2400" dirty="0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98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98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5132" grpId="0"/>
      <p:bldP spid="985134" grpId="0"/>
      <p:bldP spid="985135" grpId="0"/>
      <p:bldP spid="4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66">
            <a:alpha val="5019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3">
            <a:extLst>
              <a:ext uri="{FF2B5EF4-FFF2-40B4-BE49-F238E27FC236}">
                <a16:creationId xmlns:a16="http://schemas.microsoft.com/office/drawing/2014/main" id="{9D33BADD-9E8B-4F91-9FCE-0AEB546B64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9E0244-9AFA-4C65-AD3B-CD232D79F6C1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zh-CN" altLang="zh-CN" sz="1400"/>
          </a:p>
        </p:txBody>
      </p:sp>
      <p:grpSp>
        <p:nvGrpSpPr>
          <p:cNvPr id="70659" name="Group 2">
            <a:extLst>
              <a:ext uri="{FF2B5EF4-FFF2-40B4-BE49-F238E27FC236}">
                <a16:creationId xmlns:a16="http://schemas.microsoft.com/office/drawing/2014/main" id="{1619A843-EC46-4B19-8D03-F604524B6A8F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1196975"/>
            <a:ext cx="2832100" cy="2420938"/>
            <a:chOff x="3276" y="164"/>
            <a:chExt cx="1784" cy="1525"/>
          </a:xfrm>
        </p:grpSpPr>
        <p:sp>
          <p:nvSpPr>
            <p:cNvPr id="70694" name="Line 3">
              <a:extLst>
                <a:ext uri="{FF2B5EF4-FFF2-40B4-BE49-F238E27FC236}">
                  <a16:creationId xmlns:a16="http://schemas.microsoft.com/office/drawing/2014/main" id="{A7B220E9-9AF5-479A-8111-BF881D2AF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4" y="1390"/>
              <a:ext cx="1545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5" name="Line 4">
              <a:extLst>
                <a:ext uri="{FF2B5EF4-FFF2-40B4-BE49-F238E27FC236}">
                  <a16:creationId xmlns:a16="http://schemas.microsoft.com/office/drawing/2014/main" id="{29FF6B52-B99C-43F6-96A5-2222BCF467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2" y="214"/>
              <a:ext cx="0" cy="117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6" name="Freeform 5">
              <a:extLst>
                <a:ext uri="{FF2B5EF4-FFF2-40B4-BE49-F238E27FC236}">
                  <a16:creationId xmlns:a16="http://schemas.microsoft.com/office/drawing/2014/main" id="{9F10B52A-207B-43A7-BAF9-9A83CB585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55"/>
              <a:ext cx="1398" cy="1128"/>
            </a:xfrm>
            <a:custGeom>
              <a:avLst/>
              <a:gdLst>
                <a:gd name="T0" fmla="*/ 0 w 1256"/>
                <a:gd name="T1" fmla="*/ 1471 h 988"/>
                <a:gd name="T2" fmla="*/ 307 w 1256"/>
                <a:gd name="T3" fmla="*/ 1189 h 988"/>
                <a:gd name="T4" fmla="*/ 536 w 1256"/>
                <a:gd name="T5" fmla="*/ 809 h 988"/>
                <a:gd name="T6" fmla="*/ 979 w 1256"/>
                <a:gd name="T7" fmla="*/ 148 h 988"/>
                <a:gd name="T8" fmla="*/ 1732 w 1256"/>
                <a:gd name="T9" fmla="*/ 0 h 9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56" h="988">
                  <a:moveTo>
                    <a:pt x="0" y="988"/>
                  </a:moveTo>
                  <a:cubicBezTo>
                    <a:pt x="79" y="930"/>
                    <a:pt x="158" y="873"/>
                    <a:pt x="223" y="799"/>
                  </a:cubicBezTo>
                  <a:cubicBezTo>
                    <a:pt x="288" y="725"/>
                    <a:pt x="308" y="660"/>
                    <a:pt x="389" y="544"/>
                  </a:cubicBezTo>
                  <a:cubicBezTo>
                    <a:pt x="470" y="428"/>
                    <a:pt x="566" y="191"/>
                    <a:pt x="711" y="100"/>
                  </a:cubicBezTo>
                  <a:cubicBezTo>
                    <a:pt x="856" y="9"/>
                    <a:pt x="1056" y="4"/>
                    <a:pt x="1256" y="0"/>
                  </a:cubicBezTo>
                </a:path>
              </a:pathLst>
            </a:custGeom>
            <a:noFill/>
            <a:ln w="38100">
              <a:solidFill>
                <a:srgbClr val="00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7" name="Freeform 6">
              <a:extLst>
                <a:ext uri="{FF2B5EF4-FFF2-40B4-BE49-F238E27FC236}">
                  <a16:creationId xmlns:a16="http://schemas.microsoft.com/office/drawing/2014/main" id="{DDB71C93-7232-4378-A395-53E976437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0" y="358"/>
              <a:ext cx="1227" cy="1029"/>
            </a:xfrm>
            <a:custGeom>
              <a:avLst/>
              <a:gdLst>
                <a:gd name="T0" fmla="*/ 0 w 1256"/>
                <a:gd name="T1" fmla="*/ 1116 h 988"/>
                <a:gd name="T2" fmla="*/ 208 w 1256"/>
                <a:gd name="T3" fmla="*/ 903 h 988"/>
                <a:gd name="T4" fmla="*/ 362 w 1256"/>
                <a:gd name="T5" fmla="*/ 616 h 988"/>
                <a:gd name="T6" fmla="*/ 663 w 1256"/>
                <a:gd name="T7" fmla="*/ 112 h 988"/>
                <a:gd name="T8" fmla="*/ 1171 w 1256"/>
                <a:gd name="T9" fmla="*/ 0 h 9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56" h="988">
                  <a:moveTo>
                    <a:pt x="0" y="988"/>
                  </a:moveTo>
                  <a:cubicBezTo>
                    <a:pt x="79" y="930"/>
                    <a:pt x="158" y="873"/>
                    <a:pt x="223" y="799"/>
                  </a:cubicBezTo>
                  <a:cubicBezTo>
                    <a:pt x="288" y="725"/>
                    <a:pt x="308" y="660"/>
                    <a:pt x="389" y="544"/>
                  </a:cubicBezTo>
                  <a:cubicBezTo>
                    <a:pt x="470" y="428"/>
                    <a:pt x="566" y="191"/>
                    <a:pt x="711" y="100"/>
                  </a:cubicBezTo>
                  <a:cubicBezTo>
                    <a:pt x="856" y="9"/>
                    <a:pt x="1056" y="4"/>
                    <a:pt x="1256" y="0"/>
                  </a:cubicBez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8" name="Text Box 7">
              <a:extLst>
                <a:ext uri="{FF2B5EF4-FFF2-40B4-BE49-F238E27FC236}">
                  <a16:creationId xmlns:a16="http://schemas.microsoft.com/office/drawing/2014/main" id="{D9A5B0C7-774C-4873-A562-5535F627B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" y="1401"/>
              <a:ext cx="4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70699" name="Text Box 8">
              <a:extLst>
                <a:ext uri="{FF2B5EF4-FFF2-40B4-BE49-F238E27FC236}">
                  <a16:creationId xmlns:a16="http://schemas.microsoft.com/office/drawing/2014/main" id="{599B982C-FE12-4D8F-BB17-D29DB9382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4" y="164"/>
              <a:ext cx="2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chemeClr val="bg1"/>
                  </a:solidFill>
                </a:rPr>
                <a:t>i</a:t>
              </a:r>
            </a:p>
          </p:txBody>
        </p:sp>
        <p:sp>
          <p:nvSpPr>
            <p:cNvPr id="70700" name="Text Box 9">
              <a:extLst>
                <a:ext uri="{FF2B5EF4-FFF2-40B4-BE49-F238E27FC236}">
                  <a16:creationId xmlns:a16="http://schemas.microsoft.com/office/drawing/2014/main" id="{E14832D5-8216-4745-9967-CC23AC0C2C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" y="1324"/>
              <a:ext cx="3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i="1">
                  <a:solidFill>
                    <a:schemeClr val="bg1"/>
                  </a:solidFill>
                </a:rPr>
                <a:t>o</a:t>
              </a:r>
            </a:p>
          </p:txBody>
        </p:sp>
        <p:sp>
          <p:nvSpPr>
            <p:cNvPr id="70701" name="Text Box 10">
              <a:extLst>
                <a:ext uri="{FF2B5EF4-FFF2-40B4-BE49-F238E27FC236}">
                  <a16:creationId xmlns:a16="http://schemas.microsoft.com/office/drawing/2014/main" id="{AD821FBC-0FA7-4081-ACD8-DD550EF7B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" y="800"/>
              <a:ext cx="51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 i="1">
                  <a:solidFill>
                    <a:schemeClr val="bg1"/>
                  </a:solidFill>
                </a:rPr>
                <a:t>(</a:t>
              </a:r>
              <a:r>
                <a:rPr lang="en-US" altLang="zh-CN" sz="2800" b="0" i="1">
                  <a:solidFill>
                    <a:schemeClr val="bg1"/>
                  </a:solidFill>
                </a:rPr>
                <a:t>A)</a:t>
              </a:r>
              <a:endParaRPr lang="en-US" altLang="zh-CN" sz="2800">
                <a:solidFill>
                  <a:schemeClr val="bg1"/>
                </a:solidFill>
              </a:endParaRPr>
            </a:p>
          </p:txBody>
        </p:sp>
      </p:grpSp>
      <p:grpSp>
        <p:nvGrpSpPr>
          <p:cNvPr id="70660" name="Group 11">
            <a:extLst>
              <a:ext uri="{FF2B5EF4-FFF2-40B4-BE49-F238E27FC236}">
                <a16:creationId xmlns:a16="http://schemas.microsoft.com/office/drawing/2014/main" id="{64BD8969-D025-4848-863D-7945FA7F57FA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3529013"/>
            <a:ext cx="2892425" cy="2420937"/>
            <a:chOff x="3786" y="1314"/>
            <a:chExt cx="1822" cy="1525"/>
          </a:xfrm>
        </p:grpSpPr>
        <p:grpSp>
          <p:nvGrpSpPr>
            <p:cNvPr id="70685" name="Group 12">
              <a:extLst>
                <a:ext uri="{FF2B5EF4-FFF2-40B4-BE49-F238E27FC236}">
                  <a16:creationId xmlns:a16="http://schemas.microsoft.com/office/drawing/2014/main" id="{99C8E8AD-FA9B-4480-9530-2724823DFA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2" y="1314"/>
              <a:ext cx="1726" cy="1525"/>
              <a:chOff x="3860" y="1512"/>
              <a:chExt cx="1726" cy="1525"/>
            </a:xfrm>
          </p:grpSpPr>
          <p:sp>
            <p:nvSpPr>
              <p:cNvPr id="70687" name="Line 13">
                <a:extLst>
                  <a:ext uri="{FF2B5EF4-FFF2-40B4-BE49-F238E27FC236}">
                    <a16:creationId xmlns:a16="http://schemas.microsoft.com/office/drawing/2014/main" id="{FC63A3D4-24A2-4DED-9610-9511EB2093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60" y="2738"/>
                <a:ext cx="1545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88" name="Line 14">
                <a:extLst>
                  <a:ext uri="{FF2B5EF4-FFF2-40B4-BE49-F238E27FC236}">
                    <a16:creationId xmlns:a16="http://schemas.microsoft.com/office/drawing/2014/main" id="{4138551B-2358-466F-AC3B-3F701C5161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68" y="1562"/>
                <a:ext cx="0" cy="1176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89" name="Freeform 15">
                <a:extLst>
                  <a:ext uri="{FF2B5EF4-FFF2-40B4-BE49-F238E27FC236}">
                    <a16:creationId xmlns:a16="http://schemas.microsoft.com/office/drawing/2014/main" id="{19C713A8-435B-40BD-BBCA-4BA3B39D4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1721"/>
                <a:ext cx="1031" cy="1017"/>
              </a:xfrm>
              <a:custGeom>
                <a:avLst/>
                <a:gdLst>
                  <a:gd name="T0" fmla="*/ 0 w 1256"/>
                  <a:gd name="T1" fmla="*/ 1078 h 988"/>
                  <a:gd name="T2" fmla="*/ 123 w 1256"/>
                  <a:gd name="T3" fmla="*/ 871 h 988"/>
                  <a:gd name="T4" fmla="*/ 215 w 1256"/>
                  <a:gd name="T5" fmla="*/ 593 h 988"/>
                  <a:gd name="T6" fmla="*/ 393 w 1256"/>
                  <a:gd name="T7" fmla="*/ 109 h 988"/>
                  <a:gd name="T8" fmla="*/ 694 w 1256"/>
                  <a:gd name="T9" fmla="*/ 0 h 9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56" h="988">
                    <a:moveTo>
                      <a:pt x="0" y="988"/>
                    </a:moveTo>
                    <a:cubicBezTo>
                      <a:pt x="79" y="930"/>
                      <a:pt x="158" y="873"/>
                      <a:pt x="223" y="799"/>
                    </a:cubicBezTo>
                    <a:cubicBezTo>
                      <a:pt x="288" y="725"/>
                      <a:pt x="308" y="660"/>
                      <a:pt x="389" y="544"/>
                    </a:cubicBezTo>
                    <a:cubicBezTo>
                      <a:pt x="470" y="428"/>
                      <a:pt x="566" y="191"/>
                      <a:pt x="711" y="100"/>
                    </a:cubicBezTo>
                    <a:cubicBezTo>
                      <a:pt x="856" y="9"/>
                      <a:pt x="1056" y="4"/>
                      <a:pt x="1256" y="0"/>
                    </a:cubicBezTo>
                  </a:path>
                </a:pathLst>
              </a:custGeom>
              <a:noFill/>
              <a:ln w="38100">
                <a:solidFill>
                  <a:srgbClr val="00FF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90" name="Freeform 16">
                <a:extLst>
                  <a:ext uri="{FF2B5EF4-FFF2-40B4-BE49-F238E27FC236}">
                    <a16:creationId xmlns:a16="http://schemas.microsoft.com/office/drawing/2014/main" id="{E5B2B1C4-45FA-4C60-9BBC-A8DED759D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" y="1706"/>
                <a:ext cx="1227" cy="1029"/>
              </a:xfrm>
              <a:custGeom>
                <a:avLst/>
                <a:gdLst>
                  <a:gd name="T0" fmla="*/ 0 w 1256"/>
                  <a:gd name="T1" fmla="*/ 1116 h 988"/>
                  <a:gd name="T2" fmla="*/ 208 w 1256"/>
                  <a:gd name="T3" fmla="*/ 903 h 988"/>
                  <a:gd name="T4" fmla="*/ 362 w 1256"/>
                  <a:gd name="T5" fmla="*/ 616 h 988"/>
                  <a:gd name="T6" fmla="*/ 663 w 1256"/>
                  <a:gd name="T7" fmla="*/ 112 h 988"/>
                  <a:gd name="T8" fmla="*/ 1171 w 1256"/>
                  <a:gd name="T9" fmla="*/ 0 h 9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56" h="988">
                    <a:moveTo>
                      <a:pt x="0" y="988"/>
                    </a:moveTo>
                    <a:cubicBezTo>
                      <a:pt x="79" y="930"/>
                      <a:pt x="158" y="873"/>
                      <a:pt x="223" y="799"/>
                    </a:cubicBezTo>
                    <a:cubicBezTo>
                      <a:pt x="288" y="725"/>
                      <a:pt x="308" y="660"/>
                      <a:pt x="389" y="544"/>
                    </a:cubicBezTo>
                    <a:cubicBezTo>
                      <a:pt x="470" y="428"/>
                      <a:pt x="566" y="191"/>
                      <a:pt x="711" y="100"/>
                    </a:cubicBezTo>
                    <a:cubicBezTo>
                      <a:pt x="856" y="9"/>
                      <a:pt x="1056" y="4"/>
                      <a:pt x="1256" y="0"/>
                    </a:cubicBezTo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91" name="Text Box 17">
                <a:extLst>
                  <a:ext uri="{FF2B5EF4-FFF2-40B4-BE49-F238E27FC236}">
                    <a16:creationId xmlns:a16="http://schemas.microsoft.com/office/drawing/2014/main" id="{11B9C973-9B8D-404E-895D-6B6CAB67F5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6" y="2749"/>
                <a:ext cx="40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>
                    <a:solidFill>
                      <a:schemeClr val="bg1"/>
                    </a:solidFill>
                  </a:rPr>
                  <a:t>U</a:t>
                </a:r>
              </a:p>
            </p:txBody>
          </p:sp>
          <p:sp>
            <p:nvSpPr>
              <p:cNvPr id="70692" name="Text Box 18">
                <a:extLst>
                  <a:ext uri="{FF2B5EF4-FFF2-40B4-BE49-F238E27FC236}">
                    <a16:creationId xmlns:a16="http://schemas.microsoft.com/office/drawing/2014/main" id="{4F38C886-E3FA-4480-AFBA-03C502BF7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60" y="1512"/>
                <a:ext cx="27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>
                    <a:solidFill>
                      <a:schemeClr val="bg1"/>
                    </a:solidFill>
                  </a:rPr>
                  <a:t>i</a:t>
                </a:r>
              </a:p>
            </p:txBody>
          </p:sp>
          <p:sp>
            <p:nvSpPr>
              <p:cNvPr id="70693" name="Text Box 19">
                <a:extLst>
                  <a:ext uri="{FF2B5EF4-FFF2-40B4-BE49-F238E27FC236}">
                    <a16:creationId xmlns:a16="http://schemas.microsoft.com/office/drawing/2014/main" id="{5716D011-B43D-44F8-B72F-75299E9397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3" y="2672"/>
                <a:ext cx="32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 i="1">
                    <a:solidFill>
                      <a:schemeClr val="bg1"/>
                    </a:solidFill>
                  </a:rPr>
                  <a:t>o</a:t>
                </a:r>
              </a:p>
            </p:txBody>
          </p:sp>
        </p:grpSp>
        <p:sp>
          <p:nvSpPr>
            <p:cNvPr id="70686" name="Text Box 20">
              <a:extLst>
                <a:ext uri="{FF2B5EF4-FFF2-40B4-BE49-F238E27FC236}">
                  <a16:creationId xmlns:a16="http://schemas.microsoft.com/office/drawing/2014/main" id="{0D97E5E6-2315-46FB-B8D9-2A70DD0F7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" y="1970"/>
              <a:ext cx="51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 i="1">
                  <a:solidFill>
                    <a:schemeClr val="bg1"/>
                  </a:solidFill>
                </a:rPr>
                <a:t>(</a:t>
              </a:r>
              <a:r>
                <a:rPr lang="en-US" altLang="zh-CN" sz="2800" b="0" i="1">
                  <a:solidFill>
                    <a:schemeClr val="bg1"/>
                  </a:solidFill>
                </a:rPr>
                <a:t>C)</a:t>
              </a:r>
              <a:endParaRPr lang="en-US" altLang="zh-CN" sz="2800">
                <a:solidFill>
                  <a:schemeClr val="bg1"/>
                </a:solidFill>
              </a:endParaRPr>
            </a:p>
          </p:txBody>
        </p:sp>
      </p:grpSp>
      <p:grpSp>
        <p:nvGrpSpPr>
          <p:cNvPr id="70661" name="Group 21">
            <a:extLst>
              <a:ext uri="{FF2B5EF4-FFF2-40B4-BE49-F238E27FC236}">
                <a16:creationId xmlns:a16="http://schemas.microsoft.com/office/drawing/2014/main" id="{4BDDCF49-C77A-4EDE-A715-108300174F92}"/>
              </a:ext>
            </a:extLst>
          </p:cNvPr>
          <p:cNvGrpSpPr>
            <a:grpSpLocks/>
          </p:cNvGrpSpPr>
          <p:nvPr/>
        </p:nvGrpSpPr>
        <p:grpSpPr bwMode="auto">
          <a:xfrm>
            <a:off x="5476875" y="3513138"/>
            <a:ext cx="2840038" cy="2420937"/>
            <a:chOff x="331" y="1326"/>
            <a:chExt cx="1789" cy="1525"/>
          </a:xfrm>
        </p:grpSpPr>
        <p:grpSp>
          <p:nvGrpSpPr>
            <p:cNvPr id="70675" name="Group 22">
              <a:extLst>
                <a:ext uri="{FF2B5EF4-FFF2-40B4-BE49-F238E27FC236}">
                  <a16:creationId xmlns:a16="http://schemas.microsoft.com/office/drawing/2014/main" id="{354EF697-7D95-4EF2-BF87-4B7D5A854D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" y="1326"/>
              <a:ext cx="1726" cy="1525"/>
              <a:chOff x="441" y="1472"/>
              <a:chExt cx="1726" cy="1525"/>
            </a:xfrm>
          </p:grpSpPr>
          <p:grpSp>
            <p:nvGrpSpPr>
              <p:cNvPr id="70677" name="Group 23">
                <a:extLst>
                  <a:ext uri="{FF2B5EF4-FFF2-40B4-BE49-F238E27FC236}">
                    <a16:creationId xmlns:a16="http://schemas.microsoft.com/office/drawing/2014/main" id="{69CCE3EE-1ED5-4FC9-93CF-E2204ED374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1" y="1522"/>
                <a:ext cx="1635" cy="1176"/>
                <a:chOff x="2886" y="2266"/>
                <a:chExt cx="1999" cy="1343"/>
              </a:xfrm>
            </p:grpSpPr>
            <p:sp>
              <p:nvSpPr>
                <p:cNvPr id="70681" name="Line 24">
                  <a:extLst>
                    <a:ext uri="{FF2B5EF4-FFF2-40B4-BE49-F238E27FC236}">
                      <a16:creationId xmlns:a16="http://schemas.microsoft.com/office/drawing/2014/main" id="{7A8D5090-4482-4237-BD6D-8558565962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6" y="3609"/>
                  <a:ext cx="1889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682" name="Line 25">
                  <a:extLst>
                    <a:ext uri="{FF2B5EF4-FFF2-40B4-BE49-F238E27FC236}">
                      <a16:creationId xmlns:a16="http://schemas.microsoft.com/office/drawing/2014/main" id="{5E670885-283A-4D46-9A77-8D3451C951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29" y="2266"/>
                  <a:ext cx="0" cy="1343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683" name="Freeform 26">
                  <a:extLst>
                    <a:ext uri="{FF2B5EF4-FFF2-40B4-BE49-F238E27FC236}">
                      <a16:creationId xmlns:a16="http://schemas.microsoft.com/office/drawing/2014/main" id="{5F2EA96B-7080-4AF6-8E8A-2E397ED132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7" y="2688"/>
                  <a:ext cx="1668" cy="921"/>
                </a:xfrm>
                <a:custGeom>
                  <a:avLst/>
                  <a:gdLst>
                    <a:gd name="T0" fmla="*/ 0 w 1256"/>
                    <a:gd name="T1" fmla="*/ 801 h 988"/>
                    <a:gd name="T2" fmla="*/ 522 w 1256"/>
                    <a:gd name="T3" fmla="*/ 647 h 988"/>
                    <a:gd name="T4" fmla="*/ 912 w 1256"/>
                    <a:gd name="T5" fmla="*/ 441 h 988"/>
                    <a:gd name="T6" fmla="*/ 1665 w 1256"/>
                    <a:gd name="T7" fmla="*/ 81 h 988"/>
                    <a:gd name="T8" fmla="*/ 2942 w 1256"/>
                    <a:gd name="T9" fmla="*/ 0 h 9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56" h="988">
                      <a:moveTo>
                        <a:pt x="0" y="988"/>
                      </a:moveTo>
                      <a:cubicBezTo>
                        <a:pt x="79" y="930"/>
                        <a:pt x="158" y="873"/>
                        <a:pt x="223" y="799"/>
                      </a:cubicBezTo>
                      <a:cubicBezTo>
                        <a:pt x="288" y="725"/>
                        <a:pt x="308" y="660"/>
                        <a:pt x="389" y="544"/>
                      </a:cubicBezTo>
                      <a:cubicBezTo>
                        <a:pt x="470" y="428"/>
                        <a:pt x="566" y="191"/>
                        <a:pt x="711" y="100"/>
                      </a:cubicBezTo>
                      <a:cubicBezTo>
                        <a:pt x="856" y="9"/>
                        <a:pt x="1056" y="4"/>
                        <a:pt x="1256" y="0"/>
                      </a:cubicBezTo>
                    </a:path>
                  </a:pathLst>
                </a:custGeom>
                <a:noFill/>
                <a:ln w="38100">
                  <a:solidFill>
                    <a:srgbClr val="00FF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684" name="Freeform 27">
                  <a:extLst>
                    <a:ext uri="{FF2B5EF4-FFF2-40B4-BE49-F238E27FC236}">
                      <a16:creationId xmlns:a16="http://schemas.microsoft.com/office/drawing/2014/main" id="{A6066C95-82A2-4934-B243-636B1F4114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6" y="2430"/>
                  <a:ext cx="1500" cy="1176"/>
                </a:xfrm>
                <a:custGeom>
                  <a:avLst/>
                  <a:gdLst>
                    <a:gd name="T0" fmla="*/ 0 w 1256"/>
                    <a:gd name="T1" fmla="*/ 1666 h 988"/>
                    <a:gd name="T2" fmla="*/ 380 w 1256"/>
                    <a:gd name="T3" fmla="*/ 1347 h 988"/>
                    <a:gd name="T4" fmla="*/ 663 w 1256"/>
                    <a:gd name="T5" fmla="*/ 918 h 988"/>
                    <a:gd name="T6" fmla="*/ 1211 w 1256"/>
                    <a:gd name="T7" fmla="*/ 169 h 988"/>
                    <a:gd name="T8" fmla="*/ 2139 w 1256"/>
                    <a:gd name="T9" fmla="*/ 0 h 9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56" h="988">
                      <a:moveTo>
                        <a:pt x="0" y="988"/>
                      </a:moveTo>
                      <a:cubicBezTo>
                        <a:pt x="79" y="930"/>
                        <a:pt x="158" y="873"/>
                        <a:pt x="223" y="799"/>
                      </a:cubicBezTo>
                      <a:cubicBezTo>
                        <a:pt x="288" y="725"/>
                        <a:pt x="308" y="660"/>
                        <a:pt x="389" y="544"/>
                      </a:cubicBezTo>
                      <a:cubicBezTo>
                        <a:pt x="470" y="428"/>
                        <a:pt x="566" y="191"/>
                        <a:pt x="711" y="100"/>
                      </a:cubicBezTo>
                      <a:cubicBezTo>
                        <a:pt x="856" y="9"/>
                        <a:pt x="1056" y="4"/>
                        <a:pt x="1256" y="0"/>
                      </a:cubicBezTo>
                    </a:path>
                  </a:pathLst>
                </a:custGeom>
                <a:noFill/>
                <a:ln w="38100">
                  <a:solidFill>
                    <a:srgbClr val="00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0678" name="Text Box 28">
                <a:extLst>
                  <a:ext uri="{FF2B5EF4-FFF2-40B4-BE49-F238E27FC236}">
                    <a16:creationId xmlns:a16="http://schemas.microsoft.com/office/drawing/2014/main" id="{41426D6A-BA0A-4F60-9757-8CB9D0C6D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7" y="2709"/>
                <a:ext cx="40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>
                    <a:solidFill>
                      <a:schemeClr val="bg1"/>
                    </a:solidFill>
                  </a:rPr>
                  <a:t>U</a:t>
                </a:r>
              </a:p>
            </p:txBody>
          </p:sp>
          <p:sp>
            <p:nvSpPr>
              <p:cNvPr id="70679" name="Text Box 29">
                <a:extLst>
                  <a:ext uri="{FF2B5EF4-FFF2-40B4-BE49-F238E27FC236}">
                    <a16:creationId xmlns:a16="http://schemas.microsoft.com/office/drawing/2014/main" id="{A11AB9B5-2146-4BCC-B4FD-C69D0E9B32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1" y="1472"/>
                <a:ext cx="27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>
                    <a:solidFill>
                      <a:schemeClr val="bg1"/>
                    </a:solidFill>
                  </a:rPr>
                  <a:t>i</a:t>
                </a:r>
              </a:p>
            </p:txBody>
          </p:sp>
          <p:sp>
            <p:nvSpPr>
              <p:cNvPr id="70680" name="Text Box 30">
                <a:extLst>
                  <a:ext uri="{FF2B5EF4-FFF2-40B4-BE49-F238E27FC236}">
                    <a16:creationId xmlns:a16="http://schemas.microsoft.com/office/drawing/2014/main" id="{2273437F-3766-448D-8988-C5BB8278DC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4" y="2632"/>
                <a:ext cx="32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 i="1">
                    <a:solidFill>
                      <a:schemeClr val="bg1"/>
                    </a:solidFill>
                  </a:rPr>
                  <a:t>o</a:t>
                </a:r>
              </a:p>
            </p:txBody>
          </p:sp>
        </p:grpSp>
        <p:sp>
          <p:nvSpPr>
            <p:cNvPr id="70676" name="Text Box 31">
              <a:extLst>
                <a:ext uri="{FF2B5EF4-FFF2-40B4-BE49-F238E27FC236}">
                  <a16:creationId xmlns:a16="http://schemas.microsoft.com/office/drawing/2014/main" id="{BCD9FB5D-B716-4715-9201-DACD10B0F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" y="1940"/>
              <a:ext cx="51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 i="1">
                  <a:solidFill>
                    <a:schemeClr val="bg1"/>
                  </a:solidFill>
                </a:rPr>
                <a:t>(</a:t>
              </a:r>
              <a:r>
                <a:rPr lang="en-US" altLang="zh-CN" sz="2800" b="0" i="1">
                  <a:solidFill>
                    <a:schemeClr val="bg1"/>
                  </a:solidFill>
                </a:rPr>
                <a:t>D)</a:t>
              </a:r>
              <a:endParaRPr lang="en-US" altLang="zh-CN" sz="2800">
                <a:solidFill>
                  <a:schemeClr val="bg1"/>
                </a:solidFill>
              </a:endParaRPr>
            </a:p>
          </p:txBody>
        </p:sp>
      </p:grpSp>
      <p:grpSp>
        <p:nvGrpSpPr>
          <p:cNvPr id="70662" name="Group 32">
            <a:extLst>
              <a:ext uri="{FF2B5EF4-FFF2-40B4-BE49-F238E27FC236}">
                <a16:creationId xmlns:a16="http://schemas.microsoft.com/office/drawing/2014/main" id="{46990B87-3C52-43E9-8F25-0D68A63A7327}"/>
              </a:ext>
            </a:extLst>
          </p:cNvPr>
          <p:cNvGrpSpPr>
            <a:grpSpLocks/>
          </p:cNvGrpSpPr>
          <p:nvPr/>
        </p:nvGrpSpPr>
        <p:grpSpPr bwMode="auto">
          <a:xfrm>
            <a:off x="5435600" y="1196975"/>
            <a:ext cx="2819400" cy="2420938"/>
            <a:chOff x="798" y="166"/>
            <a:chExt cx="1776" cy="1525"/>
          </a:xfrm>
        </p:grpSpPr>
        <p:sp>
          <p:nvSpPr>
            <p:cNvPr id="70667" name="Line 33">
              <a:extLst>
                <a:ext uri="{FF2B5EF4-FFF2-40B4-BE49-F238E27FC236}">
                  <a16:creationId xmlns:a16="http://schemas.microsoft.com/office/drawing/2014/main" id="{2990A69F-2BBC-4008-813F-74B6C18F1E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8" y="1392"/>
              <a:ext cx="1545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8" name="Line 34">
              <a:extLst>
                <a:ext uri="{FF2B5EF4-FFF2-40B4-BE49-F238E27FC236}">
                  <a16:creationId xmlns:a16="http://schemas.microsoft.com/office/drawing/2014/main" id="{8C686221-9D23-4E0B-AE75-329A6AF0AF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6" y="216"/>
              <a:ext cx="0" cy="117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9" name="Text Box 35">
              <a:extLst>
                <a:ext uri="{FF2B5EF4-FFF2-40B4-BE49-F238E27FC236}">
                  <a16:creationId xmlns:a16="http://schemas.microsoft.com/office/drawing/2014/main" id="{93F6F479-2240-4FD5-AA3E-AE31E3B6E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4" y="1403"/>
              <a:ext cx="4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70670" name="Text Box 36">
              <a:extLst>
                <a:ext uri="{FF2B5EF4-FFF2-40B4-BE49-F238E27FC236}">
                  <a16:creationId xmlns:a16="http://schemas.microsoft.com/office/drawing/2014/main" id="{BDD4CB5F-F7D1-4F67-8D55-A67BA6466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6"/>
              <a:ext cx="2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chemeClr val="bg1"/>
                  </a:solidFill>
                </a:rPr>
                <a:t>i</a:t>
              </a:r>
            </a:p>
          </p:txBody>
        </p:sp>
        <p:sp>
          <p:nvSpPr>
            <p:cNvPr id="70671" name="Text Box 37">
              <a:extLst>
                <a:ext uri="{FF2B5EF4-FFF2-40B4-BE49-F238E27FC236}">
                  <a16:creationId xmlns:a16="http://schemas.microsoft.com/office/drawing/2014/main" id="{F96547DD-49D4-4474-ABE0-BF4729F79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1" y="1326"/>
              <a:ext cx="3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 i="1">
                  <a:solidFill>
                    <a:schemeClr val="bg1"/>
                  </a:solidFill>
                </a:rPr>
                <a:t>o</a:t>
              </a:r>
            </a:p>
          </p:txBody>
        </p:sp>
        <p:sp>
          <p:nvSpPr>
            <p:cNvPr id="70672" name="Text Box 38">
              <a:extLst>
                <a:ext uri="{FF2B5EF4-FFF2-40B4-BE49-F238E27FC236}">
                  <a16:creationId xmlns:a16="http://schemas.microsoft.com/office/drawing/2014/main" id="{919D63A1-22C8-41DC-AC59-CDDE2C3CE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" y="759"/>
              <a:ext cx="51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 i="1">
                  <a:solidFill>
                    <a:schemeClr val="bg1"/>
                  </a:solidFill>
                </a:rPr>
                <a:t>(</a:t>
              </a:r>
              <a:r>
                <a:rPr lang="en-US" altLang="zh-CN" sz="2800" b="0" i="1">
                  <a:solidFill>
                    <a:schemeClr val="bg1"/>
                  </a:solidFill>
                </a:rPr>
                <a:t>B)</a:t>
              </a:r>
              <a:endParaRPr lang="en-US" altLang="zh-CN" sz="2800">
                <a:solidFill>
                  <a:schemeClr val="bg1"/>
                </a:solidFill>
              </a:endParaRPr>
            </a:p>
          </p:txBody>
        </p:sp>
        <p:sp>
          <p:nvSpPr>
            <p:cNvPr id="70673" name="Freeform 39">
              <a:extLst>
                <a:ext uri="{FF2B5EF4-FFF2-40B4-BE49-F238E27FC236}">
                  <a16:creationId xmlns:a16="http://schemas.microsoft.com/office/drawing/2014/main" id="{E43ABC71-EBC3-4179-A591-498BB72BC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" y="543"/>
              <a:ext cx="1262" cy="845"/>
            </a:xfrm>
            <a:custGeom>
              <a:avLst/>
              <a:gdLst>
                <a:gd name="T0" fmla="*/ 0 w 1262"/>
                <a:gd name="T1" fmla="*/ 924 h 808"/>
                <a:gd name="T2" fmla="*/ 245 w 1262"/>
                <a:gd name="T3" fmla="*/ 756 h 808"/>
                <a:gd name="T4" fmla="*/ 417 w 1262"/>
                <a:gd name="T5" fmla="*/ 492 h 808"/>
                <a:gd name="T6" fmla="*/ 625 w 1262"/>
                <a:gd name="T7" fmla="*/ 210 h 808"/>
                <a:gd name="T8" fmla="*/ 723 w 1262"/>
                <a:gd name="T9" fmla="*/ 98 h 808"/>
                <a:gd name="T10" fmla="*/ 980 w 1262"/>
                <a:gd name="T11" fmla="*/ 28 h 808"/>
                <a:gd name="T12" fmla="*/ 1262 w 1262"/>
                <a:gd name="T13" fmla="*/ 0 h 8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2" h="808">
                  <a:moveTo>
                    <a:pt x="0" y="808"/>
                  </a:moveTo>
                  <a:cubicBezTo>
                    <a:pt x="87" y="766"/>
                    <a:pt x="175" y="724"/>
                    <a:pt x="245" y="661"/>
                  </a:cubicBezTo>
                  <a:cubicBezTo>
                    <a:pt x="315" y="598"/>
                    <a:pt x="354" y="508"/>
                    <a:pt x="417" y="429"/>
                  </a:cubicBezTo>
                  <a:cubicBezTo>
                    <a:pt x="480" y="350"/>
                    <a:pt x="574" y="241"/>
                    <a:pt x="625" y="184"/>
                  </a:cubicBezTo>
                  <a:cubicBezTo>
                    <a:pt x="676" y="127"/>
                    <a:pt x="664" y="113"/>
                    <a:pt x="723" y="86"/>
                  </a:cubicBezTo>
                  <a:cubicBezTo>
                    <a:pt x="782" y="59"/>
                    <a:pt x="890" y="39"/>
                    <a:pt x="980" y="25"/>
                  </a:cubicBezTo>
                  <a:cubicBezTo>
                    <a:pt x="1070" y="11"/>
                    <a:pt x="1166" y="5"/>
                    <a:pt x="1262" y="0"/>
                  </a:cubicBezTo>
                </a:path>
              </a:pathLst>
            </a:cu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4" name="Freeform 40">
              <a:extLst>
                <a:ext uri="{FF2B5EF4-FFF2-40B4-BE49-F238E27FC236}">
                  <a16:creationId xmlns:a16="http://schemas.microsoft.com/office/drawing/2014/main" id="{7786CA13-A44B-4DC3-940E-43ACAAEB6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" y="279"/>
              <a:ext cx="1398" cy="1128"/>
            </a:xfrm>
            <a:custGeom>
              <a:avLst/>
              <a:gdLst>
                <a:gd name="T0" fmla="*/ 0 w 1256"/>
                <a:gd name="T1" fmla="*/ 1471 h 988"/>
                <a:gd name="T2" fmla="*/ 307 w 1256"/>
                <a:gd name="T3" fmla="*/ 1189 h 988"/>
                <a:gd name="T4" fmla="*/ 536 w 1256"/>
                <a:gd name="T5" fmla="*/ 809 h 988"/>
                <a:gd name="T6" fmla="*/ 979 w 1256"/>
                <a:gd name="T7" fmla="*/ 148 h 988"/>
                <a:gd name="T8" fmla="*/ 1732 w 1256"/>
                <a:gd name="T9" fmla="*/ 0 h 9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56" h="988">
                  <a:moveTo>
                    <a:pt x="0" y="988"/>
                  </a:moveTo>
                  <a:cubicBezTo>
                    <a:pt x="79" y="930"/>
                    <a:pt x="158" y="873"/>
                    <a:pt x="223" y="799"/>
                  </a:cubicBezTo>
                  <a:cubicBezTo>
                    <a:pt x="288" y="725"/>
                    <a:pt x="308" y="660"/>
                    <a:pt x="389" y="544"/>
                  </a:cubicBezTo>
                  <a:cubicBezTo>
                    <a:pt x="470" y="428"/>
                    <a:pt x="566" y="191"/>
                    <a:pt x="711" y="100"/>
                  </a:cubicBezTo>
                  <a:cubicBezTo>
                    <a:pt x="856" y="9"/>
                    <a:pt x="1056" y="4"/>
                    <a:pt x="1256" y="0"/>
                  </a:cubicBezTo>
                </a:path>
              </a:pathLst>
            </a:custGeom>
            <a:noFill/>
            <a:ln w="38100">
              <a:solidFill>
                <a:srgbClr val="00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0663" name="Text Box 41">
            <a:extLst>
              <a:ext uri="{FF2B5EF4-FFF2-40B4-BE49-F238E27FC236}">
                <a16:creationId xmlns:a16="http://schemas.microsoft.com/office/drawing/2014/main" id="{28ED6EF1-28AF-4CA4-9996-BF6D227C9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4450"/>
            <a:ext cx="853791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FF00"/>
                </a:solidFill>
              </a:rPr>
              <a:t>例</a:t>
            </a:r>
            <a:r>
              <a:rPr lang="en-US" altLang="zh-CN" sz="2400" dirty="0">
                <a:solidFill>
                  <a:srgbClr val="00FF00"/>
                </a:solidFill>
              </a:rPr>
              <a:t>2.</a:t>
            </a:r>
            <a:r>
              <a:rPr lang="en-US" altLang="zh-CN" sz="2400" dirty="0">
                <a:solidFill>
                  <a:schemeClr val="bg1"/>
                </a:solidFill>
              </a:rPr>
              <a:t>  </a:t>
            </a:r>
            <a:r>
              <a:rPr lang="zh-CN" altLang="en-US" sz="2400" dirty="0">
                <a:solidFill>
                  <a:schemeClr val="bg1"/>
                </a:solidFill>
              </a:rPr>
              <a:t>以一定频率的单色光照射在某种金属上，测出其光电流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曲线在图中用实线表示，然后保持</a:t>
            </a:r>
            <a:r>
              <a:rPr lang="zh-CN" altLang="en-US" sz="2400" dirty="0">
                <a:solidFill>
                  <a:srgbClr val="00FF00"/>
                </a:solidFill>
              </a:rPr>
              <a:t>光的频率</a:t>
            </a:r>
            <a:r>
              <a:rPr lang="zh-CN" altLang="en-US" sz="2400" dirty="0">
                <a:solidFill>
                  <a:schemeClr val="bg1"/>
                </a:solidFill>
              </a:rPr>
              <a:t>不变，增大</a:t>
            </a:r>
            <a:r>
              <a:rPr lang="zh-CN" altLang="en-US" sz="2400" dirty="0">
                <a:solidFill>
                  <a:srgbClr val="00FF00"/>
                </a:solidFill>
              </a:rPr>
              <a:t>照射光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FF00"/>
                </a:solidFill>
              </a:rPr>
              <a:t>的强度</a:t>
            </a:r>
            <a:r>
              <a:rPr lang="zh-CN" altLang="en-US" sz="2400" dirty="0">
                <a:solidFill>
                  <a:schemeClr val="bg1"/>
                </a:solidFill>
              </a:rPr>
              <a:t>，测出其光电流曲线在图中用虚线表示，满足题意的图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是（          ）。</a:t>
            </a:r>
          </a:p>
        </p:txBody>
      </p:sp>
      <p:sp>
        <p:nvSpPr>
          <p:cNvPr id="980010" name="Text Box 42">
            <a:extLst>
              <a:ext uri="{FF2B5EF4-FFF2-40B4-BE49-F238E27FC236}">
                <a16:creationId xmlns:a16="http://schemas.microsoft.com/office/drawing/2014/main" id="{B315CD74-6CC2-47B5-8D58-F198FDFD6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6400800"/>
            <a:ext cx="1509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答案：</a:t>
            </a:r>
            <a:r>
              <a:rPr lang="en-US" altLang="zh-CN" sz="2400">
                <a:solidFill>
                  <a:srgbClr val="FFFF00"/>
                </a:solidFill>
              </a:rPr>
              <a:t>(B)</a:t>
            </a:r>
          </a:p>
        </p:txBody>
      </p:sp>
      <p:sp>
        <p:nvSpPr>
          <p:cNvPr id="980011" name="Text Box 43">
            <a:extLst>
              <a:ext uri="{FF2B5EF4-FFF2-40B4-BE49-F238E27FC236}">
                <a16:creationId xmlns:a16="http://schemas.microsoft.com/office/drawing/2014/main" id="{61C7B25F-344D-4EA3-9F89-AF665C90D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3" y="5665788"/>
            <a:ext cx="8278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解：  </a:t>
            </a:r>
            <a:r>
              <a:rPr lang="en-US" altLang="zh-CN" sz="2400">
                <a:solidFill>
                  <a:srgbClr val="FFFF00"/>
                </a:solidFill>
              </a:rPr>
              <a:t>1) </a:t>
            </a:r>
            <a:r>
              <a:rPr lang="zh-CN" altLang="en-US" sz="2400">
                <a:solidFill>
                  <a:srgbClr val="FFFF00"/>
                </a:solidFill>
              </a:rPr>
              <a:t>入射光强  </a:t>
            </a:r>
            <a:r>
              <a:rPr lang="en-US" altLang="zh-CN" sz="2400" i="1">
                <a:solidFill>
                  <a:srgbClr val="FFFF00"/>
                </a:solidFill>
              </a:rPr>
              <a:t>I=Nhν</a:t>
            </a:r>
            <a:r>
              <a:rPr lang="zh-CN" altLang="en-US" sz="2400">
                <a:solidFill>
                  <a:srgbClr val="FFFF00"/>
                </a:solidFill>
              </a:rPr>
              <a:t>，</a:t>
            </a:r>
            <a:r>
              <a:rPr lang="en-US" altLang="zh-CN" sz="2400" i="1">
                <a:solidFill>
                  <a:srgbClr val="FFFF00"/>
                </a:solidFill>
              </a:rPr>
              <a:t>I </a:t>
            </a:r>
            <a:r>
              <a:rPr lang="en-US" altLang="zh-CN" sz="2400">
                <a:solidFill>
                  <a:srgbClr val="FFFF00"/>
                </a:solidFill>
              </a:rPr>
              <a:t>↑</a:t>
            </a:r>
            <a:r>
              <a:rPr lang="zh-CN" altLang="en-US" sz="2400">
                <a:solidFill>
                  <a:srgbClr val="FFFF00"/>
                </a:solidFill>
              </a:rPr>
              <a:t>，则 </a:t>
            </a:r>
            <a:r>
              <a:rPr lang="en-US" altLang="zh-CN" sz="2400" i="1">
                <a:solidFill>
                  <a:srgbClr val="FFFF00"/>
                </a:solidFill>
              </a:rPr>
              <a:t>N</a:t>
            </a:r>
            <a:r>
              <a:rPr lang="en-US" altLang="zh-CN" sz="2400">
                <a:solidFill>
                  <a:srgbClr val="FFFF00"/>
                </a:solidFill>
              </a:rPr>
              <a:t>↑</a:t>
            </a:r>
            <a:r>
              <a:rPr lang="zh-CN" altLang="en-US" sz="2400">
                <a:solidFill>
                  <a:srgbClr val="FFFF00"/>
                </a:solidFill>
              </a:rPr>
              <a:t>， 饱和光电流  </a:t>
            </a:r>
            <a:r>
              <a:rPr lang="en-US" altLang="zh-CN" sz="2400" i="1">
                <a:solidFill>
                  <a:srgbClr val="FFFF00"/>
                </a:solidFill>
              </a:rPr>
              <a:t>i</a:t>
            </a:r>
            <a:r>
              <a:rPr lang="en-US" altLang="zh-CN" sz="2400" baseline="-25000">
                <a:solidFill>
                  <a:srgbClr val="FFFF00"/>
                </a:solidFill>
              </a:rPr>
              <a:t>m</a:t>
            </a:r>
            <a:r>
              <a:rPr lang="en-US" altLang="zh-CN" sz="2400">
                <a:solidFill>
                  <a:srgbClr val="FFFF00"/>
                </a:solidFill>
              </a:rPr>
              <a:t>↑</a:t>
            </a:r>
            <a:r>
              <a:rPr lang="zh-CN" altLang="en-US" sz="2400">
                <a:solidFill>
                  <a:srgbClr val="FFFF00"/>
                </a:solidFill>
              </a:rPr>
              <a:t>。   </a:t>
            </a:r>
          </a:p>
        </p:txBody>
      </p:sp>
      <p:sp>
        <p:nvSpPr>
          <p:cNvPr id="45" name="Text Box 43">
            <a:extLst>
              <a:ext uri="{FF2B5EF4-FFF2-40B4-BE49-F238E27FC236}">
                <a16:creationId xmlns:a16="http://schemas.microsoft.com/office/drawing/2014/main" id="{44E8F9D1-3C2A-4B0A-96F2-E631DE2FE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188" y="6092825"/>
            <a:ext cx="70151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FF00"/>
                </a:solidFill>
              </a:rPr>
              <a:t>2) </a:t>
            </a:r>
            <a:r>
              <a:rPr lang="zh-CN" altLang="en-US" sz="2400">
                <a:solidFill>
                  <a:srgbClr val="FFFF00"/>
                </a:solidFill>
              </a:rPr>
              <a:t>截至电压与频率成线性关系，故截至电压不变。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98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98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0010" grpId="0"/>
      <p:bldP spid="980011" grpId="0"/>
      <p:bldP spid="4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66">
            <a:alpha val="5019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9842" name="Object 2">
            <a:extLst>
              <a:ext uri="{FF2B5EF4-FFF2-40B4-BE49-F238E27FC236}">
                <a16:creationId xmlns:a16="http://schemas.microsoft.com/office/drawing/2014/main" id="{7122A807-3ED5-4BB4-A690-EDF3349792EC}"/>
              </a:ext>
            </a:extLst>
          </p:cNvPr>
          <p:cNvGraphicFramePr>
            <a:graphicFrameLocks/>
          </p:cNvGraphicFramePr>
          <p:nvPr/>
        </p:nvGraphicFramePr>
        <p:xfrm>
          <a:off x="7162800" y="1828800"/>
          <a:ext cx="1295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6" r:id="rId3" imgW="533349" imgH="152468" progId="Equation.3">
                  <p:embed/>
                </p:oleObj>
              </mc:Choice>
              <mc:Fallback>
                <p:oleObj r:id="rId3" imgW="533349" imgH="152468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1828800"/>
                        <a:ext cx="12954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9843" name="Text Box 3">
            <a:extLst>
              <a:ext uri="{FF2B5EF4-FFF2-40B4-BE49-F238E27FC236}">
                <a16:creationId xmlns:a16="http://schemas.microsoft.com/office/drawing/2014/main" id="{19B7B4A6-958B-4065-9AC0-C457DAA10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362200"/>
            <a:ext cx="82248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FF00"/>
                </a:solidFill>
                <a:ea typeface="黑体" panose="02010609060101010101" pitchFamily="49" charset="-122"/>
              </a:rPr>
              <a:t>     </a:t>
            </a:r>
            <a:r>
              <a:rPr lang="zh-CN" altLang="en-US" sz="2400">
                <a:solidFill>
                  <a:srgbClr val="FFFF00"/>
                </a:solidFill>
                <a:ea typeface="黑体" panose="02010609060101010101" pitchFamily="49" charset="-122"/>
              </a:rPr>
              <a:t>单位时间单位面积金属发射的光电子数，等于单位时间入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ea typeface="黑体" panose="02010609060101010101" pitchFamily="49" charset="-122"/>
              </a:rPr>
              <a:t>射到金属单位面积上的光子数，即</a:t>
            </a:r>
          </a:p>
        </p:txBody>
      </p:sp>
      <p:graphicFrame>
        <p:nvGraphicFramePr>
          <p:cNvPr id="1059844" name="Object 4">
            <a:extLst>
              <a:ext uri="{FF2B5EF4-FFF2-40B4-BE49-F238E27FC236}">
                <a16:creationId xmlns:a16="http://schemas.microsoft.com/office/drawing/2014/main" id="{96EA2DC7-98F9-4C30-A32D-FAE3DC482BEF}"/>
              </a:ext>
            </a:extLst>
          </p:cNvPr>
          <p:cNvGraphicFramePr>
            <a:graphicFrameLocks/>
          </p:cNvGraphicFramePr>
          <p:nvPr/>
        </p:nvGraphicFramePr>
        <p:xfrm>
          <a:off x="2133600" y="3276600"/>
          <a:ext cx="5659438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7" r:id="rId5" imgW="2335786" imgH="660113" progId="Equation.3">
                  <p:embed/>
                </p:oleObj>
              </mc:Choice>
              <mc:Fallback>
                <p:oleObj r:id="rId5" imgW="2335786" imgH="660113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lum bright="100000" contrast="100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276600"/>
                        <a:ext cx="5659438" cy="154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9845" name="Text Box 5">
            <a:extLst>
              <a:ext uri="{FF2B5EF4-FFF2-40B4-BE49-F238E27FC236}">
                <a16:creationId xmlns:a16="http://schemas.microsoft.com/office/drawing/2014/main" id="{8450A63D-69F5-49E9-80F5-EE7C71596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029200"/>
            <a:ext cx="2787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99FF33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400">
                <a:solidFill>
                  <a:srgbClr val="99FF33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400">
                <a:solidFill>
                  <a:srgbClr val="99FF33"/>
                </a:solidFill>
                <a:ea typeface="黑体" panose="02010609060101010101" pitchFamily="49" charset="-122"/>
              </a:rPr>
              <a:t>）光电子初动能</a:t>
            </a:r>
          </a:p>
        </p:txBody>
      </p:sp>
      <p:graphicFrame>
        <p:nvGraphicFramePr>
          <p:cNvPr id="1059846" name="Object 6">
            <a:extLst>
              <a:ext uri="{FF2B5EF4-FFF2-40B4-BE49-F238E27FC236}">
                <a16:creationId xmlns:a16="http://schemas.microsoft.com/office/drawing/2014/main" id="{D0E960A0-20D1-4BA0-A3B2-BBDBA0459FA7}"/>
              </a:ext>
            </a:extLst>
          </p:cNvPr>
          <p:cNvGraphicFramePr>
            <a:graphicFrameLocks/>
          </p:cNvGraphicFramePr>
          <p:nvPr/>
        </p:nvGraphicFramePr>
        <p:xfrm>
          <a:off x="3667125" y="4876800"/>
          <a:ext cx="4897438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8" r:id="rId7" imgW="1739145" imgH="393529" progId="Equation.DSMT4">
                  <p:embed/>
                </p:oleObj>
              </mc:Choice>
              <mc:Fallback>
                <p:oleObj r:id="rId7" imgW="1739145" imgH="393529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lum bright="100000" contrast="100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125" y="4876800"/>
                        <a:ext cx="4897438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7" name="Text Box 7">
            <a:extLst>
              <a:ext uri="{FF2B5EF4-FFF2-40B4-BE49-F238E27FC236}">
                <a16:creationId xmlns:a16="http://schemas.microsoft.com/office/drawing/2014/main" id="{4F974329-FEED-492C-A526-B6EA28590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5888"/>
            <a:ext cx="876617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 例</a:t>
            </a:r>
            <a:r>
              <a:rPr lang="en-US" altLang="zh-CN" sz="2400" dirty="0">
                <a:solidFill>
                  <a:schemeClr val="bg1"/>
                </a:solidFill>
              </a:rPr>
              <a:t>3</a:t>
            </a:r>
            <a:r>
              <a:rPr lang="zh-CN" altLang="en-US" sz="2400" dirty="0">
                <a:solidFill>
                  <a:schemeClr val="bg1"/>
                </a:solidFill>
              </a:rPr>
              <a:t>.   波长为 400nm 的单色光照射在逸出功为 2.0eV的金属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材料上，光射到金属单位面积上的功率为 3.0×10</a:t>
            </a:r>
            <a:r>
              <a:rPr lang="zh-CN" altLang="en-US" sz="2400" baseline="30000" dirty="0">
                <a:solidFill>
                  <a:schemeClr val="bg1"/>
                </a:solidFill>
              </a:rPr>
              <a:t>-9</a:t>
            </a:r>
            <a:r>
              <a:rPr lang="zh-CN" altLang="en-US" sz="2400" dirty="0">
                <a:solidFill>
                  <a:schemeClr val="bg1"/>
                </a:solidFill>
              </a:rPr>
              <a:t> W.m</a:t>
            </a:r>
            <a:r>
              <a:rPr lang="zh-CN" altLang="en-US" sz="2400" baseline="30000" dirty="0">
                <a:solidFill>
                  <a:schemeClr val="bg1"/>
                </a:solidFill>
              </a:rPr>
              <a:t>-2</a:t>
            </a:r>
            <a:r>
              <a:rPr lang="zh-CN" altLang="en-US" sz="2400" dirty="0">
                <a:solidFill>
                  <a:schemeClr val="bg1"/>
                </a:solidFill>
              </a:rPr>
              <a:t> 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       求 ：（1） 单位时间内，单位面积金属上发射的光电子数；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                （2） 光电子初动能。</a:t>
            </a:r>
          </a:p>
        </p:txBody>
      </p:sp>
      <p:sp>
        <p:nvSpPr>
          <p:cNvPr id="1059848" name="Text Box 8">
            <a:extLst>
              <a:ext uri="{FF2B5EF4-FFF2-40B4-BE49-F238E27FC236}">
                <a16:creationId xmlns:a16="http://schemas.microsoft.com/office/drawing/2014/main" id="{FCBFE3F0-0F0E-4047-9D04-CF02D6798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828800"/>
            <a:ext cx="6919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99FF33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400">
                <a:solidFill>
                  <a:srgbClr val="99FF33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400">
                <a:solidFill>
                  <a:srgbClr val="99FF33"/>
                </a:solidFill>
                <a:ea typeface="黑体" panose="02010609060101010101" pitchFamily="49" charset="-122"/>
              </a:rPr>
              <a:t>: (1)  </a:t>
            </a:r>
            <a:r>
              <a:rPr lang="zh-CN" altLang="en-US" sz="2400">
                <a:solidFill>
                  <a:srgbClr val="99FF33"/>
                </a:solidFill>
                <a:ea typeface="黑体" panose="02010609060101010101" pitchFamily="49" charset="-122"/>
              </a:rPr>
              <a:t>光强（ 即光射到金属单位面积上的功率）</a:t>
            </a:r>
          </a:p>
        </p:txBody>
      </p:sp>
      <p:graphicFrame>
        <p:nvGraphicFramePr>
          <p:cNvPr id="1059849" name="Object 9">
            <a:extLst>
              <a:ext uri="{FF2B5EF4-FFF2-40B4-BE49-F238E27FC236}">
                <a16:creationId xmlns:a16="http://schemas.microsoft.com/office/drawing/2014/main" id="{09E4645A-11F8-48A7-BAB5-2CC257BA56DE}"/>
              </a:ext>
            </a:extLst>
          </p:cNvPr>
          <p:cNvGraphicFramePr>
            <a:graphicFrameLocks/>
          </p:cNvGraphicFramePr>
          <p:nvPr/>
        </p:nvGraphicFramePr>
        <p:xfrm>
          <a:off x="1065213" y="5805488"/>
          <a:ext cx="7645400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9" r:id="rId9" imgW="3784600" imgH="419100" progId="Equation.3">
                  <p:embed/>
                </p:oleObj>
              </mc:Choice>
              <mc:Fallback>
                <p:oleObj r:id="rId9" imgW="3784600" imgH="41910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lum bright="100000" contrast="100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5805488"/>
                        <a:ext cx="7645400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05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05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05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9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9843" grpId="0"/>
      <p:bldP spid="1059845" grpId="0"/>
      <p:bldP spid="105984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3">
            <a:extLst>
              <a:ext uri="{FF2B5EF4-FFF2-40B4-BE49-F238E27FC236}">
                <a16:creationId xmlns:a16="http://schemas.microsoft.com/office/drawing/2014/main" id="{204D0238-80A7-4044-9873-F09FA7EA72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72DE1B-A80C-44BC-BB1B-FDC3744C16BC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zh-CN" altLang="zh-CN" sz="1400"/>
          </a:p>
        </p:txBody>
      </p:sp>
      <p:sp>
        <p:nvSpPr>
          <p:cNvPr id="959490" name="Text Box 2">
            <a:extLst>
              <a:ext uri="{FF2B5EF4-FFF2-40B4-BE49-F238E27FC236}">
                <a16:creationId xmlns:a16="http://schemas.microsoft.com/office/drawing/2014/main" id="{DB1777C9-F410-4C12-ACE1-E827EE46D3B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133600" y="182563"/>
            <a:ext cx="7010400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3200" b="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15-3   </a:t>
            </a:r>
            <a:r>
              <a:rPr kumimoji="1" lang="zh-CN" altLang="en-US" sz="3200" b="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康普顿效应</a:t>
            </a:r>
          </a:p>
        </p:txBody>
      </p:sp>
      <p:sp>
        <p:nvSpPr>
          <p:cNvPr id="959491" name="Text Box 3">
            <a:extLst>
              <a:ext uri="{FF2B5EF4-FFF2-40B4-BE49-F238E27FC236}">
                <a16:creationId xmlns:a16="http://schemas.microsoft.com/office/drawing/2014/main" id="{8B5D1F62-A172-4B35-BEBF-E67FE3235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928688"/>
            <a:ext cx="876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ea typeface="黑体" panose="02010609060101010101" pitchFamily="49" charset="-122"/>
              </a:rPr>
              <a:t>1922-1923</a:t>
            </a:r>
            <a:r>
              <a:rPr lang="zh-CN" altLang="en-US" sz="2800" b="0">
                <a:solidFill>
                  <a:schemeClr val="tx2"/>
                </a:solidFill>
                <a:ea typeface="黑体" panose="02010609060101010101" pitchFamily="49" charset="-122"/>
              </a:rPr>
              <a:t>年 康普顿研究了</a:t>
            </a:r>
            <a:r>
              <a:rPr lang="en-US" altLang="zh-CN" sz="2800" b="0" i="1">
                <a:solidFill>
                  <a:schemeClr val="tx2"/>
                </a:solidFill>
                <a:ea typeface="黑体" panose="02010609060101010101" pitchFamily="49" charset="-122"/>
              </a:rPr>
              <a:t>X</a:t>
            </a:r>
            <a:r>
              <a:rPr lang="zh-CN" altLang="en-US" sz="2800" b="0">
                <a:solidFill>
                  <a:schemeClr val="tx2"/>
                </a:solidFill>
                <a:ea typeface="黑体" panose="02010609060101010101" pitchFamily="49" charset="-122"/>
              </a:rPr>
              <a:t>射线在石墨上的散射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D4A6CD23-49E8-4FBB-9361-1072C8FBA805}"/>
              </a:ext>
            </a:extLst>
          </p:cNvPr>
          <p:cNvGrpSpPr>
            <a:grpSpLocks/>
          </p:cNvGrpSpPr>
          <p:nvPr/>
        </p:nvGrpSpPr>
        <p:grpSpPr bwMode="auto">
          <a:xfrm>
            <a:off x="0" y="3136900"/>
            <a:ext cx="8839200" cy="3460750"/>
            <a:chOff x="192" y="1358"/>
            <a:chExt cx="5376" cy="3059"/>
          </a:xfrm>
        </p:grpSpPr>
        <p:sp>
          <p:nvSpPr>
            <p:cNvPr id="52233" name="Rectangle 5">
              <a:extLst>
                <a:ext uri="{FF2B5EF4-FFF2-40B4-BE49-F238E27FC236}">
                  <a16:creationId xmlns:a16="http://schemas.microsoft.com/office/drawing/2014/main" id="{A87CD4FD-223E-4BE6-A1F5-564F99966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" y="1498"/>
              <a:ext cx="62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  <a:ea typeface="楷体_GB2312" panose="02010609030101010101" pitchFamily="49" charset="-122"/>
                </a:rPr>
                <a:t>晶体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2234" name="Text Box 6">
              <a:extLst>
                <a:ext uri="{FF2B5EF4-FFF2-40B4-BE49-F238E27FC236}">
                  <a16:creationId xmlns:a16="http://schemas.microsoft.com/office/drawing/2014/main" id="{55962A3D-13E6-4C8F-8179-9E8176784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156"/>
              <a:ext cx="816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Bookman Old Style" panose="02050604050505020204" pitchFamily="18" charset="0"/>
                  <a:ea typeface="楷体_GB2312" panose="02010609030101010101" pitchFamily="49" charset="-122"/>
                </a:rPr>
                <a:t> </a:t>
              </a:r>
              <a:r>
                <a:rPr lang="zh-CN" altLang="en-US" sz="2400">
                  <a:latin typeface="Bookman Old Style" panose="02050604050505020204" pitchFamily="18" charset="0"/>
                  <a:ea typeface="楷体_GB2312" panose="02010609030101010101" pitchFamily="49" charset="-122"/>
                </a:rPr>
                <a:t>光阑</a:t>
              </a:r>
            </a:p>
          </p:txBody>
        </p:sp>
        <p:grpSp>
          <p:nvGrpSpPr>
            <p:cNvPr id="52235" name="Group 7">
              <a:extLst>
                <a:ext uri="{FF2B5EF4-FFF2-40B4-BE49-F238E27FC236}">
                  <a16:creationId xmlns:a16="http://schemas.microsoft.com/office/drawing/2014/main" id="{05B90941-209D-4ACF-9D6B-7A9351A2BD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488"/>
              <a:ext cx="1069" cy="951"/>
              <a:chOff x="720" y="1353"/>
              <a:chExt cx="1069" cy="951"/>
            </a:xfrm>
          </p:grpSpPr>
          <p:sp>
            <p:nvSpPr>
              <p:cNvPr id="52296" name="Rectangle 8">
                <a:extLst>
                  <a:ext uri="{FF2B5EF4-FFF2-40B4-BE49-F238E27FC236}">
                    <a16:creationId xmlns:a16="http://schemas.microsoft.com/office/drawing/2014/main" id="{CCD29C26-7640-428E-BB56-8CFA4BEEDE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9" y="1353"/>
                <a:ext cx="840" cy="4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0" i="1"/>
                  <a:t>X</a:t>
                </a:r>
                <a:r>
                  <a:rPr lang="en-US" altLang="zh-CN" sz="2400" b="0" i="1">
                    <a:latin typeface="Bookman Old Style" panose="02050604050505020204" pitchFamily="18" charset="0"/>
                  </a:rPr>
                  <a:t> </a:t>
                </a:r>
                <a:r>
                  <a:rPr lang="zh-CN" altLang="en-US" sz="2400"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射线管</a:t>
                </a:r>
                <a:endParaRPr lang="zh-CN" altLang="en-US" sz="2400">
                  <a:latin typeface="宋体" panose="02010600030101010101" pitchFamily="2" charset="-122"/>
                </a:endParaRPr>
              </a:p>
            </p:txBody>
          </p:sp>
          <p:sp>
            <p:nvSpPr>
              <p:cNvPr id="52297" name="Line 9">
                <a:extLst>
                  <a:ext uri="{FF2B5EF4-FFF2-40B4-BE49-F238E27FC236}">
                    <a16:creationId xmlns:a16="http://schemas.microsoft.com/office/drawing/2014/main" id="{5E23A07D-1E9E-4505-AC12-1C65F89F66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1680"/>
                <a:ext cx="672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236" name="Rectangle 10">
              <a:extLst>
                <a:ext uri="{FF2B5EF4-FFF2-40B4-BE49-F238E27FC236}">
                  <a16:creationId xmlns:a16="http://schemas.microsoft.com/office/drawing/2014/main" id="{3DC121FA-3271-4A02-A73C-A540F5863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3" y="2987"/>
              <a:ext cx="298" cy="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  <a:ea typeface="楷体_GB2312" panose="02010609030101010101" pitchFamily="49" charset="-122"/>
                </a:rPr>
                <a:t>探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  <a:ea typeface="楷体_GB2312" panose="02010609030101010101" pitchFamily="49" charset="-122"/>
                </a:rPr>
                <a:t>测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  <a:ea typeface="楷体_GB2312" panose="02010609030101010101" pitchFamily="49" charset="-122"/>
                </a:rPr>
                <a:t>器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52237" name="Group 11">
              <a:extLst>
                <a:ext uri="{FF2B5EF4-FFF2-40B4-BE49-F238E27FC236}">
                  <a16:creationId xmlns:a16="http://schemas.microsoft.com/office/drawing/2014/main" id="{57CF7551-651C-4E1A-925E-8756EDD7EF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1358"/>
              <a:ext cx="2304" cy="3007"/>
              <a:chOff x="3264" y="1152"/>
              <a:chExt cx="2400" cy="3109"/>
            </a:xfrm>
          </p:grpSpPr>
          <p:sp>
            <p:nvSpPr>
              <p:cNvPr id="52293" name="Rectangle 12">
                <a:extLst>
                  <a:ext uri="{FF2B5EF4-FFF2-40B4-BE49-F238E27FC236}">
                    <a16:creationId xmlns:a16="http://schemas.microsoft.com/office/drawing/2014/main" id="{0A280418-0310-4F56-B02C-67D718B1F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3877"/>
                <a:ext cx="1297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b="0" i="1"/>
                  <a:t>X</a:t>
                </a:r>
                <a:r>
                  <a:rPr lang="en-US" altLang="zh-CN" sz="2400" b="0" i="1">
                    <a:latin typeface="Bookman Old Style" panose="02050604050505020204" pitchFamily="18" charset="0"/>
                  </a:rPr>
                  <a:t> </a:t>
                </a:r>
                <a:r>
                  <a:rPr lang="zh-CN" altLang="en-US" sz="2400">
                    <a:latin typeface="Arial" panose="020B0604020202020204" pitchFamily="34" charset="0"/>
                    <a:ea typeface="楷体_GB2312" panose="02010609030101010101" pitchFamily="49" charset="-122"/>
                  </a:rPr>
                  <a:t>射线谱仪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2294" name="Rectangle 13">
                <a:extLst>
                  <a:ext uri="{FF2B5EF4-FFF2-40B4-BE49-F238E27FC236}">
                    <a16:creationId xmlns:a16="http://schemas.microsoft.com/office/drawing/2014/main" id="{549BF324-359A-499E-83BB-7BBEFC5809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152"/>
                <a:ext cx="2400" cy="2448"/>
              </a:xfrm>
              <a:prstGeom prst="rect">
                <a:avLst/>
              </a:prstGeom>
              <a:noFill/>
              <a:ln w="19050">
                <a:solidFill>
                  <a:srgbClr val="990000"/>
                </a:solidFill>
                <a:prstDash val="dash"/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52295" name="Line 14">
                <a:extLst>
                  <a:ext uri="{FF2B5EF4-FFF2-40B4-BE49-F238E27FC236}">
                    <a16:creationId xmlns:a16="http://schemas.microsoft.com/office/drawing/2014/main" id="{CBEDEA49-8004-4FE2-8769-3CC44812D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2" y="35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238" name="Group 15">
              <a:extLst>
                <a:ext uri="{FF2B5EF4-FFF2-40B4-BE49-F238E27FC236}">
                  <a16:creationId xmlns:a16="http://schemas.microsoft.com/office/drawing/2014/main" id="{ABC2EFBD-2C61-4CE8-877D-0D0A84B21C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8" y="3230"/>
              <a:ext cx="1126" cy="1187"/>
              <a:chOff x="1968" y="3072"/>
              <a:chExt cx="1126" cy="1187"/>
            </a:xfrm>
          </p:grpSpPr>
          <p:sp>
            <p:nvSpPr>
              <p:cNvPr id="52291" name="Rectangle 16">
                <a:extLst>
                  <a:ext uri="{FF2B5EF4-FFF2-40B4-BE49-F238E27FC236}">
                    <a16:creationId xmlns:a16="http://schemas.microsoft.com/office/drawing/2014/main" id="{491B1E46-12B3-4CE6-8B8C-D916011AD7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3532"/>
                <a:ext cx="1126" cy="7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  <a:ea typeface="楷体_GB2312" panose="02010609030101010101" pitchFamily="49" charset="-122"/>
                  </a:rPr>
                  <a:t>  </a:t>
                </a:r>
                <a:r>
                  <a:rPr lang="zh-CN" altLang="en-US" sz="2400">
                    <a:latin typeface="Arial" panose="020B0604020202020204" pitchFamily="34" charset="0"/>
                    <a:ea typeface="楷体_GB2312" panose="02010609030101010101" pitchFamily="49" charset="-122"/>
                  </a:rPr>
                  <a:t>石墨体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0">
                    <a:latin typeface="Arial" panose="020B0604020202020204" pitchFamily="34" charset="0"/>
                    <a:ea typeface="楷体_GB2312" panose="02010609030101010101" pitchFamily="49" charset="-122"/>
                  </a:rPr>
                  <a:t>(</a:t>
                </a:r>
                <a:r>
                  <a:rPr lang="zh-CN" altLang="en-US" sz="2400">
                    <a:latin typeface="Arial" panose="020B0604020202020204" pitchFamily="34" charset="0"/>
                    <a:ea typeface="楷体_GB2312" panose="02010609030101010101" pitchFamily="49" charset="-122"/>
                  </a:rPr>
                  <a:t>散射物质</a:t>
                </a:r>
                <a:r>
                  <a:rPr lang="en-US" altLang="zh-CN" sz="2400" b="0">
                    <a:latin typeface="Arial" panose="020B0604020202020204" pitchFamily="34" charset="0"/>
                    <a:ea typeface="楷体_GB2312" panose="02010609030101010101" pitchFamily="49" charset="-122"/>
                  </a:rPr>
                  <a:t>)</a:t>
                </a:r>
                <a:endParaRPr lang="en-US" altLang="zh-CN" sz="2400">
                  <a:latin typeface="Arial" panose="020B0604020202020204" pitchFamily="34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52292" name="Line 17">
                <a:extLst>
                  <a:ext uri="{FF2B5EF4-FFF2-40B4-BE49-F238E27FC236}">
                    <a16:creationId xmlns:a16="http://schemas.microsoft.com/office/drawing/2014/main" id="{FDEDCA7E-1185-4E0D-A9CC-CFD31F5C25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44" y="3072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239" name="Group 18">
              <a:extLst>
                <a:ext uri="{FF2B5EF4-FFF2-40B4-BE49-F238E27FC236}">
                  <a16:creationId xmlns:a16="http://schemas.microsoft.com/office/drawing/2014/main" id="{CE959F1D-2F10-4CCE-84DC-E1775F32D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502"/>
              <a:ext cx="5136" cy="2735"/>
              <a:chOff x="1" y="1239"/>
              <a:chExt cx="5471" cy="2891"/>
            </a:xfrm>
          </p:grpSpPr>
          <p:sp>
            <p:nvSpPr>
              <p:cNvPr id="52242" name="Line 19">
                <a:extLst>
                  <a:ext uri="{FF2B5EF4-FFF2-40B4-BE49-F238E27FC236}">
                    <a16:creationId xmlns:a16="http://schemas.microsoft.com/office/drawing/2014/main" id="{E6B8E0DE-D34C-404A-8542-B5F0707790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880"/>
                <a:ext cx="2160" cy="0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43" name="Rectangle 20" descr="浅色下对角线">
                <a:extLst>
                  <a:ext uri="{FF2B5EF4-FFF2-40B4-BE49-F238E27FC236}">
                    <a16:creationId xmlns:a16="http://schemas.microsoft.com/office/drawing/2014/main" id="{0C2B3F67-3C1D-40C5-B022-376A5D63D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4" y="2404"/>
                <a:ext cx="136" cy="424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12700">
                <a:solidFill>
                  <a:srgbClr val="66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52244" name="Rectangle 21" descr="浅色下对角线">
                <a:extLst>
                  <a:ext uri="{FF2B5EF4-FFF2-40B4-BE49-F238E27FC236}">
                    <a16:creationId xmlns:a16="http://schemas.microsoft.com/office/drawing/2014/main" id="{57A52F9F-1DA8-40DC-898D-7900437A61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4" y="2932"/>
                <a:ext cx="136" cy="424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12700">
                <a:solidFill>
                  <a:srgbClr val="66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52245" name="Rectangle 22" descr="小棋盘">
                <a:extLst>
                  <a:ext uri="{FF2B5EF4-FFF2-40B4-BE49-F238E27FC236}">
                    <a16:creationId xmlns:a16="http://schemas.microsoft.com/office/drawing/2014/main" id="{34DA8E47-CAEB-4764-A6E0-5C8D129C4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4" y="2740"/>
                <a:ext cx="280" cy="328"/>
              </a:xfrm>
              <a:prstGeom prst="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12700">
                <a:solidFill>
                  <a:srgbClr val="66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52246" name="Line 23">
                <a:extLst>
                  <a:ext uri="{FF2B5EF4-FFF2-40B4-BE49-F238E27FC236}">
                    <a16:creationId xmlns:a16="http://schemas.microsoft.com/office/drawing/2014/main" id="{C75B4226-0C72-407B-AC84-E706BF7400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08" y="2160"/>
                <a:ext cx="816" cy="384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47" name="Rectangle 24">
                <a:extLst>
                  <a:ext uri="{FF2B5EF4-FFF2-40B4-BE49-F238E27FC236}">
                    <a16:creationId xmlns:a16="http://schemas.microsoft.com/office/drawing/2014/main" id="{17A924EB-61FF-4152-91A6-B4E40B768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65823">
                <a:off x="4031" y="2064"/>
                <a:ext cx="376" cy="92"/>
              </a:xfrm>
              <a:prstGeom prst="rect">
                <a:avLst/>
              </a:prstGeom>
              <a:solidFill>
                <a:schemeClr val="bg2"/>
              </a:solidFill>
              <a:ln w="12700">
                <a:solidFill>
                  <a:srgbClr val="66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52248" name="Line 25">
                <a:extLst>
                  <a:ext uri="{FF2B5EF4-FFF2-40B4-BE49-F238E27FC236}">
                    <a16:creationId xmlns:a16="http://schemas.microsoft.com/office/drawing/2014/main" id="{31294DD7-E801-4E2B-BBC0-D16EDB293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2160"/>
                <a:ext cx="1200" cy="480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49" name="Line 26">
                <a:extLst>
                  <a:ext uri="{FF2B5EF4-FFF2-40B4-BE49-F238E27FC236}">
                    <a16:creationId xmlns:a16="http://schemas.microsoft.com/office/drawing/2014/main" id="{3905F1E8-8078-4C2D-9720-8958924254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88" y="2544"/>
                <a:ext cx="720" cy="336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round/>
                <a:headEnd type="stealth" w="med" len="lg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0" name="Line 27">
                <a:extLst>
                  <a:ext uri="{FF2B5EF4-FFF2-40B4-BE49-F238E27FC236}">
                    <a16:creationId xmlns:a16="http://schemas.microsoft.com/office/drawing/2014/main" id="{B4F09E3B-C0F4-41B9-8EC9-64AF6683C8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2" y="2880"/>
                <a:ext cx="1728" cy="0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round/>
                <a:headEnd type="stealth" w="med" len="lg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1" name="Line 28">
                <a:extLst>
                  <a:ext uri="{FF2B5EF4-FFF2-40B4-BE49-F238E27FC236}">
                    <a16:creationId xmlns:a16="http://schemas.microsoft.com/office/drawing/2014/main" id="{C76BAC0A-C805-46A6-A1BF-3015948853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880"/>
                <a:ext cx="288" cy="0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2" name="Arc 29">
                <a:extLst>
                  <a:ext uri="{FF2B5EF4-FFF2-40B4-BE49-F238E27FC236}">
                    <a16:creationId xmlns:a16="http://schemas.microsoft.com/office/drawing/2014/main" id="{58898102-8E12-49B0-A3D3-51475E8AD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3" y="2651"/>
                <a:ext cx="524" cy="230"/>
              </a:xfrm>
              <a:custGeom>
                <a:avLst/>
                <a:gdLst>
                  <a:gd name="T0" fmla="*/ 0 w 21600"/>
                  <a:gd name="T1" fmla="*/ 0 h 8626"/>
                  <a:gd name="T2" fmla="*/ 0 w 21600"/>
                  <a:gd name="T3" fmla="*/ 0 h 8626"/>
                  <a:gd name="T4" fmla="*/ 0 w 21600"/>
                  <a:gd name="T5" fmla="*/ 0 h 8626"/>
                  <a:gd name="T6" fmla="*/ 0 w 21600"/>
                  <a:gd name="T7" fmla="*/ 0 h 8626"/>
                  <a:gd name="T8" fmla="*/ 0 w 21600"/>
                  <a:gd name="T9" fmla="*/ 0 h 86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8626" fill="none">
                    <a:moveTo>
                      <a:pt x="19802" y="0"/>
                    </a:moveTo>
                    <a:cubicBezTo>
                      <a:pt x="20988" y="2721"/>
                      <a:pt x="21600" y="5657"/>
                      <a:pt x="21600" y="8626"/>
                    </a:cubicBezTo>
                  </a:path>
                  <a:path w="21600" h="8626" stroke="0">
                    <a:moveTo>
                      <a:pt x="19802" y="0"/>
                    </a:moveTo>
                    <a:cubicBezTo>
                      <a:pt x="20988" y="2721"/>
                      <a:pt x="21600" y="5657"/>
                      <a:pt x="21600" y="8626"/>
                    </a:cubicBezTo>
                    <a:lnTo>
                      <a:pt x="0" y="8626"/>
                    </a:lnTo>
                    <a:lnTo>
                      <a:pt x="19802" y="0"/>
                    </a:lnTo>
                    <a:close/>
                  </a:path>
                </a:pathLst>
              </a:custGeom>
              <a:noFill/>
              <a:ln w="38100" cap="rnd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3" name="AutoShape 30">
                <a:extLst>
                  <a:ext uri="{FF2B5EF4-FFF2-40B4-BE49-F238E27FC236}">
                    <a16:creationId xmlns:a16="http://schemas.microsoft.com/office/drawing/2014/main" id="{ADBBC9D1-147A-4D49-9301-C0A10C082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 flipV="1">
                <a:off x="391" y="1992"/>
                <a:ext cx="264" cy="46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5399" y="21600"/>
                    </a:lnTo>
                    <a:lnTo>
                      <a:pt x="16201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12700">
                <a:solidFill>
                  <a:srgbClr val="66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4" name="Arc 31">
                <a:extLst>
                  <a:ext uri="{FF2B5EF4-FFF2-40B4-BE49-F238E27FC236}">
                    <a16:creationId xmlns:a16="http://schemas.microsoft.com/office/drawing/2014/main" id="{A099F076-B6A9-4EB7-AEA9-408213579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376" y="1893"/>
                <a:ext cx="289" cy="431"/>
              </a:xfrm>
              <a:custGeom>
                <a:avLst/>
                <a:gdLst>
                  <a:gd name="T0" fmla="*/ 0 w 26710"/>
                  <a:gd name="T1" fmla="*/ 0 h 21600"/>
                  <a:gd name="T2" fmla="*/ 0 w 26710"/>
                  <a:gd name="T3" fmla="*/ 0 h 21600"/>
                  <a:gd name="T4" fmla="*/ 0 w 26710"/>
                  <a:gd name="T5" fmla="*/ 0 h 21600"/>
                  <a:gd name="T6" fmla="*/ 0 w 26710"/>
                  <a:gd name="T7" fmla="*/ 0 h 21600"/>
                  <a:gd name="T8" fmla="*/ 0 w 26710"/>
                  <a:gd name="T9" fmla="*/ 0 h 21600"/>
                  <a:gd name="T10" fmla="*/ 0 w 26710"/>
                  <a:gd name="T11" fmla="*/ 0 h 21600"/>
                  <a:gd name="T12" fmla="*/ 0 w 26710"/>
                  <a:gd name="T13" fmla="*/ 0 h 216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710" h="21600" fill="none">
                    <a:moveTo>
                      <a:pt x="26710" y="16863"/>
                    </a:moveTo>
                    <a:cubicBezTo>
                      <a:pt x="22879" y="19929"/>
                      <a:pt x="18118" y="21599"/>
                      <a:pt x="13212" y="21600"/>
                    </a:cubicBezTo>
                    <a:cubicBezTo>
                      <a:pt x="8429" y="21600"/>
                      <a:pt x="3783" y="20013"/>
                      <a:pt x="-1" y="17088"/>
                    </a:cubicBezTo>
                  </a:path>
                  <a:path w="26710" h="21600" stroke="0">
                    <a:moveTo>
                      <a:pt x="26710" y="16863"/>
                    </a:moveTo>
                    <a:cubicBezTo>
                      <a:pt x="22879" y="19929"/>
                      <a:pt x="18118" y="21599"/>
                      <a:pt x="13212" y="21600"/>
                    </a:cubicBezTo>
                    <a:cubicBezTo>
                      <a:pt x="8429" y="21600"/>
                      <a:pt x="3783" y="20013"/>
                      <a:pt x="-1" y="17088"/>
                    </a:cubicBezTo>
                    <a:lnTo>
                      <a:pt x="13212" y="0"/>
                    </a:lnTo>
                    <a:lnTo>
                      <a:pt x="26710" y="16863"/>
                    </a:lnTo>
                    <a:close/>
                  </a:path>
                </a:pathLst>
              </a:custGeom>
              <a:solidFill>
                <a:schemeClr val="hlink"/>
              </a:solidFill>
              <a:ln w="12700" cap="rnd">
                <a:solidFill>
                  <a:srgbClr val="66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5" name="Arc 32">
                <a:extLst>
                  <a:ext uri="{FF2B5EF4-FFF2-40B4-BE49-F238E27FC236}">
                    <a16:creationId xmlns:a16="http://schemas.microsoft.com/office/drawing/2014/main" id="{DCB2D7A4-2461-4DD8-BC9D-983D89E9D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86" y="2672"/>
                <a:ext cx="442" cy="690"/>
              </a:xfrm>
              <a:custGeom>
                <a:avLst/>
                <a:gdLst>
                  <a:gd name="T0" fmla="*/ 0 w 21600"/>
                  <a:gd name="T1" fmla="*/ 0 h 33849"/>
                  <a:gd name="T2" fmla="*/ 0 w 21600"/>
                  <a:gd name="T3" fmla="*/ 0 h 33849"/>
                  <a:gd name="T4" fmla="*/ 0 w 21600"/>
                  <a:gd name="T5" fmla="*/ 0 h 33849"/>
                  <a:gd name="T6" fmla="*/ 0 w 21600"/>
                  <a:gd name="T7" fmla="*/ 0 h 33849"/>
                  <a:gd name="T8" fmla="*/ 0 w 21600"/>
                  <a:gd name="T9" fmla="*/ 0 h 33849"/>
                  <a:gd name="T10" fmla="*/ 0 w 21600"/>
                  <a:gd name="T11" fmla="*/ 0 h 33849"/>
                  <a:gd name="T12" fmla="*/ 0 w 21600"/>
                  <a:gd name="T13" fmla="*/ 0 h 338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600" h="33849" fill="none">
                    <a:moveTo>
                      <a:pt x="13519" y="-1"/>
                    </a:moveTo>
                    <a:cubicBezTo>
                      <a:pt x="18627" y="4099"/>
                      <a:pt x="21600" y="10295"/>
                      <a:pt x="21600" y="16846"/>
                    </a:cubicBezTo>
                    <a:cubicBezTo>
                      <a:pt x="21600" y="23484"/>
                      <a:pt x="18547" y="29754"/>
                      <a:pt x="13321" y="33849"/>
                    </a:cubicBezTo>
                  </a:path>
                  <a:path w="21600" h="33849" stroke="0">
                    <a:moveTo>
                      <a:pt x="13519" y="-1"/>
                    </a:moveTo>
                    <a:cubicBezTo>
                      <a:pt x="18627" y="4099"/>
                      <a:pt x="21600" y="10295"/>
                      <a:pt x="21600" y="16846"/>
                    </a:cubicBezTo>
                    <a:cubicBezTo>
                      <a:pt x="21600" y="23484"/>
                      <a:pt x="18547" y="29754"/>
                      <a:pt x="13321" y="33849"/>
                    </a:cubicBezTo>
                    <a:lnTo>
                      <a:pt x="0" y="16846"/>
                    </a:lnTo>
                    <a:lnTo>
                      <a:pt x="13519" y="-1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6" name="Arc 33">
                <a:extLst>
                  <a:ext uri="{FF2B5EF4-FFF2-40B4-BE49-F238E27FC236}">
                    <a16:creationId xmlns:a16="http://schemas.microsoft.com/office/drawing/2014/main" id="{035CF6C4-4450-4740-B4E3-3BD1F230A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680"/>
                <a:ext cx="470" cy="682"/>
              </a:xfrm>
              <a:custGeom>
                <a:avLst/>
                <a:gdLst>
                  <a:gd name="T0" fmla="*/ 0 w 21600"/>
                  <a:gd name="T1" fmla="*/ 0 h 29208"/>
                  <a:gd name="T2" fmla="*/ 0 w 21600"/>
                  <a:gd name="T3" fmla="*/ 0 h 29208"/>
                  <a:gd name="T4" fmla="*/ 0 w 21600"/>
                  <a:gd name="T5" fmla="*/ 0 h 29208"/>
                  <a:gd name="T6" fmla="*/ 0 w 21600"/>
                  <a:gd name="T7" fmla="*/ 0 h 29208"/>
                  <a:gd name="T8" fmla="*/ 0 w 21600"/>
                  <a:gd name="T9" fmla="*/ 0 h 29208"/>
                  <a:gd name="T10" fmla="*/ 0 w 21600"/>
                  <a:gd name="T11" fmla="*/ 0 h 29208"/>
                  <a:gd name="T12" fmla="*/ 0 w 21600"/>
                  <a:gd name="T13" fmla="*/ 0 h 292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600" h="29208" fill="none">
                    <a:moveTo>
                      <a:pt x="16051" y="-1"/>
                    </a:moveTo>
                    <a:cubicBezTo>
                      <a:pt x="19623" y="3966"/>
                      <a:pt x="21600" y="9115"/>
                      <a:pt x="21600" y="14454"/>
                    </a:cubicBezTo>
                    <a:cubicBezTo>
                      <a:pt x="21600" y="19932"/>
                      <a:pt x="19518" y="25206"/>
                      <a:pt x="15775" y="29207"/>
                    </a:cubicBezTo>
                  </a:path>
                  <a:path w="21600" h="29208" stroke="0">
                    <a:moveTo>
                      <a:pt x="16051" y="-1"/>
                    </a:moveTo>
                    <a:cubicBezTo>
                      <a:pt x="19623" y="3966"/>
                      <a:pt x="21600" y="9115"/>
                      <a:pt x="21600" y="14454"/>
                    </a:cubicBezTo>
                    <a:cubicBezTo>
                      <a:pt x="21600" y="19932"/>
                      <a:pt x="19518" y="25206"/>
                      <a:pt x="15775" y="29207"/>
                    </a:cubicBezTo>
                    <a:lnTo>
                      <a:pt x="0" y="14454"/>
                    </a:lnTo>
                    <a:lnTo>
                      <a:pt x="16051" y="-1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7" name="Arc 34">
                <a:extLst>
                  <a:ext uri="{FF2B5EF4-FFF2-40B4-BE49-F238E27FC236}">
                    <a16:creationId xmlns:a16="http://schemas.microsoft.com/office/drawing/2014/main" id="{DDBE4511-88AD-4740-8D8C-7691494FB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59" y="3337"/>
                <a:ext cx="288" cy="218"/>
              </a:xfrm>
              <a:custGeom>
                <a:avLst/>
                <a:gdLst>
                  <a:gd name="T0" fmla="*/ 0 w 21600"/>
                  <a:gd name="T1" fmla="*/ 0 h 16419"/>
                  <a:gd name="T2" fmla="*/ 0 w 21600"/>
                  <a:gd name="T3" fmla="*/ 0 h 16419"/>
                  <a:gd name="T4" fmla="*/ 0 w 21600"/>
                  <a:gd name="T5" fmla="*/ 0 h 16419"/>
                  <a:gd name="T6" fmla="*/ 0 w 21600"/>
                  <a:gd name="T7" fmla="*/ 0 h 16419"/>
                  <a:gd name="T8" fmla="*/ 0 w 21600"/>
                  <a:gd name="T9" fmla="*/ 0 h 164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16419" fill="none">
                    <a:moveTo>
                      <a:pt x="7565" y="16418"/>
                    </a:moveTo>
                    <a:cubicBezTo>
                      <a:pt x="2764" y="12315"/>
                      <a:pt x="0" y="6315"/>
                      <a:pt x="0" y="0"/>
                    </a:cubicBezTo>
                  </a:path>
                  <a:path w="21600" h="16419" stroke="0">
                    <a:moveTo>
                      <a:pt x="7565" y="16418"/>
                    </a:moveTo>
                    <a:cubicBezTo>
                      <a:pt x="2764" y="12315"/>
                      <a:pt x="0" y="6315"/>
                      <a:pt x="0" y="0"/>
                    </a:cubicBezTo>
                    <a:lnTo>
                      <a:pt x="21600" y="0"/>
                    </a:lnTo>
                    <a:lnTo>
                      <a:pt x="7565" y="16418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8" name="Arc 35">
                <a:extLst>
                  <a:ext uri="{FF2B5EF4-FFF2-40B4-BE49-F238E27FC236}">
                    <a16:creationId xmlns:a16="http://schemas.microsoft.com/office/drawing/2014/main" id="{999FABA3-E81E-424A-AD0B-8574BB4F19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" y="2467"/>
                <a:ext cx="346" cy="229"/>
              </a:xfrm>
              <a:custGeom>
                <a:avLst/>
                <a:gdLst>
                  <a:gd name="T0" fmla="*/ 0 w 21600"/>
                  <a:gd name="T1" fmla="*/ 0 h 15480"/>
                  <a:gd name="T2" fmla="*/ 0 w 21600"/>
                  <a:gd name="T3" fmla="*/ 0 h 15480"/>
                  <a:gd name="T4" fmla="*/ 0 w 21600"/>
                  <a:gd name="T5" fmla="*/ 0 h 15480"/>
                  <a:gd name="T6" fmla="*/ 0 w 21600"/>
                  <a:gd name="T7" fmla="*/ 0 h 15480"/>
                  <a:gd name="T8" fmla="*/ 0 w 21600"/>
                  <a:gd name="T9" fmla="*/ 0 h 154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15480" fill="none">
                    <a:moveTo>
                      <a:pt x="0" y="15480"/>
                    </a:moveTo>
                    <a:cubicBezTo>
                      <a:pt x="0" y="9649"/>
                      <a:pt x="2357" y="4066"/>
                      <a:pt x="6535" y="-1"/>
                    </a:cubicBezTo>
                  </a:path>
                  <a:path w="21600" h="15480" stroke="0">
                    <a:moveTo>
                      <a:pt x="0" y="15480"/>
                    </a:moveTo>
                    <a:cubicBezTo>
                      <a:pt x="0" y="9649"/>
                      <a:pt x="2357" y="4066"/>
                      <a:pt x="6535" y="-1"/>
                    </a:cubicBezTo>
                    <a:lnTo>
                      <a:pt x="21600" y="15480"/>
                    </a:lnTo>
                    <a:lnTo>
                      <a:pt x="0" y="1548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9" name="Arc 36">
                <a:extLst>
                  <a:ext uri="{FF2B5EF4-FFF2-40B4-BE49-F238E27FC236}">
                    <a16:creationId xmlns:a16="http://schemas.microsoft.com/office/drawing/2014/main" id="{F41A1246-4B79-48F3-AA61-282843BA6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720" y="2467"/>
                <a:ext cx="317" cy="237"/>
              </a:xfrm>
              <a:custGeom>
                <a:avLst/>
                <a:gdLst>
                  <a:gd name="T0" fmla="*/ 0 w 21600"/>
                  <a:gd name="T1" fmla="*/ 0 h 14873"/>
                  <a:gd name="T2" fmla="*/ 0 w 21600"/>
                  <a:gd name="T3" fmla="*/ 0 h 14873"/>
                  <a:gd name="T4" fmla="*/ 0 w 21600"/>
                  <a:gd name="T5" fmla="*/ 0 h 14873"/>
                  <a:gd name="T6" fmla="*/ 0 w 21600"/>
                  <a:gd name="T7" fmla="*/ 0 h 14873"/>
                  <a:gd name="T8" fmla="*/ 0 w 21600"/>
                  <a:gd name="T9" fmla="*/ 0 h 148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14873" fill="none">
                    <a:moveTo>
                      <a:pt x="15663" y="-1"/>
                    </a:moveTo>
                    <a:cubicBezTo>
                      <a:pt x="19474" y="4013"/>
                      <a:pt x="21600" y="9337"/>
                      <a:pt x="21600" y="14873"/>
                    </a:cubicBezTo>
                  </a:path>
                  <a:path w="21600" h="14873" stroke="0">
                    <a:moveTo>
                      <a:pt x="15663" y="-1"/>
                    </a:moveTo>
                    <a:cubicBezTo>
                      <a:pt x="19474" y="4013"/>
                      <a:pt x="21600" y="9337"/>
                      <a:pt x="21600" y="14873"/>
                    </a:cubicBezTo>
                    <a:lnTo>
                      <a:pt x="0" y="14873"/>
                    </a:lnTo>
                    <a:lnTo>
                      <a:pt x="15663" y="-1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0" name="Arc 37">
                <a:extLst>
                  <a:ext uri="{FF2B5EF4-FFF2-40B4-BE49-F238E27FC236}">
                    <a16:creationId xmlns:a16="http://schemas.microsoft.com/office/drawing/2014/main" id="{EEBB3D0B-62FE-478C-B739-867110B69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720" y="3346"/>
                <a:ext cx="384" cy="210"/>
              </a:xfrm>
              <a:custGeom>
                <a:avLst/>
                <a:gdLst>
                  <a:gd name="T0" fmla="*/ 0 w 21600"/>
                  <a:gd name="T1" fmla="*/ 0 h 13765"/>
                  <a:gd name="T2" fmla="*/ 0 w 21600"/>
                  <a:gd name="T3" fmla="*/ 0 h 13765"/>
                  <a:gd name="T4" fmla="*/ 0 w 21600"/>
                  <a:gd name="T5" fmla="*/ 0 h 13765"/>
                  <a:gd name="T6" fmla="*/ 0 w 21600"/>
                  <a:gd name="T7" fmla="*/ 0 h 13765"/>
                  <a:gd name="T8" fmla="*/ 0 w 21600"/>
                  <a:gd name="T9" fmla="*/ 0 h 137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13765" fill="none">
                    <a:moveTo>
                      <a:pt x="21600" y="0"/>
                    </a:moveTo>
                    <a:cubicBezTo>
                      <a:pt x="21600" y="5024"/>
                      <a:pt x="19848" y="9892"/>
                      <a:pt x="16645" y="13764"/>
                    </a:cubicBezTo>
                  </a:path>
                  <a:path w="21600" h="13765" stroke="0">
                    <a:moveTo>
                      <a:pt x="21600" y="0"/>
                    </a:moveTo>
                    <a:cubicBezTo>
                      <a:pt x="21600" y="5024"/>
                      <a:pt x="19848" y="9892"/>
                      <a:pt x="16645" y="13764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1" name="Arc 38">
                <a:extLst>
                  <a:ext uri="{FF2B5EF4-FFF2-40B4-BE49-F238E27FC236}">
                    <a16:creationId xmlns:a16="http://schemas.microsoft.com/office/drawing/2014/main" id="{74B6F5E4-EA4D-49A2-A479-23CE54283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347" y="1892"/>
                <a:ext cx="374" cy="201"/>
              </a:xfrm>
              <a:custGeom>
                <a:avLst/>
                <a:gdLst>
                  <a:gd name="T0" fmla="*/ 0 w 43196"/>
                  <a:gd name="T1" fmla="*/ 0 h 21600"/>
                  <a:gd name="T2" fmla="*/ 0 w 43196"/>
                  <a:gd name="T3" fmla="*/ 0 h 21600"/>
                  <a:gd name="T4" fmla="*/ 0 w 43196"/>
                  <a:gd name="T5" fmla="*/ 0 h 21600"/>
                  <a:gd name="T6" fmla="*/ 0 w 43196"/>
                  <a:gd name="T7" fmla="*/ 0 h 21600"/>
                  <a:gd name="T8" fmla="*/ 0 w 43196"/>
                  <a:gd name="T9" fmla="*/ 0 h 21600"/>
                  <a:gd name="T10" fmla="*/ 0 w 43196"/>
                  <a:gd name="T11" fmla="*/ 0 h 21600"/>
                  <a:gd name="T12" fmla="*/ 0 w 43196"/>
                  <a:gd name="T13" fmla="*/ 0 h 216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196" h="21600" fill="none">
                    <a:moveTo>
                      <a:pt x="43196" y="0"/>
                    </a:moveTo>
                    <a:cubicBezTo>
                      <a:pt x="43196" y="11929"/>
                      <a:pt x="33525" y="21600"/>
                      <a:pt x="21596" y="21600"/>
                    </a:cubicBezTo>
                    <a:cubicBezTo>
                      <a:pt x="9834" y="21600"/>
                      <a:pt x="234" y="12189"/>
                      <a:pt x="0" y="429"/>
                    </a:cubicBezTo>
                  </a:path>
                  <a:path w="43196" h="21600" stroke="0">
                    <a:moveTo>
                      <a:pt x="43196" y="0"/>
                    </a:moveTo>
                    <a:cubicBezTo>
                      <a:pt x="43196" y="11929"/>
                      <a:pt x="33525" y="21600"/>
                      <a:pt x="21596" y="21600"/>
                    </a:cubicBezTo>
                    <a:cubicBezTo>
                      <a:pt x="9834" y="21600"/>
                      <a:pt x="234" y="12189"/>
                      <a:pt x="0" y="429"/>
                    </a:cubicBezTo>
                    <a:lnTo>
                      <a:pt x="21596" y="0"/>
                    </a:lnTo>
                    <a:lnTo>
                      <a:pt x="43196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2" name="Line 39">
                <a:extLst>
                  <a:ext uri="{FF2B5EF4-FFF2-40B4-BE49-F238E27FC236}">
                    <a16:creationId xmlns:a16="http://schemas.microsoft.com/office/drawing/2014/main" id="{3C4C64BE-FD13-4CAA-ACA8-70696977F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" y="3555"/>
                <a:ext cx="0" cy="316"/>
              </a:xfrm>
              <a:prstGeom prst="line">
                <a:avLst/>
              </a:prstGeom>
              <a:noFill/>
              <a:ln w="25400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3" name="Line 40">
                <a:extLst>
                  <a:ext uri="{FF2B5EF4-FFF2-40B4-BE49-F238E27FC236}">
                    <a16:creationId xmlns:a16="http://schemas.microsoft.com/office/drawing/2014/main" id="{2228D090-6A7B-4001-8775-D43D5AA24F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0" y="3555"/>
                <a:ext cx="0" cy="316"/>
              </a:xfrm>
              <a:prstGeom prst="line">
                <a:avLst/>
              </a:prstGeom>
              <a:noFill/>
              <a:ln w="25400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4" name="Line 41">
                <a:extLst>
                  <a:ext uri="{FF2B5EF4-FFF2-40B4-BE49-F238E27FC236}">
                    <a16:creationId xmlns:a16="http://schemas.microsoft.com/office/drawing/2014/main" id="{9A0ACAA6-21C6-44E6-AF16-339A96D55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" y="2092"/>
                <a:ext cx="0" cy="373"/>
              </a:xfrm>
              <a:prstGeom prst="line">
                <a:avLst/>
              </a:prstGeom>
              <a:noFill/>
              <a:ln w="25400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5" name="Line 42">
                <a:extLst>
                  <a:ext uri="{FF2B5EF4-FFF2-40B4-BE49-F238E27FC236}">
                    <a16:creationId xmlns:a16="http://schemas.microsoft.com/office/drawing/2014/main" id="{22A5A265-6671-414C-8A2E-390620F81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0" y="2092"/>
                <a:ext cx="0" cy="373"/>
              </a:xfrm>
              <a:prstGeom prst="line">
                <a:avLst/>
              </a:prstGeom>
              <a:noFill/>
              <a:ln w="25400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2266" name="Group 43">
                <a:extLst>
                  <a:ext uri="{FF2B5EF4-FFF2-40B4-BE49-F238E27FC236}">
                    <a16:creationId xmlns:a16="http://schemas.microsoft.com/office/drawing/2014/main" id="{626E5E87-5E2C-47D6-8AC8-C9C5370190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4" y="3617"/>
                <a:ext cx="217" cy="457"/>
                <a:chOff x="424" y="3617"/>
                <a:chExt cx="217" cy="457"/>
              </a:xfrm>
            </p:grpSpPr>
            <p:sp>
              <p:nvSpPr>
                <p:cNvPr id="52289" name="AutoShape 44">
                  <a:extLst>
                    <a:ext uri="{FF2B5EF4-FFF2-40B4-BE49-F238E27FC236}">
                      <a16:creationId xmlns:a16="http://schemas.microsoft.com/office/drawing/2014/main" id="{4EFD40A6-3E6B-449C-B5C8-5C5FB5671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36" y="3617"/>
                  <a:ext cx="179" cy="39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5399" y="21600"/>
                      </a:lnTo>
                      <a:lnTo>
                        <a:pt x="16201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12700">
                  <a:solidFill>
                    <a:srgbClr val="6699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90" name="Arc 45">
                  <a:extLst>
                    <a:ext uri="{FF2B5EF4-FFF2-40B4-BE49-F238E27FC236}">
                      <a16:creationId xmlns:a16="http://schemas.microsoft.com/office/drawing/2014/main" id="{B23BDC3B-BE26-4A38-9E8D-C9945BE1FC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424" y="3901"/>
                  <a:ext cx="217" cy="173"/>
                </a:xfrm>
                <a:custGeom>
                  <a:avLst/>
                  <a:gdLst>
                    <a:gd name="T0" fmla="*/ 0 w 26579"/>
                    <a:gd name="T1" fmla="*/ 0 h 21600"/>
                    <a:gd name="T2" fmla="*/ 0 w 26579"/>
                    <a:gd name="T3" fmla="*/ 0 h 21600"/>
                    <a:gd name="T4" fmla="*/ 0 w 26579"/>
                    <a:gd name="T5" fmla="*/ 0 h 21600"/>
                    <a:gd name="T6" fmla="*/ 0 w 26579"/>
                    <a:gd name="T7" fmla="*/ 0 h 21600"/>
                    <a:gd name="T8" fmla="*/ 0 w 26579"/>
                    <a:gd name="T9" fmla="*/ 0 h 21600"/>
                    <a:gd name="T10" fmla="*/ 0 w 26579"/>
                    <a:gd name="T11" fmla="*/ 0 h 21600"/>
                    <a:gd name="T12" fmla="*/ 0 w 26579"/>
                    <a:gd name="T13" fmla="*/ 0 h 216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6579" h="21600" fill="none">
                      <a:moveTo>
                        <a:pt x="0" y="4443"/>
                      </a:moveTo>
                      <a:cubicBezTo>
                        <a:pt x="3767" y="1561"/>
                        <a:pt x="8379" y="-1"/>
                        <a:pt x="13123" y="0"/>
                      </a:cubicBezTo>
                      <a:cubicBezTo>
                        <a:pt x="18011" y="0"/>
                        <a:pt x="22754" y="1658"/>
                        <a:pt x="26578" y="4703"/>
                      </a:cubicBezTo>
                    </a:path>
                    <a:path w="26579" h="21600" stroke="0">
                      <a:moveTo>
                        <a:pt x="0" y="4443"/>
                      </a:moveTo>
                      <a:cubicBezTo>
                        <a:pt x="3767" y="1561"/>
                        <a:pt x="8379" y="-1"/>
                        <a:pt x="13123" y="0"/>
                      </a:cubicBezTo>
                      <a:cubicBezTo>
                        <a:pt x="18011" y="0"/>
                        <a:pt x="22754" y="1658"/>
                        <a:pt x="26578" y="4703"/>
                      </a:cubicBezTo>
                      <a:lnTo>
                        <a:pt x="13123" y="21600"/>
                      </a:lnTo>
                      <a:lnTo>
                        <a:pt x="0" y="4443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w="12700" cap="rnd">
                  <a:solidFill>
                    <a:srgbClr val="66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267" name="Freeform 46">
                <a:extLst>
                  <a:ext uri="{FF2B5EF4-FFF2-40B4-BE49-F238E27FC236}">
                    <a16:creationId xmlns:a16="http://schemas.microsoft.com/office/drawing/2014/main" id="{26D1D608-6145-4427-916F-94E1E1E6B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" y="3412"/>
                <a:ext cx="87" cy="718"/>
              </a:xfrm>
              <a:custGeom>
                <a:avLst/>
                <a:gdLst>
                  <a:gd name="T0" fmla="*/ 0 w 87"/>
                  <a:gd name="T1" fmla="*/ 10 h 718"/>
                  <a:gd name="T2" fmla="*/ 7 w 87"/>
                  <a:gd name="T3" fmla="*/ 3 h 718"/>
                  <a:gd name="T4" fmla="*/ 15 w 87"/>
                  <a:gd name="T5" fmla="*/ 0 h 718"/>
                  <a:gd name="T6" fmla="*/ 24 w 87"/>
                  <a:gd name="T7" fmla="*/ 3 h 718"/>
                  <a:gd name="T8" fmla="*/ 31 w 87"/>
                  <a:gd name="T9" fmla="*/ 15 h 718"/>
                  <a:gd name="T10" fmla="*/ 36 w 87"/>
                  <a:gd name="T11" fmla="*/ 27 h 718"/>
                  <a:gd name="T12" fmla="*/ 39 w 87"/>
                  <a:gd name="T13" fmla="*/ 45 h 718"/>
                  <a:gd name="T14" fmla="*/ 39 w 87"/>
                  <a:gd name="T15" fmla="*/ 59 h 718"/>
                  <a:gd name="T16" fmla="*/ 34 w 87"/>
                  <a:gd name="T17" fmla="*/ 71 h 718"/>
                  <a:gd name="T18" fmla="*/ 26 w 87"/>
                  <a:gd name="T19" fmla="*/ 71 h 718"/>
                  <a:gd name="T20" fmla="*/ 21 w 87"/>
                  <a:gd name="T21" fmla="*/ 62 h 718"/>
                  <a:gd name="T22" fmla="*/ 18 w 87"/>
                  <a:gd name="T23" fmla="*/ 47 h 718"/>
                  <a:gd name="T24" fmla="*/ 18 w 87"/>
                  <a:gd name="T25" fmla="*/ 33 h 718"/>
                  <a:gd name="T26" fmla="*/ 21 w 87"/>
                  <a:gd name="T27" fmla="*/ 21 h 718"/>
                  <a:gd name="T28" fmla="*/ 29 w 87"/>
                  <a:gd name="T29" fmla="*/ 9 h 718"/>
                  <a:gd name="T30" fmla="*/ 39 w 87"/>
                  <a:gd name="T31" fmla="*/ 0 h 718"/>
                  <a:gd name="T32" fmla="*/ 47 w 87"/>
                  <a:gd name="T33" fmla="*/ 0 h 718"/>
                  <a:gd name="T34" fmla="*/ 57 w 87"/>
                  <a:gd name="T35" fmla="*/ 9 h 718"/>
                  <a:gd name="T36" fmla="*/ 63 w 87"/>
                  <a:gd name="T37" fmla="*/ 21 h 718"/>
                  <a:gd name="T38" fmla="*/ 65 w 87"/>
                  <a:gd name="T39" fmla="*/ 36 h 718"/>
                  <a:gd name="T40" fmla="*/ 65 w 87"/>
                  <a:gd name="T41" fmla="*/ 56 h 718"/>
                  <a:gd name="T42" fmla="*/ 60 w 87"/>
                  <a:gd name="T43" fmla="*/ 68 h 718"/>
                  <a:gd name="T44" fmla="*/ 52 w 87"/>
                  <a:gd name="T45" fmla="*/ 68 h 718"/>
                  <a:gd name="T46" fmla="*/ 45 w 87"/>
                  <a:gd name="T47" fmla="*/ 56 h 718"/>
                  <a:gd name="T48" fmla="*/ 45 w 87"/>
                  <a:gd name="T49" fmla="*/ 39 h 718"/>
                  <a:gd name="T50" fmla="*/ 47 w 87"/>
                  <a:gd name="T51" fmla="*/ 24 h 718"/>
                  <a:gd name="T52" fmla="*/ 55 w 87"/>
                  <a:gd name="T53" fmla="*/ 12 h 718"/>
                  <a:gd name="T54" fmla="*/ 63 w 87"/>
                  <a:gd name="T55" fmla="*/ 6 h 718"/>
                  <a:gd name="T56" fmla="*/ 73 w 87"/>
                  <a:gd name="T57" fmla="*/ 6 h 718"/>
                  <a:gd name="T58" fmla="*/ 78 w 87"/>
                  <a:gd name="T59" fmla="*/ 15 h 718"/>
                  <a:gd name="T60" fmla="*/ 83 w 87"/>
                  <a:gd name="T61" fmla="*/ 30 h 718"/>
                  <a:gd name="T62" fmla="*/ 86 w 87"/>
                  <a:gd name="T63" fmla="*/ 47 h 71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87" h="718">
                    <a:moveTo>
                      <a:pt x="0" y="687"/>
                    </a:moveTo>
                    <a:lnTo>
                      <a:pt x="0" y="10"/>
                    </a:lnTo>
                    <a:lnTo>
                      <a:pt x="3" y="3"/>
                    </a:lnTo>
                    <a:lnTo>
                      <a:pt x="7" y="3"/>
                    </a:lnTo>
                    <a:lnTo>
                      <a:pt x="11" y="0"/>
                    </a:lnTo>
                    <a:lnTo>
                      <a:pt x="15" y="0"/>
                    </a:lnTo>
                    <a:lnTo>
                      <a:pt x="20" y="0"/>
                    </a:lnTo>
                    <a:lnTo>
                      <a:pt x="24" y="3"/>
                    </a:lnTo>
                    <a:lnTo>
                      <a:pt x="28" y="6"/>
                    </a:lnTo>
                    <a:lnTo>
                      <a:pt x="31" y="15"/>
                    </a:lnTo>
                    <a:lnTo>
                      <a:pt x="34" y="21"/>
                    </a:lnTo>
                    <a:lnTo>
                      <a:pt x="36" y="27"/>
                    </a:lnTo>
                    <a:lnTo>
                      <a:pt x="37" y="36"/>
                    </a:lnTo>
                    <a:lnTo>
                      <a:pt x="39" y="45"/>
                    </a:lnTo>
                    <a:lnTo>
                      <a:pt x="39" y="51"/>
                    </a:lnTo>
                    <a:lnTo>
                      <a:pt x="39" y="59"/>
                    </a:lnTo>
                    <a:lnTo>
                      <a:pt x="39" y="68"/>
                    </a:lnTo>
                    <a:lnTo>
                      <a:pt x="34" y="71"/>
                    </a:lnTo>
                    <a:lnTo>
                      <a:pt x="31" y="71"/>
                    </a:lnTo>
                    <a:lnTo>
                      <a:pt x="26" y="71"/>
                    </a:lnTo>
                    <a:lnTo>
                      <a:pt x="21" y="68"/>
                    </a:lnTo>
                    <a:lnTo>
                      <a:pt x="21" y="62"/>
                    </a:lnTo>
                    <a:lnTo>
                      <a:pt x="20" y="53"/>
                    </a:lnTo>
                    <a:lnTo>
                      <a:pt x="18" y="47"/>
                    </a:lnTo>
                    <a:lnTo>
                      <a:pt x="18" y="39"/>
                    </a:lnTo>
                    <a:lnTo>
                      <a:pt x="18" y="33"/>
                    </a:lnTo>
                    <a:lnTo>
                      <a:pt x="18" y="24"/>
                    </a:lnTo>
                    <a:lnTo>
                      <a:pt x="21" y="21"/>
                    </a:lnTo>
                    <a:lnTo>
                      <a:pt x="26" y="12"/>
                    </a:lnTo>
                    <a:lnTo>
                      <a:pt x="29" y="9"/>
                    </a:lnTo>
                    <a:lnTo>
                      <a:pt x="34" y="3"/>
                    </a:lnTo>
                    <a:lnTo>
                      <a:pt x="39" y="0"/>
                    </a:lnTo>
                    <a:lnTo>
                      <a:pt x="42" y="0"/>
                    </a:lnTo>
                    <a:lnTo>
                      <a:pt x="47" y="0"/>
                    </a:lnTo>
                    <a:lnTo>
                      <a:pt x="50" y="3"/>
                    </a:lnTo>
                    <a:lnTo>
                      <a:pt x="57" y="9"/>
                    </a:lnTo>
                    <a:lnTo>
                      <a:pt x="60" y="18"/>
                    </a:lnTo>
                    <a:lnTo>
                      <a:pt x="63" y="21"/>
                    </a:lnTo>
                    <a:lnTo>
                      <a:pt x="63" y="27"/>
                    </a:lnTo>
                    <a:lnTo>
                      <a:pt x="65" y="36"/>
                    </a:lnTo>
                    <a:lnTo>
                      <a:pt x="65" y="42"/>
                    </a:lnTo>
                    <a:lnTo>
                      <a:pt x="65" y="56"/>
                    </a:lnTo>
                    <a:lnTo>
                      <a:pt x="63" y="65"/>
                    </a:lnTo>
                    <a:lnTo>
                      <a:pt x="60" y="68"/>
                    </a:lnTo>
                    <a:lnTo>
                      <a:pt x="55" y="68"/>
                    </a:lnTo>
                    <a:lnTo>
                      <a:pt x="52" y="68"/>
                    </a:lnTo>
                    <a:lnTo>
                      <a:pt x="49" y="62"/>
                    </a:lnTo>
                    <a:lnTo>
                      <a:pt x="45" y="56"/>
                    </a:lnTo>
                    <a:lnTo>
                      <a:pt x="45" y="47"/>
                    </a:lnTo>
                    <a:lnTo>
                      <a:pt x="45" y="39"/>
                    </a:lnTo>
                    <a:lnTo>
                      <a:pt x="45" y="33"/>
                    </a:lnTo>
                    <a:lnTo>
                      <a:pt x="47" y="24"/>
                    </a:lnTo>
                    <a:lnTo>
                      <a:pt x="50" y="18"/>
                    </a:lnTo>
                    <a:lnTo>
                      <a:pt x="55" y="12"/>
                    </a:lnTo>
                    <a:lnTo>
                      <a:pt x="60" y="9"/>
                    </a:lnTo>
                    <a:lnTo>
                      <a:pt x="63" y="6"/>
                    </a:lnTo>
                    <a:lnTo>
                      <a:pt x="68" y="6"/>
                    </a:lnTo>
                    <a:lnTo>
                      <a:pt x="73" y="6"/>
                    </a:lnTo>
                    <a:lnTo>
                      <a:pt x="76" y="9"/>
                    </a:lnTo>
                    <a:lnTo>
                      <a:pt x="78" y="15"/>
                    </a:lnTo>
                    <a:lnTo>
                      <a:pt x="81" y="24"/>
                    </a:lnTo>
                    <a:lnTo>
                      <a:pt x="83" y="30"/>
                    </a:lnTo>
                    <a:lnTo>
                      <a:pt x="85" y="39"/>
                    </a:lnTo>
                    <a:lnTo>
                      <a:pt x="86" y="47"/>
                    </a:lnTo>
                    <a:lnTo>
                      <a:pt x="85" y="717"/>
                    </a:lnTo>
                  </a:path>
                </a:pathLst>
              </a:custGeom>
              <a:noFill/>
              <a:ln w="12700" cap="rnd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8" name="Line 47">
                <a:extLst>
                  <a:ext uri="{FF2B5EF4-FFF2-40B4-BE49-F238E27FC236}">
                    <a16:creationId xmlns:a16="http://schemas.microsoft.com/office/drawing/2014/main" id="{D5D8CFEB-CDDA-4964-85E3-292265DE74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0" y="2924"/>
                <a:ext cx="0" cy="459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9" name="Line 48">
                <a:extLst>
                  <a:ext uri="{FF2B5EF4-FFF2-40B4-BE49-F238E27FC236}">
                    <a16:creationId xmlns:a16="http://schemas.microsoft.com/office/drawing/2014/main" id="{C5E9FCE2-25ED-43FB-8AE7-FAA59FF86A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" y="2924"/>
                <a:ext cx="0" cy="459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0" name="Line 49">
                <a:extLst>
                  <a:ext uri="{FF2B5EF4-FFF2-40B4-BE49-F238E27FC236}">
                    <a16:creationId xmlns:a16="http://schemas.microsoft.com/office/drawing/2014/main" id="{18443523-91EB-4606-BD23-62F2E3C34B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" y="2895"/>
                <a:ext cx="0" cy="488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1" name="Line 50">
                <a:extLst>
                  <a:ext uri="{FF2B5EF4-FFF2-40B4-BE49-F238E27FC236}">
                    <a16:creationId xmlns:a16="http://schemas.microsoft.com/office/drawing/2014/main" id="{7483466C-1DF4-4034-A646-F0A9B9A1D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2867"/>
                <a:ext cx="0" cy="516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prstDash val="dash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2" name="Line 51">
                <a:extLst>
                  <a:ext uri="{FF2B5EF4-FFF2-40B4-BE49-F238E27FC236}">
                    <a16:creationId xmlns:a16="http://schemas.microsoft.com/office/drawing/2014/main" id="{442387B7-89AE-4F78-944A-388F5C59A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880"/>
                <a:ext cx="720" cy="288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3" name="Line 52">
                <a:extLst>
                  <a:ext uri="{FF2B5EF4-FFF2-40B4-BE49-F238E27FC236}">
                    <a16:creationId xmlns:a16="http://schemas.microsoft.com/office/drawing/2014/main" id="{076DB19A-D7BB-4301-A6E2-38D550F189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880"/>
                <a:ext cx="576" cy="0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4" name="Line 53">
                <a:extLst>
                  <a:ext uri="{FF2B5EF4-FFF2-40B4-BE49-F238E27FC236}">
                    <a16:creationId xmlns:a16="http://schemas.microsoft.com/office/drawing/2014/main" id="{676BBABC-7E88-43FD-B648-30019344B8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" y="2895"/>
                <a:ext cx="634" cy="513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5" name="Line 54">
                <a:extLst>
                  <a:ext uri="{FF2B5EF4-FFF2-40B4-BE49-F238E27FC236}">
                    <a16:creationId xmlns:a16="http://schemas.microsoft.com/office/drawing/2014/main" id="{5F8468EF-37FB-4EC9-A1BF-59A53FCDC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2640"/>
                <a:ext cx="672" cy="192"/>
              </a:xfrm>
              <a:prstGeom prst="line">
                <a:avLst/>
              </a:prstGeom>
              <a:noFill/>
              <a:ln w="12700">
                <a:solidFill>
                  <a:srgbClr val="6699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6" name="Freeform 55">
                <a:extLst>
                  <a:ext uri="{FF2B5EF4-FFF2-40B4-BE49-F238E27FC236}">
                    <a16:creationId xmlns:a16="http://schemas.microsoft.com/office/drawing/2014/main" id="{774A4591-0155-473B-963F-979CAD31F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" y="1633"/>
                <a:ext cx="350" cy="1379"/>
              </a:xfrm>
              <a:custGeom>
                <a:avLst/>
                <a:gdLst>
                  <a:gd name="T0" fmla="*/ 0 w 350"/>
                  <a:gd name="T1" fmla="*/ 1378 h 1379"/>
                  <a:gd name="T2" fmla="*/ 6 w 350"/>
                  <a:gd name="T3" fmla="*/ 1355 h 1379"/>
                  <a:gd name="T4" fmla="*/ 1 w 350"/>
                  <a:gd name="T5" fmla="*/ 1339 h 1379"/>
                  <a:gd name="T6" fmla="*/ 1 w 350"/>
                  <a:gd name="T7" fmla="*/ 1323 h 1379"/>
                  <a:gd name="T8" fmla="*/ 1 w 350"/>
                  <a:gd name="T9" fmla="*/ 1311 h 1379"/>
                  <a:gd name="T10" fmla="*/ 1 w 350"/>
                  <a:gd name="T11" fmla="*/ 1295 h 1379"/>
                  <a:gd name="T12" fmla="*/ 1 w 350"/>
                  <a:gd name="T13" fmla="*/ 1284 h 1379"/>
                  <a:gd name="T14" fmla="*/ 6 w 350"/>
                  <a:gd name="T15" fmla="*/ 1267 h 1379"/>
                  <a:gd name="T16" fmla="*/ 6 w 350"/>
                  <a:gd name="T17" fmla="*/ 1251 h 1379"/>
                  <a:gd name="T18" fmla="*/ 12 w 350"/>
                  <a:gd name="T19" fmla="*/ 1239 h 1379"/>
                  <a:gd name="T20" fmla="*/ 17 w 350"/>
                  <a:gd name="T21" fmla="*/ 1217 h 1379"/>
                  <a:gd name="T22" fmla="*/ 23 w 350"/>
                  <a:gd name="T23" fmla="*/ 1201 h 1379"/>
                  <a:gd name="T24" fmla="*/ 29 w 350"/>
                  <a:gd name="T25" fmla="*/ 1190 h 1379"/>
                  <a:gd name="T26" fmla="*/ 34 w 350"/>
                  <a:gd name="T27" fmla="*/ 1174 h 1379"/>
                  <a:gd name="T28" fmla="*/ 39 w 350"/>
                  <a:gd name="T29" fmla="*/ 1162 h 1379"/>
                  <a:gd name="T30" fmla="*/ 51 w 350"/>
                  <a:gd name="T31" fmla="*/ 1152 h 1379"/>
                  <a:gd name="T32" fmla="*/ 51 w 350"/>
                  <a:gd name="T33" fmla="*/ 1140 h 1379"/>
                  <a:gd name="T34" fmla="*/ 61 w 350"/>
                  <a:gd name="T35" fmla="*/ 1123 h 1379"/>
                  <a:gd name="T36" fmla="*/ 67 w 350"/>
                  <a:gd name="T37" fmla="*/ 1107 h 1379"/>
                  <a:gd name="T38" fmla="*/ 73 w 350"/>
                  <a:gd name="T39" fmla="*/ 1096 h 1379"/>
                  <a:gd name="T40" fmla="*/ 84 w 350"/>
                  <a:gd name="T41" fmla="*/ 1080 h 1379"/>
                  <a:gd name="T42" fmla="*/ 90 w 350"/>
                  <a:gd name="T43" fmla="*/ 1069 h 1379"/>
                  <a:gd name="T44" fmla="*/ 95 w 350"/>
                  <a:gd name="T45" fmla="*/ 1052 h 1379"/>
                  <a:gd name="T46" fmla="*/ 100 w 350"/>
                  <a:gd name="T47" fmla="*/ 1041 h 1379"/>
                  <a:gd name="T48" fmla="*/ 100 w 350"/>
                  <a:gd name="T49" fmla="*/ 1024 h 1379"/>
                  <a:gd name="T50" fmla="*/ 106 w 350"/>
                  <a:gd name="T51" fmla="*/ 1008 h 1379"/>
                  <a:gd name="T52" fmla="*/ 106 w 350"/>
                  <a:gd name="T53" fmla="*/ 997 h 1379"/>
                  <a:gd name="T54" fmla="*/ 111 w 350"/>
                  <a:gd name="T55" fmla="*/ 981 h 1379"/>
                  <a:gd name="T56" fmla="*/ 111 w 350"/>
                  <a:gd name="T57" fmla="*/ 969 h 1379"/>
                  <a:gd name="T58" fmla="*/ 115 w 350"/>
                  <a:gd name="T59" fmla="*/ 0 h 1379"/>
                  <a:gd name="T60" fmla="*/ 230 w 350"/>
                  <a:gd name="T61" fmla="*/ 0 h 1379"/>
                  <a:gd name="T62" fmla="*/ 230 w 350"/>
                  <a:gd name="T63" fmla="*/ 919 h 1379"/>
                  <a:gd name="T64" fmla="*/ 227 w 350"/>
                  <a:gd name="T65" fmla="*/ 931 h 1379"/>
                  <a:gd name="T66" fmla="*/ 239 w 350"/>
                  <a:gd name="T67" fmla="*/ 942 h 1379"/>
                  <a:gd name="T68" fmla="*/ 244 w 350"/>
                  <a:gd name="T69" fmla="*/ 959 h 1379"/>
                  <a:gd name="T70" fmla="*/ 255 w 350"/>
                  <a:gd name="T71" fmla="*/ 975 h 1379"/>
                  <a:gd name="T72" fmla="*/ 261 w 350"/>
                  <a:gd name="T73" fmla="*/ 986 h 1379"/>
                  <a:gd name="T74" fmla="*/ 277 w 350"/>
                  <a:gd name="T75" fmla="*/ 1002 h 1379"/>
                  <a:gd name="T76" fmla="*/ 288 w 350"/>
                  <a:gd name="T77" fmla="*/ 1014 h 1379"/>
                  <a:gd name="T78" fmla="*/ 305 w 350"/>
                  <a:gd name="T79" fmla="*/ 1030 h 1379"/>
                  <a:gd name="T80" fmla="*/ 316 w 350"/>
                  <a:gd name="T81" fmla="*/ 1046 h 1379"/>
                  <a:gd name="T82" fmla="*/ 321 w 350"/>
                  <a:gd name="T83" fmla="*/ 1058 h 1379"/>
                  <a:gd name="T84" fmla="*/ 333 w 350"/>
                  <a:gd name="T85" fmla="*/ 1074 h 1379"/>
                  <a:gd name="T86" fmla="*/ 333 w 350"/>
                  <a:gd name="T87" fmla="*/ 1085 h 1379"/>
                  <a:gd name="T88" fmla="*/ 338 w 350"/>
                  <a:gd name="T89" fmla="*/ 1102 h 1379"/>
                  <a:gd name="T90" fmla="*/ 343 w 350"/>
                  <a:gd name="T91" fmla="*/ 1118 h 1379"/>
                  <a:gd name="T92" fmla="*/ 349 w 350"/>
                  <a:gd name="T93" fmla="*/ 1135 h 1379"/>
                  <a:gd name="T94" fmla="*/ 0 w 350"/>
                  <a:gd name="T95" fmla="*/ 1378 h 1379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350" h="1379">
                    <a:moveTo>
                      <a:pt x="0" y="1378"/>
                    </a:moveTo>
                    <a:lnTo>
                      <a:pt x="6" y="1355"/>
                    </a:lnTo>
                    <a:lnTo>
                      <a:pt x="1" y="1339"/>
                    </a:lnTo>
                    <a:lnTo>
                      <a:pt x="1" y="1323"/>
                    </a:lnTo>
                    <a:lnTo>
                      <a:pt x="1" y="1311"/>
                    </a:lnTo>
                    <a:lnTo>
                      <a:pt x="1" y="1295"/>
                    </a:lnTo>
                    <a:lnTo>
                      <a:pt x="1" y="1284"/>
                    </a:lnTo>
                    <a:lnTo>
                      <a:pt x="6" y="1267"/>
                    </a:lnTo>
                    <a:lnTo>
                      <a:pt x="6" y="1251"/>
                    </a:lnTo>
                    <a:lnTo>
                      <a:pt x="12" y="1239"/>
                    </a:lnTo>
                    <a:lnTo>
                      <a:pt x="17" y="1217"/>
                    </a:lnTo>
                    <a:lnTo>
                      <a:pt x="23" y="1201"/>
                    </a:lnTo>
                    <a:lnTo>
                      <a:pt x="29" y="1190"/>
                    </a:lnTo>
                    <a:lnTo>
                      <a:pt x="34" y="1174"/>
                    </a:lnTo>
                    <a:lnTo>
                      <a:pt x="39" y="1162"/>
                    </a:lnTo>
                    <a:lnTo>
                      <a:pt x="51" y="1152"/>
                    </a:lnTo>
                    <a:lnTo>
                      <a:pt x="51" y="1140"/>
                    </a:lnTo>
                    <a:lnTo>
                      <a:pt x="61" y="1123"/>
                    </a:lnTo>
                    <a:lnTo>
                      <a:pt x="67" y="1107"/>
                    </a:lnTo>
                    <a:lnTo>
                      <a:pt x="73" y="1096"/>
                    </a:lnTo>
                    <a:lnTo>
                      <a:pt x="84" y="1080"/>
                    </a:lnTo>
                    <a:lnTo>
                      <a:pt x="90" y="1069"/>
                    </a:lnTo>
                    <a:lnTo>
                      <a:pt x="95" y="1052"/>
                    </a:lnTo>
                    <a:lnTo>
                      <a:pt x="100" y="1041"/>
                    </a:lnTo>
                    <a:lnTo>
                      <a:pt x="100" y="1024"/>
                    </a:lnTo>
                    <a:lnTo>
                      <a:pt x="106" y="1008"/>
                    </a:lnTo>
                    <a:lnTo>
                      <a:pt x="106" y="997"/>
                    </a:lnTo>
                    <a:lnTo>
                      <a:pt x="111" y="981"/>
                    </a:lnTo>
                    <a:lnTo>
                      <a:pt x="111" y="969"/>
                    </a:lnTo>
                    <a:lnTo>
                      <a:pt x="115" y="0"/>
                    </a:lnTo>
                    <a:lnTo>
                      <a:pt x="230" y="0"/>
                    </a:lnTo>
                    <a:lnTo>
                      <a:pt x="230" y="919"/>
                    </a:lnTo>
                    <a:lnTo>
                      <a:pt x="227" y="931"/>
                    </a:lnTo>
                    <a:lnTo>
                      <a:pt x="239" y="942"/>
                    </a:lnTo>
                    <a:lnTo>
                      <a:pt x="244" y="959"/>
                    </a:lnTo>
                    <a:lnTo>
                      <a:pt x="255" y="975"/>
                    </a:lnTo>
                    <a:lnTo>
                      <a:pt x="261" y="986"/>
                    </a:lnTo>
                    <a:lnTo>
                      <a:pt x="277" y="1002"/>
                    </a:lnTo>
                    <a:lnTo>
                      <a:pt x="288" y="1014"/>
                    </a:lnTo>
                    <a:lnTo>
                      <a:pt x="305" y="1030"/>
                    </a:lnTo>
                    <a:lnTo>
                      <a:pt x="316" y="1046"/>
                    </a:lnTo>
                    <a:lnTo>
                      <a:pt x="321" y="1058"/>
                    </a:lnTo>
                    <a:lnTo>
                      <a:pt x="333" y="1074"/>
                    </a:lnTo>
                    <a:lnTo>
                      <a:pt x="333" y="1085"/>
                    </a:lnTo>
                    <a:lnTo>
                      <a:pt x="338" y="1102"/>
                    </a:lnTo>
                    <a:lnTo>
                      <a:pt x="343" y="1118"/>
                    </a:lnTo>
                    <a:lnTo>
                      <a:pt x="349" y="1135"/>
                    </a:lnTo>
                    <a:lnTo>
                      <a:pt x="0" y="1378"/>
                    </a:lnTo>
                  </a:path>
                </a:pathLst>
              </a:custGeom>
              <a:gradFill rotWithShape="0">
                <a:gsLst>
                  <a:gs pos="0">
                    <a:srgbClr val="663D14"/>
                  </a:gs>
                  <a:gs pos="50000">
                    <a:srgbClr val="FF9933"/>
                  </a:gs>
                  <a:gs pos="100000">
                    <a:srgbClr val="663D14"/>
                  </a:gs>
                </a:gsLst>
                <a:lin ang="0" scaled="1"/>
              </a:gradFill>
              <a:ln w="12700" cap="rnd">
                <a:solidFill>
                  <a:srgbClr val="66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7" name="Arc 56">
                <a:extLst>
                  <a:ext uri="{FF2B5EF4-FFF2-40B4-BE49-F238E27FC236}">
                    <a16:creationId xmlns:a16="http://schemas.microsoft.com/office/drawing/2014/main" id="{17298288-4123-4971-9660-D426F3A20E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347" y="3873"/>
                <a:ext cx="374" cy="201"/>
              </a:xfrm>
              <a:custGeom>
                <a:avLst/>
                <a:gdLst>
                  <a:gd name="T0" fmla="*/ 0 w 43193"/>
                  <a:gd name="T1" fmla="*/ 0 h 21600"/>
                  <a:gd name="T2" fmla="*/ 0 w 43193"/>
                  <a:gd name="T3" fmla="*/ 0 h 21600"/>
                  <a:gd name="T4" fmla="*/ 0 w 43193"/>
                  <a:gd name="T5" fmla="*/ 0 h 21600"/>
                  <a:gd name="T6" fmla="*/ 0 w 43193"/>
                  <a:gd name="T7" fmla="*/ 0 h 21600"/>
                  <a:gd name="T8" fmla="*/ 0 w 43193"/>
                  <a:gd name="T9" fmla="*/ 0 h 21600"/>
                  <a:gd name="T10" fmla="*/ 0 w 43193"/>
                  <a:gd name="T11" fmla="*/ 0 h 21600"/>
                  <a:gd name="T12" fmla="*/ 0 w 43193"/>
                  <a:gd name="T13" fmla="*/ 0 h 216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193" h="21600" fill="none">
                    <a:moveTo>
                      <a:pt x="-1" y="21062"/>
                    </a:moveTo>
                    <a:cubicBezTo>
                      <a:pt x="291" y="9346"/>
                      <a:pt x="9872" y="-1"/>
                      <a:pt x="21593" y="0"/>
                    </a:cubicBezTo>
                    <a:cubicBezTo>
                      <a:pt x="33522" y="0"/>
                      <a:pt x="43193" y="9670"/>
                      <a:pt x="43193" y="21600"/>
                    </a:cubicBezTo>
                  </a:path>
                  <a:path w="43193" h="21600" stroke="0">
                    <a:moveTo>
                      <a:pt x="-1" y="21062"/>
                    </a:moveTo>
                    <a:cubicBezTo>
                      <a:pt x="291" y="9346"/>
                      <a:pt x="9872" y="-1"/>
                      <a:pt x="21593" y="0"/>
                    </a:cubicBezTo>
                    <a:cubicBezTo>
                      <a:pt x="33522" y="0"/>
                      <a:pt x="43193" y="9670"/>
                      <a:pt x="43193" y="21600"/>
                    </a:cubicBezTo>
                    <a:lnTo>
                      <a:pt x="21593" y="21600"/>
                    </a:lnTo>
                    <a:lnTo>
                      <a:pt x="-1" y="21062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8" name="Rectangle 57">
                <a:extLst>
                  <a:ext uri="{FF2B5EF4-FFF2-40B4-BE49-F238E27FC236}">
                    <a16:creationId xmlns:a16="http://schemas.microsoft.com/office/drawing/2014/main" id="{8EC00590-3445-4ABF-A966-0117BB78D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3" y="2495"/>
                <a:ext cx="139" cy="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0" i="1">
                    <a:latin typeface="Symbol" panose="05050102010706020507" pitchFamily="18" charset="2"/>
                  </a:rPr>
                  <a:t>j</a:t>
                </a:r>
                <a:endParaRPr lang="en-US" altLang="zh-CN" sz="2800" b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52279" name="Rectangle 58" descr="浅色下对角线">
                <a:extLst>
                  <a:ext uri="{FF2B5EF4-FFF2-40B4-BE49-F238E27FC236}">
                    <a16:creationId xmlns:a16="http://schemas.microsoft.com/office/drawing/2014/main" id="{95E07D78-EFF8-4B4F-9612-A0F3B67F41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2400"/>
                <a:ext cx="136" cy="424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12700">
                <a:solidFill>
                  <a:srgbClr val="66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52280" name="Rectangle 59" descr="浅色下对角线">
                <a:extLst>
                  <a:ext uri="{FF2B5EF4-FFF2-40B4-BE49-F238E27FC236}">
                    <a16:creationId xmlns:a16="http://schemas.microsoft.com/office/drawing/2014/main" id="{8026971B-5537-4CDC-8D52-1CD0BD6E1A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2928"/>
                <a:ext cx="136" cy="424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12700">
                <a:solidFill>
                  <a:srgbClr val="66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grpSp>
            <p:nvGrpSpPr>
              <p:cNvPr id="52281" name="Group 60">
                <a:extLst>
                  <a:ext uri="{FF2B5EF4-FFF2-40B4-BE49-F238E27FC236}">
                    <a16:creationId xmlns:a16="http://schemas.microsoft.com/office/drawing/2014/main" id="{C2DF9BF9-788F-4483-8982-418D01700F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8" y="1239"/>
                <a:ext cx="1759" cy="1643"/>
                <a:chOff x="2688" y="1239"/>
                <a:chExt cx="1759" cy="1643"/>
              </a:xfrm>
            </p:grpSpPr>
            <p:sp>
              <p:nvSpPr>
                <p:cNvPr id="52287" name="Line 61">
                  <a:extLst>
                    <a:ext uri="{FF2B5EF4-FFF2-40B4-BE49-F238E27FC236}">
                      <a16:creationId xmlns:a16="http://schemas.microsoft.com/office/drawing/2014/main" id="{F590598B-51BF-4B1C-8556-F8643BF22D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0" y="1776"/>
                  <a:ext cx="336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88" name="Arc 62">
                  <a:extLst>
                    <a:ext uri="{FF2B5EF4-FFF2-40B4-BE49-F238E27FC236}">
                      <a16:creationId xmlns:a16="http://schemas.microsoft.com/office/drawing/2014/main" id="{5AA5D3E4-90AC-47C6-A871-390C4F7DC3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8" y="1239"/>
                  <a:ext cx="1759" cy="1643"/>
                </a:xfrm>
                <a:custGeom>
                  <a:avLst/>
                  <a:gdLst>
                    <a:gd name="T0" fmla="*/ 12 w 17992"/>
                    <a:gd name="T1" fmla="*/ 0 h 17608"/>
                    <a:gd name="T2" fmla="*/ 17 w 17992"/>
                    <a:gd name="T3" fmla="*/ 5 h 17608"/>
                    <a:gd name="T4" fmla="*/ 12 w 17992"/>
                    <a:gd name="T5" fmla="*/ 0 h 17608"/>
                    <a:gd name="T6" fmla="*/ 17 w 17992"/>
                    <a:gd name="T7" fmla="*/ 5 h 17608"/>
                    <a:gd name="T8" fmla="*/ 0 w 17992"/>
                    <a:gd name="T9" fmla="*/ 14 h 176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992" h="17608" fill="none">
                      <a:moveTo>
                        <a:pt x="12510" y="0"/>
                      </a:moveTo>
                      <a:cubicBezTo>
                        <a:pt x="14669" y="1533"/>
                        <a:pt x="16527" y="3450"/>
                        <a:pt x="17991" y="5656"/>
                      </a:cubicBezTo>
                    </a:path>
                    <a:path w="17992" h="17608" stroke="0">
                      <a:moveTo>
                        <a:pt x="12510" y="0"/>
                      </a:moveTo>
                      <a:cubicBezTo>
                        <a:pt x="14669" y="1533"/>
                        <a:pt x="16527" y="3450"/>
                        <a:pt x="17991" y="5656"/>
                      </a:cubicBezTo>
                      <a:lnTo>
                        <a:pt x="0" y="17608"/>
                      </a:lnTo>
                      <a:lnTo>
                        <a:pt x="12510" y="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6699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282" name="Arc 63">
                <a:extLst>
                  <a:ext uri="{FF2B5EF4-FFF2-40B4-BE49-F238E27FC236}">
                    <a16:creationId xmlns:a16="http://schemas.microsoft.com/office/drawing/2014/main" id="{5E252115-9658-454B-8D64-F4B3BF737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2235"/>
                <a:ext cx="2112" cy="1183"/>
              </a:xfrm>
              <a:custGeom>
                <a:avLst/>
                <a:gdLst>
                  <a:gd name="T0" fmla="*/ 19 w 21600"/>
                  <a:gd name="T1" fmla="*/ 0 h 12678"/>
                  <a:gd name="T2" fmla="*/ 20 w 21600"/>
                  <a:gd name="T3" fmla="*/ 6 h 12678"/>
                  <a:gd name="T4" fmla="*/ 19 w 21600"/>
                  <a:gd name="T5" fmla="*/ 10 h 12678"/>
                  <a:gd name="T6" fmla="*/ 19 w 21600"/>
                  <a:gd name="T7" fmla="*/ 0 h 12678"/>
                  <a:gd name="T8" fmla="*/ 20 w 21600"/>
                  <a:gd name="T9" fmla="*/ 6 h 12678"/>
                  <a:gd name="T10" fmla="*/ 19 w 21600"/>
                  <a:gd name="T11" fmla="*/ 10 h 12678"/>
                  <a:gd name="T12" fmla="*/ 0 w 21600"/>
                  <a:gd name="T13" fmla="*/ 6 h 126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600" h="12678" fill="none">
                    <a:moveTo>
                      <a:pt x="20423" y="0"/>
                    </a:moveTo>
                    <a:cubicBezTo>
                      <a:pt x="21202" y="2262"/>
                      <a:pt x="21600" y="4638"/>
                      <a:pt x="21600" y="7031"/>
                    </a:cubicBezTo>
                    <a:cubicBezTo>
                      <a:pt x="21600" y="8938"/>
                      <a:pt x="21347" y="10837"/>
                      <a:pt x="20848" y="12677"/>
                    </a:cubicBezTo>
                  </a:path>
                  <a:path w="21600" h="12678" stroke="0">
                    <a:moveTo>
                      <a:pt x="20423" y="0"/>
                    </a:moveTo>
                    <a:cubicBezTo>
                      <a:pt x="21202" y="2262"/>
                      <a:pt x="21600" y="4638"/>
                      <a:pt x="21600" y="7031"/>
                    </a:cubicBezTo>
                    <a:cubicBezTo>
                      <a:pt x="21600" y="8938"/>
                      <a:pt x="21347" y="10837"/>
                      <a:pt x="20848" y="12677"/>
                    </a:cubicBezTo>
                    <a:lnTo>
                      <a:pt x="0" y="7031"/>
                    </a:lnTo>
                    <a:lnTo>
                      <a:pt x="20423" y="0"/>
                    </a:lnTo>
                    <a:close/>
                  </a:path>
                </a:pathLst>
              </a:custGeom>
              <a:noFill/>
              <a:ln w="12700">
                <a:solidFill>
                  <a:srgbClr val="6699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83" name="Freeform 64">
                <a:extLst>
                  <a:ext uri="{FF2B5EF4-FFF2-40B4-BE49-F238E27FC236}">
                    <a16:creationId xmlns:a16="http://schemas.microsoft.com/office/drawing/2014/main" id="{CFA69ED7-7BAD-499D-A39E-32BF9D45F4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4197832">
                <a:off x="5184" y="2448"/>
                <a:ext cx="240" cy="336"/>
              </a:xfrm>
              <a:custGeom>
                <a:avLst/>
                <a:gdLst>
                  <a:gd name="T0" fmla="*/ 0 w 576"/>
                  <a:gd name="T1" fmla="*/ 0 h 768"/>
                  <a:gd name="T2" fmla="*/ 0 w 576"/>
                  <a:gd name="T3" fmla="*/ 64 h 768"/>
                  <a:gd name="T4" fmla="*/ 42 w 576"/>
                  <a:gd name="T5" fmla="*/ 64 h 768"/>
                  <a:gd name="T6" fmla="*/ 42 w 576"/>
                  <a:gd name="T7" fmla="*/ 0 h 76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76" h="768">
                    <a:moveTo>
                      <a:pt x="0" y="0"/>
                    </a:moveTo>
                    <a:lnTo>
                      <a:pt x="0" y="768"/>
                    </a:lnTo>
                    <a:lnTo>
                      <a:pt x="576" y="768"/>
                    </a:lnTo>
                    <a:lnTo>
                      <a:pt x="576" y="0"/>
                    </a:lnTo>
                  </a:path>
                </a:pathLst>
              </a:custGeom>
              <a:noFill/>
              <a:ln w="57150">
                <a:solidFill>
                  <a:srgbClr val="CC66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2284" name="Group 65">
                <a:extLst>
                  <a:ext uri="{FF2B5EF4-FFF2-40B4-BE49-F238E27FC236}">
                    <a16:creationId xmlns:a16="http://schemas.microsoft.com/office/drawing/2014/main" id="{AD44EDE5-BB7D-47FF-B001-5FCD505F9A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6946689">
                <a:off x="3939" y="1617"/>
                <a:ext cx="509" cy="1104"/>
                <a:chOff x="4080" y="432"/>
                <a:chExt cx="720" cy="1296"/>
              </a:xfrm>
            </p:grpSpPr>
            <p:sp>
              <p:nvSpPr>
                <p:cNvPr id="52285" name="Freeform 66">
                  <a:extLst>
                    <a:ext uri="{FF2B5EF4-FFF2-40B4-BE49-F238E27FC236}">
                      <a16:creationId xmlns:a16="http://schemas.microsoft.com/office/drawing/2014/main" id="{ED9AB547-CB3F-45CD-B508-E8C518374D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432"/>
                  <a:ext cx="432" cy="1296"/>
                </a:xfrm>
                <a:custGeom>
                  <a:avLst/>
                  <a:gdLst>
                    <a:gd name="T0" fmla="*/ 192 w 432"/>
                    <a:gd name="T1" fmla="*/ 0 h 1296"/>
                    <a:gd name="T2" fmla="*/ 192 w 432"/>
                    <a:gd name="T3" fmla="*/ 240 h 1296"/>
                    <a:gd name="T4" fmla="*/ 432 w 432"/>
                    <a:gd name="T5" fmla="*/ 240 h 1296"/>
                    <a:gd name="T6" fmla="*/ 432 w 432"/>
                    <a:gd name="T7" fmla="*/ 1296 h 1296"/>
                    <a:gd name="T8" fmla="*/ 0 w 432"/>
                    <a:gd name="T9" fmla="*/ 1296 h 129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32" h="1296">
                      <a:moveTo>
                        <a:pt x="192" y="0"/>
                      </a:moveTo>
                      <a:lnTo>
                        <a:pt x="192" y="240"/>
                      </a:lnTo>
                      <a:lnTo>
                        <a:pt x="432" y="240"/>
                      </a:lnTo>
                      <a:lnTo>
                        <a:pt x="432" y="1296"/>
                      </a:lnTo>
                      <a:lnTo>
                        <a:pt x="0" y="1296"/>
                      </a:lnTo>
                    </a:path>
                  </a:pathLst>
                </a:custGeom>
                <a:noFill/>
                <a:ln w="57150">
                  <a:solidFill>
                    <a:srgbClr val="99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86" name="Freeform 67">
                  <a:extLst>
                    <a:ext uri="{FF2B5EF4-FFF2-40B4-BE49-F238E27FC236}">
                      <a16:creationId xmlns:a16="http://schemas.microsoft.com/office/drawing/2014/main" id="{6CFAC2C5-5E4C-49F2-B2A3-D464B81F16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4080" y="432"/>
                  <a:ext cx="432" cy="1296"/>
                </a:xfrm>
                <a:custGeom>
                  <a:avLst/>
                  <a:gdLst>
                    <a:gd name="T0" fmla="*/ 192 w 432"/>
                    <a:gd name="T1" fmla="*/ 0 h 1296"/>
                    <a:gd name="T2" fmla="*/ 192 w 432"/>
                    <a:gd name="T3" fmla="*/ 240 h 1296"/>
                    <a:gd name="T4" fmla="*/ 432 w 432"/>
                    <a:gd name="T5" fmla="*/ 240 h 1296"/>
                    <a:gd name="T6" fmla="*/ 432 w 432"/>
                    <a:gd name="T7" fmla="*/ 1296 h 1296"/>
                    <a:gd name="T8" fmla="*/ 0 w 432"/>
                    <a:gd name="T9" fmla="*/ 1296 h 129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32" h="1296">
                      <a:moveTo>
                        <a:pt x="192" y="0"/>
                      </a:moveTo>
                      <a:lnTo>
                        <a:pt x="192" y="240"/>
                      </a:lnTo>
                      <a:lnTo>
                        <a:pt x="432" y="240"/>
                      </a:lnTo>
                      <a:lnTo>
                        <a:pt x="432" y="1296"/>
                      </a:lnTo>
                      <a:lnTo>
                        <a:pt x="0" y="1296"/>
                      </a:lnTo>
                    </a:path>
                  </a:pathLst>
                </a:custGeom>
                <a:noFill/>
                <a:ln w="57150">
                  <a:solidFill>
                    <a:srgbClr val="99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2240" name="Rectangle 68">
              <a:extLst>
                <a:ext uri="{FF2B5EF4-FFF2-40B4-BE49-F238E27FC236}">
                  <a16:creationId xmlns:a16="http://schemas.microsoft.com/office/drawing/2014/main" id="{310472BC-E073-48ED-9E4C-8D52664D4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711"/>
              <a:ext cx="304" cy="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ym typeface="Symbol" panose="05050102010706020507" pitchFamily="18" charset="2"/>
                </a:rPr>
                <a:t></a:t>
              </a:r>
              <a:r>
                <a:rPr lang="en-US" altLang="zh-CN" sz="2800" baseline="-25000"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52241" name="Rectangle 69">
              <a:extLst>
                <a:ext uri="{FF2B5EF4-FFF2-40B4-BE49-F238E27FC236}">
                  <a16:creationId xmlns:a16="http://schemas.microsoft.com/office/drawing/2014/main" id="{F4157595-19F9-4BB4-9D9D-8EC24BCB7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" y="2424"/>
              <a:ext cx="1391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楷体_GB2312" panose="02010609030101010101" pitchFamily="49" charset="-122"/>
                  <a:ea typeface="楷体_GB2312" panose="02010609030101010101" pitchFamily="49" charset="-122"/>
                </a:rPr>
                <a:t>散射波长</a:t>
              </a:r>
              <a:r>
                <a:rPr lang="zh-CN" altLang="en-US" sz="2400" i="1">
                  <a:latin typeface="楷体_GB2312" panose="02010609030101010101" pitchFamily="49" charset="-122"/>
                  <a:ea typeface="楷体_GB2312" panose="02010609030101010101" pitchFamily="49" charset="-122"/>
                  <a:sym typeface="Symbol" panose="05050102010706020507" pitchFamily="18" charset="2"/>
                </a:rPr>
                <a:t></a:t>
              </a:r>
            </a:p>
          </p:txBody>
        </p:sp>
      </p:grpSp>
      <p:sp>
        <p:nvSpPr>
          <p:cNvPr id="959558" name="Text Box 70">
            <a:extLst>
              <a:ext uri="{FF2B5EF4-FFF2-40B4-BE49-F238E27FC236}">
                <a16:creationId xmlns:a16="http://schemas.microsoft.com/office/drawing/2014/main" id="{08498D58-8617-4900-914F-9901E7516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56540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实验装置</a:t>
            </a:r>
          </a:p>
        </p:txBody>
      </p:sp>
      <p:sp>
        <p:nvSpPr>
          <p:cNvPr id="72" name="Text Box 3">
            <a:extLst>
              <a:ext uri="{FF2B5EF4-FFF2-40B4-BE49-F238E27FC236}">
                <a16:creationId xmlns:a16="http://schemas.microsoft.com/office/drawing/2014/main" id="{EEB55360-F236-4493-A250-B1314AD36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412875"/>
            <a:ext cx="7391400" cy="1189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散射线中，除原波长</a:t>
            </a:r>
            <a:r>
              <a:rPr kumimoji="1" lang="zh-CN" altLang="en-US" sz="2800" b="0" i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0" baseline="-250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0</a:t>
            </a:r>
            <a:r>
              <a:rPr kumimoji="1" lang="zh-CN" altLang="en-US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外，还出现了</a:t>
            </a:r>
            <a:r>
              <a:rPr kumimoji="1" lang="zh-CN" altLang="en-US" sz="2800" b="0" i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</a:t>
            </a:r>
            <a:r>
              <a:rPr kumimoji="1" lang="en-US" altLang="en-US" sz="2800" b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﹥</a:t>
            </a:r>
            <a:r>
              <a:rPr kumimoji="1" lang="zh-CN" altLang="en-US" sz="2800" b="0" i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0" i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0" baseline="-250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0</a:t>
            </a:r>
            <a:r>
              <a:rPr kumimoji="1" lang="zh-CN" altLang="en-US" sz="3200" b="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</a:t>
            </a:r>
            <a:r>
              <a:rPr kumimoji="1" lang="zh-CN" altLang="en-US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新的散射线</a:t>
            </a:r>
            <a:endParaRPr kumimoji="1" lang="zh-CN" altLang="en-US" sz="2800" b="0" i="1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4" name="Rectangle 4">
            <a:extLst>
              <a:ext uri="{FF2B5EF4-FFF2-40B4-BE49-F238E27FC236}">
                <a16:creationId xmlns:a16="http://schemas.microsoft.com/office/drawing/2014/main" id="{D427A294-19DD-4BA4-829E-3AE77E03C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060575"/>
            <a:ext cx="3833812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32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----</a:t>
            </a:r>
            <a:r>
              <a:rPr kumimoji="1" lang="zh-CN" altLang="en-US" sz="32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康普顿效应</a:t>
            </a:r>
          </a:p>
        </p:txBody>
      </p:sp>
    </p:spTree>
    <p:extLst>
      <p:ext uri="{BB962C8B-B14F-4D97-AF65-F5344CB8AC3E}">
        <p14:creationId xmlns:p14="http://schemas.microsoft.com/office/powerpoint/2010/main" val="415520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5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5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491" grpId="0"/>
      <p:bldP spid="959558" grpId="0"/>
      <p:bldP spid="72" grpId="0"/>
      <p:bldP spid="7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>
            <a:extLst>
              <a:ext uri="{FF2B5EF4-FFF2-40B4-BE49-F238E27FC236}">
                <a16:creationId xmlns:a16="http://schemas.microsoft.com/office/drawing/2014/main" id="{2E0FDE77-5827-4713-8CA3-D720A46798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55BC00-0CE2-4CFE-8D5E-32F2AA6061F7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zh-CN" altLang="zh-CN" sz="1400"/>
          </a:p>
        </p:txBody>
      </p:sp>
      <p:sp>
        <p:nvSpPr>
          <p:cNvPr id="961538" name="Rectangle 2">
            <a:extLst>
              <a:ext uri="{FF2B5EF4-FFF2-40B4-BE49-F238E27FC236}">
                <a16:creationId xmlns:a16="http://schemas.microsoft.com/office/drawing/2014/main" id="{5755A44E-61C5-4D6F-80C9-B5EE57F95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085975"/>
            <a:ext cx="5032375" cy="838200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kumimoji="1" lang="zh-CN" altLang="en-US"/>
          </a:p>
        </p:txBody>
      </p:sp>
      <p:sp>
        <p:nvSpPr>
          <p:cNvPr id="961539" name="Text Box 3">
            <a:extLst>
              <a:ext uri="{FF2B5EF4-FFF2-40B4-BE49-F238E27FC236}">
                <a16:creationId xmlns:a16="http://schemas.microsoft.com/office/drawing/2014/main" id="{3485F2E3-EF7B-44A0-A75B-D7E6EA6BA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52400"/>
            <a:ext cx="4572000" cy="1066800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b="0" dirty="0">
                <a:solidFill>
                  <a:srgbClr val="CC33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一、康普顿散射</a:t>
            </a:r>
            <a:r>
              <a:rPr lang="zh-CN" altLang="en-US" b="0" dirty="0">
                <a:solidFill>
                  <a:srgbClr val="CC3300"/>
                </a:solidFill>
                <a:ea typeface="华文新魏" panose="02010800040101010101" pitchFamily="2" charset="-122"/>
              </a:rPr>
              <a:t>的特点（实验规律）</a:t>
            </a:r>
          </a:p>
        </p:txBody>
      </p:sp>
      <p:sp>
        <p:nvSpPr>
          <p:cNvPr id="961540" name="Text Box 4">
            <a:extLst>
              <a:ext uri="{FF2B5EF4-FFF2-40B4-BE49-F238E27FC236}">
                <a16:creationId xmlns:a16="http://schemas.microsoft.com/office/drawing/2014/main" id="{8F4EE862-B0CF-4B6B-85A5-3A7825DBE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552575"/>
            <a:ext cx="5715000" cy="347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  1.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新波长</a:t>
            </a:r>
            <a:r>
              <a:rPr kumimoji="1" lang="zh-CN" altLang="en-US" i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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随散射角</a:t>
            </a:r>
            <a:r>
              <a:rPr kumimoji="1" lang="zh-CN" altLang="en-US" i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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的增大而增大。</a:t>
            </a:r>
          </a:p>
        </p:txBody>
      </p:sp>
      <p:sp>
        <p:nvSpPr>
          <p:cNvPr id="961541" name="Text Box 5">
            <a:extLst>
              <a:ext uri="{FF2B5EF4-FFF2-40B4-BE49-F238E27FC236}">
                <a16:creationId xmlns:a16="http://schemas.microsoft.com/office/drawing/2014/main" id="{C4EF6EC2-5FF0-4056-9DA4-E8CA060A6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978400"/>
            <a:ext cx="5486400" cy="1117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2.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当散射角</a:t>
            </a:r>
            <a:r>
              <a:rPr kumimoji="1" lang="zh-CN" altLang="en-US" i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 </a:t>
            </a:r>
            <a:r>
              <a:rPr kumimoji="1"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↑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时，谱线强度</a:t>
            </a:r>
            <a:r>
              <a:rPr kumimoji="1" lang="en-US" altLang="zh-CN" sz="2800" i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I</a:t>
            </a:r>
            <a:r>
              <a:rPr kumimoji="1" lang="el-GR" altLang="zh-CN" sz="2800" i="1" baseline="-25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λ</a:t>
            </a:r>
            <a:r>
              <a:rPr kumimoji="1" lang="en-US" altLang="zh-CN" sz="2800" baseline="-25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↓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，而谱线强度</a:t>
            </a:r>
            <a:r>
              <a:rPr kumimoji="1" lang="en-US" altLang="zh-CN" sz="2800" i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I</a:t>
            </a:r>
            <a:r>
              <a:rPr kumimoji="1" lang="el-GR" altLang="zh-CN" sz="2800" i="1" baseline="-25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λ</a:t>
            </a:r>
            <a:r>
              <a:rPr kumimoji="1"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↑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961542" name="Rectangle 6">
            <a:extLst>
              <a:ext uri="{FF2B5EF4-FFF2-40B4-BE49-F238E27FC236}">
                <a16:creationId xmlns:a16="http://schemas.microsoft.com/office/drawing/2014/main" id="{5E5AFBC5-B54A-40AB-9D54-88F41BA19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4064000"/>
            <a:ext cx="5105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实验测得   </a:t>
            </a:r>
            <a:r>
              <a:rPr kumimoji="1" lang="zh-CN" altLang="en-US" i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</a:t>
            </a:r>
            <a:r>
              <a:rPr kumimoji="1" lang="en-US" altLang="zh-CN" i="1" baseline="-2500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c </a:t>
            </a:r>
            <a:r>
              <a:rPr kumimoji="1" lang="en-US" altLang="zh-CN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kumimoji="1"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2.4110</a:t>
            </a:r>
            <a:r>
              <a:rPr kumimoji="1" lang="en-US" altLang="zh-CN" baseline="30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-3</a:t>
            </a:r>
            <a:r>
              <a:rPr kumimoji="1"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nm</a:t>
            </a:r>
            <a:endParaRPr kumimoji="1" lang="en-US" altLang="zh-CN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961543" name="Text Box 7">
            <a:extLst>
              <a:ext uri="{FF2B5EF4-FFF2-40B4-BE49-F238E27FC236}">
                <a16:creationId xmlns:a16="http://schemas.microsoft.com/office/drawing/2014/main" id="{66018EBF-CAE8-440B-8961-2E344FC63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597400"/>
            <a:ext cx="5410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称为电子的</a:t>
            </a:r>
            <a:r>
              <a:rPr kumimoji="1"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Compton</a:t>
            </a:r>
            <a:r>
              <a:rPr kumimoji="1"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波长</a:t>
            </a:r>
          </a:p>
        </p:txBody>
      </p:sp>
      <p:sp>
        <p:nvSpPr>
          <p:cNvPr id="961544" name="Rectangle 8">
            <a:extLst>
              <a:ext uri="{FF2B5EF4-FFF2-40B4-BE49-F238E27FC236}">
                <a16:creationId xmlns:a16="http://schemas.microsoft.com/office/drawing/2014/main" id="{8FBF1017-A69D-404B-B877-2F2B5D829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3488" y="3076575"/>
            <a:ext cx="49133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偏移量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kumimoji="1" lang="zh-CN" altLang="en-US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 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 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1" lang="en-US" altLang="zh-CN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</a:t>
            </a:r>
            <a:r>
              <a:rPr kumimoji="1" lang="en-US" altLang="zh-CN" baseline="-250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kumimoji="1" lang="en-US" altLang="zh-CN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只与散射角</a:t>
            </a:r>
            <a:r>
              <a:rPr kumimoji="1" lang="zh-CN" altLang="en-US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 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有关</a:t>
            </a:r>
          </a:p>
        </p:txBody>
      </p:sp>
      <p:sp>
        <p:nvSpPr>
          <p:cNvPr id="961545" name="Rectangle 9">
            <a:extLst>
              <a:ext uri="{FF2B5EF4-FFF2-40B4-BE49-F238E27FC236}">
                <a16:creationId xmlns:a16="http://schemas.microsoft.com/office/drawing/2014/main" id="{6EC0AC71-5F3B-468A-9D72-DC51EE006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533775"/>
            <a:ext cx="4643438" cy="53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和散射物质无关。</a:t>
            </a:r>
          </a:p>
        </p:txBody>
      </p:sp>
      <p:graphicFrame>
        <p:nvGraphicFramePr>
          <p:cNvPr id="961546" name="Object 10">
            <a:extLst>
              <a:ext uri="{FF2B5EF4-FFF2-40B4-BE49-F238E27FC236}">
                <a16:creationId xmlns:a16="http://schemas.microsoft.com/office/drawing/2014/main" id="{57DB084C-BBDE-410B-B885-F06A18D9E3D5}"/>
              </a:ext>
            </a:extLst>
          </p:cNvPr>
          <p:cNvGraphicFramePr>
            <a:graphicFrameLocks/>
          </p:cNvGraphicFramePr>
          <p:nvPr/>
        </p:nvGraphicFramePr>
        <p:xfrm>
          <a:off x="3830638" y="2238375"/>
          <a:ext cx="30003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" r:id="rId3" imgW="1180588" imgH="228501" progId="Equation.3">
                  <p:embed/>
                </p:oleObj>
              </mc:Choice>
              <mc:Fallback>
                <p:oleObj r:id="rId3" imgW="1180588" imgH="228501" progId="Equation.3">
                  <p:embed/>
                  <p:pic>
                    <p:nvPicPr>
                      <p:cNvPr id="961546" name="Object 10">
                        <a:extLst>
                          <a:ext uri="{FF2B5EF4-FFF2-40B4-BE49-F238E27FC236}">
                            <a16:creationId xmlns:a16="http://schemas.microsoft.com/office/drawing/2014/main" id="{57DB084C-BBDE-410B-B885-F06A18D9E3D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0638" y="2238375"/>
                        <a:ext cx="300037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7" name="Object 11">
            <a:extLst>
              <a:ext uri="{FF2B5EF4-FFF2-40B4-BE49-F238E27FC236}">
                <a16:creationId xmlns:a16="http://schemas.microsoft.com/office/drawing/2014/main" id="{2461A241-BA88-4B95-8C19-040BB5AF1E42}"/>
              </a:ext>
            </a:extLst>
          </p:cNvPr>
          <p:cNvGraphicFramePr>
            <a:graphicFrameLocks/>
          </p:cNvGraphicFramePr>
          <p:nvPr/>
        </p:nvGraphicFramePr>
        <p:xfrm>
          <a:off x="6778625" y="1974850"/>
          <a:ext cx="206057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7" r:id="rId5" imgW="824784" imgH="406048" progId="Equation.3">
                  <p:embed/>
                </p:oleObj>
              </mc:Choice>
              <mc:Fallback>
                <p:oleObj r:id="rId5" imgW="824784" imgH="406048" progId="Equation.3">
                  <p:embed/>
                  <p:pic>
                    <p:nvPicPr>
                      <p:cNvPr id="961547" name="Object 11">
                        <a:extLst>
                          <a:ext uri="{FF2B5EF4-FFF2-40B4-BE49-F238E27FC236}">
                            <a16:creationId xmlns:a16="http://schemas.microsoft.com/office/drawing/2014/main" id="{2461A241-BA88-4B95-8C19-040BB5AF1E4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25" y="1974850"/>
                        <a:ext cx="2060575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61" name="Group 12">
            <a:extLst>
              <a:ext uri="{FF2B5EF4-FFF2-40B4-BE49-F238E27FC236}">
                <a16:creationId xmlns:a16="http://schemas.microsoft.com/office/drawing/2014/main" id="{12020432-2085-42AB-AA7E-DA3C66AFD101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-33338"/>
            <a:ext cx="4024313" cy="6513513"/>
            <a:chOff x="48" y="123"/>
            <a:chExt cx="2502" cy="4103"/>
          </a:xfrm>
        </p:grpSpPr>
        <p:grpSp>
          <p:nvGrpSpPr>
            <p:cNvPr id="53265" name="Group 13">
              <a:extLst>
                <a:ext uri="{FF2B5EF4-FFF2-40B4-BE49-F238E27FC236}">
                  <a16:creationId xmlns:a16="http://schemas.microsoft.com/office/drawing/2014/main" id="{13A20751-B4C4-4FA7-92DB-BF3EA5CC62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7" y="173"/>
              <a:ext cx="589" cy="349"/>
              <a:chOff x="1537" y="144"/>
              <a:chExt cx="639" cy="367"/>
            </a:xfrm>
          </p:grpSpPr>
          <p:sp>
            <p:nvSpPr>
              <p:cNvPr id="53403" name="Rectangle 14">
                <a:extLst>
                  <a:ext uri="{FF2B5EF4-FFF2-40B4-BE49-F238E27FC236}">
                    <a16:creationId xmlns:a16="http://schemas.microsoft.com/office/drawing/2014/main" id="{1D92766A-69A2-4020-8DDC-F524CD22C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6" y="196"/>
                <a:ext cx="399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800" b="0">
                    <a:latin typeface="Arial" panose="020B0604020202020204" pitchFamily="34" charset="0"/>
                  </a:rPr>
                  <a:t>=0</a:t>
                </a:r>
              </a:p>
            </p:txBody>
          </p:sp>
          <p:sp>
            <p:nvSpPr>
              <p:cNvPr id="53404" name="Rectangle 15">
                <a:extLst>
                  <a:ext uri="{FF2B5EF4-FFF2-40B4-BE49-F238E27FC236}">
                    <a16:creationId xmlns:a16="http://schemas.microsoft.com/office/drawing/2014/main" id="{0C123123-ADF6-4160-B2A3-5D2697C98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8" y="186"/>
                <a:ext cx="21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53405" name="Rectangle 16">
                <a:extLst>
                  <a:ext uri="{FF2B5EF4-FFF2-40B4-BE49-F238E27FC236}">
                    <a16:creationId xmlns:a16="http://schemas.microsoft.com/office/drawing/2014/main" id="{2BDE9727-95CD-443D-BE2F-3403762A7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7" y="144"/>
                <a:ext cx="165" cy="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b="0" i="1">
                    <a:latin typeface="Symbol" panose="05050102010706020507" pitchFamily="18" charset="2"/>
                  </a:rPr>
                  <a:t>j</a:t>
                </a:r>
                <a:endParaRPr lang="en-US" altLang="zh-CN" b="0">
                  <a:latin typeface="Bookman Old Style" panose="02050604050505020204" pitchFamily="18" charset="0"/>
                </a:endParaRPr>
              </a:p>
            </p:txBody>
          </p:sp>
        </p:grpSp>
        <p:grpSp>
          <p:nvGrpSpPr>
            <p:cNvPr id="53266" name="Group 17">
              <a:extLst>
                <a:ext uri="{FF2B5EF4-FFF2-40B4-BE49-F238E27FC236}">
                  <a16:creationId xmlns:a16="http://schemas.microsoft.com/office/drawing/2014/main" id="{17E68DD8-0E02-4C7E-BA29-30328D9A5A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3" y="1085"/>
              <a:ext cx="662" cy="345"/>
              <a:chOff x="1574" y="1008"/>
              <a:chExt cx="718" cy="364"/>
            </a:xfrm>
          </p:grpSpPr>
          <p:sp>
            <p:nvSpPr>
              <p:cNvPr id="53400" name="Rectangle 18">
                <a:extLst>
                  <a:ext uri="{FF2B5EF4-FFF2-40B4-BE49-F238E27FC236}">
                    <a16:creationId xmlns:a16="http://schemas.microsoft.com/office/drawing/2014/main" id="{5BFDCB68-210D-4730-A296-9FD40253C3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7" y="1055"/>
                <a:ext cx="531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800" b="0">
                    <a:latin typeface="Arial" panose="020B0604020202020204" pitchFamily="34" charset="0"/>
                  </a:rPr>
                  <a:t>=45</a:t>
                </a:r>
                <a:endParaRPr lang="en-US" altLang="zh-CN" b="0">
                  <a:latin typeface="Arial" panose="020B0604020202020204" pitchFamily="34" charset="0"/>
                </a:endParaRPr>
              </a:p>
            </p:txBody>
          </p:sp>
          <p:sp>
            <p:nvSpPr>
              <p:cNvPr id="53401" name="Rectangle 19">
                <a:extLst>
                  <a:ext uri="{FF2B5EF4-FFF2-40B4-BE49-F238E27FC236}">
                    <a16:creationId xmlns:a16="http://schemas.microsoft.com/office/drawing/2014/main" id="{E6E86FE4-C8BA-447D-BF91-6B1A745BB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5" y="1042"/>
                <a:ext cx="217" cy="1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53402" name="Rectangle 20">
                <a:extLst>
                  <a:ext uri="{FF2B5EF4-FFF2-40B4-BE49-F238E27FC236}">
                    <a16:creationId xmlns:a16="http://schemas.microsoft.com/office/drawing/2014/main" id="{69B57606-FA0C-4CC6-86B8-54C1EA4810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4" y="1008"/>
                <a:ext cx="16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b="0" i="1">
                    <a:latin typeface="Symbol" panose="05050102010706020507" pitchFamily="18" charset="2"/>
                  </a:rPr>
                  <a:t>j</a:t>
                </a:r>
                <a:endParaRPr lang="en-US" altLang="zh-CN" sz="2400" b="0">
                  <a:latin typeface="Bookman Old Style" panose="02050604050505020204" pitchFamily="18" charset="0"/>
                </a:endParaRPr>
              </a:p>
            </p:txBody>
          </p:sp>
        </p:grpSp>
        <p:grpSp>
          <p:nvGrpSpPr>
            <p:cNvPr id="53267" name="Group 21">
              <a:extLst>
                <a:ext uri="{FF2B5EF4-FFF2-40B4-BE49-F238E27FC236}">
                  <a16:creationId xmlns:a16="http://schemas.microsoft.com/office/drawing/2014/main" id="{E3DC1E96-1F25-4BAD-9082-32820C49B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2" y="2068"/>
              <a:ext cx="683" cy="328"/>
              <a:chOff x="3051" y="2045"/>
              <a:chExt cx="741" cy="345"/>
            </a:xfrm>
          </p:grpSpPr>
          <p:sp>
            <p:nvSpPr>
              <p:cNvPr id="53397" name="Rectangle 22">
                <a:extLst>
                  <a:ext uri="{FF2B5EF4-FFF2-40B4-BE49-F238E27FC236}">
                    <a16:creationId xmlns:a16="http://schemas.microsoft.com/office/drawing/2014/main" id="{6DDE65FA-FA2C-4207-BF1B-2751B0339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2074"/>
                <a:ext cx="532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800" b="0">
                    <a:latin typeface="Arial" panose="020B0604020202020204" pitchFamily="34" charset="0"/>
                  </a:rPr>
                  <a:t>=90</a:t>
                </a:r>
              </a:p>
            </p:txBody>
          </p:sp>
          <p:sp>
            <p:nvSpPr>
              <p:cNvPr id="53398" name="Rectangle 23">
                <a:extLst>
                  <a:ext uri="{FF2B5EF4-FFF2-40B4-BE49-F238E27FC236}">
                    <a16:creationId xmlns:a16="http://schemas.microsoft.com/office/drawing/2014/main" id="{05E6CD10-A313-48A4-9BDB-681A78FCF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" y="2064"/>
                <a:ext cx="217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53399" name="Rectangle 24">
                <a:extLst>
                  <a:ext uri="{FF2B5EF4-FFF2-40B4-BE49-F238E27FC236}">
                    <a16:creationId xmlns:a16="http://schemas.microsoft.com/office/drawing/2014/main" id="{41C3CDDF-50DD-4860-8BE6-05EFA4CBC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1" y="2045"/>
                <a:ext cx="165" cy="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b="0" i="1">
                    <a:latin typeface="Symbol" panose="05050102010706020507" pitchFamily="18" charset="2"/>
                  </a:rPr>
                  <a:t>j</a:t>
                </a:r>
                <a:endParaRPr lang="en-US" altLang="zh-CN" b="0">
                  <a:latin typeface="Bookman Old Style" panose="02050604050505020204" pitchFamily="18" charset="0"/>
                </a:endParaRPr>
              </a:p>
            </p:txBody>
          </p:sp>
        </p:grpSp>
        <p:grpSp>
          <p:nvGrpSpPr>
            <p:cNvPr id="53268" name="Group 25">
              <a:extLst>
                <a:ext uri="{FF2B5EF4-FFF2-40B4-BE49-F238E27FC236}">
                  <a16:creationId xmlns:a16="http://schemas.microsoft.com/office/drawing/2014/main" id="{00F5FB36-B96F-4204-9BED-865ACDB382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7" y="2998"/>
              <a:ext cx="775" cy="346"/>
              <a:chOff x="2822" y="3023"/>
              <a:chExt cx="840" cy="365"/>
            </a:xfrm>
          </p:grpSpPr>
          <p:sp>
            <p:nvSpPr>
              <p:cNvPr id="53394" name="Rectangle 26">
                <a:extLst>
                  <a:ext uri="{FF2B5EF4-FFF2-40B4-BE49-F238E27FC236}">
                    <a16:creationId xmlns:a16="http://schemas.microsoft.com/office/drawing/2014/main" id="{8C3CE3FD-BDA0-4ED0-A9A4-BA3F44B245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5" y="3072"/>
                <a:ext cx="665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800" b="0">
                    <a:latin typeface="Arial" panose="020B0604020202020204" pitchFamily="34" charset="0"/>
                  </a:rPr>
                  <a:t>=135</a:t>
                </a:r>
              </a:p>
            </p:txBody>
          </p:sp>
          <p:sp>
            <p:nvSpPr>
              <p:cNvPr id="53395" name="Rectangle 27">
                <a:extLst>
                  <a:ext uri="{FF2B5EF4-FFF2-40B4-BE49-F238E27FC236}">
                    <a16:creationId xmlns:a16="http://schemas.microsoft.com/office/drawing/2014/main" id="{19B75646-D311-49FC-992A-710CD7D67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5" y="3057"/>
                <a:ext cx="217" cy="1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53396" name="Rectangle 28">
                <a:extLst>
                  <a:ext uri="{FF2B5EF4-FFF2-40B4-BE49-F238E27FC236}">
                    <a16:creationId xmlns:a16="http://schemas.microsoft.com/office/drawing/2014/main" id="{CEB1184C-963A-480F-8C68-F33192DAA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023"/>
                <a:ext cx="16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b="0" i="1">
                    <a:latin typeface="Symbol" panose="05050102010706020507" pitchFamily="18" charset="2"/>
                  </a:rPr>
                  <a:t>j</a:t>
                </a:r>
                <a:endParaRPr lang="en-US" altLang="zh-CN" b="0"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53269" name="Rectangle 29">
              <a:extLst>
                <a:ext uri="{FF2B5EF4-FFF2-40B4-BE49-F238E27FC236}">
                  <a16:creationId xmlns:a16="http://schemas.microsoft.com/office/drawing/2014/main" id="{77B025B5-DCEA-4C49-8262-C877538E2DF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40" y="3245"/>
              <a:ext cx="253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70" name="Rectangle 30">
              <a:extLst>
                <a:ext uri="{FF2B5EF4-FFF2-40B4-BE49-F238E27FC236}">
                  <a16:creationId xmlns:a16="http://schemas.microsoft.com/office/drawing/2014/main" id="{C6F668E1-0972-4A44-8F77-A80494FDD4C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37" y="3338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71" name="Rectangle 31">
              <a:extLst>
                <a:ext uri="{FF2B5EF4-FFF2-40B4-BE49-F238E27FC236}">
                  <a16:creationId xmlns:a16="http://schemas.microsoft.com/office/drawing/2014/main" id="{EF802664-359D-4356-8D37-889DA5373D0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18" y="3249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72" name="Rectangle 32">
              <a:extLst>
                <a:ext uri="{FF2B5EF4-FFF2-40B4-BE49-F238E27FC236}">
                  <a16:creationId xmlns:a16="http://schemas.microsoft.com/office/drawing/2014/main" id="{EAC293F5-BF95-45BF-AA37-1B340F2093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8" y="3602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73" name="Freeform 33">
              <a:extLst>
                <a:ext uri="{FF2B5EF4-FFF2-40B4-BE49-F238E27FC236}">
                  <a16:creationId xmlns:a16="http://schemas.microsoft.com/office/drawing/2014/main" id="{4085ACD4-5F39-4749-9232-ECC126895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3085"/>
              <a:ext cx="1062" cy="831"/>
            </a:xfrm>
            <a:custGeom>
              <a:avLst/>
              <a:gdLst>
                <a:gd name="T0" fmla="*/ 0 w 1152"/>
                <a:gd name="T1" fmla="*/ 587 h 896"/>
                <a:gd name="T2" fmla="*/ 76 w 1152"/>
                <a:gd name="T3" fmla="*/ 625 h 896"/>
                <a:gd name="T4" fmla="*/ 150 w 1152"/>
                <a:gd name="T5" fmla="*/ 434 h 896"/>
                <a:gd name="T6" fmla="*/ 226 w 1152"/>
                <a:gd name="T7" fmla="*/ 204 h 896"/>
                <a:gd name="T8" fmla="*/ 338 w 1152"/>
                <a:gd name="T9" fmla="*/ 549 h 896"/>
                <a:gd name="T10" fmla="*/ 414 w 1152"/>
                <a:gd name="T11" fmla="*/ 702 h 896"/>
                <a:gd name="T12" fmla="*/ 527 w 1152"/>
                <a:gd name="T13" fmla="*/ 625 h 896"/>
                <a:gd name="T14" fmla="*/ 602 w 1152"/>
                <a:gd name="T15" fmla="*/ 358 h 896"/>
                <a:gd name="T16" fmla="*/ 714 w 1152"/>
                <a:gd name="T17" fmla="*/ 13 h 896"/>
                <a:gd name="T18" fmla="*/ 789 w 1152"/>
                <a:gd name="T19" fmla="*/ 280 h 896"/>
                <a:gd name="T20" fmla="*/ 828 w 1152"/>
                <a:gd name="T21" fmla="*/ 472 h 896"/>
                <a:gd name="T22" fmla="*/ 903 w 1152"/>
                <a:gd name="T23" fmla="*/ 664 h 89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52" h="896">
                  <a:moveTo>
                    <a:pt x="0" y="736"/>
                  </a:moveTo>
                  <a:cubicBezTo>
                    <a:pt x="32" y="776"/>
                    <a:pt x="64" y="816"/>
                    <a:pt x="96" y="784"/>
                  </a:cubicBezTo>
                  <a:cubicBezTo>
                    <a:pt x="128" y="752"/>
                    <a:pt x="160" y="632"/>
                    <a:pt x="192" y="544"/>
                  </a:cubicBezTo>
                  <a:cubicBezTo>
                    <a:pt x="224" y="456"/>
                    <a:pt x="248" y="232"/>
                    <a:pt x="288" y="256"/>
                  </a:cubicBezTo>
                  <a:cubicBezTo>
                    <a:pt x="328" y="280"/>
                    <a:pt x="392" y="584"/>
                    <a:pt x="432" y="688"/>
                  </a:cubicBezTo>
                  <a:cubicBezTo>
                    <a:pt x="472" y="792"/>
                    <a:pt x="488" y="864"/>
                    <a:pt x="528" y="880"/>
                  </a:cubicBezTo>
                  <a:cubicBezTo>
                    <a:pt x="568" y="896"/>
                    <a:pt x="632" y="856"/>
                    <a:pt x="672" y="784"/>
                  </a:cubicBezTo>
                  <a:cubicBezTo>
                    <a:pt x="712" y="712"/>
                    <a:pt x="728" y="576"/>
                    <a:pt x="768" y="448"/>
                  </a:cubicBezTo>
                  <a:cubicBezTo>
                    <a:pt x="808" y="320"/>
                    <a:pt x="872" y="32"/>
                    <a:pt x="912" y="16"/>
                  </a:cubicBezTo>
                  <a:cubicBezTo>
                    <a:pt x="952" y="0"/>
                    <a:pt x="984" y="256"/>
                    <a:pt x="1008" y="352"/>
                  </a:cubicBezTo>
                  <a:cubicBezTo>
                    <a:pt x="1032" y="448"/>
                    <a:pt x="1032" y="512"/>
                    <a:pt x="1056" y="592"/>
                  </a:cubicBezTo>
                  <a:cubicBezTo>
                    <a:pt x="1080" y="672"/>
                    <a:pt x="1116" y="752"/>
                    <a:pt x="1152" y="832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4" name="Rectangle 34">
              <a:extLst>
                <a:ext uri="{FF2B5EF4-FFF2-40B4-BE49-F238E27FC236}">
                  <a16:creationId xmlns:a16="http://schemas.microsoft.com/office/drawing/2014/main" id="{8624D53B-AB82-442B-8466-B660434C5A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292" y="3258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75" name="Rectangle 35">
              <a:extLst>
                <a:ext uri="{FF2B5EF4-FFF2-40B4-BE49-F238E27FC236}">
                  <a16:creationId xmlns:a16="http://schemas.microsoft.com/office/drawing/2014/main" id="{78F9A949-966F-4B79-A9B8-69566518E5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285" y="3169"/>
              <a:ext cx="25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76" name="Rectangle 36">
              <a:extLst>
                <a:ext uri="{FF2B5EF4-FFF2-40B4-BE49-F238E27FC236}">
                  <a16:creationId xmlns:a16="http://schemas.microsoft.com/office/drawing/2014/main" id="{BC9FF3C7-5D31-43AD-ADA2-ACF0E309F55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242" y="3073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77" name="Rectangle 37">
              <a:extLst>
                <a:ext uri="{FF2B5EF4-FFF2-40B4-BE49-F238E27FC236}">
                  <a16:creationId xmlns:a16="http://schemas.microsoft.com/office/drawing/2014/main" id="{CF5AF2E0-ADA8-4DDD-9FF5-C96C60A8B95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72" y="3249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78" name="Rectangle 38">
              <a:extLst>
                <a:ext uri="{FF2B5EF4-FFF2-40B4-BE49-F238E27FC236}">
                  <a16:creationId xmlns:a16="http://schemas.microsoft.com/office/drawing/2014/main" id="{E276E0D0-64F9-4C41-9999-75E24429F1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80" y="3562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79" name="Rectangle 39">
              <a:extLst>
                <a:ext uri="{FF2B5EF4-FFF2-40B4-BE49-F238E27FC236}">
                  <a16:creationId xmlns:a16="http://schemas.microsoft.com/office/drawing/2014/main" id="{CB165250-5AC0-4081-A4D6-DF63B2E693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11" y="3383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80" name="Rectangle 40">
              <a:extLst>
                <a:ext uri="{FF2B5EF4-FFF2-40B4-BE49-F238E27FC236}">
                  <a16:creationId xmlns:a16="http://schemas.microsoft.com/office/drawing/2014/main" id="{FBCF6730-BD2B-4EFC-8EAF-D26EFB7E18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52" y="3517"/>
              <a:ext cx="25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81" name="Rectangle 41">
              <a:extLst>
                <a:ext uri="{FF2B5EF4-FFF2-40B4-BE49-F238E27FC236}">
                  <a16:creationId xmlns:a16="http://schemas.microsoft.com/office/drawing/2014/main" id="{46546BB9-A363-4359-A3B3-5A7CE462E68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74" y="3517"/>
              <a:ext cx="25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82" name="Rectangle 42">
              <a:extLst>
                <a:ext uri="{FF2B5EF4-FFF2-40B4-BE49-F238E27FC236}">
                  <a16:creationId xmlns:a16="http://schemas.microsoft.com/office/drawing/2014/main" id="{1D38D1B8-7CB2-4735-B8AC-F4E1D0CF23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3" y="3604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83" name="Rectangle 43">
              <a:extLst>
                <a:ext uri="{FF2B5EF4-FFF2-40B4-BE49-F238E27FC236}">
                  <a16:creationId xmlns:a16="http://schemas.microsoft.com/office/drawing/2014/main" id="{6B9A15CC-73D7-4EAA-8BCD-8A0212EC59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61" y="3432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84" name="Rectangle 44">
              <a:extLst>
                <a:ext uri="{FF2B5EF4-FFF2-40B4-BE49-F238E27FC236}">
                  <a16:creationId xmlns:a16="http://schemas.microsoft.com/office/drawing/2014/main" id="{9CD28E01-1571-4967-A9F0-0F2F512C6D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32" y="3604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85" name="Rectangle 45">
              <a:extLst>
                <a:ext uri="{FF2B5EF4-FFF2-40B4-BE49-F238E27FC236}">
                  <a16:creationId xmlns:a16="http://schemas.microsoft.com/office/drawing/2014/main" id="{FFACD847-CABA-49E2-BA0D-38F7905FF6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50" y="3572"/>
              <a:ext cx="25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86" name="Rectangle 46">
              <a:extLst>
                <a:ext uri="{FF2B5EF4-FFF2-40B4-BE49-F238E27FC236}">
                  <a16:creationId xmlns:a16="http://schemas.microsoft.com/office/drawing/2014/main" id="{6B69DC4E-0D35-489D-A4D9-F68DCC73E2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09" y="2450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87" name="Rectangle 47">
              <a:extLst>
                <a:ext uri="{FF2B5EF4-FFF2-40B4-BE49-F238E27FC236}">
                  <a16:creationId xmlns:a16="http://schemas.microsoft.com/office/drawing/2014/main" id="{B38FCD25-1439-47E6-B158-FBB997EC513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20" y="2338"/>
              <a:ext cx="30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88" name="Rectangle 48">
              <a:extLst>
                <a:ext uri="{FF2B5EF4-FFF2-40B4-BE49-F238E27FC236}">
                  <a16:creationId xmlns:a16="http://schemas.microsoft.com/office/drawing/2014/main" id="{F1C9BAFB-1923-467D-912D-3AF0155AE6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60" y="2540"/>
              <a:ext cx="25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89" name="Rectangle 49">
              <a:extLst>
                <a:ext uri="{FF2B5EF4-FFF2-40B4-BE49-F238E27FC236}">
                  <a16:creationId xmlns:a16="http://schemas.microsoft.com/office/drawing/2014/main" id="{D8DF4C2D-2B7C-4F08-8966-8875E0DF0F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00" y="2582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90" name="Rectangle 50">
              <a:extLst>
                <a:ext uri="{FF2B5EF4-FFF2-40B4-BE49-F238E27FC236}">
                  <a16:creationId xmlns:a16="http://schemas.microsoft.com/office/drawing/2014/main" id="{1ADD0487-F808-4D65-A9C5-EAA3480FC0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54" y="748"/>
              <a:ext cx="25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91" name="Rectangle 51">
              <a:extLst>
                <a:ext uri="{FF2B5EF4-FFF2-40B4-BE49-F238E27FC236}">
                  <a16:creationId xmlns:a16="http://schemas.microsoft.com/office/drawing/2014/main" id="{6F63DBA0-C809-40BC-8647-044B8BD35E2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60" y="887"/>
              <a:ext cx="256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92" name="Rectangle 52">
              <a:extLst>
                <a:ext uri="{FF2B5EF4-FFF2-40B4-BE49-F238E27FC236}">
                  <a16:creationId xmlns:a16="http://schemas.microsoft.com/office/drawing/2014/main" id="{DD31329D-AA7D-4944-824A-9DD973D34B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57" y="796"/>
              <a:ext cx="25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93" name="Rectangle 53">
              <a:extLst>
                <a:ext uri="{FF2B5EF4-FFF2-40B4-BE49-F238E27FC236}">
                  <a16:creationId xmlns:a16="http://schemas.microsoft.com/office/drawing/2014/main" id="{7E9C907D-E5D7-4C00-BB51-29188EDE19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87" y="844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94" name="Freeform 54">
              <a:extLst>
                <a:ext uri="{FF2B5EF4-FFF2-40B4-BE49-F238E27FC236}">
                  <a16:creationId xmlns:a16="http://schemas.microsoft.com/office/drawing/2014/main" id="{471C8CD9-F2A6-421C-944A-5B18EAC9B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108"/>
              <a:ext cx="132" cy="142"/>
            </a:xfrm>
            <a:custGeom>
              <a:avLst/>
              <a:gdLst>
                <a:gd name="T0" fmla="*/ 0 w 144"/>
                <a:gd name="T1" fmla="*/ 78 h 152"/>
                <a:gd name="T2" fmla="*/ 37 w 144"/>
                <a:gd name="T3" fmla="*/ 118 h 152"/>
                <a:gd name="T4" fmla="*/ 74 w 144"/>
                <a:gd name="T5" fmla="*/ 39 h 152"/>
                <a:gd name="T6" fmla="*/ 111 w 144"/>
                <a:gd name="T7" fmla="*/ 0 h 1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4" h="152">
                  <a:moveTo>
                    <a:pt x="0" y="96"/>
                  </a:moveTo>
                  <a:cubicBezTo>
                    <a:pt x="16" y="124"/>
                    <a:pt x="32" y="152"/>
                    <a:pt x="48" y="144"/>
                  </a:cubicBezTo>
                  <a:cubicBezTo>
                    <a:pt x="64" y="136"/>
                    <a:pt x="80" y="72"/>
                    <a:pt x="96" y="48"/>
                  </a:cubicBezTo>
                  <a:cubicBezTo>
                    <a:pt x="112" y="24"/>
                    <a:pt x="128" y="12"/>
                    <a:pt x="144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95" name="Rectangle 55">
              <a:extLst>
                <a:ext uri="{FF2B5EF4-FFF2-40B4-BE49-F238E27FC236}">
                  <a16:creationId xmlns:a16="http://schemas.microsoft.com/office/drawing/2014/main" id="{5D9821E1-3EAD-4578-8030-4CE5211F60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71" y="969"/>
              <a:ext cx="25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96" name="Rectangle 56">
              <a:extLst>
                <a:ext uri="{FF2B5EF4-FFF2-40B4-BE49-F238E27FC236}">
                  <a16:creationId xmlns:a16="http://schemas.microsoft.com/office/drawing/2014/main" id="{A83AABA4-FC47-4C97-9D88-333E6A2945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91" y="950"/>
              <a:ext cx="307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97" name="Rectangle 57">
              <a:extLst>
                <a:ext uri="{FF2B5EF4-FFF2-40B4-BE49-F238E27FC236}">
                  <a16:creationId xmlns:a16="http://schemas.microsoft.com/office/drawing/2014/main" id="{13E618EC-9583-48E8-817C-C6DD032AB5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1" y="835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298" name="Line 58">
              <a:extLst>
                <a:ext uri="{FF2B5EF4-FFF2-40B4-BE49-F238E27FC236}">
                  <a16:creationId xmlns:a16="http://schemas.microsoft.com/office/drawing/2014/main" id="{6A986EDD-DED0-4BF1-B046-AD023D6D4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173"/>
              <a:ext cx="0" cy="37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99" name="Line 59">
              <a:extLst>
                <a:ext uri="{FF2B5EF4-FFF2-40B4-BE49-F238E27FC236}">
                  <a16:creationId xmlns:a16="http://schemas.microsoft.com/office/drawing/2014/main" id="{EDC34BC6-A972-4C6A-9EF2-0E9942224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173"/>
              <a:ext cx="19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00" name="Line 60">
              <a:extLst>
                <a:ext uri="{FF2B5EF4-FFF2-40B4-BE49-F238E27FC236}">
                  <a16:creationId xmlns:a16="http://schemas.microsoft.com/office/drawing/2014/main" id="{749C93EF-1743-4766-838F-59C9458CA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6" y="128"/>
              <a:ext cx="0" cy="37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01" name="Line 61">
              <a:extLst>
                <a:ext uri="{FF2B5EF4-FFF2-40B4-BE49-F238E27FC236}">
                  <a16:creationId xmlns:a16="http://schemas.microsoft.com/office/drawing/2014/main" id="{05F5CA26-8EB7-42D1-AE67-E81AE8D7E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3915"/>
              <a:ext cx="19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02" name="Line 62">
              <a:extLst>
                <a:ext uri="{FF2B5EF4-FFF2-40B4-BE49-F238E27FC236}">
                  <a16:creationId xmlns:a16="http://schemas.microsoft.com/office/drawing/2014/main" id="{2EDB6DD6-A344-4046-8748-8872F76A3E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089"/>
              <a:ext cx="19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03" name="Line 63">
              <a:extLst>
                <a:ext uri="{FF2B5EF4-FFF2-40B4-BE49-F238E27FC236}">
                  <a16:creationId xmlns:a16="http://schemas.microsoft.com/office/drawing/2014/main" id="{19482E51-C36A-4BF1-B2D0-D26BF1CB0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1108"/>
              <a:ext cx="19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04" name="Line 64">
              <a:extLst>
                <a:ext uri="{FF2B5EF4-FFF2-40B4-BE49-F238E27FC236}">
                  <a16:creationId xmlns:a16="http://schemas.microsoft.com/office/drawing/2014/main" id="{79044215-C952-4417-8169-AF790803F4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3070"/>
              <a:ext cx="19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05" name="Line 65">
              <a:extLst>
                <a:ext uri="{FF2B5EF4-FFF2-40B4-BE49-F238E27FC236}">
                  <a16:creationId xmlns:a16="http://schemas.microsoft.com/office/drawing/2014/main" id="{E63D4993-4399-47C7-917D-EA5E06BDC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73"/>
              <a:ext cx="0" cy="37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06" name="Line 66">
              <a:extLst>
                <a:ext uri="{FF2B5EF4-FFF2-40B4-BE49-F238E27FC236}">
                  <a16:creationId xmlns:a16="http://schemas.microsoft.com/office/drawing/2014/main" id="{FC900115-E42C-487C-8F56-D10C1C832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9" y="3070"/>
              <a:ext cx="0" cy="8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07" name="Line 67">
              <a:extLst>
                <a:ext uri="{FF2B5EF4-FFF2-40B4-BE49-F238E27FC236}">
                  <a16:creationId xmlns:a16="http://schemas.microsoft.com/office/drawing/2014/main" id="{3209184C-B936-459A-AC0E-B517415BD6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8" y="2089"/>
              <a:ext cx="0" cy="9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08" name="Line 68">
              <a:extLst>
                <a:ext uri="{FF2B5EF4-FFF2-40B4-BE49-F238E27FC236}">
                  <a16:creationId xmlns:a16="http://schemas.microsoft.com/office/drawing/2014/main" id="{C17064DA-D2A2-4C6C-AA84-BD47BFD7D7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1" y="1108"/>
              <a:ext cx="0" cy="9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09" name="Arc 69">
              <a:extLst>
                <a:ext uri="{FF2B5EF4-FFF2-40B4-BE49-F238E27FC236}">
                  <a16:creationId xmlns:a16="http://schemas.microsoft.com/office/drawing/2014/main" id="{37B2967C-FEAA-4AEC-AD42-7A7FFE685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81"/>
              <a:ext cx="169" cy="888"/>
            </a:xfrm>
            <a:custGeom>
              <a:avLst/>
              <a:gdLst>
                <a:gd name="T0" fmla="*/ 0 w 40008"/>
                <a:gd name="T1" fmla="*/ 1 h 21600"/>
                <a:gd name="T2" fmla="*/ 0 w 40008"/>
                <a:gd name="T3" fmla="*/ 0 h 21600"/>
                <a:gd name="T4" fmla="*/ 0 w 40008"/>
                <a:gd name="T5" fmla="*/ 1 h 21600"/>
                <a:gd name="T6" fmla="*/ 0 w 40008"/>
                <a:gd name="T7" fmla="*/ 1 h 21600"/>
                <a:gd name="T8" fmla="*/ 0 w 40008"/>
                <a:gd name="T9" fmla="*/ 0 h 21600"/>
                <a:gd name="T10" fmla="*/ 0 w 40008"/>
                <a:gd name="T11" fmla="*/ 1 h 21600"/>
                <a:gd name="T12" fmla="*/ 0 w 40008"/>
                <a:gd name="T13" fmla="*/ 2 h 216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08" h="21600" fill="none">
                  <a:moveTo>
                    <a:pt x="-1" y="13673"/>
                  </a:moveTo>
                  <a:cubicBezTo>
                    <a:pt x="3254" y="5422"/>
                    <a:pt x="11222" y="-1"/>
                    <a:pt x="20093" y="0"/>
                  </a:cubicBezTo>
                  <a:cubicBezTo>
                    <a:pt x="28791" y="0"/>
                    <a:pt x="36640" y="5217"/>
                    <a:pt x="40008" y="13236"/>
                  </a:cubicBezTo>
                </a:path>
                <a:path w="40008" h="21600" stroke="0">
                  <a:moveTo>
                    <a:pt x="-1" y="13673"/>
                  </a:moveTo>
                  <a:cubicBezTo>
                    <a:pt x="3254" y="5422"/>
                    <a:pt x="11222" y="-1"/>
                    <a:pt x="20093" y="0"/>
                  </a:cubicBezTo>
                  <a:cubicBezTo>
                    <a:pt x="28791" y="0"/>
                    <a:pt x="36640" y="5217"/>
                    <a:pt x="40008" y="13236"/>
                  </a:cubicBezTo>
                  <a:lnTo>
                    <a:pt x="20093" y="21600"/>
                  </a:lnTo>
                  <a:lnTo>
                    <a:pt x="-1" y="13673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10" name="Arc 70">
              <a:extLst>
                <a:ext uri="{FF2B5EF4-FFF2-40B4-BE49-F238E27FC236}">
                  <a16:creationId xmlns:a16="http://schemas.microsoft.com/office/drawing/2014/main" id="{FA9F6C94-FCDA-41F2-A2CE-82EDB37F2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" y="1200"/>
              <a:ext cx="132" cy="756"/>
            </a:xfrm>
            <a:custGeom>
              <a:avLst/>
              <a:gdLst>
                <a:gd name="T0" fmla="*/ 0 w 20020"/>
                <a:gd name="T1" fmla="*/ 1 h 21599"/>
                <a:gd name="T2" fmla="*/ 0 w 20020"/>
                <a:gd name="T3" fmla="*/ 0 h 21599"/>
                <a:gd name="T4" fmla="*/ 0 w 20020"/>
                <a:gd name="T5" fmla="*/ 1 h 21599"/>
                <a:gd name="T6" fmla="*/ 0 w 20020"/>
                <a:gd name="T7" fmla="*/ 0 h 21599"/>
                <a:gd name="T8" fmla="*/ 0 w 20020"/>
                <a:gd name="T9" fmla="*/ 1 h 215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020" h="21599" fill="none">
                  <a:moveTo>
                    <a:pt x="-1" y="13489"/>
                  </a:moveTo>
                  <a:cubicBezTo>
                    <a:pt x="3282" y="5385"/>
                    <a:pt x="11126" y="60"/>
                    <a:pt x="19869" y="-1"/>
                  </a:cubicBezTo>
                </a:path>
                <a:path w="20020" h="21599" stroke="0">
                  <a:moveTo>
                    <a:pt x="-1" y="13489"/>
                  </a:moveTo>
                  <a:cubicBezTo>
                    <a:pt x="3282" y="5385"/>
                    <a:pt x="11126" y="60"/>
                    <a:pt x="19869" y="-1"/>
                  </a:cubicBezTo>
                  <a:lnTo>
                    <a:pt x="20020" y="21599"/>
                  </a:lnTo>
                  <a:lnTo>
                    <a:pt x="-1" y="13489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11" name="Arc 71">
              <a:extLst>
                <a:ext uri="{FF2B5EF4-FFF2-40B4-BE49-F238E27FC236}">
                  <a16:creationId xmlns:a16="http://schemas.microsoft.com/office/drawing/2014/main" id="{46379C80-D2A2-48AC-ADB3-B3C258CB2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" y="1109"/>
              <a:ext cx="89" cy="536"/>
            </a:xfrm>
            <a:custGeom>
              <a:avLst/>
              <a:gdLst>
                <a:gd name="T0" fmla="*/ 0 w 18516"/>
                <a:gd name="T1" fmla="*/ 0 h 21600"/>
                <a:gd name="T2" fmla="*/ 0 w 18516"/>
                <a:gd name="T3" fmla="*/ 0 h 21600"/>
                <a:gd name="T4" fmla="*/ 0 w 18516"/>
                <a:gd name="T5" fmla="*/ 0 h 21600"/>
                <a:gd name="T6" fmla="*/ 0 w 18516"/>
                <a:gd name="T7" fmla="*/ 0 h 21600"/>
                <a:gd name="T8" fmla="*/ 0 w 18516"/>
                <a:gd name="T9" fmla="*/ 0 h 21600"/>
                <a:gd name="T10" fmla="*/ 0 w 18516"/>
                <a:gd name="T11" fmla="*/ 0 h 21600"/>
                <a:gd name="T12" fmla="*/ 0 w 18516"/>
                <a:gd name="T13" fmla="*/ 0 h 216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516" h="21600" fill="none">
                  <a:moveTo>
                    <a:pt x="-1" y="0"/>
                  </a:moveTo>
                  <a:cubicBezTo>
                    <a:pt x="64" y="0"/>
                    <a:pt x="128" y="-1"/>
                    <a:pt x="193" y="0"/>
                  </a:cubicBezTo>
                  <a:cubicBezTo>
                    <a:pt x="7644" y="0"/>
                    <a:pt x="14570" y="3840"/>
                    <a:pt x="18515" y="10162"/>
                  </a:cubicBezTo>
                </a:path>
                <a:path w="18516" h="21600" stroke="0">
                  <a:moveTo>
                    <a:pt x="-1" y="0"/>
                  </a:moveTo>
                  <a:cubicBezTo>
                    <a:pt x="64" y="0"/>
                    <a:pt x="128" y="-1"/>
                    <a:pt x="193" y="0"/>
                  </a:cubicBezTo>
                  <a:cubicBezTo>
                    <a:pt x="7644" y="0"/>
                    <a:pt x="14570" y="3840"/>
                    <a:pt x="18515" y="10162"/>
                  </a:cubicBezTo>
                  <a:lnTo>
                    <a:pt x="193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12" name="Arc 72">
              <a:extLst>
                <a:ext uri="{FF2B5EF4-FFF2-40B4-BE49-F238E27FC236}">
                  <a16:creationId xmlns:a16="http://schemas.microsoft.com/office/drawing/2014/main" id="{86CADCB0-AA90-4DB3-8083-BAF4BE04969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373">
              <a:off x="488" y="2404"/>
              <a:ext cx="135" cy="578"/>
            </a:xfrm>
            <a:custGeom>
              <a:avLst/>
              <a:gdLst>
                <a:gd name="T0" fmla="*/ 0 w 31617"/>
                <a:gd name="T1" fmla="*/ 0 h 21600"/>
                <a:gd name="T2" fmla="*/ 0 w 31617"/>
                <a:gd name="T3" fmla="*/ 0 h 21600"/>
                <a:gd name="T4" fmla="*/ 0 w 31617"/>
                <a:gd name="T5" fmla="*/ 0 h 21600"/>
                <a:gd name="T6" fmla="*/ 0 w 31617"/>
                <a:gd name="T7" fmla="*/ 0 h 21600"/>
                <a:gd name="T8" fmla="*/ 0 w 31617"/>
                <a:gd name="T9" fmla="*/ 0 h 21600"/>
                <a:gd name="T10" fmla="*/ 0 w 31617"/>
                <a:gd name="T11" fmla="*/ 0 h 21600"/>
                <a:gd name="T12" fmla="*/ 0 w 31617"/>
                <a:gd name="T13" fmla="*/ 0 h 216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617" h="21600" fill="none">
                  <a:moveTo>
                    <a:pt x="-1" y="17561"/>
                  </a:moveTo>
                  <a:cubicBezTo>
                    <a:pt x="1938" y="7372"/>
                    <a:pt x="10846" y="-1"/>
                    <a:pt x="21219" y="0"/>
                  </a:cubicBezTo>
                  <a:cubicBezTo>
                    <a:pt x="24854" y="0"/>
                    <a:pt x="28430" y="917"/>
                    <a:pt x="31617" y="2667"/>
                  </a:cubicBezTo>
                </a:path>
                <a:path w="31617" h="21600" stroke="0">
                  <a:moveTo>
                    <a:pt x="-1" y="17561"/>
                  </a:moveTo>
                  <a:cubicBezTo>
                    <a:pt x="1938" y="7372"/>
                    <a:pt x="10846" y="-1"/>
                    <a:pt x="21219" y="0"/>
                  </a:cubicBezTo>
                  <a:cubicBezTo>
                    <a:pt x="24854" y="0"/>
                    <a:pt x="28430" y="917"/>
                    <a:pt x="31617" y="2667"/>
                  </a:cubicBezTo>
                  <a:lnTo>
                    <a:pt x="21219" y="21600"/>
                  </a:lnTo>
                  <a:lnTo>
                    <a:pt x="-1" y="1756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13" name="Arc 73">
              <a:extLst>
                <a:ext uri="{FF2B5EF4-FFF2-40B4-BE49-F238E27FC236}">
                  <a16:creationId xmlns:a16="http://schemas.microsoft.com/office/drawing/2014/main" id="{0872ABC4-539C-4D7A-BD01-08C5A6E09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" y="2090"/>
              <a:ext cx="86" cy="713"/>
            </a:xfrm>
            <a:custGeom>
              <a:avLst/>
              <a:gdLst>
                <a:gd name="T0" fmla="*/ 0 w 13913"/>
                <a:gd name="T1" fmla="*/ 0 h 21599"/>
                <a:gd name="T2" fmla="*/ 0 w 13913"/>
                <a:gd name="T3" fmla="*/ 0 h 21599"/>
                <a:gd name="T4" fmla="*/ 0 w 13913"/>
                <a:gd name="T5" fmla="*/ 0 h 21599"/>
                <a:gd name="T6" fmla="*/ 0 w 13913"/>
                <a:gd name="T7" fmla="*/ 0 h 21599"/>
                <a:gd name="T8" fmla="*/ 0 w 13913"/>
                <a:gd name="T9" fmla="*/ 1 h 215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13" h="21599" fill="none">
                  <a:moveTo>
                    <a:pt x="-1" y="5076"/>
                  </a:moveTo>
                  <a:cubicBezTo>
                    <a:pt x="3854" y="1830"/>
                    <a:pt x="8723" y="34"/>
                    <a:pt x="13762" y="-1"/>
                  </a:cubicBezTo>
                </a:path>
                <a:path w="13913" h="21599" stroke="0">
                  <a:moveTo>
                    <a:pt x="-1" y="5076"/>
                  </a:moveTo>
                  <a:cubicBezTo>
                    <a:pt x="3854" y="1830"/>
                    <a:pt x="8723" y="34"/>
                    <a:pt x="13762" y="-1"/>
                  </a:cubicBezTo>
                  <a:lnTo>
                    <a:pt x="13913" y="21599"/>
                  </a:lnTo>
                  <a:lnTo>
                    <a:pt x="-1" y="5076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14" name="Arc 74">
              <a:extLst>
                <a:ext uri="{FF2B5EF4-FFF2-40B4-BE49-F238E27FC236}">
                  <a16:creationId xmlns:a16="http://schemas.microsoft.com/office/drawing/2014/main" id="{61098F9D-06FB-4851-95F9-E3F416385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" y="2090"/>
              <a:ext cx="89" cy="579"/>
            </a:xfrm>
            <a:custGeom>
              <a:avLst/>
              <a:gdLst>
                <a:gd name="T0" fmla="*/ 0 w 20225"/>
                <a:gd name="T1" fmla="*/ 0 h 21600"/>
                <a:gd name="T2" fmla="*/ 0 w 20225"/>
                <a:gd name="T3" fmla="*/ 0 h 21600"/>
                <a:gd name="T4" fmla="*/ 0 w 20225"/>
                <a:gd name="T5" fmla="*/ 0 h 21600"/>
                <a:gd name="T6" fmla="*/ 0 w 20225"/>
                <a:gd name="T7" fmla="*/ 0 h 21600"/>
                <a:gd name="T8" fmla="*/ 0 w 20225"/>
                <a:gd name="T9" fmla="*/ 0 h 21600"/>
                <a:gd name="T10" fmla="*/ 0 w 20225"/>
                <a:gd name="T11" fmla="*/ 0 h 21600"/>
                <a:gd name="T12" fmla="*/ 0 w 20225"/>
                <a:gd name="T13" fmla="*/ 0 h 216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225" h="21600" fill="none">
                  <a:moveTo>
                    <a:pt x="-1" y="0"/>
                  </a:moveTo>
                  <a:cubicBezTo>
                    <a:pt x="49" y="0"/>
                    <a:pt x="98" y="-1"/>
                    <a:pt x="148" y="0"/>
                  </a:cubicBezTo>
                  <a:cubicBezTo>
                    <a:pt x="9001" y="0"/>
                    <a:pt x="16958" y="5402"/>
                    <a:pt x="20224" y="13632"/>
                  </a:cubicBezTo>
                </a:path>
                <a:path w="20225" h="21600" stroke="0">
                  <a:moveTo>
                    <a:pt x="-1" y="0"/>
                  </a:moveTo>
                  <a:cubicBezTo>
                    <a:pt x="49" y="0"/>
                    <a:pt x="98" y="-1"/>
                    <a:pt x="148" y="0"/>
                  </a:cubicBezTo>
                  <a:cubicBezTo>
                    <a:pt x="9001" y="0"/>
                    <a:pt x="16958" y="5402"/>
                    <a:pt x="20224" y="13632"/>
                  </a:cubicBezTo>
                  <a:lnTo>
                    <a:pt x="148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15" name="Arc 75">
              <a:extLst>
                <a:ext uri="{FF2B5EF4-FFF2-40B4-BE49-F238E27FC236}">
                  <a16:creationId xmlns:a16="http://schemas.microsoft.com/office/drawing/2014/main" id="{748FF6E4-A069-4619-8BCB-9C976A2E26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466">
              <a:off x="351" y="2535"/>
              <a:ext cx="128" cy="536"/>
            </a:xfrm>
            <a:custGeom>
              <a:avLst/>
              <a:gdLst>
                <a:gd name="T0" fmla="*/ 0 w 17122"/>
                <a:gd name="T1" fmla="*/ 0 h 21600"/>
                <a:gd name="T2" fmla="*/ 0 w 17122"/>
                <a:gd name="T3" fmla="*/ 0 h 21600"/>
                <a:gd name="T4" fmla="*/ 0 w 17122"/>
                <a:gd name="T5" fmla="*/ 0 h 21600"/>
                <a:gd name="T6" fmla="*/ 0 w 17122"/>
                <a:gd name="T7" fmla="*/ 0 h 21600"/>
                <a:gd name="T8" fmla="*/ 0 w 17122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122" h="21600" fill="none">
                  <a:moveTo>
                    <a:pt x="17122" y="13168"/>
                  </a:moveTo>
                  <a:cubicBezTo>
                    <a:pt x="13033" y="18484"/>
                    <a:pt x="6706" y="21599"/>
                    <a:pt x="0" y="21600"/>
                  </a:cubicBezTo>
                </a:path>
                <a:path w="17122" h="21600" stroke="0">
                  <a:moveTo>
                    <a:pt x="17122" y="13168"/>
                  </a:moveTo>
                  <a:cubicBezTo>
                    <a:pt x="13033" y="18484"/>
                    <a:pt x="6706" y="21599"/>
                    <a:pt x="0" y="21600"/>
                  </a:cubicBezTo>
                  <a:lnTo>
                    <a:pt x="0" y="0"/>
                  </a:lnTo>
                  <a:lnTo>
                    <a:pt x="17122" y="13168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16" name="Arc 76">
              <a:extLst>
                <a:ext uri="{FF2B5EF4-FFF2-40B4-BE49-F238E27FC236}">
                  <a16:creationId xmlns:a16="http://schemas.microsoft.com/office/drawing/2014/main" id="{05802693-1A95-4024-9F6B-4FD4A159E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1599"/>
              <a:ext cx="133" cy="401"/>
            </a:xfrm>
            <a:custGeom>
              <a:avLst/>
              <a:gdLst>
                <a:gd name="T0" fmla="*/ 0 w 21277"/>
                <a:gd name="T1" fmla="*/ 0 h 21600"/>
                <a:gd name="T2" fmla="*/ 0 w 21277"/>
                <a:gd name="T3" fmla="*/ 0 h 21600"/>
                <a:gd name="T4" fmla="*/ 0 w 21277"/>
                <a:gd name="T5" fmla="*/ 0 h 21600"/>
                <a:gd name="T6" fmla="*/ 0 w 21277"/>
                <a:gd name="T7" fmla="*/ 0 h 21600"/>
                <a:gd name="T8" fmla="*/ 0 w 21277"/>
                <a:gd name="T9" fmla="*/ 0 h 21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77" h="21600" fill="none">
                  <a:moveTo>
                    <a:pt x="21276" y="3721"/>
                  </a:moveTo>
                  <a:cubicBezTo>
                    <a:pt x="19468" y="14058"/>
                    <a:pt x="10493" y="21599"/>
                    <a:pt x="0" y="21600"/>
                  </a:cubicBezTo>
                </a:path>
                <a:path w="21277" h="21600" stroke="0">
                  <a:moveTo>
                    <a:pt x="21276" y="3721"/>
                  </a:moveTo>
                  <a:cubicBezTo>
                    <a:pt x="19468" y="14058"/>
                    <a:pt x="10493" y="21599"/>
                    <a:pt x="0" y="21600"/>
                  </a:cubicBezTo>
                  <a:lnTo>
                    <a:pt x="0" y="0"/>
                  </a:lnTo>
                  <a:lnTo>
                    <a:pt x="21276" y="372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17" name="Arc 77">
              <a:extLst>
                <a:ext uri="{FF2B5EF4-FFF2-40B4-BE49-F238E27FC236}">
                  <a16:creationId xmlns:a16="http://schemas.microsoft.com/office/drawing/2014/main" id="{83E26344-7787-47E7-8ADC-ACC99A10B3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">
              <a:off x="844" y="884"/>
              <a:ext cx="263" cy="935"/>
            </a:xfrm>
            <a:custGeom>
              <a:avLst/>
              <a:gdLst>
                <a:gd name="T0" fmla="*/ 0 w 18977"/>
                <a:gd name="T1" fmla="*/ 2 h 21425"/>
                <a:gd name="T2" fmla="*/ 0 w 18977"/>
                <a:gd name="T3" fmla="*/ 1 h 21425"/>
                <a:gd name="T4" fmla="*/ 0 w 18977"/>
                <a:gd name="T5" fmla="*/ 2 h 21425"/>
                <a:gd name="T6" fmla="*/ 0 w 18977"/>
                <a:gd name="T7" fmla="*/ 1 h 21425"/>
                <a:gd name="T8" fmla="*/ 0 w 18977"/>
                <a:gd name="T9" fmla="*/ 0 h 214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977" h="21425" fill="none">
                  <a:moveTo>
                    <a:pt x="16235" y="21425"/>
                  </a:moveTo>
                  <a:cubicBezTo>
                    <a:pt x="9353" y="20544"/>
                    <a:pt x="3313" y="16411"/>
                    <a:pt x="-1" y="10316"/>
                  </a:cubicBezTo>
                </a:path>
                <a:path w="18977" h="21425" stroke="0">
                  <a:moveTo>
                    <a:pt x="16235" y="21425"/>
                  </a:moveTo>
                  <a:cubicBezTo>
                    <a:pt x="9353" y="20544"/>
                    <a:pt x="3313" y="16411"/>
                    <a:pt x="-1" y="10316"/>
                  </a:cubicBezTo>
                  <a:lnTo>
                    <a:pt x="18977" y="0"/>
                  </a:lnTo>
                  <a:lnTo>
                    <a:pt x="16235" y="21425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18" name="Arc 78">
              <a:extLst>
                <a:ext uri="{FF2B5EF4-FFF2-40B4-BE49-F238E27FC236}">
                  <a16:creationId xmlns:a16="http://schemas.microsoft.com/office/drawing/2014/main" id="{D202F2EA-5BAB-45E1-A26C-D00953B1B4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96797">
              <a:off x="296" y="692"/>
              <a:ext cx="209" cy="416"/>
            </a:xfrm>
            <a:custGeom>
              <a:avLst/>
              <a:gdLst>
                <a:gd name="T0" fmla="*/ 0 w 33776"/>
                <a:gd name="T1" fmla="*/ 0 h 24519"/>
                <a:gd name="T2" fmla="*/ 0 w 33776"/>
                <a:gd name="T3" fmla="*/ 0 h 24519"/>
                <a:gd name="T4" fmla="*/ 0 w 33776"/>
                <a:gd name="T5" fmla="*/ 0 h 24519"/>
                <a:gd name="T6" fmla="*/ 0 w 33776"/>
                <a:gd name="T7" fmla="*/ 0 h 24519"/>
                <a:gd name="T8" fmla="*/ 0 w 33776"/>
                <a:gd name="T9" fmla="*/ 0 h 24519"/>
                <a:gd name="T10" fmla="*/ 0 w 33776"/>
                <a:gd name="T11" fmla="*/ 0 h 24519"/>
                <a:gd name="T12" fmla="*/ 0 w 33776"/>
                <a:gd name="T13" fmla="*/ 0 h 24519"/>
                <a:gd name="T14" fmla="*/ 0 w 33776"/>
                <a:gd name="T15" fmla="*/ 0 h 24519"/>
                <a:gd name="T16" fmla="*/ 0 w 33776"/>
                <a:gd name="T17" fmla="*/ 0 h 245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776" h="24519" fill="none">
                  <a:moveTo>
                    <a:pt x="33577" y="0"/>
                  </a:moveTo>
                  <a:cubicBezTo>
                    <a:pt x="33709" y="967"/>
                    <a:pt x="33776" y="1942"/>
                    <a:pt x="33776" y="2919"/>
                  </a:cubicBezTo>
                  <a:cubicBezTo>
                    <a:pt x="33776" y="14848"/>
                    <a:pt x="24105" y="24519"/>
                    <a:pt x="12176" y="24519"/>
                  </a:cubicBezTo>
                  <a:cubicBezTo>
                    <a:pt x="7831" y="24519"/>
                    <a:pt x="3588" y="23209"/>
                    <a:pt x="-1" y="20760"/>
                  </a:cubicBezTo>
                </a:path>
                <a:path w="33776" h="24519" stroke="0">
                  <a:moveTo>
                    <a:pt x="33577" y="0"/>
                  </a:moveTo>
                  <a:cubicBezTo>
                    <a:pt x="33709" y="967"/>
                    <a:pt x="33776" y="1942"/>
                    <a:pt x="33776" y="2919"/>
                  </a:cubicBezTo>
                  <a:cubicBezTo>
                    <a:pt x="33776" y="14848"/>
                    <a:pt x="24105" y="24519"/>
                    <a:pt x="12176" y="24519"/>
                  </a:cubicBezTo>
                  <a:cubicBezTo>
                    <a:pt x="7831" y="24519"/>
                    <a:pt x="3588" y="23209"/>
                    <a:pt x="-1" y="20760"/>
                  </a:cubicBezTo>
                  <a:lnTo>
                    <a:pt x="12176" y="2919"/>
                  </a:lnTo>
                  <a:lnTo>
                    <a:pt x="33577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19" name="Arc 79">
              <a:extLst>
                <a:ext uri="{FF2B5EF4-FFF2-40B4-BE49-F238E27FC236}">
                  <a16:creationId xmlns:a16="http://schemas.microsoft.com/office/drawing/2014/main" id="{FBBEE1D8-970A-4213-B6B5-CF11DDA11B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15268">
              <a:off x="1105" y="2405"/>
              <a:ext cx="231" cy="512"/>
            </a:xfrm>
            <a:custGeom>
              <a:avLst/>
              <a:gdLst>
                <a:gd name="T0" fmla="*/ 0 w 21600"/>
                <a:gd name="T1" fmla="*/ 0 h 19451"/>
                <a:gd name="T2" fmla="*/ 0 w 21600"/>
                <a:gd name="T3" fmla="*/ 0 h 19451"/>
                <a:gd name="T4" fmla="*/ 0 w 21600"/>
                <a:gd name="T5" fmla="*/ 0 h 19451"/>
                <a:gd name="T6" fmla="*/ 0 w 21600"/>
                <a:gd name="T7" fmla="*/ 0 h 19451"/>
                <a:gd name="T8" fmla="*/ 0 w 21600"/>
                <a:gd name="T9" fmla="*/ 0 h 19451"/>
                <a:gd name="T10" fmla="*/ 0 w 21600"/>
                <a:gd name="T11" fmla="*/ 0 h 19451"/>
                <a:gd name="T12" fmla="*/ 0 w 21600"/>
                <a:gd name="T13" fmla="*/ 0 h 194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00" h="19451" fill="none">
                  <a:moveTo>
                    <a:pt x="1705" y="19451"/>
                  </a:moveTo>
                  <a:cubicBezTo>
                    <a:pt x="580" y="16789"/>
                    <a:pt x="0" y="13928"/>
                    <a:pt x="0" y="11038"/>
                  </a:cubicBezTo>
                  <a:cubicBezTo>
                    <a:pt x="-1" y="7152"/>
                    <a:pt x="1047" y="3339"/>
                    <a:pt x="3033" y="0"/>
                  </a:cubicBezTo>
                </a:path>
                <a:path w="21600" h="19451" stroke="0">
                  <a:moveTo>
                    <a:pt x="1705" y="19451"/>
                  </a:moveTo>
                  <a:cubicBezTo>
                    <a:pt x="580" y="16789"/>
                    <a:pt x="0" y="13928"/>
                    <a:pt x="0" y="11038"/>
                  </a:cubicBezTo>
                  <a:cubicBezTo>
                    <a:pt x="-1" y="7152"/>
                    <a:pt x="1047" y="3339"/>
                    <a:pt x="3033" y="0"/>
                  </a:cubicBezTo>
                  <a:lnTo>
                    <a:pt x="21600" y="11038"/>
                  </a:lnTo>
                  <a:lnTo>
                    <a:pt x="1705" y="1945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0" name="Arc 80">
              <a:extLst>
                <a:ext uri="{FF2B5EF4-FFF2-40B4-BE49-F238E27FC236}">
                  <a16:creationId xmlns:a16="http://schemas.microsoft.com/office/drawing/2014/main" id="{4C212E4C-D4AA-46D4-843A-3A334B2D7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" y="795"/>
              <a:ext cx="174" cy="313"/>
            </a:xfrm>
            <a:custGeom>
              <a:avLst/>
              <a:gdLst>
                <a:gd name="T0" fmla="*/ 0 w 30099"/>
                <a:gd name="T1" fmla="*/ 0 h 21600"/>
                <a:gd name="T2" fmla="*/ 0 w 30099"/>
                <a:gd name="T3" fmla="*/ 0 h 21600"/>
                <a:gd name="T4" fmla="*/ 0 w 30099"/>
                <a:gd name="T5" fmla="*/ 0 h 21600"/>
                <a:gd name="T6" fmla="*/ 0 w 30099"/>
                <a:gd name="T7" fmla="*/ 0 h 21600"/>
                <a:gd name="T8" fmla="*/ 0 w 30099"/>
                <a:gd name="T9" fmla="*/ 0 h 21600"/>
                <a:gd name="T10" fmla="*/ 0 w 30099"/>
                <a:gd name="T11" fmla="*/ 0 h 21600"/>
                <a:gd name="T12" fmla="*/ 0 w 30099"/>
                <a:gd name="T13" fmla="*/ 0 h 216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099" h="21600" fill="none">
                  <a:moveTo>
                    <a:pt x="30098" y="17915"/>
                  </a:moveTo>
                  <a:cubicBezTo>
                    <a:pt x="26533" y="20317"/>
                    <a:pt x="22331" y="21599"/>
                    <a:pt x="18033" y="21600"/>
                  </a:cubicBezTo>
                  <a:cubicBezTo>
                    <a:pt x="10772" y="21600"/>
                    <a:pt x="3996" y="17951"/>
                    <a:pt x="0" y="11889"/>
                  </a:cubicBezTo>
                </a:path>
                <a:path w="30099" h="21600" stroke="0">
                  <a:moveTo>
                    <a:pt x="30098" y="17915"/>
                  </a:moveTo>
                  <a:cubicBezTo>
                    <a:pt x="26533" y="20317"/>
                    <a:pt x="22331" y="21599"/>
                    <a:pt x="18033" y="21600"/>
                  </a:cubicBezTo>
                  <a:cubicBezTo>
                    <a:pt x="10772" y="21600"/>
                    <a:pt x="3996" y="17951"/>
                    <a:pt x="0" y="11889"/>
                  </a:cubicBezTo>
                  <a:lnTo>
                    <a:pt x="18033" y="0"/>
                  </a:lnTo>
                  <a:lnTo>
                    <a:pt x="30098" y="17915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1" name="Line 81">
              <a:extLst>
                <a:ext uri="{FF2B5EF4-FFF2-40B4-BE49-F238E27FC236}">
                  <a16:creationId xmlns:a16="http://schemas.microsoft.com/office/drawing/2014/main" id="{DDCC994D-BFC6-45B1-811A-23AF4B9D1A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752"/>
              <a:ext cx="44" cy="2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22" name="Rectangle 82">
              <a:extLst>
                <a:ext uri="{FF2B5EF4-FFF2-40B4-BE49-F238E27FC236}">
                  <a16:creationId xmlns:a16="http://schemas.microsoft.com/office/drawing/2014/main" id="{DFE04E8E-2B48-4E3D-B5BD-B8E9BF80B0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1" y="1733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23" name="Rectangle 83">
              <a:extLst>
                <a:ext uri="{FF2B5EF4-FFF2-40B4-BE49-F238E27FC236}">
                  <a16:creationId xmlns:a16="http://schemas.microsoft.com/office/drawing/2014/main" id="{C72F6E45-F637-4F67-AFF0-68C4A257F0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50" y="1605"/>
              <a:ext cx="25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24" name="Rectangle 84">
              <a:extLst>
                <a:ext uri="{FF2B5EF4-FFF2-40B4-BE49-F238E27FC236}">
                  <a16:creationId xmlns:a16="http://schemas.microsoft.com/office/drawing/2014/main" id="{B881836F-E46E-4FB3-8452-FB73F11CE8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0" y="1243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25" name="Rectangle 85">
              <a:extLst>
                <a:ext uri="{FF2B5EF4-FFF2-40B4-BE49-F238E27FC236}">
                  <a16:creationId xmlns:a16="http://schemas.microsoft.com/office/drawing/2014/main" id="{B2469B5A-6D3C-486D-B363-33C1C8E3D6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5" y="1464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26" name="Rectangle 86">
              <a:extLst>
                <a:ext uri="{FF2B5EF4-FFF2-40B4-BE49-F238E27FC236}">
                  <a16:creationId xmlns:a16="http://schemas.microsoft.com/office/drawing/2014/main" id="{D131A5B9-B382-4512-B241-CADB633B85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82" y="1516"/>
              <a:ext cx="25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27" name="Rectangle 87">
              <a:extLst>
                <a:ext uri="{FF2B5EF4-FFF2-40B4-BE49-F238E27FC236}">
                  <a16:creationId xmlns:a16="http://schemas.microsoft.com/office/drawing/2014/main" id="{31E16BA3-A6E9-4D3D-96E8-D5B4CA1F9F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00" y="1383"/>
              <a:ext cx="25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28" name="Rectangle 88">
              <a:extLst>
                <a:ext uri="{FF2B5EF4-FFF2-40B4-BE49-F238E27FC236}">
                  <a16:creationId xmlns:a16="http://schemas.microsoft.com/office/drawing/2014/main" id="{254BD636-7DB3-4B4F-ADB9-0708871A75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00" y="1249"/>
              <a:ext cx="25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29" name="Rectangle 89">
              <a:extLst>
                <a:ext uri="{FF2B5EF4-FFF2-40B4-BE49-F238E27FC236}">
                  <a16:creationId xmlns:a16="http://schemas.microsoft.com/office/drawing/2014/main" id="{18B36A6C-2900-45C6-945C-C35DEC838C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0" y="1116"/>
              <a:ext cx="261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30" name="Rectangle 90">
              <a:extLst>
                <a:ext uri="{FF2B5EF4-FFF2-40B4-BE49-F238E27FC236}">
                  <a16:creationId xmlns:a16="http://schemas.microsoft.com/office/drawing/2014/main" id="{208DCD17-3F72-420D-B498-4E1B121EF6B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3" y="844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31" name="Rectangle 91">
              <a:extLst>
                <a:ext uri="{FF2B5EF4-FFF2-40B4-BE49-F238E27FC236}">
                  <a16:creationId xmlns:a16="http://schemas.microsoft.com/office/drawing/2014/main" id="{540DA4DE-5211-4560-B8BC-DAEA09579C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32" y="844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32" name="Rectangle 92">
              <a:extLst>
                <a:ext uri="{FF2B5EF4-FFF2-40B4-BE49-F238E27FC236}">
                  <a16:creationId xmlns:a16="http://schemas.microsoft.com/office/drawing/2014/main" id="{64DABF10-050A-4A44-858F-637D9A6F41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32" y="244"/>
              <a:ext cx="39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33" name="Rectangle 93">
              <a:extLst>
                <a:ext uri="{FF2B5EF4-FFF2-40B4-BE49-F238E27FC236}">
                  <a16:creationId xmlns:a16="http://schemas.microsoft.com/office/drawing/2014/main" id="{D9DB30DE-F304-441D-BF4F-4C54C816991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50" y="748"/>
              <a:ext cx="25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34" name="Rectangle 94">
              <a:extLst>
                <a:ext uri="{FF2B5EF4-FFF2-40B4-BE49-F238E27FC236}">
                  <a16:creationId xmlns:a16="http://schemas.microsoft.com/office/drawing/2014/main" id="{5F4AEC5E-E13F-4A30-8B58-16C818EE9B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0" y="659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35" name="Rectangle 95">
              <a:extLst>
                <a:ext uri="{FF2B5EF4-FFF2-40B4-BE49-F238E27FC236}">
                  <a16:creationId xmlns:a16="http://schemas.microsoft.com/office/drawing/2014/main" id="{C85C9310-9702-48A3-9C58-50165227CB1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34" y="265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36" name="Rectangle 96">
              <a:extLst>
                <a:ext uri="{FF2B5EF4-FFF2-40B4-BE49-F238E27FC236}">
                  <a16:creationId xmlns:a16="http://schemas.microsoft.com/office/drawing/2014/main" id="{5566BF4D-F1A6-4CB1-A4C8-7407219AD0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35" y="440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37" name="Rectangle 97">
              <a:extLst>
                <a:ext uri="{FF2B5EF4-FFF2-40B4-BE49-F238E27FC236}">
                  <a16:creationId xmlns:a16="http://schemas.microsoft.com/office/drawing/2014/main" id="{0B2FFE33-B4DB-431D-BAEA-11EA03F839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11" y="487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38" name="Rectangle 98">
              <a:extLst>
                <a:ext uri="{FF2B5EF4-FFF2-40B4-BE49-F238E27FC236}">
                  <a16:creationId xmlns:a16="http://schemas.microsoft.com/office/drawing/2014/main" id="{63CBB084-C6E9-4CE7-A6FB-029D4667BE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66" y="42"/>
              <a:ext cx="25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39" name="Rectangle 99">
              <a:extLst>
                <a:ext uri="{FF2B5EF4-FFF2-40B4-BE49-F238E27FC236}">
                  <a16:creationId xmlns:a16="http://schemas.microsoft.com/office/drawing/2014/main" id="{7244E687-50DE-4FB3-845D-6EA6942064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54" y="659"/>
              <a:ext cx="25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40" name="Rectangle 100">
              <a:extLst>
                <a:ext uri="{FF2B5EF4-FFF2-40B4-BE49-F238E27FC236}">
                  <a16:creationId xmlns:a16="http://schemas.microsoft.com/office/drawing/2014/main" id="{C3FEFB2E-9097-49A9-B66D-5F0E0A7858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4" y="-12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41" name="Rectangle 101">
              <a:extLst>
                <a:ext uri="{FF2B5EF4-FFF2-40B4-BE49-F238E27FC236}">
                  <a16:creationId xmlns:a16="http://schemas.microsoft.com/office/drawing/2014/main" id="{705644FD-1272-49E9-9217-9B77BDF563F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0" y="2669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42" name="Rectangle 102">
              <a:extLst>
                <a:ext uri="{FF2B5EF4-FFF2-40B4-BE49-F238E27FC236}">
                  <a16:creationId xmlns:a16="http://schemas.microsoft.com/office/drawing/2014/main" id="{8BC63C3F-8320-44DD-80F9-899691C596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43" y="2716"/>
              <a:ext cx="25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43" name="Rectangle 103">
              <a:extLst>
                <a:ext uri="{FF2B5EF4-FFF2-40B4-BE49-F238E27FC236}">
                  <a16:creationId xmlns:a16="http://schemas.microsoft.com/office/drawing/2014/main" id="{347361DE-185F-4534-A208-4CC95A4801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34" y="2313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44" name="Rectangle 104">
              <a:extLst>
                <a:ext uri="{FF2B5EF4-FFF2-40B4-BE49-F238E27FC236}">
                  <a16:creationId xmlns:a16="http://schemas.microsoft.com/office/drawing/2014/main" id="{83228BCE-9CCD-4ABE-86AD-5468F96B60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34" y="2402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45" name="Rectangle 105">
              <a:extLst>
                <a:ext uri="{FF2B5EF4-FFF2-40B4-BE49-F238E27FC236}">
                  <a16:creationId xmlns:a16="http://schemas.microsoft.com/office/drawing/2014/main" id="{C2B50861-33B7-4D3A-9721-4BE93F4FF7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53" y="2582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46" name="Rectangle 106">
              <a:extLst>
                <a:ext uri="{FF2B5EF4-FFF2-40B4-BE49-F238E27FC236}">
                  <a16:creationId xmlns:a16="http://schemas.microsoft.com/office/drawing/2014/main" id="{06DE9E6A-7569-4F64-82D9-499C6419D6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98" y="2624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47" name="Rectangle 107">
              <a:extLst>
                <a:ext uri="{FF2B5EF4-FFF2-40B4-BE49-F238E27FC236}">
                  <a16:creationId xmlns:a16="http://schemas.microsoft.com/office/drawing/2014/main" id="{A973FC7D-1E03-47F5-9B7A-EFA87F9D82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10" y="2624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48" name="Rectangle 108">
              <a:extLst>
                <a:ext uri="{FF2B5EF4-FFF2-40B4-BE49-F238E27FC236}">
                  <a16:creationId xmlns:a16="http://schemas.microsoft.com/office/drawing/2014/main" id="{31E6D429-9A29-4207-BCF8-08FEB2D86A0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09" y="2534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49" name="Rectangle 109">
              <a:extLst>
                <a:ext uri="{FF2B5EF4-FFF2-40B4-BE49-F238E27FC236}">
                  <a16:creationId xmlns:a16="http://schemas.microsoft.com/office/drawing/2014/main" id="{4DC2C5E1-2091-4637-BAA3-B2CD11E9A8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88" y="2007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50" name="Rectangle 110">
              <a:extLst>
                <a:ext uri="{FF2B5EF4-FFF2-40B4-BE49-F238E27FC236}">
                  <a16:creationId xmlns:a16="http://schemas.microsoft.com/office/drawing/2014/main" id="{E6993A78-5BE5-49A7-854F-ED614FB53B7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99" y="1919"/>
              <a:ext cx="256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51" name="Rectangle 111">
              <a:extLst>
                <a:ext uri="{FF2B5EF4-FFF2-40B4-BE49-F238E27FC236}">
                  <a16:creationId xmlns:a16="http://schemas.microsoft.com/office/drawing/2014/main" id="{0323ABE0-0B34-470F-B0C9-A901DE46D9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8" y="2450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52" name="Rectangle 112">
              <a:extLst>
                <a:ext uri="{FF2B5EF4-FFF2-40B4-BE49-F238E27FC236}">
                  <a16:creationId xmlns:a16="http://schemas.microsoft.com/office/drawing/2014/main" id="{BE9A4B79-6706-46F5-9302-9578A13D8A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23" y="2179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53" name="Rectangle 113">
              <a:extLst>
                <a:ext uri="{FF2B5EF4-FFF2-40B4-BE49-F238E27FC236}">
                  <a16:creationId xmlns:a16="http://schemas.microsoft.com/office/drawing/2014/main" id="{7E5D0406-7B2A-4574-90A4-5D22F6F332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3" y="1780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54" name="Rectangle 114">
              <a:extLst>
                <a:ext uri="{FF2B5EF4-FFF2-40B4-BE49-F238E27FC236}">
                  <a16:creationId xmlns:a16="http://schemas.microsoft.com/office/drawing/2014/main" id="{B5EBAAD3-CEBE-4C0E-8C78-FB169F4F17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8" y="1771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55" name="Rectangle 115">
              <a:extLst>
                <a:ext uri="{FF2B5EF4-FFF2-40B4-BE49-F238E27FC236}">
                  <a16:creationId xmlns:a16="http://schemas.microsoft.com/office/drawing/2014/main" id="{E6B93B73-DFB5-46E2-9921-9FF0BF6FB57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55" y="2669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56" name="Rectangle 116">
              <a:extLst>
                <a:ext uri="{FF2B5EF4-FFF2-40B4-BE49-F238E27FC236}">
                  <a16:creationId xmlns:a16="http://schemas.microsoft.com/office/drawing/2014/main" id="{D5560CB7-8766-4209-9E78-923C3DD8A45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32" y="1464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57" name="Rectangle 117">
              <a:extLst>
                <a:ext uri="{FF2B5EF4-FFF2-40B4-BE49-F238E27FC236}">
                  <a16:creationId xmlns:a16="http://schemas.microsoft.com/office/drawing/2014/main" id="{A7CC8743-E9A3-4848-8F65-6019A78AC0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27" y="1561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58" name="Rectangle 118">
              <a:extLst>
                <a:ext uri="{FF2B5EF4-FFF2-40B4-BE49-F238E27FC236}">
                  <a16:creationId xmlns:a16="http://schemas.microsoft.com/office/drawing/2014/main" id="{1C8CCEF4-22F3-4F06-8D61-996EF41B6E7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23" y="1962"/>
              <a:ext cx="262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59" name="Rectangle 119">
              <a:extLst>
                <a:ext uri="{FF2B5EF4-FFF2-40B4-BE49-F238E27FC236}">
                  <a16:creationId xmlns:a16="http://schemas.microsoft.com/office/drawing/2014/main" id="{08C588BA-A87F-406A-860B-2EE0C28E81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76" y="1867"/>
              <a:ext cx="25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60" name="Rectangle 120">
              <a:extLst>
                <a:ext uri="{FF2B5EF4-FFF2-40B4-BE49-F238E27FC236}">
                  <a16:creationId xmlns:a16="http://schemas.microsoft.com/office/drawing/2014/main" id="{366517FC-E127-4069-B5E1-5FA41D98D0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26" y="3430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61" name="Rectangle 121">
              <a:extLst>
                <a:ext uri="{FF2B5EF4-FFF2-40B4-BE49-F238E27FC236}">
                  <a16:creationId xmlns:a16="http://schemas.microsoft.com/office/drawing/2014/main" id="{05C7CFEB-F9F6-4245-8FFE-33DCEEE63A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01" y="3367"/>
              <a:ext cx="30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62" name="Rectangle 122">
              <a:extLst>
                <a:ext uri="{FF2B5EF4-FFF2-40B4-BE49-F238E27FC236}">
                  <a16:creationId xmlns:a16="http://schemas.microsoft.com/office/drawing/2014/main" id="{C44FDD25-DF67-4CA3-A158-25CB3832FC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15" y="3162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63" name="Rectangle 123">
              <a:extLst>
                <a:ext uri="{FF2B5EF4-FFF2-40B4-BE49-F238E27FC236}">
                  <a16:creationId xmlns:a16="http://schemas.microsoft.com/office/drawing/2014/main" id="{96537E28-940A-4655-8476-B8F3224948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10" y="3019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64" name="Rectangle 124">
              <a:extLst>
                <a:ext uri="{FF2B5EF4-FFF2-40B4-BE49-F238E27FC236}">
                  <a16:creationId xmlns:a16="http://schemas.microsoft.com/office/drawing/2014/main" id="{76F9BBBA-D3DD-4E26-9F86-87B93A8ACC9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249" y="2981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65" name="Rectangle 125">
              <a:extLst>
                <a:ext uri="{FF2B5EF4-FFF2-40B4-BE49-F238E27FC236}">
                  <a16:creationId xmlns:a16="http://schemas.microsoft.com/office/drawing/2014/main" id="{D53FAC29-7480-4DD1-8C72-256C6CAB53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97" y="2850"/>
              <a:ext cx="25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66" name="Rectangle 126">
              <a:extLst>
                <a:ext uri="{FF2B5EF4-FFF2-40B4-BE49-F238E27FC236}">
                  <a16:creationId xmlns:a16="http://schemas.microsoft.com/office/drawing/2014/main" id="{D7583DDB-8B14-4396-9D36-0C61CE0A55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55" y="2892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67" name="Rectangle 127">
              <a:extLst>
                <a:ext uri="{FF2B5EF4-FFF2-40B4-BE49-F238E27FC236}">
                  <a16:creationId xmlns:a16="http://schemas.microsoft.com/office/drawing/2014/main" id="{6D771DAA-9B8A-46C0-9E09-A983B72D779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34" y="3338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68" name="Rectangle 128">
              <a:extLst>
                <a:ext uri="{FF2B5EF4-FFF2-40B4-BE49-F238E27FC236}">
                  <a16:creationId xmlns:a16="http://schemas.microsoft.com/office/drawing/2014/main" id="{E40C9BC5-1A4D-4782-8427-ECE149A307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4" y="3655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69" name="Rectangle 129">
              <a:extLst>
                <a:ext uri="{FF2B5EF4-FFF2-40B4-BE49-F238E27FC236}">
                  <a16:creationId xmlns:a16="http://schemas.microsoft.com/office/drawing/2014/main" id="{FFB255A4-C28D-4A4A-94C4-B53A6EDCE8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29" y="3077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70" name="Rectangle 130">
              <a:extLst>
                <a:ext uri="{FF2B5EF4-FFF2-40B4-BE49-F238E27FC236}">
                  <a16:creationId xmlns:a16="http://schemas.microsoft.com/office/drawing/2014/main" id="{28065F9A-834C-4BD5-82AB-C58C4C9E47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30" y="3430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71" name="Rectangle 131">
              <a:extLst>
                <a:ext uri="{FF2B5EF4-FFF2-40B4-BE49-F238E27FC236}">
                  <a16:creationId xmlns:a16="http://schemas.microsoft.com/office/drawing/2014/main" id="{87F90A38-0F68-4F2F-8823-A216D833C2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8" y="3475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72" name="Rectangle 132">
              <a:extLst>
                <a:ext uri="{FF2B5EF4-FFF2-40B4-BE49-F238E27FC236}">
                  <a16:creationId xmlns:a16="http://schemas.microsoft.com/office/drawing/2014/main" id="{175D26DC-E022-4CD3-B247-4F3E5AB075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6" y="3430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73" name="Rectangle 133">
              <a:extLst>
                <a:ext uri="{FF2B5EF4-FFF2-40B4-BE49-F238E27FC236}">
                  <a16:creationId xmlns:a16="http://schemas.microsoft.com/office/drawing/2014/main" id="{7EBB3D9F-79DF-4F94-919B-6CC6B84F49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5" y="3517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74" name="Rectangle 134">
              <a:extLst>
                <a:ext uri="{FF2B5EF4-FFF2-40B4-BE49-F238E27FC236}">
                  <a16:creationId xmlns:a16="http://schemas.microsoft.com/office/drawing/2014/main" id="{6C4467AC-039C-4194-8536-2ADF959F8F1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1" y="3517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75" name="Line 135">
              <a:extLst>
                <a:ext uri="{FF2B5EF4-FFF2-40B4-BE49-F238E27FC236}">
                  <a16:creationId xmlns:a16="http://schemas.microsoft.com/office/drawing/2014/main" id="{8616BABB-F5CD-4885-9294-B3148BF8AD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" y="3828"/>
              <a:ext cx="0" cy="8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76" name="Line 136">
              <a:extLst>
                <a:ext uri="{FF2B5EF4-FFF2-40B4-BE49-F238E27FC236}">
                  <a16:creationId xmlns:a16="http://schemas.microsoft.com/office/drawing/2014/main" id="{B420FEFD-83A9-4D15-8C6D-577BBDC27A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8" y="3828"/>
              <a:ext cx="0" cy="8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77" name="Line 137">
              <a:extLst>
                <a:ext uri="{FF2B5EF4-FFF2-40B4-BE49-F238E27FC236}">
                  <a16:creationId xmlns:a16="http://schemas.microsoft.com/office/drawing/2014/main" id="{5B421A67-8BCE-43D9-8F01-E4C8EC43AD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2" y="3828"/>
              <a:ext cx="0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78" name="Rectangle 138">
              <a:extLst>
                <a:ext uri="{FF2B5EF4-FFF2-40B4-BE49-F238E27FC236}">
                  <a16:creationId xmlns:a16="http://schemas.microsoft.com/office/drawing/2014/main" id="{CCAB9187-8EBF-4E9A-99AD-1FD0E98EA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1" y="3861"/>
              <a:ext cx="116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endParaRPr lang="zh-CN" altLang="zh-CN" sz="1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379" name="Rectangle 139">
              <a:extLst>
                <a:ext uri="{FF2B5EF4-FFF2-40B4-BE49-F238E27FC236}">
                  <a16:creationId xmlns:a16="http://schemas.microsoft.com/office/drawing/2014/main" id="{30B878F3-1EAA-4F5F-BD27-1DA2E0836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9" y="3952"/>
              <a:ext cx="6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tx2"/>
                  </a:solidFill>
                </a:rPr>
                <a:t>（</a:t>
              </a:r>
              <a:r>
                <a:rPr lang="en-US" altLang="zh-CN" sz="2000">
                  <a:solidFill>
                    <a:schemeClr val="tx2"/>
                  </a:solidFill>
                </a:rPr>
                <a:t>nm</a:t>
              </a:r>
              <a:r>
                <a:rPr lang="zh-CN" altLang="en-US" sz="2000">
                  <a:solidFill>
                    <a:schemeClr val="tx2"/>
                  </a:solidFill>
                </a:rPr>
                <a:t>）</a:t>
              </a:r>
            </a:p>
          </p:txBody>
        </p:sp>
        <p:sp>
          <p:nvSpPr>
            <p:cNvPr id="53380" name="Rectangle 140">
              <a:extLst>
                <a:ext uri="{FF2B5EF4-FFF2-40B4-BE49-F238E27FC236}">
                  <a16:creationId xmlns:a16="http://schemas.microsoft.com/office/drawing/2014/main" id="{65176224-2FA5-440A-BE28-D12FED53B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3915"/>
              <a:ext cx="5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Bookman Old Style" panose="02050604050505020204" pitchFamily="18" charset="0"/>
                </a:rPr>
                <a:t>0.070</a:t>
              </a:r>
              <a:endParaRPr lang="en-US" altLang="zh-CN" sz="2000" b="0">
                <a:latin typeface="Bookman Old Style" panose="02050604050505020204" pitchFamily="18" charset="0"/>
              </a:endParaRPr>
            </a:p>
          </p:txBody>
        </p:sp>
        <p:sp>
          <p:nvSpPr>
            <p:cNvPr id="53381" name="Rectangle 141">
              <a:extLst>
                <a:ext uri="{FF2B5EF4-FFF2-40B4-BE49-F238E27FC236}">
                  <a16:creationId xmlns:a16="http://schemas.microsoft.com/office/drawing/2014/main" id="{56575A86-1341-4AE3-BF94-9CA1496AE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" y="3915"/>
              <a:ext cx="5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Bookman Old Style" panose="02050604050505020204" pitchFamily="18" charset="0"/>
                </a:rPr>
                <a:t>0.075</a:t>
              </a:r>
              <a:endParaRPr lang="en-US" altLang="zh-CN" sz="2000" b="0">
                <a:latin typeface="Bookman Old Style" panose="02050604050505020204" pitchFamily="18" charset="0"/>
              </a:endParaRPr>
            </a:p>
          </p:txBody>
        </p:sp>
        <p:sp>
          <p:nvSpPr>
            <p:cNvPr id="53382" name="Rectangle 142">
              <a:extLst>
                <a:ext uri="{FF2B5EF4-FFF2-40B4-BE49-F238E27FC236}">
                  <a16:creationId xmlns:a16="http://schemas.microsoft.com/office/drawing/2014/main" id="{8CD1708D-4A25-4BF6-BBD2-CA123CD8F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3890"/>
              <a:ext cx="227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solidFill>
                    <a:schemeClr val="tx2"/>
                  </a:solidFill>
                </a:rPr>
                <a:t>λ</a:t>
              </a:r>
            </a:p>
          </p:txBody>
        </p:sp>
        <p:sp>
          <p:nvSpPr>
            <p:cNvPr id="53383" name="Rectangle 143">
              <a:extLst>
                <a:ext uri="{FF2B5EF4-FFF2-40B4-BE49-F238E27FC236}">
                  <a16:creationId xmlns:a16="http://schemas.microsoft.com/office/drawing/2014/main" id="{85B6F220-5E7B-4502-9BEC-7DE240A64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5" y="3953"/>
              <a:ext cx="595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tx2"/>
                  </a:solidFill>
                  <a:latin typeface="Arial" panose="020B0604020202020204" pitchFamily="34" charset="0"/>
                </a:rPr>
                <a:t>波长</a:t>
              </a:r>
            </a:p>
          </p:txBody>
        </p:sp>
        <p:sp>
          <p:nvSpPr>
            <p:cNvPr id="53384" name="Rectangle 144">
              <a:extLst>
                <a:ext uri="{FF2B5EF4-FFF2-40B4-BE49-F238E27FC236}">
                  <a16:creationId xmlns:a16="http://schemas.microsoft.com/office/drawing/2014/main" id="{E3F2837B-1543-43B4-979F-199DA811CAD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05" y="806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85" name="Rectangle 145">
              <a:extLst>
                <a:ext uri="{FF2B5EF4-FFF2-40B4-BE49-F238E27FC236}">
                  <a16:creationId xmlns:a16="http://schemas.microsoft.com/office/drawing/2014/main" id="{2A45CB95-F62A-4739-8A9F-033E4C29F55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05" y="969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86" name="Freeform 146">
              <a:extLst>
                <a:ext uri="{FF2B5EF4-FFF2-40B4-BE49-F238E27FC236}">
                  <a16:creationId xmlns:a16="http://schemas.microsoft.com/office/drawing/2014/main" id="{3897F526-F923-42D5-9497-3EAED5D25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268"/>
              <a:ext cx="265" cy="579"/>
            </a:xfrm>
            <a:custGeom>
              <a:avLst/>
              <a:gdLst>
                <a:gd name="T0" fmla="*/ 0 w 288"/>
                <a:gd name="T1" fmla="*/ 129 h 600"/>
                <a:gd name="T2" fmla="*/ 112 w 288"/>
                <a:gd name="T3" fmla="*/ 518 h 600"/>
                <a:gd name="T4" fmla="*/ 225 w 288"/>
                <a:gd name="T5" fmla="*/ 0 h 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8" h="600">
                  <a:moveTo>
                    <a:pt x="0" y="144"/>
                  </a:moveTo>
                  <a:cubicBezTo>
                    <a:pt x="48" y="372"/>
                    <a:pt x="96" y="600"/>
                    <a:pt x="144" y="576"/>
                  </a:cubicBezTo>
                  <a:cubicBezTo>
                    <a:pt x="192" y="552"/>
                    <a:pt x="240" y="276"/>
                    <a:pt x="288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87" name="Rectangle 147">
              <a:extLst>
                <a:ext uri="{FF2B5EF4-FFF2-40B4-BE49-F238E27FC236}">
                  <a16:creationId xmlns:a16="http://schemas.microsoft.com/office/drawing/2014/main" id="{129BA9E6-4457-41AE-A276-05072E406F5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08" y="1135"/>
              <a:ext cx="306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88" name="Rectangle 148">
              <a:extLst>
                <a:ext uri="{FF2B5EF4-FFF2-40B4-BE49-F238E27FC236}">
                  <a16:creationId xmlns:a16="http://schemas.microsoft.com/office/drawing/2014/main" id="{FB4314C6-0407-4501-8EEE-5426A44909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6" y="978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89" name="Rectangle 149">
              <a:extLst>
                <a:ext uri="{FF2B5EF4-FFF2-40B4-BE49-F238E27FC236}">
                  <a16:creationId xmlns:a16="http://schemas.microsoft.com/office/drawing/2014/main" id="{38C0C441-49EC-4548-A371-76EF77778E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94" y="2099"/>
              <a:ext cx="2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90" name="Rectangle 150">
              <a:extLst>
                <a:ext uri="{FF2B5EF4-FFF2-40B4-BE49-F238E27FC236}">
                  <a16:creationId xmlns:a16="http://schemas.microsoft.com/office/drawing/2014/main" id="{4DCDB24F-B1F4-49DC-99B0-1CF159F2785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66" y="2090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91" name="Rectangle 151">
              <a:extLst>
                <a:ext uri="{FF2B5EF4-FFF2-40B4-BE49-F238E27FC236}">
                  <a16:creationId xmlns:a16="http://schemas.microsoft.com/office/drawing/2014/main" id="{8DD9540C-3817-4E7F-88C4-54850DEEA3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72" y="2224"/>
              <a:ext cx="254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5400" b="0">
                  <a:solidFill>
                    <a:srgbClr val="FF0033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3392" name="Text Box 152">
              <a:extLst>
                <a:ext uri="{FF2B5EF4-FFF2-40B4-BE49-F238E27FC236}">
                  <a16:creationId xmlns:a16="http://schemas.microsoft.com/office/drawing/2014/main" id="{07A156FB-9E77-471E-8D37-3EEB44FEE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3072"/>
              <a:ext cx="3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i="1">
                  <a:solidFill>
                    <a:srgbClr val="FF3300"/>
                  </a:solidFill>
                  <a:sym typeface="Symbol" panose="05050102010706020507" pitchFamily="18" charset="2"/>
                </a:rPr>
                <a:t>  </a:t>
              </a:r>
              <a:r>
                <a:rPr lang="en-US" altLang="zh-CN" sz="2000" baseline="-25000">
                  <a:solidFill>
                    <a:srgbClr val="FF3300"/>
                  </a:solidFill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53393" name="Text Box 153">
              <a:extLst>
                <a:ext uri="{FF2B5EF4-FFF2-40B4-BE49-F238E27FC236}">
                  <a16:creationId xmlns:a16="http://schemas.microsoft.com/office/drawing/2014/main" id="{9C313170-010A-41C8-B4C3-1CB575FFE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" y="3072"/>
              <a:ext cx="3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i="1">
                  <a:solidFill>
                    <a:srgbClr val="FF3300"/>
                  </a:solidFill>
                  <a:sym typeface="Symbol" panose="05050102010706020507" pitchFamily="18" charset="2"/>
                </a:rPr>
                <a:t>  </a:t>
              </a:r>
              <a:endParaRPr lang="en-US" altLang="zh-CN" sz="2000" baseline="-25000">
                <a:solidFill>
                  <a:srgbClr val="FF3300"/>
                </a:solidFill>
                <a:sym typeface="Symbol" panose="05050102010706020507" pitchFamily="18" charset="2"/>
              </a:endParaRPr>
            </a:p>
          </p:txBody>
        </p:sp>
      </p:grpSp>
      <p:grpSp>
        <p:nvGrpSpPr>
          <p:cNvPr id="53262" name="Group 154">
            <a:extLst>
              <a:ext uri="{FF2B5EF4-FFF2-40B4-BE49-F238E27FC236}">
                <a16:creationId xmlns:a16="http://schemas.microsoft.com/office/drawing/2014/main" id="{CBA9075B-1873-4ED3-9405-512473091427}"/>
              </a:ext>
            </a:extLst>
          </p:cNvPr>
          <p:cNvGrpSpPr>
            <a:grpSpLocks/>
          </p:cNvGrpSpPr>
          <p:nvPr/>
        </p:nvGrpSpPr>
        <p:grpSpPr bwMode="auto">
          <a:xfrm>
            <a:off x="60325" y="2514600"/>
            <a:ext cx="549275" cy="2098675"/>
            <a:chOff x="38" y="1776"/>
            <a:chExt cx="346" cy="1140"/>
          </a:xfrm>
        </p:grpSpPr>
        <p:sp>
          <p:nvSpPr>
            <p:cNvPr id="53263" name="Text Box 155">
              <a:extLst>
                <a:ext uri="{FF2B5EF4-FFF2-40B4-BE49-F238E27FC236}">
                  <a16:creationId xmlns:a16="http://schemas.microsoft.com/office/drawing/2014/main" id="{DD70CF4F-1F8D-46AC-8B0B-43A2E8E86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" y="2540"/>
              <a:ext cx="346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强度</a:t>
              </a:r>
            </a:p>
          </p:txBody>
        </p:sp>
        <p:sp>
          <p:nvSpPr>
            <p:cNvPr id="53264" name="Line 156">
              <a:extLst>
                <a:ext uri="{FF2B5EF4-FFF2-40B4-BE49-F238E27FC236}">
                  <a16:creationId xmlns:a16="http://schemas.microsoft.com/office/drawing/2014/main" id="{2EC62C33-6FE6-4206-96B6-DEC6B7DC74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776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513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6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6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6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6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6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6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6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6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1538" grpId="0" animBg="1"/>
      <p:bldP spid="961539" grpId="0" animBg="1"/>
      <p:bldP spid="961540" grpId="0"/>
      <p:bldP spid="961541" grpId="0"/>
      <p:bldP spid="961542" grpId="0"/>
      <p:bldP spid="961543" grpId="0"/>
      <p:bldP spid="961544" grpId="0"/>
      <p:bldP spid="96154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3">
            <a:extLst>
              <a:ext uri="{FF2B5EF4-FFF2-40B4-BE49-F238E27FC236}">
                <a16:creationId xmlns:a16="http://schemas.microsoft.com/office/drawing/2014/main" id="{0C2EBA28-B24C-41DA-8A5D-8C0CD7E4F4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4A26B8-34D1-434D-B0B4-DD5592E53C3E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zh-CN" altLang="zh-CN" sz="1400"/>
          </a:p>
        </p:txBody>
      </p:sp>
      <p:sp>
        <p:nvSpPr>
          <p:cNvPr id="962562" name="Text Box 2">
            <a:extLst>
              <a:ext uri="{FF2B5EF4-FFF2-40B4-BE49-F238E27FC236}">
                <a16:creationId xmlns:a16="http://schemas.microsoft.com/office/drawing/2014/main" id="{8DC6D542-7387-430E-A74A-985236BA062F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28600" y="188913"/>
            <a:ext cx="8915400" cy="58626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SzPct val="5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经典理论又一次遇到困难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  </a:t>
            </a: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按经典电磁理论：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      当波长</a:t>
            </a: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0" baseline="-2500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的</a:t>
            </a: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射线入射后  使带电粒子受迫振动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     发出散射波的波长在各方向均是</a:t>
            </a:r>
            <a:r>
              <a:rPr kumimoji="1" lang="en-US" altLang="zh-CN" sz="2800" b="0" baseline="-2500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</a:p>
          <a:p>
            <a:pPr eaLnBrk="1" hangingPunct="1">
              <a:lnSpc>
                <a:spcPct val="130000"/>
              </a:lnSpc>
              <a:defRPr/>
            </a:pPr>
            <a:endParaRPr kumimoji="1" lang="en-US" altLang="zh-CN" sz="2800" b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SzPct val="5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康普顿采用了</a:t>
            </a: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爱因斯坦的光量子假说</a:t>
            </a: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130000"/>
              </a:lnSpc>
              <a:buSzPct val="5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《</a:t>
            </a:r>
            <a:r>
              <a:rPr kumimoji="1" lang="en-US" altLang="zh-CN" sz="2800" b="0" i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-ray</a:t>
            </a: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受轻元素散射的量子理论</a:t>
            </a: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》</a:t>
            </a: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（ </a:t>
            </a: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1923</a:t>
            </a: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年</a:t>
            </a:r>
            <a:r>
              <a:rPr kumimoji="1" lang="en-US" altLang="zh-CN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5</a:t>
            </a: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月）：</a:t>
            </a:r>
          </a:p>
          <a:p>
            <a:pPr eaLnBrk="1" hangingPunct="1">
              <a:lnSpc>
                <a:spcPct val="130000"/>
              </a:lnSpc>
              <a:buSzPct val="5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     “单个光子”和“单个电子”</a:t>
            </a: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发生弹性碰撞</a:t>
            </a:r>
          </a:p>
          <a:p>
            <a:pPr eaLnBrk="1" hangingPunct="1">
              <a:lnSpc>
                <a:spcPct val="130000"/>
              </a:lnSpc>
              <a:buSzPct val="5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    成功地解释了实验现象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    进一步证明了光量子假说的正确性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56246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62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62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62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62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962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962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625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62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62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228C2E8F-D6BF-4A47-B507-3442DD85455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50825" y="107950"/>
            <a:ext cx="7597775" cy="711200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>
            <a:outerShdw dist="107763" dir="189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5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二、用爱因斯坦光子理论解释康普顿散射</a:t>
            </a:r>
          </a:p>
        </p:txBody>
      </p:sp>
      <p:sp>
        <p:nvSpPr>
          <p:cNvPr id="963587" name="Text Box 3">
            <a:extLst>
              <a:ext uri="{FF2B5EF4-FFF2-40B4-BE49-F238E27FC236}">
                <a16:creationId xmlns:a16="http://schemas.microsoft.com/office/drawing/2014/main" id="{3E6E75CF-D5CC-4571-B66B-DE81F9722D96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04800" y="914400"/>
            <a:ext cx="8839200" cy="51911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0000CC"/>
              </a:buClr>
              <a:buFont typeface="Wingdings" panose="05000000000000000000" pitchFamily="2" charset="2"/>
              <a:buChar char="F"/>
              <a:defRPr/>
            </a:pPr>
            <a:r>
              <a:rPr kumimoji="1" lang="en-US" altLang="zh-CN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en-US" altLang="zh-CN" b="0" i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新魏" panose="02010800040101010101" pitchFamily="2" charset="-122"/>
              </a:rPr>
              <a:t>X</a:t>
            </a:r>
            <a:r>
              <a:rPr kumimoji="1" lang="en-US" altLang="zh-CN" sz="2800" b="0" i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新魏" panose="02010800040101010101" pitchFamily="2" charset="-122"/>
              </a:rPr>
              <a:t> </a:t>
            </a: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射线光子与</a:t>
            </a: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华文新魏" panose="02010800040101010101" pitchFamily="2" charset="-122"/>
              </a:rPr>
              <a:t>“</a:t>
            </a: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静止</a:t>
            </a: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华文新魏" panose="02010800040101010101" pitchFamily="2" charset="-122"/>
              </a:rPr>
              <a:t>”</a:t>
            </a: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华文新魏" panose="02010800040101010101" pitchFamily="2" charset="-122"/>
              </a:rPr>
              <a:t>“</a:t>
            </a: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自由电子</a:t>
            </a: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华文新魏" panose="02010800040101010101" pitchFamily="2" charset="-122"/>
              </a:rPr>
              <a:t>”</a:t>
            </a: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弹性碰撞</a:t>
            </a:r>
          </a:p>
        </p:txBody>
      </p:sp>
      <p:sp>
        <p:nvSpPr>
          <p:cNvPr id="963588" name="Text Box 4">
            <a:extLst>
              <a:ext uri="{FF2B5EF4-FFF2-40B4-BE49-F238E27FC236}">
                <a16:creationId xmlns:a16="http://schemas.microsoft.com/office/drawing/2014/main" id="{5109B120-9B77-4ECF-96E3-D55E82F387AD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914400" y="1981200"/>
            <a:ext cx="45640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石墨中的外层电子束缚能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~ eV</a:t>
            </a: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963589" name="Text Box 5">
            <a:extLst>
              <a:ext uri="{FF2B5EF4-FFF2-40B4-BE49-F238E27FC236}">
                <a16:creationId xmlns:a16="http://schemas.microsoft.com/office/drawing/2014/main" id="{F0B7ED25-4B88-456D-B002-DE65A93B694E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5105400" y="1981200"/>
            <a:ext cx="4419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室温下热运动能量 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~10</a:t>
            </a:r>
            <a:r>
              <a:rPr kumimoji="1" lang="en-US" altLang="zh-CN" baseline="30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-2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eV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，</a:t>
            </a:r>
          </a:p>
        </p:txBody>
      </p:sp>
      <p:sp>
        <p:nvSpPr>
          <p:cNvPr id="963590" name="Text Box 6">
            <a:extLst>
              <a:ext uri="{FF2B5EF4-FFF2-40B4-BE49-F238E27FC236}">
                <a16:creationId xmlns:a16="http://schemas.microsoft.com/office/drawing/2014/main" id="{091A4F2D-4F41-452B-8432-A556579195F9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933450" y="1455738"/>
            <a:ext cx="8362950" cy="53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波长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0.1nm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的</a:t>
            </a:r>
            <a:r>
              <a:rPr kumimoji="1" lang="en-US" altLang="zh-CN" b="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X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射线 ，其光子能量</a:t>
            </a:r>
            <a:r>
              <a:rPr kumimoji="1" lang="zh-CN" altLang="en-US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 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 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10</a:t>
            </a:r>
            <a:r>
              <a:rPr kumimoji="1" lang="en-US" altLang="zh-CN" baseline="30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4 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eV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endParaRPr kumimoji="1" lang="zh-CN" altLang="en-US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963591" name="Rectangle 7">
            <a:extLst>
              <a:ext uri="{FF2B5EF4-FFF2-40B4-BE49-F238E27FC236}">
                <a16:creationId xmlns:a16="http://schemas.microsoft.com/office/drawing/2014/main" id="{A3F312BF-F1E8-4A90-839B-732FF6541B1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14400" y="2514600"/>
            <a:ext cx="4801314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b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相当于没受束缚的静止自由电子。</a:t>
            </a:r>
          </a:p>
        </p:txBody>
      </p:sp>
      <p:sp>
        <p:nvSpPr>
          <p:cNvPr id="963592" name="Text Box 8">
            <a:extLst>
              <a:ext uri="{FF2B5EF4-FFF2-40B4-BE49-F238E27FC236}">
                <a16:creationId xmlns:a16="http://schemas.microsoft.com/office/drawing/2014/main" id="{18C40A53-5632-4344-98C9-FDA611213D20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04800" y="2971800"/>
            <a:ext cx="8686800" cy="51911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0033CC"/>
              </a:buClr>
              <a:buFont typeface="Wingdings" panose="05000000000000000000" pitchFamily="2" charset="2"/>
              <a:buChar char="F"/>
              <a:defRPr/>
            </a:pPr>
            <a:r>
              <a:rPr kumimoji="1" lang="en-US" altLang="zh-CN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弹性碰撞   碰撞过程中能量守恒</a:t>
            </a:r>
            <a:r>
              <a:rPr kumimoji="1" lang="en-US" altLang="zh-CN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动量守恒</a:t>
            </a:r>
          </a:p>
        </p:txBody>
      </p:sp>
      <p:sp>
        <p:nvSpPr>
          <p:cNvPr id="963593" name="Rectangle 9">
            <a:extLst>
              <a:ext uri="{FF2B5EF4-FFF2-40B4-BE49-F238E27FC236}">
                <a16:creationId xmlns:a16="http://schemas.microsoft.com/office/drawing/2014/main" id="{C0DBA157-92CF-4724-BB4E-7B18B10F90F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38200" y="3505200"/>
            <a:ext cx="6858000" cy="933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光子把部分能量转移给了电子，光子能量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减小。</a:t>
            </a:r>
          </a:p>
        </p:txBody>
      </p:sp>
      <p:sp>
        <p:nvSpPr>
          <p:cNvPr id="963613" name="Rectangle 29">
            <a:extLst>
              <a:ext uri="{FF2B5EF4-FFF2-40B4-BE49-F238E27FC236}">
                <a16:creationId xmlns:a16="http://schemas.microsoft.com/office/drawing/2014/main" id="{58D169FD-26F5-469A-BE0F-2B8133FC1F9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057400" y="3965575"/>
            <a:ext cx="5026025" cy="53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kumimoji="1" lang="en-US" altLang="zh-CN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散射</a:t>
            </a:r>
            <a:r>
              <a:rPr kumimoji="1" lang="en-US" altLang="zh-CN" b="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X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射线  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频率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</a:t>
            </a:r>
            <a:r>
              <a:rPr kumimoji="1" lang="zh-CN" altLang="en-US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Monotype Sorts"/>
              </a:rPr>
              <a:t>  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波长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</a:t>
            </a:r>
          </a:p>
        </p:txBody>
      </p:sp>
      <p:sp>
        <p:nvSpPr>
          <p:cNvPr id="963632" name="AutoShape 48">
            <a:extLst>
              <a:ext uri="{FF2B5EF4-FFF2-40B4-BE49-F238E27FC236}">
                <a16:creationId xmlns:a16="http://schemas.microsoft.com/office/drawing/2014/main" id="{2F4D1779-9C75-4C1D-9BCB-3B55EA05B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495800"/>
            <a:ext cx="1752600" cy="6858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zh-CN" altLang="en-US" sz="3200" b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隶书" panose="02010509060101010101" pitchFamily="49" charset="-122"/>
              </a:rPr>
              <a:t>定量计算</a:t>
            </a:r>
          </a:p>
        </p:txBody>
      </p:sp>
      <p:grpSp>
        <p:nvGrpSpPr>
          <p:cNvPr id="2" name="Group 49">
            <a:extLst>
              <a:ext uri="{FF2B5EF4-FFF2-40B4-BE49-F238E27FC236}">
                <a16:creationId xmlns:a16="http://schemas.microsoft.com/office/drawing/2014/main" id="{8D358CC1-AD63-47BE-B541-36FA196EE277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581525"/>
            <a:ext cx="3240088" cy="2162175"/>
            <a:chOff x="532" y="2712"/>
            <a:chExt cx="2041" cy="1362"/>
          </a:xfrm>
        </p:grpSpPr>
        <p:grpSp>
          <p:nvGrpSpPr>
            <p:cNvPr id="55327" name="Group 50">
              <a:extLst>
                <a:ext uri="{FF2B5EF4-FFF2-40B4-BE49-F238E27FC236}">
                  <a16:creationId xmlns:a16="http://schemas.microsoft.com/office/drawing/2014/main" id="{04F40578-E793-4EB3-AA02-3150FFFA66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2" y="2990"/>
              <a:ext cx="2041" cy="1084"/>
              <a:chOff x="532" y="2990"/>
              <a:chExt cx="2041" cy="1084"/>
            </a:xfrm>
          </p:grpSpPr>
          <p:sp>
            <p:nvSpPr>
              <p:cNvPr id="55330" name="Line 51">
                <a:extLst>
                  <a:ext uri="{FF2B5EF4-FFF2-40B4-BE49-F238E27FC236}">
                    <a16:creationId xmlns:a16="http://schemas.microsoft.com/office/drawing/2014/main" id="{11368F2C-A373-48D7-815C-23A7251C92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2" y="3376"/>
                <a:ext cx="508" cy="4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1" name="Line 52">
                <a:extLst>
                  <a:ext uri="{FF2B5EF4-FFF2-40B4-BE49-F238E27FC236}">
                    <a16:creationId xmlns:a16="http://schemas.microsoft.com/office/drawing/2014/main" id="{175598A3-F45E-427D-A76C-DFE80A012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2" y="2990"/>
                <a:ext cx="582" cy="37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2" name="Oval 53">
                <a:extLst>
                  <a:ext uri="{FF2B5EF4-FFF2-40B4-BE49-F238E27FC236}">
                    <a16:creationId xmlns:a16="http://schemas.microsoft.com/office/drawing/2014/main" id="{C809A5B5-E07F-4855-A04F-7A0103C94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7" y="3305"/>
                <a:ext cx="144" cy="143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55333" name="Line 54">
                <a:extLst>
                  <a:ext uri="{FF2B5EF4-FFF2-40B4-BE49-F238E27FC236}">
                    <a16:creationId xmlns:a16="http://schemas.microsoft.com/office/drawing/2014/main" id="{594F4B0D-B3BB-455D-ADEB-D83F680AEC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5" y="3376"/>
                <a:ext cx="81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4" name="Line 55">
                <a:extLst>
                  <a:ext uri="{FF2B5EF4-FFF2-40B4-BE49-F238E27FC236}">
                    <a16:creationId xmlns:a16="http://schemas.microsoft.com/office/drawing/2014/main" id="{CF4F9975-E74A-4DE6-8CD1-040C2CCB30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9" y="3376"/>
                <a:ext cx="80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640" name="Text Box 56">
                <a:extLst>
                  <a:ext uri="{FF2B5EF4-FFF2-40B4-BE49-F238E27FC236}">
                    <a16:creationId xmlns:a16="http://schemas.microsoft.com/office/drawing/2014/main" id="{7CEEE8EC-F0AB-4B1A-AE12-C99D8BF16169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1435" y="3004"/>
                <a:ext cx="249" cy="4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/>
              <a:lstStyle/>
              <a:p>
                <a:pPr algn="just" eaLnBrk="1" hangingPunct="1">
                  <a:defRPr/>
                </a:pPr>
                <a:r>
                  <a:rPr lang="en-US" altLang="zh-CN" i="1" noProof="1">
                    <a:solidFill>
                      <a:srgbClr val="0000FF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ea typeface="黑体" panose="02010609060101010101" pitchFamily="49" charset="-122"/>
                  </a:rPr>
                  <a:t>e</a:t>
                </a:r>
              </a:p>
            </p:txBody>
          </p:sp>
          <p:sp>
            <p:nvSpPr>
              <p:cNvPr id="963641" name="Text Box 57">
                <a:extLst>
                  <a:ext uri="{FF2B5EF4-FFF2-40B4-BE49-F238E27FC236}">
                    <a16:creationId xmlns:a16="http://schemas.microsoft.com/office/drawing/2014/main" id="{38116965-1ABA-4D3A-9257-F9ADE173CCBB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532" y="3790"/>
                <a:ext cx="2041" cy="28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/>
              <a:lstStyle/>
              <a:p>
                <a:pPr eaLnBrk="1" hangingPunct="1">
                  <a:defRPr/>
                </a:pPr>
                <a:r>
                  <a:rPr kumimoji="1" lang="zh-CN" altLang="en-US" b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黑体" panose="02010609060101010101" pitchFamily="49" charset="-122"/>
                  </a:rPr>
                  <a:t>自由电子（静止）</a:t>
                </a:r>
              </a:p>
            </p:txBody>
          </p:sp>
          <p:sp>
            <p:nvSpPr>
              <p:cNvPr id="55337" name="Line 58">
                <a:extLst>
                  <a:ext uri="{FF2B5EF4-FFF2-40B4-BE49-F238E27FC236}">
                    <a16:creationId xmlns:a16="http://schemas.microsoft.com/office/drawing/2014/main" id="{74C77BDA-7614-43DE-9A05-A5F49FB761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81" y="3431"/>
                <a:ext cx="535" cy="3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8" name="Freeform 59">
                <a:extLst>
                  <a:ext uri="{FF2B5EF4-FFF2-40B4-BE49-F238E27FC236}">
                    <a16:creationId xmlns:a16="http://schemas.microsoft.com/office/drawing/2014/main" id="{2F93FA3D-C627-4504-9EDF-1DCD9FBB38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5" y="3211"/>
                <a:ext cx="59" cy="165"/>
              </a:xfrm>
              <a:custGeom>
                <a:avLst/>
                <a:gdLst>
                  <a:gd name="T0" fmla="*/ 0 w 120"/>
                  <a:gd name="T1" fmla="*/ 0 h 315"/>
                  <a:gd name="T2" fmla="*/ 13 w 120"/>
                  <a:gd name="T3" fmla="*/ 24 h 315"/>
                  <a:gd name="T4" fmla="*/ 11 w 120"/>
                  <a:gd name="T5" fmla="*/ 45 h 3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0" h="315">
                    <a:moveTo>
                      <a:pt x="0" y="0"/>
                    </a:moveTo>
                    <a:cubicBezTo>
                      <a:pt x="45" y="56"/>
                      <a:pt x="90" y="113"/>
                      <a:pt x="105" y="165"/>
                    </a:cubicBezTo>
                    <a:cubicBezTo>
                      <a:pt x="120" y="217"/>
                      <a:pt x="105" y="266"/>
                      <a:pt x="90" y="315"/>
                    </a:cubicBezTo>
                  </a:path>
                </a:pathLst>
              </a:custGeom>
              <a:noFill/>
              <a:ln w="285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9" name="Freeform 60">
                <a:extLst>
                  <a:ext uri="{FF2B5EF4-FFF2-40B4-BE49-F238E27FC236}">
                    <a16:creationId xmlns:a16="http://schemas.microsoft.com/office/drawing/2014/main" id="{E0D3B55E-85AE-4D88-97BA-B494AA235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9" y="3376"/>
                <a:ext cx="42" cy="150"/>
              </a:xfrm>
              <a:custGeom>
                <a:avLst/>
                <a:gdLst>
                  <a:gd name="T0" fmla="*/ 8 w 87"/>
                  <a:gd name="T1" fmla="*/ 0 h 285"/>
                  <a:gd name="T2" fmla="*/ 8 w 87"/>
                  <a:gd name="T3" fmla="*/ 19 h 285"/>
                  <a:gd name="T4" fmla="*/ 0 w 87"/>
                  <a:gd name="T5" fmla="*/ 42 h 2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" h="285">
                    <a:moveTo>
                      <a:pt x="75" y="0"/>
                    </a:moveTo>
                    <a:cubicBezTo>
                      <a:pt x="81" y="44"/>
                      <a:pt x="87" y="88"/>
                      <a:pt x="75" y="135"/>
                    </a:cubicBezTo>
                    <a:cubicBezTo>
                      <a:pt x="63" y="182"/>
                      <a:pt x="12" y="260"/>
                      <a:pt x="0" y="285"/>
                    </a:cubicBezTo>
                  </a:path>
                </a:pathLst>
              </a:custGeom>
              <a:noFill/>
              <a:ln w="28575">
                <a:solidFill>
                  <a:srgbClr val="0033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40" name="Freeform 61">
                <a:extLst>
                  <a:ext uri="{FF2B5EF4-FFF2-40B4-BE49-F238E27FC236}">
                    <a16:creationId xmlns:a16="http://schemas.microsoft.com/office/drawing/2014/main" id="{97A3582F-E8BC-46B2-AFC8-99AA32F08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9" y="3376"/>
                <a:ext cx="59" cy="182"/>
              </a:xfrm>
              <a:custGeom>
                <a:avLst/>
                <a:gdLst>
                  <a:gd name="T0" fmla="*/ 24 w 87"/>
                  <a:gd name="T1" fmla="*/ 0 h 285"/>
                  <a:gd name="T2" fmla="*/ 24 w 87"/>
                  <a:gd name="T3" fmla="*/ 35 h 285"/>
                  <a:gd name="T4" fmla="*/ 0 w 87"/>
                  <a:gd name="T5" fmla="*/ 74 h 2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" h="285">
                    <a:moveTo>
                      <a:pt x="75" y="0"/>
                    </a:moveTo>
                    <a:cubicBezTo>
                      <a:pt x="81" y="44"/>
                      <a:pt x="87" y="88"/>
                      <a:pt x="75" y="135"/>
                    </a:cubicBezTo>
                    <a:cubicBezTo>
                      <a:pt x="63" y="182"/>
                      <a:pt x="12" y="260"/>
                      <a:pt x="0" y="285"/>
                    </a:cubicBezTo>
                  </a:path>
                </a:pathLst>
              </a:custGeom>
              <a:noFill/>
              <a:ln w="28575">
                <a:solidFill>
                  <a:srgbClr val="0033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5341" name="Object 62">
                <a:extLst>
                  <a:ext uri="{FF2B5EF4-FFF2-40B4-BE49-F238E27FC236}">
                    <a16:creationId xmlns:a16="http://schemas.microsoft.com/office/drawing/2014/main" id="{E9833A17-EA73-47B5-BDB9-34D2C465DFA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761" y="3058"/>
              <a:ext cx="354" cy="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6865" r:id="rId3" imgW="247714" imgH="199923" progId="Equation.3">
                      <p:embed/>
                    </p:oleObj>
                  </mc:Choice>
                  <mc:Fallback>
                    <p:oleObj r:id="rId3" imgW="247714" imgH="199923" progId="Equation.3">
                      <p:embed/>
                      <p:pic>
                        <p:nvPicPr>
                          <p:cNvPr id="55341" name="Object 62">
                            <a:extLst>
                              <a:ext uri="{FF2B5EF4-FFF2-40B4-BE49-F238E27FC236}">
                                <a16:creationId xmlns:a16="http://schemas.microsoft.com/office/drawing/2014/main" id="{E9833A17-EA73-47B5-BDB9-34D2C465DFA4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1" y="3058"/>
                            <a:ext cx="354" cy="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342" name="Object 63">
                <a:extLst>
                  <a:ext uri="{FF2B5EF4-FFF2-40B4-BE49-F238E27FC236}">
                    <a16:creationId xmlns:a16="http://schemas.microsoft.com/office/drawing/2014/main" id="{B97D1E0D-E308-4D74-BE48-C89387D0A0F7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058" y="3630"/>
              <a:ext cx="424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6866" r:id="rId5" imgW="266675" imgH="171450" progId="Equation.3">
                      <p:embed/>
                    </p:oleObj>
                  </mc:Choice>
                  <mc:Fallback>
                    <p:oleObj r:id="rId5" imgW="266675" imgH="171450" progId="Equation.3">
                      <p:embed/>
                      <p:pic>
                        <p:nvPicPr>
                          <p:cNvPr id="55342" name="Object 63">
                            <a:extLst>
                              <a:ext uri="{FF2B5EF4-FFF2-40B4-BE49-F238E27FC236}">
                                <a16:creationId xmlns:a16="http://schemas.microsoft.com/office/drawing/2014/main" id="{B97D1E0D-E308-4D74-BE48-C89387D0A0F7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58" y="3630"/>
                            <a:ext cx="424" cy="2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343" name="Object 64">
                <a:extLst>
                  <a:ext uri="{FF2B5EF4-FFF2-40B4-BE49-F238E27FC236}">
                    <a16:creationId xmlns:a16="http://schemas.microsoft.com/office/drawing/2014/main" id="{D4F7A549-4BD6-40E6-8C05-0393ADDA42B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849" y="3399"/>
              <a:ext cx="163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6867" r:id="rId7" imgW="190525" imgH="247684" progId="Equation.3">
                      <p:embed/>
                    </p:oleObj>
                  </mc:Choice>
                  <mc:Fallback>
                    <p:oleObj r:id="rId7" imgW="190525" imgH="247684" progId="Equation.3">
                      <p:embed/>
                      <p:pic>
                        <p:nvPicPr>
                          <p:cNvPr id="55343" name="Object 64">
                            <a:extLst>
                              <a:ext uri="{FF2B5EF4-FFF2-40B4-BE49-F238E27FC236}">
                                <a16:creationId xmlns:a16="http://schemas.microsoft.com/office/drawing/2014/main" id="{D4F7A549-4BD6-40E6-8C05-0393ADDA42B1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49" y="3399"/>
                            <a:ext cx="163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63649" name="Text Box 65">
                <a:extLst>
                  <a:ext uri="{FF2B5EF4-FFF2-40B4-BE49-F238E27FC236}">
                    <a16:creationId xmlns:a16="http://schemas.microsoft.com/office/drawing/2014/main" id="{8120B6AD-2B9C-4541-8B37-746D46F9444C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1810" y="3058"/>
                <a:ext cx="39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i="1">
                    <a:solidFill>
                      <a:srgbClr val="008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黑体" panose="02010609060101010101" pitchFamily="49" charset="-122"/>
                    <a:sym typeface="Symbol" panose="05050102010706020507" pitchFamily="18" charset="2"/>
                  </a:rPr>
                  <a:t></a:t>
                </a:r>
                <a:endParaRPr kumimoji="1" lang="en-US" altLang="zh-CN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63650" name="Text Box 66">
              <a:extLst>
                <a:ext uri="{FF2B5EF4-FFF2-40B4-BE49-F238E27FC236}">
                  <a16:creationId xmlns:a16="http://schemas.microsoft.com/office/drawing/2014/main" id="{914858D1-8007-4A91-8F87-4E00F0891616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392" y="3373"/>
              <a:ext cx="578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i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m</a:t>
              </a:r>
              <a:r>
                <a:rPr kumimoji="1" lang="en-US" altLang="zh-CN" baseline="-2500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0</a:t>
              </a:r>
              <a:endParaRPr kumimoji="1"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endParaRPr>
            </a:p>
          </p:txBody>
        </p:sp>
        <p:sp>
          <p:nvSpPr>
            <p:cNvPr id="963651" name="Text Box 67">
              <a:extLst>
                <a:ext uri="{FF2B5EF4-FFF2-40B4-BE49-F238E27FC236}">
                  <a16:creationId xmlns:a16="http://schemas.microsoft.com/office/drawing/2014/main" id="{34512421-7BCE-4B73-B2D4-E9A0C1889DC6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974" y="2712"/>
              <a:ext cx="45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h</a:t>
              </a:r>
              <a:r>
                <a:rPr kumimoji="1" lang="en-US" altLang="zh-CN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sym typeface="Symbol" panose="05050102010706020507" pitchFamily="18" charset="2"/>
                </a:rPr>
                <a:t></a:t>
              </a:r>
              <a:endParaRPr kumimoji="1" lang="en-US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68">
            <a:extLst>
              <a:ext uri="{FF2B5EF4-FFF2-40B4-BE49-F238E27FC236}">
                <a16:creationId xmlns:a16="http://schemas.microsoft.com/office/drawing/2014/main" id="{F1048EFD-FBDD-4414-8D85-3B153B64B864}"/>
              </a:ext>
            </a:extLst>
          </p:cNvPr>
          <p:cNvGrpSpPr>
            <a:grpSpLocks/>
          </p:cNvGrpSpPr>
          <p:nvPr/>
        </p:nvGrpSpPr>
        <p:grpSpPr bwMode="auto">
          <a:xfrm>
            <a:off x="4383088" y="4543425"/>
            <a:ext cx="4532312" cy="1981200"/>
            <a:chOff x="528" y="0"/>
            <a:chExt cx="2567" cy="1248"/>
          </a:xfrm>
        </p:grpSpPr>
        <p:sp>
          <p:nvSpPr>
            <p:cNvPr id="55310" name="Line 69">
              <a:extLst>
                <a:ext uri="{FF2B5EF4-FFF2-40B4-BE49-F238E27FC236}">
                  <a16:creationId xmlns:a16="http://schemas.microsoft.com/office/drawing/2014/main" id="{8B3D0549-FFE1-4514-B98A-A39AC03F8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3" y="687"/>
              <a:ext cx="487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Line 70">
              <a:extLst>
                <a:ext uri="{FF2B5EF4-FFF2-40B4-BE49-F238E27FC236}">
                  <a16:creationId xmlns:a16="http://schemas.microsoft.com/office/drawing/2014/main" id="{395561F3-D6B1-4C22-9576-F4806E261E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3" y="262"/>
              <a:ext cx="558" cy="4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2" name="Oval 71">
              <a:extLst>
                <a:ext uri="{FF2B5EF4-FFF2-40B4-BE49-F238E27FC236}">
                  <a16:creationId xmlns:a16="http://schemas.microsoft.com/office/drawing/2014/main" id="{6233933A-F074-40C2-8BC9-41D4DC0E5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609"/>
              <a:ext cx="138" cy="157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55313" name="Line 72">
              <a:extLst>
                <a:ext uri="{FF2B5EF4-FFF2-40B4-BE49-F238E27FC236}">
                  <a16:creationId xmlns:a16="http://schemas.microsoft.com/office/drawing/2014/main" id="{C79075EE-295E-424B-8668-7FC531A7EB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687"/>
              <a:ext cx="9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Line 73">
              <a:extLst>
                <a:ext uri="{FF2B5EF4-FFF2-40B4-BE49-F238E27FC236}">
                  <a16:creationId xmlns:a16="http://schemas.microsoft.com/office/drawing/2014/main" id="{37DDA193-B65E-43D4-B80F-A6E464B38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7" y="687"/>
              <a:ext cx="76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658" name="Text Box 74">
              <a:extLst>
                <a:ext uri="{FF2B5EF4-FFF2-40B4-BE49-F238E27FC236}">
                  <a16:creationId xmlns:a16="http://schemas.microsoft.com/office/drawing/2014/main" id="{EC638C4B-C80F-4049-B4A5-3A97360BF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24"/>
              <a:ext cx="240" cy="4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sz="2800" i="1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55316" name="Freeform 75">
              <a:extLst>
                <a:ext uri="{FF2B5EF4-FFF2-40B4-BE49-F238E27FC236}">
                  <a16:creationId xmlns:a16="http://schemas.microsoft.com/office/drawing/2014/main" id="{53169315-0123-4911-86AA-C60D85C2F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6" y="504"/>
              <a:ext cx="57" cy="183"/>
            </a:xfrm>
            <a:custGeom>
              <a:avLst/>
              <a:gdLst>
                <a:gd name="T0" fmla="*/ 0 w 120"/>
                <a:gd name="T1" fmla="*/ 0 h 315"/>
                <a:gd name="T2" fmla="*/ 11 w 120"/>
                <a:gd name="T3" fmla="*/ 33 h 315"/>
                <a:gd name="T4" fmla="*/ 10 w 120"/>
                <a:gd name="T5" fmla="*/ 62 h 3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" h="315">
                  <a:moveTo>
                    <a:pt x="0" y="0"/>
                  </a:moveTo>
                  <a:cubicBezTo>
                    <a:pt x="45" y="56"/>
                    <a:pt x="90" y="113"/>
                    <a:pt x="105" y="165"/>
                  </a:cubicBezTo>
                  <a:cubicBezTo>
                    <a:pt x="120" y="217"/>
                    <a:pt x="105" y="266"/>
                    <a:pt x="90" y="315"/>
                  </a:cubicBezTo>
                </a:path>
              </a:pathLst>
            </a:custGeom>
            <a:noFill/>
            <a:ln w="2857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7" name="Freeform 76">
              <a:extLst>
                <a:ext uri="{FF2B5EF4-FFF2-40B4-BE49-F238E27FC236}">
                  <a16:creationId xmlns:a16="http://schemas.microsoft.com/office/drawing/2014/main" id="{10C4CE70-1CBA-4CCF-8D29-279EC5E06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687"/>
              <a:ext cx="41" cy="166"/>
            </a:xfrm>
            <a:custGeom>
              <a:avLst/>
              <a:gdLst>
                <a:gd name="T0" fmla="*/ 8 w 87"/>
                <a:gd name="T1" fmla="*/ 0 h 285"/>
                <a:gd name="T2" fmla="*/ 8 w 87"/>
                <a:gd name="T3" fmla="*/ 27 h 285"/>
                <a:gd name="T4" fmla="*/ 0 w 87"/>
                <a:gd name="T5" fmla="*/ 56 h 2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85">
                  <a:moveTo>
                    <a:pt x="75" y="0"/>
                  </a:moveTo>
                  <a:cubicBezTo>
                    <a:pt x="81" y="44"/>
                    <a:pt x="87" y="88"/>
                    <a:pt x="75" y="135"/>
                  </a:cubicBezTo>
                  <a:cubicBezTo>
                    <a:pt x="63" y="182"/>
                    <a:pt x="12" y="260"/>
                    <a:pt x="0" y="285"/>
                  </a:cubicBezTo>
                </a:path>
              </a:pathLst>
            </a:custGeom>
            <a:noFill/>
            <a:ln w="28575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8" name="Freeform 77">
              <a:extLst>
                <a:ext uri="{FF2B5EF4-FFF2-40B4-BE49-F238E27FC236}">
                  <a16:creationId xmlns:a16="http://schemas.microsoft.com/office/drawing/2014/main" id="{D820E163-9ACA-4C01-9B73-68910F177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687"/>
              <a:ext cx="57" cy="200"/>
            </a:xfrm>
            <a:custGeom>
              <a:avLst/>
              <a:gdLst>
                <a:gd name="T0" fmla="*/ 21 w 87"/>
                <a:gd name="T1" fmla="*/ 0 h 285"/>
                <a:gd name="T2" fmla="*/ 21 w 87"/>
                <a:gd name="T3" fmla="*/ 47 h 285"/>
                <a:gd name="T4" fmla="*/ 0 w 87"/>
                <a:gd name="T5" fmla="*/ 98 h 2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85">
                  <a:moveTo>
                    <a:pt x="75" y="0"/>
                  </a:moveTo>
                  <a:cubicBezTo>
                    <a:pt x="81" y="44"/>
                    <a:pt x="87" y="88"/>
                    <a:pt x="75" y="135"/>
                  </a:cubicBezTo>
                  <a:cubicBezTo>
                    <a:pt x="63" y="182"/>
                    <a:pt x="12" y="260"/>
                    <a:pt x="0" y="285"/>
                  </a:cubicBezTo>
                </a:path>
              </a:pathLst>
            </a:custGeom>
            <a:noFill/>
            <a:ln w="28575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5319" name="Object 78">
              <a:extLst>
                <a:ext uri="{FF2B5EF4-FFF2-40B4-BE49-F238E27FC236}">
                  <a16:creationId xmlns:a16="http://schemas.microsoft.com/office/drawing/2014/main" id="{76530878-5D35-4FBA-AEAC-A8BA24FE985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83" y="141"/>
            <a:ext cx="850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68" r:id="rId9" imgW="749160" imgH="393480" progId="Equation.3">
                    <p:embed/>
                  </p:oleObj>
                </mc:Choice>
                <mc:Fallback>
                  <p:oleObj r:id="rId9" imgW="749160" imgH="393480" progId="Equation.3">
                    <p:embed/>
                    <p:pic>
                      <p:nvPicPr>
                        <p:cNvPr id="55319" name="Object 78">
                          <a:extLst>
                            <a:ext uri="{FF2B5EF4-FFF2-40B4-BE49-F238E27FC236}">
                              <a16:creationId xmlns:a16="http://schemas.microsoft.com/office/drawing/2014/main" id="{76530878-5D35-4FBA-AEAC-A8BA24FE985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3" y="141"/>
                          <a:ext cx="850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0" name="Object 79">
              <a:extLst>
                <a:ext uri="{FF2B5EF4-FFF2-40B4-BE49-F238E27FC236}">
                  <a16:creationId xmlns:a16="http://schemas.microsoft.com/office/drawing/2014/main" id="{804D005B-2080-475E-AE4C-41E0D62E07B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30" y="0"/>
            <a:ext cx="665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69" r:id="rId11" imgW="647725" imgH="380864" progId="Equation.3">
                    <p:embed/>
                  </p:oleObj>
                </mc:Choice>
                <mc:Fallback>
                  <p:oleObj r:id="rId11" imgW="647725" imgH="380864" progId="Equation.3">
                    <p:embed/>
                    <p:pic>
                      <p:nvPicPr>
                        <p:cNvPr id="55320" name="Object 79">
                          <a:extLst>
                            <a:ext uri="{FF2B5EF4-FFF2-40B4-BE49-F238E27FC236}">
                              <a16:creationId xmlns:a16="http://schemas.microsoft.com/office/drawing/2014/main" id="{804D005B-2080-475E-AE4C-41E0D62E07B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0" y="0"/>
                          <a:ext cx="665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1" name="Object 80">
              <a:extLst>
                <a:ext uri="{FF2B5EF4-FFF2-40B4-BE49-F238E27FC236}">
                  <a16:creationId xmlns:a16="http://schemas.microsoft.com/office/drawing/2014/main" id="{A15024E6-49DE-4A89-9234-FF473EB35D0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371" y="987"/>
            <a:ext cx="309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70" r:id="rId13" imgW="247714" imgH="161959" progId="Equation.3">
                    <p:embed/>
                  </p:oleObj>
                </mc:Choice>
                <mc:Fallback>
                  <p:oleObj r:id="rId13" imgW="247714" imgH="161959" progId="Equation.3">
                    <p:embed/>
                    <p:pic>
                      <p:nvPicPr>
                        <p:cNvPr id="55321" name="Object 80">
                          <a:extLst>
                            <a:ext uri="{FF2B5EF4-FFF2-40B4-BE49-F238E27FC236}">
                              <a16:creationId xmlns:a16="http://schemas.microsoft.com/office/drawing/2014/main" id="{A15024E6-49DE-4A89-9234-FF473EB35D0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1" y="987"/>
                          <a:ext cx="309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2" name="Object 81">
              <a:extLst>
                <a:ext uri="{FF2B5EF4-FFF2-40B4-BE49-F238E27FC236}">
                  <a16:creationId xmlns:a16="http://schemas.microsoft.com/office/drawing/2014/main" id="{706C2480-8695-41F2-97E9-88481936CC3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38" y="736"/>
            <a:ext cx="123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71" r:id="rId15" imgW="190525" imgH="247684" progId="Equation.3">
                    <p:embed/>
                  </p:oleObj>
                </mc:Choice>
                <mc:Fallback>
                  <p:oleObj r:id="rId15" imgW="190525" imgH="247684" progId="Equation.3">
                    <p:embed/>
                    <p:pic>
                      <p:nvPicPr>
                        <p:cNvPr id="55322" name="Object 81">
                          <a:extLst>
                            <a:ext uri="{FF2B5EF4-FFF2-40B4-BE49-F238E27FC236}">
                              <a16:creationId xmlns:a16="http://schemas.microsoft.com/office/drawing/2014/main" id="{706C2480-8695-41F2-97E9-88481936CC3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8" y="736"/>
                          <a:ext cx="123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3666" name="Text Box 82">
              <a:extLst>
                <a:ext uri="{FF2B5EF4-FFF2-40B4-BE49-F238E27FC236}">
                  <a16:creationId xmlns:a16="http://schemas.microsoft.com/office/drawing/2014/main" id="{6CD1DD62-A843-4703-BEA0-68D92CAD0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9" y="338"/>
              <a:ext cx="383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800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sym typeface="Symbol" panose="05050102010706020507" pitchFamily="18" charset="2"/>
                </a:rPr>
                <a:t></a:t>
              </a:r>
              <a:endParaRPr kumimoji="1" lang="en-US" altLang="zh-CN" sz="2800" i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963667" name="Text Box 83">
              <a:extLst>
                <a:ext uri="{FF2B5EF4-FFF2-40B4-BE49-F238E27FC236}">
                  <a16:creationId xmlns:a16="http://schemas.microsoft.com/office/drawing/2014/main" id="{E9CE2E33-2726-4DCA-AA88-03E7971E2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677"/>
              <a:ext cx="553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800" i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m</a:t>
              </a:r>
              <a:r>
                <a:rPr kumimoji="1" lang="en-US" altLang="zh-CN" sz="2800" baseline="-2500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0</a:t>
              </a:r>
              <a:endParaRPr kumimoji="1" lang="en-US" altLang="zh-CN" sz="28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963668" name="Rectangle 84">
              <a:extLst>
                <a:ext uri="{FF2B5EF4-FFF2-40B4-BE49-F238E27FC236}">
                  <a16:creationId xmlns:a16="http://schemas.microsoft.com/office/drawing/2014/main" id="{65FE9322-F6B8-4223-B401-61D0AF8A0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865"/>
              <a:ext cx="149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zh-CN" altLang="en-US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自由电子（静止）</a:t>
              </a:r>
            </a:p>
          </p:txBody>
        </p:sp>
        <p:sp>
          <p:nvSpPr>
            <p:cNvPr id="55326" name="Line 85">
              <a:extLst>
                <a:ext uri="{FF2B5EF4-FFF2-40B4-BE49-F238E27FC236}">
                  <a16:creationId xmlns:a16="http://schemas.microsoft.com/office/drawing/2014/main" id="{61BCEF59-125A-44B7-8876-DF27B2D03B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34" y="709"/>
              <a:ext cx="584" cy="2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000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6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6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6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963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587" grpId="0"/>
      <p:bldP spid="963588" grpId="0"/>
      <p:bldP spid="963589" grpId="0"/>
      <p:bldP spid="963590" grpId="0"/>
      <p:bldP spid="963591" grpId="0"/>
      <p:bldP spid="963592" grpId="0"/>
      <p:bldP spid="963593" grpId="0"/>
      <p:bldP spid="963613" grpId="0"/>
      <p:bldP spid="96363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3">
            <a:extLst>
              <a:ext uri="{FF2B5EF4-FFF2-40B4-BE49-F238E27FC236}">
                <a16:creationId xmlns:a16="http://schemas.microsoft.com/office/drawing/2014/main" id="{F48D089E-6E0E-470C-89C6-08EBC7AD31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655794-B487-4994-9B4E-9D4EE8BF28FD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zh-CN" altLang="zh-CN" sz="1400"/>
          </a:p>
        </p:txBody>
      </p:sp>
      <p:graphicFrame>
        <p:nvGraphicFramePr>
          <p:cNvPr id="964610" name="Object 2">
            <a:extLst>
              <a:ext uri="{FF2B5EF4-FFF2-40B4-BE49-F238E27FC236}">
                <a16:creationId xmlns:a16="http://schemas.microsoft.com/office/drawing/2014/main" id="{85C27463-E83C-4BC7-9FFC-E8E994628882}"/>
              </a:ext>
            </a:extLst>
          </p:cNvPr>
          <p:cNvGraphicFramePr>
            <a:graphicFrameLocks/>
          </p:cNvGraphicFramePr>
          <p:nvPr/>
        </p:nvGraphicFramePr>
        <p:xfrm>
          <a:off x="2855913" y="2357438"/>
          <a:ext cx="36195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4" r:id="rId3" imgW="1421783" imgH="241195" progId="Equation.3">
                  <p:embed/>
                </p:oleObj>
              </mc:Choice>
              <mc:Fallback>
                <p:oleObj r:id="rId3" imgW="1421783" imgH="241195" progId="Equation.3">
                  <p:embed/>
                  <p:pic>
                    <p:nvPicPr>
                      <p:cNvPr id="964610" name="Object 2">
                        <a:extLst>
                          <a:ext uri="{FF2B5EF4-FFF2-40B4-BE49-F238E27FC236}">
                            <a16:creationId xmlns:a16="http://schemas.microsoft.com/office/drawing/2014/main" id="{85C27463-E83C-4BC7-9FFC-E8E99462888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357438"/>
                        <a:ext cx="36195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1" name="Object 3">
            <a:extLst>
              <a:ext uri="{FF2B5EF4-FFF2-40B4-BE49-F238E27FC236}">
                <a16:creationId xmlns:a16="http://schemas.microsoft.com/office/drawing/2014/main" id="{74A7809B-0CD3-4C71-937D-421AB00E8DDB}"/>
              </a:ext>
            </a:extLst>
          </p:cNvPr>
          <p:cNvGraphicFramePr>
            <a:graphicFrameLocks/>
          </p:cNvGraphicFramePr>
          <p:nvPr/>
        </p:nvGraphicFramePr>
        <p:xfrm>
          <a:off x="3095625" y="2976563"/>
          <a:ext cx="264477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5" r:id="rId5" imgW="1040948" imgH="431613" progId="Equation.DSMT4">
                  <p:embed/>
                </p:oleObj>
              </mc:Choice>
              <mc:Fallback>
                <p:oleObj r:id="rId5" imgW="1040948" imgH="431613" progId="Equation.DSMT4">
                  <p:embed/>
                  <p:pic>
                    <p:nvPicPr>
                      <p:cNvPr id="964611" name="Object 3">
                        <a:extLst>
                          <a:ext uri="{FF2B5EF4-FFF2-40B4-BE49-F238E27FC236}">
                            <a16:creationId xmlns:a16="http://schemas.microsoft.com/office/drawing/2014/main" id="{74A7809B-0CD3-4C71-937D-421AB00E8D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2976563"/>
                        <a:ext cx="264477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2" name="Object 4">
            <a:extLst>
              <a:ext uri="{FF2B5EF4-FFF2-40B4-BE49-F238E27FC236}">
                <a16:creationId xmlns:a16="http://schemas.microsoft.com/office/drawing/2014/main" id="{102903E4-FBAD-45F8-81AE-69B86D532EEE}"/>
              </a:ext>
            </a:extLst>
          </p:cNvPr>
          <p:cNvGraphicFramePr>
            <a:graphicFrameLocks/>
          </p:cNvGraphicFramePr>
          <p:nvPr/>
        </p:nvGraphicFramePr>
        <p:xfrm>
          <a:off x="3124200" y="3894138"/>
          <a:ext cx="3336925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6" r:id="rId7" imgW="1332921" imgH="291973" progId="Equation.3">
                  <p:embed/>
                </p:oleObj>
              </mc:Choice>
              <mc:Fallback>
                <p:oleObj r:id="rId7" imgW="1332921" imgH="291973" progId="Equation.3">
                  <p:embed/>
                  <p:pic>
                    <p:nvPicPr>
                      <p:cNvPr id="964612" name="Object 4">
                        <a:extLst>
                          <a:ext uri="{FF2B5EF4-FFF2-40B4-BE49-F238E27FC236}">
                            <a16:creationId xmlns:a16="http://schemas.microsoft.com/office/drawing/2014/main" id="{102903E4-FBAD-45F8-81AE-69B86D532E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94138"/>
                        <a:ext cx="3336925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4613" name="Text Box 5">
            <a:extLst>
              <a:ext uri="{FF2B5EF4-FFF2-40B4-BE49-F238E27FC236}">
                <a16:creationId xmlns:a16="http://schemas.microsoft.com/office/drawing/2014/main" id="{4566E096-2457-4F79-A520-C40344B0E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388" y="2411413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能量守恒</a:t>
            </a:r>
          </a:p>
        </p:txBody>
      </p:sp>
      <p:sp>
        <p:nvSpPr>
          <p:cNvPr id="964614" name="Text Box 6">
            <a:extLst>
              <a:ext uri="{FF2B5EF4-FFF2-40B4-BE49-F238E27FC236}">
                <a16:creationId xmlns:a16="http://schemas.microsoft.com/office/drawing/2014/main" id="{CAF4EA23-C8C7-41E1-94B2-C86C90AB2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" y="327660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动量守恒</a:t>
            </a:r>
          </a:p>
        </p:txBody>
      </p:sp>
      <p:sp>
        <p:nvSpPr>
          <p:cNvPr id="964615" name="Text Box 7">
            <a:extLst>
              <a:ext uri="{FF2B5EF4-FFF2-40B4-BE49-F238E27FC236}">
                <a16:creationId xmlns:a16="http://schemas.microsoft.com/office/drawing/2014/main" id="{EA88FA5F-A2A8-470D-BF8D-DFBB27134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046538"/>
            <a:ext cx="7543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(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反冲电子质量                                                    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964616" name="AutoShape 8">
            <a:extLst>
              <a:ext uri="{FF2B5EF4-FFF2-40B4-BE49-F238E27FC236}">
                <a16:creationId xmlns:a16="http://schemas.microsoft.com/office/drawing/2014/main" id="{25CCF509-7C11-4912-B1D8-E2CEAA517B52}"/>
              </a:ext>
            </a:extLst>
          </p:cNvPr>
          <p:cNvSpPr>
            <a:spLocks/>
          </p:cNvSpPr>
          <p:nvPr/>
        </p:nvSpPr>
        <p:spPr bwMode="auto">
          <a:xfrm>
            <a:off x="781050" y="2503488"/>
            <a:ext cx="74613" cy="1992312"/>
          </a:xfrm>
          <a:prstGeom prst="leftBrace">
            <a:avLst>
              <a:gd name="adj1" fmla="val 221774"/>
              <a:gd name="adj2" fmla="val 50000"/>
            </a:avLst>
          </a:prstGeom>
          <a:noFill/>
          <a:ln w="3810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56330" name="Group 9">
            <a:extLst>
              <a:ext uri="{FF2B5EF4-FFF2-40B4-BE49-F238E27FC236}">
                <a16:creationId xmlns:a16="http://schemas.microsoft.com/office/drawing/2014/main" id="{11B04C51-95D7-40DB-B979-C19D85A7685A}"/>
              </a:ext>
            </a:extLst>
          </p:cNvPr>
          <p:cNvGrpSpPr>
            <a:grpSpLocks/>
          </p:cNvGrpSpPr>
          <p:nvPr/>
        </p:nvGrpSpPr>
        <p:grpSpPr bwMode="auto">
          <a:xfrm>
            <a:off x="4383088" y="228600"/>
            <a:ext cx="4532312" cy="1981200"/>
            <a:chOff x="528" y="0"/>
            <a:chExt cx="2567" cy="1248"/>
          </a:xfrm>
        </p:grpSpPr>
        <p:sp>
          <p:nvSpPr>
            <p:cNvPr id="56359" name="Line 10">
              <a:extLst>
                <a:ext uri="{FF2B5EF4-FFF2-40B4-BE49-F238E27FC236}">
                  <a16:creationId xmlns:a16="http://schemas.microsoft.com/office/drawing/2014/main" id="{91E72B66-AC22-457A-97C9-0C0EF53406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3" y="687"/>
              <a:ext cx="487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0" name="Line 11">
              <a:extLst>
                <a:ext uri="{FF2B5EF4-FFF2-40B4-BE49-F238E27FC236}">
                  <a16:creationId xmlns:a16="http://schemas.microsoft.com/office/drawing/2014/main" id="{169B7652-B839-4230-BAF5-C3F788D6BA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3" y="262"/>
              <a:ext cx="558" cy="4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1" name="Oval 12">
              <a:extLst>
                <a:ext uri="{FF2B5EF4-FFF2-40B4-BE49-F238E27FC236}">
                  <a16:creationId xmlns:a16="http://schemas.microsoft.com/office/drawing/2014/main" id="{28D1E229-2CB7-4ED8-B27A-8C1CCB1CB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609"/>
              <a:ext cx="138" cy="157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56362" name="Line 13">
              <a:extLst>
                <a:ext uri="{FF2B5EF4-FFF2-40B4-BE49-F238E27FC236}">
                  <a16:creationId xmlns:a16="http://schemas.microsoft.com/office/drawing/2014/main" id="{A75CF451-EF21-48D3-B65E-13BC676E2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687"/>
              <a:ext cx="9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3" name="Line 14">
              <a:extLst>
                <a:ext uri="{FF2B5EF4-FFF2-40B4-BE49-F238E27FC236}">
                  <a16:creationId xmlns:a16="http://schemas.microsoft.com/office/drawing/2014/main" id="{7855EBF0-F4DA-49A1-8382-3F2B5545B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7" y="687"/>
              <a:ext cx="76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623" name="Text Box 15">
              <a:extLst>
                <a:ext uri="{FF2B5EF4-FFF2-40B4-BE49-F238E27FC236}">
                  <a16:creationId xmlns:a16="http://schemas.microsoft.com/office/drawing/2014/main" id="{C9394642-A842-4E55-BD1A-93985041F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24"/>
              <a:ext cx="240" cy="4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sz="2800" i="1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56365" name="Freeform 16">
              <a:extLst>
                <a:ext uri="{FF2B5EF4-FFF2-40B4-BE49-F238E27FC236}">
                  <a16:creationId xmlns:a16="http://schemas.microsoft.com/office/drawing/2014/main" id="{BA15CD2A-9693-40A7-9A45-A0A559F04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6" y="504"/>
              <a:ext cx="57" cy="183"/>
            </a:xfrm>
            <a:custGeom>
              <a:avLst/>
              <a:gdLst>
                <a:gd name="T0" fmla="*/ 0 w 120"/>
                <a:gd name="T1" fmla="*/ 0 h 315"/>
                <a:gd name="T2" fmla="*/ 11 w 120"/>
                <a:gd name="T3" fmla="*/ 33 h 315"/>
                <a:gd name="T4" fmla="*/ 10 w 120"/>
                <a:gd name="T5" fmla="*/ 62 h 3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" h="315">
                  <a:moveTo>
                    <a:pt x="0" y="0"/>
                  </a:moveTo>
                  <a:cubicBezTo>
                    <a:pt x="45" y="56"/>
                    <a:pt x="90" y="113"/>
                    <a:pt x="105" y="165"/>
                  </a:cubicBezTo>
                  <a:cubicBezTo>
                    <a:pt x="120" y="217"/>
                    <a:pt x="105" y="266"/>
                    <a:pt x="90" y="315"/>
                  </a:cubicBezTo>
                </a:path>
              </a:pathLst>
            </a:custGeom>
            <a:noFill/>
            <a:ln w="2857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6" name="Freeform 17">
              <a:extLst>
                <a:ext uri="{FF2B5EF4-FFF2-40B4-BE49-F238E27FC236}">
                  <a16:creationId xmlns:a16="http://schemas.microsoft.com/office/drawing/2014/main" id="{8336B18A-1FEB-4B45-B150-9E290A27C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687"/>
              <a:ext cx="41" cy="166"/>
            </a:xfrm>
            <a:custGeom>
              <a:avLst/>
              <a:gdLst>
                <a:gd name="T0" fmla="*/ 8 w 87"/>
                <a:gd name="T1" fmla="*/ 0 h 285"/>
                <a:gd name="T2" fmla="*/ 8 w 87"/>
                <a:gd name="T3" fmla="*/ 27 h 285"/>
                <a:gd name="T4" fmla="*/ 0 w 87"/>
                <a:gd name="T5" fmla="*/ 56 h 2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85">
                  <a:moveTo>
                    <a:pt x="75" y="0"/>
                  </a:moveTo>
                  <a:cubicBezTo>
                    <a:pt x="81" y="44"/>
                    <a:pt x="87" y="88"/>
                    <a:pt x="75" y="135"/>
                  </a:cubicBezTo>
                  <a:cubicBezTo>
                    <a:pt x="63" y="182"/>
                    <a:pt x="12" y="260"/>
                    <a:pt x="0" y="285"/>
                  </a:cubicBezTo>
                </a:path>
              </a:pathLst>
            </a:custGeom>
            <a:noFill/>
            <a:ln w="28575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7" name="Freeform 18">
              <a:extLst>
                <a:ext uri="{FF2B5EF4-FFF2-40B4-BE49-F238E27FC236}">
                  <a16:creationId xmlns:a16="http://schemas.microsoft.com/office/drawing/2014/main" id="{407F50AF-D557-4B0E-9BB9-63F0B5D24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687"/>
              <a:ext cx="57" cy="200"/>
            </a:xfrm>
            <a:custGeom>
              <a:avLst/>
              <a:gdLst>
                <a:gd name="T0" fmla="*/ 21 w 87"/>
                <a:gd name="T1" fmla="*/ 0 h 285"/>
                <a:gd name="T2" fmla="*/ 21 w 87"/>
                <a:gd name="T3" fmla="*/ 47 h 285"/>
                <a:gd name="T4" fmla="*/ 0 w 87"/>
                <a:gd name="T5" fmla="*/ 98 h 2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85">
                  <a:moveTo>
                    <a:pt x="75" y="0"/>
                  </a:moveTo>
                  <a:cubicBezTo>
                    <a:pt x="81" y="44"/>
                    <a:pt x="87" y="88"/>
                    <a:pt x="75" y="135"/>
                  </a:cubicBezTo>
                  <a:cubicBezTo>
                    <a:pt x="63" y="182"/>
                    <a:pt x="12" y="260"/>
                    <a:pt x="0" y="285"/>
                  </a:cubicBezTo>
                </a:path>
              </a:pathLst>
            </a:custGeom>
            <a:noFill/>
            <a:ln w="28575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6368" name="Object 19">
              <a:extLst>
                <a:ext uri="{FF2B5EF4-FFF2-40B4-BE49-F238E27FC236}">
                  <a16:creationId xmlns:a16="http://schemas.microsoft.com/office/drawing/2014/main" id="{5C4379CB-4F3D-475A-B859-9D14DCB177D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62" y="133"/>
            <a:ext cx="893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937" r:id="rId9" imgW="762102" imgH="380864" progId="Equation.3">
                    <p:embed/>
                  </p:oleObj>
                </mc:Choice>
                <mc:Fallback>
                  <p:oleObj r:id="rId9" imgW="762102" imgH="380864" progId="Equation.3">
                    <p:embed/>
                    <p:pic>
                      <p:nvPicPr>
                        <p:cNvPr id="56368" name="Object 19">
                          <a:extLst>
                            <a:ext uri="{FF2B5EF4-FFF2-40B4-BE49-F238E27FC236}">
                              <a16:creationId xmlns:a16="http://schemas.microsoft.com/office/drawing/2014/main" id="{5C4379CB-4F3D-475A-B859-9D14DCB177D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" y="133"/>
                          <a:ext cx="893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69" name="Object 20">
              <a:extLst>
                <a:ext uri="{FF2B5EF4-FFF2-40B4-BE49-F238E27FC236}">
                  <a16:creationId xmlns:a16="http://schemas.microsoft.com/office/drawing/2014/main" id="{76D9D77E-3DA8-4A5E-AEA4-14AA37BE753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30" y="0"/>
            <a:ext cx="665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938" r:id="rId11" imgW="647725" imgH="380864" progId="Equation.3">
                    <p:embed/>
                  </p:oleObj>
                </mc:Choice>
                <mc:Fallback>
                  <p:oleObj r:id="rId11" imgW="647725" imgH="380864" progId="Equation.3">
                    <p:embed/>
                    <p:pic>
                      <p:nvPicPr>
                        <p:cNvPr id="56369" name="Object 20">
                          <a:extLst>
                            <a:ext uri="{FF2B5EF4-FFF2-40B4-BE49-F238E27FC236}">
                              <a16:creationId xmlns:a16="http://schemas.microsoft.com/office/drawing/2014/main" id="{76D9D77E-3DA8-4A5E-AEA4-14AA37BE753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0" y="0"/>
                          <a:ext cx="665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70" name="Object 21">
              <a:extLst>
                <a:ext uri="{FF2B5EF4-FFF2-40B4-BE49-F238E27FC236}">
                  <a16:creationId xmlns:a16="http://schemas.microsoft.com/office/drawing/2014/main" id="{416E8EBE-2090-4C65-885A-38DEE90FC7A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371" y="987"/>
            <a:ext cx="309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939" r:id="rId13" imgW="247714" imgH="161959" progId="Equation.3">
                    <p:embed/>
                  </p:oleObj>
                </mc:Choice>
                <mc:Fallback>
                  <p:oleObj r:id="rId13" imgW="247714" imgH="161959" progId="Equation.3">
                    <p:embed/>
                    <p:pic>
                      <p:nvPicPr>
                        <p:cNvPr id="56370" name="Object 21">
                          <a:extLst>
                            <a:ext uri="{FF2B5EF4-FFF2-40B4-BE49-F238E27FC236}">
                              <a16:creationId xmlns:a16="http://schemas.microsoft.com/office/drawing/2014/main" id="{416E8EBE-2090-4C65-885A-38DEE90FC7A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1" y="987"/>
                          <a:ext cx="309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71" name="Object 22">
              <a:extLst>
                <a:ext uri="{FF2B5EF4-FFF2-40B4-BE49-F238E27FC236}">
                  <a16:creationId xmlns:a16="http://schemas.microsoft.com/office/drawing/2014/main" id="{0A195A63-8DE2-43F8-B3CD-7BFB0735667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38" y="736"/>
            <a:ext cx="123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940" r:id="rId15" imgW="190525" imgH="247684" progId="Equation.3">
                    <p:embed/>
                  </p:oleObj>
                </mc:Choice>
                <mc:Fallback>
                  <p:oleObj r:id="rId15" imgW="190525" imgH="247684" progId="Equation.3">
                    <p:embed/>
                    <p:pic>
                      <p:nvPicPr>
                        <p:cNvPr id="56371" name="Object 22">
                          <a:extLst>
                            <a:ext uri="{FF2B5EF4-FFF2-40B4-BE49-F238E27FC236}">
                              <a16:creationId xmlns:a16="http://schemas.microsoft.com/office/drawing/2014/main" id="{0A195A63-8DE2-43F8-B3CD-7BFB0735667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8" y="736"/>
                          <a:ext cx="123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4631" name="Text Box 23">
              <a:extLst>
                <a:ext uri="{FF2B5EF4-FFF2-40B4-BE49-F238E27FC236}">
                  <a16:creationId xmlns:a16="http://schemas.microsoft.com/office/drawing/2014/main" id="{4A0E2F7E-36A4-4F36-8749-9A0265BBE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9" y="338"/>
              <a:ext cx="383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800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sym typeface="Symbol" panose="05050102010706020507" pitchFamily="18" charset="2"/>
                </a:rPr>
                <a:t></a:t>
              </a:r>
              <a:endParaRPr kumimoji="1" lang="en-US" altLang="zh-CN" sz="2800" i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964632" name="Text Box 24">
              <a:extLst>
                <a:ext uri="{FF2B5EF4-FFF2-40B4-BE49-F238E27FC236}">
                  <a16:creationId xmlns:a16="http://schemas.microsoft.com/office/drawing/2014/main" id="{9CC0A3A1-8117-4F00-A44C-F814442F8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677"/>
              <a:ext cx="553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800" i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m</a:t>
              </a:r>
              <a:r>
                <a:rPr kumimoji="1" lang="en-US" altLang="zh-CN" sz="2800" baseline="-2500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0</a:t>
              </a:r>
              <a:endParaRPr kumimoji="1" lang="en-US" altLang="zh-CN" sz="28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964633" name="Rectangle 25">
              <a:extLst>
                <a:ext uri="{FF2B5EF4-FFF2-40B4-BE49-F238E27FC236}">
                  <a16:creationId xmlns:a16="http://schemas.microsoft.com/office/drawing/2014/main" id="{05A7B462-B7F0-44B0-B642-4E47608A2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865"/>
              <a:ext cx="149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zh-CN" altLang="en-US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自由电子（静止）</a:t>
              </a:r>
            </a:p>
          </p:txBody>
        </p:sp>
        <p:sp>
          <p:nvSpPr>
            <p:cNvPr id="56375" name="Line 26">
              <a:extLst>
                <a:ext uri="{FF2B5EF4-FFF2-40B4-BE49-F238E27FC236}">
                  <a16:creationId xmlns:a16="http://schemas.microsoft.com/office/drawing/2014/main" id="{9D7711E1-8A1E-45DE-9954-ABFF42BF21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34" y="709"/>
              <a:ext cx="584" cy="2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331" name="Group 27">
            <a:extLst>
              <a:ext uri="{FF2B5EF4-FFF2-40B4-BE49-F238E27FC236}">
                <a16:creationId xmlns:a16="http://schemas.microsoft.com/office/drawing/2014/main" id="{382A3391-E567-4F6D-AF54-FD4D9EF31086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7625"/>
            <a:ext cx="3240088" cy="2162175"/>
            <a:chOff x="532" y="2712"/>
            <a:chExt cx="2041" cy="1362"/>
          </a:xfrm>
        </p:grpSpPr>
        <p:grpSp>
          <p:nvGrpSpPr>
            <p:cNvPr id="56341" name="Group 28">
              <a:extLst>
                <a:ext uri="{FF2B5EF4-FFF2-40B4-BE49-F238E27FC236}">
                  <a16:creationId xmlns:a16="http://schemas.microsoft.com/office/drawing/2014/main" id="{FC93C730-8A84-4643-B055-1B3F6BE07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2" y="2990"/>
              <a:ext cx="2041" cy="1084"/>
              <a:chOff x="532" y="2990"/>
              <a:chExt cx="2041" cy="1084"/>
            </a:xfrm>
          </p:grpSpPr>
          <p:sp>
            <p:nvSpPr>
              <p:cNvPr id="56344" name="Line 29">
                <a:extLst>
                  <a:ext uri="{FF2B5EF4-FFF2-40B4-BE49-F238E27FC236}">
                    <a16:creationId xmlns:a16="http://schemas.microsoft.com/office/drawing/2014/main" id="{73A5F105-7246-40F7-847E-B04704B270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2" y="3376"/>
                <a:ext cx="508" cy="4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45" name="Line 30">
                <a:extLst>
                  <a:ext uri="{FF2B5EF4-FFF2-40B4-BE49-F238E27FC236}">
                    <a16:creationId xmlns:a16="http://schemas.microsoft.com/office/drawing/2014/main" id="{84012188-F8DD-4D8E-AF94-9CC64BD001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2" y="2990"/>
                <a:ext cx="582" cy="37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46" name="Oval 31">
                <a:extLst>
                  <a:ext uri="{FF2B5EF4-FFF2-40B4-BE49-F238E27FC236}">
                    <a16:creationId xmlns:a16="http://schemas.microsoft.com/office/drawing/2014/main" id="{906B4C2E-89D4-4A4B-88DD-B7FFFEE64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7" y="3305"/>
                <a:ext cx="144" cy="143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56347" name="Line 32">
                <a:extLst>
                  <a:ext uri="{FF2B5EF4-FFF2-40B4-BE49-F238E27FC236}">
                    <a16:creationId xmlns:a16="http://schemas.microsoft.com/office/drawing/2014/main" id="{A40D5BC2-DCC5-47CB-A117-9132798924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5" y="3376"/>
                <a:ext cx="81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48" name="Line 33">
                <a:extLst>
                  <a:ext uri="{FF2B5EF4-FFF2-40B4-BE49-F238E27FC236}">
                    <a16:creationId xmlns:a16="http://schemas.microsoft.com/office/drawing/2014/main" id="{E4DF674A-D12F-44B1-B228-070C35E415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9" y="3376"/>
                <a:ext cx="80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642" name="Text Box 34">
                <a:extLst>
                  <a:ext uri="{FF2B5EF4-FFF2-40B4-BE49-F238E27FC236}">
                    <a16:creationId xmlns:a16="http://schemas.microsoft.com/office/drawing/2014/main" id="{B3E29468-A218-42CB-B868-7C1E02CF23A4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1435" y="3004"/>
                <a:ext cx="249" cy="4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/>
              <a:lstStyle/>
              <a:p>
                <a:pPr algn="just" eaLnBrk="1" hangingPunct="1">
                  <a:defRPr/>
                </a:pPr>
                <a:r>
                  <a:rPr lang="en-US" altLang="zh-CN" i="1" noProof="1">
                    <a:solidFill>
                      <a:srgbClr val="0000FF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ea typeface="黑体" panose="02010609060101010101" pitchFamily="49" charset="-122"/>
                  </a:rPr>
                  <a:t>e</a:t>
                </a:r>
              </a:p>
            </p:txBody>
          </p:sp>
          <p:sp>
            <p:nvSpPr>
              <p:cNvPr id="964643" name="Text Box 35">
                <a:extLst>
                  <a:ext uri="{FF2B5EF4-FFF2-40B4-BE49-F238E27FC236}">
                    <a16:creationId xmlns:a16="http://schemas.microsoft.com/office/drawing/2014/main" id="{449E2494-853C-4EAD-8D81-02FC96FF3BD4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532" y="3790"/>
                <a:ext cx="2041" cy="28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/>
              <a:lstStyle/>
              <a:p>
                <a:pPr eaLnBrk="1" hangingPunct="1">
                  <a:defRPr/>
                </a:pPr>
                <a:r>
                  <a:rPr kumimoji="1" lang="zh-CN" altLang="en-US" b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黑体" panose="02010609060101010101" pitchFamily="49" charset="-122"/>
                  </a:rPr>
                  <a:t>自由电子（静止）</a:t>
                </a:r>
              </a:p>
            </p:txBody>
          </p:sp>
          <p:sp>
            <p:nvSpPr>
              <p:cNvPr id="56351" name="Line 36">
                <a:extLst>
                  <a:ext uri="{FF2B5EF4-FFF2-40B4-BE49-F238E27FC236}">
                    <a16:creationId xmlns:a16="http://schemas.microsoft.com/office/drawing/2014/main" id="{AE0E8B48-8E50-4AEC-B864-1B140051A0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81" y="3431"/>
                <a:ext cx="535" cy="3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52" name="Freeform 37">
                <a:extLst>
                  <a:ext uri="{FF2B5EF4-FFF2-40B4-BE49-F238E27FC236}">
                    <a16:creationId xmlns:a16="http://schemas.microsoft.com/office/drawing/2014/main" id="{B8817924-50BD-46DB-ACC6-1DE1F57673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5" y="3211"/>
                <a:ext cx="59" cy="165"/>
              </a:xfrm>
              <a:custGeom>
                <a:avLst/>
                <a:gdLst>
                  <a:gd name="T0" fmla="*/ 0 w 120"/>
                  <a:gd name="T1" fmla="*/ 0 h 315"/>
                  <a:gd name="T2" fmla="*/ 13 w 120"/>
                  <a:gd name="T3" fmla="*/ 24 h 315"/>
                  <a:gd name="T4" fmla="*/ 11 w 120"/>
                  <a:gd name="T5" fmla="*/ 45 h 3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0" h="315">
                    <a:moveTo>
                      <a:pt x="0" y="0"/>
                    </a:moveTo>
                    <a:cubicBezTo>
                      <a:pt x="45" y="56"/>
                      <a:pt x="90" y="113"/>
                      <a:pt x="105" y="165"/>
                    </a:cubicBezTo>
                    <a:cubicBezTo>
                      <a:pt x="120" y="217"/>
                      <a:pt x="105" y="266"/>
                      <a:pt x="90" y="315"/>
                    </a:cubicBezTo>
                  </a:path>
                </a:pathLst>
              </a:custGeom>
              <a:noFill/>
              <a:ln w="2857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53" name="Freeform 38">
                <a:extLst>
                  <a:ext uri="{FF2B5EF4-FFF2-40B4-BE49-F238E27FC236}">
                    <a16:creationId xmlns:a16="http://schemas.microsoft.com/office/drawing/2014/main" id="{15E20BA0-AC9A-43E3-AB98-7E491028E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9" y="3376"/>
                <a:ext cx="42" cy="150"/>
              </a:xfrm>
              <a:custGeom>
                <a:avLst/>
                <a:gdLst>
                  <a:gd name="T0" fmla="*/ 8 w 87"/>
                  <a:gd name="T1" fmla="*/ 0 h 285"/>
                  <a:gd name="T2" fmla="*/ 8 w 87"/>
                  <a:gd name="T3" fmla="*/ 19 h 285"/>
                  <a:gd name="T4" fmla="*/ 0 w 87"/>
                  <a:gd name="T5" fmla="*/ 42 h 2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" h="285">
                    <a:moveTo>
                      <a:pt x="75" y="0"/>
                    </a:moveTo>
                    <a:cubicBezTo>
                      <a:pt x="81" y="44"/>
                      <a:pt x="87" y="88"/>
                      <a:pt x="75" y="135"/>
                    </a:cubicBezTo>
                    <a:cubicBezTo>
                      <a:pt x="63" y="182"/>
                      <a:pt x="12" y="260"/>
                      <a:pt x="0" y="285"/>
                    </a:cubicBezTo>
                  </a:path>
                </a:pathLst>
              </a:custGeom>
              <a:noFill/>
              <a:ln w="28575">
                <a:solidFill>
                  <a:srgbClr val="0033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54" name="Freeform 39">
                <a:extLst>
                  <a:ext uri="{FF2B5EF4-FFF2-40B4-BE49-F238E27FC236}">
                    <a16:creationId xmlns:a16="http://schemas.microsoft.com/office/drawing/2014/main" id="{6295EBBA-2617-4276-9B48-D99D959B2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9" y="3376"/>
                <a:ext cx="59" cy="182"/>
              </a:xfrm>
              <a:custGeom>
                <a:avLst/>
                <a:gdLst>
                  <a:gd name="T0" fmla="*/ 24 w 87"/>
                  <a:gd name="T1" fmla="*/ 0 h 285"/>
                  <a:gd name="T2" fmla="*/ 24 w 87"/>
                  <a:gd name="T3" fmla="*/ 35 h 285"/>
                  <a:gd name="T4" fmla="*/ 0 w 87"/>
                  <a:gd name="T5" fmla="*/ 74 h 2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" h="285">
                    <a:moveTo>
                      <a:pt x="75" y="0"/>
                    </a:moveTo>
                    <a:cubicBezTo>
                      <a:pt x="81" y="44"/>
                      <a:pt x="87" y="88"/>
                      <a:pt x="75" y="135"/>
                    </a:cubicBezTo>
                    <a:cubicBezTo>
                      <a:pt x="63" y="182"/>
                      <a:pt x="12" y="260"/>
                      <a:pt x="0" y="285"/>
                    </a:cubicBezTo>
                  </a:path>
                </a:pathLst>
              </a:custGeom>
              <a:noFill/>
              <a:ln w="28575">
                <a:solidFill>
                  <a:srgbClr val="0033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6355" name="Object 40">
                <a:extLst>
                  <a:ext uri="{FF2B5EF4-FFF2-40B4-BE49-F238E27FC236}">
                    <a16:creationId xmlns:a16="http://schemas.microsoft.com/office/drawing/2014/main" id="{9DF38192-7EA3-4777-97E4-571ACCA4117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761" y="3058"/>
              <a:ext cx="354" cy="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7941" r:id="rId17" imgW="247714" imgH="199923" progId="Equation.3">
                      <p:embed/>
                    </p:oleObj>
                  </mc:Choice>
                  <mc:Fallback>
                    <p:oleObj r:id="rId17" imgW="247714" imgH="199923" progId="Equation.3">
                      <p:embed/>
                      <p:pic>
                        <p:nvPicPr>
                          <p:cNvPr id="56355" name="Object 40">
                            <a:extLst>
                              <a:ext uri="{FF2B5EF4-FFF2-40B4-BE49-F238E27FC236}">
                                <a16:creationId xmlns:a16="http://schemas.microsoft.com/office/drawing/2014/main" id="{9DF38192-7EA3-4777-97E4-571ACCA41174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1" y="3058"/>
                            <a:ext cx="354" cy="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6356" name="Object 41">
                <a:extLst>
                  <a:ext uri="{FF2B5EF4-FFF2-40B4-BE49-F238E27FC236}">
                    <a16:creationId xmlns:a16="http://schemas.microsoft.com/office/drawing/2014/main" id="{EAD6A9A4-8DC4-4703-8881-01BE0B38249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058" y="3630"/>
              <a:ext cx="424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7942" r:id="rId19" imgW="266675" imgH="171450" progId="Equation.3">
                      <p:embed/>
                    </p:oleObj>
                  </mc:Choice>
                  <mc:Fallback>
                    <p:oleObj r:id="rId19" imgW="266675" imgH="171450" progId="Equation.3">
                      <p:embed/>
                      <p:pic>
                        <p:nvPicPr>
                          <p:cNvPr id="56356" name="Object 41">
                            <a:extLst>
                              <a:ext uri="{FF2B5EF4-FFF2-40B4-BE49-F238E27FC236}">
                                <a16:creationId xmlns:a16="http://schemas.microsoft.com/office/drawing/2014/main" id="{EAD6A9A4-8DC4-4703-8881-01BE0B38249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58" y="3630"/>
                            <a:ext cx="424" cy="2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6357" name="Object 42">
                <a:extLst>
                  <a:ext uri="{FF2B5EF4-FFF2-40B4-BE49-F238E27FC236}">
                    <a16:creationId xmlns:a16="http://schemas.microsoft.com/office/drawing/2014/main" id="{02914569-F7CF-496B-8807-19694BE326EA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849" y="3399"/>
              <a:ext cx="163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7943" r:id="rId21" imgW="190525" imgH="247684" progId="Equation.3">
                      <p:embed/>
                    </p:oleObj>
                  </mc:Choice>
                  <mc:Fallback>
                    <p:oleObj r:id="rId21" imgW="190525" imgH="247684" progId="Equation.3">
                      <p:embed/>
                      <p:pic>
                        <p:nvPicPr>
                          <p:cNvPr id="56357" name="Object 42">
                            <a:extLst>
                              <a:ext uri="{FF2B5EF4-FFF2-40B4-BE49-F238E27FC236}">
                                <a16:creationId xmlns:a16="http://schemas.microsoft.com/office/drawing/2014/main" id="{02914569-F7CF-496B-8807-19694BE326EA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49" y="3399"/>
                            <a:ext cx="163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64651" name="Text Box 43">
                <a:extLst>
                  <a:ext uri="{FF2B5EF4-FFF2-40B4-BE49-F238E27FC236}">
                    <a16:creationId xmlns:a16="http://schemas.microsoft.com/office/drawing/2014/main" id="{F319A664-A042-46F0-85D6-6EBE45EE53C2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1810" y="3058"/>
                <a:ext cx="39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i="1">
                    <a:solidFill>
                      <a:srgbClr val="008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黑体" panose="02010609060101010101" pitchFamily="49" charset="-122"/>
                    <a:sym typeface="Symbol" panose="05050102010706020507" pitchFamily="18" charset="2"/>
                  </a:rPr>
                  <a:t></a:t>
                </a:r>
                <a:endParaRPr kumimoji="1" lang="en-US" altLang="zh-CN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64652" name="Text Box 44">
              <a:extLst>
                <a:ext uri="{FF2B5EF4-FFF2-40B4-BE49-F238E27FC236}">
                  <a16:creationId xmlns:a16="http://schemas.microsoft.com/office/drawing/2014/main" id="{CBBAC552-4FFB-4AE9-80A6-919FF2B0BC9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392" y="3373"/>
              <a:ext cx="578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i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m</a:t>
              </a:r>
              <a:r>
                <a:rPr kumimoji="1" lang="en-US" altLang="zh-CN" baseline="-2500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0</a:t>
              </a:r>
              <a:endParaRPr kumimoji="1"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endParaRPr>
            </a:p>
          </p:txBody>
        </p:sp>
        <p:sp>
          <p:nvSpPr>
            <p:cNvPr id="964653" name="Text Box 45">
              <a:extLst>
                <a:ext uri="{FF2B5EF4-FFF2-40B4-BE49-F238E27FC236}">
                  <a16:creationId xmlns:a16="http://schemas.microsoft.com/office/drawing/2014/main" id="{A113ACB7-4DBF-4AAC-B1B1-16454F2F669C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974" y="2712"/>
              <a:ext cx="45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h</a:t>
              </a:r>
              <a:r>
                <a:rPr kumimoji="1" lang="en-US" altLang="zh-CN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sym typeface="Symbol" panose="05050102010706020507" pitchFamily="18" charset="2"/>
                </a:rPr>
                <a:t></a:t>
              </a:r>
              <a:endParaRPr kumimoji="1" lang="en-US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endParaRPr>
            </a:p>
          </p:txBody>
        </p:sp>
      </p:grpSp>
      <p:sp>
        <p:nvSpPr>
          <p:cNvPr id="964654" name="AutoShape 46">
            <a:extLst>
              <a:ext uri="{FF2B5EF4-FFF2-40B4-BE49-F238E27FC236}">
                <a16:creationId xmlns:a16="http://schemas.microsoft.com/office/drawing/2014/main" id="{5A5E7EE5-8A7F-4294-BAE0-3E966E9F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1752600" cy="6858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zh-CN" altLang="en-US" sz="3200" b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隶书" panose="02010509060101010101" pitchFamily="49" charset="-122"/>
              </a:rPr>
              <a:t>定量计算</a:t>
            </a:r>
          </a:p>
        </p:txBody>
      </p:sp>
      <p:graphicFrame>
        <p:nvGraphicFramePr>
          <p:cNvPr id="964655" name="Object 47">
            <a:extLst>
              <a:ext uri="{FF2B5EF4-FFF2-40B4-BE49-F238E27FC236}">
                <a16:creationId xmlns:a16="http://schemas.microsoft.com/office/drawing/2014/main" id="{287D4629-DEF3-4AA8-84D8-E2A377791DC3}"/>
              </a:ext>
            </a:extLst>
          </p:cNvPr>
          <p:cNvGraphicFramePr>
            <a:graphicFrameLocks/>
          </p:cNvGraphicFramePr>
          <p:nvPr/>
        </p:nvGraphicFramePr>
        <p:xfrm>
          <a:off x="1906588" y="4800600"/>
          <a:ext cx="39179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4" r:id="rId23" imgW="1657235" imgH="400152" progId="Equation.3">
                  <p:embed/>
                </p:oleObj>
              </mc:Choice>
              <mc:Fallback>
                <p:oleObj r:id="rId23" imgW="1657235" imgH="400152" progId="Equation.3">
                  <p:embed/>
                  <p:pic>
                    <p:nvPicPr>
                      <p:cNvPr id="964655" name="Object 47">
                        <a:extLst>
                          <a:ext uri="{FF2B5EF4-FFF2-40B4-BE49-F238E27FC236}">
                            <a16:creationId xmlns:a16="http://schemas.microsoft.com/office/drawing/2014/main" id="{287D4629-DEF3-4AA8-84D8-E2A377791DC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4800600"/>
                        <a:ext cx="39179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56" name="Object 48">
            <a:extLst>
              <a:ext uri="{FF2B5EF4-FFF2-40B4-BE49-F238E27FC236}">
                <a16:creationId xmlns:a16="http://schemas.microsoft.com/office/drawing/2014/main" id="{8BFD494C-C674-4D1E-92A8-CBAE31E37FD0}"/>
              </a:ext>
            </a:extLst>
          </p:cNvPr>
          <p:cNvGraphicFramePr>
            <a:graphicFrameLocks/>
          </p:cNvGraphicFramePr>
          <p:nvPr/>
        </p:nvGraphicFramePr>
        <p:xfrm>
          <a:off x="1905000" y="5740400"/>
          <a:ext cx="40227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5" r:id="rId25" imgW="1504937" imgH="361882" progId="Equation.3">
                  <p:embed/>
                </p:oleObj>
              </mc:Choice>
              <mc:Fallback>
                <p:oleObj r:id="rId25" imgW="1504937" imgH="361882" progId="Equation.3">
                  <p:embed/>
                  <p:pic>
                    <p:nvPicPr>
                      <p:cNvPr id="964656" name="Object 48">
                        <a:extLst>
                          <a:ext uri="{FF2B5EF4-FFF2-40B4-BE49-F238E27FC236}">
                            <a16:creationId xmlns:a16="http://schemas.microsoft.com/office/drawing/2014/main" id="{8BFD494C-C674-4D1E-92A8-CBAE31E37FD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740400"/>
                        <a:ext cx="40227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4657" name="Rectangle 49">
            <a:extLst>
              <a:ext uri="{FF2B5EF4-FFF2-40B4-BE49-F238E27FC236}">
                <a16:creationId xmlns:a16="http://schemas.microsoft.com/office/drawing/2014/main" id="{2E97E357-CC50-4235-AF3B-7FA054487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5016500"/>
            <a:ext cx="1203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2-1</a:t>
            </a:r>
            <a:r>
              <a:rPr lang="zh-CN" altLang="en-US" sz="2400"/>
              <a:t>）</a:t>
            </a:r>
          </a:p>
        </p:txBody>
      </p:sp>
      <p:sp>
        <p:nvSpPr>
          <p:cNvPr id="964658" name="Rectangle 50">
            <a:extLst>
              <a:ext uri="{FF2B5EF4-FFF2-40B4-BE49-F238E27FC236}">
                <a16:creationId xmlns:a16="http://schemas.microsoft.com/office/drawing/2014/main" id="{D58ED048-87C6-4233-9858-B28E93D4D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325" y="5867400"/>
            <a:ext cx="1203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2-2</a:t>
            </a:r>
            <a:r>
              <a:rPr lang="zh-CN" altLang="en-US" sz="2400"/>
              <a:t>）</a:t>
            </a:r>
          </a:p>
        </p:txBody>
      </p:sp>
      <p:sp>
        <p:nvSpPr>
          <p:cNvPr id="964659" name="AutoShape 51">
            <a:extLst>
              <a:ext uri="{FF2B5EF4-FFF2-40B4-BE49-F238E27FC236}">
                <a16:creationId xmlns:a16="http://schemas.microsoft.com/office/drawing/2014/main" id="{F3E8E932-EEE4-40EE-8787-95D1214B942F}"/>
              </a:ext>
            </a:extLst>
          </p:cNvPr>
          <p:cNvSpPr>
            <a:spLocks/>
          </p:cNvSpPr>
          <p:nvPr/>
        </p:nvSpPr>
        <p:spPr bwMode="auto">
          <a:xfrm>
            <a:off x="2100263" y="5105400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64660" name="Text Box 52">
            <a:extLst>
              <a:ext uri="{FF2B5EF4-FFF2-40B4-BE49-F238E27FC236}">
                <a16:creationId xmlns:a16="http://schemas.microsoft.com/office/drawing/2014/main" id="{EB923B5E-F316-4142-A242-2F0291B1E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5157788"/>
            <a:ext cx="3048000" cy="1004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动量守恒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分量形式</a:t>
            </a:r>
          </a:p>
        </p:txBody>
      </p:sp>
      <p:sp>
        <p:nvSpPr>
          <p:cNvPr id="964661" name="Rectangle 53">
            <a:extLst>
              <a:ext uri="{FF2B5EF4-FFF2-40B4-BE49-F238E27FC236}">
                <a16:creationId xmlns:a16="http://schemas.microsoft.com/office/drawing/2014/main" id="{970DEA97-53BF-468D-96AF-BA7BDB5A1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438400"/>
            <a:ext cx="94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</a:p>
        </p:txBody>
      </p:sp>
      <p:sp>
        <p:nvSpPr>
          <p:cNvPr id="964662" name="Rectangle 54">
            <a:extLst>
              <a:ext uri="{FF2B5EF4-FFF2-40B4-BE49-F238E27FC236}">
                <a16:creationId xmlns:a16="http://schemas.microsoft.com/office/drawing/2014/main" id="{5FFE013A-F6F8-451C-A42D-812DB7EAD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276600"/>
            <a:ext cx="94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7292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6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6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6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6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96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96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6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6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64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964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964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964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96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613" grpId="0"/>
      <p:bldP spid="964614" grpId="0"/>
      <p:bldP spid="964615" grpId="0"/>
      <p:bldP spid="964616" grpId="0" animBg="1"/>
      <p:bldP spid="964657" grpId="0"/>
      <p:bldP spid="964658" grpId="0"/>
      <p:bldP spid="964659" grpId="0" animBg="1"/>
      <p:bldP spid="964661" grpId="0"/>
      <p:bldP spid="96466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34" name="Text Box 2">
            <a:extLst>
              <a:ext uri="{FF2B5EF4-FFF2-40B4-BE49-F238E27FC236}">
                <a16:creationId xmlns:a16="http://schemas.microsoft.com/office/drawing/2014/main" id="{B68AF7F0-5D1F-49A1-8013-B65A2CB3C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4157663"/>
            <a:ext cx="20145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解得：</a:t>
            </a:r>
          </a:p>
        </p:txBody>
      </p:sp>
      <p:graphicFrame>
        <p:nvGraphicFramePr>
          <p:cNvPr id="965635" name="Object 3">
            <a:extLst>
              <a:ext uri="{FF2B5EF4-FFF2-40B4-BE49-F238E27FC236}">
                <a16:creationId xmlns:a16="http://schemas.microsoft.com/office/drawing/2014/main" id="{69B10EB0-0D91-4907-9656-97F190DB1A52}"/>
              </a:ext>
            </a:extLst>
          </p:cNvPr>
          <p:cNvGraphicFramePr>
            <a:graphicFrameLocks/>
          </p:cNvGraphicFramePr>
          <p:nvPr/>
        </p:nvGraphicFramePr>
        <p:xfrm>
          <a:off x="5724525" y="4205288"/>
          <a:ext cx="176847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2" r:id="rId3" imgW="1345032" imgH="317225" progId="Equation.3">
                  <p:embed/>
                </p:oleObj>
              </mc:Choice>
              <mc:Fallback>
                <p:oleObj r:id="rId3" imgW="1345032" imgH="317225" progId="Equation.3">
                  <p:embed/>
                  <p:pic>
                    <p:nvPicPr>
                      <p:cNvPr id="965635" name="Object 3">
                        <a:extLst>
                          <a:ext uri="{FF2B5EF4-FFF2-40B4-BE49-F238E27FC236}">
                            <a16:creationId xmlns:a16="http://schemas.microsoft.com/office/drawing/2014/main" id="{69B10EB0-0D91-4907-9656-97F190DB1A5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4205288"/>
                        <a:ext cx="176847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36" name="Object 4">
            <a:extLst>
              <a:ext uri="{FF2B5EF4-FFF2-40B4-BE49-F238E27FC236}">
                <a16:creationId xmlns:a16="http://schemas.microsoft.com/office/drawing/2014/main" id="{DD1F90D2-7452-4BDE-B060-31073C4B548A}"/>
              </a:ext>
            </a:extLst>
          </p:cNvPr>
          <p:cNvGraphicFramePr>
            <a:graphicFrameLocks/>
          </p:cNvGraphicFramePr>
          <p:nvPr/>
        </p:nvGraphicFramePr>
        <p:xfrm>
          <a:off x="1143000" y="3976688"/>
          <a:ext cx="4622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3" r:id="rId5" imgW="2335786" imgH="431613" progId="Equation.3">
                  <p:embed/>
                </p:oleObj>
              </mc:Choice>
              <mc:Fallback>
                <p:oleObj r:id="rId5" imgW="2335786" imgH="431613" progId="Equation.3">
                  <p:embed/>
                  <p:pic>
                    <p:nvPicPr>
                      <p:cNvPr id="965636" name="Object 4">
                        <a:extLst>
                          <a:ext uri="{FF2B5EF4-FFF2-40B4-BE49-F238E27FC236}">
                            <a16:creationId xmlns:a16="http://schemas.microsoft.com/office/drawing/2014/main" id="{DD1F90D2-7452-4BDE-B060-31073C4B548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976688"/>
                        <a:ext cx="46228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37" name="Object 5">
            <a:extLst>
              <a:ext uri="{FF2B5EF4-FFF2-40B4-BE49-F238E27FC236}">
                <a16:creationId xmlns:a16="http://schemas.microsoft.com/office/drawing/2014/main" id="{944EB913-ECE2-4351-B983-079BDB29841F}"/>
              </a:ext>
            </a:extLst>
          </p:cNvPr>
          <p:cNvGraphicFramePr>
            <a:graphicFrameLocks/>
          </p:cNvGraphicFramePr>
          <p:nvPr/>
        </p:nvGraphicFramePr>
        <p:xfrm>
          <a:off x="700088" y="4854575"/>
          <a:ext cx="423862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4" r:id="rId7" imgW="2108200" imgH="457200" progId="Equation.3">
                  <p:embed/>
                </p:oleObj>
              </mc:Choice>
              <mc:Fallback>
                <p:oleObj r:id="rId7" imgW="2108200" imgH="457200" progId="Equation.3">
                  <p:embed/>
                  <p:pic>
                    <p:nvPicPr>
                      <p:cNvPr id="965637" name="Object 5">
                        <a:extLst>
                          <a:ext uri="{FF2B5EF4-FFF2-40B4-BE49-F238E27FC236}">
                            <a16:creationId xmlns:a16="http://schemas.microsoft.com/office/drawing/2014/main" id="{944EB913-ECE2-4351-B983-079BDB29841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" y="4854575"/>
                        <a:ext cx="4238625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5638" name="Rectangle 6">
            <a:extLst>
              <a:ext uri="{FF2B5EF4-FFF2-40B4-BE49-F238E27FC236}">
                <a16:creationId xmlns:a16="http://schemas.microsoft.com/office/drawing/2014/main" id="{F5D9F40E-0FA4-4AFA-A237-349C22081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091113"/>
            <a:ext cx="327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= 2 .43</a:t>
            </a:r>
            <a:r>
              <a:rPr lang="en-US" altLang="zh-CN" sz="2800">
                <a:sym typeface="Symbol" panose="05050102010706020507" pitchFamily="18" charset="2"/>
              </a:rPr>
              <a:t>10</a:t>
            </a:r>
            <a:r>
              <a:rPr lang="en-US" altLang="zh-CN" sz="2800" baseline="30000">
                <a:sym typeface="Symbol" panose="05050102010706020507" pitchFamily="18" charset="2"/>
              </a:rPr>
              <a:t>-3</a:t>
            </a:r>
            <a:r>
              <a:rPr lang="en-US" altLang="zh-CN" sz="2800">
                <a:sym typeface="Symbol" panose="05050102010706020507" pitchFamily="18" charset="2"/>
              </a:rPr>
              <a:t>nm</a:t>
            </a:r>
          </a:p>
        </p:txBody>
      </p:sp>
      <p:sp>
        <p:nvSpPr>
          <p:cNvPr id="965639" name="Rectangle 7">
            <a:extLst>
              <a:ext uri="{FF2B5EF4-FFF2-40B4-BE49-F238E27FC236}">
                <a16:creationId xmlns:a16="http://schemas.microsoft.com/office/drawing/2014/main" id="{F728DC48-5283-41D9-B8C6-FF1BA6531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153025"/>
            <a:ext cx="27495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（理论值）</a:t>
            </a:r>
          </a:p>
        </p:txBody>
      </p:sp>
      <p:sp>
        <p:nvSpPr>
          <p:cNvPr id="965640" name="Rectangle 8">
            <a:extLst>
              <a:ext uri="{FF2B5EF4-FFF2-40B4-BE49-F238E27FC236}">
                <a16:creationId xmlns:a16="http://schemas.microsoft.com/office/drawing/2014/main" id="{FF602AD2-1D61-4392-B833-A4C1514D5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248400"/>
            <a:ext cx="952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波长偏移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</a:t>
            </a:r>
            <a:r>
              <a:rPr kumimoji="1" lang="zh-CN" altLang="en-US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与散射物质及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入射 线波长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无关，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仅决定于散射角</a:t>
            </a:r>
            <a:r>
              <a:rPr kumimoji="1" lang="zh-CN" altLang="en-US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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965641" name="Rectangle 9">
            <a:extLst>
              <a:ext uri="{FF2B5EF4-FFF2-40B4-BE49-F238E27FC236}">
                <a16:creationId xmlns:a16="http://schemas.microsoft.com/office/drawing/2014/main" id="{50E62F64-AFFA-47CE-8D6F-ACAFEB8A1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715000"/>
            <a:ext cx="4953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实验值   </a:t>
            </a:r>
            <a:r>
              <a:rPr kumimoji="1" lang="zh-CN" altLang="en-US" i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i="1" baseline="-2500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c</a:t>
            </a:r>
            <a:r>
              <a:rPr kumimoji="1" lang="en-US" altLang="zh-CN" i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=</a:t>
            </a:r>
            <a:r>
              <a:rPr kumimoji="1"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2.4110</a:t>
            </a:r>
            <a:r>
              <a:rPr kumimoji="1" lang="en-US" altLang="zh-CN" baseline="30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-3</a:t>
            </a:r>
            <a:r>
              <a:rPr kumimoji="1"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nm</a:t>
            </a:r>
          </a:p>
        </p:txBody>
      </p:sp>
      <p:sp>
        <p:nvSpPr>
          <p:cNvPr id="965642" name="AutoShape 10">
            <a:extLst>
              <a:ext uri="{FF2B5EF4-FFF2-40B4-BE49-F238E27FC236}">
                <a16:creationId xmlns:a16="http://schemas.microsoft.com/office/drawing/2014/main" id="{AAB40121-4383-4968-988E-7868E8B5A678}"/>
              </a:ext>
            </a:extLst>
          </p:cNvPr>
          <p:cNvSpPr>
            <a:spLocks/>
          </p:cNvSpPr>
          <p:nvPr/>
        </p:nvSpPr>
        <p:spPr bwMode="auto">
          <a:xfrm>
            <a:off x="8382000" y="52578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65643" name="Text Box 11">
            <a:extLst>
              <a:ext uri="{FF2B5EF4-FFF2-40B4-BE49-F238E27FC236}">
                <a16:creationId xmlns:a16="http://schemas.microsoft.com/office/drawing/2014/main" id="{EB997785-0F07-47B1-A6F4-FD728927C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925" y="5364163"/>
            <a:ext cx="549275" cy="692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 wrap="none">
            <a:spAutoFit/>
          </a:bodyPr>
          <a:lstStyle/>
          <a:p>
            <a:pPr eaLnBrk="1" hangingPunct="1">
              <a:defRPr/>
            </a:pPr>
            <a:r>
              <a:rPr lang="zh-CN" altLang="en-US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符合</a:t>
            </a:r>
          </a:p>
        </p:txBody>
      </p:sp>
      <p:graphicFrame>
        <p:nvGraphicFramePr>
          <p:cNvPr id="57356" name="Object 12">
            <a:extLst>
              <a:ext uri="{FF2B5EF4-FFF2-40B4-BE49-F238E27FC236}">
                <a16:creationId xmlns:a16="http://schemas.microsoft.com/office/drawing/2014/main" id="{4636A1AA-B865-431D-ABCE-2BFC195D1F98}"/>
              </a:ext>
            </a:extLst>
          </p:cNvPr>
          <p:cNvGraphicFramePr>
            <a:graphicFrameLocks/>
          </p:cNvGraphicFramePr>
          <p:nvPr/>
        </p:nvGraphicFramePr>
        <p:xfrm>
          <a:off x="2855913" y="71438"/>
          <a:ext cx="36195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5" r:id="rId9" imgW="1421783" imgH="241195" progId="Equation.3">
                  <p:embed/>
                </p:oleObj>
              </mc:Choice>
              <mc:Fallback>
                <p:oleObj r:id="rId9" imgW="1421783" imgH="241195" progId="Equation.3">
                  <p:embed/>
                  <p:pic>
                    <p:nvPicPr>
                      <p:cNvPr id="57356" name="Object 12">
                        <a:extLst>
                          <a:ext uri="{FF2B5EF4-FFF2-40B4-BE49-F238E27FC236}">
                            <a16:creationId xmlns:a16="http://schemas.microsoft.com/office/drawing/2014/main" id="{4636A1AA-B865-431D-ABCE-2BFC195D1F9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71438"/>
                        <a:ext cx="36195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7" name="Object 13">
            <a:extLst>
              <a:ext uri="{FF2B5EF4-FFF2-40B4-BE49-F238E27FC236}">
                <a16:creationId xmlns:a16="http://schemas.microsoft.com/office/drawing/2014/main" id="{526BF1A5-00AC-4EE3-8C0F-14D3C40D86C9}"/>
              </a:ext>
            </a:extLst>
          </p:cNvPr>
          <p:cNvGraphicFramePr>
            <a:graphicFrameLocks/>
          </p:cNvGraphicFramePr>
          <p:nvPr/>
        </p:nvGraphicFramePr>
        <p:xfrm>
          <a:off x="2855913" y="735013"/>
          <a:ext cx="3127375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6" r:id="rId11" imgW="1231366" imgH="393529" progId="Equation.3">
                  <p:embed/>
                </p:oleObj>
              </mc:Choice>
              <mc:Fallback>
                <p:oleObj r:id="rId11" imgW="1231366" imgH="393529" progId="Equation.3">
                  <p:embed/>
                  <p:pic>
                    <p:nvPicPr>
                      <p:cNvPr id="57357" name="Object 13">
                        <a:extLst>
                          <a:ext uri="{FF2B5EF4-FFF2-40B4-BE49-F238E27FC236}">
                            <a16:creationId xmlns:a16="http://schemas.microsoft.com/office/drawing/2014/main" id="{526BF1A5-00AC-4EE3-8C0F-14D3C40D86C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735013"/>
                        <a:ext cx="3127375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8" name="Object 14">
            <a:extLst>
              <a:ext uri="{FF2B5EF4-FFF2-40B4-BE49-F238E27FC236}">
                <a16:creationId xmlns:a16="http://schemas.microsoft.com/office/drawing/2014/main" id="{AFD7D874-FCD1-4488-87A7-66A30213C49E}"/>
              </a:ext>
            </a:extLst>
          </p:cNvPr>
          <p:cNvGraphicFramePr>
            <a:graphicFrameLocks/>
          </p:cNvGraphicFramePr>
          <p:nvPr/>
        </p:nvGraphicFramePr>
        <p:xfrm>
          <a:off x="3124200" y="1608138"/>
          <a:ext cx="3336925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7" r:id="rId13" imgW="1332921" imgH="291973" progId="Equation.3">
                  <p:embed/>
                </p:oleObj>
              </mc:Choice>
              <mc:Fallback>
                <p:oleObj r:id="rId13" imgW="1332921" imgH="291973" progId="Equation.3">
                  <p:embed/>
                  <p:pic>
                    <p:nvPicPr>
                      <p:cNvPr id="57358" name="Object 14">
                        <a:extLst>
                          <a:ext uri="{FF2B5EF4-FFF2-40B4-BE49-F238E27FC236}">
                            <a16:creationId xmlns:a16="http://schemas.microsoft.com/office/drawing/2014/main" id="{AFD7D874-FCD1-4488-87A7-66A30213C49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608138"/>
                        <a:ext cx="3336925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5647" name="Text Box 15">
            <a:extLst>
              <a:ext uri="{FF2B5EF4-FFF2-40B4-BE49-F238E27FC236}">
                <a16:creationId xmlns:a16="http://schemas.microsoft.com/office/drawing/2014/main" id="{4A5755C5-E7E3-4451-A204-CA47DCB0A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388" y="125413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能量守恒</a:t>
            </a:r>
          </a:p>
        </p:txBody>
      </p:sp>
      <p:sp>
        <p:nvSpPr>
          <p:cNvPr id="965648" name="Text Box 16">
            <a:extLst>
              <a:ext uri="{FF2B5EF4-FFF2-40B4-BE49-F238E27FC236}">
                <a16:creationId xmlns:a16="http://schemas.microsoft.com/office/drawing/2014/main" id="{85D0AAAA-017A-4E25-BCD4-B4B611410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" y="99060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动量守恒</a:t>
            </a:r>
          </a:p>
        </p:txBody>
      </p:sp>
      <p:sp>
        <p:nvSpPr>
          <p:cNvPr id="965649" name="Text Box 17">
            <a:extLst>
              <a:ext uri="{FF2B5EF4-FFF2-40B4-BE49-F238E27FC236}">
                <a16:creationId xmlns:a16="http://schemas.microsoft.com/office/drawing/2014/main" id="{61D286D2-B9E6-4914-9790-FECEB4EFF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760538"/>
            <a:ext cx="7543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(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反冲电子质量                                                    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57362" name="AutoShape 18">
            <a:extLst>
              <a:ext uri="{FF2B5EF4-FFF2-40B4-BE49-F238E27FC236}">
                <a16:creationId xmlns:a16="http://schemas.microsoft.com/office/drawing/2014/main" id="{862FB9D8-099F-44F6-B410-CFD6A78926FD}"/>
              </a:ext>
            </a:extLst>
          </p:cNvPr>
          <p:cNvSpPr>
            <a:spLocks/>
          </p:cNvSpPr>
          <p:nvPr/>
        </p:nvSpPr>
        <p:spPr bwMode="auto">
          <a:xfrm>
            <a:off x="781050" y="217488"/>
            <a:ext cx="74613" cy="1992312"/>
          </a:xfrm>
          <a:prstGeom prst="leftBrace">
            <a:avLst>
              <a:gd name="adj1" fmla="val 221774"/>
              <a:gd name="adj2" fmla="val 50000"/>
            </a:avLst>
          </a:prstGeom>
          <a:noFill/>
          <a:ln w="3810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57363" name="Object 19">
            <a:extLst>
              <a:ext uri="{FF2B5EF4-FFF2-40B4-BE49-F238E27FC236}">
                <a16:creationId xmlns:a16="http://schemas.microsoft.com/office/drawing/2014/main" id="{57C4FC08-A91C-4888-B74C-7EDCC5B24D6A}"/>
              </a:ext>
            </a:extLst>
          </p:cNvPr>
          <p:cNvGraphicFramePr>
            <a:graphicFrameLocks/>
          </p:cNvGraphicFramePr>
          <p:nvPr/>
        </p:nvGraphicFramePr>
        <p:xfrm>
          <a:off x="1989138" y="2286000"/>
          <a:ext cx="3916362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8" r:id="rId15" imgW="1657235" imgH="400152" progId="Equation.3">
                  <p:embed/>
                </p:oleObj>
              </mc:Choice>
              <mc:Fallback>
                <p:oleObj r:id="rId15" imgW="1657235" imgH="400152" progId="Equation.3">
                  <p:embed/>
                  <p:pic>
                    <p:nvPicPr>
                      <p:cNvPr id="57363" name="Object 19">
                        <a:extLst>
                          <a:ext uri="{FF2B5EF4-FFF2-40B4-BE49-F238E27FC236}">
                            <a16:creationId xmlns:a16="http://schemas.microsoft.com/office/drawing/2014/main" id="{57C4FC08-A91C-4888-B74C-7EDCC5B24D6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2286000"/>
                        <a:ext cx="3916362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4" name="Object 20">
            <a:extLst>
              <a:ext uri="{FF2B5EF4-FFF2-40B4-BE49-F238E27FC236}">
                <a16:creationId xmlns:a16="http://schemas.microsoft.com/office/drawing/2014/main" id="{5AACECEE-6E12-45E2-A452-101DEF884E21}"/>
              </a:ext>
            </a:extLst>
          </p:cNvPr>
          <p:cNvGraphicFramePr>
            <a:graphicFrameLocks/>
          </p:cNvGraphicFramePr>
          <p:nvPr/>
        </p:nvGraphicFramePr>
        <p:xfrm>
          <a:off x="1987550" y="3225800"/>
          <a:ext cx="40227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9" r:id="rId17" imgW="1504937" imgH="361882" progId="Equation.3">
                  <p:embed/>
                </p:oleObj>
              </mc:Choice>
              <mc:Fallback>
                <p:oleObj r:id="rId17" imgW="1504937" imgH="361882" progId="Equation.3">
                  <p:embed/>
                  <p:pic>
                    <p:nvPicPr>
                      <p:cNvPr id="57364" name="Object 20">
                        <a:extLst>
                          <a:ext uri="{FF2B5EF4-FFF2-40B4-BE49-F238E27FC236}">
                            <a16:creationId xmlns:a16="http://schemas.microsoft.com/office/drawing/2014/main" id="{5AACECEE-6E12-45E2-A452-101DEF884E2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3225800"/>
                        <a:ext cx="40227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5" name="Rectangle 21">
            <a:extLst>
              <a:ext uri="{FF2B5EF4-FFF2-40B4-BE49-F238E27FC236}">
                <a16:creationId xmlns:a16="http://schemas.microsoft.com/office/drawing/2014/main" id="{140E95FF-E641-450C-9BDB-98AE7C5BB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238" y="2501900"/>
            <a:ext cx="1203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2-1</a:t>
            </a:r>
            <a:r>
              <a:rPr lang="zh-CN" altLang="en-US" sz="2400"/>
              <a:t>）</a:t>
            </a:r>
          </a:p>
        </p:txBody>
      </p:sp>
      <p:sp>
        <p:nvSpPr>
          <p:cNvPr id="57366" name="Rectangle 22">
            <a:extLst>
              <a:ext uri="{FF2B5EF4-FFF2-40B4-BE49-F238E27FC236}">
                <a16:creationId xmlns:a16="http://schemas.microsoft.com/office/drawing/2014/main" id="{06DFCE5D-3FB3-42A9-AF64-3FCC541F7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5" y="3324225"/>
            <a:ext cx="1203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2-2</a:t>
            </a:r>
            <a:r>
              <a:rPr lang="zh-CN" altLang="en-US" sz="2400"/>
              <a:t>）</a:t>
            </a:r>
          </a:p>
        </p:txBody>
      </p:sp>
      <p:sp>
        <p:nvSpPr>
          <p:cNvPr id="57367" name="AutoShape 23">
            <a:extLst>
              <a:ext uri="{FF2B5EF4-FFF2-40B4-BE49-F238E27FC236}">
                <a16:creationId xmlns:a16="http://schemas.microsoft.com/office/drawing/2014/main" id="{7BD3D9FC-0592-491C-9095-2751377A63C5}"/>
              </a:ext>
            </a:extLst>
          </p:cNvPr>
          <p:cNvSpPr>
            <a:spLocks/>
          </p:cNvSpPr>
          <p:nvPr/>
        </p:nvSpPr>
        <p:spPr bwMode="auto">
          <a:xfrm>
            <a:off x="2182813" y="2590800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57368" name="Rectangle 25">
            <a:extLst>
              <a:ext uri="{FF2B5EF4-FFF2-40B4-BE49-F238E27FC236}">
                <a16:creationId xmlns:a16="http://schemas.microsoft.com/office/drawing/2014/main" id="{B15CC0B9-C6BD-4FDA-B165-72AB0C58D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52400"/>
            <a:ext cx="94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</a:p>
        </p:txBody>
      </p:sp>
      <p:sp>
        <p:nvSpPr>
          <p:cNvPr id="57369" name="Rectangle 26">
            <a:extLst>
              <a:ext uri="{FF2B5EF4-FFF2-40B4-BE49-F238E27FC236}">
                <a16:creationId xmlns:a16="http://schemas.microsoft.com/office/drawing/2014/main" id="{FCC68577-2720-4B18-9E04-022F596A0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990600"/>
            <a:ext cx="94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</a:p>
        </p:txBody>
      </p:sp>
      <p:sp>
        <p:nvSpPr>
          <p:cNvPr id="57370" name="Line 27">
            <a:extLst>
              <a:ext uri="{FF2B5EF4-FFF2-40B4-BE49-F238E27FC236}">
                <a16:creationId xmlns:a16="http://schemas.microsoft.com/office/drawing/2014/main" id="{039A3EA6-C978-4AE1-9B87-B0F357992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413" y="4038600"/>
            <a:ext cx="8458200" cy="0"/>
          </a:xfrm>
          <a:prstGeom prst="line">
            <a:avLst/>
          </a:prstGeom>
          <a:noFill/>
          <a:ln w="28575">
            <a:solidFill>
              <a:srgbClr val="00BCB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5660" name="Text Box 28">
            <a:extLst>
              <a:ext uri="{FF2B5EF4-FFF2-40B4-BE49-F238E27FC236}">
                <a16:creationId xmlns:a16="http://schemas.microsoft.com/office/drawing/2014/main" id="{B6FB9849-53FE-4C7F-B185-C7BDDC60B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3" y="2636838"/>
            <a:ext cx="3048000" cy="1004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动量守恒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分量形式</a:t>
            </a:r>
          </a:p>
        </p:txBody>
      </p:sp>
    </p:spTree>
    <p:extLst>
      <p:ext uri="{BB962C8B-B14F-4D97-AF65-F5344CB8AC3E}">
        <p14:creationId xmlns:p14="http://schemas.microsoft.com/office/powerpoint/2010/main" val="266633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6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6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6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6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96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96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34" grpId="0"/>
      <p:bldP spid="965638" grpId="0"/>
      <p:bldP spid="965639" grpId="0"/>
      <p:bldP spid="965640" grpId="0"/>
      <p:bldP spid="965641" grpId="0"/>
      <p:bldP spid="965642" grpId="0" animBg="1"/>
      <p:bldP spid="96564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3">
            <a:extLst>
              <a:ext uri="{FF2B5EF4-FFF2-40B4-BE49-F238E27FC236}">
                <a16:creationId xmlns:a16="http://schemas.microsoft.com/office/drawing/2014/main" id="{0C72B861-CB28-4834-86E5-9F348E86C4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E19A3F-B3EF-4A56-9142-CDB3ED70AE3A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zh-CN" altLang="zh-CN" sz="1400"/>
          </a:p>
        </p:txBody>
      </p:sp>
      <p:graphicFrame>
        <p:nvGraphicFramePr>
          <p:cNvPr id="58371" name="Object 2">
            <a:extLst>
              <a:ext uri="{FF2B5EF4-FFF2-40B4-BE49-F238E27FC236}">
                <a16:creationId xmlns:a16="http://schemas.microsoft.com/office/drawing/2014/main" id="{E242D758-F7D1-4502-B847-04CBB8399D02}"/>
              </a:ext>
            </a:extLst>
          </p:cNvPr>
          <p:cNvGraphicFramePr>
            <a:graphicFrameLocks/>
          </p:cNvGraphicFramePr>
          <p:nvPr/>
        </p:nvGraphicFramePr>
        <p:xfrm>
          <a:off x="2001838" y="25400"/>
          <a:ext cx="4475162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92" r:id="rId3" imgW="2571635" imgH="400152" progId="Equation.3">
                  <p:embed/>
                </p:oleObj>
              </mc:Choice>
              <mc:Fallback>
                <p:oleObj r:id="rId3" imgW="2571635" imgH="400152" progId="Equation.3">
                  <p:embed/>
                  <p:pic>
                    <p:nvPicPr>
                      <p:cNvPr id="58371" name="Object 2">
                        <a:extLst>
                          <a:ext uri="{FF2B5EF4-FFF2-40B4-BE49-F238E27FC236}">
                            <a16:creationId xmlns:a16="http://schemas.microsoft.com/office/drawing/2014/main" id="{E242D758-F7D1-4502-B847-04CBB8399D0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838" y="25400"/>
                        <a:ext cx="4475162" cy="8461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FFFF"/>
                          </a:gs>
                          <a:gs pos="50000">
                            <a:srgbClr val="FFFFFF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0033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6662" name="Text Box 6">
            <a:extLst>
              <a:ext uri="{FF2B5EF4-FFF2-40B4-BE49-F238E27FC236}">
                <a16:creationId xmlns:a16="http://schemas.microsoft.com/office/drawing/2014/main" id="{208D90A4-F7A3-408F-B84F-A494A7EFA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2600325"/>
            <a:ext cx="75628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2.</a:t>
            </a:r>
            <a:r>
              <a:rPr kumimoji="1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为什么在散射线中还观察到有原波长的射线？</a:t>
            </a:r>
          </a:p>
        </p:txBody>
      </p:sp>
      <p:sp>
        <p:nvSpPr>
          <p:cNvPr id="966664" name="Text Box 8">
            <a:extLst>
              <a:ext uri="{FF2B5EF4-FFF2-40B4-BE49-F238E27FC236}">
                <a16:creationId xmlns:a16="http://schemas.microsoft.com/office/drawing/2014/main" id="{3A73C257-FB0A-4EF4-B383-13C1C91AF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116263"/>
            <a:ext cx="8610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b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</a:t>
            </a:r>
            <a:r>
              <a:rPr kumimoji="1" lang="zh-CN" altLang="en-US" b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光子还可与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被原子核束缚很紧的</a:t>
            </a:r>
            <a:r>
              <a:rPr kumimoji="1" lang="zh-CN" altLang="en-US" b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内层电子碰撞</a:t>
            </a:r>
          </a:p>
        </p:txBody>
      </p:sp>
      <p:sp>
        <p:nvSpPr>
          <p:cNvPr id="966665" name="Text Box 9">
            <a:extLst>
              <a:ext uri="{FF2B5EF4-FFF2-40B4-BE49-F238E27FC236}">
                <a16:creationId xmlns:a16="http://schemas.microsoft.com/office/drawing/2014/main" id="{995B1D77-240D-483C-837A-877B33CA3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52488"/>
            <a:ext cx="56642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 </a:t>
            </a:r>
            <a:r>
              <a:rPr kumimoji="1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  <a:sym typeface="Symbol" panose="05050102010706020507" pitchFamily="18" charset="2"/>
              </a:rPr>
              <a:t>1.</a:t>
            </a:r>
            <a:r>
              <a:rPr kumimoji="1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为什么</a:t>
            </a:r>
            <a:r>
              <a:rPr kumimoji="1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  <a:sym typeface="Symbol" panose="05050102010706020507" pitchFamily="18" charset="2"/>
              </a:rPr>
              <a:t></a:t>
            </a:r>
            <a:r>
              <a:rPr kumimoji="1"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  <a:sym typeface="Symbol" panose="05050102010706020507" pitchFamily="18" charset="2"/>
              </a:rPr>
              <a:t> </a:t>
            </a:r>
            <a:r>
              <a:rPr kumimoji="1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与散射物的种类无关？</a:t>
            </a:r>
          </a:p>
        </p:txBody>
      </p:sp>
      <p:sp>
        <p:nvSpPr>
          <p:cNvPr id="966666" name="Text Box 10">
            <a:extLst>
              <a:ext uri="{FF2B5EF4-FFF2-40B4-BE49-F238E27FC236}">
                <a16:creationId xmlns:a16="http://schemas.microsoft.com/office/drawing/2014/main" id="{8340CCAF-3B8B-4BC3-821F-07B7DA921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1427163"/>
            <a:ext cx="7499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散射机制：光子与</a:t>
            </a:r>
            <a:r>
              <a:rPr kumimoji="1" lang="zh-CN" altLang="en-US" b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自由电子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（外层电子）</a:t>
            </a:r>
            <a:r>
              <a:rPr kumimoji="1" lang="zh-CN" altLang="en-US" b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的弹性碰撞</a:t>
            </a:r>
            <a:r>
              <a:rPr kumimoji="1" lang="zh-CN" altLang="en-US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454EA38B-28F2-42B1-9827-2C0444510BAA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4619625"/>
            <a:ext cx="3429000" cy="609600"/>
            <a:chOff x="354" y="779"/>
            <a:chExt cx="2266" cy="472"/>
          </a:xfrm>
        </p:grpSpPr>
        <p:graphicFrame>
          <p:nvGraphicFramePr>
            <p:cNvPr id="58382" name="Object 12">
              <a:extLst>
                <a:ext uri="{FF2B5EF4-FFF2-40B4-BE49-F238E27FC236}">
                  <a16:creationId xmlns:a16="http://schemas.microsoft.com/office/drawing/2014/main" id="{C9918A64-B2A5-4323-A359-C7EEF43596D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18" y="779"/>
            <a:ext cx="1902" cy="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893" r:id="rId5" imgW="964781" imgH="241195" progId="Equation.3">
                    <p:embed/>
                  </p:oleObj>
                </mc:Choice>
                <mc:Fallback>
                  <p:oleObj r:id="rId5" imgW="964781" imgH="241195" progId="Equation.3">
                    <p:embed/>
                    <p:pic>
                      <p:nvPicPr>
                        <p:cNvPr id="58382" name="Object 12">
                          <a:extLst>
                            <a:ext uri="{FF2B5EF4-FFF2-40B4-BE49-F238E27FC236}">
                              <a16:creationId xmlns:a16="http://schemas.microsoft.com/office/drawing/2014/main" id="{C9918A64-B2A5-4323-A359-C7EEF43596D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" y="779"/>
                          <a:ext cx="1902" cy="4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6669" name="Text Box 13">
              <a:extLst>
                <a:ext uri="{FF2B5EF4-FFF2-40B4-BE49-F238E27FC236}">
                  <a16:creationId xmlns:a16="http://schemas.microsoft.com/office/drawing/2014/main" id="{19A62D59-96B6-4FD1-8A07-3F7E5C9C0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" y="800"/>
              <a:ext cx="423" cy="40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∵</a:t>
              </a:r>
            </a:p>
          </p:txBody>
        </p:sp>
      </p:grpSp>
      <p:sp>
        <p:nvSpPr>
          <p:cNvPr id="966670" name="Rectangle 14">
            <a:extLst>
              <a:ext uri="{FF2B5EF4-FFF2-40B4-BE49-F238E27FC236}">
                <a16:creationId xmlns:a16="http://schemas.microsoft.com/office/drawing/2014/main" id="{13FA4463-F763-47E1-9A4E-2271AE8FC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270500"/>
            <a:ext cx="605155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∴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弹性碰撞中，入射光子几乎不损失能量，</a:t>
            </a:r>
          </a:p>
          <a:p>
            <a:pPr eaLnBrk="1" hangingPunct="1"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 即 散射光子波长不变。</a:t>
            </a:r>
          </a:p>
        </p:txBody>
      </p:sp>
      <p:sp>
        <p:nvSpPr>
          <p:cNvPr id="966671" name="Rectangle 15">
            <a:extLst>
              <a:ext uri="{FF2B5EF4-FFF2-40B4-BE49-F238E27FC236}">
                <a16:creationId xmlns:a16="http://schemas.microsoft.com/office/drawing/2014/main" id="{D92739EB-0C6B-470D-BC92-8FC26B75E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619500"/>
            <a:ext cx="6477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内层电子束缚能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10</a:t>
            </a:r>
            <a:r>
              <a:rPr kumimoji="1" lang="en-US" altLang="zh-CN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3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~10</a:t>
            </a:r>
            <a:r>
              <a:rPr kumimoji="1" lang="en-US" altLang="zh-CN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4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eV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，不能视为自由电子</a:t>
            </a:r>
          </a:p>
        </p:txBody>
      </p:sp>
      <p:sp>
        <p:nvSpPr>
          <p:cNvPr id="966672" name="Rectangle 16">
            <a:extLst>
              <a:ext uri="{FF2B5EF4-FFF2-40B4-BE49-F238E27FC236}">
                <a16:creationId xmlns:a16="http://schemas.microsoft.com/office/drawing/2014/main" id="{85BBF445-7016-4AE0-84A8-53F710FE7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4124325"/>
            <a:ext cx="47561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应看做是光子和</a:t>
            </a:r>
            <a:r>
              <a:rPr kumimoji="1" lang="zh-CN" altLang="en-US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整个原子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的碰撞。</a:t>
            </a:r>
          </a:p>
        </p:txBody>
      </p:sp>
      <p:sp>
        <p:nvSpPr>
          <p:cNvPr id="966673" name="AutoShape 17">
            <a:extLst>
              <a:ext uri="{FF2B5EF4-FFF2-40B4-BE49-F238E27FC236}">
                <a16:creationId xmlns:a16="http://schemas.microsoft.com/office/drawing/2014/main" id="{9CA7DA2F-A6C9-49E5-874E-5CC2E6286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6200"/>
            <a:ext cx="1219200" cy="6858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zh-CN" altLang="en-US" sz="3200" b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隶书" panose="02010509060101010101" pitchFamily="49" charset="-122"/>
              </a:rPr>
              <a:t>讨论</a:t>
            </a:r>
          </a:p>
        </p:txBody>
      </p:sp>
      <p:sp>
        <p:nvSpPr>
          <p:cNvPr id="966674" name="Text Box 18">
            <a:extLst>
              <a:ext uri="{FF2B5EF4-FFF2-40B4-BE49-F238E27FC236}">
                <a16:creationId xmlns:a16="http://schemas.microsoft.com/office/drawing/2014/main" id="{F97F6D6C-E6FF-4AE9-B3B5-7DDC7CAB8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5060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各种散射物质自由电子的性质相同。</a:t>
            </a:r>
          </a:p>
        </p:txBody>
      </p:sp>
    </p:spTree>
    <p:extLst>
      <p:ext uri="{BB962C8B-B14F-4D97-AF65-F5344CB8AC3E}">
        <p14:creationId xmlns:p14="http://schemas.microsoft.com/office/powerpoint/2010/main" val="22750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6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66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66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6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6662" grpId="0"/>
      <p:bldP spid="966664" grpId="0"/>
      <p:bldP spid="966665" grpId="0"/>
      <p:bldP spid="966666" grpId="0"/>
      <p:bldP spid="966670" grpId="0"/>
      <p:bldP spid="966671" grpId="0"/>
      <p:bldP spid="966672" grpId="0"/>
      <p:bldP spid="966673" grpId="0" animBg="1"/>
      <p:bldP spid="96667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3">
            <a:extLst>
              <a:ext uri="{FF2B5EF4-FFF2-40B4-BE49-F238E27FC236}">
                <a16:creationId xmlns:a16="http://schemas.microsoft.com/office/drawing/2014/main" id="{47A70E50-C3ED-4DE0-AC92-C5DC4B43DA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FD93F0-7A57-4239-8684-E603D0A741DB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zh-CN" altLang="zh-CN" sz="1400"/>
          </a:p>
        </p:txBody>
      </p:sp>
      <p:sp>
        <p:nvSpPr>
          <p:cNvPr id="967682" name="Text Box 2">
            <a:extLst>
              <a:ext uri="{FF2B5EF4-FFF2-40B4-BE49-F238E27FC236}">
                <a16:creationId xmlns:a16="http://schemas.microsoft.com/office/drawing/2014/main" id="{7BDD270C-250E-4FC9-B45D-D16E6ABDE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2608263"/>
            <a:ext cx="84391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因为自由电子若吸收光子，就无法同时满足</a:t>
            </a:r>
          </a:p>
        </p:txBody>
      </p:sp>
      <p:sp>
        <p:nvSpPr>
          <p:cNvPr id="967683" name="Rectangle 3">
            <a:extLst>
              <a:ext uri="{FF2B5EF4-FFF2-40B4-BE49-F238E27FC236}">
                <a16:creationId xmlns:a16="http://schemas.microsoft.com/office/drawing/2014/main" id="{04BE075F-519F-4783-9176-E4B6EE849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89063"/>
            <a:ext cx="9296400" cy="1117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en-US" altLang="zh-CN" sz="28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4. </a:t>
            </a:r>
            <a:r>
              <a:rPr kumimoji="1"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为什么康普顿效应中的电子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   </a:t>
            </a:r>
            <a:r>
              <a:rPr kumimoji="1" lang="zh-CN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不吸收光子</a:t>
            </a:r>
            <a:r>
              <a:rPr kumimoji="1"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而是</a:t>
            </a:r>
            <a:r>
              <a:rPr kumimoji="1" lang="zh-CN" altLang="en-US" sz="280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散射光子</a:t>
            </a:r>
            <a:r>
              <a:rPr kumimoji="1"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？</a:t>
            </a:r>
          </a:p>
        </p:txBody>
      </p:sp>
      <p:sp>
        <p:nvSpPr>
          <p:cNvPr id="967684" name="Rectangle 4">
            <a:extLst>
              <a:ext uri="{FF2B5EF4-FFF2-40B4-BE49-F238E27FC236}">
                <a16:creationId xmlns:a16="http://schemas.microsoft.com/office/drawing/2014/main" id="{6A2D26AB-677F-42E9-B54F-7BDE5DDB0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538" y="5356225"/>
            <a:ext cx="3035300" cy="484188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lIns="12700" tIns="12700" rIns="12700" bIns="12700"/>
          <a:lstStyle/>
          <a:p>
            <a:pPr algn="just" eaLnBrk="1" hangingPunct="1">
              <a:defRPr/>
            </a:pPr>
            <a:r>
              <a:rPr kumimoji="1"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违反相对论！</a:t>
            </a:r>
          </a:p>
        </p:txBody>
      </p:sp>
      <p:sp>
        <p:nvSpPr>
          <p:cNvPr id="967685" name="Text Box 5">
            <a:extLst>
              <a:ext uri="{FF2B5EF4-FFF2-40B4-BE49-F238E27FC236}">
                <a16:creationId xmlns:a16="http://schemas.microsoft.com/office/drawing/2014/main" id="{4D1D1917-2C04-41DB-8D4C-289B99FC4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6186488"/>
            <a:ext cx="8916987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∴</a:t>
            </a:r>
            <a:r>
              <a:rPr kumimoji="1" lang="zh-CN" altLang="en-US" sz="2800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自由电子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不可能吸收光子，</a:t>
            </a:r>
            <a:r>
              <a:rPr kumimoji="1" lang="zh-CN" altLang="en-US" sz="2800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只能散射光子。</a:t>
            </a:r>
            <a:endParaRPr kumimoji="1" lang="zh-CN" altLang="en-US" sz="2800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graphicFrame>
        <p:nvGraphicFramePr>
          <p:cNvPr id="967686" name="Object 6">
            <a:extLst>
              <a:ext uri="{FF2B5EF4-FFF2-40B4-BE49-F238E27FC236}">
                <a16:creationId xmlns:a16="http://schemas.microsoft.com/office/drawing/2014/main" id="{22B8009F-24A2-4ECF-B6F6-3C3D9DB3CB8D}"/>
              </a:ext>
            </a:extLst>
          </p:cNvPr>
          <p:cNvGraphicFramePr>
            <a:graphicFrameLocks/>
          </p:cNvGraphicFramePr>
          <p:nvPr/>
        </p:nvGraphicFramePr>
        <p:xfrm>
          <a:off x="6813550" y="4659313"/>
          <a:ext cx="14351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2" r:id="rId3" imgW="622030" imgH="444307" progId="Equation.3">
                  <p:embed/>
                </p:oleObj>
              </mc:Choice>
              <mc:Fallback>
                <p:oleObj r:id="rId3" imgW="622030" imgH="444307" progId="Equation.3">
                  <p:embed/>
                  <p:pic>
                    <p:nvPicPr>
                      <p:cNvPr id="967686" name="Object 6">
                        <a:extLst>
                          <a:ext uri="{FF2B5EF4-FFF2-40B4-BE49-F238E27FC236}">
                            <a16:creationId xmlns:a16="http://schemas.microsoft.com/office/drawing/2014/main" id="{22B8009F-24A2-4ECF-B6F6-3C3D9DB3CB8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3550" y="4659313"/>
                        <a:ext cx="14351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687" name="Text Box 7">
            <a:extLst>
              <a:ext uri="{FF2B5EF4-FFF2-40B4-BE49-F238E27FC236}">
                <a16:creationId xmlns:a16="http://schemas.microsoft.com/office/drawing/2014/main" id="{78D262BD-3BD6-4355-90FB-61E9BBAB5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056063"/>
            <a:ext cx="1046163" cy="1828800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50000">
                <a:srgbClr val="CCECFF"/>
              </a:gs>
              <a:gs pos="100000">
                <a:schemeClr val="bg2"/>
              </a:gs>
            </a:gsLst>
            <a:lin ang="0" scaled="1"/>
          </a:gradFill>
          <a:ln w="2857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自由电子吸收光子</a:t>
            </a:r>
          </a:p>
        </p:txBody>
      </p:sp>
      <p:graphicFrame>
        <p:nvGraphicFramePr>
          <p:cNvPr id="967688" name="Object 8">
            <a:extLst>
              <a:ext uri="{FF2B5EF4-FFF2-40B4-BE49-F238E27FC236}">
                <a16:creationId xmlns:a16="http://schemas.microsoft.com/office/drawing/2014/main" id="{B29F68C3-D0D9-466F-9976-3D6B9776B991}"/>
              </a:ext>
            </a:extLst>
          </p:cNvPr>
          <p:cNvGraphicFramePr>
            <a:graphicFrameLocks/>
          </p:cNvGraphicFramePr>
          <p:nvPr/>
        </p:nvGraphicFramePr>
        <p:xfrm>
          <a:off x="1670050" y="3827463"/>
          <a:ext cx="28559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3" r:id="rId5" imgW="1180076" imgH="253780" progId="Equation.3">
                  <p:embed/>
                </p:oleObj>
              </mc:Choice>
              <mc:Fallback>
                <p:oleObj r:id="rId5" imgW="1180076" imgH="253780" progId="Equation.3">
                  <p:embed/>
                  <p:pic>
                    <p:nvPicPr>
                      <p:cNvPr id="967688" name="Object 8">
                        <a:extLst>
                          <a:ext uri="{FF2B5EF4-FFF2-40B4-BE49-F238E27FC236}">
                            <a16:creationId xmlns:a16="http://schemas.microsoft.com/office/drawing/2014/main" id="{B29F68C3-D0D9-466F-9976-3D6B9776B99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0" y="3827463"/>
                        <a:ext cx="28559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7689" name="Object 9">
            <a:extLst>
              <a:ext uri="{FF2B5EF4-FFF2-40B4-BE49-F238E27FC236}">
                <a16:creationId xmlns:a16="http://schemas.microsoft.com/office/drawing/2014/main" id="{BF2602EF-45FC-456C-9542-BAE096FB85C9}"/>
              </a:ext>
            </a:extLst>
          </p:cNvPr>
          <p:cNvGraphicFramePr>
            <a:graphicFrameLocks/>
          </p:cNvGraphicFramePr>
          <p:nvPr/>
        </p:nvGraphicFramePr>
        <p:xfrm>
          <a:off x="1700213" y="4424363"/>
          <a:ext cx="2730500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4" r:id="rId7" imgW="964363" imgH="406048" progId="Equation.3">
                  <p:embed/>
                </p:oleObj>
              </mc:Choice>
              <mc:Fallback>
                <p:oleObj r:id="rId7" imgW="964363" imgH="406048" progId="Equation.3">
                  <p:embed/>
                  <p:pic>
                    <p:nvPicPr>
                      <p:cNvPr id="967689" name="Object 9">
                        <a:extLst>
                          <a:ext uri="{FF2B5EF4-FFF2-40B4-BE49-F238E27FC236}">
                            <a16:creationId xmlns:a16="http://schemas.microsoft.com/office/drawing/2014/main" id="{BF2602EF-45FC-456C-9542-BAE096FB85C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213" y="4424363"/>
                        <a:ext cx="2730500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7690" name="Object 10">
            <a:extLst>
              <a:ext uri="{FF2B5EF4-FFF2-40B4-BE49-F238E27FC236}">
                <a16:creationId xmlns:a16="http://schemas.microsoft.com/office/drawing/2014/main" id="{20C3E459-2767-4A77-9610-2B9F0D5B8ED3}"/>
              </a:ext>
            </a:extLst>
          </p:cNvPr>
          <p:cNvGraphicFramePr>
            <a:graphicFrameLocks/>
          </p:cNvGraphicFramePr>
          <p:nvPr/>
        </p:nvGraphicFramePr>
        <p:xfrm>
          <a:off x="1628775" y="5353050"/>
          <a:ext cx="27686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5" r:id="rId9" imgW="1332921" imgH="291973" progId="Equation.3">
                  <p:embed/>
                </p:oleObj>
              </mc:Choice>
              <mc:Fallback>
                <p:oleObj r:id="rId9" imgW="1332921" imgH="291973" progId="Equation.3">
                  <p:embed/>
                  <p:pic>
                    <p:nvPicPr>
                      <p:cNvPr id="967690" name="Object 10">
                        <a:extLst>
                          <a:ext uri="{FF2B5EF4-FFF2-40B4-BE49-F238E27FC236}">
                            <a16:creationId xmlns:a16="http://schemas.microsoft.com/office/drawing/2014/main" id="{20C3E459-2767-4A77-9610-2B9F0D5B8E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5353050"/>
                        <a:ext cx="27686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7691" name="Object 11">
            <a:extLst>
              <a:ext uri="{FF2B5EF4-FFF2-40B4-BE49-F238E27FC236}">
                <a16:creationId xmlns:a16="http://schemas.microsoft.com/office/drawing/2014/main" id="{64B75CF8-B5BA-40C8-8BCE-A0E5E54F094B}"/>
              </a:ext>
            </a:extLst>
          </p:cNvPr>
          <p:cNvGraphicFramePr>
            <a:graphicFrameLocks/>
          </p:cNvGraphicFramePr>
          <p:nvPr/>
        </p:nvGraphicFramePr>
        <p:xfrm>
          <a:off x="4778375" y="4340225"/>
          <a:ext cx="2065338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6" r:id="rId11" imgW="1028254" imgH="660113" progId="Equation.3">
                  <p:embed/>
                </p:oleObj>
              </mc:Choice>
              <mc:Fallback>
                <p:oleObj r:id="rId11" imgW="1028254" imgH="660113" progId="Equation.3">
                  <p:embed/>
                  <p:pic>
                    <p:nvPicPr>
                      <p:cNvPr id="967691" name="Object 11">
                        <a:extLst>
                          <a:ext uri="{FF2B5EF4-FFF2-40B4-BE49-F238E27FC236}">
                            <a16:creationId xmlns:a16="http://schemas.microsoft.com/office/drawing/2014/main" id="{64B75CF8-B5BA-40C8-8BCE-A0E5E54F094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5" y="4340225"/>
                        <a:ext cx="2065338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692" name="AutoShape 12">
            <a:extLst>
              <a:ext uri="{FF2B5EF4-FFF2-40B4-BE49-F238E27FC236}">
                <a16:creationId xmlns:a16="http://schemas.microsoft.com/office/drawing/2014/main" id="{E687EFD9-8A1E-4474-BBB0-C8C1AF514870}"/>
              </a:ext>
            </a:extLst>
          </p:cNvPr>
          <p:cNvSpPr>
            <a:spLocks/>
          </p:cNvSpPr>
          <p:nvPr/>
        </p:nvSpPr>
        <p:spPr bwMode="auto">
          <a:xfrm>
            <a:off x="4552950" y="4144963"/>
            <a:ext cx="114300" cy="1543050"/>
          </a:xfrm>
          <a:prstGeom prst="rightBrace">
            <a:avLst>
              <a:gd name="adj1" fmla="val 1125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967693" name="Rectangle 13">
            <a:extLst>
              <a:ext uri="{FF2B5EF4-FFF2-40B4-BE49-F238E27FC236}">
                <a16:creationId xmlns:a16="http://schemas.microsoft.com/office/drawing/2014/main" id="{F2891248-974E-4BC1-A39D-8BD470DF1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" y="3065463"/>
            <a:ext cx="3232150" cy="384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能量守恒和动量守恒。</a:t>
            </a:r>
          </a:p>
        </p:txBody>
      </p:sp>
      <p:sp>
        <p:nvSpPr>
          <p:cNvPr id="967694" name="Text Box 14">
            <a:extLst>
              <a:ext uri="{FF2B5EF4-FFF2-40B4-BE49-F238E27FC236}">
                <a16:creationId xmlns:a16="http://schemas.microsoft.com/office/drawing/2014/main" id="{B0F0743E-E8A3-4261-B213-B0BFC8EAC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0"/>
            <a:ext cx="7335838" cy="1117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  <a:sym typeface="Symbol" panose="05050102010706020507" pitchFamily="18" charset="2"/>
              </a:rPr>
              <a:t>3.</a:t>
            </a:r>
            <a:r>
              <a:rPr kumimoji="1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为什么用可见光做散射实验，观察不到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   波长的偏移现象？</a:t>
            </a:r>
          </a:p>
        </p:txBody>
      </p:sp>
      <p:sp>
        <p:nvSpPr>
          <p:cNvPr id="967695" name="Text Box 15">
            <a:extLst>
              <a:ext uri="{FF2B5EF4-FFF2-40B4-BE49-F238E27FC236}">
                <a16:creationId xmlns:a16="http://schemas.microsoft.com/office/drawing/2014/main" id="{50DCEE9F-D309-4A89-8EC7-27655BFF9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1023938"/>
            <a:ext cx="762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（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</a:t>
            </a:r>
            <a:r>
              <a:rPr kumimoji="1" lang="zh-CN" altLang="en-US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b="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最大为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4.82</a:t>
            </a:r>
            <a:r>
              <a:rPr kumimoji="1" lang="en-US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×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10</a:t>
            </a:r>
            <a:r>
              <a:rPr kumimoji="1" lang="en-US" altLang="zh-CN" baseline="30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-3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nm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；是可见光波长的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～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10</a:t>
            </a:r>
            <a:r>
              <a:rPr kumimoji="1" lang="en-US" altLang="zh-CN" baseline="30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-5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）</a:t>
            </a:r>
          </a:p>
        </p:txBody>
      </p:sp>
      <p:graphicFrame>
        <p:nvGraphicFramePr>
          <p:cNvPr id="59409" name="Object 16">
            <a:extLst>
              <a:ext uri="{FF2B5EF4-FFF2-40B4-BE49-F238E27FC236}">
                <a16:creationId xmlns:a16="http://schemas.microsoft.com/office/drawing/2014/main" id="{EE5FAA29-85B0-40C4-B0A2-162CD094D004}"/>
              </a:ext>
            </a:extLst>
          </p:cNvPr>
          <p:cNvGraphicFramePr>
            <a:graphicFrameLocks/>
          </p:cNvGraphicFramePr>
          <p:nvPr/>
        </p:nvGraphicFramePr>
        <p:xfrm>
          <a:off x="7315200" y="0"/>
          <a:ext cx="176847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7" r:id="rId13" imgW="1000029" imgH="361882" progId="Equation.3">
                  <p:embed/>
                </p:oleObj>
              </mc:Choice>
              <mc:Fallback>
                <p:oleObj r:id="rId13" imgW="1000029" imgH="361882" progId="Equation.3">
                  <p:embed/>
                  <p:pic>
                    <p:nvPicPr>
                      <p:cNvPr id="59409" name="Object 16">
                        <a:extLst>
                          <a:ext uri="{FF2B5EF4-FFF2-40B4-BE49-F238E27FC236}">
                            <a16:creationId xmlns:a16="http://schemas.microsoft.com/office/drawing/2014/main" id="{EE5FAA29-85B0-40C4-B0A2-162CD094D00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0"/>
                        <a:ext cx="1768475" cy="7715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FFFF"/>
                          </a:gs>
                          <a:gs pos="50000">
                            <a:srgbClr val="FFFFFF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0033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938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6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6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6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67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6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96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96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6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6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6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7682" grpId="0"/>
      <p:bldP spid="967683" grpId="0"/>
      <p:bldP spid="967684" grpId="0"/>
      <p:bldP spid="967685" grpId="0"/>
      <p:bldP spid="967687" grpId="0" animBg="1"/>
      <p:bldP spid="967692" grpId="0" animBg="1"/>
      <p:bldP spid="967693" grpId="0"/>
      <p:bldP spid="96769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3">
            <a:extLst>
              <a:ext uri="{FF2B5EF4-FFF2-40B4-BE49-F238E27FC236}">
                <a16:creationId xmlns:a16="http://schemas.microsoft.com/office/drawing/2014/main" id="{F7821EA0-3001-467E-B379-9E8F4CC918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19BAC3-5705-4F67-BCE1-2FC40ED44F03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zh-CN" altLang="zh-CN" sz="1400"/>
          </a:p>
        </p:txBody>
      </p:sp>
      <p:sp>
        <p:nvSpPr>
          <p:cNvPr id="968706" name="Text Box 2">
            <a:extLst>
              <a:ext uri="{FF2B5EF4-FFF2-40B4-BE49-F238E27FC236}">
                <a16:creationId xmlns:a16="http://schemas.microsoft.com/office/drawing/2014/main" id="{992ABDD0-D663-453C-85AE-4253EE997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76200"/>
            <a:ext cx="6419850" cy="604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defRPr/>
            </a:pPr>
            <a:r>
              <a:rPr kumimoji="1" lang="zh-CN" altLang="en-US" sz="2800" b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三、 康普顿散射实验的意义</a:t>
            </a:r>
          </a:p>
        </p:txBody>
      </p:sp>
      <p:sp>
        <p:nvSpPr>
          <p:cNvPr id="968707" name="Rectangle 3">
            <a:extLst>
              <a:ext uri="{FF2B5EF4-FFF2-40B4-BE49-F238E27FC236}">
                <a16:creationId xmlns:a16="http://schemas.microsoft.com/office/drawing/2014/main" id="{C49D2140-B6B8-4180-BE65-0EBFA34E0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860800"/>
            <a:ext cx="38862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3200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p = </a:t>
            </a:r>
            <a:r>
              <a:rPr kumimoji="1" lang="en-US" altLang="zh-CN" sz="3200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kumimoji="1" lang="en-US" altLang="zh-CN" sz="3200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/c = h</a:t>
            </a:r>
            <a:r>
              <a:rPr kumimoji="1" lang="en-US" altLang="zh-CN" sz="3200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 /c = h /</a:t>
            </a:r>
          </a:p>
        </p:txBody>
      </p:sp>
      <p:sp>
        <p:nvSpPr>
          <p:cNvPr id="968708" name="Rectangle 4">
            <a:extLst>
              <a:ext uri="{FF2B5EF4-FFF2-40B4-BE49-F238E27FC236}">
                <a16:creationId xmlns:a16="http://schemas.microsoft.com/office/drawing/2014/main" id="{A1A40772-4886-4420-B41C-41B432B6F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1700213"/>
            <a:ext cx="1236663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3200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kumimoji="1" lang="en-US" altLang="zh-CN" sz="3200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= h</a:t>
            </a:r>
            <a:r>
              <a:rPr kumimoji="1" lang="en-US" altLang="zh-CN" sz="3200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</a:t>
            </a:r>
          </a:p>
        </p:txBody>
      </p:sp>
      <p:sp>
        <p:nvSpPr>
          <p:cNvPr id="968709" name="Text Box 5">
            <a:extLst>
              <a:ext uri="{FF2B5EF4-FFF2-40B4-BE49-F238E27FC236}">
                <a16:creationId xmlns:a16="http://schemas.microsoft.com/office/drawing/2014/main" id="{9CE7D806-268A-4E6E-A1E7-441F1E906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08050"/>
            <a:ext cx="7162800" cy="604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支持了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光量子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概念  进一步证实了</a:t>
            </a:r>
          </a:p>
        </p:txBody>
      </p:sp>
      <p:sp>
        <p:nvSpPr>
          <p:cNvPr id="968710" name="Text Box 6">
            <a:extLst>
              <a:ext uri="{FF2B5EF4-FFF2-40B4-BE49-F238E27FC236}">
                <a16:creationId xmlns:a16="http://schemas.microsoft.com/office/drawing/2014/main" id="{588FBE8F-78D5-46E3-9FB4-D705ADE98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492375"/>
            <a:ext cx="7467600" cy="1057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首次在实验上证实了爱因斯坦提出的</a:t>
            </a: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光量子具有动量</a:t>
            </a: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kumimoji="1" lang="zh-CN" altLang="en-US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的假设</a:t>
            </a:r>
          </a:p>
        </p:txBody>
      </p:sp>
      <p:sp>
        <p:nvSpPr>
          <p:cNvPr id="968711" name="Text Box 7">
            <a:extLst>
              <a:ext uri="{FF2B5EF4-FFF2-40B4-BE49-F238E27FC236}">
                <a16:creationId xmlns:a16="http://schemas.microsoft.com/office/drawing/2014/main" id="{8A1BBA27-FF65-4DA4-B31B-EEBAA0760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724400"/>
            <a:ext cx="7315200" cy="946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buClr>
                <a:schemeClr val="hlink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证实了在微观领域中动量和能量守恒定律仍然成立</a:t>
            </a:r>
          </a:p>
        </p:txBody>
      </p:sp>
    </p:spTree>
    <p:extLst>
      <p:ext uri="{BB962C8B-B14F-4D97-AF65-F5344CB8AC3E}">
        <p14:creationId xmlns:p14="http://schemas.microsoft.com/office/powerpoint/2010/main" val="214342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6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6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6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6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8706" grpId="0"/>
      <p:bldP spid="968707" grpId="0"/>
      <p:bldP spid="968708" grpId="0"/>
      <p:bldP spid="968709" grpId="0"/>
      <p:bldP spid="968710" grpId="0"/>
      <p:bldP spid="9687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3">
            <a:extLst>
              <a:ext uri="{FF2B5EF4-FFF2-40B4-BE49-F238E27FC236}">
                <a16:creationId xmlns:a16="http://schemas.microsoft.com/office/drawing/2014/main" id="{E214B21C-FB98-40D4-AED9-D3E9ECF8E2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44FBEA-2EAA-4B96-B717-A93829FD573B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zh-CN" altLang="zh-CN" sz="1400"/>
          </a:p>
        </p:txBody>
      </p:sp>
      <p:pic>
        <p:nvPicPr>
          <p:cNvPr id="969730" name="Picture 2" descr="康普顿">
            <a:extLst>
              <a:ext uri="{FF2B5EF4-FFF2-40B4-BE49-F238E27FC236}">
                <a16:creationId xmlns:a16="http://schemas.microsoft.com/office/drawing/2014/main" id="{91B1EEF6-D1CD-4398-B55D-423FFD209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68263"/>
            <a:ext cx="3230562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9731" name="Rectangle 3">
            <a:extLst>
              <a:ext uri="{FF2B5EF4-FFF2-40B4-BE49-F238E27FC236}">
                <a16:creationId xmlns:a16="http://schemas.microsoft.com/office/drawing/2014/main" id="{0225C970-E11C-48CF-951F-BECD25E80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4868863"/>
            <a:ext cx="36417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</a:rPr>
              <a:t>         </a:t>
            </a:r>
            <a:r>
              <a:rPr lang="zh-CN" altLang="en-US" sz="2800">
                <a:solidFill>
                  <a:schemeClr val="accent2"/>
                </a:solidFill>
                <a:ea typeface="楷体_GB2312" panose="02010609030101010101" pitchFamily="49" charset="-122"/>
              </a:rPr>
              <a:t>康普顿</a:t>
            </a:r>
            <a:endParaRPr lang="zh-CN" altLang="en-US" sz="280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（</a:t>
            </a:r>
            <a:r>
              <a:rPr lang="en-US" altLang="zh-CN" sz="2800">
                <a:solidFill>
                  <a:schemeClr val="accent2"/>
                </a:solidFill>
              </a:rPr>
              <a:t>A. H.Compton)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ea typeface="楷体_GB2312" panose="02010609030101010101" pitchFamily="49" charset="-122"/>
              </a:rPr>
              <a:t>美国人</a:t>
            </a:r>
            <a:r>
              <a:rPr lang="en-US" altLang="zh-CN" sz="2800">
                <a:solidFill>
                  <a:schemeClr val="accent2"/>
                </a:solidFill>
              </a:rPr>
              <a:t>(1892-1962</a:t>
            </a:r>
            <a:r>
              <a:rPr lang="zh-CN" altLang="en-US" sz="2800">
                <a:solidFill>
                  <a:schemeClr val="accent2"/>
                </a:solidFill>
              </a:rPr>
              <a:t>）</a:t>
            </a:r>
          </a:p>
        </p:txBody>
      </p:sp>
      <p:pic>
        <p:nvPicPr>
          <p:cNvPr id="61445" name="Picture 4" descr="Compton在做X射线散射">
            <a:extLst>
              <a:ext uri="{FF2B5EF4-FFF2-40B4-BE49-F238E27FC236}">
                <a16:creationId xmlns:a16="http://schemas.microsoft.com/office/drawing/2014/main" id="{A261C817-D6F1-49D6-B840-712B3C487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25" y="0"/>
            <a:ext cx="4041775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9733" name="Rectangle 5">
            <a:extLst>
              <a:ext uri="{FF2B5EF4-FFF2-40B4-BE49-F238E27FC236}">
                <a16:creationId xmlns:a16="http://schemas.microsoft.com/office/drawing/2014/main" id="{9D9E1B67-1889-4BF7-8EA3-647B56655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513" y="6202363"/>
            <a:ext cx="440690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99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获得</a:t>
            </a:r>
            <a:r>
              <a:rPr lang="en-US" altLang="zh-CN" sz="2800">
                <a:solidFill>
                  <a:srgbClr val="99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1927</a:t>
            </a:r>
            <a:r>
              <a:rPr lang="zh-CN" altLang="en-US" sz="2800">
                <a:solidFill>
                  <a:srgbClr val="99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年诺贝尔物理学奖</a:t>
            </a:r>
          </a:p>
        </p:txBody>
      </p:sp>
      <p:sp>
        <p:nvSpPr>
          <p:cNvPr id="969734" name="Text Box 6">
            <a:extLst>
              <a:ext uri="{FF2B5EF4-FFF2-40B4-BE49-F238E27FC236}">
                <a16:creationId xmlns:a16="http://schemas.microsoft.com/office/drawing/2014/main" id="{E06E7114-CFFC-4E5A-B62E-1151AE26A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753100"/>
            <a:ext cx="3733800" cy="946150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康普顿正在测定晶体对</a:t>
            </a:r>
            <a:r>
              <a:rPr lang="en-US" altLang="zh-CN" sz="2800"/>
              <a:t>X</a:t>
            </a:r>
            <a:r>
              <a:rPr lang="en-US" altLang="zh-CN" sz="2800" i="1"/>
              <a:t> </a:t>
            </a:r>
            <a:r>
              <a:rPr lang="zh-CN" altLang="en-US" sz="2800">
                <a:latin typeface="宋体" panose="02010600030101010101" pitchFamily="2" charset="-122"/>
              </a:rPr>
              <a:t>射线的散射</a:t>
            </a:r>
          </a:p>
        </p:txBody>
      </p:sp>
    </p:spTree>
    <p:extLst>
      <p:ext uri="{BB962C8B-B14F-4D97-AF65-F5344CB8AC3E}">
        <p14:creationId xmlns:p14="http://schemas.microsoft.com/office/powerpoint/2010/main" val="282692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6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6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96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1" grpId="0"/>
      <p:bldP spid="969733" grpId="0"/>
      <p:bldP spid="96973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3">
            <a:extLst>
              <a:ext uri="{FF2B5EF4-FFF2-40B4-BE49-F238E27FC236}">
                <a16:creationId xmlns:a16="http://schemas.microsoft.com/office/drawing/2014/main" id="{4546514C-0C82-4780-B8DC-7373193B2A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A9F35B-B2ED-4A4D-9E2D-8B02A95B4DD8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zh-CN" altLang="zh-CN" sz="1400"/>
          </a:p>
        </p:txBody>
      </p:sp>
      <p:sp>
        <p:nvSpPr>
          <p:cNvPr id="970754" name="Text Box 2">
            <a:extLst>
              <a:ext uri="{FF2B5EF4-FFF2-40B4-BE49-F238E27FC236}">
                <a16:creationId xmlns:a16="http://schemas.microsoft.com/office/drawing/2014/main" id="{58ECF201-2A54-483E-9441-9AB938419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5" y="56403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GB" sz="2800">
                <a:solidFill>
                  <a:srgbClr val="CC3300"/>
                </a:solidFill>
              </a:rPr>
              <a:t>20世纪50</a:t>
            </a:r>
            <a:r>
              <a:rPr lang="zh-CN" altLang="en-US" sz="2800">
                <a:solidFill>
                  <a:srgbClr val="CC3300"/>
                </a:solidFill>
              </a:rPr>
              <a:t>年代的吴有训</a:t>
            </a:r>
          </a:p>
        </p:txBody>
      </p:sp>
      <p:pic>
        <p:nvPicPr>
          <p:cNvPr id="970755" name="Picture 3" descr="吴y训">
            <a:extLst>
              <a:ext uri="{FF2B5EF4-FFF2-40B4-BE49-F238E27FC236}">
                <a16:creationId xmlns:a16="http://schemas.microsoft.com/office/drawing/2014/main" id="{A2B1B2D8-A1EB-4044-96C3-AF9CEBEE4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38" y="823913"/>
            <a:ext cx="3340100" cy="466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0756" name="Text Box 4">
            <a:extLst>
              <a:ext uri="{FF2B5EF4-FFF2-40B4-BE49-F238E27FC236}">
                <a16:creationId xmlns:a16="http://schemas.microsoft.com/office/drawing/2014/main" id="{4B968DD0-8D57-4C9E-9E04-1265CBA33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63" y="541338"/>
            <a:ext cx="45037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00FF"/>
                </a:solidFill>
              </a:rPr>
              <a:t>吴有训</a:t>
            </a:r>
            <a:r>
              <a:rPr lang="zh-CN" altLang="en-US"/>
              <a:t>（</a:t>
            </a:r>
            <a:r>
              <a:rPr lang="en-US" altLang="zh-CN"/>
              <a:t>1897—1977</a:t>
            </a:r>
            <a:r>
              <a:rPr lang="zh-CN" altLang="en-US"/>
              <a:t>）</a:t>
            </a:r>
          </a:p>
        </p:txBody>
      </p:sp>
      <p:sp>
        <p:nvSpPr>
          <p:cNvPr id="970757" name="Text Box 5">
            <a:extLst>
              <a:ext uri="{FF2B5EF4-FFF2-40B4-BE49-F238E27FC236}">
                <a16:creationId xmlns:a16="http://schemas.microsoft.com/office/drawing/2014/main" id="{08B779B0-25AA-445B-A260-471736BEA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0113" y="1195388"/>
            <a:ext cx="3957637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物理学家、教育家、</a:t>
            </a:r>
          </a:p>
        </p:txBody>
      </p:sp>
      <p:sp>
        <p:nvSpPr>
          <p:cNvPr id="970758" name="Text Box 6">
            <a:extLst>
              <a:ext uri="{FF2B5EF4-FFF2-40B4-BE49-F238E27FC236}">
                <a16:creationId xmlns:a16="http://schemas.microsoft.com/office/drawing/2014/main" id="{4CD11E4C-D47C-43E1-A1F9-7FBDC8346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3238" y="1865313"/>
            <a:ext cx="4449762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中国科学院副院长，</a:t>
            </a:r>
          </a:p>
        </p:txBody>
      </p:sp>
      <p:sp>
        <p:nvSpPr>
          <p:cNvPr id="970759" name="Text Box 7">
            <a:extLst>
              <a:ext uri="{FF2B5EF4-FFF2-40B4-BE49-F238E27FC236}">
                <a16:creationId xmlns:a16="http://schemas.microsoft.com/office/drawing/2014/main" id="{B5F04D1D-9A49-46D0-9C2E-87C62F64D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703638"/>
            <a:ext cx="4092575" cy="1117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曾任清华大学物理系主任、理学院院长。</a:t>
            </a:r>
          </a:p>
        </p:txBody>
      </p:sp>
      <p:sp>
        <p:nvSpPr>
          <p:cNvPr id="970760" name="Text Box 8">
            <a:extLst>
              <a:ext uri="{FF2B5EF4-FFF2-40B4-BE49-F238E27FC236}">
                <a16:creationId xmlns:a16="http://schemas.microsoft.com/office/drawing/2014/main" id="{1A30A50A-6C86-4086-BCCE-082955A8A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2474913"/>
            <a:ext cx="4429125" cy="6048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1928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年被叶企孙聘为</a:t>
            </a:r>
          </a:p>
        </p:txBody>
      </p:sp>
      <p:sp>
        <p:nvSpPr>
          <p:cNvPr id="970761" name="Text Box 9">
            <a:extLst>
              <a:ext uri="{FF2B5EF4-FFF2-40B4-BE49-F238E27FC236}">
                <a16:creationId xmlns:a16="http://schemas.microsoft.com/office/drawing/2014/main" id="{B0AEC67F-F42C-46E0-9635-93A43179C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388" y="4946650"/>
            <a:ext cx="4092575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0000FF"/>
                </a:solidFill>
              </a:rPr>
              <a:t>     </a:t>
            </a:r>
            <a:r>
              <a:rPr lang="zh-CN" altLang="en-US">
                <a:solidFill>
                  <a:srgbClr val="0000FF"/>
                </a:solidFill>
              </a:rPr>
              <a:t>对证实康普顿效应作出了重要贡献</a:t>
            </a:r>
          </a:p>
        </p:txBody>
      </p:sp>
      <p:sp>
        <p:nvSpPr>
          <p:cNvPr id="970762" name="Rectangle 10">
            <a:extLst>
              <a:ext uri="{FF2B5EF4-FFF2-40B4-BE49-F238E27FC236}">
                <a16:creationId xmlns:a16="http://schemas.microsoft.com/office/drawing/2014/main" id="{098DBC36-96BD-4411-8D0F-0B290E6AC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575" y="3162300"/>
            <a:ext cx="44164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清华大学物理系教授，</a:t>
            </a:r>
          </a:p>
        </p:txBody>
      </p:sp>
    </p:spTree>
    <p:extLst>
      <p:ext uri="{BB962C8B-B14F-4D97-AF65-F5344CB8AC3E}">
        <p14:creationId xmlns:p14="http://schemas.microsoft.com/office/powerpoint/2010/main" val="361602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70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0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70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70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7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7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7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7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0754" grpId="0"/>
      <p:bldP spid="970756" grpId="0"/>
      <p:bldP spid="970757" grpId="0"/>
      <p:bldP spid="970758" grpId="0"/>
      <p:bldP spid="970759" grpId="0"/>
      <p:bldP spid="970760" grpId="0"/>
      <p:bldP spid="970761" grpId="0"/>
      <p:bldP spid="97076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3">
            <a:extLst>
              <a:ext uri="{FF2B5EF4-FFF2-40B4-BE49-F238E27FC236}">
                <a16:creationId xmlns:a16="http://schemas.microsoft.com/office/drawing/2014/main" id="{FB538B93-EBF0-475C-883A-EFBD3538A9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245824-0DF1-4E6E-8E8F-DE20FEB041E9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zh-CN" altLang="zh-CN" sz="1400"/>
          </a:p>
        </p:txBody>
      </p:sp>
      <p:sp>
        <p:nvSpPr>
          <p:cNvPr id="971778" name="Text Box 2">
            <a:extLst>
              <a:ext uri="{FF2B5EF4-FFF2-40B4-BE49-F238E27FC236}">
                <a16:creationId xmlns:a16="http://schemas.microsoft.com/office/drawing/2014/main" id="{0C8CE14C-AB1F-4CEB-A1B8-37BC96F29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839913"/>
            <a:ext cx="8913813" cy="9096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1925—1926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年，吴有训用银的 </a:t>
            </a:r>
            <a:r>
              <a:rPr kumimoji="1" lang="en-US" altLang="zh-CN" sz="2800" b="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X 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射线</a:t>
            </a: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(</a:t>
            </a:r>
            <a:r>
              <a:rPr kumimoji="1" lang="en-US" altLang="zh-CN" sz="2800" b="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0" baseline="-25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=5.62nm) </a:t>
            </a:r>
          </a:p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为入射线，以</a:t>
            </a:r>
            <a:r>
              <a:rPr kumimoji="1" lang="en-US" altLang="zh-CN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15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种轻重不同的元素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为散射物质，</a:t>
            </a:r>
          </a:p>
        </p:txBody>
      </p:sp>
      <p:sp>
        <p:nvSpPr>
          <p:cNvPr id="971780" name="Text Box 4">
            <a:extLst>
              <a:ext uri="{FF2B5EF4-FFF2-40B4-BE49-F238E27FC236}">
                <a16:creationId xmlns:a16="http://schemas.microsoft.com/office/drawing/2014/main" id="{A2C6C123-95C4-42EC-8AFD-17976411A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004888"/>
            <a:ext cx="631825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1923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年</a:t>
            </a: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,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参加了康普顿效应的研究工作。</a:t>
            </a:r>
          </a:p>
        </p:txBody>
      </p:sp>
      <p:sp>
        <p:nvSpPr>
          <p:cNvPr id="971781" name="Text Box 5">
            <a:extLst>
              <a:ext uri="{FF2B5EF4-FFF2-40B4-BE49-F238E27FC236}">
                <a16:creationId xmlns:a16="http://schemas.microsoft.com/office/drawing/2014/main" id="{525D6163-668F-4588-9005-A7C6043EA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029200"/>
            <a:ext cx="6705600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对证实康普顿效应作出了重要贡献。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97F21BE2-07E0-4A47-8C9C-9F871892CA16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986088"/>
            <a:ext cx="8458200" cy="1509712"/>
            <a:chOff x="672" y="1728"/>
            <a:chExt cx="5328" cy="951"/>
          </a:xfrm>
        </p:grpSpPr>
        <p:sp>
          <p:nvSpPr>
            <p:cNvPr id="971783" name="Text Box 7">
              <a:extLst>
                <a:ext uri="{FF2B5EF4-FFF2-40B4-BE49-F238E27FC236}">
                  <a16:creationId xmlns:a16="http://schemas.microsoft.com/office/drawing/2014/main" id="{C84E21CE-2C2B-46C2-852B-D138CD698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745"/>
              <a:ext cx="5328" cy="9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50000"/>
                </a:spcBef>
                <a:defRPr/>
              </a:pPr>
              <a:r>
                <a:rPr kumimoji="1" lang="zh-CN" altLang="en-US" sz="2800" b="0">
                  <a:solidFill>
                    <a:srgbClr val="CC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在同一散射角</a:t>
              </a:r>
              <a:r>
                <a:rPr kumimoji="1" lang="en-US" altLang="zh-CN" sz="2800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(</a:t>
              </a:r>
              <a:r>
                <a:rPr kumimoji="1" lang="en-US" altLang="zh-CN" sz="2800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  <a:sym typeface="Symbol" panose="05050102010706020507" pitchFamily="18" charset="2"/>
                </a:rPr>
                <a:t>                 )</a:t>
              </a:r>
            </a:p>
            <a:p>
              <a:pPr>
                <a:lnSpc>
                  <a:spcPct val="75000"/>
                </a:lnSpc>
                <a:spcBef>
                  <a:spcPct val="50000"/>
                </a:spcBef>
                <a:defRPr/>
              </a:pPr>
              <a:r>
                <a:rPr kumimoji="1" lang="zh-CN" altLang="en-US" sz="2800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测量各种波长的散射光强度，</a:t>
              </a:r>
            </a:p>
            <a:p>
              <a:pPr>
                <a:lnSpc>
                  <a:spcPct val="75000"/>
                </a:lnSpc>
                <a:spcBef>
                  <a:spcPct val="50000"/>
                </a:spcBef>
                <a:defRPr/>
              </a:pPr>
              <a:r>
                <a:rPr kumimoji="1" lang="zh-CN" altLang="en-US" sz="2800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作了大量 </a:t>
              </a:r>
              <a:r>
                <a:rPr kumimoji="1" lang="en-US" altLang="zh-CN" sz="2800" b="0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X </a:t>
              </a:r>
              <a:r>
                <a:rPr kumimoji="1" lang="zh-CN" altLang="en-US" sz="2800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射线散射实验，</a:t>
              </a:r>
            </a:p>
          </p:txBody>
        </p:sp>
        <p:graphicFrame>
          <p:nvGraphicFramePr>
            <p:cNvPr id="63496" name="Object 8">
              <a:extLst>
                <a:ext uri="{FF2B5EF4-FFF2-40B4-BE49-F238E27FC236}">
                  <a16:creationId xmlns:a16="http://schemas.microsoft.com/office/drawing/2014/main" id="{DA7B3474-659E-4D85-A4AF-6DAAB8D2A45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60" y="1728"/>
            <a:ext cx="912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31" r:id="rId3" imgW="571252" imgH="228501" progId="Equation.3">
                    <p:embed/>
                  </p:oleObj>
                </mc:Choice>
                <mc:Fallback>
                  <p:oleObj r:id="rId3" imgW="571252" imgH="228501" progId="Equation.3">
                    <p:embed/>
                    <p:pic>
                      <p:nvPicPr>
                        <p:cNvPr id="63496" name="Object 8">
                          <a:extLst>
                            <a:ext uri="{FF2B5EF4-FFF2-40B4-BE49-F238E27FC236}">
                              <a16:creationId xmlns:a16="http://schemas.microsoft.com/office/drawing/2014/main" id="{DA7B3474-659E-4D85-A4AF-6DAAB8D2A45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1728"/>
                          <a:ext cx="912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5681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7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778" grpId="0" bldLvl="0" animBg="1"/>
      <p:bldP spid="97178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3">
            <a:extLst>
              <a:ext uri="{FF2B5EF4-FFF2-40B4-BE49-F238E27FC236}">
                <a16:creationId xmlns:a16="http://schemas.microsoft.com/office/drawing/2014/main" id="{AEA22E5E-1174-49DE-B744-F03A0CB3B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94C2D9-77DB-4FF0-AB95-186F507B3AE9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zh-CN" altLang="zh-CN" sz="1400"/>
          </a:p>
        </p:txBody>
      </p:sp>
      <p:sp>
        <p:nvSpPr>
          <p:cNvPr id="972812" name="Text Box 12">
            <a:extLst>
              <a:ext uri="{FF2B5EF4-FFF2-40B4-BE49-F238E27FC236}">
                <a16:creationId xmlns:a16="http://schemas.microsoft.com/office/drawing/2014/main" id="{47BC0911-6279-4875-B559-D70D638E5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54000"/>
            <a:ext cx="1439862" cy="3103563"/>
          </a:xfrm>
          <a:prstGeom prst="rect">
            <a:avLst/>
          </a:prstGeom>
          <a:solidFill>
            <a:srgbClr val="FFFFCC"/>
          </a:solidFill>
          <a:ln w="19050">
            <a:solidFill>
              <a:srgbClr val="0033CC"/>
            </a:solidFill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spcBef>
                <a:spcPct val="50000"/>
              </a:spcBef>
              <a:defRPr/>
            </a:pPr>
            <a:r>
              <a:rPr kumimoji="1"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吴有训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的康普顿效应散射实验曲线</a:t>
            </a:r>
          </a:p>
        </p:txBody>
      </p:sp>
      <p:pic>
        <p:nvPicPr>
          <p:cNvPr id="972815" name="Picture 15" descr="30">
            <a:extLst>
              <a:ext uri="{FF2B5EF4-FFF2-40B4-BE49-F238E27FC236}">
                <a16:creationId xmlns:a16="http://schemas.microsoft.com/office/drawing/2014/main" id="{561CBD2C-3B79-443A-868D-E51D76D67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813" y="1588"/>
            <a:ext cx="5800725" cy="502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8692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7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7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1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3">
            <a:extLst>
              <a:ext uri="{FF2B5EF4-FFF2-40B4-BE49-F238E27FC236}">
                <a16:creationId xmlns:a16="http://schemas.microsoft.com/office/drawing/2014/main" id="{AD6FF1AE-401B-4968-8F41-E2744DAF3E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C4D3FE-8321-427D-B52D-23A9ED5A1FCA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zh-CN" altLang="zh-CN" sz="1400"/>
          </a:p>
        </p:txBody>
      </p:sp>
      <p:sp>
        <p:nvSpPr>
          <p:cNvPr id="973826" name="Text Box 2">
            <a:extLst>
              <a:ext uri="{FF2B5EF4-FFF2-40B4-BE49-F238E27FC236}">
                <a16:creationId xmlns:a16="http://schemas.microsoft.com/office/drawing/2014/main" id="{610F8708-0270-4AB7-8E32-A9C9228D8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75" y="1555750"/>
            <a:ext cx="6764338" cy="2271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C3300"/>
              </a:buClr>
              <a:buFont typeface="Wingdings" panose="05000000000000000000" pitchFamily="2" charset="2"/>
              <a:buChar char="F"/>
              <a:defRPr/>
            </a:pPr>
            <a:r>
              <a:rPr kumimoji="1" lang="en-US" altLang="zh-CN" sz="2800" b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证实了康普顿效应的普遍性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CC3300"/>
              </a:buClr>
              <a:buFont typeface="Wingdings" panose="05000000000000000000" pitchFamily="2" charset="2"/>
              <a:buChar char="F"/>
              <a:defRPr/>
            </a:pPr>
            <a:r>
              <a:rPr kumimoji="1" lang="zh-CN" altLang="en-US" sz="2800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证实了两种散射线的产生机制：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kumimoji="1" lang="zh-CN" altLang="en-US" sz="2800" b="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  </a:t>
            </a:r>
            <a:r>
              <a:rPr kumimoji="1" lang="zh-CN" altLang="en-US" sz="2800" b="0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－ 外层电子（自由电子）散射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kumimoji="1" lang="zh-CN" altLang="en-US" sz="2800" b="0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   </a:t>
            </a:r>
            <a:r>
              <a:rPr kumimoji="1" lang="en-US" altLang="zh-CN" sz="2800" b="0" baseline="-250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－内层电子（整个原子）散射</a:t>
            </a:r>
          </a:p>
        </p:txBody>
      </p:sp>
      <p:sp>
        <p:nvSpPr>
          <p:cNvPr id="973827" name="Rectangle 3">
            <a:extLst>
              <a:ext uri="{FF2B5EF4-FFF2-40B4-BE49-F238E27FC236}">
                <a16:creationId xmlns:a16="http://schemas.microsoft.com/office/drawing/2014/main" id="{38B0F889-172F-4979-AD36-24D498F10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04800"/>
            <a:ext cx="55768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0">
                <a:solidFill>
                  <a:srgbClr val="0000FF"/>
                </a:solidFill>
                <a:ea typeface="华文新魏" panose="02010800040101010101" pitchFamily="2" charset="-122"/>
              </a:rPr>
              <a:t>吴有训工作的意义：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0">
                <a:solidFill>
                  <a:srgbClr val="0000FF"/>
                </a:solidFill>
                <a:ea typeface="华文新魏" panose="02010800040101010101" pitchFamily="2" charset="-122"/>
              </a:rPr>
              <a:t>（</a:t>
            </a:r>
            <a:r>
              <a:rPr lang="en-US" altLang="zh-CN" b="0">
                <a:solidFill>
                  <a:srgbClr val="0000FF"/>
                </a:solidFill>
                <a:ea typeface="华文新魏" panose="02010800040101010101" pitchFamily="2" charset="-122"/>
              </a:rPr>
              <a:t>15</a:t>
            </a:r>
            <a:r>
              <a:rPr lang="zh-CN" altLang="en-US" b="0">
                <a:solidFill>
                  <a:srgbClr val="0000FF"/>
                </a:solidFill>
                <a:ea typeface="华文新魏" panose="02010800040101010101" pitchFamily="2" charset="-122"/>
              </a:rPr>
              <a:t>种元素）</a:t>
            </a:r>
          </a:p>
        </p:txBody>
      </p:sp>
      <p:sp>
        <p:nvSpPr>
          <p:cNvPr id="973828" name="Rectangle 4">
            <a:extLst>
              <a:ext uri="{FF2B5EF4-FFF2-40B4-BE49-F238E27FC236}">
                <a16:creationId xmlns:a16="http://schemas.microsoft.com/office/drawing/2014/main" id="{434A85F7-5BF5-4E08-AACD-DE4BAE682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967163"/>
            <a:ext cx="8439150" cy="1373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在康普顿的一本著作   </a:t>
            </a:r>
            <a:r>
              <a:rPr kumimoji="1" lang="zh-CN" altLang="en-US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“ </a:t>
            </a:r>
            <a:r>
              <a:rPr kumimoji="1" lang="en-US" altLang="zh-CN" sz="2800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</a:t>
            </a:r>
            <a:r>
              <a:rPr kumimoji="1" lang="en-US" altLang="zh-CN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 </a:t>
            </a:r>
            <a:r>
              <a:rPr kumimoji="1" lang="en-US" altLang="zh-CN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Rays in theory and experiment ”</a:t>
            </a: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（</a:t>
            </a:r>
            <a:r>
              <a:rPr kumimoji="1"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1935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）中，有</a:t>
            </a:r>
            <a:r>
              <a:rPr kumimoji="1" lang="en-US" altLang="zh-CN" sz="2800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19</a:t>
            </a:r>
            <a:r>
              <a:rPr kumimoji="1" lang="zh-CN" altLang="en-US" sz="2800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处</a:t>
            </a: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引用了吴有训的</a:t>
            </a:r>
          </a:p>
          <a:p>
            <a:pPr eaLnBrk="1" hangingPunct="1">
              <a:defRPr/>
            </a:pPr>
            <a:r>
              <a:rPr kumimoji="1" lang="zh-CN" altLang="en-US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工作。</a:t>
            </a:r>
          </a:p>
        </p:txBody>
      </p:sp>
    </p:spTree>
    <p:extLst>
      <p:ext uri="{BB962C8B-B14F-4D97-AF65-F5344CB8AC3E}">
        <p14:creationId xmlns:p14="http://schemas.microsoft.com/office/powerpoint/2010/main" val="230099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3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73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73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73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7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26" grpId="0" uiExpand="1" build="p"/>
      <p:bldP spid="973827" grpId="0"/>
      <p:bldP spid="97382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3">
            <a:extLst>
              <a:ext uri="{FF2B5EF4-FFF2-40B4-BE49-F238E27FC236}">
                <a16:creationId xmlns:a16="http://schemas.microsoft.com/office/drawing/2014/main" id="{C0734317-0E50-423D-811F-78AC59E500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63F183-A817-47E6-B547-F9CED7850C71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zh-CN" altLang="zh-CN" sz="1400"/>
          </a:p>
        </p:txBody>
      </p:sp>
      <p:sp>
        <p:nvSpPr>
          <p:cNvPr id="66563" name="Text Box 2">
            <a:extLst>
              <a:ext uri="{FF2B5EF4-FFF2-40B4-BE49-F238E27FC236}">
                <a16:creationId xmlns:a16="http://schemas.microsoft.com/office/drawing/2014/main" id="{A3052070-4CF6-4A9F-824E-AD907FAD7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6688"/>
            <a:ext cx="5715000" cy="519112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>
            <a:outerShdw dist="107763" dir="189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四、康普顿效应和光电效应比较</a:t>
            </a:r>
          </a:p>
        </p:txBody>
      </p:sp>
      <p:sp>
        <p:nvSpPr>
          <p:cNvPr id="974851" name="Text Box 3">
            <a:extLst>
              <a:ext uri="{FF2B5EF4-FFF2-40B4-BE49-F238E27FC236}">
                <a16:creationId xmlns:a16="http://schemas.microsoft.com/office/drawing/2014/main" id="{4E1ED54E-DE36-4E49-838C-A0A505AA2BA1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9213" y="1011238"/>
            <a:ext cx="8185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 1.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康普顿效应是</a:t>
            </a:r>
            <a:r>
              <a:rPr kumimoji="1" lang="zh-CN" altLang="en-US" b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光子和静止自由电子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发生</a:t>
            </a:r>
            <a:r>
              <a:rPr kumimoji="1" lang="zh-CN" altLang="en-US" b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完全弹性碰撞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，</a:t>
            </a:r>
          </a:p>
        </p:txBody>
      </p:sp>
      <p:sp>
        <p:nvSpPr>
          <p:cNvPr id="974852" name="Rectangle 4">
            <a:extLst>
              <a:ext uri="{FF2B5EF4-FFF2-40B4-BE49-F238E27FC236}">
                <a16:creationId xmlns:a16="http://schemas.microsoft.com/office/drawing/2014/main" id="{DB7EB2BE-4BE2-4055-BE28-A8C80F061EC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5800" y="1600200"/>
            <a:ext cx="8713788" cy="822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光电效应则是</a:t>
            </a:r>
            <a:r>
              <a:rPr kumimoji="1" lang="zh-CN" altLang="en-US" b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光子被</a:t>
            </a:r>
            <a:r>
              <a:rPr kumimoji="1" lang="zh-CN" altLang="en-US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受一定束缚的</a:t>
            </a:r>
            <a:r>
              <a:rPr kumimoji="1" lang="zh-CN" altLang="en-US" b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电子吸收</a:t>
            </a:r>
            <a:r>
              <a:rPr kumimoji="1" lang="en-US" altLang="zh-CN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</a:p>
          <a:p>
            <a:pPr eaLnBrk="1" hangingPunct="1">
              <a:defRPr/>
            </a:pPr>
            <a:r>
              <a:rPr kumimoji="1" lang="zh-CN" altLang="en-US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相当于发生完全非弹性碰撞。</a:t>
            </a:r>
          </a:p>
        </p:txBody>
      </p:sp>
      <p:sp>
        <p:nvSpPr>
          <p:cNvPr id="974853" name="Text Box 5">
            <a:extLst>
              <a:ext uri="{FF2B5EF4-FFF2-40B4-BE49-F238E27FC236}">
                <a16:creationId xmlns:a16="http://schemas.microsoft.com/office/drawing/2014/main" id="{0318FB09-C844-427F-BD03-D22F0BB1ED91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9688" y="2743200"/>
            <a:ext cx="9180512" cy="822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 2.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康普顿效应所用</a:t>
            </a:r>
            <a:r>
              <a:rPr kumimoji="1" lang="zh-CN" altLang="en-US" b="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</a:t>
            </a:r>
            <a:r>
              <a:rPr kumimoji="1" lang="en-US" altLang="zh-CN" b="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X</a:t>
            </a: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射线或</a:t>
            </a:r>
            <a:r>
              <a:rPr kumimoji="1" lang="en-US" altLang="zh-CN" b="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γ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射线，</a:t>
            </a:r>
          </a:p>
          <a:p>
            <a:pPr eaLnBrk="1" hangingPunct="1"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    光子能量较大，要</a:t>
            </a:r>
            <a:r>
              <a:rPr kumimoji="1" lang="zh-CN" altLang="en-US" b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考虑相对论效应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974854" name="Object 6">
            <a:extLst>
              <a:ext uri="{FF2B5EF4-FFF2-40B4-BE49-F238E27FC236}">
                <a16:creationId xmlns:a16="http://schemas.microsoft.com/office/drawing/2014/main" id="{450A07A0-D9CC-4B15-9638-EAA2A5761965}"/>
              </a:ext>
            </a:extLst>
          </p:cNvPr>
          <p:cNvGraphicFramePr>
            <a:graphicFrameLocks/>
          </p:cNvGraphicFramePr>
          <p:nvPr/>
        </p:nvGraphicFramePr>
        <p:xfrm>
          <a:off x="3786188" y="3733800"/>
          <a:ext cx="258762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4" r:id="rId3" imgW="1000029" imgH="209414" progId="Equation.3">
                  <p:embed/>
                </p:oleObj>
              </mc:Choice>
              <mc:Fallback>
                <p:oleObj r:id="rId3" imgW="1000029" imgH="209414" progId="Equation.3">
                  <p:embed/>
                  <p:pic>
                    <p:nvPicPr>
                      <p:cNvPr id="974854" name="Object 6">
                        <a:extLst>
                          <a:ext uri="{FF2B5EF4-FFF2-40B4-BE49-F238E27FC236}">
                            <a16:creationId xmlns:a16="http://schemas.microsoft.com/office/drawing/2014/main" id="{450A07A0-D9CC-4B15-9638-EAA2A576196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3733800"/>
                        <a:ext cx="2587625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4855" name="Rectangle 7">
            <a:extLst>
              <a:ext uri="{FF2B5EF4-FFF2-40B4-BE49-F238E27FC236}">
                <a16:creationId xmlns:a16="http://schemas.microsoft.com/office/drawing/2014/main" id="{8CA1BC15-DCE4-4FC1-AE6C-FB845656433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841500" y="3810000"/>
            <a:ext cx="14033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电子动能</a:t>
            </a:r>
          </a:p>
        </p:txBody>
      </p:sp>
      <p:sp>
        <p:nvSpPr>
          <p:cNvPr id="974856" name="Rectangle 8">
            <a:extLst>
              <a:ext uri="{FF2B5EF4-FFF2-40B4-BE49-F238E27FC236}">
                <a16:creationId xmlns:a16="http://schemas.microsoft.com/office/drawing/2014/main" id="{6CDD5891-422D-44DB-B5CC-0582011E1AB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3413" y="4419600"/>
            <a:ext cx="7610475" cy="822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光电效应中采用可见光或紫外光，</a:t>
            </a:r>
          </a:p>
          <a:p>
            <a:pPr eaLnBrk="1" hangingPunct="1">
              <a:defRPr/>
            </a:pPr>
            <a:r>
              <a:rPr kumimoji="1" lang="zh-CN" altLang="en-US" b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光子能量较小，为</a:t>
            </a:r>
            <a:r>
              <a:rPr kumimoji="1" lang="zh-CN" altLang="en-US" b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非相对论效应。</a:t>
            </a:r>
          </a:p>
        </p:txBody>
      </p:sp>
      <p:graphicFrame>
        <p:nvGraphicFramePr>
          <p:cNvPr id="974857" name="Object 9">
            <a:extLst>
              <a:ext uri="{FF2B5EF4-FFF2-40B4-BE49-F238E27FC236}">
                <a16:creationId xmlns:a16="http://schemas.microsoft.com/office/drawing/2014/main" id="{F753C017-44ED-4B5B-A52C-9996A7FA2DCF}"/>
              </a:ext>
            </a:extLst>
          </p:cNvPr>
          <p:cNvGraphicFramePr>
            <a:graphicFrameLocks/>
          </p:cNvGraphicFramePr>
          <p:nvPr/>
        </p:nvGraphicFramePr>
        <p:xfrm>
          <a:off x="3722688" y="5562600"/>
          <a:ext cx="186372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5" r:id="rId5" imgW="733355" imgH="361882" progId="Equation.3">
                  <p:embed/>
                </p:oleObj>
              </mc:Choice>
              <mc:Fallback>
                <p:oleObj r:id="rId5" imgW="733355" imgH="361882" progId="Equation.3">
                  <p:embed/>
                  <p:pic>
                    <p:nvPicPr>
                      <p:cNvPr id="974857" name="Object 9">
                        <a:extLst>
                          <a:ext uri="{FF2B5EF4-FFF2-40B4-BE49-F238E27FC236}">
                            <a16:creationId xmlns:a16="http://schemas.microsoft.com/office/drawing/2014/main" id="{F753C017-44ED-4B5B-A52C-9996A7FA2DC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5562600"/>
                        <a:ext cx="1863725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4858" name="Rectangle 10">
            <a:extLst>
              <a:ext uri="{FF2B5EF4-FFF2-40B4-BE49-F238E27FC236}">
                <a16:creationId xmlns:a16="http://schemas.microsoft.com/office/drawing/2014/main" id="{AA0BB94D-C0B7-4C26-AC48-1EB4F62C5F9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828800" y="5759450"/>
            <a:ext cx="1752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电子动能</a:t>
            </a:r>
          </a:p>
        </p:txBody>
      </p:sp>
    </p:spTree>
    <p:extLst>
      <p:ext uri="{BB962C8B-B14F-4D97-AF65-F5344CB8AC3E}">
        <p14:creationId xmlns:p14="http://schemas.microsoft.com/office/powerpoint/2010/main" val="45462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97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97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97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97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97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97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7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4851" grpId="0"/>
      <p:bldP spid="974852" grpId="0"/>
      <p:bldP spid="974853" grpId="0"/>
      <p:bldP spid="974855" grpId="0"/>
      <p:bldP spid="974856" grpId="0"/>
      <p:bldP spid="97485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>
            <a:extLst>
              <a:ext uri="{FF2B5EF4-FFF2-40B4-BE49-F238E27FC236}">
                <a16:creationId xmlns:a16="http://schemas.microsoft.com/office/drawing/2014/main" id="{F3565C51-C23F-4256-8FD7-F1706CE85A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48FB9C-65F8-4FCB-939F-5265F97DB1B9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zh-CN" altLang="zh-CN" sz="1400"/>
          </a:p>
        </p:txBody>
      </p:sp>
      <p:sp>
        <p:nvSpPr>
          <p:cNvPr id="975874" name="Text Box 2">
            <a:extLst>
              <a:ext uri="{FF2B5EF4-FFF2-40B4-BE49-F238E27FC236}">
                <a16:creationId xmlns:a16="http://schemas.microsoft.com/office/drawing/2014/main" id="{DB1EB75D-A5F2-4626-9AD7-AB53D05064D1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0" y="228600"/>
            <a:ext cx="87137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 3. </a:t>
            </a:r>
            <a:r>
              <a:rPr kumimoji="1" lang="zh-CN" altLang="en-US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康普顿效应中散射光中最大波长改变量为</a:t>
            </a:r>
          </a:p>
        </p:txBody>
      </p:sp>
      <p:graphicFrame>
        <p:nvGraphicFramePr>
          <p:cNvPr id="975875" name="Object 3">
            <a:extLst>
              <a:ext uri="{FF2B5EF4-FFF2-40B4-BE49-F238E27FC236}">
                <a16:creationId xmlns:a16="http://schemas.microsoft.com/office/drawing/2014/main" id="{5BAB0BC7-144F-48C7-A172-E524A80163F6}"/>
              </a:ext>
            </a:extLst>
          </p:cNvPr>
          <p:cNvGraphicFramePr>
            <a:graphicFrameLocks/>
          </p:cNvGraphicFramePr>
          <p:nvPr/>
        </p:nvGraphicFramePr>
        <p:xfrm>
          <a:off x="941388" y="838200"/>
          <a:ext cx="34401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8" r:id="rId3" imgW="1562125" imgH="199923" progId="Equation.3">
                  <p:embed/>
                </p:oleObj>
              </mc:Choice>
              <mc:Fallback>
                <p:oleObj r:id="rId3" imgW="1562125" imgH="199923" progId="Equation.3">
                  <p:embed/>
                  <p:pic>
                    <p:nvPicPr>
                      <p:cNvPr id="975875" name="Object 3">
                        <a:extLst>
                          <a:ext uri="{FF2B5EF4-FFF2-40B4-BE49-F238E27FC236}">
                            <a16:creationId xmlns:a16="http://schemas.microsoft.com/office/drawing/2014/main" id="{5BAB0BC7-144F-48C7-A172-E524A80163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388" y="838200"/>
                        <a:ext cx="344011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5876" name="Rectangle 4">
            <a:extLst>
              <a:ext uri="{FF2B5EF4-FFF2-40B4-BE49-F238E27FC236}">
                <a16:creationId xmlns:a16="http://schemas.microsoft.com/office/drawing/2014/main" id="{18A1AF04-AA76-4762-AE1D-9871EEF7E46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1963" y="1570038"/>
            <a:ext cx="8001000" cy="830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可见光范围内，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Δ</a:t>
            </a:r>
            <a:r>
              <a:rPr kumimoji="1"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λ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/</a:t>
            </a:r>
            <a:r>
              <a:rPr kumimoji="1"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λ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太小，康普顿效应不明显；只对波长小的 </a:t>
            </a:r>
            <a:r>
              <a:rPr kumimoji="1"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X</a:t>
            </a:r>
            <a:r>
              <a:rPr kumimoji="1"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射线或</a:t>
            </a:r>
            <a:r>
              <a:rPr kumimoji="1"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γ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射线表现明显。</a:t>
            </a:r>
          </a:p>
        </p:txBody>
      </p:sp>
      <p:sp>
        <p:nvSpPr>
          <p:cNvPr id="975877" name="Rectangle 5">
            <a:extLst>
              <a:ext uri="{FF2B5EF4-FFF2-40B4-BE49-F238E27FC236}">
                <a16:creationId xmlns:a16="http://schemas.microsoft.com/office/drawing/2014/main" id="{71F65204-8551-45E1-B1B3-97662245DDD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50825" y="2636838"/>
            <a:ext cx="4908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b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光电效应则可出现在可见光范围。</a:t>
            </a:r>
          </a:p>
        </p:txBody>
      </p:sp>
      <p:graphicFrame>
        <p:nvGraphicFramePr>
          <p:cNvPr id="67591" name="Object 6">
            <a:extLst>
              <a:ext uri="{FF2B5EF4-FFF2-40B4-BE49-F238E27FC236}">
                <a16:creationId xmlns:a16="http://schemas.microsoft.com/office/drawing/2014/main" id="{43D3B245-5C76-413A-83E5-B99A3C7C036D}"/>
              </a:ext>
            </a:extLst>
          </p:cNvPr>
          <p:cNvGraphicFramePr>
            <a:graphicFrameLocks/>
          </p:cNvGraphicFramePr>
          <p:nvPr/>
        </p:nvGraphicFramePr>
        <p:xfrm>
          <a:off x="7042150" y="73025"/>
          <a:ext cx="210185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9" r:id="rId5" imgW="1000029" imgH="361882" progId="Equation.3">
                  <p:embed/>
                </p:oleObj>
              </mc:Choice>
              <mc:Fallback>
                <p:oleObj r:id="rId5" imgW="1000029" imgH="361882" progId="Equation.3">
                  <p:embed/>
                  <p:pic>
                    <p:nvPicPr>
                      <p:cNvPr id="67591" name="Object 6">
                        <a:extLst>
                          <a:ext uri="{FF2B5EF4-FFF2-40B4-BE49-F238E27FC236}">
                            <a16:creationId xmlns:a16="http://schemas.microsoft.com/office/drawing/2014/main" id="{43D3B245-5C76-413A-83E5-B99A3C7C036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150" y="73025"/>
                        <a:ext cx="2101850" cy="9175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99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94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7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97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97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5876" grpId="0"/>
      <p:bldP spid="97587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2030C834-E8A9-421F-BB42-EDA8904EE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8305800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zh-CN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ea typeface="黑体" panose="02010609060101010101" pitchFamily="49" charset="-122"/>
              </a:rPr>
              <a:t>1</a:t>
            </a:r>
            <a:r>
              <a:rPr lang="zh-CN" altLang="zh-CN" sz="2400" dirty="0">
                <a:ea typeface="黑体" panose="02010609060101010101" pitchFamily="49" charset="-122"/>
              </a:rPr>
              <a:t>下列物体哪一个可以视为黑体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zh-CN" sz="2400" dirty="0">
                <a:solidFill>
                  <a:srgbClr val="0000FF"/>
                </a:solidFill>
                <a:ea typeface="黑体" panose="02010609060101010101" pitchFamily="49" charset="-122"/>
              </a:rPr>
              <a:t>1 不辐射可见光的物体         2 不辐射任何电磁波的物体</a:t>
            </a:r>
            <a:endParaRPr lang="zh-CN" altLang="en-US" sz="24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ea typeface="黑体" panose="02010609060101010101" pitchFamily="49" charset="-122"/>
              </a:rPr>
              <a:t>3 </a:t>
            </a:r>
            <a:r>
              <a:rPr lang="zh-CN" altLang="en-US" sz="2400" dirty="0">
                <a:solidFill>
                  <a:srgbClr val="0000FF"/>
                </a:solidFill>
                <a:ea typeface="黑体" panose="02010609060101010101" pitchFamily="49" charset="-122"/>
              </a:rPr>
              <a:t>不能反射可见光的物体    </a:t>
            </a:r>
            <a:r>
              <a:rPr lang="en-US" altLang="zh-CN" sz="2400" dirty="0">
                <a:solidFill>
                  <a:srgbClr val="0000FF"/>
                </a:solidFill>
                <a:ea typeface="黑体" panose="02010609060101010101" pitchFamily="49" charset="-122"/>
              </a:rPr>
              <a:t>4  </a:t>
            </a:r>
            <a:r>
              <a:rPr lang="zh-CN" altLang="en-US" sz="2400" dirty="0">
                <a:solidFill>
                  <a:srgbClr val="0000FF"/>
                </a:solidFill>
                <a:ea typeface="黑体" panose="02010609060101010101" pitchFamily="49" charset="-122"/>
              </a:rPr>
              <a:t>不能反射任何电磁波的物体</a:t>
            </a:r>
            <a:endParaRPr lang="zh-CN" altLang="en-US" sz="2800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1060867" name="Rectangle 3">
            <a:extLst>
              <a:ext uri="{FF2B5EF4-FFF2-40B4-BE49-F238E27FC236}">
                <a16:creationId xmlns:a16="http://schemas.microsoft.com/office/drawing/2014/main" id="{C70A274E-A6E9-4D18-9E43-316128507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1316038"/>
            <a:ext cx="266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0">
                <a:ea typeface="黑体" panose="02010609060101010101" pitchFamily="49" charset="-122"/>
              </a:rPr>
              <a:t>答案：4</a:t>
            </a:r>
            <a:endParaRPr lang="en-US" altLang="zh-CN" sz="2400" b="0">
              <a:ea typeface="黑体" panose="02010609060101010101" pitchFamily="49" charset="-122"/>
            </a:endParaRPr>
          </a:p>
        </p:txBody>
      </p:sp>
      <p:sp>
        <p:nvSpPr>
          <p:cNvPr id="1060868" name="Rectangle 4">
            <a:extLst>
              <a:ext uri="{FF2B5EF4-FFF2-40B4-BE49-F238E27FC236}">
                <a16:creationId xmlns:a16="http://schemas.microsoft.com/office/drawing/2014/main" id="{86F3EC5A-0850-4D5A-BB6A-A39586CD8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414463"/>
            <a:ext cx="8305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>
                <a:ea typeface="黑体" panose="02010609060101010101" pitchFamily="49" charset="-122"/>
              </a:rPr>
              <a:t>光电效应的红限大小依赖于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>
                <a:solidFill>
                  <a:srgbClr val="0000FF"/>
                </a:solidFill>
                <a:ea typeface="黑体" panose="02010609060101010101" pitchFamily="49" charset="-122"/>
              </a:rPr>
              <a:t>1 入射光的强度                        2 入射光的频率</a:t>
            </a:r>
            <a:endParaRPr lang="zh-CN" altLang="en-US" sz="240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ea typeface="黑体" panose="02010609060101010101" pitchFamily="49" charset="-122"/>
              </a:rPr>
              <a:t>3 </a:t>
            </a:r>
            <a:r>
              <a:rPr lang="zh-CN" altLang="en-US" sz="2400">
                <a:solidFill>
                  <a:srgbClr val="0000FF"/>
                </a:solidFill>
                <a:ea typeface="黑体" panose="02010609060101010101" pitchFamily="49" charset="-122"/>
              </a:rPr>
              <a:t>金属的逸出功                        </a:t>
            </a:r>
            <a:r>
              <a:rPr lang="en-US" altLang="zh-CN" sz="2400">
                <a:solidFill>
                  <a:srgbClr val="0000FF"/>
                </a:solidFill>
                <a:ea typeface="黑体" panose="02010609060101010101" pitchFamily="49" charset="-122"/>
              </a:rPr>
              <a:t>4  </a:t>
            </a:r>
            <a:r>
              <a:rPr lang="zh-CN" altLang="en-US" sz="2400">
                <a:solidFill>
                  <a:srgbClr val="0000FF"/>
                </a:solidFill>
                <a:ea typeface="黑体" panose="02010609060101010101" pitchFamily="49" charset="-122"/>
              </a:rPr>
              <a:t>入射光的颜色</a:t>
            </a:r>
            <a:endParaRPr lang="zh-CN" altLang="en-US" sz="280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1060869" name="Rectangle 5">
            <a:extLst>
              <a:ext uri="{FF2B5EF4-FFF2-40B4-BE49-F238E27FC236}">
                <a16:creationId xmlns:a16="http://schemas.microsoft.com/office/drawing/2014/main" id="{E4801055-A48A-4165-8151-13355720D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2108200"/>
            <a:ext cx="2592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0">
                <a:ea typeface="黑体" panose="02010609060101010101" pitchFamily="49" charset="-122"/>
              </a:rPr>
              <a:t>答案：3</a:t>
            </a:r>
            <a:endParaRPr lang="en-US" altLang="zh-CN" sz="2400" b="0">
              <a:ea typeface="黑体" panose="02010609060101010101" pitchFamily="49" charset="-122"/>
            </a:endParaRPr>
          </a:p>
        </p:txBody>
      </p:sp>
      <p:sp>
        <p:nvSpPr>
          <p:cNvPr id="1060870" name="Rectangle 6">
            <a:extLst>
              <a:ext uri="{FF2B5EF4-FFF2-40B4-BE49-F238E27FC236}">
                <a16:creationId xmlns:a16="http://schemas.microsoft.com/office/drawing/2014/main" id="{DBE63B81-2506-4BCA-8EAF-DA97D931D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708275"/>
            <a:ext cx="8305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>
                <a:ea typeface="黑体" panose="02010609060101010101" pitchFamily="49" charset="-122"/>
              </a:rPr>
              <a:t>在康普顿散射实验中，单色准直</a:t>
            </a:r>
            <a:r>
              <a:rPr lang="en-US" altLang="zh-CN" sz="2400">
                <a:ea typeface="黑体" panose="02010609060101010101" pitchFamily="49" charset="-122"/>
              </a:rPr>
              <a:t>x</a:t>
            </a:r>
            <a:r>
              <a:rPr lang="zh-CN" altLang="zh-CN" sz="2400">
                <a:ea typeface="黑体" panose="02010609060101010101" pitchFamily="49" charset="-122"/>
              </a:rPr>
              <a:t>光入射到石墨上，其散射情况是：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>
                <a:solidFill>
                  <a:srgbClr val="0000FF"/>
                </a:solidFill>
                <a:ea typeface="黑体" panose="02010609060101010101" pitchFamily="49" charset="-122"/>
              </a:rPr>
              <a:t>1 各方向散射光波长均与入射光波长相同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>
                <a:solidFill>
                  <a:srgbClr val="0000FF"/>
                </a:solidFill>
                <a:ea typeface="黑体" panose="02010609060101010101" pitchFamily="49" charset="-122"/>
              </a:rPr>
              <a:t>2 波长的改变量与散射角无关</a:t>
            </a:r>
            <a:endParaRPr lang="zh-CN" altLang="en-US" sz="240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ea typeface="黑体" panose="02010609060101010101" pitchFamily="49" charset="-122"/>
              </a:rPr>
              <a:t>3 </a:t>
            </a:r>
            <a:r>
              <a:rPr lang="zh-CN" altLang="en-US" sz="2400">
                <a:solidFill>
                  <a:srgbClr val="0000FF"/>
                </a:solidFill>
                <a:ea typeface="黑体" panose="02010609060101010101" pitchFamily="49" charset="-122"/>
              </a:rPr>
              <a:t>波长的改变量与入射波长无关</a:t>
            </a:r>
          </a:p>
        </p:txBody>
      </p:sp>
      <p:sp>
        <p:nvSpPr>
          <p:cNvPr id="1060871" name="Rectangle 7">
            <a:extLst>
              <a:ext uri="{FF2B5EF4-FFF2-40B4-BE49-F238E27FC236}">
                <a16:creationId xmlns:a16="http://schemas.microsoft.com/office/drawing/2014/main" id="{30791AD0-4961-4F9A-83DC-605848A1C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4124325"/>
            <a:ext cx="273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0">
                <a:ea typeface="黑体" panose="02010609060101010101" pitchFamily="49" charset="-122"/>
              </a:rPr>
              <a:t>答案：3</a:t>
            </a:r>
            <a:endParaRPr lang="en-US" altLang="zh-CN" sz="2400" b="0">
              <a:ea typeface="黑体" panose="02010609060101010101" pitchFamily="49" charset="-122"/>
            </a:endParaRPr>
          </a:p>
        </p:txBody>
      </p:sp>
      <p:sp>
        <p:nvSpPr>
          <p:cNvPr id="1060872" name="Rectangle 8">
            <a:extLst>
              <a:ext uri="{FF2B5EF4-FFF2-40B4-BE49-F238E27FC236}">
                <a16:creationId xmlns:a16="http://schemas.microsoft.com/office/drawing/2014/main" id="{F4656DCC-1DFA-44F7-B346-C29599F44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829175"/>
            <a:ext cx="8305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>
                <a:ea typeface="黑体" panose="02010609060101010101" pitchFamily="49" charset="-122"/>
              </a:rPr>
              <a:t>光电效应和康普顿散射都涉及电子与光子之间的相互作用，下列哪一个</a:t>
            </a:r>
            <a:r>
              <a:rPr lang="zh-CN" altLang="en-US" sz="2400">
                <a:ea typeface="黑体" panose="02010609060101010101" pitchFamily="49" charset="-122"/>
              </a:rPr>
              <a:t>说</a:t>
            </a:r>
            <a:r>
              <a:rPr lang="zh-CN" altLang="zh-CN" sz="2400">
                <a:ea typeface="黑体" panose="02010609060101010101" pitchFamily="49" charset="-122"/>
              </a:rPr>
              <a:t>法正确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>
                <a:solidFill>
                  <a:srgbClr val="0000FF"/>
                </a:solidFill>
                <a:ea typeface="黑体" panose="02010609060101010101" pitchFamily="49" charset="-122"/>
              </a:rPr>
              <a:t>1 两种效应均为电子和光子的弹性碰撞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>
                <a:solidFill>
                  <a:srgbClr val="0000FF"/>
                </a:solidFill>
                <a:ea typeface="黑体" panose="02010609060101010101" pitchFamily="49" charset="-122"/>
              </a:rPr>
              <a:t>2 光电效应是由于电子吸收光子的能量而产生的，而康普顿效应是由于电子与光子弹性碰撞产生的</a:t>
            </a:r>
            <a:endParaRPr lang="zh-CN" altLang="en-US" sz="240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1060873" name="Rectangle 9">
            <a:extLst>
              <a:ext uri="{FF2B5EF4-FFF2-40B4-BE49-F238E27FC236}">
                <a16:creationId xmlns:a16="http://schemas.microsoft.com/office/drawing/2014/main" id="{6A88203C-9D00-41C7-8AF8-D69CD567C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263" y="6400800"/>
            <a:ext cx="2736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0">
                <a:ea typeface="黑体" panose="02010609060101010101" pitchFamily="49" charset="-122"/>
              </a:rPr>
              <a:t>答案：2</a:t>
            </a:r>
            <a:endParaRPr lang="en-US" altLang="zh-CN" sz="2400" b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7369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6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6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6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6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6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60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60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867" grpId="0"/>
      <p:bldP spid="1060868" grpId="0"/>
      <p:bldP spid="1060869" grpId="0"/>
      <p:bldP spid="1060870" grpId="0"/>
      <p:bldP spid="1060871" grpId="0"/>
      <p:bldP spid="1060872" grpId="0"/>
      <p:bldP spid="106087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66">
            <a:alpha val="5019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3">
            <a:extLst>
              <a:ext uri="{FF2B5EF4-FFF2-40B4-BE49-F238E27FC236}">
                <a16:creationId xmlns:a16="http://schemas.microsoft.com/office/drawing/2014/main" id="{0E8AC6D5-501D-496E-A0DC-BBDACAEB3B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8BBF49-67D2-4E03-AA71-9D3A71E33BDE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zh-CN" altLang="zh-CN" sz="1400"/>
          </a:p>
        </p:txBody>
      </p:sp>
      <p:sp>
        <p:nvSpPr>
          <p:cNvPr id="72707" name="Text Box 2">
            <a:extLst>
              <a:ext uri="{FF2B5EF4-FFF2-40B4-BE49-F238E27FC236}">
                <a16:creationId xmlns:a16="http://schemas.microsoft.com/office/drawing/2014/main" id="{883F37D4-4BA1-46D3-9FC2-E597258D0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260350"/>
            <a:ext cx="8942387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例</a:t>
            </a:r>
            <a:r>
              <a:rPr lang="en-US" altLang="zh-CN" sz="24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.  波长为0.04 nm 的X射线经物质散射后产生康普顿效应。若散射角等于 90° ，试求：（1）散射光波长；（2）反冲电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     子获得的能量；（3）反冲电子动量的大小和方向。 </a:t>
            </a:r>
          </a:p>
        </p:txBody>
      </p:sp>
      <p:sp>
        <p:nvSpPr>
          <p:cNvPr id="1048579" name="Text Box 3">
            <a:extLst>
              <a:ext uri="{FF2B5EF4-FFF2-40B4-BE49-F238E27FC236}">
                <a16:creationId xmlns:a16="http://schemas.microsoft.com/office/drawing/2014/main" id="{AF05CCC6-FFB7-4982-A56F-614C1098B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773238"/>
            <a:ext cx="4014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解：（</a:t>
            </a:r>
            <a:r>
              <a:rPr lang="en-US" altLang="zh-CN" sz="24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）康普顿散射公式：</a:t>
            </a:r>
          </a:p>
        </p:txBody>
      </p:sp>
      <p:graphicFrame>
        <p:nvGraphicFramePr>
          <p:cNvPr id="1048580" name="Object 4">
            <a:extLst>
              <a:ext uri="{FF2B5EF4-FFF2-40B4-BE49-F238E27FC236}">
                <a16:creationId xmlns:a16="http://schemas.microsoft.com/office/drawing/2014/main" id="{EFCE0810-1D81-44E8-9B38-0F6389939407}"/>
              </a:ext>
            </a:extLst>
          </p:cNvPr>
          <p:cNvGraphicFramePr>
            <a:graphicFrameLocks/>
          </p:cNvGraphicFramePr>
          <p:nvPr/>
        </p:nvGraphicFramePr>
        <p:xfrm>
          <a:off x="4038600" y="2439988"/>
          <a:ext cx="4953000" cy="15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6" r:id="rId3" imgW="2038286" imgH="609566" progId="Equation.3">
                  <p:embed/>
                </p:oleObj>
              </mc:Choice>
              <mc:Fallback>
                <p:oleObj r:id="rId3" imgW="2038286" imgH="609566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439988"/>
                        <a:ext cx="4953000" cy="152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581" name="Text Box 5">
            <a:extLst>
              <a:ext uri="{FF2B5EF4-FFF2-40B4-BE49-F238E27FC236}">
                <a16:creationId xmlns:a16="http://schemas.microsoft.com/office/drawing/2014/main" id="{F3E4B3AF-194A-4A8C-A04C-77D4674F2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267200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散射光波长：</a:t>
            </a:r>
          </a:p>
        </p:txBody>
      </p:sp>
      <p:graphicFrame>
        <p:nvGraphicFramePr>
          <p:cNvPr id="1048582" name="Object 6">
            <a:extLst>
              <a:ext uri="{FF2B5EF4-FFF2-40B4-BE49-F238E27FC236}">
                <a16:creationId xmlns:a16="http://schemas.microsoft.com/office/drawing/2014/main" id="{A9EB9D31-F17A-40B7-9A2A-4E793F411AAF}"/>
              </a:ext>
            </a:extLst>
          </p:cNvPr>
          <p:cNvGraphicFramePr>
            <a:graphicFrameLocks/>
          </p:cNvGraphicFramePr>
          <p:nvPr/>
        </p:nvGraphicFramePr>
        <p:xfrm>
          <a:off x="4038600" y="4892675"/>
          <a:ext cx="4243388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77" r:id="rId5" imgW="1714424" imgH="400152" progId="Equation.3">
                  <p:embed/>
                </p:oleObj>
              </mc:Choice>
              <mc:Fallback>
                <p:oleObj r:id="rId5" imgW="1714424" imgH="400152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892675"/>
                        <a:ext cx="4243388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12" name="Group 7">
            <a:extLst>
              <a:ext uri="{FF2B5EF4-FFF2-40B4-BE49-F238E27FC236}">
                <a16:creationId xmlns:a16="http://schemas.microsoft.com/office/drawing/2014/main" id="{A4192157-574A-4753-8B1C-7AC2ABFF1A72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981200"/>
            <a:ext cx="3276600" cy="3568700"/>
            <a:chOff x="48" y="1248"/>
            <a:chExt cx="2064" cy="2248"/>
          </a:xfrm>
        </p:grpSpPr>
        <p:sp>
          <p:nvSpPr>
            <p:cNvPr id="72713" name="Line 8">
              <a:extLst>
                <a:ext uri="{FF2B5EF4-FFF2-40B4-BE49-F238E27FC236}">
                  <a16:creationId xmlns:a16="http://schemas.microsoft.com/office/drawing/2014/main" id="{25D1C957-C2D9-4686-A6F7-308D6D5C5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2487"/>
              <a:ext cx="1108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4" name="Line 9">
              <a:extLst>
                <a:ext uri="{FF2B5EF4-FFF2-40B4-BE49-F238E27FC236}">
                  <a16:creationId xmlns:a16="http://schemas.microsoft.com/office/drawing/2014/main" id="{5E6FF97E-898F-4D28-9F30-7B43CAAEF7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6" y="1675"/>
              <a:ext cx="0" cy="812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5" name="Line 10">
              <a:extLst>
                <a:ext uri="{FF2B5EF4-FFF2-40B4-BE49-F238E27FC236}">
                  <a16:creationId xmlns:a16="http://schemas.microsoft.com/office/drawing/2014/main" id="{B8BF044A-C0A7-4171-ABE6-77F50FC78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6" y="2487"/>
              <a:ext cx="918" cy="72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6" name="Line 11">
              <a:extLst>
                <a:ext uri="{FF2B5EF4-FFF2-40B4-BE49-F238E27FC236}">
                  <a16:creationId xmlns:a16="http://schemas.microsoft.com/office/drawing/2014/main" id="{B656BFE0-BA5A-4C27-A083-5F2A3A7F1F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74" y="2397"/>
              <a:ext cx="0" cy="812"/>
            </a:xfrm>
            <a:prstGeom prst="line">
              <a:avLst/>
            </a:prstGeom>
            <a:noFill/>
            <a:ln w="38100" cap="rnd">
              <a:solidFill>
                <a:srgbClr val="00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7" name="Line 12">
              <a:extLst>
                <a:ext uri="{FF2B5EF4-FFF2-40B4-BE49-F238E27FC236}">
                  <a16:creationId xmlns:a16="http://schemas.microsoft.com/office/drawing/2014/main" id="{5916B5D7-4183-4937-83A3-F72B801C1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5" y="1766"/>
              <a:ext cx="917" cy="721"/>
            </a:xfrm>
            <a:prstGeom prst="line">
              <a:avLst/>
            </a:prstGeom>
            <a:noFill/>
            <a:ln w="38100" cap="rnd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8" name="Line 13">
              <a:extLst>
                <a:ext uri="{FF2B5EF4-FFF2-40B4-BE49-F238E27FC236}">
                  <a16:creationId xmlns:a16="http://schemas.microsoft.com/office/drawing/2014/main" id="{C9FC569A-B630-485C-8E1C-897FFD142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5" y="2487"/>
              <a:ext cx="841" cy="0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9" name="Text Box 14">
              <a:extLst>
                <a:ext uri="{FF2B5EF4-FFF2-40B4-BE49-F238E27FC236}">
                  <a16:creationId xmlns:a16="http://schemas.microsoft.com/office/drawing/2014/main" id="{1D8722A0-984F-42E9-B804-C3F7FCFC4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112"/>
              <a:ext cx="2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sym typeface="Symbol" panose="05050102010706020507" pitchFamily="18" charset="2"/>
                </a:rPr>
                <a:t></a:t>
              </a:r>
              <a:endParaRPr lang="en-US" altLang="zh-CN" sz="2400">
                <a:solidFill>
                  <a:schemeClr val="bg1"/>
                </a:solidFill>
              </a:endParaRPr>
            </a:p>
          </p:txBody>
        </p:sp>
        <p:graphicFrame>
          <p:nvGraphicFramePr>
            <p:cNvPr id="72720" name="Object 15">
              <a:extLst>
                <a:ext uri="{FF2B5EF4-FFF2-40B4-BE49-F238E27FC236}">
                  <a16:creationId xmlns:a16="http://schemas.microsoft.com/office/drawing/2014/main" id="{35BD0748-DB9F-41B2-BCA7-BA8DAC55F15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6" y="1901"/>
            <a:ext cx="372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78" r:id="rId7" imgW="323863" imgH="400152" progId="Equation.3">
                    <p:embed/>
                  </p:oleObj>
                </mc:Choice>
                <mc:Fallback>
                  <p:oleObj r:id="rId7" imgW="323863" imgH="400152" progId="Equation.3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" y="1901"/>
                          <a:ext cx="372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21" name="Object 16">
              <a:extLst>
                <a:ext uri="{FF2B5EF4-FFF2-40B4-BE49-F238E27FC236}">
                  <a16:creationId xmlns:a16="http://schemas.microsoft.com/office/drawing/2014/main" id="{FE756119-980F-4184-B291-633D1D7868D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935" y="1248"/>
            <a:ext cx="279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79" r:id="rId9" imgW="238233" imgH="361882" progId="Equation.3">
                    <p:embed/>
                  </p:oleObj>
                </mc:Choice>
                <mc:Fallback>
                  <p:oleObj r:id="rId9" imgW="238233" imgH="361882" progId="Equation.3">
                    <p:embed/>
                    <p:pic>
                      <p:nvPicPr>
                        <p:cNvPr id="0" name="Object 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" y="1248"/>
                          <a:ext cx="279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22" name="Text Box 17">
              <a:extLst>
                <a:ext uri="{FF2B5EF4-FFF2-40B4-BE49-F238E27FC236}">
                  <a16:creationId xmlns:a16="http://schemas.microsoft.com/office/drawing/2014/main" id="{F24E62C9-AB2A-435E-B0EB-E9D2B4F0D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" y="3209"/>
              <a:ext cx="29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P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e</a:t>
              </a:r>
              <a:endParaRPr lang="en-US" altLang="zh-CN" sz="2400">
                <a:solidFill>
                  <a:schemeClr val="bg1"/>
                </a:solidFill>
              </a:endParaRPr>
            </a:p>
          </p:txBody>
        </p:sp>
        <p:sp>
          <p:nvSpPr>
            <p:cNvPr id="72723" name="Text Box 18">
              <a:extLst>
                <a:ext uri="{FF2B5EF4-FFF2-40B4-BE49-F238E27FC236}">
                  <a16:creationId xmlns:a16="http://schemas.microsoft.com/office/drawing/2014/main" id="{91C55D0B-D903-4D48-9C48-C33996178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49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24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4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4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48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4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79" grpId="0" build="p"/>
      <p:bldP spid="1048581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66">
            <a:alpha val="5019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3">
            <a:extLst>
              <a:ext uri="{FF2B5EF4-FFF2-40B4-BE49-F238E27FC236}">
                <a16:creationId xmlns:a16="http://schemas.microsoft.com/office/drawing/2014/main" id="{DD155C8B-9510-468B-B7AF-E64D561300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84B91D-EDC9-4000-8AEA-03CCA0550C33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64</a:t>
            </a:fld>
            <a:endParaRPr lang="zh-CN" altLang="zh-CN" sz="1400"/>
          </a:p>
        </p:txBody>
      </p:sp>
      <p:graphicFrame>
        <p:nvGraphicFramePr>
          <p:cNvPr id="1049602" name="Object 2">
            <a:extLst>
              <a:ext uri="{FF2B5EF4-FFF2-40B4-BE49-F238E27FC236}">
                <a16:creationId xmlns:a16="http://schemas.microsoft.com/office/drawing/2014/main" id="{ACCA357E-38BA-4521-A65E-0E0898A87BF7}"/>
              </a:ext>
            </a:extLst>
          </p:cNvPr>
          <p:cNvGraphicFramePr>
            <a:graphicFrameLocks/>
          </p:cNvGraphicFramePr>
          <p:nvPr/>
        </p:nvGraphicFramePr>
        <p:xfrm>
          <a:off x="2895600" y="685800"/>
          <a:ext cx="60960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8" name="Equation" r:id="rId3" imgW="2609863" imgH="1028700" progId="Equation.DSMT4">
                  <p:embed/>
                </p:oleObj>
              </mc:Choice>
              <mc:Fallback>
                <p:oleObj name="Equation" r:id="rId3" imgW="2609863" imgH="102870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685800"/>
                        <a:ext cx="60960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2" name="Text Box 3">
            <a:extLst>
              <a:ext uri="{FF2B5EF4-FFF2-40B4-BE49-F238E27FC236}">
                <a16:creationId xmlns:a16="http://schemas.microsoft.com/office/drawing/2014/main" id="{20AC6D68-1CAC-47F2-BCD3-4B0582E14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5563"/>
            <a:ext cx="8428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bg1"/>
                </a:solidFill>
              </a:rPr>
              <a:t>（2）反冲电子获得能量等于入射X射线与散射X射线能量之差</a:t>
            </a:r>
          </a:p>
        </p:txBody>
      </p:sp>
      <p:sp>
        <p:nvSpPr>
          <p:cNvPr id="1049604" name="Text Box 4">
            <a:extLst>
              <a:ext uri="{FF2B5EF4-FFF2-40B4-BE49-F238E27FC236}">
                <a16:creationId xmlns:a16="http://schemas.microsoft.com/office/drawing/2014/main" id="{3064E8DA-1E2B-44E8-B72E-8A3CB229C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3284538"/>
            <a:ext cx="4622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bg1"/>
                </a:solidFill>
              </a:rPr>
              <a:t>(3)反冲电子动量的大小和方向，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bg1"/>
                </a:solidFill>
              </a:rPr>
              <a:t>   由动量守恒：</a:t>
            </a:r>
          </a:p>
        </p:txBody>
      </p:sp>
      <p:graphicFrame>
        <p:nvGraphicFramePr>
          <p:cNvPr id="1049605" name="Object 5">
            <a:extLst>
              <a:ext uri="{FF2B5EF4-FFF2-40B4-BE49-F238E27FC236}">
                <a16:creationId xmlns:a16="http://schemas.microsoft.com/office/drawing/2014/main" id="{B58C3368-4CB3-4A69-B150-A53D7959ED78}"/>
              </a:ext>
            </a:extLst>
          </p:cNvPr>
          <p:cNvGraphicFramePr>
            <a:graphicFrameLocks/>
          </p:cNvGraphicFramePr>
          <p:nvPr/>
        </p:nvGraphicFramePr>
        <p:xfrm>
          <a:off x="3708400" y="4076700"/>
          <a:ext cx="3135313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9" r:id="rId5" imgW="1314412" imgH="685800" progId="Equation.DSMT4">
                  <p:embed/>
                </p:oleObj>
              </mc:Choice>
              <mc:Fallback>
                <p:oleObj r:id="rId5" imgW="1314412" imgH="685800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076700"/>
                        <a:ext cx="3135313" cy="166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606" name="Object 6">
            <a:extLst>
              <a:ext uri="{FF2B5EF4-FFF2-40B4-BE49-F238E27FC236}">
                <a16:creationId xmlns:a16="http://schemas.microsoft.com/office/drawing/2014/main" id="{4749654C-0095-4410-9054-EB3432758AF2}"/>
              </a:ext>
            </a:extLst>
          </p:cNvPr>
          <p:cNvGraphicFramePr>
            <a:graphicFrameLocks/>
          </p:cNvGraphicFramePr>
          <p:nvPr/>
        </p:nvGraphicFramePr>
        <p:xfrm>
          <a:off x="3722688" y="5805488"/>
          <a:ext cx="3135312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0" r:id="rId7" imgW="1276490" imgH="390661" progId="Equation.3">
                  <p:embed/>
                </p:oleObj>
              </mc:Choice>
              <mc:Fallback>
                <p:oleObj r:id="rId7" imgW="1276490" imgH="390661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5805488"/>
                        <a:ext cx="3135312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36" name="Group 7">
            <a:extLst>
              <a:ext uri="{FF2B5EF4-FFF2-40B4-BE49-F238E27FC236}">
                <a16:creationId xmlns:a16="http://schemas.microsoft.com/office/drawing/2014/main" id="{6B9701CB-F8DF-4365-AFA9-BE0146DD4627}"/>
              </a:ext>
            </a:extLst>
          </p:cNvPr>
          <p:cNvGrpSpPr>
            <a:grpSpLocks/>
          </p:cNvGrpSpPr>
          <p:nvPr/>
        </p:nvGrpSpPr>
        <p:grpSpPr bwMode="auto">
          <a:xfrm>
            <a:off x="0" y="1828800"/>
            <a:ext cx="3124200" cy="3703638"/>
            <a:chOff x="0" y="1152"/>
            <a:chExt cx="1968" cy="2333"/>
          </a:xfrm>
        </p:grpSpPr>
        <p:sp>
          <p:nvSpPr>
            <p:cNvPr id="73737" name="Line 8">
              <a:extLst>
                <a:ext uri="{FF2B5EF4-FFF2-40B4-BE49-F238E27FC236}">
                  <a16:creationId xmlns:a16="http://schemas.microsoft.com/office/drawing/2014/main" id="{0484419A-0004-442D-B84F-ADA12F666E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444"/>
              <a:ext cx="1057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8" name="Line 9">
              <a:extLst>
                <a:ext uri="{FF2B5EF4-FFF2-40B4-BE49-F238E27FC236}">
                  <a16:creationId xmlns:a16="http://schemas.microsoft.com/office/drawing/2014/main" id="{D63C4409-DA4D-4757-A75B-6F2834A980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7" y="1598"/>
              <a:ext cx="0" cy="846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9" name="Line 10">
              <a:extLst>
                <a:ext uri="{FF2B5EF4-FFF2-40B4-BE49-F238E27FC236}">
                  <a16:creationId xmlns:a16="http://schemas.microsoft.com/office/drawing/2014/main" id="{4644F513-3C1C-45A1-AFDC-CD442167C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7" y="2444"/>
              <a:ext cx="875" cy="753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0" name="Line 11">
              <a:extLst>
                <a:ext uri="{FF2B5EF4-FFF2-40B4-BE49-F238E27FC236}">
                  <a16:creationId xmlns:a16="http://schemas.microsoft.com/office/drawing/2014/main" id="{C963EACA-E356-41FF-91CC-9EDBF5B02C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2" y="2350"/>
              <a:ext cx="0" cy="847"/>
            </a:xfrm>
            <a:prstGeom prst="line">
              <a:avLst/>
            </a:prstGeom>
            <a:noFill/>
            <a:ln w="38100" cap="rnd">
              <a:solidFill>
                <a:srgbClr val="00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1" name="Line 12">
              <a:extLst>
                <a:ext uri="{FF2B5EF4-FFF2-40B4-BE49-F238E27FC236}">
                  <a16:creationId xmlns:a16="http://schemas.microsoft.com/office/drawing/2014/main" id="{52887395-4837-4B3D-81EB-18AB1CA71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" y="1692"/>
              <a:ext cx="875" cy="752"/>
            </a:xfrm>
            <a:prstGeom prst="line">
              <a:avLst/>
            </a:prstGeom>
            <a:noFill/>
            <a:ln w="38100" cap="rnd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2" name="Line 13">
              <a:extLst>
                <a:ext uri="{FF2B5EF4-FFF2-40B4-BE49-F238E27FC236}">
                  <a16:creationId xmlns:a16="http://schemas.microsoft.com/office/drawing/2014/main" id="{87538A07-1C94-4D13-82EB-13F13DD83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" y="2444"/>
              <a:ext cx="802" cy="0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3" name="Text Box 14">
              <a:extLst>
                <a:ext uri="{FF2B5EF4-FFF2-40B4-BE49-F238E27FC236}">
                  <a16:creationId xmlns:a16="http://schemas.microsoft.com/office/drawing/2014/main" id="{8133BBD0-2353-48EA-8CB1-0D4D458FB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064"/>
              <a:ext cx="2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sym typeface="Symbol" panose="05050102010706020507" pitchFamily="18" charset="2"/>
                </a:rPr>
                <a:t></a:t>
              </a:r>
              <a:endParaRPr lang="en-US" altLang="zh-CN" sz="2400">
                <a:solidFill>
                  <a:schemeClr val="bg1"/>
                </a:solidFill>
              </a:endParaRPr>
            </a:p>
          </p:txBody>
        </p:sp>
        <p:graphicFrame>
          <p:nvGraphicFramePr>
            <p:cNvPr id="73744" name="Object 15">
              <a:extLst>
                <a:ext uri="{FF2B5EF4-FFF2-40B4-BE49-F238E27FC236}">
                  <a16:creationId xmlns:a16="http://schemas.microsoft.com/office/drawing/2014/main" id="{5062191F-4ABA-471D-8AEC-CECC46FC0E4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" y="1833"/>
            <a:ext cx="355" cy="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11" r:id="rId9" imgW="323863" imgH="400152" progId="Equation.3">
                    <p:embed/>
                  </p:oleObj>
                </mc:Choice>
                <mc:Fallback>
                  <p:oleObj r:id="rId9" imgW="323863" imgH="400152" progId="Equation.3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" y="1833"/>
                          <a:ext cx="355" cy="5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745" name="Object 16">
              <a:extLst>
                <a:ext uri="{FF2B5EF4-FFF2-40B4-BE49-F238E27FC236}">
                  <a16:creationId xmlns:a16="http://schemas.microsoft.com/office/drawing/2014/main" id="{F396C39F-1C76-45AD-A361-A6199D0D7DF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46" y="1152"/>
            <a:ext cx="266" cy="5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12" r:id="rId11" imgW="238233" imgH="361882" progId="Equation.3">
                    <p:embed/>
                  </p:oleObj>
                </mc:Choice>
                <mc:Fallback>
                  <p:oleObj r:id="rId11" imgW="238233" imgH="361882" progId="Equation.3">
                    <p:embed/>
                    <p:pic>
                      <p:nvPicPr>
                        <p:cNvPr id="0" name="Object 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6" y="1152"/>
                          <a:ext cx="266" cy="5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46" name="Text Box 17">
              <a:extLst>
                <a:ext uri="{FF2B5EF4-FFF2-40B4-BE49-F238E27FC236}">
                  <a16:creationId xmlns:a16="http://schemas.microsoft.com/office/drawing/2014/main" id="{057D1B17-AEDA-4D2F-8507-09BE1630B4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4" y="3197"/>
              <a:ext cx="2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</a:rPr>
                <a:t>P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e</a:t>
              </a:r>
              <a:endParaRPr lang="en-US" altLang="zh-CN" sz="2400">
                <a:solidFill>
                  <a:schemeClr val="bg1"/>
                </a:solidFill>
              </a:endParaRPr>
            </a:p>
          </p:txBody>
        </p:sp>
        <p:sp>
          <p:nvSpPr>
            <p:cNvPr id="73747" name="Text Box 18">
              <a:extLst>
                <a:ext uri="{FF2B5EF4-FFF2-40B4-BE49-F238E27FC236}">
                  <a16:creationId xmlns:a16="http://schemas.microsoft.com/office/drawing/2014/main" id="{C93CEFB8-86CB-4D72-8900-C8B4671AA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4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sym typeface="Symbol" panose="05050102010706020507" pitchFamily="18" charset="2"/>
                </a:rPr>
                <a:t>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4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49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49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4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49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604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66">
            <a:alpha val="5019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3">
            <a:extLst>
              <a:ext uri="{FF2B5EF4-FFF2-40B4-BE49-F238E27FC236}">
                <a16:creationId xmlns:a16="http://schemas.microsoft.com/office/drawing/2014/main" id="{480FB713-0128-41F9-8995-51F9A36A14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1118D3-E0B7-48FA-9DDD-137546EB5437}" type="slidenum">
              <a:rPr altLang="zh-CN" sz="1400" smtClean="0"/>
              <a:pPr>
                <a:spcBef>
                  <a:spcPct val="0"/>
                </a:spcBef>
                <a:buFontTx/>
                <a:buNone/>
              </a:pPr>
              <a:t>65</a:t>
            </a:fld>
            <a:endParaRPr lang="zh-CN" altLang="zh-CN" sz="1400"/>
          </a:p>
        </p:txBody>
      </p:sp>
      <p:sp>
        <p:nvSpPr>
          <p:cNvPr id="1058818" name="Text Box 2">
            <a:extLst>
              <a:ext uri="{FF2B5EF4-FFF2-40B4-BE49-F238E27FC236}">
                <a16:creationId xmlns:a16="http://schemas.microsoft.com/office/drawing/2014/main" id="{07A49938-6F97-49E6-AE22-AB83ACB4C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492375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电子的动能：</a:t>
            </a:r>
          </a:p>
        </p:txBody>
      </p:sp>
      <p:sp>
        <p:nvSpPr>
          <p:cNvPr id="1058819" name="Text Box 3">
            <a:extLst>
              <a:ext uri="{FF2B5EF4-FFF2-40B4-BE49-F238E27FC236}">
                <a16:creationId xmlns:a16="http://schemas.microsoft.com/office/drawing/2014/main" id="{C0B3BA15-7319-41B1-A2A3-BCD79065D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3476625"/>
            <a:ext cx="355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由相对论质量关系，可得</a:t>
            </a:r>
          </a:p>
        </p:txBody>
      </p:sp>
      <p:sp>
        <p:nvSpPr>
          <p:cNvPr id="1058820" name="Text Box 4">
            <a:extLst>
              <a:ext uri="{FF2B5EF4-FFF2-40B4-BE49-F238E27FC236}">
                <a16:creationId xmlns:a16="http://schemas.microsoft.com/office/drawing/2014/main" id="{7C806B9D-D18B-4AD4-B234-9169E1715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6003925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解得</a:t>
            </a:r>
          </a:p>
        </p:txBody>
      </p:sp>
      <p:graphicFrame>
        <p:nvGraphicFramePr>
          <p:cNvPr id="1058821" name="Object 5">
            <a:extLst>
              <a:ext uri="{FF2B5EF4-FFF2-40B4-BE49-F238E27FC236}">
                <a16:creationId xmlns:a16="http://schemas.microsoft.com/office/drawing/2014/main" id="{89BCE959-5648-40AD-8E7C-FFF52D806ED5}"/>
              </a:ext>
            </a:extLst>
          </p:cNvPr>
          <p:cNvGraphicFramePr>
            <a:graphicFrameLocks/>
          </p:cNvGraphicFramePr>
          <p:nvPr/>
        </p:nvGraphicFramePr>
        <p:xfrm>
          <a:off x="1930400" y="5903913"/>
          <a:ext cx="49831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73" r:id="rId3" imgW="2219331" imgH="390661" progId="Equation.DSMT4">
                  <p:embed/>
                </p:oleObj>
              </mc:Choice>
              <mc:Fallback>
                <p:oleObj r:id="rId3" imgW="2219331" imgH="390661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5903913"/>
                        <a:ext cx="498316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8822" name="Text Box 6">
            <a:extLst>
              <a:ext uri="{FF2B5EF4-FFF2-40B4-BE49-F238E27FC236}">
                <a16:creationId xmlns:a16="http://schemas.microsoft.com/office/drawing/2014/main" id="{B99E0AB5-A7DF-4EB8-A448-4F578C268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0325" y="1252538"/>
            <a:ext cx="2863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FF00"/>
                </a:solidFill>
              </a:rPr>
              <a:t> </a:t>
            </a:r>
            <a:r>
              <a:rPr lang="zh-CN" altLang="en-US" sz="2400" dirty="0">
                <a:solidFill>
                  <a:srgbClr val="FFFF00"/>
                </a:solidFill>
              </a:rPr>
              <a:t>解：  由康普顿散射</a:t>
            </a:r>
          </a:p>
        </p:txBody>
      </p:sp>
      <p:sp>
        <p:nvSpPr>
          <p:cNvPr id="1058823" name="Text Box 7">
            <a:extLst>
              <a:ext uri="{FF2B5EF4-FFF2-40B4-BE49-F238E27FC236}">
                <a16:creationId xmlns:a16="http://schemas.microsoft.com/office/drawing/2014/main" id="{F79A589A-1EEE-4997-AAF3-FD2A6FDEE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1819275"/>
            <a:ext cx="294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碰撞后光子的波长为</a:t>
            </a:r>
          </a:p>
        </p:txBody>
      </p:sp>
      <p:sp>
        <p:nvSpPr>
          <p:cNvPr id="74761" name="Text Box 8">
            <a:extLst>
              <a:ext uri="{FF2B5EF4-FFF2-40B4-BE49-F238E27FC236}">
                <a16:creationId xmlns:a16="http://schemas.microsoft.com/office/drawing/2014/main" id="{77FA4E8F-83DD-4CCA-8247-6DB44F5DB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85725"/>
            <a:ext cx="88440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</a:rPr>
              <a:t>例</a:t>
            </a:r>
            <a:r>
              <a:rPr lang="en-US" altLang="zh-CN" sz="2400" dirty="0">
                <a:solidFill>
                  <a:schemeClr val="bg1"/>
                </a:solidFill>
              </a:rPr>
              <a:t>3</a:t>
            </a:r>
            <a:r>
              <a:rPr lang="zh-CN" altLang="en-US" sz="2400" dirty="0">
                <a:solidFill>
                  <a:schemeClr val="bg1"/>
                </a:solidFill>
              </a:rPr>
              <a:t>. 一个波长 λ</a:t>
            </a:r>
            <a:r>
              <a:rPr lang="zh-CN" altLang="en-US" sz="2400" baseline="-25000" dirty="0">
                <a:solidFill>
                  <a:schemeClr val="bg1"/>
                </a:solidFill>
              </a:rPr>
              <a:t>0</a:t>
            </a:r>
            <a:r>
              <a:rPr lang="zh-CN" altLang="en-US" sz="2400" dirty="0">
                <a:solidFill>
                  <a:schemeClr val="bg1"/>
                </a:solidFill>
              </a:rPr>
              <a:t>=0.5nm 的光子与原子中电子碰撞，碰撞后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光子以与入射方向成 150° 角方向散射，求碰撞后光子的波长与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电子的速率。</a:t>
            </a:r>
          </a:p>
        </p:txBody>
      </p:sp>
      <p:graphicFrame>
        <p:nvGraphicFramePr>
          <p:cNvPr id="1058826" name="Object 10">
            <a:extLst>
              <a:ext uri="{FF2B5EF4-FFF2-40B4-BE49-F238E27FC236}">
                <a16:creationId xmlns:a16="http://schemas.microsoft.com/office/drawing/2014/main" id="{3B8D1EF6-000A-4FBE-9F01-9C897EFC5000}"/>
              </a:ext>
            </a:extLst>
          </p:cNvPr>
          <p:cNvGraphicFramePr>
            <a:graphicFrameLocks/>
          </p:cNvGraphicFramePr>
          <p:nvPr/>
        </p:nvGraphicFramePr>
        <p:xfrm>
          <a:off x="1035050" y="2921000"/>
          <a:ext cx="22272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74" name="Equation" r:id="rId5" imgW="1015920" imgH="241200" progId="Equation.DSMT4">
                  <p:embed/>
                </p:oleObj>
              </mc:Choice>
              <mc:Fallback>
                <p:oleObj name="Equation" r:id="rId5" imgW="1015920" imgH="24120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2921000"/>
                        <a:ext cx="22272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7" name="Object 11">
            <a:extLst>
              <a:ext uri="{FF2B5EF4-FFF2-40B4-BE49-F238E27FC236}">
                <a16:creationId xmlns:a16="http://schemas.microsoft.com/office/drawing/2014/main" id="{D751D7C7-3D5C-4376-9501-18F1C1CF3D45}"/>
              </a:ext>
            </a:extLst>
          </p:cNvPr>
          <p:cNvGraphicFramePr>
            <a:graphicFrameLocks/>
          </p:cNvGraphicFramePr>
          <p:nvPr/>
        </p:nvGraphicFramePr>
        <p:xfrm>
          <a:off x="2406650" y="3933825"/>
          <a:ext cx="3995738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75" r:id="rId7" imgW="1867027" imgH="466589" progId="Equation.3">
                  <p:embed/>
                </p:oleObj>
              </mc:Choice>
              <mc:Fallback>
                <p:oleObj r:id="rId7" imgW="1867027" imgH="466589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3933825"/>
                        <a:ext cx="3995738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8" name="Object 12">
            <a:extLst>
              <a:ext uri="{FF2B5EF4-FFF2-40B4-BE49-F238E27FC236}">
                <a16:creationId xmlns:a16="http://schemas.microsoft.com/office/drawing/2014/main" id="{3A312F6B-3F84-4CFB-8198-B69E6BEC55A8}"/>
              </a:ext>
            </a:extLst>
          </p:cNvPr>
          <p:cNvGraphicFramePr>
            <a:graphicFrameLocks/>
          </p:cNvGraphicFramePr>
          <p:nvPr/>
        </p:nvGraphicFramePr>
        <p:xfrm>
          <a:off x="1590675" y="4902200"/>
          <a:ext cx="681672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76" r:id="rId9" imgW="3028835" imgH="438116" progId="Equation.3">
                  <p:embed/>
                </p:oleObj>
              </mc:Choice>
              <mc:Fallback>
                <p:oleObj r:id="rId9" imgW="3028835" imgH="438116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4902200"/>
                        <a:ext cx="6816725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9" name="Object 13">
            <a:extLst>
              <a:ext uri="{FF2B5EF4-FFF2-40B4-BE49-F238E27FC236}">
                <a16:creationId xmlns:a16="http://schemas.microsoft.com/office/drawing/2014/main" id="{B542CBD2-C1F3-4D4D-B046-F55F00CCC65E}"/>
              </a:ext>
            </a:extLst>
          </p:cNvPr>
          <p:cNvGraphicFramePr>
            <a:graphicFrameLocks/>
          </p:cNvGraphicFramePr>
          <p:nvPr/>
        </p:nvGraphicFramePr>
        <p:xfrm>
          <a:off x="3060700" y="1116013"/>
          <a:ext cx="24479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77" r:id="rId11" imgW="1181075" imgH="361882" progId="Equation.3">
                  <p:embed/>
                </p:oleObj>
              </mc:Choice>
              <mc:Fallback>
                <p:oleObj r:id="rId11" imgW="1181075" imgH="361882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1116013"/>
                        <a:ext cx="24479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30" name="Object 14">
            <a:extLst>
              <a:ext uri="{FF2B5EF4-FFF2-40B4-BE49-F238E27FC236}">
                <a16:creationId xmlns:a16="http://schemas.microsoft.com/office/drawing/2014/main" id="{DBADCB16-2579-4260-94A1-87536BE58558}"/>
              </a:ext>
            </a:extLst>
          </p:cNvPr>
          <p:cNvGraphicFramePr>
            <a:graphicFrameLocks/>
          </p:cNvGraphicFramePr>
          <p:nvPr/>
        </p:nvGraphicFramePr>
        <p:xfrm>
          <a:off x="3419475" y="1700213"/>
          <a:ext cx="40322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78" r:id="rId13" imgW="1885988" imgH="361882" progId="Equation.3">
                  <p:embed/>
                </p:oleObj>
              </mc:Choice>
              <mc:Fallback>
                <p:oleObj r:id="rId13" imgW="1885988" imgH="361882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700213"/>
                        <a:ext cx="403225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>
            <a:extLst>
              <a:ext uri="{FF2B5EF4-FFF2-40B4-BE49-F238E27FC236}">
                <a16:creationId xmlns:a16="http://schemas.microsoft.com/office/drawing/2014/main" id="{478FF8F1-62D8-41FB-B4FF-FF0E51198D45}"/>
              </a:ext>
            </a:extLst>
          </p:cNvPr>
          <p:cNvGraphicFramePr>
            <a:graphicFrameLocks/>
          </p:cNvGraphicFramePr>
          <p:nvPr/>
        </p:nvGraphicFramePr>
        <p:xfrm>
          <a:off x="4927600" y="2773363"/>
          <a:ext cx="2951163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79" name="Equation" r:id="rId15" imgW="1346040" imgH="431640" progId="Equation.DSMT4">
                  <p:embed/>
                </p:oleObj>
              </mc:Choice>
              <mc:Fallback>
                <p:oleObj name="Equation" r:id="rId15" imgW="1346040" imgH="43164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2773363"/>
                        <a:ext cx="2951163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>
            <a:extLst>
              <a:ext uri="{FF2B5EF4-FFF2-40B4-BE49-F238E27FC236}">
                <a16:creationId xmlns:a16="http://schemas.microsoft.com/office/drawing/2014/main" id="{5E4F1AB4-C45E-4059-AE70-1A0D5B7918C4}"/>
              </a:ext>
            </a:extLst>
          </p:cNvPr>
          <p:cNvGraphicFramePr>
            <a:graphicFrameLocks/>
          </p:cNvGraphicFramePr>
          <p:nvPr/>
        </p:nvGraphicFramePr>
        <p:xfrm>
          <a:off x="3333750" y="2965450"/>
          <a:ext cx="14478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80" name="Equation" r:id="rId17" imgW="660240" imgH="228600" progId="Equation.DSMT4">
                  <p:embed/>
                </p:oleObj>
              </mc:Choice>
              <mc:Fallback>
                <p:oleObj name="Equation" r:id="rId17" imgW="660240" imgH="22860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2965450"/>
                        <a:ext cx="144780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58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58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58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5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058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058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5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5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818" grpId="0"/>
      <p:bldP spid="1058819" grpId="0"/>
      <p:bldP spid="1058820" grpId="0"/>
      <p:bldP spid="1058822" grpId="0"/>
      <p:bldP spid="1058823" grpId="0"/>
    </p:bldLst>
  </p:timing>
</p:sld>
</file>

<file path=ppt/theme/theme1.xml><?xml version="1.0" encoding="utf-8"?>
<a:theme xmlns:a="http://schemas.openxmlformats.org/drawingml/2006/main" name="第六章 热力学基础（三）">
  <a:themeElements>
    <a:clrScheme name="第六章 热力学基础（三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第六章 热力学基础（三）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第六章 热力学基础（三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六章 热力学基础（三）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第六章 热力学基础（三）</Template>
  <TotalTime>608</TotalTime>
  <Words>4919</Words>
  <Application>Microsoft Office PowerPoint</Application>
  <PresentationFormat>全屏显示(4:3)</PresentationFormat>
  <Paragraphs>966</Paragraphs>
  <Slides>65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65</vt:i4>
      </vt:variant>
    </vt:vector>
  </HeadingPairs>
  <TitlesOfParts>
    <vt:vector size="86" baseType="lpstr">
      <vt:lpstr>Monotype Sorts</vt:lpstr>
      <vt:lpstr>仿宋_GB2312</vt:lpstr>
      <vt:lpstr>黑体</vt:lpstr>
      <vt:lpstr>华文楷体</vt:lpstr>
      <vt:lpstr>华文新魏</vt:lpstr>
      <vt:lpstr>华文行楷</vt:lpstr>
      <vt:lpstr>楷体_GB2312</vt:lpstr>
      <vt:lpstr>隶书</vt:lpstr>
      <vt:lpstr>宋体</vt:lpstr>
      <vt:lpstr>幼圆</vt:lpstr>
      <vt:lpstr>Arial</vt:lpstr>
      <vt:lpstr>Book Antiqua</vt:lpstr>
      <vt:lpstr>Bookman Old Style</vt:lpstr>
      <vt:lpstr>Symbol</vt:lpstr>
      <vt:lpstr>Times New Roman</vt:lpstr>
      <vt:lpstr>Wingdings</vt:lpstr>
      <vt:lpstr>第六章 热力学基础（三）</vt:lpstr>
      <vt:lpstr>Microsoft Equation 3.0</vt:lpstr>
      <vt:lpstr>MathType 6.0 Equation</vt:lpstr>
      <vt:lpstr>Equation</vt:lpstr>
      <vt:lpstr>MS_ClipArt_Gallery.2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901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zf</dc:creator>
  <cp:lastModifiedBy>Administrator</cp:lastModifiedBy>
  <cp:revision>627</cp:revision>
  <dcterms:created xsi:type="dcterms:W3CDTF">2007-08-02T09:30:00Z</dcterms:created>
  <dcterms:modified xsi:type="dcterms:W3CDTF">2024-11-17T11:30:52Z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152CF0D4E721463E84B392D3BEE853C0</vt:lpwstr>
  </property>
  <property fmtid="{D5CDD505-2E9C-101B-9397-08002B2CF9AE}" pid="3" name="KSOProductBuildVer">
    <vt:lpwstr>2052-11.1.0.11115</vt:lpwstr>
  </property>
</Properties>
</file>