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</p:sldMasterIdLst>
  <p:notesMasterIdLst>
    <p:notesMasterId r:id="rId70"/>
  </p:notesMasterIdLst>
  <p:handoutMasterIdLst>
    <p:handoutMasterId r:id="rId71"/>
  </p:handoutMasterIdLst>
  <p:sldIdLst>
    <p:sldId id="439" r:id="rId6"/>
    <p:sldId id="406" r:id="rId7"/>
    <p:sldId id="505" r:id="rId8"/>
    <p:sldId id="372" r:id="rId9"/>
    <p:sldId id="404" r:id="rId10"/>
    <p:sldId id="356" r:id="rId11"/>
    <p:sldId id="631" r:id="rId12"/>
    <p:sldId id="567" r:id="rId13"/>
    <p:sldId id="887" r:id="rId14"/>
    <p:sldId id="324" r:id="rId15"/>
    <p:sldId id="374" r:id="rId16"/>
    <p:sldId id="362" r:id="rId17"/>
    <p:sldId id="514" r:id="rId18"/>
    <p:sldId id="368" r:id="rId19"/>
    <p:sldId id="482" r:id="rId20"/>
    <p:sldId id="638" r:id="rId21"/>
    <p:sldId id="640" r:id="rId22"/>
    <p:sldId id="641" r:id="rId23"/>
    <p:sldId id="371" r:id="rId24"/>
    <p:sldId id="411" r:id="rId25"/>
    <p:sldId id="417" r:id="rId26"/>
    <p:sldId id="433" r:id="rId27"/>
    <p:sldId id="743" r:id="rId28"/>
    <p:sldId id="570" r:id="rId29"/>
    <p:sldId id="694" r:id="rId30"/>
    <p:sldId id="697" r:id="rId31"/>
    <p:sldId id="633" r:id="rId32"/>
    <p:sldId id="510" r:id="rId33"/>
    <p:sldId id="492" r:id="rId34"/>
    <p:sldId id="451" r:id="rId35"/>
    <p:sldId id="452" r:id="rId36"/>
    <p:sldId id="453" r:id="rId37"/>
    <p:sldId id="382" r:id="rId38"/>
    <p:sldId id="383" r:id="rId39"/>
    <p:sldId id="836" r:id="rId40"/>
    <p:sldId id="995" r:id="rId41"/>
    <p:sldId id="837" r:id="rId42"/>
    <p:sldId id="838" r:id="rId43"/>
    <p:sldId id="386" r:id="rId44"/>
    <p:sldId id="387" r:id="rId45"/>
    <p:sldId id="574" r:id="rId46"/>
    <p:sldId id="389" r:id="rId47"/>
    <p:sldId id="573" r:id="rId48"/>
    <p:sldId id="441" r:id="rId49"/>
    <p:sldId id="493" r:id="rId50"/>
    <p:sldId id="487" r:id="rId51"/>
    <p:sldId id="572" r:id="rId52"/>
    <p:sldId id="575" r:id="rId53"/>
    <p:sldId id="577" r:id="rId54"/>
    <p:sldId id="391" r:id="rId55"/>
    <p:sldId id="392" r:id="rId56"/>
    <p:sldId id="424" r:id="rId57"/>
    <p:sldId id="449" r:id="rId58"/>
    <p:sldId id="425" r:id="rId59"/>
    <p:sldId id="427" r:id="rId60"/>
    <p:sldId id="396" r:id="rId61"/>
    <p:sldId id="397" r:id="rId62"/>
    <p:sldId id="400" r:id="rId63"/>
    <p:sldId id="489" r:id="rId64"/>
    <p:sldId id="477" r:id="rId65"/>
    <p:sldId id="478" r:id="rId66"/>
    <p:sldId id="576" r:id="rId67"/>
    <p:sldId id="508" r:id="rId68"/>
    <p:sldId id="509" r:id="rId69"/>
  </p:sldIdLst>
  <p:sldSz cx="9144000" cy="6858000" type="screen4x3"/>
  <p:notesSz cx="6858000" cy="9144000"/>
  <p:custDataLst>
    <p:tags r:id="rId7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FFCC"/>
    <a:srgbClr val="CC3300"/>
    <a:srgbClr val="FF3300"/>
    <a:srgbClr val="00FF99"/>
    <a:srgbClr val="FF6699"/>
    <a:srgbClr val="FF99FF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16"/>
    <p:restoredTop sz="99854"/>
  </p:normalViewPr>
  <p:slideViewPr>
    <p:cSldViewPr showGuides="1">
      <p:cViewPr varScale="1">
        <p:scale>
          <a:sx n="110" d="100"/>
          <a:sy n="110" d="100"/>
        </p:scale>
        <p:origin x="1956" y="96"/>
      </p:cViewPr>
      <p:guideLst>
        <p:guide orient="horz" pos="2191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ags" Target="tags/tag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emf"/><Relationship Id="rId4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5" Type="http://schemas.openxmlformats.org/officeDocument/2006/relationships/image" Target="../media/image53.wmf"/><Relationship Id="rId4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e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wmf"/><Relationship Id="rId1" Type="http://schemas.openxmlformats.org/officeDocument/2006/relationships/image" Target="../media/image62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4" Type="http://schemas.openxmlformats.org/officeDocument/2006/relationships/image" Target="../media/image7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wmf"/><Relationship Id="rId18" Type="http://schemas.openxmlformats.org/officeDocument/2006/relationships/image" Target="../media/image106.wmf"/><Relationship Id="rId3" Type="http://schemas.openxmlformats.org/officeDocument/2006/relationships/image" Target="../media/image91.wmf"/><Relationship Id="rId7" Type="http://schemas.openxmlformats.org/officeDocument/2006/relationships/image" Target="../media/image95.emf"/><Relationship Id="rId12" Type="http://schemas.openxmlformats.org/officeDocument/2006/relationships/image" Target="../media/image100.wmf"/><Relationship Id="rId17" Type="http://schemas.openxmlformats.org/officeDocument/2006/relationships/image" Target="../media/image105.wmf"/><Relationship Id="rId2" Type="http://schemas.openxmlformats.org/officeDocument/2006/relationships/image" Target="../media/image90.wmf"/><Relationship Id="rId16" Type="http://schemas.openxmlformats.org/officeDocument/2006/relationships/image" Target="../media/image104.wmf"/><Relationship Id="rId1" Type="http://schemas.openxmlformats.org/officeDocument/2006/relationships/image" Target="../media/image89.e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emf"/><Relationship Id="rId15" Type="http://schemas.openxmlformats.org/officeDocument/2006/relationships/image" Target="../media/image103.wmf"/><Relationship Id="rId10" Type="http://schemas.openxmlformats.org/officeDocument/2006/relationships/image" Target="../media/image98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Relationship Id="rId14" Type="http://schemas.openxmlformats.org/officeDocument/2006/relationships/image" Target="../media/image10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17.wmf"/><Relationship Id="rId3" Type="http://schemas.openxmlformats.org/officeDocument/2006/relationships/image" Target="../media/image109.emf"/><Relationship Id="rId7" Type="http://schemas.openxmlformats.org/officeDocument/2006/relationships/image" Target="../media/image113.wmf"/><Relationship Id="rId12" Type="http://schemas.openxmlformats.org/officeDocument/2006/relationships/image" Target="../media/image116.wmf"/><Relationship Id="rId2" Type="http://schemas.openxmlformats.org/officeDocument/2006/relationships/image" Target="../media/image108.wmf"/><Relationship Id="rId16" Type="http://schemas.openxmlformats.org/officeDocument/2006/relationships/image" Target="../media/image120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5.wmf"/><Relationship Id="rId5" Type="http://schemas.openxmlformats.org/officeDocument/2006/relationships/image" Target="../media/image111.wmf"/><Relationship Id="rId15" Type="http://schemas.openxmlformats.org/officeDocument/2006/relationships/image" Target="../media/image119.wmf"/><Relationship Id="rId10" Type="http://schemas.openxmlformats.org/officeDocument/2006/relationships/image" Target="../media/image101.wmf"/><Relationship Id="rId4" Type="http://schemas.openxmlformats.org/officeDocument/2006/relationships/image" Target="../media/image110.wmf"/><Relationship Id="rId9" Type="http://schemas.openxmlformats.org/officeDocument/2006/relationships/image" Target="../media/image100.wmf"/><Relationship Id="rId14" Type="http://schemas.openxmlformats.org/officeDocument/2006/relationships/image" Target="../media/image11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25.wmf"/><Relationship Id="rId18" Type="http://schemas.openxmlformats.org/officeDocument/2006/relationships/image" Target="../media/image130.emf"/><Relationship Id="rId3" Type="http://schemas.openxmlformats.org/officeDocument/2006/relationships/image" Target="../media/image113.wmf"/><Relationship Id="rId21" Type="http://schemas.openxmlformats.org/officeDocument/2006/relationships/image" Target="../media/image133.wmf"/><Relationship Id="rId7" Type="http://schemas.openxmlformats.org/officeDocument/2006/relationships/image" Target="../media/image115.wmf"/><Relationship Id="rId12" Type="http://schemas.openxmlformats.org/officeDocument/2006/relationships/image" Target="../media/image124.wmf"/><Relationship Id="rId17" Type="http://schemas.openxmlformats.org/officeDocument/2006/relationships/image" Target="../media/image129.emf"/><Relationship Id="rId2" Type="http://schemas.openxmlformats.org/officeDocument/2006/relationships/image" Target="../media/image112.wmf"/><Relationship Id="rId16" Type="http://schemas.openxmlformats.org/officeDocument/2006/relationships/image" Target="../media/image128.wmf"/><Relationship Id="rId20" Type="http://schemas.openxmlformats.org/officeDocument/2006/relationships/image" Target="../media/image132.wmf"/><Relationship Id="rId1" Type="http://schemas.openxmlformats.org/officeDocument/2006/relationships/image" Target="../media/image111.wmf"/><Relationship Id="rId6" Type="http://schemas.openxmlformats.org/officeDocument/2006/relationships/image" Target="../media/image101.wmf"/><Relationship Id="rId11" Type="http://schemas.openxmlformats.org/officeDocument/2006/relationships/image" Target="../media/image123.emf"/><Relationship Id="rId24" Type="http://schemas.openxmlformats.org/officeDocument/2006/relationships/image" Target="../media/image136.emf"/><Relationship Id="rId5" Type="http://schemas.openxmlformats.org/officeDocument/2006/relationships/image" Target="../media/image100.wmf"/><Relationship Id="rId15" Type="http://schemas.openxmlformats.org/officeDocument/2006/relationships/image" Target="../media/image127.wmf"/><Relationship Id="rId23" Type="http://schemas.openxmlformats.org/officeDocument/2006/relationships/image" Target="../media/image135.wmf"/><Relationship Id="rId10" Type="http://schemas.openxmlformats.org/officeDocument/2006/relationships/image" Target="../media/image122.wmf"/><Relationship Id="rId19" Type="http://schemas.openxmlformats.org/officeDocument/2006/relationships/image" Target="../media/image131.emf"/><Relationship Id="rId4" Type="http://schemas.openxmlformats.org/officeDocument/2006/relationships/image" Target="../media/image114.wmf"/><Relationship Id="rId9" Type="http://schemas.openxmlformats.org/officeDocument/2006/relationships/image" Target="../media/image117.wmf"/><Relationship Id="rId14" Type="http://schemas.openxmlformats.org/officeDocument/2006/relationships/image" Target="../media/image126.wmf"/><Relationship Id="rId22" Type="http://schemas.openxmlformats.org/officeDocument/2006/relationships/image" Target="../media/image13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image" Target="../media/image146.wmf"/><Relationship Id="rId18" Type="http://schemas.openxmlformats.org/officeDocument/2006/relationships/image" Target="../media/image128.wmf"/><Relationship Id="rId3" Type="http://schemas.openxmlformats.org/officeDocument/2006/relationships/image" Target="../media/image139.wmf"/><Relationship Id="rId7" Type="http://schemas.openxmlformats.org/officeDocument/2006/relationships/image" Target="../media/image143.wmf"/><Relationship Id="rId12" Type="http://schemas.openxmlformats.org/officeDocument/2006/relationships/image" Target="../media/image145.wmf"/><Relationship Id="rId17" Type="http://schemas.openxmlformats.org/officeDocument/2006/relationships/image" Target="../media/image150.wmf"/><Relationship Id="rId2" Type="http://schemas.openxmlformats.org/officeDocument/2006/relationships/image" Target="../media/image138.wmf"/><Relationship Id="rId16" Type="http://schemas.openxmlformats.org/officeDocument/2006/relationships/image" Target="../media/image149.wmf"/><Relationship Id="rId1" Type="http://schemas.openxmlformats.org/officeDocument/2006/relationships/image" Target="../media/image137.emf"/><Relationship Id="rId6" Type="http://schemas.openxmlformats.org/officeDocument/2006/relationships/image" Target="../media/image142.wmf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8.wmf"/><Relationship Id="rId10" Type="http://schemas.openxmlformats.org/officeDocument/2006/relationships/image" Target="../media/image117.wmf"/><Relationship Id="rId4" Type="http://schemas.openxmlformats.org/officeDocument/2006/relationships/image" Target="../media/image140.emf"/><Relationship Id="rId9" Type="http://schemas.openxmlformats.org/officeDocument/2006/relationships/image" Target="../media/image116.wmf"/><Relationship Id="rId14" Type="http://schemas.openxmlformats.org/officeDocument/2006/relationships/image" Target="../media/image14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image" Target="../media/image146.wmf"/><Relationship Id="rId3" Type="http://schemas.openxmlformats.org/officeDocument/2006/relationships/image" Target="../media/image139.wmf"/><Relationship Id="rId7" Type="http://schemas.openxmlformats.org/officeDocument/2006/relationships/image" Target="../media/image143.wmf"/><Relationship Id="rId12" Type="http://schemas.openxmlformats.org/officeDocument/2006/relationships/image" Target="../media/image145.wmf"/><Relationship Id="rId2" Type="http://schemas.openxmlformats.org/officeDocument/2006/relationships/image" Target="../media/image138.wmf"/><Relationship Id="rId16" Type="http://schemas.openxmlformats.org/officeDocument/2006/relationships/image" Target="../media/image153.wmf"/><Relationship Id="rId1" Type="http://schemas.openxmlformats.org/officeDocument/2006/relationships/image" Target="../media/image151.wmf"/><Relationship Id="rId6" Type="http://schemas.openxmlformats.org/officeDocument/2006/relationships/image" Target="../media/image142.wmf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8.wmf"/><Relationship Id="rId10" Type="http://schemas.openxmlformats.org/officeDocument/2006/relationships/image" Target="../media/image117.wmf"/><Relationship Id="rId4" Type="http://schemas.openxmlformats.org/officeDocument/2006/relationships/image" Target="../media/image152.wmf"/><Relationship Id="rId9" Type="http://schemas.openxmlformats.org/officeDocument/2006/relationships/image" Target="../media/image116.wmf"/><Relationship Id="rId14" Type="http://schemas.openxmlformats.org/officeDocument/2006/relationships/image" Target="../media/image14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13" Type="http://schemas.openxmlformats.org/officeDocument/2006/relationships/image" Target="../media/image166.emf"/><Relationship Id="rId18" Type="http://schemas.openxmlformats.org/officeDocument/2006/relationships/image" Target="../media/image171.wmf"/><Relationship Id="rId26" Type="http://schemas.openxmlformats.org/officeDocument/2006/relationships/image" Target="../media/image179.emf"/><Relationship Id="rId3" Type="http://schemas.openxmlformats.org/officeDocument/2006/relationships/image" Target="../media/image156.emf"/><Relationship Id="rId21" Type="http://schemas.openxmlformats.org/officeDocument/2006/relationships/image" Target="../media/image174.wmf"/><Relationship Id="rId7" Type="http://schemas.openxmlformats.org/officeDocument/2006/relationships/image" Target="../media/image160.emf"/><Relationship Id="rId12" Type="http://schemas.openxmlformats.org/officeDocument/2006/relationships/image" Target="../media/image165.emf"/><Relationship Id="rId17" Type="http://schemas.openxmlformats.org/officeDocument/2006/relationships/image" Target="../media/image170.wmf"/><Relationship Id="rId25" Type="http://schemas.openxmlformats.org/officeDocument/2006/relationships/image" Target="../media/image178.emf"/><Relationship Id="rId2" Type="http://schemas.openxmlformats.org/officeDocument/2006/relationships/image" Target="../media/image155.emf"/><Relationship Id="rId16" Type="http://schemas.openxmlformats.org/officeDocument/2006/relationships/image" Target="../media/image169.wmf"/><Relationship Id="rId20" Type="http://schemas.openxmlformats.org/officeDocument/2006/relationships/image" Target="../media/image173.wmf"/><Relationship Id="rId29" Type="http://schemas.openxmlformats.org/officeDocument/2006/relationships/image" Target="../media/image182.emf"/><Relationship Id="rId1" Type="http://schemas.openxmlformats.org/officeDocument/2006/relationships/image" Target="../media/image154.emf"/><Relationship Id="rId6" Type="http://schemas.openxmlformats.org/officeDocument/2006/relationships/image" Target="../media/image159.emf"/><Relationship Id="rId11" Type="http://schemas.openxmlformats.org/officeDocument/2006/relationships/image" Target="../media/image164.emf"/><Relationship Id="rId24" Type="http://schemas.openxmlformats.org/officeDocument/2006/relationships/image" Target="../media/image177.emf"/><Relationship Id="rId32" Type="http://schemas.openxmlformats.org/officeDocument/2006/relationships/image" Target="../media/image185.wmf"/><Relationship Id="rId5" Type="http://schemas.openxmlformats.org/officeDocument/2006/relationships/image" Target="../media/image158.emf"/><Relationship Id="rId15" Type="http://schemas.openxmlformats.org/officeDocument/2006/relationships/image" Target="../media/image168.emf"/><Relationship Id="rId23" Type="http://schemas.openxmlformats.org/officeDocument/2006/relationships/image" Target="../media/image176.emf"/><Relationship Id="rId28" Type="http://schemas.openxmlformats.org/officeDocument/2006/relationships/image" Target="../media/image181.emf"/><Relationship Id="rId10" Type="http://schemas.openxmlformats.org/officeDocument/2006/relationships/image" Target="../media/image163.emf"/><Relationship Id="rId19" Type="http://schemas.openxmlformats.org/officeDocument/2006/relationships/image" Target="../media/image172.wmf"/><Relationship Id="rId31" Type="http://schemas.openxmlformats.org/officeDocument/2006/relationships/image" Target="../media/image184.wmf"/><Relationship Id="rId4" Type="http://schemas.openxmlformats.org/officeDocument/2006/relationships/image" Target="../media/image157.emf"/><Relationship Id="rId9" Type="http://schemas.openxmlformats.org/officeDocument/2006/relationships/image" Target="../media/image162.emf"/><Relationship Id="rId14" Type="http://schemas.openxmlformats.org/officeDocument/2006/relationships/image" Target="../media/image167.emf"/><Relationship Id="rId22" Type="http://schemas.openxmlformats.org/officeDocument/2006/relationships/image" Target="../media/image175.emf"/><Relationship Id="rId27" Type="http://schemas.openxmlformats.org/officeDocument/2006/relationships/image" Target="../media/image180.emf"/><Relationship Id="rId30" Type="http://schemas.openxmlformats.org/officeDocument/2006/relationships/image" Target="../media/image183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wmf"/><Relationship Id="rId1" Type="http://schemas.openxmlformats.org/officeDocument/2006/relationships/image" Target="../media/image18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5" Type="http://schemas.openxmlformats.org/officeDocument/2006/relationships/image" Target="../media/image202.wmf"/><Relationship Id="rId4" Type="http://schemas.openxmlformats.org/officeDocument/2006/relationships/image" Target="../media/image201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emf"/><Relationship Id="rId1" Type="http://schemas.openxmlformats.org/officeDocument/2006/relationships/image" Target="../media/image204.emf"/><Relationship Id="rId6" Type="http://schemas.openxmlformats.org/officeDocument/2006/relationships/image" Target="../media/image106.wmf"/><Relationship Id="rId5" Type="http://schemas.openxmlformats.org/officeDocument/2006/relationships/image" Target="../media/image207.wmf"/><Relationship Id="rId4" Type="http://schemas.openxmlformats.org/officeDocument/2006/relationships/image" Target="../media/image9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emf"/><Relationship Id="rId1" Type="http://schemas.openxmlformats.org/officeDocument/2006/relationships/image" Target="../media/image208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emf"/><Relationship Id="rId2" Type="http://schemas.openxmlformats.org/officeDocument/2006/relationships/image" Target="../media/image211.emf"/><Relationship Id="rId1" Type="http://schemas.openxmlformats.org/officeDocument/2006/relationships/image" Target="../media/image210.emf"/><Relationship Id="rId6" Type="http://schemas.openxmlformats.org/officeDocument/2006/relationships/image" Target="../media/image215.emf"/><Relationship Id="rId5" Type="http://schemas.openxmlformats.org/officeDocument/2006/relationships/image" Target="../media/image214.emf"/><Relationship Id="rId4" Type="http://schemas.openxmlformats.org/officeDocument/2006/relationships/image" Target="../media/image213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emf"/><Relationship Id="rId2" Type="http://schemas.openxmlformats.org/officeDocument/2006/relationships/image" Target="../media/image217.emf"/><Relationship Id="rId1" Type="http://schemas.openxmlformats.org/officeDocument/2006/relationships/image" Target="../media/image216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emf"/><Relationship Id="rId2" Type="http://schemas.openxmlformats.org/officeDocument/2006/relationships/image" Target="../media/image224.emf"/><Relationship Id="rId1" Type="http://schemas.openxmlformats.org/officeDocument/2006/relationships/image" Target="../media/image223.emf"/><Relationship Id="rId4" Type="http://schemas.openxmlformats.org/officeDocument/2006/relationships/image" Target="../media/image226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emf"/><Relationship Id="rId7" Type="http://schemas.openxmlformats.org/officeDocument/2006/relationships/image" Target="../media/image233.emf"/><Relationship Id="rId2" Type="http://schemas.openxmlformats.org/officeDocument/2006/relationships/image" Target="../media/image228.wmf"/><Relationship Id="rId1" Type="http://schemas.openxmlformats.org/officeDocument/2006/relationships/image" Target="../media/image227.wmf"/><Relationship Id="rId6" Type="http://schemas.openxmlformats.org/officeDocument/2006/relationships/image" Target="../media/image232.emf"/><Relationship Id="rId5" Type="http://schemas.openxmlformats.org/officeDocument/2006/relationships/image" Target="../media/image231.emf"/><Relationship Id="rId4" Type="http://schemas.openxmlformats.org/officeDocument/2006/relationships/image" Target="../media/image230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Relationship Id="rId4" Type="http://schemas.openxmlformats.org/officeDocument/2006/relationships/image" Target="../media/image245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emf"/><Relationship Id="rId13" Type="http://schemas.openxmlformats.org/officeDocument/2006/relationships/image" Target="../media/image258.emf"/><Relationship Id="rId3" Type="http://schemas.openxmlformats.org/officeDocument/2006/relationships/image" Target="../media/image248.emf"/><Relationship Id="rId7" Type="http://schemas.openxmlformats.org/officeDocument/2006/relationships/image" Target="../media/image252.wmf"/><Relationship Id="rId12" Type="http://schemas.openxmlformats.org/officeDocument/2006/relationships/image" Target="../media/image257.emf"/><Relationship Id="rId2" Type="http://schemas.openxmlformats.org/officeDocument/2006/relationships/image" Target="../media/image247.emf"/><Relationship Id="rId1" Type="http://schemas.openxmlformats.org/officeDocument/2006/relationships/image" Target="../media/image246.emf"/><Relationship Id="rId6" Type="http://schemas.openxmlformats.org/officeDocument/2006/relationships/image" Target="../media/image251.emf"/><Relationship Id="rId11" Type="http://schemas.openxmlformats.org/officeDocument/2006/relationships/image" Target="../media/image256.emf"/><Relationship Id="rId5" Type="http://schemas.openxmlformats.org/officeDocument/2006/relationships/image" Target="../media/image250.emf"/><Relationship Id="rId15" Type="http://schemas.openxmlformats.org/officeDocument/2006/relationships/image" Target="../media/image260.wmf"/><Relationship Id="rId10" Type="http://schemas.openxmlformats.org/officeDocument/2006/relationships/image" Target="../media/image255.emf"/><Relationship Id="rId4" Type="http://schemas.openxmlformats.org/officeDocument/2006/relationships/image" Target="../media/image249.wmf"/><Relationship Id="rId9" Type="http://schemas.openxmlformats.org/officeDocument/2006/relationships/image" Target="../media/image254.emf"/><Relationship Id="rId14" Type="http://schemas.openxmlformats.org/officeDocument/2006/relationships/image" Target="../media/image259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image" Target="../media/image274.emf"/><Relationship Id="rId3" Type="http://schemas.openxmlformats.org/officeDocument/2006/relationships/image" Target="../media/image264.emf"/><Relationship Id="rId7" Type="http://schemas.openxmlformats.org/officeDocument/2006/relationships/image" Target="../media/image268.emf"/><Relationship Id="rId12" Type="http://schemas.openxmlformats.org/officeDocument/2006/relationships/image" Target="../media/image273.emf"/><Relationship Id="rId2" Type="http://schemas.openxmlformats.org/officeDocument/2006/relationships/image" Target="../media/image263.emf"/><Relationship Id="rId1" Type="http://schemas.openxmlformats.org/officeDocument/2006/relationships/image" Target="../media/image262.wmf"/><Relationship Id="rId6" Type="http://schemas.openxmlformats.org/officeDocument/2006/relationships/image" Target="../media/image267.emf"/><Relationship Id="rId11" Type="http://schemas.openxmlformats.org/officeDocument/2006/relationships/image" Target="../media/image272.emf"/><Relationship Id="rId5" Type="http://schemas.openxmlformats.org/officeDocument/2006/relationships/image" Target="../media/image266.wmf"/><Relationship Id="rId15" Type="http://schemas.openxmlformats.org/officeDocument/2006/relationships/image" Target="../media/image276.emf"/><Relationship Id="rId10" Type="http://schemas.openxmlformats.org/officeDocument/2006/relationships/image" Target="../media/image271.emf"/><Relationship Id="rId4" Type="http://schemas.openxmlformats.org/officeDocument/2006/relationships/image" Target="../media/image265.emf"/><Relationship Id="rId9" Type="http://schemas.openxmlformats.org/officeDocument/2006/relationships/image" Target="../media/image270.emf"/><Relationship Id="rId14" Type="http://schemas.openxmlformats.org/officeDocument/2006/relationships/image" Target="../media/image275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7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3" Type="http://schemas.openxmlformats.org/officeDocument/2006/relationships/image" Target="../media/image117.wmf"/><Relationship Id="rId7" Type="http://schemas.openxmlformats.org/officeDocument/2006/relationships/image" Target="../media/image285.wmf"/><Relationship Id="rId2" Type="http://schemas.openxmlformats.org/officeDocument/2006/relationships/image" Target="../media/image281.wmf"/><Relationship Id="rId1" Type="http://schemas.openxmlformats.org/officeDocument/2006/relationships/image" Target="../media/image115.wmf"/><Relationship Id="rId6" Type="http://schemas.openxmlformats.org/officeDocument/2006/relationships/image" Target="../media/image284.wmf"/><Relationship Id="rId5" Type="http://schemas.openxmlformats.org/officeDocument/2006/relationships/image" Target="../media/image283.wmf"/><Relationship Id="rId4" Type="http://schemas.openxmlformats.org/officeDocument/2006/relationships/image" Target="../media/image282.emf"/><Relationship Id="rId9" Type="http://schemas.openxmlformats.org/officeDocument/2006/relationships/image" Target="../media/image287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3" Type="http://schemas.openxmlformats.org/officeDocument/2006/relationships/image" Target="../media/image281.wmf"/><Relationship Id="rId7" Type="http://schemas.openxmlformats.org/officeDocument/2006/relationships/image" Target="../media/image285.wmf"/><Relationship Id="rId2" Type="http://schemas.openxmlformats.org/officeDocument/2006/relationships/image" Target="../media/image115.wmf"/><Relationship Id="rId1" Type="http://schemas.openxmlformats.org/officeDocument/2006/relationships/image" Target="../media/image289.wmf"/><Relationship Id="rId6" Type="http://schemas.openxmlformats.org/officeDocument/2006/relationships/image" Target="../media/image284.wmf"/><Relationship Id="rId5" Type="http://schemas.openxmlformats.org/officeDocument/2006/relationships/image" Target="../media/image283.wmf"/><Relationship Id="rId4" Type="http://schemas.openxmlformats.org/officeDocument/2006/relationships/image" Target="../media/image117.wmf"/><Relationship Id="rId9" Type="http://schemas.openxmlformats.org/officeDocument/2006/relationships/image" Target="../media/image290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3" Type="http://schemas.openxmlformats.org/officeDocument/2006/relationships/image" Target="../media/image281.wmf"/><Relationship Id="rId7" Type="http://schemas.openxmlformats.org/officeDocument/2006/relationships/image" Target="../media/image285.wmf"/><Relationship Id="rId2" Type="http://schemas.openxmlformats.org/officeDocument/2006/relationships/image" Target="../media/image115.wmf"/><Relationship Id="rId1" Type="http://schemas.openxmlformats.org/officeDocument/2006/relationships/image" Target="../media/image289.wmf"/><Relationship Id="rId6" Type="http://schemas.openxmlformats.org/officeDocument/2006/relationships/image" Target="../media/image284.wmf"/><Relationship Id="rId11" Type="http://schemas.openxmlformats.org/officeDocument/2006/relationships/image" Target="../media/image287.wmf"/><Relationship Id="rId5" Type="http://schemas.openxmlformats.org/officeDocument/2006/relationships/image" Target="../media/image283.wmf"/><Relationship Id="rId10" Type="http://schemas.openxmlformats.org/officeDocument/2006/relationships/image" Target="../media/image292.emf"/><Relationship Id="rId4" Type="http://schemas.openxmlformats.org/officeDocument/2006/relationships/image" Target="../media/image117.wmf"/><Relationship Id="rId9" Type="http://schemas.openxmlformats.org/officeDocument/2006/relationships/image" Target="../media/image29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wmf"/><Relationship Id="rId2" Type="http://schemas.openxmlformats.org/officeDocument/2006/relationships/image" Target="../media/image294.wmf"/><Relationship Id="rId1" Type="http://schemas.openxmlformats.org/officeDocument/2006/relationships/image" Target="../media/image293.wmf"/><Relationship Id="rId4" Type="http://schemas.openxmlformats.org/officeDocument/2006/relationships/image" Target="../media/image296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3" Type="http://schemas.openxmlformats.org/officeDocument/2006/relationships/image" Target="../media/image299.wmf"/><Relationship Id="rId7" Type="http://schemas.openxmlformats.org/officeDocument/2006/relationships/image" Target="../media/image303.wmf"/><Relationship Id="rId2" Type="http://schemas.openxmlformats.org/officeDocument/2006/relationships/image" Target="../media/image298.emf"/><Relationship Id="rId1" Type="http://schemas.openxmlformats.org/officeDocument/2006/relationships/image" Target="../media/image297.emf"/><Relationship Id="rId6" Type="http://schemas.openxmlformats.org/officeDocument/2006/relationships/image" Target="../media/image302.wmf"/><Relationship Id="rId5" Type="http://schemas.openxmlformats.org/officeDocument/2006/relationships/image" Target="../media/image301.wmf"/><Relationship Id="rId4" Type="http://schemas.openxmlformats.org/officeDocument/2006/relationships/image" Target="../media/image300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9.emf"/><Relationship Id="rId2" Type="http://schemas.openxmlformats.org/officeDocument/2006/relationships/image" Target="../media/image308.emf"/><Relationship Id="rId1" Type="http://schemas.openxmlformats.org/officeDocument/2006/relationships/image" Target="../media/image307.emf"/><Relationship Id="rId6" Type="http://schemas.openxmlformats.org/officeDocument/2006/relationships/image" Target="../media/image290.wmf"/><Relationship Id="rId5" Type="http://schemas.openxmlformats.org/officeDocument/2006/relationships/image" Target="../media/image289.wmf"/><Relationship Id="rId4" Type="http://schemas.openxmlformats.org/officeDocument/2006/relationships/image" Target="../media/image301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image" Target="../media/image322.wmf"/><Relationship Id="rId3" Type="http://schemas.openxmlformats.org/officeDocument/2006/relationships/image" Target="../media/image315.wmf"/><Relationship Id="rId7" Type="http://schemas.openxmlformats.org/officeDocument/2006/relationships/image" Target="../media/image117.wmf"/><Relationship Id="rId12" Type="http://schemas.openxmlformats.org/officeDocument/2006/relationships/image" Target="../media/image321.wmf"/><Relationship Id="rId17" Type="http://schemas.openxmlformats.org/officeDocument/2006/relationships/image" Target="../media/image326.wmf"/><Relationship Id="rId2" Type="http://schemas.openxmlformats.org/officeDocument/2006/relationships/image" Target="../media/image314.wmf"/><Relationship Id="rId16" Type="http://schemas.openxmlformats.org/officeDocument/2006/relationships/image" Target="../media/image325.wmf"/><Relationship Id="rId1" Type="http://schemas.openxmlformats.org/officeDocument/2006/relationships/image" Target="../media/image313.wmf"/><Relationship Id="rId6" Type="http://schemas.openxmlformats.org/officeDocument/2006/relationships/image" Target="../media/image116.wmf"/><Relationship Id="rId11" Type="http://schemas.openxmlformats.org/officeDocument/2006/relationships/image" Target="../media/image320.wmf"/><Relationship Id="rId5" Type="http://schemas.openxmlformats.org/officeDocument/2006/relationships/image" Target="../media/image317.wmf"/><Relationship Id="rId15" Type="http://schemas.openxmlformats.org/officeDocument/2006/relationships/image" Target="../media/image324.wmf"/><Relationship Id="rId10" Type="http://schemas.openxmlformats.org/officeDocument/2006/relationships/image" Target="../media/image319.wmf"/><Relationship Id="rId4" Type="http://schemas.openxmlformats.org/officeDocument/2006/relationships/image" Target="../media/image316.wmf"/><Relationship Id="rId9" Type="http://schemas.openxmlformats.org/officeDocument/2006/relationships/image" Target="../media/image318.wmf"/><Relationship Id="rId14" Type="http://schemas.openxmlformats.org/officeDocument/2006/relationships/image" Target="../media/image323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wmf"/><Relationship Id="rId13" Type="http://schemas.openxmlformats.org/officeDocument/2006/relationships/image" Target="../media/image330.wmf"/><Relationship Id="rId18" Type="http://schemas.openxmlformats.org/officeDocument/2006/relationships/image" Target="../media/image335.wmf"/><Relationship Id="rId3" Type="http://schemas.openxmlformats.org/officeDocument/2006/relationships/image" Target="../media/image115.wmf"/><Relationship Id="rId7" Type="http://schemas.openxmlformats.org/officeDocument/2006/relationships/image" Target="../media/image321.wmf"/><Relationship Id="rId12" Type="http://schemas.openxmlformats.org/officeDocument/2006/relationships/image" Target="../media/image329.wmf"/><Relationship Id="rId17" Type="http://schemas.openxmlformats.org/officeDocument/2006/relationships/image" Target="../media/image334.wmf"/><Relationship Id="rId2" Type="http://schemas.openxmlformats.org/officeDocument/2006/relationships/image" Target="../media/image117.wmf"/><Relationship Id="rId16" Type="http://schemas.openxmlformats.org/officeDocument/2006/relationships/image" Target="../media/image333.wmf"/><Relationship Id="rId1" Type="http://schemas.openxmlformats.org/officeDocument/2006/relationships/image" Target="../media/image116.wmf"/><Relationship Id="rId6" Type="http://schemas.openxmlformats.org/officeDocument/2006/relationships/image" Target="../media/image320.wmf"/><Relationship Id="rId11" Type="http://schemas.openxmlformats.org/officeDocument/2006/relationships/image" Target="../media/image328.wmf"/><Relationship Id="rId5" Type="http://schemas.openxmlformats.org/officeDocument/2006/relationships/image" Target="../media/image319.wmf"/><Relationship Id="rId15" Type="http://schemas.openxmlformats.org/officeDocument/2006/relationships/image" Target="../media/image332.wmf"/><Relationship Id="rId10" Type="http://schemas.openxmlformats.org/officeDocument/2006/relationships/image" Target="../media/image326.wmf"/><Relationship Id="rId19" Type="http://schemas.openxmlformats.org/officeDocument/2006/relationships/image" Target="../media/image336.wmf"/><Relationship Id="rId4" Type="http://schemas.openxmlformats.org/officeDocument/2006/relationships/image" Target="../media/image318.wmf"/><Relationship Id="rId9" Type="http://schemas.openxmlformats.org/officeDocument/2006/relationships/image" Target="../media/image323.wmf"/><Relationship Id="rId14" Type="http://schemas.openxmlformats.org/officeDocument/2006/relationships/image" Target="../media/image331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wmf"/><Relationship Id="rId13" Type="http://schemas.openxmlformats.org/officeDocument/2006/relationships/image" Target="../media/image314.wmf"/><Relationship Id="rId18" Type="http://schemas.openxmlformats.org/officeDocument/2006/relationships/image" Target="../media/image341.wmf"/><Relationship Id="rId3" Type="http://schemas.openxmlformats.org/officeDocument/2006/relationships/image" Target="../media/image115.wmf"/><Relationship Id="rId21" Type="http://schemas.openxmlformats.org/officeDocument/2006/relationships/image" Target="../media/image334.wmf"/><Relationship Id="rId7" Type="http://schemas.openxmlformats.org/officeDocument/2006/relationships/image" Target="../media/image321.wmf"/><Relationship Id="rId12" Type="http://schemas.openxmlformats.org/officeDocument/2006/relationships/image" Target="../media/image339.wmf"/><Relationship Id="rId17" Type="http://schemas.openxmlformats.org/officeDocument/2006/relationships/image" Target="../media/image340.wmf"/><Relationship Id="rId2" Type="http://schemas.openxmlformats.org/officeDocument/2006/relationships/image" Target="../media/image117.wmf"/><Relationship Id="rId16" Type="http://schemas.openxmlformats.org/officeDocument/2006/relationships/image" Target="../media/image316.wmf"/><Relationship Id="rId20" Type="http://schemas.openxmlformats.org/officeDocument/2006/relationships/image" Target="../media/image343.wmf"/><Relationship Id="rId1" Type="http://schemas.openxmlformats.org/officeDocument/2006/relationships/image" Target="../media/image116.wmf"/><Relationship Id="rId6" Type="http://schemas.openxmlformats.org/officeDocument/2006/relationships/image" Target="../media/image320.wmf"/><Relationship Id="rId11" Type="http://schemas.openxmlformats.org/officeDocument/2006/relationships/image" Target="../media/image338.wmf"/><Relationship Id="rId5" Type="http://schemas.openxmlformats.org/officeDocument/2006/relationships/image" Target="../media/image319.wmf"/><Relationship Id="rId15" Type="http://schemas.openxmlformats.org/officeDocument/2006/relationships/image" Target="../media/image315.wmf"/><Relationship Id="rId10" Type="http://schemas.openxmlformats.org/officeDocument/2006/relationships/image" Target="../media/image326.wmf"/><Relationship Id="rId19" Type="http://schemas.openxmlformats.org/officeDocument/2006/relationships/image" Target="../media/image342.wmf"/><Relationship Id="rId4" Type="http://schemas.openxmlformats.org/officeDocument/2006/relationships/image" Target="../media/image318.wmf"/><Relationship Id="rId9" Type="http://schemas.openxmlformats.org/officeDocument/2006/relationships/image" Target="../media/image323.wmf"/><Relationship Id="rId14" Type="http://schemas.openxmlformats.org/officeDocument/2006/relationships/image" Target="../media/image313.wmf"/><Relationship Id="rId22" Type="http://schemas.openxmlformats.org/officeDocument/2006/relationships/image" Target="../media/image344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wmf"/><Relationship Id="rId2" Type="http://schemas.openxmlformats.org/officeDocument/2006/relationships/image" Target="../media/image346.emf"/><Relationship Id="rId1" Type="http://schemas.openxmlformats.org/officeDocument/2006/relationships/image" Target="../media/image345.emf"/><Relationship Id="rId4" Type="http://schemas.openxmlformats.org/officeDocument/2006/relationships/image" Target="../media/image348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emf"/><Relationship Id="rId1" Type="http://schemas.openxmlformats.org/officeDocument/2006/relationships/image" Target="../media/image349.e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wmf"/><Relationship Id="rId13" Type="http://schemas.openxmlformats.org/officeDocument/2006/relationships/image" Target="../media/image364.wmf"/><Relationship Id="rId18" Type="http://schemas.openxmlformats.org/officeDocument/2006/relationships/image" Target="../media/image369.wmf"/><Relationship Id="rId3" Type="http://schemas.openxmlformats.org/officeDocument/2006/relationships/image" Target="../media/image354.wmf"/><Relationship Id="rId7" Type="http://schemas.openxmlformats.org/officeDocument/2006/relationships/image" Target="../media/image358.wmf"/><Relationship Id="rId12" Type="http://schemas.openxmlformats.org/officeDocument/2006/relationships/image" Target="../media/image363.wmf"/><Relationship Id="rId17" Type="http://schemas.openxmlformats.org/officeDocument/2006/relationships/image" Target="../media/image368.wmf"/><Relationship Id="rId2" Type="http://schemas.openxmlformats.org/officeDocument/2006/relationships/image" Target="../media/image353.wmf"/><Relationship Id="rId16" Type="http://schemas.openxmlformats.org/officeDocument/2006/relationships/image" Target="../media/image367.wmf"/><Relationship Id="rId1" Type="http://schemas.openxmlformats.org/officeDocument/2006/relationships/image" Target="../media/image352.wmf"/><Relationship Id="rId6" Type="http://schemas.openxmlformats.org/officeDocument/2006/relationships/image" Target="../media/image357.wmf"/><Relationship Id="rId11" Type="http://schemas.openxmlformats.org/officeDocument/2006/relationships/image" Target="../media/image362.wmf"/><Relationship Id="rId5" Type="http://schemas.openxmlformats.org/officeDocument/2006/relationships/image" Target="../media/image356.wmf"/><Relationship Id="rId15" Type="http://schemas.openxmlformats.org/officeDocument/2006/relationships/image" Target="../media/image366.wmf"/><Relationship Id="rId10" Type="http://schemas.openxmlformats.org/officeDocument/2006/relationships/image" Target="../media/image361.wmf"/><Relationship Id="rId4" Type="http://schemas.openxmlformats.org/officeDocument/2006/relationships/image" Target="../media/image355.wmf"/><Relationship Id="rId9" Type="http://schemas.openxmlformats.org/officeDocument/2006/relationships/image" Target="../media/image360.wmf"/><Relationship Id="rId14" Type="http://schemas.openxmlformats.org/officeDocument/2006/relationships/image" Target="../media/image365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wmf"/><Relationship Id="rId3" Type="http://schemas.openxmlformats.org/officeDocument/2006/relationships/image" Target="../media/image374.wmf"/><Relationship Id="rId7" Type="http://schemas.openxmlformats.org/officeDocument/2006/relationships/image" Target="../media/image378.emf"/><Relationship Id="rId12" Type="http://schemas.openxmlformats.org/officeDocument/2006/relationships/image" Target="../media/image383.wmf"/><Relationship Id="rId2" Type="http://schemas.openxmlformats.org/officeDocument/2006/relationships/image" Target="../media/image373.emf"/><Relationship Id="rId1" Type="http://schemas.openxmlformats.org/officeDocument/2006/relationships/image" Target="../media/image372.wmf"/><Relationship Id="rId6" Type="http://schemas.openxmlformats.org/officeDocument/2006/relationships/image" Target="../media/image377.wmf"/><Relationship Id="rId11" Type="http://schemas.openxmlformats.org/officeDocument/2006/relationships/image" Target="../media/image382.wmf"/><Relationship Id="rId5" Type="http://schemas.openxmlformats.org/officeDocument/2006/relationships/image" Target="../media/image376.emf"/><Relationship Id="rId10" Type="http://schemas.openxmlformats.org/officeDocument/2006/relationships/image" Target="../media/image381.emf"/><Relationship Id="rId4" Type="http://schemas.openxmlformats.org/officeDocument/2006/relationships/image" Target="../media/image375.emf"/><Relationship Id="rId9" Type="http://schemas.openxmlformats.org/officeDocument/2006/relationships/image" Target="../media/image380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wmf"/><Relationship Id="rId3" Type="http://schemas.openxmlformats.org/officeDocument/2006/relationships/image" Target="../media/image386.emf"/><Relationship Id="rId7" Type="http://schemas.openxmlformats.org/officeDocument/2006/relationships/image" Target="../media/image390.wmf"/><Relationship Id="rId2" Type="http://schemas.openxmlformats.org/officeDocument/2006/relationships/image" Target="../media/image385.wmf"/><Relationship Id="rId1" Type="http://schemas.openxmlformats.org/officeDocument/2006/relationships/image" Target="../media/image384.wmf"/><Relationship Id="rId6" Type="http://schemas.openxmlformats.org/officeDocument/2006/relationships/image" Target="../media/image389.wmf"/><Relationship Id="rId5" Type="http://schemas.openxmlformats.org/officeDocument/2006/relationships/image" Target="../media/image388.wmf"/><Relationship Id="rId4" Type="http://schemas.openxmlformats.org/officeDocument/2006/relationships/image" Target="../media/image387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4.emf"/><Relationship Id="rId2" Type="http://schemas.openxmlformats.org/officeDocument/2006/relationships/image" Target="../media/image393.wmf"/><Relationship Id="rId1" Type="http://schemas.openxmlformats.org/officeDocument/2006/relationships/image" Target="../media/image392.emf"/><Relationship Id="rId5" Type="http://schemas.openxmlformats.org/officeDocument/2006/relationships/image" Target="../media/image396.wmf"/><Relationship Id="rId4" Type="http://schemas.openxmlformats.org/officeDocument/2006/relationships/image" Target="../media/image39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页眉占位符 47718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7187" name="日期占位符 47718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7188" name="页脚占位符 47718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7189" name="灯片编号占位符 477188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A12D25-87A1-40C9-8183-C0B90BE6DD9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眉占位符 307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3" name="日期占位符 30722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80" name="幻灯片图像占位符 3072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341" name="文本占位符 3072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第五级</a:t>
            </a:r>
          </a:p>
        </p:txBody>
      </p:sp>
      <p:sp>
        <p:nvSpPr>
          <p:cNvPr id="30726" name="页脚占位符 3072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eaLnBrk="1" hangingPunct="1"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7" name="灯片编号占位符 30726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4AEA76-B1E0-4E42-A8AC-1E7AC46B44B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D944F5-710A-4EBD-9F8F-9E16010B201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0178EF-31E3-4642-9550-D7C684074B0F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49B581-B7E9-471B-94B1-6292299619F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95E780-510D-4B56-8396-ACA793CA53EF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BE6854-FCB4-457E-BDCE-787C45CE02F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D12BDD-05AA-4139-8C1D-4EFD0A97727C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46245E-85F9-461B-A2FD-AAC7BCBAC5B2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E17F59-AF12-4A06-89E6-BFB2896811F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B58316-E8FD-46D2-A60F-6F9608DFBF99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A695B4-4A5C-4E9E-B09C-045DF4D1BB1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B41BD8-9814-487A-8733-5FBA4D0E91E9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0863F6-A149-4568-88BB-FD0B52F937B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4143E4-1691-4CB3-8A5B-5CC459723F3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7BE54A-27AF-44FA-B2C8-8003BE5E5E4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1A2321-6B7A-46C2-905C-A275253D611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727516-9D54-47B2-A1DE-F523C7604F74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2B6FAA-1B94-4817-85A0-475A902ECFF4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0B8CB0-BA66-4D2E-8F92-4DFD6FC49CF9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89A07-9E78-4001-9183-2C592D452DB5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7BEB07-5CB8-4535-8254-959016905E8C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5C7886-2EC6-4E15-80EA-53EE91B19F30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DB33F6-BE3C-4E08-A3C8-068DBDCC3CFC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E32571-3AB7-4925-90A4-0E2191879F0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2AEFDD-DEB8-4288-AB82-5E57E796C02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5368BB-9DDC-4380-A2B9-EF5098DFB107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1BCA34-0A1C-4E84-AB41-8CD6D6841AF2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ED2098-A469-48AA-B269-171C2CA4380F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E05874-D3D2-414F-8EE9-1C44C354703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59ADB-75F4-481C-94E9-4CCDCC310DB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4D4603-9F6C-4DF7-85BA-3E0F2361F5C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6F57A8-9E25-4670-A609-6D0251D42883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DDF0BD-8406-4F48-A7F4-D80D10377805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E1A2DD-7B97-4A44-A863-BD34E046C688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C4B8C4-350D-4CF0-AA8A-1EDC091B98C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B5EBBF-DE5E-4599-AF90-E944B82DB95F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B987E3-92B3-437C-929F-3FAC28E14470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BA7506-36D9-4E94-8A16-0271BB85E04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6E1070-CD41-44AE-B246-9181CF9962D3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DDF85-1248-4F53-AD69-0F44511E1C26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06B27-10A7-40D3-8300-4D3356665115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914755-7C96-4C9C-AC08-6B21E041D623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2E6E50-3C4D-4AD5-AE3B-42529DEDFB0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933973-81F9-4211-8E50-6E7A12B3675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250686-2038-409F-A567-357ED6BC23E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2836B4-8F3A-41B9-8793-9DD37671EF1F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98E9B8-9FC5-4251-B271-B50BAA73372C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99F125-216C-4C89-B2FB-14482B40212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E1512E-A693-4C50-892E-E9F9803196EF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37D753-DF90-4495-B01B-D56692DF100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D12E4E-3A5D-4507-AC93-4E4BD99CD423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7CBB55-ED76-4B93-93B8-8819C38B3972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0916FB-A14D-418A-A518-9E1219A42A2C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63E360-1989-4545-A5BD-8F8CAA61687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96CAFE-0BDF-452E-9D63-57A55BD4B90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0C9F49-CF82-4A1E-ACF7-19CAC86BF721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D5882B-236D-4725-980F-99091AC33740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E5510A-70B4-4D4E-8526-766C571B694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A3FC22-5182-42CF-AC79-B6BF0CD52BC9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FF8F35-3E02-41F6-B740-06E4F9E4C42E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7C0E26-731E-4DB7-87E1-567EAB82FCF4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28FB88-B178-479B-BA2D-CDF24C4F8F93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5990FB-70AC-476C-A5F6-1D20FF0E17DE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806582-4E82-4EAA-8A4A-1D114B88659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BE66C8-BE4D-4D22-A286-FAE2915D1582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901B41-8271-4163-A130-503A23E292B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eaLnBrk="1" hangingPunct="1"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46245E-85F9-461B-A2FD-AAC7BCBAC5B2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E17F59-AF12-4A06-89E6-BFB2896811FD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eaLnBrk="1" hangingPunct="1"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7BEB07-5CB8-4535-8254-959016905E8C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5C7886-2EC6-4E15-80EA-53EE91B19F30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eaLnBrk="1" hangingPunct="1"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E1A2DD-7B97-4A44-A863-BD34E046C688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C4B8C4-350D-4CF0-AA8A-1EDC091B98CA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099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eaLnBrk="1" hangingPunct="1"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98E9B8-9FC5-4251-B271-B50BAA73372C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99F125-216C-4C89-B2FB-14482B40212B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123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eaLnBrk="1" hangingPunct="1">
              <a:defRPr sz="14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FF8F35-3E02-41F6-B740-06E4F9E4C42E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2024.10.29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defRPr sz="1400"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7C0E26-731E-4DB7-87E1-567EAB82FCF4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9.wmf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8.bin"/><Relationship Id="rId4" Type="http://schemas.openxmlformats.org/officeDocument/2006/relationships/image" Target="../media/image10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4.e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emf"/><Relationship Id="rId1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23.png"/><Relationship Id="rId10" Type="http://schemas.openxmlformats.org/officeDocument/2006/relationships/image" Target="../media/image19.e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7.w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3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2.e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8.wmf"/><Relationship Id="rId4" Type="http://schemas.openxmlformats.org/officeDocument/2006/relationships/image" Target="../media/image45.emf"/><Relationship Id="rId9" Type="http://schemas.openxmlformats.org/officeDocument/2006/relationships/oleObject" Target="../embeddings/oleObject4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5.png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54.png"/><Relationship Id="rId10" Type="http://schemas.openxmlformats.org/officeDocument/2006/relationships/image" Target="../media/image51.w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e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oleObject" Target="../embeddings/oleObject69.bin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70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8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4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5.emf"/><Relationship Id="rId26" Type="http://schemas.openxmlformats.org/officeDocument/2006/relationships/image" Target="../media/image99.wmf"/><Relationship Id="rId39" Type="http://schemas.openxmlformats.org/officeDocument/2006/relationships/oleObject" Target="../embeddings/oleObject103.bin"/><Relationship Id="rId21" Type="http://schemas.openxmlformats.org/officeDocument/2006/relationships/oleObject" Target="../embeddings/oleObject94.bin"/><Relationship Id="rId34" Type="http://schemas.openxmlformats.org/officeDocument/2006/relationships/image" Target="../media/image103.w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33" Type="http://schemas.openxmlformats.org/officeDocument/2006/relationships/oleObject" Target="../embeddings/oleObject100.bin"/><Relationship Id="rId38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8.wmf"/><Relationship Id="rId32" Type="http://schemas.openxmlformats.org/officeDocument/2006/relationships/image" Target="../media/image102.wmf"/><Relationship Id="rId37" Type="http://schemas.openxmlformats.org/officeDocument/2006/relationships/oleObject" Target="../embeddings/oleObject102.bin"/><Relationship Id="rId40" Type="http://schemas.openxmlformats.org/officeDocument/2006/relationships/image" Target="../media/image106.w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100.wmf"/><Relationship Id="rId36" Type="http://schemas.openxmlformats.org/officeDocument/2006/relationships/image" Target="../media/image104.wmf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55.png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3.emf"/><Relationship Id="rId22" Type="http://schemas.openxmlformats.org/officeDocument/2006/relationships/image" Target="../media/image97.w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101.wmf"/><Relationship Id="rId35" Type="http://schemas.openxmlformats.org/officeDocument/2006/relationships/oleObject" Target="../embeddings/oleObject101.bin"/><Relationship Id="rId8" Type="http://schemas.openxmlformats.org/officeDocument/2006/relationships/image" Target="../media/image90.wmf"/><Relationship Id="rId3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13.wmf"/><Relationship Id="rId26" Type="http://schemas.openxmlformats.org/officeDocument/2006/relationships/image" Target="../media/image115.wmf"/><Relationship Id="rId21" Type="http://schemas.openxmlformats.org/officeDocument/2006/relationships/oleObject" Target="../embeddings/oleObject112.bin"/><Relationship Id="rId34" Type="http://schemas.openxmlformats.org/officeDocument/2006/relationships/oleObject" Target="../embeddings/oleObject118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10.bin"/><Relationship Id="rId25" Type="http://schemas.openxmlformats.org/officeDocument/2006/relationships/oleObject" Target="../embeddings/oleObject114.bin"/><Relationship Id="rId33" Type="http://schemas.openxmlformats.org/officeDocument/2006/relationships/image" Target="../media/image1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wmf"/><Relationship Id="rId20" Type="http://schemas.openxmlformats.org/officeDocument/2006/relationships/image" Target="../media/image114.wmf"/><Relationship Id="rId29" Type="http://schemas.openxmlformats.org/officeDocument/2006/relationships/oleObject" Target="../embeddings/oleObject116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101.wmf"/><Relationship Id="rId32" Type="http://schemas.openxmlformats.org/officeDocument/2006/relationships/oleObject" Target="../embeddings/oleObject117.bin"/><Relationship Id="rId37" Type="http://schemas.openxmlformats.org/officeDocument/2006/relationships/image" Target="../media/image120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28" Type="http://schemas.openxmlformats.org/officeDocument/2006/relationships/image" Target="../media/image116.wmf"/><Relationship Id="rId36" Type="http://schemas.openxmlformats.org/officeDocument/2006/relationships/oleObject" Target="../embeddings/oleObject119.bin"/><Relationship Id="rId10" Type="http://schemas.openxmlformats.org/officeDocument/2006/relationships/image" Target="../media/image109.emf"/><Relationship Id="rId19" Type="http://schemas.openxmlformats.org/officeDocument/2006/relationships/oleObject" Target="../embeddings/oleObject111.bin"/><Relationship Id="rId31" Type="http://schemas.openxmlformats.org/officeDocument/2006/relationships/image" Target="../media/image121.png"/><Relationship Id="rId4" Type="http://schemas.openxmlformats.org/officeDocument/2006/relationships/image" Target="../media/image55.png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11.wmf"/><Relationship Id="rId22" Type="http://schemas.openxmlformats.org/officeDocument/2006/relationships/image" Target="../media/image100.wmf"/><Relationship Id="rId27" Type="http://schemas.openxmlformats.org/officeDocument/2006/relationships/oleObject" Target="../embeddings/oleObject115.bin"/><Relationship Id="rId30" Type="http://schemas.openxmlformats.org/officeDocument/2006/relationships/image" Target="../media/image117.wmf"/><Relationship Id="rId35" Type="http://schemas.openxmlformats.org/officeDocument/2006/relationships/image" Target="../media/image119.wmf"/><Relationship Id="rId8" Type="http://schemas.openxmlformats.org/officeDocument/2006/relationships/image" Target="../media/image108.wmf"/><Relationship Id="rId3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16.wmf"/><Relationship Id="rId26" Type="http://schemas.openxmlformats.org/officeDocument/2006/relationships/image" Target="../media/image124.wmf"/><Relationship Id="rId39" Type="http://schemas.openxmlformats.org/officeDocument/2006/relationships/oleObject" Target="../embeddings/oleObject138.bin"/><Relationship Id="rId21" Type="http://schemas.openxmlformats.org/officeDocument/2006/relationships/oleObject" Target="../embeddings/oleObject129.bin"/><Relationship Id="rId34" Type="http://schemas.openxmlformats.org/officeDocument/2006/relationships/image" Target="../media/image128.wmf"/><Relationship Id="rId42" Type="http://schemas.openxmlformats.org/officeDocument/2006/relationships/image" Target="../media/image132.wmf"/><Relationship Id="rId47" Type="http://schemas.openxmlformats.org/officeDocument/2006/relationships/oleObject" Target="../embeddings/oleObject142.bin"/><Relationship Id="rId50" Type="http://schemas.openxmlformats.org/officeDocument/2006/relationships/image" Target="../media/image136.emf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29" Type="http://schemas.openxmlformats.org/officeDocument/2006/relationships/oleObject" Target="../embeddings/oleObject133.bin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23.emf"/><Relationship Id="rId32" Type="http://schemas.openxmlformats.org/officeDocument/2006/relationships/image" Target="../media/image127.wmf"/><Relationship Id="rId37" Type="http://schemas.openxmlformats.org/officeDocument/2006/relationships/oleObject" Target="../embeddings/oleObject137.bin"/><Relationship Id="rId40" Type="http://schemas.openxmlformats.org/officeDocument/2006/relationships/image" Target="../media/image131.emf"/><Relationship Id="rId45" Type="http://schemas.openxmlformats.org/officeDocument/2006/relationships/oleObject" Target="../embeddings/oleObject141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25.wmf"/><Relationship Id="rId36" Type="http://schemas.openxmlformats.org/officeDocument/2006/relationships/image" Target="../media/image129.emf"/><Relationship Id="rId49" Type="http://schemas.openxmlformats.org/officeDocument/2006/relationships/oleObject" Target="../embeddings/oleObject143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28.bin"/><Relationship Id="rId31" Type="http://schemas.openxmlformats.org/officeDocument/2006/relationships/oleObject" Target="../embeddings/oleObject134.bin"/><Relationship Id="rId44" Type="http://schemas.openxmlformats.org/officeDocument/2006/relationships/image" Target="../media/image133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01.wmf"/><Relationship Id="rId22" Type="http://schemas.openxmlformats.org/officeDocument/2006/relationships/image" Target="../media/image122.wmf"/><Relationship Id="rId27" Type="http://schemas.openxmlformats.org/officeDocument/2006/relationships/oleObject" Target="../embeddings/oleObject132.bin"/><Relationship Id="rId30" Type="http://schemas.openxmlformats.org/officeDocument/2006/relationships/image" Target="../media/image126.wmf"/><Relationship Id="rId35" Type="http://schemas.openxmlformats.org/officeDocument/2006/relationships/oleObject" Target="../embeddings/oleObject136.bin"/><Relationship Id="rId43" Type="http://schemas.openxmlformats.org/officeDocument/2006/relationships/oleObject" Target="../embeddings/oleObject140.bin"/><Relationship Id="rId48" Type="http://schemas.openxmlformats.org/officeDocument/2006/relationships/image" Target="../media/image135.wmf"/><Relationship Id="rId8" Type="http://schemas.openxmlformats.org/officeDocument/2006/relationships/image" Target="../media/image113.wmf"/><Relationship Id="rId3" Type="http://schemas.openxmlformats.org/officeDocument/2006/relationships/oleObject" Target="../embeddings/oleObject120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33" Type="http://schemas.openxmlformats.org/officeDocument/2006/relationships/oleObject" Target="../embeddings/oleObject135.bin"/><Relationship Id="rId38" Type="http://schemas.openxmlformats.org/officeDocument/2006/relationships/image" Target="../media/image130.emf"/><Relationship Id="rId46" Type="http://schemas.openxmlformats.org/officeDocument/2006/relationships/image" Target="../media/image134.wmf"/><Relationship Id="rId20" Type="http://schemas.openxmlformats.org/officeDocument/2006/relationships/image" Target="../media/image117.wmf"/><Relationship Id="rId41" Type="http://schemas.openxmlformats.org/officeDocument/2006/relationships/oleObject" Target="../embeddings/oleObject139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2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15.wmf"/><Relationship Id="rId26" Type="http://schemas.openxmlformats.org/officeDocument/2006/relationships/image" Target="../media/image145.wmf"/><Relationship Id="rId39" Type="http://schemas.openxmlformats.org/officeDocument/2006/relationships/image" Target="../media/image128.wmf"/><Relationship Id="rId21" Type="http://schemas.openxmlformats.org/officeDocument/2006/relationships/oleObject" Target="../embeddings/oleObject153.bin"/><Relationship Id="rId34" Type="http://schemas.openxmlformats.org/officeDocument/2006/relationships/image" Target="../media/image149.wmf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51.bin"/><Relationship Id="rId25" Type="http://schemas.openxmlformats.org/officeDocument/2006/relationships/oleObject" Target="../embeddings/oleObject155.bin"/><Relationship Id="rId33" Type="http://schemas.openxmlformats.org/officeDocument/2006/relationships/oleObject" Target="../embeddings/oleObject159.bin"/><Relationship Id="rId38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16.wmf"/><Relationship Id="rId29" Type="http://schemas.openxmlformats.org/officeDocument/2006/relationships/oleObject" Target="../embeddings/oleObject157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48.bin"/><Relationship Id="rId24" Type="http://schemas.openxmlformats.org/officeDocument/2006/relationships/image" Target="../media/image144.wmf"/><Relationship Id="rId32" Type="http://schemas.openxmlformats.org/officeDocument/2006/relationships/image" Target="../media/image148.wmf"/><Relationship Id="rId37" Type="http://schemas.openxmlformats.org/officeDocument/2006/relationships/image" Target="../media/image1.png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23" Type="http://schemas.openxmlformats.org/officeDocument/2006/relationships/oleObject" Target="../embeddings/oleObject154.bin"/><Relationship Id="rId28" Type="http://schemas.openxmlformats.org/officeDocument/2006/relationships/image" Target="../media/image146.wmf"/><Relationship Id="rId36" Type="http://schemas.openxmlformats.org/officeDocument/2006/relationships/image" Target="../media/image150.wmf"/><Relationship Id="rId10" Type="http://schemas.openxmlformats.org/officeDocument/2006/relationships/image" Target="../media/image140.emf"/><Relationship Id="rId19" Type="http://schemas.openxmlformats.org/officeDocument/2006/relationships/oleObject" Target="../embeddings/oleObject152.bin"/><Relationship Id="rId31" Type="http://schemas.openxmlformats.org/officeDocument/2006/relationships/oleObject" Target="../embeddings/oleObject158.bin"/><Relationship Id="rId4" Type="http://schemas.openxmlformats.org/officeDocument/2006/relationships/image" Target="../media/image137.e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42.wmf"/><Relationship Id="rId22" Type="http://schemas.openxmlformats.org/officeDocument/2006/relationships/image" Target="../media/image117.wmf"/><Relationship Id="rId27" Type="http://schemas.openxmlformats.org/officeDocument/2006/relationships/oleObject" Target="../embeddings/oleObject156.bin"/><Relationship Id="rId30" Type="http://schemas.openxmlformats.org/officeDocument/2006/relationships/image" Target="../media/image147.wmf"/><Relationship Id="rId35" Type="http://schemas.openxmlformats.org/officeDocument/2006/relationships/oleObject" Target="../embeddings/oleObject160.bin"/><Relationship Id="rId8" Type="http://schemas.openxmlformats.org/officeDocument/2006/relationships/image" Target="../media/image139.wmf"/><Relationship Id="rId3" Type="http://schemas.openxmlformats.org/officeDocument/2006/relationships/oleObject" Target="../embeddings/oleObject144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115.wmf"/><Relationship Id="rId26" Type="http://schemas.openxmlformats.org/officeDocument/2006/relationships/image" Target="../media/image145.wmf"/><Relationship Id="rId3" Type="http://schemas.openxmlformats.org/officeDocument/2006/relationships/oleObject" Target="../embeddings/oleObject162.bin"/><Relationship Id="rId21" Type="http://schemas.openxmlformats.org/officeDocument/2006/relationships/oleObject" Target="../embeddings/oleObject171.bin"/><Relationship Id="rId34" Type="http://schemas.openxmlformats.org/officeDocument/2006/relationships/oleObject" Target="../embeddings/oleObject177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69.bin"/><Relationship Id="rId25" Type="http://schemas.openxmlformats.org/officeDocument/2006/relationships/oleObject" Target="../embeddings/oleObject173.bin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55.xml"/><Relationship Id="rId16" Type="http://schemas.openxmlformats.org/officeDocument/2006/relationships/image" Target="../media/image143.wmf"/><Relationship Id="rId20" Type="http://schemas.openxmlformats.org/officeDocument/2006/relationships/image" Target="../media/image116.wmf"/><Relationship Id="rId29" Type="http://schemas.openxmlformats.org/officeDocument/2006/relationships/oleObject" Target="../embeddings/oleObject175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66.bin"/><Relationship Id="rId24" Type="http://schemas.openxmlformats.org/officeDocument/2006/relationships/image" Target="../media/image144.wmf"/><Relationship Id="rId32" Type="http://schemas.openxmlformats.org/officeDocument/2006/relationships/image" Target="../media/image148.wmf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23" Type="http://schemas.openxmlformats.org/officeDocument/2006/relationships/oleObject" Target="../embeddings/oleObject172.bin"/><Relationship Id="rId28" Type="http://schemas.openxmlformats.org/officeDocument/2006/relationships/image" Target="../media/image146.wmf"/><Relationship Id="rId10" Type="http://schemas.openxmlformats.org/officeDocument/2006/relationships/image" Target="../media/image152.wmf"/><Relationship Id="rId19" Type="http://schemas.openxmlformats.org/officeDocument/2006/relationships/oleObject" Target="../embeddings/oleObject170.bin"/><Relationship Id="rId31" Type="http://schemas.openxmlformats.org/officeDocument/2006/relationships/oleObject" Target="../embeddings/oleObject176.bin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42.wmf"/><Relationship Id="rId22" Type="http://schemas.openxmlformats.org/officeDocument/2006/relationships/image" Target="../media/image117.wmf"/><Relationship Id="rId27" Type="http://schemas.openxmlformats.org/officeDocument/2006/relationships/oleObject" Target="../embeddings/oleObject174.bin"/><Relationship Id="rId30" Type="http://schemas.openxmlformats.org/officeDocument/2006/relationships/image" Target="../media/image147.wmf"/><Relationship Id="rId35" Type="http://schemas.openxmlformats.org/officeDocument/2006/relationships/image" Target="../media/image153.wmf"/><Relationship Id="rId8" Type="http://schemas.openxmlformats.org/officeDocument/2006/relationships/image" Target="../media/image139.wmf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5.emf"/><Relationship Id="rId21" Type="http://schemas.openxmlformats.org/officeDocument/2006/relationships/oleObject" Target="../embeddings/oleObject187.bin"/><Relationship Id="rId34" Type="http://schemas.openxmlformats.org/officeDocument/2006/relationships/image" Target="../media/image169.wmf"/><Relationship Id="rId42" Type="http://schemas.openxmlformats.org/officeDocument/2006/relationships/image" Target="../media/image173.wmf"/><Relationship Id="rId47" Type="http://schemas.openxmlformats.org/officeDocument/2006/relationships/oleObject" Target="../embeddings/oleObject200.bin"/><Relationship Id="rId50" Type="http://schemas.openxmlformats.org/officeDocument/2006/relationships/image" Target="../media/image177.emf"/><Relationship Id="rId55" Type="http://schemas.openxmlformats.org/officeDocument/2006/relationships/oleObject" Target="../embeddings/oleObject204.bin"/><Relationship Id="rId63" Type="http://schemas.openxmlformats.org/officeDocument/2006/relationships/oleObject" Target="../embeddings/oleObject208.bin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emf"/><Relationship Id="rId29" Type="http://schemas.openxmlformats.org/officeDocument/2006/relationships/oleObject" Target="../embeddings/oleObject191.bin"/><Relationship Id="rId11" Type="http://schemas.openxmlformats.org/officeDocument/2006/relationships/oleObject" Target="../embeddings/oleObject182.bin"/><Relationship Id="rId24" Type="http://schemas.openxmlformats.org/officeDocument/2006/relationships/image" Target="../media/image164.emf"/><Relationship Id="rId32" Type="http://schemas.openxmlformats.org/officeDocument/2006/relationships/image" Target="../media/image168.emf"/><Relationship Id="rId37" Type="http://schemas.openxmlformats.org/officeDocument/2006/relationships/oleObject" Target="../embeddings/oleObject195.bin"/><Relationship Id="rId40" Type="http://schemas.openxmlformats.org/officeDocument/2006/relationships/image" Target="../media/image172.wmf"/><Relationship Id="rId45" Type="http://schemas.openxmlformats.org/officeDocument/2006/relationships/oleObject" Target="../embeddings/oleObject199.bin"/><Relationship Id="rId53" Type="http://schemas.openxmlformats.org/officeDocument/2006/relationships/oleObject" Target="../embeddings/oleObject203.bin"/><Relationship Id="rId58" Type="http://schemas.openxmlformats.org/officeDocument/2006/relationships/image" Target="../media/image181.emf"/><Relationship Id="rId66" Type="http://schemas.openxmlformats.org/officeDocument/2006/relationships/image" Target="../media/image185.wmf"/><Relationship Id="rId5" Type="http://schemas.openxmlformats.org/officeDocument/2006/relationships/oleObject" Target="../embeddings/oleObject179.bin"/><Relationship Id="rId61" Type="http://schemas.openxmlformats.org/officeDocument/2006/relationships/oleObject" Target="../embeddings/oleObject207.bin"/><Relationship Id="rId19" Type="http://schemas.openxmlformats.org/officeDocument/2006/relationships/oleObject" Target="../embeddings/oleObject186.bin"/><Relationship Id="rId14" Type="http://schemas.openxmlformats.org/officeDocument/2006/relationships/image" Target="../media/image159.emf"/><Relationship Id="rId22" Type="http://schemas.openxmlformats.org/officeDocument/2006/relationships/image" Target="../media/image163.emf"/><Relationship Id="rId27" Type="http://schemas.openxmlformats.org/officeDocument/2006/relationships/oleObject" Target="../embeddings/oleObject190.bin"/><Relationship Id="rId30" Type="http://schemas.openxmlformats.org/officeDocument/2006/relationships/image" Target="../media/image167.emf"/><Relationship Id="rId35" Type="http://schemas.openxmlformats.org/officeDocument/2006/relationships/oleObject" Target="../embeddings/oleObject194.bin"/><Relationship Id="rId43" Type="http://schemas.openxmlformats.org/officeDocument/2006/relationships/oleObject" Target="../embeddings/oleObject198.bin"/><Relationship Id="rId48" Type="http://schemas.openxmlformats.org/officeDocument/2006/relationships/image" Target="../media/image176.emf"/><Relationship Id="rId56" Type="http://schemas.openxmlformats.org/officeDocument/2006/relationships/image" Target="../media/image180.emf"/><Relationship Id="rId64" Type="http://schemas.openxmlformats.org/officeDocument/2006/relationships/image" Target="../media/image184.wmf"/><Relationship Id="rId8" Type="http://schemas.openxmlformats.org/officeDocument/2006/relationships/image" Target="../media/image156.emf"/><Relationship Id="rId51" Type="http://schemas.openxmlformats.org/officeDocument/2006/relationships/oleObject" Target="../embeddings/oleObject202.bin"/><Relationship Id="rId3" Type="http://schemas.openxmlformats.org/officeDocument/2006/relationships/oleObject" Target="../embeddings/oleObject178.bin"/><Relationship Id="rId12" Type="http://schemas.openxmlformats.org/officeDocument/2006/relationships/image" Target="../media/image158.emf"/><Relationship Id="rId17" Type="http://schemas.openxmlformats.org/officeDocument/2006/relationships/oleObject" Target="../embeddings/oleObject185.bin"/><Relationship Id="rId25" Type="http://schemas.openxmlformats.org/officeDocument/2006/relationships/oleObject" Target="../embeddings/oleObject189.bin"/><Relationship Id="rId33" Type="http://schemas.openxmlformats.org/officeDocument/2006/relationships/oleObject" Target="../embeddings/oleObject193.bin"/><Relationship Id="rId38" Type="http://schemas.openxmlformats.org/officeDocument/2006/relationships/image" Target="../media/image171.wmf"/><Relationship Id="rId46" Type="http://schemas.openxmlformats.org/officeDocument/2006/relationships/image" Target="../media/image175.emf"/><Relationship Id="rId59" Type="http://schemas.openxmlformats.org/officeDocument/2006/relationships/oleObject" Target="../embeddings/oleObject206.bin"/><Relationship Id="rId20" Type="http://schemas.openxmlformats.org/officeDocument/2006/relationships/image" Target="../media/image162.emf"/><Relationship Id="rId41" Type="http://schemas.openxmlformats.org/officeDocument/2006/relationships/oleObject" Target="../embeddings/oleObject197.bin"/><Relationship Id="rId54" Type="http://schemas.openxmlformats.org/officeDocument/2006/relationships/image" Target="../media/image179.emf"/><Relationship Id="rId62" Type="http://schemas.openxmlformats.org/officeDocument/2006/relationships/image" Target="../media/image183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5.emf"/><Relationship Id="rId15" Type="http://schemas.openxmlformats.org/officeDocument/2006/relationships/oleObject" Target="../embeddings/oleObject184.bin"/><Relationship Id="rId23" Type="http://schemas.openxmlformats.org/officeDocument/2006/relationships/oleObject" Target="../embeddings/oleObject188.bin"/><Relationship Id="rId28" Type="http://schemas.openxmlformats.org/officeDocument/2006/relationships/image" Target="../media/image166.emf"/><Relationship Id="rId36" Type="http://schemas.openxmlformats.org/officeDocument/2006/relationships/image" Target="../media/image170.wmf"/><Relationship Id="rId49" Type="http://schemas.openxmlformats.org/officeDocument/2006/relationships/oleObject" Target="../embeddings/oleObject201.bin"/><Relationship Id="rId57" Type="http://schemas.openxmlformats.org/officeDocument/2006/relationships/oleObject" Target="../embeddings/oleObject205.bin"/><Relationship Id="rId10" Type="http://schemas.openxmlformats.org/officeDocument/2006/relationships/image" Target="../media/image157.emf"/><Relationship Id="rId31" Type="http://schemas.openxmlformats.org/officeDocument/2006/relationships/oleObject" Target="../embeddings/oleObject192.bin"/><Relationship Id="rId44" Type="http://schemas.openxmlformats.org/officeDocument/2006/relationships/image" Target="../media/image174.wmf"/><Relationship Id="rId52" Type="http://schemas.openxmlformats.org/officeDocument/2006/relationships/image" Target="../media/image178.emf"/><Relationship Id="rId60" Type="http://schemas.openxmlformats.org/officeDocument/2006/relationships/image" Target="../media/image182.emf"/><Relationship Id="rId65" Type="http://schemas.openxmlformats.org/officeDocument/2006/relationships/oleObject" Target="../embeddings/oleObject209.bin"/><Relationship Id="rId4" Type="http://schemas.openxmlformats.org/officeDocument/2006/relationships/image" Target="../media/image154.emf"/><Relationship Id="rId9" Type="http://schemas.openxmlformats.org/officeDocument/2006/relationships/oleObject" Target="../embeddings/oleObject181.bin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61.emf"/><Relationship Id="rId39" Type="http://schemas.openxmlformats.org/officeDocument/2006/relationships/oleObject" Target="../embeddings/oleObject196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0.bin"/><Relationship Id="rId2" Type="http://schemas.openxmlformats.org/officeDocument/2006/relationships/slideLayout" Target="../slideLayouts/slideLayout4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7.wmf"/><Relationship Id="rId5" Type="http://schemas.openxmlformats.org/officeDocument/2006/relationships/oleObject" Target="../embeddings/oleObject211.bin"/><Relationship Id="rId4" Type="http://schemas.openxmlformats.org/officeDocument/2006/relationships/image" Target="../media/image18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195.wmf"/><Relationship Id="rId3" Type="http://schemas.openxmlformats.org/officeDocument/2006/relationships/oleObject" Target="../embeddings/oleObject212.bin"/><Relationship Id="rId21" Type="http://schemas.openxmlformats.org/officeDocument/2006/relationships/oleObject" Target="../embeddings/oleObject221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220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227.bin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0" Type="http://schemas.openxmlformats.org/officeDocument/2006/relationships/image" Target="../media/image201.e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03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13" Type="http://schemas.openxmlformats.org/officeDocument/2006/relationships/oleObject" Target="../embeddings/oleObject233.bin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0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5.emf"/><Relationship Id="rId11" Type="http://schemas.openxmlformats.org/officeDocument/2006/relationships/oleObject" Target="../embeddings/oleObject232.bin"/><Relationship Id="rId5" Type="http://schemas.openxmlformats.org/officeDocument/2006/relationships/oleObject" Target="../embeddings/oleObject229.bin"/><Relationship Id="rId10" Type="http://schemas.openxmlformats.org/officeDocument/2006/relationships/image" Target="../media/image90.wmf"/><Relationship Id="rId4" Type="http://schemas.openxmlformats.org/officeDocument/2006/relationships/image" Target="../media/image204.e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10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09.emf"/><Relationship Id="rId5" Type="http://schemas.openxmlformats.org/officeDocument/2006/relationships/oleObject" Target="../embeddings/oleObject235.bin"/><Relationship Id="rId4" Type="http://schemas.openxmlformats.org/officeDocument/2006/relationships/image" Target="../media/image208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emf"/><Relationship Id="rId13" Type="http://schemas.openxmlformats.org/officeDocument/2006/relationships/oleObject" Target="../embeddings/oleObject241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1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1.e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0" Type="http://schemas.openxmlformats.org/officeDocument/2006/relationships/image" Target="../media/image213.emf"/><Relationship Id="rId4" Type="http://schemas.openxmlformats.org/officeDocument/2006/relationships/image" Target="../media/image210.e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15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emf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12" Type="http://schemas.openxmlformats.org/officeDocument/2006/relationships/image" Target="../media/image2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17.emf"/><Relationship Id="rId11" Type="http://schemas.openxmlformats.org/officeDocument/2006/relationships/image" Target="../media/image221.png"/><Relationship Id="rId5" Type="http://schemas.openxmlformats.org/officeDocument/2006/relationships/oleObject" Target="../embeddings/oleObject243.bin"/><Relationship Id="rId10" Type="http://schemas.openxmlformats.org/officeDocument/2006/relationships/image" Target="../media/image220.png"/><Relationship Id="rId4" Type="http://schemas.openxmlformats.org/officeDocument/2006/relationships/image" Target="../media/image216.emf"/><Relationship Id="rId9" Type="http://schemas.openxmlformats.org/officeDocument/2006/relationships/image" Target="../media/image21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e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24.emf"/><Relationship Id="rId5" Type="http://schemas.openxmlformats.org/officeDocument/2006/relationships/oleObject" Target="../embeddings/oleObject246.bin"/><Relationship Id="rId10" Type="http://schemas.openxmlformats.org/officeDocument/2006/relationships/image" Target="../media/image226.emf"/><Relationship Id="rId4" Type="http://schemas.openxmlformats.org/officeDocument/2006/relationships/image" Target="../media/image223.emf"/><Relationship Id="rId9" Type="http://schemas.openxmlformats.org/officeDocument/2006/relationships/oleObject" Target="../embeddings/oleObject248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13" Type="http://schemas.openxmlformats.org/officeDocument/2006/relationships/image" Target="../media/image230.emf"/><Relationship Id="rId18" Type="http://schemas.openxmlformats.org/officeDocument/2006/relationships/oleObject" Target="../embeddings/oleObject255.bin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oleObject" Target="../embeddings/oleObject252.bin"/><Relationship Id="rId17" Type="http://schemas.openxmlformats.org/officeDocument/2006/relationships/image" Target="../media/image23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4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8.wmf"/><Relationship Id="rId11" Type="http://schemas.openxmlformats.org/officeDocument/2006/relationships/image" Target="../media/image236.png"/><Relationship Id="rId5" Type="http://schemas.openxmlformats.org/officeDocument/2006/relationships/oleObject" Target="../embeddings/oleObject250.bin"/><Relationship Id="rId15" Type="http://schemas.openxmlformats.org/officeDocument/2006/relationships/image" Target="../media/image231.emf"/><Relationship Id="rId10" Type="http://schemas.openxmlformats.org/officeDocument/2006/relationships/image" Target="../media/image235.png"/><Relationship Id="rId19" Type="http://schemas.openxmlformats.org/officeDocument/2006/relationships/image" Target="../media/image233.emf"/><Relationship Id="rId4" Type="http://schemas.openxmlformats.org/officeDocument/2006/relationships/image" Target="../media/image227.wmf"/><Relationship Id="rId9" Type="http://schemas.openxmlformats.org/officeDocument/2006/relationships/image" Target="../media/image234.png"/><Relationship Id="rId14" Type="http://schemas.openxmlformats.org/officeDocument/2006/relationships/oleObject" Target="../embeddings/oleObject25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38.wmf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7.bin"/><Relationship Id="rId10" Type="http://schemas.openxmlformats.org/officeDocument/2006/relationships/image" Target="../media/image240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5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w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43.wmf"/><Relationship Id="rId5" Type="http://schemas.openxmlformats.org/officeDocument/2006/relationships/oleObject" Target="../embeddings/oleObject262.bin"/><Relationship Id="rId10" Type="http://schemas.openxmlformats.org/officeDocument/2006/relationships/image" Target="../media/image245.wmf"/><Relationship Id="rId4" Type="http://schemas.openxmlformats.org/officeDocument/2006/relationships/image" Target="../media/image242.wmf"/><Relationship Id="rId9" Type="http://schemas.openxmlformats.org/officeDocument/2006/relationships/oleObject" Target="../embeddings/oleObject264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0.bin"/><Relationship Id="rId18" Type="http://schemas.openxmlformats.org/officeDocument/2006/relationships/image" Target="../media/image253.emf"/><Relationship Id="rId26" Type="http://schemas.openxmlformats.org/officeDocument/2006/relationships/image" Target="../media/image257.emf"/><Relationship Id="rId3" Type="http://schemas.openxmlformats.org/officeDocument/2006/relationships/oleObject" Target="../embeddings/oleObject265.bin"/><Relationship Id="rId21" Type="http://schemas.openxmlformats.org/officeDocument/2006/relationships/oleObject" Target="../embeddings/oleObject274.bin"/><Relationship Id="rId7" Type="http://schemas.openxmlformats.org/officeDocument/2006/relationships/oleObject" Target="../embeddings/oleObject267.bin"/><Relationship Id="rId12" Type="http://schemas.openxmlformats.org/officeDocument/2006/relationships/image" Target="../media/image250.emf"/><Relationship Id="rId17" Type="http://schemas.openxmlformats.org/officeDocument/2006/relationships/oleObject" Target="../embeddings/oleObject272.bin"/><Relationship Id="rId25" Type="http://schemas.openxmlformats.org/officeDocument/2006/relationships/oleObject" Target="../embeddings/oleObject276.bin"/><Relationship Id="rId33" Type="http://schemas.openxmlformats.org/officeDocument/2006/relationships/image" Target="../media/image26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2.wmf"/><Relationship Id="rId20" Type="http://schemas.openxmlformats.org/officeDocument/2006/relationships/image" Target="../media/image254.emf"/><Relationship Id="rId29" Type="http://schemas.openxmlformats.org/officeDocument/2006/relationships/oleObject" Target="../embeddings/oleObject278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47.emf"/><Relationship Id="rId11" Type="http://schemas.openxmlformats.org/officeDocument/2006/relationships/oleObject" Target="../embeddings/oleObject269.bin"/><Relationship Id="rId24" Type="http://schemas.openxmlformats.org/officeDocument/2006/relationships/image" Target="../media/image256.emf"/><Relationship Id="rId32" Type="http://schemas.openxmlformats.org/officeDocument/2006/relationships/oleObject" Target="../embeddings/oleObject279.bin"/><Relationship Id="rId5" Type="http://schemas.openxmlformats.org/officeDocument/2006/relationships/oleObject" Target="../embeddings/oleObject266.bin"/><Relationship Id="rId15" Type="http://schemas.openxmlformats.org/officeDocument/2006/relationships/oleObject" Target="../embeddings/oleObject271.bin"/><Relationship Id="rId23" Type="http://schemas.openxmlformats.org/officeDocument/2006/relationships/oleObject" Target="../embeddings/oleObject275.bin"/><Relationship Id="rId28" Type="http://schemas.openxmlformats.org/officeDocument/2006/relationships/image" Target="../media/image258.emf"/><Relationship Id="rId10" Type="http://schemas.openxmlformats.org/officeDocument/2006/relationships/image" Target="../media/image249.wmf"/><Relationship Id="rId19" Type="http://schemas.openxmlformats.org/officeDocument/2006/relationships/oleObject" Target="../embeddings/oleObject273.bin"/><Relationship Id="rId31" Type="http://schemas.openxmlformats.org/officeDocument/2006/relationships/image" Target="../media/image261.png"/><Relationship Id="rId4" Type="http://schemas.openxmlformats.org/officeDocument/2006/relationships/image" Target="../media/image246.emf"/><Relationship Id="rId9" Type="http://schemas.openxmlformats.org/officeDocument/2006/relationships/oleObject" Target="../embeddings/oleObject268.bin"/><Relationship Id="rId14" Type="http://schemas.openxmlformats.org/officeDocument/2006/relationships/image" Target="../media/image251.emf"/><Relationship Id="rId22" Type="http://schemas.openxmlformats.org/officeDocument/2006/relationships/image" Target="../media/image255.emf"/><Relationship Id="rId27" Type="http://schemas.openxmlformats.org/officeDocument/2006/relationships/oleObject" Target="../embeddings/oleObject277.bin"/><Relationship Id="rId30" Type="http://schemas.openxmlformats.org/officeDocument/2006/relationships/image" Target="../media/image259.emf"/><Relationship Id="rId8" Type="http://schemas.openxmlformats.org/officeDocument/2006/relationships/image" Target="../media/image248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emf"/><Relationship Id="rId13" Type="http://schemas.openxmlformats.org/officeDocument/2006/relationships/oleObject" Target="../embeddings/oleObject285.bin"/><Relationship Id="rId18" Type="http://schemas.openxmlformats.org/officeDocument/2006/relationships/image" Target="../media/image269.wmf"/><Relationship Id="rId26" Type="http://schemas.openxmlformats.org/officeDocument/2006/relationships/image" Target="../media/image273.emf"/><Relationship Id="rId3" Type="http://schemas.openxmlformats.org/officeDocument/2006/relationships/oleObject" Target="../embeddings/oleObject280.bin"/><Relationship Id="rId21" Type="http://schemas.openxmlformats.org/officeDocument/2006/relationships/oleObject" Target="../embeddings/oleObject289.bin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66.wmf"/><Relationship Id="rId17" Type="http://schemas.openxmlformats.org/officeDocument/2006/relationships/oleObject" Target="../embeddings/oleObject287.bin"/><Relationship Id="rId25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8.emf"/><Relationship Id="rId20" Type="http://schemas.openxmlformats.org/officeDocument/2006/relationships/image" Target="../media/image270.emf"/><Relationship Id="rId29" Type="http://schemas.openxmlformats.org/officeDocument/2006/relationships/oleObject" Target="../embeddings/oleObject293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63.emf"/><Relationship Id="rId11" Type="http://schemas.openxmlformats.org/officeDocument/2006/relationships/oleObject" Target="../embeddings/oleObject284.bin"/><Relationship Id="rId24" Type="http://schemas.openxmlformats.org/officeDocument/2006/relationships/image" Target="../media/image272.emf"/><Relationship Id="rId32" Type="http://schemas.openxmlformats.org/officeDocument/2006/relationships/image" Target="../media/image276.emf"/><Relationship Id="rId5" Type="http://schemas.openxmlformats.org/officeDocument/2006/relationships/oleObject" Target="../embeddings/oleObject281.bin"/><Relationship Id="rId15" Type="http://schemas.openxmlformats.org/officeDocument/2006/relationships/oleObject" Target="../embeddings/oleObject286.bin"/><Relationship Id="rId23" Type="http://schemas.openxmlformats.org/officeDocument/2006/relationships/oleObject" Target="../embeddings/oleObject290.bin"/><Relationship Id="rId28" Type="http://schemas.openxmlformats.org/officeDocument/2006/relationships/image" Target="../media/image274.emf"/><Relationship Id="rId10" Type="http://schemas.openxmlformats.org/officeDocument/2006/relationships/image" Target="../media/image265.emf"/><Relationship Id="rId19" Type="http://schemas.openxmlformats.org/officeDocument/2006/relationships/oleObject" Target="../embeddings/oleObject288.bin"/><Relationship Id="rId31" Type="http://schemas.openxmlformats.org/officeDocument/2006/relationships/oleObject" Target="../embeddings/oleObject294.bin"/><Relationship Id="rId4" Type="http://schemas.openxmlformats.org/officeDocument/2006/relationships/image" Target="../media/image262.w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67.emf"/><Relationship Id="rId22" Type="http://schemas.openxmlformats.org/officeDocument/2006/relationships/image" Target="../media/image271.emf"/><Relationship Id="rId27" Type="http://schemas.openxmlformats.org/officeDocument/2006/relationships/oleObject" Target="../embeddings/oleObject292.bin"/><Relationship Id="rId30" Type="http://schemas.openxmlformats.org/officeDocument/2006/relationships/image" Target="../media/image27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278.png"/><Relationship Id="rId4" Type="http://schemas.openxmlformats.org/officeDocument/2006/relationships/image" Target="../media/image277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283.wmf"/><Relationship Id="rId18" Type="http://schemas.openxmlformats.org/officeDocument/2006/relationships/oleObject" Target="../embeddings/oleObject303.bin"/><Relationship Id="rId3" Type="http://schemas.openxmlformats.org/officeDocument/2006/relationships/oleObject" Target="../embeddings/oleObject296.bin"/><Relationship Id="rId21" Type="http://schemas.openxmlformats.org/officeDocument/2006/relationships/image" Target="../media/image287.wmf"/><Relationship Id="rId7" Type="http://schemas.openxmlformats.org/officeDocument/2006/relationships/oleObject" Target="../embeddings/oleObject298.bin"/><Relationship Id="rId12" Type="http://schemas.openxmlformats.org/officeDocument/2006/relationships/oleObject" Target="../embeddings/oleObject300.bin"/><Relationship Id="rId17" Type="http://schemas.openxmlformats.org/officeDocument/2006/relationships/image" Target="../media/image28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2.bin"/><Relationship Id="rId20" Type="http://schemas.openxmlformats.org/officeDocument/2006/relationships/oleObject" Target="../embeddings/oleObject304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1.wmf"/><Relationship Id="rId11" Type="http://schemas.openxmlformats.org/officeDocument/2006/relationships/image" Target="../media/image282.emf"/><Relationship Id="rId5" Type="http://schemas.openxmlformats.org/officeDocument/2006/relationships/oleObject" Target="../embeddings/oleObject297.bin"/><Relationship Id="rId15" Type="http://schemas.openxmlformats.org/officeDocument/2006/relationships/image" Target="../media/image284.wmf"/><Relationship Id="rId10" Type="http://schemas.openxmlformats.org/officeDocument/2006/relationships/oleObject" Target="../embeddings/oleObject299.bin"/><Relationship Id="rId19" Type="http://schemas.openxmlformats.org/officeDocument/2006/relationships/image" Target="../media/image286.wmf"/><Relationship Id="rId4" Type="http://schemas.openxmlformats.org/officeDocument/2006/relationships/image" Target="../media/image115.wmf"/><Relationship Id="rId9" Type="http://schemas.openxmlformats.org/officeDocument/2006/relationships/image" Target="../media/image121.png"/><Relationship Id="rId14" Type="http://schemas.openxmlformats.org/officeDocument/2006/relationships/oleObject" Target="../embeddings/oleObject301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7.bin"/><Relationship Id="rId13" Type="http://schemas.openxmlformats.org/officeDocument/2006/relationships/image" Target="../media/image283.wmf"/><Relationship Id="rId18" Type="http://schemas.openxmlformats.org/officeDocument/2006/relationships/oleObject" Target="../embeddings/oleObject312.bin"/><Relationship Id="rId3" Type="http://schemas.openxmlformats.org/officeDocument/2006/relationships/image" Target="../media/image291.png"/><Relationship Id="rId21" Type="http://schemas.openxmlformats.org/officeDocument/2006/relationships/image" Target="../media/image290.w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309.bin"/><Relationship Id="rId17" Type="http://schemas.openxmlformats.org/officeDocument/2006/relationships/image" Target="../media/image28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1.bin"/><Relationship Id="rId20" Type="http://schemas.openxmlformats.org/officeDocument/2006/relationships/oleObject" Target="../embeddings/oleObject313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06.bin"/><Relationship Id="rId11" Type="http://schemas.openxmlformats.org/officeDocument/2006/relationships/image" Target="../media/image117.wmf"/><Relationship Id="rId5" Type="http://schemas.openxmlformats.org/officeDocument/2006/relationships/image" Target="../media/image289.wmf"/><Relationship Id="rId15" Type="http://schemas.openxmlformats.org/officeDocument/2006/relationships/image" Target="../media/image284.wmf"/><Relationship Id="rId10" Type="http://schemas.openxmlformats.org/officeDocument/2006/relationships/oleObject" Target="../embeddings/oleObject308.bin"/><Relationship Id="rId19" Type="http://schemas.openxmlformats.org/officeDocument/2006/relationships/image" Target="../media/image286.wmf"/><Relationship Id="rId4" Type="http://schemas.openxmlformats.org/officeDocument/2006/relationships/oleObject" Target="../embeddings/oleObject305.bin"/><Relationship Id="rId9" Type="http://schemas.openxmlformats.org/officeDocument/2006/relationships/image" Target="../media/image281.wmf"/><Relationship Id="rId14" Type="http://schemas.openxmlformats.org/officeDocument/2006/relationships/oleObject" Target="../embeddings/oleObject310.bin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3.wmf"/><Relationship Id="rId18" Type="http://schemas.openxmlformats.org/officeDocument/2006/relationships/oleObject" Target="../embeddings/oleObject321.bin"/><Relationship Id="rId26" Type="http://schemas.openxmlformats.org/officeDocument/2006/relationships/oleObject" Target="../embeddings/oleObject326.bin"/><Relationship Id="rId3" Type="http://schemas.openxmlformats.org/officeDocument/2006/relationships/image" Target="../media/image291.png"/><Relationship Id="rId21" Type="http://schemas.openxmlformats.org/officeDocument/2006/relationships/image" Target="../media/image290.w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318.bin"/><Relationship Id="rId17" Type="http://schemas.openxmlformats.org/officeDocument/2006/relationships/image" Target="../media/image285.wmf"/><Relationship Id="rId25" Type="http://schemas.openxmlformats.org/officeDocument/2006/relationships/image" Target="../media/image121.png"/><Relationship Id="rId33" Type="http://schemas.openxmlformats.org/officeDocument/2006/relationships/image" Target="../media/image28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0.bin"/><Relationship Id="rId20" Type="http://schemas.openxmlformats.org/officeDocument/2006/relationships/oleObject" Target="../embeddings/oleObject322.bin"/><Relationship Id="rId29" Type="http://schemas.openxmlformats.org/officeDocument/2006/relationships/oleObject" Target="../embeddings/oleObject328.bin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15.bin"/><Relationship Id="rId11" Type="http://schemas.openxmlformats.org/officeDocument/2006/relationships/image" Target="../media/image117.wmf"/><Relationship Id="rId24" Type="http://schemas.openxmlformats.org/officeDocument/2006/relationships/oleObject" Target="../embeddings/oleObject325.bin"/><Relationship Id="rId32" Type="http://schemas.openxmlformats.org/officeDocument/2006/relationships/oleObject" Target="../embeddings/oleObject331.bin"/><Relationship Id="rId5" Type="http://schemas.openxmlformats.org/officeDocument/2006/relationships/image" Target="../media/image289.wmf"/><Relationship Id="rId15" Type="http://schemas.openxmlformats.org/officeDocument/2006/relationships/image" Target="../media/image284.wmf"/><Relationship Id="rId23" Type="http://schemas.openxmlformats.org/officeDocument/2006/relationships/oleObject" Target="../embeddings/oleObject324.bin"/><Relationship Id="rId28" Type="http://schemas.openxmlformats.org/officeDocument/2006/relationships/oleObject" Target="../embeddings/oleObject327.bin"/><Relationship Id="rId10" Type="http://schemas.openxmlformats.org/officeDocument/2006/relationships/oleObject" Target="../embeddings/oleObject317.bin"/><Relationship Id="rId19" Type="http://schemas.openxmlformats.org/officeDocument/2006/relationships/image" Target="../media/image286.wmf"/><Relationship Id="rId31" Type="http://schemas.openxmlformats.org/officeDocument/2006/relationships/oleObject" Target="../embeddings/oleObject330.bin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281.wmf"/><Relationship Id="rId14" Type="http://schemas.openxmlformats.org/officeDocument/2006/relationships/oleObject" Target="../embeddings/oleObject319.bin"/><Relationship Id="rId22" Type="http://schemas.openxmlformats.org/officeDocument/2006/relationships/oleObject" Target="../embeddings/oleObject323.bin"/><Relationship Id="rId27" Type="http://schemas.openxmlformats.org/officeDocument/2006/relationships/image" Target="../media/image292.emf"/><Relationship Id="rId30" Type="http://schemas.openxmlformats.org/officeDocument/2006/relationships/oleObject" Target="../embeddings/oleObject329.bin"/><Relationship Id="rId8" Type="http://schemas.openxmlformats.org/officeDocument/2006/relationships/oleObject" Target="../embeddings/oleObject316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333.bin"/><Relationship Id="rId10" Type="http://schemas.openxmlformats.org/officeDocument/2006/relationships/image" Target="../media/image296.wmf"/><Relationship Id="rId4" Type="http://schemas.openxmlformats.org/officeDocument/2006/relationships/image" Target="../media/image293.wmf"/><Relationship Id="rId9" Type="http://schemas.openxmlformats.org/officeDocument/2006/relationships/oleObject" Target="../embeddings/oleObject33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image" Target="../media/image304.png"/><Relationship Id="rId18" Type="http://schemas.openxmlformats.org/officeDocument/2006/relationships/oleObject" Target="../embeddings/oleObject342.bin"/><Relationship Id="rId3" Type="http://schemas.openxmlformats.org/officeDocument/2006/relationships/oleObject" Target="../embeddings/oleObject336.bin"/><Relationship Id="rId21" Type="http://schemas.openxmlformats.org/officeDocument/2006/relationships/image" Target="../media/image287.wmf"/><Relationship Id="rId7" Type="http://schemas.openxmlformats.org/officeDocument/2006/relationships/oleObject" Target="../embeddings/oleObject338.bin"/><Relationship Id="rId12" Type="http://schemas.openxmlformats.org/officeDocument/2006/relationships/image" Target="../media/image301.wmf"/><Relationship Id="rId17" Type="http://schemas.openxmlformats.org/officeDocument/2006/relationships/image" Target="../media/image30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1.bin"/><Relationship Id="rId20" Type="http://schemas.openxmlformats.org/officeDocument/2006/relationships/oleObject" Target="../embeddings/oleObject343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98.emf"/><Relationship Id="rId11" Type="http://schemas.openxmlformats.org/officeDocument/2006/relationships/oleObject" Target="../embeddings/oleObject340.bin"/><Relationship Id="rId5" Type="http://schemas.openxmlformats.org/officeDocument/2006/relationships/oleObject" Target="../embeddings/oleObject337.bin"/><Relationship Id="rId15" Type="http://schemas.openxmlformats.org/officeDocument/2006/relationships/image" Target="../media/image306.png"/><Relationship Id="rId10" Type="http://schemas.openxmlformats.org/officeDocument/2006/relationships/image" Target="../media/image300.emf"/><Relationship Id="rId19" Type="http://schemas.openxmlformats.org/officeDocument/2006/relationships/image" Target="../media/image303.wmf"/><Relationship Id="rId4" Type="http://schemas.openxmlformats.org/officeDocument/2006/relationships/image" Target="../media/image297.emf"/><Relationship Id="rId9" Type="http://schemas.openxmlformats.org/officeDocument/2006/relationships/oleObject" Target="../embeddings/oleObject339.bin"/><Relationship Id="rId14" Type="http://schemas.openxmlformats.org/officeDocument/2006/relationships/image" Target="../media/image305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emf"/><Relationship Id="rId13" Type="http://schemas.openxmlformats.org/officeDocument/2006/relationships/image" Target="../media/image301.wmf"/><Relationship Id="rId3" Type="http://schemas.openxmlformats.org/officeDocument/2006/relationships/oleObject" Target="../embeddings/oleObject344.bin"/><Relationship Id="rId7" Type="http://schemas.openxmlformats.org/officeDocument/2006/relationships/oleObject" Target="../embeddings/oleObject346.bin"/><Relationship Id="rId12" Type="http://schemas.openxmlformats.org/officeDocument/2006/relationships/oleObject" Target="../embeddings/oleObject347.bin"/><Relationship Id="rId17" Type="http://schemas.openxmlformats.org/officeDocument/2006/relationships/image" Target="../media/image29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9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08.emf"/><Relationship Id="rId11" Type="http://schemas.openxmlformats.org/officeDocument/2006/relationships/image" Target="../media/image306.png"/><Relationship Id="rId5" Type="http://schemas.openxmlformats.org/officeDocument/2006/relationships/oleObject" Target="../embeddings/oleObject345.bin"/><Relationship Id="rId15" Type="http://schemas.openxmlformats.org/officeDocument/2006/relationships/image" Target="../media/image289.wmf"/><Relationship Id="rId10" Type="http://schemas.openxmlformats.org/officeDocument/2006/relationships/image" Target="../media/image310.png"/><Relationship Id="rId4" Type="http://schemas.openxmlformats.org/officeDocument/2006/relationships/image" Target="../media/image307.emf"/><Relationship Id="rId9" Type="http://schemas.openxmlformats.org/officeDocument/2006/relationships/image" Target="../media/image304.png"/><Relationship Id="rId14" Type="http://schemas.openxmlformats.org/officeDocument/2006/relationships/oleObject" Target="../embeddings/oleObject348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11.w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5.bin"/><Relationship Id="rId18" Type="http://schemas.openxmlformats.org/officeDocument/2006/relationships/image" Target="../media/image115.wmf"/><Relationship Id="rId26" Type="http://schemas.openxmlformats.org/officeDocument/2006/relationships/oleObject" Target="../embeddings/oleObject361.bin"/><Relationship Id="rId21" Type="http://schemas.openxmlformats.org/officeDocument/2006/relationships/image" Target="../media/image327.png"/><Relationship Id="rId34" Type="http://schemas.openxmlformats.org/officeDocument/2006/relationships/oleObject" Target="../embeddings/oleObject365.bin"/><Relationship Id="rId7" Type="http://schemas.openxmlformats.org/officeDocument/2006/relationships/oleObject" Target="../embeddings/oleObject352.bin"/><Relationship Id="rId12" Type="http://schemas.openxmlformats.org/officeDocument/2006/relationships/image" Target="../media/image317.wmf"/><Relationship Id="rId17" Type="http://schemas.openxmlformats.org/officeDocument/2006/relationships/oleObject" Target="../embeddings/oleObject357.bin"/><Relationship Id="rId25" Type="http://schemas.openxmlformats.org/officeDocument/2006/relationships/image" Target="../media/image320.wmf"/><Relationship Id="rId33" Type="http://schemas.openxmlformats.org/officeDocument/2006/relationships/image" Target="../media/image3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.wmf"/><Relationship Id="rId20" Type="http://schemas.openxmlformats.org/officeDocument/2006/relationships/image" Target="../media/image318.wmf"/><Relationship Id="rId29" Type="http://schemas.openxmlformats.org/officeDocument/2006/relationships/image" Target="../media/image322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54.bin"/><Relationship Id="rId24" Type="http://schemas.openxmlformats.org/officeDocument/2006/relationships/oleObject" Target="../embeddings/oleObject360.bin"/><Relationship Id="rId32" Type="http://schemas.openxmlformats.org/officeDocument/2006/relationships/oleObject" Target="../embeddings/oleObject364.bin"/><Relationship Id="rId37" Type="http://schemas.openxmlformats.org/officeDocument/2006/relationships/image" Target="../media/image326.wmf"/><Relationship Id="rId5" Type="http://schemas.openxmlformats.org/officeDocument/2006/relationships/oleObject" Target="../embeddings/oleObject351.bin"/><Relationship Id="rId15" Type="http://schemas.openxmlformats.org/officeDocument/2006/relationships/oleObject" Target="../embeddings/oleObject356.bin"/><Relationship Id="rId23" Type="http://schemas.openxmlformats.org/officeDocument/2006/relationships/image" Target="../media/image319.wmf"/><Relationship Id="rId28" Type="http://schemas.openxmlformats.org/officeDocument/2006/relationships/oleObject" Target="../embeddings/oleObject362.bin"/><Relationship Id="rId36" Type="http://schemas.openxmlformats.org/officeDocument/2006/relationships/oleObject" Target="../embeddings/oleObject366.bin"/><Relationship Id="rId10" Type="http://schemas.openxmlformats.org/officeDocument/2006/relationships/image" Target="../media/image316.wmf"/><Relationship Id="rId19" Type="http://schemas.openxmlformats.org/officeDocument/2006/relationships/oleObject" Target="../embeddings/oleObject358.bin"/><Relationship Id="rId31" Type="http://schemas.openxmlformats.org/officeDocument/2006/relationships/image" Target="../media/image323.wmf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53.bin"/><Relationship Id="rId14" Type="http://schemas.openxmlformats.org/officeDocument/2006/relationships/image" Target="../media/image116.wmf"/><Relationship Id="rId22" Type="http://schemas.openxmlformats.org/officeDocument/2006/relationships/oleObject" Target="../embeddings/oleObject359.bin"/><Relationship Id="rId27" Type="http://schemas.openxmlformats.org/officeDocument/2006/relationships/image" Target="../media/image321.wmf"/><Relationship Id="rId30" Type="http://schemas.openxmlformats.org/officeDocument/2006/relationships/oleObject" Target="../embeddings/oleObject363.bin"/><Relationship Id="rId35" Type="http://schemas.openxmlformats.org/officeDocument/2006/relationships/image" Target="../media/image325.wmf"/><Relationship Id="rId8" Type="http://schemas.openxmlformats.org/officeDocument/2006/relationships/image" Target="../media/image315.wmf"/><Relationship Id="rId3" Type="http://schemas.openxmlformats.org/officeDocument/2006/relationships/oleObject" Target="../embeddings/oleObject350.bin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9.wmf"/><Relationship Id="rId18" Type="http://schemas.openxmlformats.org/officeDocument/2006/relationships/oleObject" Target="../embeddings/oleObject374.bin"/><Relationship Id="rId26" Type="http://schemas.openxmlformats.org/officeDocument/2006/relationships/image" Target="../media/image328.wmf"/><Relationship Id="rId39" Type="http://schemas.openxmlformats.org/officeDocument/2006/relationships/oleObject" Target="../embeddings/oleObject384.bin"/><Relationship Id="rId21" Type="http://schemas.openxmlformats.org/officeDocument/2006/relationships/image" Target="../media/image323.wmf"/><Relationship Id="rId34" Type="http://schemas.openxmlformats.org/officeDocument/2006/relationships/image" Target="../media/image332.wmf"/><Relationship Id="rId42" Type="http://schemas.openxmlformats.org/officeDocument/2006/relationships/image" Target="../media/image336.wmf"/><Relationship Id="rId7" Type="http://schemas.openxmlformats.org/officeDocument/2006/relationships/oleObject" Target="../embeddings/oleObject36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3.bin"/><Relationship Id="rId20" Type="http://schemas.openxmlformats.org/officeDocument/2006/relationships/oleObject" Target="../embeddings/oleObject375.bin"/><Relationship Id="rId29" Type="http://schemas.openxmlformats.org/officeDocument/2006/relationships/oleObject" Target="../embeddings/oleObject379.bin"/><Relationship Id="rId41" Type="http://schemas.openxmlformats.org/officeDocument/2006/relationships/oleObject" Target="../embeddings/oleObject385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7.wmf"/><Relationship Id="rId11" Type="http://schemas.openxmlformats.org/officeDocument/2006/relationships/image" Target="../media/image327.png"/><Relationship Id="rId24" Type="http://schemas.openxmlformats.org/officeDocument/2006/relationships/image" Target="../media/image326.wmf"/><Relationship Id="rId32" Type="http://schemas.openxmlformats.org/officeDocument/2006/relationships/image" Target="../media/image331.wmf"/><Relationship Id="rId37" Type="http://schemas.openxmlformats.org/officeDocument/2006/relationships/oleObject" Target="../embeddings/oleObject383.bin"/><Relationship Id="rId40" Type="http://schemas.openxmlformats.org/officeDocument/2006/relationships/image" Target="../media/image335.wmf"/><Relationship Id="rId5" Type="http://schemas.openxmlformats.org/officeDocument/2006/relationships/oleObject" Target="../embeddings/oleObject368.bin"/><Relationship Id="rId15" Type="http://schemas.openxmlformats.org/officeDocument/2006/relationships/image" Target="../media/image320.wmf"/><Relationship Id="rId23" Type="http://schemas.openxmlformats.org/officeDocument/2006/relationships/oleObject" Target="../embeddings/oleObject376.bin"/><Relationship Id="rId28" Type="http://schemas.openxmlformats.org/officeDocument/2006/relationships/image" Target="../media/image329.wmf"/><Relationship Id="rId36" Type="http://schemas.openxmlformats.org/officeDocument/2006/relationships/image" Target="../media/image333.wmf"/><Relationship Id="rId10" Type="http://schemas.openxmlformats.org/officeDocument/2006/relationships/image" Target="../media/image318.wmf"/><Relationship Id="rId19" Type="http://schemas.openxmlformats.org/officeDocument/2006/relationships/image" Target="../media/image322.wmf"/><Relationship Id="rId31" Type="http://schemas.openxmlformats.org/officeDocument/2006/relationships/oleObject" Target="../embeddings/oleObject380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370.bin"/><Relationship Id="rId14" Type="http://schemas.openxmlformats.org/officeDocument/2006/relationships/oleObject" Target="../embeddings/oleObject372.bin"/><Relationship Id="rId22" Type="http://schemas.openxmlformats.org/officeDocument/2006/relationships/image" Target="../media/image337.png"/><Relationship Id="rId27" Type="http://schemas.openxmlformats.org/officeDocument/2006/relationships/oleObject" Target="../embeddings/oleObject378.bin"/><Relationship Id="rId30" Type="http://schemas.openxmlformats.org/officeDocument/2006/relationships/image" Target="../media/image330.wmf"/><Relationship Id="rId35" Type="http://schemas.openxmlformats.org/officeDocument/2006/relationships/oleObject" Target="../embeddings/oleObject382.bin"/><Relationship Id="rId8" Type="http://schemas.openxmlformats.org/officeDocument/2006/relationships/image" Target="../media/image115.wmf"/><Relationship Id="rId3" Type="http://schemas.openxmlformats.org/officeDocument/2006/relationships/oleObject" Target="../embeddings/oleObject367.bin"/><Relationship Id="rId12" Type="http://schemas.openxmlformats.org/officeDocument/2006/relationships/oleObject" Target="../embeddings/oleObject371.bin"/><Relationship Id="rId17" Type="http://schemas.openxmlformats.org/officeDocument/2006/relationships/image" Target="../media/image321.wmf"/><Relationship Id="rId25" Type="http://schemas.openxmlformats.org/officeDocument/2006/relationships/oleObject" Target="../embeddings/oleObject377.bin"/><Relationship Id="rId33" Type="http://schemas.openxmlformats.org/officeDocument/2006/relationships/oleObject" Target="../embeddings/oleObject381.bin"/><Relationship Id="rId38" Type="http://schemas.openxmlformats.org/officeDocument/2006/relationships/image" Target="../media/image334.wmf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9.wmf"/><Relationship Id="rId18" Type="http://schemas.openxmlformats.org/officeDocument/2006/relationships/oleObject" Target="../embeddings/oleObject393.bin"/><Relationship Id="rId26" Type="http://schemas.openxmlformats.org/officeDocument/2006/relationships/oleObject" Target="../embeddings/oleObject397.bin"/><Relationship Id="rId39" Type="http://schemas.openxmlformats.org/officeDocument/2006/relationships/image" Target="../media/image313.wmf"/><Relationship Id="rId21" Type="http://schemas.openxmlformats.org/officeDocument/2006/relationships/image" Target="../media/image323.wmf"/><Relationship Id="rId34" Type="http://schemas.openxmlformats.org/officeDocument/2006/relationships/oleObject" Target="../embeddings/oleObject402.bin"/><Relationship Id="rId42" Type="http://schemas.openxmlformats.org/officeDocument/2006/relationships/oleObject" Target="../embeddings/oleObject407.bin"/><Relationship Id="rId47" Type="http://schemas.openxmlformats.org/officeDocument/2006/relationships/image" Target="../media/image341.wmf"/><Relationship Id="rId50" Type="http://schemas.openxmlformats.org/officeDocument/2006/relationships/oleObject" Target="../embeddings/oleObject411.bin"/><Relationship Id="rId55" Type="http://schemas.openxmlformats.org/officeDocument/2006/relationships/image" Target="../media/image344.emf"/><Relationship Id="rId7" Type="http://schemas.openxmlformats.org/officeDocument/2006/relationships/oleObject" Target="../embeddings/oleObject38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2.bin"/><Relationship Id="rId29" Type="http://schemas.openxmlformats.org/officeDocument/2006/relationships/oleObject" Target="../embeddings/oleObject398.bin"/><Relationship Id="rId11" Type="http://schemas.openxmlformats.org/officeDocument/2006/relationships/image" Target="../media/image327.png"/><Relationship Id="rId24" Type="http://schemas.openxmlformats.org/officeDocument/2006/relationships/oleObject" Target="../embeddings/oleObject396.bin"/><Relationship Id="rId32" Type="http://schemas.openxmlformats.org/officeDocument/2006/relationships/oleObject" Target="../embeddings/oleObject401.bin"/><Relationship Id="rId37" Type="http://schemas.openxmlformats.org/officeDocument/2006/relationships/image" Target="../media/image314.wmf"/><Relationship Id="rId40" Type="http://schemas.openxmlformats.org/officeDocument/2006/relationships/oleObject" Target="../embeddings/oleObject406.bin"/><Relationship Id="rId45" Type="http://schemas.openxmlformats.org/officeDocument/2006/relationships/image" Target="../media/image340.wmf"/><Relationship Id="rId53" Type="http://schemas.openxmlformats.org/officeDocument/2006/relationships/image" Target="../media/image334.wmf"/><Relationship Id="rId5" Type="http://schemas.openxmlformats.org/officeDocument/2006/relationships/oleObject" Target="../embeddings/oleObject387.bin"/><Relationship Id="rId10" Type="http://schemas.openxmlformats.org/officeDocument/2006/relationships/image" Target="../media/image318.wmf"/><Relationship Id="rId19" Type="http://schemas.openxmlformats.org/officeDocument/2006/relationships/image" Target="../media/image322.wmf"/><Relationship Id="rId31" Type="http://schemas.openxmlformats.org/officeDocument/2006/relationships/oleObject" Target="../embeddings/oleObject400.bin"/><Relationship Id="rId44" Type="http://schemas.openxmlformats.org/officeDocument/2006/relationships/oleObject" Target="../embeddings/oleObject408.bin"/><Relationship Id="rId52" Type="http://schemas.openxmlformats.org/officeDocument/2006/relationships/oleObject" Target="../embeddings/oleObject412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389.bin"/><Relationship Id="rId14" Type="http://schemas.openxmlformats.org/officeDocument/2006/relationships/oleObject" Target="../embeddings/oleObject391.bin"/><Relationship Id="rId22" Type="http://schemas.openxmlformats.org/officeDocument/2006/relationships/oleObject" Target="../embeddings/oleObject395.bin"/><Relationship Id="rId27" Type="http://schemas.openxmlformats.org/officeDocument/2006/relationships/image" Target="../media/image339.wmf"/><Relationship Id="rId30" Type="http://schemas.openxmlformats.org/officeDocument/2006/relationships/oleObject" Target="../embeddings/oleObject399.bin"/><Relationship Id="rId35" Type="http://schemas.openxmlformats.org/officeDocument/2006/relationships/oleObject" Target="../embeddings/oleObject403.bin"/><Relationship Id="rId43" Type="http://schemas.openxmlformats.org/officeDocument/2006/relationships/image" Target="../media/image316.wmf"/><Relationship Id="rId48" Type="http://schemas.openxmlformats.org/officeDocument/2006/relationships/oleObject" Target="../embeddings/oleObject410.bin"/><Relationship Id="rId8" Type="http://schemas.openxmlformats.org/officeDocument/2006/relationships/image" Target="../media/image115.wmf"/><Relationship Id="rId51" Type="http://schemas.openxmlformats.org/officeDocument/2006/relationships/image" Target="../media/image343.wmf"/><Relationship Id="rId3" Type="http://schemas.openxmlformats.org/officeDocument/2006/relationships/oleObject" Target="../embeddings/oleObject386.bin"/><Relationship Id="rId12" Type="http://schemas.openxmlformats.org/officeDocument/2006/relationships/oleObject" Target="../embeddings/oleObject390.bin"/><Relationship Id="rId17" Type="http://schemas.openxmlformats.org/officeDocument/2006/relationships/image" Target="../media/image321.wmf"/><Relationship Id="rId25" Type="http://schemas.openxmlformats.org/officeDocument/2006/relationships/image" Target="../media/image338.wmf"/><Relationship Id="rId33" Type="http://schemas.openxmlformats.org/officeDocument/2006/relationships/image" Target="../media/image291.png"/><Relationship Id="rId38" Type="http://schemas.openxmlformats.org/officeDocument/2006/relationships/oleObject" Target="../embeddings/oleObject405.bin"/><Relationship Id="rId46" Type="http://schemas.openxmlformats.org/officeDocument/2006/relationships/oleObject" Target="../embeddings/oleObject409.bin"/><Relationship Id="rId20" Type="http://schemas.openxmlformats.org/officeDocument/2006/relationships/oleObject" Target="../embeddings/oleObject394.bin"/><Relationship Id="rId41" Type="http://schemas.openxmlformats.org/officeDocument/2006/relationships/image" Target="../media/image315.wmf"/><Relationship Id="rId54" Type="http://schemas.openxmlformats.org/officeDocument/2006/relationships/oleObject" Target="../embeddings/oleObject413.bin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17.wmf"/><Relationship Id="rId15" Type="http://schemas.openxmlformats.org/officeDocument/2006/relationships/image" Target="../media/image320.wmf"/><Relationship Id="rId23" Type="http://schemas.openxmlformats.org/officeDocument/2006/relationships/image" Target="../media/image326.wmf"/><Relationship Id="rId28" Type="http://schemas.openxmlformats.org/officeDocument/2006/relationships/image" Target="../media/image337.png"/><Relationship Id="rId36" Type="http://schemas.openxmlformats.org/officeDocument/2006/relationships/oleObject" Target="../embeddings/oleObject404.bin"/><Relationship Id="rId49" Type="http://schemas.openxmlformats.org/officeDocument/2006/relationships/image" Target="../media/image342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3" Type="http://schemas.openxmlformats.org/officeDocument/2006/relationships/oleObject" Target="../embeddings/oleObject414.bin"/><Relationship Id="rId7" Type="http://schemas.openxmlformats.org/officeDocument/2006/relationships/oleObject" Target="../embeddings/oleObject4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46.emf"/><Relationship Id="rId5" Type="http://schemas.openxmlformats.org/officeDocument/2006/relationships/oleObject" Target="../embeddings/oleObject415.bin"/><Relationship Id="rId10" Type="http://schemas.openxmlformats.org/officeDocument/2006/relationships/image" Target="../media/image348.emf"/><Relationship Id="rId4" Type="http://schemas.openxmlformats.org/officeDocument/2006/relationships/image" Target="../media/image345.emf"/><Relationship Id="rId9" Type="http://schemas.openxmlformats.org/officeDocument/2006/relationships/oleObject" Target="../embeddings/oleObject41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50.emf"/><Relationship Id="rId5" Type="http://schemas.openxmlformats.org/officeDocument/2006/relationships/oleObject" Target="../embeddings/oleObject419.bin"/><Relationship Id="rId4" Type="http://schemas.openxmlformats.org/officeDocument/2006/relationships/image" Target="../media/image349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4.bin"/><Relationship Id="rId18" Type="http://schemas.openxmlformats.org/officeDocument/2006/relationships/image" Target="../media/image358.wmf"/><Relationship Id="rId26" Type="http://schemas.openxmlformats.org/officeDocument/2006/relationships/image" Target="../media/image362.wmf"/><Relationship Id="rId39" Type="http://schemas.openxmlformats.org/officeDocument/2006/relationships/image" Target="../media/image367.wmf"/><Relationship Id="rId21" Type="http://schemas.openxmlformats.org/officeDocument/2006/relationships/oleObject" Target="../embeddings/oleObject428.bin"/><Relationship Id="rId34" Type="http://schemas.openxmlformats.org/officeDocument/2006/relationships/oleObject" Target="../embeddings/oleObject436.bin"/><Relationship Id="rId42" Type="http://schemas.openxmlformats.org/officeDocument/2006/relationships/oleObject" Target="../embeddings/oleObject440.bin"/><Relationship Id="rId7" Type="http://schemas.openxmlformats.org/officeDocument/2006/relationships/oleObject" Target="../embeddings/oleObject4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7.wmf"/><Relationship Id="rId20" Type="http://schemas.openxmlformats.org/officeDocument/2006/relationships/image" Target="../media/image359.wmf"/><Relationship Id="rId29" Type="http://schemas.openxmlformats.org/officeDocument/2006/relationships/oleObject" Target="../embeddings/oleObject433.bin"/><Relationship Id="rId41" Type="http://schemas.openxmlformats.org/officeDocument/2006/relationships/image" Target="../media/image368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53.wmf"/><Relationship Id="rId11" Type="http://schemas.openxmlformats.org/officeDocument/2006/relationships/oleObject" Target="../embeddings/oleObject423.bin"/><Relationship Id="rId24" Type="http://schemas.openxmlformats.org/officeDocument/2006/relationships/image" Target="../media/image361.wmf"/><Relationship Id="rId32" Type="http://schemas.openxmlformats.org/officeDocument/2006/relationships/oleObject" Target="../embeddings/oleObject435.bin"/><Relationship Id="rId37" Type="http://schemas.openxmlformats.org/officeDocument/2006/relationships/image" Target="../media/image366.wmf"/><Relationship Id="rId40" Type="http://schemas.openxmlformats.org/officeDocument/2006/relationships/oleObject" Target="../embeddings/oleObject439.bin"/><Relationship Id="rId5" Type="http://schemas.openxmlformats.org/officeDocument/2006/relationships/oleObject" Target="../embeddings/oleObject421.bin"/><Relationship Id="rId15" Type="http://schemas.openxmlformats.org/officeDocument/2006/relationships/oleObject" Target="../embeddings/oleObject425.bin"/><Relationship Id="rId23" Type="http://schemas.openxmlformats.org/officeDocument/2006/relationships/oleObject" Target="../embeddings/oleObject429.bin"/><Relationship Id="rId28" Type="http://schemas.openxmlformats.org/officeDocument/2006/relationships/oleObject" Target="../embeddings/oleObject432.bin"/><Relationship Id="rId36" Type="http://schemas.openxmlformats.org/officeDocument/2006/relationships/oleObject" Target="../embeddings/oleObject437.bin"/><Relationship Id="rId10" Type="http://schemas.openxmlformats.org/officeDocument/2006/relationships/image" Target="../media/image371.png"/><Relationship Id="rId19" Type="http://schemas.openxmlformats.org/officeDocument/2006/relationships/oleObject" Target="../embeddings/oleObject427.bin"/><Relationship Id="rId31" Type="http://schemas.openxmlformats.org/officeDocument/2006/relationships/image" Target="../media/image363.wmf"/><Relationship Id="rId4" Type="http://schemas.openxmlformats.org/officeDocument/2006/relationships/image" Target="../media/image352.wmf"/><Relationship Id="rId9" Type="http://schemas.openxmlformats.org/officeDocument/2006/relationships/image" Target="../media/image370.png"/><Relationship Id="rId14" Type="http://schemas.openxmlformats.org/officeDocument/2006/relationships/image" Target="../media/image356.wmf"/><Relationship Id="rId22" Type="http://schemas.openxmlformats.org/officeDocument/2006/relationships/image" Target="../media/image360.wmf"/><Relationship Id="rId27" Type="http://schemas.openxmlformats.org/officeDocument/2006/relationships/oleObject" Target="../embeddings/oleObject431.bin"/><Relationship Id="rId30" Type="http://schemas.openxmlformats.org/officeDocument/2006/relationships/oleObject" Target="../embeddings/oleObject434.bin"/><Relationship Id="rId35" Type="http://schemas.openxmlformats.org/officeDocument/2006/relationships/image" Target="../media/image365.wmf"/><Relationship Id="rId43" Type="http://schemas.openxmlformats.org/officeDocument/2006/relationships/image" Target="../media/image369.wmf"/><Relationship Id="rId8" Type="http://schemas.openxmlformats.org/officeDocument/2006/relationships/image" Target="../media/image354.wmf"/><Relationship Id="rId3" Type="http://schemas.openxmlformats.org/officeDocument/2006/relationships/oleObject" Target="../embeddings/oleObject420.bin"/><Relationship Id="rId12" Type="http://schemas.openxmlformats.org/officeDocument/2006/relationships/image" Target="../media/image355.wmf"/><Relationship Id="rId17" Type="http://schemas.openxmlformats.org/officeDocument/2006/relationships/oleObject" Target="../embeddings/oleObject426.bin"/><Relationship Id="rId25" Type="http://schemas.openxmlformats.org/officeDocument/2006/relationships/oleObject" Target="../embeddings/oleObject430.bin"/><Relationship Id="rId33" Type="http://schemas.openxmlformats.org/officeDocument/2006/relationships/image" Target="../media/image364.wmf"/><Relationship Id="rId38" Type="http://schemas.openxmlformats.org/officeDocument/2006/relationships/oleObject" Target="../embeddings/oleObject438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4.wmf"/><Relationship Id="rId13" Type="http://schemas.openxmlformats.org/officeDocument/2006/relationships/oleObject" Target="../embeddings/oleObject446.bin"/><Relationship Id="rId18" Type="http://schemas.openxmlformats.org/officeDocument/2006/relationships/image" Target="../media/image379.wmf"/><Relationship Id="rId26" Type="http://schemas.openxmlformats.org/officeDocument/2006/relationships/image" Target="../media/image383.wmf"/><Relationship Id="rId3" Type="http://schemas.openxmlformats.org/officeDocument/2006/relationships/oleObject" Target="../embeddings/oleObject441.bin"/><Relationship Id="rId21" Type="http://schemas.openxmlformats.org/officeDocument/2006/relationships/oleObject" Target="../embeddings/oleObject450.bin"/><Relationship Id="rId7" Type="http://schemas.openxmlformats.org/officeDocument/2006/relationships/oleObject" Target="../embeddings/oleObject443.bin"/><Relationship Id="rId12" Type="http://schemas.openxmlformats.org/officeDocument/2006/relationships/image" Target="../media/image376.emf"/><Relationship Id="rId17" Type="http://schemas.openxmlformats.org/officeDocument/2006/relationships/oleObject" Target="../embeddings/oleObject448.bin"/><Relationship Id="rId25" Type="http://schemas.openxmlformats.org/officeDocument/2006/relationships/oleObject" Target="../embeddings/oleObject45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78.emf"/><Relationship Id="rId20" Type="http://schemas.openxmlformats.org/officeDocument/2006/relationships/image" Target="../media/image380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73.emf"/><Relationship Id="rId11" Type="http://schemas.openxmlformats.org/officeDocument/2006/relationships/oleObject" Target="../embeddings/oleObject445.bin"/><Relationship Id="rId24" Type="http://schemas.openxmlformats.org/officeDocument/2006/relationships/image" Target="../media/image382.wmf"/><Relationship Id="rId5" Type="http://schemas.openxmlformats.org/officeDocument/2006/relationships/oleObject" Target="../embeddings/oleObject442.bin"/><Relationship Id="rId15" Type="http://schemas.openxmlformats.org/officeDocument/2006/relationships/oleObject" Target="../embeddings/oleObject447.bin"/><Relationship Id="rId23" Type="http://schemas.openxmlformats.org/officeDocument/2006/relationships/oleObject" Target="../embeddings/oleObject451.bin"/><Relationship Id="rId10" Type="http://schemas.openxmlformats.org/officeDocument/2006/relationships/image" Target="../media/image375.emf"/><Relationship Id="rId19" Type="http://schemas.openxmlformats.org/officeDocument/2006/relationships/oleObject" Target="../embeddings/oleObject449.bin"/><Relationship Id="rId4" Type="http://schemas.openxmlformats.org/officeDocument/2006/relationships/image" Target="../media/image372.wmf"/><Relationship Id="rId9" Type="http://schemas.openxmlformats.org/officeDocument/2006/relationships/oleObject" Target="../embeddings/oleObject444.bin"/><Relationship Id="rId14" Type="http://schemas.openxmlformats.org/officeDocument/2006/relationships/image" Target="../media/image377.wmf"/><Relationship Id="rId22" Type="http://schemas.openxmlformats.org/officeDocument/2006/relationships/image" Target="../media/image381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emf"/><Relationship Id="rId13" Type="http://schemas.openxmlformats.org/officeDocument/2006/relationships/oleObject" Target="../embeddings/oleObject458.bin"/><Relationship Id="rId18" Type="http://schemas.openxmlformats.org/officeDocument/2006/relationships/image" Target="../media/image391.wmf"/><Relationship Id="rId3" Type="http://schemas.openxmlformats.org/officeDocument/2006/relationships/oleObject" Target="../embeddings/oleObject453.bin"/><Relationship Id="rId7" Type="http://schemas.openxmlformats.org/officeDocument/2006/relationships/oleObject" Target="../embeddings/oleObject455.bin"/><Relationship Id="rId12" Type="http://schemas.openxmlformats.org/officeDocument/2006/relationships/image" Target="../media/image388.wmf"/><Relationship Id="rId17" Type="http://schemas.openxmlformats.org/officeDocument/2006/relationships/oleObject" Target="../embeddings/oleObject4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0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85.wmf"/><Relationship Id="rId11" Type="http://schemas.openxmlformats.org/officeDocument/2006/relationships/oleObject" Target="../embeddings/oleObject457.bin"/><Relationship Id="rId5" Type="http://schemas.openxmlformats.org/officeDocument/2006/relationships/oleObject" Target="../embeddings/oleObject454.bin"/><Relationship Id="rId15" Type="http://schemas.openxmlformats.org/officeDocument/2006/relationships/oleObject" Target="../embeddings/oleObject459.bin"/><Relationship Id="rId10" Type="http://schemas.openxmlformats.org/officeDocument/2006/relationships/image" Target="../media/image387.emf"/><Relationship Id="rId4" Type="http://schemas.openxmlformats.org/officeDocument/2006/relationships/image" Target="../media/image384.wmf"/><Relationship Id="rId9" Type="http://schemas.openxmlformats.org/officeDocument/2006/relationships/oleObject" Target="../embeddings/oleObject456.bin"/><Relationship Id="rId14" Type="http://schemas.openxmlformats.org/officeDocument/2006/relationships/image" Target="../media/image389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emf"/><Relationship Id="rId3" Type="http://schemas.openxmlformats.org/officeDocument/2006/relationships/oleObject" Target="../embeddings/oleObject461.bin"/><Relationship Id="rId7" Type="http://schemas.openxmlformats.org/officeDocument/2006/relationships/oleObject" Target="../embeddings/oleObject463.bin"/><Relationship Id="rId12" Type="http://schemas.openxmlformats.org/officeDocument/2006/relationships/image" Target="../media/image3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93.wmf"/><Relationship Id="rId11" Type="http://schemas.openxmlformats.org/officeDocument/2006/relationships/oleObject" Target="../embeddings/oleObject465.bin"/><Relationship Id="rId5" Type="http://schemas.openxmlformats.org/officeDocument/2006/relationships/oleObject" Target="../embeddings/oleObject462.bin"/><Relationship Id="rId10" Type="http://schemas.openxmlformats.org/officeDocument/2006/relationships/image" Target="../media/image395.emf"/><Relationship Id="rId4" Type="http://schemas.openxmlformats.org/officeDocument/2006/relationships/image" Target="../media/image392.emf"/><Relationship Id="rId9" Type="http://schemas.openxmlformats.org/officeDocument/2006/relationships/oleObject" Target="../embeddings/oleObject46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矩形 479235"/>
          <p:cNvSpPr/>
          <p:nvPr/>
        </p:nvSpPr>
        <p:spPr>
          <a:xfrm>
            <a:off x="498475" y="53975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</a:t>
            </a:r>
            <a:r>
              <a:rPr lang="zh-CN" alt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章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热力学基础   </a:t>
            </a:r>
          </a:p>
        </p:txBody>
      </p:sp>
      <p:sp>
        <p:nvSpPr>
          <p:cNvPr id="479237" name="矩形 479236"/>
          <p:cNvSpPr/>
          <p:nvPr/>
        </p:nvSpPr>
        <p:spPr>
          <a:xfrm>
            <a:off x="1187450" y="2132965"/>
            <a:ext cx="7275513" cy="341439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13-1   </a:t>
            </a: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热力学系统与热力学过程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</a:t>
            </a: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-2   内能、功和热量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13-3   </a:t>
            </a: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热力学第一定律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13-4   </a:t>
            </a: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热一律在理想气体中的应用     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13-5   循环过程  卡诺循环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67585" y="1124585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2"/>
                </a:solidFill>
                <a:ea typeface="黑体" panose="02010609060101010101" pitchFamily="49" charset="-122"/>
                <a:sym typeface="+mn-ea"/>
              </a:rPr>
              <a:t>热力学第一定律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矩形 441389"/>
          <p:cNvSpPr/>
          <p:nvPr/>
        </p:nvSpPr>
        <p:spPr>
          <a:xfrm>
            <a:off x="971550" y="115888"/>
            <a:ext cx="6018213" cy="579437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13-1   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热力学系统与热力学过程</a:t>
            </a:r>
          </a:p>
        </p:txBody>
      </p:sp>
      <p:sp>
        <p:nvSpPr>
          <p:cNvPr id="441391" name="矩形 441390"/>
          <p:cNvSpPr/>
          <p:nvPr/>
        </p:nvSpPr>
        <p:spPr>
          <a:xfrm>
            <a:off x="179388" y="763588"/>
            <a:ext cx="3455987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一、热力学系统</a:t>
            </a:r>
          </a:p>
        </p:txBody>
      </p:sp>
      <p:sp>
        <p:nvSpPr>
          <p:cNvPr id="441394" name="文本框 441393"/>
          <p:cNvSpPr txBox="1"/>
          <p:nvPr/>
        </p:nvSpPr>
        <p:spPr>
          <a:xfrm>
            <a:off x="1201738" y="2852738"/>
            <a:ext cx="195580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buBlip>
                <a:blip r:embed="rId2"/>
              </a:buBlip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开放系统</a:t>
            </a:r>
          </a:p>
        </p:txBody>
      </p:sp>
      <p:sp>
        <p:nvSpPr>
          <p:cNvPr id="441395" name="文本框 441394"/>
          <p:cNvSpPr txBox="1"/>
          <p:nvPr/>
        </p:nvSpPr>
        <p:spPr>
          <a:xfrm>
            <a:off x="1184275" y="3905250"/>
            <a:ext cx="1955800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buBlip>
                <a:blip r:embed="rId2"/>
              </a:buBlip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封闭系统</a:t>
            </a:r>
          </a:p>
        </p:txBody>
      </p:sp>
      <p:sp>
        <p:nvSpPr>
          <p:cNvPr id="441396" name="文本框 441395"/>
          <p:cNvSpPr txBox="1"/>
          <p:nvPr/>
        </p:nvSpPr>
        <p:spPr>
          <a:xfrm>
            <a:off x="1185863" y="4999038"/>
            <a:ext cx="1955800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buBlip>
                <a:blip r:embed="rId2"/>
              </a:buBlip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孤立系统</a:t>
            </a:r>
          </a:p>
        </p:txBody>
      </p:sp>
      <p:grpSp>
        <p:nvGrpSpPr>
          <p:cNvPr id="2" name="组合 441411"/>
          <p:cNvGrpSpPr/>
          <p:nvPr/>
        </p:nvGrpSpPr>
        <p:grpSpPr>
          <a:xfrm>
            <a:off x="1258888" y="1482725"/>
            <a:ext cx="5184775" cy="1285875"/>
            <a:chOff x="793" y="934"/>
            <a:chExt cx="3266" cy="810"/>
          </a:xfrm>
        </p:grpSpPr>
        <p:sp>
          <p:nvSpPr>
            <p:cNvPr id="77831" name="文本框 441399"/>
            <p:cNvSpPr txBox="1"/>
            <p:nvPr/>
          </p:nvSpPr>
          <p:spPr>
            <a:xfrm>
              <a:off x="2783" y="1332"/>
              <a:ext cx="1276" cy="4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外界（环境）</a:t>
              </a:r>
            </a:p>
          </p:txBody>
        </p:sp>
        <p:sp>
          <p:nvSpPr>
            <p:cNvPr id="77832" name="文本框 441400"/>
            <p:cNvSpPr txBox="1"/>
            <p:nvPr/>
          </p:nvSpPr>
          <p:spPr>
            <a:xfrm>
              <a:off x="1415" y="934"/>
              <a:ext cx="1275" cy="797"/>
            </a:xfrm>
            <a:prstGeom prst="rect">
              <a:avLst/>
            </a:prstGeom>
            <a:blipFill rotWithShape="0">
              <a:blip r:embed="rId3"/>
            </a:blip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833" name="直接连接符 441401"/>
            <p:cNvSpPr/>
            <p:nvPr/>
          </p:nvSpPr>
          <p:spPr>
            <a:xfrm>
              <a:off x="2584" y="934"/>
              <a:ext cx="876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34" name="直接连接符 441402"/>
            <p:cNvSpPr/>
            <p:nvPr/>
          </p:nvSpPr>
          <p:spPr>
            <a:xfrm>
              <a:off x="2627" y="1726"/>
              <a:ext cx="877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35" name="直接连接符 441403"/>
            <p:cNvSpPr/>
            <p:nvPr/>
          </p:nvSpPr>
          <p:spPr>
            <a:xfrm>
              <a:off x="2650" y="1332"/>
              <a:ext cx="877" cy="0"/>
            </a:xfrm>
            <a:prstGeom prst="line">
              <a:avLst/>
            </a:prstGeom>
            <a:ln w="762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36" name="直接连接符 441404"/>
            <p:cNvSpPr/>
            <p:nvPr/>
          </p:nvSpPr>
          <p:spPr>
            <a:xfrm flipH="1">
              <a:off x="2663" y="934"/>
              <a:ext cx="0" cy="797"/>
            </a:xfrm>
            <a:prstGeom prst="line">
              <a:avLst/>
            </a:prstGeom>
            <a:ln w="762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7837" name="文本框 441405"/>
            <p:cNvSpPr txBox="1"/>
            <p:nvPr/>
          </p:nvSpPr>
          <p:spPr>
            <a:xfrm>
              <a:off x="1654" y="1120"/>
              <a:ext cx="665" cy="41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系统</a:t>
              </a:r>
            </a:p>
          </p:txBody>
        </p:sp>
        <p:sp>
          <p:nvSpPr>
            <p:cNvPr id="77838" name="矩形 441406"/>
            <p:cNvSpPr/>
            <p:nvPr/>
          </p:nvSpPr>
          <p:spPr>
            <a:xfrm>
              <a:off x="793" y="1211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外界</a:t>
              </a:r>
            </a:p>
          </p:txBody>
        </p:sp>
      </p:grpSp>
      <p:sp>
        <p:nvSpPr>
          <p:cNvPr id="441408" name="文本框 441407"/>
          <p:cNvSpPr txBox="1"/>
          <p:nvPr/>
        </p:nvSpPr>
        <p:spPr>
          <a:xfrm>
            <a:off x="1619250" y="3429000"/>
            <a:ext cx="7935913" cy="365125"/>
          </a:xfrm>
          <a:prstGeom prst="rect">
            <a:avLst/>
          </a:prstGeom>
          <a:noFill/>
          <a:ln w="12700">
            <a:noFill/>
          </a:ln>
        </p:spPr>
        <p:txBody>
          <a:bodyPr tIns="0" bIns="0" anchor="t" anchorCtr="0">
            <a:spAutoFit/>
          </a:bodyPr>
          <a:lstStyle/>
          <a:p>
            <a:pPr fontAlgn="t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系统与外界之间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既有物质交换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又有能量交换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1409" name="文本框 441408"/>
          <p:cNvSpPr txBox="1"/>
          <p:nvPr/>
        </p:nvSpPr>
        <p:spPr>
          <a:xfrm>
            <a:off x="1604963" y="4505325"/>
            <a:ext cx="7935912" cy="365125"/>
          </a:xfrm>
          <a:prstGeom prst="rect">
            <a:avLst/>
          </a:prstGeom>
          <a:noFill/>
          <a:ln w="12700">
            <a:noFill/>
          </a:ln>
        </p:spPr>
        <p:txBody>
          <a:bodyPr tIns="0" bIns="0" anchor="t" anchorCtr="0">
            <a:spAutoFit/>
          </a:bodyPr>
          <a:lstStyle/>
          <a:p>
            <a:pPr fontAlgn="t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系统与外界之间</a:t>
            </a:r>
            <a:r>
              <a:rPr lang="zh-CN" altLang="en-US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物质交换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有能量交换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1410" name="矩形 441409"/>
          <p:cNvSpPr/>
          <p:nvPr/>
        </p:nvSpPr>
        <p:spPr>
          <a:xfrm>
            <a:off x="1562100" y="5565775"/>
            <a:ext cx="6311900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系统与外界之间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既无物质交换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又无能量交换</a:t>
            </a:r>
          </a:p>
        </p:txBody>
      </p:sp>
      <p:sp>
        <p:nvSpPr>
          <p:cNvPr id="441411" name="文本框 441410"/>
          <p:cNvSpPr txBox="1"/>
          <p:nvPr/>
        </p:nvSpPr>
        <p:spPr>
          <a:xfrm>
            <a:off x="1547813" y="6237288"/>
            <a:ext cx="5759450" cy="427037"/>
          </a:xfrm>
          <a:prstGeom prst="rect">
            <a:avLst/>
          </a:prstGeom>
          <a:noFill/>
          <a:ln w="12700">
            <a:noFill/>
          </a:ln>
        </p:spPr>
        <p:txBody>
          <a:bodyPr tIns="0" bIns="0" anchor="t" anchorCtr="0">
            <a:spAutoFit/>
          </a:bodyPr>
          <a:lstStyle/>
          <a:p>
            <a:pPr fontAlgn="t"/>
            <a:r>
              <a:rPr lang="zh-CN" altLang="en-US" sz="28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主要研究封闭系统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4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4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4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4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91" grpId="0"/>
      <p:bldP spid="441394" grpId="0"/>
      <p:bldP spid="441395" grpId="0"/>
      <p:bldP spid="441396" grpId="0"/>
      <p:bldP spid="441408" grpId="0"/>
      <p:bldP spid="441409" grpId="0"/>
      <p:bldP spid="441410" grpId="0"/>
      <p:bldP spid="4414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60" name="矩形 557059"/>
          <p:cNvSpPr/>
          <p:nvPr/>
        </p:nvSpPr>
        <p:spPr>
          <a:xfrm>
            <a:off x="4284663" y="5445125"/>
            <a:ext cx="4581525" cy="4603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SzTx/>
              <a:buFont typeface="Wingdings" panose="05000000000000000000" pitchFamily="2" charset="2"/>
              <a:buBlip>
                <a:blip r:embed="rId4"/>
              </a:buBlip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实现系统状态变化的途径</a:t>
            </a:r>
          </a:p>
        </p:txBody>
      </p:sp>
      <p:sp>
        <p:nvSpPr>
          <p:cNvPr id="557065" name="文本框 557064"/>
          <p:cNvSpPr txBox="1"/>
          <p:nvPr/>
        </p:nvSpPr>
        <p:spPr>
          <a:xfrm>
            <a:off x="4897438" y="6000750"/>
            <a:ext cx="3622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作功与传热</a:t>
            </a:r>
          </a:p>
        </p:txBody>
      </p:sp>
      <p:sp>
        <p:nvSpPr>
          <p:cNvPr id="557067" name="矩形 557066"/>
          <p:cNvSpPr/>
          <p:nvPr/>
        </p:nvSpPr>
        <p:spPr>
          <a:xfrm>
            <a:off x="0" y="0"/>
            <a:ext cx="3394075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二、热力学过程</a:t>
            </a:r>
          </a:p>
        </p:txBody>
      </p:sp>
      <p:sp>
        <p:nvSpPr>
          <p:cNvPr id="557068" name="文本框 557067"/>
          <p:cNvSpPr txBox="1"/>
          <p:nvPr/>
        </p:nvSpPr>
        <p:spPr>
          <a:xfrm>
            <a:off x="215900" y="588963"/>
            <a:ext cx="66960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系统所经历的状态随时间变化的过程</a:t>
            </a:r>
          </a:p>
        </p:txBody>
      </p:sp>
      <p:grpSp>
        <p:nvGrpSpPr>
          <p:cNvPr id="2" name="组合 557070"/>
          <p:cNvGrpSpPr/>
          <p:nvPr/>
        </p:nvGrpSpPr>
        <p:grpSpPr>
          <a:xfrm>
            <a:off x="5003800" y="981075"/>
            <a:ext cx="3925888" cy="3240088"/>
            <a:chOff x="1364" y="1616"/>
            <a:chExt cx="3240" cy="2767"/>
          </a:xfrm>
        </p:grpSpPr>
        <p:sp>
          <p:nvSpPr>
            <p:cNvPr id="78854" name="矩形 557071"/>
            <p:cNvSpPr/>
            <p:nvPr/>
          </p:nvSpPr>
          <p:spPr>
            <a:xfrm>
              <a:off x="1364" y="1616"/>
              <a:ext cx="3085" cy="2540"/>
            </a:xfrm>
            <a:prstGeom prst="rect">
              <a:avLst/>
            </a:prstGeom>
            <a:gradFill rotWithShape="1">
              <a:gsLst>
                <a:gs pos="0">
                  <a:srgbClr val="B4DDFE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9050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55" name="矩形 557072"/>
            <p:cNvSpPr/>
            <p:nvPr/>
          </p:nvSpPr>
          <p:spPr>
            <a:xfrm>
              <a:off x="2262" y="3928"/>
              <a:ext cx="1521" cy="455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12700" tIns="12700" rIns="12700" bIns="12700" anchor="t" anchorCtr="0"/>
            <a:lstStyle/>
            <a:p>
              <a:pPr algn="just"/>
              <a:endPara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/>
              <a:endPara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78856" name="组合 557073"/>
            <p:cNvGrpSpPr/>
            <p:nvPr/>
          </p:nvGrpSpPr>
          <p:grpSpPr>
            <a:xfrm>
              <a:off x="1591" y="1678"/>
              <a:ext cx="3013" cy="2587"/>
              <a:chOff x="1383" y="1496"/>
              <a:chExt cx="3013" cy="2587"/>
            </a:xfrm>
          </p:grpSpPr>
          <p:sp>
            <p:nvSpPr>
              <p:cNvPr id="78857" name="矩形 557074"/>
              <p:cNvSpPr/>
              <p:nvPr/>
            </p:nvSpPr>
            <p:spPr>
              <a:xfrm>
                <a:off x="1383" y="3624"/>
                <a:ext cx="382" cy="45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sz="28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  <p:grpSp>
            <p:nvGrpSpPr>
              <p:cNvPr id="78858" name="组合 557075"/>
              <p:cNvGrpSpPr/>
              <p:nvPr/>
            </p:nvGrpSpPr>
            <p:grpSpPr>
              <a:xfrm>
                <a:off x="1474" y="1496"/>
                <a:ext cx="2922" cy="2447"/>
                <a:chOff x="1474" y="1496"/>
                <a:chExt cx="2922" cy="2447"/>
              </a:xfrm>
            </p:grpSpPr>
            <p:sp>
              <p:nvSpPr>
                <p:cNvPr id="78859" name="矩形 557076"/>
                <p:cNvSpPr/>
                <p:nvPr/>
              </p:nvSpPr>
              <p:spPr>
                <a:xfrm>
                  <a:off x="3138" y="3009"/>
                  <a:ext cx="1141" cy="60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2(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 </a:t>
                  </a:r>
                </a:p>
              </p:txBody>
            </p:sp>
            <p:sp>
              <p:nvSpPr>
                <p:cNvPr id="78860" name="矩形 557077"/>
                <p:cNvSpPr/>
                <p:nvPr/>
              </p:nvSpPr>
              <p:spPr>
                <a:xfrm>
                  <a:off x="3827" y="3486"/>
                  <a:ext cx="569" cy="45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sz="2800" i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800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</a:p>
              </p:txBody>
            </p:sp>
            <p:sp>
              <p:nvSpPr>
                <p:cNvPr id="78861" name="直接连接符 557078"/>
                <p:cNvSpPr/>
                <p:nvPr/>
              </p:nvSpPr>
              <p:spPr>
                <a:xfrm>
                  <a:off x="1550" y="3639"/>
                  <a:ext cx="2279" cy="0"/>
                </a:xfrm>
                <a:prstGeom prst="line">
                  <a:avLst/>
                </a:prstGeom>
                <a:ln w="19050" cap="flat" cmpd="sng">
                  <a:solidFill>
                    <a:srgbClr val="000066"/>
                  </a:solidFill>
                  <a:prstDash val="solid"/>
                  <a:round/>
                  <a:headEnd type="none" w="sm" len="sm"/>
                  <a:tailEnd type="triangle" w="sm" len="lg"/>
                </a:ln>
              </p:spPr>
            </p:sp>
            <p:sp>
              <p:nvSpPr>
                <p:cNvPr id="78862" name="直接连接符 557079"/>
                <p:cNvSpPr/>
                <p:nvPr/>
              </p:nvSpPr>
              <p:spPr>
                <a:xfrm flipV="1">
                  <a:off x="1550" y="1813"/>
                  <a:ext cx="2" cy="1826"/>
                </a:xfrm>
                <a:prstGeom prst="line">
                  <a:avLst/>
                </a:prstGeom>
                <a:ln w="19050" cap="flat" cmpd="sng">
                  <a:solidFill>
                    <a:srgbClr val="000066"/>
                  </a:solidFill>
                  <a:prstDash val="solid"/>
                  <a:round/>
                  <a:headEnd type="none" w="sm" len="sm"/>
                  <a:tailEnd type="triangle" w="sm" len="lg"/>
                </a:ln>
              </p:spPr>
            </p:sp>
            <p:sp>
              <p:nvSpPr>
                <p:cNvPr id="78863" name="矩形 557080"/>
                <p:cNvSpPr/>
                <p:nvPr/>
              </p:nvSpPr>
              <p:spPr>
                <a:xfrm>
                  <a:off x="1992" y="1859"/>
                  <a:ext cx="1142" cy="45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1(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78864" name="直接连接符 557081"/>
                <p:cNvSpPr/>
                <p:nvPr/>
              </p:nvSpPr>
              <p:spPr>
                <a:xfrm>
                  <a:off x="2719" y="2663"/>
                  <a:ext cx="119" cy="113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78865" name="任意多边形 557082"/>
                <p:cNvSpPr/>
                <p:nvPr/>
              </p:nvSpPr>
              <p:spPr>
                <a:xfrm>
                  <a:off x="1933" y="2160"/>
                  <a:ext cx="1153" cy="905"/>
                </a:xfrm>
                <a:custGeom>
                  <a:avLst/>
                  <a:gdLst/>
                  <a:ahLst/>
                  <a:cxnLst>
                    <a:cxn ang="0">
                      <a:pos x="69" y="0"/>
                    </a:cxn>
                    <a:cxn ang="0">
                      <a:pos x="140" y="555"/>
                    </a:cxn>
                    <a:cxn ang="0">
                      <a:pos x="908" y="555"/>
                    </a:cxn>
                    <a:cxn ang="0">
                      <a:pos x="1539" y="1110"/>
                    </a:cxn>
                  </a:cxnLst>
                  <a:rect l="0" t="0" r="0" b="0"/>
                  <a:pathLst>
                    <a:path w="998" h="817">
                      <a:moveTo>
                        <a:pt x="45" y="0"/>
                      </a:moveTo>
                      <a:cubicBezTo>
                        <a:pt x="22" y="170"/>
                        <a:pt x="0" y="340"/>
                        <a:pt x="91" y="408"/>
                      </a:cubicBezTo>
                      <a:cubicBezTo>
                        <a:pt x="182" y="476"/>
                        <a:pt x="438" y="340"/>
                        <a:pt x="589" y="408"/>
                      </a:cubicBezTo>
                      <a:cubicBezTo>
                        <a:pt x="740" y="476"/>
                        <a:pt x="869" y="646"/>
                        <a:pt x="998" y="817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866" name="矩形 557083"/>
                <p:cNvSpPr/>
                <p:nvPr/>
              </p:nvSpPr>
              <p:spPr>
                <a:xfrm>
                  <a:off x="1474" y="1496"/>
                  <a:ext cx="569" cy="45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sz="2800" i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lang="en-US" altLang="zh-CN" sz="2800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</a:p>
              </p:txBody>
            </p:sp>
          </p:grpSp>
        </p:grpSp>
      </p:grpSp>
      <p:sp>
        <p:nvSpPr>
          <p:cNvPr id="557085" name="文本框 557084"/>
          <p:cNvSpPr txBox="1"/>
          <p:nvPr/>
        </p:nvSpPr>
        <p:spPr>
          <a:xfrm>
            <a:off x="5221288" y="3937000"/>
            <a:ext cx="4214813" cy="1014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一个点：</a:t>
            </a:r>
            <a:r>
              <a:rPr kumimoji="0" lang="zh-CN" altLang="en-US" b="1" kern="1200" cap="none" spc="0" normalizeH="0" baseline="0" noProof="1">
                <a:solidFill>
                  <a:srgbClr val="00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一个平衡态</a:t>
            </a:r>
          </a:p>
          <a:p>
            <a:pPr marR="0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一条曲线：</a:t>
            </a:r>
            <a:r>
              <a:rPr kumimoji="0" lang="zh-CN" altLang="en-US" b="1" kern="1200" cap="none" spc="0" normalizeH="0" baseline="0" noProof="1">
                <a:solidFill>
                  <a:srgbClr val="00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一个准静态过程</a:t>
            </a:r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868363" y="2160588"/>
            <a:ext cx="0" cy="19097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860425" y="4062413"/>
            <a:ext cx="24352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Object 27"/>
          <p:cNvGraphicFramePr>
            <a:graphicFrameLocks noChangeAspect="1"/>
          </p:cNvGraphicFramePr>
          <p:nvPr/>
        </p:nvGraphicFramePr>
        <p:xfrm>
          <a:off x="3211513" y="4098925"/>
          <a:ext cx="168275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r:id="rId5" imgW="139700" imgH="165100" progId="Equation.DSMT4">
                  <p:embed/>
                </p:oleObj>
              </mc:Choice>
              <mc:Fallback>
                <p:oleObj r:id="rId5" imgW="139700" imgH="1651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1513" y="4098925"/>
                        <a:ext cx="168275" cy="198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8"/>
          <p:cNvGraphicFramePr>
            <a:graphicFrameLocks noChangeAspect="1"/>
          </p:cNvGraphicFramePr>
          <p:nvPr/>
        </p:nvGraphicFramePr>
        <p:xfrm>
          <a:off x="641350" y="2111375"/>
          <a:ext cx="18415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r:id="rId7" imgW="152400" imgH="165100" progId="Equation.DSMT4">
                  <p:embed/>
                </p:oleObj>
              </mc:Choice>
              <mc:Fallback>
                <p:oleObj r:id="rId7" imgW="152400" imgH="1651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350" y="2111375"/>
                        <a:ext cx="184150" cy="198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9"/>
          <p:cNvGraphicFramePr>
            <a:graphicFrameLocks noChangeAspect="1"/>
          </p:cNvGraphicFramePr>
          <p:nvPr/>
        </p:nvGraphicFramePr>
        <p:xfrm>
          <a:off x="669925" y="4000500"/>
          <a:ext cx="18415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r:id="rId9" imgW="152400" imgH="177800" progId="Equation.DSMT4">
                  <p:embed/>
                </p:oleObj>
              </mc:Choice>
              <mc:Fallback>
                <p:oleObj r:id="rId9" imgW="152400" imgH="1778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9925" y="4000500"/>
                        <a:ext cx="184150" cy="212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箭头连接符 31"/>
          <p:cNvCxnSpPr/>
          <p:nvPr/>
        </p:nvCxnSpPr>
        <p:spPr>
          <a:xfrm>
            <a:off x="1800225" y="3125788"/>
            <a:ext cx="112713" cy="809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 32"/>
          <p:cNvSpPr/>
          <p:nvPr/>
        </p:nvSpPr>
        <p:spPr>
          <a:xfrm>
            <a:off x="1136650" y="2768600"/>
            <a:ext cx="1090613" cy="642938"/>
          </a:xfrm>
          <a:custGeom>
            <a:avLst/>
            <a:gdLst>
              <a:gd name="connsiteX0" fmla="*/ 0 w 1211580"/>
              <a:gd name="connsiteY0" fmla="*/ 0 h 1085850"/>
              <a:gd name="connsiteX1" fmla="*/ 422910 w 1211580"/>
              <a:gd name="connsiteY1" fmla="*/ 548640 h 1085850"/>
              <a:gd name="connsiteX2" fmla="*/ 1211580 w 1211580"/>
              <a:gd name="connsiteY2" fmla="*/ 1085850 h 1085850"/>
              <a:gd name="connsiteX0-1" fmla="*/ 0 w 1211580"/>
              <a:gd name="connsiteY0-2" fmla="*/ 0 h 1085850"/>
              <a:gd name="connsiteX1-3" fmla="*/ 422910 w 1211580"/>
              <a:gd name="connsiteY1-4" fmla="*/ 548640 h 1085850"/>
              <a:gd name="connsiteX2-5" fmla="*/ 708660 w 1211580"/>
              <a:gd name="connsiteY2-6" fmla="*/ 811530 h 1085850"/>
              <a:gd name="connsiteX3" fmla="*/ 1211580 w 1211580"/>
              <a:gd name="connsiteY3" fmla="*/ 1085850 h 1085850"/>
              <a:gd name="connsiteX0-7" fmla="*/ 0 w 1211580"/>
              <a:gd name="connsiteY0-8" fmla="*/ 0 h 1085850"/>
              <a:gd name="connsiteX1-9" fmla="*/ 377190 w 1211580"/>
              <a:gd name="connsiteY1-10" fmla="*/ 548640 h 1085850"/>
              <a:gd name="connsiteX2-11" fmla="*/ 708660 w 1211580"/>
              <a:gd name="connsiteY2-12" fmla="*/ 811530 h 1085850"/>
              <a:gd name="connsiteX3-13" fmla="*/ 1211580 w 1211580"/>
              <a:gd name="connsiteY3-14" fmla="*/ 1085850 h 1085850"/>
              <a:gd name="connsiteX0-15" fmla="*/ 0 w 1211580"/>
              <a:gd name="connsiteY0-16" fmla="*/ 0 h 1085850"/>
              <a:gd name="connsiteX1-17" fmla="*/ 377190 w 1211580"/>
              <a:gd name="connsiteY1-18" fmla="*/ 548640 h 1085850"/>
              <a:gd name="connsiteX2-19" fmla="*/ 777240 w 1211580"/>
              <a:gd name="connsiteY2-20" fmla="*/ 891540 h 1085850"/>
              <a:gd name="connsiteX3-21" fmla="*/ 1211580 w 1211580"/>
              <a:gd name="connsiteY3-22" fmla="*/ 1085850 h 1085850"/>
              <a:gd name="connsiteX0-23" fmla="*/ 0 w 1211580"/>
              <a:gd name="connsiteY0-24" fmla="*/ 0 h 1085850"/>
              <a:gd name="connsiteX1-25" fmla="*/ 114300 w 1211580"/>
              <a:gd name="connsiteY1-26" fmla="*/ 205740 h 1085850"/>
              <a:gd name="connsiteX2-27" fmla="*/ 377190 w 1211580"/>
              <a:gd name="connsiteY2-28" fmla="*/ 548640 h 1085850"/>
              <a:gd name="connsiteX3-29" fmla="*/ 777240 w 1211580"/>
              <a:gd name="connsiteY3-30" fmla="*/ 891540 h 1085850"/>
              <a:gd name="connsiteX4" fmla="*/ 1211580 w 1211580"/>
              <a:gd name="connsiteY4" fmla="*/ 1085850 h 1085850"/>
              <a:gd name="connsiteX0-31" fmla="*/ 0 w 1211580"/>
              <a:gd name="connsiteY0-32" fmla="*/ 0 h 1085850"/>
              <a:gd name="connsiteX1-33" fmla="*/ 377190 w 1211580"/>
              <a:gd name="connsiteY1-34" fmla="*/ 548640 h 1085850"/>
              <a:gd name="connsiteX2-35" fmla="*/ 777240 w 1211580"/>
              <a:gd name="connsiteY2-36" fmla="*/ 891540 h 1085850"/>
              <a:gd name="connsiteX3-37" fmla="*/ 1211580 w 1211580"/>
              <a:gd name="connsiteY3-38" fmla="*/ 1085850 h 1085850"/>
              <a:gd name="connsiteX0-39" fmla="*/ 0 w 1234440"/>
              <a:gd name="connsiteY0-40" fmla="*/ 0 h 948690"/>
              <a:gd name="connsiteX1-41" fmla="*/ 400050 w 1234440"/>
              <a:gd name="connsiteY1-42" fmla="*/ 411480 h 948690"/>
              <a:gd name="connsiteX2-43" fmla="*/ 800100 w 1234440"/>
              <a:gd name="connsiteY2-44" fmla="*/ 754380 h 948690"/>
              <a:gd name="connsiteX3-45" fmla="*/ 1234440 w 1234440"/>
              <a:gd name="connsiteY3-46" fmla="*/ 948690 h 948690"/>
              <a:gd name="connsiteX0-47" fmla="*/ 0 w 1234440"/>
              <a:gd name="connsiteY0-48" fmla="*/ 0 h 948690"/>
              <a:gd name="connsiteX1-49" fmla="*/ 388620 w 1234440"/>
              <a:gd name="connsiteY1-50" fmla="*/ 468630 h 948690"/>
              <a:gd name="connsiteX2-51" fmla="*/ 800100 w 1234440"/>
              <a:gd name="connsiteY2-52" fmla="*/ 754380 h 948690"/>
              <a:gd name="connsiteX3-53" fmla="*/ 1234440 w 1234440"/>
              <a:gd name="connsiteY3-54" fmla="*/ 948690 h 948690"/>
              <a:gd name="connsiteX0-55" fmla="*/ 0 w 1234440"/>
              <a:gd name="connsiteY0-56" fmla="*/ 0 h 948690"/>
              <a:gd name="connsiteX1-57" fmla="*/ 354330 w 1234440"/>
              <a:gd name="connsiteY1-58" fmla="*/ 480060 h 948690"/>
              <a:gd name="connsiteX2-59" fmla="*/ 800100 w 1234440"/>
              <a:gd name="connsiteY2-60" fmla="*/ 754380 h 948690"/>
              <a:gd name="connsiteX3-61" fmla="*/ 1234440 w 1234440"/>
              <a:gd name="connsiteY3-62" fmla="*/ 948690 h 948690"/>
              <a:gd name="connsiteX0-63" fmla="*/ 0 w 1234440"/>
              <a:gd name="connsiteY0-64" fmla="*/ 0 h 948690"/>
              <a:gd name="connsiteX1-65" fmla="*/ 354330 w 1234440"/>
              <a:gd name="connsiteY1-66" fmla="*/ 480060 h 948690"/>
              <a:gd name="connsiteX2-67" fmla="*/ 754380 w 1234440"/>
              <a:gd name="connsiteY2-68" fmla="*/ 777240 h 948690"/>
              <a:gd name="connsiteX3-69" fmla="*/ 1234440 w 1234440"/>
              <a:gd name="connsiteY3-70" fmla="*/ 948690 h 948690"/>
              <a:gd name="connsiteX0-71" fmla="*/ 0 w 1234440"/>
              <a:gd name="connsiteY0-72" fmla="*/ 0 h 948690"/>
              <a:gd name="connsiteX1-73" fmla="*/ 354330 w 1234440"/>
              <a:gd name="connsiteY1-74" fmla="*/ 480060 h 948690"/>
              <a:gd name="connsiteX2-75" fmla="*/ 834390 w 1234440"/>
              <a:gd name="connsiteY2-76" fmla="*/ 811530 h 948690"/>
              <a:gd name="connsiteX3-77" fmla="*/ 1234440 w 1234440"/>
              <a:gd name="connsiteY3-78" fmla="*/ 948690 h 948690"/>
              <a:gd name="connsiteX0-79" fmla="*/ 0 w 1245870"/>
              <a:gd name="connsiteY0-80" fmla="*/ 0 h 971550"/>
              <a:gd name="connsiteX1-81" fmla="*/ 354330 w 1245870"/>
              <a:gd name="connsiteY1-82" fmla="*/ 480060 h 971550"/>
              <a:gd name="connsiteX2-83" fmla="*/ 834390 w 1245870"/>
              <a:gd name="connsiteY2-84" fmla="*/ 811530 h 971550"/>
              <a:gd name="connsiteX3-85" fmla="*/ 1245870 w 1245870"/>
              <a:gd name="connsiteY3-86" fmla="*/ 971550 h 971550"/>
              <a:gd name="connsiteX0-87" fmla="*/ 0 w 1245870"/>
              <a:gd name="connsiteY0-88" fmla="*/ 0 h 971550"/>
              <a:gd name="connsiteX1-89" fmla="*/ 354330 w 1245870"/>
              <a:gd name="connsiteY1-90" fmla="*/ 480060 h 971550"/>
              <a:gd name="connsiteX2-91" fmla="*/ 720090 w 1245870"/>
              <a:gd name="connsiteY2-92" fmla="*/ 777240 h 971550"/>
              <a:gd name="connsiteX3-93" fmla="*/ 1245870 w 1245870"/>
              <a:gd name="connsiteY3-94" fmla="*/ 971550 h 971550"/>
              <a:gd name="connsiteX0-95" fmla="*/ 0 w 1245870"/>
              <a:gd name="connsiteY0-96" fmla="*/ 0 h 971550"/>
              <a:gd name="connsiteX1-97" fmla="*/ 354330 w 1245870"/>
              <a:gd name="connsiteY1-98" fmla="*/ 480060 h 971550"/>
              <a:gd name="connsiteX2-99" fmla="*/ 720090 w 1245870"/>
              <a:gd name="connsiteY2-100" fmla="*/ 777240 h 971550"/>
              <a:gd name="connsiteX3-101" fmla="*/ 1245870 w 1245870"/>
              <a:gd name="connsiteY3-102" fmla="*/ 971550 h 971550"/>
              <a:gd name="connsiteX0-103" fmla="*/ 0 w 1245870"/>
              <a:gd name="connsiteY0-104" fmla="*/ 0 h 971550"/>
              <a:gd name="connsiteX1-105" fmla="*/ 354330 w 1245870"/>
              <a:gd name="connsiteY1-106" fmla="*/ 480060 h 971550"/>
              <a:gd name="connsiteX2-107" fmla="*/ 720090 w 1245870"/>
              <a:gd name="connsiteY2-108" fmla="*/ 742950 h 971550"/>
              <a:gd name="connsiteX3-109" fmla="*/ 1245870 w 1245870"/>
              <a:gd name="connsiteY3-110" fmla="*/ 971550 h 971550"/>
              <a:gd name="connsiteX0-111" fmla="*/ 0 w 1245870"/>
              <a:gd name="connsiteY0-112" fmla="*/ 0 h 971550"/>
              <a:gd name="connsiteX1-113" fmla="*/ 354330 w 1245870"/>
              <a:gd name="connsiteY1-114" fmla="*/ 480060 h 971550"/>
              <a:gd name="connsiteX2-115" fmla="*/ 845820 w 1245870"/>
              <a:gd name="connsiteY2-116" fmla="*/ 811530 h 971550"/>
              <a:gd name="connsiteX3-117" fmla="*/ 1245870 w 1245870"/>
              <a:gd name="connsiteY3-118" fmla="*/ 971550 h 971550"/>
              <a:gd name="connsiteX0-119" fmla="*/ 0 w 1245870"/>
              <a:gd name="connsiteY0-120" fmla="*/ 0 h 971550"/>
              <a:gd name="connsiteX1-121" fmla="*/ 354330 w 1245870"/>
              <a:gd name="connsiteY1-122" fmla="*/ 480060 h 971550"/>
              <a:gd name="connsiteX2-123" fmla="*/ 822960 w 1245870"/>
              <a:gd name="connsiteY2-124" fmla="*/ 811530 h 971550"/>
              <a:gd name="connsiteX3-125" fmla="*/ 1245870 w 1245870"/>
              <a:gd name="connsiteY3-126" fmla="*/ 971550 h 971550"/>
              <a:gd name="connsiteX0-127" fmla="*/ 0 w 1245870"/>
              <a:gd name="connsiteY0-128" fmla="*/ 0 h 800100"/>
              <a:gd name="connsiteX1-129" fmla="*/ 354330 w 1245870"/>
              <a:gd name="connsiteY1-130" fmla="*/ 308610 h 800100"/>
              <a:gd name="connsiteX2-131" fmla="*/ 822960 w 1245870"/>
              <a:gd name="connsiteY2-132" fmla="*/ 640080 h 800100"/>
              <a:gd name="connsiteX3-133" fmla="*/ 1245870 w 1245870"/>
              <a:gd name="connsiteY3-134" fmla="*/ 800100 h 800100"/>
              <a:gd name="connsiteX0-135" fmla="*/ 0 w 1245870"/>
              <a:gd name="connsiteY0-136" fmla="*/ 0 h 800100"/>
              <a:gd name="connsiteX1-137" fmla="*/ 342900 w 1245870"/>
              <a:gd name="connsiteY1-138" fmla="*/ 377190 h 800100"/>
              <a:gd name="connsiteX2-139" fmla="*/ 822960 w 1245870"/>
              <a:gd name="connsiteY2-140" fmla="*/ 640080 h 800100"/>
              <a:gd name="connsiteX3-141" fmla="*/ 1245870 w 1245870"/>
              <a:gd name="connsiteY3-142" fmla="*/ 800100 h 800100"/>
              <a:gd name="connsiteX0-143" fmla="*/ 0 w 1245870"/>
              <a:gd name="connsiteY0-144" fmla="*/ 0 h 800100"/>
              <a:gd name="connsiteX1-145" fmla="*/ 342900 w 1245870"/>
              <a:gd name="connsiteY1-146" fmla="*/ 377190 h 800100"/>
              <a:gd name="connsiteX2-147" fmla="*/ 811530 w 1245870"/>
              <a:gd name="connsiteY2-148" fmla="*/ 685800 h 800100"/>
              <a:gd name="connsiteX3-149" fmla="*/ 1245870 w 1245870"/>
              <a:gd name="connsiteY3-150" fmla="*/ 800100 h 800100"/>
              <a:gd name="connsiteX0-151" fmla="*/ 0 w 1245870"/>
              <a:gd name="connsiteY0-152" fmla="*/ 0 h 800100"/>
              <a:gd name="connsiteX1-153" fmla="*/ 297180 w 1245870"/>
              <a:gd name="connsiteY1-154" fmla="*/ 377190 h 800100"/>
              <a:gd name="connsiteX2-155" fmla="*/ 811530 w 1245870"/>
              <a:gd name="connsiteY2-156" fmla="*/ 685800 h 800100"/>
              <a:gd name="connsiteX3-157" fmla="*/ 1245870 w 1245870"/>
              <a:gd name="connsiteY3-158" fmla="*/ 800100 h 800100"/>
              <a:gd name="connsiteX0-159" fmla="*/ 0 w 1245870"/>
              <a:gd name="connsiteY0-160" fmla="*/ 0 h 800100"/>
              <a:gd name="connsiteX1-161" fmla="*/ 297180 w 1245870"/>
              <a:gd name="connsiteY1-162" fmla="*/ 377190 h 800100"/>
              <a:gd name="connsiteX2-163" fmla="*/ 547735 w 1245870"/>
              <a:gd name="connsiteY2-164" fmla="*/ 557422 h 800100"/>
              <a:gd name="connsiteX3-165" fmla="*/ 811530 w 1245870"/>
              <a:gd name="connsiteY3-166" fmla="*/ 685800 h 800100"/>
              <a:gd name="connsiteX4-167" fmla="*/ 1245870 w 1245870"/>
              <a:gd name="connsiteY4-168" fmla="*/ 800100 h 800100"/>
              <a:gd name="connsiteX0-169" fmla="*/ 0 w 1245870"/>
              <a:gd name="connsiteY0-170" fmla="*/ 0 h 800100"/>
              <a:gd name="connsiteX1-171" fmla="*/ 297180 w 1245870"/>
              <a:gd name="connsiteY1-172" fmla="*/ 377190 h 800100"/>
              <a:gd name="connsiteX2-173" fmla="*/ 547735 w 1245870"/>
              <a:gd name="connsiteY2-174" fmla="*/ 557422 h 800100"/>
              <a:gd name="connsiteX3-175" fmla="*/ 891540 w 1245870"/>
              <a:gd name="connsiteY3-176" fmla="*/ 697230 h 800100"/>
              <a:gd name="connsiteX4-177" fmla="*/ 1245870 w 1245870"/>
              <a:gd name="connsiteY4-178" fmla="*/ 800100 h 800100"/>
              <a:gd name="connsiteX0-179" fmla="*/ 0 w 1245870"/>
              <a:gd name="connsiteY0-180" fmla="*/ 0 h 800100"/>
              <a:gd name="connsiteX1-181" fmla="*/ 297180 w 1245870"/>
              <a:gd name="connsiteY1-182" fmla="*/ 377190 h 800100"/>
              <a:gd name="connsiteX2-183" fmla="*/ 547735 w 1245870"/>
              <a:gd name="connsiteY2-184" fmla="*/ 557422 h 800100"/>
              <a:gd name="connsiteX3-185" fmla="*/ 1245870 w 1245870"/>
              <a:gd name="connsiteY3-186" fmla="*/ 800100 h 800100"/>
              <a:gd name="connsiteX0-187" fmla="*/ 0 w 1245870"/>
              <a:gd name="connsiteY0-188" fmla="*/ 0 h 800100"/>
              <a:gd name="connsiteX1-189" fmla="*/ 297180 w 1245870"/>
              <a:gd name="connsiteY1-190" fmla="*/ 377190 h 800100"/>
              <a:gd name="connsiteX2-191" fmla="*/ 662035 w 1245870"/>
              <a:gd name="connsiteY2-192" fmla="*/ 671722 h 800100"/>
              <a:gd name="connsiteX3-193" fmla="*/ 1245870 w 1245870"/>
              <a:gd name="connsiteY3-194" fmla="*/ 800100 h 800100"/>
              <a:gd name="connsiteX0-195" fmla="*/ 0 w 1245870"/>
              <a:gd name="connsiteY0-196" fmla="*/ 0 h 800100"/>
              <a:gd name="connsiteX1-197" fmla="*/ 297180 w 1245870"/>
              <a:gd name="connsiteY1-198" fmla="*/ 377190 h 800100"/>
              <a:gd name="connsiteX2-199" fmla="*/ 764905 w 1245870"/>
              <a:gd name="connsiteY2-200" fmla="*/ 717442 h 800100"/>
              <a:gd name="connsiteX3-201" fmla="*/ 1245870 w 1245870"/>
              <a:gd name="connsiteY3-202" fmla="*/ 800100 h 800100"/>
              <a:gd name="connsiteX0-203" fmla="*/ 0 w 1120140"/>
              <a:gd name="connsiteY0-204" fmla="*/ 0 h 834390"/>
              <a:gd name="connsiteX1-205" fmla="*/ 297180 w 1120140"/>
              <a:gd name="connsiteY1-206" fmla="*/ 377190 h 834390"/>
              <a:gd name="connsiteX2-207" fmla="*/ 764905 w 1120140"/>
              <a:gd name="connsiteY2-208" fmla="*/ 717442 h 834390"/>
              <a:gd name="connsiteX3-209" fmla="*/ 1120140 w 1120140"/>
              <a:gd name="connsiteY3-210" fmla="*/ 834390 h 834390"/>
              <a:gd name="connsiteX0-211" fmla="*/ 0 w 1303020"/>
              <a:gd name="connsiteY0-212" fmla="*/ 0 h 857250"/>
              <a:gd name="connsiteX1-213" fmla="*/ 297180 w 1303020"/>
              <a:gd name="connsiteY1-214" fmla="*/ 377190 h 857250"/>
              <a:gd name="connsiteX2-215" fmla="*/ 764905 w 1303020"/>
              <a:gd name="connsiteY2-216" fmla="*/ 717442 h 857250"/>
              <a:gd name="connsiteX3-217" fmla="*/ 1303020 w 1303020"/>
              <a:gd name="connsiteY3-218" fmla="*/ 857250 h 857250"/>
              <a:gd name="connsiteX0-219" fmla="*/ 0 w 1303020"/>
              <a:gd name="connsiteY0-220" fmla="*/ 0 h 857250"/>
              <a:gd name="connsiteX1-221" fmla="*/ 297180 w 1303020"/>
              <a:gd name="connsiteY1-222" fmla="*/ 377190 h 857250"/>
              <a:gd name="connsiteX2-223" fmla="*/ 787765 w 1303020"/>
              <a:gd name="connsiteY2-224" fmla="*/ 706012 h 857250"/>
              <a:gd name="connsiteX3-225" fmla="*/ 1303020 w 1303020"/>
              <a:gd name="connsiteY3-226" fmla="*/ 857250 h 857250"/>
              <a:gd name="connsiteX0-227" fmla="*/ 0 w 1303020"/>
              <a:gd name="connsiteY0-228" fmla="*/ 0 h 857250"/>
              <a:gd name="connsiteX1-229" fmla="*/ 297180 w 1303020"/>
              <a:gd name="connsiteY1-230" fmla="*/ 377190 h 857250"/>
              <a:gd name="connsiteX2-231" fmla="*/ 852839 w 1303020"/>
              <a:gd name="connsiteY2-232" fmla="*/ 565100 h 857250"/>
              <a:gd name="connsiteX3-233" fmla="*/ 1303020 w 1303020"/>
              <a:gd name="connsiteY3-234" fmla="*/ 857250 h 857250"/>
              <a:gd name="connsiteX0-235" fmla="*/ 0 w 1346402"/>
              <a:gd name="connsiteY0-236" fmla="*/ 0 h 736467"/>
              <a:gd name="connsiteX1-237" fmla="*/ 340562 w 1346402"/>
              <a:gd name="connsiteY1-238" fmla="*/ 256407 h 736467"/>
              <a:gd name="connsiteX2-239" fmla="*/ 896221 w 1346402"/>
              <a:gd name="connsiteY2-240" fmla="*/ 444317 h 736467"/>
              <a:gd name="connsiteX3-241" fmla="*/ 1346402 w 1346402"/>
              <a:gd name="connsiteY3-242" fmla="*/ 736467 h 7364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1346402" h="736467">
                <a:moveTo>
                  <a:pt x="0" y="0"/>
                </a:moveTo>
                <a:cubicBezTo>
                  <a:pt x="78581" y="114300"/>
                  <a:pt x="191192" y="182354"/>
                  <a:pt x="340562" y="256407"/>
                </a:cubicBezTo>
                <a:cubicBezTo>
                  <a:pt x="489932" y="330460"/>
                  <a:pt x="738106" y="373832"/>
                  <a:pt x="896221" y="444317"/>
                </a:cubicBezTo>
                <a:cubicBezTo>
                  <a:pt x="1054336" y="514802"/>
                  <a:pt x="1200957" y="685909"/>
                  <a:pt x="1346402" y="736467"/>
                </a:cubicBez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4" name="Object 30"/>
          <p:cNvGraphicFramePr>
            <a:graphicFrameLocks noChangeAspect="1"/>
          </p:cNvGraphicFramePr>
          <p:nvPr/>
        </p:nvGraphicFramePr>
        <p:xfrm>
          <a:off x="1144588" y="2479675"/>
          <a:ext cx="76041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r:id="rId11" imgW="621665" imgH="254000" progId="Equation.DSMT4">
                  <p:embed/>
                </p:oleObj>
              </mc:Choice>
              <mc:Fallback>
                <p:oleObj r:id="rId11" imgW="621665" imgH="2540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4588" y="2479675"/>
                        <a:ext cx="760412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1"/>
          <p:cNvGraphicFramePr>
            <a:graphicFrameLocks noChangeAspect="1"/>
          </p:cNvGraphicFramePr>
          <p:nvPr/>
        </p:nvGraphicFramePr>
        <p:xfrm>
          <a:off x="2206625" y="3194050"/>
          <a:ext cx="6858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r:id="rId13" imgW="647065" imgH="254000" progId="Equation.DSMT4">
                  <p:embed/>
                </p:oleObj>
              </mc:Choice>
              <mc:Fallback>
                <p:oleObj r:id="rId13" imgW="647065" imgH="2540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06625" y="3194050"/>
                        <a:ext cx="685800" cy="268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直接箭头连接符 35"/>
          <p:cNvCxnSpPr/>
          <p:nvPr/>
        </p:nvCxnSpPr>
        <p:spPr>
          <a:xfrm flipV="1">
            <a:off x="900113" y="4795838"/>
            <a:ext cx="0" cy="18478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92175" y="6637338"/>
            <a:ext cx="22748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Object 32"/>
          <p:cNvGraphicFramePr>
            <a:graphicFrameLocks noChangeAspect="1"/>
          </p:cNvGraphicFramePr>
          <p:nvPr/>
        </p:nvGraphicFramePr>
        <p:xfrm>
          <a:off x="3089275" y="6672263"/>
          <a:ext cx="155575" cy="19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r:id="rId15" imgW="139700" imgH="165100" progId="Equation.DSMT4">
                  <p:embed/>
                </p:oleObj>
              </mc:Choice>
              <mc:Fallback>
                <p:oleObj r:id="rId15" imgW="139700" imgH="1651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89275" y="6672263"/>
                        <a:ext cx="155575" cy="192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3"/>
          <p:cNvGraphicFramePr>
            <a:graphicFrameLocks noChangeAspect="1"/>
          </p:cNvGraphicFramePr>
          <p:nvPr/>
        </p:nvGraphicFramePr>
        <p:xfrm>
          <a:off x="688975" y="4741863"/>
          <a:ext cx="169863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r:id="rId17" imgW="152400" imgH="177800" progId="Equation.DSMT4">
                  <p:embed/>
                </p:oleObj>
              </mc:Choice>
              <mc:Fallback>
                <p:oleObj r:id="rId17" imgW="152400" imgH="177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8975" y="4741863"/>
                        <a:ext cx="169863" cy="206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4"/>
          <p:cNvGraphicFramePr>
            <a:graphicFrameLocks noChangeAspect="1"/>
          </p:cNvGraphicFramePr>
          <p:nvPr/>
        </p:nvGraphicFramePr>
        <p:xfrm>
          <a:off x="714375" y="6577013"/>
          <a:ext cx="171450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r:id="rId19" imgW="152400" imgH="177800" progId="Equation.DSMT4">
                  <p:embed/>
                </p:oleObj>
              </mc:Choice>
              <mc:Fallback>
                <p:oleObj r:id="rId19" imgW="152400" imgH="1778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4375" y="6577013"/>
                        <a:ext cx="171450" cy="204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箭头连接符 40"/>
          <p:cNvCxnSpPr/>
          <p:nvPr/>
        </p:nvCxnSpPr>
        <p:spPr>
          <a:xfrm flipV="1">
            <a:off x="1679575" y="5700713"/>
            <a:ext cx="95250" cy="1635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任意多边形 41"/>
          <p:cNvSpPr/>
          <p:nvPr/>
        </p:nvSpPr>
        <p:spPr>
          <a:xfrm>
            <a:off x="1435100" y="5403850"/>
            <a:ext cx="995363" cy="820738"/>
          </a:xfrm>
          <a:custGeom>
            <a:avLst/>
            <a:gdLst>
              <a:gd name="connsiteX0" fmla="*/ 0 w 1211580"/>
              <a:gd name="connsiteY0" fmla="*/ 0 h 1085850"/>
              <a:gd name="connsiteX1" fmla="*/ 422910 w 1211580"/>
              <a:gd name="connsiteY1" fmla="*/ 548640 h 1085850"/>
              <a:gd name="connsiteX2" fmla="*/ 1211580 w 1211580"/>
              <a:gd name="connsiteY2" fmla="*/ 1085850 h 1085850"/>
              <a:gd name="connsiteX0-1" fmla="*/ 0 w 1211580"/>
              <a:gd name="connsiteY0-2" fmla="*/ 0 h 1085850"/>
              <a:gd name="connsiteX1-3" fmla="*/ 422910 w 1211580"/>
              <a:gd name="connsiteY1-4" fmla="*/ 548640 h 1085850"/>
              <a:gd name="connsiteX2-5" fmla="*/ 708660 w 1211580"/>
              <a:gd name="connsiteY2-6" fmla="*/ 811530 h 1085850"/>
              <a:gd name="connsiteX3" fmla="*/ 1211580 w 1211580"/>
              <a:gd name="connsiteY3" fmla="*/ 1085850 h 1085850"/>
              <a:gd name="connsiteX0-7" fmla="*/ 0 w 1211580"/>
              <a:gd name="connsiteY0-8" fmla="*/ 0 h 1085850"/>
              <a:gd name="connsiteX1-9" fmla="*/ 377190 w 1211580"/>
              <a:gd name="connsiteY1-10" fmla="*/ 548640 h 1085850"/>
              <a:gd name="connsiteX2-11" fmla="*/ 708660 w 1211580"/>
              <a:gd name="connsiteY2-12" fmla="*/ 811530 h 1085850"/>
              <a:gd name="connsiteX3-13" fmla="*/ 1211580 w 1211580"/>
              <a:gd name="connsiteY3-14" fmla="*/ 1085850 h 1085850"/>
              <a:gd name="connsiteX0-15" fmla="*/ 0 w 1211580"/>
              <a:gd name="connsiteY0-16" fmla="*/ 0 h 1085850"/>
              <a:gd name="connsiteX1-17" fmla="*/ 377190 w 1211580"/>
              <a:gd name="connsiteY1-18" fmla="*/ 548640 h 1085850"/>
              <a:gd name="connsiteX2-19" fmla="*/ 777240 w 1211580"/>
              <a:gd name="connsiteY2-20" fmla="*/ 891540 h 1085850"/>
              <a:gd name="connsiteX3-21" fmla="*/ 1211580 w 1211580"/>
              <a:gd name="connsiteY3-22" fmla="*/ 1085850 h 1085850"/>
              <a:gd name="connsiteX0-23" fmla="*/ 0 w 1211580"/>
              <a:gd name="connsiteY0-24" fmla="*/ 0 h 1085850"/>
              <a:gd name="connsiteX1-25" fmla="*/ 114300 w 1211580"/>
              <a:gd name="connsiteY1-26" fmla="*/ 205740 h 1085850"/>
              <a:gd name="connsiteX2-27" fmla="*/ 377190 w 1211580"/>
              <a:gd name="connsiteY2-28" fmla="*/ 548640 h 1085850"/>
              <a:gd name="connsiteX3-29" fmla="*/ 777240 w 1211580"/>
              <a:gd name="connsiteY3-30" fmla="*/ 891540 h 1085850"/>
              <a:gd name="connsiteX4" fmla="*/ 1211580 w 1211580"/>
              <a:gd name="connsiteY4" fmla="*/ 1085850 h 1085850"/>
              <a:gd name="connsiteX0-31" fmla="*/ 0 w 1211580"/>
              <a:gd name="connsiteY0-32" fmla="*/ 0 h 1085850"/>
              <a:gd name="connsiteX1-33" fmla="*/ 377190 w 1211580"/>
              <a:gd name="connsiteY1-34" fmla="*/ 548640 h 1085850"/>
              <a:gd name="connsiteX2-35" fmla="*/ 777240 w 1211580"/>
              <a:gd name="connsiteY2-36" fmla="*/ 891540 h 1085850"/>
              <a:gd name="connsiteX3-37" fmla="*/ 1211580 w 1211580"/>
              <a:gd name="connsiteY3-38" fmla="*/ 1085850 h 1085850"/>
              <a:gd name="connsiteX0-39" fmla="*/ 0 w 1234440"/>
              <a:gd name="connsiteY0-40" fmla="*/ 0 h 948690"/>
              <a:gd name="connsiteX1-41" fmla="*/ 400050 w 1234440"/>
              <a:gd name="connsiteY1-42" fmla="*/ 411480 h 948690"/>
              <a:gd name="connsiteX2-43" fmla="*/ 800100 w 1234440"/>
              <a:gd name="connsiteY2-44" fmla="*/ 754380 h 948690"/>
              <a:gd name="connsiteX3-45" fmla="*/ 1234440 w 1234440"/>
              <a:gd name="connsiteY3-46" fmla="*/ 948690 h 948690"/>
              <a:gd name="connsiteX0-47" fmla="*/ 0 w 1234440"/>
              <a:gd name="connsiteY0-48" fmla="*/ 0 h 948690"/>
              <a:gd name="connsiteX1-49" fmla="*/ 388620 w 1234440"/>
              <a:gd name="connsiteY1-50" fmla="*/ 468630 h 948690"/>
              <a:gd name="connsiteX2-51" fmla="*/ 800100 w 1234440"/>
              <a:gd name="connsiteY2-52" fmla="*/ 754380 h 948690"/>
              <a:gd name="connsiteX3-53" fmla="*/ 1234440 w 1234440"/>
              <a:gd name="connsiteY3-54" fmla="*/ 948690 h 948690"/>
              <a:gd name="connsiteX0-55" fmla="*/ 0 w 1234440"/>
              <a:gd name="connsiteY0-56" fmla="*/ 0 h 948690"/>
              <a:gd name="connsiteX1-57" fmla="*/ 354330 w 1234440"/>
              <a:gd name="connsiteY1-58" fmla="*/ 480060 h 948690"/>
              <a:gd name="connsiteX2-59" fmla="*/ 800100 w 1234440"/>
              <a:gd name="connsiteY2-60" fmla="*/ 754380 h 948690"/>
              <a:gd name="connsiteX3-61" fmla="*/ 1234440 w 1234440"/>
              <a:gd name="connsiteY3-62" fmla="*/ 948690 h 948690"/>
              <a:gd name="connsiteX0-63" fmla="*/ 0 w 1234440"/>
              <a:gd name="connsiteY0-64" fmla="*/ 0 h 948690"/>
              <a:gd name="connsiteX1-65" fmla="*/ 354330 w 1234440"/>
              <a:gd name="connsiteY1-66" fmla="*/ 480060 h 948690"/>
              <a:gd name="connsiteX2-67" fmla="*/ 754380 w 1234440"/>
              <a:gd name="connsiteY2-68" fmla="*/ 777240 h 948690"/>
              <a:gd name="connsiteX3-69" fmla="*/ 1234440 w 1234440"/>
              <a:gd name="connsiteY3-70" fmla="*/ 948690 h 948690"/>
              <a:gd name="connsiteX0-71" fmla="*/ 0 w 1234440"/>
              <a:gd name="connsiteY0-72" fmla="*/ 0 h 948690"/>
              <a:gd name="connsiteX1-73" fmla="*/ 354330 w 1234440"/>
              <a:gd name="connsiteY1-74" fmla="*/ 480060 h 948690"/>
              <a:gd name="connsiteX2-75" fmla="*/ 834390 w 1234440"/>
              <a:gd name="connsiteY2-76" fmla="*/ 811530 h 948690"/>
              <a:gd name="connsiteX3-77" fmla="*/ 1234440 w 1234440"/>
              <a:gd name="connsiteY3-78" fmla="*/ 948690 h 948690"/>
              <a:gd name="connsiteX0-79" fmla="*/ 0 w 1245870"/>
              <a:gd name="connsiteY0-80" fmla="*/ 0 h 971550"/>
              <a:gd name="connsiteX1-81" fmla="*/ 354330 w 1245870"/>
              <a:gd name="connsiteY1-82" fmla="*/ 480060 h 971550"/>
              <a:gd name="connsiteX2-83" fmla="*/ 834390 w 1245870"/>
              <a:gd name="connsiteY2-84" fmla="*/ 811530 h 971550"/>
              <a:gd name="connsiteX3-85" fmla="*/ 1245870 w 1245870"/>
              <a:gd name="connsiteY3-86" fmla="*/ 971550 h 971550"/>
              <a:gd name="connsiteX0-87" fmla="*/ 0 w 1245870"/>
              <a:gd name="connsiteY0-88" fmla="*/ 0 h 971550"/>
              <a:gd name="connsiteX1-89" fmla="*/ 354330 w 1245870"/>
              <a:gd name="connsiteY1-90" fmla="*/ 480060 h 971550"/>
              <a:gd name="connsiteX2-91" fmla="*/ 720090 w 1245870"/>
              <a:gd name="connsiteY2-92" fmla="*/ 777240 h 971550"/>
              <a:gd name="connsiteX3-93" fmla="*/ 1245870 w 1245870"/>
              <a:gd name="connsiteY3-94" fmla="*/ 971550 h 971550"/>
              <a:gd name="connsiteX0-95" fmla="*/ 0 w 1245870"/>
              <a:gd name="connsiteY0-96" fmla="*/ 0 h 971550"/>
              <a:gd name="connsiteX1-97" fmla="*/ 354330 w 1245870"/>
              <a:gd name="connsiteY1-98" fmla="*/ 480060 h 971550"/>
              <a:gd name="connsiteX2-99" fmla="*/ 720090 w 1245870"/>
              <a:gd name="connsiteY2-100" fmla="*/ 777240 h 971550"/>
              <a:gd name="connsiteX3-101" fmla="*/ 1245870 w 1245870"/>
              <a:gd name="connsiteY3-102" fmla="*/ 971550 h 971550"/>
              <a:gd name="connsiteX0-103" fmla="*/ 0 w 1245870"/>
              <a:gd name="connsiteY0-104" fmla="*/ 0 h 971550"/>
              <a:gd name="connsiteX1-105" fmla="*/ 354330 w 1245870"/>
              <a:gd name="connsiteY1-106" fmla="*/ 480060 h 971550"/>
              <a:gd name="connsiteX2-107" fmla="*/ 720090 w 1245870"/>
              <a:gd name="connsiteY2-108" fmla="*/ 742950 h 971550"/>
              <a:gd name="connsiteX3-109" fmla="*/ 1245870 w 1245870"/>
              <a:gd name="connsiteY3-110" fmla="*/ 971550 h 971550"/>
              <a:gd name="connsiteX0-111" fmla="*/ 0 w 1245870"/>
              <a:gd name="connsiteY0-112" fmla="*/ 0 h 971550"/>
              <a:gd name="connsiteX1-113" fmla="*/ 354330 w 1245870"/>
              <a:gd name="connsiteY1-114" fmla="*/ 480060 h 971550"/>
              <a:gd name="connsiteX2-115" fmla="*/ 845820 w 1245870"/>
              <a:gd name="connsiteY2-116" fmla="*/ 811530 h 971550"/>
              <a:gd name="connsiteX3-117" fmla="*/ 1245870 w 1245870"/>
              <a:gd name="connsiteY3-118" fmla="*/ 971550 h 971550"/>
              <a:gd name="connsiteX0-119" fmla="*/ 0 w 1245870"/>
              <a:gd name="connsiteY0-120" fmla="*/ 0 h 971550"/>
              <a:gd name="connsiteX1-121" fmla="*/ 354330 w 1245870"/>
              <a:gd name="connsiteY1-122" fmla="*/ 480060 h 971550"/>
              <a:gd name="connsiteX2-123" fmla="*/ 822960 w 1245870"/>
              <a:gd name="connsiteY2-124" fmla="*/ 811530 h 971550"/>
              <a:gd name="connsiteX3-125" fmla="*/ 1245870 w 1245870"/>
              <a:gd name="connsiteY3-126" fmla="*/ 971550 h 971550"/>
              <a:gd name="connsiteX0-127" fmla="*/ 0 w 1245870"/>
              <a:gd name="connsiteY0-128" fmla="*/ 0 h 800100"/>
              <a:gd name="connsiteX1-129" fmla="*/ 354330 w 1245870"/>
              <a:gd name="connsiteY1-130" fmla="*/ 308610 h 800100"/>
              <a:gd name="connsiteX2-131" fmla="*/ 822960 w 1245870"/>
              <a:gd name="connsiteY2-132" fmla="*/ 640080 h 800100"/>
              <a:gd name="connsiteX3-133" fmla="*/ 1245870 w 1245870"/>
              <a:gd name="connsiteY3-134" fmla="*/ 800100 h 800100"/>
              <a:gd name="connsiteX0-135" fmla="*/ 0 w 1245870"/>
              <a:gd name="connsiteY0-136" fmla="*/ 0 h 800100"/>
              <a:gd name="connsiteX1-137" fmla="*/ 342900 w 1245870"/>
              <a:gd name="connsiteY1-138" fmla="*/ 377190 h 800100"/>
              <a:gd name="connsiteX2-139" fmla="*/ 822960 w 1245870"/>
              <a:gd name="connsiteY2-140" fmla="*/ 640080 h 800100"/>
              <a:gd name="connsiteX3-141" fmla="*/ 1245870 w 1245870"/>
              <a:gd name="connsiteY3-142" fmla="*/ 800100 h 800100"/>
              <a:gd name="connsiteX0-143" fmla="*/ 0 w 1245870"/>
              <a:gd name="connsiteY0-144" fmla="*/ 0 h 800100"/>
              <a:gd name="connsiteX1-145" fmla="*/ 342900 w 1245870"/>
              <a:gd name="connsiteY1-146" fmla="*/ 377190 h 800100"/>
              <a:gd name="connsiteX2-147" fmla="*/ 811530 w 1245870"/>
              <a:gd name="connsiteY2-148" fmla="*/ 685800 h 800100"/>
              <a:gd name="connsiteX3-149" fmla="*/ 1245870 w 1245870"/>
              <a:gd name="connsiteY3-150" fmla="*/ 800100 h 800100"/>
              <a:gd name="connsiteX0-151" fmla="*/ 0 w 1245870"/>
              <a:gd name="connsiteY0-152" fmla="*/ 0 h 800100"/>
              <a:gd name="connsiteX1-153" fmla="*/ 297180 w 1245870"/>
              <a:gd name="connsiteY1-154" fmla="*/ 377190 h 800100"/>
              <a:gd name="connsiteX2-155" fmla="*/ 811530 w 1245870"/>
              <a:gd name="connsiteY2-156" fmla="*/ 685800 h 800100"/>
              <a:gd name="connsiteX3-157" fmla="*/ 1245870 w 1245870"/>
              <a:gd name="connsiteY3-158" fmla="*/ 800100 h 800100"/>
              <a:gd name="connsiteX0-159" fmla="*/ 0 w 1245870"/>
              <a:gd name="connsiteY0-160" fmla="*/ 0 h 800100"/>
              <a:gd name="connsiteX1-161" fmla="*/ 297180 w 1245870"/>
              <a:gd name="connsiteY1-162" fmla="*/ 377190 h 800100"/>
              <a:gd name="connsiteX2-163" fmla="*/ 547735 w 1245870"/>
              <a:gd name="connsiteY2-164" fmla="*/ 557422 h 800100"/>
              <a:gd name="connsiteX3-165" fmla="*/ 811530 w 1245870"/>
              <a:gd name="connsiteY3-166" fmla="*/ 685800 h 800100"/>
              <a:gd name="connsiteX4-167" fmla="*/ 1245870 w 1245870"/>
              <a:gd name="connsiteY4-168" fmla="*/ 800100 h 800100"/>
              <a:gd name="connsiteX0-169" fmla="*/ 0 w 1245870"/>
              <a:gd name="connsiteY0-170" fmla="*/ 0 h 800100"/>
              <a:gd name="connsiteX1-171" fmla="*/ 297180 w 1245870"/>
              <a:gd name="connsiteY1-172" fmla="*/ 377190 h 800100"/>
              <a:gd name="connsiteX2-173" fmla="*/ 547735 w 1245870"/>
              <a:gd name="connsiteY2-174" fmla="*/ 557422 h 800100"/>
              <a:gd name="connsiteX3-175" fmla="*/ 891540 w 1245870"/>
              <a:gd name="connsiteY3-176" fmla="*/ 697230 h 800100"/>
              <a:gd name="connsiteX4-177" fmla="*/ 1245870 w 1245870"/>
              <a:gd name="connsiteY4-178" fmla="*/ 800100 h 800100"/>
              <a:gd name="connsiteX0-179" fmla="*/ 0 w 1245870"/>
              <a:gd name="connsiteY0-180" fmla="*/ 0 h 800100"/>
              <a:gd name="connsiteX1-181" fmla="*/ 297180 w 1245870"/>
              <a:gd name="connsiteY1-182" fmla="*/ 377190 h 800100"/>
              <a:gd name="connsiteX2-183" fmla="*/ 547735 w 1245870"/>
              <a:gd name="connsiteY2-184" fmla="*/ 557422 h 800100"/>
              <a:gd name="connsiteX3-185" fmla="*/ 1245870 w 1245870"/>
              <a:gd name="connsiteY3-186" fmla="*/ 800100 h 800100"/>
              <a:gd name="connsiteX0-187" fmla="*/ 0 w 1245870"/>
              <a:gd name="connsiteY0-188" fmla="*/ 0 h 800100"/>
              <a:gd name="connsiteX1-189" fmla="*/ 297180 w 1245870"/>
              <a:gd name="connsiteY1-190" fmla="*/ 377190 h 800100"/>
              <a:gd name="connsiteX2-191" fmla="*/ 662035 w 1245870"/>
              <a:gd name="connsiteY2-192" fmla="*/ 671722 h 800100"/>
              <a:gd name="connsiteX3-193" fmla="*/ 1245870 w 1245870"/>
              <a:gd name="connsiteY3-194" fmla="*/ 800100 h 800100"/>
              <a:gd name="connsiteX0-195" fmla="*/ 0 w 1245870"/>
              <a:gd name="connsiteY0-196" fmla="*/ 0 h 800100"/>
              <a:gd name="connsiteX1-197" fmla="*/ 297180 w 1245870"/>
              <a:gd name="connsiteY1-198" fmla="*/ 377190 h 800100"/>
              <a:gd name="connsiteX2-199" fmla="*/ 764905 w 1245870"/>
              <a:gd name="connsiteY2-200" fmla="*/ 717442 h 800100"/>
              <a:gd name="connsiteX3-201" fmla="*/ 1245870 w 1245870"/>
              <a:gd name="connsiteY3-202" fmla="*/ 800100 h 800100"/>
              <a:gd name="connsiteX0-203" fmla="*/ 0 w 1120140"/>
              <a:gd name="connsiteY0-204" fmla="*/ 0 h 834390"/>
              <a:gd name="connsiteX1-205" fmla="*/ 297180 w 1120140"/>
              <a:gd name="connsiteY1-206" fmla="*/ 377190 h 834390"/>
              <a:gd name="connsiteX2-207" fmla="*/ 764905 w 1120140"/>
              <a:gd name="connsiteY2-208" fmla="*/ 717442 h 834390"/>
              <a:gd name="connsiteX3-209" fmla="*/ 1120140 w 1120140"/>
              <a:gd name="connsiteY3-210" fmla="*/ 834390 h 834390"/>
              <a:gd name="connsiteX0-211" fmla="*/ 0 w 1303020"/>
              <a:gd name="connsiteY0-212" fmla="*/ 0 h 857250"/>
              <a:gd name="connsiteX1-213" fmla="*/ 297180 w 1303020"/>
              <a:gd name="connsiteY1-214" fmla="*/ 377190 h 857250"/>
              <a:gd name="connsiteX2-215" fmla="*/ 764905 w 1303020"/>
              <a:gd name="connsiteY2-216" fmla="*/ 717442 h 857250"/>
              <a:gd name="connsiteX3-217" fmla="*/ 1303020 w 1303020"/>
              <a:gd name="connsiteY3-218" fmla="*/ 857250 h 857250"/>
              <a:gd name="connsiteX0-219" fmla="*/ 0 w 1303020"/>
              <a:gd name="connsiteY0-220" fmla="*/ 0 h 857250"/>
              <a:gd name="connsiteX1-221" fmla="*/ 297180 w 1303020"/>
              <a:gd name="connsiteY1-222" fmla="*/ 377190 h 857250"/>
              <a:gd name="connsiteX2-223" fmla="*/ 787765 w 1303020"/>
              <a:gd name="connsiteY2-224" fmla="*/ 706012 h 857250"/>
              <a:gd name="connsiteX3-225" fmla="*/ 1303020 w 1303020"/>
              <a:gd name="connsiteY3-226" fmla="*/ 857250 h 857250"/>
              <a:gd name="connsiteX0-227" fmla="*/ 0 w 1291409"/>
              <a:gd name="connsiteY0-228" fmla="*/ 445395 h 481016"/>
              <a:gd name="connsiteX1-229" fmla="*/ 285569 w 1291409"/>
              <a:gd name="connsiteY1-230" fmla="*/ 956 h 481016"/>
              <a:gd name="connsiteX2-231" fmla="*/ 776154 w 1291409"/>
              <a:gd name="connsiteY2-232" fmla="*/ 329778 h 481016"/>
              <a:gd name="connsiteX3-233" fmla="*/ 1291409 w 1291409"/>
              <a:gd name="connsiteY3-234" fmla="*/ 481016 h 481016"/>
              <a:gd name="connsiteX0-235" fmla="*/ 0 w 1291409"/>
              <a:gd name="connsiteY0-236" fmla="*/ 552161 h 587782"/>
              <a:gd name="connsiteX1-237" fmla="*/ 285569 w 1291409"/>
              <a:gd name="connsiteY1-238" fmla="*/ 107722 h 587782"/>
              <a:gd name="connsiteX2-239" fmla="*/ 973529 w 1291409"/>
              <a:gd name="connsiteY2-240" fmla="*/ 30929 h 587782"/>
              <a:gd name="connsiteX3-241" fmla="*/ 1291409 w 1291409"/>
              <a:gd name="connsiteY3-242" fmla="*/ 587782 h 587782"/>
              <a:gd name="connsiteX0-243" fmla="*/ 0 w 1384292"/>
              <a:gd name="connsiteY0-244" fmla="*/ 770034 h 787780"/>
              <a:gd name="connsiteX1-245" fmla="*/ 285569 w 1384292"/>
              <a:gd name="connsiteY1-246" fmla="*/ 325595 h 787780"/>
              <a:gd name="connsiteX2-247" fmla="*/ 973529 w 1384292"/>
              <a:gd name="connsiteY2-248" fmla="*/ 248802 h 787780"/>
              <a:gd name="connsiteX3-249" fmla="*/ 1384292 w 1384292"/>
              <a:gd name="connsiteY3-250" fmla="*/ 4825 h 787780"/>
              <a:gd name="connsiteX0-251" fmla="*/ 0 w 1384292"/>
              <a:gd name="connsiteY0-252" fmla="*/ 770034 h 795306"/>
              <a:gd name="connsiteX1-253" fmla="*/ 320401 w 1384292"/>
              <a:gd name="connsiteY1-254" fmla="*/ 492002 h 795306"/>
              <a:gd name="connsiteX2-255" fmla="*/ 973529 w 1384292"/>
              <a:gd name="connsiteY2-256" fmla="*/ 248802 h 795306"/>
              <a:gd name="connsiteX3-257" fmla="*/ 1384292 w 1384292"/>
              <a:gd name="connsiteY3-258" fmla="*/ 4825 h 795306"/>
              <a:gd name="connsiteX0-259" fmla="*/ 0 w 1384292"/>
              <a:gd name="connsiteY0-260" fmla="*/ 769197 h 793657"/>
              <a:gd name="connsiteX1-261" fmla="*/ 320401 w 1384292"/>
              <a:gd name="connsiteY1-262" fmla="*/ 491165 h 793657"/>
              <a:gd name="connsiteX2-263" fmla="*/ 961919 w 1384292"/>
              <a:gd name="connsiteY2-264" fmla="*/ 331169 h 793657"/>
              <a:gd name="connsiteX3-265" fmla="*/ 1384292 w 1384292"/>
              <a:gd name="connsiteY3-266" fmla="*/ 3988 h 793657"/>
              <a:gd name="connsiteX0-267" fmla="*/ 0 w 1384292"/>
              <a:gd name="connsiteY0-268" fmla="*/ 765209 h 793172"/>
              <a:gd name="connsiteX1-269" fmla="*/ 320401 w 1384292"/>
              <a:gd name="connsiteY1-270" fmla="*/ 487177 h 793172"/>
              <a:gd name="connsiteX2-271" fmla="*/ 1384292 w 1384292"/>
              <a:gd name="connsiteY2-272" fmla="*/ 0 h 793172"/>
              <a:gd name="connsiteX0-273" fmla="*/ 0 w 1384292"/>
              <a:gd name="connsiteY0-274" fmla="*/ 765209 h 782876"/>
              <a:gd name="connsiteX1-275" fmla="*/ 599049 w 1384292"/>
              <a:gd name="connsiteY1-276" fmla="*/ 279169 h 782876"/>
              <a:gd name="connsiteX2-277" fmla="*/ 1384292 w 1384292"/>
              <a:gd name="connsiteY2-278" fmla="*/ 0 h 782876"/>
              <a:gd name="connsiteX0-279" fmla="*/ 0 w 1337851"/>
              <a:gd name="connsiteY0-280" fmla="*/ 775609 h 793005"/>
              <a:gd name="connsiteX1-281" fmla="*/ 552608 w 1337851"/>
              <a:gd name="connsiteY1-282" fmla="*/ 279169 h 793005"/>
              <a:gd name="connsiteX2-283" fmla="*/ 1337851 w 1337851"/>
              <a:gd name="connsiteY2-284" fmla="*/ 0 h 793005"/>
              <a:gd name="connsiteX0-285" fmla="*/ 0 w 1337851"/>
              <a:gd name="connsiteY0-286" fmla="*/ 775609 h 775609"/>
              <a:gd name="connsiteX1-287" fmla="*/ 147117 w 1337851"/>
              <a:gd name="connsiteY1-288" fmla="*/ 712472 h 775609"/>
              <a:gd name="connsiteX2-289" fmla="*/ 552608 w 1337851"/>
              <a:gd name="connsiteY2-290" fmla="*/ 279169 h 775609"/>
              <a:gd name="connsiteX3-291" fmla="*/ 1337851 w 1337851"/>
              <a:gd name="connsiteY3-292" fmla="*/ 0 h 775609"/>
              <a:gd name="connsiteX0-293" fmla="*/ 0 w 1190734"/>
              <a:gd name="connsiteY0-294" fmla="*/ 712472 h 712472"/>
              <a:gd name="connsiteX1-295" fmla="*/ 405491 w 1190734"/>
              <a:gd name="connsiteY1-296" fmla="*/ 279169 h 712472"/>
              <a:gd name="connsiteX2-297" fmla="*/ 1190734 w 1190734"/>
              <a:gd name="connsiteY2-298" fmla="*/ 0 h 712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90734" h="712472">
                <a:moveTo>
                  <a:pt x="0" y="712472"/>
                </a:moveTo>
                <a:cubicBezTo>
                  <a:pt x="92101" y="629732"/>
                  <a:pt x="207035" y="397914"/>
                  <a:pt x="405491" y="279169"/>
                </a:cubicBezTo>
                <a:cubicBezTo>
                  <a:pt x="628466" y="149901"/>
                  <a:pt x="969090" y="101495"/>
                  <a:pt x="1190734" y="0"/>
                </a:cubicBez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3" name="Object 35"/>
          <p:cNvGraphicFramePr>
            <a:graphicFrameLocks noChangeAspect="1"/>
          </p:cNvGraphicFramePr>
          <p:nvPr/>
        </p:nvGraphicFramePr>
        <p:xfrm>
          <a:off x="1390650" y="6156325"/>
          <a:ext cx="7112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r:id="rId20" imgW="621665" imgH="254000" progId="Equation.DSMT4">
                  <p:embed/>
                </p:oleObj>
              </mc:Choice>
              <mc:Fallback>
                <p:oleObj r:id="rId20" imgW="621665" imgH="2540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90650" y="6156325"/>
                        <a:ext cx="711200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36"/>
          <p:cNvGraphicFramePr>
            <a:graphicFrameLocks noChangeAspect="1"/>
          </p:cNvGraphicFramePr>
          <p:nvPr/>
        </p:nvGraphicFramePr>
        <p:xfrm>
          <a:off x="2405063" y="5395913"/>
          <a:ext cx="639762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r:id="rId21" imgW="647065" imgH="254000" progId="Equation.DSMT4">
                  <p:embed/>
                </p:oleObj>
              </mc:Choice>
              <mc:Fallback>
                <p:oleObj r:id="rId21" imgW="647065" imgH="2540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05063" y="5395913"/>
                        <a:ext cx="639762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2624138" y="2451100"/>
            <a:ext cx="808037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070100" y="4937125"/>
            <a:ext cx="84613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55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6" dur="500"/>
                                        <p:tgtEl>
                                          <p:spTgt spid="557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55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0" grpId="0" build="p"/>
      <p:bldP spid="557065" grpId="0"/>
      <p:bldP spid="557068" grpId="0"/>
      <p:bldP spid="557085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36" name="矩形 392335"/>
          <p:cNvSpPr/>
          <p:nvPr/>
        </p:nvSpPr>
        <p:spPr>
          <a:xfrm>
            <a:off x="1476375" y="188913"/>
            <a:ext cx="4968875" cy="5794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13-2     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内能    功和热量</a:t>
            </a:r>
          </a:p>
        </p:txBody>
      </p:sp>
      <p:sp>
        <p:nvSpPr>
          <p:cNvPr id="392338" name="文本框 392337"/>
          <p:cNvSpPr txBox="1"/>
          <p:nvPr/>
        </p:nvSpPr>
        <p:spPr>
          <a:xfrm>
            <a:off x="-252412" y="836613"/>
            <a:ext cx="2879725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</a:t>
            </a:r>
            <a:r>
              <a:rPr kumimoji="0" lang="en-US" altLang="zh-CN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 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内能</a:t>
            </a:r>
          </a:p>
        </p:txBody>
      </p:sp>
      <p:sp>
        <p:nvSpPr>
          <p:cNvPr id="392340" name="文本框 392339"/>
          <p:cNvSpPr txBox="1"/>
          <p:nvPr/>
        </p:nvSpPr>
        <p:spPr>
          <a:xfrm>
            <a:off x="1763713" y="4508500"/>
            <a:ext cx="2916238" cy="57943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内能是</a:t>
            </a:r>
            <a:r>
              <a:rPr kumimoji="0" lang="zh-CN" altLang="en-US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状态量</a:t>
            </a:r>
          </a:p>
        </p:txBody>
      </p:sp>
      <p:sp>
        <p:nvSpPr>
          <p:cNvPr id="392341" name="文本框 392340"/>
          <p:cNvSpPr txBox="1"/>
          <p:nvPr/>
        </p:nvSpPr>
        <p:spPr>
          <a:xfrm>
            <a:off x="1116013" y="5087938"/>
            <a:ext cx="5599113" cy="6889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6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00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理想气体</a:t>
            </a: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：内能是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温度的单值函数</a:t>
            </a:r>
          </a:p>
        </p:txBody>
      </p:sp>
      <p:graphicFrame>
        <p:nvGraphicFramePr>
          <p:cNvPr id="392345" name="对象 392344"/>
          <p:cNvGraphicFramePr/>
          <p:nvPr/>
        </p:nvGraphicFramePr>
        <p:xfrm>
          <a:off x="2055813" y="1662113"/>
          <a:ext cx="52609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r:id="rId3" imgW="2159000" imgH="254000" progId="Equation.DSMT4">
                  <p:embed/>
                </p:oleObj>
              </mc:Choice>
              <mc:Fallback>
                <p:oleObj r:id="rId3" imgW="2159000" imgH="2540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5813" y="1662113"/>
                        <a:ext cx="5260975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347" name="对象 392346"/>
          <p:cNvGraphicFramePr/>
          <p:nvPr/>
        </p:nvGraphicFramePr>
        <p:xfrm>
          <a:off x="5729288" y="3028950"/>
          <a:ext cx="1489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r:id="rId5" imgW="747395" imgH="222885" progId="Equation.DSMT4">
                  <p:embed/>
                </p:oleObj>
              </mc:Choice>
              <mc:Fallback>
                <p:oleObj r:id="rId5" imgW="747395" imgH="222885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29288" y="3028950"/>
                        <a:ext cx="1489075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348" name="对象 392347"/>
          <p:cNvGraphicFramePr/>
          <p:nvPr/>
        </p:nvGraphicFramePr>
        <p:xfrm>
          <a:off x="3121025" y="4019550"/>
          <a:ext cx="208121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r:id="rId7" imgW="1249045" imgH="222885" progId="Equation.3">
                  <p:embed/>
                </p:oleObj>
              </mc:Choice>
              <mc:Fallback>
                <p:oleObj r:id="rId7" imgW="1249045" imgH="22288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21025" y="4019550"/>
                        <a:ext cx="2081213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349" name="下箭头 392348"/>
          <p:cNvSpPr>
            <a:spLocks noChangeArrowheads="1"/>
          </p:cNvSpPr>
          <p:nvPr/>
        </p:nvSpPr>
        <p:spPr bwMode="auto">
          <a:xfrm>
            <a:off x="3462338" y="2479675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33CC"/>
              </a:gs>
              <a:gs pos="50000">
                <a:schemeClr val="bg1"/>
              </a:gs>
              <a:gs pos="100000">
                <a:srgbClr val="FF33CC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350" name="下箭头 392349"/>
          <p:cNvSpPr>
            <a:spLocks noChangeArrowheads="1"/>
          </p:cNvSpPr>
          <p:nvPr/>
        </p:nvSpPr>
        <p:spPr bwMode="auto">
          <a:xfrm>
            <a:off x="5922963" y="2454275"/>
            <a:ext cx="457200" cy="457200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33CC"/>
              </a:gs>
              <a:gs pos="50000">
                <a:schemeClr val="bg1"/>
              </a:gs>
              <a:gs pos="100000">
                <a:srgbClr val="FF33CC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Object 12"/>
          <p:cNvGraphicFramePr/>
          <p:nvPr/>
        </p:nvGraphicFramePr>
        <p:xfrm>
          <a:off x="3203575" y="5949950"/>
          <a:ext cx="16351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r:id="rId9" imgW="958850" imgH="222885" progId="Equation.DSMT4">
                  <p:embed/>
                </p:oleObj>
              </mc:Choice>
              <mc:Fallback>
                <p:oleObj r:id="rId9" imgW="958850" imgH="222885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575" y="5949950"/>
                        <a:ext cx="1635125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2970213" y="3035300"/>
          <a:ext cx="149066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6" r:id="rId11" imgW="584200" imgH="203200" progId="Equation.DSMT4">
                  <p:embed/>
                </p:oleObj>
              </mc:Choice>
              <mc:Fallback>
                <p:oleObj r:id="rId11" imgW="584200" imgH="2032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70213" y="3035300"/>
                        <a:ext cx="1490662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41313" y="1516063"/>
            <a:ext cx="1927225" cy="6889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6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00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一般气体</a:t>
            </a:r>
            <a:r>
              <a:rPr kumimoji="0" lang="zh-CN" altLang="en-US" sz="2800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：</a:t>
            </a:r>
            <a:endParaRPr kumimoji="0" lang="zh-CN" altLang="en-US" sz="2800" kern="1200" cap="none" spc="0" normalizeH="0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9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9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9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2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338" grpId="0"/>
      <p:bldP spid="392340" grpId="0"/>
      <p:bldP spid="392341" grpId="0" build="p"/>
      <p:bldP spid="1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文本框 439297"/>
          <p:cNvSpPr txBox="1"/>
          <p:nvPr/>
        </p:nvSpPr>
        <p:spPr>
          <a:xfrm>
            <a:off x="323850" y="101600"/>
            <a:ext cx="5006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</a:t>
            </a:r>
            <a:r>
              <a:rPr kumimoji="0" lang="en-US" altLang="zh-CN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</a:t>
            </a: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准静态过程中体积功的计算</a:t>
            </a:r>
          </a:p>
        </p:txBody>
      </p:sp>
      <p:graphicFrame>
        <p:nvGraphicFramePr>
          <p:cNvPr id="439301" name="对象 439300"/>
          <p:cNvGraphicFramePr/>
          <p:nvPr/>
        </p:nvGraphicFramePr>
        <p:xfrm>
          <a:off x="2700338" y="1455738"/>
          <a:ext cx="251936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8" r:id="rId3" imgW="1103630" imgH="203200" progId="Equation.DSMT4">
                  <p:embed/>
                </p:oleObj>
              </mc:Choice>
              <mc:Fallback>
                <p:oleObj r:id="rId3" imgW="1103630" imgH="203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0338" y="1455738"/>
                        <a:ext cx="2519362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3" name="对象 439302"/>
          <p:cNvGraphicFramePr/>
          <p:nvPr/>
        </p:nvGraphicFramePr>
        <p:xfrm>
          <a:off x="4572000" y="1989138"/>
          <a:ext cx="237648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r:id="rId5" imgW="799465" imgH="355600" progId="Equation.DSMT4">
                  <p:embed/>
                </p:oleObj>
              </mc:Choice>
              <mc:Fallback>
                <p:oleObj r:id="rId5" imgW="799465" imgH="355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1989138"/>
                        <a:ext cx="2376488" cy="8112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04" name="文本框 439303"/>
          <p:cNvSpPr txBox="1"/>
          <p:nvPr/>
        </p:nvSpPr>
        <p:spPr>
          <a:xfrm>
            <a:off x="4427538" y="6237288"/>
            <a:ext cx="4191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注意：</a:t>
            </a:r>
            <a:r>
              <a:rPr kumimoji="0" lang="zh-CN" altLang="en-US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功是过程量</a:t>
            </a:r>
            <a:r>
              <a:rPr kumimoji="0" lang="en-US" altLang="zh-CN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.</a:t>
            </a:r>
          </a:p>
        </p:txBody>
      </p:sp>
      <p:grpSp>
        <p:nvGrpSpPr>
          <p:cNvPr id="2" name="组合 439311"/>
          <p:cNvGrpSpPr/>
          <p:nvPr/>
        </p:nvGrpSpPr>
        <p:grpSpPr>
          <a:xfrm>
            <a:off x="900113" y="836613"/>
            <a:ext cx="4537075" cy="477837"/>
            <a:chOff x="476" y="2069"/>
            <a:chExt cx="2858" cy="301"/>
          </a:xfrm>
        </p:grpSpPr>
        <p:sp>
          <p:nvSpPr>
            <p:cNvPr id="439313" name="文本框 439312"/>
            <p:cNvSpPr txBox="1"/>
            <p:nvPr/>
          </p:nvSpPr>
          <p:spPr>
            <a:xfrm>
              <a:off x="476" y="2069"/>
              <a:ext cx="285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一气缸膨胀，</a:t>
              </a: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设</a:t>
              </a: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活塞移动了</a:t>
              </a:r>
            </a:p>
          </p:txBody>
        </p:sp>
        <p:graphicFrame>
          <p:nvGraphicFramePr>
            <p:cNvPr id="81927" name="对象 439313"/>
            <p:cNvGraphicFramePr/>
            <p:nvPr/>
          </p:nvGraphicFramePr>
          <p:xfrm>
            <a:off x="2880" y="2115"/>
            <a:ext cx="27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0" r:id="rId7" imgW="200660" imgH="200660" progId="Equation.3">
                    <p:embed/>
                  </p:oleObj>
                </mc:Choice>
                <mc:Fallback>
                  <p:oleObj r:id="rId7" imgW="200660" imgH="20066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0" y="2115"/>
                          <a:ext cx="276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9316" name="文本框 439315"/>
          <p:cNvSpPr txBox="1"/>
          <p:nvPr/>
        </p:nvSpPr>
        <p:spPr>
          <a:xfrm>
            <a:off x="900113" y="1412875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气体作元功</a:t>
            </a:r>
          </a:p>
        </p:txBody>
      </p:sp>
      <p:graphicFrame>
        <p:nvGraphicFramePr>
          <p:cNvPr id="439319" name="对象 439318"/>
          <p:cNvGraphicFramePr/>
          <p:nvPr/>
        </p:nvGraphicFramePr>
        <p:xfrm>
          <a:off x="5237163" y="1455738"/>
          <a:ext cx="15017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1" r:id="rId9" imgW="591185" imgH="245110" progId="Equation.DSMT4">
                  <p:embed/>
                </p:oleObj>
              </mc:Choice>
              <mc:Fallback>
                <p:oleObj r:id="rId9" imgW="591185" imgH="24511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37163" y="1455738"/>
                        <a:ext cx="1501775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439319"/>
          <p:cNvGrpSpPr/>
          <p:nvPr/>
        </p:nvGrpSpPr>
        <p:grpSpPr>
          <a:xfrm>
            <a:off x="914400" y="2062163"/>
            <a:ext cx="3411538" cy="484187"/>
            <a:chOff x="504" y="2790"/>
            <a:chExt cx="2149" cy="305"/>
          </a:xfrm>
        </p:grpSpPr>
        <p:sp>
          <p:nvSpPr>
            <p:cNvPr id="439321" name="文本框 439320"/>
            <p:cNvSpPr txBox="1"/>
            <p:nvPr/>
          </p:nvSpPr>
          <p:spPr>
            <a:xfrm>
              <a:off x="504" y="2790"/>
              <a:ext cx="12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当气体体积从</a:t>
              </a:r>
            </a:p>
          </p:txBody>
        </p:sp>
        <p:graphicFrame>
          <p:nvGraphicFramePr>
            <p:cNvPr id="81932" name="对象 439321"/>
            <p:cNvGraphicFramePr/>
            <p:nvPr/>
          </p:nvGraphicFramePr>
          <p:xfrm>
            <a:off x="1834" y="2795"/>
            <a:ext cx="81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2" r:id="rId11" imgW="647065" imgH="256540" progId="Equation.3">
                    <p:embed/>
                  </p:oleObj>
                </mc:Choice>
                <mc:Fallback>
                  <p:oleObj r:id="rId11" imgW="647065" imgH="25654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34" y="2795"/>
                          <a:ext cx="819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87" name="矩形 439323"/>
          <p:cNvSpPr/>
          <p:nvPr/>
        </p:nvSpPr>
        <p:spPr>
          <a:xfrm>
            <a:off x="4572000" y="3186113"/>
            <a:ext cx="3600450" cy="2924175"/>
          </a:xfrm>
          <a:prstGeom prst="rect">
            <a:avLst/>
          </a:prstGeom>
          <a:gradFill rotWithShape="1">
            <a:gsLst>
              <a:gs pos="0">
                <a:srgbClr val="B4DDFE"/>
              </a:gs>
              <a:gs pos="100000">
                <a:srgbClr val="FFFFFF"/>
              </a:gs>
            </a:gsLst>
            <a:lin ang="5400000" scaled="1"/>
            <a:tileRect/>
          </a:gradFill>
          <a:ln w="19050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88" name="组合 439366"/>
          <p:cNvGrpSpPr/>
          <p:nvPr/>
        </p:nvGrpSpPr>
        <p:grpSpPr>
          <a:xfrm>
            <a:off x="4916488" y="3254375"/>
            <a:ext cx="3127375" cy="2835275"/>
            <a:chOff x="3097" y="2408"/>
            <a:chExt cx="1970" cy="1786"/>
          </a:xfrm>
        </p:grpSpPr>
        <p:sp>
          <p:nvSpPr>
            <p:cNvPr id="81935" name="直接连接符 439325"/>
            <p:cNvSpPr/>
            <p:nvPr/>
          </p:nvSpPr>
          <p:spPr>
            <a:xfrm>
              <a:off x="3255" y="3896"/>
              <a:ext cx="1644" cy="1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81936" name="任意多边形 439327"/>
            <p:cNvSpPr/>
            <p:nvPr/>
          </p:nvSpPr>
          <p:spPr>
            <a:xfrm>
              <a:off x="3582" y="2962"/>
              <a:ext cx="849" cy="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2056" h="22144" fill="none">
                  <a:moveTo>
                    <a:pt x="0" y="4"/>
                  </a:moveTo>
                  <a:cubicBezTo>
                    <a:pt x="152" y="1"/>
                    <a:pt x="304" y="-1"/>
                    <a:pt x="456" y="-1"/>
                  </a:cubicBezTo>
                  <a:cubicBezTo>
                    <a:pt x="12385" y="-1"/>
                    <a:pt x="22056" y="9670"/>
                    <a:pt x="22056" y="21599"/>
                  </a:cubicBezTo>
                  <a:cubicBezTo>
                    <a:pt x="22056" y="21781"/>
                    <a:pt x="22054" y="21963"/>
                    <a:pt x="22049" y="22142"/>
                  </a:cubicBezTo>
                </a:path>
                <a:path w="22056" h="22144" stroke="0">
                  <a:moveTo>
                    <a:pt x="0" y="4"/>
                  </a:moveTo>
                  <a:cubicBezTo>
                    <a:pt x="152" y="1"/>
                    <a:pt x="304" y="-1"/>
                    <a:pt x="456" y="-1"/>
                  </a:cubicBezTo>
                  <a:cubicBezTo>
                    <a:pt x="12385" y="-1"/>
                    <a:pt x="22056" y="9670"/>
                    <a:pt x="22056" y="21599"/>
                  </a:cubicBezTo>
                  <a:cubicBezTo>
                    <a:pt x="22056" y="21781"/>
                    <a:pt x="22054" y="21963"/>
                    <a:pt x="22049" y="22142"/>
                  </a:cubicBezTo>
                  <a:lnTo>
                    <a:pt x="456" y="21600"/>
                  </a:lnTo>
                  <a:lnTo>
                    <a:pt x="0" y="4"/>
                  </a:lnTo>
                  <a:close/>
                </a:path>
              </a:pathLst>
            </a:custGeom>
            <a:noFill/>
            <a:ln w="19050" cap="flat" cmpd="sng">
              <a:solidFill>
                <a:srgbClr val="006666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7" name="直接连接符 439328"/>
            <p:cNvSpPr/>
            <p:nvPr/>
          </p:nvSpPr>
          <p:spPr>
            <a:xfrm>
              <a:off x="4428" y="3566"/>
              <a:ext cx="1" cy="324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81938" name="直接连接符 439329"/>
            <p:cNvSpPr/>
            <p:nvPr/>
          </p:nvSpPr>
          <p:spPr>
            <a:xfrm flipV="1">
              <a:off x="3255" y="2649"/>
              <a:ext cx="0" cy="1248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81939" name="矩形 439330"/>
            <p:cNvSpPr/>
            <p:nvPr/>
          </p:nvSpPr>
          <p:spPr>
            <a:xfrm>
              <a:off x="3428" y="2798"/>
              <a:ext cx="354" cy="258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12700" tIns="12700" rIns="12700" bIns="12700" anchor="t" anchorCtr="0"/>
            <a:lstStyle/>
            <a:p>
              <a:pPr algn="just"/>
              <a:r>
                <a: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1</a:t>
              </a:r>
            </a:p>
          </p:txBody>
        </p:sp>
        <p:sp>
          <p:nvSpPr>
            <p:cNvPr id="81940" name="矩形 439331"/>
            <p:cNvSpPr/>
            <p:nvPr/>
          </p:nvSpPr>
          <p:spPr>
            <a:xfrm>
              <a:off x="4478" y="3481"/>
              <a:ext cx="354" cy="258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12700" tIns="12700" rIns="12700" bIns="12700" anchor="t" anchorCtr="0"/>
            <a:lstStyle/>
            <a:p>
              <a:pPr algn="just"/>
              <a:r>
                <a: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1941" name="矩形 439333"/>
            <p:cNvSpPr/>
            <p:nvPr/>
          </p:nvSpPr>
          <p:spPr>
            <a:xfrm>
              <a:off x="4168" y="2904"/>
              <a:ext cx="236" cy="258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12700" tIns="12700" rIns="12700" bIns="12700" anchor="t" anchorCtr="0"/>
            <a:lstStyle/>
            <a:p>
              <a:pPr algn="just"/>
              <a:r>
                <a:rPr lang="en-US" altLang="zh-CN" i="1" dirty="0">
                  <a:solidFill>
                    <a:srgbClr val="0066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dirty="0">
                <a:solidFill>
                  <a:srgbClr val="0066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42" name="直接连接符 439334"/>
            <p:cNvSpPr/>
            <p:nvPr/>
          </p:nvSpPr>
          <p:spPr>
            <a:xfrm flipH="1">
              <a:off x="3568" y="3022"/>
              <a:ext cx="313" cy="280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3" name="直接连接符 439335"/>
            <p:cNvSpPr/>
            <p:nvPr/>
          </p:nvSpPr>
          <p:spPr>
            <a:xfrm flipH="1">
              <a:off x="3568" y="3040"/>
              <a:ext cx="372" cy="328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4" name="直接连接符 439336"/>
            <p:cNvSpPr/>
            <p:nvPr/>
          </p:nvSpPr>
          <p:spPr>
            <a:xfrm flipH="1">
              <a:off x="3568" y="3040"/>
              <a:ext cx="471" cy="394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5" name="直接连接符 439337"/>
            <p:cNvSpPr/>
            <p:nvPr/>
          </p:nvSpPr>
          <p:spPr>
            <a:xfrm flipH="1">
              <a:off x="3568" y="3072"/>
              <a:ext cx="502" cy="428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6" name="直接连接符 439338"/>
            <p:cNvSpPr/>
            <p:nvPr/>
          </p:nvSpPr>
          <p:spPr>
            <a:xfrm flipH="1">
              <a:off x="3568" y="3119"/>
              <a:ext cx="547" cy="447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7" name="直接连接符 439339"/>
            <p:cNvSpPr/>
            <p:nvPr/>
          </p:nvSpPr>
          <p:spPr>
            <a:xfrm flipH="1">
              <a:off x="3568" y="3125"/>
              <a:ext cx="606" cy="507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8" name="直接连接符 439340"/>
            <p:cNvSpPr/>
            <p:nvPr/>
          </p:nvSpPr>
          <p:spPr>
            <a:xfrm flipH="1">
              <a:off x="3568" y="3152"/>
              <a:ext cx="635" cy="545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49" name="直接连接符 439341"/>
            <p:cNvSpPr/>
            <p:nvPr/>
          </p:nvSpPr>
          <p:spPr>
            <a:xfrm flipH="1">
              <a:off x="3568" y="3224"/>
              <a:ext cx="643" cy="540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0" name="直接连接符 439342"/>
            <p:cNvSpPr/>
            <p:nvPr/>
          </p:nvSpPr>
          <p:spPr>
            <a:xfrm flipH="1">
              <a:off x="3568" y="3199"/>
              <a:ext cx="746" cy="630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1" name="直接连接符 439343"/>
            <p:cNvSpPr/>
            <p:nvPr/>
          </p:nvSpPr>
          <p:spPr>
            <a:xfrm flipH="1">
              <a:off x="3568" y="3236"/>
              <a:ext cx="782" cy="660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2" name="直接连接符 439344"/>
            <p:cNvSpPr/>
            <p:nvPr/>
          </p:nvSpPr>
          <p:spPr>
            <a:xfrm flipH="1">
              <a:off x="3646" y="3303"/>
              <a:ext cx="704" cy="592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3" name="直接连接符 439345"/>
            <p:cNvSpPr/>
            <p:nvPr/>
          </p:nvSpPr>
          <p:spPr>
            <a:xfrm flipH="1">
              <a:off x="3725" y="3342"/>
              <a:ext cx="652" cy="554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4" name="直接连接符 439346"/>
            <p:cNvSpPr/>
            <p:nvPr/>
          </p:nvSpPr>
          <p:spPr>
            <a:xfrm flipH="1">
              <a:off x="3802" y="3408"/>
              <a:ext cx="575" cy="488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5" name="直接连接符 439347"/>
            <p:cNvSpPr/>
            <p:nvPr/>
          </p:nvSpPr>
          <p:spPr>
            <a:xfrm flipH="1">
              <a:off x="3881" y="3434"/>
              <a:ext cx="550" cy="462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6" name="直接连接符 439348"/>
            <p:cNvSpPr/>
            <p:nvPr/>
          </p:nvSpPr>
          <p:spPr>
            <a:xfrm flipH="1">
              <a:off x="3959" y="3491"/>
              <a:ext cx="474" cy="405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7" name="直接连接符 439349"/>
            <p:cNvSpPr/>
            <p:nvPr/>
          </p:nvSpPr>
          <p:spPr>
            <a:xfrm flipH="1">
              <a:off x="4038" y="3566"/>
              <a:ext cx="390" cy="330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8" name="直接连接符 439350"/>
            <p:cNvSpPr/>
            <p:nvPr/>
          </p:nvSpPr>
          <p:spPr>
            <a:xfrm flipH="1">
              <a:off x="4115" y="3632"/>
              <a:ext cx="313" cy="264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59" name="直接连接符 439351"/>
            <p:cNvSpPr/>
            <p:nvPr/>
          </p:nvSpPr>
          <p:spPr>
            <a:xfrm flipH="1">
              <a:off x="4193" y="3697"/>
              <a:ext cx="235" cy="199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60" name="直接连接符 439352"/>
            <p:cNvSpPr/>
            <p:nvPr/>
          </p:nvSpPr>
          <p:spPr>
            <a:xfrm flipH="1">
              <a:off x="4272" y="3764"/>
              <a:ext cx="156" cy="132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61" name="直接连接符 439353"/>
            <p:cNvSpPr/>
            <p:nvPr/>
          </p:nvSpPr>
          <p:spPr>
            <a:xfrm flipH="1">
              <a:off x="4350" y="3829"/>
              <a:ext cx="78" cy="67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62" name="文本框 439354"/>
            <p:cNvSpPr txBox="1"/>
            <p:nvPr/>
          </p:nvSpPr>
          <p:spPr>
            <a:xfrm>
              <a:off x="4802" y="3675"/>
              <a:ext cx="265" cy="519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V</a:t>
              </a:r>
            </a:p>
          </p:txBody>
        </p:sp>
        <p:sp>
          <p:nvSpPr>
            <p:cNvPr id="81963" name="文本框 439355"/>
            <p:cNvSpPr txBox="1"/>
            <p:nvPr/>
          </p:nvSpPr>
          <p:spPr>
            <a:xfrm>
              <a:off x="4314" y="3889"/>
              <a:ext cx="392" cy="289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64" name="文本框 439356"/>
            <p:cNvSpPr txBox="1"/>
            <p:nvPr/>
          </p:nvSpPr>
          <p:spPr>
            <a:xfrm>
              <a:off x="3449" y="3889"/>
              <a:ext cx="390" cy="289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65" name="文本框 439357"/>
            <p:cNvSpPr txBox="1"/>
            <p:nvPr/>
          </p:nvSpPr>
          <p:spPr>
            <a:xfrm>
              <a:off x="3097" y="3865"/>
              <a:ext cx="391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81966" name="文本框 439358"/>
            <p:cNvSpPr txBox="1"/>
            <p:nvPr/>
          </p:nvSpPr>
          <p:spPr>
            <a:xfrm>
              <a:off x="3177" y="2408"/>
              <a:ext cx="390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81967" name="直接连接符 439359"/>
            <p:cNvSpPr/>
            <p:nvPr/>
          </p:nvSpPr>
          <p:spPr>
            <a:xfrm rot="10800000" flipH="1" flipV="1">
              <a:off x="3969" y="3022"/>
              <a:ext cx="146" cy="65"/>
            </a:xfrm>
            <a:prstGeom prst="line">
              <a:avLst/>
            </a:prstGeom>
            <a:ln w="19050" cap="flat" cmpd="sng">
              <a:solidFill>
                <a:srgbClr val="006666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1968" name="直接连接符 439361"/>
            <p:cNvSpPr/>
            <p:nvPr/>
          </p:nvSpPr>
          <p:spPr>
            <a:xfrm flipH="1">
              <a:off x="3572" y="3022"/>
              <a:ext cx="212" cy="226"/>
            </a:xfrm>
            <a:prstGeom prst="line">
              <a:avLst/>
            </a:prstGeom>
            <a:ln w="1905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1969" name="直接连接符 439362"/>
            <p:cNvSpPr/>
            <p:nvPr/>
          </p:nvSpPr>
          <p:spPr>
            <a:xfrm>
              <a:off x="3568" y="2973"/>
              <a:ext cx="2" cy="917"/>
            </a:xfrm>
            <a:prstGeom prst="line">
              <a:avLst/>
            </a:prstGeom>
            <a:ln w="19050" cap="flat" cmpd="sng">
              <a:solidFill>
                <a:srgbClr val="CC0066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aphicFrame>
        <p:nvGraphicFramePr>
          <p:cNvPr id="81970" name="对象 439368"/>
          <p:cNvGraphicFramePr/>
          <p:nvPr/>
        </p:nvGraphicFramePr>
        <p:xfrm>
          <a:off x="1619250" y="4797425"/>
          <a:ext cx="12954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3" r:id="rId13" imgW="914400" imgH="200660" progId="Equation.DSMT4">
                  <p:embed/>
                </p:oleObj>
              </mc:Choice>
              <mc:Fallback>
                <p:oleObj r:id="rId13" imgW="914400" imgH="20066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CC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4797425"/>
                        <a:ext cx="1295400" cy="363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71" name="ShockwaveFlash1"/>
          <p:cNvPicPr/>
          <p:nvPr/>
        </p:nvPicPr>
        <p:blipFill>
          <a:blip r:embed="rId15"/>
          <a:stretch>
            <a:fillRect/>
          </a:stretch>
        </p:blipFill>
        <p:spPr>
          <a:xfrm>
            <a:off x="179388" y="2819400"/>
            <a:ext cx="3962400" cy="4038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" name="直接连接符 439361"/>
          <p:cNvSpPr/>
          <p:nvPr/>
        </p:nvSpPr>
        <p:spPr>
          <a:xfrm flipH="1">
            <a:off x="5691188" y="4140200"/>
            <a:ext cx="228600" cy="242888"/>
          </a:xfrm>
          <a:prstGeom prst="line">
            <a:avLst/>
          </a:prstGeom>
          <a:ln w="1905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97" name="组合 439367"/>
          <p:cNvGrpSpPr/>
          <p:nvPr/>
        </p:nvGrpSpPr>
        <p:grpSpPr>
          <a:xfrm>
            <a:off x="4572000" y="3165475"/>
            <a:ext cx="3600450" cy="2947988"/>
            <a:chOff x="2925" y="2337"/>
            <a:chExt cx="2268" cy="1857"/>
          </a:xfrm>
        </p:grpSpPr>
        <p:sp>
          <p:nvSpPr>
            <p:cNvPr id="81974" name="矩形 439323"/>
            <p:cNvSpPr/>
            <p:nvPr/>
          </p:nvSpPr>
          <p:spPr>
            <a:xfrm>
              <a:off x="2925" y="2337"/>
              <a:ext cx="2268" cy="1842"/>
            </a:xfrm>
            <a:prstGeom prst="rect">
              <a:avLst/>
            </a:prstGeom>
            <a:gradFill rotWithShape="1">
              <a:gsLst>
                <a:gs pos="0">
                  <a:srgbClr val="B4DDFE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9050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1975" name="组合 439366"/>
            <p:cNvGrpSpPr/>
            <p:nvPr/>
          </p:nvGrpSpPr>
          <p:grpSpPr>
            <a:xfrm>
              <a:off x="3097" y="2408"/>
              <a:ext cx="1970" cy="1786"/>
              <a:chOff x="3097" y="2408"/>
              <a:chExt cx="1970" cy="1786"/>
            </a:xfrm>
          </p:grpSpPr>
          <p:sp>
            <p:nvSpPr>
              <p:cNvPr id="81976" name="直接连接符 439325"/>
              <p:cNvSpPr/>
              <p:nvPr/>
            </p:nvSpPr>
            <p:spPr>
              <a:xfrm>
                <a:off x="3255" y="3896"/>
                <a:ext cx="1644" cy="1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sm" len="sm"/>
                <a:tailEnd type="triangle" w="sm" len="lg"/>
              </a:ln>
            </p:spPr>
          </p:sp>
          <p:sp>
            <p:nvSpPr>
              <p:cNvPr id="81977" name="任意多边形 439326"/>
              <p:cNvSpPr/>
              <p:nvPr/>
            </p:nvSpPr>
            <p:spPr>
              <a:xfrm flipH="1" flipV="1">
                <a:off x="3568" y="2956"/>
                <a:ext cx="860" cy="6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2422" h="21600" fill="none">
                    <a:moveTo>
                      <a:pt x="0" y="15"/>
                    </a:moveTo>
                    <a:cubicBezTo>
                      <a:pt x="273" y="4"/>
                      <a:pt x="547" y="-1"/>
                      <a:pt x="822" y="-1"/>
                    </a:cubicBezTo>
                    <a:cubicBezTo>
                      <a:pt x="12718" y="-1"/>
                      <a:pt x="22368" y="9616"/>
                      <a:pt x="22422" y="21498"/>
                    </a:cubicBezTo>
                  </a:path>
                  <a:path w="22422" h="21600" stroke="0">
                    <a:moveTo>
                      <a:pt x="0" y="15"/>
                    </a:moveTo>
                    <a:cubicBezTo>
                      <a:pt x="273" y="4"/>
                      <a:pt x="547" y="-1"/>
                      <a:pt x="822" y="-1"/>
                    </a:cubicBezTo>
                    <a:cubicBezTo>
                      <a:pt x="12718" y="-1"/>
                      <a:pt x="22368" y="9616"/>
                      <a:pt x="22422" y="21498"/>
                    </a:cubicBezTo>
                    <a:lnTo>
                      <a:pt x="822" y="21600"/>
                    </a:lnTo>
                    <a:lnTo>
                      <a:pt x="0" y="15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78" name="任意多边形 439327"/>
              <p:cNvSpPr/>
              <p:nvPr/>
            </p:nvSpPr>
            <p:spPr>
              <a:xfrm>
                <a:off x="3582" y="2962"/>
                <a:ext cx="849" cy="5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2056" h="22144" fill="none">
                    <a:moveTo>
                      <a:pt x="0" y="4"/>
                    </a:moveTo>
                    <a:cubicBezTo>
                      <a:pt x="152" y="1"/>
                      <a:pt x="304" y="-1"/>
                      <a:pt x="456" y="-1"/>
                    </a:cubicBezTo>
                    <a:cubicBezTo>
                      <a:pt x="12385" y="-1"/>
                      <a:pt x="22056" y="9670"/>
                      <a:pt x="22056" y="21599"/>
                    </a:cubicBezTo>
                    <a:cubicBezTo>
                      <a:pt x="22056" y="21781"/>
                      <a:pt x="22054" y="21963"/>
                      <a:pt x="22049" y="22142"/>
                    </a:cubicBezTo>
                  </a:path>
                  <a:path w="22056" h="22144" stroke="0">
                    <a:moveTo>
                      <a:pt x="0" y="4"/>
                    </a:moveTo>
                    <a:cubicBezTo>
                      <a:pt x="152" y="1"/>
                      <a:pt x="304" y="-1"/>
                      <a:pt x="456" y="-1"/>
                    </a:cubicBezTo>
                    <a:cubicBezTo>
                      <a:pt x="12385" y="-1"/>
                      <a:pt x="22056" y="9670"/>
                      <a:pt x="22056" y="21599"/>
                    </a:cubicBezTo>
                    <a:cubicBezTo>
                      <a:pt x="22056" y="21781"/>
                      <a:pt x="22054" y="21963"/>
                      <a:pt x="22049" y="22142"/>
                    </a:cubicBezTo>
                    <a:lnTo>
                      <a:pt x="456" y="21600"/>
                    </a:lnTo>
                    <a:lnTo>
                      <a:pt x="0" y="4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006666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79" name="直接连接符 439328"/>
              <p:cNvSpPr/>
              <p:nvPr/>
            </p:nvSpPr>
            <p:spPr>
              <a:xfrm>
                <a:off x="4428" y="3566"/>
                <a:ext cx="1" cy="324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81980" name="直接连接符 439329"/>
              <p:cNvSpPr/>
              <p:nvPr/>
            </p:nvSpPr>
            <p:spPr>
              <a:xfrm flipV="1">
                <a:off x="3255" y="2649"/>
                <a:ext cx="0" cy="1248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sm" len="sm"/>
                <a:tailEnd type="triangle" w="sm" len="lg"/>
              </a:ln>
            </p:spPr>
          </p:sp>
          <p:sp>
            <p:nvSpPr>
              <p:cNvPr id="81981" name="矩形 439330"/>
              <p:cNvSpPr/>
              <p:nvPr/>
            </p:nvSpPr>
            <p:spPr>
              <a:xfrm>
                <a:off x="3428" y="2798"/>
                <a:ext cx="354" cy="25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1</a:t>
                </a:r>
              </a:p>
            </p:txBody>
          </p:sp>
          <p:sp>
            <p:nvSpPr>
              <p:cNvPr id="81982" name="矩形 439331"/>
              <p:cNvSpPr/>
              <p:nvPr/>
            </p:nvSpPr>
            <p:spPr>
              <a:xfrm>
                <a:off x="4478" y="3481"/>
                <a:ext cx="354" cy="25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81983" name="矩形 439332"/>
              <p:cNvSpPr/>
              <p:nvPr/>
            </p:nvSpPr>
            <p:spPr>
              <a:xfrm>
                <a:off x="3886" y="3223"/>
                <a:ext cx="353" cy="25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984" name="矩形 439333"/>
              <p:cNvSpPr/>
              <p:nvPr/>
            </p:nvSpPr>
            <p:spPr>
              <a:xfrm>
                <a:off x="4168" y="2904"/>
                <a:ext cx="236" cy="25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0066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solidFill>
                    <a:srgbClr val="0066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985" name="直接连接符 439334"/>
              <p:cNvSpPr/>
              <p:nvPr/>
            </p:nvSpPr>
            <p:spPr>
              <a:xfrm flipH="1">
                <a:off x="3568" y="3236"/>
                <a:ext cx="78" cy="66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86" name="直接连接符 439335"/>
              <p:cNvSpPr/>
              <p:nvPr/>
            </p:nvSpPr>
            <p:spPr>
              <a:xfrm flipH="1">
                <a:off x="3568" y="3264"/>
                <a:ext cx="116" cy="104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87" name="直接连接符 439336"/>
              <p:cNvSpPr/>
              <p:nvPr/>
            </p:nvSpPr>
            <p:spPr>
              <a:xfrm flipH="1">
                <a:off x="3568" y="3325"/>
                <a:ext cx="135" cy="109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88" name="直接连接符 439337"/>
              <p:cNvSpPr/>
              <p:nvPr/>
            </p:nvSpPr>
            <p:spPr>
              <a:xfrm flipH="1">
                <a:off x="3568" y="3348"/>
                <a:ext cx="187" cy="152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89" name="直接连接符 439338"/>
              <p:cNvSpPr/>
              <p:nvPr/>
            </p:nvSpPr>
            <p:spPr>
              <a:xfrm flipH="1">
                <a:off x="3568" y="3376"/>
                <a:ext cx="240" cy="190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0" name="直接连接符 439339"/>
              <p:cNvSpPr/>
              <p:nvPr/>
            </p:nvSpPr>
            <p:spPr>
              <a:xfrm flipH="1">
                <a:off x="3568" y="3408"/>
                <a:ext cx="265" cy="224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1" name="直接连接符 439340"/>
              <p:cNvSpPr/>
              <p:nvPr/>
            </p:nvSpPr>
            <p:spPr>
              <a:xfrm flipH="1">
                <a:off x="3568" y="3434"/>
                <a:ext cx="313" cy="263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2" name="直接连接符 439341"/>
              <p:cNvSpPr/>
              <p:nvPr/>
            </p:nvSpPr>
            <p:spPr>
              <a:xfrm flipH="1">
                <a:off x="3568" y="3461"/>
                <a:ext cx="373" cy="303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3" name="直接连接符 439342"/>
              <p:cNvSpPr/>
              <p:nvPr/>
            </p:nvSpPr>
            <p:spPr>
              <a:xfrm flipH="1">
                <a:off x="3568" y="3481"/>
                <a:ext cx="421" cy="348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4" name="直接连接符 439343"/>
              <p:cNvSpPr/>
              <p:nvPr/>
            </p:nvSpPr>
            <p:spPr>
              <a:xfrm flipH="1">
                <a:off x="3568" y="3500"/>
                <a:ext cx="470" cy="396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5" name="直接连接符 439344"/>
              <p:cNvSpPr/>
              <p:nvPr/>
            </p:nvSpPr>
            <p:spPr>
              <a:xfrm flipH="1">
                <a:off x="3646" y="3527"/>
                <a:ext cx="430" cy="369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6" name="直接连接符 439345"/>
              <p:cNvSpPr/>
              <p:nvPr/>
            </p:nvSpPr>
            <p:spPr>
              <a:xfrm flipH="1">
                <a:off x="3725" y="3534"/>
                <a:ext cx="428" cy="362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7" name="直接连接符 439346"/>
              <p:cNvSpPr/>
              <p:nvPr/>
            </p:nvSpPr>
            <p:spPr>
              <a:xfrm flipH="1">
                <a:off x="3802" y="3560"/>
                <a:ext cx="391" cy="336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8" name="直接连接符 439347"/>
              <p:cNvSpPr/>
              <p:nvPr/>
            </p:nvSpPr>
            <p:spPr>
              <a:xfrm flipH="1">
                <a:off x="3881" y="3566"/>
                <a:ext cx="391" cy="330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99" name="直接连接符 439348"/>
              <p:cNvSpPr/>
              <p:nvPr/>
            </p:nvSpPr>
            <p:spPr>
              <a:xfrm flipH="1">
                <a:off x="3959" y="3566"/>
                <a:ext cx="391" cy="330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0" name="直接连接符 439349"/>
              <p:cNvSpPr/>
              <p:nvPr/>
            </p:nvSpPr>
            <p:spPr>
              <a:xfrm flipH="1">
                <a:off x="4038" y="3566"/>
                <a:ext cx="390" cy="330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1" name="直接连接符 439350"/>
              <p:cNvSpPr/>
              <p:nvPr/>
            </p:nvSpPr>
            <p:spPr>
              <a:xfrm flipH="1">
                <a:off x="4115" y="3632"/>
                <a:ext cx="313" cy="264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2" name="直接连接符 439351"/>
              <p:cNvSpPr/>
              <p:nvPr/>
            </p:nvSpPr>
            <p:spPr>
              <a:xfrm flipH="1">
                <a:off x="4193" y="3697"/>
                <a:ext cx="235" cy="199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3" name="直接连接符 439352"/>
              <p:cNvSpPr/>
              <p:nvPr/>
            </p:nvSpPr>
            <p:spPr>
              <a:xfrm flipH="1">
                <a:off x="4272" y="3764"/>
                <a:ext cx="156" cy="132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4" name="直接连接符 439353"/>
              <p:cNvSpPr/>
              <p:nvPr/>
            </p:nvSpPr>
            <p:spPr>
              <a:xfrm flipH="1">
                <a:off x="4350" y="3829"/>
                <a:ext cx="78" cy="67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05" name="文本框 439354"/>
              <p:cNvSpPr txBox="1"/>
              <p:nvPr/>
            </p:nvSpPr>
            <p:spPr>
              <a:xfrm>
                <a:off x="4802" y="3675"/>
                <a:ext cx="265" cy="51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V</a:t>
                </a:r>
              </a:p>
            </p:txBody>
          </p:sp>
          <p:sp>
            <p:nvSpPr>
              <p:cNvPr id="82006" name="文本框 439355"/>
              <p:cNvSpPr txBox="1"/>
              <p:nvPr/>
            </p:nvSpPr>
            <p:spPr>
              <a:xfrm>
                <a:off x="4314" y="3889"/>
                <a:ext cx="392" cy="28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07" name="文本框 439356"/>
              <p:cNvSpPr txBox="1"/>
              <p:nvPr/>
            </p:nvSpPr>
            <p:spPr>
              <a:xfrm>
                <a:off x="3449" y="3889"/>
                <a:ext cx="390" cy="28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08" name="文本框 439357"/>
              <p:cNvSpPr txBox="1"/>
              <p:nvPr/>
            </p:nvSpPr>
            <p:spPr>
              <a:xfrm>
                <a:off x="3097" y="3865"/>
                <a:ext cx="391" cy="2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  <p:sp>
            <p:nvSpPr>
              <p:cNvPr id="82009" name="文本框 439358"/>
              <p:cNvSpPr txBox="1"/>
              <p:nvPr/>
            </p:nvSpPr>
            <p:spPr>
              <a:xfrm>
                <a:off x="3177" y="2408"/>
                <a:ext cx="390" cy="2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  <p:sp>
            <p:nvSpPr>
              <p:cNvPr id="82010" name="直接连接符 439359"/>
              <p:cNvSpPr/>
              <p:nvPr/>
            </p:nvSpPr>
            <p:spPr>
              <a:xfrm rot="10800000" flipH="1" flipV="1">
                <a:off x="3969" y="3022"/>
                <a:ext cx="146" cy="65"/>
              </a:xfrm>
              <a:prstGeom prst="line">
                <a:avLst/>
              </a:prstGeom>
              <a:ln w="19050" cap="flat" cmpd="sng">
                <a:solidFill>
                  <a:srgbClr val="006666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82011" name="直接连接符 439360"/>
              <p:cNvSpPr/>
              <p:nvPr/>
            </p:nvSpPr>
            <p:spPr>
              <a:xfrm rot="10800000" flipH="1" flipV="1">
                <a:off x="3860" y="3412"/>
                <a:ext cx="153" cy="9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82012" name="直接连接符 439361"/>
              <p:cNvSpPr/>
              <p:nvPr/>
            </p:nvSpPr>
            <p:spPr>
              <a:xfrm flipH="1">
                <a:off x="3572" y="3193"/>
                <a:ext cx="52" cy="55"/>
              </a:xfrm>
              <a:prstGeom prst="line">
                <a:avLst/>
              </a:prstGeom>
              <a:ln w="19050" cap="flat" cmpd="sng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2013" name="直接连接符 439362"/>
              <p:cNvSpPr/>
              <p:nvPr/>
            </p:nvSpPr>
            <p:spPr>
              <a:xfrm>
                <a:off x="3568" y="2973"/>
                <a:ext cx="2" cy="917"/>
              </a:xfrm>
              <a:prstGeom prst="line">
                <a:avLst/>
              </a:prstGeom>
              <a:ln w="19050" cap="flat" cmpd="sng">
                <a:solidFill>
                  <a:srgbClr val="CC0066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sp>
        <p:nvSpPr>
          <p:cNvPr id="82014" name="文本框 3"/>
          <p:cNvSpPr txBox="1"/>
          <p:nvPr/>
        </p:nvSpPr>
        <p:spPr>
          <a:xfrm>
            <a:off x="1730375" y="4784725"/>
            <a:ext cx="360363" cy="3937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2015" name="对象 94"/>
          <p:cNvGraphicFramePr/>
          <p:nvPr/>
        </p:nvGraphicFramePr>
        <p:xfrm>
          <a:off x="1662113" y="4833938"/>
          <a:ext cx="379412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4" r:id="rId16" imgW="241300" imgH="177800" progId="Equation.DSMT4">
                  <p:embed/>
                </p:oleObj>
              </mc:Choice>
              <mc:Fallback>
                <p:oleObj r:id="rId16" imgW="241300" imgH="1778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662113" y="4833938"/>
                        <a:ext cx="379412" cy="338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3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3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43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4" grpId="0"/>
      <p:bldP spid="439316" grpId="0"/>
      <p:bldP spid="308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文本框 374785"/>
          <p:cNvSpPr txBox="1"/>
          <p:nvPr/>
        </p:nvSpPr>
        <p:spPr>
          <a:xfrm>
            <a:off x="539750" y="30163"/>
            <a:ext cx="541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</a:t>
            </a:r>
            <a:r>
              <a:rPr kumimoji="0" lang="en-US" altLang="zh-CN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 </a:t>
            </a:r>
            <a:r>
              <a:rPr kumimoji="0" lang="zh-CN" altLang="en-US" sz="28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热量的计算</a:t>
            </a:r>
          </a:p>
        </p:txBody>
      </p:sp>
      <p:graphicFrame>
        <p:nvGraphicFramePr>
          <p:cNvPr id="374791" name="对象 374790"/>
          <p:cNvGraphicFramePr/>
          <p:nvPr/>
        </p:nvGraphicFramePr>
        <p:xfrm>
          <a:off x="3189288" y="750888"/>
          <a:ext cx="12033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r:id="rId3" imgW="647065" imgH="490855" progId="Equation.3">
                  <p:embed/>
                </p:oleObj>
              </mc:Choice>
              <mc:Fallback>
                <p:oleObj r:id="rId3" imgW="647065" imgH="490855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89288" y="750888"/>
                        <a:ext cx="1203325" cy="928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793" name="文本框 374792"/>
          <p:cNvSpPr txBox="1"/>
          <p:nvPr/>
        </p:nvSpPr>
        <p:spPr>
          <a:xfrm>
            <a:off x="741363" y="944563"/>
            <a:ext cx="3810000" cy="4603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 </a:t>
            </a: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热容</a:t>
            </a:r>
          </a:p>
        </p:txBody>
      </p:sp>
      <p:sp>
        <p:nvSpPr>
          <p:cNvPr id="374795" name="文本框 374794"/>
          <p:cNvSpPr txBox="1"/>
          <p:nvPr/>
        </p:nvSpPr>
        <p:spPr>
          <a:xfrm>
            <a:off x="755650" y="1703388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2 .</a:t>
            </a: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摩尔热容量</a:t>
            </a:r>
          </a:p>
        </p:txBody>
      </p:sp>
      <p:graphicFrame>
        <p:nvGraphicFramePr>
          <p:cNvPr id="374796" name="对象 374795"/>
          <p:cNvGraphicFramePr/>
          <p:nvPr/>
        </p:nvGraphicFramePr>
        <p:xfrm>
          <a:off x="2468563" y="2278063"/>
          <a:ext cx="273685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r:id="rId5" imgW="1360170" imgH="490855" progId="Equation.3">
                  <p:embed/>
                </p:oleObj>
              </mc:Choice>
              <mc:Fallback>
                <p:oleObj r:id="rId5" imgW="1360170" imgH="49085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68563" y="2278063"/>
                        <a:ext cx="2736850" cy="896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4809" name="文本框 374808"/>
          <p:cNvSpPr txBox="1"/>
          <p:nvPr/>
        </p:nvSpPr>
        <p:spPr>
          <a:xfrm>
            <a:off x="3116263" y="1703388"/>
            <a:ext cx="5848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一摩尔物质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温度升高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1K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时所吸收的热量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374842" name="文本框 374841"/>
          <p:cNvSpPr txBox="1"/>
          <p:nvPr/>
        </p:nvSpPr>
        <p:spPr>
          <a:xfrm>
            <a:off x="5145088" y="4946650"/>
            <a:ext cx="3240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定压</a:t>
            </a:r>
            <a:r>
              <a:rPr kumimoji="0" lang="zh-CN" altLang="en-US" b="1" kern="1200" cap="none" spc="0" normalizeH="0" baseline="0" noProof="1">
                <a:solidFill>
                  <a:srgbClr val="FF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摩尔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热容量</a:t>
            </a:r>
          </a:p>
        </p:txBody>
      </p:sp>
      <p:sp>
        <p:nvSpPr>
          <p:cNvPr id="374843" name="文本框 374842"/>
          <p:cNvSpPr txBox="1"/>
          <p:nvPr/>
        </p:nvSpPr>
        <p:spPr>
          <a:xfrm>
            <a:off x="1689100" y="4941888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定容</a:t>
            </a:r>
            <a:r>
              <a:rPr kumimoji="0" lang="zh-CN" altLang="en-US" b="1" kern="1200" cap="none" spc="0" normalizeH="0" baseline="0" noProof="1">
                <a:solidFill>
                  <a:srgbClr val="FF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摩尔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热容量</a:t>
            </a:r>
          </a:p>
        </p:txBody>
      </p:sp>
      <p:sp>
        <p:nvSpPr>
          <p:cNvPr id="374847" name="文本框 374846"/>
          <p:cNvSpPr txBox="1"/>
          <p:nvPr/>
        </p:nvSpPr>
        <p:spPr>
          <a:xfrm>
            <a:off x="3851275" y="0"/>
            <a:ext cx="4191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200" b="1" i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Q</a:t>
            </a:r>
            <a:r>
              <a:rPr kumimoji="0" lang="zh-CN" altLang="en-US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是过程量</a:t>
            </a:r>
          </a:p>
        </p:txBody>
      </p:sp>
      <p:graphicFrame>
        <p:nvGraphicFramePr>
          <p:cNvPr id="374849" name="对象 374848"/>
          <p:cNvGraphicFramePr/>
          <p:nvPr/>
        </p:nvGraphicFramePr>
        <p:xfrm>
          <a:off x="5314950" y="5445125"/>
          <a:ext cx="22113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r:id="rId7" imgW="736600" imgH="419100" progId="Equation.3">
                  <p:embed/>
                </p:oleObj>
              </mc:Choice>
              <mc:Fallback>
                <p:oleObj r:id="rId7" imgW="736600" imgH="4191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14950" y="5445125"/>
                        <a:ext cx="2211388" cy="9588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8080"/>
                          </a:gs>
                          <a:gs pos="50000">
                            <a:srgbClr val="FFFFFF"/>
                          </a:gs>
                          <a:gs pos="100000">
                            <a:srgbClr val="008080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4852" name="对象 374851"/>
          <p:cNvGraphicFramePr/>
          <p:nvPr/>
        </p:nvGraphicFramePr>
        <p:xfrm>
          <a:off x="1835150" y="5445125"/>
          <a:ext cx="23209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r:id="rId9" imgW="749300" imgH="393700" progId="Equation.3">
                  <p:embed/>
                </p:oleObj>
              </mc:Choice>
              <mc:Fallback>
                <p:oleObj r:id="rId9" imgW="749300" imgH="3937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35150" y="5445125"/>
                        <a:ext cx="2320925" cy="9302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8080"/>
                          </a:gs>
                          <a:gs pos="50000">
                            <a:srgbClr val="FFFFFF"/>
                          </a:gs>
                          <a:gs pos="100000">
                            <a:srgbClr val="008080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374835"/>
          <p:cNvGrpSpPr/>
          <p:nvPr/>
        </p:nvGrpSpPr>
        <p:grpSpPr>
          <a:xfrm>
            <a:off x="3190875" y="3457575"/>
            <a:ext cx="2898775" cy="922338"/>
            <a:chOff x="3051" y="2716"/>
            <a:chExt cx="1900" cy="854"/>
          </a:xfrm>
        </p:grpSpPr>
        <p:sp>
          <p:nvSpPr>
            <p:cNvPr id="82957" name="矩形 374836"/>
            <p:cNvSpPr/>
            <p:nvPr/>
          </p:nvSpPr>
          <p:spPr>
            <a:xfrm>
              <a:off x="3072" y="2736"/>
              <a:ext cx="1824" cy="816"/>
            </a:xfrm>
            <a:prstGeom prst="rect">
              <a:avLst/>
            </a:prstGeom>
            <a:gradFill rotWithShape="1">
              <a:gsLst>
                <a:gs pos="0">
                  <a:srgbClr val="009900"/>
                </a:gs>
                <a:gs pos="50000">
                  <a:srgbClr val="FFFFFF"/>
                </a:gs>
                <a:gs pos="100000">
                  <a:srgbClr val="009900"/>
                </a:gs>
              </a:gsLst>
              <a:lin ang="5400000" scaled="1"/>
              <a:tileRect/>
            </a:gradFill>
            <a:ln w="76200" cap="flat" cmpd="tri">
              <a:solidFill>
                <a:srgbClr val="CC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2958" name="对象 374837"/>
            <p:cNvGraphicFramePr/>
            <p:nvPr/>
          </p:nvGraphicFramePr>
          <p:xfrm>
            <a:off x="3051" y="2716"/>
            <a:ext cx="1900" cy="8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4" r:id="rId11" imgW="876300" imgH="393700" progId="Equation.3">
                    <p:embed/>
                  </p:oleObj>
                </mc:Choice>
                <mc:Fallback>
                  <p:oleObj r:id="rId11" imgW="876300" imgH="3937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051" y="2716"/>
                          <a:ext cx="1900" cy="854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8080"/>
                            </a:gs>
                            <a:gs pos="50000">
                              <a:srgbClr val="FFFFFF"/>
                            </a:gs>
                            <a:gs pos="100000">
                              <a:srgbClr val="008080"/>
                            </a:gs>
                          </a:gsLst>
                          <a:lin ang="5400000" scaled="1"/>
                          <a:tileRect/>
                        </a:gra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252413" y="3644900"/>
            <a:ext cx="30257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3 . 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热量的计算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373813" y="3573463"/>
            <a:ext cx="3141663" cy="750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温差不太大</a:t>
            </a:r>
          </a:p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i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b="1" i="1" kern="1200" cap="none" spc="0" normalizeH="0" baseline="-2500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可看作常量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4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7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7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7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7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7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7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7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93" grpId="0"/>
      <p:bldP spid="374795" grpId="0"/>
      <p:bldP spid="374809" grpId="0"/>
      <p:bldP spid="374842" grpId="0"/>
      <p:bldP spid="374843" grpId="0"/>
      <p:bldP spid="374847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框 383054"/>
          <p:cNvSpPr txBox="1"/>
          <p:nvPr/>
        </p:nvSpPr>
        <p:spPr>
          <a:xfrm>
            <a:off x="6345238" y="2852738"/>
            <a:ext cx="2736850" cy="51911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----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迈耶公式</a:t>
            </a:r>
          </a:p>
        </p:txBody>
      </p:sp>
      <p:sp>
        <p:nvSpPr>
          <p:cNvPr id="383061" name="文本框 383060"/>
          <p:cNvSpPr txBox="1"/>
          <p:nvPr/>
        </p:nvSpPr>
        <p:spPr>
          <a:xfrm>
            <a:off x="395288" y="3930650"/>
            <a:ext cx="2962275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  <a:ea typeface="黑体" panose="02010609060101010101" pitchFamily="49" charset="-122"/>
              </a:rPr>
              <a:t>定义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摩尔热容比</a:t>
            </a:r>
            <a:r>
              <a:rPr lang="en-US" altLang="zh-CN" sz="2800" dirty="0">
                <a:solidFill>
                  <a:schemeClr val="accent2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</a:p>
        </p:txBody>
      </p:sp>
      <p:grpSp>
        <p:nvGrpSpPr>
          <p:cNvPr id="3" name="组合 383061"/>
          <p:cNvGrpSpPr/>
          <p:nvPr/>
        </p:nvGrpSpPr>
        <p:grpSpPr>
          <a:xfrm>
            <a:off x="490538" y="4471988"/>
            <a:ext cx="2546350" cy="1333500"/>
            <a:chOff x="3696" y="2534"/>
            <a:chExt cx="1121" cy="911"/>
          </a:xfrm>
        </p:grpSpPr>
        <p:sp>
          <p:nvSpPr>
            <p:cNvPr id="84996" name="矩形 383062"/>
            <p:cNvSpPr/>
            <p:nvPr/>
          </p:nvSpPr>
          <p:spPr>
            <a:xfrm>
              <a:off x="3696" y="2592"/>
              <a:ext cx="1104" cy="816"/>
            </a:xfrm>
            <a:prstGeom prst="rect">
              <a:avLst/>
            </a:prstGeom>
            <a:noFill/>
            <a:ln w="57150" cap="flat" cmpd="thinThick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4997" name="对象 383063"/>
            <p:cNvGraphicFramePr/>
            <p:nvPr/>
          </p:nvGraphicFramePr>
          <p:xfrm>
            <a:off x="3705" y="2534"/>
            <a:ext cx="1112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9" r:id="rId3" imgW="596900" imgH="469900" progId="Equation.DSMT4">
                    <p:embed/>
                  </p:oleObj>
                </mc:Choice>
                <mc:Fallback>
                  <p:oleObj r:id="rId3" imgW="596900" imgH="4699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05" y="2534"/>
                          <a:ext cx="1112" cy="9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4" name="对象 383071"/>
          <p:cNvGraphicFramePr/>
          <p:nvPr/>
        </p:nvGraphicFramePr>
        <p:xfrm>
          <a:off x="2124075" y="2551113"/>
          <a:ext cx="40957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r:id="rId5" imgW="1587500" imgH="393700" progId="Equation.DSMT4">
                  <p:embed/>
                </p:oleObj>
              </mc:Choice>
              <mc:Fallback>
                <p:oleObj r:id="rId5" imgW="1587500" imgH="3937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4075" y="2551113"/>
                        <a:ext cx="4095750" cy="10572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文本框 3"/>
          <p:cNvSpPr txBox="1"/>
          <p:nvPr/>
        </p:nvSpPr>
        <p:spPr>
          <a:xfrm>
            <a:off x="468313" y="260350"/>
            <a:ext cx="1919287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dirty="0">
                <a:latin typeface="宋体" panose="02010600030101010101" pitchFamily="2" charset="-122"/>
                <a:ea typeface="黑体" panose="02010609060101010101" pitchFamily="49" charset="-122"/>
              </a:rPr>
              <a:t>研究发现：</a:t>
            </a:r>
            <a:endParaRPr lang="zh-CN" altLang="zh-CN" sz="2800" dirty="0">
              <a:solidFill>
                <a:schemeClr val="accent2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aphicFrame>
        <p:nvGraphicFramePr>
          <p:cNvPr id="528390" name="对象 528389"/>
          <p:cNvGraphicFramePr/>
          <p:nvPr/>
        </p:nvGraphicFramePr>
        <p:xfrm>
          <a:off x="2201863" y="1052513"/>
          <a:ext cx="220186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1" r:id="rId7" imgW="812800" imgH="393700" progId="Equation.DSMT4">
                  <p:embed/>
                </p:oleObj>
              </mc:Choice>
              <mc:Fallback>
                <p:oleObj r:id="rId7" imgW="812800" imgH="3937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1863" y="1052513"/>
                        <a:ext cx="2201862" cy="7683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8395" name="组合 528394"/>
          <p:cNvGrpSpPr/>
          <p:nvPr/>
        </p:nvGrpSpPr>
        <p:grpSpPr>
          <a:xfrm>
            <a:off x="4538663" y="130175"/>
            <a:ext cx="3890962" cy="2376488"/>
            <a:chOff x="3375" y="845"/>
            <a:chExt cx="2451" cy="1497"/>
          </a:xfrm>
        </p:grpSpPr>
        <p:grpSp>
          <p:nvGrpSpPr>
            <p:cNvPr id="85002" name="组合 528395"/>
            <p:cNvGrpSpPr/>
            <p:nvPr/>
          </p:nvGrpSpPr>
          <p:grpSpPr>
            <a:xfrm>
              <a:off x="3375" y="845"/>
              <a:ext cx="833" cy="1497"/>
              <a:chOff x="3792" y="2496"/>
              <a:chExt cx="1008" cy="1584"/>
            </a:xfrm>
          </p:grpSpPr>
          <p:sp>
            <p:nvSpPr>
              <p:cNvPr id="85003" name="左大括号 528396"/>
              <p:cNvSpPr/>
              <p:nvPr/>
            </p:nvSpPr>
            <p:spPr>
              <a:xfrm>
                <a:off x="3792" y="2832"/>
                <a:ext cx="336" cy="1008"/>
              </a:xfrm>
              <a:prstGeom prst="leftBrace">
                <a:avLst>
                  <a:gd name="adj1" fmla="val 28902"/>
                  <a:gd name="adj2" fmla="val 54046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85004" name="对象 528397"/>
              <p:cNvGraphicFramePr/>
              <p:nvPr/>
            </p:nvGraphicFramePr>
            <p:xfrm>
              <a:off x="4272" y="2496"/>
              <a:ext cx="528" cy="15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62" r:id="rId9" imgW="266065" imgH="1205230" progId="Equation.DSMT4">
                      <p:embed/>
                    </p:oleObj>
                  </mc:Choice>
                  <mc:Fallback>
                    <p:oleObj r:id="rId9" imgW="266065" imgH="1205230" progId="Equation.DSMT4">
                      <p:embed/>
                      <p:pic>
                        <p:nvPicPr>
                          <p:cNvPr id="0" name="图片 3115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272" y="2496"/>
                            <a:ext cx="528" cy="15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28399" name="文本框 528398"/>
            <p:cNvSpPr txBox="1"/>
            <p:nvPr/>
          </p:nvSpPr>
          <p:spPr>
            <a:xfrm>
              <a:off x="4530" y="970"/>
              <a:ext cx="129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单原子</a:t>
              </a:r>
            </a:p>
          </p:txBody>
        </p:sp>
        <p:sp>
          <p:nvSpPr>
            <p:cNvPr id="528400" name="文本框 528399"/>
            <p:cNvSpPr txBox="1"/>
            <p:nvPr/>
          </p:nvSpPr>
          <p:spPr>
            <a:xfrm>
              <a:off x="4513" y="1428"/>
              <a:ext cx="129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刚性双原子</a:t>
              </a:r>
            </a:p>
          </p:txBody>
        </p:sp>
        <p:sp>
          <p:nvSpPr>
            <p:cNvPr id="528401" name="文本框 528400"/>
            <p:cNvSpPr txBox="1"/>
            <p:nvPr/>
          </p:nvSpPr>
          <p:spPr>
            <a:xfrm>
              <a:off x="4513" y="1885"/>
              <a:ext cx="1296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chemeClr val="accent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刚性多原子</a:t>
              </a:r>
            </a:p>
          </p:txBody>
        </p:sp>
      </p:grpSp>
      <p:sp>
        <p:nvSpPr>
          <p:cNvPr id="528402" name="文本框 528401"/>
          <p:cNvSpPr txBox="1"/>
          <p:nvPr/>
        </p:nvSpPr>
        <p:spPr>
          <a:xfrm>
            <a:off x="468313" y="1123950"/>
            <a:ext cx="179705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dirty="0">
                <a:latin typeface="宋体" panose="02010600030101010101" pitchFamily="2" charset="-122"/>
                <a:ea typeface="黑体" panose="02010609060101010101" pitchFamily="49" charset="-122"/>
              </a:rPr>
              <a:t>理想气体：</a:t>
            </a:r>
          </a:p>
        </p:txBody>
      </p:sp>
      <p:graphicFrame>
        <p:nvGraphicFramePr>
          <p:cNvPr id="7" name="对象 6"/>
          <p:cNvGraphicFramePr/>
          <p:nvPr/>
        </p:nvGraphicFramePr>
        <p:xfrm>
          <a:off x="5651500" y="3779838"/>
          <a:ext cx="2746375" cy="285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r:id="rId11" imgW="1116965" imgH="1269365" progId="Equation.3">
                  <p:embed/>
                </p:oleObj>
              </mc:Choice>
              <mc:Fallback>
                <p:oleObj r:id="rId11" imgW="1116965" imgH="126936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51500" y="3779838"/>
                        <a:ext cx="2746375" cy="285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3059113" y="4221163"/>
          <a:ext cx="247015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r:id="rId13" imgW="1104900" imgH="762000" progId="Equation.DSMT4">
                  <p:embed/>
                </p:oleObj>
              </mc:Choice>
              <mc:Fallback>
                <p:oleObj r:id="rId13" imgW="1104900" imgH="7620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59113" y="4221163"/>
                        <a:ext cx="2470150" cy="1970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2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3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ldLvl="0" animBg="1"/>
      <p:bldP spid="383061" grpId="0" build="p"/>
      <p:bldP spid="5284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7" name="组合 557061"/>
          <p:cNvGrpSpPr/>
          <p:nvPr/>
        </p:nvGrpSpPr>
        <p:grpSpPr>
          <a:xfrm>
            <a:off x="395288" y="1443038"/>
            <a:ext cx="3429000" cy="609600"/>
            <a:chOff x="336" y="1536"/>
            <a:chExt cx="2160" cy="384"/>
          </a:xfrm>
        </p:grpSpPr>
        <p:sp>
          <p:nvSpPr>
            <p:cNvPr id="86018" name="椭圆 557062"/>
            <p:cNvSpPr/>
            <p:nvPr/>
          </p:nvSpPr>
          <p:spPr>
            <a:xfrm>
              <a:off x="336" y="1536"/>
              <a:ext cx="2112" cy="384"/>
            </a:xfrm>
            <a:prstGeom prst="ellipse">
              <a:avLst/>
            </a:prstGeom>
            <a:solidFill>
              <a:srgbClr val="FFFFDD"/>
            </a:solidFill>
            <a:ln w="19050" cap="flat" cmpd="sng">
              <a:solidFill>
                <a:srgbClr val="CC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7064" name="矩形 557063"/>
            <p:cNvSpPr/>
            <p:nvPr/>
          </p:nvSpPr>
          <p:spPr>
            <a:xfrm>
              <a:off x="480" y="1584"/>
              <a:ext cx="2016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rgbClr val="080808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</a:rPr>
                <a:t>功与热量的比较</a:t>
              </a:r>
            </a:p>
          </p:txBody>
        </p:sp>
      </p:grpSp>
      <p:sp>
        <p:nvSpPr>
          <p:cNvPr id="557066" name="文本框 557065"/>
          <p:cNvSpPr txBox="1"/>
          <p:nvPr/>
        </p:nvSpPr>
        <p:spPr>
          <a:xfrm>
            <a:off x="460375" y="2268538"/>
            <a:ext cx="2197100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just" defTabSz="914400">
              <a:lnSpc>
                <a:spcPct val="12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共同之处：</a:t>
            </a:r>
            <a:endParaRPr kumimoji="0" lang="zh-CN" altLang="en-US" b="1" kern="1200" cap="none" spc="0" normalizeH="0" baseline="0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6021" name="组合 557070"/>
          <p:cNvGrpSpPr/>
          <p:nvPr/>
        </p:nvGrpSpPr>
        <p:grpSpPr>
          <a:xfrm>
            <a:off x="5003800" y="981075"/>
            <a:ext cx="3925888" cy="3240088"/>
            <a:chOff x="1364" y="1616"/>
            <a:chExt cx="3240" cy="2767"/>
          </a:xfrm>
        </p:grpSpPr>
        <p:sp>
          <p:nvSpPr>
            <p:cNvPr id="86022" name="矩形 557071"/>
            <p:cNvSpPr/>
            <p:nvPr/>
          </p:nvSpPr>
          <p:spPr>
            <a:xfrm>
              <a:off x="1364" y="1616"/>
              <a:ext cx="3085" cy="2540"/>
            </a:xfrm>
            <a:prstGeom prst="rect">
              <a:avLst/>
            </a:prstGeom>
            <a:gradFill rotWithShape="1">
              <a:gsLst>
                <a:gs pos="0">
                  <a:srgbClr val="B4DDFE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9050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023" name="矩形 557072"/>
            <p:cNvSpPr/>
            <p:nvPr/>
          </p:nvSpPr>
          <p:spPr>
            <a:xfrm>
              <a:off x="2262" y="3928"/>
              <a:ext cx="1521" cy="455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12700" tIns="12700" rIns="12700" bIns="12700" anchor="t" anchorCtr="0"/>
            <a:lstStyle/>
            <a:p>
              <a:pPr algn="just"/>
              <a:endPara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/>
              <a:endPara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86024" name="组合 557073"/>
            <p:cNvGrpSpPr/>
            <p:nvPr/>
          </p:nvGrpSpPr>
          <p:grpSpPr>
            <a:xfrm>
              <a:off x="1591" y="1678"/>
              <a:ext cx="3013" cy="2587"/>
              <a:chOff x="1383" y="1496"/>
              <a:chExt cx="3013" cy="2587"/>
            </a:xfrm>
          </p:grpSpPr>
          <p:sp>
            <p:nvSpPr>
              <p:cNvPr id="86025" name="矩形 557074"/>
              <p:cNvSpPr/>
              <p:nvPr/>
            </p:nvSpPr>
            <p:spPr>
              <a:xfrm>
                <a:off x="1383" y="3624"/>
                <a:ext cx="382" cy="45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sz="28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  <p:grpSp>
            <p:nvGrpSpPr>
              <p:cNvPr id="86026" name="组合 557075"/>
              <p:cNvGrpSpPr/>
              <p:nvPr/>
            </p:nvGrpSpPr>
            <p:grpSpPr>
              <a:xfrm>
                <a:off x="1474" y="1496"/>
                <a:ext cx="2922" cy="2447"/>
                <a:chOff x="1474" y="1496"/>
                <a:chExt cx="2922" cy="2447"/>
              </a:xfrm>
            </p:grpSpPr>
            <p:sp>
              <p:nvSpPr>
                <p:cNvPr id="86027" name="矩形 557076"/>
                <p:cNvSpPr/>
                <p:nvPr/>
              </p:nvSpPr>
              <p:spPr>
                <a:xfrm>
                  <a:off x="3138" y="3009"/>
                  <a:ext cx="1141" cy="60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2(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 </a:t>
                  </a:r>
                </a:p>
              </p:txBody>
            </p:sp>
            <p:sp>
              <p:nvSpPr>
                <p:cNvPr id="86028" name="矩形 557077"/>
                <p:cNvSpPr/>
                <p:nvPr/>
              </p:nvSpPr>
              <p:spPr>
                <a:xfrm>
                  <a:off x="3827" y="3486"/>
                  <a:ext cx="569" cy="45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sz="2800" i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sz="2800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</a:p>
              </p:txBody>
            </p:sp>
            <p:sp>
              <p:nvSpPr>
                <p:cNvPr id="86029" name="直接连接符 557078"/>
                <p:cNvSpPr/>
                <p:nvPr/>
              </p:nvSpPr>
              <p:spPr>
                <a:xfrm>
                  <a:off x="1550" y="3639"/>
                  <a:ext cx="2279" cy="0"/>
                </a:xfrm>
                <a:prstGeom prst="line">
                  <a:avLst/>
                </a:prstGeom>
                <a:ln w="19050" cap="flat" cmpd="sng">
                  <a:solidFill>
                    <a:srgbClr val="000066"/>
                  </a:solidFill>
                  <a:prstDash val="solid"/>
                  <a:round/>
                  <a:headEnd type="none" w="sm" len="sm"/>
                  <a:tailEnd type="triangle" w="sm" len="lg"/>
                </a:ln>
              </p:spPr>
            </p:sp>
            <p:sp>
              <p:nvSpPr>
                <p:cNvPr id="86030" name="直接连接符 557079"/>
                <p:cNvSpPr/>
                <p:nvPr/>
              </p:nvSpPr>
              <p:spPr>
                <a:xfrm flipV="1">
                  <a:off x="1550" y="1813"/>
                  <a:ext cx="2" cy="1826"/>
                </a:xfrm>
                <a:prstGeom prst="line">
                  <a:avLst/>
                </a:prstGeom>
                <a:ln w="19050" cap="flat" cmpd="sng">
                  <a:solidFill>
                    <a:srgbClr val="000066"/>
                  </a:solidFill>
                  <a:prstDash val="solid"/>
                  <a:round/>
                  <a:headEnd type="none" w="sm" len="sm"/>
                  <a:tailEnd type="triangle" w="sm" len="lg"/>
                </a:ln>
              </p:spPr>
            </p:sp>
            <p:sp>
              <p:nvSpPr>
                <p:cNvPr id="86031" name="矩形 557080"/>
                <p:cNvSpPr/>
                <p:nvPr/>
              </p:nvSpPr>
              <p:spPr>
                <a:xfrm>
                  <a:off x="1992" y="1859"/>
                  <a:ext cx="1142" cy="45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1(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V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,</a:t>
                  </a:r>
                  <a:r>
                    <a:rPr lang="en-US" altLang="zh-CN" i="1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r>
                    <a:rPr lang="en-US" altLang="zh-CN" baseline="-25000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r>
                    <a:rPr lang="en-US" altLang="zh-CN" dirty="0">
                      <a:solidFill>
                        <a:srgbClr val="0000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86032" name="直接连接符 557081"/>
                <p:cNvSpPr/>
                <p:nvPr/>
              </p:nvSpPr>
              <p:spPr>
                <a:xfrm>
                  <a:off x="2719" y="2663"/>
                  <a:ext cx="119" cy="113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86033" name="任意多边形 557082"/>
                <p:cNvSpPr/>
                <p:nvPr/>
              </p:nvSpPr>
              <p:spPr>
                <a:xfrm>
                  <a:off x="1933" y="2160"/>
                  <a:ext cx="1153" cy="905"/>
                </a:xfrm>
                <a:custGeom>
                  <a:avLst/>
                  <a:gdLst/>
                  <a:ahLst/>
                  <a:cxnLst>
                    <a:cxn ang="0">
                      <a:pos x="69" y="0"/>
                    </a:cxn>
                    <a:cxn ang="0">
                      <a:pos x="140" y="555"/>
                    </a:cxn>
                    <a:cxn ang="0">
                      <a:pos x="908" y="555"/>
                    </a:cxn>
                    <a:cxn ang="0">
                      <a:pos x="1539" y="1110"/>
                    </a:cxn>
                  </a:cxnLst>
                  <a:rect l="0" t="0" r="0" b="0"/>
                  <a:pathLst>
                    <a:path w="998" h="817">
                      <a:moveTo>
                        <a:pt x="45" y="0"/>
                      </a:moveTo>
                      <a:cubicBezTo>
                        <a:pt x="22" y="170"/>
                        <a:pt x="0" y="340"/>
                        <a:pt x="91" y="408"/>
                      </a:cubicBezTo>
                      <a:cubicBezTo>
                        <a:pt x="182" y="476"/>
                        <a:pt x="438" y="340"/>
                        <a:pt x="589" y="408"/>
                      </a:cubicBezTo>
                      <a:cubicBezTo>
                        <a:pt x="740" y="476"/>
                        <a:pt x="869" y="646"/>
                        <a:pt x="998" y="817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6034" name="矩形 557083"/>
                <p:cNvSpPr/>
                <p:nvPr/>
              </p:nvSpPr>
              <p:spPr>
                <a:xfrm>
                  <a:off x="1474" y="1496"/>
                  <a:ext cx="569" cy="45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lIns="12700" tIns="12700" rIns="12700" bIns="12700" anchor="t" anchorCtr="0"/>
                <a:lstStyle/>
                <a:p>
                  <a:pPr algn="just"/>
                  <a:r>
                    <a:rPr lang="en-US" altLang="zh-CN" sz="2800" i="1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lang="en-US" altLang="zh-CN" sz="2800" dirty="0">
                      <a:solidFill>
                        <a:srgbClr val="00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</a:p>
              </p:txBody>
            </p:sp>
          </p:grpSp>
        </p:grpSp>
      </p:grpSp>
      <p:sp>
        <p:nvSpPr>
          <p:cNvPr id="558084" name="文本框 558083"/>
          <p:cNvSpPr txBox="1"/>
          <p:nvPr/>
        </p:nvSpPr>
        <p:spPr>
          <a:xfrm>
            <a:off x="323850" y="2995613"/>
            <a:ext cx="4313238" cy="2305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b="1" kern="1200" cap="none" spc="0" normalizeH="0" baseline="0" noProof="1">
                <a:solidFill>
                  <a:srgbClr val="080808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）都是过程量</a:t>
            </a:r>
          </a:p>
          <a:p>
            <a:pPr marR="0" defTabSz="914400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b="1" kern="1200" cap="none" spc="0" normalizeH="0" baseline="0" noProof="1">
                <a:solidFill>
                  <a:srgbClr val="080808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对系统的内能改变而言，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“作功”与“传热”是等价的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。（即内能的改变有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两种量度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--“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功”和“热量”）</a:t>
            </a:r>
          </a:p>
        </p:txBody>
      </p:sp>
      <p:sp>
        <p:nvSpPr>
          <p:cNvPr id="558090" name="文本框 558089"/>
          <p:cNvSpPr txBox="1"/>
          <p:nvPr/>
        </p:nvSpPr>
        <p:spPr>
          <a:xfrm>
            <a:off x="5146675" y="4471988"/>
            <a:ext cx="1641475" cy="55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不同点：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988" y="5156200"/>
            <a:ext cx="3949700" cy="984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2729" name="文本框 412728"/>
          <p:cNvSpPr txBox="1"/>
          <p:nvPr/>
        </p:nvSpPr>
        <p:spPr>
          <a:xfrm>
            <a:off x="250825" y="679450"/>
            <a:ext cx="1266825" cy="5238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思考：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5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58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58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6" grpId="0"/>
      <p:bldP spid="55808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文本框 559105"/>
          <p:cNvSpPr txBox="1"/>
          <p:nvPr/>
        </p:nvSpPr>
        <p:spPr>
          <a:xfrm>
            <a:off x="339725" y="131763"/>
            <a:ext cx="8318500" cy="1568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某理想气体的定压摩尔热容为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29.1  J.  mol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  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K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。求它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在温度为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273 K </a:t>
            </a: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时分子的平均转动动能。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（ 玻耳兹曼常量 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 = 1.38×10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-23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J . K</a:t>
            </a:r>
            <a:r>
              <a:rPr kumimoji="0" lang="en-US" altLang="zh-CN" sz="2400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-1 </a:t>
            </a:r>
            <a:r>
              <a:rPr kumimoji="0" lang="en-US" altLang="zh-CN" sz="2400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559107" name="文本框 559106"/>
          <p:cNvSpPr txBox="1"/>
          <p:nvPr/>
        </p:nvSpPr>
        <p:spPr>
          <a:xfrm>
            <a:off x="468313" y="1700213"/>
            <a:ext cx="871538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 </a:t>
            </a:r>
          </a:p>
        </p:txBody>
      </p:sp>
      <p:graphicFrame>
        <p:nvGraphicFramePr>
          <p:cNvPr id="559108" name="对象 559107"/>
          <p:cNvGraphicFramePr/>
          <p:nvPr/>
        </p:nvGraphicFramePr>
        <p:xfrm>
          <a:off x="1452563" y="1524000"/>
          <a:ext cx="3381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6" r:id="rId3" imgW="1447165" imgH="393700" progId="Equation.3">
                  <p:embed/>
                </p:oleObj>
              </mc:Choice>
              <mc:Fallback>
                <p:oleObj r:id="rId3" imgW="1447165" imgH="393700" progId="Equation.3">
                  <p:embed/>
                  <p:pic>
                    <p:nvPicPr>
                      <p:cNvPr id="559108" name="对象 559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52563" y="1524000"/>
                        <a:ext cx="338137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09" name="对象 559108"/>
          <p:cNvGraphicFramePr/>
          <p:nvPr/>
        </p:nvGraphicFramePr>
        <p:xfrm>
          <a:off x="1401763" y="2514600"/>
          <a:ext cx="6818312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" r:id="rId5" imgW="2755900" imgH="419100" progId="Equation.3">
                  <p:embed/>
                </p:oleObj>
              </mc:Choice>
              <mc:Fallback>
                <p:oleObj r:id="rId5" imgW="2755900" imgH="419100" progId="Equation.3">
                  <p:embed/>
                  <p:pic>
                    <p:nvPicPr>
                      <p:cNvPr id="559109" name="对象 559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1763" y="2514600"/>
                        <a:ext cx="6818312" cy="1036638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110" name="文本框 559109"/>
          <p:cNvSpPr txBox="1"/>
          <p:nvPr/>
        </p:nvSpPr>
        <p:spPr>
          <a:xfrm>
            <a:off x="895350" y="3627438"/>
            <a:ext cx="7219950" cy="10144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可知该气体是</a:t>
            </a: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双原子</a:t>
            </a: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分子，有两个转动自由度，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故平均转动动能为</a:t>
            </a:r>
          </a:p>
        </p:txBody>
      </p:sp>
      <p:graphicFrame>
        <p:nvGraphicFramePr>
          <p:cNvPr id="559111" name="对象 559110"/>
          <p:cNvGraphicFramePr/>
          <p:nvPr/>
        </p:nvGraphicFramePr>
        <p:xfrm>
          <a:off x="1476375" y="4700588"/>
          <a:ext cx="6056313" cy="176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" r:id="rId7" imgW="2780030" imgH="812165" progId="Equation.3">
                  <p:embed/>
                </p:oleObj>
              </mc:Choice>
              <mc:Fallback>
                <p:oleObj r:id="rId7" imgW="2780030" imgH="812165" progId="Equation.3">
                  <p:embed/>
                  <p:pic>
                    <p:nvPicPr>
                      <p:cNvPr id="559111" name="对象 559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4700588"/>
                        <a:ext cx="6056313" cy="1766887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5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55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7" grpId="0"/>
      <p:bldP spid="5591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52" name="文本框 338951"/>
          <p:cNvSpPr txBox="1"/>
          <p:nvPr/>
        </p:nvSpPr>
        <p:spPr>
          <a:xfrm>
            <a:off x="906463" y="4116388"/>
            <a:ext cx="3810000" cy="2011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en-US" altLang="zh-CN" b="1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若为准静态过程</a:t>
            </a:r>
          </a:p>
          <a:p>
            <a:pPr marR="0" defTabSz="914400">
              <a:lnSpc>
                <a:spcPct val="14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0" lang="zh-CN" altLang="en-US" b="1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38953" name="对象 338952"/>
          <p:cNvGraphicFramePr/>
          <p:nvPr/>
        </p:nvGraphicFramePr>
        <p:xfrm>
          <a:off x="4500563" y="4943475"/>
          <a:ext cx="20447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3" r:id="rId3" imgW="1327150" imgH="222885" progId="Equation.DSMT4">
                  <p:embed/>
                </p:oleObj>
              </mc:Choice>
              <mc:Fallback>
                <p:oleObj r:id="rId3" imgW="1327150" imgH="222885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4943475"/>
                        <a:ext cx="2044700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8" name="对象 338947"/>
          <p:cNvGraphicFramePr/>
          <p:nvPr/>
        </p:nvGraphicFramePr>
        <p:xfrm>
          <a:off x="1193800" y="1500188"/>
          <a:ext cx="17494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4" r:id="rId5" imgW="1003300" imgH="222885" progId="Equation.DSMT4">
                  <p:embed/>
                </p:oleObj>
              </mc:Choice>
              <mc:Fallback>
                <p:oleObj r:id="rId5" imgW="1003300" imgH="222885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93800" y="1500188"/>
                        <a:ext cx="1749425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9" name="对象 338948"/>
          <p:cNvGraphicFramePr/>
          <p:nvPr/>
        </p:nvGraphicFramePr>
        <p:xfrm>
          <a:off x="1046163" y="2447925"/>
          <a:ext cx="1998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" r:id="rId7" imgW="1215390" imgH="222885" progId="Equation.DSMT4">
                  <p:embed/>
                </p:oleObj>
              </mc:Choice>
              <mc:Fallback>
                <p:oleObj r:id="rId7" imgW="1215390" imgH="222885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6163" y="2447925"/>
                        <a:ext cx="199866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7" name="矩形 338956"/>
          <p:cNvSpPr/>
          <p:nvPr/>
        </p:nvSpPr>
        <p:spPr>
          <a:xfrm>
            <a:off x="684213" y="1268413"/>
            <a:ext cx="8208962" cy="1828800"/>
          </a:xfrm>
          <a:prstGeom prst="rect">
            <a:avLst/>
          </a:prstGeom>
          <a:noFill/>
          <a:ln w="25400" cap="flat" cmpd="sng">
            <a:solidFill>
              <a:srgbClr val="66CC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963" name="文本框 338962"/>
          <p:cNvSpPr txBox="1"/>
          <p:nvPr/>
        </p:nvSpPr>
        <p:spPr>
          <a:xfrm>
            <a:off x="1563688" y="188913"/>
            <a:ext cx="6248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marR="0" indent="-45720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13-3  </a:t>
            </a:r>
            <a:r>
              <a:rPr kumimoji="0" lang="zh-CN" altLang="en-US" sz="32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热力学第一定律</a:t>
            </a:r>
            <a:endParaRPr kumimoji="0" lang="zh-CN" altLang="en-US" sz="2800" kern="1200" cap="none" spc="0" normalizeH="0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组合 338974"/>
          <p:cNvGrpSpPr/>
          <p:nvPr/>
        </p:nvGrpSpPr>
        <p:grpSpPr>
          <a:xfrm>
            <a:off x="3281363" y="1868488"/>
            <a:ext cx="5654675" cy="477837"/>
            <a:chOff x="2067" y="1522"/>
            <a:chExt cx="3562" cy="301"/>
          </a:xfrm>
        </p:grpSpPr>
        <p:graphicFrame>
          <p:nvGraphicFramePr>
            <p:cNvPr id="88072" name="对象 338965"/>
            <p:cNvGraphicFramePr/>
            <p:nvPr/>
          </p:nvGraphicFramePr>
          <p:xfrm>
            <a:off x="2067" y="1522"/>
            <a:ext cx="405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6" r:id="rId9" imgW="278765" imgH="178435" progId="Equation.3">
                    <p:embed/>
                  </p:oleObj>
                </mc:Choice>
                <mc:Fallback>
                  <p:oleObj r:id="rId9" imgW="278765" imgH="178435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7" y="1522"/>
                          <a:ext cx="405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967" name="文本框 338966"/>
            <p:cNvSpPr txBox="1"/>
            <p:nvPr/>
          </p:nvSpPr>
          <p:spPr>
            <a:xfrm>
              <a:off x="2441" y="1535"/>
              <a:ext cx="31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----</a:t>
              </a:r>
              <a:r>
                <a:rPr kumimoji="0" lang="zh-CN" altLang="en-US" b="1" kern="1200" cap="none" spc="0" normalizeH="0" baseline="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系统</a:t>
              </a: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内能增加为正，减少为负。</a:t>
              </a:r>
            </a:p>
          </p:txBody>
        </p:sp>
      </p:grpSp>
      <p:grpSp>
        <p:nvGrpSpPr>
          <p:cNvPr id="3" name="组合 338973"/>
          <p:cNvGrpSpPr/>
          <p:nvPr/>
        </p:nvGrpSpPr>
        <p:grpSpPr>
          <a:xfrm>
            <a:off x="3475038" y="1298575"/>
            <a:ext cx="4775200" cy="503238"/>
            <a:chOff x="2189" y="1163"/>
            <a:chExt cx="3008" cy="317"/>
          </a:xfrm>
        </p:grpSpPr>
        <p:graphicFrame>
          <p:nvGraphicFramePr>
            <p:cNvPr id="88075" name="对象 338968"/>
            <p:cNvGraphicFramePr/>
            <p:nvPr/>
          </p:nvGraphicFramePr>
          <p:xfrm>
            <a:off x="2189" y="1163"/>
            <a:ext cx="23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7" r:id="rId11" imgW="156210" imgH="222885" progId="Equation.3">
                    <p:embed/>
                  </p:oleObj>
                </mc:Choice>
                <mc:Fallback>
                  <p:oleObj r:id="rId11" imgW="156210" imgH="222885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89" y="1163"/>
                          <a:ext cx="237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970" name="文本框 338969"/>
            <p:cNvSpPr txBox="1"/>
            <p:nvPr/>
          </p:nvSpPr>
          <p:spPr>
            <a:xfrm>
              <a:off x="2393" y="1178"/>
              <a:ext cx="28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----</a:t>
              </a:r>
              <a:r>
                <a:rPr kumimoji="0" lang="zh-CN" altLang="en-US" b="1" kern="1200" cap="none" spc="0" normalizeH="0" baseline="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系统</a:t>
              </a: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吸热为正，放热为负。</a:t>
              </a:r>
            </a:p>
          </p:txBody>
        </p:sp>
      </p:grpSp>
      <p:grpSp>
        <p:nvGrpSpPr>
          <p:cNvPr id="4" name="组合 338979"/>
          <p:cNvGrpSpPr/>
          <p:nvPr/>
        </p:nvGrpSpPr>
        <p:grpSpPr>
          <a:xfrm>
            <a:off x="3411538" y="2489200"/>
            <a:ext cx="5507037" cy="466725"/>
            <a:chOff x="2149" y="1913"/>
            <a:chExt cx="3469" cy="294"/>
          </a:xfrm>
        </p:grpSpPr>
        <p:sp>
          <p:nvSpPr>
            <p:cNvPr id="338971" name="文本框 338970"/>
            <p:cNvSpPr txBox="1"/>
            <p:nvPr/>
          </p:nvSpPr>
          <p:spPr>
            <a:xfrm>
              <a:off x="2430" y="1919"/>
              <a:ext cx="31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----</a:t>
              </a:r>
              <a:r>
                <a:rPr kumimoji="0" lang="zh-CN" altLang="en-US" b="1" kern="1200" cap="none" spc="0" normalizeH="0" baseline="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系统</a:t>
              </a: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对外作功为正，反之为负。</a:t>
              </a:r>
              <a:endParaRPr kumimoji="0" lang="zh-CN" altLang="en-US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8079" name="内容占位符 338971"/>
            <p:cNvGraphicFramePr/>
            <p:nvPr/>
          </p:nvGraphicFramePr>
          <p:xfrm>
            <a:off x="2149" y="1913"/>
            <a:ext cx="29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8" r:id="rId13" imgW="178435" imgH="178435" progId="Equation.DSMT4">
                    <p:embed/>
                  </p:oleObj>
                </mc:Choice>
                <mc:Fallback>
                  <p:oleObj r:id="rId13" imgW="178435" imgH="178435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49" y="1913"/>
                          <a:ext cx="293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979" name="文本框 338978"/>
          <p:cNvSpPr txBox="1"/>
          <p:nvPr/>
        </p:nvSpPr>
        <p:spPr>
          <a:xfrm>
            <a:off x="611188" y="3573463"/>
            <a:ext cx="7991475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ctr" defTabSz="91440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适用于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两个平衡态之间   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任何系统</a:t>
            </a: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气液固</a:t>
            </a: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……</a:t>
            </a: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   </a:t>
            </a:r>
          </a:p>
          <a:p>
            <a:pPr marR="0" algn="ctr" defTabSz="91440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任何过程</a:t>
            </a: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非静态过程也适用</a:t>
            </a: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8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2" grpId="0" build="p"/>
      <p:bldP spid="3389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20" name="文本框 397319"/>
          <p:cNvSpPr txBox="1"/>
          <p:nvPr/>
        </p:nvSpPr>
        <p:spPr>
          <a:xfrm>
            <a:off x="468313" y="749300"/>
            <a:ext cx="3046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FF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强调：</a:t>
            </a:r>
          </a:p>
        </p:txBody>
      </p:sp>
      <p:sp>
        <p:nvSpPr>
          <p:cNvPr id="397321" name="文本框 397320"/>
          <p:cNvSpPr txBox="1"/>
          <p:nvPr/>
        </p:nvSpPr>
        <p:spPr>
          <a:xfrm>
            <a:off x="444500" y="1377950"/>
            <a:ext cx="3841750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</a:t>
            </a: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理想气体的</a:t>
            </a:r>
            <a:r>
              <a:rPr kumimoji="0" lang="zh-CN" altLang="en-US" kern="1200" cap="none" spc="0" normalizeH="0" baseline="0" noProof="1">
                <a:solidFill>
                  <a:srgbClr val="FF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内能变化</a:t>
            </a: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只与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系统</a:t>
            </a:r>
            <a:r>
              <a:rPr kumimoji="0" lang="zh-CN" altLang="en-US" kern="1200" cap="none" spc="0" normalizeH="0" baseline="0" noProof="1">
                <a:solidFill>
                  <a:srgbClr val="FF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始末温度有关</a:t>
            </a: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，而与过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程无关。</a:t>
            </a:r>
          </a:p>
        </p:txBody>
      </p:sp>
      <p:sp>
        <p:nvSpPr>
          <p:cNvPr id="397322" name="文本框 397321"/>
          <p:cNvSpPr txBox="1"/>
          <p:nvPr/>
        </p:nvSpPr>
        <p:spPr>
          <a:xfrm>
            <a:off x="520700" y="3105150"/>
            <a:ext cx="3763963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</a:t>
            </a: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研究理想气体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热功转换的主要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依据是：</a:t>
            </a:r>
            <a:endParaRPr kumimoji="0" lang="zh-CN" altLang="en-US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组合 397323"/>
          <p:cNvGrpSpPr/>
          <p:nvPr/>
        </p:nvGrpSpPr>
        <p:grpSpPr>
          <a:xfrm>
            <a:off x="5473700" y="1066800"/>
            <a:ext cx="3525838" cy="2362200"/>
            <a:chOff x="3312" y="240"/>
            <a:chExt cx="2221" cy="1488"/>
          </a:xfrm>
        </p:grpSpPr>
        <p:grpSp>
          <p:nvGrpSpPr>
            <p:cNvPr id="89093" name="组合 397324"/>
            <p:cNvGrpSpPr/>
            <p:nvPr/>
          </p:nvGrpSpPr>
          <p:grpSpPr>
            <a:xfrm>
              <a:off x="3645" y="624"/>
              <a:ext cx="1680" cy="1104"/>
              <a:chOff x="4080" y="1680"/>
              <a:chExt cx="1680" cy="1104"/>
            </a:xfrm>
          </p:grpSpPr>
          <p:sp>
            <p:nvSpPr>
              <p:cNvPr id="89094" name="直接连接符 397325"/>
              <p:cNvSpPr/>
              <p:nvPr/>
            </p:nvSpPr>
            <p:spPr>
              <a:xfrm>
                <a:off x="4080" y="2784"/>
                <a:ext cx="168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9095" name="直接连接符 397326"/>
              <p:cNvSpPr/>
              <p:nvPr/>
            </p:nvSpPr>
            <p:spPr>
              <a:xfrm flipV="1">
                <a:off x="4080" y="1680"/>
                <a:ext cx="0" cy="110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89096" name="文本框 397327"/>
            <p:cNvSpPr txBox="1"/>
            <p:nvPr/>
          </p:nvSpPr>
          <p:spPr>
            <a:xfrm>
              <a:off x="5232" y="1344"/>
              <a:ext cx="30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89097" name="文本框 397328"/>
            <p:cNvSpPr txBox="1"/>
            <p:nvPr/>
          </p:nvSpPr>
          <p:spPr>
            <a:xfrm>
              <a:off x="3312" y="432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89098" name="任意多边形 397329"/>
            <p:cNvSpPr/>
            <p:nvPr/>
          </p:nvSpPr>
          <p:spPr>
            <a:xfrm rot="-10510452">
              <a:off x="3837" y="624"/>
              <a:ext cx="110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37871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9" name="任意多边形 397330"/>
            <p:cNvSpPr/>
            <p:nvPr/>
          </p:nvSpPr>
          <p:spPr>
            <a:xfrm rot="-10510452">
              <a:off x="4125" y="240"/>
              <a:ext cx="1104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37871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0" name="文本框 397331"/>
            <p:cNvSpPr txBox="1"/>
            <p:nvPr/>
          </p:nvSpPr>
          <p:spPr>
            <a:xfrm>
              <a:off x="4931" y="588"/>
              <a:ext cx="37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101" name="文本框 397332"/>
            <p:cNvSpPr txBox="1"/>
            <p:nvPr/>
          </p:nvSpPr>
          <p:spPr>
            <a:xfrm>
              <a:off x="3875" y="348"/>
              <a:ext cx="37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7334" name="直接连接符 397333"/>
          <p:cNvSpPr/>
          <p:nvPr/>
        </p:nvSpPr>
        <p:spPr>
          <a:xfrm>
            <a:off x="6540500" y="2209800"/>
            <a:ext cx="12192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97335" name="直接连接符 397334"/>
          <p:cNvSpPr/>
          <p:nvPr/>
        </p:nvSpPr>
        <p:spPr>
          <a:xfrm flipV="1">
            <a:off x="7759700" y="2209800"/>
            <a:ext cx="0" cy="6858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4" name="组合 397336"/>
          <p:cNvGrpSpPr/>
          <p:nvPr/>
        </p:nvGrpSpPr>
        <p:grpSpPr>
          <a:xfrm>
            <a:off x="6588125" y="1595438"/>
            <a:ext cx="1203325" cy="601662"/>
            <a:chOff x="3953" y="568"/>
            <a:chExt cx="758" cy="379"/>
          </a:xfrm>
        </p:grpSpPr>
        <p:sp>
          <p:nvSpPr>
            <p:cNvPr id="89105" name="任意多边形 397337"/>
            <p:cNvSpPr/>
            <p:nvPr/>
          </p:nvSpPr>
          <p:spPr>
            <a:xfrm>
              <a:off x="3953" y="568"/>
              <a:ext cx="758" cy="379"/>
            </a:xfrm>
            <a:custGeom>
              <a:avLst/>
              <a:gdLst/>
              <a:ahLst/>
              <a:cxnLst>
                <a:cxn ang="0">
                  <a:pos x="0" y="379"/>
                </a:cxn>
                <a:cxn ang="0">
                  <a:pos x="152" y="202"/>
                </a:cxn>
                <a:cxn ang="0">
                  <a:pos x="303" y="76"/>
                </a:cxn>
                <a:cxn ang="0">
                  <a:pos x="430" y="26"/>
                </a:cxn>
                <a:cxn ang="0">
                  <a:pos x="468" y="13"/>
                </a:cxn>
                <a:cxn ang="0">
                  <a:pos x="506" y="0"/>
                </a:cxn>
                <a:cxn ang="0">
                  <a:pos x="607" y="13"/>
                </a:cxn>
                <a:cxn ang="0">
                  <a:pos x="632" y="51"/>
                </a:cxn>
                <a:cxn ang="0">
                  <a:pos x="670" y="89"/>
                </a:cxn>
                <a:cxn ang="0">
                  <a:pos x="733" y="228"/>
                </a:cxn>
                <a:cxn ang="0">
                  <a:pos x="746" y="329"/>
                </a:cxn>
                <a:cxn ang="0">
                  <a:pos x="758" y="367"/>
                </a:cxn>
              </a:cxnLst>
              <a:rect l="0" t="0" r="0" b="0"/>
              <a:pathLst>
                <a:path w="758" h="379">
                  <a:moveTo>
                    <a:pt x="0" y="379"/>
                  </a:moveTo>
                  <a:cubicBezTo>
                    <a:pt x="24" y="286"/>
                    <a:pt x="88" y="259"/>
                    <a:pt x="152" y="202"/>
                  </a:cubicBezTo>
                  <a:cubicBezTo>
                    <a:pt x="297" y="73"/>
                    <a:pt x="158" y="175"/>
                    <a:pt x="303" y="76"/>
                  </a:cubicBezTo>
                  <a:cubicBezTo>
                    <a:pt x="338" y="52"/>
                    <a:pt x="393" y="38"/>
                    <a:pt x="430" y="26"/>
                  </a:cubicBezTo>
                  <a:cubicBezTo>
                    <a:pt x="443" y="22"/>
                    <a:pt x="455" y="17"/>
                    <a:pt x="468" y="13"/>
                  </a:cubicBezTo>
                  <a:cubicBezTo>
                    <a:pt x="481" y="9"/>
                    <a:pt x="506" y="0"/>
                    <a:pt x="506" y="0"/>
                  </a:cubicBezTo>
                  <a:cubicBezTo>
                    <a:pt x="540" y="4"/>
                    <a:pt x="576" y="0"/>
                    <a:pt x="607" y="13"/>
                  </a:cubicBezTo>
                  <a:cubicBezTo>
                    <a:pt x="621" y="19"/>
                    <a:pt x="622" y="39"/>
                    <a:pt x="632" y="51"/>
                  </a:cubicBezTo>
                  <a:cubicBezTo>
                    <a:pt x="643" y="65"/>
                    <a:pt x="657" y="76"/>
                    <a:pt x="670" y="89"/>
                  </a:cubicBezTo>
                  <a:cubicBezTo>
                    <a:pt x="687" y="141"/>
                    <a:pt x="695" y="188"/>
                    <a:pt x="733" y="228"/>
                  </a:cubicBezTo>
                  <a:cubicBezTo>
                    <a:pt x="737" y="262"/>
                    <a:pt x="740" y="296"/>
                    <a:pt x="746" y="329"/>
                  </a:cubicBezTo>
                  <a:cubicBezTo>
                    <a:pt x="748" y="342"/>
                    <a:pt x="758" y="367"/>
                    <a:pt x="758" y="367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6" name="直接连接符 397338"/>
            <p:cNvSpPr/>
            <p:nvPr/>
          </p:nvSpPr>
          <p:spPr>
            <a:xfrm>
              <a:off x="4608" y="624"/>
              <a:ext cx="48" cy="9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397353" name="对象 397352"/>
          <p:cNvGraphicFramePr/>
          <p:nvPr/>
        </p:nvGraphicFramePr>
        <p:xfrm>
          <a:off x="1157288" y="2492375"/>
          <a:ext cx="29892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5" r:id="rId3" imgW="1460500" imgH="267335" progId="Equation.DSMT4">
                  <p:embed/>
                </p:oleObj>
              </mc:Choice>
              <mc:Fallback>
                <p:oleObj r:id="rId3" imgW="1460500" imgH="267335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7288" y="2492375"/>
                        <a:ext cx="2989262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7354" name="文本框 397353"/>
          <p:cNvSpPr txBox="1"/>
          <p:nvPr/>
        </p:nvSpPr>
        <p:spPr>
          <a:xfrm>
            <a:off x="1184275" y="112713"/>
            <a:ext cx="9220200" cy="57943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13-4  </a:t>
            </a:r>
            <a:r>
              <a:rPr kumimoji="0" lang="zh-CN" altLang="en-US" sz="3200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热一律在理想气体中的应用  </a:t>
            </a:r>
          </a:p>
        </p:txBody>
      </p:sp>
      <p:graphicFrame>
        <p:nvGraphicFramePr>
          <p:cNvPr id="397358" name="对象 397357"/>
          <p:cNvGraphicFramePr/>
          <p:nvPr/>
        </p:nvGraphicFramePr>
        <p:xfrm>
          <a:off x="7566025" y="995363"/>
          <a:ext cx="7651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r:id="rId5" imgW="241300" imgH="165100" progId="Equation.3">
                  <p:embed/>
                </p:oleObj>
              </mc:Choice>
              <mc:Fallback>
                <p:oleObj r:id="rId5" imgW="241300" imgH="165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6025" y="995363"/>
                        <a:ext cx="765175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397350"/>
          <p:cNvGraphicFramePr/>
          <p:nvPr/>
        </p:nvGraphicFramePr>
        <p:xfrm>
          <a:off x="1476375" y="4437063"/>
          <a:ext cx="2478088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r:id="rId7" imgW="812800" imgH="584200" progId="Equation.3">
                  <p:embed/>
                </p:oleObj>
              </mc:Choice>
              <mc:Fallback>
                <p:oleObj r:id="rId7" imgW="812800" imgH="584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4437063"/>
                        <a:ext cx="2478088" cy="177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397344"/>
          <p:cNvGraphicFramePr/>
          <p:nvPr/>
        </p:nvGraphicFramePr>
        <p:xfrm>
          <a:off x="5291138" y="5156200"/>
          <a:ext cx="250031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r:id="rId9" imgW="761365" imgH="203200" progId="Equation.DSMT4">
                  <p:embed/>
                </p:oleObj>
              </mc:Choice>
              <mc:Fallback>
                <p:oleObj r:id="rId9" imgW="761365" imgH="203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91138" y="5156200"/>
                        <a:ext cx="2500312" cy="69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11188" y="4322763"/>
            <a:ext cx="787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(1)</a:t>
            </a:r>
            <a:endParaRPr kumimoji="0" lang="en-US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14938" y="4322763"/>
            <a:ext cx="787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(2)</a:t>
            </a:r>
            <a:endParaRPr kumimoji="0" lang="en-US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9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9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9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9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9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20" grpId="0"/>
      <p:bldP spid="397321" grpId="0"/>
      <p:bldP spid="397322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文本框 380929"/>
          <p:cNvSpPr txBox="1"/>
          <p:nvPr/>
        </p:nvSpPr>
        <p:spPr>
          <a:xfrm>
            <a:off x="34925" y="44450"/>
            <a:ext cx="55626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一、等体过程</a:t>
            </a:r>
          </a:p>
        </p:txBody>
      </p:sp>
      <p:sp>
        <p:nvSpPr>
          <p:cNvPr id="380933" name="文本框 380932"/>
          <p:cNvSpPr txBox="1"/>
          <p:nvPr/>
        </p:nvSpPr>
        <p:spPr>
          <a:xfrm>
            <a:off x="250825" y="620713"/>
            <a:ext cx="3886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功能转换关系</a:t>
            </a:r>
          </a:p>
        </p:txBody>
      </p:sp>
      <p:graphicFrame>
        <p:nvGraphicFramePr>
          <p:cNvPr id="381012" name="对象 381011"/>
          <p:cNvGraphicFramePr/>
          <p:nvPr/>
        </p:nvGraphicFramePr>
        <p:xfrm>
          <a:off x="2155825" y="2000250"/>
          <a:ext cx="23288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r:id="rId3" imgW="1371600" imgH="434975" progId="Equation.DSMT4">
                  <p:embed/>
                </p:oleObj>
              </mc:Choice>
              <mc:Fallback>
                <p:oleObj r:id="rId3" imgW="1371600" imgH="434975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55825" y="2000250"/>
                        <a:ext cx="2328863" cy="78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81030"/>
          <p:cNvGrpSpPr/>
          <p:nvPr/>
        </p:nvGrpSpPr>
        <p:grpSpPr>
          <a:xfrm>
            <a:off x="5076825" y="188913"/>
            <a:ext cx="3960813" cy="1981200"/>
            <a:chOff x="521" y="2467"/>
            <a:chExt cx="2495" cy="1248"/>
          </a:xfrm>
        </p:grpSpPr>
        <p:sp>
          <p:nvSpPr>
            <p:cNvPr id="90117" name="矩形 381031"/>
            <p:cNvSpPr/>
            <p:nvPr/>
          </p:nvSpPr>
          <p:spPr>
            <a:xfrm>
              <a:off x="952" y="2611"/>
              <a:ext cx="1332" cy="960"/>
            </a:xfrm>
            <a:prstGeom prst="rect">
              <a:avLst/>
            </a:prstGeom>
            <a:blipFill rotWithShape="0">
              <a:blip r:embed="rId5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6" name="矩形 381032"/>
            <p:cNvSpPr>
              <a:spLocks noChangeArrowheads="1"/>
            </p:cNvSpPr>
            <p:nvPr/>
          </p:nvSpPr>
          <p:spPr bwMode="auto">
            <a:xfrm>
              <a:off x="2396" y="3041"/>
              <a:ext cx="453" cy="152"/>
            </a:xfrm>
            <a:prstGeom prst="rect">
              <a:avLst/>
            </a:prstGeom>
            <a:gradFill rotWithShape="0">
              <a:gsLst>
                <a:gs pos="0">
                  <a:srgbClr val="993366"/>
                </a:gs>
                <a:gs pos="50000">
                  <a:schemeClr val="bg1"/>
                </a:gs>
                <a:gs pos="100000">
                  <a:srgbClr val="993366"/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119" name="任意多边形 381033"/>
            <p:cNvSpPr/>
            <p:nvPr/>
          </p:nvSpPr>
          <p:spPr>
            <a:xfrm>
              <a:off x="808" y="2467"/>
              <a:ext cx="2208" cy="1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08" y="0"/>
                </a:cxn>
                <a:cxn ang="0">
                  <a:pos x="2208" y="144"/>
                </a:cxn>
                <a:cxn ang="0">
                  <a:pos x="144" y="144"/>
                </a:cxn>
                <a:cxn ang="0">
                  <a:pos x="144" y="1104"/>
                </a:cxn>
                <a:cxn ang="0">
                  <a:pos x="2208" y="1104"/>
                </a:cxn>
                <a:cxn ang="0">
                  <a:pos x="2208" y="1248"/>
                </a:cxn>
                <a:cxn ang="0">
                  <a:pos x="0" y="1248"/>
                </a:cxn>
                <a:cxn ang="0">
                  <a:pos x="0" y="0"/>
                </a:cxn>
              </a:cxnLst>
              <a:rect l="0" t="0" r="0" b="0"/>
              <a:pathLst>
                <a:path w="2208" h="1248">
                  <a:moveTo>
                    <a:pt x="0" y="0"/>
                  </a:moveTo>
                  <a:lnTo>
                    <a:pt x="2208" y="0"/>
                  </a:lnTo>
                  <a:lnTo>
                    <a:pt x="2208" y="144"/>
                  </a:lnTo>
                  <a:lnTo>
                    <a:pt x="144" y="144"/>
                  </a:lnTo>
                  <a:lnTo>
                    <a:pt x="144" y="1104"/>
                  </a:lnTo>
                  <a:lnTo>
                    <a:pt x="2208" y="1104"/>
                  </a:lnTo>
                  <a:lnTo>
                    <a:pt x="2208" y="1248"/>
                  </a:lnTo>
                  <a:lnTo>
                    <a:pt x="0" y="124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</a:blipFill>
            <a:ln w="9525" cap="flat" cmpd="sng">
              <a:solidFill>
                <a:srgbClr val="99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矩形 381034"/>
            <p:cNvSpPr>
              <a:spLocks noChangeArrowheads="1"/>
            </p:cNvSpPr>
            <p:nvPr/>
          </p:nvSpPr>
          <p:spPr bwMode="auto">
            <a:xfrm>
              <a:off x="2234" y="2611"/>
              <a:ext cx="161" cy="960"/>
            </a:xfrm>
            <a:prstGeom prst="rect">
              <a:avLst/>
            </a:prstGeom>
            <a:gradFill rotWithShape="0">
              <a:gsLst>
                <a:gs pos="0">
                  <a:srgbClr val="003366"/>
                </a:gs>
                <a:gs pos="50000">
                  <a:schemeClr val="bg1"/>
                </a:gs>
                <a:gs pos="100000">
                  <a:srgbClr val="003366"/>
                </a:gs>
              </a:gsLst>
              <a:lin ang="5400000" scaled="1"/>
            </a:gra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sz="2400" b="0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121" name="文本框 381035"/>
            <p:cNvSpPr txBox="1"/>
            <p:nvPr/>
          </p:nvSpPr>
          <p:spPr>
            <a:xfrm>
              <a:off x="1273" y="2974"/>
              <a:ext cx="1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zh-CN" altLang="en-US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const.</a:t>
              </a:r>
            </a:p>
          </p:txBody>
        </p:sp>
        <p:sp>
          <p:nvSpPr>
            <p:cNvPr id="90122" name="文本框 381036"/>
            <p:cNvSpPr txBox="1"/>
            <p:nvPr/>
          </p:nvSpPr>
          <p:spPr>
            <a:xfrm>
              <a:off x="521" y="2792"/>
              <a:ext cx="7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90123" name="直接连接符 381037"/>
            <p:cNvSpPr/>
            <p:nvPr/>
          </p:nvSpPr>
          <p:spPr>
            <a:xfrm>
              <a:off x="626" y="3125"/>
              <a:ext cx="499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3" name="组合 381038"/>
          <p:cNvGrpSpPr/>
          <p:nvPr/>
        </p:nvGrpSpPr>
        <p:grpSpPr>
          <a:xfrm>
            <a:off x="5508625" y="2205038"/>
            <a:ext cx="3671888" cy="3529012"/>
            <a:chOff x="3198" y="1888"/>
            <a:chExt cx="2313" cy="2223"/>
          </a:xfrm>
        </p:grpSpPr>
        <p:sp>
          <p:nvSpPr>
            <p:cNvPr id="90125" name="矩形 381039"/>
            <p:cNvSpPr/>
            <p:nvPr/>
          </p:nvSpPr>
          <p:spPr>
            <a:xfrm>
              <a:off x="3198" y="1888"/>
              <a:ext cx="2313" cy="2223"/>
            </a:xfrm>
            <a:prstGeom prst="rect">
              <a:avLst/>
            </a:prstGeom>
            <a:gradFill rotWithShape="1">
              <a:gsLst>
                <a:gs pos="0">
                  <a:srgbClr val="B4DDFE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9050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0126" name="组合 381040"/>
            <p:cNvGrpSpPr/>
            <p:nvPr/>
          </p:nvGrpSpPr>
          <p:grpSpPr>
            <a:xfrm>
              <a:off x="3243" y="1979"/>
              <a:ext cx="2131" cy="2131"/>
              <a:chOff x="3243" y="1979"/>
              <a:chExt cx="2131" cy="2131"/>
            </a:xfrm>
          </p:grpSpPr>
          <p:sp>
            <p:nvSpPr>
              <p:cNvPr id="90127" name="直接连接符 381041"/>
              <p:cNvSpPr/>
              <p:nvPr/>
            </p:nvSpPr>
            <p:spPr>
              <a:xfrm>
                <a:off x="3447" y="3558"/>
                <a:ext cx="1770" cy="0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sm" len="sm"/>
                <a:tailEnd type="triangle" w="sm" len="lg"/>
              </a:ln>
            </p:spPr>
          </p:sp>
          <p:sp>
            <p:nvSpPr>
              <p:cNvPr id="90128" name="直接连接符 381042"/>
              <p:cNvSpPr/>
              <p:nvPr/>
            </p:nvSpPr>
            <p:spPr>
              <a:xfrm flipV="1">
                <a:off x="3447" y="2260"/>
                <a:ext cx="2" cy="1298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sm" len="sm"/>
                <a:tailEnd type="triangle" w="sm" len="lg"/>
              </a:ln>
            </p:spPr>
          </p:sp>
          <p:sp>
            <p:nvSpPr>
              <p:cNvPr id="90129" name="直接连接符 381043"/>
              <p:cNvSpPr/>
              <p:nvPr/>
            </p:nvSpPr>
            <p:spPr>
              <a:xfrm>
                <a:off x="4035" y="2496"/>
                <a:ext cx="2" cy="709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oval" w="sm" len="sm"/>
                <a:tailEnd type="oval" w="sm" len="sm"/>
              </a:ln>
            </p:spPr>
          </p:sp>
          <p:sp>
            <p:nvSpPr>
              <p:cNvPr id="90130" name="矩形 381044"/>
              <p:cNvSpPr/>
              <p:nvPr/>
            </p:nvSpPr>
            <p:spPr>
              <a:xfrm>
                <a:off x="4036" y="3210"/>
                <a:ext cx="1090" cy="35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1(</a:t>
                </a:r>
                <a:r>
                  <a:rPr lang="en-US" altLang="zh-CN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90131" name="矩形 381045"/>
              <p:cNvSpPr/>
              <p:nvPr/>
            </p:nvSpPr>
            <p:spPr>
              <a:xfrm>
                <a:off x="3992" y="2244"/>
                <a:ext cx="1043" cy="35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2(</a:t>
                </a:r>
                <a:r>
                  <a:rPr lang="en-US" altLang="zh-CN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 </a:t>
                </a:r>
              </a:p>
            </p:txBody>
          </p:sp>
          <p:sp>
            <p:nvSpPr>
              <p:cNvPr id="90132" name="矩形 381046"/>
              <p:cNvSpPr/>
              <p:nvPr/>
            </p:nvSpPr>
            <p:spPr>
              <a:xfrm>
                <a:off x="3484" y="1979"/>
                <a:ext cx="410" cy="35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endPara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133" name="矩形 381047"/>
              <p:cNvSpPr/>
              <p:nvPr/>
            </p:nvSpPr>
            <p:spPr>
              <a:xfrm>
                <a:off x="3243" y="3508"/>
                <a:ext cx="274" cy="21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O </a:t>
                </a:r>
              </a:p>
            </p:txBody>
          </p:sp>
          <p:sp>
            <p:nvSpPr>
              <p:cNvPr id="90134" name="矩形 381048"/>
              <p:cNvSpPr/>
              <p:nvPr/>
            </p:nvSpPr>
            <p:spPr>
              <a:xfrm>
                <a:off x="5236" y="3533"/>
                <a:ext cx="138" cy="2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endPara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135" name="直接连接符 381049"/>
              <p:cNvSpPr/>
              <p:nvPr/>
            </p:nvSpPr>
            <p:spPr>
              <a:xfrm flipV="1">
                <a:off x="4037" y="2795"/>
                <a:ext cx="0" cy="85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90136" name="矩形 381050"/>
              <p:cNvSpPr/>
              <p:nvPr/>
            </p:nvSpPr>
            <p:spPr>
              <a:xfrm>
                <a:off x="3700" y="3722"/>
                <a:ext cx="994" cy="3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</a:t>
                </a: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</a:t>
                </a: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</a:t>
                </a:r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</p:grpSp>
      </p:grpSp>
      <p:sp>
        <p:nvSpPr>
          <p:cNvPr id="381053" name="文本框 381052"/>
          <p:cNvSpPr txBox="1"/>
          <p:nvPr/>
        </p:nvSpPr>
        <p:spPr>
          <a:xfrm>
            <a:off x="492125" y="1423988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对外做功：</a:t>
            </a:r>
          </a:p>
        </p:txBody>
      </p:sp>
      <p:sp>
        <p:nvSpPr>
          <p:cNvPr id="381054" name="文本框 381053"/>
          <p:cNvSpPr txBox="1"/>
          <p:nvPr/>
        </p:nvSpPr>
        <p:spPr>
          <a:xfrm>
            <a:off x="463550" y="3354388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热量交换：</a:t>
            </a:r>
          </a:p>
        </p:txBody>
      </p:sp>
      <p:sp>
        <p:nvSpPr>
          <p:cNvPr id="381055" name="文本框 381054"/>
          <p:cNvSpPr txBox="1"/>
          <p:nvPr/>
        </p:nvSpPr>
        <p:spPr>
          <a:xfrm>
            <a:off x="144463" y="5459413"/>
            <a:ext cx="21859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内能变化：</a:t>
            </a:r>
          </a:p>
        </p:txBody>
      </p:sp>
      <p:graphicFrame>
        <p:nvGraphicFramePr>
          <p:cNvPr id="381056" name="对象 381055"/>
          <p:cNvGraphicFramePr/>
          <p:nvPr/>
        </p:nvGraphicFramePr>
        <p:xfrm>
          <a:off x="2179638" y="1495425"/>
          <a:ext cx="23764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r:id="rId7" imgW="1159510" imgH="200660" progId="Equation.3">
                  <p:embed/>
                </p:oleObj>
              </mc:Choice>
              <mc:Fallback>
                <p:oleObj r:id="rId7" imgW="1159510" imgH="20066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79638" y="1495425"/>
                        <a:ext cx="2376487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065" name="对象 381064"/>
          <p:cNvGraphicFramePr/>
          <p:nvPr/>
        </p:nvGraphicFramePr>
        <p:xfrm>
          <a:off x="2187575" y="3968750"/>
          <a:ext cx="279876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2" r:id="rId9" imgW="1028700" imgH="393700" progId="Equation.DSMT4">
                  <p:embed/>
                </p:oleObj>
              </mc:Choice>
              <mc:Fallback>
                <p:oleObj r:id="rId9" imgW="1028700" imgH="393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87575" y="3968750"/>
                        <a:ext cx="2798763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066" name="对象 381065"/>
          <p:cNvGraphicFramePr/>
          <p:nvPr/>
        </p:nvGraphicFramePr>
        <p:xfrm>
          <a:off x="2109788" y="3170238"/>
          <a:ext cx="30019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r:id="rId11" imgW="1104900" imgH="393700" progId="Equation.DSMT4">
                  <p:embed/>
                </p:oleObj>
              </mc:Choice>
              <mc:Fallback>
                <p:oleObj r:id="rId11" imgW="1104900" imgH="3937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09788" y="3170238"/>
                        <a:ext cx="3001962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1067" name="对象 381066"/>
          <p:cNvGraphicFramePr/>
          <p:nvPr/>
        </p:nvGraphicFramePr>
        <p:xfrm>
          <a:off x="1512888" y="5230813"/>
          <a:ext cx="3932237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r:id="rId13" imgW="1371600" imgH="393700" progId="Equation.DSMT4">
                  <p:embed/>
                </p:oleObj>
              </mc:Choice>
              <mc:Fallback>
                <p:oleObj r:id="rId13" imgW="1371600" imgH="3937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12888" y="5230813"/>
                        <a:ext cx="3932237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0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8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8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8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8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8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 build="p"/>
      <p:bldP spid="381053" grpId="0"/>
      <p:bldP spid="381054" grpId="0"/>
      <p:bldP spid="3810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7300" name="对象 567299"/>
          <p:cNvGraphicFramePr/>
          <p:nvPr/>
        </p:nvGraphicFramePr>
        <p:xfrm>
          <a:off x="755650" y="1165225"/>
          <a:ext cx="273843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3" imgW="1104900" imgH="393700" progId="Equation.DSMT4">
                  <p:embed/>
                </p:oleObj>
              </mc:Choice>
              <mc:Fallback>
                <p:oleObj r:id="rId3" imgW="1104900" imgH="3937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650" y="1165225"/>
                        <a:ext cx="2738438" cy="9699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01" name="文本框 567300"/>
          <p:cNvSpPr txBox="1"/>
          <p:nvPr/>
        </p:nvSpPr>
        <p:spPr>
          <a:xfrm>
            <a:off x="422162" y="3879851"/>
            <a:ext cx="8172450" cy="9525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理想气体内能是温度的单值函数</a:t>
            </a:r>
            <a:r>
              <a:rPr kumimoji="0" lang="zh-CN" altLang="en-US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：</a:t>
            </a:r>
            <a:r>
              <a:rPr kumimoji="0" lang="zh-CN" altLang="en-US" sz="2800" b="1" u="sng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对于理想气体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,   </a:t>
            </a: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该公式不仅适用于等体过程，也适用于其他过程</a:t>
            </a:r>
          </a:p>
        </p:txBody>
      </p:sp>
      <p:sp>
        <p:nvSpPr>
          <p:cNvPr id="567303" name="文本框 567302"/>
          <p:cNvSpPr txBox="1"/>
          <p:nvPr/>
        </p:nvSpPr>
        <p:spPr>
          <a:xfrm>
            <a:off x="323850" y="260350"/>
            <a:ext cx="324008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1">
                <a:solidFill>
                  <a:srgbClr val="00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理想气体的内能</a:t>
            </a:r>
          </a:p>
        </p:txBody>
      </p:sp>
      <p:sp>
        <p:nvSpPr>
          <p:cNvPr id="91140" name="文本框 567303"/>
          <p:cNvSpPr txBox="1"/>
          <p:nvPr/>
        </p:nvSpPr>
        <p:spPr>
          <a:xfrm>
            <a:off x="5699125" y="484188"/>
            <a:ext cx="1857375" cy="4905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just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E,T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91141" name="组合 567304"/>
          <p:cNvGrpSpPr/>
          <p:nvPr/>
        </p:nvGrpSpPr>
        <p:grpSpPr>
          <a:xfrm>
            <a:off x="4787900" y="65088"/>
            <a:ext cx="4127500" cy="2911475"/>
            <a:chOff x="2904" y="1700"/>
            <a:chExt cx="2600" cy="1834"/>
          </a:xfrm>
        </p:grpSpPr>
        <p:sp>
          <p:nvSpPr>
            <p:cNvPr id="91142" name="直接连接符 567305"/>
            <p:cNvSpPr/>
            <p:nvPr/>
          </p:nvSpPr>
          <p:spPr>
            <a:xfrm>
              <a:off x="3220" y="3364"/>
              <a:ext cx="1882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1143" name="直接连接符 567306"/>
            <p:cNvSpPr/>
            <p:nvPr/>
          </p:nvSpPr>
          <p:spPr>
            <a:xfrm flipH="1" flipV="1">
              <a:off x="3209" y="1817"/>
              <a:ext cx="0" cy="155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1144" name="文本框 567307"/>
            <p:cNvSpPr txBox="1"/>
            <p:nvPr/>
          </p:nvSpPr>
          <p:spPr>
            <a:xfrm>
              <a:off x="2935" y="3253"/>
              <a:ext cx="262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91145" name="文本框 567308"/>
            <p:cNvSpPr txBox="1"/>
            <p:nvPr/>
          </p:nvSpPr>
          <p:spPr>
            <a:xfrm>
              <a:off x="5073" y="3194"/>
              <a:ext cx="431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</a:t>
              </a:r>
            </a:p>
            <a:p>
              <a:pPr algn="just"/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/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46" name="文本框 567309"/>
            <p:cNvSpPr txBox="1"/>
            <p:nvPr/>
          </p:nvSpPr>
          <p:spPr>
            <a:xfrm>
              <a:off x="2904" y="1700"/>
              <a:ext cx="468" cy="4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p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1147" name="组合 567310"/>
          <p:cNvGrpSpPr/>
          <p:nvPr/>
        </p:nvGrpSpPr>
        <p:grpSpPr>
          <a:xfrm>
            <a:off x="5284788" y="930275"/>
            <a:ext cx="1463675" cy="2498725"/>
            <a:chOff x="2962" y="2252"/>
            <a:chExt cx="1113" cy="1900"/>
          </a:xfrm>
        </p:grpSpPr>
        <p:sp>
          <p:nvSpPr>
            <p:cNvPr id="91148" name="文本框 567311"/>
            <p:cNvSpPr txBox="1"/>
            <p:nvPr/>
          </p:nvSpPr>
          <p:spPr>
            <a:xfrm>
              <a:off x="2962" y="2848"/>
              <a:ext cx="803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T+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1149" name="组合 567312"/>
            <p:cNvGrpSpPr/>
            <p:nvPr/>
          </p:nvGrpSpPr>
          <p:grpSpPr>
            <a:xfrm>
              <a:off x="3012" y="2252"/>
              <a:ext cx="1063" cy="1900"/>
              <a:chOff x="3012" y="2252"/>
              <a:chExt cx="1063" cy="1900"/>
            </a:xfrm>
          </p:grpSpPr>
          <p:sp>
            <p:nvSpPr>
              <p:cNvPr id="91150" name="直接连接符 567313"/>
              <p:cNvSpPr/>
              <p:nvPr/>
            </p:nvSpPr>
            <p:spPr>
              <a:xfrm>
                <a:off x="3698" y="2252"/>
                <a:ext cx="0" cy="667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1" name="直接连接符 567314"/>
              <p:cNvSpPr/>
              <p:nvPr/>
            </p:nvSpPr>
            <p:spPr>
              <a:xfrm>
                <a:off x="3698" y="2907"/>
                <a:ext cx="0" cy="871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2" name="直接连接符 567315"/>
              <p:cNvSpPr/>
              <p:nvPr/>
            </p:nvSpPr>
            <p:spPr>
              <a:xfrm>
                <a:off x="3539" y="2617"/>
                <a:ext cx="158" cy="79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3" name="文本框 567316"/>
              <p:cNvSpPr txBox="1"/>
              <p:nvPr/>
            </p:nvSpPr>
            <p:spPr>
              <a:xfrm>
                <a:off x="3012" y="2396"/>
                <a:ext cx="651" cy="3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b="1" i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endPara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154" name="文本框 567317"/>
              <p:cNvSpPr txBox="1"/>
              <p:nvPr/>
            </p:nvSpPr>
            <p:spPr>
              <a:xfrm>
                <a:off x="3494" y="3745"/>
                <a:ext cx="581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                 </a:t>
                </a:r>
              </a:p>
              <a:p>
                <a:pPr algn="just"/>
                <a:endPara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endPara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155" name="直接连接符 567318"/>
              <p:cNvSpPr/>
              <p:nvPr/>
            </p:nvSpPr>
            <p:spPr>
              <a:xfrm>
                <a:off x="3640" y="2724"/>
                <a:ext cx="57" cy="10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1156" name="直接连接符 567319"/>
              <p:cNvSpPr/>
              <p:nvPr/>
            </p:nvSpPr>
            <p:spPr>
              <a:xfrm flipH="1">
                <a:off x="3697" y="2724"/>
                <a:ext cx="45" cy="9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1157" name="组合 567320"/>
          <p:cNvGrpSpPr/>
          <p:nvPr/>
        </p:nvGrpSpPr>
        <p:grpSpPr>
          <a:xfrm>
            <a:off x="6249988" y="1797050"/>
            <a:ext cx="1993900" cy="1082675"/>
            <a:chOff x="1333" y="2731"/>
            <a:chExt cx="1516" cy="823"/>
          </a:xfrm>
        </p:grpSpPr>
        <p:sp>
          <p:nvSpPr>
            <p:cNvPr id="91158" name="任意多边形 567321"/>
            <p:cNvSpPr/>
            <p:nvPr/>
          </p:nvSpPr>
          <p:spPr>
            <a:xfrm flipH="1" flipV="1">
              <a:off x="1334" y="2731"/>
              <a:ext cx="757" cy="4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9" name="直接连接符 567322"/>
            <p:cNvSpPr/>
            <p:nvPr/>
          </p:nvSpPr>
          <p:spPr>
            <a:xfrm flipH="1" flipV="1">
              <a:off x="1548" y="3059"/>
              <a:ext cx="68" cy="19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60" name="文本框 567323"/>
            <p:cNvSpPr txBox="1"/>
            <p:nvPr/>
          </p:nvSpPr>
          <p:spPr>
            <a:xfrm>
              <a:off x="1333" y="3192"/>
              <a:ext cx="151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b="1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1161" name="直接连接符 567324"/>
            <p:cNvSpPr/>
            <p:nvPr/>
          </p:nvSpPr>
          <p:spPr>
            <a:xfrm>
              <a:off x="1457" y="2898"/>
              <a:ext cx="34" cy="11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62" name="直接连接符 567325"/>
            <p:cNvSpPr/>
            <p:nvPr/>
          </p:nvSpPr>
          <p:spPr>
            <a:xfrm>
              <a:off x="1389" y="2988"/>
              <a:ext cx="102" cy="2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91163" name="组合 567326"/>
          <p:cNvGrpSpPr/>
          <p:nvPr/>
        </p:nvGrpSpPr>
        <p:grpSpPr>
          <a:xfrm>
            <a:off x="6265863" y="965200"/>
            <a:ext cx="2513012" cy="1617663"/>
            <a:chOff x="3547" y="1974"/>
            <a:chExt cx="1583" cy="1019"/>
          </a:xfrm>
        </p:grpSpPr>
        <p:grpSp>
          <p:nvGrpSpPr>
            <p:cNvPr id="91164" name="组合 567327"/>
            <p:cNvGrpSpPr/>
            <p:nvPr/>
          </p:nvGrpSpPr>
          <p:grpSpPr>
            <a:xfrm>
              <a:off x="3547" y="1974"/>
              <a:ext cx="1583" cy="899"/>
              <a:chOff x="3547" y="1974"/>
              <a:chExt cx="1583" cy="899"/>
            </a:xfrm>
          </p:grpSpPr>
          <p:grpSp>
            <p:nvGrpSpPr>
              <p:cNvPr id="91165" name="组合 567328"/>
              <p:cNvGrpSpPr/>
              <p:nvPr/>
            </p:nvGrpSpPr>
            <p:grpSpPr>
              <a:xfrm>
                <a:off x="3547" y="1974"/>
                <a:ext cx="1583" cy="899"/>
                <a:chOff x="3547" y="1974"/>
                <a:chExt cx="1583" cy="899"/>
              </a:xfrm>
            </p:grpSpPr>
            <p:sp>
              <p:nvSpPr>
                <p:cNvPr id="91166" name="直接连接符 567329"/>
                <p:cNvSpPr/>
                <p:nvPr/>
              </p:nvSpPr>
              <p:spPr>
                <a:xfrm flipH="1">
                  <a:off x="3669" y="2311"/>
                  <a:ext cx="196" cy="169"/>
                </a:xfrm>
                <a:prstGeom prst="line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1167" name="文本框 567330"/>
                <p:cNvSpPr txBox="1"/>
                <p:nvPr/>
              </p:nvSpPr>
              <p:spPr>
                <a:xfrm>
                  <a:off x="3827" y="2131"/>
                  <a:ext cx="1303" cy="3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/>
                <a:lstStyle/>
                <a:p>
                  <a:pPr algn="just"/>
                  <a:r>
                    <a: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任意元过程</a:t>
                  </a:r>
                </a:p>
              </p:txBody>
            </p:sp>
            <p:grpSp>
              <p:nvGrpSpPr>
                <p:cNvPr id="91168" name="组合 567331"/>
                <p:cNvGrpSpPr/>
                <p:nvPr/>
              </p:nvGrpSpPr>
              <p:grpSpPr>
                <a:xfrm>
                  <a:off x="3547" y="1974"/>
                  <a:ext cx="627" cy="899"/>
                  <a:chOff x="1345" y="2098"/>
                  <a:chExt cx="757" cy="1085"/>
                </a:xfrm>
              </p:grpSpPr>
              <p:sp>
                <p:nvSpPr>
                  <p:cNvPr id="91169" name="任意多边形 567332"/>
                  <p:cNvSpPr/>
                  <p:nvPr/>
                </p:nvSpPr>
                <p:spPr>
                  <a:xfrm flipH="1" flipV="1">
                    <a:off x="1345" y="2098"/>
                    <a:ext cx="757" cy="108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" y="3"/>
                      </a:cxn>
                      <a:cxn ang="0">
                        <a:pos x="0" y="0"/>
                      </a:cxn>
                      <a:cxn ang="0">
                        <a:pos x="1" y="3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1600" h="21600" fill="none">
                        <a:moveTo>
                          <a:pt x="0" y="0"/>
                        </a:moveTo>
                        <a:cubicBezTo>
                          <a:pt x="11929" y="0"/>
                          <a:pt x="21600" y="9671"/>
                          <a:pt x="21600" y="21600"/>
                        </a:cubicBezTo>
                      </a:path>
                      <a:path w="21600" h="21600" stroke="0">
                        <a:moveTo>
                          <a:pt x="0" y="0"/>
                        </a:moveTo>
                        <a:cubicBezTo>
                          <a:pt x="11929" y="0"/>
                          <a:pt x="21600" y="9671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38100" cap="flat" cmpd="sng">
                    <a:solidFill>
                      <a:srgbClr val="3399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1170" name="直接连接符 567333"/>
                  <p:cNvSpPr/>
                  <p:nvPr/>
                </p:nvSpPr>
                <p:spPr>
                  <a:xfrm>
                    <a:off x="1593" y="2796"/>
                    <a:ext cx="0" cy="91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1171" name="直接连接符 567334"/>
                  <p:cNvSpPr/>
                  <p:nvPr/>
                </p:nvSpPr>
                <p:spPr>
                  <a:xfrm>
                    <a:off x="1491" y="2841"/>
                    <a:ext cx="91" cy="57"/>
                  </a:xfrm>
                  <a:prstGeom prst="line">
                    <a:avLst/>
                  </a:prstGeom>
                  <a:ln w="285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91172" name="文本框 567335"/>
              <p:cNvSpPr txBox="1"/>
              <p:nvPr/>
            </p:nvSpPr>
            <p:spPr>
              <a:xfrm>
                <a:off x="4087" y="2480"/>
                <a:ext cx="1023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E+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 ,</a:t>
                </a:r>
              </a:p>
            </p:txBody>
          </p:sp>
        </p:grpSp>
        <p:sp>
          <p:nvSpPr>
            <p:cNvPr id="91173" name="文本框 567336"/>
            <p:cNvSpPr txBox="1"/>
            <p:nvPr/>
          </p:nvSpPr>
          <p:spPr>
            <a:xfrm>
              <a:off x="4235" y="2705"/>
              <a:ext cx="8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+dT )</a:t>
              </a:r>
              <a:endPara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7342" name="文本框 567341"/>
          <p:cNvSpPr txBox="1"/>
          <p:nvPr/>
        </p:nvSpPr>
        <p:spPr>
          <a:xfrm>
            <a:off x="1724338" y="3235869"/>
            <a:ext cx="31384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en-US" altLang="zh-CN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理想气体内能公式</a:t>
            </a:r>
          </a:p>
        </p:txBody>
      </p:sp>
      <p:sp>
        <p:nvSpPr>
          <p:cNvPr id="40" name="矩形 741377">
            <a:extLst>
              <a:ext uri="{FF2B5EF4-FFF2-40B4-BE49-F238E27FC236}">
                <a16:creationId xmlns:a16="http://schemas.microsoft.com/office/drawing/2014/main" id="{4922189A-8CFD-456C-817A-482626205B84}"/>
              </a:ext>
            </a:extLst>
          </p:cNvPr>
          <p:cNvSpPr/>
          <p:nvPr/>
        </p:nvSpPr>
        <p:spPr>
          <a:xfrm>
            <a:off x="1347308" y="2219370"/>
            <a:ext cx="1946274" cy="935037"/>
          </a:xfrm>
          <a:prstGeom prst="rect">
            <a:avLst/>
          </a:prstGeom>
          <a:gradFill rotWithShape="0">
            <a:gsLst>
              <a:gs pos="0">
                <a:srgbClr val="CC3300"/>
              </a:gs>
              <a:gs pos="50000">
                <a:srgbClr val="FFFF00"/>
              </a:gs>
              <a:gs pos="100000">
                <a:srgbClr val="CC3300"/>
              </a:gs>
            </a:gsLst>
            <a:lin ang="5400000" scaled="1"/>
            <a:tileRect/>
          </a:gradFill>
          <a:ln w="57150" cap="flat" cmpd="thinThick">
            <a:pattFill prst="pct70">
              <a:fgClr>
                <a:schemeClr val="tx1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C11F4C5-728A-4B9E-BA96-4932FD7481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656077"/>
              </p:ext>
            </p:extLst>
          </p:nvPr>
        </p:nvGraphicFramePr>
        <p:xfrm>
          <a:off x="1380643" y="2146205"/>
          <a:ext cx="17875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Equation" r:id="rId5" imgW="774360" imgH="393480" progId="Equation.DSMT4">
                  <p:embed/>
                </p:oleObj>
              </mc:Choice>
              <mc:Fallback>
                <p:oleObj name="Equation" r:id="rId5" imgW="774360" imgH="393480" progId="Equation.DSMT4">
                  <p:embed/>
                  <p:pic>
                    <p:nvPicPr>
                      <p:cNvPr id="741383" name="对象 7413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0643" y="2146205"/>
                        <a:ext cx="1787525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7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01" grpId="0" bldLvl="0" animBg="1"/>
      <p:bldP spid="91140" grpId="0"/>
      <p:bldP spid="5673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074" name="对象 387073"/>
          <p:cNvGraphicFramePr/>
          <p:nvPr/>
        </p:nvGraphicFramePr>
        <p:xfrm>
          <a:off x="2347913" y="3300413"/>
          <a:ext cx="21161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3" r:id="rId3" imgW="1079500" imgH="393700" progId="Equation.DSMT4">
                  <p:embed/>
                </p:oleObj>
              </mc:Choice>
              <mc:Fallback>
                <p:oleObj r:id="rId3" imgW="1079500" imgH="3937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7913" y="3300413"/>
                        <a:ext cx="2116137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75" name="文本框 387074"/>
          <p:cNvSpPr txBox="1"/>
          <p:nvPr/>
        </p:nvSpPr>
        <p:spPr>
          <a:xfrm>
            <a:off x="0" y="0"/>
            <a:ext cx="81534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  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二、等压过程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       </a:t>
            </a:r>
          </a:p>
        </p:txBody>
      </p:sp>
      <p:sp>
        <p:nvSpPr>
          <p:cNvPr id="387083" name="文本框 387082"/>
          <p:cNvSpPr txBox="1"/>
          <p:nvPr/>
        </p:nvSpPr>
        <p:spPr>
          <a:xfrm>
            <a:off x="554038" y="549275"/>
            <a:ext cx="3009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 </a:t>
            </a:r>
            <a:r>
              <a:rPr kumimoji="0" lang="zh-CN" altLang="en-US" sz="2800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功能转换关系</a:t>
            </a:r>
          </a:p>
        </p:txBody>
      </p:sp>
      <p:graphicFrame>
        <p:nvGraphicFramePr>
          <p:cNvPr id="387085" name="对象 387084"/>
          <p:cNvGraphicFramePr/>
          <p:nvPr/>
        </p:nvGraphicFramePr>
        <p:xfrm>
          <a:off x="2216150" y="981075"/>
          <a:ext cx="33782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4" r:id="rId5" imgW="1995805" imgH="647065" progId="Equation.DSMT4">
                  <p:embed/>
                </p:oleObj>
              </mc:Choice>
              <mc:Fallback>
                <p:oleObj r:id="rId5" imgW="1995805" imgH="647065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16150" y="981075"/>
                        <a:ext cx="3378200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86" name="对象 387085"/>
          <p:cNvGraphicFramePr/>
          <p:nvPr/>
        </p:nvGraphicFramePr>
        <p:xfrm>
          <a:off x="1631950" y="2370138"/>
          <a:ext cx="400843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5" r:id="rId7" imgW="1765300" imgH="393700" progId="Equation.DSMT4">
                  <p:embed/>
                </p:oleObj>
              </mc:Choice>
              <mc:Fallback>
                <p:oleObj r:id="rId7" imgW="1765300" imgH="3937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1950" y="2370138"/>
                        <a:ext cx="4008438" cy="798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33" name="文本框 387132"/>
          <p:cNvSpPr txBox="1"/>
          <p:nvPr/>
        </p:nvSpPr>
        <p:spPr>
          <a:xfrm>
            <a:off x="679450" y="1254125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对外做功：</a:t>
            </a:r>
          </a:p>
        </p:txBody>
      </p:sp>
      <p:sp>
        <p:nvSpPr>
          <p:cNvPr id="387134" name="文本框 387133"/>
          <p:cNvSpPr txBox="1"/>
          <p:nvPr/>
        </p:nvSpPr>
        <p:spPr>
          <a:xfrm>
            <a:off x="749300" y="3562350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热量交换：</a:t>
            </a:r>
          </a:p>
        </p:txBody>
      </p:sp>
      <p:sp>
        <p:nvSpPr>
          <p:cNvPr id="387135" name="文本框 387134"/>
          <p:cNvSpPr txBox="1"/>
          <p:nvPr/>
        </p:nvSpPr>
        <p:spPr>
          <a:xfrm>
            <a:off x="755650" y="4365625"/>
            <a:ext cx="64071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内能变化：                             </a:t>
            </a:r>
            <a:r>
              <a:rPr kumimoji="0" lang="en-US" altLang="zh-CN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</a:t>
            </a:r>
            <a:endParaRPr kumimoji="0" lang="zh-CN" altLang="en-US" kern="1200" cap="none" spc="0" normalizeH="0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组合 387182"/>
          <p:cNvGrpSpPr/>
          <p:nvPr/>
        </p:nvGrpSpPr>
        <p:grpSpPr>
          <a:xfrm>
            <a:off x="0" y="1768475"/>
            <a:ext cx="1920875" cy="1306513"/>
            <a:chOff x="284" y="880"/>
            <a:chExt cx="1210" cy="823"/>
          </a:xfrm>
        </p:grpSpPr>
        <p:grpSp>
          <p:nvGrpSpPr>
            <p:cNvPr id="92170" name="组合 387145"/>
            <p:cNvGrpSpPr/>
            <p:nvPr/>
          </p:nvGrpSpPr>
          <p:grpSpPr>
            <a:xfrm rot="-5400000">
              <a:off x="665" y="1215"/>
              <a:ext cx="230" cy="725"/>
              <a:chOff x="3744" y="2736"/>
              <a:chExt cx="576" cy="288"/>
            </a:xfrm>
          </p:grpSpPr>
          <p:sp>
            <p:nvSpPr>
              <p:cNvPr id="92171" name="下箭头 387146"/>
              <p:cNvSpPr/>
              <p:nvPr/>
            </p:nvSpPr>
            <p:spPr>
              <a:xfrm>
                <a:off x="3744" y="2736"/>
                <a:ext cx="576" cy="288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rgbClr val="FF33CC"/>
              </a:solidFill>
              <a:ln w="9525"/>
              <a:scene3d>
                <a:camera prst="legacyObliqueTopRight">
                  <a:rot lat="0" lon="0" rev="0"/>
                </a:camera>
                <a:lightRig rig="legacyFlat1" dir="t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33CC"/>
                </a:extrusionClr>
              </a:sp3d>
            </p:spPr>
            <p:txBody>
              <a:bodyPr anchor="t" anchorCtr="0">
                <a:flatTx/>
              </a:bodyPr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172" name="下箭头 387147"/>
              <p:cNvSpPr/>
              <p:nvPr/>
            </p:nvSpPr>
            <p:spPr>
              <a:xfrm>
                <a:off x="3744" y="2736"/>
                <a:ext cx="576" cy="288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rgbClr val="FF33CC"/>
              </a:solidFill>
              <a:ln w="9525" cap="flat" cmpd="sng">
                <a:solidFill>
                  <a:srgbClr val="FFFF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92173" name="对象 387152"/>
            <p:cNvGraphicFramePr/>
            <p:nvPr/>
          </p:nvGraphicFramePr>
          <p:xfrm>
            <a:off x="284" y="880"/>
            <a:ext cx="1210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6" r:id="rId9" imgW="812800" imgH="393700" progId="Equation.3">
                    <p:embed/>
                  </p:oleObj>
                </mc:Choice>
                <mc:Fallback>
                  <p:oleObj r:id="rId9" imgW="812800" imgH="3937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84" y="880"/>
                          <a:ext cx="1210" cy="5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7158" name="对象 387157"/>
          <p:cNvGraphicFramePr/>
          <p:nvPr/>
        </p:nvGraphicFramePr>
        <p:xfrm>
          <a:off x="900113" y="5229225"/>
          <a:ext cx="2068512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" r:id="rId11" imgW="837565" imgH="241300" progId="Equation.DSMT4">
                  <p:embed/>
                </p:oleObj>
              </mc:Choice>
              <mc:Fallback>
                <p:oleObj r:id="rId11" imgW="837565" imgH="2413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0113" y="5229225"/>
                        <a:ext cx="2068512" cy="592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165" name="文本框 387164"/>
          <p:cNvSpPr txBox="1"/>
          <p:nvPr/>
        </p:nvSpPr>
        <p:spPr>
          <a:xfrm>
            <a:off x="947738" y="6165850"/>
            <a:ext cx="914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</a:t>
            </a:r>
          </a:p>
        </p:txBody>
      </p:sp>
      <p:graphicFrame>
        <p:nvGraphicFramePr>
          <p:cNvPr id="387166" name="对象 387165"/>
          <p:cNvGraphicFramePr/>
          <p:nvPr/>
        </p:nvGraphicFramePr>
        <p:xfrm>
          <a:off x="1571625" y="6094413"/>
          <a:ext cx="26209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8" r:id="rId13" imgW="1016000" imgH="241300" progId="Equation.DSMT4">
                  <p:embed/>
                </p:oleObj>
              </mc:Choice>
              <mc:Fallback>
                <p:oleObj r:id="rId13" imgW="1016000" imgH="2413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71625" y="6094413"/>
                        <a:ext cx="2620963" cy="6477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87168"/>
          <p:cNvGrpSpPr/>
          <p:nvPr/>
        </p:nvGrpSpPr>
        <p:grpSpPr>
          <a:xfrm>
            <a:off x="5580063" y="620713"/>
            <a:ext cx="3600450" cy="3240087"/>
            <a:chOff x="3016" y="2160"/>
            <a:chExt cx="2586" cy="2041"/>
          </a:xfrm>
        </p:grpSpPr>
        <p:sp>
          <p:nvSpPr>
            <p:cNvPr id="92178" name="矩形 387169"/>
            <p:cNvSpPr/>
            <p:nvPr/>
          </p:nvSpPr>
          <p:spPr>
            <a:xfrm>
              <a:off x="3016" y="2160"/>
              <a:ext cx="2586" cy="1996"/>
            </a:xfrm>
            <a:prstGeom prst="rect">
              <a:avLst/>
            </a:prstGeom>
            <a:gradFill rotWithShape="1">
              <a:gsLst>
                <a:gs pos="0">
                  <a:srgbClr val="B4DDFE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9050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2179" name="组合 387170"/>
            <p:cNvGrpSpPr/>
            <p:nvPr/>
          </p:nvGrpSpPr>
          <p:grpSpPr>
            <a:xfrm>
              <a:off x="3089" y="2225"/>
              <a:ext cx="2467" cy="1976"/>
              <a:chOff x="3089" y="2225"/>
              <a:chExt cx="2467" cy="1976"/>
            </a:xfrm>
          </p:grpSpPr>
          <p:sp>
            <p:nvSpPr>
              <p:cNvPr id="92180" name="直接连接符 387171"/>
              <p:cNvSpPr/>
              <p:nvPr/>
            </p:nvSpPr>
            <p:spPr>
              <a:xfrm>
                <a:off x="3654" y="3140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oval" w="sm" len="sm"/>
                <a:tailEnd type="oval" w="sm" len="sm"/>
              </a:ln>
            </p:spPr>
          </p:sp>
          <p:sp>
            <p:nvSpPr>
              <p:cNvPr id="92181" name="矩形 387172"/>
              <p:cNvSpPr/>
              <p:nvPr/>
            </p:nvSpPr>
            <p:spPr>
              <a:xfrm>
                <a:off x="3334" y="2815"/>
                <a:ext cx="1030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1(</a:t>
                </a:r>
                <a:r>
                  <a:rPr lang="en-US" altLang="zh-CN" sz="20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000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0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000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0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000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92182" name="矩形 387173"/>
              <p:cNvSpPr/>
              <p:nvPr/>
            </p:nvSpPr>
            <p:spPr>
              <a:xfrm>
                <a:off x="4468" y="2853"/>
                <a:ext cx="1088" cy="32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2(</a:t>
                </a:r>
                <a:r>
                  <a:rPr lang="en-US" altLang="zh-CN" sz="20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000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0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000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0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000" baseline="-25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92183" name="直接连接符 387174"/>
              <p:cNvSpPr/>
              <p:nvPr/>
            </p:nvSpPr>
            <p:spPr>
              <a:xfrm>
                <a:off x="3240" y="3640"/>
                <a:ext cx="2089" cy="0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sm" len="sm"/>
                <a:tailEnd type="triangle" w="sm" len="lg"/>
              </a:ln>
            </p:spPr>
          </p:sp>
          <p:sp>
            <p:nvSpPr>
              <p:cNvPr id="92184" name="直接连接符 387175"/>
              <p:cNvSpPr/>
              <p:nvPr/>
            </p:nvSpPr>
            <p:spPr>
              <a:xfrm flipV="1">
                <a:off x="3240" y="2457"/>
                <a:ext cx="2" cy="1194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sm" len="sm"/>
                <a:tailEnd type="triangle" w="sm" len="lg"/>
              </a:ln>
            </p:spPr>
          </p:sp>
          <p:sp>
            <p:nvSpPr>
              <p:cNvPr id="92185" name="矩形 387176"/>
              <p:cNvSpPr/>
              <p:nvPr/>
            </p:nvSpPr>
            <p:spPr>
              <a:xfrm>
                <a:off x="3134" y="2225"/>
                <a:ext cx="530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p</a:t>
                </a:r>
                <a:endPara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186" name="矩形 387177"/>
              <p:cNvSpPr/>
              <p:nvPr/>
            </p:nvSpPr>
            <p:spPr>
              <a:xfrm>
                <a:off x="3089" y="3631"/>
                <a:ext cx="266" cy="2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  </a:t>
                </a:r>
              </a:p>
            </p:txBody>
          </p:sp>
          <p:sp>
            <p:nvSpPr>
              <p:cNvPr id="92187" name="矩形 387178"/>
              <p:cNvSpPr/>
              <p:nvPr/>
            </p:nvSpPr>
            <p:spPr>
              <a:xfrm>
                <a:off x="5348" y="3610"/>
                <a:ext cx="175" cy="20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endPara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188" name="直接连接符 387179"/>
              <p:cNvSpPr/>
              <p:nvPr/>
            </p:nvSpPr>
            <p:spPr>
              <a:xfrm>
                <a:off x="4081" y="3140"/>
                <a:ext cx="84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92189" name="矩形 387180"/>
              <p:cNvSpPr/>
              <p:nvPr/>
            </p:nvSpPr>
            <p:spPr>
              <a:xfrm>
                <a:off x="3696" y="3813"/>
                <a:ext cx="1089" cy="3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12700" tIns="12700" rIns="12700" bIns="12700" anchor="t" anchorCtr="0"/>
              <a:lstStyle/>
              <a:p>
                <a:pPr algn="just"/>
                <a:r>
                  <a:rPr lang="en-US" altLang="zh-CN" sz="2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000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000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</a:t>
                </a:r>
                <a:r>
                  <a:rPr lang="en-US" altLang="zh-CN" sz="2000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000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2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</a:t>
                </a:r>
                <a:r>
                  <a:rPr lang="en-US" altLang="zh-CN" sz="2000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000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</a:t>
                </a:r>
                <a:r>
                  <a:rPr lang="en-US" altLang="zh-CN" sz="2000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000" baseline="-25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200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</a:p>
            </p:txBody>
          </p:sp>
        </p:grpSp>
      </p:grpSp>
      <p:grpSp>
        <p:nvGrpSpPr>
          <p:cNvPr id="6" name="组合 387191"/>
          <p:cNvGrpSpPr/>
          <p:nvPr/>
        </p:nvGrpSpPr>
        <p:grpSpPr>
          <a:xfrm>
            <a:off x="4079875" y="4979988"/>
            <a:ext cx="4727575" cy="930275"/>
            <a:chOff x="3111" y="3286"/>
            <a:chExt cx="2978" cy="586"/>
          </a:xfrm>
        </p:grpSpPr>
        <p:graphicFrame>
          <p:nvGraphicFramePr>
            <p:cNvPr id="92191" name="对象 387188"/>
            <p:cNvGraphicFramePr/>
            <p:nvPr/>
          </p:nvGraphicFramePr>
          <p:xfrm>
            <a:off x="3111" y="3297"/>
            <a:ext cx="910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9" r:id="rId15" imgW="736600" imgH="393700" progId="Equation.DSMT4">
                    <p:embed/>
                  </p:oleObj>
                </mc:Choice>
                <mc:Fallback>
                  <p:oleObj r:id="rId15" imgW="736600" imgH="3937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11" y="3297"/>
                          <a:ext cx="910" cy="5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2" name="对象 387189"/>
            <p:cNvGraphicFramePr/>
            <p:nvPr/>
          </p:nvGraphicFramePr>
          <p:xfrm>
            <a:off x="4011" y="3288"/>
            <a:ext cx="1090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0" r:id="rId17" imgW="850900" imgH="393700" progId="Equation.DSMT4">
                    <p:embed/>
                  </p:oleObj>
                </mc:Choice>
                <mc:Fallback>
                  <p:oleObj r:id="rId17" imgW="850900" imgH="3937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011" y="3288"/>
                          <a:ext cx="1090" cy="5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3" name="对象 387190"/>
            <p:cNvGraphicFramePr/>
            <p:nvPr/>
          </p:nvGraphicFramePr>
          <p:xfrm>
            <a:off x="5079" y="3286"/>
            <a:ext cx="1010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1" r:id="rId19" imgW="673100" imgH="393700" progId="Equation.DSMT4">
                    <p:embed/>
                  </p:oleObj>
                </mc:Choice>
                <mc:Fallback>
                  <p:oleObj r:id="rId19" imgW="673100" imgH="3937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79" y="3286"/>
                          <a:ext cx="1010" cy="5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1067" name="对象 381066"/>
          <p:cNvGraphicFramePr/>
          <p:nvPr/>
        </p:nvGraphicFramePr>
        <p:xfrm>
          <a:off x="2263775" y="4162425"/>
          <a:ext cx="28765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" r:id="rId21" imgW="1002665" imgH="393700" progId="Equation.DSMT4">
                  <p:embed/>
                </p:oleObj>
              </mc:Choice>
              <mc:Fallback>
                <p:oleObj r:id="rId21" imgW="1002665" imgH="393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63775" y="4162425"/>
                        <a:ext cx="2876550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383057"/>
          <p:cNvGrpSpPr/>
          <p:nvPr/>
        </p:nvGrpSpPr>
        <p:grpSpPr>
          <a:xfrm>
            <a:off x="4700588" y="6046788"/>
            <a:ext cx="1343025" cy="577850"/>
            <a:chOff x="3656" y="2986"/>
            <a:chExt cx="846" cy="364"/>
          </a:xfrm>
        </p:grpSpPr>
        <p:sp>
          <p:nvSpPr>
            <p:cNvPr id="92196" name="文本框 383058"/>
            <p:cNvSpPr txBox="1"/>
            <p:nvPr/>
          </p:nvSpPr>
          <p:spPr>
            <a:xfrm>
              <a:off x="3656" y="2986"/>
              <a:ext cx="8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思考</a:t>
              </a:r>
            </a:p>
          </p:txBody>
        </p:sp>
        <p:sp>
          <p:nvSpPr>
            <p:cNvPr id="92197" name="矩形 383059"/>
            <p:cNvSpPr/>
            <p:nvPr/>
          </p:nvSpPr>
          <p:spPr>
            <a:xfrm>
              <a:off x="3691" y="3021"/>
              <a:ext cx="576" cy="329"/>
            </a:xfrm>
            <a:prstGeom prst="rect">
              <a:avLst/>
            </a:prstGeom>
            <a:noFill/>
            <a:ln w="38100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3073" name="文本框 383072"/>
          <p:cNvSpPr txBox="1"/>
          <p:nvPr/>
        </p:nvSpPr>
        <p:spPr>
          <a:xfrm>
            <a:off x="5949950" y="6021388"/>
            <a:ext cx="2746375" cy="6318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algn="ctr" defTabSz="91440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为何</a:t>
            </a: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C</a:t>
            </a:r>
            <a:r>
              <a:rPr kumimoji="0" lang="en-US" altLang="zh-CN" sz="2800" b="1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p,m 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&gt; </a:t>
            </a: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C</a:t>
            </a:r>
            <a:r>
              <a:rPr kumimoji="0" lang="en-US" altLang="zh-CN" sz="2800" b="1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V,m   </a:t>
            </a:r>
            <a:r>
              <a:rPr kumimoji="0" lang="en-US" altLang="zh-CN" sz="2800" b="1" i="1" kern="1200" cap="none" spc="0" normalizeH="0" baseline="-250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?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40325" y="4365625"/>
            <a:ext cx="2011363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（内能公式）</a:t>
            </a:r>
            <a:endParaRPr kumimoji="0" lang="zh-CN" altLang="en-US" kern="1200" cap="none" spc="0" normalizeH="0" baseline="0" noProof="1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7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8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8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8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38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8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8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38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83" grpId="0" build="p"/>
      <p:bldP spid="387133" grpId="0"/>
      <p:bldP spid="387134" grpId="0"/>
      <p:bldP spid="387135" grpId="0"/>
      <p:bldP spid="387165" grpId="0"/>
      <p:bldP spid="38307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矩形 526341"/>
          <p:cNvSpPr/>
          <p:nvPr/>
        </p:nvSpPr>
        <p:spPr>
          <a:xfrm>
            <a:off x="323850" y="0"/>
            <a:ext cx="3311525" cy="6302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态函数焓</a:t>
            </a:r>
          </a:p>
        </p:txBody>
      </p:sp>
      <p:graphicFrame>
        <p:nvGraphicFramePr>
          <p:cNvPr id="526344" name="对象 526343"/>
          <p:cNvGraphicFramePr/>
          <p:nvPr/>
        </p:nvGraphicFramePr>
        <p:xfrm>
          <a:off x="2484438" y="1990725"/>
          <a:ext cx="24495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r:id="rId3" imgW="837565" imgH="241300" progId="Equation.DSMT4">
                  <p:embed/>
                </p:oleObj>
              </mc:Choice>
              <mc:Fallback>
                <p:oleObj r:id="rId3" imgW="837565" imgH="2413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4438" y="1990725"/>
                        <a:ext cx="2449512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46" name="对象 526345"/>
          <p:cNvGraphicFramePr/>
          <p:nvPr/>
        </p:nvGraphicFramePr>
        <p:xfrm>
          <a:off x="3106738" y="2703513"/>
          <a:ext cx="39100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4" r:id="rId5" imgW="1445895" imgH="215900" progId="Equation.3">
                  <p:embed/>
                </p:oleObj>
              </mc:Choice>
              <mc:Fallback>
                <p:oleObj r:id="rId5" imgW="1445895" imgH="2159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06738" y="2703513"/>
                        <a:ext cx="3910012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47" name="对象 526346"/>
          <p:cNvGraphicFramePr/>
          <p:nvPr/>
        </p:nvGraphicFramePr>
        <p:xfrm>
          <a:off x="2700338" y="4365625"/>
          <a:ext cx="22320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5" r:id="rId7" imgW="1036955" imgH="222885" progId="Equation.3">
                  <p:embed/>
                </p:oleObj>
              </mc:Choice>
              <mc:Fallback>
                <p:oleObj r:id="rId7" imgW="1036955" imgH="22288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4365625"/>
                        <a:ext cx="2232025" cy="57308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808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6348" name="对象 526347"/>
          <p:cNvGraphicFramePr/>
          <p:nvPr/>
        </p:nvGraphicFramePr>
        <p:xfrm>
          <a:off x="2628900" y="5233988"/>
          <a:ext cx="177006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6" r:id="rId9" imgW="596900" imgH="241300" progId="Equation.3">
                  <p:embed/>
                </p:oleObj>
              </mc:Choice>
              <mc:Fallback>
                <p:oleObj r:id="rId9" imgW="596900" imgH="2413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8900" y="5233988"/>
                        <a:ext cx="1770063" cy="712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6349" name="矩形 526348"/>
          <p:cNvSpPr/>
          <p:nvPr/>
        </p:nvSpPr>
        <p:spPr>
          <a:xfrm>
            <a:off x="506413" y="4292600"/>
            <a:ext cx="3311525" cy="625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定义焓：</a:t>
            </a:r>
          </a:p>
        </p:txBody>
      </p:sp>
      <p:graphicFrame>
        <p:nvGraphicFramePr>
          <p:cNvPr id="526350" name="对象 526349"/>
          <p:cNvGraphicFramePr/>
          <p:nvPr/>
        </p:nvGraphicFramePr>
        <p:xfrm>
          <a:off x="3106738" y="3424238"/>
          <a:ext cx="421798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7" r:id="rId11" imgW="1560195" imgH="215900" progId="Equation.3">
                  <p:embed/>
                </p:oleObj>
              </mc:Choice>
              <mc:Fallback>
                <p:oleObj r:id="rId11" imgW="1560195" imgH="2159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06738" y="3424238"/>
                        <a:ext cx="4217987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6351" name="文本框 526350"/>
          <p:cNvSpPr txBox="1"/>
          <p:nvPr/>
        </p:nvSpPr>
        <p:spPr>
          <a:xfrm>
            <a:off x="506413" y="903288"/>
            <a:ext cx="1612900" cy="522287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等体过程</a:t>
            </a:r>
          </a:p>
        </p:txBody>
      </p:sp>
      <p:graphicFrame>
        <p:nvGraphicFramePr>
          <p:cNvPr id="526352" name="对象 526351"/>
          <p:cNvGraphicFramePr/>
          <p:nvPr/>
        </p:nvGraphicFramePr>
        <p:xfrm>
          <a:off x="2771775" y="908050"/>
          <a:ext cx="169386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8" r:id="rId13" imgW="571500" imgH="228600" progId="Equation.3">
                  <p:embed/>
                </p:oleObj>
              </mc:Choice>
              <mc:Fallback>
                <p:oleObj r:id="rId13" imgW="571500" imgH="2286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71775" y="908050"/>
                        <a:ext cx="1693863" cy="67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6353" name="文本框 526352"/>
          <p:cNvSpPr txBox="1"/>
          <p:nvPr/>
        </p:nvSpPr>
        <p:spPr>
          <a:xfrm>
            <a:off x="506413" y="2060575"/>
            <a:ext cx="1612900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等压过程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26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6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26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2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2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26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26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2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2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49" grpId="0"/>
      <p:bldP spid="526351" grpId="0"/>
      <p:bldP spid="5263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文本框 27649"/>
          <p:cNvSpPr txBox="1"/>
          <p:nvPr/>
        </p:nvSpPr>
        <p:spPr>
          <a:xfrm>
            <a:off x="395288" y="188913"/>
            <a:ext cx="8561387" cy="1420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、已知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一气缸如图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内各有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mol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理想气体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氮气</a:t>
            </a:r>
            <a:r>
              <a:rPr lang="zh-CN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。且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=T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。有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335J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的热量缓慢地传给气缸，活塞上方的压强始终是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1atm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忽略导热板的吸热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活塞重量及摩擦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7651" name="文本框 27650"/>
          <p:cNvSpPr txBox="1"/>
          <p:nvPr/>
        </p:nvSpPr>
        <p:spPr>
          <a:xfrm>
            <a:off x="3943350" y="1609725"/>
            <a:ext cx="4162425" cy="952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两部分温度的增量</a:t>
            </a: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及净吸的热量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4211" name="矩形 27651"/>
          <p:cNvSpPr/>
          <p:nvPr/>
        </p:nvSpPr>
        <p:spPr>
          <a:xfrm>
            <a:off x="631825" y="2155825"/>
            <a:ext cx="152400" cy="220980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2" name="矩形 27652"/>
          <p:cNvSpPr/>
          <p:nvPr/>
        </p:nvSpPr>
        <p:spPr>
          <a:xfrm>
            <a:off x="2079625" y="2155825"/>
            <a:ext cx="152400" cy="220980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3" name="矩形 27653"/>
          <p:cNvSpPr/>
          <p:nvPr/>
        </p:nvSpPr>
        <p:spPr>
          <a:xfrm>
            <a:off x="784225" y="4213225"/>
            <a:ext cx="1295400" cy="152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4" name="矩形 27654"/>
          <p:cNvSpPr/>
          <p:nvPr/>
        </p:nvSpPr>
        <p:spPr>
          <a:xfrm>
            <a:off x="784225" y="3527425"/>
            <a:ext cx="1295400" cy="152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5" name="矩形 27655"/>
          <p:cNvSpPr/>
          <p:nvPr/>
        </p:nvSpPr>
        <p:spPr>
          <a:xfrm>
            <a:off x="784225" y="2765425"/>
            <a:ext cx="1295400" cy="15240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6" name="矩形 27656"/>
          <p:cNvSpPr/>
          <p:nvPr/>
        </p:nvSpPr>
        <p:spPr>
          <a:xfrm>
            <a:off x="784225" y="3375025"/>
            <a:ext cx="76200" cy="152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7" name="矩形 27657"/>
          <p:cNvSpPr/>
          <p:nvPr/>
        </p:nvSpPr>
        <p:spPr>
          <a:xfrm>
            <a:off x="2003425" y="3375025"/>
            <a:ext cx="76200" cy="152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8" name="上箭头 27658"/>
          <p:cNvSpPr/>
          <p:nvPr/>
        </p:nvSpPr>
        <p:spPr>
          <a:xfrm>
            <a:off x="1317625" y="3984625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9" name="上箭头 27659"/>
          <p:cNvSpPr/>
          <p:nvPr/>
        </p:nvSpPr>
        <p:spPr>
          <a:xfrm>
            <a:off x="1317625" y="3375025"/>
            <a:ext cx="76200" cy="381000"/>
          </a:xfrm>
          <a:prstGeom prst="up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20" name="上箭头 27660"/>
          <p:cNvSpPr/>
          <p:nvPr/>
        </p:nvSpPr>
        <p:spPr>
          <a:xfrm>
            <a:off x="1393825" y="3375025"/>
            <a:ext cx="76200" cy="381000"/>
          </a:xfrm>
          <a:prstGeom prst="up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21" name="矩形 27661"/>
          <p:cNvSpPr/>
          <p:nvPr/>
        </p:nvSpPr>
        <p:spPr>
          <a:xfrm>
            <a:off x="250825" y="4365625"/>
            <a:ext cx="2362200" cy="533400"/>
          </a:xfrm>
          <a:prstGeom prst="rect">
            <a:avLst/>
          </a:prstGeom>
          <a:solidFill>
            <a:srgbClr val="FF7C8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22" name="下箭头 27662"/>
          <p:cNvSpPr/>
          <p:nvPr/>
        </p:nvSpPr>
        <p:spPr>
          <a:xfrm>
            <a:off x="1317625" y="2079625"/>
            <a:ext cx="228600" cy="609600"/>
          </a:xfrm>
          <a:prstGeom prst="downArrow">
            <a:avLst>
              <a:gd name="adj1" fmla="val 50000"/>
              <a:gd name="adj2" fmla="val 66543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23" name="圆角矩形标注 27663"/>
          <p:cNvSpPr/>
          <p:nvPr/>
        </p:nvSpPr>
        <p:spPr>
          <a:xfrm>
            <a:off x="2536825" y="2613025"/>
            <a:ext cx="1100138" cy="533400"/>
          </a:xfrm>
          <a:prstGeom prst="wedgeRoundRectCallout">
            <a:avLst>
              <a:gd name="adj1" fmla="val -84634"/>
              <a:gd name="adj2" fmla="val 9404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224" name="文本框 27664"/>
          <p:cNvSpPr txBox="1"/>
          <p:nvPr/>
        </p:nvSpPr>
        <p:spPr>
          <a:xfrm>
            <a:off x="2613025" y="2689225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绝热</a:t>
            </a:r>
          </a:p>
        </p:txBody>
      </p:sp>
      <p:sp>
        <p:nvSpPr>
          <p:cNvPr id="94225" name="圆角矩形标注 27665"/>
          <p:cNvSpPr/>
          <p:nvPr/>
        </p:nvSpPr>
        <p:spPr>
          <a:xfrm>
            <a:off x="2536825" y="3603625"/>
            <a:ext cx="1143000" cy="457200"/>
          </a:xfrm>
          <a:prstGeom prst="wedgeRoundRectCallout">
            <a:avLst>
              <a:gd name="adj1" fmla="val -118056"/>
              <a:gd name="adj2" fmla="val -4791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226" name="文本框 27666"/>
          <p:cNvSpPr txBox="1"/>
          <p:nvPr/>
        </p:nvSpPr>
        <p:spPr>
          <a:xfrm>
            <a:off x="2536825" y="360362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导热板</a:t>
            </a:r>
          </a:p>
        </p:txBody>
      </p:sp>
      <p:sp>
        <p:nvSpPr>
          <p:cNvPr id="94227" name="文本框 27667"/>
          <p:cNvSpPr txBox="1"/>
          <p:nvPr/>
        </p:nvSpPr>
        <p:spPr>
          <a:xfrm>
            <a:off x="1012825" y="4441825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热源</a:t>
            </a:r>
          </a:p>
        </p:txBody>
      </p:sp>
      <p:sp>
        <p:nvSpPr>
          <p:cNvPr id="94228" name="文本框 27668"/>
          <p:cNvSpPr txBox="1"/>
          <p:nvPr/>
        </p:nvSpPr>
        <p:spPr>
          <a:xfrm>
            <a:off x="708025" y="1698625"/>
            <a:ext cx="996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atm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94229" name="文本框 27669"/>
          <p:cNvSpPr txBox="1"/>
          <p:nvPr/>
        </p:nvSpPr>
        <p:spPr>
          <a:xfrm>
            <a:off x="920750" y="3700463"/>
            <a:ext cx="33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94230" name="文本框 27670"/>
          <p:cNvSpPr txBox="1"/>
          <p:nvPr/>
        </p:nvSpPr>
        <p:spPr>
          <a:xfrm>
            <a:off x="936625" y="2973388"/>
            <a:ext cx="33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4231" name="文本框 27671"/>
          <p:cNvSpPr txBox="1"/>
          <p:nvPr/>
        </p:nvSpPr>
        <p:spPr>
          <a:xfrm>
            <a:off x="1530350" y="3700463"/>
            <a:ext cx="5222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94232" name="文本框 27672"/>
          <p:cNvSpPr txBox="1"/>
          <p:nvPr/>
        </p:nvSpPr>
        <p:spPr>
          <a:xfrm>
            <a:off x="1698625" y="31305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en-US" altLang="zh-CN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233" name="文本框 27673"/>
          <p:cNvSpPr txBox="1"/>
          <p:nvPr/>
        </p:nvSpPr>
        <p:spPr>
          <a:xfrm>
            <a:off x="1470025" y="2973388"/>
            <a:ext cx="33972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</a:p>
          <a:p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37025" y="3706813"/>
            <a:ext cx="24384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: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等体过程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012825" y="5395913"/>
            <a:ext cx="2249488" cy="517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: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等压过程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" name="对象 17"/>
          <p:cNvGraphicFramePr/>
          <p:nvPr/>
        </p:nvGraphicFramePr>
        <p:xfrm>
          <a:off x="3719513" y="5402263"/>
          <a:ext cx="39925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" r:id="rId3" imgW="1561465" imgH="241300" progId="Equation.3">
                  <p:embed/>
                </p:oleObj>
              </mc:Choice>
              <mc:Fallback>
                <p:oleObj r:id="rId3" imgW="1561465" imgH="2413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9513" y="5402263"/>
                        <a:ext cx="3992562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442913" y="6167438"/>
            <a:ext cx="28098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(1)(2)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联立，得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4078288" y="2898775"/>
            <a:ext cx="4664075" cy="730250"/>
            <a:chOff x="1757" y="864"/>
            <a:chExt cx="2938" cy="460"/>
          </a:xfrm>
        </p:grpSpPr>
        <p:graphicFrame>
          <p:nvGraphicFramePr>
            <p:cNvPr id="94239" name="对象 21"/>
            <p:cNvGraphicFramePr/>
            <p:nvPr/>
          </p:nvGraphicFramePr>
          <p:xfrm>
            <a:off x="2266" y="864"/>
            <a:ext cx="2429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6" r:id="rId5" imgW="1473200" imgH="279400" progId="Equation.3">
                    <p:embed/>
                  </p:oleObj>
                </mc:Choice>
                <mc:Fallback>
                  <p:oleObj r:id="rId5" imgW="1473200" imgH="2794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66" y="864"/>
                          <a:ext cx="2429" cy="4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40" name="文本框 23"/>
            <p:cNvSpPr txBox="1"/>
            <p:nvPr/>
          </p:nvSpPr>
          <p:spPr>
            <a:xfrm>
              <a:off x="1757" y="993"/>
              <a:ext cx="50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所以</a:t>
              </a:r>
            </a:p>
          </p:txBody>
        </p:sp>
      </p:grpSp>
      <p:sp>
        <p:nvSpPr>
          <p:cNvPr id="25" name="矩形 24"/>
          <p:cNvSpPr/>
          <p:nvPr/>
        </p:nvSpPr>
        <p:spPr>
          <a:xfrm>
            <a:off x="3851275" y="2492375"/>
            <a:ext cx="3405188" cy="534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解：因为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隔板导热，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3413125" y="6153150"/>
          <a:ext cx="53911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7" r:id="rId7" imgW="2108200" imgH="241300" progId="Equation.3">
                  <p:embed/>
                </p:oleObj>
              </mc:Choice>
              <mc:Fallback>
                <p:oleObj r:id="rId7" imgW="2108200" imgH="2413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3125" y="6153150"/>
                        <a:ext cx="5391150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4184650" y="4467225"/>
          <a:ext cx="39465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8" r:id="rId9" imgW="1497965" imgH="241300" progId="Equation.DSMT4">
                  <p:embed/>
                </p:oleObj>
              </mc:Choice>
              <mc:Fallback>
                <p:oleObj r:id="rId9" imgW="1497965" imgH="2413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84650" y="4467225"/>
                        <a:ext cx="3946525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/>
      <p:bldP spid="14" grpId="0"/>
      <p:bldP spid="17" grpId="0"/>
      <p:bldP spid="20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对象 29697"/>
          <p:cNvGraphicFramePr/>
          <p:nvPr/>
        </p:nvGraphicFramePr>
        <p:xfrm>
          <a:off x="2882900" y="1811338"/>
          <a:ext cx="59372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2" r:id="rId3" imgW="2462530" imgH="431800" progId="Equation.3">
                  <p:embed/>
                </p:oleObj>
              </mc:Choice>
              <mc:Fallback>
                <p:oleObj r:id="rId3" imgW="2462530" imgH="4318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2900" y="1811338"/>
                        <a:ext cx="593725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对象 29698"/>
          <p:cNvGraphicFramePr/>
          <p:nvPr/>
        </p:nvGraphicFramePr>
        <p:xfrm>
          <a:off x="3124200" y="3860800"/>
          <a:ext cx="4503738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3" r:id="rId5" imgW="1839595" imgH="405765" progId="Equation.3">
                  <p:embed/>
                </p:oleObj>
              </mc:Choice>
              <mc:Fallback>
                <p:oleObj r:id="rId5" imgW="1839595" imgH="40576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4200" y="3860800"/>
                        <a:ext cx="4503738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对象 29699"/>
          <p:cNvGraphicFramePr/>
          <p:nvPr/>
        </p:nvGraphicFramePr>
        <p:xfrm>
          <a:off x="1466850" y="4797425"/>
          <a:ext cx="74422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4" r:id="rId7" imgW="3058160" imgH="405765" progId="Equation.3">
                  <p:embed/>
                </p:oleObj>
              </mc:Choice>
              <mc:Fallback>
                <p:oleObj r:id="rId7" imgW="3058160" imgH="40576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6850" y="4797425"/>
                        <a:ext cx="7442200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矩形 29700"/>
          <p:cNvSpPr/>
          <p:nvPr/>
        </p:nvSpPr>
        <p:spPr>
          <a:xfrm>
            <a:off x="946150" y="3125788"/>
            <a:ext cx="24733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净吸的热量</a:t>
            </a:r>
          </a:p>
        </p:txBody>
      </p:sp>
      <p:sp>
        <p:nvSpPr>
          <p:cNvPr id="95237" name="矩形 29701"/>
          <p:cNvSpPr/>
          <p:nvPr/>
        </p:nvSpPr>
        <p:spPr>
          <a:xfrm>
            <a:off x="917575" y="620713"/>
            <a:ext cx="243046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温度的增量</a:t>
            </a:r>
          </a:p>
        </p:txBody>
      </p:sp>
      <p:graphicFrame>
        <p:nvGraphicFramePr>
          <p:cNvPr id="29703" name="对象 29702"/>
          <p:cNvGraphicFramePr/>
          <p:nvPr/>
        </p:nvGraphicFramePr>
        <p:xfrm>
          <a:off x="1619250" y="5876925"/>
          <a:ext cx="60833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5" r:id="rId9" imgW="2500630" imgH="241300" progId="Equation.3">
                  <p:embed/>
                </p:oleObj>
              </mc:Choice>
              <mc:Fallback>
                <p:oleObj r:id="rId9" imgW="2500630" imgH="2413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250" y="5876925"/>
                        <a:ext cx="6083300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对象 29703"/>
          <p:cNvGraphicFramePr/>
          <p:nvPr/>
        </p:nvGraphicFramePr>
        <p:xfrm>
          <a:off x="2916238" y="344488"/>
          <a:ext cx="272415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" r:id="rId11" imgW="1130300" imgH="444500" progId="Equation.3">
                  <p:embed/>
                </p:oleObj>
              </mc:Choice>
              <mc:Fallback>
                <p:oleObj r:id="rId11" imgW="1130300" imgH="4445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16238" y="344488"/>
                        <a:ext cx="2724150" cy="107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对象 29704"/>
          <p:cNvGraphicFramePr/>
          <p:nvPr/>
        </p:nvGraphicFramePr>
        <p:xfrm>
          <a:off x="3124200" y="2924175"/>
          <a:ext cx="4256088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7" r:id="rId13" imgW="1738630" imgH="405765" progId="Equation.3">
                  <p:embed/>
                </p:oleObj>
              </mc:Choice>
              <mc:Fallback>
                <p:oleObj r:id="rId13" imgW="1738630" imgH="40576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24200" y="2924175"/>
                        <a:ext cx="4256088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5724525" y="331788"/>
          <a:ext cx="2295525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r:id="rId15" imgW="952500" imgH="584200" progId="Equation.3">
                  <p:embed/>
                </p:oleObj>
              </mc:Choice>
              <mc:Fallback>
                <p:oleObj r:id="rId15" imgW="952500" imgH="5842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724525" y="331788"/>
                        <a:ext cx="2295525" cy="1408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30721"/>
          <p:cNvSpPr txBox="1"/>
          <p:nvPr/>
        </p:nvSpPr>
        <p:spPr>
          <a:xfrm>
            <a:off x="685800" y="334963"/>
            <a:ext cx="75580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整体法”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看成一个整体</a:t>
            </a:r>
          </a:p>
        </p:txBody>
      </p:sp>
      <p:graphicFrame>
        <p:nvGraphicFramePr>
          <p:cNvPr id="30723" name="对象 30722"/>
          <p:cNvGraphicFramePr/>
          <p:nvPr/>
        </p:nvGraphicFramePr>
        <p:xfrm>
          <a:off x="4787900" y="908050"/>
          <a:ext cx="19208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4" r:id="rId3" imgW="774065" imgH="203200" progId="Equation.DSMT4">
                  <p:embed/>
                </p:oleObj>
              </mc:Choice>
              <mc:Fallback>
                <p:oleObj r:id="rId3" imgW="774065" imgH="2032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7900" y="908050"/>
                        <a:ext cx="192087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对象 30723"/>
          <p:cNvGraphicFramePr/>
          <p:nvPr/>
        </p:nvGraphicFramePr>
        <p:xfrm>
          <a:off x="4427538" y="2781300"/>
          <a:ext cx="3046412" cy="282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" r:id="rId5" imgW="1231265" imgH="1142365" progId="Equation.3">
                  <p:embed/>
                </p:oleObj>
              </mc:Choice>
              <mc:Fallback>
                <p:oleObj r:id="rId5" imgW="1231265" imgH="114236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7538" y="2781300"/>
                        <a:ext cx="3046412" cy="282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文本框 30724"/>
          <p:cNvSpPr txBox="1"/>
          <p:nvPr/>
        </p:nvSpPr>
        <p:spPr>
          <a:xfrm>
            <a:off x="5508625" y="5805488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（结果相同）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726" name="组合 30725"/>
          <p:cNvGrpSpPr/>
          <p:nvPr/>
        </p:nvGrpSpPr>
        <p:grpSpPr>
          <a:xfrm>
            <a:off x="855663" y="1341438"/>
            <a:ext cx="3429000" cy="3124200"/>
            <a:chOff x="288" y="2352"/>
            <a:chExt cx="2160" cy="1968"/>
          </a:xfrm>
        </p:grpSpPr>
        <p:sp>
          <p:nvSpPr>
            <p:cNvPr id="96262" name="矩形 30726"/>
            <p:cNvSpPr/>
            <p:nvPr/>
          </p:nvSpPr>
          <p:spPr>
            <a:xfrm>
              <a:off x="528" y="2592"/>
              <a:ext cx="96" cy="1392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63" name="矩形 30727"/>
            <p:cNvSpPr/>
            <p:nvPr/>
          </p:nvSpPr>
          <p:spPr>
            <a:xfrm>
              <a:off x="1440" y="2592"/>
              <a:ext cx="96" cy="1392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64" name="矩形 30728"/>
            <p:cNvSpPr/>
            <p:nvPr/>
          </p:nvSpPr>
          <p:spPr>
            <a:xfrm>
              <a:off x="624" y="3888"/>
              <a:ext cx="816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65" name="矩形 30729"/>
            <p:cNvSpPr/>
            <p:nvPr/>
          </p:nvSpPr>
          <p:spPr>
            <a:xfrm>
              <a:off x="624" y="3456"/>
              <a:ext cx="816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66" name="矩形 30730"/>
            <p:cNvSpPr/>
            <p:nvPr/>
          </p:nvSpPr>
          <p:spPr>
            <a:xfrm>
              <a:off x="624" y="2976"/>
              <a:ext cx="816" cy="9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67" name="矩形 30731"/>
            <p:cNvSpPr/>
            <p:nvPr/>
          </p:nvSpPr>
          <p:spPr>
            <a:xfrm>
              <a:off x="624" y="3360"/>
              <a:ext cx="48" cy="9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68" name="矩形 30732"/>
            <p:cNvSpPr/>
            <p:nvPr/>
          </p:nvSpPr>
          <p:spPr>
            <a:xfrm>
              <a:off x="1392" y="3360"/>
              <a:ext cx="48" cy="9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69" name="上箭头 30733"/>
            <p:cNvSpPr/>
            <p:nvPr/>
          </p:nvSpPr>
          <p:spPr>
            <a:xfrm>
              <a:off x="960" y="3744"/>
              <a:ext cx="96" cy="336"/>
            </a:xfrm>
            <a:prstGeom prst="up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70" name="上箭头 30734"/>
            <p:cNvSpPr/>
            <p:nvPr/>
          </p:nvSpPr>
          <p:spPr>
            <a:xfrm>
              <a:off x="960" y="3360"/>
              <a:ext cx="48" cy="24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71" name="上箭头 30735"/>
            <p:cNvSpPr/>
            <p:nvPr/>
          </p:nvSpPr>
          <p:spPr>
            <a:xfrm>
              <a:off x="1008" y="3360"/>
              <a:ext cx="48" cy="24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72" name="矩形 30736"/>
            <p:cNvSpPr/>
            <p:nvPr/>
          </p:nvSpPr>
          <p:spPr>
            <a:xfrm>
              <a:off x="288" y="3984"/>
              <a:ext cx="1488" cy="336"/>
            </a:xfrm>
            <a:prstGeom prst="rect">
              <a:avLst/>
            </a:prstGeom>
            <a:solidFill>
              <a:srgbClr val="FF7C8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73" name="下箭头 30737"/>
            <p:cNvSpPr/>
            <p:nvPr/>
          </p:nvSpPr>
          <p:spPr>
            <a:xfrm>
              <a:off x="960" y="2544"/>
              <a:ext cx="144" cy="384"/>
            </a:xfrm>
            <a:prstGeom prst="downArrow">
              <a:avLst>
                <a:gd name="adj1" fmla="val 50000"/>
                <a:gd name="adj2" fmla="val 66543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274" name="圆角矩形标注 30738"/>
            <p:cNvSpPr/>
            <p:nvPr/>
          </p:nvSpPr>
          <p:spPr>
            <a:xfrm>
              <a:off x="1728" y="2880"/>
              <a:ext cx="576" cy="336"/>
            </a:xfrm>
            <a:prstGeom prst="wedgeRoundRectCallout">
              <a:avLst>
                <a:gd name="adj1" fmla="val -91667"/>
                <a:gd name="adj2" fmla="val 94046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6275" name="文本框 30739"/>
            <p:cNvSpPr txBox="1"/>
            <p:nvPr/>
          </p:nvSpPr>
          <p:spPr>
            <a:xfrm>
              <a:off x="1776" y="2928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绝热</a:t>
              </a:r>
            </a:p>
          </p:txBody>
        </p:sp>
        <p:sp>
          <p:nvSpPr>
            <p:cNvPr id="96276" name="圆角矩形标注 30740"/>
            <p:cNvSpPr/>
            <p:nvPr/>
          </p:nvSpPr>
          <p:spPr>
            <a:xfrm>
              <a:off x="1728" y="3504"/>
              <a:ext cx="720" cy="288"/>
            </a:xfrm>
            <a:prstGeom prst="wedgeRoundRectCallout">
              <a:avLst>
                <a:gd name="adj1" fmla="val -118056"/>
                <a:gd name="adj2" fmla="val -47917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6277" name="文本框 30741"/>
            <p:cNvSpPr txBox="1"/>
            <p:nvPr/>
          </p:nvSpPr>
          <p:spPr>
            <a:xfrm>
              <a:off x="1728" y="3504"/>
              <a:ext cx="6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导热板</a:t>
              </a:r>
            </a:p>
          </p:txBody>
        </p:sp>
        <p:sp>
          <p:nvSpPr>
            <p:cNvPr id="96278" name="文本框 30742"/>
            <p:cNvSpPr txBox="1"/>
            <p:nvPr/>
          </p:nvSpPr>
          <p:spPr>
            <a:xfrm>
              <a:off x="768" y="4032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rPr>
                <a:t>热源</a:t>
              </a:r>
            </a:p>
          </p:txBody>
        </p:sp>
        <p:sp>
          <p:nvSpPr>
            <p:cNvPr id="96279" name="文本框 30743"/>
            <p:cNvSpPr txBox="1"/>
            <p:nvPr/>
          </p:nvSpPr>
          <p:spPr>
            <a:xfrm>
              <a:off x="576" y="2352"/>
              <a:ext cx="6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atm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96280" name="文本框 30744"/>
            <p:cNvSpPr txBox="1"/>
            <p:nvPr/>
          </p:nvSpPr>
          <p:spPr>
            <a:xfrm>
              <a:off x="710" y="3565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6281" name="文本框 30745"/>
            <p:cNvSpPr txBox="1"/>
            <p:nvPr/>
          </p:nvSpPr>
          <p:spPr>
            <a:xfrm>
              <a:off x="720" y="3107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96282" name="文本框 30746"/>
            <p:cNvSpPr txBox="1"/>
            <p:nvPr/>
          </p:nvSpPr>
          <p:spPr>
            <a:xfrm>
              <a:off x="1094" y="3565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96283" name="文本框 30747"/>
            <p:cNvSpPr txBox="1"/>
            <p:nvPr/>
          </p:nvSpPr>
          <p:spPr>
            <a:xfrm>
              <a:off x="1200" y="3206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6284" name="文本框 30748"/>
            <p:cNvSpPr txBox="1"/>
            <p:nvPr/>
          </p:nvSpPr>
          <p:spPr>
            <a:xfrm>
              <a:off x="1056" y="3107"/>
              <a:ext cx="214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</a:p>
            <a:p>
              <a:endParaRPr lang="en-US" altLang="zh-CN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" name="对象 1"/>
          <p:cNvGraphicFramePr/>
          <p:nvPr/>
        </p:nvGraphicFramePr>
        <p:xfrm>
          <a:off x="4783138" y="1525588"/>
          <a:ext cx="22383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" r:id="rId7" imgW="901700" imgH="241300" progId="Equation.DSMT4">
                  <p:embed/>
                </p:oleObj>
              </mc:Choice>
              <mc:Fallback>
                <p:oleObj r:id="rId7" imgW="901700" imgH="2413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3138" y="1525588"/>
                        <a:ext cx="2238375" cy="598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4783138" y="2133600"/>
          <a:ext cx="340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7" r:id="rId9" imgW="1371600" imgH="241300" progId="Equation.DSMT4">
                  <p:embed/>
                </p:oleObj>
              </mc:Choice>
              <mc:Fallback>
                <p:oleObj r:id="rId9" imgW="1371600" imgH="2413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3138" y="2133600"/>
                        <a:ext cx="3403600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7019925" y="1528763"/>
          <a:ext cx="11985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8" r:id="rId11" imgW="482600" imgH="203200" progId="Equation.DSMT4">
                  <p:embed/>
                </p:oleObj>
              </mc:Choice>
              <mc:Fallback>
                <p:oleObj r:id="rId11" imgW="482600" imgH="2032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19925" y="1528763"/>
                        <a:ext cx="1198563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文本框 390147"/>
          <p:cNvSpPr txBox="1"/>
          <p:nvPr/>
        </p:nvSpPr>
        <p:spPr>
          <a:xfrm>
            <a:off x="323850" y="115888"/>
            <a:ext cx="3168650" cy="519112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幼圆" panose="02010509060101010101" pitchFamily="49" charset="-122"/>
              </a:rPr>
              <a:t>三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幼圆" panose="02010509060101010101" pitchFamily="49" charset="-122"/>
              </a:rPr>
              <a:t>等温过程</a:t>
            </a:r>
          </a:p>
        </p:txBody>
      </p:sp>
      <p:grpSp>
        <p:nvGrpSpPr>
          <p:cNvPr id="2" name="组合 390405"/>
          <p:cNvGrpSpPr/>
          <p:nvPr/>
        </p:nvGrpSpPr>
        <p:grpSpPr>
          <a:xfrm>
            <a:off x="4835525" y="44450"/>
            <a:ext cx="4562475" cy="2132013"/>
            <a:chOff x="3046" y="210"/>
            <a:chExt cx="2874" cy="1343"/>
          </a:xfrm>
        </p:grpSpPr>
        <p:grpSp>
          <p:nvGrpSpPr>
            <p:cNvPr id="99331" name="组合 390391"/>
            <p:cNvGrpSpPr/>
            <p:nvPr/>
          </p:nvGrpSpPr>
          <p:grpSpPr>
            <a:xfrm>
              <a:off x="3046" y="210"/>
              <a:ext cx="397" cy="1343"/>
              <a:chOff x="2963" y="2544"/>
              <a:chExt cx="397" cy="1343"/>
            </a:xfrm>
          </p:grpSpPr>
          <p:sp>
            <p:nvSpPr>
              <p:cNvPr id="99332" name="矩形 390392"/>
              <p:cNvSpPr/>
              <p:nvPr/>
            </p:nvSpPr>
            <p:spPr>
              <a:xfrm>
                <a:off x="2963" y="2544"/>
                <a:ext cx="397" cy="1343"/>
              </a:xfrm>
              <a:prstGeom prst="rect">
                <a:avLst/>
              </a:prstGeom>
              <a:solidFill>
                <a:srgbClr val="FF9900"/>
              </a:solidFill>
              <a:ln w="9525" cap="flat" cmpd="sng">
                <a:solidFill>
                  <a:srgbClr val="CC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33" name="文本框 390393"/>
              <p:cNvSpPr txBox="1"/>
              <p:nvPr/>
            </p:nvSpPr>
            <p:spPr>
              <a:xfrm>
                <a:off x="2975" y="2598"/>
                <a:ext cx="385" cy="10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恒温热源</a:t>
                </a:r>
                <a:endPara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34" name="文本框 390394"/>
              <p:cNvSpPr txBox="1"/>
              <p:nvPr/>
            </p:nvSpPr>
            <p:spPr>
              <a:xfrm>
                <a:off x="3024" y="3552"/>
                <a:ext cx="26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rPr>
                  <a:t>T</a:t>
                </a:r>
                <a:endParaRPr lang="en-US" altLang="zh-CN" sz="28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endParaRPr>
              </a:p>
            </p:txBody>
          </p:sp>
        </p:grpSp>
        <p:sp>
          <p:nvSpPr>
            <p:cNvPr id="32775" name="矩形 390396"/>
            <p:cNvSpPr>
              <a:spLocks noChangeArrowheads="1"/>
            </p:cNvSpPr>
            <p:nvPr/>
          </p:nvSpPr>
          <p:spPr bwMode="auto">
            <a:xfrm>
              <a:off x="5022" y="829"/>
              <a:ext cx="453" cy="152"/>
            </a:xfrm>
            <a:prstGeom prst="rect">
              <a:avLst/>
            </a:prstGeom>
            <a:gradFill rotWithShape="0">
              <a:gsLst>
                <a:gs pos="0">
                  <a:srgbClr val="993366"/>
                </a:gs>
                <a:gs pos="50000">
                  <a:schemeClr val="bg1"/>
                </a:gs>
                <a:gs pos="100000">
                  <a:srgbClr val="993366"/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336" name="矩形 390397"/>
            <p:cNvSpPr/>
            <p:nvPr/>
          </p:nvSpPr>
          <p:spPr>
            <a:xfrm>
              <a:off x="3593" y="399"/>
              <a:ext cx="1329" cy="960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337" name="任意多边形 390398"/>
            <p:cNvSpPr/>
            <p:nvPr/>
          </p:nvSpPr>
          <p:spPr>
            <a:xfrm>
              <a:off x="3449" y="255"/>
              <a:ext cx="2208" cy="1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08" y="0"/>
                </a:cxn>
                <a:cxn ang="0">
                  <a:pos x="2208" y="144"/>
                </a:cxn>
                <a:cxn ang="0">
                  <a:pos x="144" y="144"/>
                </a:cxn>
                <a:cxn ang="0">
                  <a:pos x="144" y="1104"/>
                </a:cxn>
                <a:cxn ang="0">
                  <a:pos x="2208" y="1104"/>
                </a:cxn>
                <a:cxn ang="0">
                  <a:pos x="2208" y="1248"/>
                </a:cxn>
                <a:cxn ang="0">
                  <a:pos x="0" y="1248"/>
                </a:cxn>
                <a:cxn ang="0">
                  <a:pos x="0" y="0"/>
                </a:cxn>
              </a:cxnLst>
              <a:rect l="0" t="0" r="0" b="0"/>
              <a:pathLst>
                <a:path w="2208" h="1248">
                  <a:moveTo>
                    <a:pt x="0" y="0"/>
                  </a:moveTo>
                  <a:lnTo>
                    <a:pt x="2208" y="0"/>
                  </a:lnTo>
                  <a:lnTo>
                    <a:pt x="2208" y="144"/>
                  </a:lnTo>
                  <a:lnTo>
                    <a:pt x="144" y="144"/>
                  </a:lnTo>
                  <a:lnTo>
                    <a:pt x="144" y="1104"/>
                  </a:lnTo>
                  <a:lnTo>
                    <a:pt x="2208" y="1104"/>
                  </a:lnTo>
                  <a:lnTo>
                    <a:pt x="2208" y="1248"/>
                  </a:lnTo>
                  <a:lnTo>
                    <a:pt x="0" y="124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</a:blipFill>
            <a:ln w="9525" cap="flat" cmpd="sng">
              <a:solidFill>
                <a:srgbClr val="99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矩形 390399"/>
            <p:cNvSpPr>
              <a:spLocks noChangeArrowheads="1"/>
            </p:cNvSpPr>
            <p:nvPr/>
          </p:nvSpPr>
          <p:spPr bwMode="auto">
            <a:xfrm>
              <a:off x="4875" y="399"/>
              <a:ext cx="161" cy="960"/>
            </a:xfrm>
            <a:prstGeom prst="rect">
              <a:avLst/>
            </a:prstGeom>
            <a:gradFill rotWithShape="0">
              <a:gsLst>
                <a:gs pos="0">
                  <a:srgbClr val="003366"/>
                </a:gs>
                <a:gs pos="50000">
                  <a:schemeClr val="bg1"/>
                </a:gs>
                <a:gs pos="100000">
                  <a:srgbClr val="003366"/>
                </a:gs>
              </a:gsLst>
              <a:lin ang="5400000" scaled="1"/>
            </a:gra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sz="2400" b="0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339" name="文本框 390400"/>
            <p:cNvSpPr txBox="1"/>
            <p:nvPr/>
          </p:nvSpPr>
          <p:spPr>
            <a:xfrm>
              <a:off x="3914" y="731"/>
              <a:ext cx="1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zh-CN" altLang="en-US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lang="en-US" altLang="zh-CN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const.</a:t>
              </a:r>
            </a:p>
          </p:txBody>
        </p:sp>
        <p:sp>
          <p:nvSpPr>
            <p:cNvPr id="99340" name="文本框 390401"/>
            <p:cNvSpPr txBox="1"/>
            <p:nvPr/>
          </p:nvSpPr>
          <p:spPr>
            <a:xfrm>
              <a:off x="3424" y="580"/>
              <a:ext cx="7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99341" name="直接连接符 390402"/>
            <p:cNvSpPr/>
            <p:nvPr/>
          </p:nvSpPr>
          <p:spPr>
            <a:xfrm>
              <a:off x="3478" y="890"/>
              <a:ext cx="499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9342" name="直接连接符 390403"/>
            <p:cNvSpPr/>
            <p:nvPr/>
          </p:nvSpPr>
          <p:spPr>
            <a:xfrm>
              <a:off x="5067" y="754"/>
              <a:ext cx="36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9343" name="文本框 390404"/>
            <p:cNvSpPr txBox="1"/>
            <p:nvPr/>
          </p:nvSpPr>
          <p:spPr>
            <a:xfrm>
              <a:off x="5149" y="459"/>
              <a:ext cx="7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graphicFrame>
        <p:nvGraphicFramePr>
          <p:cNvPr id="390465" name="对象 390464"/>
          <p:cNvGraphicFramePr/>
          <p:nvPr/>
        </p:nvGraphicFramePr>
        <p:xfrm>
          <a:off x="2698750" y="809625"/>
          <a:ext cx="11684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5" r:id="rId5" imgW="624205" imgH="200660" progId="Equation.3">
                  <p:embed/>
                </p:oleObj>
              </mc:Choice>
              <mc:Fallback>
                <p:oleObj r:id="rId5" imgW="624205" imgH="20066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98750" y="809625"/>
                        <a:ext cx="1168400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466" name="对象 390465"/>
          <p:cNvGraphicFramePr/>
          <p:nvPr/>
        </p:nvGraphicFramePr>
        <p:xfrm>
          <a:off x="323850" y="1738313"/>
          <a:ext cx="19240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6" r:id="rId7" imgW="723900" imgH="508000" progId="Equation.DSMT4">
                  <p:embed/>
                </p:oleObj>
              </mc:Choice>
              <mc:Fallback>
                <p:oleObj r:id="rId7" imgW="723900" imgH="5080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850" y="1738313"/>
                        <a:ext cx="1924050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467" name="对象 390466"/>
          <p:cNvGraphicFramePr/>
          <p:nvPr/>
        </p:nvGraphicFramePr>
        <p:xfrm>
          <a:off x="884238" y="3900488"/>
          <a:ext cx="19367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7" r:id="rId9" imgW="762000" imgH="431800" progId="Equation.3">
                  <p:embed/>
                </p:oleObj>
              </mc:Choice>
              <mc:Fallback>
                <p:oleObj r:id="rId9" imgW="762000" imgH="4318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4238" y="3900488"/>
                        <a:ext cx="1936750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0471" name="文本框 390470"/>
          <p:cNvSpPr txBox="1"/>
          <p:nvPr/>
        </p:nvSpPr>
        <p:spPr>
          <a:xfrm>
            <a:off x="842963" y="5121275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热量交换：</a:t>
            </a:r>
          </a:p>
        </p:txBody>
      </p:sp>
      <p:sp>
        <p:nvSpPr>
          <p:cNvPr id="390472" name="文本框 390471"/>
          <p:cNvSpPr txBox="1"/>
          <p:nvPr/>
        </p:nvSpPr>
        <p:spPr>
          <a:xfrm>
            <a:off x="842963" y="765175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内能变化：</a:t>
            </a:r>
          </a:p>
        </p:txBody>
      </p:sp>
      <p:graphicFrame>
        <p:nvGraphicFramePr>
          <p:cNvPr id="390473" name="对象 390472"/>
          <p:cNvGraphicFramePr/>
          <p:nvPr/>
        </p:nvGraphicFramePr>
        <p:xfrm>
          <a:off x="819150" y="3044825"/>
          <a:ext cx="23622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8" r:id="rId11" imgW="889000" imgH="431800" progId="Equation.3">
                  <p:embed/>
                </p:oleObj>
              </mc:Choice>
              <mc:Fallback>
                <p:oleObj r:id="rId11" imgW="889000" imgH="4318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9150" y="3044825"/>
                        <a:ext cx="2362200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0491" name="文本框 390490"/>
          <p:cNvSpPr txBox="1"/>
          <p:nvPr/>
        </p:nvSpPr>
        <p:spPr>
          <a:xfrm>
            <a:off x="900113" y="1308100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对外做功：</a:t>
            </a:r>
          </a:p>
        </p:txBody>
      </p:sp>
      <p:graphicFrame>
        <p:nvGraphicFramePr>
          <p:cNvPr id="390494" name="对象 390493"/>
          <p:cNvGraphicFramePr/>
          <p:nvPr/>
        </p:nvGraphicFramePr>
        <p:xfrm>
          <a:off x="4427538" y="5708650"/>
          <a:ext cx="175736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9" r:id="rId13" imgW="1014730" imgH="546100" progId="Equation.3">
                  <p:embed/>
                </p:oleObj>
              </mc:Choice>
              <mc:Fallback>
                <p:oleObj r:id="rId13" imgW="1014730" imgH="5461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5708650"/>
                        <a:ext cx="1757362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495" name="对象 390494"/>
          <p:cNvGraphicFramePr/>
          <p:nvPr/>
        </p:nvGraphicFramePr>
        <p:xfrm>
          <a:off x="1960563" y="5708650"/>
          <a:ext cx="2443162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0" r:id="rId15" imgW="1028700" imgH="444500" progId="Equation.DSMT4">
                  <p:embed/>
                </p:oleObj>
              </mc:Choice>
              <mc:Fallback>
                <p:oleObj r:id="rId15" imgW="1028700" imgH="4445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60563" y="5708650"/>
                        <a:ext cx="2443162" cy="9429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496" name="对象 390495"/>
          <p:cNvGraphicFramePr/>
          <p:nvPr/>
        </p:nvGraphicFramePr>
        <p:xfrm>
          <a:off x="968375" y="5921375"/>
          <a:ext cx="866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1" r:id="rId17" imgW="423545" imgH="267335" progId="Equation.DSMT4">
                  <p:embed/>
                </p:oleObj>
              </mc:Choice>
              <mc:Fallback>
                <p:oleObj r:id="rId17" imgW="423545" imgH="267335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68375" y="5921375"/>
                        <a:ext cx="866775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90500"/>
          <p:cNvGrpSpPr/>
          <p:nvPr/>
        </p:nvGrpSpPr>
        <p:grpSpPr>
          <a:xfrm>
            <a:off x="4932363" y="2133600"/>
            <a:ext cx="3810000" cy="3516313"/>
            <a:chOff x="3107" y="1344"/>
            <a:chExt cx="2400" cy="2215"/>
          </a:xfrm>
        </p:grpSpPr>
        <p:grpSp>
          <p:nvGrpSpPr>
            <p:cNvPr id="99355" name="组合 390422"/>
            <p:cNvGrpSpPr/>
            <p:nvPr/>
          </p:nvGrpSpPr>
          <p:grpSpPr>
            <a:xfrm>
              <a:off x="3107" y="1344"/>
              <a:ext cx="2400" cy="1872"/>
              <a:chOff x="2736" y="480"/>
              <a:chExt cx="2400" cy="1872"/>
            </a:xfrm>
          </p:grpSpPr>
          <p:sp>
            <p:nvSpPr>
              <p:cNvPr id="99356" name="矩形 390423"/>
              <p:cNvSpPr/>
              <p:nvPr/>
            </p:nvSpPr>
            <p:spPr>
              <a:xfrm>
                <a:off x="2736" y="480"/>
                <a:ext cx="2400" cy="1872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57" name="任意多边形 390424"/>
              <p:cNvSpPr/>
              <p:nvPr/>
            </p:nvSpPr>
            <p:spPr>
              <a:xfrm flipH="1" flipV="1">
                <a:off x="3504" y="816"/>
                <a:ext cx="1286" cy="82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1"/>
                  </a:cxn>
                  <a:cxn ang="0">
                    <a:pos x="1" y="0"/>
                  </a:cxn>
                  <a:cxn ang="0">
                    <a:pos x="5" y="1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0" b="0"/>
                <a:pathLst>
                  <a:path w="21378" h="21281" fill="none">
                    <a:moveTo>
                      <a:pt x="3699" y="0"/>
                    </a:moveTo>
                    <a:cubicBezTo>
                      <a:pt x="12871" y="1584"/>
                      <a:pt x="20054" y="8940"/>
                      <a:pt x="21379" y="18181"/>
                    </a:cubicBezTo>
                  </a:path>
                  <a:path w="21378" h="21281" stroke="0">
                    <a:moveTo>
                      <a:pt x="3699" y="0"/>
                    </a:moveTo>
                    <a:cubicBezTo>
                      <a:pt x="12871" y="1584"/>
                      <a:pt x="20054" y="8940"/>
                      <a:pt x="21379" y="18181"/>
                    </a:cubicBezTo>
                    <a:lnTo>
                      <a:pt x="0" y="21281"/>
                    </a:lnTo>
                    <a:lnTo>
                      <a:pt x="3699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58" name="直接连接符 390425"/>
              <p:cNvSpPr/>
              <p:nvPr/>
            </p:nvSpPr>
            <p:spPr>
              <a:xfrm>
                <a:off x="3902" y="2064"/>
                <a:ext cx="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59" name="直接连接符 390426"/>
              <p:cNvSpPr/>
              <p:nvPr/>
            </p:nvSpPr>
            <p:spPr>
              <a:xfrm>
                <a:off x="4560" y="1632"/>
                <a:ext cx="0" cy="38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0" name="直接连接符 390427"/>
              <p:cNvSpPr/>
              <p:nvPr/>
            </p:nvSpPr>
            <p:spPr>
              <a:xfrm flipH="1">
                <a:off x="3143" y="950"/>
                <a:ext cx="38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1" name="直接连接符 390428"/>
              <p:cNvSpPr/>
              <p:nvPr/>
            </p:nvSpPr>
            <p:spPr>
              <a:xfrm>
                <a:off x="3744" y="1296"/>
                <a:ext cx="96" cy="96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99362" name="直接连接符 390429"/>
              <p:cNvSpPr/>
              <p:nvPr/>
            </p:nvSpPr>
            <p:spPr>
              <a:xfrm>
                <a:off x="3120" y="2016"/>
                <a:ext cx="192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99363" name="直接连接符 390430"/>
              <p:cNvSpPr/>
              <p:nvPr/>
            </p:nvSpPr>
            <p:spPr>
              <a:xfrm flipV="1">
                <a:off x="3146" y="623"/>
                <a:ext cx="0" cy="140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99364" name="直接连接符 390431"/>
              <p:cNvSpPr/>
              <p:nvPr/>
            </p:nvSpPr>
            <p:spPr>
              <a:xfrm>
                <a:off x="3504" y="960"/>
                <a:ext cx="0" cy="107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5" name="直接连接符 390432"/>
              <p:cNvSpPr/>
              <p:nvPr/>
            </p:nvSpPr>
            <p:spPr>
              <a:xfrm flipH="1">
                <a:off x="3143" y="1651"/>
                <a:ext cx="14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6" name="文本框 390433"/>
              <p:cNvSpPr txBox="1"/>
              <p:nvPr/>
            </p:nvSpPr>
            <p:spPr>
              <a:xfrm>
                <a:off x="3360" y="672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1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367" name="文本框 390434"/>
              <p:cNvSpPr txBox="1"/>
              <p:nvPr/>
            </p:nvSpPr>
            <p:spPr>
              <a:xfrm>
                <a:off x="4560" y="1488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99368" name="对象 390435"/>
              <p:cNvGraphicFramePr/>
              <p:nvPr/>
            </p:nvGraphicFramePr>
            <p:xfrm>
              <a:off x="3552" y="657"/>
              <a:ext cx="960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2" r:id="rId19" imgW="1002665" imgH="317500" progId="Equation.3">
                      <p:embed/>
                    </p:oleObj>
                  </mc:Choice>
                  <mc:Fallback>
                    <p:oleObj r:id="rId19" imgW="1002665" imgH="317500" progId="Equation.3">
                      <p:embed/>
                      <p:pic>
                        <p:nvPicPr>
                          <p:cNvPr id="0" name="图片 3142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552" y="657"/>
                            <a:ext cx="960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69" name="对象 390436"/>
              <p:cNvGraphicFramePr/>
              <p:nvPr/>
            </p:nvGraphicFramePr>
            <p:xfrm>
              <a:off x="4224" y="1251"/>
              <a:ext cx="816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3" r:id="rId21" imgW="1066165" imgH="317500" progId="Equation.3">
                      <p:embed/>
                    </p:oleObj>
                  </mc:Choice>
                  <mc:Fallback>
                    <p:oleObj r:id="rId21" imgW="1066165" imgH="317500" progId="Equation.3">
                      <p:embed/>
                      <p:pic>
                        <p:nvPicPr>
                          <p:cNvPr id="0" name="图片 3145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224" y="1251"/>
                            <a:ext cx="816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70" name="对象 390437"/>
              <p:cNvGraphicFramePr/>
              <p:nvPr/>
            </p:nvGraphicFramePr>
            <p:xfrm>
              <a:off x="2788" y="816"/>
              <a:ext cx="332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4" r:id="rId23" imgW="266065" imgH="316865" progId="Equation.3">
                      <p:embed/>
                    </p:oleObj>
                  </mc:Choice>
                  <mc:Fallback>
                    <p:oleObj r:id="rId23" imgW="266065" imgH="316865" progId="Equation.3">
                      <p:embed/>
                      <p:pic>
                        <p:nvPicPr>
                          <p:cNvPr id="0" name="图片 3141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2788" y="816"/>
                            <a:ext cx="332" cy="33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71" name="对象 390438"/>
              <p:cNvGraphicFramePr/>
              <p:nvPr/>
            </p:nvGraphicFramePr>
            <p:xfrm>
              <a:off x="2832" y="1440"/>
              <a:ext cx="310" cy="3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5" r:id="rId25" imgW="292100" imgH="317500" progId="Equation.3">
                      <p:embed/>
                    </p:oleObj>
                  </mc:Choice>
                  <mc:Fallback>
                    <p:oleObj r:id="rId25" imgW="292100" imgH="317500" progId="Equation.3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2832" y="1440"/>
                            <a:ext cx="310" cy="32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72" name="对象 390439"/>
              <p:cNvGraphicFramePr/>
              <p:nvPr/>
            </p:nvGraphicFramePr>
            <p:xfrm>
              <a:off x="3431" y="1968"/>
              <a:ext cx="269" cy="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6" r:id="rId27" imgW="127000" imgH="164465" progId="Equation.3">
                      <p:embed/>
                    </p:oleObj>
                  </mc:Choice>
                  <mc:Fallback>
                    <p:oleObj r:id="rId27" imgW="127000" imgH="164465" progId="Equation.3">
                      <p:embed/>
                      <p:pic>
                        <p:nvPicPr>
                          <p:cNvPr id="0" name="图片 3140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431" y="1968"/>
                            <a:ext cx="269" cy="34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73" name="对象 390440"/>
              <p:cNvGraphicFramePr/>
              <p:nvPr/>
            </p:nvGraphicFramePr>
            <p:xfrm>
              <a:off x="4427" y="1968"/>
              <a:ext cx="299" cy="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7" r:id="rId29" imgW="139700" imgH="165100" progId="Equation.3">
                      <p:embed/>
                    </p:oleObj>
                  </mc:Choice>
                  <mc:Fallback>
                    <p:oleObj r:id="rId29" imgW="139700" imgH="1651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4427" y="1968"/>
                            <a:ext cx="299" cy="34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74" name="对象 390441"/>
              <p:cNvGraphicFramePr/>
              <p:nvPr/>
            </p:nvGraphicFramePr>
            <p:xfrm>
              <a:off x="2849" y="576"/>
              <a:ext cx="207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8" r:id="rId31" imgW="203200" imgH="241300" progId="Equation.3">
                      <p:embed/>
                    </p:oleObj>
                  </mc:Choice>
                  <mc:Fallback>
                    <p:oleObj r:id="rId31" imgW="203200" imgH="241300" progId="Equation.3">
                      <p:embed/>
                      <p:pic>
                        <p:nvPicPr>
                          <p:cNvPr id="0" name="图片 3139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2849" y="576"/>
                            <a:ext cx="207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75" name="对象 390442"/>
              <p:cNvGraphicFramePr/>
              <p:nvPr/>
            </p:nvGraphicFramePr>
            <p:xfrm>
              <a:off x="4848" y="2064"/>
              <a:ext cx="197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69" r:id="rId33" imgW="215900" imgH="241300" progId="Equation.3">
                      <p:embed/>
                    </p:oleObj>
                  </mc:Choice>
                  <mc:Fallback>
                    <p:oleObj r:id="rId33" imgW="215900" imgH="241300" progId="Equation.3">
                      <p:embed/>
                      <p:pic>
                        <p:nvPicPr>
                          <p:cNvPr id="0" name="图片 3126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4848" y="2064"/>
                            <a:ext cx="197" cy="22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9376" name="对象 390443"/>
              <p:cNvGraphicFramePr/>
              <p:nvPr/>
            </p:nvGraphicFramePr>
            <p:xfrm>
              <a:off x="3072" y="2016"/>
              <a:ext cx="177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670" r:id="rId35" imgW="165100" imgH="190500" progId="Equation.3">
                      <p:embed/>
                    </p:oleObj>
                  </mc:Choice>
                  <mc:Fallback>
                    <p:oleObj r:id="rId35" imgW="165100" imgH="190500" progId="Equation.3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3072" y="2016"/>
                            <a:ext cx="177" cy="2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9377" name="对象 390498"/>
            <p:cNvGraphicFramePr/>
            <p:nvPr/>
          </p:nvGraphicFramePr>
          <p:xfrm>
            <a:off x="3606" y="3226"/>
            <a:ext cx="1224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1" r:id="rId37" imgW="849630" imgH="215900" progId="Equation.3">
                    <p:embed/>
                  </p:oleObj>
                </mc:Choice>
                <mc:Fallback>
                  <p:oleObj r:id="rId37" imgW="849630" imgH="2159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606" y="3226"/>
                          <a:ext cx="1224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/>
          <p:nvPr/>
        </p:nvGraphicFramePr>
        <p:xfrm>
          <a:off x="2195513" y="1701800"/>
          <a:ext cx="253047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2" r:id="rId39" imgW="952500" imgH="508000" progId="Equation.DSMT4">
                  <p:embed/>
                </p:oleObj>
              </mc:Choice>
              <mc:Fallback>
                <p:oleObj r:id="rId39" imgW="952500" imgH="5080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195513" y="1701800"/>
                        <a:ext cx="2530475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9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9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9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39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471" grpId="0"/>
      <p:bldP spid="390472" grpId="0"/>
      <p:bldP spid="39049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46544"/>
          <p:cNvGrpSpPr/>
          <p:nvPr/>
        </p:nvGrpSpPr>
        <p:grpSpPr>
          <a:xfrm>
            <a:off x="5224463" y="800100"/>
            <a:ext cx="3919537" cy="1981200"/>
            <a:chOff x="3291" y="436"/>
            <a:chExt cx="2469" cy="1248"/>
          </a:xfrm>
        </p:grpSpPr>
        <p:sp>
          <p:nvSpPr>
            <p:cNvPr id="34818" name="矩形 446545"/>
            <p:cNvSpPr>
              <a:spLocks noChangeArrowheads="1"/>
            </p:cNvSpPr>
            <p:nvPr/>
          </p:nvSpPr>
          <p:spPr bwMode="auto">
            <a:xfrm>
              <a:off x="4853" y="1018"/>
              <a:ext cx="453" cy="152"/>
            </a:xfrm>
            <a:prstGeom prst="rect">
              <a:avLst/>
            </a:prstGeom>
            <a:gradFill rotWithShape="0">
              <a:gsLst>
                <a:gs pos="0">
                  <a:srgbClr val="993366"/>
                </a:gs>
                <a:gs pos="50000">
                  <a:schemeClr val="bg1"/>
                </a:gs>
                <a:gs pos="100000">
                  <a:srgbClr val="993366"/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379" name="矩形 446546"/>
            <p:cNvSpPr/>
            <p:nvPr/>
          </p:nvSpPr>
          <p:spPr>
            <a:xfrm>
              <a:off x="3435" y="580"/>
              <a:ext cx="1307" cy="960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380" name="任意多边形 446547"/>
            <p:cNvSpPr/>
            <p:nvPr/>
          </p:nvSpPr>
          <p:spPr>
            <a:xfrm>
              <a:off x="3291" y="436"/>
              <a:ext cx="2208" cy="1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08" y="0"/>
                </a:cxn>
                <a:cxn ang="0">
                  <a:pos x="2208" y="144"/>
                </a:cxn>
                <a:cxn ang="0">
                  <a:pos x="144" y="144"/>
                </a:cxn>
                <a:cxn ang="0">
                  <a:pos x="144" y="1104"/>
                </a:cxn>
                <a:cxn ang="0">
                  <a:pos x="2208" y="1104"/>
                </a:cxn>
                <a:cxn ang="0">
                  <a:pos x="2208" y="1248"/>
                </a:cxn>
                <a:cxn ang="0">
                  <a:pos x="0" y="1248"/>
                </a:cxn>
                <a:cxn ang="0">
                  <a:pos x="0" y="0"/>
                </a:cxn>
              </a:cxnLst>
              <a:rect l="0" t="0" r="0" b="0"/>
              <a:pathLst>
                <a:path w="2208" h="1248">
                  <a:moveTo>
                    <a:pt x="0" y="0"/>
                  </a:moveTo>
                  <a:lnTo>
                    <a:pt x="2208" y="0"/>
                  </a:lnTo>
                  <a:lnTo>
                    <a:pt x="2208" y="144"/>
                  </a:lnTo>
                  <a:lnTo>
                    <a:pt x="144" y="144"/>
                  </a:lnTo>
                  <a:lnTo>
                    <a:pt x="144" y="1104"/>
                  </a:lnTo>
                  <a:lnTo>
                    <a:pt x="2208" y="1104"/>
                  </a:lnTo>
                  <a:lnTo>
                    <a:pt x="2208" y="1248"/>
                  </a:lnTo>
                  <a:lnTo>
                    <a:pt x="0" y="124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</a:blipFill>
            <a:ln w="9525" cap="flat" cmpd="sng">
              <a:solidFill>
                <a:srgbClr val="99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549" name="矩形 446548"/>
            <p:cNvSpPr/>
            <p:nvPr/>
          </p:nvSpPr>
          <p:spPr>
            <a:xfrm>
              <a:off x="4717" y="580"/>
              <a:ext cx="161" cy="960"/>
            </a:xfrm>
            <a:prstGeom prst="rect">
              <a:avLst/>
            </a:prstGeom>
            <a:gradFill rotWithShape="0">
              <a:gsLst>
                <a:gs pos="0">
                  <a:srgbClr val="003366"/>
                </a:gs>
                <a:gs pos="50000">
                  <a:schemeClr val="bg1"/>
                </a:gs>
                <a:gs pos="100000">
                  <a:srgbClr val="003366"/>
                </a:gs>
              </a:gsLst>
              <a:lin ang="5400000" scaled="1"/>
              <a:tileRect/>
            </a:gradFill>
            <a:ln w="9525" cap="flat" cmpd="sng">
              <a:solidFill>
                <a:srgbClr val="00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0" i="1" u="none" strike="noStrike" kern="1200" cap="none" spc="0" normalizeH="0" baseline="0" noProof="1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6550" name="文本框 446549"/>
            <p:cNvSpPr txBox="1"/>
            <p:nvPr/>
          </p:nvSpPr>
          <p:spPr>
            <a:xfrm>
              <a:off x="3844" y="913"/>
              <a:ext cx="8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i="1" kern="1200" cap="none" spc="0" normalizeH="0" baseline="0" noProof="1"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  <a:r>
                <a:rPr kumimoji="0" lang="zh-CN" altLang="en-US" kern="1200" cap="none" spc="0" normalizeH="0" baseline="0" noProof="1"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＝</a:t>
              </a:r>
              <a:r>
                <a:rPr kumimoji="0" lang="en-US" altLang="zh-CN" kern="1200" cap="none" spc="0" normalizeH="0" baseline="0" noProof="1"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01383" name="直接连接符 446550"/>
            <p:cNvSpPr/>
            <p:nvPr/>
          </p:nvSpPr>
          <p:spPr>
            <a:xfrm>
              <a:off x="4898" y="943"/>
              <a:ext cx="36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46552" name="文本框 446551"/>
            <p:cNvSpPr txBox="1"/>
            <p:nvPr/>
          </p:nvSpPr>
          <p:spPr>
            <a:xfrm>
              <a:off x="4989" y="670"/>
              <a:ext cx="7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i="1" kern="1200" cap="none" spc="0" normalizeH="0" baseline="0" noProof="1"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3" name="组合 446509"/>
          <p:cNvGrpSpPr/>
          <p:nvPr/>
        </p:nvGrpSpPr>
        <p:grpSpPr>
          <a:xfrm>
            <a:off x="5972175" y="206375"/>
            <a:ext cx="3352800" cy="990600"/>
            <a:chOff x="3360" y="2784"/>
            <a:chExt cx="2112" cy="624"/>
          </a:xfrm>
        </p:grpSpPr>
        <p:sp>
          <p:nvSpPr>
            <p:cNvPr id="101386" name="任意多边形 446510"/>
            <p:cNvSpPr/>
            <p:nvPr/>
          </p:nvSpPr>
          <p:spPr>
            <a:xfrm>
              <a:off x="3360" y="2784"/>
              <a:ext cx="1920" cy="6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7" y="11"/>
                </a:cxn>
                <a:cxn ang="0">
                  <a:pos x="2127" y="475"/>
                </a:cxn>
                <a:cxn ang="0">
                  <a:pos x="1233" y="475"/>
                </a:cxn>
                <a:cxn ang="0">
                  <a:pos x="1120" y="871"/>
                </a:cxn>
                <a:cxn ang="0">
                  <a:pos x="1064" y="475"/>
                </a:cxn>
                <a:cxn ang="0">
                  <a:pos x="336" y="475"/>
                </a:cxn>
                <a:cxn ang="0">
                  <a:pos x="336" y="714"/>
                </a:cxn>
                <a:cxn ang="0">
                  <a:pos x="224" y="475"/>
                </a:cxn>
                <a:cxn ang="0">
                  <a:pos x="0" y="475"/>
                </a:cxn>
                <a:cxn ang="0">
                  <a:pos x="0" y="0"/>
                </a:cxn>
              </a:cxnLst>
              <a:rect l="0" t="0" r="0" b="0"/>
              <a:pathLst>
                <a:path w="1824" h="528">
                  <a:moveTo>
                    <a:pt x="0" y="0"/>
                  </a:moveTo>
                  <a:cubicBezTo>
                    <a:pt x="608" y="2"/>
                    <a:pt x="1216" y="5"/>
                    <a:pt x="1824" y="7"/>
                  </a:cubicBezTo>
                  <a:lnTo>
                    <a:pt x="1824" y="288"/>
                  </a:lnTo>
                  <a:lnTo>
                    <a:pt x="1056" y="288"/>
                  </a:lnTo>
                  <a:lnTo>
                    <a:pt x="960" y="528"/>
                  </a:lnTo>
                  <a:lnTo>
                    <a:pt x="912" y="288"/>
                  </a:lnTo>
                  <a:lnTo>
                    <a:pt x="288" y="288"/>
                  </a:lnTo>
                  <a:lnTo>
                    <a:pt x="288" y="432"/>
                  </a:lnTo>
                  <a:lnTo>
                    <a:pt x="192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19050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512" name="文本框 446511"/>
            <p:cNvSpPr txBox="1"/>
            <p:nvPr/>
          </p:nvSpPr>
          <p:spPr>
            <a:xfrm>
              <a:off x="3360" y="2784"/>
              <a:ext cx="21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绝热的汽缸壁和活塞</a:t>
              </a:r>
            </a:p>
          </p:txBody>
        </p:sp>
      </p:grpSp>
      <p:sp>
        <p:nvSpPr>
          <p:cNvPr id="446468" name="文本框 446467"/>
          <p:cNvSpPr txBox="1"/>
          <p:nvPr/>
        </p:nvSpPr>
        <p:spPr>
          <a:xfrm>
            <a:off x="179388" y="44450"/>
            <a:ext cx="2971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四</a:t>
            </a:r>
            <a:r>
              <a:rPr kumimoji="0" lang="zh-CN" altLang="en-US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、</a:t>
            </a:r>
            <a:r>
              <a:rPr kumimoji="0" lang="zh-CN" altLang="en-US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绝热过程</a:t>
            </a:r>
          </a:p>
        </p:txBody>
      </p:sp>
      <p:sp>
        <p:nvSpPr>
          <p:cNvPr id="446513" name="文本框 446512"/>
          <p:cNvSpPr txBox="1"/>
          <p:nvPr/>
        </p:nvSpPr>
        <p:spPr>
          <a:xfrm>
            <a:off x="468313" y="668338"/>
            <a:ext cx="3311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功能转换关系</a:t>
            </a:r>
          </a:p>
        </p:txBody>
      </p:sp>
      <p:graphicFrame>
        <p:nvGraphicFramePr>
          <p:cNvPr id="446514" name="对象 446513"/>
          <p:cNvGraphicFramePr/>
          <p:nvPr/>
        </p:nvGraphicFramePr>
        <p:xfrm>
          <a:off x="900113" y="2565400"/>
          <a:ext cx="1484312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" r:id="rId5" imgW="634365" imgH="165100" progId="Equation.DSMT4">
                  <p:embed/>
                </p:oleObj>
              </mc:Choice>
              <mc:Fallback>
                <p:oleObj r:id="rId5" imgW="634365" imgH="1651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2565400"/>
                        <a:ext cx="1484312" cy="398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515" name="对象 446514"/>
          <p:cNvGraphicFramePr/>
          <p:nvPr/>
        </p:nvGraphicFramePr>
        <p:xfrm>
          <a:off x="966788" y="2924175"/>
          <a:ext cx="20828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2" r:id="rId7" imgW="1002665" imgH="393700" progId="Equation.DSMT4">
                  <p:embed/>
                </p:oleObj>
              </mc:Choice>
              <mc:Fallback>
                <p:oleObj r:id="rId7" imgW="1002665" imgH="3937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6788" y="2924175"/>
                        <a:ext cx="2082800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516" name="对象 446515"/>
          <p:cNvGraphicFramePr/>
          <p:nvPr/>
        </p:nvGraphicFramePr>
        <p:xfrm>
          <a:off x="1104900" y="3789363"/>
          <a:ext cx="26749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3" r:id="rId9" imgW="1583690" imgH="490855" progId="Equation.DSMT4">
                  <p:embed/>
                </p:oleObj>
              </mc:Choice>
              <mc:Fallback>
                <p:oleObj r:id="rId9" imgW="1583690" imgH="490855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4900" y="3789363"/>
                        <a:ext cx="2674938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517" name="对象 446516"/>
          <p:cNvGraphicFramePr/>
          <p:nvPr/>
        </p:nvGraphicFramePr>
        <p:xfrm>
          <a:off x="1104900" y="4703763"/>
          <a:ext cx="25574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4" r:id="rId11" imgW="1066800" imgH="393700" progId="Equation.3">
                  <p:embed/>
                </p:oleObj>
              </mc:Choice>
              <mc:Fallback>
                <p:oleObj r:id="rId11" imgW="1066800" imgH="3937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04900" y="4703763"/>
                        <a:ext cx="2557463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519" name="文本框 446518"/>
          <p:cNvSpPr txBox="1"/>
          <p:nvPr/>
        </p:nvSpPr>
        <p:spPr>
          <a:xfrm>
            <a:off x="395288" y="2060575"/>
            <a:ext cx="2800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由热一律</a:t>
            </a:r>
            <a:r>
              <a:rPr kumimoji="0" lang="en-US" altLang="zh-CN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grpSp>
        <p:nvGrpSpPr>
          <p:cNvPr id="4" name="组合 446520"/>
          <p:cNvGrpSpPr/>
          <p:nvPr/>
        </p:nvGrpSpPr>
        <p:grpSpPr>
          <a:xfrm>
            <a:off x="5867400" y="2781300"/>
            <a:ext cx="3276600" cy="3124200"/>
            <a:chOff x="3312" y="384"/>
            <a:chExt cx="2064" cy="1968"/>
          </a:xfrm>
        </p:grpSpPr>
        <p:sp>
          <p:nvSpPr>
            <p:cNvPr id="101396" name="矩形 446521"/>
            <p:cNvSpPr/>
            <p:nvPr/>
          </p:nvSpPr>
          <p:spPr>
            <a:xfrm>
              <a:off x="3312" y="384"/>
              <a:ext cx="2064" cy="196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1397" name="对象 446522"/>
            <p:cNvGraphicFramePr/>
            <p:nvPr/>
          </p:nvGraphicFramePr>
          <p:xfrm>
            <a:off x="3985" y="495"/>
            <a:ext cx="91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5" r:id="rId13" imgW="1040765" imgH="317500" progId="Equation.3">
                    <p:embed/>
                  </p:oleObj>
                </mc:Choice>
                <mc:Fallback>
                  <p:oleObj r:id="rId13" imgW="1040765" imgH="3175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985" y="495"/>
                          <a:ext cx="911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398" name="对象 446523"/>
            <p:cNvGraphicFramePr/>
            <p:nvPr/>
          </p:nvGraphicFramePr>
          <p:xfrm>
            <a:off x="4523" y="1325"/>
            <a:ext cx="803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6" r:id="rId15" imgW="1141730" imgH="317500" progId="Equation.3">
                    <p:embed/>
                  </p:oleObj>
                </mc:Choice>
                <mc:Fallback>
                  <p:oleObj r:id="rId15" imgW="1141730" imgH="31750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23" y="1325"/>
                          <a:ext cx="803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9" name="直接连接符 446524"/>
            <p:cNvSpPr/>
            <p:nvPr/>
          </p:nvSpPr>
          <p:spPr>
            <a:xfrm flipV="1">
              <a:off x="3641" y="2010"/>
              <a:ext cx="1556" cy="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1400" name="任意多边形 446525"/>
            <p:cNvSpPr/>
            <p:nvPr/>
          </p:nvSpPr>
          <p:spPr>
            <a:xfrm flipH="1" flipV="1">
              <a:off x="3971" y="470"/>
              <a:ext cx="1087" cy="1193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0" y="4"/>
                </a:cxn>
                <a:cxn ang="0">
                  <a:pos x="1" y="0"/>
                </a:cxn>
              </a:cxnLst>
              <a:rect l="0" t="0" r="0" b="0"/>
              <a:pathLst>
                <a:path w="21059" h="21281" fill="none">
                  <a:moveTo>
                    <a:pt x="3699" y="0"/>
                  </a:moveTo>
                  <a:cubicBezTo>
                    <a:pt x="12295" y="1484"/>
                    <a:pt x="19144" y="8039"/>
                    <a:pt x="21061" y="16463"/>
                  </a:cubicBezTo>
                </a:path>
                <a:path w="21059" h="21281" stroke="0">
                  <a:moveTo>
                    <a:pt x="3699" y="0"/>
                  </a:moveTo>
                  <a:cubicBezTo>
                    <a:pt x="12295" y="1484"/>
                    <a:pt x="19144" y="8039"/>
                    <a:pt x="21061" y="16463"/>
                  </a:cubicBezTo>
                  <a:lnTo>
                    <a:pt x="0" y="21281"/>
                  </a:lnTo>
                  <a:lnTo>
                    <a:pt x="3699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01" name="直接连接符 446526"/>
            <p:cNvSpPr/>
            <p:nvPr/>
          </p:nvSpPr>
          <p:spPr>
            <a:xfrm flipH="1">
              <a:off x="3971" y="769"/>
              <a:ext cx="14" cy="1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1402" name="直接连接符 446527"/>
            <p:cNvSpPr/>
            <p:nvPr/>
          </p:nvSpPr>
          <p:spPr>
            <a:xfrm>
              <a:off x="4877" y="1676"/>
              <a:ext cx="0" cy="34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1403" name="直接连接符 446528"/>
            <p:cNvSpPr/>
            <p:nvPr/>
          </p:nvSpPr>
          <p:spPr>
            <a:xfrm flipH="1">
              <a:off x="3641" y="726"/>
              <a:ext cx="33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46530" name="文本框 446529"/>
            <p:cNvSpPr txBox="1"/>
            <p:nvPr/>
          </p:nvSpPr>
          <p:spPr>
            <a:xfrm>
              <a:off x="3850" y="480"/>
              <a:ext cx="2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solidFill>
                    <a:srgbClr val="A5002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46531" name="文本框 446530"/>
            <p:cNvSpPr txBox="1"/>
            <p:nvPr/>
          </p:nvSpPr>
          <p:spPr>
            <a:xfrm>
              <a:off x="4882" y="1539"/>
              <a:ext cx="2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solidFill>
                    <a:srgbClr val="A5002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1406" name="对象 446531"/>
            <p:cNvGraphicFramePr/>
            <p:nvPr/>
          </p:nvGraphicFramePr>
          <p:xfrm>
            <a:off x="3357" y="641"/>
            <a:ext cx="26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7" r:id="rId17" imgW="266065" imgH="316865" progId="Equation.3">
                    <p:embed/>
                  </p:oleObj>
                </mc:Choice>
                <mc:Fallback>
                  <p:oleObj r:id="rId17" imgW="266065" imgH="316865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57" y="641"/>
                          <a:ext cx="264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7" name="对象 446532"/>
            <p:cNvGraphicFramePr/>
            <p:nvPr/>
          </p:nvGraphicFramePr>
          <p:xfrm>
            <a:off x="3357" y="1507"/>
            <a:ext cx="25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8" r:id="rId19" imgW="292100" imgH="317500" progId="Equation.3">
                    <p:embed/>
                  </p:oleObj>
                </mc:Choice>
                <mc:Fallback>
                  <p:oleObj r:id="rId19" imgW="292100" imgH="3175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357" y="1507"/>
                          <a:ext cx="253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8" name="对象 446533"/>
            <p:cNvGraphicFramePr/>
            <p:nvPr/>
          </p:nvGraphicFramePr>
          <p:xfrm>
            <a:off x="3895" y="1978"/>
            <a:ext cx="25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9" r:id="rId21" imgW="127000" imgH="164465" progId="Equation.3">
                    <p:embed/>
                  </p:oleObj>
                </mc:Choice>
                <mc:Fallback>
                  <p:oleObj r:id="rId21" imgW="127000" imgH="164465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895" y="1978"/>
                          <a:ext cx="255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9" name="对象 446534"/>
            <p:cNvGraphicFramePr/>
            <p:nvPr/>
          </p:nvGraphicFramePr>
          <p:xfrm>
            <a:off x="4732" y="1978"/>
            <a:ext cx="285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0" r:id="rId23" imgW="139700" imgH="165100" progId="Equation.3">
                    <p:embed/>
                  </p:oleObj>
                </mc:Choice>
                <mc:Fallback>
                  <p:oleObj r:id="rId23" imgW="139700" imgH="16510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732" y="1978"/>
                          <a:ext cx="285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0" name="对象 446535"/>
            <p:cNvGraphicFramePr/>
            <p:nvPr/>
          </p:nvGraphicFramePr>
          <p:xfrm>
            <a:off x="3402" y="470"/>
            <a:ext cx="183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1" r:id="rId25" imgW="203200" imgH="241300" progId="Equation.3">
                    <p:embed/>
                  </p:oleObj>
                </mc:Choice>
                <mc:Fallback>
                  <p:oleObj r:id="rId25" imgW="203200" imgH="2413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402" y="470"/>
                          <a:ext cx="183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1" name="对象 446536"/>
            <p:cNvGraphicFramePr/>
            <p:nvPr/>
          </p:nvGraphicFramePr>
          <p:xfrm>
            <a:off x="5017" y="2060"/>
            <a:ext cx="168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2" r:id="rId27" imgW="215900" imgH="241300" progId="Equation.3">
                    <p:embed/>
                  </p:oleObj>
                </mc:Choice>
                <mc:Fallback>
                  <p:oleObj r:id="rId27" imgW="215900" imgH="2413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017" y="2060"/>
                          <a:ext cx="168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12" name="对象 446537"/>
            <p:cNvGraphicFramePr/>
            <p:nvPr/>
          </p:nvGraphicFramePr>
          <p:xfrm>
            <a:off x="3559" y="2018"/>
            <a:ext cx="15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93" r:id="rId29" imgW="165100" imgH="190500" progId="Equation.3">
                    <p:embed/>
                  </p:oleObj>
                </mc:Choice>
                <mc:Fallback>
                  <p:oleObj r:id="rId29" imgW="165100" imgH="19050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559" y="2018"/>
                          <a:ext cx="151" cy="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413" name="直接连接符 446538"/>
            <p:cNvSpPr/>
            <p:nvPr/>
          </p:nvSpPr>
          <p:spPr>
            <a:xfrm flipV="1">
              <a:off x="3626" y="512"/>
              <a:ext cx="0" cy="149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1414" name="任意多边形 446539"/>
            <p:cNvSpPr/>
            <p:nvPr/>
          </p:nvSpPr>
          <p:spPr>
            <a:xfrm>
              <a:off x="3963" y="747"/>
              <a:ext cx="912" cy="1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" y="94"/>
                </a:cxn>
                <a:cxn ang="0">
                  <a:pos x="21" y="1248"/>
                </a:cxn>
                <a:cxn ang="0">
                  <a:pos x="912" y="1248"/>
                </a:cxn>
                <a:cxn ang="0">
                  <a:pos x="906" y="940"/>
                </a:cxn>
                <a:cxn ang="0">
                  <a:pos x="727" y="885"/>
                </a:cxn>
                <a:cxn ang="0">
                  <a:pos x="576" y="816"/>
                </a:cxn>
                <a:cxn ang="0">
                  <a:pos x="446" y="727"/>
                </a:cxn>
                <a:cxn ang="0">
                  <a:pos x="355" y="644"/>
                </a:cxn>
                <a:cxn ang="0">
                  <a:pos x="220" y="508"/>
                </a:cxn>
                <a:cxn ang="0">
                  <a:pos x="117" y="357"/>
                </a:cxn>
                <a:cxn ang="0">
                  <a:pos x="48" y="186"/>
                </a:cxn>
                <a:cxn ang="0">
                  <a:pos x="0" y="0"/>
                </a:cxn>
              </a:cxnLst>
              <a:rect l="0" t="0" r="0" b="0"/>
              <a:pathLst>
                <a:path w="912" h="1248">
                  <a:moveTo>
                    <a:pt x="0" y="0"/>
                  </a:moveTo>
                  <a:cubicBezTo>
                    <a:pt x="9" y="76"/>
                    <a:pt x="28" y="9"/>
                    <a:pt x="28" y="94"/>
                  </a:cubicBezTo>
                  <a:lnTo>
                    <a:pt x="21" y="1248"/>
                  </a:lnTo>
                  <a:lnTo>
                    <a:pt x="912" y="1248"/>
                  </a:lnTo>
                  <a:lnTo>
                    <a:pt x="906" y="940"/>
                  </a:lnTo>
                  <a:lnTo>
                    <a:pt x="727" y="885"/>
                  </a:lnTo>
                  <a:lnTo>
                    <a:pt x="576" y="816"/>
                  </a:lnTo>
                  <a:lnTo>
                    <a:pt x="446" y="727"/>
                  </a:lnTo>
                  <a:lnTo>
                    <a:pt x="355" y="644"/>
                  </a:lnTo>
                  <a:lnTo>
                    <a:pt x="220" y="508"/>
                  </a:lnTo>
                  <a:lnTo>
                    <a:pt x="117" y="357"/>
                  </a:lnTo>
                  <a:lnTo>
                    <a:pt x="48" y="18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1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15" name="直接连接符 446540"/>
            <p:cNvSpPr/>
            <p:nvPr/>
          </p:nvSpPr>
          <p:spPr>
            <a:xfrm flipH="1">
              <a:off x="3641" y="1676"/>
              <a:ext cx="12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1416" name="直接连接符 446541"/>
            <p:cNvSpPr/>
            <p:nvPr/>
          </p:nvSpPr>
          <p:spPr>
            <a:xfrm>
              <a:off x="4120" y="1122"/>
              <a:ext cx="82" cy="128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446543" name="文本框 446542"/>
            <p:cNvSpPr txBox="1"/>
            <p:nvPr/>
          </p:nvSpPr>
          <p:spPr>
            <a:xfrm>
              <a:off x="4224" y="1632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b="1" i="1" kern="1200" cap="none" spc="0" normalizeH="0" baseline="0" noProof="1"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aphicFrame>
        <p:nvGraphicFramePr>
          <p:cNvPr id="446553" name="对象 446552"/>
          <p:cNvGraphicFramePr/>
          <p:nvPr/>
        </p:nvGraphicFramePr>
        <p:xfrm>
          <a:off x="2065338" y="1249363"/>
          <a:ext cx="249237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4" r:id="rId32" imgW="1104900" imgH="393700" progId="Equation.DSMT4">
                  <p:embed/>
                </p:oleObj>
              </mc:Choice>
              <mc:Fallback>
                <p:oleObj r:id="rId32" imgW="1104900" imgH="3937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065338" y="1249363"/>
                        <a:ext cx="2492375" cy="8556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555" name="对象 446554"/>
          <p:cNvGraphicFramePr/>
          <p:nvPr/>
        </p:nvGraphicFramePr>
        <p:xfrm>
          <a:off x="971550" y="1454150"/>
          <a:ext cx="8207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5" r:id="rId34" imgW="380365" imgH="203200" progId="Equation.DSMT4">
                  <p:embed/>
                </p:oleObj>
              </mc:Choice>
              <mc:Fallback>
                <p:oleObj r:id="rId34" imgW="380365" imgH="2032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71550" y="1454150"/>
                        <a:ext cx="820738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08" name="对象 390498"/>
          <p:cNvGraphicFramePr/>
          <p:nvPr/>
        </p:nvGraphicFramePr>
        <p:xfrm>
          <a:off x="7313613" y="6000750"/>
          <a:ext cx="49371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6" r:id="rId36" imgW="215900" imgH="203200" progId="Equation.3">
                  <p:embed/>
                </p:oleObj>
              </mc:Choice>
              <mc:Fallback>
                <p:oleObj r:id="rId36" imgW="215900" imgH="2032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7313613" y="6000750"/>
                        <a:ext cx="493712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4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4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4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4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4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513" grpId="0"/>
      <p:bldP spid="4465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01" name="组合 452671"/>
          <p:cNvGrpSpPr/>
          <p:nvPr/>
        </p:nvGrpSpPr>
        <p:grpSpPr>
          <a:xfrm>
            <a:off x="5580063" y="115888"/>
            <a:ext cx="3455987" cy="3138487"/>
            <a:chOff x="3288" y="255"/>
            <a:chExt cx="2177" cy="1977"/>
          </a:xfrm>
        </p:grpSpPr>
        <p:sp>
          <p:nvSpPr>
            <p:cNvPr id="102402" name="矩形 452612"/>
            <p:cNvSpPr/>
            <p:nvPr/>
          </p:nvSpPr>
          <p:spPr>
            <a:xfrm>
              <a:off x="3288" y="255"/>
              <a:ext cx="2177" cy="197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2614" name="圆角矩形标注 452613"/>
            <p:cNvSpPr/>
            <p:nvPr/>
          </p:nvSpPr>
          <p:spPr>
            <a:xfrm>
              <a:off x="4327" y="650"/>
              <a:ext cx="693" cy="396"/>
            </a:xfrm>
            <a:prstGeom prst="wedgeRoundRectCallout">
              <a:avLst>
                <a:gd name="adj1" fmla="val -53463"/>
                <a:gd name="adj2" fmla="val 92426"/>
                <a:gd name="adj3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02404" name="对象 452614"/>
            <p:cNvGraphicFramePr/>
            <p:nvPr/>
          </p:nvGraphicFramePr>
          <p:xfrm>
            <a:off x="3998" y="384"/>
            <a:ext cx="8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3" r:id="rId3" imgW="1040765" imgH="317500" progId="Equation.3">
                    <p:embed/>
                  </p:oleObj>
                </mc:Choice>
                <mc:Fallback>
                  <p:oleObj r:id="rId3" imgW="1040765" imgH="317500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98" y="384"/>
                          <a:ext cx="89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05" name="对象 452615"/>
            <p:cNvGraphicFramePr/>
            <p:nvPr/>
          </p:nvGraphicFramePr>
          <p:xfrm>
            <a:off x="4566" y="1200"/>
            <a:ext cx="846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4" r:id="rId5" imgW="1141730" imgH="317500" progId="Equation.3">
                    <p:embed/>
                  </p:oleObj>
                </mc:Choice>
                <mc:Fallback>
                  <p:oleObj r:id="rId5" imgW="1141730" imgH="3175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566" y="1200"/>
                          <a:ext cx="846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06" name="直接连接符 452616"/>
            <p:cNvSpPr/>
            <p:nvPr/>
          </p:nvSpPr>
          <p:spPr>
            <a:xfrm>
              <a:off x="3585" y="1886"/>
              <a:ext cx="158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2407" name="任意多边形 452617"/>
            <p:cNvSpPr/>
            <p:nvPr/>
          </p:nvSpPr>
          <p:spPr>
            <a:xfrm flipH="1" flipV="1">
              <a:off x="3983" y="340"/>
              <a:ext cx="1147" cy="120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0" y="4"/>
                </a:cxn>
                <a:cxn ang="0">
                  <a:pos x="1" y="0"/>
                </a:cxn>
              </a:cxnLst>
              <a:rect l="0" t="0" r="0" b="0"/>
              <a:pathLst>
                <a:path w="21059" h="21281" fill="none">
                  <a:moveTo>
                    <a:pt x="3699" y="0"/>
                  </a:moveTo>
                  <a:cubicBezTo>
                    <a:pt x="12295" y="1484"/>
                    <a:pt x="19144" y="8039"/>
                    <a:pt x="21061" y="16463"/>
                  </a:cubicBezTo>
                </a:path>
                <a:path w="21059" h="21281" stroke="0">
                  <a:moveTo>
                    <a:pt x="3699" y="0"/>
                  </a:moveTo>
                  <a:cubicBezTo>
                    <a:pt x="12295" y="1484"/>
                    <a:pt x="19144" y="8039"/>
                    <a:pt x="21061" y="16463"/>
                  </a:cubicBezTo>
                  <a:lnTo>
                    <a:pt x="0" y="21281"/>
                  </a:lnTo>
                  <a:lnTo>
                    <a:pt x="3699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08" name="直接连接符 452618"/>
            <p:cNvSpPr/>
            <p:nvPr/>
          </p:nvSpPr>
          <p:spPr>
            <a:xfrm flipH="1">
              <a:off x="3983" y="642"/>
              <a:ext cx="15" cy="125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2409" name="直接连接符 452619"/>
            <p:cNvSpPr/>
            <p:nvPr/>
          </p:nvSpPr>
          <p:spPr>
            <a:xfrm>
              <a:off x="4938" y="1552"/>
              <a:ext cx="0" cy="3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2410" name="直接连接符 452620"/>
            <p:cNvSpPr/>
            <p:nvPr/>
          </p:nvSpPr>
          <p:spPr>
            <a:xfrm flipH="1">
              <a:off x="3635" y="599"/>
              <a:ext cx="34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2411" name="直接连接符 452621"/>
            <p:cNvSpPr/>
            <p:nvPr/>
          </p:nvSpPr>
          <p:spPr>
            <a:xfrm flipH="1">
              <a:off x="3635" y="1552"/>
              <a:ext cx="130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52623" name="文本框 452622"/>
            <p:cNvSpPr txBox="1"/>
            <p:nvPr/>
          </p:nvSpPr>
          <p:spPr>
            <a:xfrm>
              <a:off x="3856" y="385"/>
              <a:ext cx="3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solidFill>
                    <a:srgbClr val="A5002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52624" name="文本框 452623"/>
            <p:cNvSpPr txBox="1"/>
            <p:nvPr/>
          </p:nvSpPr>
          <p:spPr>
            <a:xfrm>
              <a:off x="4944" y="1414"/>
              <a:ext cx="2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solidFill>
                    <a:srgbClr val="A5002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414" name="直接连接符 452624"/>
            <p:cNvSpPr/>
            <p:nvPr/>
          </p:nvSpPr>
          <p:spPr>
            <a:xfrm>
              <a:off x="4139" y="996"/>
              <a:ext cx="88" cy="129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graphicFrame>
          <p:nvGraphicFramePr>
            <p:cNvPr id="102415" name="对象 452625"/>
            <p:cNvGraphicFramePr/>
            <p:nvPr/>
          </p:nvGraphicFramePr>
          <p:xfrm>
            <a:off x="3335" y="512"/>
            <a:ext cx="280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5" r:id="rId7" imgW="266065" imgH="316865" progId="Equation.3">
                    <p:embed/>
                  </p:oleObj>
                </mc:Choice>
                <mc:Fallback>
                  <p:oleObj r:id="rId7" imgW="266065" imgH="316865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35" y="512"/>
                          <a:ext cx="280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6" name="对象 452626"/>
            <p:cNvGraphicFramePr/>
            <p:nvPr/>
          </p:nvGraphicFramePr>
          <p:xfrm>
            <a:off x="3335" y="1384"/>
            <a:ext cx="26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6" r:id="rId9" imgW="292100" imgH="317500" progId="Equation.3">
                    <p:embed/>
                  </p:oleObj>
                </mc:Choice>
                <mc:Fallback>
                  <p:oleObj r:id="rId9" imgW="292100" imgH="3175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35" y="1384"/>
                          <a:ext cx="267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7" name="对象 452627"/>
            <p:cNvGraphicFramePr/>
            <p:nvPr/>
          </p:nvGraphicFramePr>
          <p:xfrm>
            <a:off x="3903" y="1856"/>
            <a:ext cx="268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7" r:id="rId11" imgW="127000" imgH="164465" progId="Equation.3">
                    <p:embed/>
                  </p:oleObj>
                </mc:Choice>
                <mc:Fallback>
                  <p:oleObj r:id="rId11" imgW="127000" imgH="164465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03" y="1856"/>
                          <a:ext cx="268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8" name="对象 452628"/>
            <p:cNvGraphicFramePr/>
            <p:nvPr/>
          </p:nvGraphicFramePr>
          <p:xfrm>
            <a:off x="4786" y="1856"/>
            <a:ext cx="30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8" r:id="rId13" imgW="139700" imgH="165100" progId="Equation.3">
                    <p:embed/>
                  </p:oleObj>
                </mc:Choice>
                <mc:Fallback>
                  <p:oleObj r:id="rId13" imgW="139700" imgH="1651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86" y="1856"/>
                          <a:ext cx="30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19" name="对象 452629"/>
            <p:cNvGraphicFramePr/>
            <p:nvPr/>
          </p:nvGraphicFramePr>
          <p:xfrm>
            <a:off x="3383" y="340"/>
            <a:ext cx="19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9" r:id="rId15" imgW="203200" imgH="241300" progId="Equation.3">
                    <p:embed/>
                  </p:oleObj>
                </mc:Choice>
                <mc:Fallback>
                  <p:oleObj r:id="rId15" imgW="203200" imgH="2413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83" y="340"/>
                          <a:ext cx="193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20" name="对象 452630"/>
            <p:cNvGraphicFramePr/>
            <p:nvPr/>
          </p:nvGraphicFramePr>
          <p:xfrm>
            <a:off x="5087" y="1939"/>
            <a:ext cx="177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0" r:id="rId17" imgW="215900" imgH="241300" progId="Equation.3">
                    <p:embed/>
                  </p:oleObj>
                </mc:Choice>
                <mc:Fallback>
                  <p:oleObj r:id="rId17" imgW="215900" imgH="2413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087" y="1939"/>
                          <a:ext cx="177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21" name="对象 452631"/>
            <p:cNvGraphicFramePr/>
            <p:nvPr/>
          </p:nvGraphicFramePr>
          <p:xfrm>
            <a:off x="3549" y="1896"/>
            <a:ext cx="159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1" r:id="rId19" imgW="165100" imgH="190500" progId="Equation.3">
                    <p:embed/>
                  </p:oleObj>
                </mc:Choice>
                <mc:Fallback>
                  <p:oleObj r:id="rId19" imgW="165100" imgH="1905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49" y="1896"/>
                          <a:ext cx="159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22" name="直接连接符 452632"/>
            <p:cNvSpPr/>
            <p:nvPr/>
          </p:nvSpPr>
          <p:spPr>
            <a:xfrm flipV="1">
              <a:off x="3619" y="384"/>
              <a:ext cx="0" cy="150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02423" name="对象 452633"/>
            <p:cNvGraphicFramePr/>
            <p:nvPr/>
          </p:nvGraphicFramePr>
          <p:xfrm>
            <a:off x="4377" y="734"/>
            <a:ext cx="63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2" r:id="rId21" imgW="469265" imgH="203200" progId="Equation.DSMT4">
                    <p:embed/>
                  </p:oleObj>
                </mc:Choice>
                <mc:Fallback>
                  <p:oleObj r:id="rId21" imgW="469265" imgH="203200" progId="Equation.DSMT4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77" y="734"/>
                          <a:ext cx="635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2645" name="文本框 452644"/>
          <p:cNvSpPr txBox="1"/>
          <p:nvPr/>
        </p:nvSpPr>
        <p:spPr>
          <a:xfrm>
            <a:off x="0" y="0"/>
            <a:ext cx="4824413" cy="57943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2. </a:t>
            </a:r>
            <a:r>
              <a:rPr kumimoji="0" lang="zh-CN" altLang="en-US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绝热过程方程</a:t>
            </a:r>
            <a:r>
              <a:rPr kumimoji="0" lang="en-US" altLang="zh-CN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(</a:t>
            </a:r>
            <a:r>
              <a:rPr kumimoji="0" lang="zh-CN" altLang="en-US" sz="32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准静态）</a:t>
            </a:r>
          </a:p>
        </p:txBody>
      </p:sp>
      <p:sp>
        <p:nvSpPr>
          <p:cNvPr id="452646" name="文本框 452645"/>
          <p:cNvSpPr txBox="1"/>
          <p:nvPr/>
        </p:nvSpPr>
        <p:spPr>
          <a:xfrm>
            <a:off x="731838" y="1881188"/>
            <a:ext cx="490538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</a:p>
        </p:txBody>
      </p:sp>
      <p:graphicFrame>
        <p:nvGraphicFramePr>
          <p:cNvPr id="452647" name="对象 452646"/>
          <p:cNvGraphicFramePr/>
          <p:nvPr/>
        </p:nvGraphicFramePr>
        <p:xfrm>
          <a:off x="1258888" y="1628775"/>
          <a:ext cx="20161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3" r:id="rId23" imgW="1092835" imgH="490855" progId="Equation.DSMT4">
                  <p:embed/>
                </p:oleObj>
              </mc:Choice>
              <mc:Fallback>
                <p:oleObj r:id="rId23" imgW="1092835" imgH="490855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628775"/>
                        <a:ext cx="2016125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8" name="对象 452647"/>
          <p:cNvGraphicFramePr/>
          <p:nvPr/>
        </p:nvGraphicFramePr>
        <p:xfrm>
          <a:off x="1982788" y="636588"/>
          <a:ext cx="21066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4" r:id="rId25" imgW="786130" imgH="177800" progId="Equation.DSMT4">
                  <p:embed/>
                </p:oleObj>
              </mc:Choice>
              <mc:Fallback>
                <p:oleObj r:id="rId25" imgW="786130" imgH="1778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982788" y="636588"/>
                        <a:ext cx="210661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49" name="文本框 452648"/>
          <p:cNvSpPr txBox="1"/>
          <p:nvPr/>
        </p:nvSpPr>
        <p:spPr>
          <a:xfrm>
            <a:off x="611188" y="620713"/>
            <a:ext cx="1828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热一律：</a:t>
            </a:r>
          </a:p>
        </p:txBody>
      </p:sp>
      <p:graphicFrame>
        <p:nvGraphicFramePr>
          <p:cNvPr id="452651" name="对象 452650"/>
          <p:cNvGraphicFramePr/>
          <p:nvPr/>
        </p:nvGraphicFramePr>
        <p:xfrm>
          <a:off x="2527300" y="2490788"/>
          <a:ext cx="153987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5" r:id="rId27" imgW="685800" imgH="393700" progId="Equation.DSMT4">
                  <p:embed/>
                </p:oleObj>
              </mc:Choice>
              <mc:Fallback>
                <p:oleObj r:id="rId27" imgW="685800" imgH="3937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527300" y="2490788"/>
                        <a:ext cx="1539875" cy="858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54" name="对象 452653"/>
          <p:cNvGraphicFramePr/>
          <p:nvPr/>
        </p:nvGraphicFramePr>
        <p:xfrm>
          <a:off x="611188" y="3349625"/>
          <a:ext cx="1727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6" r:id="rId29" imgW="698500" imgH="203200" progId="Equation.DSMT4">
                  <p:embed/>
                </p:oleObj>
              </mc:Choice>
              <mc:Fallback>
                <p:oleObj r:id="rId29" imgW="698500" imgH="2032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1188" y="3349625"/>
                        <a:ext cx="17272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55" name="矩形 452654"/>
          <p:cNvSpPr/>
          <p:nvPr/>
        </p:nvSpPr>
        <p:spPr>
          <a:xfrm>
            <a:off x="498475" y="1158875"/>
            <a:ext cx="35687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对理气准静态绝热过程</a:t>
            </a:r>
          </a:p>
        </p:txBody>
      </p:sp>
      <p:graphicFrame>
        <p:nvGraphicFramePr>
          <p:cNvPr id="452658" name="对象 452657"/>
          <p:cNvGraphicFramePr/>
          <p:nvPr/>
        </p:nvGraphicFramePr>
        <p:xfrm>
          <a:off x="682625" y="3819525"/>
          <a:ext cx="37385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7" r:id="rId31" imgW="1511300" imgH="393700" progId="Equation.DSMT4">
                  <p:embed/>
                </p:oleObj>
              </mc:Choice>
              <mc:Fallback>
                <p:oleObj r:id="rId31" imgW="1511300" imgH="3937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82625" y="3819525"/>
                        <a:ext cx="3738563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60" name="文本框 452659"/>
          <p:cNvSpPr txBox="1"/>
          <p:nvPr/>
        </p:nvSpPr>
        <p:spPr>
          <a:xfrm>
            <a:off x="34925" y="4999038"/>
            <a:ext cx="280035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以上两式相除</a:t>
            </a:r>
          </a:p>
        </p:txBody>
      </p:sp>
      <p:graphicFrame>
        <p:nvGraphicFramePr>
          <p:cNvPr id="452661" name="对象 452660"/>
          <p:cNvGraphicFramePr/>
          <p:nvPr/>
        </p:nvGraphicFramePr>
        <p:xfrm>
          <a:off x="2106613" y="4710113"/>
          <a:ext cx="3200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8" r:id="rId33" imgW="1282700" imgH="469900" progId="Equation.DSMT4">
                  <p:embed/>
                </p:oleObj>
              </mc:Choice>
              <mc:Fallback>
                <p:oleObj r:id="rId33" imgW="1282700" imgH="4699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06613" y="4710113"/>
                        <a:ext cx="3200400" cy="109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62" name="对象 452661"/>
          <p:cNvGraphicFramePr/>
          <p:nvPr/>
        </p:nvGraphicFramePr>
        <p:xfrm>
          <a:off x="1546225" y="5942013"/>
          <a:ext cx="2233613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9" r:id="rId35" imgW="1259840" imgH="523875" progId="Equation.3">
                  <p:embed/>
                </p:oleObj>
              </mc:Choice>
              <mc:Fallback>
                <p:oleObj r:id="rId35" imgW="1259840" imgH="523875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6225" y="5942013"/>
                        <a:ext cx="2233613" cy="915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64" name="对象 452663"/>
          <p:cNvGraphicFramePr/>
          <p:nvPr/>
        </p:nvGraphicFramePr>
        <p:xfrm>
          <a:off x="5434013" y="5589588"/>
          <a:ext cx="30972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" r:id="rId37" imgW="1438275" imgH="222885" progId="Equation.3">
                  <p:embed/>
                </p:oleObj>
              </mc:Choice>
              <mc:Fallback>
                <p:oleObj r:id="rId37" imgW="1438275" imgH="222885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3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4013" y="5589588"/>
                        <a:ext cx="3097212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67" name="直接连接符 452666"/>
          <p:cNvSpPr/>
          <p:nvPr/>
        </p:nvSpPr>
        <p:spPr>
          <a:xfrm flipV="1">
            <a:off x="396875" y="6445250"/>
            <a:ext cx="719138" cy="0"/>
          </a:xfrm>
          <a:prstGeom prst="line">
            <a:avLst/>
          </a:prstGeom>
          <a:ln w="76200" cap="flat" cmpd="sng">
            <a:solidFill>
              <a:srgbClr val="FF99FF"/>
            </a:solidFill>
            <a:prstDash val="solid"/>
            <a:round/>
            <a:headEnd type="none" w="med" len="med"/>
            <a:tailEnd type="triangle" w="med" len="med"/>
          </a:ln>
          <a:scene3d>
            <a:camera prst="legacyObliqueTopRight">
              <a:rot lat="0" lon="0" rev="0"/>
            </a:camera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</p:spPr>
      </p:sp>
      <p:sp>
        <p:nvSpPr>
          <p:cNvPr id="452668" name="直接连接符 452667"/>
          <p:cNvSpPr/>
          <p:nvPr/>
        </p:nvSpPr>
        <p:spPr>
          <a:xfrm flipV="1">
            <a:off x="4356100" y="6021388"/>
            <a:ext cx="719138" cy="0"/>
          </a:xfrm>
          <a:prstGeom prst="line">
            <a:avLst/>
          </a:prstGeom>
          <a:ln w="76200" cap="flat" cmpd="sng">
            <a:solidFill>
              <a:srgbClr val="FF99FF"/>
            </a:solidFill>
            <a:prstDash val="solid"/>
            <a:round/>
            <a:headEnd type="none" w="med" len="med"/>
            <a:tailEnd type="triangle" w="med" len="med"/>
          </a:ln>
          <a:scene3d>
            <a:camera prst="legacyObliqueTopRight">
              <a:rot lat="0" lon="0" rev="0"/>
            </a:camera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FF99FF"/>
            </a:extrusionClr>
          </a:sp3d>
        </p:spPr>
      </p:sp>
      <p:sp>
        <p:nvSpPr>
          <p:cNvPr id="452671" name="矩形 452670"/>
          <p:cNvSpPr/>
          <p:nvPr/>
        </p:nvSpPr>
        <p:spPr>
          <a:xfrm>
            <a:off x="1641475" y="1171575"/>
            <a:ext cx="982663" cy="457200"/>
          </a:xfrm>
          <a:prstGeom prst="rect">
            <a:avLst/>
          </a:prstGeom>
          <a:noFill/>
          <a:ln w="38100" cap="flat" cmpd="dbl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2673" name="矩形 452672"/>
          <p:cNvSpPr/>
          <p:nvPr/>
        </p:nvSpPr>
        <p:spPr>
          <a:xfrm>
            <a:off x="6027738" y="3355975"/>
            <a:ext cx="2941638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准静态绝热过程曲线</a:t>
            </a:r>
          </a:p>
        </p:txBody>
      </p:sp>
      <p:sp>
        <p:nvSpPr>
          <p:cNvPr id="452674" name="左弧形箭头 452673"/>
          <p:cNvSpPr/>
          <p:nvPr/>
        </p:nvSpPr>
        <p:spPr>
          <a:xfrm>
            <a:off x="142875" y="2955925"/>
            <a:ext cx="523875" cy="1543050"/>
          </a:xfrm>
          <a:prstGeom prst="curvedRightArrow">
            <a:avLst>
              <a:gd name="adj1" fmla="val 51913"/>
              <a:gd name="adj2" fmla="val 103812"/>
              <a:gd name="adj3" fmla="val 33273"/>
            </a:avLst>
          </a:prstGeom>
          <a:solidFill>
            <a:srgbClr val="FFFFFF"/>
          </a:solidFill>
          <a:ln w="25400" cap="flat" cmpd="sng">
            <a:solidFill>
              <a:srgbClr val="CC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44"/>
          <p:cNvGraphicFramePr/>
          <p:nvPr/>
        </p:nvGraphicFramePr>
        <p:xfrm>
          <a:off x="4643438" y="6205538"/>
          <a:ext cx="266382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" r:id="rId39" imgW="1226820" imgH="267335" progId="Equation.DSMT4">
                  <p:embed/>
                </p:oleObj>
              </mc:Choice>
              <mc:Fallback>
                <p:oleObj r:id="rId39" imgW="1226820" imgH="267335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4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6205538"/>
                        <a:ext cx="2663825" cy="65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2266950" y="3379788"/>
          <a:ext cx="10985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2" r:id="rId41" imgW="444500" imgH="177165" progId="Equation.DSMT4">
                  <p:embed/>
                </p:oleObj>
              </mc:Choice>
              <mc:Fallback>
                <p:oleObj r:id="rId41" imgW="444500" imgH="177165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266950" y="3379788"/>
                        <a:ext cx="109855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900113" y="2698750"/>
          <a:ext cx="16240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3" r:id="rId43" imgW="723900" imgH="203200" progId="Equation.DSMT4">
                  <p:embed/>
                </p:oleObj>
              </mc:Choice>
              <mc:Fallback>
                <p:oleObj r:id="rId43" imgW="723900" imgH="2032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900113" y="2698750"/>
                        <a:ext cx="1624012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3268663" y="3130550"/>
          <a:ext cx="238601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4" r:id="rId45" imgW="965200" imgH="393700" progId="Equation.DSMT4">
                  <p:embed/>
                </p:oleObj>
              </mc:Choice>
              <mc:Fallback>
                <p:oleObj r:id="rId45" imgW="965200" imgH="393700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268663" y="3130550"/>
                        <a:ext cx="2386012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4421188" y="3819525"/>
          <a:ext cx="21685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5" r:id="rId47" imgW="876300" imgH="393700" progId="Equation.DSMT4">
                  <p:embed/>
                </p:oleObj>
              </mc:Choice>
              <mc:Fallback>
                <p:oleObj r:id="rId47" imgW="876300" imgH="393700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421188" y="3819525"/>
                        <a:ext cx="2168525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5" name="对象 470024"/>
          <p:cNvGraphicFramePr/>
          <p:nvPr/>
        </p:nvGraphicFramePr>
        <p:xfrm>
          <a:off x="7596188" y="6264275"/>
          <a:ext cx="15113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6" r:id="rId49" imgW="624205" imgH="222885" progId="Equation.3">
                  <p:embed/>
                </p:oleObj>
              </mc:Choice>
              <mc:Fallback>
                <p:oleObj r:id="rId49" imgW="624205" imgH="222885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7596188" y="6264275"/>
                        <a:ext cx="1511300" cy="5349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5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5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5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45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2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5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5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5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5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5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46" grpId="0"/>
      <p:bldP spid="452649" grpId="0"/>
      <p:bldP spid="452655" grpId="0"/>
      <p:bldP spid="45266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20" name="文本框 470019"/>
          <p:cNvSpPr txBox="1"/>
          <p:nvPr/>
        </p:nvSpPr>
        <p:spPr>
          <a:xfrm>
            <a:off x="1690688" y="3189288"/>
            <a:ext cx="5257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PV</a:t>
            </a:r>
            <a:r>
              <a:rPr kumimoji="0" lang="en-US" altLang="zh-CN" i="1" kern="1200" cap="none" spc="0" normalizeH="0" baseline="3000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γ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zh-CN" altLang="en-US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PV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Book Antiqua" panose="02040602050305030304" pitchFamily="18" charset="0"/>
                <a:ea typeface="Batang" pitchFamily="18" charset="-127"/>
                <a:cs typeface="+mn-cs"/>
              </a:rPr>
              <a:t>’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sp>
        <p:nvSpPr>
          <p:cNvPr id="470021" name="文本框 470020"/>
          <p:cNvSpPr txBox="1"/>
          <p:nvPr/>
        </p:nvSpPr>
        <p:spPr>
          <a:xfrm>
            <a:off x="468313" y="4610100"/>
            <a:ext cx="396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绝热线的斜率： </a:t>
            </a:r>
          </a:p>
        </p:txBody>
      </p:sp>
      <p:sp>
        <p:nvSpPr>
          <p:cNvPr id="470022" name="文本框 470021"/>
          <p:cNvSpPr txBox="1"/>
          <p:nvPr/>
        </p:nvSpPr>
        <p:spPr>
          <a:xfrm>
            <a:off x="395288" y="5576888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等温线的斜率： </a:t>
            </a:r>
          </a:p>
        </p:txBody>
      </p:sp>
      <p:graphicFrame>
        <p:nvGraphicFramePr>
          <p:cNvPr id="103428" name="对象 470024"/>
          <p:cNvGraphicFramePr/>
          <p:nvPr/>
        </p:nvGraphicFramePr>
        <p:xfrm>
          <a:off x="468313" y="112713"/>
          <a:ext cx="184943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1" r:id="rId3" imgW="702310" imgH="222885" progId="Equation.3">
                  <p:embed/>
                </p:oleObj>
              </mc:Choice>
              <mc:Fallback>
                <p:oleObj r:id="rId3" imgW="702310" imgH="222885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12713"/>
                        <a:ext cx="1849437" cy="5794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6" name="文本框 470025"/>
          <p:cNvSpPr txBox="1"/>
          <p:nvPr/>
        </p:nvSpPr>
        <p:spPr>
          <a:xfrm>
            <a:off x="6011863" y="188913"/>
            <a:ext cx="2835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（泊松方程）</a:t>
            </a:r>
          </a:p>
        </p:txBody>
      </p:sp>
      <p:grpSp>
        <p:nvGrpSpPr>
          <p:cNvPr id="2" name="组合 470026"/>
          <p:cNvGrpSpPr/>
          <p:nvPr/>
        </p:nvGrpSpPr>
        <p:grpSpPr>
          <a:xfrm>
            <a:off x="468313" y="765175"/>
            <a:ext cx="3952875" cy="1952625"/>
            <a:chOff x="2655" y="709"/>
            <a:chExt cx="2765" cy="1392"/>
          </a:xfrm>
        </p:grpSpPr>
        <p:grpSp>
          <p:nvGrpSpPr>
            <p:cNvPr id="103431" name="组合 470027"/>
            <p:cNvGrpSpPr/>
            <p:nvPr/>
          </p:nvGrpSpPr>
          <p:grpSpPr>
            <a:xfrm>
              <a:off x="2655" y="709"/>
              <a:ext cx="2765" cy="1392"/>
              <a:chOff x="659" y="1480"/>
              <a:chExt cx="2765" cy="1392"/>
            </a:xfrm>
          </p:grpSpPr>
          <p:sp>
            <p:nvSpPr>
              <p:cNvPr id="36872" name="矩形 470028"/>
              <p:cNvSpPr>
                <a:spLocks noChangeArrowheads="1"/>
              </p:cNvSpPr>
              <p:nvPr/>
            </p:nvSpPr>
            <p:spPr bwMode="auto">
              <a:xfrm>
                <a:off x="711" y="1480"/>
                <a:ext cx="2713" cy="1392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50000">
                    <a:srgbClr val="CCFFFF"/>
                  </a:gs>
                  <a:gs pos="100000">
                    <a:schemeClr val="bg1"/>
                  </a:gs>
                </a:gsLst>
                <a:lin ang="0" scaled="1"/>
              </a:gradFill>
              <a:ln w="12700">
                <a:solidFill>
                  <a:srgbClr val="006600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0030" name="文本框 470029"/>
              <p:cNvSpPr txBox="1"/>
              <p:nvPr/>
            </p:nvSpPr>
            <p:spPr>
              <a:xfrm>
                <a:off x="659" y="1480"/>
                <a:ext cx="438" cy="1392"/>
              </a:xfrm>
              <a:prstGeom prst="rect">
                <a:avLst/>
              </a:prstGeom>
              <a:gradFill rotWithShape="0">
                <a:gsLst>
                  <a:gs pos="0">
                    <a:srgbClr val="CCFFF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>
                <a:spAutoFit/>
              </a:bodyPr>
              <a:lstStyle/>
              <a:p>
                <a:pPr marR="0" algn="ctr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CC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绝 热</a:t>
                </a:r>
                <a:r>
                  <a:rPr kumimoji="0" lang="zh-CN" altLang="en-US" sz="2800" b="1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方 程</a:t>
                </a:r>
              </a:p>
            </p:txBody>
          </p:sp>
          <p:graphicFrame>
            <p:nvGraphicFramePr>
              <p:cNvPr id="103434" name="对象 470030"/>
              <p:cNvGraphicFramePr/>
              <p:nvPr/>
            </p:nvGraphicFramePr>
            <p:xfrm>
              <a:off x="1352" y="1507"/>
              <a:ext cx="984" cy="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52" r:id="rId5" imgW="469900" imgH="228600" progId="Equation.3">
                      <p:embed/>
                    </p:oleObj>
                  </mc:Choice>
                  <mc:Fallback>
                    <p:oleObj r:id="rId5" imgW="469900" imgH="228600" progId="Equation.3">
                      <p:embed/>
                      <p:pic>
                        <p:nvPicPr>
                          <p:cNvPr id="0" name="图片 3197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352" y="1507"/>
                            <a:ext cx="984" cy="4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435" name="对象 470031"/>
              <p:cNvGraphicFramePr/>
              <p:nvPr/>
            </p:nvGraphicFramePr>
            <p:xfrm>
              <a:off x="1202" y="2357"/>
              <a:ext cx="1149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753" r:id="rId7" imgW="660400" imgH="228600" progId="Equation.3">
                      <p:embed/>
                    </p:oleObj>
                  </mc:Choice>
                  <mc:Fallback>
                    <p:oleObj r:id="rId7" imgW="660400" imgH="228600" progId="Equation.3">
                      <p:embed/>
                      <p:pic>
                        <p:nvPicPr>
                          <p:cNvPr id="0" name="图片 320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202" y="2357"/>
                            <a:ext cx="1149" cy="44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0033" name="文本框 470032"/>
              <p:cNvSpPr txBox="1"/>
              <p:nvPr/>
            </p:nvSpPr>
            <p:spPr>
              <a:xfrm>
                <a:off x="2291" y="1576"/>
                <a:ext cx="766" cy="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常量</a:t>
                </a:r>
              </a:p>
            </p:txBody>
          </p:sp>
          <p:sp>
            <p:nvSpPr>
              <p:cNvPr id="470034" name="矩形 470033"/>
              <p:cNvSpPr/>
              <p:nvPr/>
            </p:nvSpPr>
            <p:spPr>
              <a:xfrm>
                <a:off x="2311" y="2009"/>
                <a:ext cx="720" cy="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常量</a:t>
                </a:r>
              </a:p>
            </p:txBody>
          </p:sp>
          <p:sp>
            <p:nvSpPr>
              <p:cNvPr id="470035" name="矩形 470034"/>
              <p:cNvSpPr/>
              <p:nvPr/>
            </p:nvSpPr>
            <p:spPr>
              <a:xfrm>
                <a:off x="2387" y="2440"/>
                <a:ext cx="721" cy="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常量</a:t>
                </a:r>
              </a:p>
            </p:txBody>
          </p:sp>
        </p:grpSp>
        <p:graphicFrame>
          <p:nvGraphicFramePr>
            <p:cNvPr id="103439" name="对象 470035"/>
            <p:cNvGraphicFramePr/>
            <p:nvPr/>
          </p:nvGraphicFramePr>
          <p:xfrm>
            <a:off x="3280" y="1207"/>
            <a:ext cx="109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4" r:id="rId9" imgW="702310" imgH="222885" progId="Equation.3">
                    <p:embed/>
                  </p:oleObj>
                </mc:Choice>
                <mc:Fallback>
                  <p:oleObj r:id="rId9" imgW="702310" imgH="222885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80" y="1207"/>
                          <a:ext cx="1097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0037" name="文本框 470036"/>
          <p:cNvSpPr txBox="1"/>
          <p:nvPr/>
        </p:nvSpPr>
        <p:spPr>
          <a:xfrm>
            <a:off x="250825" y="2708275"/>
            <a:ext cx="434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3.   </a:t>
            </a:r>
            <a:r>
              <a:rPr kumimoji="0" lang="zh-CN" altLang="en-US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比较绝热线和等温线</a:t>
            </a:r>
          </a:p>
        </p:txBody>
      </p:sp>
      <p:sp>
        <p:nvSpPr>
          <p:cNvPr id="470038" name="文本框 470037"/>
          <p:cNvSpPr txBox="1"/>
          <p:nvPr/>
        </p:nvSpPr>
        <p:spPr>
          <a:xfrm>
            <a:off x="5722938" y="4114800"/>
            <a:ext cx="3457575" cy="46672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绝热线比等温线“陡”</a:t>
            </a:r>
          </a:p>
        </p:txBody>
      </p:sp>
      <p:grpSp>
        <p:nvGrpSpPr>
          <p:cNvPr id="4" name="组合 470081"/>
          <p:cNvGrpSpPr/>
          <p:nvPr/>
        </p:nvGrpSpPr>
        <p:grpSpPr>
          <a:xfrm>
            <a:off x="5722938" y="1090613"/>
            <a:ext cx="3529012" cy="3014662"/>
            <a:chOff x="3605" y="28"/>
            <a:chExt cx="2223" cy="1899"/>
          </a:xfrm>
        </p:grpSpPr>
        <p:sp>
          <p:nvSpPr>
            <p:cNvPr id="103443" name="矩形 470039"/>
            <p:cNvSpPr/>
            <p:nvPr/>
          </p:nvSpPr>
          <p:spPr>
            <a:xfrm>
              <a:off x="3605" y="28"/>
              <a:ext cx="2143" cy="18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4" name="直接连接符 470040"/>
            <p:cNvSpPr/>
            <p:nvPr/>
          </p:nvSpPr>
          <p:spPr>
            <a:xfrm flipV="1">
              <a:off x="3909" y="1604"/>
              <a:ext cx="1595" cy="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3445" name="直接连接符 470041"/>
            <p:cNvSpPr/>
            <p:nvPr/>
          </p:nvSpPr>
          <p:spPr>
            <a:xfrm flipV="1">
              <a:off x="3929" y="108"/>
              <a:ext cx="0" cy="15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3446" name="直接连接符 470042"/>
            <p:cNvSpPr/>
            <p:nvPr/>
          </p:nvSpPr>
          <p:spPr>
            <a:xfrm>
              <a:off x="4534" y="715"/>
              <a:ext cx="0" cy="11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3447" name="直接连接符 470043"/>
            <p:cNvSpPr/>
            <p:nvPr/>
          </p:nvSpPr>
          <p:spPr>
            <a:xfrm>
              <a:off x="4858" y="957"/>
              <a:ext cx="0" cy="93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03448" name="对象 470044"/>
            <p:cNvGraphicFramePr/>
            <p:nvPr/>
          </p:nvGraphicFramePr>
          <p:xfrm>
            <a:off x="3646" y="553"/>
            <a:ext cx="283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5" r:id="rId11" imgW="330200" imgH="317500" progId="Equation.3">
                    <p:embed/>
                  </p:oleObj>
                </mc:Choice>
                <mc:Fallback>
                  <p:oleObj r:id="rId11" imgW="330200" imgH="31750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46" y="553"/>
                          <a:ext cx="283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49" name="对象 470045"/>
            <p:cNvGraphicFramePr/>
            <p:nvPr/>
          </p:nvGraphicFramePr>
          <p:xfrm>
            <a:off x="4858" y="1563"/>
            <a:ext cx="27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6" r:id="rId13" imgW="139700" imgH="165100" progId="Equation.3">
                    <p:embed/>
                  </p:oleObj>
                </mc:Choice>
                <mc:Fallback>
                  <p:oleObj r:id="rId13" imgW="139700" imgH="1651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58" y="1563"/>
                          <a:ext cx="277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0" name="对象 470046"/>
            <p:cNvGraphicFramePr/>
            <p:nvPr/>
          </p:nvGraphicFramePr>
          <p:xfrm>
            <a:off x="4292" y="1563"/>
            <a:ext cx="27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7" r:id="rId15" imgW="139700" imgH="165100" progId="Equation.3">
                    <p:embed/>
                  </p:oleObj>
                </mc:Choice>
                <mc:Fallback>
                  <p:oleObj r:id="rId15" imgW="139700" imgH="1651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292" y="1563"/>
                          <a:ext cx="276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51" name="直接连接符 470047"/>
            <p:cNvSpPr/>
            <p:nvPr/>
          </p:nvSpPr>
          <p:spPr>
            <a:xfrm flipH="1">
              <a:off x="3929" y="715"/>
              <a:ext cx="60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70049" name="文本框 470048"/>
            <p:cNvSpPr txBox="1"/>
            <p:nvPr/>
          </p:nvSpPr>
          <p:spPr>
            <a:xfrm>
              <a:off x="4534" y="515"/>
              <a:ext cx="2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</a:p>
          </p:txBody>
        </p:sp>
        <p:graphicFrame>
          <p:nvGraphicFramePr>
            <p:cNvPr id="103453" name="对象 470049"/>
            <p:cNvGraphicFramePr/>
            <p:nvPr/>
          </p:nvGraphicFramePr>
          <p:xfrm>
            <a:off x="3685" y="108"/>
            <a:ext cx="18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8" r:id="rId17" imgW="203200" imgH="241300" progId="Equation.3">
                    <p:embed/>
                  </p:oleObj>
                </mc:Choice>
                <mc:Fallback>
                  <p:oleObj r:id="rId17" imgW="203200" imgH="24130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685" y="108"/>
                          <a:ext cx="180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4" name="对象 470050"/>
            <p:cNvGraphicFramePr/>
            <p:nvPr/>
          </p:nvGraphicFramePr>
          <p:xfrm>
            <a:off x="5303" y="1644"/>
            <a:ext cx="165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9" r:id="rId19" imgW="215900" imgH="241300" progId="Equation.3">
                    <p:embed/>
                  </p:oleObj>
                </mc:Choice>
                <mc:Fallback>
                  <p:oleObj r:id="rId19" imgW="215900" imgH="2413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303" y="1644"/>
                          <a:ext cx="165" cy="1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5" name="对象 470051"/>
            <p:cNvGraphicFramePr/>
            <p:nvPr/>
          </p:nvGraphicFramePr>
          <p:xfrm>
            <a:off x="3828" y="1650"/>
            <a:ext cx="14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0" r:id="rId21" imgW="165100" imgH="190500" progId="Equation.3">
                    <p:embed/>
                  </p:oleObj>
                </mc:Choice>
                <mc:Fallback>
                  <p:oleObj r:id="rId21" imgW="165100" imgH="190500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828" y="1650"/>
                          <a:ext cx="149" cy="1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6" name="对象 470052"/>
            <p:cNvGraphicFramePr/>
            <p:nvPr/>
          </p:nvGraphicFramePr>
          <p:xfrm>
            <a:off x="5020" y="64"/>
            <a:ext cx="283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1" r:id="rId23" imgW="469265" imgH="266065" progId="Equation.3">
                    <p:embed/>
                  </p:oleObj>
                </mc:Choice>
                <mc:Fallback>
                  <p:oleObj r:id="rId23" imgW="469265" imgH="266065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020" y="64"/>
                          <a:ext cx="283" cy="2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57" name="对象 470053"/>
            <p:cNvGraphicFramePr/>
            <p:nvPr/>
          </p:nvGraphicFramePr>
          <p:xfrm>
            <a:off x="5070" y="300"/>
            <a:ext cx="69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2" r:id="rId25" imgW="456565" imgH="203200" progId="Equation.3">
                    <p:embed/>
                  </p:oleObj>
                </mc:Choice>
                <mc:Fallback>
                  <p:oleObj r:id="rId25" imgW="456565" imgH="2032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070" y="300"/>
                          <a:ext cx="690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58" name="任意多边形 470054"/>
            <p:cNvSpPr/>
            <p:nvPr/>
          </p:nvSpPr>
          <p:spPr>
            <a:xfrm>
              <a:off x="4171" y="190"/>
              <a:ext cx="1212" cy="9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" y="196"/>
                </a:cxn>
                <a:cxn ang="0">
                  <a:pos x="234" y="368"/>
                </a:cxn>
                <a:cxn ang="0">
                  <a:pos x="424" y="531"/>
                </a:cxn>
                <a:cxn ang="0">
                  <a:pos x="668" y="654"/>
                </a:cxn>
                <a:cxn ang="0">
                  <a:pos x="797" y="703"/>
                </a:cxn>
              </a:cxnLst>
              <a:rect l="0" t="0" r="0" b="0"/>
              <a:pathLst>
                <a:path w="1495" h="1179">
                  <a:moveTo>
                    <a:pt x="0" y="0"/>
                  </a:moveTo>
                  <a:cubicBezTo>
                    <a:pt x="33" y="55"/>
                    <a:pt x="126" y="226"/>
                    <a:pt x="199" y="329"/>
                  </a:cubicBezTo>
                  <a:cubicBezTo>
                    <a:pt x="272" y="432"/>
                    <a:pt x="339" y="523"/>
                    <a:pt x="439" y="617"/>
                  </a:cubicBezTo>
                  <a:cubicBezTo>
                    <a:pt x="539" y="711"/>
                    <a:pt x="660" y="811"/>
                    <a:pt x="796" y="891"/>
                  </a:cubicBezTo>
                  <a:cubicBezTo>
                    <a:pt x="932" y="971"/>
                    <a:pt x="1139" y="1049"/>
                    <a:pt x="1255" y="1097"/>
                  </a:cubicBezTo>
                  <a:cubicBezTo>
                    <a:pt x="1371" y="1145"/>
                    <a:pt x="1445" y="1162"/>
                    <a:pt x="1495" y="1179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9" name="任意多边形 470055"/>
            <p:cNvSpPr/>
            <p:nvPr/>
          </p:nvSpPr>
          <p:spPr>
            <a:xfrm>
              <a:off x="4333" y="190"/>
              <a:ext cx="1050" cy="11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" y="196"/>
                </a:cxn>
                <a:cxn ang="0">
                  <a:pos x="139" y="355"/>
                </a:cxn>
                <a:cxn ang="0">
                  <a:pos x="253" y="519"/>
                </a:cxn>
                <a:cxn ang="0">
                  <a:pos x="359" y="636"/>
                </a:cxn>
                <a:cxn ang="0">
                  <a:pos x="502" y="735"/>
                </a:cxn>
                <a:cxn ang="0">
                  <a:pos x="650" y="805"/>
                </a:cxn>
                <a:cxn ang="0">
                  <a:pos x="743" y="837"/>
                </a:cxn>
              </a:cxnLst>
              <a:rect l="0" t="0" r="0" b="0"/>
              <a:pathLst>
                <a:path w="1248" h="1406">
                  <a:moveTo>
                    <a:pt x="0" y="0"/>
                  </a:moveTo>
                  <a:cubicBezTo>
                    <a:pt x="17" y="55"/>
                    <a:pt x="63" y="229"/>
                    <a:pt x="102" y="329"/>
                  </a:cubicBezTo>
                  <a:cubicBezTo>
                    <a:pt x="141" y="429"/>
                    <a:pt x="179" y="507"/>
                    <a:pt x="233" y="597"/>
                  </a:cubicBezTo>
                  <a:cubicBezTo>
                    <a:pt x="287" y="687"/>
                    <a:pt x="363" y="792"/>
                    <a:pt x="425" y="871"/>
                  </a:cubicBezTo>
                  <a:cubicBezTo>
                    <a:pt x="487" y="950"/>
                    <a:pt x="533" y="1009"/>
                    <a:pt x="603" y="1069"/>
                  </a:cubicBezTo>
                  <a:cubicBezTo>
                    <a:pt x="673" y="1129"/>
                    <a:pt x="762" y="1187"/>
                    <a:pt x="843" y="1234"/>
                  </a:cubicBezTo>
                  <a:cubicBezTo>
                    <a:pt x="924" y="1281"/>
                    <a:pt x="1023" y="1322"/>
                    <a:pt x="1090" y="1351"/>
                  </a:cubicBezTo>
                  <a:cubicBezTo>
                    <a:pt x="1157" y="1380"/>
                    <a:pt x="1215" y="1395"/>
                    <a:pt x="1248" y="1406"/>
                  </a:cubicBezTo>
                </a:path>
              </a:pathLst>
            </a:custGeom>
            <a:noFill/>
            <a:ln w="28575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0" name="直接连接符 470056"/>
            <p:cNvSpPr/>
            <p:nvPr/>
          </p:nvSpPr>
          <p:spPr>
            <a:xfrm flipH="1">
              <a:off x="4251" y="957"/>
              <a:ext cx="60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3461" name="直接连接符 470057"/>
            <p:cNvSpPr/>
            <p:nvPr/>
          </p:nvSpPr>
          <p:spPr>
            <a:xfrm flipH="1">
              <a:off x="3968" y="1119"/>
              <a:ext cx="89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3462" name="直接连接符 470058"/>
            <p:cNvSpPr/>
            <p:nvPr/>
          </p:nvSpPr>
          <p:spPr>
            <a:xfrm>
              <a:off x="4534" y="1685"/>
              <a:ext cx="324" cy="0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round/>
              <a:headEnd type="triangle" w="med" len="lg"/>
              <a:tailEnd type="triangle" w="med" len="lg"/>
            </a:ln>
          </p:spPr>
        </p:sp>
        <p:graphicFrame>
          <p:nvGraphicFramePr>
            <p:cNvPr id="103463" name="对象 470059"/>
            <p:cNvGraphicFramePr/>
            <p:nvPr/>
          </p:nvGraphicFramePr>
          <p:xfrm>
            <a:off x="4575" y="1725"/>
            <a:ext cx="283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3" r:id="rId27" imgW="393700" imgH="241300" progId="Equation.3">
                    <p:embed/>
                  </p:oleObj>
                </mc:Choice>
                <mc:Fallback>
                  <p:oleObj r:id="rId27" imgW="393700" imgH="2413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575" y="1725"/>
                          <a:ext cx="283" cy="1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64" name="直接连接符 470060"/>
            <p:cNvSpPr/>
            <p:nvPr/>
          </p:nvSpPr>
          <p:spPr>
            <a:xfrm>
              <a:off x="4050" y="1119"/>
              <a:ext cx="0" cy="283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round/>
              <a:headEnd type="triangle" w="med" len="lg"/>
              <a:tailEnd type="none" w="med" len="lg"/>
            </a:ln>
          </p:spPr>
        </p:sp>
        <p:sp>
          <p:nvSpPr>
            <p:cNvPr id="103465" name="直接连接符 470061"/>
            <p:cNvSpPr/>
            <p:nvPr/>
          </p:nvSpPr>
          <p:spPr>
            <a:xfrm>
              <a:off x="4333" y="957"/>
              <a:ext cx="0" cy="203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triangle" w="med" len="lg"/>
              <a:tailEnd type="none" w="med" len="lg"/>
            </a:ln>
          </p:spPr>
        </p:sp>
        <p:sp>
          <p:nvSpPr>
            <p:cNvPr id="103466" name="直接连接符 470062"/>
            <p:cNvSpPr/>
            <p:nvPr/>
          </p:nvSpPr>
          <p:spPr>
            <a:xfrm>
              <a:off x="4050" y="432"/>
              <a:ext cx="0" cy="283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round/>
              <a:headEnd type="none" w="med" len="lg"/>
              <a:tailEnd type="triangle" w="med" len="lg"/>
            </a:ln>
          </p:spPr>
        </p:sp>
        <p:sp>
          <p:nvSpPr>
            <p:cNvPr id="103467" name="直接连接符 470063"/>
            <p:cNvSpPr/>
            <p:nvPr/>
          </p:nvSpPr>
          <p:spPr>
            <a:xfrm>
              <a:off x="4333" y="513"/>
              <a:ext cx="0" cy="202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lg"/>
              <a:tailEnd type="triangle" w="med" len="lg"/>
            </a:ln>
          </p:spPr>
        </p:sp>
        <p:graphicFrame>
          <p:nvGraphicFramePr>
            <p:cNvPr id="103468" name="对象 470064"/>
            <p:cNvGraphicFramePr/>
            <p:nvPr/>
          </p:nvGraphicFramePr>
          <p:xfrm>
            <a:off x="3915" y="798"/>
            <a:ext cx="33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4" r:id="rId29" imgW="279400" imgH="241300" progId="Equation.3">
                    <p:embed/>
                  </p:oleObj>
                </mc:Choice>
                <mc:Fallback>
                  <p:oleObj r:id="rId29" imgW="279400" imgH="241300" progId="Equation.3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915" y="798"/>
                          <a:ext cx="331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69" name="对象 470065"/>
            <p:cNvGraphicFramePr/>
            <p:nvPr/>
          </p:nvGraphicFramePr>
          <p:xfrm>
            <a:off x="4234" y="680"/>
            <a:ext cx="335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5" r:id="rId31" imgW="278765" imgH="215900" progId="Equation.3">
                    <p:embed/>
                  </p:oleObj>
                </mc:Choice>
                <mc:Fallback>
                  <p:oleObj r:id="rId31" imgW="278765" imgH="215900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234" y="680"/>
                          <a:ext cx="335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0067" name="文本框 470066"/>
            <p:cNvSpPr txBox="1"/>
            <p:nvPr/>
          </p:nvSpPr>
          <p:spPr>
            <a:xfrm>
              <a:off x="4697" y="1078"/>
              <a:ext cx="2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70068" name="文本框 470067"/>
            <p:cNvSpPr txBox="1"/>
            <p:nvPr/>
          </p:nvSpPr>
          <p:spPr>
            <a:xfrm>
              <a:off x="4778" y="753"/>
              <a:ext cx="2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103472" name="直接连接符 470068"/>
            <p:cNvSpPr/>
            <p:nvPr/>
          </p:nvSpPr>
          <p:spPr>
            <a:xfrm>
              <a:off x="4817" y="149"/>
              <a:ext cx="162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73" name="直接连接符 470069"/>
            <p:cNvSpPr/>
            <p:nvPr/>
          </p:nvSpPr>
          <p:spPr>
            <a:xfrm>
              <a:off x="4817" y="433"/>
              <a:ext cx="162" cy="0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0071" name="矩形 470070"/>
            <p:cNvSpPr/>
            <p:nvPr/>
          </p:nvSpPr>
          <p:spPr>
            <a:xfrm>
              <a:off x="5262" y="28"/>
              <a:ext cx="5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常量</a:t>
              </a:r>
            </a:p>
          </p:txBody>
        </p:sp>
      </p:grpSp>
      <p:graphicFrame>
        <p:nvGraphicFramePr>
          <p:cNvPr id="470072" name="对象 470071"/>
          <p:cNvGraphicFramePr/>
          <p:nvPr/>
        </p:nvGraphicFramePr>
        <p:xfrm>
          <a:off x="2716213" y="4394200"/>
          <a:ext cx="25209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6" r:id="rId33" imgW="1028065" imgH="431800" progId="Equation.3">
                  <p:embed/>
                </p:oleObj>
              </mc:Choice>
              <mc:Fallback>
                <p:oleObj r:id="rId33" imgW="1028065" imgH="4318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716213" y="4394200"/>
                        <a:ext cx="2520950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0073" name="对象 470072"/>
          <p:cNvGraphicFramePr/>
          <p:nvPr/>
        </p:nvGraphicFramePr>
        <p:xfrm>
          <a:off x="2716213" y="5373688"/>
          <a:ext cx="20161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7" r:id="rId35" imgW="926465" imgH="431800" progId="Equation.3">
                  <p:embed/>
                </p:oleObj>
              </mc:Choice>
              <mc:Fallback>
                <p:oleObj r:id="rId35" imgW="926465" imgH="4318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716213" y="5373688"/>
                        <a:ext cx="2016125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74" name="矩形 470073"/>
          <p:cNvSpPr/>
          <p:nvPr/>
        </p:nvSpPr>
        <p:spPr>
          <a:xfrm>
            <a:off x="5726113" y="5229225"/>
            <a:ext cx="1527175" cy="403225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注意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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&gt;1)</a:t>
            </a:r>
          </a:p>
        </p:txBody>
      </p:sp>
      <p:sp>
        <p:nvSpPr>
          <p:cNvPr id="470081" name="文本框 470080"/>
          <p:cNvSpPr txBox="1"/>
          <p:nvPr/>
        </p:nvSpPr>
        <p:spPr>
          <a:xfrm>
            <a:off x="-468312" y="3189288"/>
            <a:ext cx="2665412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>
              <a:buBlip>
                <a:blip r:embed="rId37"/>
              </a:buBlip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数学证明</a:t>
            </a:r>
          </a:p>
        </p:txBody>
      </p:sp>
      <p:sp>
        <p:nvSpPr>
          <p:cNvPr id="470084" name="矩形 470083"/>
          <p:cNvSpPr/>
          <p:nvPr/>
        </p:nvSpPr>
        <p:spPr>
          <a:xfrm>
            <a:off x="2403475" y="182563"/>
            <a:ext cx="4113213" cy="5191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理气准静态绝热过程方程</a:t>
            </a:r>
          </a:p>
        </p:txBody>
      </p:sp>
      <p:graphicFrame>
        <p:nvGraphicFramePr>
          <p:cNvPr id="452661" name="对象 452660"/>
          <p:cNvGraphicFramePr/>
          <p:nvPr/>
        </p:nvGraphicFramePr>
        <p:xfrm>
          <a:off x="468313" y="3602038"/>
          <a:ext cx="287020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8" r:id="rId38" imgW="1282700" imgH="469900" progId="Equation.DSMT4">
                  <p:embed/>
                </p:oleObj>
              </mc:Choice>
              <mc:Fallback>
                <p:oleObj r:id="rId38" imgW="1282700" imgH="4699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68313" y="3602038"/>
                        <a:ext cx="2870200" cy="957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7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7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7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7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47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8" dur="2000"/>
                                        <p:tgtEl>
                                          <p:spTgt spid="4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7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47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20" grpId="0"/>
      <p:bldP spid="470021" grpId="0"/>
      <p:bldP spid="470022" grpId="0"/>
      <p:bldP spid="470026" grpId="0"/>
      <p:bldP spid="470037" grpId="0"/>
      <p:bldP spid="470038" grpId="0" animBg="1"/>
      <p:bldP spid="470074" grpId="0"/>
      <p:bldP spid="470081" grpId="0"/>
      <p:bldP spid="47008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49" name="对象 470024"/>
          <p:cNvGraphicFramePr/>
          <p:nvPr/>
        </p:nvGraphicFramePr>
        <p:xfrm>
          <a:off x="468313" y="112713"/>
          <a:ext cx="184943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3" r:id="rId3" imgW="545465" imgH="203200" progId="Equation.3">
                  <p:embed/>
                </p:oleObj>
              </mc:Choice>
              <mc:Fallback>
                <p:oleObj r:id="rId3" imgW="545465" imgH="2032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112713"/>
                        <a:ext cx="1849437" cy="5794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3300"/>
                          </a:gs>
                          <a:gs pos="50000">
                            <a:srgbClr val="FFFF00"/>
                          </a:gs>
                          <a:gs pos="100000">
                            <a:srgbClr val="CC3300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26" name="文本框 470025"/>
          <p:cNvSpPr txBox="1"/>
          <p:nvPr/>
        </p:nvSpPr>
        <p:spPr>
          <a:xfrm>
            <a:off x="6011863" y="188913"/>
            <a:ext cx="2835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（泊松方程）</a:t>
            </a:r>
          </a:p>
        </p:txBody>
      </p:sp>
      <p:grpSp>
        <p:nvGrpSpPr>
          <p:cNvPr id="104451" name="组合 470026"/>
          <p:cNvGrpSpPr/>
          <p:nvPr/>
        </p:nvGrpSpPr>
        <p:grpSpPr>
          <a:xfrm>
            <a:off x="468313" y="981075"/>
            <a:ext cx="3952875" cy="1952625"/>
            <a:chOff x="2655" y="709"/>
            <a:chExt cx="2765" cy="1392"/>
          </a:xfrm>
        </p:grpSpPr>
        <p:grpSp>
          <p:nvGrpSpPr>
            <p:cNvPr id="104452" name="组合 470027"/>
            <p:cNvGrpSpPr/>
            <p:nvPr/>
          </p:nvGrpSpPr>
          <p:grpSpPr>
            <a:xfrm>
              <a:off x="2655" y="709"/>
              <a:ext cx="2765" cy="1392"/>
              <a:chOff x="659" y="1480"/>
              <a:chExt cx="2765" cy="1392"/>
            </a:xfrm>
          </p:grpSpPr>
          <p:sp>
            <p:nvSpPr>
              <p:cNvPr id="36872" name="矩形 470028"/>
              <p:cNvSpPr>
                <a:spLocks noChangeArrowheads="1"/>
              </p:cNvSpPr>
              <p:nvPr/>
            </p:nvSpPr>
            <p:spPr bwMode="auto">
              <a:xfrm>
                <a:off x="711" y="1480"/>
                <a:ext cx="2713" cy="1392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50000">
                    <a:srgbClr val="CCFFFF"/>
                  </a:gs>
                  <a:gs pos="100000">
                    <a:schemeClr val="bg1"/>
                  </a:gs>
                </a:gsLst>
                <a:lin ang="0" scaled="1"/>
              </a:gradFill>
              <a:ln w="12700">
                <a:solidFill>
                  <a:srgbClr val="006600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0030" name="文本框 470029"/>
              <p:cNvSpPr txBox="1"/>
              <p:nvPr/>
            </p:nvSpPr>
            <p:spPr>
              <a:xfrm>
                <a:off x="659" y="1480"/>
                <a:ext cx="438" cy="1392"/>
              </a:xfrm>
              <a:prstGeom prst="rect">
                <a:avLst/>
              </a:prstGeom>
              <a:gradFill rotWithShape="0">
                <a:gsLst>
                  <a:gs pos="0">
                    <a:srgbClr val="CCFFFF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>
                <a:spAutoFit/>
              </a:bodyPr>
              <a:lstStyle/>
              <a:p>
                <a:pPr marR="0" algn="ctr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CC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绝 热</a:t>
                </a:r>
                <a:r>
                  <a:rPr kumimoji="0" lang="zh-CN" altLang="en-US" sz="2800" b="1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方 程</a:t>
                </a:r>
              </a:p>
            </p:txBody>
          </p:sp>
          <p:graphicFrame>
            <p:nvGraphicFramePr>
              <p:cNvPr id="104455" name="对象 470030"/>
              <p:cNvGraphicFramePr/>
              <p:nvPr/>
            </p:nvGraphicFramePr>
            <p:xfrm>
              <a:off x="1352" y="1507"/>
              <a:ext cx="984" cy="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54" r:id="rId5" imgW="469900" imgH="228600" progId="Equation.3">
                      <p:embed/>
                    </p:oleObj>
                  </mc:Choice>
                  <mc:Fallback>
                    <p:oleObj r:id="rId5" imgW="469900" imgH="228600" progId="Equation.3">
                      <p:embed/>
                      <p:pic>
                        <p:nvPicPr>
                          <p:cNvPr id="0" name="图片 3147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352" y="1507"/>
                            <a:ext cx="984" cy="4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456" name="对象 470031"/>
              <p:cNvGraphicFramePr/>
              <p:nvPr/>
            </p:nvGraphicFramePr>
            <p:xfrm>
              <a:off x="1202" y="2357"/>
              <a:ext cx="1149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55" r:id="rId7" imgW="660400" imgH="228600" progId="Equation.3">
                      <p:embed/>
                    </p:oleObj>
                  </mc:Choice>
                  <mc:Fallback>
                    <p:oleObj r:id="rId7" imgW="660400" imgH="228600" progId="Equation.3">
                      <p:embed/>
                      <p:pic>
                        <p:nvPicPr>
                          <p:cNvPr id="0" name="图片 3150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202" y="2357"/>
                            <a:ext cx="1149" cy="44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0033" name="文本框 470032"/>
              <p:cNvSpPr txBox="1"/>
              <p:nvPr/>
            </p:nvSpPr>
            <p:spPr>
              <a:xfrm>
                <a:off x="2291" y="1576"/>
                <a:ext cx="766" cy="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常量</a:t>
                </a:r>
              </a:p>
            </p:txBody>
          </p:sp>
          <p:sp>
            <p:nvSpPr>
              <p:cNvPr id="470034" name="矩形 470033"/>
              <p:cNvSpPr/>
              <p:nvPr/>
            </p:nvSpPr>
            <p:spPr>
              <a:xfrm>
                <a:off x="2311" y="2009"/>
                <a:ext cx="720" cy="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常量</a:t>
                </a:r>
              </a:p>
            </p:txBody>
          </p:sp>
          <p:sp>
            <p:nvSpPr>
              <p:cNvPr id="470035" name="矩形 470034"/>
              <p:cNvSpPr/>
              <p:nvPr/>
            </p:nvSpPr>
            <p:spPr>
              <a:xfrm>
                <a:off x="2387" y="2440"/>
                <a:ext cx="721" cy="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i="0" u="none" strike="noStrike" kern="1200" cap="none" spc="0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常量</a:t>
                </a:r>
              </a:p>
            </p:txBody>
          </p:sp>
        </p:grpSp>
        <p:graphicFrame>
          <p:nvGraphicFramePr>
            <p:cNvPr id="104460" name="对象 470035"/>
            <p:cNvGraphicFramePr/>
            <p:nvPr/>
          </p:nvGraphicFramePr>
          <p:xfrm>
            <a:off x="3280" y="1207"/>
            <a:ext cx="109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6" r:id="rId9" imgW="545465" imgH="203200" progId="Equation.3">
                    <p:embed/>
                  </p:oleObj>
                </mc:Choice>
                <mc:Fallback>
                  <p:oleObj r:id="rId9" imgW="545465" imgH="2032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80" y="1207"/>
                          <a:ext cx="1097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0037" name="文本框 470036"/>
          <p:cNvSpPr txBox="1"/>
          <p:nvPr/>
        </p:nvSpPr>
        <p:spPr>
          <a:xfrm>
            <a:off x="179388" y="3140075"/>
            <a:ext cx="434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3.   </a:t>
            </a:r>
            <a:r>
              <a:rPr kumimoji="0" lang="zh-CN" altLang="en-US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幼圆" panose="02010509060101010101" pitchFamily="49" charset="-122"/>
                <a:cs typeface="+mn-cs"/>
              </a:rPr>
              <a:t>比较绝热线和等温线</a:t>
            </a:r>
          </a:p>
        </p:txBody>
      </p:sp>
      <p:sp>
        <p:nvSpPr>
          <p:cNvPr id="470038" name="文本框 470037"/>
          <p:cNvSpPr txBox="1"/>
          <p:nvPr/>
        </p:nvSpPr>
        <p:spPr>
          <a:xfrm>
            <a:off x="5722938" y="4114800"/>
            <a:ext cx="3457575" cy="46672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绝热线比等温线“陡”</a:t>
            </a:r>
          </a:p>
        </p:txBody>
      </p:sp>
      <p:grpSp>
        <p:nvGrpSpPr>
          <p:cNvPr id="104463" name="组合 470081"/>
          <p:cNvGrpSpPr/>
          <p:nvPr/>
        </p:nvGrpSpPr>
        <p:grpSpPr>
          <a:xfrm>
            <a:off x="5722938" y="1090613"/>
            <a:ext cx="3529012" cy="3014662"/>
            <a:chOff x="3605" y="28"/>
            <a:chExt cx="2223" cy="1899"/>
          </a:xfrm>
        </p:grpSpPr>
        <p:sp>
          <p:nvSpPr>
            <p:cNvPr id="104464" name="矩形 470039"/>
            <p:cNvSpPr/>
            <p:nvPr/>
          </p:nvSpPr>
          <p:spPr>
            <a:xfrm>
              <a:off x="3605" y="28"/>
              <a:ext cx="2143" cy="18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465" name="直接连接符 470040"/>
            <p:cNvSpPr/>
            <p:nvPr/>
          </p:nvSpPr>
          <p:spPr>
            <a:xfrm flipV="1">
              <a:off x="3909" y="1604"/>
              <a:ext cx="1595" cy="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4466" name="直接连接符 470041"/>
            <p:cNvSpPr/>
            <p:nvPr/>
          </p:nvSpPr>
          <p:spPr>
            <a:xfrm flipV="1">
              <a:off x="3929" y="108"/>
              <a:ext cx="0" cy="15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4467" name="直接连接符 470042"/>
            <p:cNvSpPr/>
            <p:nvPr/>
          </p:nvSpPr>
          <p:spPr>
            <a:xfrm>
              <a:off x="4534" y="715"/>
              <a:ext cx="0" cy="11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4468" name="直接连接符 470043"/>
            <p:cNvSpPr/>
            <p:nvPr/>
          </p:nvSpPr>
          <p:spPr>
            <a:xfrm>
              <a:off x="4858" y="957"/>
              <a:ext cx="0" cy="93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04469" name="对象 470044"/>
            <p:cNvGraphicFramePr/>
            <p:nvPr/>
          </p:nvGraphicFramePr>
          <p:xfrm>
            <a:off x="3646" y="553"/>
            <a:ext cx="283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7" r:id="rId11" imgW="330200" imgH="317500" progId="Equation.3">
                    <p:embed/>
                  </p:oleObj>
                </mc:Choice>
                <mc:Fallback>
                  <p:oleObj r:id="rId11" imgW="330200" imgH="317500" progId="Equation.3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46" y="553"/>
                          <a:ext cx="283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70" name="对象 470045"/>
            <p:cNvGraphicFramePr/>
            <p:nvPr/>
          </p:nvGraphicFramePr>
          <p:xfrm>
            <a:off x="4858" y="1563"/>
            <a:ext cx="27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8" r:id="rId13" imgW="139700" imgH="165100" progId="Equation.3">
                    <p:embed/>
                  </p:oleObj>
                </mc:Choice>
                <mc:Fallback>
                  <p:oleObj r:id="rId13" imgW="139700" imgH="165100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58" y="1563"/>
                          <a:ext cx="277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71" name="对象 470046"/>
            <p:cNvGraphicFramePr/>
            <p:nvPr/>
          </p:nvGraphicFramePr>
          <p:xfrm>
            <a:off x="4292" y="1563"/>
            <a:ext cx="276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59" r:id="rId15" imgW="139700" imgH="165100" progId="Equation.3">
                    <p:embed/>
                  </p:oleObj>
                </mc:Choice>
                <mc:Fallback>
                  <p:oleObj r:id="rId15" imgW="139700" imgH="165100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292" y="1563"/>
                          <a:ext cx="276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72" name="直接连接符 470047"/>
            <p:cNvSpPr/>
            <p:nvPr/>
          </p:nvSpPr>
          <p:spPr>
            <a:xfrm flipH="1">
              <a:off x="3929" y="715"/>
              <a:ext cx="60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70049" name="文本框 470048"/>
            <p:cNvSpPr txBox="1"/>
            <p:nvPr/>
          </p:nvSpPr>
          <p:spPr>
            <a:xfrm>
              <a:off x="4534" y="515"/>
              <a:ext cx="2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</a:p>
          </p:txBody>
        </p:sp>
        <p:graphicFrame>
          <p:nvGraphicFramePr>
            <p:cNvPr id="104474" name="对象 470049"/>
            <p:cNvGraphicFramePr/>
            <p:nvPr/>
          </p:nvGraphicFramePr>
          <p:xfrm>
            <a:off x="3685" y="108"/>
            <a:ext cx="18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0" r:id="rId17" imgW="203200" imgH="241300" progId="Equation.3">
                    <p:embed/>
                  </p:oleObj>
                </mc:Choice>
                <mc:Fallback>
                  <p:oleObj r:id="rId17" imgW="203200" imgH="241300" progId="Equation.3">
                    <p:embed/>
                    <p:pic>
                      <p:nvPicPr>
                        <p:cNvPr id="0" name="图片 323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685" y="108"/>
                          <a:ext cx="180" cy="2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75" name="对象 470050"/>
            <p:cNvGraphicFramePr/>
            <p:nvPr/>
          </p:nvGraphicFramePr>
          <p:xfrm>
            <a:off x="5303" y="1644"/>
            <a:ext cx="165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1" r:id="rId19" imgW="215900" imgH="241300" progId="Equation.3">
                    <p:embed/>
                  </p:oleObj>
                </mc:Choice>
                <mc:Fallback>
                  <p:oleObj r:id="rId19" imgW="215900" imgH="241300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303" y="1644"/>
                          <a:ext cx="165" cy="1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76" name="对象 470051"/>
            <p:cNvGraphicFramePr/>
            <p:nvPr/>
          </p:nvGraphicFramePr>
          <p:xfrm>
            <a:off x="3828" y="1650"/>
            <a:ext cx="14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2" r:id="rId21" imgW="165100" imgH="190500" progId="Equation.3">
                    <p:embed/>
                  </p:oleObj>
                </mc:Choice>
                <mc:Fallback>
                  <p:oleObj r:id="rId21" imgW="165100" imgH="190500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828" y="1650"/>
                          <a:ext cx="149" cy="1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77" name="对象 470052"/>
            <p:cNvGraphicFramePr/>
            <p:nvPr/>
          </p:nvGraphicFramePr>
          <p:xfrm>
            <a:off x="5020" y="64"/>
            <a:ext cx="283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3" r:id="rId23" imgW="469265" imgH="266065" progId="Equation.3">
                    <p:embed/>
                  </p:oleObj>
                </mc:Choice>
                <mc:Fallback>
                  <p:oleObj r:id="rId23" imgW="469265" imgH="266065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020" y="64"/>
                          <a:ext cx="283" cy="2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78" name="对象 470053"/>
            <p:cNvGraphicFramePr/>
            <p:nvPr/>
          </p:nvGraphicFramePr>
          <p:xfrm>
            <a:off x="5070" y="300"/>
            <a:ext cx="690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4" r:id="rId25" imgW="456565" imgH="203200" progId="Equation.3">
                    <p:embed/>
                  </p:oleObj>
                </mc:Choice>
                <mc:Fallback>
                  <p:oleObj r:id="rId25" imgW="456565" imgH="203200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070" y="300"/>
                          <a:ext cx="690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79" name="任意多边形 470054"/>
            <p:cNvSpPr/>
            <p:nvPr/>
          </p:nvSpPr>
          <p:spPr>
            <a:xfrm>
              <a:off x="4171" y="190"/>
              <a:ext cx="1212" cy="9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" y="196"/>
                </a:cxn>
                <a:cxn ang="0">
                  <a:pos x="234" y="368"/>
                </a:cxn>
                <a:cxn ang="0">
                  <a:pos x="424" y="531"/>
                </a:cxn>
                <a:cxn ang="0">
                  <a:pos x="668" y="654"/>
                </a:cxn>
                <a:cxn ang="0">
                  <a:pos x="797" y="703"/>
                </a:cxn>
              </a:cxnLst>
              <a:rect l="0" t="0" r="0" b="0"/>
              <a:pathLst>
                <a:path w="1495" h="1179">
                  <a:moveTo>
                    <a:pt x="0" y="0"/>
                  </a:moveTo>
                  <a:cubicBezTo>
                    <a:pt x="33" y="55"/>
                    <a:pt x="126" y="226"/>
                    <a:pt x="199" y="329"/>
                  </a:cubicBezTo>
                  <a:cubicBezTo>
                    <a:pt x="272" y="432"/>
                    <a:pt x="339" y="523"/>
                    <a:pt x="439" y="617"/>
                  </a:cubicBezTo>
                  <a:cubicBezTo>
                    <a:pt x="539" y="711"/>
                    <a:pt x="660" y="811"/>
                    <a:pt x="796" y="891"/>
                  </a:cubicBezTo>
                  <a:cubicBezTo>
                    <a:pt x="932" y="971"/>
                    <a:pt x="1139" y="1049"/>
                    <a:pt x="1255" y="1097"/>
                  </a:cubicBezTo>
                  <a:cubicBezTo>
                    <a:pt x="1371" y="1145"/>
                    <a:pt x="1445" y="1162"/>
                    <a:pt x="1495" y="1179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80" name="任意多边形 470055"/>
            <p:cNvSpPr/>
            <p:nvPr/>
          </p:nvSpPr>
          <p:spPr>
            <a:xfrm>
              <a:off x="4333" y="190"/>
              <a:ext cx="1050" cy="11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1" y="196"/>
                </a:cxn>
                <a:cxn ang="0">
                  <a:pos x="139" y="355"/>
                </a:cxn>
                <a:cxn ang="0">
                  <a:pos x="253" y="519"/>
                </a:cxn>
                <a:cxn ang="0">
                  <a:pos x="359" y="636"/>
                </a:cxn>
                <a:cxn ang="0">
                  <a:pos x="502" y="735"/>
                </a:cxn>
                <a:cxn ang="0">
                  <a:pos x="650" y="805"/>
                </a:cxn>
                <a:cxn ang="0">
                  <a:pos x="743" y="837"/>
                </a:cxn>
              </a:cxnLst>
              <a:rect l="0" t="0" r="0" b="0"/>
              <a:pathLst>
                <a:path w="1248" h="1406">
                  <a:moveTo>
                    <a:pt x="0" y="0"/>
                  </a:moveTo>
                  <a:cubicBezTo>
                    <a:pt x="17" y="55"/>
                    <a:pt x="63" y="229"/>
                    <a:pt x="102" y="329"/>
                  </a:cubicBezTo>
                  <a:cubicBezTo>
                    <a:pt x="141" y="429"/>
                    <a:pt x="179" y="507"/>
                    <a:pt x="233" y="597"/>
                  </a:cubicBezTo>
                  <a:cubicBezTo>
                    <a:pt x="287" y="687"/>
                    <a:pt x="363" y="792"/>
                    <a:pt x="425" y="871"/>
                  </a:cubicBezTo>
                  <a:cubicBezTo>
                    <a:pt x="487" y="950"/>
                    <a:pt x="533" y="1009"/>
                    <a:pt x="603" y="1069"/>
                  </a:cubicBezTo>
                  <a:cubicBezTo>
                    <a:pt x="673" y="1129"/>
                    <a:pt x="762" y="1187"/>
                    <a:pt x="843" y="1234"/>
                  </a:cubicBezTo>
                  <a:cubicBezTo>
                    <a:pt x="924" y="1281"/>
                    <a:pt x="1023" y="1322"/>
                    <a:pt x="1090" y="1351"/>
                  </a:cubicBezTo>
                  <a:cubicBezTo>
                    <a:pt x="1157" y="1380"/>
                    <a:pt x="1215" y="1395"/>
                    <a:pt x="1248" y="1406"/>
                  </a:cubicBezTo>
                </a:path>
              </a:pathLst>
            </a:custGeom>
            <a:noFill/>
            <a:ln w="28575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81" name="直接连接符 470056"/>
            <p:cNvSpPr/>
            <p:nvPr/>
          </p:nvSpPr>
          <p:spPr>
            <a:xfrm flipH="1">
              <a:off x="4251" y="957"/>
              <a:ext cx="60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4482" name="直接连接符 470057"/>
            <p:cNvSpPr/>
            <p:nvPr/>
          </p:nvSpPr>
          <p:spPr>
            <a:xfrm flipH="1">
              <a:off x="3968" y="1119"/>
              <a:ext cx="89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04483" name="直接连接符 470058"/>
            <p:cNvSpPr/>
            <p:nvPr/>
          </p:nvSpPr>
          <p:spPr>
            <a:xfrm>
              <a:off x="4534" y="1685"/>
              <a:ext cx="324" cy="0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round/>
              <a:headEnd type="triangle" w="med" len="lg"/>
              <a:tailEnd type="triangle" w="med" len="lg"/>
            </a:ln>
          </p:spPr>
        </p:sp>
        <p:graphicFrame>
          <p:nvGraphicFramePr>
            <p:cNvPr id="104484" name="对象 470059"/>
            <p:cNvGraphicFramePr/>
            <p:nvPr/>
          </p:nvGraphicFramePr>
          <p:xfrm>
            <a:off x="4575" y="1725"/>
            <a:ext cx="283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5" r:id="rId27" imgW="393700" imgH="241300" progId="Equation.3">
                    <p:embed/>
                  </p:oleObj>
                </mc:Choice>
                <mc:Fallback>
                  <p:oleObj r:id="rId27" imgW="393700" imgH="241300" progId="Equation.3">
                    <p:embed/>
                    <p:pic>
                      <p:nvPicPr>
                        <p:cNvPr id="0" name="图片 3232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575" y="1725"/>
                          <a:ext cx="283" cy="1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85" name="直接连接符 470060"/>
            <p:cNvSpPr/>
            <p:nvPr/>
          </p:nvSpPr>
          <p:spPr>
            <a:xfrm>
              <a:off x="4050" y="1119"/>
              <a:ext cx="0" cy="283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round/>
              <a:headEnd type="triangle" w="med" len="lg"/>
              <a:tailEnd type="none" w="med" len="lg"/>
            </a:ln>
          </p:spPr>
        </p:sp>
        <p:sp>
          <p:nvSpPr>
            <p:cNvPr id="104486" name="直接连接符 470061"/>
            <p:cNvSpPr/>
            <p:nvPr/>
          </p:nvSpPr>
          <p:spPr>
            <a:xfrm>
              <a:off x="4333" y="957"/>
              <a:ext cx="0" cy="203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triangle" w="med" len="lg"/>
              <a:tailEnd type="none" w="med" len="lg"/>
            </a:ln>
          </p:spPr>
        </p:sp>
        <p:sp>
          <p:nvSpPr>
            <p:cNvPr id="104487" name="直接连接符 470062"/>
            <p:cNvSpPr/>
            <p:nvPr/>
          </p:nvSpPr>
          <p:spPr>
            <a:xfrm>
              <a:off x="4050" y="432"/>
              <a:ext cx="0" cy="283"/>
            </a:xfrm>
            <a:prstGeom prst="line">
              <a:avLst/>
            </a:prstGeom>
            <a:ln w="9525" cap="flat" cmpd="sng">
              <a:solidFill>
                <a:srgbClr val="FF0066"/>
              </a:solidFill>
              <a:prstDash val="solid"/>
              <a:round/>
              <a:headEnd type="none" w="med" len="lg"/>
              <a:tailEnd type="triangle" w="med" len="lg"/>
            </a:ln>
          </p:spPr>
        </p:sp>
        <p:sp>
          <p:nvSpPr>
            <p:cNvPr id="104488" name="直接连接符 470063"/>
            <p:cNvSpPr/>
            <p:nvPr/>
          </p:nvSpPr>
          <p:spPr>
            <a:xfrm>
              <a:off x="4333" y="513"/>
              <a:ext cx="0" cy="202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lg"/>
              <a:tailEnd type="triangle" w="med" len="lg"/>
            </a:ln>
          </p:spPr>
        </p:sp>
        <p:graphicFrame>
          <p:nvGraphicFramePr>
            <p:cNvPr id="104489" name="对象 470064"/>
            <p:cNvGraphicFramePr/>
            <p:nvPr/>
          </p:nvGraphicFramePr>
          <p:xfrm>
            <a:off x="3915" y="798"/>
            <a:ext cx="33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6" r:id="rId29" imgW="279400" imgH="241300" progId="Equation.3">
                    <p:embed/>
                  </p:oleObj>
                </mc:Choice>
                <mc:Fallback>
                  <p:oleObj r:id="rId29" imgW="279400" imgH="241300" progId="Equation.3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915" y="798"/>
                          <a:ext cx="331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490" name="对象 470065"/>
            <p:cNvGraphicFramePr/>
            <p:nvPr/>
          </p:nvGraphicFramePr>
          <p:xfrm>
            <a:off x="4234" y="680"/>
            <a:ext cx="335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67" r:id="rId31" imgW="278765" imgH="215900" progId="Equation.3">
                    <p:embed/>
                  </p:oleObj>
                </mc:Choice>
                <mc:Fallback>
                  <p:oleObj r:id="rId31" imgW="278765" imgH="2159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234" y="680"/>
                          <a:ext cx="335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0067" name="文本框 470066"/>
            <p:cNvSpPr txBox="1"/>
            <p:nvPr/>
          </p:nvSpPr>
          <p:spPr>
            <a:xfrm>
              <a:off x="4697" y="1078"/>
              <a:ext cx="2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70068" name="文本框 470067"/>
            <p:cNvSpPr txBox="1"/>
            <p:nvPr/>
          </p:nvSpPr>
          <p:spPr>
            <a:xfrm>
              <a:off x="4778" y="753"/>
              <a:ext cx="2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104493" name="直接连接符 470068"/>
            <p:cNvSpPr/>
            <p:nvPr/>
          </p:nvSpPr>
          <p:spPr>
            <a:xfrm>
              <a:off x="4817" y="149"/>
              <a:ext cx="162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4494" name="直接连接符 470069"/>
            <p:cNvSpPr/>
            <p:nvPr/>
          </p:nvSpPr>
          <p:spPr>
            <a:xfrm>
              <a:off x="4817" y="433"/>
              <a:ext cx="162" cy="0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0071" name="矩形 470070"/>
            <p:cNvSpPr/>
            <p:nvPr/>
          </p:nvSpPr>
          <p:spPr>
            <a:xfrm>
              <a:off x="5262" y="28"/>
              <a:ext cx="5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常量</a:t>
              </a:r>
            </a:p>
          </p:txBody>
        </p:sp>
      </p:grpSp>
      <p:sp>
        <p:nvSpPr>
          <p:cNvPr id="470075" name="文本框 470074"/>
          <p:cNvSpPr txBox="1"/>
          <p:nvPr/>
        </p:nvSpPr>
        <p:spPr>
          <a:xfrm>
            <a:off x="254000" y="3783013"/>
            <a:ext cx="2298700" cy="460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>
              <a:buBlip>
                <a:blip r:embed="rId33"/>
              </a:buBlip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物理解释</a:t>
            </a:r>
          </a:p>
        </p:txBody>
      </p:sp>
      <p:graphicFrame>
        <p:nvGraphicFramePr>
          <p:cNvPr id="470076" name="对象 470075"/>
          <p:cNvGraphicFramePr/>
          <p:nvPr/>
        </p:nvGraphicFramePr>
        <p:xfrm>
          <a:off x="1003300" y="4292600"/>
          <a:ext cx="14001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68" r:id="rId34" imgW="634365" imgH="203200" progId="Equation.3">
                  <p:embed/>
                </p:oleObj>
              </mc:Choice>
              <mc:Fallback>
                <p:oleObj r:id="rId34" imgW="634365" imgH="2032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03300" y="4292600"/>
                        <a:ext cx="14001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0077" name="文本框 470076"/>
          <p:cNvSpPr txBox="1"/>
          <p:nvPr/>
        </p:nvSpPr>
        <p:spPr>
          <a:xfrm>
            <a:off x="323850" y="5229225"/>
            <a:ext cx="853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点绝热膨胀到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 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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 n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</a:t>
            </a:r>
            <a:r>
              <a:rPr kumimoji="0" lang="en-US" altLang="zh-CN" b="1" i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b="1" kern="1200" cap="none" spc="0" normalizeH="0" baseline="300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</a:p>
        </p:txBody>
      </p:sp>
      <p:sp>
        <p:nvSpPr>
          <p:cNvPr id="470078" name="文本框 470077"/>
          <p:cNvSpPr txBox="1"/>
          <p:nvPr/>
        </p:nvSpPr>
        <p:spPr>
          <a:xfrm>
            <a:off x="1150938" y="5797550"/>
            <a:ext cx="7780338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且因</a:t>
            </a:r>
            <a:r>
              <a:rPr kumimoji="0" lang="zh-CN" altLang="en-US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绝热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对外</a:t>
            </a:r>
            <a:r>
              <a:rPr kumimoji="0" lang="zh-CN" altLang="en-US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做功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 T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 </a:t>
            </a:r>
            <a:r>
              <a:rPr kumimoji="0" lang="en-US" altLang="zh-CN" b="1" i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b="1" kern="1200" cap="none" spc="0" normalizeH="0" baseline="300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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b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b="1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 P</a:t>
            </a:r>
            <a:r>
              <a:rPr kumimoji="0" lang="en-US" altLang="zh-CN" b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b="1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sp>
        <p:nvSpPr>
          <p:cNvPr id="470080" name="文本框 470079"/>
          <p:cNvSpPr txBox="1"/>
          <p:nvPr/>
        </p:nvSpPr>
        <p:spPr>
          <a:xfrm>
            <a:off x="-860425" y="4767263"/>
            <a:ext cx="8096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点等温膨胀到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 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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 n</a:t>
            </a:r>
            <a:r>
              <a:rPr kumimoji="0" lang="en-US" altLang="zh-CN" b="1" kern="1200" cap="none" spc="0" normalizeH="0" baseline="30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</a:t>
            </a:r>
            <a:r>
              <a:rPr kumimoji="0" lang="en-US" altLang="zh-CN" b="1" i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b="1" kern="1200" cap="none" spc="0" normalizeH="0" baseline="300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  <a:endParaRPr kumimoji="0" lang="en-US" altLang="zh-CN" b="1" kern="1200" cap="none" spc="0" normalizeH="0" baseline="0" noProof="1">
              <a:solidFill>
                <a:srgbClr val="FF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0084" name="矩形 470083"/>
          <p:cNvSpPr/>
          <p:nvPr/>
        </p:nvSpPr>
        <p:spPr>
          <a:xfrm>
            <a:off x="2403475" y="182563"/>
            <a:ext cx="4113213" cy="5191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理气准静态绝热过程方程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75" grpId="0"/>
      <p:bldP spid="470077" grpId="0"/>
      <p:bldP spid="470078" grpId="0"/>
      <p:bldP spid="47008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直接连接符 564225"/>
          <p:cNvSpPr/>
          <p:nvPr/>
        </p:nvSpPr>
        <p:spPr>
          <a:xfrm>
            <a:off x="85725" y="6237288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474" name="直接连接符 564226"/>
          <p:cNvSpPr/>
          <p:nvPr/>
        </p:nvSpPr>
        <p:spPr>
          <a:xfrm>
            <a:off x="722313" y="1736725"/>
            <a:ext cx="0" cy="4487863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64228" name="文本框 564227"/>
          <p:cNvSpPr txBox="1"/>
          <p:nvPr/>
        </p:nvSpPr>
        <p:spPr>
          <a:xfrm>
            <a:off x="61913" y="1736725"/>
            <a:ext cx="1246187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过程</a:t>
            </a:r>
          </a:p>
        </p:txBody>
      </p:sp>
      <p:graphicFrame>
        <p:nvGraphicFramePr>
          <p:cNvPr id="564229" name="对象 564228"/>
          <p:cNvGraphicFramePr/>
          <p:nvPr/>
        </p:nvGraphicFramePr>
        <p:xfrm>
          <a:off x="1865313" y="1776413"/>
          <a:ext cx="5048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3" r:id="rId3" imgW="278765" imgH="178435" progId="Equation.3">
                  <p:embed/>
                </p:oleObj>
              </mc:Choice>
              <mc:Fallback>
                <p:oleObj r:id="rId3" imgW="278765" imgH="178435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65313" y="1776413"/>
                        <a:ext cx="504825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30" name="对象 564229"/>
          <p:cNvGraphicFramePr/>
          <p:nvPr/>
        </p:nvGraphicFramePr>
        <p:xfrm>
          <a:off x="3621088" y="1751013"/>
          <a:ext cx="3317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4" r:id="rId5" imgW="156210" imgH="178435" progId="Equation.DSMT4">
                  <p:embed/>
                </p:oleObj>
              </mc:Choice>
              <mc:Fallback>
                <p:oleObj r:id="rId5" imgW="156210" imgH="178435" progId="Equation.DSMT4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21088" y="1751013"/>
                        <a:ext cx="331787" cy="360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31" name="对象 564230"/>
          <p:cNvGraphicFramePr/>
          <p:nvPr/>
        </p:nvGraphicFramePr>
        <p:xfrm>
          <a:off x="5435600" y="1727200"/>
          <a:ext cx="3333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5" r:id="rId7" imgW="156210" imgH="222885" progId="Equation.DSMT4">
                  <p:embed/>
                </p:oleObj>
              </mc:Choice>
              <mc:Fallback>
                <p:oleObj r:id="rId7" imgW="156210" imgH="222885" progId="Equation.DSMT4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1727200"/>
                        <a:ext cx="333375" cy="449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232" name="文本框 564231"/>
          <p:cNvSpPr txBox="1"/>
          <p:nvPr/>
        </p:nvSpPr>
        <p:spPr>
          <a:xfrm>
            <a:off x="80963" y="2492375"/>
            <a:ext cx="885825" cy="398463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等体</a:t>
            </a:r>
          </a:p>
        </p:txBody>
      </p:sp>
      <p:sp>
        <p:nvSpPr>
          <p:cNvPr id="564233" name="文本框 564232"/>
          <p:cNvSpPr txBox="1"/>
          <p:nvPr/>
        </p:nvSpPr>
        <p:spPr>
          <a:xfrm>
            <a:off x="60325" y="3429000"/>
            <a:ext cx="814388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等压</a:t>
            </a:r>
          </a:p>
        </p:txBody>
      </p:sp>
      <p:sp>
        <p:nvSpPr>
          <p:cNvPr id="564234" name="文本框 564233"/>
          <p:cNvSpPr txBox="1"/>
          <p:nvPr/>
        </p:nvSpPr>
        <p:spPr>
          <a:xfrm>
            <a:off x="47625" y="4365625"/>
            <a:ext cx="814388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等温</a:t>
            </a:r>
          </a:p>
        </p:txBody>
      </p:sp>
      <p:sp>
        <p:nvSpPr>
          <p:cNvPr id="564235" name="文本框 564234"/>
          <p:cNvSpPr txBox="1"/>
          <p:nvPr/>
        </p:nvSpPr>
        <p:spPr>
          <a:xfrm>
            <a:off x="55563" y="5337175"/>
            <a:ext cx="814387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绝热</a:t>
            </a:r>
          </a:p>
        </p:txBody>
      </p:sp>
      <p:graphicFrame>
        <p:nvGraphicFramePr>
          <p:cNvPr id="564236" name="对象 564235"/>
          <p:cNvGraphicFramePr/>
          <p:nvPr/>
        </p:nvGraphicFramePr>
        <p:xfrm>
          <a:off x="1547813" y="2276475"/>
          <a:ext cx="141763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6" r:id="rId9" imgW="936625" imgH="490855" progId="Equation.DSMT4">
                  <p:embed/>
                </p:oleObj>
              </mc:Choice>
              <mc:Fallback>
                <p:oleObj r:id="rId9" imgW="936625" imgH="490855" progId="Equation.DSMT4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276475"/>
                        <a:ext cx="1417637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37" name="对象 564236"/>
          <p:cNvGraphicFramePr/>
          <p:nvPr/>
        </p:nvGraphicFramePr>
        <p:xfrm>
          <a:off x="1519238" y="3206750"/>
          <a:ext cx="1458912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7" r:id="rId11" imgW="936625" imgH="490855" progId="Equation.DSMT4">
                  <p:embed/>
                </p:oleObj>
              </mc:Choice>
              <mc:Fallback>
                <p:oleObj r:id="rId11" imgW="936625" imgH="490855" progId="Equation.DSMT4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19238" y="3206750"/>
                        <a:ext cx="1458912" cy="782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38" name="对象 564237"/>
          <p:cNvGraphicFramePr/>
          <p:nvPr/>
        </p:nvGraphicFramePr>
        <p:xfrm>
          <a:off x="1571625" y="5284788"/>
          <a:ext cx="13858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8" r:id="rId13" imgW="948055" imgH="490855" progId="Equation.DSMT4">
                  <p:embed/>
                </p:oleObj>
              </mc:Choice>
              <mc:Fallback>
                <p:oleObj r:id="rId13" imgW="948055" imgH="490855" progId="Equation.DSMT4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71625" y="5284788"/>
                        <a:ext cx="1385888" cy="730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39" name="对象 564238"/>
          <p:cNvGraphicFramePr/>
          <p:nvPr/>
        </p:nvGraphicFramePr>
        <p:xfrm>
          <a:off x="1970088" y="4368800"/>
          <a:ext cx="30321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9" r:id="rId15" imgW="122555" imgH="200660" progId="Equation.3">
                  <p:embed/>
                </p:oleObj>
              </mc:Choice>
              <mc:Fallback>
                <p:oleObj r:id="rId15" imgW="122555" imgH="20066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0088" y="4368800"/>
                        <a:ext cx="303212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0" name="对象 564239"/>
          <p:cNvGraphicFramePr/>
          <p:nvPr/>
        </p:nvGraphicFramePr>
        <p:xfrm>
          <a:off x="3717925" y="2420938"/>
          <a:ext cx="303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0" r:id="rId17" imgW="122555" imgH="200660" progId="Equation.3">
                  <p:embed/>
                </p:oleObj>
              </mc:Choice>
              <mc:Fallback>
                <p:oleObj r:id="rId17" imgW="122555" imgH="20066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17925" y="2420938"/>
                        <a:ext cx="30321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1" name="对象 564240"/>
          <p:cNvGraphicFramePr/>
          <p:nvPr/>
        </p:nvGraphicFramePr>
        <p:xfrm>
          <a:off x="5781675" y="5373688"/>
          <a:ext cx="303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1" r:id="rId19" imgW="122555" imgH="200660" progId="Equation.3">
                  <p:embed/>
                </p:oleObj>
              </mc:Choice>
              <mc:Fallback>
                <p:oleObj r:id="rId19" imgW="122555" imgH="20066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81675" y="5373688"/>
                        <a:ext cx="303213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2" name="对象 564241"/>
          <p:cNvGraphicFramePr/>
          <p:nvPr/>
        </p:nvGraphicFramePr>
        <p:xfrm>
          <a:off x="5076825" y="2205038"/>
          <a:ext cx="15827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2" r:id="rId21" imgW="936625" imgH="490855" progId="Equation.DSMT4">
                  <p:embed/>
                </p:oleObj>
              </mc:Choice>
              <mc:Fallback>
                <p:oleObj r:id="rId21" imgW="936625" imgH="490855" progId="Equation.DSMT4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2205038"/>
                        <a:ext cx="1582738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3" name="对象 564242"/>
          <p:cNvGraphicFramePr/>
          <p:nvPr/>
        </p:nvGraphicFramePr>
        <p:xfrm>
          <a:off x="3100388" y="4187825"/>
          <a:ext cx="16319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3" r:id="rId23" imgW="1014730" imgH="546100" progId="Equation.DSMT4">
                  <p:embed/>
                </p:oleObj>
              </mc:Choice>
              <mc:Fallback>
                <p:oleObj r:id="rId23" imgW="1014730" imgH="546100" progId="Equation.DSMT4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00388" y="4187825"/>
                        <a:ext cx="1631950" cy="814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4" name="对象 564243"/>
          <p:cNvGraphicFramePr/>
          <p:nvPr/>
        </p:nvGraphicFramePr>
        <p:xfrm>
          <a:off x="5087938" y="4159250"/>
          <a:ext cx="170021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4" r:id="rId25" imgW="1014730" imgH="546100" progId="Equation.DSMT4">
                  <p:embed/>
                </p:oleObj>
              </mc:Choice>
              <mc:Fallback>
                <p:oleObj r:id="rId25" imgW="1014730" imgH="546100" progId="Equation.DSMT4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87938" y="4159250"/>
                        <a:ext cx="1700212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5" name="对象 564244"/>
          <p:cNvGraphicFramePr/>
          <p:nvPr/>
        </p:nvGraphicFramePr>
        <p:xfrm>
          <a:off x="3057525" y="5218113"/>
          <a:ext cx="17637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5" r:id="rId27" imgW="1104265" imgH="490855" progId="Equation.DSMT4">
                  <p:embed/>
                </p:oleObj>
              </mc:Choice>
              <mc:Fallback>
                <p:oleObj r:id="rId27" imgW="1104265" imgH="490855" progId="Equation.DSMT4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7525" y="5218113"/>
                        <a:ext cx="1763713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6" name="对象 564245"/>
          <p:cNvGraphicFramePr/>
          <p:nvPr/>
        </p:nvGraphicFramePr>
        <p:xfrm>
          <a:off x="3203575" y="3429000"/>
          <a:ext cx="14033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6" r:id="rId29" imgW="847725" imgH="256540" progId="Equation.3">
                  <p:embed/>
                </p:oleObj>
              </mc:Choice>
              <mc:Fallback>
                <p:oleObj r:id="rId29" imgW="847725" imgH="25654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575" y="3429000"/>
                        <a:ext cx="1403350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47" name="对象 564246"/>
          <p:cNvGraphicFramePr/>
          <p:nvPr/>
        </p:nvGraphicFramePr>
        <p:xfrm>
          <a:off x="5046663" y="3141663"/>
          <a:ext cx="1719262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7" r:id="rId31" imgW="936625" imgH="490855" progId="Equation.DSMT4">
                  <p:embed/>
                </p:oleObj>
              </mc:Choice>
              <mc:Fallback>
                <p:oleObj r:id="rId31" imgW="936625" imgH="490855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3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46663" y="3141663"/>
                        <a:ext cx="1719262" cy="922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5" name="直接连接符 564247"/>
          <p:cNvSpPr/>
          <p:nvPr/>
        </p:nvSpPr>
        <p:spPr>
          <a:xfrm>
            <a:off x="9091613" y="692150"/>
            <a:ext cx="0" cy="554990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496" name="直接连接符 564248"/>
          <p:cNvSpPr/>
          <p:nvPr/>
        </p:nvSpPr>
        <p:spPr>
          <a:xfrm>
            <a:off x="85725" y="692150"/>
            <a:ext cx="0" cy="554990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497" name="直接连接符 564249"/>
          <p:cNvSpPr/>
          <p:nvPr/>
        </p:nvSpPr>
        <p:spPr>
          <a:xfrm>
            <a:off x="95250" y="4149725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498" name="直接连接符 564250"/>
          <p:cNvSpPr/>
          <p:nvPr/>
        </p:nvSpPr>
        <p:spPr>
          <a:xfrm>
            <a:off x="107950" y="3068638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499" name="直接连接符 564251"/>
          <p:cNvSpPr/>
          <p:nvPr/>
        </p:nvSpPr>
        <p:spPr>
          <a:xfrm>
            <a:off x="107950" y="223520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500" name="直接连接符 564252"/>
          <p:cNvSpPr/>
          <p:nvPr/>
        </p:nvSpPr>
        <p:spPr>
          <a:xfrm>
            <a:off x="95250" y="1722438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501" name="直接连接符 564253"/>
          <p:cNvSpPr/>
          <p:nvPr/>
        </p:nvSpPr>
        <p:spPr>
          <a:xfrm>
            <a:off x="76200" y="692150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502" name="直接连接符 564254"/>
          <p:cNvSpPr/>
          <p:nvPr/>
        </p:nvSpPr>
        <p:spPr>
          <a:xfrm>
            <a:off x="73025" y="5013325"/>
            <a:ext cx="8997950" cy="0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64256" name="文本框 564255"/>
          <p:cNvSpPr txBox="1"/>
          <p:nvPr/>
        </p:nvSpPr>
        <p:spPr>
          <a:xfrm>
            <a:off x="857250" y="1736725"/>
            <a:ext cx="742950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特征</a:t>
            </a:r>
          </a:p>
        </p:txBody>
      </p:sp>
      <p:sp>
        <p:nvSpPr>
          <p:cNvPr id="105504" name="直接连接符 564256"/>
          <p:cNvSpPr/>
          <p:nvPr/>
        </p:nvSpPr>
        <p:spPr>
          <a:xfrm>
            <a:off x="1522413" y="1735138"/>
            <a:ext cx="0" cy="4487862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505" name="直接连接符 564257"/>
          <p:cNvSpPr/>
          <p:nvPr/>
        </p:nvSpPr>
        <p:spPr>
          <a:xfrm>
            <a:off x="6886575" y="1725613"/>
            <a:ext cx="0" cy="4487862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506" name="直接连接符 564258"/>
          <p:cNvSpPr/>
          <p:nvPr/>
        </p:nvSpPr>
        <p:spPr>
          <a:xfrm>
            <a:off x="2940050" y="1725613"/>
            <a:ext cx="0" cy="4487862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507" name="直接连接符 564259"/>
          <p:cNvSpPr/>
          <p:nvPr/>
        </p:nvSpPr>
        <p:spPr>
          <a:xfrm>
            <a:off x="5003800" y="1747838"/>
            <a:ext cx="0" cy="4487862"/>
          </a:xfrm>
          <a:prstGeom prst="line">
            <a:avLst/>
          </a:prstGeom>
          <a:ln w="2857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564262" name="对象 564261"/>
          <p:cNvGraphicFramePr/>
          <p:nvPr/>
        </p:nvGraphicFramePr>
        <p:xfrm>
          <a:off x="911225" y="2565400"/>
          <a:ext cx="48577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8" r:id="rId33" imgW="367665" imgH="177800" progId="Equation.DSMT4">
                  <p:embed/>
                </p:oleObj>
              </mc:Choice>
              <mc:Fallback>
                <p:oleObj r:id="rId33" imgW="367665" imgH="177800" progId="Equation.DSMT4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11225" y="2565400"/>
                        <a:ext cx="485775" cy="233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64" name="对象 564263"/>
          <p:cNvGraphicFramePr/>
          <p:nvPr/>
        </p:nvGraphicFramePr>
        <p:xfrm>
          <a:off x="914400" y="3516313"/>
          <a:ext cx="482600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9" r:id="rId35" imgW="367665" imgH="165100" progId="Equation.DSMT4">
                  <p:embed/>
                </p:oleObj>
              </mc:Choice>
              <mc:Fallback>
                <p:oleObj r:id="rId35" imgW="367665" imgH="165100" progId="Equation.DSMT4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14400" y="3516313"/>
                        <a:ext cx="482600" cy="217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65" name="对象 564264"/>
          <p:cNvGraphicFramePr/>
          <p:nvPr/>
        </p:nvGraphicFramePr>
        <p:xfrm>
          <a:off x="914400" y="4437063"/>
          <a:ext cx="468313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0" r:id="rId37" imgW="354965" imgH="177800" progId="Equation.DSMT4">
                  <p:embed/>
                </p:oleObj>
              </mc:Choice>
              <mc:Fallback>
                <p:oleObj r:id="rId37" imgW="354965" imgH="177800" progId="Equation.DSMT4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914400" y="4437063"/>
                        <a:ext cx="468313" cy="233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66" name="对象 564265"/>
          <p:cNvGraphicFramePr/>
          <p:nvPr/>
        </p:nvGraphicFramePr>
        <p:xfrm>
          <a:off x="838200" y="5665788"/>
          <a:ext cx="61595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1" r:id="rId39" imgW="469265" imgH="203200" progId="Equation.DSMT4">
                  <p:embed/>
                </p:oleObj>
              </mc:Choice>
              <mc:Fallback>
                <p:oleObj r:id="rId39" imgW="469265" imgH="203200" progId="Equation.DSMT4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38200" y="5665788"/>
                        <a:ext cx="615950" cy="26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67" name="对象 564266"/>
          <p:cNvGraphicFramePr/>
          <p:nvPr/>
        </p:nvGraphicFramePr>
        <p:xfrm>
          <a:off x="838200" y="5208588"/>
          <a:ext cx="6175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2" r:id="rId41" imgW="380365" imgH="203200" progId="Equation.DSMT4">
                  <p:embed/>
                </p:oleObj>
              </mc:Choice>
              <mc:Fallback>
                <p:oleObj r:id="rId41" imgW="380365" imgH="203200" progId="Equation.DSMT4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38200" y="5208588"/>
                        <a:ext cx="617538" cy="32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269" name="文本框 564268"/>
          <p:cNvSpPr txBox="1"/>
          <p:nvPr/>
        </p:nvSpPr>
        <p:spPr>
          <a:xfrm>
            <a:off x="7500938" y="1773238"/>
            <a:ext cx="742950" cy="3968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备注</a:t>
            </a:r>
          </a:p>
        </p:txBody>
      </p:sp>
      <p:graphicFrame>
        <p:nvGraphicFramePr>
          <p:cNvPr id="564270" name="对象 564269"/>
          <p:cNvGraphicFramePr/>
          <p:nvPr/>
        </p:nvGraphicFramePr>
        <p:xfrm>
          <a:off x="7415213" y="2301875"/>
          <a:ext cx="118903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3" r:id="rId43" imgW="685800" imgH="393700" progId="Equation.DSMT4">
                  <p:embed/>
                </p:oleObj>
              </mc:Choice>
              <mc:Fallback>
                <p:oleObj r:id="rId43" imgW="685800" imgH="393700" progId="Equation.DSMT4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415213" y="2301875"/>
                        <a:ext cx="1189037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71" name="对象 564270"/>
          <p:cNvGraphicFramePr/>
          <p:nvPr/>
        </p:nvGraphicFramePr>
        <p:xfrm>
          <a:off x="6877050" y="3157538"/>
          <a:ext cx="21590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4" r:id="rId45" imgW="2263775" imgH="546100" progId="Equation.DSMT4">
                  <p:embed/>
                </p:oleObj>
              </mc:Choice>
              <mc:Fallback>
                <p:oleObj r:id="rId45" imgW="2263775" imgH="546100" progId="Equation.DSMT4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46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77050" y="3157538"/>
                        <a:ext cx="2159000" cy="715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72" name="对象 564271"/>
          <p:cNvGraphicFramePr/>
          <p:nvPr/>
        </p:nvGraphicFramePr>
        <p:xfrm>
          <a:off x="7308850" y="4221163"/>
          <a:ext cx="11461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5" r:id="rId47" imgW="847725" imgH="490855" progId="Equation.DSMT4">
                  <p:embed/>
                </p:oleObj>
              </mc:Choice>
              <mc:Fallback>
                <p:oleObj r:id="rId47" imgW="847725" imgH="490855" progId="Equation.DSMT4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4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08850" y="4221163"/>
                        <a:ext cx="1146175" cy="72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73" name="对象 564272"/>
          <p:cNvGraphicFramePr/>
          <p:nvPr/>
        </p:nvGraphicFramePr>
        <p:xfrm>
          <a:off x="6923088" y="5029200"/>
          <a:ext cx="9604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6" r:id="rId49" imgW="747395" imgH="267335" progId="Equation.DSMT4">
                  <p:embed/>
                </p:oleObj>
              </mc:Choice>
              <mc:Fallback>
                <p:oleObj r:id="rId49" imgW="747395" imgH="267335" progId="Equation.DSMT4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50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23088" y="5029200"/>
                        <a:ext cx="960437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74" name="对象 564273"/>
          <p:cNvGraphicFramePr/>
          <p:nvPr/>
        </p:nvGraphicFramePr>
        <p:xfrm>
          <a:off x="8045450" y="5040313"/>
          <a:ext cx="10080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7" r:id="rId51" imgW="858520" imgH="267335" progId="Equation.3">
                  <p:embed/>
                </p:oleObj>
              </mc:Choice>
              <mc:Fallback>
                <p:oleObj r:id="rId51" imgW="858520" imgH="267335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52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045450" y="5040313"/>
                        <a:ext cx="1008063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75" name="对象 564274"/>
          <p:cNvGraphicFramePr/>
          <p:nvPr/>
        </p:nvGraphicFramePr>
        <p:xfrm>
          <a:off x="6915150" y="5381625"/>
          <a:ext cx="115411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8" r:id="rId53" imgW="1014730" imgH="278765" progId="Equation.3">
                  <p:embed/>
                </p:oleObj>
              </mc:Choice>
              <mc:Fallback>
                <p:oleObj r:id="rId53" imgW="1014730" imgH="278765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54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15150" y="5381625"/>
                        <a:ext cx="1154113" cy="35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76" name="对象 564275"/>
          <p:cNvGraphicFramePr/>
          <p:nvPr/>
        </p:nvGraphicFramePr>
        <p:xfrm>
          <a:off x="7524750" y="5734050"/>
          <a:ext cx="9366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79" r:id="rId55" imgW="958850" imgH="490855" progId="Equation.DSMT4">
                  <p:embed/>
                </p:oleObj>
              </mc:Choice>
              <mc:Fallback>
                <p:oleObj r:id="rId55" imgW="958850" imgH="490855" progId="Equation.DSMT4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5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24750" y="5734050"/>
                        <a:ext cx="936625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277" name="文本框 564276"/>
          <p:cNvSpPr txBox="1"/>
          <p:nvPr/>
        </p:nvSpPr>
        <p:spPr>
          <a:xfrm>
            <a:off x="228600" y="788988"/>
            <a:ext cx="1295400" cy="7620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热力学系统：</a:t>
            </a:r>
          </a:p>
        </p:txBody>
      </p:sp>
      <p:graphicFrame>
        <p:nvGraphicFramePr>
          <p:cNvPr id="564279" name="对象 564278"/>
          <p:cNvGraphicFramePr/>
          <p:nvPr/>
        </p:nvGraphicFramePr>
        <p:xfrm>
          <a:off x="1187450" y="765175"/>
          <a:ext cx="18907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0" r:id="rId57" imgW="1092835" imgH="490855" progId="Equation.DSMT4">
                  <p:embed/>
                </p:oleObj>
              </mc:Choice>
              <mc:Fallback>
                <p:oleObj r:id="rId57" imgW="1092835" imgH="490855" progId="Equation.DSMT4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5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765175"/>
                        <a:ext cx="1890713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80" name="对象 564279"/>
          <p:cNvGraphicFramePr/>
          <p:nvPr/>
        </p:nvGraphicFramePr>
        <p:xfrm>
          <a:off x="4597400" y="1001713"/>
          <a:ext cx="18129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1" r:id="rId59" imgW="958850" imgH="222885" progId="Equation.DSMT4">
                  <p:embed/>
                </p:oleObj>
              </mc:Choice>
              <mc:Fallback>
                <p:oleObj r:id="rId59" imgW="958850" imgH="222885" progId="Equation.DSMT4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60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97400" y="1001713"/>
                        <a:ext cx="1812925" cy="455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81" name="对象 564280"/>
          <p:cNvGraphicFramePr/>
          <p:nvPr/>
        </p:nvGraphicFramePr>
        <p:xfrm>
          <a:off x="6769100" y="1017588"/>
          <a:ext cx="211613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2" r:id="rId61" imgW="1327150" imgH="222885" progId="Equation.DSMT4">
                  <p:embed/>
                </p:oleObj>
              </mc:Choice>
              <mc:Fallback>
                <p:oleObj r:id="rId61" imgW="1327150" imgH="222885" progId="Equation.DSMT4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62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69100" y="1017588"/>
                        <a:ext cx="2116138" cy="43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284" name="文本框 564283"/>
          <p:cNvSpPr txBox="1"/>
          <p:nvPr/>
        </p:nvSpPr>
        <p:spPr>
          <a:xfrm>
            <a:off x="152400" y="125413"/>
            <a:ext cx="348297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阶段小结：</a:t>
            </a:r>
          </a:p>
        </p:txBody>
      </p:sp>
      <p:graphicFrame>
        <p:nvGraphicFramePr>
          <p:cNvPr id="564285" name="对象 564284"/>
          <p:cNvGraphicFramePr/>
          <p:nvPr/>
        </p:nvGraphicFramePr>
        <p:xfrm>
          <a:off x="5940425" y="-11112"/>
          <a:ext cx="143827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3" r:id="rId63" imgW="1028700" imgH="469900" progId="Equation.DSMT4">
                  <p:embed/>
                </p:oleObj>
              </mc:Choice>
              <mc:Fallback>
                <p:oleObj r:id="rId63" imgW="1028700" imgH="469900" progId="Equation.DSMT4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5940425" y="-11112"/>
                        <a:ext cx="1438275" cy="760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4286" name="对象 564285"/>
          <p:cNvGraphicFramePr/>
          <p:nvPr/>
        </p:nvGraphicFramePr>
        <p:xfrm>
          <a:off x="3132138" y="1052513"/>
          <a:ext cx="13160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4" r:id="rId65" imgW="596265" imgH="203200" progId="Equation.DSMT4">
                  <p:embed/>
                </p:oleObj>
              </mc:Choice>
              <mc:Fallback>
                <p:oleObj r:id="rId65" imgW="596265" imgH="2032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3132138" y="1052513"/>
                        <a:ext cx="1316037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64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64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64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64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6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6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6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2" dur="500"/>
                                        <p:tgtEl>
                                          <p:spTgt spid="56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8" grpId="0"/>
      <p:bldP spid="564232" grpId="0"/>
      <p:bldP spid="564233" grpId="0"/>
      <p:bldP spid="564234" grpId="0"/>
      <p:bldP spid="564235" grpId="0"/>
      <p:bldP spid="564256" grpId="0"/>
      <p:bldP spid="564269" grpId="0"/>
      <p:bldP spid="5642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文本框 27649"/>
          <p:cNvSpPr txBox="1"/>
          <p:nvPr/>
        </p:nvSpPr>
        <p:spPr>
          <a:xfrm>
            <a:off x="395288" y="188913"/>
            <a:ext cx="8561387" cy="14208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、已知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一气缸如图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内各有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mol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理想气体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氮气</a:t>
            </a:r>
            <a:r>
              <a:rPr lang="zh-CN" altLang="en-US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。且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=T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。有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335J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的热量缓慢地传给气缸，活塞上方的压强始终是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1atm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忽略导热板的吸热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活塞重量及摩擦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06498" name="文本框 27650"/>
          <p:cNvSpPr txBox="1"/>
          <p:nvPr/>
        </p:nvSpPr>
        <p:spPr>
          <a:xfrm>
            <a:off x="133350" y="5373688"/>
            <a:ext cx="3789363" cy="952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两部分温度的增量及净吸的热量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06499" name="矩形 27651"/>
          <p:cNvSpPr/>
          <p:nvPr/>
        </p:nvSpPr>
        <p:spPr>
          <a:xfrm>
            <a:off x="631825" y="2155825"/>
            <a:ext cx="152400" cy="220980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0" name="矩形 27652"/>
          <p:cNvSpPr/>
          <p:nvPr/>
        </p:nvSpPr>
        <p:spPr>
          <a:xfrm>
            <a:off x="2079625" y="2155825"/>
            <a:ext cx="152400" cy="220980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1" name="矩形 27653"/>
          <p:cNvSpPr/>
          <p:nvPr/>
        </p:nvSpPr>
        <p:spPr>
          <a:xfrm>
            <a:off x="784225" y="4213225"/>
            <a:ext cx="1295400" cy="152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2" name="矩形 27654"/>
          <p:cNvSpPr/>
          <p:nvPr/>
        </p:nvSpPr>
        <p:spPr>
          <a:xfrm>
            <a:off x="784225" y="3527425"/>
            <a:ext cx="1295400" cy="152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3" name="矩形 27655"/>
          <p:cNvSpPr/>
          <p:nvPr/>
        </p:nvSpPr>
        <p:spPr>
          <a:xfrm>
            <a:off x="784225" y="2765425"/>
            <a:ext cx="1295400" cy="152400"/>
          </a:xfrm>
          <a:prstGeom prst="rect">
            <a:avLst/>
          </a:prstGeom>
          <a:solidFill>
            <a:srgbClr val="33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4" name="矩形 27656"/>
          <p:cNvSpPr/>
          <p:nvPr/>
        </p:nvSpPr>
        <p:spPr>
          <a:xfrm>
            <a:off x="784225" y="3375025"/>
            <a:ext cx="76200" cy="152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5" name="矩形 27657"/>
          <p:cNvSpPr/>
          <p:nvPr/>
        </p:nvSpPr>
        <p:spPr>
          <a:xfrm>
            <a:off x="2003425" y="3375025"/>
            <a:ext cx="76200" cy="152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6" name="上箭头 27658"/>
          <p:cNvSpPr/>
          <p:nvPr/>
        </p:nvSpPr>
        <p:spPr>
          <a:xfrm>
            <a:off x="1317625" y="3984625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7" name="上箭头 27659"/>
          <p:cNvSpPr/>
          <p:nvPr/>
        </p:nvSpPr>
        <p:spPr>
          <a:xfrm>
            <a:off x="1317625" y="3375025"/>
            <a:ext cx="76200" cy="381000"/>
          </a:xfrm>
          <a:prstGeom prst="up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8" name="上箭头 27660"/>
          <p:cNvSpPr/>
          <p:nvPr/>
        </p:nvSpPr>
        <p:spPr>
          <a:xfrm>
            <a:off x="1393825" y="3375025"/>
            <a:ext cx="76200" cy="381000"/>
          </a:xfrm>
          <a:prstGeom prst="up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9" name="矩形 27661"/>
          <p:cNvSpPr/>
          <p:nvPr/>
        </p:nvSpPr>
        <p:spPr>
          <a:xfrm>
            <a:off x="250825" y="4365625"/>
            <a:ext cx="2362200" cy="533400"/>
          </a:xfrm>
          <a:prstGeom prst="rect">
            <a:avLst/>
          </a:prstGeom>
          <a:solidFill>
            <a:srgbClr val="FF7C8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10" name="下箭头 27662"/>
          <p:cNvSpPr/>
          <p:nvPr/>
        </p:nvSpPr>
        <p:spPr>
          <a:xfrm>
            <a:off x="1317625" y="2079625"/>
            <a:ext cx="228600" cy="609600"/>
          </a:xfrm>
          <a:prstGeom prst="downArrow">
            <a:avLst>
              <a:gd name="adj1" fmla="val 50000"/>
              <a:gd name="adj2" fmla="val 66543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11" name="圆角矩形标注 27663"/>
          <p:cNvSpPr/>
          <p:nvPr/>
        </p:nvSpPr>
        <p:spPr>
          <a:xfrm>
            <a:off x="2536825" y="2613025"/>
            <a:ext cx="1100138" cy="533400"/>
          </a:xfrm>
          <a:prstGeom prst="wedgeRoundRectCallout">
            <a:avLst>
              <a:gd name="adj1" fmla="val -84634"/>
              <a:gd name="adj2" fmla="val 9404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512" name="文本框 27664"/>
          <p:cNvSpPr txBox="1"/>
          <p:nvPr/>
        </p:nvSpPr>
        <p:spPr>
          <a:xfrm>
            <a:off x="2613025" y="2689225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绝热</a:t>
            </a:r>
          </a:p>
        </p:txBody>
      </p:sp>
      <p:sp>
        <p:nvSpPr>
          <p:cNvPr id="106513" name="圆角矩形标注 27665"/>
          <p:cNvSpPr/>
          <p:nvPr/>
        </p:nvSpPr>
        <p:spPr>
          <a:xfrm>
            <a:off x="2536825" y="3603625"/>
            <a:ext cx="1143000" cy="457200"/>
          </a:xfrm>
          <a:prstGeom prst="wedgeRoundRectCallout">
            <a:avLst>
              <a:gd name="adj1" fmla="val -118056"/>
              <a:gd name="adj2" fmla="val -4791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514" name="文本框 27666"/>
          <p:cNvSpPr txBox="1"/>
          <p:nvPr/>
        </p:nvSpPr>
        <p:spPr>
          <a:xfrm>
            <a:off x="2536825" y="360362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导热板</a:t>
            </a:r>
          </a:p>
        </p:txBody>
      </p:sp>
      <p:sp>
        <p:nvSpPr>
          <p:cNvPr id="106515" name="文本框 27667"/>
          <p:cNvSpPr txBox="1"/>
          <p:nvPr/>
        </p:nvSpPr>
        <p:spPr>
          <a:xfrm>
            <a:off x="1012825" y="4441825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热源</a:t>
            </a:r>
          </a:p>
        </p:txBody>
      </p:sp>
      <p:sp>
        <p:nvSpPr>
          <p:cNvPr id="106516" name="文本框 27668"/>
          <p:cNvSpPr txBox="1"/>
          <p:nvPr/>
        </p:nvSpPr>
        <p:spPr>
          <a:xfrm>
            <a:off x="708025" y="1698625"/>
            <a:ext cx="996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atm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06517" name="文本框 27669"/>
          <p:cNvSpPr txBox="1"/>
          <p:nvPr/>
        </p:nvSpPr>
        <p:spPr>
          <a:xfrm>
            <a:off x="920750" y="3700463"/>
            <a:ext cx="33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06518" name="文本框 27670"/>
          <p:cNvSpPr txBox="1"/>
          <p:nvPr/>
        </p:nvSpPr>
        <p:spPr>
          <a:xfrm>
            <a:off x="936625" y="2973388"/>
            <a:ext cx="33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06519" name="文本框 27671"/>
          <p:cNvSpPr txBox="1"/>
          <p:nvPr/>
        </p:nvSpPr>
        <p:spPr>
          <a:xfrm>
            <a:off x="1530350" y="3700463"/>
            <a:ext cx="5222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106520" name="文本框 27672"/>
          <p:cNvSpPr txBox="1"/>
          <p:nvPr/>
        </p:nvSpPr>
        <p:spPr>
          <a:xfrm>
            <a:off x="1698625" y="3130550"/>
            <a:ext cx="2984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en-US" altLang="zh-CN" sz="1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521" name="文本框 27673"/>
          <p:cNvSpPr txBox="1"/>
          <p:nvPr/>
        </p:nvSpPr>
        <p:spPr>
          <a:xfrm>
            <a:off x="1470025" y="2973388"/>
            <a:ext cx="33972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i="1" dirty="0"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</a:p>
          <a:p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56100" y="5373688"/>
            <a:ext cx="4311650" cy="952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若将导热隔板换成可自由滑动的绝热隔板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757738" y="1758950"/>
            <a:ext cx="3536950" cy="3124200"/>
            <a:chOff x="384" y="2160"/>
            <a:chExt cx="2228" cy="1968"/>
          </a:xfrm>
        </p:grpSpPr>
        <p:sp>
          <p:nvSpPr>
            <p:cNvPr id="106524" name="矩形 31747"/>
            <p:cNvSpPr/>
            <p:nvPr/>
          </p:nvSpPr>
          <p:spPr>
            <a:xfrm>
              <a:off x="624" y="2400"/>
              <a:ext cx="96" cy="1392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25" name="矩形 31748"/>
            <p:cNvSpPr/>
            <p:nvPr/>
          </p:nvSpPr>
          <p:spPr>
            <a:xfrm>
              <a:off x="1536" y="2400"/>
              <a:ext cx="96" cy="1392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26" name="矩形 31749"/>
            <p:cNvSpPr/>
            <p:nvPr/>
          </p:nvSpPr>
          <p:spPr>
            <a:xfrm>
              <a:off x="720" y="3696"/>
              <a:ext cx="816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27" name="矩形 31750"/>
            <p:cNvSpPr/>
            <p:nvPr/>
          </p:nvSpPr>
          <p:spPr>
            <a:xfrm>
              <a:off x="720" y="3024"/>
              <a:ext cx="816" cy="9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28" name="矩形 31751"/>
            <p:cNvSpPr/>
            <p:nvPr/>
          </p:nvSpPr>
          <p:spPr>
            <a:xfrm>
              <a:off x="720" y="2544"/>
              <a:ext cx="816" cy="9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29" name="上箭头 31752"/>
            <p:cNvSpPr/>
            <p:nvPr/>
          </p:nvSpPr>
          <p:spPr>
            <a:xfrm>
              <a:off x="1056" y="3552"/>
              <a:ext cx="96" cy="336"/>
            </a:xfrm>
            <a:prstGeom prst="up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30" name="矩形 31753"/>
            <p:cNvSpPr/>
            <p:nvPr/>
          </p:nvSpPr>
          <p:spPr>
            <a:xfrm>
              <a:off x="384" y="3792"/>
              <a:ext cx="1488" cy="336"/>
            </a:xfrm>
            <a:prstGeom prst="rect">
              <a:avLst/>
            </a:prstGeom>
            <a:solidFill>
              <a:srgbClr val="FF7C8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31" name="下箭头 31754"/>
            <p:cNvSpPr/>
            <p:nvPr/>
          </p:nvSpPr>
          <p:spPr>
            <a:xfrm>
              <a:off x="1056" y="2160"/>
              <a:ext cx="144" cy="384"/>
            </a:xfrm>
            <a:prstGeom prst="downArrow">
              <a:avLst>
                <a:gd name="adj1" fmla="val 50000"/>
                <a:gd name="adj2" fmla="val 66543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32" name="圆角矩形标注 31755"/>
            <p:cNvSpPr/>
            <p:nvPr/>
          </p:nvSpPr>
          <p:spPr>
            <a:xfrm>
              <a:off x="1824" y="2688"/>
              <a:ext cx="576" cy="336"/>
            </a:xfrm>
            <a:prstGeom prst="wedgeRoundRectCallout">
              <a:avLst>
                <a:gd name="adj1" fmla="val -91667"/>
                <a:gd name="adj2" fmla="val 94046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33" name="文本框 31756"/>
            <p:cNvSpPr txBox="1"/>
            <p:nvPr/>
          </p:nvSpPr>
          <p:spPr>
            <a:xfrm>
              <a:off x="1872" y="2736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绝热</a:t>
              </a:r>
            </a:p>
          </p:txBody>
        </p:sp>
        <p:sp>
          <p:nvSpPr>
            <p:cNvPr id="106534" name="文本框 31757"/>
            <p:cNvSpPr txBox="1"/>
            <p:nvPr/>
          </p:nvSpPr>
          <p:spPr>
            <a:xfrm>
              <a:off x="864" y="3840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热源</a:t>
              </a:r>
            </a:p>
          </p:txBody>
        </p:sp>
        <p:sp>
          <p:nvSpPr>
            <p:cNvPr id="106535" name="文本框 31758"/>
            <p:cNvSpPr txBox="1"/>
            <p:nvPr/>
          </p:nvSpPr>
          <p:spPr>
            <a:xfrm>
              <a:off x="528" y="2160"/>
              <a:ext cx="5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1atm.</a:t>
              </a:r>
            </a:p>
          </p:txBody>
        </p:sp>
        <p:sp>
          <p:nvSpPr>
            <p:cNvPr id="106536" name="文本框 31759"/>
            <p:cNvSpPr txBox="1"/>
            <p:nvPr/>
          </p:nvSpPr>
          <p:spPr>
            <a:xfrm>
              <a:off x="806" y="338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6537" name="文本框 31760"/>
            <p:cNvSpPr txBox="1"/>
            <p:nvPr/>
          </p:nvSpPr>
          <p:spPr>
            <a:xfrm>
              <a:off x="912" y="2688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06538" name="文本框 31761"/>
            <p:cNvSpPr txBox="1"/>
            <p:nvPr/>
          </p:nvSpPr>
          <p:spPr>
            <a:xfrm>
              <a:off x="1190" y="338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106539" name="文本框 31762"/>
            <p:cNvSpPr txBox="1"/>
            <p:nvPr/>
          </p:nvSpPr>
          <p:spPr>
            <a:xfrm>
              <a:off x="2496" y="3203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endPara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框 31745"/>
          <p:cNvSpPr txBox="1"/>
          <p:nvPr/>
        </p:nvSpPr>
        <p:spPr>
          <a:xfrm>
            <a:off x="467518" y="174625"/>
            <a:ext cx="70897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若将导热隔板换成可自由滑动的绝热隔板</a:t>
            </a:r>
          </a:p>
        </p:txBody>
      </p:sp>
      <p:grpSp>
        <p:nvGrpSpPr>
          <p:cNvPr id="31747" name="组合 31746"/>
          <p:cNvGrpSpPr/>
          <p:nvPr/>
        </p:nvGrpSpPr>
        <p:grpSpPr>
          <a:xfrm>
            <a:off x="179512" y="3529831"/>
            <a:ext cx="3536950" cy="3124200"/>
            <a:chOff x="384" y="2160"/>
            <a:chExt cx="2228" cy="1968"/>
          </a:xfrm>
        </p:grpSpPr>
        <p:sp>
          <p:nvSpPr>
            <p:cNvPr id="107523" name="矩形 31747"/>
            <p:cNvSpPr/>
            <p:nvPr/>
          </p:nvSpPr>
          <p:spPr>
            <a:xfrm>
              <a:off x="624" y="2400"/>
              <a:ext cx="96" cy="1392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24" name="矩形 31748"/>
            <p:cNvSpPr/>
            <p:nvPr/>
          </p:nvSpPr>
          <p:spPr>
            <a:xfrm>
              <a:off x="1536" y="2400"/>
              <a:ext cx="96" cy="1392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25" name="矩形 31749"/>
            <p:cNvSpPr/>
            <p:nvPr/>
          </p:nvSpPr>
          <p:spPr>
            <a:xfrm>
              <a:off x="720" y="3696"/>
              <a:ext cx="816" cy="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26" name="矩形 31750"/>
            <p:cNvSpPr/>
            <p:nvPr/>
          </p:nvSpPr>
          <p:spPr>
            <a:xfrm>
              <a:off x="720" y="3024"/>
              <a:ext cx="816" cy="9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27" name="矩形 31751"/>
            <p:cNvSpPr/>
            <p:nvPr/>
          </p:nvSpPr>
          <p:spPr>
            <a:xfrm>
              <a:off x="720" y="2544"/>
              <a:ext cx="816" cy="96"/>
            </a:xfrm>
            <a:prstGeom prst="rect">
              <a:avLst/>
            </a:prstGeom>
            <a:solidFill>
              <a:srgbClr val="33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28" name="上箭头 31752"/>
            <p:cNvSpPr/>
            <p:nvPr/>
          </p:nvSpPr>
          <p:spPr>
            <a:xfrm>
              <a:off x="1056" y="3552"/>
              <a:ext cx="96" cy="336"/>
            </a:xfrm>
            <a:prstGeom prst="upArrow">
              <a:avLst>
                <a:gd name="adj1" fmla="val 50000"/>
                <a:gd name="adj2" fmla="val 875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29" name="矩形 31753"/>
            <p:cNvSpPr/>
            <p:nvPr/>
          </p:nvSpPr>
          <p:spPr>
            <a:xfrm>
              <a:off x="384" y="3792"/>
              <a:ext cx="1488" cy="336"/>
            </a:xfrm>
            <a:prstGeom prst="rect">
              <a:avLst/>
            </a:prstGeom>
            <a:solidFill>
              <a:srgbClr val="FF7C8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30" name="下箭头 31754"/>
            <p:cNvSpPr/>
            <p:nvPr/>
          </p:nvSpPr>
          <p:spPr>
            <a:xfrm>
              <a:off x="1056" y="2160"/>
              <a:ext cx="144" cy="384"/>
            </a:xfrm>
            <a:prstGeom prst="downArrow">
              <a:avLst>
                <a:gd name="adj1" fmla="val 50000"/>
                <a:gd name="adj2" fmla="val 66543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31" name="圆角矩形标注 31755"/>
            <p:cNvSpPr/>
            <p:nvPr/>
          </p:nvSpPr>
          <p:spPr>
            <a:xfrm>
              <a:off x="1824" y="2688"/>
              <a:ext cx="576" cy="336"/>
            </a:xfrm>
            <a:prstGeom prst="wedgeRoundRectCallout">
              <a:avLst>
                <a:gd name="adj1" fmla="val -91667"/>
                <a:gd name="adj2" fmla="val 94046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32" name="文本框 31756"/>
            <p:cNvSpPr txBox="1"/>
            <p:nvPr/>
          </p:nvSpPr>
          <p:spPr>
            <a:xfrm>
              <a:off x="1872" y="2736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绝热</a:t>
              </a:r>
            </a:p>
          </p:txBody>
        </p:sp>
        <p:sp>
          <p:nvSpPr>
            <p:cNvPr id="107533" name="文本框 31757"/>
            <p:cNvSpPr txBox="1"/>
            <p:nvPr/>
          </p:nvSpPr>
          <p:spPr>
            <a:xfrm>
              <a:off x="864" y="3840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热源</a:t>
              </a:r>
            </a:p>
          </p:txBody>
        </p:sp>
        <p:sp>
          <p:nvSpPr>
            <p:cNvPr id="107534" name="文本框 31758"/>
            <p:cNvSpPr txBox="1"/>
            <p:nvPr/>
          </p:nvSpPr>
          <p:spPr>
            <a:xfrm>
              <a:off x="528" y="2160"/>
              <a:ext cx="5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1atm.</a:t>
              </a:r>
            </a:p>
          </p:txBody>
        </p:sp>
        <p:sp>
          <p:nvSpPr>
            <p:cNvPr id="107535" name="文本框 31759"/>
            <p:cNvSpPr txBox="1"/>
            <p:nvPr/>
          </p:nvSpPr>
          <p:spPr>
            <a:xfrm>
              <a:off x="806" y="338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07536" name="文本框 31760"/>
            <p:cNvSpPr txBox="1"/>
            <p:nvPr/>
          </p:nvSpPr>
          <p:spPr>
            <a:xfrm>
              <a:off x="912" y="2688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07537" name="文本框 31761"/>
            <p:cNvSpPr txBox="1"/>
            <p:nvPr/>
          </p:nvSpPr>
          <p:spPr>
            <a:xfrm>
              <a:off x="1190" y="338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107538" name="文本框 31762"/>
            <p:cNvSpPr txBox="1"/>
            <p:nvPr/>
          </p:nvSpPr>
          <p:spPr>
            <a:xfrm>
              <a:off x="2496" y="3203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endPara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764" name="矩形 31763"/>
          <p:cNvSpPr/>
          <p:nvPr/>
        </p:nvSpPr>
        <p:spPr>
          <a:xfrm>
            <a:off x="459324" y="760026"/>
            <a:ext cx="7345363" cy="78175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原来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,B</a:t>
            </a:r>
            <a:r>
              <a:rPr lang="zh-CN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内各有1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mol  </a:t>
            </a:r>
            <a:r>
              <a:rPr lang="zh-CN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理想气体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氮气，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=P</a:t>
            </a:r>
            <a:r>
              <a:rPr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atm.</a:t>
            </a:r>
          </a:p>
        </p:txBody>
      </p:sp>
      <p:sp>
        <p:nvSpPr>
          <p:cNvPr id="31765" name="文本框 31764"/>
          <p:cNvSpPr txBox="1"/>
          <p:nvPr/>
        </p:nvSpPr>
        <p:spPr>
          <a:xfrm>
            <a:off x="459324" y="1599344"/>
            <a:ext cx="7894834" cy="107696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吸热膨胀，要推隔板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的压强略增就要推活塞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A,B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都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始终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保持1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atm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的压强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1EF97AE-5172-4E99-AB4D-E1241D3DA9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6095549"/>
              </p:ext>
            </p:extLst>
          </p:nvPr>
        </p:nvGraphicFramePr>
        <p:xfrm>
          <a:off x="3456112" y="3105174"/>
          <a:ext cx="5791200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2" r:id="rId3" imgW="2311400" imgH="825500" progId="Equation.3">
                  <p:embed/>
                </p:oleObj>
              </mc:Choice>
              <mc:Fallback>
                <p:oleObj r:id="rId3" imgW="2311400" imgH="825500" progId="Equation.3">
                  <p:embed/>
                  <p:pic>
                    <p:nvPicPr>
                      <p:cNvPr id="32770" name="对象 327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56112" y="3105174"/>
                        <a:ext cx="5791200" cy="2068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D127F09E-FAC1-4418-B80B-0AD464675B45}"/>
              </a:ext>
            </a:extLst>
          </p:cNvPr>
          <p:cNvSpPr txBox="1"/>
          <p:nvPr/>
        </p:nvSpPr>
        <p:spPr>
          <a:xfrm>
            <a:off x="2744912" y="2625749"/>
            <a:ext cx="34051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A: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等压吸热过程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3D0D39-C8CC-4782-BA1E-F4CBADD6E5D0}"/>
              </a:ext>
            </a:extLst>
          </p:cNvPr>
          <p:cNvSpPr txBox="1"/>
          <p:nvPr/>
        </p:nvSpPr>
        <p:spPr>
          <a:xfrm>
            <a:off x="3425303" y="5110145"/>
            <a:ext cx="31337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B: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等压绝热过程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24F50E3-727F-4838-A4A7-F893884FCF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6430298"/>
              </p:ext>
            </p:extLst>
          </p:nvPr>
        </p:nvGraphicFramePr>
        <p:xfrm>
          <a:off x="5237896" y="5572149"/>
          <a:ext cx="3116262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3" r:id="rId5" imgW="1143000" imgH="457200" progId="Equation.3">
                  <p:embed/>
                </p:oleObj>
              </mc:Choice>
              <mc:Fallback>
                <p:oleObj r:id="rId5" imgW="1143000" imgH="457200" progId="Equation.3">
                  <p:embed/>
                  <p:pic>
                    <p:nvPicPr>
                      <p:cNvPr id="32773" name="对象 327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37896" y="5572149"/>
                        <a:ext cx="3116262" cy="1249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64" grpId="0"/>
      <p:bldP spid="31765" grpId="0"/>
      <p:bldP spid="23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69" name="组合 491542"/>
          <p:cNvGrpSpPr/>
          <p:nvPr/>
        </p:nvGrpSpPr>
        <p:grpSpPr>
          <a:xfrm>
            <a:off x="250825" y="0"/>
            <a:ext cx="8424863" cy="1198563"/>
            <a:chOff x="158" y="0"/>
            <a:chExt cx="5307" cy="755"/>
          </a:xfrm>
        </p:grpSpPr>
        <p:sp>
          <p:nvSpPr>
            <p:cNvPr id="491523" name="文本框 491522"/>
            <p:cNvSpPr txBox="1"/>
            <p:nvPr/>
          </p:nvSpPr>
          <p:spPr>
            <a:xfrm>
              <a:off x="158" y="0"/>
              <a:ext cx="5307" cy="7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例</a:t>
              </a:r>
              <a:r>
                <a:rPr kumimoji="0" lang="en-US" altLang="zh-CN" b="1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3.</a:t>
              </a:r>
              <a:r>
                <a:rPr kumimoji="0" lang="zh-CN" altLang="en-US" b="1" kern="1200" cap="none" spc="0" normalizeH="0" baseline="0" noProof="1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高压容器中含有未知气体，可能是</a:t>
              </a:r>
              <a:r>
                <a:rPr kumimoji="0" lang="en-US" altLang="zh-CN" b="1" kern="1200" cap="none" spc="0" normalizeH="0" baseline="0" noProof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b="1" kern="1200" cap="none" spc="0" normalizeH="0" baseline="-25000" noProof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zh-CN" altLang="en-US" b="1" kern="1200" cap="none" spc="0" normalizeH="0" baseline="0" noProof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或</a:t>
              </a:r>
              <a:r>
                <a:rPr kumimoji="0" lang="en-US" altLang="zh-CN" b="1" kern="1200" cap="none" spc="0" normalizeH="0" baseline="0" noProof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Ar</a:t>
              </a:r>
              <a:r>
                <a:rPr kumimoji="0" lang="en-US" altLang="zh-CN" b="1" kern="1200" cap="none" spc="0" normalizeH="0" baseline="0" noProof="1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.</a:t>
              </a:r>
              <a:r>
                <a:rPr kumimoji="0" lang="zh-CN" altLang="en-US" b="1" kern="1200" cap="none" spc="0" normalizeH="0" baseline="0" noProof="1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在</a:t>
              </a:r>
              <a:r>
                <a:rPr kumimoji="0" lang="en-US" altLang="zh-CN" b="1" kern="1200" cap="none" spc="0" normalizeH="0" baseline="0" noProof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298K</a:t>
              </a:r>
              <a:r>
                <a:rPr kumimoji="0" lang="zh-CN" altLang="en-US" b="1" kern="1200" cap="none" spc="0" normalizeH="0" baseline="0" noProof="1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时取出试样，从                        </a:t>
              </a:r>
              <a:r>
                <a:rPr kumimoji="0" lang="zh-CN" altLang="en-US" b="1" kern="1200" cap="none" spc="0" normalizeH="0" baseline="0" noProof="1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绝热膨胀</a:t>
              </a:r>
              <a:r>
                <a:rPr kumimoji="0" lang="zh-CN" altLang="en-US" b="1" kern="1200" cap="none" spc="0" normalizeH="0" baseline="0" noProof="1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到                      ，温度降到</a:t>
              </a:r>
              <a:r>
                <a:rPr kumimoji="0" lang="en-US" altLang="zh-CN" b="1" kern="1200" cap="none" spc="0" normalizeH="0" baseline="0" noProof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277K</a:t>
              </a:r>
              <a:r>
                <a:rPr kumimoji="0" lang="zh-CN" altLang="en-US" b="1" kern="1200" cap="none" spc="0" normalizeH="0" baseline="0" noProof="1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。</a:t>
              </a:r>
              <a:r>
                <a:rPr kumimoji="0" lang="zh-CN" altLang="en-US" b="1" kern="1200" cap="none" spc="0" normalizeH="0" baseline="0" noProof="1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试判断容器内是什么气体？</a:t>
              </a:r>
            </a:p>
          </p:txBody>
        </p:sp>
        <p:graphicFrame>
          <p:nvGraphicFramePr>
            <p:cNvPr id="109571" name="对象 491523"/>
            <p:cNvGraphicFramePr/>
            <p:nvPr/>
          </p:nvGraphicFramePr>
          <p:xfrm>
            <a:off x="1066" y="239"/>
            <a:ext cx="90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59" r:id="rId3" imgW="647065" imgH="203200" progId="Equation.3">
                    <p:embed/>
                  </p:oleObj>
                </mc:Choice>
                <mc:Fallback>
                  <p:oleObj r:id="rId3" imgW="647065" imgH="2032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66" y="239"/>
                          <a:ext cx="908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572" name="对象 491524"/>
            <p:cNvGraphicFramePr/>
            <p:nvPr/>
          </p:nvGraphicFramePr>
          <p:xfrm>
            <a:off x="3197" y="231"/>
            <a:ext cx="93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60" r:id="rId5" imgW="647065" imgH="203200" progId="Equation.3">
                    <p:embed/>
                  </p:oleObj>
                </mc:Choice>
                <mc:Fallback>
                  <p:oleObj r:id="rId5" imgW="647065" imgH="20320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97" y="231"/>
                          <a:ext cx="930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526" name="文本框 491525"/>
          <p:cNvSpPr txBox="1"/>
          <p:nvPr/>
        </p:nvSpPr>
        <p:spPr>
          <a:xfrm>
            <a:off x="333375" y="1341438"/>
            <a:ext cx="75088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利用绝热方程求</a:t>
            </a:r>
            <a:r>
              <a:rPr kumimoji="0" lang="zh-CN" b="1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摩尔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热容比来确定</a:t>
            </a:r>
          </a:p>
        </p:txBody>
      </p:sp>
      <p:graphicFrame>
        <p:nvGraphicFramePr>
          <p:cNvPr id="491527" name="对象 491526"/>
          <p:cNvGraphicFramePr/>
          <p:nvPr/>
        </p:nvGraphicFramePr>
        <p:xfrm>
          <a:off x="1854200" y="1922463"/>
          <a:ext cx="214153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1" r:id="rId7" imgW="989965" imgH="241300" progId="Equation.3">
                  <p:embed/>
                </p:oleObj>
              </mc:Choice>
              <mc:Fallback>
                <p:oleObj r:id="rId7" imgW="989965" imgH="2413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54200" y="1922463"/>
                        <a:ext cx="2141538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28" name="对象 491527"/>
          <p:cNvGraphicFramePr/>
          <p:nvPr/>
        </p:nvGraphicFramePr>
        <p:xfrm>
          <a:off x="5724525" y="1809750"/>
          <a:ext cx="17272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2" r:id="rId9" imgW="786765" imgH="431800" progId="Equation.3">
                  <p:embed/>
                </p:oleObj>
              </mc:Choice>
              <mc:Fallback>
                <p:oleObj r:id="rId9" imgW="786765" imgH="4318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24525" y="1809750"/>
                        <a:ext cx="1727200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29" name="文本框 491528"/>
          <p:cNvSpPr txBox="1"/>
          <p:nvPr/>
        </p:nvSpPr>
        <p:spPr>
          <a:xfrm>
            <a:off x="1095375" y="1968500"/>
            <a:ext cx="5651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</a:p>
        </p:txBody>
      </p:sp>
      <p:sp>
        <p:nvSpPr>
          <p:cNvPr id="491530" name="文本框 491529"/>
          <p:cNvSpPr txBox="1"/>
          <p:nvPr/>
        </p:nvSpPr>
        <p:spPr>
          <a:xfrm>
            <a:off x="5199063" y="2019300"/>
            <a:ext cx="5651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491531" name="文本框 491530"/>
          <p:cNvSpPr txBox="1"/>
          <p:nvPr/>
        </p:nvSpPr>
        <p:spPr>
          <a:xfrm>
            <a:off x="1095375" y="2765425"/>
            <a:ext cx="5651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</p:txBody>
      </p:sp>
      <p:graphicFrame>
        <p:nvGraphicFramePr>
          <p:cNvPr id="491532" name="对象 491531"/>
          <p:cNvGraphicFramePr/>
          <p:nvPr/>
        </p:nvGraphicFramePr>
        <p:xfrm>
          <a:off x="1835150" y="2576513"/>
          <a:ext cx="25209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3" r:id="rId11" imgW="1168400" imgH="419100" progId="Equation.3">
                  <p:embed/>
                </p:oleObj>
              </mc:Choice>
              <mc:Fallback>
                <p:oleObj r:id="rId11" imgW="1168400" imgH="41910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5150" y="2576513"/>
                        <a:ext cx="2520950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33" name="文本框 491532"/>
          <p:cNvSpPr txBox="1"/>
          <p:nvPr/>
        </p:nvSpPr>
        <p:spPr>
          <a:xfrm>
            <a:off x="1095375" y="3657600"/>
            <a:ext cx="9207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亦即</a:t>
            </a:r>
          </a:p>
        </p:txBody>
      </p:sp>
      <p:graphicFrame>
        <p:nvGraphicFramePr>
          <p:cNvPr id="491534" name="对象 491533"/>
          <p:cNvGraphicFramePr/>
          <p:nvPr/>
        </p:nvGraphicFramePr>
        <p:xfrm>
          <a:off x="2098675" y="3648075"/>
          <a:ext cx="20177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4" r:id="rId13" imgW="913765" imgH="203200" progId="Equation.3">
                  <p:embed/>
                </p:oleObj>
              </mc:Choice>
              <mc:Fallback>
                <p:oleObj r:id="rId13" imgW="913765" imgH="203200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98675" y="3648075"/>
                        <a:ext cx="2017713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35" name="对象 491534"/>
          <p:cNvGraphicFramePr/>
          <p:nvPr/>
        </p:nvGraphicFramePr>
        <p:xfrm>
          <a:off x="4211638" y="3408363"/>
          <a:ext cx="935037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5" r:id="rId15" imgW="405765" imgH="304800" progId="Equation.3">
                  <p:embed/>
                </p:oleObj>
              </mc:Choice>
              <mc:Fallback>
                <p:oleObj r:id="rId15" imgW="405765" imgH="3048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11638" y="3408363"/>
                        <a:ext cx="935037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36" name="文本框 491535"/>
          <p:cNvSpPr txBox="1"/>
          <p:nvPr/>
        </p:nvSpPr>
        <p:spPr>
          <a:xfrm>
            <a:off x="1095375" y="4386263"/>
            <a:ext cx="17478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若为单原子</a:t>
            </a:r>
          </a:p>
        </p:txBody>
      </p:sp>
      <p:graphicFrame>
        <p:nvGraphicFramePr>
          <p:cNvPr id="491537" name="对象 491536"/>
          <p:cNvGraphicFramePr/>
          <p:nvPr/>
        </p:nvGraphicFramePr>
        <p:xfrm>
          <a:off x="3059113" y="4129088"/>
          <a:ext cx="316865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6" r:id="rId17" imgW="1268730" imgH="304800" progId="Equation.3">
                  <p:embed/>
                </p:oleObj>
              </mc:Choice>
              <mc:Fallback>
                <p:oleObj r:id="rId17" imgW="1268730" imgH="30480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59113" y="4129088"/>
                        <a:ext cx="3168650" cy="760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38" name="文本框 491537"/>
          <p:cNvSpPr txBox="1"/>
          <p:nvPr/>
        </p:nvSpPr>
        <p:spPr>
          <a:xfrm>
            <a:off x="1095375" y="5246688"/>
            <a:ext cx="1778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若为双原子</a:t>
            </a:r>
          </a:p>
        </p:txBody>
      </p:sp>
      <p:graphicFrame>
        <p:nvGraphicFramePr>
          <p:cNvPr id="491539" name="对象 491538"/>
          <p:cNvGraphicFramePr/>
          <p:nvPr/>
        </p:nvGraphicFramePr>
        <p:xfrm>
          <a:off x="2987675" y="4992688"/>
          <a:ext cx="30241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7" r:id="rId19" imgW="1268730" imgH="304800" progId="Equation.3">
                  <p:embed/>
                </p:oleObj>
              </mc:Choice>
              <mc:Fallback>
                <p:oleObj r:id="rId19" imgW="1268730" imgH="304800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87675" y="4992688"/>
                        <a:ext cx="3024188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0" name="文本框 491539"/>
          <p:cNvSpPr txBox="1"/>
          <p:nvPr/>
        </p:nvSpPr>
        <p:spPr>
          <a:xfrm>
            <a:off x="6280150" y="5245100"/>
            <a:ext cx="26844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故为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气</a:t>
            </a:r>
          </a:p>
        </p:txBody>
      </p:sp>
      <p:graphicFrame>
        <p:nvGraphicFramePr>
          <p:cNvPr id="491541" name="对象 491540"/>
          <p:cNvGraphicFramePr/>
          <p:nvPr/>
        </p:nvGraphicFramePr>
        <p:xfrm>
          <a:off x="636588" y="5784850"/>
          <a:ext cx="72866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8" r:id="rId21" imgW="2920365" imgH="469900" progId="Equation.DSMT4">
                  <p:embed/>
                </p:oleObj>
              </mc:Choice>
              <mc:Fallback>
                <p:oleObj r:id="rId21" imgW="2920365" imgH="469900" progId="Equation.DSMT4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6588" y="5784850"/>
                        <a:ext cx="7286625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9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9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9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49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9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9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49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49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49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49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6" grpId="0"/>
      <p:bldP spid="491529" grpId="0"/>
      <p:bldP spid="491530" grpId="0"/>
      <p:bldP spid="491531" grpId="0"/>
      <p:bldP spid="491533" grpId="0"/>
      <p:bldP spid="491536" grpId="0"/>
      <p:bldP spid="491538" grpId="0"/>
      <p:bldP spid="4915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文本框 562177"/>
          <p:cNvSpPr txBox="1"/>
          <p:nvPr/>
        </p:nvSpPr>
        <p:spPr>
          <a:xfrm>
            <a:off x="107950" y="188913"/>
            <a:ext cx="946150" cy="4603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 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 </a:t>
            </a:r>
          </a:p>
        </p:txBody>
      </p:sp>
      <p:grpSp>
        <p:nvGrpSpPr>
          <p:cNvPr id="2" name="组合 562178"/>
          <p:cNvGrpSpPr/>
          <p:nvPr/>
        </p:nvGrpSpPr>
        <p:grpSpPr>
          <a:xfrm>
            <a:off x="6553200" y="228600"/>
            <a:ext cx="2368550" cy="2286000"/>
            <a:chOff x="4128" y="144"/>
            <a:chExt cx="1492" cy="1440"/>
          </a:xfrm>
        </p:grpSpPr>
        <p:sp>
          <p:nvSpPr>
            <p:cNvPr id="110595" name="直接连接符 562179"/>
            <p:cNvSpPr/>
            <p:nvPr/>
          </p:nvSpPr>
          <p:spPr>
            <a:xfrm>
              <a:off x="4416" y="336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</p:spPr>
        </p:sp>
        <p:sp>
          <p:nvSpPr>
            <p:cNvPr id="110596" name="直接连接符 562180"/>
            <p:cNvSpPr/>
            <p:nvPr/>
          </p:nvSpPr>
          <p:spPr>
            <a:xfrm>
              <a:off x="4416" y="1248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10597" name="文本框 562181"/>
            <p:cNvSpPr txBox="1"/>
            <p:nvPr/>
          </p:nvSpPr>
          <p:spPr>
            <a:xfrm>
              <a:off x="5424" y="1248"/>
              <a:ext cx="196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10598" name="文本框 562182"/>
            <p:cNvSpPr txBox="1"/>
            <p:nvPr/>
          </p:nvSpPr>
          <p:spPr>
            <a:xfrm>
              <a:off x="4128" y="144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ρ</a:t>
              </a:r>
            </a:p>
          </p:txBody>
        </p:sp>
        <p:sp>
          <p:nvSpPr>
            <p:cNvPr id="110599" name="直接连接符 562183"/>
            <p:cNvSpPr/>
            <p:nvPr/>
          </p:nvSpPr>
          <p:spPr>
            <a:xfrm>
              <a:off x="4416" y="672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00" name="文本框 562184"/>
            <p:cNvSpPr txBox="1"/>
            <p:nvPr/>
          </p:nvSpPr>
          <p:spPr>
            <a:xfrm>
              <a:off x="4800" y="1296"/>
              <a:ext cx="37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(B)</a:t>
              </a:r>
            </a:p>
          </p:txBody>
        </p:sp>
      </p:grpSp>
      <p:grpSp>
        <p:nvGrpSpPr>
          <p:cNvPr id="3" name="组合 562185"/>
          <p:cNvGrpSpPr/>
          <p:nvPr/>
        </p:nvGrpSpPr>
        <p:grpSpPr>
          <a:xfrm>
            <a:off x="4327525" y="325438"/>
            <a:ext cx="2308225" cy="2189162"/>
            <a:chOff x="2726" y="205"/>
            <a:chExt cx="1454" cy="1379"/>
          </a:xfrm>
        </p:grpSpPr>
        <p:sp>
          <p:nvSpPr>
            <p:cNvPr id="110602" name="直接连接符 562186"/>
            <p:cNvSpPr/>
            <p:nvPr/>
          </p:nvSpPr>
          <p:spPr>
            <a:xfrm>
              <a:off x="2976" y="1248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10603" name="直接连接符 562187"/>
            <p:cNvSpPr/>
            <p:nvPr/>
          </p:nvSpPr>
          <p:spPr>
            <a:xfrm flipV="1">
              <a:off x="2976" y="384"/>
              <a:ext cx="0" cy="8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10604" name="文本框 562188"/>
            <p:cNvSpPr txBox="1"/>
            <p:nvPr/>
          </p:nvSpPr>
          <p:spPr>
            <a:xfrm>
              <a:off x="3984" y="1248"/>
              <a:ext cx="196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10605" name="文本框 562189"/>
            <p:cNvSpPr txBox="1"/>
            <p:nvPr/>
          </p:nvSpPr>
          <p:spPr>
            <a:xfrm>
              <a:off x="2726" y="205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ρ</a:t>
              </a:r>
            </a:p>
          </p:txBody>
        </p:sp>
        <p:sp>
          <p:nvSpPr>
            <p:cNvPr id="110606" name="直接连接符 562190"/>
            <p:cNvSpPr/>
            <p:nvPr/>
          </p:nvSpPr>
          <p:spPr>
            <a:xfrm flipV="1">
              <a:off x="2976" y="576"/>
              <a:ext cx="576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07" name="文本框 562191"/>
            <p:cNvSpPr txBox="1"/>
            <p:nvPr/>
          </p:nvSpPr>
          <p:spPr>
            <a:xfrm>
              <a:off x="3216" y="1296"/>
              <a:ext cx="38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(A)</a:t>
              </a:r>
            </a:p>
          </p:txBody>
        </p:sp>
      </p:grpSp>
      <p:sp>
        <p:nvSpPr>
          <p:cNvPr id="562193" name="文本框 562192"/>
          <p:cNvSpPr txBox="1"/>
          <p:nvPr/>
        </p:nvSpPr>
        <p:spPr>
          <a:xfrm>
            <a:off x="1179513" y="188913"/>
            <a:ext cx="3248025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在所给的四个图象中，</a:t>
            </a:r>
          </a:p>
        </p:txBody>
      </p:sp>
      <p:sp>
        <p:nvSpPr>
          <p:cNvPr id="562194" name="文本框 562193"/>
          <p:cNvSpPr txBox="1"/>
          <p:nvPr/>
        </p:nvSpPr>
        <p:spPr>
          <a:xfrm>
            <a:off x="63500" y="549275"/>
            <a:ext cx="4076700" cy="120015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哪个图象能够描述一定质量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的理想气体在准静态绝热过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程中密度随压强的变化？</a:t>
            </a:r>
          </a:p>
        </p:txBody>
      </p:sp>
      <p:sp>
        <p:nvSpPr>
          <p:cNvPr id="562195" name="文本框 562194"/>
          <p:cNvSpPr txBox="1"/>
          <p:nvPr/>
        </p:nvSpPr>
        <p:spPr>
          <a:xfrm>
            <a:off x="395288" y="1928813"/>
            <a:ext cx="1127125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 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</a:p>
        </p:txBody>
      </p:sp>
      <p:graphicFrame>
        <p:nvGraphicFramePr>
          <p:cNvPr id="562196" name="对象 562195"/>
          <p:cNvGraphicFramePr/>
          <p:nvPr/>
        </p:nvGraphicFramePr>
        <p:xfrm>
          <a:off x="1600200" y="1798638"/>
          <a:ext cx="16764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" r:id="rId3" imgW="1070610" imgH="490855" progId="Equation.DSMT4">
                  <p:embed/>
                </p:oleObj>
              </mc:Choice>
              <mc:Fallback>
                <p:oleObj r:id="rId3" imgW="1070610" imgH="490855" progId="Equation.DSMT4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00200" y="1798638"/>
                        <a:ext cx="1676400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97" name="对象 562196"/>
          <p:cNvGraphicFramePr/>
          <p:nvPr/>
        </p:nvGraphicFramePr>
        <p:xfrm>
          <a:off x="1066800" y="2752725"/>
          <a:ext cx="26670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" r:id="rId5" imgW="1371600" imgH="490855" progId="Equation.DSMT4">
                  <p:embed/>
                </p:oleObj>
              </mc:Choice>
              <mc:Fallback>
                <p:oleObj r:id="rId5" imgW="1371600" imgH="490855" progId="Equation.DSMT4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66800" y="2752725"/>
                        <a:ext cx="26670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198" name="文本框 562197"/>
          <p:cNvSpPr txBox="1"/>
          <p:nvPr/>
        </p:nvSpPr>
        <p:spPr>
          <a:xfrm>
            <a:off x="517525" y="3736975"/>
            <a:ext cx="1751013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由绝热方程</a:t>
            </a:r>
          </a:p>
        </p:txBody>
      </p:sp>
      <p:graphicFrame>
        <p:nvGraphicFramePr>
          <p:cNvPr id="562199" name="对象 562198"/>
          <p:cNvGraphicFramePr/>
          <p:nvPr/>
        </p:nvGraphicFramePr>
        <p:xfrm>
          <a:off x="2422525" y="3716338"/>
          <a:ext cx="17859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1" r:id="rId7" imgW="914400" imgH="267335" progId="Equation.3">
                  <p:embed/>
                </p:oleObj>
              </mc:Choice>
              <mc:Fallback>
                <p:oleObj r:id="rId7" imgW="914400" imgH="267335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22525" y="3716338"/>
                        <a:ext cx="1785938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200" name="对象 562199"/>
          <p:cNvGraphicFramePr/>
          <p:nvPr/>
        </p:nvGraphicFramePr>
        <p:xfrm>
          <a:off x="914400" y="4478338"/>
          <a:ext cx="32766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2" r:id="rId9" imgW="1594485" imgH="434975" progId="Equation.3">
                  <p:embed/>
                </p:oleObj>
              </mc:Choice>
              <mc:Fallback>
                <p:oleObj r:id="rId9" imgW="1594485" imgH="434975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4478338"/>
                        <a:ext cx="3276600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201" name="对象 562200"/>
          <p:cNvGraphicFramePr/>
          <p:nvPr/>
        </p:nvGraphicFramePr>
        <p:xfrm>
          <a:off x="1403350" y="5786438"/>
          <a:ext cx="19240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3" r:id="rId11" imgW="990600" imgH="215900" progId="Equation.3">
                  <p:embed/>
                </p:oleObj>
              </mc:Choice>
              <mc:Fallback>
                <p:oleObj r:id="rId11" imgW="990600" imgH="21590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03350" y="5786438"/>
                        <a:ext cx="192405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202" name="对象 562201"/>
          <p:cNvGraphicFramePr/>
          <p:nvPr/>
        </p:nvGraphicFramePr>
        <p:xfrm>
          <a:off x="4710113" y="5373688"/>
          <a:ext cx="24272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4" r:id="rId13" imgW="1438275" imgH="434975" progId="Equation.3">
                  <p:embed/>
                </p:oleObj>
              </mc:Choice>
              <mc:Fallback>
                <p:oleObj r:id="rId13" imgW="1438275" imgH="434975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0113" y="5373688"/>
                        <a:ext cx="2427287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203" name="文本框 562202"/>
          <p:cNvSpPr txBox="1"/>
          <p:nvPr/>
        </p:nvSpPr>
        <p:spPr>
          <a:xfrm>
            <a:off x="7543800" y="6024563"/>
            <a:ext cx="1296988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答案 </a:t>
            </a:r>
            <a:r>
              <a: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(D)</a:t>
            </a:r>
          </a:p>
        </p:txBody>
      </p:sp>
      <p:grpSp>
        <p:nvGrpSpPr>
          <p:cNvPr id="4" name="组合 562203"/>
          <p:cNvGrpSpPr/>
          <p:nvPr/>
        </p:nvGrpSpPr>
        <p:grpSpPr>
          <a:xfrm>
            <a:off x="4191000" y="2743200"/>
            <a:ext cx="2444750" cy="2438400"/>
            <a:chOff x="2640" y="1728"/>
            <a:chExt cx="1540" cy="1536"/>
          </a:xfrm>
        </p:grpSpPr>
        <p:sp>
          <p:nvSpPr>
            <p:cNvPr id="110620" name="文本框 562204"/>
            <p:cNvSpPr txBox="1"/>
            <p:nvPr/>
          </p:nvSpPr>
          <p:spPr>
            <a:xfrm>
              <a:off x="3216" y="2976"/>
              <a:ext cx="38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(C)</a:t>
              </a:r>
            </a:p>
          </p:txBody>
        </p:sp>
        <p:grpSp>
          <p:nvGrpSpPr>
            <p:cNvPr id="110621" name="组合 562205"/>
            <p:cNvGrpSpPr/>
            <p:nvPr/>
          </p:nvGrpSpPr>
          <p:grpSpPr>
            <a:xfrm>
              <a:off x="2640" y="1728"/>
              <a:ext cx="1540" cy="1450"/>
              <a:chOff x="2640" y="1728"/>
              <a:chExt cx="1540" cy="1450"/>
            </a:xfrm>
          </p:grpSpPr>
          <p:sp>
            <p:nvSpPr>
              <p:cNvPr id="110622" name="直接连接符 562206"/>
              <p:cNvSpPr/>
              <p:nvPr/>
            </p:nvSpPr>
            <p:spPr>
              <a:xfrm>
                <a:off x="2928" y="2928"/>
                <a:ext cx="11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110623" name="直接连接符 562207"/>
              <p:cNvSpPr/>
              <p:nvPr/>
            </p:nvSpPr>
            <p:spPr>
              <a:xfrm flipV="1">
                <a:off x="2928" y="1920"/>
                <a:ext cx="0" cy="10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110624" name="文本框 562208"/>
              <p:cNvSpPr txBox="1"/>
              <p:nvPr/>
            </p:nvSpPr>
            <p:spPr>
              <a:xfrm>
                <a:off x="3984" y="2928"/>
                <a:ext cx="196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0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  <p:sp>
            <p:nvSpPr>
              <p:cNvPr id="110625" name="文本框 562209"/>
              <p:cNvSpPr txBox="1"/>
              <p:nvPr/>
            </p:nvSpPr>
            <p:spPr>
              <a:xfrm>
                <a:off x="2640" y="1728"/>
                <a:ext cx="308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ρ</a:t>
                </a:r>
              </a:p>
            </p:txBody>
          </p:sp>
          <p:sp>
            <p:nvSpPr>
              <p:cNvPr id="110626" name="任意多边形 562210"/>
              <p:cNvSpPr/>
              <p:nvPr/>
            </p:nvSpPr>
            <p:spPr>
              <a:xfrm>
                <a:off x="2925" y="2205"/>
                <a:ext cx="908" cy="726"/>
              </a:xfrm>
              <a:custGeom>
                <a:avLst/>
                <a:gdLst/>
                <a:ahLst/>
                <a:cxnLst>
                  <a:cxn ang="0">
                    <a:pos x="0" y="726"/>
                  </a:cxn>
                  <a:cxn ang="0">
                    <a:pos x="545" y="454"/>
                  </a:cxn>
                  <a:cxn ang="0">
                    <a:pos x="908" y="0"/>
                  </a:cxn>
                </a:cxnLst>
                <a:rect l="0" t="0" r="0" b="0"/>
                <a:pathLst>
                  <a:path w="908" h="726">
                    <a:moveTo>
                      <a:pt x="0" y="726"/>
                    </a:moveTo>
                    <a:cubicBezTo>
                      <a:pt x="197" y="650"/>
                      <a:pt x="394" y="575"/>
                      <a:pt x="545" y="454"/>
                    </a:cubicBezTo>
                    <a:cubicBezTo>
                      <a:pt x="696" y="333"/>
                      <a:pt x="848" y="76"/>
                      <a:pt x="908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62211"/>
          <p:cNvGrpSpPr/>
          <p:nvPr/>
        </p:nvGrpSpPr>
        <p:grpSpPr>
          <a:xfrm>
            <a:off x="6689725" y="2840038"/>
            <a:ext cx="2232025" cy="2360612"/>
            <a:chOff x="4214" y="1789"/>
            <a:chExt cx="1406" cy="1487"/>
          </a:xfrm>
        </p:grpSpPr>
        <p:sp>
          <p:nvSpPr>
            <p:cNvPr id="110628" name="直接连接符 562212"/>
            <p:cNvSpPr/>
            <p:nvPr/>
          </p:nvSpPr>
          <p:spPr>
            <a:xfrm>
              <a:off x="4464" y="2928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10629" name="直接连接符 562213"/>
            <p:cNvSpPr/>
            <p:nvPr/>
          </p:nvSpPr>
          <p:spPr>
            <a:xfrm flipV="1">
              <a:off x="4464" y="2016"/>
              <a:ext cx="0" cy="9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110630" name="文本框 562214"/>
            <p:cNvSpPr txBox="1"/>
            <p:nvPr/>
          </p:nvSpPr>
          <p:spPr>
            <a:xfrm>
              <a:off x="5424" y="2928"/>
              <a:ext cx="196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10631" name="文本框 562215"/>
            <p:cNvSpPr txBox="1"/>
            <p:nvPr/>
          </p:nvSpPr>
          <p:spPr>
            <a:xfrm>
              <a:off x="4214" y="1789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ρ</a:t>
              </a:r>
            </a:p>
          </p:txBody>
        </p:sp>
        <p:sp>
          <p:nvSpPr>
            <p:cNvPr id="110632" name="文本框 562216"/>
            <p:cNvSpPr txBox="1"/>
            <p:nvPr/>
          </p:nvSpPr>
          <p:spPr>
            <a:xfrm>
              <a:off x="4790" y="2988"/>
              <a:ext cx="383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(D)</a:t>
              </a:r>
            </a:p>
          </p:txBody>
        </p:sp>
        <p:sp>
          <p:nvSpPr>
            <p:cNvPr id="110633" name="任意多边形 562217"/>
            <p:cNvSpPr/>
            <p:nvPr/>
          </p:nvSpPr>
          <p:spPr>
            <a:xfrm>
              <a:off x="4468" y="2523"/>
              <a:ext cx="997" cy="408"/>
            </a:xfrm>
            <a:custGeom>
              <a:avLst/>
              <a:gdLst/>
              <a:ahLst/>
              <a:cxnLst>
                <a:cxn ang="0">
                  <a:pos x="0" y="408"/>
                </a:cxn>
                <a:cxn ang="0">
                  <a:pos x="362" y="136"/>
                </a:cxn>
                <a:cxn ang="0">
                  <a:pos x="997" y="0"/>
                </a:cxn>
              </a:cxnLst>
              <a:rect l="0" t="0" r="0" b="0"/>
              <a:pathLst>
                <a:path w="997" h="408">
                  <a:moveTo>
                    <a:pt x="0" y="408"/>
                  </a:moveTo>
                  <a:cubicBezTo>
                    <a:pt x="98" y="306"/>
                    <a:pt x="196" y="204"/>
                    <a:pt x="362" y="136"/>
                  </a:cubicBezTo>
                  <a:cubicBezTo>
                    <a:pt x="528" y="68"/>
                    <a:pt x="899" y="23"/>
                    <a:pt x="997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56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56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56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56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6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6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"/>
                                        <p:tgtEl>
                                          <p:spTgt spid="56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93" grpId="0"/>
      <p:bldP spid="562194" grpId="0"/>
      <p:bldP spid="562195" grpId="0"/>
      <p:bldP spid="562198" grpId="0"/>
      <p:bldP spid="56220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文本框 542721"/>
          <p:cNvSpPr txBox="1"/>
          <p:nvPr/>
        </p:nvSpPr>
        <p:spPr>
          <a:xfrm>
            <a:off x="179512" y="304800"/>
            <a:ext cx="8856984" cy="18145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8×10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kg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氧气，体积为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0.41×10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，温度为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27℃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。如氧气作绝热膨胀，膨胀后的体积为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4.1×10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，问气体作多少功？如作等温膨胀，膨胀后的体积也为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4.1×10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-3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，问气体作多少功？</a:t>
            </a:r>
          </a:p>
        </p:txBody>
      </p:sp>
      <p:sp>
        <p:nvSpPr>
          <p:cNvPr id="542723" name="矩形 542722"/>
          <p:cNvSpPr/>
          <p:nvPr/>
        </p:nvSpPr>
        <p:spPr>
          <a:xfrm>
            <a:off x="685800" y="22860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</p:txBody>
      </p:sp>
      <p:graphicFrame>
        <p:nvGraphicFramePr>
          <p:cNvPr id="542724" name="对象 542723"/>
          <p:cNvGraphicFramePr/>
          <p:nvPr/>
        </p:nvGraphicFramePr>
        <p:xfrm>
          <a:off x="4267200" y="2286000"/>
          <a:ext cx="267811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3" r:id="rId3" imgW="1259840" imgH="278765" progId="Equation.3">
                  <p:embed/>
                </p:oleObj>
              </mc:Choice>
              <mc:Fallback>
                <p:oleObj r:id="rId3" imgW="1259840" imgH="278765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67200" y="2286000"/>
                        <a:ext cx="2678113" cy="67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25" name="矩形 542724"/>
          <p:cNvSpPr/>
          <p:nvPr/>
        </p:nvSpPr>
        <p:spPr>
          <a:xfrm>
            <a:off x="1752600" y="2306638"/>
            <a:ext cx="19700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绝热方程：</a:t>
            </a:r>
          </a:p>
        </p:txBody>
      </p:sp>
      <p:graphicFrame>
        <p:nvGraphicFramePr>
          <p:cNvPr id="542726" name="对象 542725"/>
          <p:cNvGraphicFramePr/>
          <p:nvPr/>
        </p:nvGraphicFramePr>
        <p:xfrm>
          <a:off x="1311275" y="3048000"/>
          <a:ext cx="591185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r:id="rId5" imgW="3256280" imgH="647065" progId="Equation.3">
                  <p:embed/>
                </p:oleObj>
              </mc:Choice>
              <mc:Fallback>
                <p:oleObj r:id="rId5" imgW="3256280" imgH="647065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1275" y="3048000"/>
                        <a:ext cx="5911850" cy="1250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27" name="对象 542726"/>
          <p:cNvGraphicFramePr/>
          <p:nvPr/>
        </p:nvGraphicFramePr>
        <p:xfrm>
          <a:off x="1187450" y="4365625"/>
          <a:ext cx="45735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5" r:id="rId7" imgW="1879600" imgH="393700" progId="Equation.DSMT4">
                  <p:embed/>
                </p:oleObj>
              </mc:Choice>
              <mc:Fallback>
                <p:oleObj r:id="rId7" imgW="1879600" imgH="393700" progId="Equation.DSMT4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4365625"/>
                        <a:ext cx="4573588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542721"/>
          <p:cNvSpPr txBox="1"/>
          <p:nvPr/>
        </p:nvSpPr>
        <p:spPr>
          <a:xfrm>
            <a:off x="5868988" y="4581525"/>
            <a:ext cx="1260475" cy="520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=941J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90466" name="对象 390465"/>
          <p:cNvGraphicFramePr/>
          <p:nvPr/>
        </p:nvGraphicFramePr>
        <p:xfrm>
          <a:off x="684213" y="5427663"/>
          <a:ext cx="192246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6" r:id="rId9" imgW="723900" imgH="508000" progId="Equation.DSMT4">
                  <p:embed/>
                </p:oleObj>
              </mc:Choice>
              <mc:Fallback>
                <p:oleObj r:id="rId9" imgW="723900" imgH="508000" progId="Equation.DSMT4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4213" y="5427663"/>
                        <a:ext cx="1922462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473" name="对象 390472"/>
          <p:cNvGraphicFramePr/>
          <p:nvPr/>
        </p:nvGraphicFramePr>
        <p:xfrm>
          <a:off x="5076825" y="5518150"/>
          <a:ext cx="371157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7" r:id="rId11" imgW="1397000" imgH="431800" progId="Equation.3">
                  <p:embed/>
                </p:oleObj>
              </mc:Choice>
              <mc:Fallback>
                <p:oleObj r:id="rId11" imgW="1397000" imgH="43180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76825" y="5518150"/>
                        <a:ext cx="3711575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/>
          <p:nvPr/>
        </p:nvGraphicFramePr>
        <p:xfrm>
          <a:off x="2555875" y="5389563"/>
          <a:ext cx="253047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8" r:id="rId13" imgW="952500" imgH="508000" progId="Equation.DSMT4">
                  <p:embed/>
                </p:oleObj>
              </mc:Choice>
              <mc:Fallback>
                <p:oleObj r:id="rId13" imgW="952500" imgH="508000" progId="Equation.DSMT4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55875" y="5389563"/>
                        <a:ext cx="2530475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2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2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54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54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4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54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3" grpId="0"/>
      <p:bldP spid="542725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文本框 492545"/>
          <p:cNvSpPr txBox="1"/>
          <p:nvPr/>
        </p:nvSpPr>
        <p:spPr>
          <a:xfrm>
            <a:off x="179388" y="92075"/>
            <a:ext cx="8280400" cy="46196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6.</a:t>
            </a:r>
            <a:r>
              <a:rPr kumimoji="0" lang="en-US" altLang="zh-CN" b="1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b="1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如图，</a:t>
            </a: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 </a:t>
            </a:r>
            <a:r>
              <a:rPr kumimoji="0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zh-CN" altLang="en-US" b="1" u="sng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固定</a:t>
            </a:r>
            <a:r>
              <a:rPr kumimoji="0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的绝热壁，</a:t>
            </a: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0" lang="zh-CN" altLang="en-US" b="1" u="sng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可动</a:t>
            </a:r>
            <a:r>
              <a:rPr kumimoji="0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活塞。</a:t>
            </a:r>
            <a:endParaRPr kumimoji="0" lang="zh-CN" altLang="en-US" b="1" kern="1200" cap="none" spc="0" normalizeH="0" baseline="0" noProof="1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2" name="文本框 492547"/>
          <p:cNvSpPr txBox="1"/>
          <p:nvPr/>
        </p:nvSpPr>
        <p:spPr>
          <a:xfrm>
            <a:off x="71438" y="476250"/>
            <a:ext cx="9072562" cy="89535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开始时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A, B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两室中各装入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同种类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的理想气体，它们的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温度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T,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体积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压强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均相同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，并与大气压强相平衡。</a:t>
            </a:r>
          </a:p>
        </p:txBody>
      </p:sp>
      <p:sp>
        <p:nvSpPr>
          <p:cNvPr id="112643" name="文本框 492548"/>
          <p:cNvSpPr txBox="1"/>
          <p:nvPr/>
        </p:nvSpPr>
        <p:spPr>
          <a:xfrm>
            <a:off x="0" y="1268413"/>
            <a:ext cx="9648825" cy="89535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现对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A, B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两部分气体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缓慢地加热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，当对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给与相等的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热量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以后，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室中气体与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室中气体的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温度升高度数之比为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12644" name="文本框 492550"/>
          <p:cNvSpPr txBox="1"/>
          <p:nvPr/>
        </p:nvSpPr>
        <p:spPr>
          <a:xfrm>
            <a:off x="584200" y="2898775"/>
            <a:ext cx="8012113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室中气体吸收的热量有百分之几用于对外做功。</a:t>
            </a:r>
          </a:p>
        </p:txBody>
      </p:sp>
      <p:sp>
        <p:nvSpPr>
          <p:cNvPr id="492552" name="文本框 492551"/>
          <p:cNvSpPr txBox="1"/>
          <p:nvPr/>
        </p:nvSpPr>
        <p:spPr>
          <a:xfrm>
            <a:off x="250825" y="3429000"/>
            <a:ext cx="5719763" cy="46196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b="1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b="1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b="1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b="1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内气体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摩尔数</a:t>
            </a:r>
            <a:r>
              <a:rPr kumimoji="0" lang="en-US" altLang="zh-CN" b="1" i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/ M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相同</a:t>
            </a:r>
            <a:r>
              <a:rPr kumimoji="0" lang="zh-CN" altLang="en-US" b="1" kern="1200" cap="none" spc="0" normalizeH="0" baseline="0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grpSp>
        <p:nvGrpSpPr>
          <p:cNvPr id="112646" name="组合 492553"/>
          <p:cNvGrpSpPr/>
          <p:nvPr/>
        </p:nvGrpSpPr>
        <p:grpSpPr>
          <a:xfrm>
            <a:off x="6102350" y="3716338"/>
            <a:ext cx="3041650" cy="1066800"/>
            <a:chOff x="1680" y="384"/>
            <a:chExt cx="1916" cy="672"/>
          </a:xfrm>
        </p:grpSpPr>
        <p:grpSp>
          <p:nvGrpSpPr>
            <p:cNvPr id="112647" name="组合 492554"/>
            <p:cNvGrpSpPr/>
            <p:nvPr/>
          </p:nvGrpSpPr>
          <p:grpSpPr>
            <a:xfrm>
              <a:off x="1680" y="384"/>
              <a:ext cx="1872" cy="672"/>
              <a:chOff x="1680" y="598"/>
              <a:chExt cx="1872" cy="672"/>
            </a:xfrm>
          </p:grpSpPr>
          <p:sp>
            <p:nvSpPr>
              <p:cNvPr id="112648" name="矩形 492555"/>
              <p:cNvSpPr/>
              <p:nvPr/>
            </p:nvSpPr>
            <p:spPr>
              <a:xfrm>
                <a:off x="1680" y="598"/>
                <a:ext cx="1872" cy="4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649" name="矩形 492556"/>
              <p:cNvSpPr/>
              <p:nvPr/>
            </p:nvSpPr>
            <p:spPr>
              <a:xfrm>
                <a:off x="1680" y="598"/>
                <a:ext cx="48" cy="672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650" name="矩形 492557"/>
              <p:cNvSpPr/>
              <p:nvPr/>
            </p:nvSpPr>
            <p:spPr>
              <a:xfrm>
                <a:off x="1728" y="1222"/>
                <a:ext cx="1824" cy="4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651" name="矩形 492558"/>
              <p:cNvSpPr/>
              <p:nvPr/>
            </p:nvSpPr>
            <p:spPr>
              <a:xfrm>
                <a:off x="2448" y="624"/>
                <a:ext cx="48" cy="624"/>
              </a:xfrm>
              <a:prstGeom prst="rect">
                <a:avLst/>
              </a:prstGeom>
              <a:solidFill>
                <a:srgbClr val="008080"/>
              </a:solidFill>
              <a:ln w="9525" cap="flat" cmpd="sng">
                <a:solidFill>
                  <a:srgbClr val="0099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652" name="矩形 492559"/>
              <p:cNvSpPr/>
              <p:nvPr/>
            </p:nvSpPr>
            <p:spPr>
              <a:xfrm>
                <a:off x="3216" y="646"/>
                <a:ext cx="48" cy="57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653" name="文本框 492560"/>
              <p:cNvSpPr txBox="1"/>
              <p:nvPr/>
            </p:nvSpPr>
            <p:spPr>
              <a:xfrm>
                <a:off x="1920" y="768"/>
                <a:ext cx="255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12654" name="文本框 492561"/>
              <p:cNvSpPr txBox="1"/>
              <p:nvPr/>
            </p:nvSpPr>
            <p:spPr>
              <a:xfrm>
                <a:off x="2736" y="768"/>
                <a:ext cx="244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12655" name="文本框 492562"/>
              <p:cNvSpPr txBox="1"/>
              <p:nvPr/>
            </p:nvSpPr>
            <p:spPr>
              <a:xfrm>
                <a:off x="2496" y="672"/>
                <a:ext cx="232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12656" name="文本框 492563"/>
              <p:cNvSpPr txBox="1"/>
              <p:nvPr/>
            </p:nvSpPr>
            <p:spPr>
              <a:xfrm>
                <a:off x="3264" y="655"/>
                <a:ext cx="232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112657" name="矩形 492564"/>
            <p:cNvSpPr/>
            <p:nvPr/>
          </p:nvSpPr>
          <p:spPr>
            <a:xfrm>
              <a:off x="3279" y="708"/>
              <a:ext cx="317" cy="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33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2566" name="文本框 492565"/>
          <p:cNvSpPr txBox="1"/>
          <p:nvPr/>
        </p:nvSpPr>
        <p:spPr>
          <a:xfrm>
            <a:off x="107950" y="4508500"/>
            <a:ext cx="8867775" cy="830263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A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----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等体过程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----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等压过程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，气体吸热分别为：</a:t>
            </a:r>
          </a:p>
        </p:txBody>
      </p:sp>
      <p:graphicFrame>
        <p:nvGraphicFramePr>
          <p:cNvPr id="492567" name="对象 492566"/>
          <p:cNvGraphicFramePr/>
          <p:nvPr/>
        </p:nvGraphicFramePr>
        <p:xfrm>
          <a:off x="971550" y="5481638"/>
          <a:ext cx="3733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r:id="rId3" imgW="1851025" imgH="557530" progId="Equation.DSMT4">
                  <p:embed/>
                </p:oleObj>
              </mc:Choice>
              <mc:Fallback>
                <p:oleObj r:id="rId3" imgW="1851025" imgH="557530" progId="Equation.DSMT4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5481638"/>
                        <a:ext cx="37338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568" name="矩形 492567"/>
          <p:cNvSpPr/>
          <p:nvPr/>
        </p:nvSpPr>
        <p:spPr>
          <a:xfrm>
            <a:off x="280988" y="2349500"/>
            <a:ext cx="5921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492569" name="文本框 492568"/>
          <p:cNvSpPr txBox="1"/>
          <p:nvPr/>
        </p:nvSpPr>
        <p:spPr>
          <a:xfrm>
            <a:off x="5408613" y="5445125"/>
            <a:ext cx="4419600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已知</a:t>
            </a:r>
            <a:r>
              <a: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,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故得：</a:t>
            </a:r>
          </a:p>
        </p:txBody>
      </p:sp>
      <p:graphicFrame>
        <p:nvGraphicFramePr>
          <p:cNvPr id="492570" name="对象 492569"/>
          <p:cNvGraphicFramePr/>
          <p:nvPr/>
        </p:nvGraphicFramePr>
        <p:xfrm>
          <a:off x="5940425" y="5994400"/>
          <a:ext cx="18938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r:id="rId5" imgW="1237615" imgH="523875" progId="Equation.DSMT4">
                  <p:embed/>
                </p:oleObj>
              </mc:Choice>
              <mc:Fallback>
                <p:oleObj r:id="rId5" imgW="1237615" imgH="523875" progId="Equation.DSMT4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40425" y="5994400"/>
                        <a:ext cx="1893888" cy="811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571" name="右大括号 492570"/>
          <p:cNvSpPr/>
          <p:nvPr/>
        </p:nvSpPr>
        <p:spPr>
          <a:xfrm>
            <a:off x="5076825" y="5589588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2576" name="矩形 492575"/>
          <p:cNvSpPr/>
          <p:nvPr/>
        </p:nvSpPr>
        <p:spPr>
          <a:xfrm>
            <a:off x="1519238" y="3933825"/>
            <a:ext cx="3536950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缓慢加热，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准静态过程。</a:t>
            </a:r>
          </a:p>
        </p:txBody>
      </p:sp>
      <p:sp>
        <p:nvSpPr>
          <p:cNvPr id="112665" name="文本框 492549"/>
          <p:cNvSpPr txBox="1"/>
          <p:nvPr/>
        </p:nvSpPr>
        <p:spPr>
          <a:xfrm>
            <a:off x="631825" y="2319338"/>
            <a:ext cx="8332788" cy="461962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该气体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V,m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p,m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9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9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9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9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52" grpId="0"/>
      <p:bldP spid="492566" grpId="0"/>
      <p:bldP spid="492569" grpId="0"/>
      <p:bldP spid="49257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文本框 493569"/>
          <p:cNvSpPr txBox="1"/>
          <p:nvPr/>
        </p:nvSpPr>
        <p:spPr>
          <a:xfrm>
            <a:off x="1346200" y="4451350"/>
            <a:ext cx="3317875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室气体做功：</a:t>
            </a:r>
          </a:p>
        </p:txBody>
      </p:sp>
      <p:graphicFrame>
        <p:nvGraphicFramePr>
          <p:cNvPr id="493571" name="对象 493570"/>
          <p:cNvGraphicFramePr/>
          <p:nvPr/>
        </p:nvGraphicFramePr>
        <p:xfrm>
          <a:off x="3454400" y="4437063"/>
          <a:ext cx="39401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1" r:id="rId3" imgW="2374900" imgH="267335" progId="Equation.DSMT4">
                  <p:embed/>
                </p:oleObj>
              </mc:Choice>
              <mc:Fallback>
                <p:oleObj r:id="rId3" imgW="2374900" imgH="267335" progId="Equation.DSMT4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54400" y="4437063"/>
                        <a:ext cx="3940175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2" name="文本框 493571"/>
          <p:cNvSpPr txBox="1"/>
          <p:nvPr/>
        </p:nvSpPr>
        <p:spPr>
          <a:xfrm>
            <a:off x="1295400" y="5060950"/>
            <a:ext cx="6054725" cy="457200"/>
          </a:xfrm>
          <a:prstGeom prst="rect">
            <a:avLst/>
          </a:prstGeom>
          <a:noFill/>
          <a:ln w="2857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室中气体吸收的热量转化为功的百分比：</a:t>
            </a:r>
          </a:p>
        </p:txBody>
      </p:sp>
      <p:graphicFrame>
        <p:nvGraphicFramePr>
          <p:cNvPr id="493573" name="对象 493572"/>
          <p:cNvGraphicFramePr/>
          <p:nvPr/>
        </p:nvGraphicFramePr>
        <p:xfrm>
          <a:off x="1895475" y="5589588"/>
          <a:ext cx="570071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2" r:id="rId5" imgW="3334385" imgH="691515" progId="Equation.DSMT4">
                  <p:embed/>
                </p:oleObj>
              </mc:Choice>
              <mc:Fallback>
                <p:oleObj r:id="rId5" imgW="3334385" imgH="691515" progId="Equation.DSMT4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95475" y="5589588"/>
                        <a:ext cx="5700713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4" name="文本框 493573"/>
          <p:cNvSpPr txBox="1"/>
          <p:nvPr/>
        </p:nvSpPr>
        <p:spPr>
          <a:xfrm>
            <a:off x="755650" y="2738438"/>
            <a:ext cx="936625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493575" name="文本框 493574"/>
          <p:cNvSpPr txBox="1"/>
          <p:nvPr/>
        </p:nvSpPr>
        <p:spPr>
          <a:xfrm>
            <a:off x="827088" y="1989138"/>
            <a:ext cx="800100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又</a:t>
            </a:r>
          </a:p>
        </p:txBody>
      </p:sp>
      <p:graphicFrame>
        <p:nvGraphicFramePr>
          <p:cNvPr id="493576" name="对象 493575"/>
          <p:cNvGraphicFramePr/>
          <p:nvPr/>
        </p:nvGraphicFramePr>
        <p:xfrm>
          <a:off x="2144713" y="2571750"/>
          <a:ext cx="28638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3" r:id="rId7" imgW="1762125" imgH="445770" progId="Equation.DSMT4">
                  <p:embed/>
                </p:oleObj>
              </mc:Choice>
              <mc:Fallback>
                <p:oleObj r:id="rId7" imgW="1762125" imgH="445770" progId="Equation.DSMT4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44713" y="2571750"/>
                        <a:ext cx="2863850" cy="788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7" name="对象 493576"/>
          <p:cNvGraphicFramePr/>
          <p:nvPr/>
        </p:nvGraphicFramePr>
        <p:xfrm>
          <a:off x="2425700" y="2009775"/>
          <a:ext cx="19034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4" r:id="rId9" imgW="1137285" imgH="267335" progId="Equation.DSMT4">
                  <p:embed/>
                </p:oleObj>
              </mc:Choice>
              <mc:Fallback>
                <p:oleObj r:id="rId9" imgW="1137285" imgH="267335" progId="Equation.DSMT4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25700" y="2009775"/>
                        <a:ext cx="1903413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673" name="组合 493577"/>
          <p:cNvGrpSpPr/>
          <p:nvPr/>
        </p:nvGrpSpPr>
        <p:grpSpPr>
          <a:xfrm>
            <a:off x="6102350" y="2428875"/>
            <a:ext cx="3041650" cy="1066800"/>
            <a:chOff x="1680" y="384"/>
            <a:chExt cx="1916" cy="672"/>
          </a:xfrm>
        </p:grpSpPr>
        <p:grpSp>
          <p:nvGrpSpPr>
            <p:cNvPr id="113674" name="组合 493578"/>
            <p:cNvGrpSpPr/>
            <p:nvPr/>
          </p:nvGrpSpPr>
          <p:grpSpPr>
            <a:xfrm>
              <a:off x="1680" y="384"/>
              <a:ext cx="1872" cy="672"/>
              <a:chOff x="1680" y="598"/>
              <a:chExt cx="1872" cy="672"/>
            </a:xfrm>
          </p:grpSpPr>
          <p:sp>
            <p:nvSpPr>
              <p:cNvPr id="113675" name="矩形 493579"/>
              <p:cNvSpPr/>
              <p:nvPr/>
            </p:nvSpPr>
            <p:spPr>
              <a:xfrm>
                <a:off x="1680" y="598"/>
                <a:ext cx="1872" cy="4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676" name="矩形 493580"/>
              <p:cNvSpPr/>
              <p:nvPr/>
            </p:nvSpPr>
            <p:spPr>
              <a:xfrm>
                <a:off x="1680" y="598"/>
                <a:ext cx="48" cy="672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677" name="矩形 493581"/>
              <p:cNvSpPr/>
              <p:nvPr/>
            </p:nvSpPr>
            <p:spPr>
              <a:xfrm>
                <a:off x="1728" y="1222"/>
                <a:ext cx="1824" cy="48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678" name="矩形 493582"/>
              <p:cNvSpPr/>
              <p:nvPr/>
            </p:nvSpPr>
            <p:spPr>
              <a:xfrm>
                <a:off x="2448" y="624"/>
                <a:ext cx="48" cy="624"/>
              </a:xfrm>
              <a:prstGeom prst="rect">
                <a:avLst/>
              </a:prstGeom>
              <a:solidFill>
                <a:srgbClr val="009999"/>
              </a:solidFill>
              <a:ln w="9525" cap="flat" cmpd="sng">
                <a:solidFill>
                  <a:srgbClr val="00808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679" name="矩形 493583"/>
              <p:cNvSpPr/>
              <p:nvPr/>
            </p:nvSpPr>
            <p:spPr>
              <a:xfrm>
                <a:off x="3216" y="646"/>
                <a:ext cx="48" cy="57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96633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680" name="文本框 493584"/>
              <p:cNvSpPr txBox="1"/>
              <p:nvPr/>
            </p:nvSpPr>
            <p:spPr>
              <a:xfrm>
                <a:off x="1920" y="768"/>
                <a:ext cx="255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13681" name="文本框 493585"/>
              <p:cNvSpPr txBox="1"/>
              <p:nvPr/>
            </p:nvSpPr>
            <p:spPr>
              <a:xfrm>
                <a:off x="2736" y="768"/>
                <a:ext cx="244" cy="28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13682" name="文本框 493586"/>
              <p:cNvSpPr txBox="1"/>
              <p:nvPr/>
            </p:nvSpPr>
            <p:spPr>
              <a:xfrm>
                <a:off x="2496" y="672"/>
                <a:ext cx="232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13683" name="文本框 493587"/>
              <p:cNvSpPr txBox="1"/>
              <p:nvPr/>
            </p:nvSpPr>
            <p:spPr>
              <a:xfrm>
                <a:off x="3264" y="655"/>
                <a:ext cx="232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20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113684" name="矩形 493588"/>
            <p:cNvSpPr/>
            <p:nvPr/>
          </p:nvSpPr>
          <p:spPr>
            <a:xfrm>
              <a:off x="3279" y="708"/>
              <a:ext cx="317" cy="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996633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13685" name="对象 493589"/>
          <p:cNvGraphicFramePr/>
          <p:nvPr/>
        </p:nvGraphicFramePr>
        <p:xfrm>
          <a:off x="1050925" y="620713"/>
          <a:ext cx="366553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5" r:id="rId11" imgW="1851025" imgH="557530" progId="Equation.DSMT4">
                  <p:embed/>
                </p:oleObj>
              </mc:Choice>
              <mc:Fallback>
                <p:oleObj r:id="rId11" imgW="1851025" imgH="557530" progId="Equation.DSMT4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50925" y="620713"/>
                        <a:ext cx="3665538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6" name="文本框 493590"/>
          <p:cNvSpPr txBox="1"/>
          <p:nvPr/>
        </p:nvSpPr>
        <p:spPr>
          <a:xfrm>
            <a:off x="5408613" y="476250"/>
            <a:ext cx="4419600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已知</a:t>
            </a:r>
            <a:r>
              <a: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,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故得：</a:t>
            </a:r>
          </a:p>
        </p:txBody>
      </p:sp>
      <p:sp>
        <p:nvSpPr>
          <p:cNvPr id="113687" name="文本框 493592"/>
          <p:cNvSpPr txBox="1"/>
          <p:nvPr/>
        </p:nvSpPr>
        <p:spPr>
          <a:xfrm>
            <a:off x="468313" y="115888"/>
            <a:ext cx="8332787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该气体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93594" name="文本框 493593"/>
          <p:cNvSpPr txBox="1"/>
          <p:nvPr/>
        </p:nvSpPr>
        <p:spPr>
          <a:xfrm>
            <a:off x="352425" y="3763963"/>
            <a:ext cx="8012113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室中气体吸收的热量有百分之几用于对外做功。</a:t>
            </a:r>
          </a:p>
        </p:txBody>
      </p:sp>
      <p:sp>
        <p:nvSpPr>
          <p:cNvPr id="113689" name="右大括号 493594"/>
          <p:cNvSpPr/>
          <p:nvPr/>
        </p:nvSpPr>
        <p:spPr>
          <a:xfrm>
            <a:off x="4932363" y="620713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3690" name="对象 27"/>
          <p:cNvGraphicFramePr/>
          <p:nvPr/>
        </p:nvGraphicFramePr>
        <p:xfrm>
          <a:off x="6069013" y="1011238"/>
          <a:ext cx="18938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6" r:id="rId13" imgW="1237615" imgH="523875" progId="Equation.DSMT4">
                  <p:embed/>
                </p:oleObj>
              </mc:Choice>
              <mc:Fallback>
                <p:oleObj r:id="rId13" imgW="1237615" imgH="523875" progId="Equation.DSMT4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69013" y="1011238"/>
                        <a:ext cx="1893887" cy="811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49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/>
      <p:bldP spid="493572" grpId="0"/>
      <p:bldP spid="493574" grpId="0"/>
      <p:bldP spid="493575" grpId="0"/>
      <p:bldP spid="49359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4594" name="对象 494593"/>
          <p:cNvGraphicFramePr/>
          <p:nvPr/>
        </p:nvGraphicFramePr>
        <p:xfrm>
          <a:off x="193675" y="3487738"/>
          <a:ext cx="87899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r:id="rId3" imgW="3759200" imgH="228600" progId="Word.Document.8">
                  <p:embed/>
                </p:oleObj>
              </mc:Choice>
              <mc:Fallback>
                <p:oleObj r:id="rId3" imgW="3759200" imgH="228600" progId="Word.Document.8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675" y="3487738"/>
                        <a:ext cx="8789988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4" name="矩形 494594"/>
          <p:cNvSpPr/>
          <p:nvPr/>
        </p:nvSpPr>
        <p:spPr>
          <a:xfrm>
            <a:off x="684213" y="260350"/>
            <a:ext cx="36734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五．多方过程</a:t>
            </a:r>
          </a:p>
        </p:txBody>
      </p:sp>
      <p:sp>
        <p:nvSpPr>
          <p:cNvPr id="115715" name="矩形 494596"/>
          <p:cNvSpPr/>
          <p:nvPr/>
        </p:nvSpPr>
        <p:spPr>
          <a:xfrm>
            <a:off x="0" y="3319463"/>
            <a:ext cx="9144000" cy="0"/>
          </a:xfrm>
          <a:prstGeom prst="rect">
            <a:avLst/>
          </a:prstGeom>
          <a:noFill/>
          <a:ln w="19050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494597"/>
          <p:cNvGrpSpPr/>
          <p:nvPr/>
        </p:nvGrpSpPr>
        <p:grpSpPr>
          <a:xfrm>
            <a:off x="1116013" y="1196975"/>
            <a:ext cx="6551612" cy="1954213"/>
            <a:chOff x="390" y="954"/>
            <a:chExt cx="3457" cy="1231"/>
          </a:xfrm>
        </p:grpSpPr>
        <p:sp>
          <p:nvSpPr>
            <p:cNvPr id="494599" name="矩形 494598"/>
            <p:cNvSpPr/>
            <p:nvPr/>
          </p:nvSpPr>
          <p:spPr>
            <a:xfrm>
              <a:off x="748" y="954"/>
              <a:ext cx="2268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满足过程方程：</a:t>
              </a:r>
            </a:p>
          </p:txBody>
        </p:sp>
        <p:graphicFrame>
          <p:nvGraphicFramePr>
            <p:cNvPr id="115718" name="对象 494599"/>
            <p:cNvGraphicFramePr/>
            <p:nvPr/>
          </p:nvGraphicFramePr>
          <p:xfrm>
            <a:off x="1111" y="1389"/>
            <a:ext cx="1406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7" r:id="rId5" imgW="948055" imgH="256540" progId="Equation.DSMT4">
                    <p:embed/>
                  </p:oleObj>
                </mc:Choice>
                <mc:Fallback>
                  <p:oleObj r:id="rId5" imgW="948055" imgH="256540" progId="Equation.DSMT4">
                    <p:embed/>
                    <p:pic>
                      <p:nvPicPr>
                        <p:cNvPr id="0" name="图片 330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1" y="1389"/>
                          <a:ext cx="1406" cy="426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00808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4601" name="矩形 494600"/>
            <p:cNvSpPr/>
            <p:nvPr/>
          </p:nvSpPr>
          <p:spPr>
            <a:xfrm>
              <a:off x="2426" y="1454"/>
              <a:ext cx="1421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0" lang="en-US" altLang="zh-CN" sz="2400" b="1" i="1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---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多方指数）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494602" name="矩形 494601"/>
            <p:cNvSpPr/>
            <p:nvPr/>
          </p:nvSpPr>
          <p:spPr>
            <a:xfrm>
              <a:off x="390" y="1897"/>
              <a:ext cx="2989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</a:t>
              </a: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的过程称为多方过程。</a:t>
              </a:r>
            </a:p>
          </p:txBody>
        </p:sp>
      </p:grpSp>
      <p:graphicFrame>
        <p:nvGraphicFramePr>
          <p:cNvPr id="3" name="对象 2"/>
          <p:cNvGraphicFramePr/>
          <p:nvPr/>
        </p:nvGraphicFramePr>
        <p:xfrm>
          <a:off x="1190625" y="4008438"/>
          <a:ext cx="1982788" cy="238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r:id="rId7" imgW="3759200" imgH="1016000" progId="Word.Document.8">
                  <p:embed/>
                </p:oleObj>
              </mc:Choice>
              <mc:Fallback>
                <p:oleObj r:id="rId7" imgW="3759200" imgH="1016000" progId="Word.Document.8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8"/>
                      <a:srcRect l="16162" r="61287"/>
                      <a:stretch>
                        <a:fillRect/>
                      </a:stretch>
                    </p:blipFill>
                    <p:spPr>
                      <a:xfrm>
                        <a:off x="1190625" y="4008438"/>
                        <a:ext cx="1982788" cy="2384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Rot="1" noChangeAspect="1" noEditPoints="1" noTextEdit="1"/>
          </p:cNvSpPr>
          <p:nvPr/>
        </p:nvSpPr>
        <p:spPr>
          <a:xfrm>
            <a:off x="3575050" y="4418013"/>
            <a:ext cx="1014413" cy="1222375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  <a:ln w="9525">
            <a:noFill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Rot="1" noChangeAspect="1" noEditPoints="1" noTextEdit="1"/>
          </p:cNvSpPr>
          <p:nvPr/>
        </p:nvSpPr>
        <p:spPr>
          <a:xfrm>
            <a:off x="3565525" y="4132263"/>
            <a:ext cx="1104900" cy="1371600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  <a:ln w="9525">
            <a:noFill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Rot="1" noChangeAspect="1" noEditPoints="1" noTextEdit="1"/>
          </p:cNvSpPr>
          <p:nvPr/>
        </p:nvSpPr>
        <p:spPr>
          <a:xfrm>
            <a:off x="3575050" y="4668838"/>
            <a:ext cx="1014413" cy="1222375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  <a:ln w="9525">
            <a:noFill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Rot="1" noChangeAspect="1" noEditPoints="1" noTextEdit="1"/>
          </p:cNvSpPr>
          <p:nvPr/>
        </p:nvSpPr>
        <p:spPr>
          <a:xfrm>
            <a:off x="3563938" y="4868863"/>
            <a:ext cx="1014412" cy="1281112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  <a:ln w="9525">
            <a:noFill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12675"/>
          <p:cNvGrpSpPr/>
          <p:nvPr/>
        </p:nvGrpSpPr>
        <p:grpSpPr>
          <a:xfrm>
            <a:off x="5232400" y="115888"/>
            <a:ext cx="3276600" cy="2754312"/>
            <a:chOff x="3024" y="0"/>
            <a:chExt cx="2064" cy="1735"/>
          </a:xfrm>
        </p:grpSpPr>
        <p:grpSp>
          <p:nvGrpSpPr>
            <p:cNvPr id="118786" name="组合 412676"/>
            <p:cNvGrpSpPr/>
            <p:nvPr/>
          </p:nvGrpSpPr>
          <p:grpSpPr>
            <a:xfrm>
              <a:off x="3072" y="528"/>
              <a:ext cx="1968" cy="864"/>
              <a:chOff x="3072" y="528"/>
              <a:chExt cx="1968" cy="864"/>
            </a:xfrm>
          </p:grpSpPr>
          <p:sp>
            <p:nvSpPr>
              <p:cNvPr id="118787" name="直接连接符 412677"/>
              <p:cNvSpPr/>
              <p:nvPr/>
            </p:nvSpPr>
            <p:spPr>
              <a:xfrm>
                <a:off x="3072" y="528"/>
                <a:ext cx="1968" cy="0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8788" name="直接连接符 412678"/>
              <p:cNvSpPr/>
              <p:nvPr/>
            </p:nvSpPr>
            <p:spPr>
              <a:xfrm>
                <a:off x="3072" y="528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8789" name="直接连接符 412679"/>
              <p:cNvSpPr/>
              <p:nvPr/>
            </p:nvSpPr>
            <p:spPr>
              <a:xfrm>
                <a:off x="3072" y="1392"/>
                <a:ext cx="1968" cy="0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8790" name="直接连接符 412680"/>
              <p:cNvSpPr/>
              <p:nvPr/>
            </p:nvSpPr>
            <p:spPr>
              <a:xfrm>
                <a:off x="5040" y="528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8791" name="组合 412681"/>
            <p:cNvGrpSpPr/>
            <p:nvPr/>
          </p:nvGrpSpPr>
          <p:grpSpPr>
            <a:xfrm>
              <a:off x="3024" y="480"/>
              <a:ext cx="2064" cy="960"/>
              <a:chOff x="3072" y="528"/>
              <a:chExt cx="1968" cy="864"/>
            </a:xfrm>
          </p:grpSpPr>
          <p:sp>
            <p:nvSpPr>
              <p:cNvPr id="118792" name="直接连接符 412682"/>
              <p:cNvSpPr/>
              <p:nvPr/>
            </p:nvSpPr>
            <p:spPr>
              <a:xfrm>
                <a:off x="3072" y="528"/>
                <a:ext cx="1968" cy="0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8793" name="直接连接符 412683"/>
              <p:cNvSpPr/>
              <p:nvPr/>
            </p:nvSpPr>
            <p:spPr>
              <a:xfrm>
                <a:off x="3072" y="528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8794" name="直接连接符 412684"/>
              <p:cNvSpPr/>
              <p:nvPr/>
            </p:nvSpPr>
            <p:spPr>
              <a:xfrm>
                <a:off x="3072" y="1392"/>
                <a:ext cx="1968" cy="0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8795" name="直接连接符 412685"/>
              <p:cNvSpPr/>
              <p:nvPr/>
            </p:nvSpPr>
            <p:spPr>
              <a:xfrm>
                <a:off x="5040" y="528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CC339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8796" name="直接连接符 412686"/>
            <p:cNvSpPr/>
            <p:nvPr/>
          </p:nvSpPr>
          <p:spPr>
            <a:xfrm>
              <a:off x="4032" y="0"/>
              <a:ext cx="0" cy="144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797" name="直接连接符 412687"/>
            <p:cNvSpPr/>
            <p:nvPr/>
          </p:nvSpPr>
          <p:spPr>
            <a:xfrm flipV="1">
              <a:off x="4128" y="192"/>
              <a:ext cx="0" cy="240"/>
            </a:xfrm>
            <a:prstGeom prst="line">
              <a:avLst/>
            </a:prstGeom>
            <a:ln w="28575" cap="flat" cmpd="sng">
              <a:solidFill>
                <a:srgbClr val="37871B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798" name="椭圆 412688"/>
            <p:cNvSpPr/>
            <p:nvPr/>
          </p:nvSpPr>
          <p:spPr>
            <a:xfrm>
              <a:off x="3360" y="912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799" name="椭圆 412689"/>
            <p:cNvSpPr/>
            <p:nvPr/>
          </p:nvSpPr>
          <p:spPr>
            <a:xfrm>
              <a:off x="3408" y="1200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0" name="椭圆 412690"/>
            <p:cNvSpPr/>
            <p:nvPr/>
          </p:nvSpPr>
          <p:spPr>
            <a:xfrm>
              <a:off x="3504" y="100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1" name="椭圆 412691"/>
            <p:cNvSpPr/>
            <p:nvPr/>
          </p:nvSpPr>
          <p:spPr>
            <a:xfrm>
              <a:off x="3888" y="1200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2" name="椭圆 412692"/>
            <p:cNvSpPr/>
            <p:nvPr/>
          </p:nvSpPr>
          <p:spPr>
            <a:xfrm>
              <a:off x="3648" y="124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3" name="椭圆 412693"/>
            <p:cNvSpPr/>
            <p:nvPr/>
          </p:nvSpPr>
          <p:spPr>
            <a:xfrm>
              <a:off x="3792" y="864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4" name="椭圆 412694"/>
            <p:cNvSpPr/>
            <p:nvPr/>
          </p:nvSpPr>
          <p:spPr>
            <a:xfrm>
              <a:off x="3840" y="720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5" name="椭圆 412695"/>
            <p:cNvSpPr/>
            <p:nvPr/>
          </p:nvSpPr>
          <p:spPr>
            <a:xfrm>
              <a:off x="3120" y="960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6" name="椭圆 412696"/>
            <p:cNvSpPr/>
            <p:nvPr/>
          </p:nvSpPr>
          <p:spPr>
            <a:xfrm>
              <a:off x="3648" y="1056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7" name="椭圆 412697"/>
            <p:cNvSpPr/>
            <p:nvPr/>
          </p:nvSpPr>
          <p:spPr>
            <a:xfrm>
              <a:off x="3888" y="100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8" name="椭圆 412698"/>
            <p:cNvSpPr/>
            <p:nvPr/>
          </p:nvSpPr>
          <p:spPr>
            <a:xfrm>
              <a:off x="3600" y="816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09" name="椭圆 412699"/>
            <p:cNvSpPr/>
            <p:nvPr/>
          </p:nvSpPr>
          <p:spPr>
            <a:xfrm>
              <a:off x="3264" y="1152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10" name="椭圆 412700"/>
            <p:cNvSpPr/>
            <p:nvPr/>
          </p:nvSpPr>
          <p:spPr>
            <a:xfrm>
              <a:off x="3360" y="672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11" name="椭圆 412701"/>
            <p:cNvSpPr/>
            <p:nvPr/>
          </p:nvSpPr>
          <p:spPr>
            <a:xfrm>
              <a:off x="3168" y="76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12" name="椭圆 412702"/>
            <p:cNvSpPr/>
            <p:nvPr/>
          </p:nvSpPr>
          <p:spPr>
            <a:xfrm>
              <a:off x="3600" y="624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13" name="椭圆 412703"/>
            <p:cNvSpPr/>
            <p:nvPr/>
          </p:nvSpPr>
          <p:spPr>
            <a:xfrm>
              <a:off x="3168" y="1296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814" name="右箭头 412704"/>
            <p:cNvSpPr/>
            <p:nvPr/>
          </p:nvSpPr>
          <p:spPr>
            <a:xfrm>
              <a:off x="3936" y="768"/>
              <a:ext cx="432" cy="210"/>
            </a:xfrm>
            <a:prstGeom prst="rightArrow">
              <a:avLst>
                <a:gd name="adj1" fmla="val 50000"/>
                <a:gd name="adj2" fmla="val 51400"/>
              </a:avLst>
            </a:prstGeom>
            <a:solidFill>
              <a:srgbClr val="66FF33"/>
            </a:solidFill>
            <a:ln w="2857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2706" name="文本框 412705"/>
            <p:cNvSpPr txBox="1"/>
            <p:nvPr/>
          </p:nvSpPr>
          <p:spPr>
            <a:xfrm>
              <a:off x="3360" y="160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b="1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r>
                <a:rPr kumimoji="0" lang="en-US" altLang="zh-CN" sz="2800" b="1" kern="1200" cap="none" spc="0" normalizeH="0" baseline="-25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2707" name="文本框 412706"/>
            <p:cNvSpPr txBox="1"/>
            <p:nvPr/>
          </p:nvSpPr>
          <p:spPr>
            <a:xfrm>
              <a:off x="3456" y="1408"/>
              <a:ext cx="3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b="1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2800" b="1" kern="1200" cap="none" spc="0" normalizeH="0" baseline="-25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2708" name="文本框 412707"/>
            <p:cNvSpPr txBox="1"/>
            <p:nvPr/>
          </p:nvSpPr>
          <p:spPr>
            <a:xfrm>
              <a:off x="4368" y="1408"/>
              <a:ext cx="3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800" b="1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2800" b="1" kern="1200" cap="none" spc="0" normalizeH="0" baseline="-25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2709" name="文本框 412708"/>
          <p:cNvSpPr txBox="1"/>
          <p:nvPr/>
        </p:nvSpPr>
        <p:spPr>
          <a:xfrm>
            <a:off x="641350" y="922338"/>
            <a:ext cx="4470400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理想气体（绝热）自由膨胀</a:t>
            </a:r>
          </a:p>
        </p:txBody>
      </p:sp>
      <p:sp>
        <p:nvSpPr>
          <p:cNvPr id="412710" name="文本框 412709"/>
          <p:cNvSpPr txBox="1"/>
          <p:nvPr/>
        </p:nvSpPr>
        <p:spPr>
          <a:xfrm>
            <a:off x="646113" y="1700213"/>
            <a:ext cx="2327275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平衡后的压强</a:t>
            </a:r>
          </a:p>
        </p:txBody>
      </p:sp>
      <p:sp>
        <p:nvSpPr>
          <p:cNvPr id="412711" name="文本框 412710"/>
          <p:cNvSpPr txBox="1"/>
          <p:nvPr/>
        </p:nvSpPr>
        <p:spPr>
          <a:xfrm>
            <a:off x="3373438" y="1730375"/>
            <a:ext cx="87153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 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=?</a:t>
            </a:r>
          </a:p>
        </p:txBody>
      </p:sp>
      <p:sp>
        <p:nvSpPr>
          <p:cNvPr id="412712" name="文本框 412711"/>
          <p:cNvSpPr txBox="1"/>
          <p:nvPr/>
        </p:nvSpPr>
        <p:spPr>
          <a:xfrm>
            <a:off x="1727200" y="3209925"/>
            <a:ext cx="1077913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绝热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</a:p>
        </p:txBody>
      </p:sp>
      <p:graphicFrame>
        <p:nvGraphicFramePr>
          <p:cNvPr id="412713" name="对象 412712"/>
          <p:cNvGraphicFramePr/>
          <p:nvPr/>
        </p:nvGraphicFramePr>
        <p:xfrm>
          <a:off x="2755900" y="3233738"/>
          <a:ext cx="28035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9" r:id="rId3" imgW="1360170" imgH="278765" progId="Equation.3">
                  <p:embed/>
                </p:oleObj>
              </mc:Choice>
              <mc:Fallback>
                <p:oleObj r:id="rId3" imgW="1360170" imgH="278765" progId="Equation.3">
                  <p:embed/>
                  <p:pic>
                    <p:nvPicPr>
                      <p:cNvPr id="0" name="图片 333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55900" y="3233738"/>
                        <a:ext cx="280352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23" name="直接连接符 412713"/>
          <p:cNvSpPr/>
          <p:nvPr/>
        </p:nvSpPr>
        <p:spPr>
          <a:xfrm>
            <a:off x="5461000" y="3621088"/>
            <a:ext cx="838200" cy="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412715" name="对象 412714"/>
          <p:cNvGraphicFramePr/>
          <p:nvPr/>
        </p:nvGraphicFramePr>
        <p:xfrm>
          <a:off x="6850063" y="3068638"/>
          <a:ext cx="174942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0" r:id="rId5" imgW="825500" imgH="490855" progId="Equation.3">
                  <p:embed/>
                </p:oleObj>
              </mc:Choice>
              <mc:Fallback>
                <p:oleObj r:id="rId5" imgW="825500" imgH="490855" progId="Equation.3">
                  <p:embed/>
                  <p:pic>
                    <p:nvPicPr>
                      <p:cNvPr id="0" name="图片 333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50063" y="3068638"/>
                        <a:ext cx="1749425" cy="877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716" name="文本框 412715"/>
          <p:cNvSpPr txBox="1"/>
          <p:nvPr/>
        </p:nvSpPr>
        <p:spPr>
          <a:xfrm>
            <a:off x="611188" y="2565400"/>
            <a:ext cx="1692275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方法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412717" name="文本框 412716"/>
          <p:cNvSpPr txBox="1"/>
          <p:nvPr/>
        </p:nvSpPr>
        <p:spPr>
          <a:xfrm>
            <a:off x="684213" y="3716338"/>
            <a:ext cx="1077913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方法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412718" name="文本框 412717"/>
          <p:cNvSpPr txBox="1"/>
          <p:nvPr/>
        </p:nvSpPr>
        <p:spPr>
          <a:xfrm>
            <a:off x="1711325" y="4351338"/>
            <a:ext cx="898525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绝热</a:t>
            </a:r>
          </a:p>
        </p:txBody>
      </p:sp>
      <p:sp>
        <p:nvSpPr>
          <p:cNvPr id="412719" name="文本框 412718"/>
          <p:cNvSpPr txBox="1"/>
          <p:nvPr/>
        </p:nvSpPr>
        <p:spPr>
          <a:xfrm>
            <a:off x="2794000" y="4330700"/>
            <a:ext cx="1612900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又不做功</a:t>
            </a:r>
          </a:p>
        </p:txBody>
      </p:sp>
      <p:sp>
        <p:nvSpPr>
          <p:cNvPr id="412720" name="文本框 412719"/>
          <p:cNvSpPr txBox="1"/>
          <p:nvPr/>
        </p:nvSpPr>
        <p:spPr>
          <a:xfrm>
            <a:off x="5197475" y="4149725"/>
            <a:ext cx="1103313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热一律</a:t>
            </a:r>
          </a:p>
        </p:txBody>
      </p:sp>
      <p:sp>
        <p:nvSpPr>
          <p:cNvPr id="118830" name="直接连接符 412720"/>
          <p:cNvSpPr/>
          <p:nvPr/>
        </p:nvSpPr>
        <p:spPr>
          <a:xfrm>
            <a:off x="4546600" y="4687888"/>
            <a:ext cx="2438400" cy="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12722" name="文本框 412721"/>
          <p:cNvSpPr txBox="1"/>
          <p:nvPr/>
        </p:nvSpPr>
        <p:spPr>
          <a:xfrm>
            <a:off x="7197725" y="4351338"/>
            <a:ext cx="1612900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内能不变</a:t>
            </a:r>
          </a:p>
        </p:txBody>
      </p:sp>
      <p:sp>
        <p:nvSpPr>
          <p:cNvPr id="412723" name="文本框 412722"/>
          <p:cNvSpPr txBox="1"/>
          <p:nvPr/>
        </p:nvSpPr>
        <p:spPr>
          <a:xfrm>
            <a:off x="1711325" y="5113338"/>
            <a:ext cx="2327275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所以温度不变</a:t>
            </a:r>
          </a:p>
        </p:txBody>
      </p:sp>
      <p:sp>
        <p:nvSpPr>
          <p:cNvPr id="412724" name="文本框 412723"/>
          <p:cNvSpPr txBox="1"/>
          <p:nvPr/>
        </p:nvSpPr>
        <p:spPr>
          <a:xfrm>
            <a:off x="4149725" y="5113338"/>
            <a:ext cx="339883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由理想气体状态方程</a:t>
            </a:r>
          </a:p>
        </p:txBody>
      </p:sp>
      <p:graphicFrame>
        <p:nvGraphicFramePr>
          <p:cNvPr id="412725" name="对象 412724"/>
          <p:cNvGraphicFramePr/>
          <p:nvPr/>
        </p:nvGraphicFramePr>
        <p:xfrm>
          <a:off x="1135063" y="5894388"/>
          <a:ext cx="270192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1" r:id="rId7" imgW="1304925" imgH="546100" progId="Equation.3">
                  <p:embed/>
                </p:oleObj>
              </mc:Choice>
              <mc:Fallback>
                <p:oleObj r:id="rId7" imgW="1304925" imgH="546100" progId="Equation.3">
                  <p:embed/>
                  <p:pic>
                    <p:nvPicPr>
                      <p:cNvPr id="0" name="图片 333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35063" y="5894388"/>
                        <a:ext cx="2701925" cy="963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726" name="对象 412725"/>
          <p:cNvGraphicFramePr/>
          <p:nvPr/>
        </p:nvGraphicFramePr>
        <p:xfrm>
          <a:off x="5202238" y="5949950"/>
          <a:ext cx="1538287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2" r:id="rId9" imgW="724535" imgH="490855" progId="Equation.3">
                  <p:embed/>
                </p:oleObj>
              </mc:Choice>
              <mc:Fallback>
                <p:oleObj r:id="rId9" imgW="724535" imgH="490855" progId="Equation.3">
                  <p:embed/>
                  <p:pic>
                    <p:nvPicPr>
                      <p:cNvPr id="0" name="图片 333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CC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02238" y="5949950"/>
                        <a:ext cx="1538287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36" name="直接连接符 412726"/>
          <p:cNvSpPr/>
          <p:nvPr/>
        </p:nvSpPr>
        <p:spPr>
          <a:xfrm>
            <a:off x="4089400" y="6440488"/>
            <a:ext cx="838200" cy="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12728" name="文本框 412727"/>
          <p:cNvSpPr txBox="1"/>
          <p:nvPr/>
        </p:nvSpPr>
        <p:spPr>
          <a:xfrm>
            <a:off x="6877050" y="6092825"/>
            <a:ext cx="3048000" cy="51911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哪种方法对？</a:t>
            </a:r>
          </a:p>
        </p:txBody>
      </p:sp>
      <p:sp>
        <p:nvSpPr>
          <p:cNvPr id="412729" name="文本框 412728"/>
          <p:cNvSpPr txBox="1"/>
          <p:nvPr/>
        </p:nvSpPr>
        <p:spPr>
          <a:xfrm>
            <a:off x="107950" y="236538"/>
            <a:ext cx="1266825" cy="5238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思考：</a:t>
            </a:r>
          </a:p>
        </p:txBody>
      </p:sp>
      <p:sp>
        <p:nvSpPr>
          <p:cNvPr id="412730" name="右箭头 412729"/>
          <p:cNvSpPr/>
          <p:nvPr/>
        </p:nvSpPr>
        <p:spPr>
          <a:xfrm>
            <a:off x="5580063" y="3390900"/>
            <a:ext cx="838200" cy="228600"/>
          </a:xfrm>
          <a:prstGeom prst="rightArrow">
            <a:avLst>
              <a:gd name="adj1" fmla="val 50000"/>
              <a:gd name="adj2" fmla="val 91445"/>
            </a:avLst>
          </a:prstGeom>
          <a:gradFill rotWithShape="1">
            <a:gsLst>
              <a:gs pos="0">
                <a:srgbClr val="CC3300"/>
              </a:gs>
              <a:gs pos="50000">
                <a:srgbClr val="FFFFFF"/>
              </a:gs>
              <a:gs pos="100000">
                <a:srgbClr val="CC3300"/>
              </a:gs>
            </a:gsLst>
            <a:lin ang="5400000" scaled="1"/>
            <a:tileRect/>
          </a:gra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2731" name="右箭头 412730"/>
          <p:cNvSpPr/>
          <p:nvPr/>
        </p:nvSpPr>
        <p:spPr>
          <a:xfrm>
            <a:off x="5003800" y="4535488"/>
            <a:ext cx="1917700" cy="215900"/>
          </a:xfrm>
          <a:prstGeom prst="rightArrow">
            <a:avLst>
              <a:gd name="adj1" fmla="val 50000"/>
              <a:gd name="adj2" fmla="val 221524"/>
            </a:avLst>
          </a:prstGeom>
          <a:gradFill rotWithShape="1">
            <a:gsLst>
              <a:gs pos="0">
                <a:srgbClr val="CC3300"/>
              </a:gs>
              <a:gs pos="50000">
                <a:srgbClr val="FFFFFF"/>
              </a:gs>
              <a:gs pos="100000">
                <a:srgbClr val="CC3300"/>
              </a:gs>
            </a:gsLst>
            <a:lin ang="5400000" scaled="1"/>
            <a:tileRect/>
          </a:gra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2732" name="右箭头 412731"/>
          <p:cNvSpPr/>
          <p:nvPr/>
        </p:nvSpPr>
        <p:spPr>
          <a:xfrm>
            <a:off x="4165600" y="6237288"/>
            <a:ext cx="838200" cy="228600"/>
          </a:xfrm>
          <a:prstGeom prst="rightArrow">
            <a:avLst>
              <a:gd name="adj1" fmla="val 50000"/>
              <a:gd name="adj2" fmla="val 91445"/>
            </a:avLst>
          </a:prstGeom>
          <a:gradFill rotWithShape="1">
            <a:gsLst>
              <a:gs pos="0">
                <a:srgbClr val="CC3300"/>
              </a:gs>
              <a:gs pos="50000">
                <a:srgbClr val="FFFFFF"/>
              </a:gs>
              <a:gs pos="100000">
                <a:srgbClr val="CC3300"/>
              </a:gs>
            </a:gsLst>
            <a:lin ang="5400000" scaled="1"/>
            <a:tileRect/>
          </a:gradFill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2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2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1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2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2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2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1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41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2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12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1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41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1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12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709" grpId="0" build="p"/>
      <p:bldP spid="412710" grpId="0" build="p"/>
      <p:bldP spid="412711" grpId="0" build="p"/>
      <p:bldP spid="412712" grpId="0" build="p"/>
      <p:bldP spid="412716" grpId="0" build="p"/>
      <p:bldP spid="412717" grpId="0" build="p"/>
      <p:bldP spid="412718" grpId="0" build="p"/>
      <p:bldP spid="412719" grpId="0" build="p"/>
      <p:bldP spid="412720" grpId="0"/>
      <p:bldP spid="412722" grpId="0" build="p"/>
      <p:bldP spid="412723" grpId="0" build="p"/>
      <p:bldP spid="412724" grpId="0" build="p"/>
      <p:bldP spid="41272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00" name="文本框 413699"/>
          <p:cNvSpPr txBox="1"/>
          <p:nvPr/>
        </p:nvSpPr>
        <p:spPr>
          <a:xfrm>
            <a:off x="228600" y="188913"/>
            <a:ext cx="8915400" cy="185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六、 自由膨胀</a:t>
            </a:r>
          </a:p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b="1" kern="1200" cap="none" spc="0" normalizeH="0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特点：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迅速  则</a:t>
            </a:r>
            <a:r>
              <a:rPr kumimoji="0" lang="en-US" altLang="zh-CN" b="1" i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 0 </a:t>
            </a:r>
          </a:p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T Extra" panose="05050102010205020202" pitchFamily="18" charset="2"/>
              </a:rPr>
              <a:t>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非静态过程   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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无过程方程</a:t>
            </a:r>
          </a:p>
          <a:p>
            <a:pPr marR="0" defTabSz="914400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b="1" kern="1200" cap="none" spc="0" normalizeH="0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办法：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只能靠普遍的定律（热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一律）</a:t>
            </a:r>
          </a:p>
        </p:txBody>
      </p:sp>
      <p:graphicFrame>
        <p:nvGraphicFramePr>
          <p:cNvPr id="413702" name="对象 413701"/>
          <p:cNvGraphicFramePr/>
          <p:nvPr/>
        </p:nvGraphicFramePr>
        <p:xfrm>
          <a:off x="3348038" y="2205038"/>
          <a:ext cx="146208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0" r:id="rId3" imgW="634365" imgH="165100" progId="Equation.DSMT4">
                  <p:embed/>
                </p:oleObj>
              </mc:Choice>
              <mc:Fallback>
                <p:oleObj r:id="rId3" imgW="634365" imgH="165100" progId="Equation.DSMT4">
                  <p:embed/>
                  <p:pic>
                    <p:nvPicPr>
                      <p:cNvPr id="0" name="图片 33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8038" y="2205038"/>
                        <a:ext cx="1462087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03" name="文本框 413702"/>
          <p:cNvSpPr txBox="1"/>
          <p:nvPr/>
        </p:nvSpPr>
        <p:spPr>
          <a:xfrm>
            <a:off x="854075" y="3730625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自由膨胀</a:t>
            </a:r>
          </a:p>
        </p:txBody>
      </p:sp>
      <p:sp>
        <p:nvSpPr>
          <p:cNvPr id="413722" name="文本框 413721"/>
          <p:cNvSpPr txBox="1"/>
          <p:nvPr/>
        </p:nvSpPr>
        <p:spPr>
          <a:xfrm>
            <a:off x="862013" y="2217738"/>
            <a:ext cx="1981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绝热 热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一律</a:t>
            </a:r>
            <a:endParaRPr kumimoji="0" lang="zh-CN" altLang="en-US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3723" name="矩形 413722"/>
          <p:cNvSpPr/>
          <p:nvPr/>
        </p:nvSpPr>
        <p:spPr>
          <a:xfrm>
            <a:off x="323850" y="5203825"/>
            <a:ext cx="33845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系统对外不作功</a:t>
            </a:r>
          </a:p>
        </p:txBody>
      </p:sp>
      <p:graphicFrame>
        <p:nvGraphicFramePr>
          <p:cNvPr id="413725" name="对象 413724"/>
          <p:cNvGraphicFramePr/>
          <p:nvPr>
            <p:extLst>
              <p:ext uri="{D42A27DB-BD31-4B8C-83A1-F6EECF244321}">
                <p14:modId xmlns:p14="http://schemas.microsoft.com/office/powerpoint/2010/main" val="507289226"/>
              </p:ext>
            </p:extLst>
          </p:nvPr>
        </p:nvGraphicFramePr>
        <p:xfrm>
          <a:off x="3960815" y="5254262"/>
          <a:ext cx="14747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1" r:id="rId5" imgW="481965" imgH="177800" progId="Equation.3">
                  <p:embed/>
                </p:oleObj>
              </mc:Choice>
              <mc:Fallback>
                <p:oleObj r:id="rId5" imgW="481965" imgH="177800" progId="Equation.3">
                  <p:embed/>
                  <p:pic>
                    <p:nvPicPr>
                      <p:cNvPr id="0" name="图片 33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0815" y="5254262"/>
                        <a:ext cx="1474787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32" name="对象 413731"/>
          <p:cNvGraphicFramePr/>
          <p:nvPr>
            <p:extLst>
              <p:ext uri="{D42A27DB-BD31-4B8C-83A1-F6EECF244321}">
                <p14:modId xmlns:p14="http://schemas.microsoft.com/office/powerpoint/2010/main" val="3617501974"/>
              </p:ext>
            </p:extLst>
          </p:nvPr>
        </p:nvGraphicFramePr>
        <p:xfrm>
          <a:off x="2671763" y="6161949"/>
          <a:ext cx="11953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2" r:id="rId7" imgW="591185" imgH="200660" progId="Equation.3">
                  <p:embed/>
                </p:oleObj>
              </mc:Choice>
              <mc:Fallback>
                <p:oleObj r:id="rId7" imgW="591185" imgH="200660" progId="Equation.3">
                  <p:embed/>
                  <p:pic>
                    <p:nvPicPr>
                      <p:cNvPr id="0" name="图片 334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505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71763" y="6161949"/>
                        <a:ext cx="1195387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13732"/>
          <p:cNvGrpSpPr/>
          <p:nvPr/>
        </p:nvGrpSpPr>
        <p:grpSpPr>
          <a:xfrm>
            <a:off x="842963" y="5826987"/>
            <a:ext cx="1295400" cy="685800"/>
            <a:chOff x="816" y="3600"/>
            <a:chExt cx="816" cy="432"/>
          </a:xfrm>
        </p:grpSpPr>
        <p:sp>
          <p:nvSpPr>
            <p:cNvPr id="413734" name="文本框 413733"/>
            <p:cNvSpPr txBox="1"/>
            <p:nvPr/>
          </p:nvSpPr>
          <p:spPr>
            <a:xfrm>
              <a:off x="864" y="3600"/>
              <a:ext cx="7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rgbClr val="FF505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理气</a:t>
              </a:r>
            </a:p>
          </p:txBody>
        </p:sp>
        <p:sp>
          <p:nvSpPr>
            <p:cNvPr id="119824" name="右箭头 413734"/>
            <p:cNvSpPr/>
            <p:nvPr/>
          </p:nvSpPr>
          <p:spPr>
            <a:xfrm>
              <a:off x="816" y="3984"/>
              <a:ext cx="768" cy="48"/>
            </a:xfrm>
            <a:prstGeom prst="rightArrow">
              <a:avLst>
                <a:gd name="adj1" fmla="val 50000"/>
                <a:gd name="adj2" fmla="val 400000"/>
              </a:avLst>
            </a:prstGeom>
            <a:solidFill>
              <a:srgbClr val="66CCFF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413735"/>
          <p:cNvGrpSpPr/>
          <p:nvPr/>
        </p:nvGrpSpPr>
        <p:grpSpPr>
          <a:xfrm>
            <a:off x="4881563" y="5863499"/>
            <a:ext cx="1981200" cy="685800"/>
            <a:chOff x="3360" y="3648"/>
            <a:chExt cx="1248" cy="432"/>
          </a:xfrm>
        </p:grpSpPr>
        <p:sp>
          <p:nvSpPr>
            <p:cNvPr id="119826" name="右箭头 413736"/>
            <p:cNvSpPr/>
            <p:nvPr/>
          </p:nvSpPr>
          <p:spPr>
            <a:xfrm>
              <a:off x="3360" y="3984"/>
              <a:ext cx="1200" cy="96"/>
            </a:xfrm>
            <a:prstGeom prst="rightArrow">
              <a:avLst>
                <a:gd name="adj1" fmla="val 50000"/>
                <a:gd name="adj2" fmla="val 312500"/>
              </a:avLst>
            </a:prstGeom>
            <a:solidFill>
              <a:srgbClr val="66CCFF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3738" name="文本框 413737"/>
            <p:cNvSpPr txBox="1"/>
            <p:nvPr/>
          </p:nvSpPr>
          <p:spPr>
            <a:xfrm>
              <a:off x="3360" y="3648"/>
              <a:ext cx="12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rgbClr val="FF505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物态方程</a:t>
              </a:r>
            </a:p>
          </p:txBody>
        </p:sp>
      </p:grpSp>
      <p:grpSp>
        <p:nvGrpSpPr>
          <p:cNvPr id="4" name="组合 413739"/>
          <p:cNvGrpSpPr/>
          <p:nvPr/>
        </p:nvGrpSpPr>
        <p:grpSpPr>
          <a:xfrm>
            <a:off x="1524000" y="2636838"/>
            <a:ext cx="3408363" cy="2020887"/>
            <a:chOff x="540" y="672"/>
            <a:chExt cx="2147" cy="1273"/>
          </a:xfrm>
        </p:grpSpPr>
        <p:sp>
          <p:nvSpPr>
            <p:cNvPr id="119829" name="矩形 413740"/>
            <p:cNvSpPr/>
            <p:nvPr/>
          </p:nvSpPr>
          <p:spPr>
            <a:xfrm>
              <a:off x="1020" y="1106"/>
              <a:ext cx="1667" cy="839"/>
            </a:xfrm>
            <a:prstGeom prst="rect">
              <a:avLst/>
            </a:prstGeom>
            <a:blipFill rotWithShape="0">
              <a:blip r:embed="rId9"/>
            </a:blip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830" name="矩形 413741"/>
            <p:cNvSpPr/>
            <p:nvPr/>
          </p:nvSpPr>
          <p:spPr>
            <a:xfrm>
              <a:off x="1096" y="1171"/>
              <a:ext cx="1526" cy="697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831" name="直接连接符 413742"/>
            <p:cNvSpPr/>
            <p:nvPr/>
          </p:nvSpPr>
          <p:spPr>
            <a:xfrm>
              <a:off x="1859" y="1008"/>
              <a:ext cx="0" cy="893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9832" name="矩形 413743"/>
            <p:cNvSpPr/>
            <p:nvPr/>
          </p:nvSpPr>
          <p:spPr>
            <a:xfrm>
              <a:off x="1118" y="1182"/>
              <a:ext cx="730" cy="686"/>
            </a:xfrm>
            <a:prstGeom prst="rect">
              <a:avLst/>
            </a:prstGeom>
            <a:blipFill rotWithShape="0">
              <a:blip r:embed="rId10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3745" name="文本框 413744"/>
            <p:cNvSpPr txBox="1"/>
            <p:nvPr/>
          </p:nvSpPr>
          <p:spPr>
            <a:xfrm>
              <a:off x="2066" y="1215"/>
              <a:ext cx="44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真空</a:t>
              </a:r>
            </a:p>
          </p:txBody>
        </p:sp>
        <p:sp>
          <p:nvSpPr>
            <p:cNvPr id="413746" name="文本框 413745"/>
            <p:cNvSpPr txBox="1"/>
            <p:nvPr/>
          </p:nvSpPr>
          <p:spPr>
            <a:xfrm>
              <a:off x="540" y="672"/>
              <a:ext cx="14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绝热刚性壁</a:t>
              </a:r>
            </a:p>
          </p:txBody>
        </p:sp>
        <p:sp>
          <p:nvSpPr>
            <p:cNvPr id="119835" name="直接连接符 413746"/>
            <p:cNvSpPr/>
            <p:nvPr/>
          </p:nvSpPr>
          <p:spPr>
            <a:xfrm>
              <a:off x="1407" y="957"/>
              <a:ext cx="147" cy="2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3748" name="文本框 413747"/>
            <p:cNvSpPr txBox="1"/>
            <p:nvPr/>
          </p:nvSpPr>
          <p:spPr>
            <a:xfrm>
              <a:off x="1881" y="702"/>
              <a:ext cx="6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隔板</a:t>
              </a:r>
            </a:p>
          </p:txBody>
        </p:sp>
        <p:sp>
          <p:nvSpPr>
            <p:cNvPr id="119837" name="直接连接符 413748"/>
            <p:cNvSpPr/>
            <p:nvPr/>
          </p:nvSpPr>
          <p:spPr>
            <a:xfrm flipV="1">
              <a:off x="1859" y="964"/>
              <a:ext cx="185" cy="9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3750" name="文本框 413749"/>
            <p:cNvSpPr txBox="1"/>
            <p:nvPr/>
          </p:nvSpPr>
          <p:spPr>
            <a:xfrm>
              <a:off x="1303" y="1356"/>
              <a:ext cx="3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b="1" kern="1200" cap="none" spc="0" normalizeH="0" baseline="-2500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组合 413750"/>
          <p:cNvGrpSpPr/>
          <p:nvPr/>
        </p:nvGrpSpPr>
        <p:grpSpPr>
          <a:xfrm>
            <a:off x="6245225" y="3308350"/>
            <a:ext cx="2647950" cy="1331913"/>
            <a:chOff x="3406" y="1095"/>
            <a:chExt cx="1668" cy="839"/>
          </a:xfrm>
        </p:grpSpPr>
        <p:sp>
          <p:nvSpPr>
            <p:cNvPr id="119840" name="矩形 413751"/>
            <p:cNvSpPr/>
            <p:nvPr/>
          </p:nvSpPr>
          <p:spPr>
            <a:xfrm>
              <a:off x="3406" y="1095"/>
              <a:ext cx="1668" cy="839"/>
            </a:xfrm>
            <a:prstGeom prst="rect">
              <a:avLst/>
            </a:prstGeom>
            <a:blipFill rotWithShape="0">
              <a:blip r:embed="rId9"/>
            </a:blip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841" name="矩形 413752"/>
            <p:cNvSpPr/>
            <p:nvPr/>
          </p:nvSpPr>
          <p:spPr>
            <a:xfrm>
              <a:off x="3482" y="1160"/>
              <a:ext cx="1527" cy="698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842" name="矩形 413753"/>
            <p:cNvSpPr/>
            <p:nvPr/>
          </p:nvSpPr>
          <p:spPr>
            <a:xfrm>
              <a:off x="3504" y="1171"/>
              <a:ext cx="1483" cy="687"/>
            </a:xfrm>
            <a:prstGeom prst="rect">
              <a:avLst/>
            </a:prstGeom>
            <a:blipFill rotWithShape="0">
              <a:blip r:embed="rId11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3755" name="文本框 413754"/>
            <p:cNvSpPr txBox="1"/>
            <p:nvPr/>
          </p:nvSpPr>
          <p:spPr>
            <a:xfrm>
              <a:off x="4071" y="1367"/>
              <a:ext cx="42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endParaRPr kumimoji="0" lang="en-US" altLang="zh-CN" b="1" kern="1200" cap="none" spc="0" normalizeH="0" baseline="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3756" name="右箭头 413755"/>
          <p:cNvSpPr>
            <a:spLocks noChangeArrowheads="1"/>
          </p:cNvSpPr>
          <p:nvPr/>
        </p:nvSpPr>
        <p:spPr bwMode="auto">
          <a:xfrm>
            <a:off x="5148263" y="3767138"/>
            <a:ext cx="808038" cy="468313"/>
          </a:xfrm>
          <a:prstGeom prst="rightArrow">
            <a:avLst>
              <a:gd name="adj1" fmla="val 50000"/>
              <a:gd name="adj2" fmla="val 43128"/>
            </a:avLst>
          </a:prstGeom>
          <a:gradFill rotWithShape="1">
            <a:gsLst>
              <a:gs pos="0">
                <a:srgbClr val="CC3300"/>
              </a:gs>
              <a:gs pos="50000">
                <a:schemeClr val="bg1"/>
              </a:gs>
              <a:gs pos="100000">
                <a:srgbClr val="CC33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13705" name="对象 413704"/>
          <p:cNvGraphicFramePr/>
          <p:nvPr/>
        </p:nvGraphicFramePr>
        <p:xfrm>
          <a:off x="7915275" y="3759200"/>
          <a:ext cx="5445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3" r:id="rId12" imgW="300990" imgH="267335" progId="Equation.DSMT4">
                  <p:embed/>
                </p:oleObj>
              </mc:Choice>
              <mc:Fallback>
                <p:oleObj r:id="rId12" imgW="300990" imgH="267335" progId="Equation.DSMT4">
                  <p:embed/>
                  <p:pic>
                    <p:nvPicPr>
                      <p:cNvPr id="0" name="图片 3343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15275" y="3759200"/>
                        <a:ext cx="544513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57" name="对象 413756"/>
          <p:cNvGraphicFramePr/>
          <p:nvPr>
            <p:extLst>
              <p:ext uri="{D42A27DB-BD31-4B8C-83A1-F6EECF244321}">
                <p14:modId xmlns:p14="http://schemas.microsoft.com/office/powerpoint/2010/main" val="1237812216"/>
              </p:ext>
            </p:extLst>
          </p:nvPr>
        </p:nvGraphicFramePr>
        <p:xfrm>
          <a:off x="7108825" y="5777774"/>
          <a:ext cx="1538288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4" r:id="rId14" imgW="724535" imgH="490855" progId="Equation.3">
                  <p:embed/>
                </p:oleObj>
              </mc:Choice>
              <mc:Fallback>
                <p:oleObj r:id="rId14" imgW="724535" imgH="490855" progId="Equation.3">
                  <p:embed/>
                  <p:pic>
                    <p:nvPicPr>
                      <p:cNvPr id="0" name="图片 3344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08825" y="5777774"/>
                        <a:ext cx="1538288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58" name="对象 413757"/>
          <p:cNvGraphicFramePr/>
          <p:nvPr/>
        </p:nvGraphicFramePr>
        <p:xfrm>
          <a:off x="7358063" y="3789363"/>
          <a:ext cx="3127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5" r:id="rId16" imgW="178435" imgH="267335" progId="Equation.3">
                  <p:embed/>
                </p:oleObj>
              </mc:Choice>
              <mc:Fallback>
                <p:oleObj r:id="rId16" imgW="178435" imgH="267335" progId="Equation.3">
                  <p:embed/>
                  <p:pic>
                    <p:nvPicPr>
                      <p:cNvPr id="0" name="图片 3345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58063" y="3789363"/>
                        <a:ext cx="312737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59" name="对象 413758"/>
          <p:cNvGraphicFramePr/>
          <p:nvPr/>
        </p:nvGraphicFramePr>
        <p:xfrm>
          <a:off x="3273425" y="3773488"/>
          <a:ext cx="3810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6" r:id="rId18" imgW="200660" imgH="267335" progId="Equation.DSMT4">
                  <p:embed/>
                </p:oleObj>
              </mc:Choice>
              <mc:Fallback>
                <p:oleObj r:id="rId18" imgW="200660" imgH="267335" progId="Equation.DSMT4">
                  <p:embed/>
                  <p:pic>
                    <p:nvPicPr>
                      <p:cNvPr id="0" name="图片 3346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3425" y="3773488"/>
                        <a:ext cx="381000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13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13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13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1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413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1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1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13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41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1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3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0" grpId="0" build="p"/>
      <p:bldP spid="413703" grpId="0" build="p"/>
      <p:bldP spid="413722" grpId="0"/>
      <p:bldP spid="4137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文本框 563201"/>
          <p:cNvSpPr txBox="1"/>
          <p:nvPr/>
        </p:nvSpPr>
        <p:spPr>
          <a:xfrm>
            <a:off x="314325" y="136525"/>
            <a:ext cx="8723313" cy="191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一由绝热材料制成的气缸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中间有一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固定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导热板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把气缸分成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A,B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两部分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是一绝热活塞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中盛有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1mol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氦气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,B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中盛有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1mol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氮气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均视为刚性分子理想气体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).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今外界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缓慢地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移动活塞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D,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压缩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部分的气体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对气体作功为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  <a:p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试求在此过程中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部分气体内能的变化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563203" name="文本框 563202"/>
          <p:cNvSpPr txBox="1"/>
          <p:nvPr/>
        </p:nvSpPr>
        <p:spPr>
          <a:xfrm>
            <a:off x="107950" y="136525"/>
            <a:ext cx="7175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7.</a:t>
            </a:r>
          </a:p>
        </p:txBody>
      </p:sp>
      <p:grpSp>
        <p:nvGrpSpPr>
          <p:cNvPr id="114691" name="组合 563203"/>
          <p:cNvGrpSpPr/>
          <p:nvPr/>
        </p:nvGrpSpPr>
        <p:grpSpPr>
          <a:xfrm>
            <a:off x="5940425" y="2060575"/>
            <a:ext cx="3024188" cy="1924050"/>
            <a:chOff x="3742" y="1402"/>
            <a:chExt cx="1905" cy="1212"/>
          </a:xfrm>
        </p:grpSpPr>
        <p:sp>
          <p:nvSpPr>
            <p:cNvPr id="114692" name="矩形 563204"/>
            <p:cNvSpPr/>
            <p:nvPr/>
          </p:nvSpPr>
          <p:spPr>
            <a:xfrm>
              <a:off x="3742" y="1706"/>
              <a:ext cx="1678" cy="91"/>
            </a:xfrm>
            <a:prstGeom prst="rect">
              <a:avLst/>
            </a:prstGeom>
            <a:solidFill>
              <a:srgbClr val="CC66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693" name="矩形 563205"/>
            <p:cNvSpPr/>
            <p:nvPr/>
          </p:nvSpPr>
          <p:spPr>
            <a:xfrm>
              <a:off x="3742" y="1797"/>
              <a:ext cx="90" cy="726"/>
            </a:xfrm>
            <a:prstGeom prst="rect">
              <a:avLst/>
            </a:prstGeom>
            <a:solidFill>
              <a:srgbClr val="CC66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694" name="矩形 563206"/>
            <p:cNvSpPr/>
            <p:nvPr/>
          </p:nvSpPr>
          <p:spPr>
            <a:xfrm>
              <a:off x="3742" y="2523"/>
              <a:ext cx="1723" cy="91"/>
            </a:xfrm>
            <a:prstGeom prst="rect">
              <a:avLst/>
            </a:prstGeom>
            <a:solidFill>
              <a:srgbClr val="CC66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695" name="矩形 563207"/>
            <p:cNvSpPr/>
            <p:nvPr/>
          </p:nvSpPr>
          <p:spPr>
            <a:xfrm>
              <a:off x="4468" y="1797"/>
              <a:ext cx="90" cy="726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696" name="矩形 563208"/>
            <p:cNvSpPr/>
            <p:nvPr/>
          </p:nvSpPr>
          <p:spPr>
            <a:xfrm>
              <a:off x="5193" y="1797"/>
              <a:ext cx="91" cy="726"/>
            </a:xfrm>
            <a:prstGeom prst="rect">
              <a:avLst/>
            </a:prstGeom>
            <a:solidFill>
              <a:srgbClr val="CC66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697" name="矩形 563209"/>
            <p:cNvSpPr/>
            <p:nvPr/>
          </p:nvSpPr>
          <p:spPr>
            <a:xfrm>
              <a:off x="5284" y="2114"/>
              <a:ext cx="363" cy="91"/>
            </a:xfrm>
            <a:prstGeom prst="rect">
              <a:avLst/>
            </a:prstGeom>
            <a:solidFill>
              <a:srgbClr val="CC66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698" name="文本框 563210"/>
            <p:cNvSpPr txBox="1"/>
            <p:nvPr/>
          </p:nvSpPr>
          <p:spPr>
            <a:xfrm>
              <a:off x="4802" y="1888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14699" name="文本框 563211"/>
            <p:cNvSpPr txBox="1"/>
            <p:nvPr/>
          </p:nvSpPr>
          <p:spPr>
            <a:xfrm>
              <a:off x="4014" y="1888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14700" name="文本框 563212"/>
            <p:cNvSpPr txBox="1"/>
            <p:nvPr/>
          </p:nvSpPr>
          <p:spPr>
            <a:xfrm>
              <a:off x="4001" y="2235"/>
              <a:ext cx="31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4701" name="文本框 563213"/>
            <p:cNvSpPr txBox="1"/>
            <p:nvPr/>
          </p:nvSpPr>
          <p:spPr>
            <a:xfrm>
              <a:off x="4772" y="2235"/>
              <a:ext cx="35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He</a:t>
              </a:r>
            </a:p>
          </p:txBody>
        </p:sp>
        <p:sp>
          <p:nvSpPr>
            <p:cNvPr id="114702" name="文本框 563214"/>
            <p:cNvSpPr txBox="1"/>
            <p:nvPr/>
          </p:nvSpPr>
          <p:spPr>
            <a:xfrm>
              <a:off x="4410" y="1402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114703" name="文本框 563215"/>
            <p:cNvSpPr txBox="1"/>
            <p:nvPr/>
          </p:nvSpPr>
          <p:spPr>
            <a:xfrm>
              <a:off x="5329" y="1797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</p:grpSp>
      <p:sp>
        <p:nvSpPr>
          <p:cNvPr id="563217" name="文本框 563216"/>
          <p:cNvSpPr txBox="1"/>
          <p:nvPr/>
        </p:nvSpPr>
        <p:spPr>
          <a:xfrm>
            <a:off x="231775" y="2133600"/>
            <a:ext cx="49164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两部分气体视为一个系统</a:t>
            </a:r>
          </a:p>
        </p:txBody>
      </p:sp>
      <p:sp>
        <p:nvSpPr>
          <p:cNvPr id="563218" name="文本框 563217"/>
          <p:cNvSpPr txBox="1"/>
          <p:nvPr/>
        </p:nvSpPr>
        <p:spPr>
          <a:xfrm>
            <a:off x="758825" y="2528888"/>
            <a:ext cx="4100513" cy="1187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外界对系统作功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系统与外界交换的热量为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  <a:p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63219" name="对象 563218"/>
          <p:cNvGraphicFramePr/>
          <p:nvPr/>
        </p:nvGraphicFramePr>
        <p:xfrm>
          <a:off x="2771775" y="3378200"/>
          <a:ext cx="31464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3" r:id="rId3" imgW="1407795" imgH="215900" progId="Equation.3">
                  <p:embed/>
                </p:oleObj>
              </mc:Choice>
              <mc:Fallback>
                <p:oleObj r:id="rId3" imgW="1407795" imgH="215900" progId="Equation.3">
                  <p:embed/>
                  <p:pic>
                    <p:nvPicPr>
                      <p:cNvPr id="563219" name="对象 5632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775" y="3378200"/>
                        <a:ext cx="314642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20" name="文本框 563219"/>
          <p:cNvSpPr txBox="1"/>
          <p:nvPr/>
        </p:nvSpPr>
        <p:spPr>
          <a:xfrm>
            <a:off x="827088" y="3357563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由热一律知：</a:t>
            </a:r>
          </a:p>
        </p:txBody>
      </p:sp>
      <p:sp>
        <p:nvSpPr>
          <p:cNvPr id="563221" name="文本框 563220"/>
          <p:cNvSpPr txBox="1"/>
          <p:nvPr/>
        </p:nvSpPr>
        <p:spPr>
          <a:xfrm>
            <a:off x="827088" y="4005263"/>
            <a:ext cx="8181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缓慢地移动活塞，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为导热板，故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两部分温度始终相等</a:t>
            </a:r>
          </a:p>
        </p:txBody>
      </p:sp>
      <p:sp>
        <p:nvSpPr>
          <p:cNvPr id="563222" name="文本框 563221"/>
          <p:cNvSpPr txBox="1"/>
          <p:nvPr/>
        </p:nvSpPr>
        <p:spPr>
          <a:xfrm>
            <a:off x="827088" y="4508500"/>
            <a:ext cx="5086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设压缩过程中两部分气体温度变化为</a:t>
            </a:r>
          </a:p>
        </p:txBody>
      </p:sp>
      <p:graphicFrame>
        <p:nvGraphicFramePr>
          <p:cNvPr id="563223" name="对象 563222"/>
          <p:cNvGraphicFramePr/>
          <p:nvPr/>
        </p:nvGraphicFramePr>
        <p:xfrm>
          <a:off x="5867400" y="4524375"/>
          <a:ext cx="5032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4" r:id="rId5" imgW="241300" imgH="165100" progId="Equation.3">
                  <p:embed/>
                </p:oleObj>
              </mc:Choice>
              <mc:Fallback>
                <p:oleObj r:id="rId5" imgW="241300" imgH="165100" progId="Equation.3">
                  <p:embed/>
                  <p:pic>
                    <p:nvPicPr>
                      <p:cNvPr id="563223" name="对象 5632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7400" y="4524375"/>
                        <a:ext cx="503238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24" name="文本框 563223"/>
          <p:cNvSpPr txBox="1"/>
          <p:nvPr/>
        </p:nvSpPr>
        <p:spPr>
          <a:xfrm>
            <a:off x="842963" y="5662613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563225" name="对象 563224"/>
          <p:cNvGraphicFramePr/>
          <p:nvPr/>
        </p:nvGraphicFramePr>
        <p:xfrm>
          <a:off x="1547813" y="5084763"/>
          <a:ext cx="1871662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r:id="rId7" imgW="875665" imgH="812165" progId="Equation.3">
                  <p:embed/>
                </p:oleObj>
              </mc:Choice>
              <mc:Fallback>
                <p:oleObj r:id="rId7" imgW="875665" imgH="812165" progId="Equation.3">
                  <p:embed/>
                  <p:pic>
                    <p:nvPicPr>
                      <p:cNvPr id="563225" name="对象 5632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813" y="5084763"/>
                        <a:ext cx="1871662" cy="173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26" name="燕尾形箭头 563225"/>
          <p:cNvSpPr/>
          <p:nvPr/>
        </p:nvSpPr>
        <p:spPr>
          <a:xfrm>
            <a:off x="3635375" y="5878513"/>
            <a:ext cx="1081088" cy="215900"/>
          </a:xfrm>
          <a:prstGeom prst="notchedRightArrow">
            <a:avLst>
              <a:gd name="adj1" fmla="val 50000"/>
              <a:gd name="adj2" fmla="val 124952"/>
            </a:avLst>
          </a:prstGeom>
          <a:solidFill>
            <a:srgbClr val="CC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63227" name="对象 563226"/>
          <p:cNvGraphicFramePr/>
          <p:nvPr/>
        </p:nvGraphicFramePr>
        <p:xfrm>
          <a:off x="4779963" y="5689600"/>
          <a:ext cx="17367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6" r:id="rId9" imgW="761365" imgH="304800" progId="Equation.3">
                  <p:embed/>
                </p:oleObj>
              </mc:Choice>
              <mc:Fallback>
                <p:oleObj r:id="rId9" imgW="761365" imgH="304800" progId="Equation.3">
                  <p:embed/>
                  <p:pic>
                    <p:nvPicPr>
                      <p:cNvPr id="563227" name="对象 5632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79963" y="5689600"/>
                        <a:ext cx="1736725" cy="69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28" name="对象 563227"/>
          <p:cNvGraphicFramePr/>
          <p:nvPr/>
        </p:nvGraphicFramePr>
        <p:xfrm>
          <a:off x="6846888" y="5543550"/>
          <a:ext cx="173037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7" r:id="rId11" imgW="748665" imgH="393700" progId="Equation.3">
                  <p:embed/>
                </p:oleObj>
              </mc:Choice>
              <mc:Fallback>
                <p:oleObj r:id="rId11" imgW="748665" imgH="393700" progId="Equation.3">
                  <p:embed/>
                  <p:pic>
                    <p:nvPicPr>
                      <p:cNvPr id="563228" name="对象 5632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46888" y="5543550"/>
                        <a:ext cx="1730375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29" name="右大括号 563228"/>
          <p:cNvSpPr/>
          <p:nvPr/>
        </p:nvSpPr>
        <p:spPr>
          <a:xfrm>
            <a:off x="3419475" y="5516563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89789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6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6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6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6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6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6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56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6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6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56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56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17" grpId="0"/>
      <p:bldP spid="563218" grpId="0"/>
      <p:bldP spid="563220" grpId="0"/>
      <p:bldP spid="563221" grpId="0"/>
      <p:bldP spid="563222" grpId="0"/>
      <p:bldP spid="5632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文本框 566273"/>
          <p:cNvSpPr txBox="1"/>
          <p:nvPr/>
        </p:nvSpPr>
        <p:spPr>
          <a:xfrm>
            <a:off x="395288" y="188913"/>
            <a:ext cx="8529637" cy="93634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例</a:t>
            </a:r>
            <a:r>
              <a:rPr lang="en-US" altLang="zh-CN" sz="24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、一气缸内盛有一定量的单原子理想气体，若绝热压缩使其容积减半。问气体分子平均速率为原来的几倍？</a:t>
            </a:r>
          </a:p>
        </p:txBody>
      </p:sp>
      <p:sp>
        <p:nvSpPr>
          <p:cNvPr id="566275" name="文本框 566274"/>
          <p:cNvSpPr txBox="1"/>
          <p:nvPr/>
        </p:nvSpPr>
        <p:spPr>
          <a:xfrm>
            <a:off x="468313" y="1314450"/>
            <a:ext cx="79533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解：</a:t>
            </a:r>
          </a:p>
        </p:txBody>
      </p:sp>
      <p:graphicFrame>
        <p:nvGraphicFramePr>
          <p:cNvPr id="566276" name="对象 566275"/>
          <p:cNvGraphicFramePr/>
          <p:nvPr/>
        </p:nvGraphicFramePr>
        <p:xfrm>
          <a:off x="1331913" y="1482725"/>
          <a:ext cx="257333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4" r:id="rId3" imgW="1066165" imgH="241300" progId="Equation.DSMT4">
                  <p:embed/>
                </p:oleObj>
              </mc:Choice>
              <mc:Fallback>
                <p:oleObj r:id="rId3" imgW="1066165" imgH="241300" progId="Equation.DSMT4">
                  <p:embed/>
                  <p:pic>
                    <p:nvPicPr>
                      <p:cNvPr id="566276" name="对象 5662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1482725"/>
                        <a:ext cx="2573337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7" name="对象 566276"/>
          <p:cNvGraphicFramePr/>
          <p:nvPr/>
        </p:nvGraphicFramePr>
        <p:xfrm>
          <a:off x="1403350" y="2076450"/>
          <a:ext cx="194468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5" r:id="rId5" imgW="927100" imgH="508000" progId="Equation.DSMT4">
                  <p:embed/>
                </p:oleObj>
              </mc:Choice>
              <mc:Fallback>
                <p:oleObj r:id="rId5" imgW="927100" imgH="508000" progId="Equation.DSMT4">
                  <p:embed/>
                  <p:pic>
                    <p:nvPicPr>
                      <p:cNvPr id="566277" name="对象 56627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2076450"/>
                        <a:ext cx="1944688" cy="1065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8" name="对象 566277"/>
          <p:cNvGraphicFramePr/>
          <p:nvPr/>
        </p:nvGraphicFramePr>
        <p:xfrm>
          <a:off x="1563688" y="3429000"/>
          <a:ext cx="216217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6" r:id="rId7" imgW="812165" imgH="444500" progId="Equation.DSMT4">
                  <p:embed/>
                </p:oleObj>
              </mc:Choice>
              <mc:Fallback>
                <p:oleObj r:id="rId7" imgW="812165" imgH="444500" progId="Equation.DSMT4">
                  <p:embed/>
                  <p:pic>
                    <p:nvPicPr>
                      <p:cNvPr id="566278" name="对象 56627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63688" y="3429000"/>
                        <a:ext cx="2162175" cy="118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9" name="对象 566278"/>
          <p:cNvGraphicFramePr/>
          <p:nvPr/>
        </p:nvGraphicFramePr>
        <p:xfrm>
          <a:off x="900113" y="4652963"/>
          <a:ext cx="6978650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7" r:id="rId9" imgW="2894330" imgH="571500" progId="Equation.DSMT4">
                  <p:embed/>
                </p:oleObj>
              </mc:Choice>
              <mc:Fallback>
                <p:oleObj r:id="rId9" imgW="2894330" imgH="571500" progId="Equation.DSMT4">
                  <p:embed/>
                  <p:pic>
                    <p:nvPicPr>
                      <p:cNvPr id="566279" name="对象 56627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4652963"/>
                        <a:ext cx="6978650" cy="1376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53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6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37" name="组合 549889"/>
          <p:cNvGrpSpPr/>
          <p:nvPr/>
        </p:nvGrpSpPr>
        <p:grpSpPr>
          <a:xfrm>
            <a:off x="214313" y="0"/>
            <a:ext cx="8929687" cy="2644775"/>
            <a:chOff x="249" y="16"/>
            <a:chExt cx="5625" cy="1666"/>
          </a:xfrm>
        </p:grpSpPr>
        <p:sp>
          <p:nvSpPr>
            <p:cNvPr id="116738" name="文本框 549890"/>
            <p:cNvSpPr txBox="1"/>
            <p:nvPr/>
          </p:nvSpPr>
          <p:spPr>
            <a:xfrm>
              <a:off x="249" y="48"/>
              <a:ext cx="5625" cy="16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b="1" dirty="0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例</a:t>
              </a:r>
              <a:r>
                <a:rPr lang="en-US" altLang="zh-CN" b="1" dirty="0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9.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1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摩尔刚性双原子分子理想气体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初态为                                     </a:t>
              </a:r>
            </a:p>
            <a:p>
              <a:pPr>
                <a:lnSpc>
                  <a:spcPct val="11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，经图示直线过程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变化到 </a:t>
              </a:r>
              <a:r>
                <a:rPr lang="en-US" altLang="zh-CN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4.04×10</a:t>
              </a:r>
              <a:r>
                <a:rPr lang="en-US" altLang="zh-CN" b="1" baseline="30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Pa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=2×10</a:t>
              </a:r>
              <a:r>
                <a:rPr lang="en-US" altLang="zh-CN" b="1" baseline="30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-3</a:t>
              </a: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b="1" baseline="30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的状态后，又经过程方程</a:t>
              </a:r>
              <a:r>
                <a:rPr lang="en-US" altLang="zh-CN" sz="2800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的过程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II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变化到</a:t>
              </a:r>
            </a:p>
            <a:p>
              <a:pPr>
                <a:lnSpc>
                  <a:spcPct val="11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压强 </a:t>
              </a:r>
              <a:r>
                <a:rPr lang="en-US" altLang="zh-CN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lang="en-US" altLang="zh-CN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的状态。试求：</a:t>
              </a:r>
            </a:p>
            <a:p>
              <a:pPr>
                <a:lnSpc>
                  <a:spcPct val="11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）过程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中气体吸收的热量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）整个过程中吸收的热量。</a:t>
              </a:r>
              <a:endPara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16739" name="对象 549891"/>
            <p:cNvGraphicFramePr/>
            <p:nvPr/>
          </p:nvGraphicFramePr>
          <p:xfrm>
            <a:off x="4113" y="16"/>
            <a:ext cx="1489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31" r:id="rId3" imgW="1249045" imgH="256540" progId="Equation.3">
                    <p:embed/>
                  </p:oleObj>
                </mc:Choice>
                <mc:Fallback>
                  <p:oleObj r:id="rId3" imgW="1249045" imgH="256540" progId="Equation.3">
                    <p:embed/>
                    <p:pic>
                      <p:nvPicPr>
                        <p:cNvPr id="116739" name="对象 5498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3" y="16"/>
                          <a:ext cx="1489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6740" name="对象 549892"/>
            <p:cNvGraphicFramePr/>
            <p:nvPr/>
          </p:nvGraphicFramePr>
          <p:xfrm>
            <a:off x="340" y="300"/>
            <a:ext cx="91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32" r:id="rId5" imgW="869950" imgH="256540" progId="Equation.3">
                    <p:embed/>
                  </p:oleObj>
                </mc:Choice>
                <mc:Fallback>
                  <p:oleObj r:id="rId5" imgW="869950" imgH="256540" progId="Equation.3">
                    <p:embed/>
                    <p:pic>
                      <p:nvPicPr>
                        <p:cNvPr id="116740" name="对象 5498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0" y="300"/>
                          <a:ext cx="912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9894" name="文本框 549893"/>
          <p:cNvSpPr txBox="1"/>
          <p:nvPr/>
        </p:nvSpPr>
        <p:spPr>
          <a:xfrm>
            <a:off x="395288" y="2728913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解（</a:t>
            </a:r>
            <a:r>
              <a: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549895" name="对象 549894"/>
          <p:cNvGraphicFramePr/>
          <p:nvPr/>
        </p:nvGraphicFramePr>
        <p:xfrm>
          <a:off x="1579563" y="2462213"/>
          <a:ext cx="36401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3" r:id="rId7" imgW="1772920" imgH="445770" progId="Equation.3">
                  <p:embed/>
                </p:oleObj>
              </mc:Choice>
              <mc:Fallback>
                <p:oleObj r:id="rId7" imgW="1772920" imgH="445770" progId="Equation.3">
                  <p:embed/>
                  <p:pic>
                    <p:nvPicPr>
                      <p:cNvPr id="549895" name="对象 5498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9563" y="2462213"/>
                        <a:ext cx="3640137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6" name="对象 549895"/>
          <p:cNvGraphicFramePr/>
          <p:nvPr/>
        </p:nvGraphicFramePr>
        <p:xfrm>
          <a:off x="1522413" y="3232150"/>
          <a:ext cx="44434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4" r:id="rId9" imgW="2044700" imgH="393700" progId="Equation.3">
                  <p:embed/>
                </p:oleObj>
              </mc:Choice>
              <mc:Fallback>
                <p:oleObj r:id="rId9" imgW="2044700" imgH="393700" progId="Equation.3">
                  <p:embed/>
                  <p:pic>
                    <p:nvPicPr>
                      <p:cNvPr id="549896" name="对象 54989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2413" y="3232150"/>
                        <a:ext cx="4443412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7" name="对象 549896"/>
          <p:cNvGraphicFramePr/>
          <p:nvPr/>
        </p:nvGraphicFramePr>
        <p:xfrm>
          <a:off x="2224088" y="3860800"/>
          <a:ext cx="24336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5" r:id="rId11" imgW="1249045" imgH="445770" progId="Equation.3">
                  <p:embed/>
                </p:oleObj>
              </mc:Choice>
              <mc:Fallback>
                <p:oleObj r:id="rId11" imgW="1249045" imgH="445770" progId="Equation.3">
                  <p:embed/>
                  <p:pic>
                    <p:nvPicPr>
                      <p:cNvPr id="549897" name="对象 54989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24088" y="3860800"/>
                        <a:ext cx="2433637" cy="887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8" name="对象 549897"/>
          <p:cNvGraphicFramePr/>
          <p:nvPr/>
        </p:nvGraphicFramePr>
        <p:xfrm>
          <a:off x="1619250" y="4751388"/>
          <a:ext cx="40100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6" r:id="rId13" imgW="2085340" imgH="256540" progId="Equation.3">
                  <p:embed/>
                </p:oleObj>
              </mc:Choice>
              <mc:Fallback>
                <p:oleObj r:id="rId13" imgW="2085340" imgH="256540" progId="Equation.3">
                  <p:embed/>
                  <p:pic>
                    <p:nvPicPr>
                      <p:cNvPr id="549898" name="对象 5498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19250" y="4751388"/>
                        <a:ext cx="4010025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9" name="矩形 549898"/>
          <p:cNvSpPr/>
          <p:nvPr/>
        </p:nvSpPr>
        <p:spPr>
          <a:xfrm>
            <a:off x="1042988" y="5429250"/>
            <a:ext cx="539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</p:txBody>
      </p:sp>
      <p:graphicFrame>
        <p:nvGraphicFramePr>
          <p:cNvPr id="549900" name="对象 549899"/>
          <p:cNvGraphicFramePr/>
          <p:nvPr/>
        </p:nvGraphicFramePr>
        <p:xfrm>
          <a:off x="1547813" y="5265738"/>
          <a:ext cx="190658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7" r:id="rId15" imgW="2476500" imgH="711200" progId="Equation.DSMT4">
                  <p:embed/>
                </p:oleObj>
              </mc:Choice>
              <mc:Fallback>
                <p:oleObj r:id="rId15" imgW="2476500" imgH="711200" progId="Equation.DSMT4">
                  <p:embed/>
                  <p:pic>
                    <p:nvPicPr>
                      <p:cNvPr id="549900" name="对象 549899"/>
                      <p:cNvPicPr/>
                      <p:nvPr/>
                    </p:nvPicPr>
                    <p:blipFill>
                      <a:blip r:embed="rId16"/>
                      <a:srcRect r="66522" b="40369"/>
                      <a:stretch>
                        <a:fillRect/>
                      </a:stretch>
                    </p:blipFill>
                    <p:spPr>
                      <a:xfrm>
                        <a:off x="1547813" y="5265738"/>
                        <a:ext cx="1906587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748" name="组合 549900"/>
          <p:cNvGrpSpPr/>
          <p:nvPr/>
        </p:nvGrpSpPr>
        <p:grpSpPr>
          <a:xfrm>
            <a:off x="5576888" y="1989138"/>
            <a:ext cx="3387725" cy="3095625"/>
            <a:chOff x="3513" y="1253"/>
            <a:chExt cx="2134" cy="1950"/>
          </a:xfrm>
        </p:grpSpPr>
        <p:graphicFrame>
          <p:nvGraphicFramePr>
            <p:cNvPr id="116749" name="对象 549901"/>
            <p:cNvGraphicFramePr/>
            <p:nvPr/>
          </p:nvGraphicFramePr>
          <p:xfrm>
            <a:off x="3985" y="2614"/>
            <a:ext cx="60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38" r:id="rId17" imgW="535305" imgH="245110" progId="Equation.3">
                    <p:embed/>
                  </p:oleObj>
                </mc:Choice>
                <mc:Fallback>
                  <p:oleObj r:id="rId17" imgW="535305" imgH="245110" progId="Equation.3">
                    <p:embed/>
                    <p:pic>
                      <p:nvPicPr>
                        <p:cNvPr id="116749" name="对象 549901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85" y="2614"/>
                          <a:ext cx="602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6750" name="组合 549902"/>
            <p:cNvGrpSpPr/>
            <p:nvPr/>
          </p:nvGrpSpPr>
          <p:grpSpPr>
            <a:xfrm>
              <a:off x="3513" y="1253"/>
              <a:ext cx="2134" cy="1950"/>
              <a:chOff x="3513" y="1253"/>
              <a:chExt cx="2134" cy="1950"/>
            </a:xfrm>
          </p:grpSpPr>
          <p:sp>
            <p:nvSpPr>
              <p:cNvPr id="116751" name="直接连接符 549903"/>
              <p:cNvSpPr/>
              <p:nvPr/>
            </p:nvSpPr>
            <p:spPr>
              <a:xfrm>
                <a:off x="3862" y="2886"/>
                <a:ext cx="1542" cy="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6752" name="直接连接符 549904"/>
              <p:cNvSpPr/>
              <p:nvPr/>
            </p:nvSpPr>
            <p:spPr>
              <a:xfrm flipV="1">
                <a:off x="3862" y="1344"/>
                <a:ext cx="0" cy="1542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6753" name="直接连接符 549905"/>
              <p:cNvSpPr/>
              <p:nvPr/>
            </p:nvSpPr>
            <p:spPr>
              <a:xfrm flipV="1">
                <a:off x="4088" y="1979"/>
                <a:ext cx="408" cy="725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16754" name="对象 549906"/>
              <p:cNvGraphicFramePr/>
              <p:nvPr/>
            </p:nvGraphicFramePr>
            <p:xfrm>
              <a:off x="3513" y="1253"/>
              <a:ext cx="258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39" r:id="rId19" imgW="167005" imgH="178435" progId="Equation.3">
                      <p:embed/>
                    </p:oleObj>
                  </mc:Choice>
                  <mc:Fallback>
                    <p:oleObj r:id="rId19" imgW="167005" imgH="178435" progId="Equation.3">
                      <p:embed/>
                      <p:pic>
                        <p:nvPicPr>
                          <p:cNvPr id="116754" name="对象 549906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513" y="1253"/>
                            <a:ext cx="258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6755" name="对象 549907"/>
              <p:cNvGraphicFramePr/>
              <p:nvPr/>
            </p:nvGraphicFramePr>
            <p:xfrm>
              <a:off x="5171" y="2931"/>
              <a:ext cx="233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40" r:id="rId21" imgW="167005" imgH="200660" progId="Equation.3">
                      <p:embed/>
                    </p:oleObj>
                  </mc:Choice>
                  <mc:Fallback>
                    <p:oleObj r:id="rId21" imgW="167005" imgH="200660" progId="Equation.3">
                      <p:embed/>
                      <p:pic>
                        <p:nvPicPr>
                          <p:cNvPr id="116755" name="对象 549907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5171" y="2931"/>
                            <a:ext cx="233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6756" name="对象 549908"/>
              <p:cNvGraphicFramePr/>
              <p:nvPr/>
            </p:nvGraphicFramePr>
            <p:xfrm>
              <a:off x="4117" y="2112"/>
              <a:ext cx="153" cy="2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41" r:id="rId23" imgW="111760" imgH="167005" progId="Equation.3">
                      <p:embed/>
                    </p:oleObj>
                  </mc:Choice>
                  <mc:Fallback>
                    <p:oleObj r:id="rId23" imgW="111760" imgH="167005" progId="Equation.3">
                      <p:embed/>
                      <p:pic>
                        <p:nvPicPr>
                          <p:cNvPr id="116756" name="对象 549908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117" y="2112"/>
                            <a:ext cx="153" cy="2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6757" name="对象 549909"/>
              <p:cNvGraphicFramePr/>
              <p:nvPr/>
            </p:nvGraphicFramePr>
            <p:xfrm>
              <a:off x="4766" y="2112"/>
              <a:ext cx="230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42" r:id="rId25" imgW="167005" imgH="167005" progId="Equation.3">
                      <p:embed/>
                    </p:oleObj>
                  </mc:Choice>
                  <mc:Fallback>
                    <p:oleObj r:id="rId25" imgW="167005" imgH="167005" progId="Equation.3">
                      <p:embed/>
                      <p:pic>
                        <p:nvPicPr>
                          <p:cNvPr id="116757" name="对象 549909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766" y="2112"/>
                            <a:ext cx="230" cy="2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6758" name="对象 549910"/>
              <p:cNvGraphicFramePr/>
              <p:nvPr/>
            </p:nvGraphicFramePr>
            <p:xfrm>
              <a:off x="4155" y="1653"/>
              <a:ext cx="659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43" r:id="rId27" imgW="579755" imgH="245110" progId="Equation.3">
                      <p:embed/>
                    </p:oleObj>
                  </mc:Choice>
                  <mc:Fallback>
                    <p:oleObj r:id="rId27" imgW="579755" imgH="245110" progId="Equation.3">
                      <p:embed/>
                      <p:pic>
                        <p:nvPicPr>
                          <p:cNvPr id="116758" name="对象 549910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155" y="1653"/>
                            <a:ext cx="659" cy="2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6759" name="对象 549911"/>
              <p:cNvGraphicFramePr/>
              <p:nvPr/>
            </p:nvGraphicFramePr>
            <p:xfrm>
              <a:off x="5041" y="2614"/>
              <a:ext cx="606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44" r:id="rId29" imgW="557530" imgH="256540" progId="Equation.3">
                      <p:embed/>
                    </p:oleObj>
                  </mc:Choice>
                  <mc:Fallback>
                    <p:oleObj r:id="rId29" imgW="557530" imgH="256540" progId="Equation.3">
                      <p:embed/>
                      <p:pic>
                        <p:nvPicPr>
                          <p:cNvPr id="116759" name="对象 549911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5041" y="2614"/>
                            <a:ext cx="606" cy="2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6760" name="任意多边形 549912"/>
              <p:cNvSpPr/>
              <p:nvPr/>
            </p:nvSpPr>
            <p:spPr>
              <a:xfrm>
                <a:off x="4506" y="1979"/>
                <a:ext cx="597" cy="72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8" y="362"/>
                  </a:cxn>
                  <a:cxn ang="0">
                    <a:pos x="597" y="725"/>
                  </a:cxn>
                </a:cxnLst>
                <a:rect l="0" t="0" r="0" b="0"/>
                <a:pathLst>
                  <a:path w="597" h="725">
                    <a:moveTo>
                      <a:pt x="7" y="0"/>
                    </a:moveTo>
                    <a:cubicBezTo>
                      <a:pt x="3" y="120"/>
                      <a:pt x="0" y="241"/>
                      <a:pt x="98" y="362"/>
                    </a:cubicBezTo>
                    <a:cubicBezTo>
                      <a:pt x="196" y="483"/>
                      <a:pt x="514" y="665"/>
                      <a:pt x="597" y="725"/>
                    </a:cubicBez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0" name="图片 9" descr="图片1"/>
          <p:cNvPicPr>
            <a:picLocks noChangeAspect="1"/>
          </p:cNvPicPr>
          <p:nvPr/>
        </p:nvPicPr>
        <p:blipFill>
          <a:blip r:embed="rId31"/>
          <a:srcRect l="33345" r="25323" b="35631"/>
          <a:stretch>
            <a:fillRect/>
          </a:stretch>
        </p:blipFill>
        <p:spPr>
          <a:xfrm>
            <a:off x="3502025" y="5229225"/>
            <a:ext cx="2355850" cy="1055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 descr="图片1"/>
          <p:cNvPicPr>
            <a:picLocks noChangeAspect="1"/>
          </p:cNvPicPr>
          <p:nvPr/>
        </p:nvPicPr>
        <p:blipFill>
          <a:blip r:embed="rId31"/>
          <a:srcRect t="58289" r="42224"/>
          <a:stretch>
            <a:fillRect/>
          </a:stretch>
        </p:blipFill>
        <p:spPr>
          <a:xfrm>
            <a:off x="1978025" y="6092825"/>
            <a:ext cx="3292475" cy="684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31"/>
          <a:srcRect l="57742" t="58289"/>
          <a:stretch>
            <a:fillRect/>
          </a:stretch>
        </p:blipFill>
        <p:spPr>
          <a:xfrm>
            <a:off x="5270500" y="6092825"/>
            <a:ext cx="2409825" cy="6842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16764" name="对象 549891"/>
          <p:cNvGraphicFramePr/>
          <p:nvPr/>
        </p:nvGraphicFramePr>
        <p:xfrm>
          <a:off x="5508625" y="906463"/>
          <a:ext cx="12795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5" r:id="rId32" imgW="584200" imgH="241300" progId="Equation.3">
                  <p:embed/>
                </p:oleObj>
              </mc:Choice>
              <mc:Fallback>
                <p:oleObj r:id="rId32" imgW="584200" imgH="241300" progId="Equation.3">
                  <p:embed/>
                  <p:pic>
                    <p:nvPicPr>
                      <p:cNvPr id="116764" name="对象 54989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508625" y="906463"/>
                        <a:ext cx="1279525" cy="506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350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4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4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4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4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4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4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4" grpId="0"/>
      <p:bldP spid="54989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文本框 550913"/>
          <p:cNvSpPr txBox="1"/>
          <p:nvPr/>
        </p:nvSpPr>
        <p:spPr>
          <a:xfrm>
            <a:off x="625475" y="1730375"/>
            <a:ext cx="4905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</a:p>
        </p:txBody>
      </p:sp>
      <p:graphicFrame>
        <p:nvGraphicFramePr>
          <p:cNvPr id="550915" name="对象 550914"/>
          <p:cNvGraphicFramePr/>
          <p:nvPr/>
        </p:nvGraphicFramePr>
        <p:xfrm>
          <a:off x="1128713" y="1674813"/>
          <a:ext cx="23145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5" r:id="rId3" imgW="965200" imgH="241300" progId="Equation.DSMT4">
                  <p:embed/>
                </p:oleObj>
              </mc:Choice>
              <mc:Fallback>
                <p:oleObj r:id="rId3" imgW="965200" imgH="241300" progId="Equation.DSMT4">
                  <p:embed/>
                  <p:pic>
                    <p:nvPicPr>
                      <p:cNvPr id="550915" name="对象 5509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8713" y="1674813"/>
                        <a:ext cx="2314575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16" name="文本框 550915"/>
          <p:cNvSpPr txBox="1"/>
          <p:nvPr/>
        </p:nvSpPr>
        <p:spPr>
          <a:xfrm>
            <a:off x="3649663" y="1706563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得</a:t>
            </a:r>
          </a:p>
        </p:txBody>
      </p:sp>
      <p:graphicFrame>
        <p:nvGraphicFramePr>
          <p:cNvPr id="550917" name="对象 550916"/>
          <p:cNvGraphicFramePr/>
          <p:nvPr/>
        </p:nvGraphicFramePr>
        <p:xfrm>
          <a:off x="622300" y="2276475"/>
          <a:ext cx="4094163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6" r:id="rId5" imgW="1962785" imgH="490855" progId="Equation.3">
                  <p:embed/>
                </p:oleObj>
              </mc:Choice>
              <mc:Fallback>
                <p:oleObj r:id="rId5" imgW="1962785" imgH="490855" progId="Equation.3">
                  <p:embed/>
                  <p:pic>
                    <p:nvPicPr>
                      <p:cNvPr id="550917" name="对象 5509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300" y="2276475"/>
                        <a:ext cx="4094163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18" name="对象 550917"/>
          <p:cNvGraphicFramePr/>
          <p:nvPr/>
        </p:nvGraphicFramePr>
        <p:xfrm>
          <a:off x="593725" y="3309938"/>
          <a:ext cx="28257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7" r:id="rId7" imgW="1360170" imgH="256540" progId="Equation.3">
                  <p:embed/>
                </p:oleObj>
              </mc:Choice>
              <mc:Fallback>
                <p:oleObj r:id="rId7" imgW="1360170" imgH="256540" progId="Equation.3">
                  <p:embed/>
                  <p:pic>
                    <p:nvPicPr>
                      <p:cNvPr id="550918" name="对象 5509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3725" y="3309938"/>
                        <a:ext cx="2825750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19" name="文本框 550918"/>
          <p:cNvSpPr txBox="1"/>
          <p:nvPr/>
        </p:nvSpPr>
        <p:spPr>
          <a:xfrm>
            <a:off x="592138" y="3860800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整个过程气体对外做的功：</a:t>
            </a:r>
          </a:p>
        </p:txBody>
      </p:sp>
      <p:graphicFrame>
        <p:nvGraphicFramePr>
          <p:cNvPr id="550920" name="对象 550919"/>
          <p:cNvGraphicFramePr/>
          <p:nvPr/>
        </p:nvGraphicFramePr>
        <p:xfrm>
          <a:off x="4348163" y="3789363"/>
          <a:ext cx="38242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8" r:id="rId9" imgW="1862455" imgH="256540" progId="Equation.3">
                  <p:embed/>
                </p:oleObj>
              </mc:Choice>
              <mc:Fallback>
                <p:oleObj r:id="rId9" imgW="1862455" imgH="256540" progId="Equation.3">
                  <p:embed/>
                  <p:pic>
                    <p:nvPicPr>
                      <p:cNvPr id="550920" name="对象 5509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48163" y="3789363"/>
                        <a:ext cx="3824287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21" name="矩形 550920"/>
          <p:cNvSpPr/>
          <p:nvPr/>
        </p:nvSpPr>
        <p:spPr>
          <a:xfrm>
            <a:off x="611188" y="4484688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整个过程中气体内能变化：</a:t>
            </a:r>
          </a:p>
        </p:txBody>
      </p:sp>
      <p:graphicFrame>
        <p:nvGraphicFramePr>
          <p:cNvPr id="550922" name="对象 550921"/>
          <p:cNvGraphicFramePr/>
          <p:nvPr/>
        </p:nvGraphicFramePr>
        <p:xfrm>
          <a:off x="4316413" y="4381500"/>
          <a:ext cx="4398962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9" r:id="rId11" imgW="2005965" imgH="393700" progId="Equation.3">
                  <p:embed/>
                </p:oleObj>
              </mc:Choice>
              <mc:Fallback>
                <p:oleObj r:id="rId11" imgW="2005965" imgH="393700" progId="Equation.3">
                  <p:embed/>
                  <p:pic>
                    <p:nvPicPr>
                      <p:cNvPr id="550922" name="对象 55092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16413" y="4381500"/>
                        <a:ext cx="4398962" cy="862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3" name="对象 550922"/>
          <p:cNvGraphicFramePr/>
          <p:nvPr/>
        </p:nvGraphicFramePr>
        <p:xfrm>
          <a:off x="4416425" y="5005388"/>
          <a:ext cx="43465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0" r:id="rId13" imgW="2185670" imgH="445770" progId="Equation.3">
                  <p:embed/>
                </p:oleObj>
              </mc:Choice>
              <mc:Fallback>
                <p:oleObj r:id="rId13" imgW="2185670" imgH="445770" progId="Equation.3">
                  <p:embed/>
                  <p:pic>
                    <p:nvPicPr>
                      <p:cNvPr id="550923" name="对象 55092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16425" y="5005388"/>
                        <a:ext cx="4346575" cy="91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24" name="文本框 550923"/>
          <p:cNvSpPr txBox="1"/>
          <p:nvPr/>
        </p:nvSpPr>
        <p:spPr>
          <a:xfrm>
            <a:off x="625475" y="5995988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因而</a:t>
            </a:r>
          </a:p>
        </p:txBody>
      </p:sp>
      <p:graphicFrame>
        <p:nvGraphicFramePr>
          <p:cNvPr id="550925" name="对象 550924"/>
          <p:cNvGraphicFramePr/>
          <p:nvPr/>
        </p:nvGraphicFramePr>
        <p:xfrm>
          <a:off x="1668463" y="5951538"/>
          <a:ext cx="39830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1" r:id="rId15" imgW="1851025" imgH="256540" progId="Equation.3">
                  <p:embed/>
                </p:oleObj>
              </mc:Choice>
              <mc:Fallback>
                <p:oleObj r:id="rId15" imgW="1851025" imgH="256540" progId="Equation.3">
                  <p:embed/>
                  <p:pic>
                    <p:nvPicPr>
                      <p:cNvPr id="550925" name="对象 5509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68463" y="5951538"/>
                        <a:ext cx="3983037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3" name="对象 550926"/>
          <p:cNvGraphicFramePr/>
          <p:nvPr/>
        </p:nvGraphicFramePr>
        <p:xfrm>
          <a:off x="365125" y="-6350"/>
          <a:ext cx="5697538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2" r:id="rId17" imgW="2476500" imgH="711200" progId="Equation.DSMT4">
                  <p:embed/>
                </p:oleObj>
              </mc:Choice>
              <mc:Fallback>
                <p:oleObj r:id="rId17" imgW="2476500" imgH="711200" progId="Equation.DSMT4">
                  <p:embed/>
                  <p:pic>
                    <p:nvPicPr>
                      <p:cNvPr id="117773" name="对象 55092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5125" y="-6350"/>
                        <a:ext cx="5697538" cy="163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774" name="组合 549900"/>
          <p:cNvGrpSpPr/>
          <p:nvPr/>
        </p:nvGrpSpPr>
        <p:grpSpPr>
          <a:xfrm>
            <a:off x="6278563" y="547688"/>
            <a:ext cx="2833687" cy="3240087"/>
            <a:chOff x="3862" y="1162"/>
            <a:chExt cx="1785" cy="2041"/>
          </a:xfrm>
        </p:grpSpPr>
        <p:graphicFrame>
          <p:nvGraphicFramePr>
            <p:cNvPr id="117775" name="对象 549901"/>
            <p:cNvGraphicFramePr/>
            <p:nvPr/>
          </p:nvGraphicFramePr>
          <p:xfrm>
            <a:off x="3985" y="2614"/>
            <a:ext cx="60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63" r:id="rId19" imgW="535305" imgH="245110" progId="Equation.3">
                    <p:embed/>
                  </p:oleObj>
                </mc:Choice>
                <mc:Fallback>
                  <p:oleObj r:id="rId19" imgW="535305" imgH="245110" progId="Equation.3">
                    <p:embed/>
                    <p:pic>
                      <p:nvPicPr>
                        <p:cNvPr id="117775" name="对象 54990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985" y="2614"/>
                          <a:ext cx="602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7776" name="组合 549902"/>
            <p:cNvGrpSpPr/>
            <p:nvPr/>
          </p:nvGrpSpPr>
          <p:grpSpPr>
            <a:xfrm>
              <a:off x="3862" y="1162"/>
              <a:ext cx="1785" cy="2041"/>
              <a:chOff x="3862" y="1162"/>
              <a:chExt cx="1785" cy="2041"/>
            </a:xfrm>
          </p:grpSpPr>
          <p:sp>
            <p:nvSpPr>
              <p:cNvPr id="117777" name="直接连接符 549903"/>
              <p:cNvSpPr/>
              <p:nvPr/>
            </p:nvSpPr>
            <p:spPr>
              <a:xfrm>
                <a:off x="3862" y="2886"/>
                <a:ext cx="1542" cy="0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7778" name="直接连接符 549904"/>
              <p:cNvSpPr/>
              <p:nvPr/>
            </p:nvSpPr>
            <p:spPr>
              <a:xfrm flipV="1">
                <a:off x="3862" y="1344"/>
                <a:ext cx="0" cy="1542"/>
              </a:xfrm>
              <a:prstGeom prst="line">
                <a:avLst/>
              </a:prstGeom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7779" name="直接连接符 549905"/>
              <p:cNvSpPr/>
              <p:nvPr/>
            </p:nvSpPr>
            <p:spPr>
              <a:xfrm flipV="1">
                <a:off x="4088" y="1979"/>
                <a:ext cx="408" cy="725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17780" name="对象 549906"/>
              <p:cNvGraphicFramePr/>
              <p:nvPr/>
            </p:nvGraphicFramePr>
            <p:xfrm>
              <a:off x="3967" y="1162"/>
              <a:ext cx="258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64" r:id="rId21" imgW="167005" imgH="178435" progId="Equation.3">
                      <p:embed/>
                    </p:oleObj>
                  </mc:Choice>
                  <mc:Fallback>
                    <p:oleObj r:id="rId21" imgW="167005" imgH="178435" progId="Equation.3">
                      <p:embed/>
                      <p:pic>
                        <p:nvPicPr>
                          <p:cNvPr id="117780" name="对象 549906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967" y="1162"/>
                            <a:ext cx="258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781" name="对象 549907"/>
              <p:cNvGraphicFramePr/>
              <p:nvPr/>
            </p:nvGraphicFramePr>
            <p:xfrm>
              <a:off x="5171" y="2931"/>
              <a:ext cx="233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65" r:id="rId23" imgW="167005" imgH="200660" progId="Equation.3">
                      <p:embed/>
                    </p:oleObj>
                  </mc:Choice>
                  <mc:Fallback>
                    <p:oleObj r:id="rId23" imgW="167005" imgH="200660" progId="Equation.3">
                      <p:embed/>
                      <p:pic>
                        <p:nvPicPr>
                          <p:cNvPr id="117781" name="对象 549907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5171" y="2931"/>
                            <a:ext cx="233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782" name="对象 549908"/>
              <p:cNvGraphicFramePr/>
              <p:nvPr/>
            </p:nvGraphicFramePr>
            <p:xfrm>
              <a:off x="4117" y="2112"/>
              <a:ext cx="153" cy="2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66" r:id="rId25" imgW="111760" imgH="167005" progId="Equation.3">
                      <p:embed/>
                    </p:oleObj>
                  </mc:Choice>
                  <mc:Fallback>
                    <p:oleObj r:id="rId25" imgW="111760" imgH="167005" progId="Equation.3">
                      <p:embed/>
                      <p:pic>
                        <p:nvPicPr>
                          <p:cNvPr id="117782" name="对象 549908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117" y="2112"/>
                            <a:ext cx="153" cy="2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783" name="对象 549909"/>
              <p:cNvGraphicFramePr/>
              <p:nvPr/>
            </p:nvGraphicFramePr>
            <p:xfrm>
              <a:off x="4766" y="2112"/>
              <a:ext cx="230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67" r:id="rId27" imgW="167005" imgH="167005" progId="Equation.3">
                      <p:embed/>
                    </p:oleObj>
                  </mc:Choice>
                  <mc:Fallback>
                    <p:oleObj r:id="rId27" imgW="167005" imgH="167005" progId="Equation.3">
                      <p:embed/>
                      <p:pic>
                        <p:nvPicPr>
                          <p:cNvPr id="117783" name="对象 549909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766" y="2112"/>
                            <a:ext cx="230" cy="2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784" name="对象 549910"/>
              <p:cNvGraphicFramePr/>
              <p:nvPr/>
            </p:nvGraphicFramePr>
            <p:xfrm>
              <a:off x="4155" y="1653"/>
              <a:ext cx="659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68" r:id="rId29" imgW="579755" imgH="245110" progId="Equation.3">
                      <p:embed/>
                    </p:oleObj>
                  </mc:Choice>
                  <mc:Fallback>
                    <p:oleObj r:id="rId29" imgW="579755" imgH="245110" progId="Equation.3">
                      <p:embed/>
                      <p:pic>
                        <p:nvPicPr>
                          <p:cNvPr id="117784" name="对象 549910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4155" y="1653"/>
                            <a:ext cx="659" cy="2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785" name="对象 549911"/>
              <p:cNvGraphicFramePr/>
              <p:nvPr/>
            </p:nvGraphicFramePr>
            <p:xfrm>
              <a:off x="5041" y="2644"/>
              <a:ext cx="606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669" r:id="rId31" imgW="557530" imgH="256540" progId="Equation.3">
                      <p:embed/>
                    </p:oleObj>
                  </mc:Choice>
                  <mc:Fallback>
                    <p:oleObj r:id="rId31" imgW="557530" imgH="256540" progId="Equation.3">
                      <p:embed/>
                      <p:pic>
                        <p:nvPicPr>
                          <p:cNvPr id="117785" name="对象 549911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5041" y="2644"/>
                            <a:ext cx="606" cy="2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7786" name="任意多边形 549912"/>
              <p:cNvSpPr/>
              <p:nvPr/>
            </p:nvSpPr>
            <p:spPr>
              <a:xfrm>
                <a:off x="4506" y="1979"/>
                <a:ext cx="597" cy="72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8" y="362"/>
                  </a:cxn>
                  <a:cxn ang="0">
                    <a:pos x="597" y="725"/>
                  </a:cxn>
                </a:cxnLst>
                <a:rect l="0" t="0" r="0" b="0"/>
                <a:pathLst>
                  <a:path w="597" h="725">
                    <a:moveTo>
                      <a:pt x="7" y="0"/>
                    </a:moveTo>
                    <a:cubicBezTo>
                      <a:pt x="3" y="120"/>
                      <a:pt x="0" y="241"/>
                      <a:pt x="98" y="362"/>
                    </a:cubicBezTo>
                    <a:cubicBezTo>
                      <a:pt x="196" y="483"/>
                      <a:pt x="514" y="665"/>
                      <a:pt x="597" y="725"/>
                    </a:cubicBez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55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5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5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5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5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5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5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55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55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55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55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4" grpId="0"/>
      <p:bldP spid="550916" grpId="0"/>
      <p:bldP spid="550919" grpId="0"/>
      <p:bldP spid="550921" grpId="0"/>
      <p:bldP spid="55092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81" name="对象 419880"/>
          <p:cNvGraphicFramePr/>
          <p:nvPr/>
        </p:nvGraphicFramePr>
        <p:xfrm>
          <a:off x="2339975" y="1730375"/>
          <a:ext cx="11525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2" r:id="rId3" imgW="591185" imgH="200660" progId="Equation.3">
                  <p:embed/>
                </p:oleObj>
              </mc:Choice>
              <mc:Fallback>
                <p:oleObj r:id="rId3" imgW="591185" imgH="200660" progId="Equation.3">
                  <p:embed/>
                  <p:pic>
                    <p:nvPicPr>
                      <p:cNvPr id="0" name="图片 335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505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39975" y="1730375"/>
                        <a:ext cx="11525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2" name="文本框 419881"/>
          <p:cNvSpPr txBox="1"/>
          <p:nvPr/>
        </p:nvSpPr>
        <p:spPr>
          <a:xfrm>
            <a:off x="468313" y="1700213"/>
            <a:ext cx="2590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特点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419886" name="文本框 419885"/>
          <p:cNvSpPr txBox="1"/>
          <p:nvPr/>
        </p:nvSpPr>
        <p:spPr>
          <a:xfrm>
            <a:off x="468313" y="836613"/>
            <a:ext cx="3482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循环过程：</a:t>
            </a:r>
            <a:endParaRPr kumimoji="0" lang="zh-CN" altLang="en-US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87" name="矩形 419886"/>
          <p:cNvSpPr/>
          <p:nvPr/>
        </p:nvSpPr>
        <p:spPr>
          <a:xfrm>
            <a:off x="2124075" y="1266825"/>
            <a:ext cx="68786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列变化后又回到初态的整个过程叫循环过程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419888" name="矩形 419887"/>
          <p:cNvSpPr/>
          <p:nvPr/>
        </p:nvSpPr>
        <p:spPr>
          <a:xfrm>
            <a:off x="2124075" y="836613"/>
            <a:ext cx="63023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如热机中的工作物质）经一系</a:t>
            </a:r>
          </a:p>
        </p:txBody>
      </p:sp>
      <p:sp>
        <p:nvSpPr>
          <p:cNvPr id="419945" name="矩形 419944"/>
          <p:cNvSpPr/>
          <p:nvPr/>
        </p:nvSpPr>
        <p:spPr>
          <a:xfrm>
            <a:off x="1858963" y="161925"/>
            <a:ext cx="4598988" cy="57943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22-5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循环过程  卡诺循环</a:t>
            </a:r>
          </a:p>
        </p:txBody>
      </p:sp>
      <p:sp>
        <p:nvSpPr>
          <p:cNvPr id="65" name="文本框 480259"/>
          <p:cNvSpPr txBox="1"/>
          <p:nvPr/>
        </p:nvSpPr>
        <p:spPr>
          <a:xfrm>
            <a:off x="250825" y="2276475"/>
            <a:ext cx="8281988" cy="528638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</a:t>
            </a:r>
            <a:r>
              <a:rPr kumimoji="0" lang="en-US" altLang="zh-CN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热机</a:t>
            </a:r>
            <a:r>
              <a:rPr kumimoji="0" lang="en-US" altLang="zh-CN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---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通过循环过程不断把热转换为功的机器。</a:t>
            </a:r>
          </a:p>
        </p:txBody>
      </p:sp>
      <p:pic>
        <p:nvPicPr>
          <p:cNvPr id="38979" name="Picture 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88" y="2997200"/>
            <a:ext cx="7656512" cy="2971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1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41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2" grpId="0"/>
      <p:bldP spid="419886" grpId="0"/>
      <p:bldP spid="419887" grpId="0"/>
      <p:bldP spid="419888" grpId="0"/>
      <p:bldP spid="6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20970"/>
          <p:cNvGrpSpPr/>
          <p:nvPr/>
        </p:nvGrpSpPr>
        <p:grpSpPr>
          <a:xfrm>
            <a:off x="136525" y="1589088"/>
            <a:ext cx="7631113" cy="4792662"/>
            <a:chOff x="86" y="1001"/>
            <a:chExt cx="4807" cy="3019"/>
          </a:xfrm>
        </p:grpSpPr>
        <p:sp>
          <p:nvSpPr>
            <p:cNvPr id="123906" name="矩形 420865"/>
            <p:cNvSpPr/>
            <p:nvPr/>
          </p:nvSpPr>
          <p:spPr>
            <a:xfrm>
              <a:off x="624" y="3003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07" name="矩形 420866"/>
            <p:cNvSpPr/>
            <p:nvPr/>
          </p:nvSpPr>
          <p:spPr>
            <a:xfrm>
              <a:off x="768" y="2907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08" name="矩形 420867"/>
            <p:cNvSpPr/>
            <p:nvPr/>
          </p:nvSpPr>
          <p:spPr>
            <a:xfrm>
              <a:off x="720" y="2955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09" name="矩形 420868"/>
            <p:cNvSpPr/>
            <p:nvPr/>
          </p:nvSpPr>
          <p:spPr>
            <a:xfrm>
              <a:off x="576" y="2955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0" name="矩形 420869"/>
            <p:cNvSpPr/>
            <p:nvPr/>
          </p:nvSpPr>
          <p:spPr>
            <a:xfrm>
              <a:off x="528" y="2859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1" name="矩形 420870"/>
            <p:cNvSpPr/>
            <p:nvPr/>
          </p:nvSpPr>
          <p:spPr>
            <a:xfrm>
              <a:off x="528" y="2475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2" name="矩形 420871"/>
            <p:cNvSpPr/>
            <p:nvPr/>
          </p:nvSpPr>
          <p:spPr>
            <a:xfrm>
              <a:off x="480" y="2427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3" name="矩形 420872"/>
            <p:cNvSpPr/>
            <p:nvPr/>
          </p:nvSpPr>
          <p:spPr>
            <a:xfrm>
              <a:off x="432" y="2379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4" name="矩形 420873"/>
            <p:cNvSpPr/>
            <p:nvPr/>
          </p:nvSpPr>
          <p:spPr>
            <a:xfrm>
              <a:off x="336" y="2427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5" name="矩形 420874"/>
            <p:cNvSpPr/>
            <p:nvPr/>
          </p:nvSpPr>
          <p:spPr>
            <a:xfrm>
              <a:off x="288" y="2523"/>
              <a:ext cx="96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6" name="矩形 420875"/>
            <p:cNvSpPr/>
            <p:nvPr/>
          </p:nvSpPr>
          <p:spPr>
            <a:xfrm>
              <a:off x="192" y="3147"/>
              <a:ext cx="816" cy="24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330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7" name="椭圆 420876"/>
            <p:cNvSpPr/>
            <p:nvPr/>
          </p:nvSpPr>
          <p:spPr>
            <a:xfrm>
              <a:off x="3268" y="2047"/>
              <a:ext cx="136" cy="376"/>
            </a:xfrm>
            <a:prstGeom prst="ellipse">
              <a:avLst/>
            </a:prstGeom>
            <a:gradFill rotWithShape="0">
              <a:gsLst>
                <a:gs pos="0">
                  <a:srgbClr val="B26B24"/>
                </a:gs>
                <a:gs pos="50000">
                  <a:srgbClr val="FF9933"/>
                </a:gs>
                <a:gs pos="100000">
                  <a:srgbClr val="B26B24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18" name="椭圆 420877"/>
            <p:cNvSpPr/>
            <p:nvPr/>
          </p:nvSpPr>
          <p:spPr>
            <a:xfrm>
              <a:off x="2740" y="2047"/>
              <a:ext cx="136" cy="376"/>
            </a:xfrm>
            <a:prstGeom prst="ellipse">
              <a:avLst/>
            </a:prstGeom>
            <a:gradFill rotWithShape="0">
              <a:gsLst>
                <a:gs pos="0">
                  <a:srgbClr val="B26B24"/>
                </a:gs>
                <a:gs pos="50000">
                  <a:srgbClr val="FF9933"/>
                </a:gs>
                <a:gs pos="100000">
                  <a:srgbClr val="B26B24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11" name="任意多边形 420878"/>
            <p:cNvSpPr>
              <a:spLocks noChangeArrowheads="1"/>
            </p:cNvSpPr>
            <p:nvPr/>
          </p:nvSpPr>
          <p:spPr bwMode="auto">
            <a:xfrm rot="-5400000" flipH="1" flipV="1">
              <a:off x="1780" y="1855"/>
              <a:ext cx="664" cy="7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9" y="21600"/>
                </a:cxn>
                <a:cxn ang="0">
                  <a:pos x="16201" y="21600"/>
                </a:cxn>
                <a:cxn ang="0">
                  <a:pos x="21600" y="0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23D"/>
                </a:gs>
                <a:gs pos="50000">
                  <a:schemeClr val="accent1"/>
                </a:gs>
                <a:gs pos="100000">
                  <a:srgbClr val="00523D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920" name="矩形 420879"/>
            <p:cNvSpPr/>
            <p:nvPr/>
          </p:nvSpPr>
          <p:spPr>
            <a:xfrm>
              <a:off x="2836" y="2047"/>
              <a:ext cx="472" cy="376"/>
            </a:xfrm>
            <a:prstGeom prst="rect">
              <a:avLst/>
            </a:prstGeom>
            <a:gradFill rotWithShape="0">
              <a:gsLst>
                <a:gs pos="0">
                  <a:srgbClr val="B26B24"/>
                </a:gs>
                <a:gs pos="50000">
                  <a:srgbClr val="FF9933"/>
                </a:gs>
                <a:gs pos="100000">
                  <a:srgbClr val="B26B24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21" name="任意多边形 420880"/>
            <p:cNvSpPr/>
            <p:nvPr/>
          </p:nvSpPr>
          <p:spPr>
            <a:xfrm flipV="1">
              <a:off x="2740" y="2431"/>
              <a:ext cx="664" cy="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0" y="0"/>
                  </a:moveTo>
                  <a:lnTo>
                    <a:pt x="1964" y="21600"/>
                  </a:lnTo>
                  <a:lnTo>
                    <a:pt x="19636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6633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2" name="椭圆 420881"/>
            <p:cNvSpPr/>
            <p:nvPr/>
          </p:nvSpPr>
          <p:spPr>
            <a:xfrm>
              <a:off x="3040" y="1963"/>
              <a:ext cx="64" cy="64"/>
            </a:xfrm>
            <a:prstGeom prst="ellipse">
              <a:avLst/>
            </a:prstGeom>
            <a:noFill/>
            <a:ln w="508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23" name="矩形 420882"/>
            <p:cNvSpPr/>
            <p:nvPr/>
          </p:nvSpPr>
          <p:spPr>
            <a:xfrm>
              <a:off x="2500" y="2191"/>
              <a:ext cx="232" cy="88"/>
            </a:xfrm>
            <a:prstGeom prst="rect">
              <a:avLst/>
            </a:prstGeom>
            <a:gradFill rotWithShape="0">
              <a:gsLst>
                <a:gs pos="0">
                  <a:srgbClr val="7F4C19"/>
                </a:gs>
                <a:gs pos="50000">
                  <a:srgbClr val="FF9933"/>
                </a:gs>
                <a:gs pos="100000">
                  <a:srgbClr val="7F4C19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24" name="矩形 420883"/>
            <p:cNvSpPr/>
            <p:nvPr/>
          </p:nvSpPr>
          <p:spPr>
            <a:xfrm>
              <a:off x="720" y="1323"/>
              <a:ext cx="1248" cy="96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25" name="矩形 420884"/>
            <p:cNvSpPr/>
            <p:nvPr/>
          </p:nvSpPr>
          <p:spPr>
            <a:xfrm>
              <a:off x="288" y="2619"/>
              <a:ext cx="96" cy="912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26" name="矩形 420885"/>
            <p:cNvSpPr/>
            <p:nvPr/>
          </p:nvSpPr>
          <p:spPr>
            <a:xfrm>
              <a:off x="528" y="2571"/>
              <a:ext cx="96" cy="288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27" name="任意多边形 420886"/>
            <p:cNvSpPr/>
            <p:nvPr/>
          </p:nvSpPr>
          <p:spPr>
            <a:xfrm>
              <a:off x="288" y="2380"/>
              <a:ext cx="336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157" h="21600" fill="none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cubicBezTo>
                    <a:pt x="33074" y="0"/>
                    <a:pt x="42458" y="8946"/>
                    <a:pt x="43158" y="20238"/>
                  </a:cubicBezTo>
                </a:path>
                <a:path w="43157" h="21600" stroke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cubicBezTo>
                    <a:pt x="33074" y="0"/>
                    <a:pt x="42458" y="8946"/>
                    <a:pt x="43158" y="20238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8" name="任意多边形 420887"/>
            <p:cNvSpPr/>
            <p:nvPr/>
          </p:nvSpPr>
          <p:spPr>
            <a:xfrm>
              <a:off x="384" y="2475"/>
              <a:ext cx="144" cy="1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156" h="22660" fill="none">
                  <a:moveTo>
                    <a:pt x="26" y="22659"/>
                  </a:moveTo>
                  <a:cubicBezTo>
                    <a:pt x="9" y="22309"/>
                    <a:pt x="0" y="21955"/>
                    <a:pt x="0" y="21600"/>
                  </a:cubicBezTo>
                  <a:cubicBezTo>
                    <a:pt x="0" y="9671"/>
                    <a:pt x="9671" y="0"/>
                    <a:pt x="21600" y="0"/>
                  </a:cubicBezTo>
                  <a:cubicBezTo>
                    <a:pt x="33065" y="0"/>
                    <a:pt x="42444" y="8933"/>
                    <a:pt x="43156" y="20213"/>
                  </a:cubicBezTo>
                </a:path>
                <a:path w="43156" h="22660" stroke="0">
                  <a:moveTo>
                    <a:pt x="26" y="22659"/>
                  </a:moveTo>
                  <a:cubicBezTo>
                    <a:pt x="9" y="22309"/>
                    <a:pt x="0" y="21955"/>
                    <a:pt x="0" y="21600"/>
                  </a:cubicBezTo>
                  <a:cubicBezTo>
                    <a:pt x="0" y="9671"/>
                    <a:pt x="9671" y="0"/>
                    <a:pt x="21600" y="0"/>
                  </a:cubicBezTo>
                  <a:cubicBezTo>
                    <a:pt x="33065" y="0"/>
                    <a:pt x="42444" y="8933"/>
                    <a:pt x="43156" y="20213"/>
                  </a:cubicBezTo>
                  <a:lnTo>
                    <a:pt x="21600" y="21600"/>
                  </a:lnTo>
                  <a:lnTo>
                    <a:pt x="26" y="22659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9" name="直接连接符 420888"/>
            <p:cNvSpPr/>
            <p:nvPr/>
          </p:nvSpPr>
          <p:spPr>
            <a:xfrm>
              <a:off x="528" y="2619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30" name="直接连接符 420889"/>
            <p:cNvSpPr/>
            <p:nvPr/>
          </p:nvSpPr>
          <p:spPr>
            <a:xfrm>
              <a:off x="624" y="2619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31" name="直接连接符 420890"/>
            <p:cNvSpPr/>
            <p:nvPr/>
          </p:nvSpPr>
          <p:spPr>
            <a:xfrm>
              <a:off x="384" y="2619"/>
              <a:ext cx="0" cy="91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32" name="矩形 420891"/>
            <p:cNvSpPr/>
            <p:nvPr/>
          </p:nvSpPr>
          <p:spPr>
            <a:xfrm>
              <a:off x="1872" y="1419"/>
              <a:ext cx="96" cy="576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33" name="矩形 420892"/>
            <p:cNvSpPr/>
            <p:nvPr/>
          </p:nvSpPr>
          <p:spPr>
            <a:xfrm>
              <a:off x="624" y="1323"/>
              <a:ext cx="96" cy="480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34" name="任意多边形 420893"/>
            <p:cNvSpPr/>
            <p:nvPr/>
          </p:nvSpPr>
          <p:spPr>
            <a:xfrm rot="10800000">
              <a:off x="625" y="2860"/>
              <a:ext cx="144" cy="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157" h="22675" fill="none">
                  <a:moveTo>
                    <a:pt x="0" y="20238"/>
                  </a:moveTo>
                  <a:cubicBezTo>
                    <a:pt x="705" y="8940"/>
                    <a:pt x="10087" y="0"/>
                    <a:pt x="21557" y="0"/>
                  </a:cubicBezTo>
                  <a:cubicBezTo>
                    <a:pt x="33486" y="0"/>
                    <a:pt x="43157" y="9671"/>
                    <a:pt x="43157" y="21600"/>
                  </a:cubicBezTo>
                  <a:cubicBezTo>
                    <a:pt x="43157" y="21962"/>
                    <a:pt x="43148" y="22321"/>
                    <a:pt x="43131" y="22675"/>
                  </a:cubicBezTo>
                </a:path>
                <a:path w="43157" h="22675" stroke="0">
                  <a:moveTo>
                    <a:pt x="0" y="20238"/>
                  </a:moveTo>
                  <a:cubicBezTo>
                    <a:pt x="705" y="8940"/>
                    <a:pt x="10087" y="0"/>
                    <a:pt x="21557" y="0"/>
                  </a:cubicBezTo>
                  <a:cubicBezTo>
                    <a:pt x="33486" y="0"/>
                    <a:pt x="43157" y="9671"/>
                    <a:pt x="43157" y="21600"/>
                  </a:cubicBezTo>
                  <a:cubicBezTo>
                    <a:pt x="43157" y="21962"/>
                    <a:pt x="43148" y="22321"/>
                    <a:pt x="43131" y="22675"/>
                  </a:cubicBezTo>
                  <a:lnTo>
                    <a:pt x="21557" y="21600"/>
                  </a:lnTo>
                  <a:lnTo>
                    <a:pt x="0" y="20238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5" name="矩形 420894"/>
            <p:cNvSpPr/>
            <p:nvPr/>
          </p:nvSpPr>
          <p:spPr>
            <a:xfrm>
              <a:off x="208" y="2347"/>
              <a:ext cx="784" cy="1024"/>
            </a:xfrm>
            <a:prstGeom prst="rect">
              <a:avLst/>
            </a:prstGeom>
            <a:noFill/>
            <a:ln w="508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36" name="矩形 420895"/>
            <p:cNvSpPr/>
            <p:nvPr/>
          </p:nvSpPr>
          <p:spPr>
            <a:xfrm rot="-3780000">
              <a:off x="809" y="1645"/>
              <a:ext cx="85" cy="389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37" name="矩形 420896"/>
            <p:cNvSpPr/>
            <p:nvPr/>
          </p:nvSpPr>
          <p:spPr>
            <a:xfrm rot="4260000">
              <a:off x="730" y="1709"/>
              <a:ext cx="97" cy="528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38" name="矩形 420897"/>
            <p:cNvSpPr/>
            <p:nvPr/>
          </p:nvSpPr>
          <p:spPr>
            <a:xfrm rot="-2760000">
              <a:off x="639" y="1952"/>
              <a:ext cx="85" cy="409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39" name="任意多边形 420898"/>
            <p:cNvSpPr/>
            <p:nvPr/>
          </p:nvSpPr>
          <p:spPr>
            <a:xfrm>
              <a:off x="480" y="1323"/>
              <a:ext cx="385" cy="1009"/>
            </a:xfrm>
            <a:custGeom>
              <a:avLst/>
              <a:gdLst/>
              <a:ahLst/>
              <a:cxnLst>
                <a:cxn ang="0">
                  <a:pos x="288" y="1008"/>
                </a:cxn>
                <a:cxn ang="0">
                  <a:pos x="0" y="672"/>
                </a:cxn>
                <a:cxn ang="0">
                  <a:pos x="384" y="576"/>
                </a:cxn>
                <a:cxn ang="0">
                  <a:pos x="144" y="480"/>
                </a:cxn>
                <a:cxn ang="0">
                  <a:pos x="144" y="0"/>
                </a:cxn>
                <a:cxn ang="0">
                  <a:pos x="144" y="96"/>
                </a:cxn>
              </a:cxnLst>
              <a:rect l="0" t="0" r="0" b="0"/>
              <a:pathLst>
                <a:path w="385" h="1009">
                  <a:moveTo>
                    <a:pt x="288" y="1008"/>
                  </a:moveTo>
                  <a:lnTo>
                    <a:pt x="0" y="672"/>
                  </a:lnTo>
                  <a:lnTo>
                    <a:pt x="384" y="576"/>
                  </a:lnTo>
                  <a:lnTo>
                    <a:pt x="144" y="480"/>
                  </a:lnTo>
                  <a:lnTo>
                    <a:pt x="144" y="0"/>
                  </a:lnTo>
                  <a:lnTo>
                    <a:pt x="144" y="9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0" name="任意多边形 420899"/>
            <p:cNvSpPr/>
            <p:nvPr/>
          </p:nvSpPr>
          <p:spPr>
            <a:xfrm>
              <a:off x="624" y="1323"/>
              <a:ext cx="1345" cy="6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44" y="0"/>
                </a:cxn>
                <a:cxn ang="0">
                  <a:pos x="1344" y="672"/>
                </a:cxn>
                <a:cxn ang="0">
                  <a:pos x="1344" y="624"/>
                </a:cxn>
              </a:cxnLst>
              <a:rect l="0" t="0" r="0" b="0"/>
              <a:pathLst>
                <a:path w="1345" h="673">
                  <a:moveTo>
                    <a:pt x="0" y="0"/>
                  </a:moveTo>
                  <a:lnTo>
                    <a:pt x="1344" y="0"/>
                  </a:lnTo>
                  <a:lnTo>
                    <a:pt x="1344" y="672"/>
                  </a:lnTo>
                  <a:lnTo>
                    <a:pt x="1344" y="62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1" name="直接连接符 420900"/>
            <p:cNvSpPr/>
            <p:nvPr/>
          </p:nvSpPr>
          <p:spPr>
            <a:xfrm>
              <a:off x="672" y="2043"/>
              <a:ext cx="24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42" name="直接连接符 420901"/>
            <p:cNvSpPr/>
            <p:nvPr/>
          </p:nvSpPr>
          <p:spPr>
            <a:xfrm flipV="1">
              <a:off x="672" y="1947"/>
              <a:ext cx="432" cy="9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43" name="直接连接符 420902"/>
            <p:cNvSpPr/>
            <p:nvPr/>
          </p:nvSpPr>
          <p:spPr>
            <a:xfrm flipH="1" flipV="1">
              <a:off x="720" y="1707"/>
              <a:ext cx="38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44" name="直接连接符 420903"/>
            <p:cNvSpPr/>
            <p:nvPr/>
          </p:nvSpPr>
          <p:spPr>
            <a:xfrm flipV="1">
              <a:off x="720" y="1419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45" name="直接连接符 420904"/>
            <p:cNvSpPr/>
            <p:nvPr/>
          </p:nvSpPr>
          <p:spPr>
            <a:xfrm>
              <a:off x="720" y="1419"/>
              <a:ext cx="115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46" name="直接连接符 420905"/>
            <p:cNvSpPr/>
            <p:nvPr/>
          </p:nvSpPr>
          <p:spPr>
            <a:xfrm>
              <a:off x="1872" y="1419"/>
              <a:ext cx="0" cy="62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47" name="矩形 420906"/>
            <p:cNvSpPr/>
            <p:nvPr/>
          </p:nvSpPr>
          <p:spPr>
            <a:xfrm>
              <a:off x="2208" y="2523"/>
              <a:ext cx="96" cy="432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48" name="直接连接符 420907"/>
            <p:cNvSpPr/>
            <p:nvPr/>
          </p:nvSpPr>
          <p:spPr>
            <a:xfrm>
              <a:off x="1104" y="1899"/>
              <a:ext cx="0" cy="4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49" name="任意多边形 420908"/>
            <p:cNvSpPr/>
            <p:nvPr/>
          </p:nvSpPr>
          <p:spPr>
            <a:xfrm rot="10800000">
              <a:off x="529" y="2877"/>
              <a:ext cx="336" cy="2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4383" fill="none">
                  <a:moveTo>
                    <a:pt x="180" y="24383"/>
                  </a:moveTo>
                  <a:cubicBezTo>
                    <a:pt x="61" y="23474"/>
                    <a:pt x="0" y="22544"/>
                    <a:pt x="0" y="21600"/>
                  </a:cubicBezTo>
                  <a:cubicBezTo>
                    <a:pt x="0" y="9671"/>
                    <a:pt x="9671" y="0"/>
                    <a:pt x="21600" y="0"/>
                  </a:cubicBezTo>
                  <a:cubicBezTo>
                    <a:pt x="33529" y="0"/>
                    <a:pt x="43200" y="9671"/>
                    <a:pt x="43200" y="21600"/>
                  </a:cubicBezTo>
                </a:path>
                <a:path w="43200" h="24383" stroke="0">
                  <a:moveTo>
                    <a:pt x="180" y="24383"/>
                  </a:moveTo>
                  <a:cubicBezTo>
                    <a:pt x="61" y="23474"/>
                    <a:pt x="0" y="22544"/>
                    <a:pt x="0" y="21600"/>
                  </a:cubicBezTo>
                  <a:cubicBezTo>
                    <a:pt x="0" y="9671"/>
                    <a:pt x="9671" y="0"/>
                    <a:pt x="21600" y="0"/>
                  </a:cubicBezTo>
                  <a:cubicBezTo>
                    <a:pt x="33529" y="0"/>
                    <a:pt x="43200" y="9671"/>
                    <a:pt x="43200" y="21600"/>
                  </a:cubicBezTo>
                  <a:lnTo>
                    <a:pt x="21600" y="21600"/>
                  </a:lnTo>
                  <a:lnTo>
                    <a:pt x="180" y="24383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0" name="任意多边形 420909"/>
            <p:cNvSpPr/>
            <p:nvPr/>
          </p:nvSpPr>
          <p:spPr>
            <a:xfrm>
              <a:off x="2785" y="3393"/>
              <a:ext cx="76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1157" h="18625" fill="none">
                  <a:moveTo>
                    <a:pt x="10939" y="0"/>
                  </a:moveTo>
                  <a:cubicBezTo>
                    <a:pt x="11015" y="41"/>
                    <a:pt x="11087" y="84"/>
                    <a:pt x="11158" y="127"/>
                  </a:cubicBezTo>
                </a:path>
                <a:path w="11157" h="18625" stroke="0">
                  <a:moveTo>
                    <a:pt x="10939" y="0"/>
                  </a:moveTo>
                  <a:cubicBezTo>
                    <a:pt x="11015" y="41"/>
                    <a:pt x="11087" y="84"/>
                    <a:pt x="11158" y="127"/>
                  </a:cubicBezTo>
                  <a:lnTo>
                    <a:pt x="0" y="18625"/>
                  </a:lnTo>
                  <a:lnTo>
                    <a:pt x="10939" y="0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1" name="椭圆 420910"/>
            <p:cNvSpPr/>
            <p:nvPr/>
          </p:nvSpPr>
          <p:spPr>
            <a:xfrm>
              <a:off x="1408" y="3355"/>
              <a:ext cx="400" cy="400"/>
            </a:xfrm>
            <a:prstGeom prst="ellipse">
              <a:avLst/>
            </a:prstGeom>
            <a:solidFill>
              <a:schemeClr val="accent1"/>
            </a:solidFill>
            <a:ln w="508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52" name="直接连接符 420911"/>
            <p:cNvSpPr/>
            <p:nvPr/>
          </p:nvSpPr>
          <p:spPr>
            <a:xfrm flipH="1">
              <a:off x="288" y="3579"/>
              <a:ext cx="110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53" name="任意多边形 420912"/>
            <p:cNvSpPr/>
            <p:nvPr/>
          </p:nvSpPr>
          <p:spPr>
            <a:xfrm>
              <a:off x="2976" y="3441"/>
              <a:ext cx="77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1370" h="18496" fill="none">
                  <a:moveTo>
                    <a:pt x="0" y="130"/>
                  </a:moveTo>
                  <a:cubicBezTo>
                    <a:pt x="69" y="84"/>
                    <a:pt x="140" y="40"/>
                    <a:pt x="210" y="-2"/>
                  </a:cubicBezTo>
                </a:path>
                <a:path w="11370" h="18496" stroke="0">
                  <a:moveTo>
                    <a:pt x="0" y="130"/>
                  </a:moveTo>
                  <a:cubicBezTo>
                    <a:pt x="69" y="84"/>
                    <a:pt x="140" y="40"/>
                    <a:pt x="210" y="-2"/>
                  </a:cubicBezTo>
                  <a:lnTo>
                    <a:pt x="11370" y="18496"/>
                  </a:lnTo>
                  <a:lnTo>
                    <a:pt x="0" y="130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4" name="任意多边形 420913"/>
            <p:cNvSpPr/>
            <p:nvPr/>
          </p:nvSpPr>
          <p:spPr>
            <a:xfrm>
              <a:off x="3024" y="3393"/>
              <a:ext cx="77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1370" h="18496" fill="none">
                  <a:moveTo>
                    <a:pt x="0" y="130"/>
                  </a:moveTo>
                  <a:cubicBezTo>
                    <a:pt x="69" y="84"/>
                    <a:pt x="140" y="40"/>
                    <a:pt x="210" y="-2"/>
                  </a:cubicBezTo>
                </a:path>
                <a:path w="11370" h="18496" stroke="0">
                  <a:moveTo>
                    <a:pt x="0" y="130"/>
                  </a:moveTo>
                  <a:cubicBezTo>
                    <a:pt x="69" y="84"/>
                    <a:pt x="140" y="40"/>
                    <a:pt x="210" y="-2"/>
                  </a:cubicBezTo>
                  <a:lnTo>
                    <a:pt x="11370" y="18496"/>
                  </a:lnTo>
                  <a:lnTo>
                    <a:pt x="0" y="130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5" name="任意多边形 420914"/>
            <p:cNvSpPr/>
            <p:nvPr/>
          </p:nvSpPr>
          <p:spPr>
            <a:xfrm>
              <a:off x="3549" y="3393"/>
              <a:ext cx="76" cy="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1157" h="18625" fill="none">
                  <a:moveTo>
                    <a:pt x="10939" y="0"/>
                  </a:moveTo>
                  <a:cubicBezTo>
                    <a:pt x="11015" y="41"/>
                    <a:pt x="11087" y="84"/>
                    <a:pt x="11158" y="127"/>
                  </a:cubicBezTo>
                </a:path>
                <a:path w="11157" h="18625" stroke="0">
                  <a:moveTo>
                    <a:pt x="10939" y="0"/>
                  </a:moveTo>
                  <a:cubicBezTo>
                    <a:pt x="11015" y="41"/>
                    <a:pt x="11087" y="84"/>
                    <a:pt x="11158" y="127"/>
                  </a:cubicBezTo>
                  <a:lnTo>
                    <a:pt x="0" y="18625"/>
                  </a:lnTo>
                  <a:lnTo>
                    <a:pt x="10939" y="0"/>
                  </a:lnTo>
                  <a:close/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6" name="任意多边形 420915"/>
            <p:cNvSpPr/>
            <p:nvPr/>
          </p:nvSpPr>
          <p:spPr>
            <a:xfrm>
              <a:off x="2736" y="2955"/>
              <a:ext cx="385" cy="6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192"/>
                </a:cxn>
                <a:cxn ang="0">
                  <a:pos x="144" y="288"/>
                </a:cxn>
                <a:cxn ang="0">
                  <a:pos x="384" y="432"/>
                </a:cxn>
                <a:cxn ang="0">
                  <a:pos x="0" y="624"/>
                </a:cxn>
              </a:cxnLst>
              <a:rect l="0" t="0" r="0" b="0"/>
              <a:pathLst>
                <a:path w="385" h="625">
                  <a:moveTo>
                    <a:pt x="0" y="0"/>
                  </a:moveTo>
                  <a:lnTo>
                    <a:pt x="384" y="192"/>
                  </a:lnTo>
                  <a:lnTo>
                    <a:pt x="144" y="288"/>
                  </a:lnTo>
                  <a:lnTo>
                    <a:pt x="384" y="432"/>
                  </a:lnTo>
                  <a:lnTo>
                    <a:pt x="0" y="624"/>
                  </a:lnTo>
                </a:path>
              </a:pathLst>
            </a:custGeom>
            <a:noFill/>
            <a:ln w="127000" cap="rnd" cmpd="sng">
              <a:solidFill>
                <a:srgbClr val="66C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7" name="任意多边形 420916"/>
            <p:cNvSpPr/>
            <p:nvPr/>
          </p:nvSpPr>
          <p:spPr>
            <a:xfrm>
              <a:off x="3264" y="2955"/>
              <a:ext cx="385" cy="625"/>
            </a:xfrm>
            <a:custGeom>
              <a:avLst/>
              <a:gdLst/>
              <a:ahLst/>
              <a:cxnLst>
                <a:cxn ang="0">
                  <a:pos x="384" y="0"/>
                </a:cxn>
                <a:cxn ang="0">
                  <a:pos x="0" y="192"/>
                </a:cxn>
                <a:cxn ang="0">
                  <a:pos x="240" y="288"/>
                </a:cxn>
                <a:cxn ang="0">
                  <a:pos x="0" y="432"/>
                </a:cxn>
                <a:cxn ang="0">
                  <a:pos x="384" y="624"/>
                </a:cxn>
              </a:cxnLst>
              <a:rect l="0" t="0" r="0" b="0"/>
              <a:pathLst>
                <a:path w="385" h="625">
                  <a:moveTo>
                    <a:pt x="384" y="0"/>
                  </a:moveTo>
                  <a:lnTo>
                    <a:pt x="0" y="192"/>
                  </a:lnTo>
                  <a:lnTo>
                    <a:pt x="240" y="288"/>
                  </a:lnTo>
                  <a:lnTo>
                    <a:pt x="0" y="432"/>
                  </a:lnTo>
                  <a:lnTo>
                    <a:pt x="384" y="624"/>
                  </a:lnTo>
                </a:path>
              </a:pathLst>
            </a:custGeom>
            <a:noFill/>
            <a:ln w="127000" cap="rnd" cmpd="sng">
              <a:solidFill>
                <a:srgbClr val="66C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8" name="直接连接符 420917"/>
            <p:cNvSpPr/>
            <p:nvPr/>
          </p:nvSpPr>
          <p:spPr>
            <a:xfrm flipH="1">
              <a:off x="1824" y="3579"/>
              <a:ext cx="912" cy="0"/>
            </a:xfrm>
            <a:prstGeom prst="line">
              <a:avLst/>
            </a:prstGeom>
            <a:ln w="127000" cap="flat" cmpd="sng">
              <a:solidFill>
                <a:srgbClr val="66CCF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59" name="直接连接符 420918"/>
            <p:cNvSpPr/>
            <p:nvPr/>
          </p:nvSpPr>
          <p:spPr>
            <a:xfrm flipH="1">
              <a:off x="288" y="3579"/>
              <a:ext cx="1104" cy="0"/>
            </a:xfrm>
            <a:prstGeom prst="line">
              <a:avLst/>
            </a:prstGeom>
            <a:ln w="127000" cap="flat" cmpd="sng">
              <a:solidFill>
                <a:srgbClr val="66CCF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60" name="直接连接符 420919"/>
            <p:cNvSpPr/>
            <p:nvPr/>
          </p:nvSpPr>
          <p:spPr>
            <a:xfrm flipV="1">
              <a:off x="336" y="3099"/>
              <a:ext cx="0" cy="432"/>
            </a:xfrm>
            <a:prstGeom prst="line">
              <a:avLst/>
            </a:prstGeom>
            <a:ln w="127000" cap="flat" cmpd="sng">
              <a:solidFill>
                <a:srgbClr val="66CCF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61" name="矩形 420920"/>
            <p:cNvSpPr/>
            <p:nvPr/>
          </p:nvSpPr>
          <p:spPr>
            <a:xfrm rot="1560000">
              <a:off x="2715" y="2999"/>
              <a:ext cx="391" cy="88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62" name="矩形 420921"/>
            <p:cNvSpPr/>
            <p:nvPr/>
          </p:nvSpPr>
          <p:spPr>
            <a:xfrm>
              <a:off x="2232" y="2907"/>
              <a:ext cx="504" cy="9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63" name="矩形 420922"/>
            <p:cNvSpPr/>
            <p:nvPr/>
          </p:nvSpPr>
          <p:spPr>
            <a:xfrm rot="-1380000">
              <a:off x="2885" y="3142"/>
              <a:ext cx="259" cy="81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64" name="直接连接符 420923"/>
            <p:cNvSpPr/>
            <p:nvPr/>
          </p:nvSpPr>
          <p:spPr>
            <a:xfrm>
              <a:off x="2208" y="2523"/>
              <a:ext cx="0" cy="48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65" name="直接连接符 420924"/>
            <p:cNvSpPr/>
            <p:nvPr/>
          </p:nvSpPr>
          <p:spPr>
            <a:xfrm>
              <a:off x="2304" y="2523"/>
              <a:ext cx="0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66" name="直接连接符 420925"/>
            <p:cNvSpPr/>
            <p:nvPr/>
          </p:nvSpPr>
          <p:spPr>
            <a:xfrm>
              <a:off x="2304" y="2907"/>
              <a:ext cx="43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67" name="直接连接符 420926"/>
            <p:cNvSpPr/>
            <p:nvPr/>
          </p:nvSpPr>
          <p:spPr>
            <a:xfrm>
              <a:off x="2208" y="3003"/>
              <a:ext cx="52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68" name="直接连接符 420927"/>
            <p:cNvSpPr/>
            <p:nvPr/>
          </p:nvSpPr>
          <p:spPr>
            <a:xfrm>
              <a:off x="2736" y="2907"/>
              <a:ext cx="43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69" name="直接连接符 420928"/>
            <p:cNvSpPr/>
            <p:nvPr/>
          </p:nvSpPr>
          <p:spPr>
            <a:xfrm>
              <a:off x="2736" y="3003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0" name="直接连接符 420929"/>
            <p:cNvSpPr/>
            <p:nvPr/>
          </p:nvSpPr>
          <p:spPr>
            <a:xfrm flipH="1">
              <a:off x="2784" y="3147"/>
              <a:ext cx="192" cy="9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1" name="直接连接符 420930"/>
            <p:cNvSpPr/>
            <p:nvPr/>
          </p:nvSpPr>
          <p:spPr>
            <a:xfrm flipV="1">
              <a:off x="2976" y="3147"/>
              <a:ext cx="192" cy="9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2" name="直接连接符 420931"/>
            <p:cNvSpPr/>
            <p:nvPr/>
          </p:nvSpPr>
          <p:spPr>
            <a:xfrm>
              <a:off x="2976" y="3243"/>
              <a:ext cx="192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3" name="直接连接符 420932"/>
            <p:cNvSpPr/>
            <p:nvPr/>
          </p:nvSpPr>
          <p:spPr>
            <a:xfrm>
              <a:off x="2784" y="3243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4" name="直接连接符 420933"/>
            <p:cNvSpPr/>
            <p:nvPr/>
          </p:nvSpPr>
          <p:spPr>
            <a:xfrm flipH="1">
              <a:off x="384" y="3531"/>
              <a:ext cx="100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5" name="直接连接符 420934"/>
            <p:cNvSpPr/>
            <p:nvPr/>
          </p:nvSpPr>
          <p:spPr>
            <a:xfrm flipH="1">
              <a:off x="2736" y="3387"/>
              <a:ext cx="288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6" name="直接连接符 420935"/>
            <p:cNvSpPr/>
            <p:nvPr/>
          </p:nvSpPr>
          <p:spPr>
            <a:xfrm flipH="1">
              <a:off x="1824" y="3531"/>
              <a:ext cx="91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7" name="直接连接符 420936"/>
            <p:cNvSpPr/>
            <p:nvPr/>
          </p:nvSpPr>
          <p:spPr>
            <a:xfrm flipH="1">
              <a:off x="2736" y="3387"/>
              <a:ext cx="43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8" name="直接连接符 420937"/>
            <p:cNvSpPr/>
            <p:nvPr/>
          </p:nvSpPr>
          <p:spPr>
            <a:xfrm flipH="1">
              <a:off x="1824" y="3627"/>
              <a:ext cx="91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79" name="直接连接符 420938"/>
            <p:cNvSpPr/>
            <p:nvPr/>
          </p:nvSpPr>
          <p:spPr>
            <a:xfrm flipH="1">
              <a:off x="288" y="3627"/>
              <a:ext cx="110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80" name="直接连接符 420939"/>
            <p:cNvSpPr/>
            <p:nvPr/>
          </p:nvSpPr>
          <p:spPr>
            <a:xfrm>
              <a:off x="288" y="2619"/>
              <a:ext cx="0" cy="10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81" name="椭圆 420940"/>
            <p:cNvSpPr/>
            <p:nvPr/>
          </p:nvSpPr>
          <p:spPr>
            <a:xfrm>
              <a:off x="2880" y="3243"/>
              <a:ext cx="96" cy="48"/>
            </a:xfrm>
            <a:prstGeom prst="ellipse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82" name="椭圆 420941"/>
            <p:cNvSpPr/>
            <p:nvPr/>
          </p:nvSpPr>
          <p:spPr>
            <a:xfrm>
              <a:off x="2832" y="3227"/>
              <a:ext cx="96" cy="16"/>
            </a:xfrm>
            <a:prstGeom prst="ellipse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83" name="椭圆 420942"/>
            <p:cNvSpPr/>
            <p:nvPr/>
          </p:nvSpPr>
          <p:spPr>
            <a:xfrm>
              <a:off x="2880" y="3195"/>
              <a:ext cx="96" cy="48"/>
            </a:xfrm>
            <a:prstGeom prst="ellipse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84" name="直接连接符 420943"/>
            <p:cNvSpPr/>
            <p:nvPr/>
          </p:nvSpPr>
          <p:spPr>
            <a:xfrm>
              <a:off x="1440" y="3579"/>
              <a:ext cx="336" cy="0"/>
            </a:xfrm>
            <a:prstGeom prst="line">
              <a:avLst/>
            </a:prstGeom>
            <a:ln w="50800" cap="flat" cmpd="sng">
              <a:solidFill>
                <a:schemeClr val="accent2"/>
              </a:solidFill>
              <a:prstDash val="solid"/>
              <a:round/>
              <a:headEnd type="stealth" w="med" len="lg"/>
              <a:tailEnd type="none" w="sm" len="sm"/>
            </a:ln>
          </p:spPr>
        </p:sp>
        <p:sp>
          <p:nvSpPr>
            <p:cNvPr id="123985" name="直接连接符 420944"/>
            <p:cNvSpPr/>
            <p:nvPr/>
          </p:nvSpPr>
          <p:spPr>
            <a:xfrm>
              <a:off x="1008" y="1371"/>
              <a:ext cx="432" cy="0"/>
            </a:xfrm>
            <a:prstGeom prst="line">
              <a:avLst/>
            </a:prstGeom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123986" name="直接连接符 420945"/>
            <p:cNvSpPr/>
            <p:nvPr/>
          </p:nvSpPr>
          <p:spPr>
            <a:xfrm flipH="1">
              <a:off x="576" y="3579"/>
              <a:ext cx="432" cy="0"/>
            </a:xfrm>
            <a:prstGeom prst="line">
              <a:avLst/>
            </a:prstGeom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123987" name="矩形 420946"/>
            <p:cNvSpPr/>
            <p:nvPr/>
          </p:nvSpPr>
          <p:spPr>
            <a:xfrm>
              <a:off x="2648" y="2819"/>
              <a:ext cx="1136" cy="896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88" name="矩形 420947"/>
            <p:cNvSpPr/>
            <p:nvPr/>
          </p:nvSpPr>
          <p:spPr>
            <a:xfrm>
              <a:off x="440" y="1667"/>
              <a:ext cx="752" cy="56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989" name="直接连接符 420948"/>
            <p:cNvSpPr/>
            <p:nvPr/>
          </p:nvSpPr>
          <p:spPr>
            <a:xfrm>
              <a:off x="3648" y="2955"/>
              <a:ext cx="336" cy="0"/>
            </a:xfrm>
            <a:prstGeom prst="line">
              <a:avLst/>
            </a:prstGeom>
            <a:ln w="127000" cap="flat" cmpd="sng">
              <a:solidFill>
                <a:srgbClr val="66CCF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90" name="直接连接符 420949"/>
            <p:cNvSpPr/>
            <p:nvPr/>
          </p:nvSpPr>
          <p:spPr>
            <a:xfrm>
              <a:off x="3648" y="3579"/>
              <a:ext cx="336" cy="0"/>
            </a:xfrm>
            <a:prstGeom prst="line">
              <a:avLst/>
            </a:prstGeom>
            <a:ln w="127000" cap="flat" cmpd="sng">
              <a:solidFill>
                <a:srgbClr val="66CCF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3991" name="直接连接符 420950"/>
            <p:cNvSpPr/>
            <p:nvPr/>
          </p:nvSpPr>
          <p:spPr>
            <a:xfrm flipH="1">
              <a:off x="3648" y="2955"/>
              <a:ext cx="336" cy="0"/>
            </a:xfrm>
            <a:prstGeom prst="line">
              <a:avLst/>
            </a:prstGeom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123992" name="直接连接符 420951"/>
            <p:cNvSpPr/>
            <p:nvPr/>
          </p:nvSpPr>
          <p:spPr>
            <a:xfrm>
              <a:off x="3648" y="3579"/>
              <a:ext cx="336" cy="0"/>
            </a:xfrm>
            <a:prstGeom prst="line">
              <a:avLst/>
            </a:prstGeom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420953" name="矩形 420952"/>
            <p:cNvSpPr/>
            <p:nvPr/>
          </p:nvSpPr>
          <p:spPr>
            <a:xfrm>
              <a:off x="950" y="1004"/>
              <a:ext cx="61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550C</a:t>
              </a:r>
            </a:p>
          </p:txBody>
        </p:sp>
        <p:sp>
          <p:nvSpPr>
            <p:cNvPr id="420954" name="矩形 420953"/>
            <p:cNvSpPr/>
            <p:nvPr/>
          </p:nvSpPr>
          <p:spPr>
            <a:xfrm>
              <a:off x="86" y="1476"/>
              <a:ext cx="309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过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热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器</a:t>
              </a:r>
            </a:p>
          </p:txBody>
        </p:sp>
        <p:sp>
          <p:nvSpPr>
            <p:cNvPr id="420955" name="矩形 420954"/>
            <p:cNvSpPr/>
            <p:nvPr/>
          </p:nvSpPr>
          <p:spPr>
            <a:xfrm>
              <a:off x="998" y="2676"/>
              <a:ext cx="309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锅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炉</a:t>
              </a:r>
            </a:p>
          </p:txBody>
        </p:sp>
        <p:sp>
          <p:nvSpPr>
            <p:cNvPr id="420956" name="矩形 420955"/>
            <p:cNvSpPr/>
            <p:nvPr/>
          </p:nvSpPr>
          <p:spPr>
            <a:xfrm>
              <a:off x="1334" y="3060"/>
              <a:ext cx="6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给水泵</a:t>
              </a:r>
            </a:p>
          </p:txBody>
        </p:sp>
        <p:sp>
          <p:nvSpPr>
            <p:cNvPr id="420957" name="矩形 420956"/>
            <p:cNvSpPr/>
            <p:nvPr/>
          </p:nvSpPr>
          <p:spPr>
            <a:xfrm>
              <a:off x="2822" y="3732"/>
              <a:ext cx="6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冷凝器</a:t>
              </a:r>
            </a:p>
          </p:txBody>
        </p:sp>
        <p:sp>
          <p:nvSpPr>
            <p:cNvPr id="420958" name="矩形 420957"/>
            <p:cNvSpPr/>
            <p:nvPr/>
          </p:nvSpPr>
          <p:spPr>
            <a:xfrm>
              <a:off x="3542" y="2988"/>
              <a:ext cx="260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冷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却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水</a:t>
              </a:r>
            </a:p>
          </p:txBody>
        </p:sp>
        <p:sp>
          <p:nvSpPr>
            <p:cNvPr id="420959" name="矩形 420958"/>
            <p:cNvSpPr/>
            <p:nvPr/>
          </p:nvSpPr>
          <p:spPr>
            <a:xfrm>
              <a:off x="2150" y="1179"/>
              <a:ext cx="309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汽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轮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机</a:t>
              </a:r>
            </a:p>
          </p:txBody>
        </p:sp>
        <p:sp>
          <p:nvSpPr>
            <p:cNvPr id="420960" name="矩形 420959"/>
            <p:cNvSpPr/>
            <p:nvPr/>
          </p:nvSpPr>
          <p:spPr>
            <a:xfrm>
              <a:off x="2726" y="1620"/>
              <a:ext cx="69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发电机</a:t>
              </a:r>
            </a:p>
          </p:txBody>
        </p:sp>
        <p:sp>
          <p:nvSpPr>
            <p:cNvPr id="420961" name="矩形 420960"/>
            <p:cNvSpPr/>
            <p:nvPr/>
          </p:nvSpPr>
          <p:spPr>
            <a:xfrm>
              <a:off x="3734" y="3060"/>
              <a:ext cx="5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20 C</a:t>
              </a:r>
            </a:p>
          </p:txBody>
        </p:sp>
        <p:sp>
          <p:nvSpPr>
            <p:cNvPr id="420962" name="矩形 420961"/>
            <p:cNvSpPr/>
            <p:nvPr/>
          </p:nvSpPr>
          <p:spPr>
            <a:xfrm>
              <a:off x="3969" y="3037"/>
              <a:ext cx="201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124003" name="矩形 420962"/>
            <p:cNvSpPr/>
            <p:nvPr/>
          </p:nvSpPr>
          <p:spPr>
            <a:xfrm>
              <a:off x="768" y="2331"/>
              <a:ext cx="96" cy="576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004" name="直接连接符 420963"/>
            <p:cNvSpPr/>
            <p:nvPr/>
          </p:nvSpPr>
          <p:spPr>
            <a:xfrm>
              <a:off x="864" y="2331"/>
              <a:ext cx="0" cy="52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24005" name="直接连接符 420964"/>
            <p:cNvSpPr/>
            <p:nvPr/>
          </p:nvSpPr>
          <p:spPr>
            <a:xfrm>
              <a:off x="768" y="2331"/>
              <a:ext cx="0" cy="52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20966" name="矩形 420965"/>
            <p:cNvSpPr/>
            <p:nvPr/>
          </p:nvSpPr>
          <p:spPr>
            <a:xfrm>
              <a:off x="662" y="1409"/>
              <a:ext cx="12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高温高压蒸汽</a:t>
              </a:r>
            </a:p>
          </p:txBody>
        </p:sp>
        <p:sp>
          <p:nvSpPr>
            <p:cNvPr id="420967" name="矩形 420966"/>
            <p:cNvSpPr/>
            <p:nvPr/>
          </p:nvSpPr>
          <p:spPr>
            <a:xfrm>
              <a:off x="1265" y="1001"/>
              <a:ext cx="19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Bookman Old Style" panose="020506040505050202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20968" name="文本框 420967"/>
            <p:cNvSpPr txBox="1"/>
            <p:nvPr/>
          </p:nvSpPr>
          <p:spPr>
            <a:xfrm>
              <a:off x="4508" y="1083"/>
              <a:ext cx="385" cy="2710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eaVert"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发电厂蒸汽动力循环示意图</a:t>
              </a:r>
            </a:p>
          </p:txBody>
        </p:sp>
      </p:grpSp>
      <p:sp>
        <p:nvSpPr>
          <p:cNvPr id="420969" name="文本框 420968"/>
          <p:cNvSpPr txBox="1"/>
          <p:nvPr/>
        </p:nvSpPr>
        <p:spPr>
          <a:xfrm>
            <a:off x="1322388" y="663575"/>
            <a:ext cx="5626100" cy="752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80000"/>
              </a:lnSpc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火力发电厂的热力循环四大件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</a:p>
          <a:p>
            <a:pPr marR="0" defTabSz="914400">
              <a:lnSpc>
                <a:spcPct val="80000"/>
              </a:lnSpc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锅炉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汽轮机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冷凝器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水泵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矩形 422913"/>
          <p:cNvSpPr/>
          <p:nvPr/>
        </p:nvSpPr>
        <p:spPr>
          <a:xfrm>
            <a:off x="2230438" y="37068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0" name="矩形 422914"/>
          <p:cNvSpPr/>
          <p:nvPr/>
        </p:nvSpPr>
        <p:spPr>
          <a:xfrm>
            <a:off x="2459038" y="35544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1" name="矩形 422915"/>
          <p:cNvSpPr/>
          <p:nvPr/>
        </p:nvSpPr>
        <p:spPr>
          <a:xfrm>
            <a:off x="2382838" y="36306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2" name="矩形 422916"/>
          <p:cNvSpPr/>
          <p:nvPr/>
        </p:nvSpPr>
        <p:spPr>
          <a:xfrm>
            <a:off x="2154238" y="36306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3" name="矩形 422917"/>
          <p:cNvSpPr/>
          <p:nvPr/>
        </p:nvSpPr>
        <p:spPr>
          <a:xfrm>
            <a:off x="2078038" y="34782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4" name="矩形 422918"/>
          <p:cNvSpPr/>
          <p:nvPr/>
        </p:nvSpPr>
        <p:spPr>
          <a:xfrm>
            <a:off x="2078038" y="28686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5" name="矩形 422919"/>
          <p:cNvSpPr/>
          <p:nvPr/>
        </p:nvSpPr>
        <p:spPr>
          <a:xfrm>
            <a:off x="2001838" y="27924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6" name="矩形 422920"/>
          <p:cNvSpPr/>
          <p:nvPr/>
        </p:nvSpPr>
        <p:spPr>
          <a:xfrm>
            <a:off x="1925638" y="27162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7" name="矩形 422921"/>
          <p:cNvSpPr/>
          <p:nvPr/>
        </p:nvSpPr>
        <p:spPr>
          <a:xfrm>
            <a:off x="1773238" y="27924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8" name="矩形 422922"/>
          <p:cNvSpPr/>
          <p:nvPr/>
        </p:nvSpPr>
        <p:spPr>
          <a:xfrm>
            <a:off x="1697038" y="2944813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9" name="矩形 422923"/>
          <p:cNvSpPr/>
          <p:nvPr/>
        </p:nvSpPr>
        <p:spPr>
          <a:xfrm>
            <a:off x="1544638" y="3935413"/>
            <a:ext cx="1295400" cy="3810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3300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40" name="椭圆 422924"/>
          <p:cNvSpPr/>
          <p:nvPr/>
        </p:nvSpPr>
        <p:spPr>
          <a:xfrm>
            <a:off x="6427788" y="2189163"/>
            <a:ext cx="215900" cy="596900"/>
          </a:xfrm>
          <a:prstGeom prst="ellipse">
            <a:avLst/>
          </a:prstGeom>
          <a:gradFill rotWithShape="0">
            <a:gsLst>
              <a:gs pos="0">
                <a:srgbClr val="B26B24"/>
              </a:gs>
              <a:gs pos="50000">
                <a:srgbClr val="FF9933"/>
              </a:gs>
              <a:gs pos="100000">
                <a:srgbClr val="B26B24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41" name="椭圆 422925"/>
          <p:cNvSpPr/>
          <p:nvPr/>
        </p:nvSpPr>
        <p:spPr>
          <a:xfrm>
            <a:off x="5589588" y="2189163"/>
            <a:ext cx="215900" cy="596900"/>
          </a:xfrm>
          <a:prstGeom prst="ellipse">
            <a:avLst/>
          </a:prstGeom>
          <a:gradFill rotWithShape="0">
            <a:gsLst>
              <a:gs pos="0">
                <a:srgbClr val="B26B24"/>
              </a:gs>
              <a:gs pos="50000">
                <a:srgbClr val="FF9933"/>
              </a:gs>
              <a:gs pos="100000">
                <a:srgbClr val="B26B24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359" name="任意多边形 422926"/>
          <p:cNvSpPr>
            <a:spLocks noChangeArrowheads="1"/>
          </p:cNvSpPr>
          <p:nvPr/>
        </p:nvSpPr>
        <p:spPr bwMode="auto">
          <a:xfrm rot="-5400000" flipH="1" flipV="1">
            <a:off x="4065588" y="1884363"/>
            <a:ext cx="1054100" cy="1206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9" y="21600"/>
              </a:cxn>
              <a:cxn ang="0">
                <a:pos x="16201" y="21600"/>
              </a:cxn>
              <a:cxn ang="0">
                <a:pos x="21600" y="0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rgbClr val="00523D"/>
              </a:gs>
              <a:gs pos="50000">
                <a:schemeClr val="accent1"/>
              </a:gs>
              <a:gs pos="100000">
                <a:srgbClr val="00523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43" name="矩形 422927"/>
          <p:cNvSpPr/>
          <p:nvPr/>
        </p:nvSpPr>
        <p:spPr>
          <a:xfrm>
            <a:off x="5741988" y="2189163"/>
            <a:ext cx="749300" cy="596900"/>
          </a:xfrm>
          <a:prstGeom prst="rect">
            <a:avLst/>
          </a:prstGeom>
          <a:gradFill rotWithShape="0">
            <a:gsLst>
              <a:gs pos="0">
                <a:srgbClr val="B26B24"/>
              </a:gs>
              <a:gs pos="50000">
                <a:srgbClr val="FF9933"/>
              </a:gs>
              <a:gs pos="100000">
                <a:srgbClr val="B26B24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44" name="任意多边形 422928"/>
          <p:cNvSpPr/>
          <p:nvPr/>
        </p:nvSpPr>
        <p:spPr>
          <a:xfrm flipV="1">
            <a:off x="5589588" y="2798763"/>
            <a:ext cx="1054100" cy="139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8257791" y="5843619"/>
              </a:cxn>
              <a:cxn ang="0">
                <a:pos x="2147483646" y="5843619"/>
              </a:cxn>
              <a:cxn ang="0">
                <a:pos x="2147483646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1964" y="21600"/>
                </a:lnTo>
                <a:lnTo>
                  <a:pt x="19636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9663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45" name="椭圆 422929"/>
          <p:cNvSpPr/>
          <p:nvPr/>
        </p:nvSpPr>
        <p:spPr>
          <a:xfrm>
            <a:off x="6065838" y="2055813"/>
            <a:ext cx="101600" cy="101600"/>
          </a:xfrm>
          <a:prstGeom prst="ellipse">
            <a:avLst/>
          </a:prstGeom>
          <a:noFill/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46" name="矩形 422930"/>
          <p:cNvSpPr/>
          <p:nvPr/>
        </p:nvSpPr>
        <p:spPr>
          <a:xfrm>
            <a:off x="5208588" y="2417763"/>
            <a:ext cx="368300" cy="139700"/>
          </a:xfrm>
          <a:prstGeom prst="rect">
            <a:avLst/>
          </a:prstGeom>
          <a:gradFill rotWithShape="0">
            <a:gsLst>
              <a:gs pos="0">
                <a:srgbClr val="7F4C19"/>
              </a:gs>
              <a:gs pos="50000">
                <a:srgbClr val="FF9933"/>
              </a:gs>
              <a:gs pos="100000">
                <a:srgbClr val="7F4C19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47" name="矩形 422931"/>
          <p:cNvSpPr/>
          <p:nvPr/>
        </p:nvSpPr>
        <p:spPr>
          <a:xfrm>
            <a:off x="2382838" y="1039813"/>
            <a:ext cx="1981200" cy="1524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48" name="矩形 422932"/>
          <p:cNvSpPr/>
          <p:nvPr/>
        </p:nvSpPr>
        <p:spPr>
          <a:xfrm>
            <a:off x="1697038" y="3097213"/>
            <a:ext cx="152400" cy="14478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49" name="矩形 422933"/>
          <p:cNvSpPr/>
          <p:nvPr/>
        </p:nvSpPr>
        <p:spPr>
          <a:xfrm>
            <a:off x="2078038" y="3021013"/>
            <a:ext cx="152400" cy="4572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50" name="任意多边形 422934"/>
          <p:cNvSpPr/>
          <p:nvPr/>
        </p:nvSpPr>
        <p:spPr>
          <a:xfrm>
            <a:off x="1697038" y="2717800"/>
            <a:ext cx="533400" cy="381000"/>
          </a:xfrm>
          <a:custGeom>
            <a:avLst/>
            <a:gdLst/>
            <a:ahLst/>
            <a:cxnLst>
              <a:cxn ang="0">
                <a:pos x="0" y="118540689"/>
              </a:cxn>
              <a:cxn ang="0">
                <a:pos x="40781153" y="0"/>
              </a:cxn>
              <a:cxn ang="0">
                <a:pos x="81482872" y="111066086"/>
              </a:cxn>
              <a:cxn ang="0">
                <a:pos x="0" y="118540689"/>
              </a:cxn>
              <a:cxn ang="0">
                <a:pos x="40781153" y="0"/>
              </a:cxn>
              <a:cxn ang="0">
                <a:pos x="81482872" y="111066086"/>
              </a:cxn>
              <a:cxn ang="0">
                <a:pos x="40781153" y="118540689"/>
              </a:cxn>
              <a:cxn ang="0">
                <a:pos x="0" y="118540689"/>
              </a:cxn>
            </a:cxnLst>
            <a:rect l="0" t="0" r="0" b="0"/>
            <a:pathLst>
              <a:path w="43157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cubicBezTo>
                  <a:pt x="33074" y="0"/>
                  <a:pt x="42458" y="8946"/>
                  <a:pt x="43158" y="20238"/>
                </a:cubicBezTo>
              </a:path>
              <a:path w="43157" h="21600" stroke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cubicBezTo>
                  <a:pt x="33074" y="0"/>
                  <a:pt x="42458" y="8946"/>
                  <a:pt x="43158" y="2023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51" name="任意多边形 422935"/>
          <p:cNvSpPr/>
          <p:nvPr/>
        </p:nvSpPr>
        <p:spPr>
          <a:xfrm>
            <a:off x="1849438" y="2868613"/>
            <a:ext cx="228600" cy="236537"/>
          </a:xfrm>
          <a:custGeom>
            <a:avLst/>
            <a:gdLst/>
            <a:ahLst/>
            <a:cxnLst>
              <a:cxn ang="0">
                <a:pos x="3872" y="25772648"/>
              </a:cxn>
              <a:cxn ang="0">
                <a:pos x="0" y="24568063"/>
              </a:cxn>
              <a:cxn ang="0">
                <a:pos x="3210411" y="0"/>
              </a:cxn>
              <a:cxn ang="0">
                <a:pos x="6414255" y="22990499"/>
              </a:cxn>
              <a:cxn ang="0">
                <a:pos x="3872" y="25772648"/>
              </a:cxn>
              <a:cxn ang="0">
                <a:pos x="0" y="24568063"/>
              </a:cxn>
              <a:cxn ang="0">
                <a:pos x="3210411" y="0"/>
              </a:cxn>
              <a:cxn ang="0">
                <a:pos x="6414255" y="22990499"/>
              </a:cxn>
              <a:cxn ang="0">
                <a:pos x="3210411" y="24568063"/>
              </a:cxn>
              <a:cxn ang="0">
                <a:pos x="3872" y="25772648"/>
              </a:cxn>
            </a:cxnLst>
            <a:rect l="0" t="0" r="0" b="0"/>
            <a:pathLst>
              <a:path w="43156" h="22660" fill="none">
                <a:moveTo>
                  <a:pt x="26" y="22659"/>
                </a:moveTo>
                <a:cubicBezTo>
                  <a:pt x="9" y="22309"/>
                  <a:pt x="0" y="21955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065" y="0"/>
                  <a:pt x="42444" y="8933"/>
                  <a:pt x="43156" y="20213"/>
                </a:cubicBezTo>
              </a:path>
              <a:path w="43156" h="22660" stroke="0">
                <a:moveTo>
                  <a:pt x="26" y="22659"/>
                </a:moveTo>
                <a:cubicBezTo>
                  <a:pt x="9" y="22309"/>
                  <a:pt x="0" y="21955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065" y="0"/>
                  <a:pt x="42444" y="8933"/>
                  <a:pt x="43156" y="20213"/>
                </a:cubicBezTo>
                <a:lnTo>
                  <a:pt x="21600" y="21600"/>
                </a:lnTo>
                <a:lnTo>
                  <a:pt x="26" y="22659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52" name="直接连接符 422936"/>
          <p:cNvSpPr/>
          <p:nvPr/>
        </p:nvSpPr>
        <p:spPr>
          <a:xfrm>
            <a:off x="2078038" y="3097213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53" name="直接连接符 422937"/>
          <p:cNvSpPr/>
          <p:nvPr/>
        </p:nvSpPr>
        <p:spPr>
          <a:xfrm>
            <a:off x="2230438" y="3097213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54" name="直接连接符 422938"/>
          <p:cNvSpPr/>
          <p:nvPr/>
        </p:nvSpPr>
        <p:spPr>
          <a:xfrm>
            <a:off x="1849438" y="3097213"/>
            <a:ext cx="0" cy="1447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55" name="矩形 422940"/>
          <p:cNvSpPr/>
          <p:nvPr/>
        </p:nvSpPr>
        <p:spPr>
          <a:xfrm>
            <a:off x="2230438" y="1039813"/>
            <a:ext cx="152400" cy="7620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56" name="任意多边形 422941"/>
          <p:cNvSpPr/>
          <p:nvPr/>
        </p:nvSpPr>
        <p:spPr>
          <a:xfrm rot="10800000">
            <a:off x="2232025" y="3479800"/>
            <a:ext cx="228600" cy="238125"/>
          </a:xfrm>
          <a:custGeom>
            <a:avLst/>
            <a:gdLst/>
            <a:ahLst/>
            <a:cxnLst>
              <a:cxn ang="0">
                <a:pos x="0" y="23439030"/>
              </a:cxn>
              <a:cxn ang="0">
                <a:pos x="3203779" y="0"/>
              </a:cxn>
              <a:cxn ang="0">
                <a:pos x="6413958" y="25016546"/>
              </a:cxn>
              <a:cxn ang="0">
                <a:pos x="6410086" y="26261549"/>
              </a:cxn>
              <a:cxn ang="0">
                <a:pos x="0" y="23439030"/>
              </a:cxn>
              <a:cxn ang="0">
                <a:pos x="3203779" y="0"/>
              </a:cxn>
              <a:cxn ang="0">
                <a:pos x="6413958" y="25016546"/>
              </a:cxn>
              <a:cxn ang="0">
                <a:pos x="6410086" y="26261549"/>
              </a:cxn>
              <a:cxn ang="0">
                <a:pos x="3203779" y="25016546"/>
              </a:cxn>
              <a:cxn ang="0">
                <a:pos x="0" y="23439030"/>
              </a:cxn>
            </a:cxnLst>
            <a:rect l="0" t="0" r="0" b="0"/>
            <a:pathLst>
              <a:path w="43157" h="22675" fill="none">
                <a:moveTo>
                  <a:pt x="0" y="20238"/>
                </a:moveTo>
                <a:cubicBezTo>
                  <a:pt x="705" y="8940"/>
                  <a:pt x="10087" y="0"/>
                  <a:pt x="21557" y="0"/>
                </a:cubicBezTo>
                <a:cubicBezTo>
                  <a:pt x="33486" y="0"/>
                  <a:pt x="43157" y="9671"/>
                  <a:pt x="43157" y="21600"/>
                </a:cubicBezTo>
                <a:cubicBezTo>
                  <a:pt x="43157" y="21962"/>
                  <a:pt x="43148" y="22321"/>
                  <a:pt x="43131" y="22675"/>
                </a:cubicBezTo>
              </a:path>
              <a:path w="43157" h="22675" stroke="0">
                <a:moveTo>
                  <a:pt x="0" y="20238"/>
                </a:moveTo>
                <a:cubicBezTo>
                  <a:pt x="705" y="8940"/>
                  <a:pt x="10087" y="0"/>
                  <a:pt x="21557" y="0"/>
                </a:cubicBezTo>
                <a:cubicBezTo>
                  <a:pt x="33486" y="0"/>
                  <a:pt x="43157" y="9671"/>
                  <a:pt x="43157" y="21600"/>
                </a:cubicBezTo>
                <a:cubicBezTo>
                  <a:pt x="43157" y="21962"/>
                  <a:pt x="43148" y="22321"/>
                  <a:pt x="43131" y="22675"/>
                </a:cubicBezTo>
                <a:lnTo>
                  <a:pt x="21557" y="21600"/>
                </a:lnTo>
                <a:lnTo>
                  <a:pt x="0" y="20238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57" name="矩形 422942"/>
          <p:cNvSpPr/>
          <p:nvPr/>
        </p:nvSpPr>
        <p:spPr>
          <a:xfrm>
            <a:off x="1570038" y="2665413"/>
            <a:ext cx="1244600" cy="1625600"/>
          </a:xfrm>
          <a:prstGeom prst="rect">
            <a:avLst/>
          </a:prstGeom>
          <a:noFill/>
          <a:ln w="508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58" name="矩形 422943"/>
          <p:cNvSpPr/>
          <p:nvPr/>
        </p:nvSpPr>
        <p:spPr>
          <a:xfrm rot="-3780000">
            <a:off x="2544763" y="1571625"/>
            <a:ext cx="134937" cy="617538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59" name="矩形 422944"/>
          <p:cNvSpPr/>
          <p:nvPr/>
        </p:nvSpPr>
        <p:spPr>
          <a:xfrm rot="4260000">
            <a:off x="2417763" y="1671638"/>
            <a:ext cx="152400" cy="8382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60" name="矩形 422945"/>
          <p:cNvSpPr/>
          <p:nvPr/>
        </p:nvSpPr>
        <p:spPr>
          <a:xfrm rot="-2760000">
            <a:off x="2274888" y="2058988"/>
            <a:ext cx="134937" cy="649287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61" name="任意多边形 422946"/>
          <p:cNvSpPr/>
          <p:nvPr/>
        </p:nvSpPr>
        <p:spPr>
          <a:xfrm>
            <a:off x="2001838" y="1039813"/>
            <a:ext cx="611187" cy="16017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0" t="0" r="0" b="0"/>
            <a:pathLst>
              <a:path w="385" h="1009">
                <a:moveTo>
                  <a:pt x="288" y="1008"/>
                </a:moveTo>
                <a:lnTo>
                  <a:pt x="0" y="672"/>
                </a:lnTo>
                <a:lnTo>
                  <a:pt x="384" y="576"/>
                </a:lnTo>
                <a:lnTo>
                  <a:pt x="144" y="480"/>
                </a:lnTo>
                <a:lnTo>
                  <a:pt x="144" y="0"/>
                </a:lnTo>
                <a:lnTo>
                  <a:pt x="144" y="9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62" name="任意多边形 422947"/>
          <p:cNvSpPr/>
          <p:nvPr/>
        </p:nvSpPr>
        <p:spPr>
          <a:xfrm>
            <a:off x="2230438" y="1039813"/>
            <a:ext cx="2135187" cy="10683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345" h="673">
                <a:moveTo>
                  <a:pt x="0" y="0"/>
                </a:moveTo>
                <a:lnTo>
                  <a:pt x="1344" y="0"/>
                </a:lnTo>
                <a:lnTo>
                  <a:pt x="1344" y="672"/>
                </a:lnTo>
                <a:lnTo>
                  <a:pt x="1344" y="62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63" name="直接连接符 422948"/>
          <p:cNvSpPr/>
          <p:nvPr/>
        </p:nvSpPr>
        <p:spPr>
          <a:xfrm>
            <a:off x="2306638" y="2182813"/>
            <a:ext cx="3810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64" name="直接连接符 422949"/>
          <p:cNvSpPr/>
          <p:nvPr/>
        </p:nvSpPr>
        <p:spPr>
          <a:xfrm flipV="1">
            <a:off x="2306638" y="2030413"/>
            <a:ext cx="685800" cy="152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65" name="直接连接符 422950"/>
          <p:cNvSpPr/>
          <p:nvPr/>
        </p:nvSpPr>
        <p:spPr>
          <a:xfrm flipH="1" flipV="1">
            <a:off x="2382838" y="1649413"/>
            <a:ext cx="60960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66" name="直接连接符 422951"/>
          <p:cNvSpPr/>
          <p:nvPr/>
        </p:nvSpPr>
        <p:spPr>
          <a:xfrm flipV="1">
            <a:off x="2382838" y="1192213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67" name="直接连接符 422952"/>
          <p:cNvSpPr/>
          <p:nvPr/>
        </p:nvSpPr>
        <p:spPr>
          <a:xfrm>
            <a:off x="2382838" y="1192213"/>
            <a:ext cx="1828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68" name="直接连接符 422953"/>
          <p:cNvSpPr/>
          <p:nvPr/>
        </p:nvSpPr>
        <p:spPr>
          <a:xfrm>
            <a:off x="4211638" y="1192213"/>
            <a:ext cx="0" cy="990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69" name="矩形 422954"/>
          <p:cNvSpPr/>
          <p:nvPr/>
        </p:nvSpPr>
        <p:spPr>
          <a:xfrm>
            <a:off x="4745038" y="2944813"/>
            <a:ext cx="152400" cy="6858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70" name="直接连接符 422955"/>
          <p:cNvSpPr/>
          <p:nvPr/>
        </p:nvSpPr>
        <p:spPr>
          <a:xfrm>
            <a:off x="2992438" y="1954213"/>
            <a:ext cx="0" cy="76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71" name="任意多边形 422956"/>
          <p:cNvSpPr/>
          <p:nvPr/>
        </p:nvSpPr>
        <p:spPr>
          <a:xfrm rot="10800000">
            <a:off x="2079625" y="3506788"/>
            <a:ext cx="533400" cy="430212"/>
          </a:xfrm>
          <a:custGeom>
            <a:avLst/>
            <a:gdLst/>
            <a:ahLst/>
            <a:cxnLst>
              <a:cxn ang="0">
                <a:pos x="338907" y="133928579"/>
              </a:cxn>
              <a:cxn ang="0">
                <a:pos x="0" y="118642406"/>
              </a:cxn>
              <a:cxn ang="0">
                <a:pos x="40659452" y="0"/>
              </a:cxn>
              <a:cxn ang="0">
                <a:pos x="81318904" y="118642406"/>
              </a:cxn>
              <a:cxn ang="0">
                <a:pos x="338907" y="133928579"/>
              </a:cxn>
              <a:cxn ang="0">
                <a:pos x="0" y="118642406"/>
              </a:cxn>
              <a:cxn ang="0">
                <a:pos x="40659452" y="0"/>
              </a:cxn>
              <a:cxn ang="0">
                <a:pos x="81318904" y="118642406"/>
              </a:cxn>
              <a:cxn ang="0">
                <a:pos x="40659452" y="118642406"/>
              </a:cxn>
              <a:cxn ang="0">
                <a:pos x="338907" y="133928579"/>
              </a:cxn>
            </a:cxnLst>
            <a:rect l="0" t="0" r="0" b="0"/>
            <a:pathLst>
              <a:path w="43200" h="24383" fill="none">
                <a:moveTo>
                  <a:pt x="180" y="24383"/>
                </a:moveTo>
                <a:cubicBezTo>
                  <a:pt x="61" y="23474"/>
                  <a:pt x="0" y="22544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529" y="0"/>
                  <a:pt x="43200" y="9671"/>
                  <a:pt x="43200" y="21600"/>
                </a:cubicBezTo>
              </a:path>
              <a:path w="43200" h="24383" stroke="0">
                <a:moveTo>
                  <a:pt x="180" y="24383"/>
                </a:moveTo>
                <a:cubicBezTo>
                  <a:pt x="61" y="23474"/>
                  <a:pt x="0" y="22544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529" y="0"/>
                  <a:pt x="43200" y="9671"/>
                  <a:pt x="43200" y="21600"/>
                </a:cubicBezTo>
                <a:lnTo>
                  <a:pt x="21600" y="21600"/>
                </a:lnTo>
                <a:lnTo>
                  <a:pt x="180" y="24383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72" name="任意多边形 422957"/>
          <p:cNvSpPr/>
          <p:nvPr/>
        </p:nvSpPr>
        <p:spPr>
          <a:xfrm>
            <a:off x="5661025" y="4325938"/>
            <a:ext cx="120650" cy="68262"/>
          </a:xfrm>
          <a:custGeom>
            <a:avLst/>
            <a:gdLst/>
            <a:ahLst/>
            <a:cxnLst>
              <a:cxn ang="0">
                <a:pos x="13833073" y="0"/>
              </a:cxn>
              <a:cxn ang="0">
                <a:pos x="14109994" y="6245"/>
              </a:cxn>
              <a:cxn ang="0">
                <a:pos x="13833073" y="0"/>
              </a:cxn>
              <a:cxn ang="0">
                <a:pos x="14109994" y="6245"/>
              </a:cxn>
              <a:cxn ang="0">
                <a:pos x="0" y="916946"/>
              </a:cxn>
              <a:cxn ang="0">
                <a:pos x="13833073" y="0"/>
              </a:cxn>
            </a:cxnLst>
            <a:rect l="0" t="0" r="0" b="0"/>
            <a:pathLst>
              <a:path w="11157" h="18625" fill="none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</a:path>
              <a:path w="11157" h="18625" stroke="0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  <a:lnTo>
                  <a:pt x="0" y="18625"/>
                </a:lnTo>
                <a:lnTo>
                  <a:pt x="10939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73" name="椭圆 422958"/>
          <p:cNvSpPr/>
          <p:nvPr/>
        </p:nvSpPr>
        <p:spPr>
          <a:xfrm>
            <a:off x="3475038" y="4265613"/>
            <a:ext cx="635000" cy="6350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74" name="直接连接符 422959"/>
          <p:cNvSpPr/>
          <p:nvPr/>
        </p:nvSpPr>
        <p:spPr>
          <a:xfrm flipH="1">
            <a:off x="1697038" y="4621213"/>
            <a:ext cx="1752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75" name="任意多边形 422960"/>
          <p:cNvSpPr/>
          <p:nvPr/>
        </p:nvSpPr>
        <p:spPr>
          <a:xfrm>
            <a:off x="5964238" y="4402138"/>
            <a:ext cx="122237" cy="68262"/>
          </a:xfrm>
          <a:custGeom>
            <a:avLst/>
            <a:gdLst/>
            <a:ahLst/>
            <a:cxnLst>
              <a:cxn ang="0">
                <a:pos x="0" y="6540"/>
              </a:cxn>
              <a:cxn ang="0">
                <a:pos x="260977" y="-96"/>
              </a:cxn>
              <a:cxn ang="0">
                <a:pos x="0" y="6540"/>
              </a:cxn>
              <a:cxn ang="0">
                <a:pos x="260977" y="-96"/>
              </a:cxn>
              <a:cxn ang="0">
                <a:pos x="14128211" y="929782"/>
              </a:cxn>
              <a:cxn ang="0">
                <a:pos x="0" y="6540"/>
              </a:cxn>
            </a:cxnLst>
            <a:rect l="0" t="0" r="0" b="0"/>
            <a:pathLst>
              <a:path w="11370" h="18496" fill="none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</a:path>
              <a:path w="11370" h="18496" stroke="0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  <a:lnTo>
                  <a:pt x="11370" y="18496"/>
                </a:lnTo>
                <a:lnTo>
                  <a:pt x="0" y="13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76" name="任意多边形 422961"/>
          <p:cNvSpPr/>
          <p:nvPr/>
        </p:nvSpPr>
        <p:spPr>
          <a:xfrm>
            <a:off x="6040438" y="4325938"/>
            <a:ext cx="122237" cy="68262"/>
          </a:xfrm>
          <a:custGeom>
            <a:avLst/>
            <a:gdLst/>
            <a:ahLst/>
            <a:cxnLst>
              <a:cxn ang="0">
                <a:pos x="0" y="6540"/>
              </a:cxn>
              <a:cxn ang="0">
                <a:pos x="260977" y="-96"/>
              </a:cxn>
              <a:cxn ang="0">
                <a:pos x="0" y="6540"/>
              </a:cxn>
              <a:cxn ang="0">
                <a:pos x="260977" y="-96"/>
              </a:cxn>
              <a:cxn ang="0">
                <a:pos x="14128211" y="929782"/>
              </a:cxn>
              <a:cxn ang="0">
                <a:pos x="0" y="6540"/>
              </a:cxn>
            </a:cxnLst>
            <a:rect l="0" t="0" r="0" b="0"/>
            <a:pathLst>
              <a:path w="11370" h="18496" fill="none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</a:path>
              <a:path w="11370" h="18496" stroke="0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  <a:lnTo>
                  <a:pt x="11370" y="18496"/>
                </a:lnTo>
                <a:lnTo>
                  <a:pt x="0" y="13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77" name="任意多边形 422962"/>
          <p:cNvSpPr/>
          <p:nvPr/>
        </p:nvSpPr>
        <p:spPr>
          <a:xfrm>
            <a:off x="6873875" y="4325938"/>
            <a:ext cx="120650" cy="68262"/>
          </a:xfrm>
          <a:custGeom>
            <a:avLst/>
            <a:gdLst/>
            <a:ahLst/>
            <a:cxnLst>
              <a:cxn ang="0">
                <a:pos x="13833073" y="0"/>
              </a:cxn>
              <a:cxn ang="0">
                <a:pos x="14109994" y="6245"/>
              </a:cxn>
              <a:cxn ang="0">
                <a:pos x="13833073" y="0"/>
              </a:cxn>
              <a:cxn ang="0">
                <a:pos x="14109994" y="6245"/>
              </a:cxn>
              <a:cxn ang="0">
                <a:pos x="0" y="916946"/>
              </a:cxn>
              <a:cxn ang="0">
                <a:pos x="13833073" y="0"/>
              </a:cxn>
            </a:cxnLst>
            <a:rect l="0" t="0" r="0" b="0"/>
            <a:pathLst>
              <a:path w="11157" h="18625" fill="none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</a:path>
              <a:path w="11157" h="18625" stroke="0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  <a:lnTo>
                  <a:pt x="0" y="18625"/>
                </a:lnTo>
                <a:lnTo>
                  <a:pt x="10939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78" name="任意多边形 422963"/>
          <p:cNvSpPr/>
          <p:nvPr/>
        </p:nvSpPr>
        <p:spPr>
          <a:xfrm>
            <a:off x="5583238" y="3630613"/>
            <a:ext cx="611187" cy="9921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385" h="625">
                <a:moveTo>
                  <a:pt x="0" y="0"/>
                </a:moveTo>
                <a:lnTo>
                  <a:pt x="384" y="192"/>
                </a:lnTo>
                <a:lnTo>
                  <a:pt x="144" y="288"/>
                </a:lnTo>
                <a:lnTo>
                  <a:pt x="384" y="432"/>
                </a:lnTo>
                <a:lnTo>
                  <a:pt x="0" y="624"/>
                </a:lnTo>
              </a:path>
            </a:pathLst>
          </a:custGeom>
          <a:noFill/>
          <a:ln w="127000" cap="rnd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79" name="任意多边形 422964"/>
          <p:cNvSpPr/>
          <p:nvPr/>
        </p:nvSpPr>
        <p:spPr>
          <a:xfrm>
            <a:off x="6421438" y="3630613"/>
            <a:ext cx="611187" cy="9921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0" t="0" r="0" b="0"/>
            <a:pathLst>
              <a:path w="385" h="625">
                <a:moveTo>
                  <a:pt x="384" y="0"/>
                </a:moveTo>
                <a:lnTo>
                  <a:pt x="0" y="192"/>
                </a:lnTo>
                <a:lnTo>
                  <a:pt x="240" y="288"/>
                </a:lnTo>
                <a:lnTo>
                  <a:pt x="0" y="432"/>
                </a:lnTo>
                <a:lnTo>
                  <a:pt x="384" y="624"/>
                </a:lnTo>
              </a:path>
            </a:pathLst>
          </a:custGeom>
          <a:noFill/>
          <a:ln w="127000" cap="rnd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980" name="直接连接符 422965"/>
          <p:cNvSpPr/>
          <p:nvPr/>
        </p:nvSpPr>
        <p:spPr>
          <a:xfrm flipH="1">
            <a:off x="4135438" y="4621213"/>
            <a:ext cx="14478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81" name="直接连接符 422966"/>
          <p:cNvSpPr/>
          <p:nvPr/>
        </p:nvSpPr>
        <p:spPr>
          <a:xfrm flipH="1">
            <a:off x="1697038" y="4621213"/>
            <a:ext cx="17526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82" name="直接连接符 422967"/>
          <p:cNvSpPr/>
          <p:nvPr/>
        </p:nvSpPr>
        <p:spPr>
          <a:xfrm flipV="1">
            <a:off x="1773238" y="3859213"/>
            <a:ext cx="0" cy="68580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83" name="矩形 422968"/>
          <p:cNvSpPr/>
          <p:nvPr/>
        </p:nvSpPr>
        <p:spPr>
          <a:xfrm rot="1560000">
            <a:off x="5549900" y="3700463"/>
            <a:ext cx="620713" cy="1397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84" name="矩形 422969"/>
          <p:cNvSpPr/>
          <p:nvPr/>
        </p:nvSpPr>
        <p:spPr>
          <a:xfrm>
            <a:off x="4783138" y="3554413"/>
            <a:ext cx="8001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85" name="矩形 422970"/>
          <p:cNvSpPr/>
          <p:nvPr/>
        </p:nvSpPr>
        <p:spPr>
          <a:xfrm rot="-1380000">
            <a:off x="5819775" y="3927475"/>
            <a:ext cx="411163" cy="128588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86" name="直接连接符 422971"/>
          <p:cNvSpPr/>
          <p:nvPr/>
        </p:nvSpPr>
        <p:spPr>
          <a:xfrm>
            <a:off x="4745038" y="2944813"/>
            <a:ext cx="0" cy="762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87" name="直接连接符 422972"/>
          <p:cNvSpPr/>
          <p:nvPr/>
        </p:nvSpPr>
        <p:spPr>
          <a:xfrm>
            <a:off x="4897438" y="2944813"/>
            <a:ext cx="0" cy="609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88" name="直接连接符 422973"/>
          <p:cNvSpPr/>
          <p:nvPr/>
        </p:nvSpPr>
        <p:spPr>
          <a:xfrm>
            <a:off x="4897438" y="3554413"/>
            <a:ext cx="685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89" name="直接连接符 422974"/>
          <p:cNvSpPr/>
          <p:nvPr/>
        </p:nvSpPr>
        <p:spPr>
          <a:xfrm>
            <a:off x="4745038" y="3706813"/>
            <a:ext cx="8382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0" name="直接连接符 422975"/>
          <p:cNvSpPr/>
          <p:nvPr/>
        </p:nvSpPr>
        <p:spPr>
          <a:xfrm>
            <a:off x="5583238" y="3554413"/>
            <a:ext cx="6858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1" name="直接连接符 422976"/>
          <p:cNvSpPr/>
          <p:nvPr/>
        </p:nvSpPr>
        <p:spPr>
          <a:xfrm>
            <a:off x="5583238" y="3706813"/>
            <a:ext cx="3810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2" name="直接连接符 422977"/>
          <p:cNvSpPr/>
          <p:nvPr/>
        </p:nvSpPr>
        <p:spPr>
          <a:xfrm flipH="1">
            <a:off x="5659438" y="3935413"/>
            <a:ext cx="304800" cy="152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3" name="直接连接符 422978"/>
          <p:cNvSpPr/>
          <p:nvPr/>
        </p:nvSpPr>
        <p:spPr>
          <a:xfrm flipV="1">
            <a:off x="5964238" y="3935413"/>
            <a:ext cx="304800" cy="152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4" name="直接连接符 422979"/>
          <p:cNvSpPr/>
          <p:nvPr/>
        </p:nvSpPr>
        <p:spPr>
          <a:xfrm>
            <a:off x="5964238" y="4087813"/>
            <a:ext cx="3048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5" name="直接连接符 422980"/>
          <p:cNvSpPr/>
          <p:nvPr/>
        </p:nvSpPr>
        <p:spPr>
          <a:xfrm>
            <a:off x="5659438" y="4087813"/>
            <a:ext cx="3810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6" name="直接连接符 422981"/>
          <p:cNvSpPr/>
          <p:nvPr/>
        </p:nvSpPr>
        <p:spPr>
          <a:xfrm flipH="1">
            <a:off x="1849438" y="4545013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7" name="直接连接符 422982"/>
          <p:cNvSpPr/>
          <p:nvPr/>
        </p:nvSpPr>
        <p:spPr>
          <a:xfrm flipH="1">
            <a:off x="5583238" y="4316413"/>
            <a:ext cx="4572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8" name="直接连接符 422983"/>
          <p:cNvSpPr/>
          <p:nvPr/>
        </p:nvSpPr>
        <p:spPr>
          <a:xfrm flipH="1">
            <a:off x="4135438" y="4545013"/>
            <a:ext cx="1447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999" name="直接连接符 422984"/>
          <p:cNvSpPr/>
          <p:nvPr/>
        </p:nvSpPr>
        <p:spPr>
          <a:xfrm flipH="1">
            <a:off x="5583238" y="4316413"/>
            <a:ext cx="6858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00" name="直接连接符 422985"/>
          <p:cNvSpPr/>
          <p:nvPr/>
        </p:nvSpPr>
        <p:spPr>
          <a:xfrm flipH="1">
            <a:off x="4135438" y="4697413"/>
            <a:ext cx="1447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01" name="直接连接符 422986"/>
          <p:cNvSpPr/>
          <p:nvPr/>
        </p:nvSpPr>
        <p:spPr>
          <a:xfrm flipH="1">
            <a:off x="1697038" y="4697413"/>
            <a:ext cx="1752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02" name="直接连接符 422987"/>
          <p:cNvSpPr/>
          <p:nvPr/>
        </p:nvSpPr>
        <p:spPr>
          <a:xfrm>
            <a:off x="1697038" y="3097213"/>
            <a:ext cx="0" cy="1600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03" name="椭圆 422988"/>
          <p:cNvSpPr/>
          <p:nvPr/>
        </p:nvSpPr>
        <p:spPr>
          <a:xfrm>
            <a:off x="5811838" y="4087813"/>
            <a:ext cx="152400" cy="76200"/>
          </a:xfrm>
          <a:prstGeom prst="ellipse">
            <a:avLst/>
          </a:prstGeom>
          <a:solidFill>
            <a:srgbClr val="66CCFF"/>
          </a:soli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004" name="椭圆 422989"/>
          <p:cNvSpPr/>
          <p:nvPr/>
        </p:nvSpPr>
        <p:spPr>
          <a:xfrm>
            <a:off x="5735638" y="4062413"/>
            <a:ext cx="152400" cy="25400"/>
          </a:xfrm>
          <a:prstGeom prst="ellipse">
            <a:avLst/>
          </a:prstGeom>
          <a:solidFill>
            <a:srgbClr val="66CCFF"/>
          </a:soli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005" name="椭圆 422990"/>
          <p:cNvSpPr/>
          <p:nvPr/>
        </p:nvSpPr>
        <p:spPr>
          <a:xfrm>
            <a:off x="5811838" y="4011613"/>
            <a:ext cx="152400" cy="76200"/>
          </a:xfrm>
          <a:prstGeom prst="ellipse">
            <a:avLst/>
          </a:prstGeom>
          <a:solidFill>
            <a:srgbClr val="66CCFF"/>
          </a:soli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006" name="直接连接符 422991"/>
          <p:cNvSpPr/>
          <p:nvPr/>
        </p:nvSpPr>
        <p:spPr>
          <a:xfrm>
            <a:off x="3525838" y="4621213"/>
            <a:ext cx="5334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25007" name="直接连接符 422992"/>
          <p:cNvSpPr/>
          <p:nvPr/>
        </p:nvSpPr>
        <p:spPr>
          <a:xfrm>
            <a:off x="2840038" y="1116013"/>
            <a:ext cx="6858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25008" name="直接连接符 422995"/>
          <p:cNvSpPr/>
          <p:nvPr/>
        </p:nvSpPr>
        <p:spPr>
          <a:xfrm flipH="1">
            <a:off x="2154238" y="4621213"/>
            <a:ext cx="6858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25009" name="矩形 422996"/>
          <p:cNvSpPr/>
          <p:nvPr/>
        </p:nvSpPr>
        <p:spPr>
          <a:xfrm>
            <a:off x="5443538" y="3414713"/>
            <a:ext cx="1803400" cy="14224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010" name="矩形 422997"/>
          <p:cNvSpPr/>
          <p:nvPr/>
        </p:nvSpPr>
        <p:spPr>
          <a:xfrm>
            <a:off x="1938338" y="1585913"/>
            <a:ext cx="1193800" cy="889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011" name="直接连接符 422998"/>
          <p:cNvSpPr/>
          <p:nvPr/>
        </p:nvSpPr>
        <p:spPr>
          <a:xfrm>
            <a:off x="7031038" y="3630613"/>
            <a:ext cx="5334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12" name="直接连接符 422999"/>
          <p:cNvSpPr/>
          <p:nvPr/>
        </p:nvSpPr>
        <p:spPr>
          <a:xfrm>
            <a:off x="7031038" y="4621213"/>
            <a:ext cx="5334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13" name="直接连接符 423000"/>
          <p:cNvSpPr/>
          <p:nvPr/>
        </p:nvSpPr>
        <p:spPr>
          <a:xfrm flipH="1">
            <a:off x="7031038" y="3630613"/>
            <a:ext cx="5334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25014" name="直接连接符 423001"/>
          <p:cNvSpPr/>
          <p:nvPr/>
        </p:nvSpPr>
        <p:spPr>
          <a:xfrm>
            <a:off x="7031038" y="4621213"/>
            <a:ext cx="5334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423003" name="矩形 423002"/>
          <p:cNvSpPr/>
          <p:nvPr/>
        </p:nvSpPr>
        <p:spPr>
          <a:xfrm>
            <a:off x="2722563" y="628650"/>
            <a:ext cx="1073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550 C</a:t>
            </a:r>
          </a:p>
        </p:txBody>
      </p:sp>
      <p:sp>
        <p:nvSpPr>
          <p:cNvPr id="423004" name="矩形 423003"/>
          <p:cNvSpPr/>
          <p:nvPr/>
        </p:nvSpPr>
        <p:spPr>
          <a:xfrm>
            <a:off x="3321050" y="615950"/>
            <a:ext cx="301625" cy="30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423005" name="矩形 423004"/>
          <p:cNvSpPr/>
          <p:nvPr/>
        </p:nvSpPr>
        <p:spPr>
          <a:xfrm>
            <a:off x="1376363" y="1282700"/>
            <a:ext cx="490538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过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器</a:t>
            </a:r>
          </a:p>
        </p:txBody>
      </p:sp>
      <p:sp>
        <p:nvSpPr>
          <p:cNvPr id="423006" name="矩形 423005"/>
          <p:cNvSpPr/>
          <p:nvPr/>
        </p:nvSpPr>
        <p:spPr>
          <a:xfrm>
            <a:off x="2824163" y="3187700"/>
            <a:ext cx="490538" cy="8223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炉</a:t>
            </a:r>
          </a:p>
        </p:txBody>
      </p:sp>
      <p:sp>
        <p:nvSpPr>
          <p:cNvPr id="423007" name="矩形 423006"/>
          <p:cNvSpPr/>
          <p:nvPr/>
        </p:nvSpPr>
        <p:spPr>
          <a:xfrm>
            <a:off x="3357563" y="37973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给水泵</a:t>
            </a:r>
          </a:p>
        </p:txBody>
      </p:sp>
      <p:sp>
        <p:nvSpPr>
          <p:cNvPr id="423008" name="矩形 423007"/>
          <p:cNvSpPr/>
          <p:nvPr/>
        </p:nvSpPr>
        <p:spPr>
          <a:xfrm>
            <a:off x="5719763" y="48641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冷凝器</a:t>
            </a:r>
          </a:p>
        </p:txBody>
      </p:sp>
      <p:sp>
        <p:nvSpPr>
          <p:cNvPr id="423009" name="矩形 423008"/>
          <p:cNvSpPr/>
          <p:nvPr/>
        </p:nvSpPr>
        <p:spPr>
          <a:xfrm>
            <a:off x="6862763" y="3683000"/>
            <a:ext cx="412750" cy="9159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冷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水</a:t>
            </a:r>
          </a:p>
        </p:txBody>
      </p:sp>
      <p:sp>
        <p:nvSpPr>
          <p:cNvPr id="423010" name="矩形 423009"/>
          <p:cNvSpPr/>
          <p:nvPr/>
        </p:nvSpPr>
        <p:spPr>
          <a:xfrm>
            <a:off x="4652963" y="673100"/>
            <a:ext cx="490538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机</a:t>
            </a:r>
          </a:p>
        </p:txBody>
      </p:sp>
      <p:sp>
        <p:nvSpPr>
          <p:cNvPr id="423011" name="矩形 423010"/>
          <p:cNvSpPr/>
          <p:nvPr/>
        </p:nvSpPr>
        <p:spPr>
          <a:xfrm>
            <a:off x="5567363" y="15113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发电机</a:t>
            </a:r>
          </a:p>
        </p:txBody>
      </p:sp>
      <p:sp>
        <p:nvSpPr>
          <p:cNvPr id="125024" name="直接连接符 423011"/>
          <p:cNvSpPr/>
          <p:nvPr/>
        </p:nvSpPr>
        <p:spPr>
          <a:xfrm>
            <a:off x="4973638" y="2335213"/>
            <a:ext cx="1295400" cy="0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423017" name="矩形 423016"/>
          <p:cNvSpPr/>
          <p:nvPr/>
        </p:nvSpPr>
        <p:spPr>
          <a:xfrm>
            <a:off x="4500563" y="2060575"/>
            <a:ext cx="504825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423018" name="矩形 423017"/>
          <p:cNvSpPr/>
          <p:nvPr/>
        </p:nvSpPr>
        <p:spPr>
          <a:xfrm>
            <a:off x="2716213" y="5513388"/>
            <a:ext cx="4470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发电厂蒸汽动力循环示意图</a:t>
            </a:r>
          </a:p>
        </p:txBody>
      </p:sp>
      <p:sp>
        <p:nvSpPr>
          <p:cNvPr id="423033" name="矩形 423032"/>
          <p:cNvSpPr/>
          <p:nvPr/>
        </p:nvSpPr>
        <p:spPr>
          <a:xfrm>
            <a:off x="6748463" y="4808538"/>
            <a:ext cx="889000" cy="4619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20 C</a:t>
            </a:r>
          </a:p>
        </p:txBody>
      </p:sp>
      <p:sp>
        <p:nvSpPr>
          <p:cNvPr id="423034" name="矩形 423033"/>
          <p:cNvSpPr/>
          <p:nvPr/>
        </p:nvSpPr>
        <p:spPr>
          <a:xfrm>
            <a:off x="7077075" y="4737100"/>
            <a:ext cx="319088" cy="3365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25029" name="矩形 423034"/>
          <p:cNvSpPr/>
          <p:nvPr/>
        </p:nvSpPr>
        <p:spPr>
          <a:xfrm>
            <a:off x="2459038" y="2640013"/>
            <a:ext cx="152400" cy="914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030" name="直接连接符 423035"/>
          <p:cNvSpPr/>
          <p:nvPr/>
        </p:nvSpPr>
        <p:spPr>
          <a:xfrm>
            <a:off x="2611438" y="2640013"/>
            <a:ext cx="0" cy="838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031" name="直接连接符 423036"/>
          <p:cNvSpPr/>
          <p:nvPr/>
        </p:nvSpPr>
        <p:spPr>
          <a:xfrm>
            <a:off x="2459038" y="2640013"/>
            <a:ext cx="0" cy="838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038" name="矩形 423037"/>
          <p:cNvSpPr/>
          <p:nvPr/>
        </p:nvSpPr>
        <p:spPr>
          <a:xfrm>
            <a:off x="2290763" y="1176338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高温高压蒸汽</a:t>
            </a:r>
          </a:p>
        </p:txBody>
      </p:sp>
      <p:sp>
        <p:nvSpPr>
          <p:cNvPr id="113" name="Line 82"/>
          <p:cNvSpPr/>
          <p:nvPr/>
        </p:nvSpPr>
        <p:spPr>
          <a:xfrm flipH="1">
            <a:off x="2520950" y="2968625"/>
            <a:ext cx="433388" cy="0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14" name="Rectangle 101"/>
          <p:cNvSpPr>
            <a:spLocks noChangeArrowheads="1"/>
          </p:cNvSpPr>
          <p:nvPr/>
        </p:nvSpPr>
        <p:spPr bwMode="auto">
          <a:xfrm>
            <a:off x="2881313" y="2608263"/>
            <a:ext cx="51435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115" name="Rectangle 103"/>
          <p:cNvSpPr>
            <a:spLocks noChangeArrowheads="1"/>
          </p:cNvSpPr>
          <p:nvPr/>
        </p:nvSpPr>
        <p:spPr bwMode="auto">
          <a:xfrm>
            <a:off x="3203575" y="2852738"/>
            <a:ext cx="4191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16" name="Line 83"/>
          <p:cNvSpPr/>
          <p:nvPr/>
        </p:nvSpPr>
        <p:spPr>
          <a:xfrm rot="10800000" flipH="1" flipV="1">
            <a:off x="6072188" y="4100513"/>
            <a:ext cx="592137" cy="4762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17" name="Rectangle 102"/>
          <p:cNvSpPr>
            <a:spLocks noChangeArrowheads="1"/>
          </p:cNvSpPr>
          <p:nvPr/>
        </p:nvSpPr>
        <p:spPr bwMode="auto">
          <a:xfrm>
            <a:off x="6732588" y="3752850"/>
            <a:ext cx="51435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118" name="Rectangle 104"/>
          <p:cNvSpPr>
            <a:spLocks noChangeArrowheads="1"/>
          </p:cNvSpPr>
          <p:nvPr/>
        </p:nvSpPr>
        <p:spPr bwMode="auto">
          <a:xfrm>
            <a:off x="7078663" y="4043363"/>
            <a:ext cx="3857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  <p:bldP spid="117" grpId="0" bldLvl="0" animBg="1"/>
      <p:bldP spid="118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矩形 423039"/>
          <p:cNvSpPr/>
          <p:nvPr/>
        </p:nvSpPr>
        <p:spPr>
          <a:xfrm>
            <a:off x="6443663" y="1052513"/>
            <a:ext cx="2627312" cy="5113337"/>
          </a:xfrm>
          <a:prstGeom prst="rect">
            <a:avLst/>
          </a:prstGeom>
          <a:noFill/>
          <a:ln w="25400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4" name="任意多边形 423018"/>
          <p:cNvSpPr/>
          <p:nvPr/>
        </p:nvSpPr>
        <p:spPr>
          <a:xfrm rot="10800000" flipH="1" flipV="1">
            <a:off x="6711950" y="2216150"/>
            <a:ext cx="2044700" cy="596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455824039"/>
              </a:cxn>
              <a:cxn ang="0">
                <a:pos x="2147483646" y="455824039"/>
              </a:cxn>
              <a:cxn ang="0">
                <a:pos x="2147483646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3746" y="21600"/>
                </a:lnTo>
                <a:lnTo>
                  <a:pt x="17854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55" name="任意多边形 423019"/>
          <p:cNvSpPr/>
          <p:nvPr/>
        </p:nvSpPr>
        <p:spPr>
          <a:xfrm flipV="1">
            <a:off x="6788150" y="4502150"/>
            <a:ext cx="2044700" cy="596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455824039"/>
              </a:cxn>
              <a:cxn ang="0">
                <a:pos x="2147483646" y="455824039"/>
              </a:cxn>
              <a:cxn ang="0">
                <a:pos x="2147483646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3746" y="21600"/>
                </a:lnTo>
                <a:lnTo>
                  <a:pt x="17854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CC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56" name="椭圆 423020"/>
          <p:cNvSpPr/>
          <p:nvPr/>
        </p:nvSpPr>
        <p:spPr>
          <a:xfrm>
            <a:off x="7321550" y="3206750"/>
            <a:ext cx="825500" cy="825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7" name="下箭头 423021"/>
          <p:cNvSpPr/>
          <p:nvPr/>
        </p:nvSpPr>
        <p:spPr>
          <a:xfrm>
            <a:off x="7632700" y="2679700"/>
            <a:ext cx="279400" cy="736600"/>
          </a:xfrm>
          <a:prstGeom prst="downArrow">
            <a:avLst>
              <a:gd name="adj1" fmla="val 50000"/>
              <a:gd name="adj2" fmla="val 96080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8" name="右箭头 423022"/>
          <p:cNvSpPr/>
          <p:nvPr/>
        </p:nvSpPr>
        <p:spPr>
          <a:xfrm>
            <a:off x="8013700" y="3517900"/>
            <a:ext cx="736600" cy="279400"/>
          </a:xfrm>
          <a:prstGeom prst="rightArrow">
            <a:avLst>
              <a:gd name="adj1" fmla="val 50000"/>
              <a:gd name="adj2" fmla="val 96080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9" name="下箭头 423023"/>
          <p:cNvSpPr/>
          <p:nvPr/>
        </p:nvSpPr>
        <p:spPr>
          <a:xfrm>
            <a:off x="7632700" y="3975100"/>
            <a:ext cx="279400" cy="736600"/>
          </a:xfrm>
          <a:prstGeom prst="downArrow">
            <a:avLst>
              <a:gd name="adj1" fmla="val 50000"/>
              <a:gd name="adj2" fmla="val 96080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3025" name="矩形 423024"/>
          <p:cNvSpPr/>
          <p:nvPr/>
        </p:nvSpPr>
        <p:spPr>
          <a:xfrm>
            <a:off x="8442325" y="2970213"/>
            <a:ext cx="4397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423026" name="矩形 423025"/>
          <p:cNvSpPr/>
          <p:nvPr/>
        </p:nvSpPr>
        <p:spPr>
          <a:xfrm>
            <a:off x="7083425" y="2741613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423027" name="矩形 423026"/>
          <p:cNvSpPr/>
          <p:nvPr/>
        </p:nvSpPr>
        <p:spPr>
          <a:xfrm>
            <a:off x="7154863" y="3933825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423028" name="矩形 423027"/>
          <p:cNvSpPr/>
          <p:nvPr/>
        </p:nvSpPr>
        <p:spPr>
          <a:xfrm>
            <a:off x="7299325" y="2960688"/>
            <a:ext cx="3524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423029" name="矩形 423028"/>
          <p:cNvSpPr/>
          <p:nvPr/>
        </p:nvSpPr>
        <p:spPr>
          <a:xfrm>
            <a:off x="7375525" y="4184650"/>
            <a:ext cx="3524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423030" name="矩形 423029"/>
          <p:cNvSpPr/>
          <p:nvPr/>
        </p:nvSpPr>
        <p:spPr>
          <a:xfrm>
            <a:off x="6842125" y="1995488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高温热源</a:t>
            </a:r>
          </a:p>
        </p:txBody>
      </p:sp>
      <p:sp>
        <p:nvSpPr>
          <p:cNvPr id="423031" name="矩形 423030"/>
          <p:cNvSpPr/>
          <p:nvPr/>
        </p:nvSpPr>
        <p:spPr>
          <a:xfrm>
            <a:off x="6994525" y="4891088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低温热源</a:t>
            </a:r>
          </a:p>
        </p:txBody>
      </p:sp>
      <p:sp>
        <p:nvSpPr>
          <p:cNvPr id="423032" name="矩形 423031"/>
          <p:cNvSpPr/>
          <p:nvPr/>
        </p:nvSpPr>
        <p:spPr>
          <a:xfrm>
            <a:off x="6424613" y="1157288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热机工作示意图</a:t>
            </a:r>
          </a:p>
        </p:txBody>
      </p:sp>
      <p:sp>
        <p:nvSpPr>
          <p:cNvPr id="128" name="椭圆 127"/>
          <p:cNvSpPr/>
          <p:nvPr/>
        </p:nvSpPr>
        <p:spPr bwMode="auto">
          <a:xfrm>
            <a:off x="7380288" y="3235325"/>
            <a:ext cx="720725" cy="769938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工作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物质</a:t>
            </a:r>
          </a:p>
        </p:txBody>
      </p:sp>
      <p:sp>
        <p:nvSpPr>
          <p:cNvPr id="125969" name="矩形 422913"/>
          <p:cNvSpPr/>
          <p:nvPr/>
        </p:nvSpPr>
        <p:spPr>
          <a:xfrm>
            <a:off x="893763" y="38560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0" name="矩形 422914"/>
          <p:cNvSpPr/>
          <p:nvPr/>
        </p:nvSpPr>
        <p:spPr>
          <a:xfrm>
            <a:off x="1122363" y="37036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1" name="矩形 422915"/>
          <p:cNvSpPr/>
          <p:nvPr/>
        </p:nvSpPr>
        <p:spPr>
          <a:xfrm>
            <a:off x="1046163" y="37798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2" name="矩形 422916"/>
          <p:cNvSpPr/>
          <p:nvPr/>
        </p:nvSpPr>
        <p:spPr>
          <a:xfrm>
            <a:off x="817563" y="37798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3" name="矩形 422917"/>
          <p:cNvSpPr/>
          <p:nvPr/>
        </p:nvSpPr>
        <p:spPr>
          <a:xfrm>
            <a:off x="741363" y="36274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4" name="矩形 422918"/>
          <p:cNvSpPr/>
          <p:nvPr/>
        </p:nvSpPr>
        <p:spPr>
          <a:xfrm>
            <a:off x="741363" y="30178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5" name="矩形 422919"/>
          <p:cNvSpPr/>
          <p:nvPr/>
        </p:nvSpPr>
        <p:spPr>
          <a:xfrm>
            <a:off x="665163" y="29416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6" name="矩形 422920"/>
          <p:cNvSpPr/>
          <p:nvPr/>
        </p:nvSpPr>
        <p:spPr>
          <a:xfrm>
            <a:off x="588963" y="28654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7" name="矩形 422921"/>
          <p:cNvSpPr/>
          <p:nvPr/>
        </p:nvSpPr>
        <p:spPr>
          <a:xfrm>
            <a:off x="436563" y="29416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8" name="矩形 422922"/>
          <p:cNvSpPr/>
          <p:nvPr/>
        </p:nvSpPr>
        <p:spPr>
          <a:xfrm>
            <a:off x="360363" y="3094038"/>
            <a:ext cx="1524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79" name="矩形 422923"/>
          <p:cNvSpPr/>
          <p:nvPr/>
        </p:nvSpPr>
        <p:spPr>
          <a:xfrm>
            <a:off x="207963" y="4084638"/>
            <a:ext cx="1295400" cy="38100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3300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80" name="椭圆 422924"/>
          <p:cNvSpPr/>
          <p:nvPr/>
        </p:nvSpPr>
        <p:spPr>
          <a:xfrm>
            <a:off x="5091113" y="2338388"/>
            <a:ext cx="215900" cy="596900"/>
          </a:xfrm>
          <a:prstGeom prst="ellipse">
            <a:avLst/>
          </a:prstGeom>
          <a:gradFill rotWithShape="0">
            <a:gsLst>
              <a:gs pos="0">
                <a:srgbClr val="B26B24"/>
              </a:gs>
              <a:gs pos="50000">
                <a:srgbClr val="FF9933"/>
              </a:gs>
              <a:gs pos="100000">
                <a:srgbClr val="B26B24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81" name="椭圆 422925"/>
          <p:cNvSpPr/>
          <p:nvPr/>
        </p:nvSpPr>
        <p:spPr>
          <a:xfrm>
            <a:off x="4252913" y="2338388"/>
            <a:ext cx="215900" cy="596900"/>
          </a:xfrm>
          <a:prstGeom prst="ellipse">
            <a:avLst/>
          </a:prstGeom>
          <a:gradFill rotWithShape="0">
            <a:gsLst>
              <a:gs pos="0">
                <a:srgbClr val="B26B24"/>
              </a:gs>
              <a:gs pos="50000">
                <a:srgbClr val="FF9933"/>
              </a:gs>
              <a:gs pos="100000">
                <a:srgbClr val="B26B24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" name="任意多边形 422926"/>
          <p:cNvSpPr>
            <a:spLocks noChangeArrowheads="1"/>
          </p:cNvSpPr>
          <p:nvPr/>
        </p:nvSpPr>
        <p:spPr bwMode="auto">
          <a:xfrm rot="16200000" flipH="1" flipV="1">
            <a:off x="2728913" y="2033588"/>
            <a:ext cx="1054100" cy="1206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399" y="21600"/>
              </a:cxn>
              <a:cxn ang="0">
                <a:pos x="16201" y="21600"/>
              </a:cxn>
              <a:cxn ang="0">
                <a:pos x="21600" y="0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rgbClr val="00523D"/>
              </a:gs>
              <a:gs pos="50000">
                <a:schemeClr val="accent1"/>
              </a:gs>
              <a:gs pos="100000">
                <a:srgbClr val="00523D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83" name="矩形 422927"/>
          <p:cNvSpPr/>
          <p:nvPr/>
        </p:nvSpPr>
        <p:spPr>
          <a:xfrm>
            <a:off x="4405313" y="2338388"/>
            <a:ext cx="749300" cy="596900"/>
          </a:xfrm>
          <a:prstGeom prst="rect">
            <a:avLst/>
          </a:prstGeom>
          <a:gradFill rotWithShape="0">
            <a:gsLst>
              <a:gs pos="0">
                <a:srgbClr val="B26B24"/>
              </a:gs>
              <a:gs pos="50000">
                <a:srgbClr val="FF9933"/>
              </a:gs>
              <a:gs pos="100000">
                <a:srgbClr val="B26B24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84" name="任意多边形 422928"/>
          <p:cNvSpPr/>
          <p:nvPr/>
        </p:nvSpPr>
        <p:spPr>
          <a:xfrm flipV="1">
            <a:off x="4252913" y="2947988"/>
            <a:ext cx="1054100" cy="139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8257791" y="5843619"/>
              </a:cxn>
              <a:cxn ang="0">
                <a:pos x="2147483646" y="5843619"/>
              </a:cxn>
              <a:cxn ang="0">
                <a:pos x="2147483646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1964" y="21600"/>
                </a:lnTo>
                <a:lnTo>
                  <a:pt x="19636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96633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85" name="椭圆 422929"/>
          <p:cNvSpPr/>
          <p:nvPr/>
        </p:nvSpPr>
        <p:spPr>
          <a:xfrm>
            <a:off x="4729163" y="2205038"/>
            <a:ext cx="101600" cy="101600"/>
          </a:xfrm>
          <a:prstGeom prst="ellipse">
            <a:avLst/>
          </a:prstGeom>
          <a:noFill/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86" name="矩形 422930"/>
          <p:cNvSpPr/>
          <p:nvPr/>
        </p:nvSpPr>
        <p:spPr>
          <a:xfrm>
            <a:off x="3871913" y="2566988"/>
            <a:ext cx="368300" cy="139700"/>
          </a:xfrm>
          <a:prstGeom prst="rect">
            <a:avLst/>
          </a:prstGeom>
          <a:gradFill rotWithShape="0">
            <a:gsLst>
              <a:gs pos="0">
                <a:srgbClr val="7F4C19"/>
              </a:gs>
              <a:gs pos="50000">
                <a:srgbClr val="FF9933"/>
              </a:gs>
              <a:gs pos="100000">
                <a:srgbClr val="7F4C19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87" name="矩形 422931"/>
          <p:cNvSpPr/>
          <p:nvPr/>
        </p:nvSpPr>
        <p:spPr>
          <a:xfrm>
            <a:off x="1046163" y="1189038"/>
            <a:ext cx="1981200" cy="1524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88" name="矩形 422932"/>
          <p:cNvSpPr/>
          <p:nvPr/>
        </p:nvSpPr>
        <p:spPr>
          <a:xfrm>
            <a:off x="360363" y="3246438"/>
            <a:ext cx="152400" cy="14478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89" name="矩形 422933"/>
          <p:cNvSpPr/>
          <p:nvPr/>
        </p:nvSpPr>
        <p:spPr>
          <a:xfrm>
            <a:off x="741363" y="3170238"/>
            <a:ext cx="152400" cy="4572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90" name="任意多边形 422934"/>
          <p:cNvSpPr/>
          <p:nvPr/>
        </p:nvSpPr>
        <p:spPr>
          <a:xfrm>
            <a:off x="360363" y="2867025"/>
            <a:ext cx="533400" cy="381000"/>
          </a:xfrm>
          <a:custGeom>
            <a:avLst/>
            <a:gdLst/>
            <a:ahLst/>
            <a:cxnLst>
              <a:cxn ang="0">
                <a:pos x="0" y="118540689"/>
              </a:cxn>
              <a:cxn ang="0">
                <a:pos x="40781153" y="0"/>
              </a:cxn>
              <a:cxn ang="0">
                <a:pos x="81482872" y="111066086"/>
              </a:cxn>
              <a:cxn ang="0">
                <a:pos x="0" y="118540689"/>
              </a:cxn>
              <a:cxn ang="0">
                <a:pos x="40781153" y="0"/>
              </a:cxn>
              <a:cxn ang="0">
                <a:pos x="81482872" y="111066086"/>
              </a:cxn>
              <a:cxn ang="0">
                <a:pos x="40781153" y="118540689"/>
              </a:cxn>
              <a:cxn ang="0">
                <a:pos x="0" y="118540689"/>
              </a:cxn>
            </a:cxnLst>
            <a:rect l="0" t="0" r="0" b="0"/>
            <a:pathLst>
              <a:path w="43157" h="21600" fill="none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cubicBezTo>
                  <a:pt x="33074" y="0"/>
                  <a:pt x="42458" y="8946"/>
                  <a:pt x="43158" y="20238"/>
                </a:cubicBezTo>
              </a:path>
              <a:path w="43157" h="21600" stroke="0">
                <a:moveTo>
                  <a:pt x="0" y="21600"/>
                </a:moveTo>
                <a:cubicBezTo>
                  <a:pt x="0" y="9671"/>
                  <a:pt x="9671" y="0"/>
                  <a:pt x="21600" y="0"/>
                </a:cubicBezTo>
                <a:cubicBezTo>
                  <a:pt x="33074" y="0"/>
                  <a:pt x="42458" y="8946"/>
                  <a:pt x="43158" y="2023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91" name="任意多边形 422935"/>
          <p:cNvSpPr/>
          <p:nvPr/>
        </p:nvSpPr>
        <p:spPr>
          <a:xfrm>
            <a:off x="512763" y="3017838"/>
            <a:ext cx="228600" cy="236537"/>
          </a:xfrm>
          <a:custGeom>
            <a:avLst/>
            <a:gdLst/>
            <a:ahLst/>
            <a:cxnLst>
              <a:cxn ang="0">
                <a:pos x="3872" y="25772648"/>
              </a:cxn>
              <a:cxn ang="0">
                <a:pos x="0" y="24568063"/>
              </a:cxn>
              <a:cxn ang="0">
                <a:pos x="3210411" y="0"/>
              </a:cxn>
              <a:cxn ang="0">
                <a:pos x="6414255" y="22990499"/>
              </a:cxn>
              <a:cxn ang="0">
                <a:pos x="3872" y="25772648"/>
              </a:cxn>
              <a:cxn ang="0">
                <a:pos x="0" y="24568063"/>
              </a:cxn>
              <a:cxn ang="0">
                <a:pos x="3210411" y="0"/>
              </a:cxn>
              <a:cxn ang="0">
                <a:pos x="6414255" y="22990499"/>
              </a:cxn>
              <a:cxn ang="0">
                <a:pos x="3210411" y="24568063"/>
              </a:cxn>
              <a:cxn ang="0">
                <a:pos x="3872" y="25772648"/>
              </a:cxn>
            </a:cxnLst>
            <a:rect l="0" t="0" r="0" b="0"/>
            <a:pathLst>
              <a:path w="43156" h="22660" fill="none">
                <a:moveTo>
                  <a:pt x="26" y="22659"/>
                </a:moveTo>
                <a:cubicBezTo>
                  <a:pt x="9" y="22309"/>
                  <a:pt x="0" y="21955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065" y="0"/>
                  <a:pt x="42444" y="8933"/>
                  <a:pt x="43156" y="20213"/>
                </a:cubicBezTo>
              </a:path>
              <a:path w="43156" h="22660" stroke="0">
                <a:moveTo>
                  <a:pt x="26" y="22659"/>
                </a:moveTo>
                <a:cubicBezTo>
                  <a:pt x="9" y="22309"/>
                  <a:pt x="0" y="21955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065" y="0"/>
                  <a:pt x="42444" y="8933"/>
                  <a:pt x="43156" y="20213"/>
                </a:cubicBezTo>
                <a:lnTo>
                  <a:pt x="21600" y="21600"/>
                </a:lnTo>
                <a:lnTo>
                  <a:pt x="26" y="22659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92" name="直接连接符 422936"/>
          <p:cNvSpPr/>
          <p:nvPr/>
        </p:nvSpPr>
        <p:spPr>
          <a:xfrm>
            <a:off x="741363" y="3246438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993" name="直接连接符 422937"/>
          <p:cNvSpPr/>
          <p:nvPr/>
        </p:nvSpPr>
        <p:spPr>
          <a:xfrm>
            <a:off x="893763" y="3246438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994" name="直接连接符 422938"/>
          <p:cNvSpPr/>
          <p:nvPr/>
        </p:nvSpPr>
        <p:spPr>
          <a:xfrm>
            <a:off x="512763" y="3246438"/>
            <a:ext cx="0" cy="1447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995" name="矩形 422940"/>
          <p:cNvSpPr/>
          <p:nvPr/>
        </p:nvSpPr>
        <p:spPr>
          <a:xfrm>
            <a:off x="893763" y="1189038"/>
            <a:ext cx="152400" cy="7620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96" name="任意多边形 422941"/>
          <p:cNvSpPr/>
          <p:nvPr/>
        </p:nvSpPr>
        <p:spPr>
          <a:xfrm rot="10800000">
            <a:off x="895350" y="3629025"/>
            <a:ext cx="228600" cy="238125"/>
          </a:xfrm>
          <a:custGeom>
            <a:avLst/>
            <a:gdLst/>
            <a:ahLst/>
            <a:cxnLst>
              <a:cxn ang="0">
                <a:pos x="0" y="23439030"/>
              </a:cxn>
              <a:cxn ang="0">
                <a:pos x="3203779" y="0"/>
              </a:cxn>
              <a:cxn ang="0">
                <a:pos x="6413958" y="25016546"/>
              </a:cxn>
              <a:cxn ang="0">
                <a:pos x="6410086" y="26261549"/>
              </a:cxn>
              <a:cxn ang="0">
                <a:pos x="0" y="23439030"/>
              </a:cxn>
              <a:cxn ang="0">
                <a:pos x="3203779" y="0"/>
              </a:cxn>
              <a:cxn ang="0">
                <a:pos x="6413958" y="25016546"/>
              </a:cxn>
              <a:cxn ang="0">
                <a:pos x="6410086" y="26261549"/>
              </a:cxn>
              <a:cxn ang="0">
                <a:pos x="3203779" y="25016546"/>
              </a:cxn>
              <a:cxn ang="0">
                <a:pos x="0" y="23439030"/>
              </a:cxn>
            </a:cxnLst>
            <a:rect l="0" t="0" r="0" b="0"/>
            <a:pathLst>
              <a:path w="43157" h="22675" fill="none">
                <a:moveTo>
                  <a:pt x="0" y="20238"/>
                </a:moveTo>
                <a:cubicBezTo>
                  <a:pt x="705" y="8940"/>
                  <a:pt x="10087" y="0"/>
                  <a:pt x="21557" y="0"/>
                </a:cubicBezTo>
                <a:cubicBezTo>
                  <a:pt x="33486" y="0"/>
                  <a:pt x="43157" y="9671"/>
                  <a:pt x="43157" y="21600"/>
                </a:cubicBezTo>
                <a:cubicBezTo>
                  <a:pt x="43157" y="21962"/>
                  <a:pt x="43148" y="22321"/>
                  <a:pt x="43131" y="22675"/>
                </a:cubicBezTo>
              </a:path>
              <a:path w="43157" h="22675" stroke="0">
                <a:moveTo>
                  <a:pt x="0" y="20238"/>
                </a:moveTo>
                <a:cubicBezTo>
                  <a:pt x="705" y="8940"/>
                  <a:pt x="10087" y="0"/>
                  <a:pt x="21557" y="0"/>
                </a:cubicBezTo>
                <a:cubicBezTo>
                  <a:pt x="33486" y="0"/>
                  <a:pt x="43157" y="9671"/>
                  <a:pt x="43157" y="21600"/>
                </a:cubicBezTo>
                <a:cubicBezTo>
                  <a:pt x="43157" y="21962"/>
                  <a:pt x="43148" y="22321"/>
                  <a:pt x="43131" y="22675"/>
                </a:cubicBezTo>
                <a:lnTo>
                  <a:pt x="21557" y="21600"/>
                </a:lnTo>
                <a:lnTo>
                  <a:pt x="0" y="20238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997" name="矩形 422942"/>
          <p:cNvSpPr/>
          <p:nvPr/>
        </p:nvSpPr>
        <p:spPr>
          <a:xfrm>
            <a:off x="233363" y="2814638"/>
            <a:ext cx="1244600" cy="1625600"/>
          </a:xfrm>
          <a:prstGeom prst="rect">
            <a:avLst/>
          </a:prstGeom>
          <a:noFill/>
          <a:ln w="508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98" name="矩形 422943"/>
          <p:cNvSpPr/>
          <p:nvPr/>
        </p:nvSpPr>
        <p:spPr>
          <a:xfrm rot="-3780000">
            <a:off x="1208088" y="1720850"/>
            <a:ext cx="134937" cy="617538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99" name="矩形 422944"/>
          <p:cNvSpPr/>
          <p:nvPr/>
        </p:nvSpPr>
        <p:spPr>
          <a:xfrm rot="4260000">
            <a:off x="1081088" y="1820863"/>
            <a:ext cx="152400" cy="8382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00" name="矩形 422945"/>
          <p:cNvSpPr/>
          <p:nvPr/>
        </p:nvSpPr>
        <p:spPr>
          <a:xfrm rot="-2760000">
            <a:off x="938213" y="2208213"/>
            <a:ext cx="134937" cy="649287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01" name="任意多边形 422946"/>
          <p:cNvSpPr/>
          <p:nvPr/>
        </p:nvSpPr>
        <p:spPr>
          <a:xfrm>
            <a:off x="665163" y="1189038"/>
            <a:ext cx="611187" cy="16017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0" t="0" r="0" b="0"/>
            <a:pathLst>
              <a:path w="385" h="1009">
                <a:moveTo>
                  <a:pt x="288" y="1008"/>
                </a:moveTo>
                <a:lnTo>
                  <a:pt x="0" y="672"/>
                </a:lnTo>
                <a:lnTo>
                  <a:pt x="384" y="576"/>
                </a:lnTo>
                <a:lnTo>
                  <a:pt x="144" y="480"/>
                </a:lnTo>
                <a:lnTo>
                  <a:pt x="144" y="0"/>
                </a:lnTo>
                <a:lnTo>
                  <a:pt x="144" y="9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02" name="任意多边形 422947"/>
          <p:cNvSpPr/>
          <p:nvPr/>
        </p:nvSpPr>
        <p:spPr>
          <a:xfrm>
            <a:off x="893763" y="1189038"/>
            <a:ext cx="2135187" cy="10683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345" h="673">
                <a:moveTo>
                  <a:pt x="0" y="0"/>
                </a:moveTo>
                <a:lnTo>
                  <a:pt x="1344" y="0"/>
                </a:lnTo>
                <a:lnTo>
                  <a:pt x="1344" y="672"/>
                </a:lnTo>
                <a:lnTo>
                  <a:pt x="1344" y="62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03" name="直接连接符 422948"/>
          <p:cNvSpPr/>
          <p:nvPr/>
        </p:nvSpPr>
        <p:spPr>
          <a:xfrm>
            <a:off x="969963" y="2332038"/>
            <a:ext cx="3810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04" name="直接连接符 422949"/>
          <p:cNvSpPr/>
          <p:nvPr/>
        </p:nvSpPr>
        <p:spPr>
          <a:xfrm flipV="1">
            <a:off x="969963" y="2179638"/>
            <a:ext cx="685800" cy="152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05" name="直接连接符 422950"/>
          <p:cNvSpPr/>
          <p:nvPr/>
        </p:nvSpPr>
        <p:spPr>
          <a:xfrm flipH="1" flipV="1">
            <a:off x="1046163" y="1798638"/>
            <a:ext cx="60960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06" name="直接连接符 422951"/>
          <p:cNvSpPr/>
          <p:nvPr/>
        </p:nvSpPr>
        <p:spPr>
          <a:xfrm flipV="1">
            <a:off x="1046163" y="1341438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07" name="直接连接符 422952"/>
          <p:cNvSpPr/>
          <p:nvPr/>
        </p:nvSpPr>
        <p:spPr>
          <a:xfrm>
            <a:off x="1046163" y="1341438"/>
            <a:ext cx="1828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08" name="直接连接符 422953"/>
          <p:cNvSpPr/>
          <p:nvPr/>
        </p:nvSpPr>
        <p:spPr>
          <a:xfrm>
            <a:off x="2874963" y="1341438"/>
            <a:ext cx="0" cy="990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09" name="矩形 422954"/>
          <p:cNvSpPr/>
          <p:nvPr/>
        </p:nvSpPr>
        <p:spPr>
          <a:xfrm>
            <a:off x="3408363" y="3094038"/>
            <a:ext cx="152400" cy="6858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10" name="直接连接符 422955"/>
          <p:cNvSpPr/>
          <p:nvPr/>
        </p:nvSpPr>
        <p:spPr>
          <a:xfrm>
            <a:off x="1655763" y="2103438"/>
            <a:ext cx="0" cy="76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11" name="任意多边形 422956"/>
          <p:cNvSpPr/>
          <p:nvPr/>
        </p:nvSpPr>
        <p:spPr>
          <a:xfrm rot="10800000">
            <a:off x="742950" y="3656013"/>
            <a:ext cx="533400" cy="430212"/>
          </a:xfrm>
          <a:custGeom>
            <a:avLst/>
            <a:gdLst/>
            <a:ahLst/>
            <a:cxnLst>
              <a:cxn ang="0">
                <a:pos x="338907" y="133928579"/>
              </a:cxn>
              <a:cxn ang="0">
                <a:pos x="0" y="118642406"/>
              </a:cxn>
              <a:cxn ang="0">
                <a:pos x="40659452" y="0"/>
              </a:cxn>
              <a:cxn ang="0">
                <a:pos x="81318904" y="118642406"/>
              </a:cxn>
              <a:cxn ang="0">
                <a:pos x="338907" y="133928579"/>
              </a:cxn>
              <a:cxn ang="0">
                <a:pos x="0" y="118642406"/>
              </a:cxn>
              <a:cxn ang="0">
                <a:pos x="40659452" y="0"/>
              </a:cxn>
              <a:cxn ang="0">
                <a:pos x="81318904" y="118642406"/>
              </a:cxn>
              <a:cxn ang="0">
                <a:pos x="40659452" y="118642406"/>
              </a:cxn>
              <a:cxn ang="0">
                <a:pos x="338907" y="133928579"/>
              </a:cxn>
            </a:cxnLst>
            <a:rect l="0" t="0" r="0" b="0"/>
            <a:pathLst>
              <a:path w="43200" h="24383" fill="none">
                <a:moveTo>
                  <a:pt x="180" y="24383"/>
                </a:moveTo>
                <a:cubicBezTo>
                  <a:pt x="61" y="23474"/>
                  <a:pt x="0" y="22544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529" y="0"/>
                  <a:pt x="43200" y="9671"/>
                  <a:pt x="43200" y="21600"/>
                </a:cubicBezTo>
              </a:path>
              <a:path w="43200" h="24383" stroke="0">
                <a:moveTo>
                  <a:pt x="180" y="24383"/>
                </a:moveTo>
                <a:cubicBezTo>
                  <a:pt x="61" y="23474"/>
                  <a:pt x="0" y="22544"/>
                  <a:pt x="0" y="21600"/>
                </a:cubicBezTo>
                <a:cubicBezTo>
                  <a:pt x="0" y="9671"/>
                  <a:pt x="9671" y="0"/>
                  <a:pt x="21600" y="0"/>
                </a:cubicBezTo>
                <a:cubicBezTo>
                  <a:pt x="33529" y="0"/>
                  <a:pt x="43200" y="9671"/>
                  <a:pt x="43200" y="21600"/>
                </a:cubicBezTo>
                <a:lnTo>
                  <a:pt x="21600" y="21600"/>
                </a:lnTo>
                <a:lnTo>
                  <a:pt x="180" y="24383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12" name="任意多边形 422957"/>
          <p:cNvSpPr/>
          <p:nvPr/>
        </p:nvSpPr>
        <p:spPr>
          <a:xfrm>
            <a:off x="4324350" y="4475163"/>
            <a:ext cx="120650" cy="68262"/>
          </a:xfrm>
          <a:custGeom>
            <a:avLst/>
            <a:gdLst/>
            <a:ahLst/>
            <a:cxnLst>
              <a:cxn ang="0">
                <a:pos x="13833073" y="0"/>
              </a:cxn>
              <a:cxn ang="0">
                <a:pos x="14109994" y="6245"/>
              </a:cxn>
              <a:cxn ang="0">
                <a:pos x="13833073" y="0"/>
              </a:cxn>
              <a:cxn ang="0">
                <a:pos x="14109994" y="6245"/>
              </a:cxn>
              <a:cxn ang="0">
                <a:pos x="0" y="916946"/>
              </a:cxn>
              <a:cxn ang="0">
                <a:pos x="13833073" y="0"/>
              </a:cxn>
            </a:cxnLst>
            <a:rect l="0" t="0" r="0" b="0"/>
            <a:pathLst>
              <a:path w="11157" h="18625" fill="none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</a:path>
              <a:path w="11157" h="18625" stroke="0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  <a:lnTo>
                  <a:pt x="0" y="18625"/>
                </a:lnTo>
                <a:lnTo>
                  <a:pt x="10939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13" name="椭圆 422958"/>
          <p:cNvSpPr/>
          <p:nvPr/>
        </p:nvSpPr>
        <p:spPr>
          <a:xfrm>
            <a:off x="2138363" y="4414838"/>
            <a:ext cx="635000" cy="63500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14" name="直接连接符 422959"/>
          <p:cNvSpPr/>
          <p:nvPr/>
        </p:nvSpPr>
        <p:spPr>
          <a:xfrm flipH="1">
            <a:off x="360363" y="4770438"/>
            <a:ext cx="1752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15" name="任意多边形 422960"/>
          <p:cNvSpPr/>
          <p:nvPr/>
        </p:nvSpPr>
        <p:spPr>
          <a:xfrm>
            <a:off x="4627563" y="4551363"/>
            <a:ext cx="122237" cy="68262"/>
          </a:xfrm>
          <a:custGeom>
            <a:avLst/>
            <a:gdLst/>
            <a:ahLst/>
            <a:cxnLst>
              <a:cxn ang="0">
                <a:pos x="0" y="6540"/>
              </a:cxn>
              <a:cxn ang="0">
                <a:pos x="260977" y="-96"/>
              </a:cxn>
              <a:cxn ang="0">
                <a:pos x="0" y="6540"/>
              </a:cxn>
              <a:cxn ang="0">
                <a:pos x="260977" y="-96"/>
              </a:cxn>
              <a:cxn ang="0">
                <a:pos x="14128211" y="929782"/>
              </a:cxn>
              <a:cxn ang="0">
                <a:pos x="0" y="6540"/>
              </a:cxn>
            </a:cxnLst>
            <a:rect l="0" t="0" r="0" b="0"/>
            <a:pathLst>
              <a:path w="11370" h="18496" fill="none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</a:path>
              <a:path w="11370" h="18496" stroke="0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  <a:lnTo>
                  <a:pt x="11370" y="18496"/>
                </a:lnTo>
                <a:lnTo>
                  <a:pt x="0" y="13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16" name="任意多边形 422961"/>
          <p:cNvSpPr/>
          <p:nvPr/>
        </p:nvSpPr>
        <p:spPr>
          <a:xfrm>
            <a:off x="4703763" y="4475163"/>
            <a:ext cx="122237" cy="68262"/>
          </a:xfrm>
          <a:custGeom>
            <a:avLst/>
            <a:gdLst/>
            <a:ahLst/>
            <a:cxnLst>
              <a:cxn ang="0">
                <a:pos x="0" y="6540"/>
              </a:cxn>
              <a:cxn ang="0">
                <a:pos x="260977" y="-96"/>
              </a:cxn>
              <a:cxn ang="0">
                <a:pos x="0" y="6540"/>
              </a:cxn>
              <a:cxn ang="0">
                <a:pos x="260977" y="-96"/>
              </a:cxn>
              <a:cxn ang="0">
                <a:pos x="14128211" y="929782"/>
              </a:cxn>
              <a:cxn ang="0">
                <a:pos x="0" y="6540"/>
              </a:cxn>
            </a:cxnLst>
            <a:rect l="0" t="0" r="0" b="0"/>
            <a:pathLst>
              <a:path w="11370" h="18496" fill="none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</a:path>
              <a:path w="11370" h="18496" stroke="0">
                <a:moveTo>
                  <a:pt x="0" y="130"/>
                </a:moveTo>
                <a:cubicBezTo>
                  <a:pt x="69" y="84"/>
                  <a:pt x="140" y="40"/>
                  <a:pt x="210" y="-2"/>
                </a:cubicBezTo>
                <a:lnTo>
                  <a:pt x="11370" y="18496"/>
                </a:lnTo>
                <a:lnTo>
                  <a:pt x="0" y="13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17" name="任意多边形 422962"/>
          <p:cNvSpPr/>
          <p:nvPr/>
        </p:nvSpPr>
        <p:spPr>
          <a:xfrm>
            <a:off x="5537200" y="4475163"/>
            <a:ext cx="120650" cy="68262"/>
          </a:xfrm>
          <a:custGeom>
            <a:avLst/>
            <a:gdLst/>
            <a:ahLst/>
            <a:cxnLst>
              <a:cxn ang="0">
                <a:pos x="13833073" y="0"/>
              </a:cxn>
              <a:cxn ang="0">
                <a:pos x="14109994" y="6245"/>
              </a:cxn>
              <a:cxn ang="0">
                <a:pos x="13833073" y="0"/>
              </a:cxn>
              <a:cxn ang="0">
                <a:pos x="14109994" y="6245"/>
              </a:cxn>
              <a:cxn ang="0">
                <a:pos x="0" y="916946"/>
              </a:cxn>
              <a:cxn ang="0">
                <a:pos x="13833073" y="0"/>
              </a:cxn>
            </a:cxnLst>
            <a:rect l="0" t="0" r="0" b="0"/>
            <a:pathLst>
              <a:path w="11157" h="18625" fill="none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</a:path>
              <a:path w="11157" h="18625" stroke="0">
                <a:moveTo>
                  <a:pt x="10939" y="0"/>
                </a:moveTo>
                <a:cubicBezTo>
                  <a:pt x="11015" y="41"/>
                  <a:pt x="11087" y="84"/>
                  <a:pt x="11158" y="127"/>
                </a:cubicBezTo>
                <a:lnTo>
                  <a:pt x="0" y="18625"/>
                </a:lnTo>
                <a:lnTo>
                  <a:pt x="10939" y="0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18" name="任意多边形 422963"/>
          <p:cNvSpPr/>
          <p:nvPr/>
        </p:nvSpPr>
        <p:spPr>
          <a:xfrm>
            <a:off x="4246563" y="3779838"/>
            <a:ext cx="611187" cy="9921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385" h="625">
                <a:moveTo>
                  <a:pt x="0" y="0"/>
                </a:moveTo>
                <a:lnTo>
                  <a:pt x="384" y="192"/>
                </a:lnTo>
                <a:lnTo>
                  <a:pt x="144" y="288"/>
                </a:lnTo>
                <a:lnTo>
                  <a:pt x="384" y="432"/>
                </a:lnTo>
                <a:lnTo>
                  <a:pt x="0" y="624"/>
                </a:lnTo>
              </a:path>
            </a:pathLst>
          </a:custGeom>
          <a:noFill/>
          <a:ln w="127000" cap="rnd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19" name="任意多边形 422964"/>
          <p:cNvSpPr/>
          <p:nvPr/>
        </p:nvSpPr>
        <p:spPr>
          <a:xfrm>
            <a:off x="5084763" y="3779838"/>
            <a:ext cx="611187" cy="9921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0" t="0" r="0" b="0"/>
            <a:pathLst>
              <a:path w="385" h="625">
                <a:moveTo>
                  <a:pt x="384" y="0"/>
                </a:moveTo>
                <a:lnTo>
                  <a:pt x="0" y="192"/>
                </a:lnTo>
                <a:lnTo>
                  <a:pt x="240" y="288"/>
                </a:lnTo>
                <a:lnTo>
                  <a:pt x="0" y="432"/>
                </a:lnTo>
                <a:lnTo>
                  <a:pt x="384" y="624"/>
                </a:lnTo>
              </a:path>
            </a:pathLst>
          </a:custGeom>
          <a:noFill/>
          <a:ln w="127000" cap="rnd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020" name="直接连接符 422965"/>
          <p:cNvSpPr/>
          <p:nvPr/>
        </p:nvSpPr>
        <p:spPr>
          <a:xfrm flipH="1">
            <a:off x="2798763" y="4770438"/>
            <a:ext cx="14478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21" name="直接连接符 422966"/>
          <p:cNvSpPr/>
          <p:nvPr/>
        </p:nvSpPr>
        <p:spPr>
          <a:xfrm flipH="1">
            <a:off x="360363" y="4770438"/>
            <a:ext cx="17526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22" name="直接连接符 422967"/>
          <p:cNvSpPr/>
          <p:nvPr/>
        </p:nvSpPr>
        <p:spPr>
          <a:xfrm flipV="1">
            <a:off x="436563" y="4008438"/>
            <a:ext cx="0" cy="68580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23" name="矩形 422968"/>
          <p:cNvSpPr/>
          <p:nvPr/>
        </p:nvSpPr>
        <p:spPr>
          <a:xfrm rot="1560000">
            <a:off x="4213225" y="3849688"/>
            <a:ext cx="620713" cy="1397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24" name="矩形 422969"/>
          <p:cNvSpPr/>
          <p:nvPr/>
        </p:nvSpPr>
        <p:spPr>
          <a:xfrm>
            <a:off x="3446463" y="3703638"/>
            <a:ext cx="800100" cy="152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25" name="矩形 422970"/>
          <p:cNvSpPr/>
          <p:nvPr/>
        </p:nvSpPr>
        <p:spPr>
          <a:xfrm rot="-1380000">
            <a:off x="4483100" y="4076700"/>
            <a:ext cx="411163" cy="128588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26" name="直接连接符 422971"/>
          <p:cNvSpPr/>
          <p:nvPr/>
        </p:nvSpPr>
        <p:spPr>
          <a:xfrm>
            <a:off x="3408363" y="3094038"/>
            <a:ext cx="0" cy="762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27" name="直接连接符 422972"/>
          <p:cNvSpPr/>
          <p:nvPr/>
        </p:nvSpPr>
        <p:spPr>
          <a:xfrm>
            <a:off x="3560763" y="3094038"/>
            <a:ext cx="0" cy="609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28" name="直接连接符 422973"/>
          <p:cNvSpPr/>
          <p:nvPr/>
        </p:nvSpPr>
        <p:spPr>
          <a:xfrm>
            <a:off x="3560763" y="3703638"/>
            <a:ext cx="685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29" name="直接连接符 422974"/>
          <p:cNvSpPr/>
          <p:nvPr/>
        </p:nvSpPr>
        <p:spPr>
          <a:xfrm>
            <a:off x="3408363" y="3856038"/>
            <a:ext cx="8382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0" name="直接连接符 422975"/>
          <p:cNvSpPr/>
          <p:nvPr/>
        </p:nvSpPr>
        <p:spPr>
          <a:xfrm>
            <a:off x="4246563" y="3703638"/>
            <a:ext cx="6858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1" name="直接连接符 422976"/>
          <p:cNvSpPr/>
          <p:nvPr/>
        </p:nvSpPr>
        <p:spPr>
          <a:xfrm>
            <a:off x="4246563" y="3856038"/>
            <a:ext cx="3810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2" name="直接连接符 422977"/>
          <p:cNvSpPr/>
          <p:nvPr/>
        </p:nvSpPr>
        <p:spPr>
          <a:xfrm flipH="1">
            <a:off x="4322763" y="4084638"/>
            <a:ext cx="304800" cy="152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3" name="直接连接符 422978"/>
          <p:cNvSpPr/>
          <p:nvPr/>
        </p:nvSpPr>
        <p:spPr>
          <a:xfrm flipV="1">
            <a:off x="4627563" y="4084638"/>
            <a:ext cx="304800" cy="152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4" name="直接连接符 422979"/>
          <p:cNvSpPr/>
          <p:nvPr/>
        </p:nvSpPr>
        <p:spPr>
          <a:xfrm>
            <a:off x="4627563" y="4237038"/>
            <a:ext cx="3048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5" name="直接连接符 422980"/>
          <p:cNvSpPr/>
          <p:nvPr/>
        </p:nvSpPr>
        <p:spPr>
          <a:xfrm>
            <a:off x="4322763" y="4237038"/>
            <a:ext cx="3810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6" name="直接连接符 422981"/>
          <p:cNvSpPr/>
          <p:nvPr/>
        </p:nvSpPr>
        <p:spPr>
          <a:xfrm flipH="1">
            <a:off x="512763" y="4694238"/>
            <a:ext cx="1600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7" name="直接连接符 422982"/>
          <p:cNvSpPr/>
          <p:nvPr/>
        </p:nvSpPr>
        <p:spPr>
          <a:xfrm flipH="1">
            <a:off x="4246563" y="4465638"/>
            <a:ext cx="45720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8" name="直接连接符 422983"/>
          <p:cNvSpPr/>
          <p:nvPr/>
        </p:nvSpPr>
        <p:spPr>
          <a:xfrm flipH="1">
            <a:off x="2798763" y="4694238"/>
            <a:ext cx="1447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39" name="直接连接符 422984"/>
          <p:cNvSpPr/>
          <p:nvPr/>
        </p:nvSpPr>
        <p:spPr>
          <a:xfrm flipH="1">
            <a:off x="4246563" y="4465638"/>
            <a:ext cx="6858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40" name="直接连接符 422985"/>
          <p:cNvSpPr/>
          <p:nvPr/>
        </p:nvSpPr>
        <p:spPr>
          <a:xfrm flipH="1">
            <a:off x="2798763" y="4846638"/>
            <a:ext cx="1447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41" name="直接连接符 422986"/>
          <p:cNvSpPr/>
          <p:nvPr/>
        </p:nvSpPr>
        <p:spPr>
          <a:xfrm flipH="1">
            <a:off x="360363" y="4846638"/>
            <a:ext cx="17526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42" name="直接连接符 422987"/>
          <p:cNvSpPr/>
          <p:nvPr/>
        </p:nvSpPr>
        <p:spPr>
          <a:xfrm>
            <a:off x="360363" y="3246438"/>
            <a:ext cx="0" cy="1600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43" name="椭圆 422988"/>
          <p:cNvSpPr/>
          <p:nvPr/>
        </p:nvSpPr>
        <p:spPr>
          <a:xfrm>
            <a:off x="4475163" y="4237038"/>
            <a:ext cx="152400" cy="76200"/>
          </a:xfrm>
          <a:prstGeom prst="ellipse">
            <a:avLst/>
          </a:prstGeom>
          <a:solidFill>
            <a:srgbClr val="66CCFF"/>
          </a:soli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44" name="椭圆 422989"/>
          <p:cNvSpPr/>
          <p:nvPr/>
        </p:nvSpPr>
        <p:spPr>
          <a:xfrm>
            <a:off x="4398963" y="4211638"/>
            <a:ext cx="152400" cy="25400"/>
          </a:xfrm>
          <a:prstGeom prst="ellipse">
            <a:avLst/>
          </a:prstGeom>
          <a:solidFill>
            <a:srgbClr val="66CCFF"/>
          </a:soli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45" name="椭圆 422990"/>
          <p:cNvSpPr/>
          <p:nvPr/>
        </p:nvSpPr>
        <p:spPr>
          <a:xfrm>
            <a:off x="4475163" y="4160838"/>
            <a:ext cx="152400" cy="76200"/>
          </a:xfrm>
          <a:prstGeom prst="ellipse">
            <a:avLst/>
          </a:prstGeom>
          <a:solidFill>
            <a:srgbClr val="66CCFF"/>
          </a:solid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46" name="直接连接符 422991"/>
          <p:cNvSpPr/>
          <p:nvPr/>
        </p:nvSpPr>
        <p:spPr>
          <a:xfrm>
            <a:off x="2189163" y="4770438"/>
            <a:ext cx="5334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126047" name="直接连接符 422992"/>
          <p:cNvSpPr/>
          <p:nvPr/>
        </p:nvSpPr>
        <p:spPr>
          <a:xfrm>
            <a:off x="1503363" y="1265238"/>
            <a:ext cx="6858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26048" name="直接连接符 422995"/>
          <p:cNvSpPr/>
          <p:nvPr/>
        </p:nvSpPr>
        <p:spPr>
          <a:xfrm flipH="1">
            <a:off x="817563" y="4770438"/>
            <a:ext cx="6858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26049" name="矩形 422996"/>
          <p:cNvSpPr/>
          <p:nvPr/>
        </p:nvSpPr>
        <p:spPr>
          <a:xfrm>
            <a:off x="4106863" y="3563938"/>
            <a:ext cx="1803400" cy="14224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50" name="矩形 422997"/>
          <p:cNvSpPr/>
          <p:nvPr/>
        </p:nvSpPr>
        <p:spPr>
          <a:xfrm>
            <a:off x="601663" y="1735138"/>
            <a:ext cx="1193800" cy="889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51" name="直接连接符 422998"/>
          <p:cNvSpPr/>
          <p:nvPr/>
        </p:nvSpPr>
        <p:spPr>
          <a:xfrm>
            <a:off x="5694363" y="3779838"/>
            <a:ext cx="5334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52" name="直接连接符 422999"/>
          <p:cNvSpPr/>
          <p:nvPr/>
        </p:nvSpPr>
        <p:spPr>
          <a:xfrm>
            <a:off x="5694363" y="4770438"/>
            <a:ext cx="533400" cy="0"/>
          </a:xfrm>
          <a:prstGeom prst="line">
            <a:avLst/>
          </a:prstGeom>
          <a:ln w="127000" cap="flat" cmpd="sng">
            <a:solidFill>
              <a:srgbClr val="66CCF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53" name="直接连接符 423000"/>
          <p:cNvSpPr/>
          <p:nvPr/>
        </p:nvSpPr>
        <p:spPr>
          <a:xfrm flipH="1">
            <a:off x="5694363" y="3779838"/>
            <a:ext cx="5334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126054" name="直接连接符 423001"/>
          <p:cNvSpPr/>
          <p:nvPr/>
        </p:nvSpPr>
        <p:spPr>
          <a:xfrm>
            <a:off x="5694363" y="4770438"/>
            <a:ext cx="533400" cy="0"/>
          </a:xfrm>
          <a:prstGeom prst="line">
            <a:avLst/>
          </a:prstGeom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15" name="矩形 214"/>
          <p:cNvSpPr/>
          <p:nvPr/>
        </p:nvSpPr>
        <p:spPr>
          <a:xfrm>
            <a:off x="1385888" y="777875"/>
            <a:ext cx="1073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550 C</a:t>
            </a:r>
          </a:p>
        </p:txBody>
      </p:sp>
      <p:sp>
        <p:nvSpPr>
          <p:cNvPr id="216" name="矩形 215"/>
          <p:cNvSpPr/>
          <p:nvPr/>
        </p:nvSpPr>
        <p:spPr>
          <a:xfrm>
            <a:off x="1984375" y="765175"/>
            <a:ext cx="301625" cy="30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217" name="矩形 216"/>
          <p:cNvSpPr/>
          <p:nvPr/>
        </p:nvSpPr>
        <p:spPr>
          <a:xfrm>
            <a:off x="39688" y="1431925"/>
            <a:ext cx="490538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过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器</a:t>
            </a:r>
          </a:p>
        </p:txBody>
      </p:sp>
      <p:sp>
        <p:nvSpPr>
          <p:cNvPr id="218" name="矩形 217"/>
          <p:cNvSpPr/>
          <p:nvPr/>
        </p:nvSpPr>
        <p:spPr>
          <a:xfrm>
            <a:off x="1487488" y="3336925"/>
            <a:ext cx="490538" cy="8223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炉</a:t>
            </a:r>
          </a:p>
        </p:txBody>
      </p:sp>
      <p:sp>
        <p:nvSpPr>
          <p:cNvPr id="219" name="矩形 218"/>
          <p:cNvSpPr/>
          <p:nvPr/>
        </p:nvSpPr>
        <p:spPr>
          <a:xfrm>
            <a:off x="2020888" y="394652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给水泵</a:t>
            </a:r>
          </a:p>
        </p:txBody>
      </p:sp>
      <p:sp>
        <p:nvSpPr>
          <p:cNvPr id="220" name="矩形 219"/>
          <p:cNvSpPr/>
          <p:nvPr/>
        </p:nvSpPr>
        <p:spPr>
          <a:xfrm>
            <a:off x="4383088" y="501332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冷凝器</a:t>
            </a:r>
          </a:p>
        </p:txBody>
      </p:sp>
      <p:sp>
        <p:nvSpPr>
          <p:cNvPr id="221" name="矩形 220"/>
          <p:cNvSpPr/>
          <p:nvPr/>
        </p:nvSpPr>
        <p:spPr>
          <a:xfrm>
            <a:off x="5526088" y="3832225"/>
            <a:ext cx="412750" cy="9159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冷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水</a:t>
            </a:r>
          </a:p>
        </p:txBody>
      </p:sp>
      <p:sp>
        <p:nvSpPr>
          <p:cNvPr id="222" name="矩形 221"/>
          <p:cNvSpPr/>
          <p:nvPr/>
        </p:nvSpPr>
        <p:spPr>
          <a:xfrm>
            <a:off x="3316288" y="822325"/>
            <a:ext cx="490538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机</a:t>
            </a:r>
          </a:p>
        </p:txBody>
      </p:sp>
      <p:sp>
        <p:nvSpPr>
          <p:cNvPr id="223" name="矩形 222"/>
          <p:cNvSpPr/>
          <p:nvPr/>
        </p:nvSpPr>
        <p:spPr>
          <a:xfrm>
            <a:off x="4230688" y="1660525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发电机</a:t>
            </a:r>
          </a:p>
        </p:txBody>
      </p:sp>
      <p:sp>
        <p:nvSpPr>
          <p:cNvPr id="126064" name="直接连接符 423011"/>
          <p:cNvSpPr/>
          <p:nvPr/>
        </p:nvSpPr>
        <p:spPr>
          <a:xfrm>
            <a:off x="3636963" y="2484438"/>
            <a:ext cx="1295400" cy="0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25" name="矩形 224"/>
          <p:cNvSpPr/>
          <p:nvPr/>
        </p:nvSpPr>
        <p:spPr>
          <a:xfrm>
            <a:off x="3163888" y="2209800"/>
            <a:ext cx="504825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1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226" name="矩形 225"/>
          <p:cNvSpPr/>
          <p:nvPr/>
        </p:nvSpPr>
        <p:spPr>
          <a:xfrm>
            <a:off x="1379538" y="5662613"/>
            <a:ext cx="4470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发电厂蒸汽动力循环示意图</a:t>
            </a:r>
          </a:p>
        </p:txBody>
      </p:sp>
      <p:sp>
        <p:nvSpPr>
          <p:cNvPr id="227" name="矩形 226"/>
          <p:cNvSpPr/>
          <p:nvPr/>
        </p:nvSpPr>
        <p:spPr>
          <a:xfrm>
            <a:off x="5411788" y="4957763"/>
            <a:ext cx="889000" cy="4619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20 C</a:t>
            </a:r>
          </a:p>
        </p:txBody>
      </p:sp>
      <p:sp>
        <p:nvSpPr>
          <p:cNvPr id="228" name="矩形 227"/>
          <p:cNvSpPr/>
          <p:nvPr/>
        </p:nvSpPr>
        <p:spPr>
          <a:xfrm>
            <a:off x="5740400" y="4886325"/>
            <a:ext cx="319088" cy="3365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126069" name="矩形 423034"/>
          <p:cNvSpPr/>
          <p:nvPr/>
        </p:nvSpPr>
        <p:spPr>
          <a:xfrm>
            <a:off x="1122363" y="2789238"/>
            <a:ext cx="152400" cy="914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70" name="直接连接符 423035"/>
          <p:cNvSpPr/>
          <p:nvPr/>
        </p:nvSpPr>
        <p:spPr>
          <a:xfrm>
            <a:off x="1274763" y="2789238"/>
            <a:ext cx="0" cy="838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71" name="直接连接符 423036"/>
          <p:cNvSpPr/>
          <p:nvPr/>
        </p:nvSpPr>
        <p:spPr>
          <a:xfrm>
            <a:off x="1122363" y="2789238"/>
            <a:ext cx="0" cy="838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矩形 231"/>
          <p:cNvSpPr/>
          <p:nvPr/>
        </p:nvSpPr>
        <p:spPr>
          <a:xfrm>
            <a:off x="954088" y="1325563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高温高压蒸汽</a:t>
            </a:r>
          </a:p>
        </p:txBody>
      </p:sp>
      <p:sp>
        <p:nvSpPr>
          <p:cNvPr id="126073" name="Line 82"/>
          <p:cNvSpPr/>
          <p:nvPr/>
        </p:nvSpPr>
        <p:spPr>
          <a:xfrm flipH="1">
            <a:off x="1184275" y="3117850"/>
            <a:ext cx="431800" cy="0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34" name="Rectangle 101"/>
          <p:cNvSpPr>
            <a:spLocks noChangeArrowheads="1"/>
          </p:cNvSpPr>
          <p:nvPr/>
        </p:nvSpPr>
        <p:spPr bwMode="auto">
          <a:xfrm>
            <a:off x="1544638" y="2757488"/>
            <a:ext cx="51435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235" name="Rectangle 103"/>
          <p:cNvSpPr>
            <a:spLocks noChangeArrowheads="1"/>
          </p:cNvSpPr>
          <p:nvPr/>
        </p:nvSpPr>
        <p:spPr bwMode="auto">
          <a:xfrm>
            <a:off x="1866900" y="3001963"/>
            <a:ext cx="4191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126076" name="Line 83"/>
          <p:cNvSpPr/>
          <p:nvPr/>
        </p:nvSpPr>
        <p:spPr>
          <a:xfrm flipH="1" flipV="1">
            <a:off x="3954463" y="4225925"/>
            <a:ext cx="593725" cy="3175"/>
          </a:xfrm>
          <a:prstGeom prst="line">
            <a:avLst/>
          </a:prstGeom>
          <a:ln w="50800" cap="flat" cmpd="sng">
            <a:solidFill>
              <a:srgbClr val="FF3300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37" name="Rectangle 102"/>
          <p:cNvSpPr>
            <a:spLocks noChangeArrowheads="1"/>
          </p:cNvSpPr>
          <p:nvPr/>
        </p:nvSpPr>
        <p:spPr bwMode="auto">
          <a:xfrm>
            <a:off x="3306763" y="3865563"/>
            <a:ext cx="51435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1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238" name="Rectangle 104"/>
          <p:cNvSpPr>
            <a:spLocks noChangeArrowheads="1"/>
          </p:cNvSpPr>
          <p:nvPr/>
        </p:nvSpPr>
        <p:spPr bwMode="auto">
          <a:xfrm>
            <a:off x="3652838" y="4156075"/>
            <a:ext cx="3857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6" name="文本框 419855"/>
          <p:cNvSpPr txBox="1"/>
          <p:nvPr/>
        </p:nvSpPr>
        <p:spPr>
          <a:xfrm>
            <a:off x="4932363" y="4868863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热机循环（正循环）</a:t>
            </a:r>
          </a:p>
        </p:txBody>
      </p:sp>
      <p:sp>
        <p:nvSpPr>
          <p:cNvPr id="419883" name="矩形 419882"/>
          <p:cNvSpPr/>
          <p:nvPr/>
        </p:nvSpPr>
        <p:spPr>
          <a:xfrm>
            <a:off x="4859338" y="1104900"/>
            <a:ext cx="1622425" cy="523875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热机循环</a:t>
            </a:r>
          </a:p>
        </p:txBody>
      </p:sp>
      <p:sp>
        <p:nvSpPr>
          <p:cNvPr id="419891" name="矩形 419890"/>
          <p:cNvSpPr/>
          <p:nvPr/>
        </p:nvSpPr>
        <p:spPr>
          <a:xfrm>
            <a:off x="4932363" y="1844675"/>
            <a:ext cx="3733800" cy="297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419891"/>
          <p:cNvGrpSpPr/>
          <p:nvPr/>
        </p:nvGrpSpPr>
        <p:grpSpPr>
          <a:xfrm>
            <a:off x="4967288" y="1916113"/>
            <a:ext cx="3513137" cy="2797175"/>
            <a:chOff x="3072" y="1632"/>
            <a:chExt cx="2213" cy="1762"/>
          </a:xfrm>
        </p:grpSpPr>
        <p:sp>
          <p:nvSpPr>
            <p:cNvPr id="126981" name="直接连接符 419892"/>
            <p:cNvSpPr/>
            <p:nvPr/>
          </p:nvSpPr>
          <p:spPr>
            <a:xfrm flipV="1">
              <a:off x="3306" y="3120"/>
              <a:ext cx="1974" cy="6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6982" name="直接连接符 419893"/>
            <p:cNvSpPr/>
            <p:nvPr/>
          </p:nvSpPr>
          <p:spPr>
            <a:xfrm flipV="1">
              <a:off x="3306" y="1638"/>
              <a:ext cx="0" cy="1488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26983" name="对象 419894"/>
            <p:cNvGraphicFramePr/>
            <p:nvPr/>
          </p:nvGraphicFramePr>
          <p:xfrm>
            <a:off x="3072" y="1632"/>
            <a:ext cx="192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4" r:id="rId3" imgW="203200" imgH="241300" progId="Equation.3">
                    <p:embed/>
                  </p:oleObj>
                </mc:Choice>
                <mc:Fallback>
                  <p:oleObj r:id="rId3" imgW="203200" imgH="241300" progId="Equation.3">
                    <p:embed/>
                    <p:pic>
                      <p:nvPicPr>
                        <p:cNvPr id="0" name="图片 336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72" y="1632"/>
                          <a:ext cx="192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984" name="对象 419895"/>
            <p:cNvGraphicFramePr/>
            <p:nvPr/>
          </p:nvGraphicFramePr>
          <p:xfrm>
            <a:off x="5088" y="3174"/>
            <a:ext cx="19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5" r:id="rId5" imgW="215900" imgH="241300" progId="Equation.3">
                    <p:embed/>
                  </p:oleObj>
                </mc:Choice>
                <mc:Fallback>
                  <p:oleObj r:id="rId5" imgW="215900" imgH="241300" progId="Equation.3">
                    <p:embed/>
                    <p:pic>
                      <p:nvPicPr>
                        <p:cNvPr id="0" name="图片 336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88" y="3174"/>
                          <a:ext cx="197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985" name="对象 419896"/>
            <p:cNvGraphicFramePr/>
            <p:nvPr/>
          </p:nvGraphicFramePr>
          <p:xfrm>
            <a:off x="3210" y="3126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6" r:id="rId7" imgW="165100" imgH="190500" progId="Equation.3">
                    <p:embed/>
                  </p:oleObj>
                </mc:Choice>
                <mc:Fallback>
                  <p:oleObj r:id="rId7" imgW="165100" imgH="190500" progId="Equation.3">
                    <p:embed/>
                    <p:pic>
                      <p:nvPicPr>
                        <p:cNvPr id="0" name="图片 336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10" y="3126"/>
                          <a:ext cx="177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419897"/>
          <p:cNvGrpSpPr/>
          <p:nvPr/>
        </p:nvGrpSpPr>
        <p:grpSpPr>
          <a:xfrm>
            <a:off x="5881688" y="2373313"/>
            <a:ext cx="1981200" cy="1219200"/>
            <a:chOff x="3648" y="1920"/>
            <a:chExt cx="1248" cy="768"/>
          </a:xfrm>
        </p:grpSpPr>
        <p:sp>
          <p:nvSpPr>
            <p:cNvPr id="126987" name="任意多边形 419898"/>
            <p:cNvSpPr/>
            <p:nvPr/>
          </p:nvSpPr>
          <p:spPr>
            <a:xfrm>
              <a:off x="3648" y="1920"/>
              <a:ext cx="1248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0" y="0"/>
                </a:cxn>
                <a:cxn ang="0">
                  <a:pos x="624" y="96"/>
                </a:cxn>
                <a:cxn ang="0">
                  <a:pos x="957" y="288"/>
                </a:cxn>
                <a:cxn ang="0">
                  <a:pos x="1118" y="446"/>
                </a:cxn>
                <a:cxn ang="0">
                  <a:pos x="1206" y="624"/>
                </a:cxn>
                <a:cxn ang="0">
                  <a:pos x="1248" y="768"/>
                </a:cxn>
                <a:cxn ang="0">
                  <a:pos x="1040" y="768"/>
                </a:cxn>
                <a:cxn ang="0">
                  <a:pos x="790" y="720"/>
                </a:cxn>
                <a:cxn ang="0">
                  <a:pos x="582" y="624"/>
                </a:cxn>
                <a:cxn ang="0">
                  <a:pos x="374" y="528"/>
                </a:cxn>
                <a:cxn ang="0">
                  <a:pos x="250" y="432"/>
                </a:cxn>
                <a:cxn ang="0">
                  <a:pos x="166" y="336"/>
                </a:cxn>
                <a:cxn ang="0">
                  <a:pos x="62" y="206"/>
                </a:cxn>
                <a:cxn ang="0">
                  <a:pos x="27" y="103"/>
                </a:cxn>
                <a:cxn ang="0">
                  <a:pos x="0" y="0"/>
                </a:cxn>
              </a:cxnLst>
              <a:rect l="0" t="0" r="0" b="0"/>
              <a:pathLst>
                <a:path w="1248" h="768">
                  <a:moveTo>
                    <a:pt x="0" y="0"/>
                  </a:moveTo>
                  <a:lnTo>
                    <a:pt x="250" y="0"/>
                  </a:lnTo>
                  <a:lnTo>
                    <a:pt x="624" y="96"/>
                  </a:lnTo>
                  <a:lnTo>
                    <a:pt x="957" y="288"/>
                  </a:lnTo>
                  <a:lnTo>
                    <a:pt x="1118" y="446"/>
                  </a:lnTo>
                  <a:lnTo>
                    <a:pt x="1206" y="624"/>
                  </a:lnTo>
                  <a:lnTo>
                    <a:pt x="1248" y="768"/>
                  </a:lnTo>
                  <a:lnTo>
                    <a:pt x="1040" y="768"/>
                  </a:lnTo>
                  <a:lnTo>
                    <a:pt x="790" y="720"/>
                  </a:lnTo>
                  <a:lnTo>
                    <a:pt x="582" y="624"/>
                  </a:lnTo>
                  <a:lnTo>
                    <a:pt x="374" y="528"/>
                  </a:lnTo>
                  <a:lnTo>
                    <a:pt x="250" y="432"/>
                  </a:lnTo>
                  <a:lnTo>
                    <a:pt x="166" y="336"/>
                  </a:lnTo>
                  <a:lnTo>
                    <a:pt x="62" y="206"/>
                  </a:lnTo>
                  <a:lnTo>
                    <a:pt x="27" y="10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6988" name="对象 419899"/>
            <p:cNvGraphicFramePr/>
            <p:nvPr/>
          </p:nvGraphicFramePr>
          <p:xfrm>
            <a:off x="4180" y="2199"/>
            <a:ext cx="171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7" r:id="rId10" imgW="178435" imgH="178435" progId="Equation.DSMT4">
                    <p:embed/>
                  </p:oleObj>
                </mc:Choice>
                <mc:Fallback>
                  <p:oleObj r:id="rId10" imgW="178435" imgH="178435" progId="Equation.DSMT4">
                    <p:embed/>
                    <p:pic>
                      <p:nvPicPr>
                        <p:cNvPr id="0" name="图片 336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80" y="2199"/>
                          <a:ext cx="171" cy="1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419900"/>
          <p:cNvGrpSpPr/>
          <p:nvPr/>
        </p:nvGrpSpPr>
        <p:grpSpPr>
          <a:xfrm>
            <a:off x="5653088" y="1916113"/>
            <a:ext cx="2743200" cy="2895600"/>
            <a:chOff x="3504" y="1632"/>
            <a:chExt cx="1728" cy="1824"/>
          </a:xfrm>
        </p:grpSpPr>
        <p:sp>
          <p:nvSpPr>
            <p:cNvPr id="126990" name="任意多边形 419901"/>
            <p:cNvSpPr/>
            <p:nvPr/>
          </p:nvSpPr>
          <p:spPr>
            <a:xfrm>
              <a:off x="3648" y="1921"/>
              <a:ext cx="1252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4" h="21600" fill="none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</a:path>
                <a:path w="21594" h="21600" stroke="0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91" name="直接连接符 419902"/>
            <p:cNvSpPr/>
            <p:nvPr/>
          </p:nvSpPr>
          <p:spPr>
            <a:xfrm>
              <a:off x="4368" y="2064"/>
              <a:ext cx="192" cy="96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19904" name="文本框 419903"/>
            <p:cNvSpPr txBox="1"/>
            <p:nvPr/>
          </p:nvSpPr>
          <p:spPr>
            <a:xfrm>
              <a:off x="3504" y="1632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419905" name="文本框 419904"/>
            <p:cNvSpPr txBox="1"/>
            <p:nvPr/>
          </p:nvSpPr>
          <p:spPr>
            <a:xfrm>
              <a:off x="4896" y="254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26994" name="直接连接符 419905"/>
            <p:cNvSpPr/>
            <p:nvPr/>
          </p:nvSpPr>
          <p:spPr>
            <a:xfrm>
              <a:off x="3648" y="1920"/>
              <a:ext cx="0" cy="1200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6995" name="直接连接符 419906"/>
            <p:cNvSpPr/>
            <p:nvPr/>
          </p:nvSpPr>
          <p:spPr>
            <a:xfrm>
              <a:off x="4896" y="2688"/>
              <a:ext cx="0" cy="432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26996" name="对象 419907"/>
            <p:cNvGraphicFramePr/>
            <p:nvPr/>
          </p:nvGraphicFramePr>
          <p:xfrm>
            <a:off x="3552" y="3072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8" r:id="rId12" imgW="139700" imgH="165100" progId="Equation.3">
                    <p:embed/>
                  </p:oleObj>
                </mc:Choice>
                <mc:Fallback>
                  <p:oleObj r:id="rId12" imgW="139700" imgH="165100" progId="Equation.3">
                    <p:embed/>
                    <p:pic>
                      <p:nvPicPr>
                        <p:cNvPr id="0" name="图片 336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552" y="3072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997" name="对象 419908"/>
            <p:cNvGraphicFramePr/>
            <p:nvPr/>
          </p:nvGraphicFramePr>
          <p:xfrm>
            <a:off x="4800" y="3120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9" r:id="rId14" imgW="139700" imgH="165100" progId="Equation.3">
                    <p:embed/>
                  </p:oleObj>
                </mc:Choice>
                <mc:Fallback>
                  <p:oleObj r:id="rId14" imgW="139700" imgH="165100" progId="Equation.3">
                    <p:embed/>
                    <p:pic>
                      <p:nvPicPr>
                        <p:cNvPr id="0" name="图片 336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800" y="3120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6998" name="对象 419909"/>
            <p:cNvGraphicFramePr/>
            <p:nvPr/>
          </p:nvGraphicFramePr>
          <p:xfrm>
            <a:off x="4430" y="1920"/>
            <a:ext cx="163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90" r:id="rId16" imgW="152400" imgH="190500" progId="Equation.3">
                    <p:embed/>
                  </p:oleObj>
                </mc:Choice>
                <mc:Fallback>
                  <p:oleObj r:id="rId16" imgW="152400" imgH="190500" progId="Equation.3">
                    <p:embed/>
                    <p:pic>
                      <p:nvPicPr>
                        <p:cNvPr id="0" name="图片 336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430" y="1920"/>
                          <a:ext cx="163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19910"/>
          <p:cNvGrpSpPr/>
          <p:nvPr/>
        </p:nvGrpSpPr>
        <p:grpSpPr>
          <a:xfrm>
            <a:off x="5881688" y="2297113"/>
            <a:ext cx="1981200" cy="1422400"/>
            <a:chOff x="3648" y="1872"/>
            <a:chExt cx="1248" cy="896"/>
          </a:xfrm>
        </p:grpSpPr>
        <p:sp>
          <p:nvSpPr>
            <p:cNvPr id="127000" name="任意多边形 419911"/>
            <p:cNvSpPr/>
            <p:nvPr/>
          </p:nvSpPr>
          <p:spPr>
            <a:xfrm flipH="1" flipV="1">
              <a:off x="3648" y="1872"/>
              <a:ext cx="1248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1" h="21600" fill="none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</a:path>
                <a:path w="21591" h="21600" stroke="0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1" name="直接连接符 419912"/>
            <p:cNvSpPr/>
            <p:nvPr/>
          </p:nvSpPr>
          <p:spPr>
            <a:xfrm flipH="1" flipV="1">
              <a:off x="4176" y="2544"/>
              <a:ext cx="144" cy="48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27002" name="对象 419913"/>
            <p:cNvGraphicFramePr/>
            <p:nvPr/>
          </p:nvGraphicFramePr>
          <p:xfrm>
            <a:off x="4080" y="2544"/>
            <a:ext cx="16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91" r:id="rId18" imgW="190500" imgH="254000" progId="Equation.3">
                    <p:embed/>
                  </p:oleObj>
                </mc:Choice>
                <mc:Fallback>
                  <p:oleObj r:id="rId18" imgW="190500" imgH="254000" progId="Equation.3">
                    <p:embed/>
                    <p:pic>
                      <p:nvPicPr>
                        <p:cNvPr id="0" name="图片 3366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080" y="2544"/>
                          <a:ext cx="168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880" name="文本框 419879"/>
          <p:cNvSpPr txBox="1"/>
          <p:nvPr/>
        </p:nvSpPr>
        <p:spPr>
          <a:xfrm>
            <a:off x="7669213" y="4840288"/>
            <a:ext cx="8016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&gt;0</a:t>
            </a:r>
          </a:p>
        </p:txBody>
      </p:sp>
      <p:graphicFrame>
        <p:nvGraphicFramePr>
          <p:cNvPr id="419946" name="对象 419945"/>
          <p:cNvGraphicFramePr/>
          <p:nvPr/>
        </p:nvGraphicFramePr>
        <p:xfrm>
          <a:off x="5005388" y="5359400"/>
          <a:ext cx="1511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2" r:id="rId20" imgW="634365" imgH="203200" progId="Equation.3">
                  <p:embed/>
                </p:oleObj>
              </mc:Choice>
              <mc:Fallback>
                <p:oleObj r:id="rId20" imgW="634365" imgH="203200" progId="Equation.3">
                  <p:embed/>
                  <p:pic>
                    <p:nvPicPr>
                      <p:cNvPr id="0" name="图片 336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005388" y="5359400"/>
                        <a:ext cx="15113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0" name="矩形 419949"/>
          <p:cNvSpPr/>
          <p:nvPr/>
        </p:nvSpPr>
        <p:spPr>
          <a:xfrm>
            <a:off x="6581775" y="5359400"/>
            <a:ext cx="1098550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净吸热</a:t>
            </a:r>
          </a:p>
        </p:txBody>
      </p:sp>
      <p:sp>
        <p:nvSpPr>
          <p:cNvPr id="127006" name="矩形 423039"/>
          <p:cNvSpPr/>
          <p:nvPr/>
        </p:nvSpPr>
        <p:spPr>
          <a:xfrm>
            <a:off x="774700" y="1052513"/>
            <a:ext cx="2627313" cy="5113337"/>
          </a:xfrm>
          <a:prstGeom prst="rect">
            <a:avLst/>
          </a:prstGeom>
          <a:noFill/>
          <a:ln w="25400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007" name="任意多边形 423018"/>
          <p:cNvSpPr/>
          <p:nvPr/>
        </p:nvSpPr>
        <p:spPr>
          <a:xfrm rot="10800000" flipH="1" flipV="1">
            <a:off x="1042988" y="2216150"/>
            <a:ext cx="2044700" cy="596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455824039"/>
              </a:cxn>
              <a:cxn ang="0">
                <a:pos x="2147483646" y="455824039"/>
              </a:cxn>
              <a:cxn ang="0">
                <a:pos x="2147483646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3746" y="21600"/>
                </a:lnTo>
                <a:lnTo>
                  <a:pt x="17854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008" name="任意多边形 423019"/>
          <p:cNvSpPr/>
          <p:nvPr/>
        </p:nvSpPr>
        <p:spPr>
          <a:xfrm flipV="1">
            <a:off x="1119188" y="4502150"/>
            <a:ext cx="2044700" cy="5969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455824039"/>
              </a:cxn>
              <a:cxn ang="0">
                <a:pos x="2147483646" y="455824039"/>
              </a:cxn>
              <a:cxn ang="0">
                <a:pos x="2147483646" y="0"/>
              </a:cxn>
              <a:cxn ang="0">
                <a:pos x="0" y="0"/>
              </a:cxn>
            </a:cxnLst>
            <a:rect l="0" t="0" r="0" b="0"/>
            <a:pathLst>
              <a:path w="21600" h="21600">
                <a:moveTo>
                  <a:pt x="0" y="0"/>
                </a:moveTo>
                <a:lnTo>
                  <a:pt x="3746" y="21600"/>
                </a:lnTo>
                <a:lnTo>
                  <a:pt x="17854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6CC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009" name="椭圆 423020"/>
          <p:cNvSpPr/>
          <p:nvPr/>
        </p:nvSpPr>
        <p:spPr>
          <a:xfrm>
            <a:off x="1652588" y="3206750"/>
            <a:ext cx="825500" cy="8255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010" name="下箭头 423021"/>
          <p:cNvSpPr/>
          <p:nvPr/>
        </p:nvSpPr>
        <p:spPr>
          <a:xfrm>
            <a:off x="1963738" y="2679700"/>
            <a:ext cx="279400" cy="736600"/>
          </a:xfrm>
          <a:prstGeom prst="downArrow">
            <a:avLst>
              <a:gd name="adj1" fmla="val 50000"/>
              <a:gd name="adj2" fmla="val 96080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011" name="右箭头 423022"/>
          <p:cNvSpPr/>
          <p:nvPr/>
        </p:nvSpPr>
        <p:spPr>
          <a:xfrm>
            <a:off x="2344738" y="3517900"/>
            <a:ext cx="736600" cy="279400"/>
          </a:xfrm>
          <a:prstGeom prst="rightArrow">
            <a:avLst>
              <a:gd name="adj1" fmla="val 50000"/>
              <a:gd name="adj2" fmla="val 96080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7012" name="下箭头 423023"/>
          <p:cNvSpPr/>
          <p:nvPr/>
        </p:nvSpPr>
        <p:spPr>
          <a:xfrm>
            <a:off x="1963738" y="3975100"/>
            <a:ext cx="279400" cy="736600"/>
          </a:xfrm>
          <a:prstGeom prst="downArrow">
            <a:avLst>
              <a:gd name="adj1" fmla="val 50000"/>
              <a:gd name="adj2" fmla="val 96080"/>
            </a:avLst>
          </a:prstGeom>
          <a:solidFill>
            <a:srgbClr val="FFFF00"/>
          </a:solidFill>
          <a:ln w="254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773363" y="2970213"/>
            <a:ext cx="4397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73" name="矩形 72"/>
          <p:cNvSpPr/>
          <p:nvPr/>
        </p:nvSpPr>
        <p:spPr>
          <a:xfrm>
            <a:off x="1414463" y="2741613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74" name="矩形 73"/>
          <p:cNvSpPr/>
          <p:nvPr/>
        </p:nvSpPr>
        <p:spPr>
          <a:xfrm>
            <a:off x="1485900" y="3933825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</a:p>
        </p:txBody>
      </p:sp>
      <p:sp>
        <p:nvSpPr>
          <p:cNvPr id="75" name="矩形 74"/>
          <p:cNvSpPr/>
          <p:nvPr/>
        </p:nvSpPr>
        <p:spPr>
          <a:xfrm>
            <a:off x="1630363" y="2960688"/>
            <a:ext cx="3524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6" name="矩形 75"/>
          <p:cNvSpPr/>
          <p:nvPr/>
        </p:nvSpPr>
        <p:spPr>
          <a:xfrm>
            <a:off x="1706563" y="4184650"/>
            <a:ext cx="3524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77" name="矩形 76"/>
          <p:cNvSpPr/>
          <p:nvPr/>
        </p:nvSpPr>
        <p:spPr>
          <a:xfrm>
            <a:off x="1173163" y="1995488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高温热源</a:t>
            </a:r>
          </a:p>
        </p:txBody>
      </p:sp>
      <p:sp>
        <p:nvSpPr>
          <p:cNvPr id="78" name="矩形 77"/>
          <p:cNvSpPr/>
          <p:nvPr/>
        </p:nvSpPr>
        <p:spPr>
          <a:xfrm>
            <a:off x="1325563" y="4891088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低温热源</a:t>
            </a:r>
          </a:p>
        </p:txBody>
      </p:sp>
      <p:sp>
        <p:nvSpPr>
          <p:cNvPr id="79" name="矩形 78"/>
          <p:cNvSpPr/>
          <p:nvPr/>
        </p:nvSpPr>
        <p:spPr>
          <a:xfrm>
            <a:off x="755650" y="1157288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热机工作示意图</a:t>
            </a:r>
          </a:p>
        </p:txBody>
      </p:sp>
      <p:sp>
        <p:nvSpPr>
          <p:cNvPr id="80" name="椭圆 79"/>
          <p:cNvSpPr/>
          <p:nvPr/>
        </p:nvSpPr>
        <p:spPr bwMode="auto">
          <a:xfrm>
            <a:off x="1711325" y="3235325"/>
            <a:ext cx="720725" cy="769938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工作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物质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1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19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1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1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1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56" grpId="0"/>
      <p:bldP spid="419880" grpId="0"/>
      <p:bldP spid="41995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6" name="文本框 481285"/>
          <p:cNvSpPr txBox="1"/>
          <p:nvPr/>
        </p:nvSpPr>
        <p:spPr>
          <a:xfrm>
            <a:off x="250825" y="188913"/>
            <a:ext cx="8093075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二、制冷机</a:t>
            </a:r>
            <a:r>
              <a:rPr kumimoji="0" lang="en-US" altLang="zh-CN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—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通过外界作功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工作物质</a:t>
            </a: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从低温热源吸收热量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传到高温热源去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使低温物体温度更低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的机器。</a:t>
            </a:r>
          </a:p>
        </p:txBody>
      </p:sp>
      <p:pic>
        <p:nvPicPr>
          <p:cNvPr id="128002" name="ShockwaveFlash1"/>
          <p:cNvPicPr/>
          <p:nvPr/>
        </p:nvPicPr>
        <p:blipFill>
          <a:blip r:embed="rId2"/>
          <a:stretch>
            <a:fillRect/>
          </a:stretch>
        </p:blipFill>
        <p:spPr>
          <a:xfrm>
            <a:off x="684213" y="1700213"/>
            <a:ext cx="7543800" cy="411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文本框 543745"/>
          <p:cNvSpPr txBox="1"/>
          <p:nvPr/>
        </p:nvSpPr>
        <p:spPr>
          <a:xfrm>
            <a:off x="1439863" y="549275"/>
            <a:ext cx="61626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电冰箱的工作原理 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工质：氨、氟利昂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b="1" baseline="-25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9026" name="矩形 543746"/>
          <p:cNvSpPr>
            <a:spLocks noChangeAspect="1" noTextEdit="1"/>
          </p:cNvSpPr>
          <p:nvPr/>
        </p:nvSpPr>
        <p:spPr>
          <a:xfrm>
            <a:off x="914400" y="1196975"/>
            <a:ext cx="7620000" cy="5686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27" name="矩形 543747"/>
          <p:cNvSpPr/>
          <p:nvPr/>
        </p:nvSpPr>
        <p:spPr>
          <a:xfrm>
            <a:off x="914400" y="1255713"/>
            <a:ext cx="7669213" cy="5749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ctr"/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3948" name="文本框 543947"/>
          <p:cNvSpPr txBox="1"/>
          <p:nvPr/>
        </p:nvSpPr>
        <p:spPr>
          <a:xfrm>
            <a:off x="4716463" y="1916113"/>
            <a:ext cx="5105400" cy="30464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液态氟利昂进入蒸发器，</a:t>
            </a:r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汽化，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吸收冰箱（低温热源）的热量，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变成低温低压气体，压缩机将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致冷剂（氟里昂）压缩成高温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高压气体，送至散热器，向空气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（高温热源）中放热，变成液态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氟利昂。经过节流阀减压降温，</a:t>
            </a: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之后变为低压气体再一次循环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……</a:t>
            </a:r>
            <a:r>
              <a:rPr lang="en-US" altLang="zh-CN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.</a:t>
            </a:r>
            <a:r>
              <a:rPr lang="zh-CN" altLang="en-US" b="1" dirty="0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1057275" y="1268413"/>
            <a:ext cx="3595688" cy="5303837"/>
            <a:chOff x="1411" y="833"/>
            <a:chExt cx="2265" cy="3341"/>
          </a:xfrm>
        </p:grpSpPr>
        <p:sp>
          <p:nvSpPr>
            <p:cNvPr id="129030" name="Rectangle 6"/>
            <p:cNvSpPr/>
            <p:nvPr/>
          </p:nvSpPr>
          <p:spPr>
            <a:xfrm>
              <a:off x="3046" y="2234"/>
              <a:ext cx="192" cy="57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031" name="Line 7"/>
            <p:cNvSpPr/>
            <p:nvPr/>
          </p:nvSpPr>
          <p:spPr>
            <a:xfrm flipH="1">
              <a:off x="3024" y="3107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9032" name="Rectangle 8"/>
            <p:cNvSpPr/>
            <p:nvPr/>
          </p:nvSpPr>
          <p:spPr>
            <a:xfrm>
              <a:off x="2256" y="2016"/>
              <a:ext cx="192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033" name="Text Box 9"/>
            <p:cNvSpPr txBox="1"/>
            <p:nvPr/>
          </p:nvSpPr>
          <p:spPr>
            <a:xfrm>
              <a:off x="2271" y="2208"/>
              <a:ext cx="310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氨</a:t>
              </a:r>
            </a:p>
          </p:txBody>
        </p:sp>
        <p:sp>
          <p:nvSpPr>
            <p:cNvPr id="129034" name="Rectangle 33"/>
            <p:cNvSpPr/>
            <p:nvPr/>
          </p:nvSpPr>
          <p:spPr>
            <a:xfrm>
              <a:off x="1663" y="833"/>
              <a:ext cx="2013" cy="3180"/>
            </a:xfrm>
            <a:prstGeom prst="rect">
              <a:avLst/>
            </a:prstGeom>
            <a:solidFill>
              <a:srgbClr val="00CC99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035" name="Rectangle 34"/>
            <p:cNvSpPr/>
            <p:nvPr/>
          </p:nvSpPr>
          <p:spPr>
            <a:xfrm>
              <a:off x="1754" y="924"/>
              <a:ext cx="1831" cy="2998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036" name="Freeform 35"/>
            <p:cNvSpPr/>
            <p:nvPr/>
          </p:nvSpPr>
          <p:spPr>
            <a:xfrm>
              <a:off x="2367" y="1276"/>
              <a:ext cx="785" cy="402"/>
            </a:xfrm>
            <a:custGeom>
              <a:avLst/>
              <a:gdLst/>
              <a:ahLst/>
              <a:cxnLst>
                <a:cxn ang="0">
                  <a:pos x="785" y="402"/>
                </a:cxn>
                <a:cxn ang="0">
                  <a:pos x="0" y="402"/>
                </a:cxn>
                <a:cxn ang="0">
                  <a:pos x="0" y="332"/>
                </a:cxn>
                <a:cxn ang="0">
                  <a:pos x="785" y="332"/>
                </a:cxn>
                <a:cxn ang="0">
                  <a:pos x="785" y="271"/>
                </a:cxn>
                <a:cxn ang="0">
                  <a:pos x="0" y="271"/>
                </a:cxn>
                <a:cxn ang="0">
                  <a:pos x="0" y="201"/>
                </a:cxn>
                <a:cxn ang="0">
                  <a:pos x="785" y="201"/>
                </a:cxn>
                <a:cxn ang="0">
                  <a:pos x="785" y="131"/>
                </a:cxn>
                <a:cxn ang="0">
                  <a:pos x="0" y="131"/>
                </a:cxn>
                <a:cxn ang="0">
                  <a:pos x="0" y="70"/>
                </a:cxn>
                <a:cxn ang="0">
                  <a:pos x="785" y="70"/>
                </a:cxn>
                <a:cxn ang="0">
                  <a:pos x="785" y="0"/>
                </a:cxn>
                <a:cxn ang="0">
                  <a:pos x="0" y="0"/>
                </a:cxn>
              </a:cxnLst>
              <a:rect l="0" t="0" r="0" b="0"/>
              <a:pathLst>
                <a:path w="785" h="402">
                  <a:moveTo>
                    <a:pt x="785" y="402"/>
                  </a:moveTo>
                  <a:lnTo>
                    <a:pt x="0" y="402"/>
                  </a:lnTo>
                  <a:lnTo>
                    <a:pt x="0" y="332"/>
                  </a:lnTo>
                  <a:lnTo>
                    <a:pt x="785" y="332"/>
                  </a:lnTo>
                  <a:lnTo>
                    <a:pt x="785" y="271"/>
                  </a:lnTo>
                  <a:lnTo>
                    <a:pt x="0" y="271"/>
                  </a:lnTo>
                  <a:lnTo>
                    <a:pt x="0" y="201"/>
                  </a:lnTo>
                  <a:lnTo>
                    <a:pt x="785" y="201"/>
                  </a:lnTo>
                  <a:lnTo>
                    <a:pt x="785" y="131"/>
                  </a:lnTo>
                  <a:lnTo>
                    <a:pt x="0" y="131"/>
                  </a:lnTo>
                  <a:lnTo>
                    <a:pt x="0" y="70"/>
                  </a:lnTo>
                  <a:lnTo>
                    <a:pt x="785" y="70"/>
                  </a:lnTo>
                  <a:lnTo>
                    <a:pt x="785" y="0"/>
                  </a:lnTo>
                  <a:lnTo>
                    <a:pt x="0" y="0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9037" name="Group 36"/>
            <p:cNvGrpSpPr/>
            <p:nvPr/>
          </p:nvGrpSpPr>
          <p:grpSpPr>
            <a:xfrm>
              <a:off x="3032" y="3469"/>
              <a:ext cx="523" cy="443"/>
              <a:chOff x="3032" y="3469"/>
              <a:chExt cx="523" cy="443"/>
            </a:xfrm>
          </p:grpSpPr>
          <p:sp>
            <p:nvSpPr>
              <p:cNvPr id="129038" name="Freeform 37"/>
              <p:cNvSpPr/>
              <p:nvPr/>
            </p:nvSpPr>
            <p:spPr>
              <a:xfrm>
                <a:off x="3132" y="3721"/>
                <a:ext cx="322" cy="151"/>
              </a:xfrm>
              <a:custGeom>
                <a:avLst/>
                <a:gdLst/>
                <a:ahLst/>
                <a:cxnLst>
                  <a:cxn ang="0">
                    <a:pos x="0" y="15301"/>
                  </a:cxn>
                  <a:cxn ang="0">
                    <a:pos x="10224" y="0"/>
                  </a:cxn>
                  <a:cxn ang="0">
                    <a:pos x="22379" y="0"/>
                  </a:cxn>
                  <a:cxn ang="0">
                    <a:pos x="32603" y="15301"/>
                  </a:cxn>
                  <a:cxn ang="0">
                    <a:pos x="0" y="15301"/>
                  </a:cxn>
                </a:cxnLst>
                <a:rect l="0" t="0" r="0" b="0"/>
                <a:pathLst>
                  <a:path w="32" h="15">
                    <a:moveTo>
                      <a:pt x="0" y="15"/>
                    </a:moveTo>
                    <a:lnTo>
                      <a:pt x="10" y="0"/>
                    </a:lnTo>
                    <a:lnTo>
                      <a:pt x="22" y="0"/>
                    </a:lnTo>
                    <a:lnTo>
                      <a:pt x="32" y="15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3333CC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39" name="Oval 38"/>
              <p:cNvSpPr/>
              <p:nvPr/>
            </p:nvSpPr>
            <p:spPr>
              <a:xfrm>
                <a:off x="3092" y="3469"/>
                <a:ext cx="383" cy="373"/>
              </a:xfrm>
              <a:prstGeom prst="ellipse">
                <a:avLst/>
              </a:prstGeom>
              <a:solidFill>
                <a:srgbClr val="0099FF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40" name="Freeform 39"/>
              <p:cNvSpPr/>
              <p:nvPr/>
            </p:nvSpPr>
            <p:spPr>
              <a:xfrm>
                <a:off x="3032" y="3882"/>
                <a:ext cx="523" cy="30"/>
              </a:xfrm>
              <a:custGeom>
                <a:avLst/>
                <a:gdLst/>
                <a:ahLst/>
                <a:cxnLst>
                  <a:cxn ang="0">
                    <a:pos x="0" y="3000"/>
                  </a:cxn>
                  <a:cxn ang="0">
                    <a:pos x="2022" y="0"/>
                  </a:cxn>
                  <a:cxn ang="0">
                    <a:pos x="50882" y="0"/>
                  </a:cxn>
                  <a:cxn ang="0">
                    <a:pos x="52903" y="3000"/>
                  </a:cxn>
                  <a:cxn ang="0">
                    <a:pos x="0" y="3000"/>
                  </a:cxn>
                </a:cxnLst>
                <a:rect l="0" t="0" r="0" b="0"/>
                <a:pathLst>
                  <a:path w="52" h="3">
                    <a:moveTo>
                      <a:pt x="0" y="3"/>
                    </a:moveTo>
                    <a:lnTo>
                      <a:pt x="2" y="0"/>
                    </a:lnTo>
                    <a:lnTo>
                      <a:pt x="50" y="0"/>
                    </a:lnTo>
                    <a:lnTo>
                      <a:pt x="5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CC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41" name="Oval 40"/>
              <p:cNvSpPr/>
              <p:nvPr/>
            </p:nvSpPr>
            <p:spPr>
              <a:xfrm>
                <a:off x="3253" y="3620"/>
                <a:ext cx="71" cy="71"/>
              </a:xfrm>
              <a:prstGeom prst="ellipse">
                <a:avLst/>
              </a:prstGeom>
              <a:solidFill>
                <a:srgbClr val="3333CC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9042" name="Group 41"/>
            <p:cNvGrpSpPr/>
            <p:nvPr/>
          </p:nvGrpSpPr>
          <p:grpSpPr>
            <a:xfrm>
              <a:off x="2146" y="2926"/>
              <a:ext cx="765" cy="926"/>
              <a:chOff x="2146" y="2926"/>
              <a:chExt cx="765" cy="926"/>
            </a:xfrm>
          </p:grpSpPr>
          <p:sp>
            <p:nvSpPr>
              <p:cNvPr id="129043" name="Rectangle 42"/>
              <p:cNvSpPr/>
              <p:nvPr/>
            </p:nvSpPr>
            <p:spPr>
              <a:xfrm>
                <a:off x="2186" y="2986"/>
                <a:ext cx="695" cy="805"/>
              </a:xfrm>
              <a:prstGeom prst="rect">
                <a:avLst/>
              </a:prstGeom>
              <a:solidFill>
                <a:srgbClr val="00FFFF"/>
              </a:solidFill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44" name="Line 43"/>
              <p:cNvSpPr/>
              <p:nvPr/>
            </p:nvSpPr>
            <p:spPr>
              <a:xfrm>
                <a:off x="2498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45" name="Line 44"/>
              <p:cNvSpPr/>
              <p:nvPr/>
            </p:nvSpPr>
            <p:spPr>
              <a:xfrm>
                <a:off x="2146" y="3198"/>
                <a:ext cx="765" cy="1"/>
              </a:xfrm>
              <a:prstGeom prst="line">
                <a:avLst/>
              </a:prstGeom>
              <a:ln w="4762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46" name="Line 45"/>
              <p:cNvSpPr/>
              <p:nvPr/>
            </p:nvSpPr>
            <p:spPr>
              <a:xfrm>
                <a:off x="2146" y="3630"/>
                <a:ext cx="765" cy="1"/>
              </a:xfrm>
              <a:prstGeom prst="line">
                <a:avLst/>
              </a:prstGeom>
              <a:ln w="4762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47" name="Line 46"/>
              <p:cNvSpPr/>
              <p:nvPr/>
            </p:nvSpPr>
            <p:spPr>
              <a:xfrm>
                <a:off x="2559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48" name="Line 47"/>
              <p:cNvSpPr/>
              <p:nvPr/>
            </p:nvSpPr>
            <p:spPr>
              <a:xfrm>
                <a:off x="2690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49" name="Line 48"/>
              <p:cNvSpPr/>
              <p:nvPr/>
            </p:nvSpPr>
            <p:spPr>
              <a:xfrm>
                <a:off x="2619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0" name="Line 49"/>
              <p:cNvSpPr/>
              <p:nvPr/>
            </p:nvSpPr>
            <p:spPr>
              <a:xfrm>
                <a:off x="2750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1" name="Line 50"/>
              <p:cNvSpPr/>
              <p:nvPr/>
            </p:nvSpPr>
            <p:spPr>
              <a:xfrm>
                <a:off x="2810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2" name="Line 51"/>
              <p:cNvSpPr/>
              <p:nvPr/>
            </p:nvSpPr>
            <p:spPr>
              <a:xfrm>
                <a:off x="2881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3" name="Line 52"/>
              <p:cNvSpPr/>
              <p:nvPr/>
            </p:nvSpPr>
            <p:spPr>
              <a:xfrm>
                <a:off x="2237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4" name="Line 53"/>
              <p:cNvSpPr/>
              <p:nvPr/>
            </p:nvSpPr>
            <p:spPr>
              <a:xfrm>
                <a:off x="2176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5" name="Line 54"/>
              <p:cNvSpPr/>
              <p:nvPr/>
            </p:nvSpPr>
            <p:spPr>
              <a:xfrm>
                <a:off x="2307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6" name="Line 55"/>
              <p:cNvSpPr/>
              <p:nvPr/>
            </p:nvSpPr>
            <p:spPr>
              <a:xfrm>
                <a:off x="2367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57" name="Line 56"/>
              <p:cNvSpPr/>
              <p:nvPr/>
            </p:nvSpPr>
            <p:spPr>
              <a:xfrm>
                <a:off x="2428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29058" name="Group 57"/>
            <p:cNvGrpSpPr/>
            <p:nvPr/>
          </p:nvGrpSpPr>
          <p:grpSpPr>
            <a:xfrm>
              <a:off x="1955" y="2926"/>
              <a:ext cx="70" cy="523"/>
              <a:chOff x="1955" y="2926"/>
              <a:chExt cx="70" cy="523"/>
            </a:xfrm>
          </p:grpSpPr>
          <p:sp>
            <p:nvSpPr>
              <p:cNvPr id="129059" name="Line 58"/>
              <p:cNvSpPr/>
              <p:nvPr/>
            </p:nvSpPr>
            <p:spPr>
              <a:xfrm>
                <a:off x="1985" y="2976"/>
                <a:ext cx="1" cy="473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60" name="Freeform 59"/>
              <p:cNvSpPr/>
              <p:nvPr/>
            </p:nvSpPr>
            <p:spPr>
              <a:xfrm>
                <a:off x="1955" y="2926"/>
                <a:ext cx="70" cy="111"/>
              </a:xfrm>
              <a:custGeom>
                <a:avLst/>
                <a:gdLst/>
                <a:ahLst/>
                <a:cxnLst>
                  <a:cxn ang="0">
                    <a:pos x="70" y="111"/>
                  </a:cxn>
                  <a:cxn ang="0">
                    <a:pos x="30" y="0"/>
                  </a:cxn>
                  <a:cxn ang="0">
                    <a:pos x="0" y="111"/>
                  </a:cxn>
                  <a:cxn ang="0">
                    <a:pos x="30" y="70"/>
                  </a:cxn>
                  <a:cxn ang="0">
                    <a:pos x="70" y="111"/>
                  </a:cxn>
                </a:cxnLst>
                <a:rect l="0" t="0" r="0" b="0"/>
                <a:pathLst>
                  <a:path w="70" h="111">
                    <a:moveTo>
                      <a:pt x="70" y="111"/>
                    </a:moveTo>
                    <a:lnTo>
                      <a:pt x="30" y="0"/>
                    </a:lnTo>
                    <a:lnTo>
                      <a:pt x="0" y="111"/>
                    </a:lnTo>
                    <a:lnTo>
                      <a:pt x="30" y="70"/>
                    </a:lnTo>
                    <a:lnTo>
                      <a:pt x="70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9061" name="Group 60"/>
            <p:cNvGrpSpPr/>
            <p:nvPr/>
          </p:nvGrpSpPr>
          <p:grpSpPr>
            <a:xfrm>
              <a:off x="3353" y="1888"/>
              <a:ext cx="71" cy="523"/>
              <a:chOff x="3152" y="2282"/>
              <a:chExt cx="71" cy="523"/>
            </a:xfrm>
          </p:grpSpPr>
          <p:sp>
            <p:nvSpPr>
              <p:cNvPr id="129062" name="Line 61"/>
              <p:cNvSpPr/>
              <p:nvPr/>
            </p:nvSpPr>
            <p:spPr>
              <a:xfrm flipV="1">
                <a:off x="3193" y="2282"/>
                <a:ext cx="1" cy="473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63" name="Freeform 62"/>
              <p:cNvSpPr/>
              <p:nvPr/>
            </p:nvSpPr>
            <p:spPr>
              <a:xfrm>
                <a:off x="3152" y="2694"/>
                <a:ext cx="71" cy="1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1" y="111"/>
                  </a:cxn>
                  <a:cxn ang="0">
                    <a:pos x="71" y="0"/>
                  </a:cxn>
                  <a:cxn ang="0">
                    <a:pos x="41" y="41"/>
                  </a:cxn>
                  <a:cxn ang="0">
                    <a:pos x="0" y="0"/>
                  </a:cxn>
                </a:cxnLst>
                <a:rect l="0" t="0" r="0" b="0"/>
                <a:pathLst>
                  <a:path w="71" h="111">
                    <a:moveTo>
                      <a:pt x="0" y="0"/>
                    </a:moveTo>
                    <a:lnTo>
                      <a:pt x="41" y="111"/>
                    </a:lnTo>
                    <a:lnTo>
                      <a:pt x="71" y="0"/>
                    </a:lnTo>
                    <a:lnTo>
                      <a:pt x="41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9064" name="Freeform 63"/>
            <p:cNvSpPr/>
            <p:nvPr/>
          </p:nvSpPr>
          <p:spPr>
            <a:xfrm>
              <a:off x="1904" y="1920"/>
              <a:ext cx="363" cy="764"/>
            </a:xfrm>
            <a:custGeom>
              <a:avLst/>
              <a:gdLst/>
              <a:ahLst/>
              <a:cxnLst>
                <a:cxn ang="0">
                  <a:pos x="15357" y="0"/>
                </a:cxn>
                <a:cxn ang="0">
                  <a:pos x="0" y="15260"/>
                </a:cxn>
                <a:cxn ang="0">
                  <a:pos x="0" y="61944"/>
                </a:cxn>
                <a:cxn ang="0">
                  <a:pos x="15357" y="77204"/>
                </a:cxn>
                <a:cxn ang="0">
                  <a:pos x="21558" y="77204"/>
                </a:cxn>
                <a:cxn ang="0">
                  <a:pos x="36905" y="61944"/>
                </a:cxn>
                <a:cxn ang="0">
                  <a:pos x="36905" y="15260"/>
                </a:cxn>
                <a:cxn ang="0">
                  <a:pos x="21558" y="0"/>
                </a:cxn>
                <a:cxn ang="0">
                  <a:pos x="15357" y="0"/>
                </a:cxn>
              </a:cxnLst>
              <a:rect l="0" t="0" r="0" b="0"/>
              <a:pathLst>
                <a:path w="36" h="76">
                  <a:moveTo>
                    <a:pt x="15" y="0"/>
                  </a:moveTo>
                  <a:cubicBezTo>
                    <a:pt x="7" y="0"/>
                    <a:pt x="0" y="7"/>
                    <a:pt x="0" y="15"/>
                  </a:cubicBezTo>
                  <a:lnTo>
                    <a:pt x="0" y="61"/>
                  </a:lnTo>
                  <a:cubicBezTo>
                    <a:pt x="0" y="69"/>
                    <a:pt x="7" y="76"/>
                    <a:pt x="15" y="76"/>
                  </a:cubicBezTo>
                  <a:lnTo>
                    <a:pt x="21" y="76"/>
                  </a:lnTo>
                  <a:cubicBezTo>
                    <a:pt x="29" y="76"/>
                    <a:pt x="36" y="69"/>
                    <a:pt x="36" y="61"/>
                  </a:cubicBezTo>
                  <a:lnTo>
                    <a:pt x="36" y="15"/>
                  </a:lnTo>
                  <a:cubicBezTo>
                    <a:pt x="36" y="7"/>
                    <a:pt x="29" y="0"/>
                    <a:pt x="2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F9900"/>
            </a:solidFill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065" name="Freeform 64"/>
            <p:cNvSpPr/>
            <p:nvPr/>
          </p:nvSpPr>
          <p:spPr>
            <a:xfrm>
              <a:off x="2066" y="1276"/>
              <a:ext cx="362" cy="2133"/>
            </a:xfrm>
            <a:custGeom>
              <a:avLst/>
              <a:gdLst/>
              <a:ahLst/>
              <a:cxnLst>
                <a:cxn ang="0">
                  <a:pos x="362" y="0"/>
                </a:cxn>
                <a:cxn ang="0">
                  <a:pos x="0" y="0"/>
                </a:cxn>
                <a:cxn ang="0">
                  <a:pos x="0" y="2133"/>
                </a:cxn>
                <a:cxn ang="0">
                  <a:pos x="120" y="2133"/>
                </a:cxn>
              </a:cxnLst>
              <a:rect l="0" t="0" r="0" b="0"/>
              <a:pathLst>
                <a:path w="362" h="2133">
                  <a:moveTo>
                    <a:pt x="362" y="0"/>
                  </a:moveTo>
                  <a:lnTo>
                    <a:pt x="0" y="0"/>
                  </a:lnTo>
                  <a:lnTo>
                    <a:pt x="0" y="2133"/>
                  </a:lnTo>
                  <a:lnTo>
                    <a:pt x="120" y="2133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066" name="Freeform 65"/>
            <p:cNvSpPr/>
            <p:nvPr/>
          </p:nvSpPr>
          <p:spPr>
            <a:xfrm>
              <a:off x="3112" y="1678"/>
              <a:ext cx="201" cy="181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1" y="0"/>
                </a:cxn>
                <a:cxn ang="0">
                  <a:pos x="201" y="1811"/>
                </a:cxn>
              </a:cxnLst>
              <a:rect l="0" t="0" r="0" b="0"/>
              <a:pathLst>
                <a:path w="201" h="1811">
                  <a:moveTo>
                    <a:pt x="0" y="0"/>
                  </a:moveTo>
                  <a:lnTo>
                    <a:pt x="201" y="0"/>
                  </a:lnTo>
                  <a:lnTo>
                    <a:pt x="201" y="1811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9067" name="Group 66"/>
            <p:cNvGrpSpPr/>
            <p:nvPr/>
          </p:nvGrpSpPr>
          <p:grpSpPr>
            <a:xfrm>
              <a:off x="1985" y="1598"/>
              <a:ext cx="161" cy="161"/>
              <a:chOff x="1985" y="1598"/>
              <a:chExt cx="161" cy="161"/>
            </a:xfrm>
          </p:grpSpPr>
          <p:sp>
            <p:nvSpPr>
              <p:cNvPr id="129068" name="Oval 67"/>
              <p:cNvSpPr/>
              <p:nvPr/>
            </p:nvSpPr>
            <p:spPr>
              <a:xfrm>
                <a:off x="1985" y="1598"/>
                <a:ext cx="161" cy="161"/>
              </a:xfrm>
              <a:prstGeom prst="ellipse">
                <a:avLst/>
              </a:prstGeom>
              <a:solidFill>
                <a:srgbClr val="00CC99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69" name="Line 68"/>
              <p:cNvSpPr/>
              <p:nvPr/>
            </p:nvSpPr>
            <p:spPr>
              <a:xfrm>
                <a:off x="2005" y="1628"/>
                <a:ext cx="121" cy="10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070" name="Line 69"/>
              <p:cNvSpPr/>
              <p:nvPr/>
            </p:nvSpPr>
            <p:spPr>
              <a:xfrm flipH="1">
                <a:off x="2005" y="1628"/>
                <a:ext cx="121" cy="10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9071" name="Freeform 70"/>
            <p:cNvSpPr/>
            <p:nvPr/>
          </p:nvSpPr>
          <p:spPr>
            <a:xfrm>
              <a:off x="1904" y="4013"/>
              <a:ext cx="242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01" y="16301"/>
                </a:cxn>
                <a:cxn ang="0">
                  <a:pos x="18503" y="16301"/>
                </a:cxn>
                <a:cxn ang="0">
                  <a:pos x="24603" y="0"/>
                </a:cxn>
                <a:cxn ang="0">
                  <a:pos x="0" y="0"/>
                </a:cxn>
              </a:cxnLst>
              <a:rect l="0" t="0" r="0" b="0"/>
              <a:pathLst>
                <a:path w="24" h="16">
                  <a:moveTo>
                    <a:pt x="0" y="0"/>
                  </a:moveTo>
                  <a:lnTo>
                    <a:pt x="6" y="16"/>
                  </a:lnTo>
                  <a:lnTo>
                    <a:pt x="18" y="16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072" name="Freeform 71"/>
            <p:cNvSpPr/>
            <p:nvPr/>
          </p:nvSpPr>
          <p:spPr>
            <a:xfrm>
              <a:off x="3193" y="4013"/>
              <a:ext cx="241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055" y="16301"/>
                </a:cxn>
                <a:cxn ang="0">
                  <a:pos x="18256" y="16301"/>
                </a:cxn>
                <a:cxn ang="0">
                  <a:pos x="24301" y="0"/>
                </a:cxn>
                <a:cxn ang="0">
                  <a:pos x="0" y="0"/>
                </a:cxn>
              </a:cxnLst>
              <a:rect l="0" t="0" r="0" b="0"/>
              <a:pathLst>
                <a:path w="24" h="16">
                  <a:moveTo>
                    <a:pt x="0" y="0"/>
                  </a:moveTo>
                  <a:lnTo>
                    <a:pt x="6" y="16"/>
                  </a:lnTo>
                  <a:lnTo>
                    <a:pt x="18" y="16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073" name="Rectangle 72"/>
            <p:cNvSpPr/>
            <p:nvPr/>
          </p:nvSpPr>
          <p:spPr>
            <a:xfrm>
              <a:off x="2136" y="3308"/>
              <a:ext cx="745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074" name="Rectangle 73"/>
            <p:cNvSpPr/>
            <p:nvPr/>
          </p:nvSpPr>
          <p:spPr>
            <a:xfrm>
              <a:off x="2245" y="3379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散热器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9075" name="Group 74"/>
            <p:cNvGrpSpPr/>
            <p:nvPr/>
          </p:nvGrpSpPr>
          <p:grpSpPr>
            <a:xfrm>
              <a:off x="2227" y="1034"/>
              <a:ext cx="1258" cy="976"/>
              <a:chOff x="2227" y="1034"/>
              <a:chExt cx="1258" cy="976"/>
            </a:xfrm>
          </p:grpSpPr>
          <p:sp>
            <p:nvSpPr>
              <p:cNvPr id="129076" name="Rectangle 75"/>
              <p:cNvSpPr/>
              <p:nvPr/>
            </p:nvSpPr>
            <p:spPr>
              <a:xfrm>
                <a:off x="2227" y="1034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77" name="Rectangle 76"/>
              <p:cNvSpPr/>
              <p:nvPr/>
            </p:nvSpPr>
            <p:spPr>
              <a:xfrm>
                <a:off x="2227" y="1105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78" name="Rectangle 77"/>
              <p:cNvSpPr/>
              <p:nvPr/>
            </p:nvSpPr>
            <p:spPr>
              <a:xfrm>
                <a:off x="2227" y="1175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79" name="Rectangle 78"/>
              <p:cNvSpPr/>
              <p:nvPr/>
            </p:nvSpPr>
            <p:spPr>
              <a:xfrm>
                <a:off x="2227" y="124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0" name="Rectangle 79"/>
              <p:cNvSpPr/>
              <p:nvPr/>
            </p:nvSpPr>
            <p:spPr>
              <a:xfrm>
                <a:off x="2227" y="131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1" name="Rectangle 80"/>
              <p:cNvSpPr/>
              <p:nvPr/>
            </p:nvSpPr>
            <p:spPr>
              <a:xfrm>
                <a:off x="2227" y="1386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2" name="Rectangle 81"/>
              <p:cNvSpPr/>
              <p:nvPr/>
            </p:nvSpPr>
            <p:spPr>
              <a:xfrm>
                <a:off x="2227" y="1457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3" name="Rectangle 82"/>
              <p:cNvSpPr/>
              <p:nvPr/>
            </p:nvSpPr>
            <p:spPr>
              <a:xfrm>
                <a:off x="2227" y="1527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4" name="Rectangle 83"/>
              <p:cNvSpPr/>
              <p:nvPr/>
            </p:nvSpPr>
            <p:spPr>
              <a:xfrm>
                <a:off x="2227" y="159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5" name="Rectangle 84"/>
              <p:cNvSpPr/>
              <p:nvPr/>
            </p:nvSpPr>
            <p:spPr>
              <a:xfrm>
                <a:off x="2227" y="166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6" name="Rectangle 85"/>
              <p:cNvSpPr/>
              <p:nvPr/>
            </p:nvSpPr>
            <p:spPr>
              <a:xfrm>
                <a:off x="2227" y="173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7" name="Rectangle 86"/>
              <p:cNvSpPr/>
              <p:nvPr/>
            </p:nvSpPr>
            <p:spPr>
              <a:xfrm>
                <a:off x="2227" y="180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8" name="Rectangle 87"/>
              <p:cNvSpPr/>
              <p:nvPr/>
            </p:nvSpPr>
            <p:spPr>
              <a:xfrm>
                <a:off x="2227" y="1879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89" name="Rectangle 88"/>
              <p:cNvSpPr/>
              <p:nvPr/>
            </p:nvSpPr>
            <p:spPr>
              <a:xfrm>
                <a:off x="2227" y="1950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0" name="Rectangle 89"/>
              <p:cNvSpPr/>
              <p:nvPr/>
            </p:nvSpPr>
            <p:spPr>
              <a:xfrm>
                <a:off x="2247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1" name="Rectangle 90"/>
              <p:cNvSpPr/>
              <p:nvPr/>
            </p:nvSpPr>
            <p:spPr>
              <a:xfrm>
                <a:off x="2317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2" name="Rectangle 91"/>
              <p:cNvSpPr/>
              <p:nvPr/>
            </p:nvSpPr>
            <p:spPr>
              <a:xfrm>
                <a:off x="2388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3" name="Rectangle 92"/>
              <p:cNvSpPr/>
              <p:nvPr/>
            </p:nvSpPr>
            <p:spPr>
              <a:xfrm>
                <a:off x="2458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4" name="Rectangle 93"/>
              <p:cNvSpPr/>
              <p:nvPr/>
            </p:nvSpPr>
            <p:spPr>
              <a:xfrm>
                <a:off x="2528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5" name="Rectangle 94"/>
              <p:cNvSpPr/>
              <p:nvPr/>
            </p:nvSpPr>
            <p:spPr>
              <a:xfrm>
                <a:off x="2599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6" name="Rectangle 95"/>
              <p:cNvSpPr/>
              <p:nvPr/>
            </p:nvSpPr>
            <p:spPr>
              <a:xfrm>
                <a:off x="2669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7" name="Rectangle 96"/>
              <p:cNvSpPr/>
              <p:nvPr/>
            </p:nvSpPr>
            <p:spPr>
              <a:xfrm>
                <a:off x="2740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8" name="Rectangle 97"/>
              <p:cNvSpPr/>
              <p:nvPr/>
            </p:nvSpPr>
            <p:spPr>
              <a:xfrm>
                <a:off x="2810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99" name="Rectangle 98"/>
              <p:cNvSpPr/>
              <p:nvPr/>
            </p:nvSpPr>
            <p:spPr>
              <a:xfrm>
                <a:off x="2881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0" name="Rectangle 99"/>
              <p:cNvSpPr/>
              <p:nvPr/>
            </p:nvSpPr>
            <p:spPr>
              <a:xfrm>
                <a:off x="2951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1" name="Rectangle 100"/>
              <p:cNvSpPr/>
              <p:nvPr/>
            </p:nvSpPr>
            <p:spPr>
              <a:xfrm>
                <a:off x="3022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2" name="Rectangle 101"/>
              <p:cNvSpPr/>
              <p:nvPr/>
            </p:nvSpPr>
            <p:spPr>
              <a:xfrm>
                <a:off x="3092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3" name="Rectangle 102"/>
              <p:cNvSpPr/>
              <p:nvPr/>
            </p:nvSpPr>
            <p:spPr>
              <a:xfrm>
                <a:off x="3163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4" name="Rectangle 103"/>
              <p:cNvSpPr/>
              <p:nvPr/>
            </p:nvSpPr>
            <p:spPr>
              <a:xfrm>
                <a:off x="3233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5" name="Rectangle 104"/>
              <p:cNvSpPr/>
              <p:nvPr/>
            </p:nvSpPr>
            <p:spPr>
              <a:xfrm>
                <a:off x="3303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6" name="Rectangle 105"/>
              <p:cNvSpPr/>
              <p:nvPr/>
            </p:nvSpPr>
            <p:spPr>
              <a:xfrm>
                <a:off x="3374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7" name="Freeform 106"/>
              <p:cNvSpPr/>
              <p:nvPr/>
            </p:nvSpPr>
            <p:spPr>
              <a:xfrm>
                <a:off x="3444" y="1990"/>
                <a:ext cx="41" cy="2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20"/>
                  </a:cxn>
                  <a:cxn ang="0">
                    <a:pos x="31" y="20"/>
                  </a:cxn>
                  <a:cxn ang="0">
                    <a:pos x="41" y="10"/>
                  </a:cxn>
                  <a:cxn ang="0">
                    <a:pos x="41" y="0"/>
                  </a:cxn>
                  <a:cxn ang="0">
                    <a:pos x="31" y="0"/>
                  </a:cxn>
                  <a:cxn ang="0">
                    <a:pos x="31" y="10"/>
                  </a:cxn>
                  <a:cxn ang="0">
                    <a:pos x="0" y="10"/>
                  </a:cxn>
                </a:cxnLst>
                <a:rect l="0" t="0" r="0" b="0"/>
                <a:pathLst>
                  <a:path w="41" h="20">
                    <a:moveTo>
                      <a:pt x="0" y="10"/>
                    </a:moveTo>
                    <a:lnTo>
                      <a:pt x="0" y="20"/>
                    </a:lnTo>
                    <a:lnTo>
                      <a:pt x="31" y="20"/>
                    </a:lnTo>
                    <a:lnTo>
                      <a:pt x="41" y="10"/>
                    </a:lnTo>
                    <a:lnTo>
                      <a:pt x="41" y="0"/>
                    </a:lnTo>
                    <a:lnTo>
                      <a:pt x="31" y="0"/>
                    </a:lnTo>
                    <a:lnTo>
                      <a:pt x="31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08" name="Rectangle 107"/>
              <p:cNvSpPr/>
              <p:nvPr/>
            </p:nvSpPr>
            <p:spPr>
              <a:xfrm>
                <a:off x="3475" y="1920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09" name="Rectangle 108"/>
              <p:cNvSpPr/>
              <p:nvPr/>
            </p:nvSpPr>
            <p:spPr>
              <a:xfrm>
                <a:off x="3475" y="184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0" name="Rectangle 109"/>
              <p:cNvSpPr/>
              <p:nvPr/>
            </p:nvSpPr>
            <p:spPr>
              <a:xfrm>
                <a:off x="3475" y="177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1" name="Rectangle 110"/>
              <p:cNvSpPr/>
              <p:nvPr/>
            </p:nvSpPr>
            <p:spPr>
              <a:xfrm>
                <a:off x="3475" y="1708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2" name="Rectangle 111"/>
              <p:cNvSpPr/>
              <p:nvPr/>
            </p:nvSpPr>
            <p:spPr>
              <a:xfrm>
                <a:off x="3475" y="163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3" name="Rectangle 112"/>
              <p:cNvSpPr/>
              <p:nvPr/>
            </p:nvSpPr>
            <p:spPr>
              <a:xfrm>
                <a:off x="3475" y="156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4" name="Rectangle 113"/>
              <p:cNvSpPr/>
              <p:nvPr/>
            </p:nvSpPr>
            <p:spPr>
              <a:xfrm>
                <a:off x="3475" y="1497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5" name="Rectangle 114"/>
              <p:cNvSpPr/>
              <p:nvPr/>
            </p:nvSpPr>
            <p:spPr>
              <a:xfrm>
                <a:off x="3475" y="1427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6" name="Rectangle 115"/>
              <p:cNvSpPr/>
              <p:nvPr/>
            </p:nvSpPr>
            <p:spPr>
              <a:xfrm>
                <a:off x="3475" y="135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7" name="Rectangle 116"/>
              <p:cNvSpPr/>
              <p:nvPr/>
            </p:nvSpPr>
            <p:spPr>
              <a:xfrm>
                <a:off x="3475" y="128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8" name="Rectangle 117"/>
              <p:cNvSpPr/>
              <p:nvPr/>
            </p:nvSpPr>
            <p:spPr>
              <a:xfrm>
                <a:off x="3475" y="1215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19" name="Rectangle 118"/>
              <p:cNvSpPr/>
              <p:nvPr/>
            </p:nvSpPr>
            <p:spPr>
              <a:xfrm>
                <a:off x="3475" y="1145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0" name="Rectangle 119"/>
              <p:cNvSpPr/>
              <p:nvPr/>
            </p:nvSpPr>
            <p:spPr>
              <a:xfrm>
                <a:off x="3475" y="1074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1" name="Freeform 120"/>
              <p:cNvSpPr/>
              <p:nvPr/>
            </p:nvSpPr>
            <p:spPr>
              <a:xfrm>
                <a:off x="3444" y="1034"/>
                <a:ext cx="41" cy="10"/>
              </a:xfrm>
              <a:custGeom>
                <a:avLst/>
                <a:gdLst/>
                <a:ahLst/>
                <a:cxnLst>
                  <a:cxn ang="0">
                    <a:pos x="31" y="10"/>
                  </a:cxn>
                  <a:cxn ang="0">
                    <a:pos x="41" y="10"/>
                  </a:cxn>
                  <a:cxn ang="0">
                    <a:pos x="41" y="0"/>
                  </a:cxn>
                  <a:cxn ang="0">
                    <a:pos x="31" y="0"/>
                  </a:cxn>
                  <a:cxn ang="0">
                    <a:pos x="0" y="0"/>
                  </a:cxn>
                  <a:cxn ang="0">
                    <a:pos x="0" y="10"/>
                  </a:cxn>
                  <a:cxn ang="0">
                    <a:pos x="31" y="10"/>
                  </a:cxn>
                  <a:cxn ang="0">
                    <a:pos x="31" y="0"/>
                  </a:cxn>
                  <a:cxn ang="0">
                    <a:pos x="31" y="10"/>
                  </a:cxn>
                </a:cxnLst>
                <a:rect l="0" t="0" r="0" b="0"/>
                <a:pathLst>
                  <a:path w="41" h="10">
                    <a:moveTo>
                      <a:pt x="31" y="10"/>
                    </a:moveTo>
                    <a:lnTo>
                      <a:pt x="41" y="10"/>
                    </a:lnTo>
                    <a:lnTo>
                      <a:pt x="41" y="0"/>
                    </a:lnTo>
                    <a:lnTo>
                      <a:pt x="31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31" y="10"/>
                    </a:lnTo>
                    <a:lnTo>
                      <a:pt x="31" y="0"/>
                    </a:lnTo>
                    <a:lnTo>
                      <a:pt x="31" y="1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22" name="Rectangle 121"/>
              <p:cNvSpPr/>
              <p:nvPr/>
            </p:nvSpPr>
            <p:spPr>
              <a:xfrm>
                <a:off x="3374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3" name="Rectangle 122"/>
              <p:cNvSpPr/>
              <p:nvPr/>
            </p:nvSpPr>
            <p:spPr>
              <a:xfrm>
                <a:off x="3303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4" name="Rectangle 123"/>
              <p:cNvSpPr/>
              <p:nvPr/>
            </p:nvSpPr>
            <p:spPr>
              <a:xfrm>
                <a:off x="3233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5" name="Rectangle 124"/>
              <p:cNvSpPr/>
              <p:nvPr/>
            </p:nvSpPr>
            <p:spPr>
              <a:xfrm>
                <a:off x="3163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6" name="Rectangle 125"/>
              <p:cNvSpPr/>
              <p:nvPr/>
            </p:nvSpPr>
            <p:spPr>
              <a:xfrm>
                <a:off x="3092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7" name="Rectangle 126"/>
              <p:cNvSpPr/>
              <p:nvPr/>
            </p:nvSpPr>
            <p:spPr>
              <a:xfrm>
                <a:off x="3022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8" name="Rectangle 127"/>
              <p:cNvSpPr/>
              <p:nvPr/>
            </p:nvSpPr>
            <p:spPr>
              <a:xfrm>
                <a:off x="2951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29" name="Rectangle 128"/>
              <p:cNvSpPr/>
              <p:nvPr/>
            </p:nvSpPr>
            <p:spPr>
              <a:xfrm>
                <a:off x="2881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0" name="Rectangle 129"/>
              <p:cNvSpPr/>
              <p:nvPr/>
            </p:nvSpPr>
            <p:spPr>
              <a:xfrm>
                <a:off x="2810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1" name="Rectangle 130"/>
              <p:cNvSpPr/>
              <p:nvPr/>
            </p:nvSpPr>
            <p:spPr>
              <a:xfrm>
                <a:off x="2740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2" name="Rectangle 131"/>
              <p:cNvSpPr/>
              <p:nvPr/>
            </p:nvSpPr>
            <p:spPr>
              <a:xfrm>
                <a:off x="2669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3" name="Rectangle 132"/>
              <p:cNvSpPr/>
              <p:nvPr/>
            </p:nvSpPr>
            <p:spPr>
              <a:xfrm>
                <a:off x="2599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4" name="Rectangle 133"/>
              <p:cNvSpPr/>
              <p:nvPr/>
            </p:nvSpPr>
            <p:spPr>
              <a:xfrm>
                <a:off x="2528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5" name="Rectangle 134"/>
              <p:cNvSpPr/>
              <p:nvPr/>
            </p:nvSpPr>
            <p:spPr>
              <a:xfrm>
                <a:off x="2458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6" name="Rectangle 135"/>
              <p:cNvSpPr/>
              <p:nvPr/>
            </p:nvSpPr>
            <p:spPr>
              <a:xfrm>
                <a:off x="2388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7" name="Rectangle 136"/>
              <p:cNvSpPr/>
              <p:nvPr/>
            </p:nvSpPr>
            <p:spPr>
              <a:xfrm>
                <a:off x="2317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38" name="Rectangle 137"/>
              <p:cNvSpPr/>
              <p:nvPr/>
            </p:nvSpPr>
            <p:spPr>
              <a:xfrm>
                <a:off x="2247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9139" name="Rectangle 138"/>
            <p:cNvSpPr/>
            <p:nvPr/>
          </p:nvSpPr>
          <p:spPr>
            <a:xfrm>
              <a:off x="2619" y="1739"/>
              <a:ext cx="745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0" name="Rectangle 139"/>
            <p:cNvSpPr/>
            <p:nvPr/>
          </p:nvSpPr>
          <p:spPr>
            <a:xfrm>
              <a:off x="2728" y="1809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600" b="1" dirty="0">
                  <a:solidFill>
                    <a:srgbClr val="FF33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冷冻室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1" name="Rectangle 140"/>
            <p:cNvSpPr/>
            <p:nvPr/>
          </p:nvSpPr>
          <p:spPr>
            <a:xfrm>
              <a:off x="2378" y="1296"/>
              <a:ext cx="744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2" name="Rectangle 141"/>
            <p:cNvSpPr/>
            <p:nvPr/>
          </p:nvSpPr>
          <p:spPr>
            <a:xfrm>
              <a:off x="2487" y="1366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蒸发器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3" name="Rectangle 146"/>
            <p:cNvSpPr/>
            <p:nvPr/>
          </p:nvSpPr>
          <p:spPr>
            <a:xfrm>
              <a:off x="1935" y="1970"/>
              <a:ext cx="292" cy="72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4" name="Rectangle 147"/>
            <p:cNvSpPr/>
            <p:nvPr/>
          </p:nvSpPr>
          <p:spPr>
            <a:xfrm>
              <a:off x="1995" y="1994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5" name="Rectangle 148"/>
            <p:cNvSpPr/>
            <p:nvPr/>
          </p:nvSpPr>
          <p:spPr>
            <a:xfrm>
              <a:off x="2008" y="2213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液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6" name="Rectangle 149"/>
            <p:cNvSpPr/>
            <p:nvPr/>
          </p:nvSpPr>
          <p:spPr>
            <a:xfrm>
              <a:off x="1995" y="2447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7" name="Rectangle 150"/>
            <p:cNvSpPr/>
            <p:nvPr/>
          </p:nvSpPr>
          <p:spPr>
            <a:xfrm>
              <a:off x="3303" y="3016"/>
              <a:ext cx="292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8" name="Rectangle 151"/>
            <p:cNvSpPr/>
            <p:nvPr/>
          </p:nvSpPr>
          <p:spPr>
            <a:xfrm>
              <a:off x="3403" y="3067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压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49" name="Rectangle 152"/>
            <p:cNvSpPr/>
            <p:nvPr/>
          </p:nvSpPr>
          <p:spPr>
            <a:xfrm>
              <a:off x="3403" y="3298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缩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0" name="Rectangle 153"/>
            <p:cNvSpPr/>
            <p:nvPr/>
          </p:nvSpPr>
          <p:spPr>
            <a:xfrm>
              <a:off x="3403" y="3520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机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1" name="Rectangle 154"/>
            <p:cNvSpPr/>
            <p:nvPr/>
          </p:nvSpPr>
          <p:spPr>
            <a:xfrm>
              <a:off x="1733" y="2694"/>
              <a:ext cx="333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2" name="Rectangle 155"/>
            <p:cNvSpPr/>
            <p:nvPr/>
          </p:nvSpPr>
          <p:spPr>
            <a:xfrm>
              <a:off x="1865" y="2725"/>
              <a:ext cx="16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20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3" name="Rectangle 156"/>
            <p:cNvSpPr/>
            <p:nvPr/>
          </p:nvSpPr>
          <p:spPr>
            <a:xfrm>
              <a:off x="1975" y="2684"/>
              <a:ext cx="151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4" name="Rectangle 157"/>
            <p:cNvSpPr/>
            <p:nvPr/>
          </p:nvSpPr>
          <p:spPr>
            <a:xfrm>
              <a:off x="2050" y="2715"/>
              <a:ext cx="40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00" b="1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5" name="Rectangle 158"/>
            <p:cNvSpPr/>
            <p:nvPr/>
          </p:nvSpPr>
          <p:spPr>
            <a:xfrm>
              <a:off x="2055" y="2694"/>
              <a:ext cx="242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6" name="Rectangle 159"/>
            <p:cNvSpPr/>
            <p:nvPr/>
          </p:nvSpPr>
          <p:spPr>
            <a:xfrm>
              <a:off x="2167" y="2725"/>
              <a:ext cx="10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7" name="Rectangle 160"/>
            <p:cNvSpPr/>
            <p:nvPr/>
          </p:nvSpPr>
          <p:spPr>
            <a:xfrm>
              <a:off x="2257" y="2976"/>
              <a:ext cx="68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8" name="Rectangle 161"/>
            <p:cNvSpPr/>
            <p:nvPr/>
          </p:nvSpPr>
          <p:spPr>
            <a:xfrm>
              <a:off x="2792" y="3011"/>
              <a:ext cx="16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59" name="Rectangle 162"/>
            <p:cNvSpPr/>
            <p:nvPr/>
          </p:nvSpPr>
          <p:spPr>
            <a:xfrm>
              <a:off x="2986" y="3008"/>
              <a:ext cx="23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atm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60" name="Rectangle 163"/>
            <p:cNvSpPr/>
            <p:nvPr/>
          </p:nvSpPr>
          <p:spPr>
            <a:xfrm>
              <a:off x="1854" y="1044"/>
              <a:ext cx="57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61" name="Rectangle 164"/>
            <p:cNvSpPr/>
            <p:nvPr/>
          </p:nvSpPr>
          <p:spPr>
            <a:xfrm>
              <a:off x="1969" y="1075"/>
              <a:ext cx="8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62" name="Rectangle 165"/>
            <p:cNvSpPr/>
            <p:nvPr/>
          </p:nvSpPr>
          <p:spPr>
            <a:xfrm>
              <a:off x="2131" y="1075"/>
              <a:ext cx="23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atm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9163" name="Group 166"/>
            <p:cNvGrpSpPr/>
            <p:nvPr/>
          </p:nvGrpSpPr>
          <p:grpSpPr>
            <a:xfrm>
              <a:off x="2744" y="2800"/>
              <a:ext cx="564" cy="282"/>
              <a:chOff x="2981" y="2765"/>
              <a:chExt cx="564" cy="282"/>
            </a:xfrm>
          </p:grpSpPr>
          <p:sp>
            <p:nvSpPr>
              <p:cNvPr id="129164" name="Rectangle 167"/>
              <p:cNvSpPr/>
              <p:nvPr/>
            </p:nvSpPr>
            <p:spPr>
              <a:xfrm>
                <a:off x="2981" y="2775"/>
                <a:ext cx="33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65" name="Rectangle 168"/>
              <p:cNvSpPr/>
              <p:nvPr/>
            </p:nvSpPr>
            <p:spPr>
              <a:xfrm>
                <a:off x="3113" y="2805"/>
                <a:ext cx="16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70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66" name="Rectangle 169"/>
              <p:cNvSpPr/>
              <p:nvPr/>
            </p:nvSpPr>
            <p:spPr>
              <a:xfrm>
                <a:off x="3223" y="2765"/>
                <a:ext cx="151" cy="1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67" name="Rectangle 170"/>
              <p:cNvSpPr/>
              <p:nvPr/>
            </p:nvSpPr>
            <p:spPr>
              <a:xfrm>
                <a:off x="3298" y="2796"/>
                <a:ext cx="40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0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68" name="Rectangle 171"/>
              <p:cNvSpPr/>
              <p:nvPr/>
            </p:nvSpPr>
            <p:spPr>
              <a:xfrm>
                <a:off x="3303" y="2775"/>
                <a:ext cx="24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69" name="Rectangle 172"/>
              <p:cNvSpPr/>
              <p:nvPr/>
            </p:nvSpPr>
            <p:spPr>
              <a:xfrm>
                <a:off x="3415" y="2805"/>
                <a:ext cx="107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9170" name="Group 173"/>
            <p:cNvGrpSpPr/>
            <p:nvPr/>
          </p:nvGrpSpPr>
          <p:grpSpPr>
            <a:xfrm>
              <a:off x="2654" y="1034"/>
              <a:ext cx="634" cy="282"/>
              <a:chOff x="2589" y="1034"/>
              <a:chExt cx="634" cy="282"/>
            </a:xfrm>
          </p:grpSpPr>
          <p:sp>
            <p:nvSpPr>
              <p:cNvPr id="129171" name="Rectangle 174"/>
              <p:cNvSpPr/>
              <p:nvPr/>
            </p:nvSpPr>
            <p:spPr>
              <a:xfrm>
                <a:off x="2659" y="1044"/>
                <a:ext cx="33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72" name="Rectangle 175"/>
              <p:cNvSpPr/>
              <p:nvPr/>
            </p:nvSpPr>
            <p:spPr>
              <a:xfrm>
                <a:off x="2791" y="1075"/>
                <a:ext cx="16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10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73" name="Rectangle 176"/>
              <p:cNvSpPr/>
              <p:nvPr/>
            </p:nvSpPr>
            <p:spPr>
              <a:xfrm>
                <a:off x="2901" y="1034"/>
                <a:ext cx="151" cy="1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74" name="Rectangle 177"/>
              <p:cNvSpPr/>
              <p:nvPr/>
            </p:nvSpPr>
            <p:spPr>
              <a:xfrm>
                <a:off x="2976" y="1065"/>
                <a:ext cx="40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0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75" name="Rectangle 178"/>
              <p:cNvSpPr/>
              <p:nvPr/>
            </p:nvSpPr>
            <p:spPr>
              <a:xfrm>
                <a:off x="2981" y="1044"/>
                <a:ext cx="24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76" name="Rectangle 179"/>
              <p:cNvSpPr/>
              <p:nvPr/>
            </p:nvSpPr>
            <p:spPr>
              <a:xfrm>
                <a:off x="3093" y="1075"/>
                <a:ext cx="107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177" name="Line 180"/>
              <p:cNvSpPr/>
              <p:nvPr/>
            </p:nvSpPr>
            <p:spPr>
              <a:xfrm>
                <a:off x="2589" y="1155"/>
                <a:ext cx="80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9178" name="Freeform 183"/>
            <p:cNvSpPr/>
            <p:nvPr/>
          </p:nvSpPr>
          <p:spPr>
            <a:xfrm>
              <a:off x="2539" y="1557"/>
              <a:ext cx="70" cy="111"/>
            </a:xfrm>
            <a:custGeom>
              <a:avLst/>
              <a:gdLst/>
              <a:ahLst/>
              <a:cxnLst>
                <a:cxn ang="0">
                  <a:pos x="70" y="101"/>
                </a:cxn>
                <a:cxn ang="0">
                  <a:pos x="10" y="0"/>
                </a:cxn>
                <a:cxn ang="0">
                  <a:pos x="0" y="111"/>
                </a:cxn>
                <a:cxn ang="0">
                  <a:pos x="20" y="71"/>
                </a:cxn>
                <a:cxn ang="0">
                  <a:pos x="70" y="101"/>
                </a:cxn>
              </a:cxnLst>
              <a:rect l="0" t="0" r="0" b="0"/>
              <a:pathLst>
                <a:path w="70" h="111">
                  <a:moveTo>
                    <a:pt x="70" y="101"/>
                  </a:moveTo>
                  <a:lnTo>
                    <a:pt x="10" y="0"/>
                  </a:lnTo>
                  <a:lnTo>
                    <a:pt x="0" y="111"/>
                  </a:lnTo>
                  <a:lnTo>
                    <a:pt x="20" y="71"/>
                  </a:lnTo>
                  <a:lnTo>
                    <a:pt x="70" y="101"/>
                  </a:lnTo>
                  <a:close/>
                </a:path>
              </a:pathLst>
            </a:custGeom>
            <a:solidFill>
              <a:srgbClr val="FF33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79" name="Freeform 186"/>
            <p:cNvSpPr/>
            <p:nvPr/>
          </p:nvSpPr>
          <p:spPr>
            <a:xfrm>
              <a:off x="1462" y="3811"/>
              <a:ext cx="110" cy="81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0" y="81"/>
                </a:cxn>
                <a:cxn ang="0">
                  <a:pos x="110" y="61"/>
                </a:cxn>
                <a:cxn ang="0">
                  <a:pos x="60" y="51"/>
                </a:cxn>
                <a:cxn ang="0">
                  <a:pos x="80" y="0"/>
                </a:cxn>
              </a:cxnLst>
              <a:rect l="0" t="0" r="0" b="0"/>
              <a:pathLst>
                <a:path w="110" h="81">
                  <a:moveTo>
                    <a:pt x="80" y="0"/>
                  </a:moveTo>
                  <a:lnTo>
                    <a:pt x="0" y="81"/>
                  </a:lnTo>
                  <a:lnTo>
                    <a:pt x="110" y="61"/>
                  </a:lnTo>
                  <a:lnTo>
                    <a:pt x="60" y="51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33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180" name="Rectangle 187"/>
            <p:cNvSpPr/>
            <p:nvPr/>
          </p:nvSpPr>
          <p:spPr>
            <a:xfrm>
              <a:off x="2619" y="2071"/>
              <a:ext cx="181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81" name="Rectangle 189"/>
            <p:cNvSpPr/>
            <p:nvPr/>
          </p:nvSpPr>
          <p:spPr>
            <a:xfrm>
              <a:off x="2458" y="1900"/>
              <a:ext cx="262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82" name="Rectangle 193"/>
            <p:cNvSpPr/>
            <p:nvPr/>
          </p:nvSpPr>
          <p:spPr>
            <a:xfrm>
              <a:off x="1411" y="3882"/>
              <a:ext cx="181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83" name="Rectangle 195"/>
            <p:cNvSpPr/>
            <p:nvPr/>
          </p:nvSpPr>
          <p:spPr>
            <a:xfrm>
              <a:off x="2176" y="1970"/>
              <a:ext cx="292" cy="72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84" name="Rectangle 196"/>
            <p:cNvSpPr/>
            <p:nvPr/>
          </p:nvSpPr>
          <p:spPr>
            <a:xfrm>
              <a:off x="2289" y="2046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氟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85" name="Rectangle 197"/>
            <p:cNvSpPr/>
            <p:nvPr/>
          </p:nvSpPr>
          <p:spPr>
            <a:xfrm>
              <a:off x="2276" y="2252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里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86" name="Rectangle 198"/>
            <p:cNvSpPr/>
            <p:nvPr/>
          </p:nvSpPr>
          <p:spPr>
            <a:xfrm>
              <a:off x="2276" y="2486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昂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187" name="Freeform 199"/>
            <p:cNvSpPr/>
            <p:nvPr/>
          </p:nvSpPr>
          <p:spPr>
            <a:xfrm>
              <a:off x="2871" y="3409"/>
              <a:ext cx="322" cy="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" y="0"/>
                </a:cxn>
                <a:cxn ang="0">
                  <a:pos x="322" y="80"/>
                </a:cxn>
              </a:cxnLst>
              <a:rect l="0" t="0" r="0" b="0"/>
              <a:pathLst>
                <a:path w="322" h="80">
                  <a:moveTo>
                    <a:pt x="0" y="0"/>
                  </a:moveTo>
                  <a:lnTo>
                    <a:pt x="322" y="0"/>
                  </a:lnTo>
                  <a:lnTo>
                    <a:pt x="322" y="80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9188" name="Group 200"/>
            <p:cNvGrpSpPr/>
            <p:nvPr/>
          </p:nvGrpSpPr>
          <p:grpSpPr>
            <a:xfrm>
              <a:off x="2710" y="1729"/>
              <a:ext cx="483" cy="70"/>
              <a:chOff x="2710" y="1729"/>
              <a:chExt cx="483" cy="70"/>
            </a:xfrm>
          </p:grpSpPr>
          <p:sp>
            <p:nvSpPr>
              <p:cNvPr id="129189" name="Line 201"/>
              <p:cNvSpPr/>
              <p:nvPr/>
            </p:nvSpPr>
            <p:spPr>
              <a:xfrm flipH="1">
                <a:off x="2710" y="1759"/>
                <a:ext cx="432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190" name="Freeform 202"/>
              <p:cNvSpPr/>
              <p:nvPr/>
            </p:nvSpPr>
            <p:spPr>
              <a:xfrm>
                <a:off x="3082" y="1729"/>
                <a:ext cx="111" cy="70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111" y="30"/>
                  </a:cxn>
                  <a:cxn ang="0">
                    <a:pos x="0" y="0"/>
                  </a:cxn>
                  <a:cxn ang="0">
                    <a:pos x="40" y="30"/>
                  </a:cxn>
                  <a:cxn ang="0">
                    <a:pos x="0" y="70"/>
                  </a:cxn>
                </a:cxnLst>
                <a:rect l="0" t="0" r="0" b="0"/>
                <a:pathLst>
                  <a:path w="111" h="70">
                    <a:moveTo>
                      <a:pt x="0" y="70"/>
                    </a:moveTo>
                    <a:lnTo>
                      <a:pt x="111" y="30"/>
                    </a:lnTo>
                    <a:lnTo>
                      <a:pt x="0" y="0"/>
                    </a:lnTo>
                    <a:lnTo>
                      <a:pt x="40" y="3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9191" name="Line 203"/>
            <p:cNvSpPr/>
            <p:nvPr/>
          </p:nvSpPr>
          <p:spPr>
            <a:xfrm flipH="1">
              <a:off x="2925" y="3249"/>
              <a:ext cx="2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368" name="Rectangle 20"/>
          <p:cNvSpPr/>
          <p:nvPr/>
        </p:nvSpPr>
        <p:spPr>
          <a:xfrm>
            <a:off x="2555875" y="981075"/>
            <a:ext cx="2160588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低温低压气体</a:t>
            </a:r>
          </a:p>
        </p:txBody>
      </p:sp>
      <p:sp>
        <p:nvSpPr>
          <p:cNvPr id="369" name="Rectangle 20"/>
          <p:cNvSpPr/>
          <p:nvPr/>
        </p:nvSpPr>
        <p:spPr>
          <a:xfrm>
            <a:off x="4643438" y="5219700"/>
            <a:ext cx="2016125" cy="3698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高温高压气体</a:t>
            </a:r>
          </a:p>
        </p:txBody>
      </p:sp>
      <p:sp>
        <p:nvSpPr>
          <p:cNvPr id="370" name="Rectangle 20"/>
          <p:cNvSpPr/>
          <p:nvPr/>
        </p:nvSpPr>
        <p:spPr>
          <a:xfrm>
            <a:off x="34925" y="3429000"/>
            <a:ext cx="1395413" cy="276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常温高压液体</a:t>
            </a:r>
          </a:p>
        </p:txBody>
      </p:sp>
      <p:sp>
        <p:nvSpPr>
          <p:cNvPr id="371" name="Line 182"/>
          <p:cNvSpPr/>
          <p:nvPr/>
        </p:nvSpPr>
        <p:spPr>
          <a:xfrm>
            <a:off x="2879725" y="2498725"/>
            <a:ext cx="36513" cy="569913"/>
          </a:xfrm>
          <a:prstGeom prst="line">
            <a:avLst/>
          </a:prstGeom>
          <a:ln w="158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2" name="Rectangle 188"/>
          <p:cNvSpPr/>
          <p:nvPr/>
        </p:nvSpPr>
        <p:spPr>
          <a:xfrm>
            <a:off x="3133725" y="3279775"/>
            <a:ext cx="9525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15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2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3" name="Rectangle 190"/>
          <p:cNvSpPr/>
          <p:nvPr/>
        </p:nvSpPr>
        <p:spPr>
          <a:xfrm>
            <a:off x="2862263" y="3025775"/>
            <a:ext cx="23812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376" name="Rectangle 190"/>
          <p:cNvSpPr/>
          <p:nvPr/>
        </p:nvSpPr>
        <p:spPr>
          <a:xfrm>
            <a:off x="5219700" y="5621338"/>
            <a:ext cx="32702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6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77" name="直接箭头连接符 376"/>
          <p:cNvCxnSpPr/>
          <p:nvPr/>
        </p:nvCxnSpPr>
        <p:spPr>
          <a:xfrm flipH="1">
            <a:off x="4356100" y="5805488"/>
            <a:ext cx="792163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Line 185"/>
          <p:cNvSpPr/>
          <p:nvPr/>
        </p:nvSpPr>
        <p:spPr>
          <a:xfrm flipV="1">
            <a:off x="1201738" y="5613400"/>
            <a:ext cx="1214437" cy="463550"/>
          </a:xfrm>
          <a:prstGeom prst="line">
            <a:avLst/>
          </a:prstGeom>
          <a:ln w="158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9" name="Rectangle 191"/>
          <p:cNvSpPr/>
          <p:nvPr/>
        </p:nvSpPr>
        <p:spPr>
          <a:xfrm>
            <a:off x="801688" y="5900738"/>
            <a:ext cx="415925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0" name="Rectangle 192"/>
          <p:cNvSpPr/>
          <p:nvPr/>
        </p:nvSpPr>
        <p:spPr>
          <a:xfrm>
            <a:off x="946150" y="5964238"/>
            <a:ext cx="23812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381" name="Rectangle 194"/>
          <p:cNvSpPr/>
          <p:nvPr/>
        </p:nvSpPr>
        <p:spPr>
          <a:xfrm>
            <a:off x="1217613" y="6156325"/>
            <a:ext cx="127000" cy="2301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15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948" grpId="0"/>
      <p:bldP spid="368" grpId="0"/>
      <p:bldP spid="369" grpId="0"/>
      <p:bldP spid="370" grpId="0"/>
      <p:bldP spid="372" grpId="0"/>
      <p:bldP spid="373" grpId="0"/>
      <p:bldP spid="376" grpId="0"/>
      <p:bldP spid="379" grpId="0"/>
      <p:bldP spid="380" grpId="0"/>
      <p:bldP spid="38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34529"/>
          <p:cNvGrpSpPr/>
          <p:nvPr/>
        </p:nvGrpSpPr>
        <p:grpSpPr>
          <a:xfrm>
            <a:off x="6122988" y="2003425"/>
            <a:ext cx="1892300" cy="3975100"/>
            <a:chOff x="4028" y="1296"/>
            <a:chExt cx="1192" cy="2504"/>
          </a:xfrm>
        </p:grpSpPr>
        <p:sp>
          <p:nvSpPr>
            <p:cNvPr id="130050" name="文本框 534530"/>
            <p:cNvSpPr txBox="1"/>
            <p:nvPr/>
          </p:nvSpPr>
          <p:spPr>
            <a:xfrm>
              <a:off x="4059" y="2130"/>
              <a:ext cx="265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0051" name="组合 534531"/>
            <p:cNvGrpSpPr/>
            <p:nvPr/>
          </p:nvGrpSpPr>
          <p:grpSpPr>
            <a:xfrm>
              <a:off x="4159" y="1547"/>
              <a:ext cx="886" cy="1933"/>
              <a:chOff x="4159" y="1547"/>
              <a:chExt cx="886" cy="1933"/>
            </a:xfrm>
          </p:grpSpPr>
          <p:sp>
            <p:nvSpPr>
              <p:cNvPr id="130052" name="任意多边形 534532"/>
              <p:cNvSpPr/>
              <p:nvPr/>
            </p:nvSpPr>
            <p:spPr>
              <a:xfrm>
                <a:off x="4159" y="1799"/>
                <a:ext cx="886" cy="2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337" y="24301"/>
                  </a:cxn>
                  <a:cxn ang="0">
                    <a:pos x="72481" y="24301"/>
                  </a:cxn>
                  <a:cxn ang="0">
                    <a:pos x="89808" y="0"/>
                  </a:cxn>
                  <a:cxn ang="0">
                    <a:pos x="0" y="0"/>
                  </a:cxn>
                </a:cxnLst>
                <a:rect l="0" t="0" r="0" b="0"/>
                <a:pathLst>
                  <a:path w="88" h="24">
                    <a:moveTo>
                      <a:pt x="0" y="0"/>
                    </a:moveTo>
                    <a:lnTo>
                      <a:pt x="17" y="24"/>
                    </a:lnTo>
                    <a:lnTo>
                      <a:pt x="71" y="24"/>
                    </a:lnTo>
                    <a:lnTo>
                      <a:pt x="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9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53" name="任意多边形 534533"/>
              <p:cNvSpPr/>
              <p:nvPr/>
            </p:nvSpPr>
            <p:spPr>
              <a:xfrm>
                <a:off x="4159" y="2966"/>
                <a:ext cx="886" cy="242"/>
              </a:xfrm>
              <a:custGeom>
                <a:avLst/>
                <a:gdLst/>
                <a:ahLst/>
                <a:cxnLst>
                  <a:cxn ang="0">
                    <a:pos x="0" y="24603"/>
                  </a:cxn>
                  <a:cxn ang="0">
                    <a:pos x="17337" y="0"/>
                  </a:cxn>
                  <a:cxn ang="0">
                    <a:pos x="72481" y="0"/>
                  </a:cxn>
                  <a:cxn ang="0">
                    <a:pos x="89808" y="24603"/>
                  </a:cxn>
                  <a:cxn ang="0">
                    <a:pos x="0" y="24603"/>
                  </a:cxn>
                </a:cxnLst>
                <a:rect l="0" t="0" r="0" b="0"/>
                <a:pathLst>
                  <a:path w="88" h="24">
                    <a:moveTo>
                      <a:pt x="0" y="24"/>
                    </a:moveTo>
                    <a:lnTo>
                      <a:pt x="17" y="0"/>
                    </a:lnTo>
                    <a:lnTo>
                      <a:pt x="71" y="0"/>
                    </a:lnTo>
                    <a:lnTo>
                      <a:pt x="88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3399FF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54" name="椭圆 534534"/>
              <p:cNvSpPr/>
              <p:nvPr/>
            </p:nvSpPr>
            <p:spPr>
              <a:xfrm>
                <a:off x="4421" y="2282"/>
                <a:ext cx="362" cy="402"/>
              </a:xfrm>
              <a:prstGeom prst="ellipse">
                <a:avLst/>
              </a:prstGeom>
              <a:solidFill>
                <a:srgbClr val="00CC99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55" name="任意多边形 534535"/>
              <p:cNvSpPr/>
              <p:nvPr/>
            </p:nvSpPr>
            <p:spPr>
              <a:xfrm>
                <a:off x="4179" y="2463"/>
                <a:ext cx="352" cy="81"/>
              </a:xfrm>
              <a:custGeom>
                <a:avLst/>
                <a:gdLst/>
                <a:ahLst/>
                <a:cxnLst>
                  <a:cxn ang="0">
                    <a:pos x="22357" y="0"/>
                  </a:cxn>
                  <a:cxn ang="0">
                    <a:pos x="22357" y="2055"/>
                  </a:cxn>
                  <a:cxn ang="0">
                    <a:pos x="0" y="2055"/>
                  </a:cxn>
                  <a:cxn ang="0">
                    <a:pos x="0" y="6257"/>
                  </a:cxn>
                  <a:cxn ang="0">
                    <a:pos x="22357" y="6257"/>
                  </a:cxn>
                  <a:cxn ang="0">
                    <a:pos x="22357" y="8303"/>
                  </a:cxn>
                  <a:cxn ang="0">
                    <a:pos x="35602" y="4202"/>
                  </a:cxn>
                  <a:cxn ang="0">
                    <a:pos x="22357" y="0"/>
                  </a:cxn>
                </a:cxnLst>
                <a:rect l="0" t="0" r="0" b="0"/>
                <a:pathLst>
                  <a:path w="35" h="8">
                    <a:moveTo>
                      <a:pt x="22" y="0"/>
                    </a:moveTo>
                    <a:lnTo>
                      <a:pt x="22" y="2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22" y="6"/>
                    </a:lnTo>
                    <a:lnTo>
                      <a:pt x="22" y="8"/>
                    </a:lnTo>
                    <a:lnTo>
                      <a:pt x="35" y="4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33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56" name="任意多边形 534536"/>
              <p:cNvSpPr/>
              <p:nvPr/>
            </p:nvSpPr>
            <p:spPr>
              <a:xfrm>
                <a:off x="4592" y="2564"/>
                <a:ext cx="60" cy="523"/>
              </a:xfrm>
              <a:custGeom>
                <a:avLst/>
                <a:gdLst/>
                <a:ahLst/>
                <a:cxnLst>
                  <a:cxn ang="0">
                    <a:pos x="0" y="20337"/>
                  </a:cxn>
                  <a:cxn ang="0">
                    <a:pos x="1000" y="20337"/>
                  </a:cxn>
                  <a:cxn ang="0">
                    <a:pos x="1000" y="52903"/>
                  </a:cxn>
                  <a:cxn ang="0">
                    <a:pos x="4000" y="52903"/>
                  </a:cxn>
                  <a:cxn ang="0">
                    <a:pos x="4000" y="20337"/>
                  </a:cxn>
                  <a:cxn ang="0">
                    <a:pos x="6000" y="20337"/>
                  </a:cxn>
                  <a:cxn ang="0">
                    <a:pos x="3000" y="0"/>
                  </a:cxn>
                  <a:cxn ang="0">
                    <a:pos x="0" y="20337"/>
                  </a:cxn>
                </a:cxnLst>
                <a:rect l="0" t="0" r="0" b="0"/>
                <a:pathLst>
                  <a:path w="6" h="52">
                    <a:moveTo>
                      <a:pt x="0" y="20"/>
                    </a:moveTo>
                    <a:lnTo>
                      <a:pt x="1" y="20"/>
                    </a:lnTo>
                    <a:lnTo>
                      <a:pt x="1" y="52"/>
                    </a:lnTo>
                    <a:lnTo>
                      <a:pt x="4" y="52"/>
                    </a:lnTo>
                    <a:lnTo>
                      <a:pt x="4" y="20"/>
                    </a:lnTo>
                    <a:lnTo>
                      <a:pt x="6" y="20"/>
                    </a:lnTo>
                    <a:lnTo>
                      <a:pt x="3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F33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57" name="任意多边形 534537"/>
              <p:cNvSpPr/>
              <p:nvPr/>
            </p:nvSpPr>
            <p:spPr>
              <a:xfrm>
                <a:off x="4592" y="1920"/>
                <a:ext cx="60" cy="402"/>
              </a:xfrm>
              <a:custGeom>
                <a:avLst/>
                <a:gdLst/>
                <a:ahLst/>
                <a:cxnLst>
                  <a:cxn ang="0">
                    <a:pos x="0" y="15256"/>
                  </a:cxn>
                  <a:cxn ang="0">
                    <a:pos x="1000" y="15256"/>
                  </a:cxn>
                  <a:cxn ang="0">
                    <a:pos x="1000" y="40602"/>
                  </a:cxn>
                  <a:cxn ang="0">
                    <a:pos x="4000" y="40602"/>
                  </a:cxn>
                  <a:cxn ang="0">
                    <a:pos x="4000" y="15256"/>
                  </a:cxn>
                  <a:cxn ang="0">
                    <a:pos x="6000" y="15256"/>
                  </a:cxn>
                  <a:cxn ang="0">
                    <a:pos x="3000" y="0"/>
                  </a:cxn>
                  <a:cxn ang="0">
                    <a:pos x="0" y="15256"/>
                  </a:cxn>
                </a:cxnLst>
                <a:rect l="0" t="0" r="0" b="0"/>
                <a:pathLst>
                  <a:path w="6" h="40">
                    <a:moveTo>
                      <a:pt x="0" y="15"/>
                    </a:moveTo>
                    <a:lnTo>
                      <a:pt x="1" y="15"/>
                    </a:lnTo>
                    <a:lnTo>
                      <a:pt x="1" y="40"/>
                    </a:lnTo>
                    <a:lnTo>
                      <a:pt x="4" y="40"/>
                    </a:lnTo>
                    <a:lnTo>
                      <a:pt x="4" y="15"/>
                    </a:lnTo>
                    <a:lnTo>
                      <a:pt x="6" y="15"/>
                    </a:lnTo>
                    <a:lnTo>
                      <a:pt x="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FF33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58" name="矩形 534538"/>
              <p:cNvSpPr/>
              <p:nvPr/>
            </p:nvSpPr>
            <p:spPr>
              <a:xfrm>
                <a:off x="4803" y="2171"/>
                <a:ext cx="91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59" name="矩形 534539"/>
              <p:cNvSpPr/>
              <p:nvPr/>
            </p:nvSpPr>
            <p:spPr>
              <a:xfrm>
                <a:off x="4903" y="2201"/>
                <a:ext cx="60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0" name="矩形 534540"/>
              <p:cNvSpPr/>
              <p:nvPr/>
            </p:nvSpPr>
            <p:spPr>
              <a:xfrm>
                <a:off x="4843" y="2795"/>
                <a:ext cx="181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1" name="矩形 534541"/>
              <p:cNvSpPr/>
              <p:nvPr/>
            </p:nvSpPr>
            <p:spPr>
              <a:xfrm>
                <a:off x="4944" y="2825"/>
                <a:ext cx="60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2" name="矩形 534542"/>
              <p:cNvSpPr/>
              <p:nvPr/>
            </p:nvSpPr>
            <p:spPr>
              <a:xfrm>
                <a:off x="4189" y="2201"/>
                <a:ext cx="262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3" name="矩形 534543"/>
              <p:cNvSpPr/>
              <p:nvPr/>
            </p:nvSpPr>
            <p:spPr>
              <a:xfrm>
                <a:off x="4385" y="2232"/>
                <a:ext cx="1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endParaRPr lang="zh-CN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4" name="矩形 534544"/>
              <p:cNvSpPr/>
              <p:nvPr/>
            </p:nvSpPr>
            <p:spPr>
              <a:xfrm>
                <a:off x="4280" y="1547"/>
                <a:ext cx="744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5" name="矩形 534545"/>
              <p:cNvSpPr/>
              <p:nvPr/>
            </p:nvSpPr>
            <p:spPr>
              <a:xfrm>
                <a:off x="4395" y="1598"/>
                <a:ext cx="6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高温热源</a:t>
                </a:r>
                <a:endPara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6" name="矩形 534546"/>
              <p:cNvSpPr/>
              <p:nvPr/>
            </p:nvSpPr>
            <p:spPr>
              <a:xfrm>
                <a:off x="4280" y="3238"/>
                <a:ext cx="744" cy="2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7" name="矩形 534547"/>
              <p:cNvSpPr/>
              <p:nvPr/>
            </p:nvSpPr>
            <p:spPr>
              <a:xfrm>
                <a:off x="4395" y="3288"/>
                <a:ext cx="6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低温热源</a:t>
                </a:r>
                <a:endPara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8" name="矩形 534548"/>
              <p:cNvSpPr/>
              <p:nvPr/>
            </p:nvSpPr>
            <p:spPr>
              <a:xfrm>
                <a:off x="4682" y="2664"/>
                <a:ext cx="212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69" name="矩形 534549"/>
              <p:cNvSpPr/>
              <p:nvPr/>
            </p:nvSpPr>
            <p:spPr>
              <a:xfrm>
                <a:off x="4773" y="2705"/>
                <a:ext cx="15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70" name="矩形 534550"/>
              <p:cNvSpPr/>
              <p:nvPr/>
            </p:nvSpPr>
            <p:spPr>
              <a:xfrm>
                <a:off x="4642" y="2061"/>
                <a:ext cx="272" cy="3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71" name="矩形 534551"/>
              <p:cNvSpPr/>
              <p:nvPr/>
            </p:nvSpPr>
            <p:spPr>
              <a:xfrm>
                <a:off x="4732" y="2101"/>
                <a:ext cx="15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0072" name="矩形 534552"/>
            <p:cNvSpPr/>
            <p:nvPr/>
          </p:nvSpPr>
          <p:spPr>
            <a:xfrm>
              <a:off x="4149" y="3469"/>
              <a:ext cx="956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73" name="矩形 534553"/>
            <p:cNvSpPr/>
            <p:nvPr/>
          </p:nvSpPr>
          <p:spPr>
            <a:xfrm>
              <a:off x="4295" y="3550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(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74" name="矩形 534554"/>
            <p:cNvSpPr/>
            <p:nvPr/>
          </p:nvSpPr>
          <p:spPr>
            <a:xfrm>
              <a:off x="4369" y="3540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冷冻室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75" name="矩形 534555"/>
            <p:cNvSpPr/>
            <p:nvPr/>
          </p:nvSpPr>
          <p:spPr>
            <a:xfrm>
              <a:off x="5050" y="3550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76" name="矩形 534556"/>
            <p:cNvSpPr/>
            <p:nvPr/>
          </p:nvSpPr>
          <p:spPr>
            <a:xfrm>
              <a:off x="4028" y="1296"/>
              <a:ext cx="1178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77" name="矩形 534557"/>
            <p:cNvSpPr/>
            <p:nvPr/>
          </p:nvSpPr>
          <p:spPr>
            <a:xfrm>
              <a:off x="4174" y="1376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(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78" name="矩形 534558"/>
            <p:cNvSpPr/>
            <p:nvPr/>
          </p:nvSpPr>
          <p:spPr>
            <a:xfrm>
              <a:off x="4254" y="1366"/>
              <a:ext cx="8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周围环境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79" name="矩形 534559"/>
            <p:cNvSpPr/>
            <p:nvPr/>
          </p:nvSpPr>
          <p:spPr>
            <a:xfrm>
              <a:off x="5151" y="1376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2" name="椭圆 231"/>
          <p:cNvSpPr/>
          <p:nvPr/>
        </p:nvSpPr>
        <p:spPr bwMode="auto">
          <a:xfrm>
            <a:off x="6804025" y="3644900"/>
            <a:ext cx="431800" cy="48260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工作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物质</a:t>
            </a:r>
          </a:p>
        </p:txBody>
      </p:sp>
      <p:grpSp>
        <p:nvGrpSpPr>
          <p:cNvPr id="130081" name="Group 5"/>
          <p:cNvGrpSpPr/>
          <p:nvPr/>
        </p:nvGrpSpPr>
        <p:grpSpPr>
          <a:xfrm>
            <a:off x="1057275" y="1268413"/>
            <a:ext cx="3595688" cy="5303837"/>
            <a:chOff x="1411" y="833"/>
            <a:chExt cx="2265" cy="3341"/>
          </a:xfrm>
        </p:grpSpPr>
        <p:sp>
          <p:nvSpPr>
            <p:cNvPr id="130082" name="Rectangle 6"/>
            <p:cNvSpPr/>
            <p:nvPr/>
          </p:nvSpPr>
          <p:spPr>
            <a:xfrm>
              <a:off x="3046" y="2234"/>
              <a:ext cx="192" cy="57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83" name="Line 7"/>
            <p:cNvSpPr/>
            <p:nvPr/>
          </p:nvSpPr>
          <p:spPr>
            <a:xfrm flipH="1">
              <a:off x="3024" y="3107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0084" name="Rectangle 8"/>
            <p:cNvSpPr/>
            <p:nvPr/>
          </p:nvSpPr>
          <p:spPr>
            <a:xfrm>
              <a:off x="2256" y="2016"/>
              <a:ext cx="192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85" name="Text Box 9"/>
            <p:cNvSpPr txBox="1"/>
            <p:nvPr/>
          </p:nvSpPr>
          <p:spPr>
            <a:xfrm>
              <a:off x="2271" y="2208"/>
              <a:ext cx="310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氨</a:t>
              </a:r>
            </a:p>
          </p:txBody>
        </p:sp>
        <p:sp>
          <p:nvSpPr>
            <p:cNvPr id="130086" name="Rectangle 33"/>
            <p:cNvSpPr/>
            <p:nvPr/>
          </p:nvSpPr>
          <p:spPr>
            <a:xfrm>
              <a:off x="1663" y="833"/>
              <a:ext cx="2013" cy="3180"/>
            </a:xfrm>
            <a:prstGeom prst="rect">
              <a:avLst/>
            </a:prstGeom>
            <a:solidFill>
              <a:srgbClr val="00CC99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87" name="Rectangle 34"/>
            <p:cNvSpPr/>
            <p:nvPr/>
          </p:nvSpPr>
          <p:spPr>
            <a:xfrm>
              <a:off x="1754" y="924"/>
              <a:ext cx="1831" cy="2998"/>
            </a:xfrm>
            <a:prstGeom prst="rect">
              <a:avLst/>
            </a:prstGeom>
            <a:solidFill>
              <a:srgbClr val="FFFFFF"/>
            </a:soli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88" name="Freeform 35"/>
            <p:cNvSpPr/>
            <p:nvPr/>
          </p:nvSpPr>
          <p:spPr>
            <a:xfrm>
              <a:off x="2367" y="1276"/>
              <a:ext cx="785" cy="402"/>
            </a:xfrm>
            <a:custGeom>
              <a:avLst/>
              <a:gdLst/>
              <a:ahLst/>
              <a:cxnLst>
                <a:cxn ang="0">
                  <a:pos x="785" y="402"/>
                </a:cxn>
                <a:cxn ang="0">
                  <a:pos x="0" y="402"/>
                </a:cxn>
                <a:cxn ang="0">
                  <a:pos x="0" y="332"/>
                </a:cxn>
                <a:cxn ang="0">
                  <a:pos x="785" y="332"/>
                </a:cxn>
                <a:cxn ang="0">
                  <a:pos x="785" y="271"/>
                </a:cxn>
                <a:cxn ang="0">
                  <a:pos x="0" y="271"/>
                </a:cxn>
                <a:cxn ang="0">
                  <a:pos x="0" y="201"/>
                </a:cxn>
                <a:cxn ang="0">
                  <a:pos x="785" y="201"/>
                </a:cxn>
                <a:cxn ang="0">
                  <a:pos x="785" y="131"/>
                </a:cxn>
                <a:cxn ang="0">
                  <a:pos x="0" y="131"/>
                </a:cxn>
                <a:cxn ang="0">
                  <a:pos x="0" y="70"/>
                </a:cxn>
                <a:cxn ang="0">
                  <a:pos x="785" y="70"/>
                </a:cxn>
                <a:cxn ang="0">
                  <a:pos x="785" y="0"/>
                </a:cxn>
                <a:cxn ang="0">
                  <a:pos x="0" y="0"/>
                </a:cxn>
              </a:cxnLst>
              <a:rect l="0" t="0" r="0" b="0"/>
              <a:pathLst>
                <a:path w="785" h="402">
                  <a:moveTo>
                    <a:pt x="785" y="402"/>
                  </a:moveTo>
                  <a:lnTo>
                    <a:pt x="0" y="402"/>
                  </a:lnTo>
                  <a:lnTo>
                    <a:pt x="0" y="332"/>
                  </a:lnTo>
                  <a:lnTo>
                    <a:pt x="785" y="332"/>
                  </a:lnTo>
                  <a:lnTo>
                    <a:pt x="785" y="271"/>
                  </a:lnTo>
                  <a:lnTo>
                    <a:pt x="0" y="271"/>
                  </a:lnTo>
                  <a:lnTo>
                    <a:pt x="0" y="201"/>
                  </a:lnTo>
                  <a:lnTo>
                    <a:pt x="785" y="201"/>
                  </a:lnTo>
                  <a:lnTo>
                    <a:pt x="785" y="131"/>
                  </a:lnTo>
                  <a:lnTo>
                    <a:pt x="0" y="131"/>
                  </a:lnTo>
                  <a:lnTo>
                    <a:pt x="0" y="70"/>
                  </a:lnTo>
                  <a:lnTo>
                    <a:pt x="785" y="70"/>
                  </a:lnTo>
                  <a:lnTo>
                    <a:pt x="785" y="0"/>
                  </a:lnTo>
                  <a:lnTo>
                    <a:pt x="0" y="0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0089" name="Group 36"/>
            <p:cNvGrpSpPr/>
            <p:nvPr/>
          </p:nvGrpSpPr>
          <p:grpSpPr>
            <a:xfrm>
              <a:off x="3032" y="3469"/>
              <a:ext cx="523" cy="443"/>
              <a:chOff x="3032" y="3469"/>
              <a:chExt cx="523" cy="443"/>
            </a:xfrm>
          </p:grpSpPr>
          <p:sp>
            <p:nvSpPr>
              <p:cNvPr id="130090" name="Freeform 37"/>
              <p:cNvSpPr/>
              <p:nvPr/>
            </p:nvSpPr>
            <p:spPr>
              <a:xfrm>
                <a:off x="3132" y="3721"/>
                <a:ext cx="322" cy="151"/>
              </a:xfrm>
              <a:custGeom>
                <a:avLst/>
                <a:gdLst/>
                <a:ahLst/>
                <a:cxnLst>
                  <a:cxn ang="0">
                    <a:pos x="0" y="15301"/>
                  </a:cxn>
                  <a:cxn ang="0">
                    <a:pos x="10224" y="0"/>
                  </a:cxn>
                  <a:cxn ang="0">
                    <a:pos x="22379" y="0"/>
                  </a:cxn>
                  <a:cxn ang="0">
                    <a:pos x="32603" y="15301"/>
                  </a:cxn>
                  <a:cxn ang="0">
                    <a:pos x="0" y="15301"/>
                  </a:cxn>
                </a:cxnLst>
                <a:rect l="0" t="0" r="0" b="0"/>
                <a:pathLst>
                  <a:path w="32" h="15">
                    <a:moveTo>
                      <a:pt x="0" y="15"/>
                    </a:moveTo>
                    <a:lnTo>
                      <a:pt x="10" y="0"/>
                    </a:lnTo>
                    <a:lnTo>
                      <a:pt x="22" y="0"/>
                    </a:lnTo>
                    <a:lnTo>
                      <a:pt x="32" y="15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3333CC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91" name="Oval 38"/>
              <p:cNvSpPr/>
              <p:nvPr/>
            </p:nvSpPr>
            <p:spPr>
              <a:xfrm>
                <a:off x="3092" y="3469"/>
                <a:ext cx="383" cy="373"/>
              </a:xfrm>
              <a:prstGeom prst="ellipse">
                <a:avLst/>
              </a:prstGeom>
              <a:solidFill>
                <a:srgbClr val="0099FF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92" name="Freeform 39"/>
              <p:cNvSpPr/>
              <p:nvPr/>
            </p:nvSpPr>
            <p:spPr>
              <a:xfrm>
                <a:off x="3032" y="3882"/>
                <a:ext cx="523" cy="30"/>
              </a:xfrm>
              <a:custGeom>
                <a:avLst/>
                <a:gdLst/>
                <a:ahLst/>
                <a:cxnLst>
                  <a:cxn ang="0">
                    <a:pos x="0" y="3000"/>
                  </a:cxn>
                  <a:cxn ang="0">
                    <a:pos x="2022" y="0"/>
                  </a:cxn>
                  <a:cxn ang="0">
                    <a:pos x="50882" y="0"/>
                  </a:cxn>
                  <a:cxn ang="0">
                    <a:pos x="52903" y="3000"/>
                  </a:cxn>
                  <a:cxn ang="0">
                    <a:pos x="0" y="3000"/>
                  </a:cxn>
                </a:cxnLst>
                <a:rect l="0" t="0" r="0" b="0"/>
                <a:pathLst>
                  <a:path w="52" h="3">
                    <a:moveTo>
                      <a:pt x="0" y="3"/>
                    </a:moveTo>
                    <a:lnTo>
                      <a:pt x="2" y="0"/>
                    </a:lnTo>
                    <a:lnTo>
                      <a:pt x="50" y="0"/>
                    </a:lnTo>
                    <a:lnTo>
                      <a:pt x="52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3333CC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93" name="Oval 40"/>
              <p:cNvSpPr/>
              <p:nvPr/>
            </p:nvSpPr>
            <p:spPr>
              <a:xfrm>
                <a:off x="3253" y="3620"/>
                <a:ext cx="71" cy="71"/>
              </a:xfrm>
              <a:prstGeom prst="ellipse">
                <a:avLst/>
              </a:prstGeom>
              <a:solidFill>
                <a:srgbClr val="3333CC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0094" name="Group 41"/>
            <p:cNvGrpSpPr/>
            <p:nvPr/>
          </p:nvGrpSpPr>
          <p:grpSpPr>
            <a:xfrm>
              <a:off x="2146" y="2926"/>
              <a:ext cx="765" cy="926"/>
              <a:chOff x="2146" y="2926"/>
              <a:chExt cx="765" cy="926"/>
            </a:xfrm>
          </p:grpSpPr>
          <p:sp>
            <p:nvSpPr>
              <p:cNvPr id="130095" name="Rectangle 42"/>
              <p:cNvSpPr/>
              <p:nvPr/>
            </p:nvSpPr>
            <p:spPr>
              <a:xfrm>
                <a:off x="2186" y="2986"/>
                <a:ext cx="695" cy="805"/>
              </a:xfrm>
              <a:prstGeom prst="rect">
                <a:avLst/>
              </a:prstGeom>
              <a:solidFill>
                <a:srgbClr val="00FFFF"/>
              </a:solidFill>
              <a:ln w="158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096" name="Line 43"/>
              <p:cNvSpPr/>
              <p:nvPr/>
            </p:nvSpPr>
            <p:spPr>
              <a:xfrm>
                <a:off x="2498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097" name="Line 44"/>
              <p:cNvSpPr/>
              <p:nvPr/>
            </p:nvSpPr>
            <p:spPr>
              <a:xfrm>
                <a:off x="2146" y="3198"/>
                <a:ext cx="765" cy="1"/>
              </a:xfrm>
              <a:prstGeom prst="line">
                <a:avLst/>
              </a:prstGeom>
              <a:ln w="4762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098" name="Line 45"/>
              <p:cNvSpPr/>
              <p:nvPr/>
            </p:nvSpPr>
            <p:spPr>
              <a:xfrm>
                <a:off x="2146" y="3630"/>
                <a:ext cx="765" cy="1"/>
              </a:xfrm>
              <a:prstGeom prst="line">
                <a:avLst/>
              </a:prstGeom>
              <a:ln w="4762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099" name="Line 46"/>
              <p:cNvSpPr/>
              <p:nvPr/>
            </p:nvSpPr>
            <p:spPr>
              <a:xfrm>
                <a:off x="2559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0" name="Line 47"/>
              <p:cNvSpPr/>
              <p:nvPr/>
            </p:nvSpPr>
            <p:spPr>
              <a:xfrm>
                <a:off x="2690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1" name="Line 48"/>
              <p:cNvSpPr/>
              <p:nvPr/>
            </p:nvSpPr>
            <p:spPr>
              <a:xfrm>
                <a:off x="2619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2" name="Line 49"/>
              <p:cNvSpPr/>
              <p:nvPr/>
            </p:nvSpPr>
            <p:spPr>
              <a:xfrm>
                <a:off x="2750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3" name="Line 50"/>
              <p:cNvSpPr/>
              <p:nvPr/>
            </p:nvSpPr>
            <p:spPr>
              <a:xfrm>
                <a:off x="2810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4" name="Line 51"/>
              <p:cNvSpPr/>
              <p:nvPr/>
            </p:nvSpPr>
            <p:spPr>
              <a:xfrm>
                <a:off x="2881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5" name="Line 52"/>
              <p:cNvSpPr/>
              <p:nvPr/>
            </p:nvSpPr>
            <p:spPr>
              <a:xfrm>
                <a:off x="2237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6" name="Line 53"/>
              <p:cNvSpPr/>
              <p:nvPr/>
            </p:nvSpPr>
            <p:spPr>
              <a:xfrm>
                <a:off x="2176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7" name="Line 54"/>
              <p:cNvSpPr/>
              <p:nvPr/>
            </p:nvSpPr>
            <p:spPr>
              <a:xfrm>
                <a:off x="2307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8" name="Line 55"/>
              <p:cNvSpPr/>
              <p:nvPr/>
            </p:nvSpPr>
            <p:spPr>
              <a:xfrm>
                <a:off x="2367" y="2926"/>
                <a:ext cx="1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09" name="Line 56"/>
              <p:cNvSpPr/>
              <p:nvPr/>
            </p:nvSpPr>
            <p:spPr>
              <a:xfrm>
                <a:off x="2428" y="2926"/>
                <a:ext cx="10" cy="926"/>
              </a:xfrm>
              <a:prstGeom prst="line">
                <a:avLst/>
              </a:prstGeom>
              <a:ln w="15875" cap="flat" cmpd="sng">
                <a:solidFill>
                  <a:srgbClr val="00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30110" name="Group 57"/>
            <p:cNvGrpSpPr/>
            <p:nvPr/>
          </p:nvGrpSpPr>
          <p:grpSpPr>
            <a:xfrm>
              <a:off x="1955" y="2926"/>
              <a:ext cx="70" cy="523"/>
              <a:chOff x="1955" y="2926"/>
              <a:chExt cx="70" cy="523"/>
            </a:xfrm>
          </p:grpSpPr>
          <p:sp>
            <p:nvSpPr>
              <p:cNvPr id="130111" name="Line 58"/>
              <p:cNvSpPr/>
              <p:nvPr/>
            </p:nvSpPr>
            <p:spPr>
              <a:xfrm>
                <a:off x="1985" y="2976"/>
                <a:ext cx="1" cy="473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12" name="Freeform 59"/>
              <p:cNvSpPr/>
              <p:nvPr/>
            </p:nvSpPr>
            <p:spPr>
              <a:xfrm>
                <a:off x="1955" y="2926"/>
                <a:ext cx="70" cy="111"/>
              </a:xfrm>
              <a:custGeom>
                <a:avLst/>
                <a:gdLst/>
                <a:ahLst/>
                <a:cxnLst>
                  <a:cxn ang="0">
                    <a:pos x="70" y="111"/>
                  </a:cxn>
                  <a:cxn ang="0">
                    <a:pos x="30" y="0"/>
                  </a:cxn>
                  <a:cxn ang="0">
                    <a:pos x="0" y="111"/>
                  </a:cxn>
                  <a:cxn ang="0">
                    <a:pos x="30" y="70"/>
                  </a:cxn>
                  <a:cxn ang="0">
                    <a:pos x="70" y="111"/>
                  </a:cxn>
                </a:cxnLst>
                <a:rect l="0" t="0" r="0" b="0"/>
                <a:pathLst>
                  <a:path w="70" h="111">
                    <a:moveTo>
                      <a:pt x="70" y="111"/>
                    </a:moveTo>
                    <a:lnTo>
                      <a:pt x="30" y="0"/>
                    </a:lnTo>
                    <a:lnTo>
                      <a:pt x="0" y="111"/>
                    </a:lnTo>
                    <a:lnTo>
                      <a:pt x="30" y="70"/>
                    </a:lnTo>
                    <a:lnTo>
                      <a:pt x="70" y="1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0113" name="Group 60"/>
            <p:cNvGrpSpPr/>
            <p:nvPr/>
          </p:nvGrpSpPr>
          <p:grpSpPr>
            <a:xfrm>
              <a:off x="3353" y="1888"/>
              <a:ext cx="71" cy="523"/>
              <a:chOff x="3152" y="2282"/>
              <a:chExt cx="71" cy="523"/>
            </a:xfrm>
          </p:grpSpPr>
          <p:sp>
            <p:nvSpPr>
              <p:cNvPr id="130114" name="Line 61"/>
              <p:cNvSpPr/>
              <p:nvPr/>
            </p:nvSpPr>
            <p:spPr>
              <a:xfrm flipV="1">
                <a:off x="3193" y="2282"/>
                <a:ext cx="1" cy="473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15" name="Freeform 62"/>
              <p:cNvSpPr/>
              <p:nvPr/>
            </p:nvSpPr>
            <p:spPr>
              <a:xfrm>
                <a:off x="3152" y="2694"/>
                <a:ext cx="71" cy="1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1" y="111"/>
                  </a:cxn>
                  <a:cxn ang="0">
                    <a:pos x="71" y="0"/>
                  </a:cxn>
                  <a:cxn ang="0">
                    <a:pos x="41" y="41"/>
                  </a:cxn>
                  <a:cxn ang="0">
                    <a:pos x="0" y="0"/>
                  </a:cxn>
                </a:cxnLst>
                <a:rect l="0" t="0" r="0" b="0"/>
                <a:pathLst>
                  <a:path w="71" h="111">
                    <a:moveTo>
                      <a:pt x="0" y="0"/>
                    </a:moveTo>
                    <a:lnTo>
                      <a:pt x="41" y="111"/>
                    </a:lnTo>
                    <a:lnTo>
                      <a:pt x="71" y="0"/>
                    </a:lnTo>
                    <a:lnTo>
                      <a:pt x="41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0116" name="Freeform 63"/>
            <p:cNvSpPr/>
            <p:nvPr/>
          </p:nvSpPr>
          <p:spPr>
            <a:xfrm>
              <a:off x="1904" y="1920"/>
              <a:ext cx="363" cy="764"/>
            </a:xfrm>
            <a:custGeom>
              <a:avLst/>
              <a:gdLst/>
              <a:ahLst/>
              <a:cxnLst>
                <a:cxn ang="0">
                  <a:pos x="15357" y="0"/>
                </a:cxn>
                <a:cxn ang="0">
                  <a:pos x="0" y="15260"/>
                </a:cxn>
                <a:cxn ang="0">
                  <a:pos x="0" y="61944"/>
                </a:cxn>
                <a:cxn ang="0">
                  <a:pos x="15357" y="77204"/>
                </a:cxn>
                <a:cxn ang="0">
                  <a:pos x="21558" y="77204"/>
                </a:cxn>
                <a:cxn ang="0">
                  <a:pos x="36905" y="61944"/>
                </a:cxn>
                <a:cxn ang="0">
                  <a:pos x="36905" y="15260"/>
                </a:cxn>
                <a:cxn ang="0">
                  <a:pos x="21558" y="0"/>
                </a:cxn>
                <a:cxn ang="0">
                  <a:pos x="15357" y="0"/>
                </a:cxn>
              </a:cxnLst>
              <a:rect l="0" t="0" r="0" b="0"/>
              <a:pathLst>
                <a:path w="36" h="76">
                  <a:moveTo>
                    <a:pt x="15" y="0"/>
                  </a:moveTo>
                  <a:cubicBezTo>
                    <a:pt x="7" y="0"/>
                    <a:pt x="0" y="7"/>
                    <a:pt x="0" y="15"/>
                  </a:cubicBezTo>
                  <a:lnTo>
                    <a:pt x="0" y="61"/>
                  </a:lnTo>
                  <a:cubicBezTo>
                    <a:pt x="0" y="69"/>
                    <a:pt x="7" y="76"/>
                    <a:pt x="15" y="76"/>
                  </a:cubicBezTo>
                  <a:lnTo>
                    <a:pt x="21" y="76"/>
                  </a:lnTo>
                  <a:cubicBezTo>
                    <a:pt x="29" y="76"/>
                    <a:pt x="36" y="69"/>
                    <a:pt x="36" y="61"/>
                  </a:cubicBezTo>
                  <a:lnTo>
                    <a:pt x="36" y="15"/>
                  </a:lnTo>
                  <a:cubicBezTo>
                    <a:pt x="36" y="7"/>
                    <a:pt x="29" y="0"/>
                    <a:pt x="21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F9900"/>
            </a:solidFill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7" name="Freeform 64"/>
            <p:cNvSpPr/>
            <p:nvPr/>
          </p:nvSpPr>
          <p:spPr>
            <a:xfrm>
              <a:off x="2066" y="1276"/>
              <a:ext cx="362" cy="2133"/>
            </a:xfrm>
            <a:custGeom>
              <a:avLst/>
              <a:gdLst/>
              <a:ahLst/>
              <a:cxnLst>
                <a:cxn ang="0">
                  <a:pos x="362" y="0"/>
                </a:cxn>
                <a:cxn ang="0">
                  <a:pos x="0" y="0"/>
                </a:cxn>
                <a:cxn ang="0">
                  <a:pos x="0" y="2133"/>
                </a:cxn>
                <a:cxn ang="0">
                  <a:pos x="120" y="2133"/>
                </a:cxn>
              </a:cxnLst>
              <a:rect l="0" t="0" r="0" b="0"/>
              <a:pathLst>
                <a:path w="362" h="2133">
                  <a:moveTo>
                    <a:pt x="362" y="0"/>
                  </a:moveTo>
                  <a:lnTo>
                    <a:pt x="0" y="0"/>
                  </a:lnTo>
                  <a:lnTo>
                    <a:pt x="0" y="2133"/>
                  </a:lnTo>
                  <a:lnTo>
                    <a:pt x="120" y="2133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18" name="Freeform 65"/>
            <p:cNvSpPr/>
            <p:nvPr/>
          </p:nvSpPr>
          <p:spPr>
            <a:xfrm>
              <a:off x="3112" y="1678"/>
              <a:ext cx="201" cy="181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1" y="0"/>
                </a:cxn>
                <a:cxn ang="0">
                  <a:pos x="201" y="1811"/>
                </a:cxn>
              </a:cxnLst>
              <a:rect l="0" t="0" r="0" b="0"/>
              <a:pathLst>
                <a:path w="201" h="1811">
                  <a:moveTo>
                    <a:pt x="0" y="0"/>
                  </a:moveTo>
                  <a:lnTo>
                    <a:pt x="201" y="0"/>
                  </a:lnTo>
                  <a:lnTo>
                    <a:pt x="201" y="1811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0119" name="Group 66"/>
            <p:cNvGrpSpPr/>
            <p:nvPr/>
          </p:nvGrpSpPr>
          <p:grpSpPr>
            <a:xfrm>
              <a:off x="1985" y="1598"/>
              <a:ext cx="161" cy="161"/>
              <a:chOff x="1985" y="1598"/>
              <a:chExt cx="161" cy="161"/>
            </a:xfrm>
          </p:grpSpPr>
          <p:sp>
            <p:nvSpPr>
              <p:cNvPr id="130120" name="Oval 67"/>
              <p:cNvSpPr/>
              <p:nvPr/>
            </p:nvSpPr>
            <p:spPr>
              <a:xfrm>
                <a:off x="1985" y="1598"/>
                <a:ext cx="161" cy="161"/>
              </a:xfrm>
              <a:prstGeom prst="ellipse">
                <a:avLst/>
              </a:prstGeom>
              <a:solidFill>
                <a:srgbClr val="00CC99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21" name="Line 68"/>
              <p:cNvSpPr/>
              <p:nvPr/>
            </p:nvSpPr>
            <p:spPr>
              <a:xfrm>
                <a:off x="2005" y="1628"/>
                <a:ext cx="121" cy="10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122" name="Line 69"/>
              <p:cNvSpPr/>
              <p:nvPr/>
            </p:nvSpPr>
            <p:spPr>
              <a:xfrm flipH="1">
                <a:off x="2005" y="1628"/>
                <a:ext cx="121" cy="10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0123" name="Freeform 70"/>
            <p:cNvSpPr/>
            <p:nvPr/>
          </p:nvSpPr>
          <p:spPr>
            <a:xfrm>
              <a:off x="1904" y="4013"/>
              <a:ext cx="242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01" y="16301"/>
                </a:cxn>
                <a:cxn ang="0">
                  <a:pos x="18503" y="16301"/>
                </a:cxn>
                <a:cxn ang="0">
                  <a:pos x="24603" y="0"/>
                </a:cxn>
                <a:cxn ang="0">
                  <a:pos x="0" y="0"/>
                </a:cxn>
              </a:cxnLst>
              <a:rect l="0" t="0" r="0" b="0"/>
              <a:pathLst>
                <a:path w="24" h="16">
                  <a:moveTo>
                    <a:pt x="0" y="0"/>
                  </a:moveTo>
                  <a:lnTo>
                    <a:pt x="6" y="16"/>
                  </a:lnTo>
                  <a:lnTo>
                    <a:pt x="18" y="16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4" name="Freeform 71"/>
            <p:cNvSpPr/>
            <p:nvPr/>
          </p:nvSpPr>
          <p:spPr>
            <a:xfrm>
              <a:off x="3193" y="4013"/>
              <a:ext cx="241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055" y="16301"/>
                </a:cxn>
                <a:cxn ang="0">
                  <a:pos x="18256" y="16301"/>
                </a:cxn>
                <a:cxn ang="0">
                  <a:pos x="24301" y="0"/>
                </a:cxn>
                <a:cxn ang="0">
                  <a:pos x="0" y="0"/>
                </a:cxn>
              </a:cxnLst>
              <a:rect l="0" t="0" r="0" b="0"/>
              <a:pathLst>
                <a:path w="24" h="16">
                  <a:moveTo>
                    <a:pt x="0" y="0"/>
                  </a:moveTo>
                  <a:lnTo>
                    <a:pt x="6" y="16"/>
                  </a:lnTo>
                  <a:lnTo>
                    <a:pt x="18" y="16"/>
                  </a:ln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99"/>
            </a:solidFill>
            <a:ln w="158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125" name="Rectangle 72"/>
            <p:cNvSpPr/>
            <p:nvPr/>
          </p:nvSpPr>
          <p:spPr>
            <a:xfrm>
              <a:off x="2136" y="3308"/>
              <a:ext cx="745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26" name="Rectangle 73"/>
            <p:cNvSpPr/>
            <p:nvPr/>
          </p:nvSpPr>
          <p:spPr>
            <a:xfrm>
              <a:off x="2245" y="3379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散热器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0127" name="Group 74"/>
            <p:cNvGrpSpPr/>
            <p:nvPr/>
          </p:nvGrpSpPr>
          <p:grpSpPr>
            <a:xfrm>
              <a:off x="2227" y="1034"/>
              <a:ext cx="1258" cy="976"/>
              <a:chOff x="2227" y="1034"/>
              <a:chExt cx="1258" cy="976"/>
            </a:xfrm>
          </p:grpSpPr>
          <p:sp>
            <p:nvSpPr>
              <p:cNvPr id="130128" name="Rectangle 75"/>
              <p:cNvSpPr/>
              <p:nvPr/>
            </p:nvSpPr>
            <p:spPr>
              <a:xfrm>
                <a:off x="2227" y="1034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29" name="Rectangle 76"/>
              <p:cNvSpPr/>
              <p:nvPr/>
            </p:nvSpPr>
            <p:spPr>
              <a:xfrm>
                <a:off x="2227" y="1105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0" name="Rectangle 77"/>
              <p:cNvSpPr/>
              <p:nvPr/>
            </p:nvSpPr>
            <p:spPr>
              <a:xfrm>
                <a:off x="2227" y="1175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1" name="Rectangle 78"/>
              <p:cNvSpPr/>
              <p:nvPr/>
            </p:nvSpPr>
            <p:spPr>
              <a:xfrm>
                <a:off x="2227" y="124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2" name="Rectangle 79"/>
              <p:cNvSpPr/>
              <p:nvPr/>
            </p:nvSpPr>
            <p:spPr>
              <a:xfrm>
                <a:off x="2227" y="131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3" name="Rectangle 80"/>
              <p:cNvSpPr/>
              <p:nvPr/>
            </p:nvSpPr>
            <p:spPr>
              <a:xfrm>
                <a:off x="2227" y="1386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4" name="Rectangle 81"/>
              <p:cNvSpPr/>
              <p:nvPr/>
            </p:nvSpPr>
            <p:spPr>
              <a:xfrm>
                <a:off x="2227" y="1457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5" name="Rectangle 82"/>
              <p:cNvSpPr/>
              <p:nvPr/>
            </p:nvSpPr>
            <p:spPr>
              <a:xfrm>
                <a:off x="2227" y="1527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6" name="Rectangle 83"/>
              <p:cNvSpPr/>
              <p:nvPr/>
            </p:nvSpPr>
            <p:spPr>
              <a:xfrm>
                <a:off x="2227" y="159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7" name="Rectangle 84"/>
              <p:cNvSpPr/>
              <p:nvPr/>
            </p:nvSpPr>
            <p:spPr>
              <a:xfrm>
                <a:off x="2227" y="166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8" name="Rectangle 85"/>
              <p:cNvSpPr/>
              <p:nvPr/>
            </p:nvSpPr>
            <p:spPr>
              <a:xfrm>
                <a:off x="2227" y="173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39" name="Rectangle 86"/>
              <p:cNvSpPr/>
              <p:nvPr/>
            </p:nvSpPr>
            <p:spPr>
              <a:xfrm>
                <a:off x="2227" y="180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0" name="Rectangle 87"/>
              <p:cNvSpPr/>
              <p:nvPr/>
            </p:nvSpPr>
            <p:spPr>
              <a:xfrm>
                <a:off x="2227" y="1879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1" name="Rectangle 88"/>
              <p:cNvSpPr/>
              <p:nvPr/>
            </p:nvSpPr>
            <p:spPr>
              <a:xfrm>
                <a:off x="2227" y="1950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2" name="Rectangle 89"/>
              <p:cNvSpPr/>
              <p:nvPr/>
            </p:nvSpPr>
            <p:spPr>
              <a:xfrm>
                <a:off x="2247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3" name="Rectangle 90"/>
              <p:cNvSpPr/>
              <p:nvPr/>
            </p:nvSpPr>
            <p:spPr>
              <a:xfrm>
                <a:off x="2317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4" name="Rectangle 91"/>
              <p:cNvSpPr/>
              <p:nvPr/>
            </p:nvSpPr>
            <p:spPr>
              <a:xfrm>
                <a:off x="2388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5" name="Rectangle 92"/>
              <p:cNvSpPr/>
              <p:nvPr/>
            </p:nvSpPr>
            <p:spPr>
              <a:xfrm>
                <a:off x="2458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6" name="Rectangle 93"/>
              <p:cNvSpPr/>
              <p:nvPr/>
            </p:nvSpPr>
            <p:spPr>
              <a:xfrm>
                <a:off x="2528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7" name="Rectangle 94"/>
              <p:cNvSpPr/>
              <p:nvPr/>
            </p:nvSpPr>
            <p:spPr>
              <a:xfrm>
                <a:off x="2599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8" name="Rectangle 95"/>
              <p:cNvSpPr/>
              <p:nvPr/>
            </p:nvSpPr>
            <p:spPr>
              <a:xfrm>
                <a:off x="2669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49" name="Rectangle 96"/>
              <p:cNvSpPr/>
              <p:nvPr/>
            </p:nvSpPr>
            <p:spPr>
              <a:xfrm>
                <a:off x="2740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0" name="Rectangle 97"/>
              <p:cNvSpPr/>
              <p:nvPr/>
            </p:nvSpPr>
            <p:spPr>
              <a:xfrm>
                <a:off x="2810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1" name="Rectangle 98"/>
              <p:cNvSpPr/>
              <p:nvPr/>
            </p:nvSpPr>
            <p:spPr>
              <a:xfrm>
                <a:off x="2881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2" name="Rectangle 99"/>
              <p:cNvSpPr/>
              <p:nvPr/>
            </p:nvSpPr>
            <p:spPr>
              <a:xfrm>
                <a:off x="2951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3" name="Rectangle 100"/>
              <p:cNvSpPr/>
              <p:nvPr/>
            </p:nvSpPr>
            <p:spPr>
              <a:xfrm>
                <a:off x="3022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4" name="Rectangle 101"/>
              <p:cNvSpPr/>
              <p:nvPr/>
            </p:nvSpPr>
            <p:spPr>
              <a:xfrm>
                <a:off x="3092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5" name="Rectangle 102"/>
              <p:cNvSpPr/>
              <p:nvPr/>
            </p:nvSpPr>
            <p:spPr>
              <a:xfrm>
                <a:off x="3163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6" name="Rectangle 103"/>
              <p:cNvSpPr/>
              <p:nvPr/>
            </p:nvSpPr>
            <p:spPr>
              <a:xfrm>
                <a:off x="3233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7" name="Rectangle 104"/>
              <p:cNvSpPr/>
              <p:nvPr/>
            </p:nvSpPr>
            <p:spPr>
              <a:xfrm>
                <a:off x="3303" y="2000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8" name="Rectangle 105"/>
              <p:cNvSpPr/>
              <p:nvPr/>
            </p:nvSpPr>
            <p:spPr>
              <a:xfrm>
                <a:off x="3374" y="2000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59" name="Freeform 106"/>
              <p:cNvSpPr/>
              <p:nvPr/>
            </p:nvSpPr>
            <p:spPr>
              <a:xfrm>
                <a:off x="3444" y="1990"/>
                <a:ext cx="41" cy="2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20"/>
                  </a:cxn>
                  <a:cxn ang="0">
                    <a:pos x="31" y="20"/>
                  </a:cxn>
                  <a:cxn ang="0">
                    <a:pos x="41" y="10"/>
                  </a:cxn>
                  <a:cxn ang="0">
                    <a:pos x="41" y="0"/>
                  </a:cxn>
                  <a:cxn ang="0">
                    <a:pos x="31" y="0"/>
                  </a:cxn>
                  <a:cxn ang="0">
                    <a:pos x="31" y="10"/>
                  </a:cxn>
                  <a:cxn ang="0">
                    <a:pos x="0" y="10"/>
                  </a:cxn>
                </a:cxnLst>
                <a:rect l="0" t="0" r="0" b="0"/>
                <a:pathLst>
                  <a:path w="41" h="20">
                    <a:moveTo>
                      <a:pt x="0" y="10"/>
                    </a:moveTo>
                    <a:lnTo>
                      <a:pt x="0" y="20"/>
                    </a:lnTo>
                    <a:lnTo>
                      <a:pt x="31" y="20"/>
                    </a:lnTo>
                    <a:lnTo>
                      <a:pt x="41" y="10"/>
                    </a:lnTo>
                    <a:lnTo>
                      <a:pt x="41" y="0"/>
                    </a:lnTo>
                    <a:lnTo>
                      <a:pt x="31" y="0"/>
                    </a:lnTo>
                    <a:lnTo>
                      <a:pt x="31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160" name="Rectangle 107"/>
              <p:cNvSpPr/>
              <p:nvPr/>
            </p:nvSpPr>
            <p:spPr>
              <a:xfrm>
                <a:off x="3475" y="1920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1" name="Rectangle 108"/>
              <p:cNvSpPr/>
              <p:nvPr/>
            </p:nvSpPr>
            <p:spPr>
              <a:xfrm>
                <a:off x="3475" y="184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2" name="Rectangle 109"/>
              <p:cNvSpPr/>
              <p:nvPr/>
            </p:nvSpPr>
            <p:spPr>
              <a:xfrm>
                <a:off x="3475" y="1779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3" name="Rectangle 110"/>
              <p:cNvSpPr/>
              <p:nvPr/>
            </p:nvSpPr>
            <p:spPr>
              <a:xfrm>
                <a:off x="3475" y="1708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4" name="Rectangle 111"/>
              <p:cNvSpPr/>
              <p:nvPr/>
            </p:nvSpPr>
            <p:spPr>
              <a:xfrm>
                <a:off x="3475" y="163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5" name="Rectangle 112"/>
              <p:cNvSpPr/>
              <p:nvPr/>
            </p:nvSpPr>
            <p:spPr>
              <a:xfrm>
                <a:off x="3475" y="1568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6" name="Rectangle 113"/>
              <p:cNvSpPr/>
              <p:nvPr/>
            </p:nvSpPr>
            <p:spPr>
              <a:xfrm>
                <a:off x="3475" y="1497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7" name="Rectangle 114"/>
              <p:cNvSpPr/>
              <p:nvPr/>
            </p:nvSpPr>
            <p:spPr>
              <a:xfrm>
                <a:off x="3475" y="1427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8" name="Rectangle 115"/>
              <p:cNvSpPr/>
              <p:nvPr/>
            </p:nvSpPr>
            <p:spPr>
              <a:xfrm>
                <a:off x="3475" y="135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69" name="Rectangle 116"/>
              <p:cNvSpPr/>
              <p:nvPr/>
            </p:nvSpPr>
            <p:spPr>
              <a:xfrm>
                <a:off x="3475" y="1286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0" name="Rectangle 117"/>
              <p:cNvSpPr/>
              <p:nvPr/>
            </p:nvSpPr>
            <p:spPr>
              <a:xfrm>
                <a:off x="3475" y="1215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1" name="Rectangle 118"/>
              <p:cNvSpPr/>
              <p:nvPr/>
            </p:nvSpPr>
            <p:spPr>
              <a:xfrm>
                <a:off x="3475" y="1145"/>
                <a:ext cx="10" cy="4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2" name="Rectangle 119"/>
              <p:cNvSpPr/>
              <p:nvPr/>
            </p:nvSpPr>
            <p:spPr>
              <a:xfrm>
                <a:off x="3475" y="1074"/>
                <a:ext cx="10" cy="4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3" name="Freeform 120"/>
              <p:cNvSpPr/>
              <p:nvPr/>
            </p:nvSpPr>
            <p:spPr>
              <a:xfrm>
                <a:off x="3444" y="1034"/>
                <a:ext cx="41" cy="10"/>
              </a:xfrm>
              <a:custGeom>
                <a:avLst/>
                <a:gdLst/>
                <a:ahLst/>
                <a:cxnLst>
                  <a:cxn ang="0">
                    <a:pos x="31" y="10"/>
                  </a:cxn>
                  <a:cxn ang="0">
                    <a:pos x="41" y="10"/>
                  </a:cxn>
                  <a:cxn ang="0">
                    <a:pos x="41" y="0"/>
                  </a:cxn>
                  <a:cxn ang="0">
                    <a:pos x="31" y="0"/>
                  </a:cxn>
                  <a:cxn ang="0">
                    <a:pos x="0" y="0"/>
                  </a:cxn>
                  <a:cxn ang="0">
                    <a:pos x="0" y="10"/>
                  </a:cxn>
                  <a:cxn ang="0">
                    <a:pos x="31" y="10"/>
                  </a:cxn>
                  <a:cxn ang="0">
                    <a:pos x="31" y="0"/>
                  </a:cxn>
                  <a:cxn ang="0">
                    <a:pos x="31" y="10"/>
                  </a:cxn>
                </a:cxnLst>
                <a:rect l="0" t="0" r="0" b="0"/>
                <a:pathLst>
                  <a:path w="41" h="10">
                    <a:moveTo>
                      <a:pt x="31" y="10"/>
                    </a:moveTo>
                    <a:lnTo>
                      <a:pt x="41" y="10"/>
                    </a:lnTo>
                    <a:lnTo>
                      <a:pt x="41" y="0"/>
                    </a:lnTo>
                    <a:lnTo>
                      <a:pt x="31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31" y="10"/>
                    </a:lnTo>
                    <a:lnTo>
                      <a:pt x="31" y="0"/>
                    </a:lnTo>
                    <a:lnTo>
                      <a:pt x="31" y="1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174" name="Rectangle 121"/>
              <p:cNvSpPr/>
              <p:nvPr/>
            </p:nvSpPr>
            <p:spPr>
              <a:xfrm>
                <a:off x="3374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5" name="Rectangle 122"/>
              <p:cNvSpPr/>
              <p:nvPr/>
            </p:nvSpPr>
            <p:spPr>
              <a:xfrm>
                <a:off x="3303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6" name="Rectangle 123"/>
              <p:cNvSpPr/>
              <p:nvPr/>
            </p:nvSpPr>
            <p:spPr>
              <a:xfrm>
                <a:off x="3233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7" name="Rectangle 124"/>
              <p:cNvSpPr/>
              <p:nvPr/>
            </p:nvSpPr>
            <p:spPr>
              <a:xfrm>
                <a:off x="3163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8" name="Rectangle 125"/>
              <p:cNvSpPr/>
              <p:nvPr/>
            </p:nvSpPr>
            <p:spPr>
              <a:xfrm>
                <a:off x="3092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79" name="Rectangle 126"/>
              <p:cNvSpPr/>
              <p:nvPr/>
            </p:nvSpPr>
            <p:spPr>
              <a:xfrm>
                <a:off x="3022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0" name="Rectangle 127"/>
              <p:cNvSpPr/>
              <p:nvPr/>
            </p:nvSpPr>
            <p:spPr>
              <a:xfrm>
                <a:off x="2951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1" name="Rectangle 128"/>
              <p:cNvSpPr/>
              <p:nvPr/>
            </p:nvSpPr>
            <p:spPr>
              <a:xfrm>
                <a:off x="2881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2" name="Rectangle 129"/>
              <p:cNvSpPr/>
              <p:nvPr/>
            </p:nvSpPr>
            <p:spPr>
              <a:xfrm>
                <a:off x="2810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3" name="Rectangle 130"/>
              <p:cNvSpPr/>
              <p:nvPr/>
            </p:nvSpPr>
            <p:spPr>
              <a:xfrm>
                <a:off x="2740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4" name="Rectangle 131"/>
              <p:cNvSpPr/>
              <p:nvPr/>
            </p:nvSpPr>
            <p:spPr>
              <a:xfrm>
                <a:off x="2669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5" name="Rectangle 132"/>
              <p:cNvSpPr/>
              <p:nvPr/>
            </p:nvSpPr>
            <p:spPr>
              <a:xfrm>
                <a:off x="2599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6" name="Rectangle 133"/>
              <p:cNvSpPr/>
              <p:nvPr/>
            </p:nvSpPr>
            <p:spPr>
              <a:xfrm>
                <a:off x="2528" y="1034"/>
                <a:ext cx="41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7" name="Rectangle 134"/>
              <p:cNvSpPr/>
              <p:nvPr/>
            </p:nvSpPr>
            <p:spPr>
              <a:xfrm>
                <a:off x="2458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8" name="Rectangle 135"/>
              <p:cNvSpPr/>
              <p:nvPr/>
            </p:nvSpPr>
            <p:spPr>
              <a:xfrm>
                <a:off x="2388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89" name="Rectangle 136"/>
              <p:cNvSpPr/>
              <p:nvPr/>
            </p:nvSpPr>
            <p:spPr>
              <a:xfrm>
                <a:off x="2317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190" name="Rectangle 137"/>
              <p:cNvSpPr/>
              <p:nvPr/>
            </p:nvSpPr>
            <p:spPr>
              <a:xfrm>
                <a:off x="2247" y="1034"/>
                <a:ext cx="40" cy="10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0191" name="Rectangle 138"/>
            <p:cNvSpPr/>
            <p:nvPr/>
          </p:nvSpPr>
          <p:spPr>
            <a:xfrm>
              <a:off x="2619" y="1739"/>
              <a:ext cx="745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2" name="Rectangle 139"/>
            <p:cNvSpPr/>
            <p:nvPr/>
          </p:nvSpPr>
          <p:spPr>
            <a:xfrm>
              <a:off x="2728" y="1809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600" b="1" dirty="0">
                  <a:solidFill>
                    <a:srgbClr val="FF33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冷冻室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3" name="Rectangle 140"/>
            <p:cNvSpPr/>
            <p:nvPr/>
          </p:nvSpPr>
          <p:spPr>
            <a:xfrm>
              <a:off x="2378" y="1296"/>
              <a:ext cx="744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4" name="Rectangle 141"/>
            <p:cNvSpPr/>
            <p:nvPr/>
          </p:nvSpPr>
          <p:spPr>
            <a:xfrm>
              <a:off x="2487" y="1366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蒸发器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5" name="Rectangle 146"/>
            <p:cNvSpPr/>
            <p:nvPr/>
          </p:nvSpPr>
          <p:spPr>
            <a:xfrm>
              <a:off x="1935" y="1970"/>
              <a:ext cx="292" cy="72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6" name="Rectangle 147"/>
            <p:cNvSpPr/>
            <p:nvPr/>
          </p:nvSpPr>
          <p:spPr>
            <a:xfrm>
              <a:off x="1995" y="1994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7" name="Rectangle 148"/>
            <p:cNvSpPr/>
            <p:nvPr/>
          </p:nvSpPr>
          <p:spPr>
            <a:xfrm>
              <a:off x="2008" y="2213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液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8" name="Rectangle 149"/>
            <p:cNvSpPr/>
            <p:nvPr/>
          </p:nvSpPr>
          <p:spPr>
            <a:xfrm>
              <a:off x="1995" y="2447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器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199" name="Rectangle 150"/>
            <p:cNvSpPr/>
            <p:nvPr/>
          </p:nvSpPr>
          <p:spPr>
            <a:xfrm>
              <a:off x="3303" y="3016"/>
              <a:ext cx="292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0" name="Rectangle 151"/>
            <p:cNvSpPr/>
            <p:nvPr/>
          </p:nvSpPr>
          <p:spPr>
            <a:xfrm>
              <a:off x="3403" y="3067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压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1" name="Rectangle 152"/>
            <p:cNvSpPr/>
            <p:nvPr/>
          </p:nvSpPr>
          <p:spPr>
            <a:xfrm>
              <a:off x="3403" y="3298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缩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2" name="Rectangle 153"/>
            <p:cNvSpPr/>
            <p:nvPr/>
          </p:nvSpPr>
          <p:spPr>
            <a:xfrm>
              <a:off x="3403" y="3520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机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3" name="Rectangle 154"/>
            <p:cNvSpPr/>
            <p:nvPr/>
          </p:nvSpPr>
          <p:spPr>
            <a:xfrm>
              <a:off x="1733" y="2694"/>
              <a:ext cx="333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4" name="Rectangle 155"/>
            <p:cNvSpPr/>
            <p:nvPr/>
          </p:nvSpPr>
          <p:spPr>
            <a:xfrm>
              <a:off x="1865" y="2725"/>
              <a:ext cx="16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20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5" name="Rectangle 156"/>
            <p:cNvSpPr/>
            <p:nvPr/>
          </p:nvSpPr>
          <p:spPr>
            <a:xfrm>
              <a:off x="1975" y="2684"/>
              <a:ext cx="151" cy="1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6" name="Rectangle 157"/>
            <p:cNvSpPr/>
            <p:nvPr/>
          </p:nvSpPr>
          <p:spPr>
            <a:xfrm>
              <a:off x="2050" y="2715"/>
              <a:ext cx="40" cy="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00" b="1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7" name="Rectangle 158"/>
            <p:cNvSpPr/>
            <p:nvPr/>
          </p:nvSpPr>
          <p:spPr>
            <a:xfrm>
              <a:off x="2055" y="2694"/>
              <a:ext cx="242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8" name="Rectangle 159"/>
            <p:cNvSpPr/>
            <p:nvPr/>
          </p:nvSpPr>
          <p:spPr>
            <a:xfrm>
              <a:off x="2167" y="2725"/>
              <a:ext cx="10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09" name="Rectangle 160"/>
            <p:cNvSpPr/>
            <p:nvPr/>
          </p:nvSpPr>
          <p:spPr>
            <a:xfrm>
              <a:off x="2257" y="2976"/>
              <a:ext cx="68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10" name="Rectangle 161"/>
            <p:cNvSpPr/>
            <p:nvPr/>
          </p:nvSpPr>
          <p:spPr>
            <a:xfrm>
              <a:off x="2792" y="3011"/>
              <a:ext cx="16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11" name="Rectangle 162"/>
            <p:cNvSpPr/>
            <p:nvPr/>
          </p:nvSpPr>
          <p:spPr>
            <a:xfrm>
              <a:off x="2986" y="3008"/>
              <a:ext cx="23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atm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12" name="Rectangle 163"/>
            <p:cNvSpPr/>
            <p:nvPr/>
          </p:nvSpPr>
          <p:spPr>
            <a:xfrm>
              <a:off x="1854" y="1044"/>
              <a:ext cx="574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13" name="Rectangle 164"/>
            <p:cNvSpPr/>
            <p:nvPr/>
          </p:nvSpPr>
          <p:spPr>
            <a:xfrm>
              <a:off x="1969" y="1075"/>
              <a:ext cx="8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14" name="Rectangle 165"/>
            <p:cNvSpPr/>
            <p:nvPr/>
          </p:nvSpPr>
          <p:spPr>
            <a:xfrm>
              <a:off x="2131" y="1075"/>
              <a:ext cx="23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atm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0215" name="Group 166"/>
            <p:cNvGrpSpPr/>
            <p:nvPr/>
          </p:nvGrpSpPr>
          <p:grpSpPr>
            <a:xfrm>
              <a:off x="2744" y="2800"/>
              <a:ext cx="564" cy="282"/>
              <a:chOff x="2981" y="2765"/>
              <a:chExt cx="564" cy="282"/>
            </a:xfrm>
          </p:grpSpPr>
          <p:sp>
            <p:nvSpPr>
              <p:cNvPr id="130216" name="Rectangle 167"/>
              <p:cNvSpPr/>
              <p:nvPr/>
            </p:nvSpPr>
            <p:spPr>
              <a:xfrm>
                <a:off x="2981" y="2775"/>
                <a:ext cx="33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17" name="Rectangle 168"/>
              <p:cNvSpPr/>
              <p:nvPr/>
            </p:nvSpPr>
            <p:spPr>
              <a:xfrm>
                <a:off x="3113" y="2805"/>
                <a:ext cx="16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70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18" name="Rectangle 169"/>
              <p:cNvSpPr/>
              <p:nvPr/>
            </p:nvSpPr>
            <p:spPr>
              <a:xfrm>
                <a:off x="3223" y="2765"/>
                <a:ext cx="151" cy="1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19" name="Rectangle 170"/>
              <p:cNvSpPr/>
              <p:nvPr/>
            </p:nvSpPr>
            <p:spPr>
              <a:xfrm>
                <a:off x="3298" y="2796"/>
                <a:ext cx="40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0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0" name="Rectangle 171"/>
              <p:cNvSpPr/>
              <p:nvPr/>
            </p:nvSpPr>
            <p:spPr>
              <a:xfrm>
                <a:off x="3303" y="2775"/>
                <a:ext cx="24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1" name="Rectangle 172"/>
              <p:cNvSpPr/>
              <p:nvPr/>
            </p:nvSpPr>
            <p:spPr>
              <a:xfrm>
                <a:off x="3415" y="2805"/>
                <a:ext cx="107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0222" name="Group 173"/>
            <p:cNvGrpSpPr/>
            <p:nvPr/>
          </p:nvGrpSpPr>
          <p:grpSpPr>
            <a:xfrm>
              <a:off x="2654" y="1034"/>
              <a:ext cx="634" cy="282"/>
              <a:chOff x="2589" y="1034"/>
              <a:chExt cx="634" cy="282"/>
            </a:xfrm>
          </p:grpSpPr>
          <p:sp>
            <p:nvSpPr>
              <p:cNvPr id="130223" name="Rectangle 174"/>
              <p:cNvSpPr/>
              <p:nvPr/>
            </p:nvSpPr>
            <p:spPr>
              <a:xfrm>
                <a:off x="2659" y="1044"/>
                <a:ext cx="33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4" name="Rectangle 175"/>
              <p:cNvSpPr/>
              <p:nvPr/>
            </p:nvSpPr>
            <p:spPr>
              <a:xfrm>
                <a:off x="2791" y="1075"/>
                <a:ext cx="16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10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5" name="Rectangle 176"/>
              <p:cNvSpPr/>
              <p:nvPr/>
            </p:nvSpPr>
            <p:spPr>
              <a:xfrm>
                <a:off x="2901" y="1034"/>
                <a:ext cx="151" cy="1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6" name="Rectangle 177"/>
              <p:cNvSpPr/>
              <p:nvPr/>
            </p:nvSpPr>
            <p:spPr>
              <a:xfrm>
                <a:off x="2976" y="1065"/>
                <a:ext cx="40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0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7" name="Rectangle 178"/>
              <p:cNvSpPr/>
              <p:nvPr/>
            </p:nvSpPr>
            <p:spPr>
              <a:xfrm>
                <a:off x="2981" y="1044"/>
                <a:ext cx="242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8" name="Rectangle 179"/>
              <p:cNvSpPr/>
              <p:nvPr/>
            </p:nvSpPr>
            <p:spPr>
              <a:xfrm>
                <a:off x="3093" y="1075"/>
                <a:ext cx="107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229" name="Line 180"/>
              <p:cNvSpPr/>
              <p:nvPr/>
            </p:nvSpPr>
            <p:spPr>
              <a:xfrm>
                <a:off x="2589" y="1155"/>
                <a:ext cx="80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0230" name="Freeform 183"/>
            <p:cNvSpPr/>
            <p:nvPr/>
          </p:nvSpPr>
          <p:spPr>
            <a:xfrm>
              <a:off x="2539" y="1557"/>
              <a:ext cx="70" cy="111"/>
            </a:xfrm>
            <a:custGeom>
              <a:avLst/>
              <a:gdLst/>
              <a:ahLst/>
              <a:cxnLst>
                <a:cxn ang="0">
                  <a:pos x="70" y="101"/>
                </a:cxn>
                <a:cxn ang="0">
                  <a:pos x="10" y="0"/>
                </a:cxn>
                <a:cxn ang="0">
                  <a:pos x="0" y="111"/>
                </a:cxn>
                <a:cxn ang="0">
                  <a:pos x="20" y="71"/>
                </a:cxn>
                <a:cxn ang="0">
                  <a:pos x="70" y="101"/>
                </a:cxn>
              </a:cxnLst>
              <a:rect l="0" t="0" r="0" b="0"/>
              <a:pathLst>
                <a:path w="70" h="111">
                  <a:moveTo>
                    <a:pt x="70" y="101"/>
                  </a:moveTo>
                  <a:lnTo>
                    <a:pt x="10" y="0"/>
                  </a:lnTo>
                  <a:lnTo>
                    <a:pt x="0" y="111"/>
                  </a:lnTo>
                  <a:lnTo>
                    <a:pt x="20" y="71"/>
                  </a:lnTo>
                  <a:lnTo>
                    <a:pt x="70" y="101"/>
                  </a:lnTo>
                  <a:close/>
                </a:path>
              </a:pathLst>
            </a:custGeom>
            <a:solidFill>
              <a:srgbClr val="FF33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231" name="Freeform 186"/>
            <p:cNvSpPr/>
            <p:nvPr/>
          </p:nvSpPr>
          <p:spPr>
            <a:xfrm>
              <a:off x="1462" y="3811"/>
              <a:ext cx="110" cy="81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0" y="81"/>
                </a:cxn>
                <a:cxn ang="0">
                  <a:pos x="110" y="61"/>
                </a:cxn>
                <a:cxn ang="0">
                  <a:pos x="60" y="51"/>
                </a:cxn>
                <a:cxn ang="0">
                  <a:pos x="80" y="0"/>
                </a:cxn>
              </a:cxnLst>
              <a:rect l="0" t="0" r="0" b="0"/>
              <a:pathLst>
                <a:path w="110" h="81">
                  <a:moveTo>
                    <a:pt x="80" y="0"/>
                  </a:moveTo>
                  <a:lnTo>
                    <a:pt x="0" y="81"/>
                  </a:lnTo>
                  <a:lnTo>
                    <a:pt x="110" y="61"/>
                  </a:lnTo>
                  <a:lnTo>
                    <a:pt x="60" y="51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33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232" name="Rectangle 187"/>
            <p:cNvSpPr/>
            <p:nvPr/>
          </p:nvSpPr>
          <p:spPr>
            <a:xfrm>
              <a:off x="2619" y="2071"/>
              <a:ext cx="181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33" name="Rectangle 189"/>
            <p:cNvSpPr/>
            <p:nvPr/>
          </p:nvSpPr>
          <p:spPr>
            <a:xfrm>
              <a:off x="2458" y="1900"/>
              <a:ext cx="262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34" name="Rectangle 193"/>
            <p:cNvSpPr/>
            <p:nvPr/>
          </p:nvSpPr>
          <p:spPr>
            <a:xfrm>
              <a:off x="1411" y="3882"/>
              <a:ext cx="181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35" name="Rectangle 195"/>
            <p:cNvSpPr/>
            <p:nvPr/>
          </p:nvSpPr>
          <p:spPr>
            <a:xfrm>
              <a:off x="2176" y="1970"/>
              <a:ext cx="292" cy="72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36" name="Rectangle 196"/>
            <p:cNvSpPr/>
            <p:nvPr/>
          </p:nvSpPr>
          <p:spPr>
            <a:xfrm>
              <a:off x="2289" y="2046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氟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37" name="Rectangle 197"/>
            <p:cNvSpPr/>
            <p:nvPr/>
          </p:nvSpPr>
          <p:spPr>
            <a:xfrm>
              <a:off x="2276" y="2252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里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38" name="Rectangle 198"/>
            <p:cNvSpPr/>
            <p:nvPr/>
          </p:nvSpPr>
          <p:spPr>
            <a:xfrm>
              <a:off x="2276" y="2486"/>
              <a:ext cx="193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昂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239" name="Freeform 199"/>
            <p:cNvSpPr/>
            <p:nvPr/>
          </p:nvSpPr>
          <p:spPr>
            <a:xfrm>
              <a:off x="2871" y="3409"/>
              <a:ext cx="322" cy="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2" y="0"/>
                </a:cxn>
                <a:cxn ang="0">
                  <a:pos x="322" y="80"/>
                </a:cxn>
              </a:cxnLst>
              <a:rect l="0" t="0" r="0" b="0"/>
              <a:pathLst>
                <a:path w="322" h="80">
                  <a:moveTo>
                    <a:pt x="0" y="0"/>
                  </a:moveTo>
                  <a:lnTo>
                    <a:pt x="322" y="0"/>
                  </a:lnTo>
                  <a:lnTo>
                    <a:pt x="322" y="80"/>
                  </a:lnTo>
                </a:path>
              </a:pathLst>
            </a:custGeom>
            <a:noFill/>
            <a:ln w="476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0240" name="Group 200"/>
            <p:cNvGrpSpPr/>
            <p:nvPr/>
          </p:nvGrpSpPr>
          <p:grpSpPr>
            <a:xfrm>
              <a:off x="2710" y="1729"/>
              <a:ext cx="483" cy="70"/>
              <a:chOff x="2710" y="1729"/>
              <a:chExt cx="483" cy="70"/>
            </a:xfrm>
          </p:grpSpPr>
          <p:sp>
            <p:nvSpPr>
              <p:cNvPr id="130241" name="Line 201"/>
              <p:cNvSpPr/>
              <p:nvPr/>
            </p:nvSpPr>
            <p:spPr>
              <a:xfrm flipH="1">
                <a:off x="2710" y="1759"/>
                <a:ext cx="432" cy="1"/>
              </a:xfrm>
              <a:prstGeom prst="line">
                <a:avLst/>
              </a:prstGeom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242" name="Freeform 202"/>
              <p:cNvSpPr/>
              <p:nvPr/>
            </p:nvSpPr>
            <p:spPr>
              <a:xfrm>
                <a:off x="3082" y="1729"/>
                <a:ext cx="111" cy="70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111" y="30"/>
                  </a:cxn>
                  <a:cxn ang="0">
                    <a:pos x="0" y="0"/>
                  </a:cxn>
                  <a:cxn ang="0">
                    <a:pos x="40" y="30"/>
                  </a:cxn>
                  <a:cxn ang="0">
                    <a:pos x="0" y="70"/>
                  </a:cxn>
                </a:cxnLst>
                <a:rect l="0" t="0" r="0" b="0"/>
                <a:pathLst>
                  <a:path w="111" h="70">
                    <a:moveTo>
                      <a:pt x="0" y="70"/>
                    </a:moveTo>
                    <a:lnTo>
                      <a:pt x="111" y="30"/>
                    </a:lnTo>
                    <a:lnTo>
                      <a:pt x="0" y="0"/>
                    </a:lnTo>
                    <a:lnTo>
                      <a:pt x="40" y="3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0243" name="Line 203"/>
            <p:cNvSpPr/>
            <p:nvPr/>
          </p:nvSpPr>
          <p:spPr>
            <a:xfrm flipH="1">
              <a:off x="2925" y="3249"/>
              <a:ext cx="2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30244" name="Rectangle 20"/>
          <p:cNvSpPr/>
          <p:nvPr/>
        </p:nvSpPr>
        <p:spPr>
          <a:xfrm>
            <a:off x="2555875" y="620713"/>
            <a:ext cx="1393825" cy="276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低温低压气体</a:t>
            </a:r>
          </a:p>
        </p:txBody>
      </p:sp>
      <p:sp>
        <p:nvSpPr>
          <p:cNvPr id="130245" name="Rectangle 20"/>
          <p:cNvSpPr/>
          <p:nvPr/>
        </p:nvSpPr>
        <p:spPr>
          <a:xfrm>
            <a:off x="4689475" y="5084763"/>
            <a:ext cx="1395413" cy="2778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高温高压气体</a:t>
            </a:r>
          </a:p>
        </p:txBody>
      </p:sp>
      <p:sp>
        <p:nvSpPr>
          <p:cNvPr id="130246" name="Rectangle 20"/>
          <p:cNvSpPr/>
          <p:nvPr/>
        </p:nvSpPr>
        <p:spPr>
          <a:xfrm>
            <a:off x="34925" y="3429000"/>
            <a:ext cx="1395413" cy="2762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常温高压液体</a:t>
            </a:r>
          </a:p>
        </p:txBody>
      </p:sp>
      <p:sp>
        <p:nvSpPr>
          <p:cNvPr id="130247" name="Line 182"/>
          <p:cNvSpPr/>
          <p:nvPr/>
        </p:nvSpPr>
        <p:spPr>
          <a:xfrm>
            <a:off x="2879725" y="2498725"/>
            <a:ext cx="36513" cy="569913"/>
          </a:xfrm>
          <a:prstGeom prst="line">
            <a:avLst/>
          </a:prstGeom>
          <a:ln w="158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248" name="Rectangle 188"/>
          <p:cNvSpPr/>
          <p:nvPr/>
        </p:nvSpPr>
        <p:spPr>
          <a:xfrm>
            <a:off x="3133725" y="3279775"/>
            <a:ext cx="9525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15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2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249" name="Rectangle 190"/>
          <p:cNvSpPr/>
          <p:nvPr/>
        </p:nvSpPr>
        <p:spPr>
          <a:xfrm>
            <a:off x="2862263" y="3025775"/>
            <a:ext cx="2381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250" name="Rectangle 190"/>
          <p:cNvSpPr/>
          <p:nvPr/>
        </p:nvSpPr>
        <p:spPr>
          <a:xfrm>
            <a:off x="5219700" y="5621338"/>
            <a:ext cx="30480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6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05" name="直接箭头连接符 404"/>
          <p:cNvCxnSpPr/>
          <p:nvPr/>
        </p:nvCxnSpPr>
        <p:spPr>
          <a:xfrm flipH="1">
            <a:off x="4356100" y="5805488"/>
            <a:ext cx="792163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252" name="Line 185"/>
          <p:cNvSpPr/>
          <p:nvPr/>
        </p:nvSpPr>
        <p:spPr>
          <a:xfrm flipV="1">
            <a:off x="1201738" y="5613400"/>
            <a:ext cx="1214437" cy="463550"/>
          </a:xfrm>
          <a:prstGeom prst="line">
            <a:avLst/>
          </a:prstGeom>
          <a:ln w="15875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253" name="Rectangle 191"/>
          <p:cNvSpPr/>
          <p:nvPr/>
        </p:nvSpPr>
        <p:spPr>
          <a:xfrm>
            <a:off x="801688" y="5900738"/>
            <a:ext cx="415925" cy="495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254" name="Rectangle 192"/>
          <p:cNvSpPr/>
          <p:nvPr/>
        </p:nvSpPr>
        <p:spPr>
          <a:xfrm>
            <a:off x="946150" y="5964238"/>
            <a:ext cx="238125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6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255" name="Rectangle 194"/>
          <p:cNvSpPr/>
          <p:nvPr/>
        </p:nvSpPr>
        <p:spPr>
          <a:xfrm>
            <a:off x="1217613" y="6156325"/>
            <a:ext cx="9525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15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1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7" name="文本框 419866"/>
          <p:cNvSpPr txBox="1"/>
          <p:nvPr/>
        </p:nvSpPr>
        <p:spPr>
          <a:xfrm>
            <a:off x="4876800" y="4908550"/>
            <a:ext cx="410527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制冷循环（逆循环）</a:t>
            </a:r>
          </a:p>
        </p:txBody>
      </p:sp>
      <p:sp>
        <p:nvSpPr>
          <p:cNvPr id="419883" name="矩形 419882"/>
          <p:cNvSpPr/>
          <p:nvPr/>
        </p:nvSpPr>
        <p:spPr>
          <a:xfrm>
            <a:off x="5219700" y="981075"/>
            <a:ext cx="1620838" cy="52228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制冷循环</a:t>
            </a:r>
          </a:p>
        </p:txBody>
      </p:sp>
      <p:sp>
        <p:nvSpPr>
          <p:cNvPr id="419917" name="矩形 419916"/>
          <p:cNvSpPr/>
          <p:nvPr/>
        </p:nvSpPr>
        <p:spPr>
          <a:xfrm>
            <a:off x="4743450" y="1849438"/>
            <a:ext cx="3889375" cy="297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419917"/>
          <p:cNvGrpSpPr/>
          <p:nvPr/>
        </p:nvGrpSpPr>
        <p:grpSpPr>
          <a:xfrm>
            <a:off x="5824538" y="2378075"/>
            <a:ext cx="1981200" cy="1219200"/>
            <a:chOff x="1248" y="864"/>
            <a:chExt cx="1248" cy="768"/>
          </a:xfrm>
        </p:grpSpPr>
        <p:sp>
          <p:nvSpPr>
            <p:cNvPr id="131077" name="任意多边形 419918"/>
            <p:cNvSpPr/>
            <p:nvPr/>
          </p:nvSpPr>
          <p:spPr>
            <a:xfrm>
              <a:off x="1248" y="864"/>
              <a:ext cx="1248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0" y="0"/>
                </a:cxn>
                <a:cxn ang="0">
                  <a:pos x="624" y="96"/>
                </a:cxn>
                <a:cxn ang="0">
                  <a:pos x="957" y="288"/>
                </a:cxn>
                <a:cxn ang="0">
                  <a:pos x="1118" y="446"/>
                </a:cxn>
                <a:cxn ang="0">
                  <a:pos x="1206" y="624"/>
                </a:cxn>
                <a:cxn ang="0">
                  <a:pos x="1248" y="768"/>
                </a:cxn>
                <a:cxn ang="0">
                  <a:pos x="1040" y="768"/>
                </a:cxn>
                <a:cxn ang="0">
                  <a:pos x="790" y="720"/>
                </a:cxn>
                <a:cxn ang="0">
                  <a:pos x="582" y="624"/>
                </a:cxn>
                <a:cxn ang="0">
                  <a:pos x="374" y="528"/>
                </a:cxn>
                <a:cxn ang="0">
                  <a:pos x="250" y="432"/>
                </a:cxn>
                <a:cxn ang="0">
                  <a:pos x="166" y="336"/>
                </a:cxn>
                <a:cxn ang="0">
                  <a:pos x="62" y="206"/>
                </a:cxn>
                <a:cxn ang="0">
                  <a:pos x="27" y="103"/>
                </a:cxn>
                <a:cxn ang="0">
                  <a:pos x="0" y="0"/>
                </a:cxn>
              </a:cxnLst>
              <a:rect l="0" t="0" r="0" b="0"/>
              <a:pathLst>
                <a:path w="1248" h="768">
                  <a:moveTo>
                    <a:pt x="0" y="0"/>
                  </a:moveTo>
                  <a:lnTo>
                    <a:pt x="250" y="0"/>
                  </a:lnTo>
                  <a:lnTo>
                    <a:pt x="624" y="96"/>
                  </a:lnTo>
                  <a:lnTo>
                    <a:pt x="957" y="288"/>
                  </a:lnTo>
                  <a:lnTo>
                    <a:pt x="1118" y="446"/>
                  </a:lnTo>
                  <a:lnTo>
                    <a:pt x="1206" y="624"/>
                  </a:lnTo>
                  <a:lnTo>
                    <a:pt x="1248" y="768"/>
                  </a:lnTo>
                  <a:lnTo>
                    <a:pt x="1040" y="768"/>
                  </a:lnTo>
                  <a:lnTo>
                    <a:pt x="790" y="720"/>
                  </a:lnTo>
                  <a:lnTo>
                    <a:pt x="582" y="624"/>
                  </a:lnTo>
                  <a:lnTo>
                    <a:pt x="374" y="528"/>
                  </a:lnTo>
                  <a:lnTo>
                    <a:pt x="250" y="432"/>
                  </a:lnTo>
                  <a:lnTo>
                    <a:pt x="166" y="336"/>
                  </a:lnTo>
                  <a:lnTo>
                    <a:pt x="62" y="206"/>
                  </a:lnTo>
                  <a:lnTo>
                    <a:pt x="27" y="10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1078" name="对象 419919"/>
            <p:cNvGraphicFramePr/>
            <p:nvPr/>
          </p:nvGraphicFramePr>
          <p:xfrm>
            <a:off x="1789" y="1104"/>
            <a:ext cx="261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08" r:id="rId4" imgW="241300" imgH="241300" progId="Equation.DSMT4">
                    <p:embed/>
                  </p:oleObj>
                </mc:Choice>
                <mc:Fallback>
                  <p:oleObj r:id="rId4" imgW="241300" imgH="241300" progId="Equation.DSMT4">
                    <p:embed/>
                    <p:pic>
                      <p:nvPicPr>
                        <p:cNvPr id="0" name="图片 338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89" y="1104"/>
                          <a:ext cx="261" cy="2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419920"/>
          <p:cNvGrpSpPr/>
          <p:nvPr/>
        </p:nvGrpSpPr>
        <p:grpSpPr>
          <a:xfrm>
            <a:off x="4894263" y="1916113"/>
            <a:ext cx="3513137" cy="2797175"/>
            <a:chOff x="3072" y="1632"/>
            <a:chExt cx="2213" cy="1762"/>
          </a:xfrm>
        </p:grpSpPr>
        <p:sp>
          <p:nvSpPr>
            <p:cNvPr id="131080" name="直接连接符 419921"/>
            <p:cNvSpPr/>
            <p:nvPr/>
          </p:nvSpPr>
          <p:spPr>
            <a:xfrm flipV="1">
              <a:off x="3306" y="3120"/>
              <a:ext cx="1974" cy="6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1081" name="直接连接符 419922"/>
            <p:cNvSpPr/>
            <p:nvPr/>
          </p:nvSpPr>
          <p:spPr>
            <a:xfrm flipV="1">
              <a:off x="3306" y="1638"/>
              <a:ext cx="0" cy="1488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1082" name="对象 419923"/>
            <p:cNvGraphicFramePr/>
            <p:nvPr/>
          </p:nvGraphicFramePr>
          <p:xfrm>
            <a:off x="3072" y="1632"/>
            <a:ext cx="192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09" r:id="rId6" imgW="203200" imgH="241300" progId="Equation.3">
                    <p:embed/>
                  </p:oleObj>
                </mc:Choice>
                <mc:Fallback>
                  <p:oleObj r:id="rId6" imgW="203200" imgH="241300" progId="Equation.3">
                    <p:embed/>
                    <p:pic>
                      <p:nvPicPr>
                        <p:cNvPr id="0" name="图片 338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072" y="1632"/>
                          <a:ext cx="192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1083" name="对象 419924"/>
            <p:cNvGraphicFramePr/>
            <p:nvPr/>
          </p:nvGraphicFramePr>
          <p:xfrm>
            <a:off x="5088" y="3174"/>
            <a:ext cx="19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0" r:id="rId8" imgW="215900" imgH="241300" progId="Equation.3">
                    <p:embed/>
                  </p:oleObj>
                </mc:Choice>
                <mc:Fallback>
                  <p:oleObj r:id="rId8" imgW="215900" imgH="241300" progId="Equation.3">
                    <p:embed/>
                    <p:pic>
                      <p:nvPicPr>
                        <p:cNvPr id="0" name="图片 338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088" y="3174"/>
                          <a:ext cx="197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1084" name="对象 419925"/>
            <p:cNvGraphicFramePr/>
            <p:nvPr/>
          </p:nvGraphicFramePr>
          <p:xfrm>
            <a:off x="3210" y="3126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1" r:id="rId10" imgW="165100" imgH="190500" progId="Equation.3">
                    <p:embed/>
                  </p:oleObj>
                </mc:Choice>
                <mc:Fallback>
                  <p:oleObj r:id="rId10" imgW="165100" imgH="190500" progId="Equation.3">
                    <p:embed/>
                    <p:pic>
                      <p:nvPicPr>
                        <p:cNvPr id="0" name="图片 3388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210" y="3126"/>
                          <a:ext cx="177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419926"/>
          <p:cNvGrpSpPr/>
          <p:nvPr/>
        </p:nvGrpSpPr>
        <p:grpSpPr>
          <a:xfrm>
            <a:off x="5580063" y="1916113"/>
            <a:ext cx="2743200" cy="2895600"/>
            <a:chOff x="1104" y="576"/>
            <a:chExt cx="1728" cy="1824"/>
          </a:xfrm>
        </p:grpSpPr>
        <p:sp>
          <p:nvSpPr>
            <p:cNvPr id="131086" name="任意多边形 419927"/>
            <p:cNvSpPr/>
            <p:nvPr/>
          </p:nvSpPr>
          <p:spPr>
            <a:xfrm>
              <a:off x="1248" y="865"/>
              <a:ext cx="1252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4" h="21600" fill="none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</a:path>
                <a:path w="21594" h="21600" stroke="0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87" name="直接连接符 419928"/>
            <p:cNvSpPr/>
            <p:nvPr/>
          </p:nvSpPr>
          <p:spPr>
            <a:xfrm>
              <a:off x="1968" y="1008"/>
              <a:ext cx="192" cy="96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19930" name="文本框 419929"/>
            <p:cNvSpPr txBox="1"/>
            <p:nvPr/>
          </p:nvSpPr>
          <p:spPr>
            <a:xfrm>
              <a:off x="1104" y="576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419931" name="文本框 419930"/>
            <p:cNvSpPr txBox="1"/>
            <p:nvPr/>
          </p:nvSpPr>
          <p:spPr>
            <a:xfrm>
              <a:off x="2496" y="148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31090" name="直接连接符 419931"/>
            <p:cNvSpPr/>
            <p:nvPr/>
          </p:nvSpPr>
          <p:spPr>
            <a:xfrm>
              <a:off x="1248" y="864"/>
              <a:ext cx="0" cy="1200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1091" name="直接连接符 419932"/>
            <p:cNvSpPr/>
            <p:nvPr/>
          </p:nvSpPr>
          <p:spPr>
            <a:xfrm>
              <a:off x="2496" y="1632"/>
              <a:ext cx="0" cy="432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31092" name="对象 419933"/>
            <p:cNvGraphicFramePr/>
            <p:nvPr/>
          </p:nvGraphicFramePr>
          <p:xfrm>
            <a:off x="1152" y="2016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2" r:id="rId12" imgW="139700" imgH="165100" progId="Equation.3">
                    <p:embed/>
                  </p:oleObj>
                </mc:Choice>
                <mc:Fallback>
                  <p:oleObj r:id="rId12" imgW="139700" imgH="165100" progId="Equation.3">
                    <p:embed/>
                    <p:pic>
                      <p:nvPicPr>
                        <p:cNvPr id="0" name="图片 339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152" y="2016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1093" name="对象 419934"/>
            <p:cNvGraphicFramePr/>
            <p:nvPr/>
          </p:nvGraphicFramePr>
          <p:xfrm>
            <a:off x="2400" y="2064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3" r:id="rId14" imgW="139700" imgH="165100" progId="Equation.3">
                    <p:embed/>
                  </p:oleObj>
                </mc:Choice>
                <mc:Fallback>
                  <p:oleObj r:id="rId14" imgW="139700" imgH="165100" progId="Equation.3">
                    <p:embed/>
                    <p:pic>
                      <p:nvPicPr>
                        <p:cNvPr id="0" name="图片 339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400" y="2064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1094" name="对象 419935"/>
            <p:cNvGraphicFramePr/>
            <p:nvPr/>
          </p:nvGraphicFramePr>
          <p:xfrm>
            <a:off x="2030" y="864"/>
            <a:ext cx="163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4" r:id="rId16" imgW="152400" imgH="190500" progId="Equation.3">
                    <p:embed/>
                  </p:oleObj>
                </mc:Choice>
                <mc:Fallback>
                  <p:oleObj r:id="rId16" imgW="152400" imgH="190500" progId="Equation.3">
                    <p:embed/>
                    <p:pic>
                      <p:nvPicPr>
                        <p:cNvPr id="0" name="图片 339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030" y="864"/>
                          <a:ext cx="163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19936"/>
          <p:cNvGrpSpPr/>
          <p:nvPr/>
        </p:nvGrpSpPr>
        <p:grpSpPr>
          <a:xfrm>
            <a:off x="5808663" y="2297113"/>
            <a:ext cx="1981200" cy="1447800"/>
            <a:chOff x="1248" y="816"/>
            <a:chExt cx="1248" cy="912"/>
          </a:xfrm>
        </p:grpSpPr>
        <p:sp>
          <p:nvSpPr>
            <p:cNvPr id="131096" name="任意多边形 419937"/>
            <p:cNvSpPr/>
            <p:nvPr/>
          </p:nvSpPr>
          <p:spPr>
            <a:xfrm flipH="1" flipV="1">
              <a:off x="1248" y="816"/>
              <a:ext cx="1248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1" h="21600" fill="none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</a:path>
                <a:path w="21591" h="21600" stroke="0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97" name="直接连接符 419938"/>
            <p:cNvSpPr/>
            <p:nvPr/>
          </p:nvSpPr>
          <p:spPr>
            <a:xfrm flipH="1" flipV="1">
              <a:off x="1632" y="1392"/>
              <a:ext cx="144" cy="96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graphicFrame>
          <p:nvGraphicFramePr>
            <p:cNvPr id="131098" name="对象 419939"/>
            <p:cNvGraphicFramePr/>
            <p:nvPr/>
          </p:nvGraphicFramePr>
          <p:xfrm>
            <a:off x="1680" y="1504"/>
            <a:ext cx="16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5" r:id="rId18" imgW="190500" imgH="254000" progId="Equation.3">
                    <p:embed/>
                  </p:oleObj>
                </mc:Choice>
                <mc:Fallback>
                  <p:oleObj r:id="rId18" imgW="190500" imgH="254000" progId="Equation.3">
                    <p:embed/>
                    <p:pic>
                      <p:nvPicPr>
                        <p:cNvPr id="0" name="图片 3393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680" y="1504"/>
                          <a:ext cx="168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44" name="文本框 419943"/>
          <p:cNvSpPr txBox="1"/>
          <p:nvPr/>
        </p:nvSpPr>
        <p:spPr>
          <a:xfrm>
            <a:off x="7624763" y="4892675"/>
            <a:ext cx="8016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A&lt;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graphicFrame>
        <p:nvGraphicFramePr>
          <p:cNvPr id="419947" name="对象 419946"/>
          <p:cNvGraphicFramePr/>
          <p:nvPr/>
        </p:nvGraphicFramePr>
        <p:xfrm>
          <a:off x="4816475" y="5384800"/>
          <a:ext cx="14684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6" r:id="rId20" imgW="647065" imgH="203200" progId="Equation.DSMT4">
                  <p:embed/>
                </p:oleObj>
              </mc:Choice>
              <mc:Fallback>
                <p:oleObj r:id="rId20" imgW="647065" imgH="203200" progId="Equation.DSMT4">
                  <p:embed/>
                  <p:pic>
                    <p:nvPicPr>
                      <p:cNvPr id="0" name="图片 338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816475" y="5384800"/>
                        <a:ext cx="1468438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9" name="文本框 419948"/>
          <p:cNvSpPr txBox="1"/>
          <p:nvPr/>
        </p:nvSpPr>
        <p:spPr>
          <a:xfrm>
            <a:off x="6372225" y="5373688"/>
            <a:ext cx="3200400" cy="45720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净放热</a:t>
            </a:r>
            <a:endParaRPr lang="zh-CN" altLang="en-US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1102" name="组合 534529"/>
          <p:cNvGrpSpPr/>
          <p:nvPr/>
        </p:nvGrpSpPr>
        <p:grpSpPr>
          <a:xfrm>
            <a:off x="1258888" y="1412875"/>
            <a:ext cx="1892300" cy="3975100"/>
            <a:chOff x="4028" y="1296"/>
            <a:chExt cx="1192" cy="2504"/>
          </a:xfrm>
        </p:grpSpPr>
        <p:sp>
          <p:nvSpPr>
            <p:cNvPr id="131103" name="文本框 534530"/>
            <p:cNvSpPr txBox="1"/>
            <p:nvPr/>
          </p:nvSpPr>
          <p:spPr>
            <a:xfrm>
              <a:off x="4059" y="2130"/>
              <a:ext cx="265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1104" name="组合 534531"/>
            <p:cNvGrpSpPr/>
            <p:nvPr/>
          </p:nvGrpSpPr>
          <p:grpSpPr>
            <a:xfrm>
              <a:off x="4159" y="1547"/>
              <a:ext cx="886" cy="1933"/>
              <a:chOff x="4159" y="1547"/>
              <a:chExt cx="886" cy="1933"/>
            </a:xfrm>
          </p:grpSpPr>
          <p:sp>
            <p:nvSpPr>
              <p:cNvPr id="131105" name="任意多边形 534532"/>
              <p:cNvSpPr/>
              <p:nvPr/>
            </p:nvSpPr>
            <p:spPr>
              <a:xfrm>
                <a:off x="4159" y="1799"/>
                <a:ext cx="886" cy="2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337" y="24301"/>
                  </a:cxn>
                  <a:cxn ang="0">
                    <a:pos x="72481" y="24301"/>
                  </a:cxn>
                  <a:cxn ang="0">
                    <a:pos x="89808" y="0"/>
                  </a:cxn>
                  <a:cxn ang="0">
                    <a:pos x="0" y="0"/>
                  </a:cxn>
                </a:cxnLst>
                <a:rect l="0" t="0" r="0" b="0"/>
                <a:pathLst>
                  <a:path w="88" h="24">
                    <a:moveTo>
                      <a:pt x="0" y="0"/>
                    </a:moveTo>
                    <a:lnTo>
                      <a:pt x="17" y="24"/>
                    </a:lnTo>
                    <a:lnTo>
                      <a:pt x="71" y="24"/>
                    </a:lnTo>
                    <a:lnTo>
                      <a:pt x="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9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6" name="任意多边形 534533"/>
              <p:cNvSpPr/>
              <p:nvPr/>
            </p:nvSpPr>
            <p:spPr>
              <a:xfrm>
                <a:off x="4159" y="2966"/>
                <a:ext cx="886" cy="242"/>
              </a:xfrm>
              <a:custGeom>
                <a:avLst/>
                <a:gdLst/>
                <a:ahLst/>
                <a:cxnLst>
                  <a:cxn ang="0">
                    <a:pos x="0" y="24603"/>
                  </a:cxn>
                  <a:cxn ang="0">
                    <a:pos x="17337" y="0"/>
                  </a:cxn>
                  <a:cxn ang="0">
                    <a:pos x="72481" y="0"/>
                  </a:cxn>
                  <a:cxn ang="0">
                    <a:pos x="89808" y="24603"/>
                  </a:cxn>
                  <a:cxn ang="0">
                    <a:pos x="0" y="24603"/>
                  </a:cxn>
                </a:cxnLst>
                <a:rect l="0" t="0" r="0" b="0"/>
                <a:pathLst>
                  <a:path w="88" h="24">
                    <a:moveTo>
                      <a:pt x="0" y="24"/>
                    </a:moveTo>
                    <a:lnTo>
                      <a:pt x="17" y="0"/>
                    </a:lnTo>
                    <a:lnTo>
                      <a:pt x="71" y="0"/>
                    </a:lnTo>
                    <a:lnTo>
                      <a:pt x="88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3399FF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7" name="椭圆 534534"/>
              <p:cNvSpPr/>
              <p:nvPr/>
            </p:nvSpPr>
            <p:spPr>
              <a:xfrm>
                <a:off x="4421" y="2282"/>
                <a:ext cx="362" cy="402"/>
              </a:xfrm>
              <a:prstGeom prst="ellipse">
                <a:avLst/>
              </a:prstGeom>
              <a:solidFill>
                <a:srgbClr val="00CC99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08" name="任意多边形 534535"/>
              <p:cNvSpPr/>
              <p:nvPr/>
            </p:nvSpPr>
            <p:spPr>
              <a:xfrm>
                <a:off x="4179" y="2463"/>
                <a:ext cx="352" cy="81"/>
              </a:xfrm>
              <a:custGeom>
                <a:avLst/>
                <a:gdLst/>
                <a:ahLst/>
                <a:cxnLst>
                  <a:cxn ang="0">
                    <a:pos x="22357" y="0"/>
                  </a:cxn>
                  <a:cxn ang="0">
                    <a:pos x="22357" y="2055"/>
                  </a:cxn>
                  <a:cxn ang="0">
                    <a:pos x="0" y="2055"/>
                  </a:cxn>
                  <a:cxn ang="0">
                    <a:pos x="0" y="6257"/>
                  </a:cxn>
                  <a:cxn ang="0">
                    <a:pos x="22357" y="6257"/>
                  </a:cxn>
                  <a:cxn ang="0">
                    <a:pos x="22357" y="8303"/>
                  </a:cxn>
                  <a:cxn ang="0">
                    <a:pos x="35602" y="4202"/>
                  </a:cxn>
                  <a:cxn ang="0">
                    <a:pos x="22357" y="0"/>
                  </a:cxn>
                </a:cxnLst>
                <a:rect l="0" t="0" r="0" b="0"/>
                <a:pathLst>
                  <a:path w="35" h="8">
                    <a:moveTo>
                      <a:pt x="22" y="0"/>
                    </a:moveTo>
                    <a:lnTo>
                      <a:pt x="22" y="2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22" y="6"/>
                    </a:lnTo>
                    <a:lnTo>
                      <a:pt x="22" y="8"/>
                    </a:lnTo>
                    <a:lnTo>
                      <a:pt x="35" y="4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33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09" name="任意多边形 534536"/>
              <p:cNvSpPr/>
              <p:nvPr/>
            </p:nvSpPr>
            <p:spPr>
              <a:xfrm>
                <a:off x="4592" y="2564"/>
                <a:ext cx="60" cy="523"/>
              </a:xfrm>
              <a:custGeom>
                <a:avLst/>
                <a:gdLst/>
                <a:ahLst/>
                <a:cxnLst>
                  <a:cxn ang="0">
                    <a:pos x="0" y="20337"/>
                  </a:cxn>
                  <a:cxn ang="0">
                    <a:pos x="1000" y="20337"/>
                  </a:cxn>
                  <a:cxn ang="0">
                    <a:pos x="1000" y="52903"/>
                  </a:cxn>
                  <a:cxn ang="0">
                    <a:pos x="4000" y="52903"/>
                  </a:cxn>
                  <a:cxn ang="0">
                    <a:pos x="4000" y="20337"/>
                  </a:cxn>
                  <a:cxn ang="0">
                    <a:pos x="6000" y="20337"/>
                  </a:cxn>
                  <a:cxn ang="0">
                    <a:pos x="3000" y="0"/>
                  </a:cxn>
                  <a:cxn ang="0">
                    <a:pos x="0" y="20337"/>
                  </a:cxn>
                </a:cxnLst>
                <a:rect l="0" t="0" r="0" b="0"/>
                <a:pathLst>
                  <a:path w="6" h="52">
                    <a:moveTo>
                      <a:pt x="0" y="20"/>
                    </a:moveTo>
                    <a:lnTo>
                      <a:pt x="1" y="20"/>
                    </a:lnTo>
                    <a:lnTo>
                      <a:pt x="1" y="52"/>
                    </a:lnTo>
                    <a:lnTo>
                      <a:pt x="4" y="52"/>
                    </a:lnTo>
                    <a:lnTo>
                      <a:pt x="4" y="20"/>
                    </a:lnTo>
                    <a:lnTo>
                      <a:pt x="6" y="20"/>
                    </a:lnTo>
                    <a:lnTo>
                      <a:pt x="3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F33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0" name="任意多边形 534537"/>
              <p:cNvSpPr/>
              <p:nvPr/>
            </p:nvSpPr>
            <p:spPr>
              <a:xfrm>
                <a:off x="4592" y="1920"/>
                <a:ext cx="60" cy="402"/>
              </a:xfrm>
              <a:custGeom>
                <a:avLst/>
                <a:gdLst/>
                <a:ahLst/>
                <a:cxnLst>
                  <a:cxn ang="0">
                    <a:pos x="0" y="15256"/>
                  </a:cxn>
                  <a:cxn ang="0">
                    <a:pos x="1000" y="15256"/>
                  </a:cxn>
                  <a:cxn ang="0">
                    <a:pos x="1000" y="40602"/>
                  </a:cxn>
                  <a:cxn ang="0">
                    <a:pos x="4000" y="40602"/>
                  </a:cxn>
                  <a:cxn ang="0">
                    <a:pos x="4000" y="15256"/>
                  </a:cxn>
                  <a:cxn ang="0">
                    <a:pos x="6000" y="15256"/>
                  </a:cxn>
                  <a:cxn ang="0">
                    <a:pos x="3000" y="0"/>
                  </a:cxn>
                  <a:cxn ang="0">
                    <a:pos x="0" y="15256"/>
                  </a:cxn>
                </a:cxnLst>
                <a:rect l="0" t="0" r="0" b="0"/>
                <a:pathLst>
                  <a:path w="6" h="40">
                    <a:moveTo>
                      <a:pt x="0" y="15"/>
                    </a:moveTo>
                    <a:lnTo>
                      <a:pt x="1" y="15"/>
                    </a:lnTo>
                    <a:lnTo>
                      <a:pt x="1" y="40"/>
                    </a:lnTo>
                    <a:lnTo>
                      <a:pt x="4" y="40"/>
                    </a:lnTo>
                    <a:lnTo>
                      <a:pt x="4" y="15"/>
                    </a:lnTo>
                    <a:lnTo>
                      <a:pt x="6" y="15"/>
                    </a:lnTo>
                    <a:lnTo>
                      <a:pt x="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FF3300"/>
              </a:solidFill>
              <a:ln w="158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11" name="矩形 534538"/>
              <p:cNvSpPr/>
              <p:nvPr/>
            </p:nvSpPr>
            <p:spPr>
              <a:xfrm>
                <a:off x="4803" y="2171"/>
                <a:ext cx="91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2" name="矩形 534539"/>
              <p:cNvSpPr/>
              <p:nvPr/>
            </p:nvSpPr>
            <p:spPr>
              <a:xfrm>
                <a:off x="4903" y="2201"/>
                <a:ext cx="60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3" name="矩形 534540"/>
              <p:cNvSpPr/>
              <p:nvPr/>
            </p:nvSpPr>
            <p:spPr>
              <a:xfrm>
                <a:off x="4843" y="2795"/>
                <a:ext cx="181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4" name="矩形 534541"/>
              <p:cNvSpPr/>
              <p:nvPr/>
            </p:nvSpPr>
            <p:spPr>
              <a:xfrm>
                <a:off x="4944" y="2825"/>
                <a:ext cx="60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1500" b="1" dirty="0">
                    <a:solidFill>
                      <a:srgbClr val="000000"/>
                    </a:solidFill>
                    <a:latin typeface="Bookman Old Style" panose="020506040505050202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5" name="矩形 534542"/>
              <p:cNvSpPr/>
              <p:nvPr/>
            </p:nvSpPr>
            <p:spPr>
              <a:xfrm>
                <a:off x="4189" y="2201"/>
                <a:ext cx="262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6" name="矩形 534543"/>
              <p:cNvSpPr/>
              <p:nvPr/>
            </p:nvSpPr>
            <p:spPr>
              <a:xfrm>
                <a:off x="4385" y="2232"/>
                <a:ext cx="1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endParaRPr lang="zh-CN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7" name="矩形 534544"/>
              <p:cNvSpPr/>
              <p:nvPr/>
            </p:nvSpPr>
            <p:spPr>
              <a:xfrm>
                <a:off x="4280" y="1547"/>
                <a:ext cx="744" cy="2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8" name="矩形 534545"/>
              <p:cNvSpPr/>
              <p:nvPr/>
            </p:nvSpPr>
            <p:spPr>
              <a:xfrm>
                <a:off x="4395" y="1598"/>
                <a:ext cx="6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高温热源</a:t>
                </a:r>
                <a:endPara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19" name="矩形 534546"/>
              <p:cNvSpPr/>
              <p:nvPr/>
            </p:nvSpPr>
            <p:spPr>
              <a:xfrm>
                <a:off x="4280" y="3238"/>
                <a:ext cx="744" cy="2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20" name="矩形 534547"/>
              <p:cNvSpPr/>
              <p:nvPr/>
            </p:nvSpPr>
            <p:spPr>
              <a:xfrm>
                <a:off x="4395" y="3288"/>
                <a:ext cx="6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低温热源</a:t>
                </a:r>
                <a:endPara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21" name="矩形 534548"/>
              <p:cNvSpPr/>
              <p:nvPr/>
            </p:nvSpPr>
            <p:spPr>
              <a:xfrm>
                <a:off x="4682" y="2664"/>
                <a:ext cx="212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22" name="矩形 534549"/>
              <p:cNvSpPr/>
              <p:nvPr/>
            </p:nvSpPr>
            <p:spPr>
              <a:xfrm>
                <a:off x="4773" y="2705"/>
                <a:ext cx="15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23" name="矩形 534550"/>
              <p:cNvSpPr/>
              <p:nvPr/>
            </p:nvSpPr>
            <p:spPr>
              <a:xfrm>
                <a:off x="4642" y="2061"/>
                <a:ext cx="272" cy="3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124" name="矩形 534551"/>
              <p:cNvSpPr/>
              <p:nvPr/>
            </p:nvSpPr>
            <p:spPr>
              <a:xfrm>
                <a:off x="4732" y="2101"/>
                <a:ext cx="15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1125" name="矩形 534552"/>
            <p:cNvSpPr/>
            <p:nvPr/>
          </p:nvSpPr>
          <p:spPr>
            <a:xfrm>
              <a:off x="4149" y="3469"/>
              <a:ext cx="956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126" name="矩形 534553"/>
            <p:cNvSpPr/>
            <p:nvPr/>
          </p:nvSpPr>
          <p:spPr>
            <a:xfrm>
              <a:off x="4295" y="3550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(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127" name="矩形 534554"/>
            <p:cNvSpPr/>
            <p:nvPr/>
          </p:nvSpPr>
          <p:spPr>
            <a:xfrm>
              <a:off x="4369" y="3540"/>
              <a:ext cx="6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冷冻室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128" name="矩形 534555"/>
            <p:cNvSpPr/>
            <p:nvPr/>
          </p:nvSpPr>
          <p:spPr>
            <a:xfrm>
              <a:off x="5050" y="3550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129" name="矩形 534556"/>
            <p:cNvSpPr/>
            <p:nvPr/>
          </p:nvSpPr>
          <p:spPr>
            <a:xfrm>
              <a:off x="4028" y="1296"/>
              <a:ext cx="1178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130" name="矩形 534557"/>
            <p:cNvSpPr/>
            <p:nvPr/>
          </p:nvSpPr>
          <p:spPr>
            <a:xfrm>
              <a:off x="4174" y="1376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(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131" name="矩形 534558"/>
            <p:cNvSpPr/>
            <p:nvPr/>
          </p:nvSpPr>
          <p:spPr>
            <a:xfrm>
              <a:off x="4254" y="1366"/>
              <a:ext cx="8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周围环境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132" name="矩形 534559"/>
            <p:cNvSpPr/>
            <p:nvPr/>
          </p:nvSpPr>
          <p:spPr>
            <a:xfrm>
              <a:off x="5151" y="1376"/>
              <a:ext cx="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600" b="1" dirty="0">
                  <a:solidFill>
                    <a:srgbClr val="000000"/>
                  </a:solidFill>
                  <a:latin typeface="¿¬Ìå_GB2312" charset="0"/>
                  <a:ea typeface="宋体" panose="02010600030101010101" pitchFamily="2" charset="-122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" name="椭圆 127"/>
          <p:cNvSpPr/>
          <p:nvPr/>
        </p:nvSpPr>
        <p:spPr bwMode="auto">
          <a:xfrm>
            <a:off x="1941513" y="3054350"/>
            <a:ext cx="431800" cy="482600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99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工作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9933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rPr>
              <a:t>物质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9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1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1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1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1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7" grpId="0"/>
      <p:bldP spid="419944" grpId="0"/>
      <p:bldP spid="4199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7" name="文本框 419866"/>
          <p:cNvSpPr txBox="1"/>
          <p:nvPr/>
        </p:nvSpPr>
        <p:spPr>
          <a:xfrm>
            <a:off x="4876800" y="4908550"/>
            <a:ext cx="410527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制冷循环（逆循环）</a:t>
            </a:r>
          </a:p>
        </p:txBody>
      </p:sp>
      <p:sp>
        <p:nvSpPr>
          <p:cNvPr id="419883" name="矩形 419882"/>
          <p:cNvSpPr/>
          <p:nvPr/>
        </p:nvSpPr>
        <p:spPr>
          <a:xfrm>
            <a:off x="5219700" y="1106488"/>
            <a:ext cx="1620838" cy="52228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制冷循环</a:t>
            </a:r>
          </a:p>
        </p:txBody>
      </p:sp>
      <p:sp>
        <p:nvSpPr>
          <p:cNvPr id="132099" name="矩形 419916"/>
          <p:cNvSpPr/>
          <p:nvPr/>
        </p:nvSpPr>
        <p:spPr>
          <a:xfrm>
            <a:off x="4743450" y="1849438"/>
            <a:ext cx="3889375" cy="297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2100" name="组合 419917"/>
          <p:cNvGrpSpPr/>
          <p:nvPr/>
        </p:nvGrpSpPr>
        <p:grpSpPr>
          <a:xfrm>
            <a:off x="5824538" y="2378075"/>
            <a:ext cx="1981200" cy="1219200"/>
            <a:chOff x="1248" y="864"/>
            <a:chExt cx="1248" cy="768"/>
          </a:xfrm>
        </p:grpSpPr>
        <p:sp>
          <p:nvSpPr>
            <p:cNvPr id="132101" name="任意多边形 419918"/>
            <p:cNvSpPr/>
            <p:nvPr/>
          </p:nvSpPr>
          <p:spPr>
            <a:xfrm>
              <a:off x="1248" y="864"/>
              <a:ext cx="1248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0" y="0"/>
                </a:cxn>
                <a:cxn ang="0">
                  <a:pos x="624" y="96"/>
                </a:cxn>
                <a:cxn ang="0">
                  <a:pos x="957" y="288"/>
                </a:cxn>
                <a:cxn ang="0">
                  <a:pos x="1118" y="446"/>
                </a:cxn>
                <a:cxn ang="0">
                  <a:pos x="1206" y="624"/>
                </a:cxn>
                <a:cxn ang="0">
                  <a:pos x="1248" y="768"/>
                </a:cxn>
                <a:cxn ang="0">
                  <a:pos x="1040" y="768"/>
                </a:cxn>
                <a:cxn ang="0">
                  <a:pos x="790" y="720"/>
                </a:cxn>
                <a:cxn ang="0">
                  <a:pos x="582" y="624"/>
                </a:cxn>
                <a:cxn ang="0">
                  <a:pos x="374" y="528"/>
                </a:cxn>
                <a:cxn ang="0">
                  <a:pos x="250" y="432"/>
                </a:cxn>
                <a:cxn ang="0">
                  <a:pos x="166" y="336"/>
                </a:cxn>
                <a:cxn ang="0">
                  <a:pos x="62" y="206"/>
                </a:cxn>
                <a:cxn ang="0">
                  <a:pos x="27" y="103"/>
                </a:cxn>
                <a:cxn ang="0">
                  <a:pos x="0" y="0"/>
                </a:cxn>
              </a:cxnLst>
              <a:rect l="0" t="0" r="0" b="0"/>
              <a:pathLst>
                <a:path w="1248" h="768">
                  <a:moveTo>
                    <a:pt x="0" y="0"/>
                  </a:moveTo>
                  <a:lnTo>
                    <a:pt x="250" y="0"/>
                  </a:lnTo>
                  <a:lnTo>
                    <a:pt x="624" y="96"/>
                  </a:lnTo>
                  <a:lnTo>
                    <a:pt x="957" y="288"/>
                  </a:lnTo>
                  <a:lnTo>
                    <a:pt x="1118" y="446"/>
                  </a:lnTo>
                  <a:lnTo>
                    <a:pt x="1206" y="624"/>
                  </a:lnTo>
                  <a:lnTo>
                    <a:pt x="1248" y="768"/>
                  </a:lnTo>
                  <a:lnTo>
                    <a:pt x="1040" y="768"/>
                  </a:lnTo>
                  <a:lnTo>
                    <a:pt x="790" y="720"/>
                  </a:lnTo>
                  <a:lnTo>
                    <a:pt x="582" y="624"/>
                  </a:lnTo>
                  <a:lnTo>
                    <a:pt x="374" y="528"/>
                  </a:lnTo>
                  <a:lnTo>
                    <a:pt x="250" y="432"/>
                  </a:lnTo>
                  <a:lnTo>
                    <a:pt x="166" y="336"/>
                  </a:lnTo>
                  <a:lnTo>
                    <a:pt x="62" y="206"/>
                  </a:lnTo>
                  <a:lnTo>
                    <a:pt x="27" y="10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2102" name="对象 419919"/>
            <p:cNvGraphicFramePr/>
            <p:nvPr/>
          </p:nvGraphicFramePr>
          <p:xfrm>
            <a:off x="1789" y="1104"/>
            <a:ext cx="261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1" r:id="rId4" imgW="241300" imgH="241300" progId="Equation.DSMT4">
                    <p:embed/>
                  </p:oleObj>
                </mc:Choice>
                <mc:Fallback>
                  <p:oleObj r:id="rId4" imgW="241300" imgH="241300" progId="Equation.DSMT4">
                    <p:embed/>
                    <p:pic>
                      <p:nvPicPr>
                        <p:cNvPr id="0" name="图片 339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89" y="1104"/>
                          <a:ext cx="261" cy="2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103" name="组合 419920"/>
          <p:cNvGrpSpPr/>
          <p:nvPr/>
        </p:nvGrpSpPr>
        <p:grpSpPr>
          <a:xfrm>
            <a:off x="4894263" y="1916113"/>
            <a:ext cx="3513137" cy="2797175"/>
            <a:chOff x="3072" y="1632"/>
            <a:chExt cx="2213" cy="1762"/>
          </a:xfrm>
        </p:grpSpPr>
        <p:sp>
          <p:nvSpPr>
            <p:cNvPr id="132104" name="直接连接符 419921"/>
            <p:cNvSpPr/>
            <p:nvPr/>
          </p:nvSpPr>
          <p:spPr>
            <a:xfrm flipV="1">
              <a:off x="3306" y="3120"/>
              <a:ext cx="1974" cy="6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2105" name="直接连接符 419922"/>
            <p:cNvSpPr/>
            <p:nvPr/>
          </p:nvSpPr>
          <p:spPr>
            <a:xfrm flipV="1">
              <a:off x="3306" y="1638"/>
              <a:ext cx="0" cy="1488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2106" name="对象 419923"/>
            <p:cNvGraphicFramePr/>
            <p:nvPr/>
          </p:nvGraphicFramePr>
          <p:xfrm>
            <a:off x="3072" y="1632"/>
            <a:ext cx="192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2" r:id="rId6" imgW="203200" imgH="241300" progId="Equation.3">
                    <p:embed/>
                  </p:oleObj>
                </mc:Choice>
                <mc:Fallback>
                  <p:oleObj r:id="rId6" imgW="203200" imgH="241300" progId="Equation.3">
                    <p:embed/>
                    <p:pic>
                      <p:nvPicPr>
                        <p:cNvPr id="0" name="图片 339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072" y="1632"/>
                          <a:ext cx="192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07" name="对象 419924"/>
            <p:cNvGraphicFramePr/>
            <p:nvPr/>
          </p:nvGraphicFramePr>
          <p:xfrm>
            <a:off x="5088" y="3174"/>
            <a:ext cx="19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3" r:id="rId8" imgW="215900" imgH="241300" progId="Equation.3">
                    <p:embed/>
                  </p:oleObj>
                </mc:Choice>
                <mc:Fallback>
                  <p:oleObj r:id="rId8" imgW="215900" imgH="241300" progId="Equation.3">
                    <p:embed/>
                    <p:pic>
                      <p:nvPicPr>
                        <p:cNvPr id="0" name="图片 339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088" y="3174"/>
                          <a:ext cx="197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08" name="对象 419925"/>
            <p:cNvGraphicFramePr/>
            <p:nvPr/>
          </p:nvGraphicFramePr>
          <p:xfrm>
            <a:off x="3210" y="3126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4" r:id="rId10" imgW="165100" imgH="190500" progId="Equation.3">
                    <p:embed/>
                  </p:oleObj>
                </mc:Choice>
                <mc:Fallback>
                  <p:oleObj r:id="rId10" imgW="165100" imgH="190500" progId="Equation.3">
                    <p:embed/>
                    <p:pic>
                      <p:nvPicPr>
                        <p:cNvPr id="0" name="图片 339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210" y="3126"/>
                          <a:ext cx="177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109" name="组合 419926"/>
          <p:cNvGrpSpPr/>
          <p:nvPr/>
        </p:nvGrpSpPr>
        <p:grpSpPr>
          <a:xfrm>
            <a:off x="5580063" y="1916113"/>
            <a:ext cx="2743200" cy="2895600"/>
            <a:chOff x="1104" y="576"/>
            <a:chExt cx="1728" cy="1824"/>
          </a:xfrm>
        </p:grpSpPr>
        <p:sp>
          <p:nvSpPr>
            <p:cNvPr id="132110" name="任意多边形 419927"/>
            <p:cNvSpPr/>
            <p:nvPr/>
          </p:nvSpPr>
          <p:spPr>
            <a:xfrm>
              <a:off x="1248" y="865"/>
              <a:ext cx="1252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4" h="21600" fill="none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</a:path>
                <a:path w="21594" h="21600" stroke="0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11" name="直接连接符 419928"/>
            <p:cNvSpPr/>
            <p:nvPr/>
          </p:nvSpPr>
          <p:spPr>
            <a:xfrm>
              <a:off x="1968" y="1008"/>
              <a:ext cx="192" cy="96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19930" name="文本框 419929"/>
            <p:cNvSpPr txBox="1"/>
            <p:nvPr/>
          </p:nvSpPr>
          <p:spPr>
            <a:xfrm>
              <a:off x="1104" y="576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419931" name="文本框 419930"/>
            <p:cNvSpPr txBox="1"/>
            <p:nvPr/>
          </p:nvSpPr>
          <p:spPr>
            <a:xfrm>
              <a:off x="2496" y="148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32114" name="直接连接符 419931"/>
            <p:cNvSpPr/>
            <p:nvPr/>
          </p:nvSpPr>
          <p:spPr>
            <a:xfrm>
              <a:off x="1248" y="864"/>
              <a:ext cx="0" cy="1200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2115" name="直接连接符 419932"/>
            <p:cNvSpPr/>
            <p:nvPr/>
          </p:nvSpPr>
          <p:spPr>
            <a:xfrm>
              <a:off x="2496" y="1632"/>
              <a:ext cx="0" cy="432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32116" name="对象 419933"/>
            <p:cNvGraphicFramePr/>
            <p:nvPr/>
          </p:nvGraphicFramePr>
          <p:xfrm>
            <a:off x="1152" y="2016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5" r:id="rId12" imgW="139700" imgH="165100" progId="Equation.3">
                    <p:embed/>
                  </p:oleObj>
                </mc:Choice>
                <mc:Fallback>
                  <p:oleObj r:id="rId12" imgW="139700" imgH="165100" progId="Equation.3">
                    <p:embed/>
                    <p:pic>
                      <p:nvPicPr>
                        <p:cNvPr id="0" name="图片 337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152" y="2016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17" name="对象 419934"/>
            <p:cNvGraphicFramePr/>
            <p:nvPr/>
          </p:nvGraphicFramePr>
          <p:xfrm>
            <a:off x="2400" y="2064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6" r:id="rId14" imgW="139700" imgH="165100" progId="Equation.3">
                    <p:embed/>
                  </p:oleObj>
                </mc:Choice>
                <mc:Fallback>
                  <p:oleObj r:id="rId14" imgW="139700" imgH="165100" progId="Equation.3">
                    <p:embed/>
                    <p:pic>
                      <p:nvPicPr>
                        <p:cNvPr id="0" name="图片 337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400" y="2064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18" name="对象 419935"/>
            <p:cNvGraphicFramePr/>
            <p:nvPr/>
          </p:nvGraphicFramePr>
          <p:xfrm>
            <a:off x="2030" y="864"/>
            <a:ext cx="163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7" r:id="rId16" imgW="152400" imgH="190500" progId="Equation.3">
                    <p:embed/>
                  </p:oleObj>
                </mc:Choice>
                <mc:Fallback>
                  <p:oleObj r:id="rId16" imgW="152400" imgH="190500" progId="Equation.3">
                    <p:embed/>
                    <p:pic>
                      <p:nvPicPr>
                        <p:cNvPr id="0" name="图片 3373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030" y="864"/>
                          <a:ext cx="163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119" name="组合 419936"/>
          <p:cNvGrpSpPr/>
          <p:nvPr/>
        </p:nvGrpSpPr>
        <p:grpSpPr>
          <a:xfrm>
            <a:off x="5808663" y="2297113"/>
            <a:ext cx="1981200" cy="1447800"/>
            <a:chOff x="1248" y="816"/>
            <a:chExt cx="1248" cy="912"/>
          </a:xfrm>
        </p:grpSpPr>
        <p:sp>
          <p:nvSpPr>
            <p:cNvPr id="132120" name="任意多边形 419937"/>
            <p:cNvSpPr/>
            <p:nvPr/>
          </p:nvSpPr>
          <p:spPr>
            <a:xfrm flipH="1" flipV="1">
              <a:off x="1248" y="816"/>
              <a:ext cx="1248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1" h="21600" fill="none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</a:path>
                <a:path w="21591" h="21600" stroke="0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21" name="直接连接符 419938"/>
            <p:cNvSpPr/>
            <p:nvPr/>
          </p:nvSpPr>
          <p:spPr>
            <a:xfrm flipH="1" flipV="1">
              <a:off x="1632" y="1392"/>
              <a:ext cx="144" cy="96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graphicFrame>
          <p:nvGraphicFramePr>
            <p:cNvPr id="132122" name="对象 419939"/>
            <p:cNvGraphicFramePr/>
            <p:nvPr/>
          </p:nvGraphicFramePr>
          <p:xfrm>
            <a:off x="1680" y="1504"/>
            <a:ext cx="16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8" r:id="rId18" imgW="190500" imgH="254000" progId="Equation.3">
                    <p:embed/>
                  </p:oleObj>
                </mc:Choice>
                <mc:Fallback>
                  <p:oleObj r:id="rId18" imgW="190500" imgH="254000" progId="Equation.3">
                    <p:embed/>
                    <p:pic>
                      <p:nvPicPr>
                        <p:cNvPr id="0" name="图片 3372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680" y="1504"/>
                          <a:ext cx="168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44" name="文本框 419943"/>
          <p:cNvSpPr txBox="1"/>
          <p:nvPr/>
        </p:nvSpPr>
        <p:spPr>
          <a:xfrm>
            <a:off x="7624763" y="4892675"/>
            <a:ext cx="8016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A&lt;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graphicFrame>
        <p:nvGraphicFramePr>
          <p:cNvPr id="132124" name="对象 419946"/>
          <p:cNvGraphicFramePr/>
          <p:nvPr/>
        </p:nvGraphicFramePr>
        <p:xfrm>
          <a:off x="4816475" y="5384800"/>
          <a:ext cx="14684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" r:id="rId20" imgW="647065" imgH="203200" progId="Equation.DSMT4">
                  <p:embed/>
                </p:oleObj>
              </mc:Choice>
              <mc:Fallback>
                <p:oleObj r:id="rId20" imgW="647065" imgH="203200" progId="Equation.DSMT4">
                  <p:embed/>
                  <p:pic>
                    <p:nvPicPr>
                      <p:cNvPr id="0" name="图片 337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816475" y="5384800"/>
                        <a:ext cx="1468438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25" name="文本框 419948"/>
          <p:cNvSpPr txBox="1"/>
          <p:nvPr/>
        </p:nvSpPr>
        <p:spPr>
          <a:xfrm>
            <a:off x="6443663" y="5373688"/>
            <a:ext cx="3200400" cy="45720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净放热</a:t>
            </a:r>
            <a:endParaRPr lang="zh-CN" altLang="en-US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文本框 419855"/>
          <p:cNvSpPr txBox="1"/>
          <p:nvPr/>
        </p:nvSpPr>
        <p:spPr>
          <a:xfrm>
            <a:off x="720725" y="4868863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热机循环（正循环）</a:t>
            </a:r>
          </a:p>
        </p:txBody>
      </p:sp>
      <p:sp>
        <p:nvSpPr>
          <p:cNvPr id="64" name="矩形 63"/>
          <p:cNvSpPr/>
          <p:nvPr/>
        </p:nvSpPr>
        <p:spPr>
          <a:xfrm>
            <a:off x="649288" y="1106488"/>
            <a:ext cx="1620838" cy="52228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热机循环</a:t>
            </a:r>
          </a:p>
        </p:txBody>
      </p:sp>
      <p:sp>
        <p:nvSpPr>
          <p:cNvPr id="132128" name="矩形 64"/>
          <p:cNvSpPr/>
          <p:nvPr/>
        </p:nvSpPr>
        <p:spPr>
          <a:xfrm>
            <a:off x="720725" y="1844675"/>
            <a:ext cx="3733800" cy="297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2129" name="组合 419891"/>
          <p:cNvGrpSpPr/>
          <p:nvPr/>
        </p:nvGrpSpPr>
        <p:grpSpPr>
          <a:xfrm>
            <a:off x="755650" y="1916113"/>
            <a:ext cx="3513138" cy="2797175"/>
            <a:chOff x="3072" y="1632"/>
            <a:chExt cx="2213" cy="1762"/>
          </a:xfrm>
        </p:grpSpPr>
        <p:sp>
          <p:nvSpPr>
            <p:cNvPr id="132130" name="直接连接符 419892"/>
            <p:cNvSpPr/>
            <p:nvPr/>
          </p:nvSpPr>
          <p:spPr>
            <a:xfrm flipV="1">
              <a:off x="3306" y="3120"/>
              <a:ext cx="1974" cy="6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2131" name="直接连接符 419893"/>
            <p:cNvSpPr/>
            <p:nvPr/>
          </p:nvSpPr>
          <p:spPr>
            <a:xfrm flipV="1">
              <a:off x="3306" y="1638"/>
              <a:ext cx="0" cy="1488"/>
            </a:xfrm>
            <a:prstGeom prst="line">
              <a:avLst/>
            </a:prstGeom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2132" name="对象 419894"/>
            <p:cNvGraphicFramePr/>
            <p:nvPr/>
          </p:nvGraphicFramePr>
          <p:xfrm>
            <a:off x="3072" y="1632"/>
            <a:ext cx="192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0" r:id="rId22" imgW="203200" imgH="241300" progId="Equation.3">
                    <p:embed/>
                  </p:oleObj>
                </mc:Choice>
                <mc:Fallback>
                  <p:oleObj r:id="rId22" imgW="203200" imgH="241300" progId="Equation.3">
                    <p:embed/>
                    <p:pic>
                      <p:nvPicPr>
                        <p:cNvPr id="0" name="图片 337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072" y="1632"/>
                          <a:ext cx="192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33" name="对象 419895"/>
            <p:cNvGraphicFramePr/>
            <p:nvPr/>
          </p:nvGraphicFramePr>
          <p:xfrm>
            <a:off x="5088" y="3174"/>
            <a:ext cx="19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1" r:id="rId23" imgW="215900" imgH="241300" progId="Equation.3">
                    <p:embed/>
                  </p:oleObj>
                </mc:Choice>
                <mc:Fallback>
                  <p:oleObj r:id="rId23" imgW="215900" imgH="241300" progId="Equation.3">
                    <p:embed/>
                    <p:pic>
                      <p:nvPicPr>
                        <p:cNvPr id="0" name="图片 337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088" y="3174"/>
                          <a:ext cx="197" cy="2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34" name="对象 419896"/>
            <p:cNvGraphicFramePr/>
            <p:nvPr/>
          </p:nvGraphicFramePr>
          <p:xfrm>
            <a:off x="3210" y="3126"/>
            <a:ext cx="17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2" r:id="rId24" imgW="165100" imgH="190500" progId="Equation.3">
                    <p:embed/>
                  </p:oleObj>
                </mc:Choice>
                <mc:Fallback>
                  <p:oleObj r:id="rId24" imgW="165100" imgH="190500" progId="Equation.3">
                    <p:embed/>
                    <p:pic>
                      <p:nvPicPr>
                        <p:cNvPr id="0" name="图片 337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210" y="3126"/>
                          <a:ext cx="177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135" name="组合 419897"/>
          <p:cNvGrpSpPr/>
          <p:nvPr/>
        </p:nvGrpSpPr>
        <p:grpSpPr>
          <a:xfrm>
            <a:off x="1670050" y="2373313"/>
            <a:ext cx="1981200" cy="1219200"/>
            <a:chOff x="3648" y="1920"/>
            <a:chExt cx="1248" cy="768"/>
          </a:xfrm>
        </p:grpSpPr>
        <p:sp>
          <p:nvSpPr>
            <p:cNvPr id="132136" name="任意多边形 419898"/>
            <p:cNvSpPr/>
            <p:nvPr/>
          </p:nvSpPr>
          <p:spPr>
            <a:xfrm>
              <a:off x="3648" y="1920"/>
              <a:ext cx="1248" cy="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0" y="0"/>
                </a:cxn>
                <a:cxn ang="0">
                  <a:pos x="624" y="96"/>
                </a:cxn>
                <a:cxn ang="0">
                  <a:pos x="957" y="288"/>
                </a:cxn>
                <a:cxn ang="0">
                  <a:pos x="1118" y="446"/>
                </a:cxn>
                <a:cxn ang="0">
                  <a:pos x="1206" y="624"/>
                </a:cxn>
                <a:cxn ang="0">
                  <a:pos x="1248" y="768"/>
                </a:cxn>
                <a:cxn ang="0">
                  <a:pos x="1040" y="768"/>
                </a:cxn>
                <a:cxn ang="0">
                  <a:pos x="790" y="720"/>
                </a:cxn>
                <a:cxn ang="0">
                  <a:pos x="582" y="624"/>
                </a:cxn>
                <a:cxn ang="0">
                  <a:pos x="374" y="528"/>
                </a:cxn>
                <a:cxn ang="0">
                  <a:pos x="250" y="432"/>
                </a:cxn>
                <a:cxn ang="0">
                  <a:pos x="166" y="336"/>
                </a:cxn>
                <a:cxn ang="0">
                  <a:pos x="62" y="206"/>
                </a:cxn>
                <a:cxn ang="0">
                  <a:pos x="27" y="103"/>
                </a:cxn>
                <a:cxn ang="0">
                  <a:pos x="0" y="0"/>
                </a:cxn>
              </a:cxnLst>
              <a:rect l="0" t="0" r="0" b="0"/>
              <a:pathLst>
                <a:path w="1248" h="768">
                  <a:moveTo>
                    <a:pt x="0" y="0"/>
                  </a:moveTo>
                  <a:lnTo>
                    <a:pt x="250" y="0"/>
                  </a:lnTo>
                  <a:lnTo>
                    <a:pt x="624" y="96"/>
                  </a:lnTo>
                  <a:lnTo>
                    <a:pt x="957" y="288"/>
                  </a:lnTo>
                  <a:lnTo>
                    <a:pt x="1118" y="446"/>
                  </a:lnTo>
                  <a:lnTo>
                    <a:pt x="1206" y="624"/>
                  </a:lnTo>
                  <a:lnTo>
                    <a:pt x="1248" y="768"/>
                  </a:lnTo>
                  <a:lnTo>
                    <a:pt x="1040" y="768"/>
                  </a:lnTo>
                  <a:lnTo>
                    <a:pt x="790" y="720"/>
                  </a:lnTo>
                  <a:lnTo>
                    <a:pt x="582" y="624"/>
                  </a:lnTo>
                  <a:lnTo>
                    <a:pt x="374" y="528"/>
                  </a:lnTo>
                  <a:lnTo>
                    <a:pt x="250" y="432"/>
                  </a:lnTo>
                  <a:lnTo>
                    <a:pt x="166" y="336"/>
                  </a:lnTo>
                  <a:lnTo>
                    <a:pt x="62" y="206"/>
                  </a:lnTo>
                  <a:lnTo>
                    <a:pt x="27" y="10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5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2137" name="对象 419899"/>
            <p:cNvGraphicFramePr/>
            <p:nvPr/>
          </p:nvGraphicFramePr>
          <p:xfrm>
            <a:off x="4180" y="2199"/>
            <a:ext cx="171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3" r:id="rId26" imgW="178435" imgH="178435" progId="Equation.DSMT4">
                    <p:embed/>
                  </p:oleObj>
                </mc:Choice>
                <mc:Fallback>
                  <p:oleObj r:id="rId26" imgW="178435" imgH="178435" progId="Equation.DSMT4">
                    <p:embed/>
                    <p:pic>
                      <p:nvPicPr>
                        <p:cNvPr id="0" name="图片 3378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80" y="2199"/>
                          <a:ext cx="171" cy="1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138" name="组合 419900"/>
          <p:cNvGrpSpPr/>
          <p:nvPr/>
        </p:nvGrpSpPr>
        <p:grpSpPr>
          <a:xfrm>
            <a:off x="1441450" y="1916113"/>
            <a:ext cx="2743200" cy="2895600"/>
            <a:chOff x="3504" y="1632"/>
            <a:chExt cx="1728" cy="1824"/>
          </a:xfrm>
        </p:grpSpPr>
        <p:sp>
          <p:nvSpPr>
            <p:cNvPr id="132139" name="任意多边形 419901"/>
            <p:cNvSpPr/>
            <p:nvPr/>
          </p:nvSpPr>
          <p:spPr>
            <a:xfrm>
              <a:off x="3648" y="1921"/>
              <a:ext cx="1252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4" h="21600" fill="none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</a:path>
                <a:path w="21594" h="21600" stroke="0">
                  <a:moveTo>
                    <a:pt x="0" y="0"/>
                  </a:moveTo>
                  <a:cubicBezTo>
                    <a:pt x="11753" y="0"/>
                    <a:pt x="21313" y="9387"/>
                    <a:pt x="21594" y="21069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0" name="直接连接符 419902"/>
            <p:cNvSpPr/>
            <p:nvPr/>
          </p:nvSpPr>
          <p:spPr>
            <a:xfrm>
              <a:off x="4368" y="2064"/>
              <a:ext cx="192" cy="96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78" name="文本框 419903"/>
            <p:cNvSpPr txBox="1"/>
            <p:nvPr/>
          </p:nvSpPr>
          <p:spPr>
            <a:xfrm>
              <a:off x="3504" y="1632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79" name="文本框 419904"/>
            <p:cNvSpPr txBox="1"/>
            <p:nvPr/>
          </p:nvSpPr>
          <p:spPr>
            <a:xfrm>
              <a:off x="4896" y="254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01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132143" name="直接连接符 419905"/>
            <p:cNvSpPr/>
            <p:nvPr/>
          </p:nvSpPr>
          <p:spPr>
            <a:xfrm>
              <a:off x="3648" y="1920"/>
              <a:ext cx="0" cy="1200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2144" name="直接连接符 419906"/>
            <p:cNvSpPr/>
            <p:nvPr/>
          </p:nvSpPr>
          <p:spPr>
            <a:xfrm>
              <a:off x="4896" y="2688"/>
              <a:ext cx="0" cy="432"/>
            </a:xfrm>
            <a:prstGeom prst="line">
              <a:avLst/>
            </a:prstGeom>
            <a:ln w="19050" cap="flat" cmpd="sng">
              <a:solidFill>
                <a:srgbClr val="1C1C1C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32145" name="对象 419907"/>
            <p:cNvGraphicFramePr/>
            <p:nvPr/>
          </p:nvGraphicFramePr>
          <p:xfrm>
            <a:off x="3552" y="3072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4" r:id="rId28" imgW="139700" imgH="165100" progId="Equation.3">
                    <p:embed/>
                  </p:oleObj>
                </mc:Choice>
                <mc:Fallback>
                  <p:oleObj r:id="rId28" imgW="139700" imgH="165100" progId="Equation.3">
                    <p:embed/>
                    <p:pic>
                      <p:nvPicPr>
                        <p:cNvPr id="0" name="图片 3383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552" y="3072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46" name="对象 419908"/>
            <p:cNvGraphicFramePr/>
            <p:nvPr/>
          </p:nvGraphicFramePr>
          <p:xfrm>
            <a:off x="4800" y="3120"/>
            <a:ext cx="28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5" r:id="rId29" imgW="139700" imgH="165100" progId="Equation.3">
                    <p:embed/>
                  </p:oleObj>
                </mc:Choice>
                <mc:Fallback>
                  <p:oleObj r:id="rId29" imgW="139700" imgH="165100" progId="Equation.3">
                    <p:embed/>
                    <p:pic>
                      <p:nvPicPr>
                        <p:cNvPr id="0" name="图片 337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800" y="3120"/>
                          <a:ext cx="28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2147" name="对象 419909"/>
            <p:cNvGraphicFramePr/>
            <p:nvPr/>
          </p:nvGraphicFramePr>
          <p:xfrm>
            <a:off x="4430" y="1920"/>
            <a:ext cx="163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6" r:id="rId30" imgW="152400" imgH="190500" progId="Equation.3">
                    <p:embed/>
                  </p:oleObj>
                </mc:Choice>
                <mc:Fallback>
                  <p:oleObj r:id="rId30" imgW="152400" imgH="190500" progId="Equation.3">
                    <p:embed/>
                    <p:pic>
                      <p:nvPicPr>
                        <p:cNvPr id="0" name="图片 338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430" y="1920"/>
                          <a:ext cx="163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148" name="组合 419910"/>
          <p:cNvGrpSpPr/>
          <p:nvPr/>
        </p:nvGrpSpPr>
        <p:grpSpPr>
          <a:xfrm>
            <a:off x="1670050" y="2297113"/>
            <a:ext cx="1981200" cy="1422400"/>
            <a:chOff x="3648" y="1872"/>
            <a:chExt cx="1248" cy="896"/>
          </a:xfrm>
        </p:grpSpPr>
        <p:sp>
          <p:nvSpPr>
            <p:cNvPr id="132149" name="任意多边形 419911"/>
            <p:cNvSpPr/>
            <p:nvPr/>
          </p:nvSpPr>
          <p:spPr>
            <a:xfrm flipH="1" flipV="1">
              <a:off x="3648" y="1872"/>
              <a:ext cx="1248" cy="8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0" b="0"/>
              <a:pathLst>
                <a:path w="21591" h="21600" fill="none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</a:path>
                <a:path w="21591" h="21600" stroke="0">
                  <a:moveTo>
                    <a:pt x="0" y="0"/>
                  </a:moveTo>
                  <a:cubicBezTo>
                    <a:pt x="11717" y="0"/>
                    <a:pt x="21254" y="9329"/>
                    <a:pt x="21591" y="2096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50" name="直接连接符 419912"/>
            <p:cNvSpPr/>
            <p:nvPr/>
          </p:nvSpPr>
          <p:spPr>
            <a:xfrm flipH="1" flipV="1">
              <a:off x="4176" y="2544"/>
              <a:ext cx="144" cy="48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2151" name="对象 419913"/>
            <p:cNvGraphicFramePr/>
            <p:nvPr/>
          </p:nvGraphicFramePr>
          <p:xfrm>
            <a:off x="4080" y="2544"/>
            <a:ext cx="16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47" r:id="rId31" imgW="190500" imgH="254000" progId="Equation.3">
                    <p:embed/>
                  </p:oleObj>
                </mc:Choice>
                <mc:Fallback>
                  <p:oleObj r:id="rId31" imgW="190500" imgH="254000" progId="Equation.3">
                    <p:embed/>
                    <p:pic>
                      <p:nvPicPr>
                        <p:cNvPr id="0" name="图片 3382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080" y="2544"/>
                          <a:ext cx="168" cy="2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" name="文本框 419879"/>
          <p:cNvSpPr txBox="1"/>
          <p:nvPr/>
        </p:nvSpPr>
        <p:spPr>
          <a:xfrm>
            <a:off x="3457575" y="4840288"/>
            <a:ext cx="8016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&gt;0</a:t>
            </a:r>
          </a:p>
        </p:txBody>
      </p:sp>
      <p:graphicFrame>
        <p:nvGraphicFramePr>
          <p:cNvPr id="132153" name="对象 419945"/>
          <p:cNvGraphicFramePr/>
          <p:nvPr/>
        </p:nvGraphicFramePr>
        <p:xfrm>
          <a:off x="793750" y="5359400"/>
          <a:ext cx="1511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8" r:id="rId32" imgW="634365" imgH="203200" progId="Equation.3">
                  <p:embed/>
                </p:oleObj>
              </mc:Choice>
              <mc:Fallback>
                <p:oleObj r:id="rId32" imgW="634365" imgH="203200" progId="Equation.3">
                  <p:embed/>
                  <p:pic>
                    <p:nvPicPr>
                      <p:cNvPr id="0" name="图片 338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793750" y="5359400"/>
                        <a:ext cx="15113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54" name="矩形 90"/>
          <p:cNvSpPr/>
          <p:nvPr/>
        </p:nvSpPr>
        <p:spPr>
          <a:xfrm>
            <a:off x="2370138" y="5359400"/>
            <a:ext cx="1098550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净吸热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98488" y="1571625"/>
            <a:ext cx="8088313" cy="23780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just" defTabSz="914400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热机发展简介</a:t>
            </a:r>
            <a:r>
              <a:rPr kumimoji="0" lang="zh-CN" altLang="en-US" kern="1200" cap="none" spc="0" normalizeH="0" baseline="0" noProof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1698</a:t>
            </a:r>
            <a:r>
              <a:rPr kumimoji="0" lang="zh-CN" altLang="en-US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年萨维利</a:t>
            </a:r>
            <a:r>
              <a:rPr kumimoji="0" lang="zh-CN" altLang="en-US" kern="1200" cap="none" spc="0" normalizeH="0" baseline="0" noProof="0" dirty="0">
                <a:solidFill>
                  <a:srgbClr val="08080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1705</a:t>
            </a:r>
            <a:r>
              <a:rPr kumimoji="0" lang="zh-CN" altLang="en-US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年纽可门</a:t>
            </a:r>
            <a:r>
              <a:rPr kumimoji="0" lang="zh-CN" altLang="en-US" kern="1200" cap="none" spc="0" normalizeH="0" baseline="0" noProof="0" dirty="0">
                <a:solidFill>
                  <a:srgbClr val="08080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先后</a:t>
            </a:r>
            <a:r>
              <a:rPr kumimoji="0" lang="zh-CN" altLang="en-US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发明了蒸汽机</a:t>
            </a:r>
            <a:r>
              <a:rPr kumimoji="0" lang="zh-CN" altLang="en-US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，当时蒸汽机的效率极低。</a:t>
            </a:r>
            <a:r>
              <a:rPr kumimoji="0" lang="en-US" altLang="zh-CN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1765</a:t>
            </a:r>
            <a:r>
              <a:rPr kumimoji="0" lang="zh-CN" altLang="en-US" kern="1200" cap="none" spc="0" normalizeH="0" baseline="0" noProof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年瓦特进行了重大改进</a:t>
            </a:r>
            <a:r>
              <a:rPr kumimoji="0" lang="zh-CN" altLang="en-US" kern="1200" cap="none" spc="0" normalizeH="0" baseline="0" noProof="0" dirty="0">
                <a:solidFill>
                  <a:srgbClr val="080808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，大大提高了效率。人们一直在为提高热机的效率而努力，从理论上研究热机效率问题，一方面指明了提高效率的方向，另一方面也推动了热学理论的发展 。</a:t>
            </a:r>
          </a:p>
        </p:txBody>
      </p:sp>
      <p:grpSp>
        <p:nvGrpSpPr>
          <p:cNvPr id="2" name="Group 25"/>
          <p:cNvGrpSpPr/>
          <p:nvPr/>
        </p:nvGrpSpPr>
        <p:grpSpPr>
          <a:xfrm>
            <a:off x="1116013" y="3894138"/>
            <a:ext cx="7056437" cy="1795462"/>
            <a:chOff x="295" y="2889"/>
            <a:chExt cx="4445" cy="1131"/>
          </a:xfrm>
        </p:grpSpPr>
        <p:sp>
          <p:nvSpPr>
            <p:cNvPr id="133123" name="Rectangle 4"/>
            <p:cNvSpPr/>
            <p:nvPr/>
          </p:nvSpPr>
          <p:spPr>
            <a:xfrm>
              <a:off x="1856" y="2889"/>
              <a:ext cx="170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各种热机的效率</a:t>
              </a:r>
            </a:p>
          </p:txBody>
        </p:sp>
        <p:grpSp>
          <p:nvGrpSpPr>
            <p:cNvPr id="133124" name="Group 24"/>
            <p:cNvGrpSpPr/>
            <p:nvPr/>
          </p:nvGrpSpPr>
          <p:grpSpPr>
            <a:xfrm>
              <a:off x="295" y="3249"/>
              <a:ext cx="4445" cy="771"/>
              <a:chOff x="295" y="3249"/>
              <a:chExt cx="4445" cy="771"/>
            </a:xfrm>
          </p:grpSpPr>
          <p:sp>
            <p:nvSpPr>
              <p:cNvPr id="133125" name="Rectangle 5"/>
              <p:cNvSpPr/>
              <p:nvPr/>
            </p:nvSpPr>
            <p:spPr>
              <a:xfrm>
                <a:off x="336" y="3321"/>
                <a:ext cx="177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液体燃料火箭</a:t>
                </a:r>
              </a:p>
            </p:txBody>
          </p:sp>
          <p:sp>
            <p:nvSpPr>
              <p:cNvPr id="133126" name="Rectangle 6"/>
              <p:cNvSpPr/>
              <p:nvPr/>
            </p:nvSpPr>
            <p:spPr>
              <a:xfrm>
                <a:off x="2880" y="3321"/>
                <a:ext cx="105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柴油机</a:t>
                </a:r>
              </a:p>
            </p:txBody>
          </p:sp>
          <p:sp>
            <p:nvSpPr>
              <p:cNvPr id="133127" name="Rectangle 7"/>
              <p:cNvSpPr/>
              <p:nvPr/>
            </p:nvSpPr>
            <p:spPr>
              <a:xfrm>
                <a:off x="340" y="3702"/>
                <a:ext cx="115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汽油机</a:t>
                </a:r>
              </a:p>
            </p:txBody>
          </p:sp>
          <p:sp>
            <p:nvSpPr>
              <p:cNvPr id="133128" name="Rectangle 8"/>
              <p:cNvSpPr/>
              <p:nvPr/>
            </p:nvSpPr>
            <p:spPr>
              <a:xfrm>
                <a:off x="2880" y="3705"/>
                <a:ext cx="1296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蒸汽机</a:t>
                </a:r>
              </a:p>
            </p:txBody>
          </p:sp>
          <p:graphicFrame>
            <p:nvGraphicFramePr>
              <p:cNvPr id="133129" name="Object 2"/>
              <p:cNvGraphicFramePr/>
              <p:nvPr/>
            </p:nvGraphicFramePr>
            <p:xfrm>
              <a:off x="1574" y="3357"/>
              <a:ext cx="736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101" r:id="rId3" imgW="901065" imgH="292100" progId="Equation.3">
                      <p:embed/>
                    </p:oleObj>
                  </mc:Choice>
                  <mc:Fallback>
                    <p:oleObj r:id="rId3" imgW="901065" imgH="292100" progId="Equation.3">
                      <p:embed/>
                      <p:pic>
                        <p:nvPicPr>
                          <p:cNvPr id="0" name="图片 338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74" y="3357"/>
                            <a:ext cx="736" cy="23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130" name="Object 3"/>
              <p:cNvGraphicFramePr/>
              <p:nvPr/>
            </p:nvGraphicFramePr>
            <p:xfrm>
              <a:off x="3814" y="3721"/>
              <a:ext cx="647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102" r:id="rId5" imgW="761365" imgH="292100" progId="Equation.3">
                      <p:embed/>
                    </p:oleObj>
                  </mc:Choice>
                  <mc:Fallback>
                    <p:oleObj r:id="rId5" imgW="761365" imgH="292100" progId="Equation.3">
                      <p:embed/>
                      <p:pic>
                        <p:nvPicPr>
                          <p:cNvPr id="0" name="图片 3398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814" y="3721"/>
                            <a:ext cx="647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131" name="Object 4"/>
              <p:cNvGraphicFramePr/>
              <p:nvPr/>
            </p:nvGraphicFramePr>
            <p:xfrm>
              <a:off x="3814" y="3357"/>
              <a:ext cx="737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103" r:id="rId7" imgW="888365" imgH="292100" progId="Equation.3">
                      <p:embed/>
                    </p:oleObj>
                  </mc:Choice>
                  <mc:Fallback>
                    <p:oleObj r:id="rId7" imgW="888365" imgH="292100" progId="Equation.3">
                      <p:embed/>
                      <p:pic>
                        <p:nvPicPr>
                          <p:cNvPr id="0" name="图片 340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814" y="3357"/>
                            <a:ext cx="737" cy="24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132" name="Object 5"/>
              <p:cNvGraphicFramePr/>
              <p:nvPr/>
            </p:nvGraphicFramePr>
            <p:xfrm>
              <a:off x="1565" y="3705"/>
              <a:ext cx="811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104" r:id="rId9" imgW="901065" imgH="292100" progId="Equation.3">
                      <p:embed/>
                    </p:oleObj>
                  </mc:Choice>
                  <mc:Fallback>
                    <p:oleObj r:id="rId9" imgW="901065" imgH="292100" progId="Equation.3">
                      <p:embed/>
                      <p:pic>
                        <p:nvPicPr>
                          <p:cNvPr id="0" name="图片 3403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565" y="3705"/>
                            <a:ext cx="811" cy="26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133" name="Line 16"/>
              <p:cNvSpPr/>
              <p:nvPr/>
            </p:nvSpPr>
            <p:spPr>
              <a:xfrm>
                <a:off x="295" y="3249"/>
                <a:ext cx="4445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34" name="Line 17"/>
              <p:cNvSpPr/>
              <p:nvPr/>
            </p:nvSpPr>
            <p:spPr>
              <a:xfrm>
                <a:off x="295" y="3657"/>
                <a:ext cx="4445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35" name="Line 18"/>
              <p:cNvSpPr/>
              <p:nvPr/>
            </p:nvSpPr>
            <p:spPr>
              <a:xfrm>
                <a:off x="295" y="4020"/>
                <a:ext cx="4445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36" name="Line 19"/>
              <p:cNvSpPr/>
              <p:nvPr/>
            </p:nvSpPr>
            <p:spPr>
              <a:xfrm>
                <a:off x="295" y="3249"/>
                <a:ext cx="0" cy="77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37" name="Line 20"/>
              <p:cNvSpPr/>
              <p:nvPr/>
            </p:nvSpPr>
            <p:spPr>
              <a:xfrm>
                <a:off x="1519" y="3249"/>
                <a:ext cx="0" cy="771"/>
              </a:xfrm>
              <a:prstGeom prst="line">
                <a:avLst/>
              </a:prstGeom>
              <a:ln w="28575" cap="rnd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38" name="Line 21"/>
              <p:cNvSpPr/>
              <p:nvPr/>
            </p:nvSpPr>
            <p:spPr>
              <a:xfrm>
                <a:off x="2608" y="3249"/>
                <a:ext cx="0" cy="77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39" name="Line 22"/>
              <p:cNvSpPr/>
              <p:nvPr/>
            </p:nvSpPr>
            <p:spPr>
              <a:xfrm>
                <a:off x="3696" y="3249"/>
                <a:ext cx="0" cy="771"/>
              </a:xfrm>
              <a:prstGeom prst="line">
                <a:avLst/>
              </a:prstGeom>
              <a:ln w="28575" cap="rnd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40" name="Line 23"/>
              <p:cNvSpPr/>
              <p:nvPr/>
            </p:nvSpPr>
            <p:spPr>
              <a:xfrm>
                <a:off x="4740" y="3249"/>
                <a:ext cx="0" cy="77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24975"/>
          <p:cNvGrpSpPr/>
          <p:nvPr/>
        </p:nvGrpSpPr>
        <p:grpSpPr>
          <a:xfrm>
            <a:off x="6815138" y="1550988"/>
            <a:ext cx="957262" cy="685800"/>
            <a:chOff x="4416" y="960"/>
            <a:chExt cx="603" cy="432"/>
          </a:xfrm>
        </p:grpSpPr>
        <p:sp>
          <p:nvSpPr>
            <p:cNvPr id="134146" name="直接连接符 424976"/>
            <p:cNvSpPr/>
            <p:nvPr/>
          </p:nvSpPr>
          <p:spPr>
            <a:xfrm flipH="1">
              <a:off x="4416" y="1104"/>
              <a:ext cx="288" cy="288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34147" name="对象 424977"/>
            <p:cNvGraphicFramePr/>
            <p:nvPr/>
          </p:nvGraphicFramePr>
          <p:xfrm>
            <a:off x="4704" y="960"/>
            <a:ext cx="31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69" r:id="rId3" imgW="200660" imgH="256540" progId="Equation.3">
                    <p:embed/>
                  </p:oleObj>
                </mc:Choice>
                <mc:Fallback>
                  <p:oleObj r:id="rId3" imgW="200660" imgH="256540" progId="Equation.3">
                    <p:embed/>
                    <p:pic>
                      <p:nvPicPr>
                        <p:cNvPr id="0" name="图片 340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04" y="960"/>
                          <a:ext cx="315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424984"/>
          <p:cNvGrpSpPr/>
          <p:nvPr/>
        </p:nvGrpSpPr>
        <p:grpSpPr>
          <a:xfrm>
            <a:off x="5824538" y="2389188"/>
            <a:ext cx="838200" cy="609600"/>
            <a:chOff x="3648" y="1584"/>
            <a:chExt cx="528" cy="384"/>
          </a:xfrm>
        </p:grpSpPr>
        <p:sp>
          <p:nvSpPr>
            <p:cNvPr id="134149" name="直接连接符 424985"/>
            <p:cNvSpPr/>
            <p:nvPr/>
          </p:nvSpPr>
          <p:spPr>
            <a:xfrm flipH="1">
              <a:off x="3984" y="1584"/>
              <a:ext cx="192" cy="192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134150" name="对象 424986"/>
            <p:cNvGraphicFramePr/>
            <p:nvPr/>
          </p:nvGraphicFramePr>
          <p:xfrm>
            <a:off x="3648" y="1584"/>
            <a:ext cx="34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0" r:id="rId5" imgW="212090" imgH="256540" progId="Equation.3">
                    <p:embed/>
                  </p:oleObj>
                </mc:Choice>
                <mc:Fallback>
                  <p:oleObj r:id="rId5" imgW="212090" imgH="256540" progId="Equation.3">
                    <p:embed/>
                    <p:pic>
                      <p:nvPicPr>
                        <p:cNvPr id="0" name="图片 3404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48" y="1584"/>
                          <a:ext cx="341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4988" name="文本框 424987"/>
          <p:cNvSpPr txBox="1"/>
          <p:nvPr/>
        </p:nvSpPr>
        <p:spPr>
          <a:xfrm>
            <a:off x="714375" y="5100638"/>
            <a:ext cx="19700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热机的效率</a:t>
            </a:r>
          </a:p>
        </p:txBody>
      </p:sp>
      <p:graphicFrame>
        <p:nvGraphicFramePr>
          <p:cNvPr id="424989" name="对象 424988"/>
          <p:cNvGraphicFramePr/>
          <p:nvPr/>
        </p:nvGraphicFramePr>
        <p:xfrm>
          <a:off x="3124200" y="4808538"/>
          <a:ext cx="122078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1" r:id="rId7" imgW="457200" imgH="431800" progId="Equation.DSMT4">
                  <p:embed/>
                </p:oleObj>
              </mc:Choice>
              <mc:Fallback>
                <p:oleObj r:id="rId7" imgW="457200" imgH="431800" progId="Equation.DSMT4">
                  <p:embed/>
                  <p:pic>
                    <p:nvPicPr>
                      <p:cNvPr id="0" name="图片 34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4200" y="4808538"/>
                        <a:ext cx="1220788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0" name="文本框 424989"/>
          <p:cNvSpPr txBox="1"/>
          <p:nvPr/>
        </p:nvSpPr>
        <p:spPr>
          <a:xfrm>
            <a:off x="715963" y="6054725"/>
            <a:ext cx="23272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大量事实证明</a:t>
            </a:r>
          </a:p>
        </p:txBody>
      </p:sp>
      <p:graphicFrame>
        <p:nvGraphicFramePr>
          <p:cNvPr id="424991" name="对象 424990"/>
          <p:cNvGraphicFramePr/>
          <p:nvPr/>
        </p:nvGraphicFramePr>
        <p:xfrm>
          <a:off x="3332163" y="6070600"/>
          <a:ext cx="26701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2" r:id="rId9" imgW="1249045" imgH="256540" progId="Equation.3">
                  <p:embed/>
                </p:oleObj>
              </mc:Choice>
              <mc:Fallback>
                <p:oleObj r:id="rId9" imgW="1249045" imgH="256540" progId="Equation.3">
                  <p:embed/>
                  <p:pic>
                    <p:nvPicPr>
                      <p:cNvPr id="0" name="图片 340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32163" y="6070600"/>
                        <a:ext cx="2670175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2" name="矩形 424991"/>
          <p:cNvSpPr/>
          <p:nvPr/>
        </p:nvSpPr>
        <p:spPr>
          <a:xfrm>
            <a:off x="-14287" y="41275"/>
            <a:ext cx="4492625" cy="584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热机循环及热机效率</a:t>
            </a:r>
          </a:p>
        </p:txBody>
      </p:sp>
      <p:grpSp>
        <p:nvGrpSpPr>
          <p:cNvPr id="4" name="组合 424997"/>
          <p:cNvGrpSpPr/>
          <p:nvPr/>
        </p:nvGrpSpPr>
        <p:grpSpPr>
          <a:xfrm>
            <a:off x="5435600" y="793750"/>
            <a:ext cx="1333500" cy="520700"/>
            <a:chOff x="3424" y="500"/>
            <a:chExt cx="840" cy="328"/>
          </a:xfrm>
        </p:grpSpPr>
        <p:graphicFrame>
          <p:nvGraphicFramePr>
            <p:cNvPr id="134157" name="对象 424993"/>
            <p:cNvGraphicFramePr/>
            <p:nvPr/>
          </p:nvGraphicFramePr>
          <p:xfrm>
            <a:off x="3424" y="537"/>
            <a:ext cx="54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73" r:id="rId11" imgW="380365" imgH="203200" progId="Equation.3">
                    <p:embed/>
                  </p:oleObj>
                </mc:Choice>
                <mc:Fallback>
                  <p:oleObj r:id="rId11" imgW="380365" imgH="203200" progId="Equation.3">
                    <p:embed/>
                    <p:pic>
                      <p:nvPicPr>
                        <p:cNvPr id="0" name="图片 340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24" y="537"/>
                          <a:ext cx="544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4995" name="文本框 424994"/>
            <p:cNvSpPr txBox="1"/>
            <p:nvPr/>
          </p:nvSpPr>
          <p:spPr>
            <a:xfrm>
              <a:off x="3923" y="500"/>
              <a:ext cx="341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图</a:t>
              </a:r>
            </a:p>
          </p:txBody>
        </p:sp>
      </p:grpSp>
      <p:grpSp>
        <p:nvGrpSpPr>
          <p:cNvPr id="5" name="组合 425011"/>
          <p:cNvGrpSpPr/>
          <p:nvPr/>
        </p:nvGrpSpPr>
        <p:grpSpPr>
          <a:xfrm>
            <a:off x="4745038" y="1371600"/>
            <a:ext cx="3830637" cy="2114550"/>
            <a:chOff x="3016" y="1065"/>
            <a:chExt cx="2413" cy="1332"/>
          </a:xfrm>
        </p:grpSpPr>
        <p:grpSp>
          <p:nvGrpSpPr>
            <p:cNvPr id="134160" name="组合 424970"/>
            <p:cNvGrpSpPr/>
            <p:nvPr/>
          </p:nvGrpSpPr>
          <p:grpSpPr>
            <a:xfrm>
              <a:off x="3016" y="1065"/>
              <a:ext cx="2413" cy="1332"/>
              <a:chOff x="3014" y="876"/>
              <a:chExt cx="2413" cy="1332"/>
            </a:xfrm>
          </p:grpSpPr>
          <p:sp>
            <p:nvSpPr>
              <p:cNvPr id="134161" name="直接连接符 424971"/>
              <p:cNvSpPr/>
              <p:nvPr/>
            </p:nvSpPr>
            <p:spPr>
              <a:xfrm>
                <a:off x="3408" y="2208"/>
                <a:ext cx="201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34162" name="直接连接符 424972"/>
              <p:cNvSpPr/>
              <p:nvPr/>
            </p:nvSpPr>
            <p:spPr>
              <a:xfrm flipV="1">
                <a:off x="3408" y="960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24974" name="文本框 424973"/>
              <p:cNvSpPr txBox="1"/>
              <p:nvPr/>
            </p:nvSpPr>
            <p:spPr>
              <a:xfrm>
                <a:off x="5126" y="1836"/>
                <a:ext cx="301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</a:p>
            </p:txBody>
          </p:sp>
          <p:sp>
            <p:nvSpPr>
              <p:cNvPr id="424975" name="文本框 424974"/>
              <p:cNvSpPr txBox="1"/>
              <p:nvPr/>
            </p:nvSpPr>
            <p:spPr>
              <a:xfrm>
                <a:off x="3014" y="876"/>
                <a:ext cx="2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defTabSz="914400"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P</a:t>
                </a:r>
              </a:p>
            </p:txBody>
          </p:sp>
        </p:grpSp>
        <p:grpSp>
          <p:nvGrpSpPr>
            <p:cNvPr id="134165" name="组合 424978"/>
            <p:cNvGrpSpPr/>
            <p:nvPr/>
          </p:nvGrpSpPr>
          <p:grpSpPr>
            <a:xfrm>
              <a:off x="3744" y="1178"/>
              <a:ext cx="1055" cy="864"/>
              <a:chOff x="3840" y="960"/>
              <a:chExt cx="1055" cy="864"/>
            </a:xfrm>
          </p:grpSpPr>
          <p:sp>
            <p:nvSpPr>
              <p:cNvPr id="134166" name="任意多边形 424979"/>
              <p:cNvSpPr/>
              <p:nvPr/>
            </p:nvSpPr>
            <p:spPr>
              <a:xfrm rot="-186718">
                <a:off x="3887" y="960"/>
                <a:ext cx="1008" cy="8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1"/>
                  </a:cxn>
                  <a:cxn ang="0">
                    <a:pos x="0" y="0"/>
                  </a:cxn>
                  <a:cxn ang="0">
                    <a:pos x="2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7" name="椭圆 424980"/>
              <p:cNvSpPr/>
              <p:nvPr/>
            </p:nvSpPr>
            <p:spPr>
              <a:xfrm>
                <a:off x="3840" y="96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4168" name="组合 424998"/>
            <p:cNvGrpSpPr/>
            <p:nvPr/>
          </p:nvGrpSpPr>
          <p:grpSpPr>
            <a:xfrm>
              <a:off x="3744" y="1178"/>
              <a:ext cx="1056" cy="816"/>
              <a:chOff x="3744" y="1178"/>
              <a:chExt cx="1056" cy="816"/>
            </a:xfrm>
          </p:grpSpPr>
          <p:grpSp>
            <p:nvGrpSpPr>
              <p:cNvPr id="134169" name="组合 424981"/>
              <p:cNvGrpSpPr/>
              <p:nvPr/>
            </p:nvGrpSpPr>
            <p:grpSpPr>
              <a:xfrm>
                <a:off x="3744" y="1178"/>
                <a:ext cx="1056" cy="816"/>
                <a:chOff x="3792" y="1056"/>
                <a:chExt cx="1056" cy="816"/>
              </a:xfrm>
            </p:grpSpPr>
            <p:sp>
              <p:nvSpPr>
                <p:cNvPr id="134170" name="任意多边形 424982"/>
                <p:cNvSpPr/>
                <p:nvPr/>
              </p:nvSpPr>
              <p:spPr>
                <a:xfrm rot="-124216" flipH="1" flipV="1">
                  <a:off x="3792" y="1056"/>
                  <a:ext cx="1056" cy="8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1"/>
                    </a:cxn>
                    <a:cxn ang="0">
                      <a:pos x="0" y="0"/>
                    </a:cxn>
                    <a:cxn ang="0">
                      <a:pos x="3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 fill="none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</a:path>
                    <a:path w="21600" h="21600" stroke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71" name="直接连接符 424983"/>
                <p:cNvSpPr/>
                <p:nvPr/>
              </p:nvSpPr>
              <p:spPr>
                <a:xfrm flipV="1">
                  <a:off x="3792" y="1104"/>
                  <a:ext cx="0" cy="48"/>
                </a:xfrm>
                <a:prstGeom prst="line">
                  <a:avLst/>
                </a:prstGeom>
                <a:ln w="38100" cap="flat" cmpd="sng">
                  <a:solidFill>
                    <a:srgbClr val="99FF3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4172" name="直接连接符 424995"/>
              <p:cNvSpPr/>
              <p:nvPr/>
            </p:nvSpPr>
            <p:spPr>
              <a:xfrm>
                <a:off x="4059" y="1217"/>
                <a:ext cx="227" cy="82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0" name="组合 424999"/>
          <p:cNvGrpSpPr/>
          <p:nvPr/>
        </p:nvGrpSpPr>
        <p:grpSpPr>
          <a:xfrm>
            <a:off x="684213" y="765175"/>
            <a:ext cx="2627312" cy="3714750"/>
            <a:chOff x="3652" y="909"/>
            <a:chExt cx="1655" cy="2340"/>
          </a:xfrm>
        </p:grpSpPr>
        <p:sp>
          <p:nvSpPr>
            <p:cNvPr id="134174" name="任意多边形 425000"/>
            <p:cNvSpPr/>
            <p:nvPr/>
          </p:nvSpPr>
          <p:spPr>
            <a:xfrm>
              <a:off x="4704" y="1968"/>
              <a:ext cx="506" cy="3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blipFill rotWithShape="0">
              <a:blip r:embed="rId13"/>
            </a:blip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002" name="矩形 425001"/>
            <p:cNvSpPr/>
            <p:nvPr/>
          </p:nvSpPr>
          <p:spPr>
            <a:xfrm>
              <a:off x="4910" y="1622"/>
              <a:ext cx="397" cy="3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1" u="none" strike="noStrike" kern="1200" cap="none" spc="0" normalizeH="0" baseline="0" noProof="1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   </a:t>
              </a:r>
              <a:r>
                <a:rPr kumimoji="0" lang="en-US" altLang="zh-CN" sz="2800" b="0" i="1" u="none" strike="noStrike" kern="1200" cap="none" spc="0" normalizeH="0" baseline="0" noProof="1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A</a:t>
              </a:r>
              <a:endParaRPr kumimoji="0" lang="en-US" altLang="zh-CN" sz="2800" b="0" i="0" u="none" strike="noStrike" kern="1200" cap="none" spc="0" normalizeH="0" baseline="-25000" noProof="1">
                <a:ln>
                  <a:noFill/>
                </a:ln>
                <a:solidFill>
                  <a:srgbClr val="00808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  <p:sp>
          <p:nvSpPr>
            <p:cNvPr id="134176" name="任意多边形 425002"/>
            <p:cNvSpPr/>
            <p:nvPr/>
          </p:nvSpPr>
          <p:spPr>
            <a:xfrm rot="5400000" flipV="1">
              <a:off x="4194" y="1361"/>
              <a:ext cx="566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blipFill rotWithShape="0">
              <a:blip r:embed="rId14"/>
            </a:blip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004" name="矩形 425003"/>
            <p:cNvSpPr/>
            <p:nvPr/>
          </p:nvSpPr>
          <p:spPr>
            <a:xfrm>
              <a:off x="4093" y="2378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1" u="none" strike="noStrike" kern="120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1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2</a:t>
              </a:r>
              <a:endPara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  <p:sp>
          <p:nvSpPr>
            <p:cNvPr id="425005" name="矩形 425004"/>
            <p:cNvSpPr/>
            <p:nvPr/>
          </p:nvSpPr>
          <p:spPr>
            <a:xfrm>
              <a:off x="4093" y="1403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1" u="none" strike="noStrike" kern="1200" cap="none" spc="0" normalizeH="0" baseline="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Q</a:t>
              </a:r>
              <a:r>
                <a:rPr kumimoji="0" lang="en-US" altLang="zh-CN" sz="2400" b="0" i="0" u="none" strike="noStrike" kern="1200" cap="none" spc="0" normalizeH="0" baseline="-25000" noProof="1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1</a:t>
              </a:r>
              <a:endPara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endParaRPr>
            </a:p>
          </p:txBody>
        </p:sp>
        <p:sp>
          <p:nvSpPr>
            <p:cNvPr id="134179" name="任意多边形 425005"/>
            <p:cNvSpPr/>
            <p:nvPr/>
          </p:nvSpPr>
          <p:spPr>
            <a:xfrm rot="5400000" flipV="1">
              <a:off x="4226" y="2373"/>
              <a:ext cx="538" cy="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blipFill rotWithShape="0">
              <a:blip r:embed="rId15"/>
            </a:blip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007" name="椭圆 425006"/>
            <p:cNvSpPr/>
            <p:nvPr/>
          </p:nvSpPr>
          <p:spPr>
            <a:xfrm>
              <a:off x="4169" y="1785"/>
              <a:ext cx="617" cy="621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9933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1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工作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1">
                  <a:ln>
                    <a:noFill/>
                  </a:ln>
                  <a:solidFill>
                    <a:srgbClr val="9933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rPr>
                <a:t>物质</a:t>
              </a:r>
            </a:p>
          </p:txBody>
        </p:sp>
        <p:sp>
          <p:nvSpPr>
            <p:cNvPr id="425008" name="矩形 425007"/>
            <p:cNvSpPr/>
            <p:nvPr/>
          </p:nvSpPr>
          <p:spPr>
            <a:xfrm>
              <a:off x="3773" y="909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1" u="none" strike="noStrike" kern="1200" cap="none" spc="0" normalizeH="0" baseline="0" noProof="1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2400" b="0" i="0" u="none" strike="noStrike" kern="1200" cap="none" spc="0" normalizeH="0" baseline="-25000" noProof="1">
                  <a:ln>
                    <a:noFill/>
                  </a:ln>
                  <a:solidFill>
                    <a:srgbClr val="990033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425009" name="矩形 425008"/>
            <p:cNvSpPr/>
            <p:nvPr/>
          </p:nvSpPr>
          <p:spPr>
            <a:xfrm>
              <a:off x="3778" y="2763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1" u="none" strike="noStrike" kern="1200" cap="none" spc="0" normalizeH="0" baseline="0" noProof="1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2400" b="0" i="0" u="none" strike="noStrike" kern="1200" cap="none" spc="0" normalizeH="0" baseline="-25000" noProof="1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25010" name="文本框 425009"/>
            <p:cNvSpPr txBox="1"/>
            <p:nvPr/>
          </p:nvSpPr>
          <p:spPr>
            <a:xfrm>
              <a:off x="3652" y="2568"/>
              <a:ext cx="2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sp>
        <p:nvSpPr>
          <p:cNvPr id="425011" name="文本框 425010"/>
          <p:cNvSpPr txBox="1"/>
          <p:nvPr/>
        </p:nvSpPr>
        <p:spPr>
          <a:xfrm>
            <a:off x="241300" y="1928813"/>
            <a:ext cx="611188" cy="1144588"/>
          </a:xfrm>
          <a:prstGeom prst="rect">
            <a:avLst/>
          </a:prstGeom>
          <a:noFill/>
          <a:ln w="25400">
            <a:noFill/>
          </a:ln>
        </p:spPr>
        <p:txBody>
          <a:bodyPr vert="eaVert" wrap="none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能流图</a:t>
            </a:r>
          </a:p>
        </p:txBody>
      </p:sp>
      <p:graphicFrame>
        <p:nvGraphicFramePr>
          <p:cNvPr id="126988" name="对象 419899"/>
          <p:cNvGraphicFramePr>
            <a:graphicFrameLocks noChangeAspect="1"/>
          </p:cNvGraphicFramePr>
          <p:nvPr/>
        </p:nvGraphicFramePr>
        <p:xfrm>
          <a:off x="6540500" y="2066925"/>
          <a:ext cx="3587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4" r:id="rId16" imgW="165100" imgH="165100" progId="Equation.DSMT4">
                  <p:embed/>
                </p:oleObj>
              </mc:Choice>
              <mc:Fallback>
                <p:oleObj r:id="rId16" imgW="165100" imgH="165100" progId="Equation.DSMT4">
                  <p:embed/>
                  <p:pic>
                    <p:nvPicPr>
                      <p:cNvPr id="0" name="图片 340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40500" y="2066925"/>
                        <a:ext cx="358775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4484688" y="4738688"/>
          <a:ext cx="3352800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5" r:id="rId18" imgW="1257300" imgH="469900" progId="Equation.DSMT4">
                  <p:embed/>
                </p:oleObj>
              </mc:Choice>
              <mc:Fallback>
                <p:oleObj r:id="rId18" imgW="1257300" imgH="469900" progId="Equation.DSMT4">
                  <p:embed/>
                  <p:pic>
                    <p:nvPicPr>
                      <p:cNvPr id="0" name="图片 341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84688" y="4738688"/>
                        <a:ext cx="3352800" cy="1249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43"/>
          <p:cNvSpPr txBox="1"/>
          <p:nvPr/>
        </p:nvSpPr>
        <p:spPr>
          <a:xfrm>
            <a:off x="5062538" y="3624263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热机循环（正循环）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7829550" y="3575050"/>
            <a:ext cx="8016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&gt;0</a:t>
            </a:r>
          </a:p>
        </p:txBody>
      </p:sp>
      <p:graphicFrame>
        <p:nvGraphicFramePr>
          <p:cNvPr id="46" name="对象 45"/>
          <p:cNvGraphicFramePr/>
          <p:nvPr/>
        </p:nvGraphicFramePr>
        <p:xfrm>
          <a:off x="5154613" y="4113213"/>
          <a:ext cx="1511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6" r:id="rId20" imgW="634365" imgH="203200" progId="Equation.3">
                  <p:embed/>
                </p:oleObj>
              </mc:Choice>
              <mc:Fallback>
                <p:oleObj r:id="rId20" imgW="634365" imgH="203200" progId="Equation.3">
                  <p:embed/>
                  <p:pic>
                    <p:nvPicPr>
                      <p:cNvPr id="0" name="图片 340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54613" y="4113213"/>
                        <a:ext cx="15113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/>
          <p:cNvSpPr/>
          <p:nvPr/>
        </p:nvSpPr>
        <p:spPr>
          <a:xfrm>
            <a:off x="6731000" y="4113213"/>
            <a:ext cx="1098550" cy="457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净吸热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2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4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42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88" grpId="0"/>
      <p:bldP spid="424990" grpId="0"/>
      <p:bldP spid="425011" grpId="0"/>
      <p:bldP spid="44" grpId="0"/>
      <p:bldP spid="45" grpId="0"/>
      <p:bldP spid="4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矩形 425985"/>
          <p:cNvSpPr/>
          <p:nvPr/>
        </p:nvSpPr>
        <p:spPr>
          <a:xfrm>
            <a:off x="128588" y="182563"/>
            <a:ext cx="4492625" cy="584200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四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制冷循环与制冷系数</a:t>
            </a:r>
          </a:p>
        </p:txBody>
      </p:sp>
      <p:graphicFrame>
        <p:nvGraphicFramePr>
          <p:cNvPr id="426005" name="对象 426004"/>
          <p:cNvGraphicFramePr/>
          <p:nvPr/>
        </p:nvGraphicFramePr>
        <p:xfrm>
          <a:off x="2854325" y="4927600"/>
          <a:ext cx="272573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1" r:id="rId3" imgW="1516380" imgH="579755" progId="Equation.DSMT4">
                  <p:embed/>
                </p:oleObj>
              </mc:Choice>
              <mc:Fallback>
                <p:oleObj r:id="rId3" imgW="1516380" imgH="579755" progId="Equation.DSMT4">
                  <p:embed/>
                  <p:pic>
                    <p:nvPicPr>
                      <p:cNvPr id="0" name="图片 340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54325" y="4927600"/>
                        <a:ext cx="2725738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26007"/>
          <p:cNvGrpSpPr/>
          <p:nvPr/>
        </p:nvGrpSpPr>
        <p:grpSpPr>
          <a:xfrm>
            <a:off x="5929313" y="2555875"/>
            <a:ext cx="644525" cy="685800"/>
            <a:chOff x="4826" y="3408"/>
            <a:chExt cx="406" cy="432"/>
          </a:xfrm>
        </p:grpSpPr>
        <p:graphicFrame>
          <p:nvGraphicFramePr>
            <p:cNvPr id="135172" name="对象 426008"/>
            <p:cNvGraphicFramePr/>
            <p:nvPr/>
          </p:nvGraphicFramePr>
          <p:xfrm>
            <a:off x="4826" y="3456"/>
            <a:ext cx="36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2" r:id="rId5" imgW="222885" imgH="256540" progId="Equation.3">
                    <p:embed/>
                  </p:oleObj>
                </mc:Choice>
                <mc:Fallback>
                  <p:oleObj r:id="rId5" imgW="222885" imgH="256540" progId="Equation.3">
                    <p:embed/>
                    <p:pic>
                      <p:nvPicPr>
                        <p:cNvPr id="0" name="图片 341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26" y="3456"/>
                          <a:ext cx="360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173" name="直接连接符 426009"/>
            <p:cNvSpPr/>
            <p:nvPr/>
          </p:nvSpPr>
          <p:spPr>
            <a:xfrm flipV="1">
              <a:off x="5088" y="3408"/>
              <a:ext cx="144" cy="144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组合 426010"/>
          <p:cNvGrpSpPr/>
          <p:nvPr/>
        </p:nvGrpSpPr>
        <p:grpSpPr>
          <a:xfrm>
            <a:off x="6878638" y="1412875"/>
            <a:ext cx="828675" cy="838200"/>
            <a:chOff x="4416" y="1056"/>
            <a:chExt cx="522" cy="528"/>
          </a:xfrm>
        </p:grpSpPr>
        <p:graphicFrame>
          <p:nvGraphicFramePr>
            <p:cNvPr id="135175" name="对象 426011"/>
            <p:cNvGraphicFramePr/>
            <p:nvPr/>
          </p:nvGraphicFramePr>
          <p:xfrm>
            <a:off x="4619" y="1056"/>
            <a:ext cx="31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3" r:id="rId7" imgW="200660" imgH="256540" progId="Equation.3">
                    <p:embed/>
                  </p:oleObj>
                </mc:Choice>
                <mc:Fallback>
                  <p:oleObj r:id="rId7" imgW="200660" imgH="256540" progId="Equation.3">
                    <p:embed/>
                    <p:pic>
                      <p:nvPicPr>
                        <p:cNvPr id="0" name="图片 3410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19" y="1056"/>
                          <a:ext cx="31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176" name="直接连接符 426012"/>
            <p:cNvSpPr/>
            <p:nvPr/>
          </p:nvSpPr>
          <p:spPr>
            <a:xfrm flipV="1">
              <a:off x="4416" y="1392"/>
              <a:ext cx="192" cy="192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26014" name="文本框 426013"/>
          <p:cNvSpPr txBox="1"/>
          <p:nvPr/>
        </p:nvSpPr>
        <p:spPr>
          <a:xfrm>
            <a:off x="827088" y="5157788"/>
            <a:ext cx="16129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制冷系数</a:t>
            </a:r>
          </a:p>
        </p:txBody>
      </p:sp>
      <p:grpSp>
        <p:nvGrpSpPr>
          <p:cNvPr id="4" name="组合 426018"/>
          <p:cNvGrpSpPr/>
          <p:nvPr/>
        </p:nvGrpSpPr>
        <p:grpSpPr>
          <a:xfrm>
            <a:off x="1187450" y="908050"/>
            <a:ext cx="2743200" cy="3714750"/>
            <a:chOff x="3515" y="981"/>
            <a:chExt cx="1728" cy="2340"/>
          </a:xfrm>
        </p:grpSpPr>
        <p:sp>
          <p:nvSpPr>
            <p:cNvPr id="135179" name="任意多边形 426019"/>
            <p:cNvSpPr/>
            <p:nvPr/>
          </p:nvSpPr>
          <p:spPr>
            <a:xfrm>
              <a:off x="3735" y="2024"/>
              <a:ext cx="506" cy="3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blipFill rotWithShape="0">
              <a:blip r:embed="rId9"/>
            </a:blip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80" name="矩形 426020"/>
            <p:cNvSpPr/>
            <p:nvPr/>
          </p:nvSpPr>
          <p:spPr>
            <a:xfrm>
              <a:off x="3515" y="1729"/>
              <a:ext cx="445" cy="3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00808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</a:t>
              </a:r>
              <a:r>
                <a:rPr lang="en-US" altLang="zh-CN" sz="2800" i="1" dirty="0">
                  <a:solidFill>
                    <a:srgbClr val="00808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A</a:t>
              </a:r>
              <a:endParaRPr lang="en-US" altLang="zh-CN" sz="2800" baseline="-25000" dirty="0">
                <a:solidFill>
                  <a:srgbClr val="00808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35181" name="任意多边形 426021"/>
            <p:cNvSpPr/>
            <p:nvPr/>
          </p:nvSpPr>
          <p:spPr>
            <a:xfrm rot="-5400000">
              <a:off x="4238" y="1614"/>
              <a:ext cx="566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blipFill rotWithShape="0">
              <a:blip r:embed="rId10"/>
            </a:blip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82" name="矩形 426022"/>
            <p:cNvSpPr/>
            <p:nvPr/>
          </p:nvSpPr>
          <p:spPr>
            <a:xfrm>
              <a:off x="4137" y="2450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Q</a:t>
              </a:r>
              <a:r>
                <a:rPr lang="en-US" altLang="zh-CN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2</a:t>
              </a:r>
              <a:endPara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35183" name="矩形 426023"/>
            <p:cNvSpPr/>
            <p:nvPr/>
          </p:nvSpPr>
          <p:spPr>
            <a:xfrm>
              <a:off x="4137" y="1475"/>
              <a:ext cx="319" cy="3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Q</a:t>
              </a:r>
              <a:r>
                <a:rPr lang="en-US" altLang="zh-CN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1</a:t>
              </a:r>
              <a:endPara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>
          <p:nvSpPr>
            <p:cNvPr id="135184" name="任意多边形 426024"/>
            <p:cNvSpPr/>
            <p:nvPr/>
          </p:nvSpPr>
          <p:spPr>
            <a:xfrm rot="-5400000">
              <a:off x="4270" y="2629"/>
              <a:ext cx="538" cy="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blipFill rotWithShape="0">
              <a:blip r:embed="rId11"/>
            </a:blip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85" name="椭圆 426025"/>
            <p:cNvSpPr/>
            <p:nvPr/>
          </p:nvSpPr>
          <p:spPr>
            <a:xfrm>
              <a:off x="4213" y="1857"/>
              <a:ext cx="617" cy="621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9933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zh-CN" altLang="en-US" dirty="0">
                  <a:solidFill>
                    <a:srgbClr val="9933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工作</a:t>
              </a:r>
            </a:p>
            <a:p>
              <a:pPr algn="ctr"/>
              <a:r>
                <a:rPr lang="zh-CN" altLang="en-US" dirty="0">
                  <a:solidFill>
                    <a:srgbClr val="993366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物质</a:t>
              </a:r>
            </a:p>
          </p:txBody>
        </p:sp>
        <p:sp>
          <p:nvSpPr>
            <p:cNvPr id="135186" name="矩形 426026"/>
            <p:cNvSpPr/>
            <p:nvPr/>
          </p:nvSpPr>
          <p:spPr>
            <a:xfrm>
              <a:off x="3817" y="981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FF505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i="1" dirty="0">
                  <a:solidFill>
                    <a:srgbClr val="99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aseline="-25000" dirty="0">
                  <a:solidFill>
                    <a:srgbClr val="99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35187" name="矩形 426027"/>
            <p:cNvSpPr/>
            <p:nvPr/>
          </p:nvSpPr>
          <p:spPr>
            <a:xfrm>
              <a:off x="3822" y="2835"/>
              <a:ext cx="1421" cy="486"/>
            </a:xfrm>
            <a:prstGeom prst="rect">
              <a:avLst/>
            </a:prstGeom>
            <a:gradFill rotWithShape="0">
              <a:gsLst>
                <a:gs pos="0">
                  <a:srgbClr val="3399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i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baseline="-250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35188" name="文本框 426028"/>
            <p:cNvSpPr txBox="1"/>
            <p:nvPr/>
          </p:nvSpPr>
          <p:spPr>
            <a:xfrm>
              <a:off x="3696" y="2640"/>
              <a:ext cx="2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426030" name="文本框 426029"/>
          <p:cNvSpPr txBox="1"/>
          <p:nvPr/>
        </p:nvSpPr>
        <p:spPr>
          <a:xfrm>
            <a:off x="576263" y="2212975"/>
            <a:ext cx="611187" cy="1144588"/>
          </a:xfrm>
          <a:prstGeom prst="rect">
            <a:avLst/>
          </a:prstGeom>
          <a:noFill/>
          <a:ln w="25400">
            <a:noFill/>
          </a:ln>
        </p:spPr>
        <p:txBody>
          <a:bodyPr vert="eaVert" wrap="none" anchor="t" anchorCtr="0">
            <a:spAutoFit/>
          </a:bodyPr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能流图</a:t>
            </a:r>
          </a:p>
        </p:txBody>
      </p:sp>
      <p:grpSp>
        <p:nvGrpSpPr>
          <p:cNvPr id="5" name="组合 426033"/>
          <p:cNvGrpSpPr/>
          <p:nvPr/>
        </p:nvGrpSpPr>
        <p:grpSpPr>
          <a:xfrm>
            <a:off x="4652963" y="765175"/>
            <a:ext cx="3830637" cy="2889250"/>
            <a:chOff x="2931" y="482"/>
            <a:chExt cx="2413" cy="1820"/>
          </a:xfrm>
        </p:grpSpPr>
        <p:grpSp>
          <p:nvGrpSpPr>
            <p:cNvPr id="135191" name="组合 425993"/>
            <p:cNvGrpSpPr/>
            <p:nvPr/>
          </p:nvGrpSpPr>
          <p:grpSpPr>
            <a:xfrm>
              <a:off x="2931" y="970"/>
              <a:ext cx="2413" cy="1332"/>
              <a:chOff x="3014" y="876"/>
              <a:chExt cx="2413" cy="1332"/>
            </a:xfrm>
          </p:grpSpPr>
          <p:sp>
            <p:nvSpPr>
              <p:cNvPr id="135192" name="直接连接符 425994"/>
              <p:cNvSpPr/>
              <p:nvPr/>
            </p:nvSpPr>
            <p:spPr>
              <a:xfrm>
                <a:off x="3408" y="2208"/>
                <a:ext cx="201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35193" name="直接连接符 425995"/>
              <p:cNvSpPr/>
              <p:nvPr/>
            </p:nvSpPr>
            <p:spPr>
              <a:xfrm flipV="1">
                <a:off x="3408" y="960"/>
                <a:ext cx="0" cy="12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35194" name="文本框 425996"/>
              <p:cNvSpPr txBox="1"/>
              <p:nvPr/>
            </p:nvSpPr>
            <p:spPr>
              <a:xfrm>
                <a:off x="5126" y="1836"/>
                <a:ext cx="301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32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35195" name="文本框 425997"/>
              <p:cNvSpPr txBox="1"/>
              <p:nvPr/>
            </p:nvSpPr>
            <p:spPr>
              <a:xfrm>
                <a:off x="3014" y="876"/>
                <a:ext cx="2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32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</p:grpSp>
        <p:grpSp>
          <p:nvGrpSpPr>
            <p:cNvPr id="135196" name="组合 426001"/>
            <p:cNvGrpSpPr/>
            <p:nvPr/>
          </p:nvGrpSpPr>
          <p:grpSpPr>
            <a:xfrm>
              <a:off x="3696" y="1150"/>
              <a:ext cx="1056" cy="816"/>
              <a:chOff x="3792" y="1056"/>
              <a:chExt cx="1056" cy="816"/>
            </a:xfrm>
          </p:grpSpPr>
          <p:sp>
            <p:nvSpPr>
              <p:cNvPr id="135197" name="任意多边形 426002"/>
              <p:cNvSpPr/>
              <p:nvPr/>
            </p:nvSpPr>
            <p:spPr>
              <a:xfrm rot="-124216" flipH="1" flipV="1">
                <a:off x="3792" y="1056"/>
                <a:ext cx="1056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1"/>
                  </a:cxn>
                  <a:cxn ang="0">
                    <a:pos x="0" y="0"/>
                  </a:cxn>
                  <a:cxn ang="0">
                    <a:pos x="3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98" name="直接连接符 426003"/>
              <p:cNvSpPr/>
              <p:nvPr/>
            </p:nvSpPr>
            <p:spPr>
              <a:xfrm flipV="1">
                <a:off x="3792" y="1104"/>
                <a:ext cx="0" cy="48"/>
              </a:xfrm>
              <a:prstGeom prst="line">
                <a:avLst/>
              </a:prstGeom>
              <a:ln w="38100" cap="flat" cmpd="sng">
                <a:solidFill>
                  <a:srgbClr val="99FF3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35199" name="组合 426017"/>
            <p:cNvGrpSpPr/>
            <p:nvPr/>
          </p:nvGrpSpPr>
          <p:grpSpPr>
            <a:xfrm>
              <a:off x="3661" y="1102"/>
              <a:ext cx="1055" cy="864"/>
              <a:chOff x="3661" y="1102"/>
              <a:chExt cx="1055" cy="864"/>
            </a:xfrm>
          </p:grpSpPr>
          <p:grpSp>
            <p:nvGrpSpPr>
              <p:cNvPr id="135200" name="组合 425998"/>
              <p:cNvGrpSpPr/>
              <p:nvPr/>
            </p:nvGrpSpPr>
            <p:grpSpPr>
              <a:xfrm>
                <a:off x="3661" y="1102"/>
                <a:ext cx="1055" cy="864"/>
                <a:chOff x="3840" y="960"/>
                <a:chExt cx="1055" cy="864"/>
              </a:xfrm>
            </p:grpSpPr>
            <p:sp>
              <p:nvSpPr>
                <p:cNvPr id="135201" name="任意多边形 425999"/>
                <p:cNvSpPr/>
                <p:nvPr/>
              </p:nvSpPr>
              <p:spPr>
                <a:xfrm rot="-186718">
                  <a:off x="3887" y="960"/>
                  <a:ext cx="1008" cy="86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 fill="none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</a:path>
                    <a:path w="21600" h="21600" stroke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202" name="椭圆 426000"/>
                <p:cNvSpPr/>
                <p:nvPr/>
              </p:nvSpPr>
              <p:spPr>
                <a:xfrm>
                  <a:off x="3840" y="960"/>
                  <a:ext cx="48" cy="48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rgbClr val="99FF3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5203" name="直接连接符 426016"/>
              <p:cNvSpPr/>
              <p:nvPr/>
            </p:nvSpPr>
            <p:spPr>
              <a:xfrm flipH="1" flipV="1">
                <a:off x="4003" y="1143"/>
                <a:ext cx="228" cy="82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135204" name="组合 426030"/>
            <p:cNvGrpSpPr/>
            <p:nvPr/>
          </p:nvGrpSpPr>
          <p:grpSpPr>
            <a:xfrm>
              <a:off x="3606" y="482"/>
              <a:ext cx="840" cy="328"/>
              <a:chOff x="3424" y="500"/>
              <a:chExt cx="840" cy="328"/>
            </a:xfrm>
          </p:grpSpPr>
          <p:graphicFrame>
            <p:nvGraphicFramePr>
              <p:cNvPr id="135205" name="对象 426031"/>
              <p:cNvGraphicFramePr/>
              <p:nvPr/>
            </p:nvGraphicFramePr>
            <p:xfrm>
              <a:off x="3424" y="537"/>
              <a:ext cx="544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174" r:id="rId12" imgW="380365" imgH="203200" progId="Equation.3">
                      <p:embed/>
                    </p:oleObj>
                  </mc:Choice>
                  <mc:Fallback>
                    <p:oleObj r:id="rId12" imgW="380365" imgH="203200" progId="Equation.3">
                      <p:embed/>
                      <p:pic>
                        <p:nvPicPr>
                          <p:cNvPr id="0" name="图片 3413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3424" y="537"/>
                            <a:ext cx="544" cy="29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6033" name="文本框 426032"/>
              <p:cNvSpPr txBox="1"/>
              <p:nvPr/>
            </p:nvSpPr>
            <p:spPr>
              <a:xfrm>
                <a:off x="3923" y="500"/>
                <a:ext cx="341" cy="32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图</a:t>
                </a:r>
              </a:p>
            </p:txBody>
          </p:sp>
        </p:grpSp>
      </p:grpSp>
      <p:graphicFrame>
        <p:nvGraphicFramePr>
          <p:cNvPr id="132102" name="对象 419919"/>
          <p:cNvGraphicFramePr/>
          <p:nvPr/>
        </p:nvGraphicFramePr>
        <p:xfrm>
          <a:off x="6516688" y="2200275"/>
          <a:ext cx="4143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5" r:id="rId14" imgW="241300" imgH="241300" progId="Equation.DSMT4">
                  <p:embed/>
                </p:oleObj>
              </mc:Choice>
              <mc:Fallback>
                <p:oleObj r:id="rId14" imgW="241300" imgH="241300" progId="Equation.DSMT4">
                  <p:embed/>
                  <p:pic>
                    <p:nvPicPr>
                      <p:cNvPr id="0" name="图片 341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16688" y="2200275"/>
                        <a:ext cx="414337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40"/>
          <p:cNvSpPr txBox="1"/>
          <p:nvPr/>
        </p:nvSpPr>
        <p:spPr>
          <a:xfrm>
            <a:off x="5040313" y="3851275"/>
            <a:ext cx="410527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制冷循环（逆循环）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788275" y="3835400"/>
            <a:ext cx="801688" cy="51911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A&lt;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graphicFrame>
        <p:nvGraphicFramePr>
          <p:cNvPr id="43" name="对象 42"/>
          <p:cNvGraphicFramePr/>
          <p:nvPr/>
        </p:nvGraphicFramePr>
        <p:xfrm>
          <a:off x="4979988" y="4327525"/>
          <a:ext cx="14684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6" r:id="rId16" imgW="647065" imgH="203200" progId="Equation.DSMT4">
                  <p:embed/>
                </p:oleObj>
              </mc:Choice>
              <mc:Fallback>
                <p:oleObj r:id="rId16" imgW="647065" imgH="203200" progId="Equation.DSMT4">
                  <p:embed/>
                  <p:pic>
                    <p:nvPicPr>
                      <p:cNvPr id="0" name="图片 341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79988" y="4327525"/>
                        <a:ext cx="1468437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/>
          <p:cNvSpPr/>
          <p:nvPr/>
        </p:nvSpPr>
        <p:spPr>
          <a:xfrm>
            <a:off x="6683375" y="4291013"/>
            <a:ext cx="1111250" cy="461962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净放热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2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4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014" grpId="0"/>
      <p:bldP spid="426030" grpId="0"/>
      <p:bldP spid="41" grpId="0"/>
      <p:bldP spid="42" grpId="0"/>
      <p:bldP spid="4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68" name="文本框 460867"/>
          <p:cNvSpPr txBox="1"/>
          <p:nvPr/>
        </p:nvSpPr>
        <p:spPr>
          <a:xfrm>
            <a:off x="1979613" y="44450"/>
            <a:ext cx="4321175" cy="58896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什么样的循环</a:t>
            </a:r>
            <a:r>
              <a:rPr kumimoji="0" lang="en-US" altLang="zh-CN" sz="32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</a:t>
            </a:r>
            <a:r>
              <a:rPr kumimoji="0" lang="zh-CN" altLang="en-US" sz="32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Symbol" panose="05050102010706020507" pitchFamily="18" charset="2"/>
              </a:rPr>
              <a:t>最高</a:t>
            </a:r>
            <a:r>
              <a:rPr kumimoji="0" lang="en-US" altLang="zh-CN" sz="32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?</a:t>
            </a:r>
          </a:p>
        </p:txBody>
      </p:sp>
      <p:sp>
        <p:nvSpPr>
          <p:cNvPr id="460869" name="矩形 460868"/>
          <p:cNvSpPr/>
          <p:nvPr/>
        </p:nvSpPr>
        <p:spPr>
          <a:xfrm>
            <a:off x="457200" y="981075"/>
            <a:ext cx="2339975" cy="523875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五、卡诺循环</a:t>
            </a:r>
          </a:p>
        </p:txBody>
      </p:sp>
      <p:pic>
        <p:nvPicPr>
          <p:cNvPr id="460919" name="图片 4609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275" y="836613"/>
            <a:ext cx="4946650" cy="5746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920" name="图片 460919" descr="WLKAN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0" y="1844675"/>
            <a:ext cx="1652588" cy="2362200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460921" name="文本框 460920"/>
          <p:cNvSpPr txBox="1"/>
          <p:nvPr/>
        </p:nvSpPr>
        <p:spPr>
          <a:xfrm>
            <a:off x="611188" y="4652963"/>
            <a:ext cx="3527425" cy="1171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</a:t>
            </a:r>
          </a:p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Carnot 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法国人</a:t>
            </a:r>
          </a:p>
          <a:p>
            <a:pPr marR="0" defTabSz="914400">
              <a:lnSpc>
                <a:spcPct val="6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（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1796 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 </a:t>
            </a:r>
            <a:r>
              <a:rPr kumimoji="0" lang="en-US" altLang="zh-CN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1832</a:t>
            </a: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6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6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6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6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9" grpId="0"/>
      <p:bldP spid="4609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6" name="文本框 489475"/>
          <p:cNvSpPr txBox="1"/>
          <p:nvPr/>
        </p:nvSpPr>
        <p:spPr>
          <a:xfrm>
            <a:off x="468313" y="333375"/>
            <a:ext cx="8229600" cy="955675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</a:t>
            </a:r>
            <a:r>
              <a:rPr kumimoji="0" lang="zh-CN" altLang="en-US" sz="2800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循环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两个准静态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等温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过程和两个准静态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绝热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过程组成 </a:t>
            </a:r>
            <a:r>
              <a:rPr kumimoji="0" lang="en-US" altLang="zh-CN" sz="2800" b="1" kern="1200" cap="none" spc="0" normalizeH="0" baseline="0" noProof="1">
                <a:solidFill>
                  <a:srgbClr val="3333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</a:p>
        </p:txBody>
      </p:sp>
      <p:grpSp>
        <p:nvGrpSpPr>
          <p:cNvPr id="2" name="组合 489476"/>
          <p:cNvGrpSpPr/>
          <p:nvPr/>
        </p:nvGrpSpPr>
        <p:grpSpPr>
          <a:xfrm>
            <a:off x="755650" y="2708275"/>
            <a:ext cx="2286000" cy="3048000"/>
            <a:chOff x="3216" y="2112"/>
            <a:chExt cx="1440" cy="1920"/>
          </a:xfrm>
        </p:grpSpPr>
        <p:grpSp>
          <p:nvGrpSpPr>
            <p:cNvPr id="137219" name="组合 489477"/>
            <p:cNvGrpSpPr/>
            <p:nvPr/>
          </p:nvGrpSpPr>
          <p:grpSpPr>
            <a:xfrm>
              <a:off x="3216" y="3692"/>
              <a:ext cx="1392" cy="340"/>
              <a:chOff x="3264" y="3168"/>
              <a:chExt cx="1392" cy="340"/>
            </a:xfrm>
          </p:grpSpPr>
          <p:sp>
            <p:nvSpPr>
              <p:cNvPr id="137220" name="矩形 489478"/>
              <p:cNvSpPr/>
              <p:nvPr/>
            </p:nvSpPr>
            <p:spPr>
              <a:xfrm>
                <a:off x="3264" y="3168"/>
                <a:ext cx="1392" cy="336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9480" name="文本框 489479"/>
              <p:cNvSpPr txBox="1"/>
              <p:nvPr/>
            </p:nvSpPr>
            <p:spPr>
              <a:xfrm>
                <a:off x="3312" y="3168"/>
                <a:ext cx="124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低温热源</a:t>
                </a:r>
              </a:p>
            </p:txBody>
          </p:sp>
          <p:graphicFrame>
            <p:nvGraphicFramePr>
              <p:cNvPr id="137222" name="对象 489480"/>
              <p:cNvGraphicFramePr/>
              <p:nvPr/>
            </p:nvGraphicFramePr>
            <p:xfrm>
              <a:off x="4320" y="3168"/>
              <a:ext cx="306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16" r:id="rId3" imgW="254000" imgH="317500" progId="Equation.3">
                      <p:embed/>
                    </p:oleObj>
                  </mc:Choice>
                  <mc:Fallback>
                    <p:oleObj r:id="rId3" imgW="254000" imgH="317500" progId="Equation.3">
                      <p:embed/>
                      <p:pic>
                        <p:nvPicPr>
                          <p:cNvPr id="0" name="图片 341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320" y="3168"/>
                            <a:ext cx="306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7223" name="组合 489481"/>
            <p:cNvGrpSpPr/>
            <p:nvPr/>
          </p:nvGrpSpPr>
          <p:grpSpPr>
            <a:xfrm>
              <a:off x="3216" y="2112"/>
              <a:ext cx="1440" cy="340"/>
              <a:chOff x="3216" y="1632"/>
              <a:chExt cx="1440" cy="340"/>
            </a:xfrm>
          </p:grpSpPr>
          <p:sp>
            <p:nvSpPr>
              <p:cNvPr id="137224" name="矩形 489482"/>
              <p:cNvSpPr/>
              <p:nvPr/>
            </p:nvSpPr>
            <p:spPr>
              <a:xfrm>
                <a:off x="3216" y="1632"/>
                <a:ext cx="1440" cy="336"/>
              </a:xfrm>
              <a:prstGeom prst="rect">
                <a:avLst/>
              </a:prstGeom>
              <a:solidFill>
                <a:srgbClr val="FDE3F0"/>
              </a:solidFill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9484" name="文本框 489483"/>
              <p:cNvSpPr txBox="1"/>
              <p:nvPr/>
            </p:nvSpPr>
            <p:spPr>
              <a:xfrm>
                <a:off x="3264" y="1638"/>
                <a:ext cx="124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高温热源</a:t>
                </a:r>
                <a:endParaRPr kumimoji="0" lang="zh-CN" altLang="en-US" sz="2800" b="1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endParaRPr>
              </a:p>
            </p:txBody>
          </p:sp>
          <p:graphicFrame>
            <p:nvGraphicFramePr>
              <p:cNvPr id="137226" name="对象 489484"/>
              <p:cNvGraphicFramePr/>
              <p:nvPr/>
            </p:nvGraphicFramePr>
            <p:xfrm>
              <a:off x="4320" y="1632"/>
              <a:ext cx="26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317" r:id="rId5" imgW="215900" imgH="316865" progId="Equation.3">
                      <p:embed/>
                    </p:oleObj>
                  </mc:Choice>
                  <mc:Fallback>
                    <p:oleObj r:id="rId5" imgW="215900" imgH="316865" progId="Equation.3">
                      <p:embed/>
                      <p:pic>
                        <p:nvPicPr>
                          <p:cNvPr id="0" name="图片 3418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320" y="1632"/>
                            <a:ext cx="26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7227" name="组合 489485"/>
            <p:cNvGrpSpPr/>
            <p:nvPr/>
          </p:nvGrpSpPr>
          <p:grpSpPr>
            <a:xfrm>
              <a:off x="3264" y="2832"/>
              <a:ext cx="1344" cy="528"/>
              <a:chOff x="672" y="2352"/>
              <a:chExt cx="1344" cy="528"/>
            </a:xfrm>
          </p:grpSpPr>
          <p:sp>
            <p:nvSpPr>
              <p:cNvPr id="137228" name="椭圆 489486"/>
              <p:cNvSpPr/>
              <p:nvPr/>
            </p:nvSpPr>
            <p:spPr>
              <a:xfrm>
                <a:off x="672" y="2352"/>
                <a:ext cx="1296" cy="528"/>
              </a:xfrm>
              <a:prstGeom prst="ellipse">
                <a:avLst/>
              </a:prstGeom>
              <a:solidFill>
                <a:srgbClr val="FFFFCC"/>
              </a:solidFill>
              <a:ln w="19050" cap="flat" cmpd="sng">
                <a:solidFill>
                  <a:srgbClr val="CC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9488" name="文本框 489487"/>
              <p:cNvSpPr txBox="1"/>
              <p:nvPr/>
            </p:nvSpPr>
            <p:spPr>
              <a:xfrm>
                <a:off x="816" y="2468"/>
                <a:ext cx="120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卡诺热机</a:t>
                </a:r>
              </a:p>
            </p:txBody>
          </p:sp>
        </p:grpSp>
      </p:grpSp>
      <p:grpSp>
        <p:nvGrpSpPr>
          <p:cNvPr id="6" name="组合 489488"/>
          <p:cNvGrpSpPr/>
          <p:nvPr/>
        </p:nvGrpSpPr>
        <p:grpSpPr>
          <a:xfrm>
            <a:off x="1670050" y="3165475"/>
            <a:ext cx="990600" cy="838200"/>
            <a:chOff x="4080" y="1152"/>
            <a:chExt cx="516" cy="528"/>
          </a:xfrm>
        </p:grpSpPr>
        <p:sp>
          <p:nvSpPr>
            <p:cNvPr id="137231" name="下箭头 489489"/>
            <p:cNvSpPr/>
            <p:nvPr/>
          </p:nvSpPr>
          <p:spPr>
            <a:xfrm>
              <a:off x="4080" y="1152"/>
              <a:ext cx="144" cy="528"/>
            </a:xfrm>
            <a:prstGeom prst="downArrow">
              <a:avLst>
                <a:gd name="adj1" fmla="val 40000"/>
                <a:gd name="adj2" fmla="val 146700"/>
              </a:avLst>
            </a:prstGeom>
            <a:solidFill>
              <a:srgbClr val="FFCCCC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7232" name="对象 489490"/>
            <p:cNvGraphicFramePr/>
            <p:nvPr/>
          </p:nvGraphicFramePr>
          <p:xfrm>
            <a:off x="4224" y="1152"/>
            <a:ext cx="37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8" r:id="rId7" imgW="139700" imgH="165100" progId="Equation.3">
                    <p:embed/>
                  </p:oleObj>
                </mc:Choice>
                <mc:Fallback>
                  <p:oleObj r:id="rId7" imgW="139700" imgH="165100" progId="Equation.3">
                    <p:embed/>
                    <p:pic>
                      <p:nvPicPr>
                        <p:cNvPr id="0" name="图片 34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24" y="1152"/>
                          <a:ext cx="372" cy="4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489491"/>
          <p:cNvGrpSpPr/>
          <p:nvPr/>
        </p:nvGrpSpPr>
        <p:grpSpPr>
          <a:xfrm>
            <a:off x="984250" y="4537075"/>
            <a:ext cx="990600" cy="762000"/>
            <a:chOff x="3792" y="1968"/>
            <a:chExt cx="480" cy="480"/>
          </a:xfrm>
        </p:grpSpPr>
        <p:sp>
          <p:nvSpPr>
            <p:cNvPr id="137234" name="下箭头 489492"/>
            <p:cNvSpPr/>
            <p:nvPr/>
          </p:nvSpPr>
          <p:spPr>
            <a:xfrm>
              <a:off x="4128" y="1968"/>
              <a:ext cx="144" cy="480"/>
            </a:xfrm>
            <a:prstGeom prst="downArrow">
              <a:avLst>
                <a:gd name="adj1" fmla="val 35416"/>
                <a:gd name="adj2" fmla="val 138688"/>
              </a:avLst>
            </a:prstGeom>
            <a:solidFill>
              <a:srgbClr val="CCECFF"/>
            </a:soli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7235" name="对象 489493"/>
            <p:cNvGraphicFramePr/>
            <p:nvPr/>
          </p:nvGraphicFramePr>
          <p:xfrm>
            <a:off x="3792" y="1968"/>
            <a:ext cx="40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9" r:id="rId9" imgW="152400" imgH="165100" progId="Equation.3">
                    <p:embed/>
                  </p:oleObj>
                </mc:Choice>
                <mc:Fallback>
                  <p:oleObj r:id="rId9" imgW="152400" imgH="165100" progId="Equation.3">
                    <p:embed/>
                    <p:pic>
                      <p:nvPicPr>
                        <p:cNvPr id="0" name="图片 342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92" y="1968"/>
                          <a:ext cx="401" cy="4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489494"/>
          <p:cNvGrpSpPr/>
          <p:nvPr/>
        </p:nvGrpSpPr>
        <p:grpSpPr>
          <a:xfrm>
            <a:off x="2584450" y="4076700"/>
            <a:ext cx="1195388" cy="431800"/>
            <a:chOff x="1632" y="2585"/>
            <a:chExt cx="809" cy="179"/>
          </a:xfrm>
        </p:grpSpPr>
        <p:sp>
          <p:nvSpPr>
            <p:cNvPr id="137237" name="右箭头 489495"/>
            <p:cNvSpPr/>
            <p:nvPr/>
          </p:nvSpPr>
          <p:spPr>
            <a:xfrm>
              <a:off x="1632" y="2634"/>
              <a:ext cx="528" cy="102"/>
            </a:xfrm>
            <a:prstGeom prst="rightArrow">
              <a:avLst>
                <a:gd name="adj1" fmla="val 58666"/>
                <a:gd name="adj2" fmla="val 188893"/>
              </a:avLst>
            </a:prstGeom>
            <a:solidFill>
              <a:srgbClr val="FFCC66"/>
            </a:solidFill>
            <a:ln w="19050" cap="flat" cmpd="sng">
              <a:solidFill>
                <a:srgbClr val="CC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7238" name="对象 489496"/>
            <p:cNvGraphicFramePr/>
            <p:nvPr/>
          </p:nvGraphicFramePr>
          <p:xfrm>
            <a:off x="2262" y="2585"/>
            <a:ext cx="179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0" r:id="rId11" imgW="165100" imgH="165100" progId="Equation.DSMT4">
                    <p:embed/>
                  </p:oleObj>
                </mc:Choice>
                <mc:Fallback>
                  <p:oleObj r:id="rId11" imgW="165100" imgH="165100" progId="Equation.DSMT4">
                    <p:embed/>
                    <p:pic>
                      <p:nvPicPr>
                        <p:cNvPr id="0" name="图片 342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62" y="2585"/>
                          <a:ext cx="179" cy="179"/>
                        </a:xfrm>
                        <a:prstGeom prst="rect">
                          <a:avLst/>
                        </a:prstGeom>
                        <a:solidFill>
                          <a:srgbClr val="CCFF99"/>
                        </a:solidFill>
                        <a:ln w="9525" cap="flat" cmpd="sng">
                          <a:solidFill>
                            <a:srgbClr val="CC99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489497"/>
          <p:cNvGrpSpPr/>
          <p:nvPr/>
        </p:nvGrpSpPr>
        <p:grpSpPr>
          <a:xfrm>
            <a:off x="4572000" y="2492375"/>
            <a:ext cx="3889375" cy="3600450"/>
            <a:chOff x="672" y="864"/>
            <a:chExt cx="2496" cy="2357"/>
          </a:xfrm>
        </p:grpSpPr>
        <p:sp>
          <p:nvSpPr>
            <p:cNvPr id="137240" name="矩形 489498"/>
            <p:cNvSpPr/>
            <p:nvPr/>
          </p:nvSpPr>
          <p:spPr>
            <a:xfrm>
              <a:off x="672" y="864"/>
              <a:ext cx="2496" cy="235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241" name="直接连接符 489499"/>
            <p:cNvSpPr/>
            <p:nvPr/>
          </p:nvSpPr>
          <p:spPr>
            <a:xfrm>
              <a:off x="960" y="2928"/>
              <a:ext cx="216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7242" name="直接连接符 489500"/>
            <p:cNvSpPr/>
            <p:nvPr/>
          </p:nvSpPr>
          <p:spPr>
            <a:xfrm flipV="1">
              <a:off x="960" y="962"/>
              <a:ext cx="1" cy="195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7243" name="对象 489501"/>
            <p:cNvGraphicFramePr/>
            <p:nvPr/>
          </p:nvGraphicFramePr>
          <p:xfrm>
            <a:off x="2929" y="2688"/>
            <a:ext cx="19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1" r:id="rId13" imgW="215900" imgH="241300" progId="Equation.3">
                    <p:embed/>
                  </p:oleObj>
                </mc:Choice>
                <mc:Fallback>
                  <p:oleObj r:id="rId13" imgW="215900" imgH="241300" progId="Equation.3">
                    <p:embed/>
                    <p:pic>
                      <p:nvPicPr>
                        <p:cNvPr id="0" name="图片 342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29" y="2688"/>
                          <a:ext cx="191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44" name="对象 489502"/>
            <p:cNvGraphicFramePr/>
            <p:nvPr/>
          </p:nvGraphicFramePr>
          <p:xfrm>
            <a:off x="856" y="2922"/>
            <a:ext cx="168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2" r:id="rId15" imgW="165100" imgH="190500" progId="Equation.3">
                    <p:embed/>
                  </p:oleObj>
                </mc:Choice>
                <mc:Fallback>
                  <p:oleObj r:id="rId15" imgW="165100" imgH="190500" progId="Equation.3">
                    <p:embed/>
                    <p:pic>
                      <p:nvPicPr>
                        <p:cNvPr id="0" name="图片 3423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56" y="2922"/>
                          <a:ext cx="168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45" name="对象 489503"/>
            <p:cNvGraphicFramePr/>
            <p:nvPr/>
          </p:nvGraphicFramePr>
          <p:xfrm>
            <a:off x="697" y="960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3" r:id="rId17" imgW="203200" imgH="241300" progId="Equation.3">
                    <p:embed/>
                  </p:oleObj>
                </mc:Choice>
                <mc:Fallback>
                  <p:oleObj r:id="rId17" imgW="203200" imgH="241300" progId="Equation.3">
                    <p:embed/>
                    <p:pic>
                      <p:nvPicPr>
                        <p:cNvPr id="0" name="图片 341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97" y="960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46" name="对象 489504"/>
            <p:cNvGraphicFramePr/>
            <p:nvPr/>
          </p:nvGraphicFramePr>
          <p:xfrm>
            <a:off x="2160" y="2544"/>
            <a:ext cx="237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4" r:id="rId19" imgW="254000" imgH="317500" progId="Equation.3">
                    <p:embed/>
                  </p:oleObj>
                </mc:Choice>
                <mc:Fallback>
                  <p:oleObj r:id="rId19" imgW="254000" imgH="317500" progId="Equation.3">
                    <p:embed/>
                    <p:pic>
                      <p:nvPicPr>
                        <p:cNvPr id="0" name="图片 342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60" y="2544"/>
                          <a:ext cx="237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47" name="任意多边形 489505"/>
            <p:cNvSpPr/>
            <p:nvPr/>
          </p:nvSpPr>
          <p:spPr>
            <a:xfrm>
              <a:off x="1248" y="1362"/>
              <a:ext cx="1465" cy="1219"/>
            </a:xfrm>
            <a:custGeom>
              <a:avLst/>
              <a:gdLst/>
              <a:ahLst/>
              <a:cxnLst>
                <a:cxn ang="0">
                  <a:pos x="23" y="54"/>
                </a:cxn>
                <a:cxn ang="0">
                  <a:pos x="53" y="246"/>
                </a:cxn>
                <a:cxn ang="0">
                  <a:pos x="106" y="408"/>
                </a:cxn>
                <a:cxn ang="0">
                  <a:pos x="177" y="624"/>
                </a:cxn>
                <a:cxn ang="0">
                  <a:pos x="248" y="763"/>
                </a:cxn>
                <a:cxn ang="0">
                  <a:pos x="349" y="901"/>
                </a:cxn>
                <a:cxn ang="0">
                  <a:pos x="496" y="967"/>
                </a:cxn>
                <a:cxn ang="0">
                  <a:pos x="692" y="1056"/>
                </a:cxn>
                <a:cxn ang="0">
                  <a:pos x="992" y="1135"/>
                </a:cxn>
                <a:cxn ang="0">
                  <a:pos x="1227" y="1182"/>
                </a:cxn>
                <a:cxn ang="0">
                  <a:pos x="1465" y="1219"/>
                </a:cxn>
                <a:cxn ang="0">
                  <a:pos x="1352" y="1117"/>
                </a:cxn>
                <a:cxn ang="0">
                  <a:pos x="1222" y="1027"/>
                </a:cxn>
                <a:cxn ang="0">
                  <a:pos x="1181" y="979"/>
                </a:cxn>
                <a:cxn ang="0">
                  <a:pos x="1122" y="906"/>
                </a:cxn>
                <a:cxn ang="0">
                  <a:pos x="1093" y="859"/>
                </a:cxn>
                <a:cxn ang="0">
                  <a:pos x="1021" y="715"/>
                </a:cxn>
                <a:cxn ang="0">
                  <a:pos x="933" y="661"/>
                </a:cxn>
                <a:cxn ang="0">
                  <a:pos x="1004" y="679"/>
                </a:cxn>
                <a:cxn ang="0">
                  <a:pos x="864" y="633"/>
                </a:cxn>
                <a:cxn ang="0">
                  <a:pos x="791" y="607"/>
                </a:cxn>
                <a:cxn ang="0">
                  <a:pos x="697" y="570"/>
                </a:cxn>
                <a:cxn ang="0">
                  <a:pos x="591" y="504"/>
                </a:cxn>
                <a:cxn ang="0">
                  <a:pos x="383" y="367"/>
                </a:cxn>
                <a:cxn ang="0">
                  <a:pos x="213" y="240"/>
                </a:cxn>
                <a:cxn ang="0">
                  <a:pos x="124" y="162"/>
                </a:cxn>
                <a:cxn ang="0">
                  <a:pos x="0" y="0"/>
                </a:cxn>
              </a:cxnLst>
              <a:rect l="0" t="0" r="0" b="0"/>
              <a:pathLst>
                <a:path w="1465" h="1219">
                  <a:moveTo>
                    <a:pt x="23" y="54"/>
                  </a:moveTo>
                  <a:lnTo>
                    <a:pt x="53" y="246"/>
                  </a:lnTo>
                  <a:lnTo>
                    <a:pt x="106" y="408"/>
                  </a:lnTo>
                  <a:lnTo>
                    <a:pt x="177" y="624"/>
                  </a:lnTo>
                  <a:lnTo>
                    <a:pt x="248" y="763"/>
                  </a:lnTo>
                  <a:lnTo>
                    <a:pt x="349" y="901"/>
                  </a:lnTo>
                  <a:lnTo>
                    <a:pt x="496" y="967"/>
                  </a:lnTo>
                  <a:lnTo>
                    <a:pt x="692" y="1056"/>
                  </a:lnTo>
                  <a:lnTo>
                    <a:pt x="992" y="1135"/>
                  </a:lnTo>
                  <a:lnTo>
                    <a:pt x="1227" y="1182"/>
                  </a:lnTo>
                  <a:lnTo>
                    <a:pt x="1465" y="1219"/>
                  </a:lnTo>
                  <a:lnTo>
                    <a:pt x="1352" y="1117"/>
                  </a:lnTo>
                  <a:lnTo>
                    <a:pt x="1222" y="1027"/>
                  </a:lnTo>
                  <a:lnTo>
                    <a:pt x="1181" y="979"/>
                  </a:lnTo>
                  <a:lnTo>
                    <a:pt x="1122" y="906"/>
                  </a:lnTo>
                  <a:lnTo>
                    <a:pt x="1093" y="859"/>
                  </a:lnTo>
                  <a:lnTo>
                    <a:pt x="1021" y="715"/>
                  </a:lnTo>
                  <a:lnTo>
                    <a:pt x="933" y="661"/>
                  </a:lnTo>
                  <a:lnTo>
                    <a:pt x="1004" y="679"/>
                  </a:lnTo>
                  <a:lnTo>
                    <a:pt x="864" y="633"/>
                  </a:lnTo>
                  <a:lnTo>
                    <a:pt x="791" y="607"/>
                  </a:lnTo>
                  <a:lnTo>
                    <a:pt x="697" y="570"/>
                  </a:lnTo>
                  <a:lnTo>
                    <a:pt x="591" y="504"/>
                  </a:lnTo>
                  <a:lnTo>
                    <a:pt x="383" y="367"/>
                  </a:lnTo>
                  <a:lnTo>
                    <a:pt x="213" y="240"/>
                  </a:lnTo>
                  <a:lnTo>
                    <a:pt x="124" y="162"/>
                  </a:lnTo>
                  <a:lnTo>
                    <a:pt x="0" y="0"/>
                  </a:lnTo>
                </a:path>
              </a:pathLst>
            </a:custGeom>
            <a:blipFill rotWithShape="0">
              <a:blip r:embed="rId21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507" name="文本框 489506"/>
            <p:cNvSpPr txBox="1"/>
            <p:nvPr/>
          </p:nvSpPr>
          <p:spPr>
            <a:xfrm flipH="1">
              <a:off x="1704" y="1951"/>
              <a:ext cx="372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b="1" i="1" kern="1200" cap="none" spc="0" normalizeH="0" baseline="0" noProof="1"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3200" b="1" i="1" kern="1200" cap="none" spc="0" normalizeH="0" baseline="0" noProof="1">
                <a:solidFill>
                  <a:srgbClr val="A5002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249" name="直接连接符 489507"/>
            <p:cNvSpPr/>
            <p:nvPr/>
          </p:nvSpPr>
          <p:spPr>
            <a:xfrm flipH="1" flipV="1">
              <a:off x="1909" y="2413"/>
              <a:ext cx="124" cy="42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7250" name="直接连接符 489508"/>
            <p:cNvSpPr/>
            <p:nvPr/>
          </p:nvSpPr>
          <p:spPr>
            <a:xfrm>
              <a:off x="1730" y="1781"/>
              <a:ext cx="138" cy="85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7251" name="直接连接符 489509"/>
            <p:cNvSpPr/>
            <p:nvPr/>
          </p:nvSpPr>
          <p:spPr>
            <a:xfrm flipH="1" flipV="1">
              <a:off x="1331" y="1740"/>
              <a:ext cx="41" cy="126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7252" name="对象 489510"/>
            <p:cNvGraphicFramePr/>
            <p:nvPr/>
          </p:nvGraphicFramePr>
          <p:xfrm>
            <a:off x="1920" y="1632"/>
            <a:ext cx="20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5" r:id="rId22" imgW="215900" imgH="316865" progId="Equation.3">
                    <p:embed/>
                  </p:oleObj>
                </mc:Choice>
                <mc:Fallback>
                  <p:oleObj r:id="rId22" imgW="215900" imgH="316865" progId="Equation.3">
                    <p:embed/>
                    <p:pic>
                      <p:nvPicPr>
                        <p:cNvPr id="0" name="图片 3421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920" y="1632"/>
                          <a:ext cx="202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53" name="直接连接符 489511"/>
            <p:cNvSpPr/>
            <p:nvPr/>
          </p:nvSpPr>
          <p:spPr>
            <a:xfrm>
              <a:off x="2400" y="2256"/>
              <a:ext cx="88" cy="115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7254" name="任意多边形 489512"/>
            <p:cNvSpPr/>
            <p:nvPr/>
          </p:nvSpPr>
          <p:spPr>
            <a:xfrm>
              <a:off x="1248" y="1362"/>
              <a:ext cx="1044" cy="6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" y="246"/>
                </a:cxn>
                <a:cxn ang="0">
                  <a:pos x="501" y="435"/>
                </a:cxn>
                <a:cxn ang="0">
                  <a:pos x="734" y="565"/>
                </a:cxn>
                <a:cxn ang="0">
                  <a:pos x="1001" y="665"/>
                </a:cxn>
                <a:cxn ang="0">
                  <a:pos x="995" y="658"/>
                </a:cxn>
              </a:cxnLst>
              <a:rect l="0" t="0" r="0" b="0"/>
              <a:pathLst>
                <a:path w="1044" h="680">
                  <a:moveTo>
                    <a:pt x="0" y="0"/>
                  </a:moveTo>
                  <a:cubicBezTo>
                    <a:pt x="40" y="41"/>
                    <a:pt x="159" y="174"/>
                    <a:pt x="242" y="246"/>
                  </a:cubicBezTo>
                  <a:cubicBezTo>
                    <a:pt x="325" y="318"/>
                    <a:pt x="419" y="382"/>
                    <a:pt x="501" y="435"/>
                  </a:cubicBezTo>
                  <a:cubicBezTo>
                    <a:pt x="583" y="488"/>
                    <a:pt x="651" y="527"/>
                    <a:pt x="734" y="565"/>
                  </a:cubicBezTo>
                  <a:cubicBezTo>
                    <a:pt x="817" y="603"/>
                    <a:pt x="958" y="650"/>
                    <a:pt x="1001" y="665"/>
                  </a:cubicBezTo>
                  <a:cubicBezTo>
                    <a:pt x="1044" y="680"/>
                    <a:pt x="996" y="658"/>
                    <a:pt x="995" y="658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55" name="任意多边形 489513"/>
            <p:cNvSpPr/>
            <p:nvPr/>
          </p:nvSpPr>
          <p:spPr>
            <a:xfrm>
              <a:off x="1561" y="2251"/>
              <a:ext cx="1175" cy="3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1" y="87"/>
                </a:cxn>
                <a:cxn ang="0">
                  <a:pos x="473" y="204"/>
                </a:cxn>
                <a:cxn ang="0">
                  <a:pos x="866" y="293"/>
                </a:cxn>
                <a:cxn ang="0">
                  <a:pos x="1175" y="330"/>
                </a:cxn>
              </a:cxnLst>
              <a:rect l="0" t="0" r="0" b="0"/>
              <a:pathLst>
                <a:path w="1175" h="330">
                  <a:moveTo>
                    <a:pt x="0" y="0"/>
                  </a:moveTo>
                  <a:cubicBezTo>
                    <a:pt x="30" y="14"/>
                    <a:pt x="102" y="53"/>
                    <a:pt x="181" y="87"/>
                  </a:cubicBezTo>
                  <a:cubicBezTo>
                    <a:pt x="260" y="121"/>
                    <a:pt x="359" y="170"/>
                    <a:pt x="473" y="204"/>
                  </a:cubicBezTo>
                  <a:cubicBezTo>
                    <a:pt x="587" y="238"/>
                    <a:pt x="749" y="272"/>
                    <a:pt x="866" y="293"/>
                  </a:cubicBezTo>
                  <a:cubicBezTo>
                    <a:pt x="983" y="314"/>
                    <a:pt x="1111" y="322"/>
                    <a:pt x="1175" y="330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56" name="任意多边形 489514"/>
            <p:cNvSpPr/>
            <p:nvPr/>
          </p:nvSpPr>
          <p:spPr>
            <a:xfrm>
              <a:off x="1248" y="1362"/>
              <a:ext cx="325" cy="8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297"/>
                </a:cxn>
                <a:cxn ang="0">
                  <a:pos x="184" y="654"/>
                </a:cxn>
                <a:cxn ang="0">
                  <a:pos x="325" y="895"/>
                </a:cxn>
              </a:cxnLst>
              <a:rect l="0" t="0" r="0" b="0"/>
              <a:pathLst>
                <a:path w="325" h="895">
                  <a:moveTo>
                    <a:pt x="0" y="0"/>
                  </a:moveTo>
                  <a:cubicBezTo>
                    <a:pt x="10" y="49"/>
                    <a:pt x="31" y="188"/>
                    <a:pt x="62" y="297"/>
                  </a:cubicBezTo>
                  <a:cubicBezTo>
                    <a:pt x="93" y="406"/>
                    <a:pt x="140" y="554"/>
                    <a:pt x="184" y="654"/>
                  </a:cubicBezTo>
                  <a:cubicBezTo>
                    <a:pt x="228" y="754"/>
                    <a:pt x="296" y="845"/>
                    <a:pt x="325" y="895"/>
                  </a:cubicBez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57" name="任意多边形 489515"/>
            <p:cNvSpPr/>
            <p:nvPr/>
          </p:nvSpPr>
          <p:spPr>
            <a:xfrm>
              <a:off x="2252" y="2029"/>
              <a:ext cx="484" cy="5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0" y="309"/>
                </a:cxn>
                <a:cxn ang="0">
                  <a:pos x="484" y="552"/>
                </a:cxn>
              </a:cxnLst>
              <a:rect l="0" t="0" r="0" b="0"/>
              <a:pathLst>
                <a:path w="484" h="552">
                  <a:moveTo>
                    <a:pt x="0" y="0"/>
                  </a:moveTo>
                  <a:cubicBezTo>
                    <a:pt x="35" y="51"/>
                    <a:pt x="129" y="217"/>
                    <a:pt x="210" y="309"/>
                  </a:cubicBezTo>
                  <a:cubicBezTo>
                    <a:pt x="291" y="401"/>
                    <a:pt x="427" y="501"/>
                    <a:pt x="484" y="552"/>
                  </a:cubicBez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517" name="文本框 489516"/>
            <p:cNvSpPr txBox="1"/>
            <p:nvPr/>
          </p:nvSpPr>
          <p:spPr>
            <a:xfrm>
              <a:off x="1152" y="1104"/>
              <a:ext cx="28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89518" name="文本框 489517"/>
            <p:cNvSpPr txBox="1"/>
            <p:nvPr/>
          </p:nvSpPr>
          <p:spPr>
            <a:xfrm>
              <a:off x="2256" y="1776"/>
              <a:ext cx="336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89519" name="文本框 489518"/>
            <p:cNvSpPr txBox="1"/>
            <p:nvPr/>
          </p:nvSpPr>
          <p:spPr>
            <a:xfrm>
              <a:off x="2736" y="2352"/>
              <a:ext cx="28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89520" name="文本框 489519"/>
            <p:cNvSpPr txBox="1"/>
            <p:nvPr/>
          </p:nvSpPr>
          <p:spPr>
            <a:xfrm>
              <a:off x="1344" y="2208"/>
              <a:ext cx="331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37262" name="直接连接符 489520"/>
            <p:cNvSpPr/>
            <p:nvPr/>
          </p:nvSpPr>
          <p:spPr>
            <a:xfrm flipH="1">
              <a:off x="960" y="1392"/>
              <a:ext cx="28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7263" name="直接连接符 489521"/>
            <p:cNvSpPr/>
            <p:nvPr/>
          </p:nvSpPr>
          <p:spPr>
            <a:xfrm flipH="1">
              <a:off x="1248" y="1392"/>
              <a:ext cx="0" cy="153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7264" name="直接连接符 489522"/>
            <p:cNvSpPr/>
            <p:nvPr/>
          </p:nvSpPr>
          <p:spPr>
            <a:xfrm flipH="1">
              <a:off x="2256" y="2016"/>
              <a:ext cx="0" cy="91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7265" name="直接连接符 489523"/>
            <p:cNvSpPr/>
            <p:nvPr/>
          </p:nvSpPr>
          <p:spPr>
            <a:xfrm flipH="1">
              <a:off x="1584" y="2256"/>
              <a:ext cx="0" cy="67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7266" name="直接连接符 489524"/>
            <p:cNvSpPr/>
            <p:nvPr/>
          </p:nvSpPr>
          <p:spPr>
            <a:xfrm flipH="1">
              <a:off x="2736" y="2592"/>
              <a:ext cx="0" cy="33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37267" name="对象 489525"/>
            <p:cNvGraphicFramePr/>
            <p:nvPr/>
          </p:nvGraphicFramePr>
          <p:xfrm>
            <a:off x="1146" y="2916"/>
            <a:ext cx="203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6" r:id="rId24" imgW="228600" imgH="317500" progId="Equation.3">
                    <p:embed/>
                  </p:oleObj>
                </mc:Choice>
                <mc:Fallback>
                  <p:oleObj r:id="rId24" imgW="228600" imgH="317500" progId="Equation.3">
                    <p:embed/>
                    <p:pic>
                      <p:nvPicPr>
                        <p:cNvPr id="0" name="图片 3429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146" y="2916"/>
                          <a:ext cx="203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68" name="对象 489526"/>
            <p:cNvGraphicFramePr/>
            <p:nvPr/>
          </p:nvGraphicFramePr>
          <p:xfrm>
            <a:off x="1477" y="2928"/>
            <a:ext cx="22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7" r:id="rId26" imgW="254000" imgH="317500" progId="Equation.3">
                    <p:embed/>
                  </p:oleObj>
                </mc:Choice>
                <mc:Fallback>
                  <p:oleObj r:id="rId26" imgW="254000" imgH="317500" progId="Equation.3">
                    <p:embed/>
                    <p:pic>
                      <p:nvPicPr>
                        <p:cNvPr id="0" name="图片 3428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477" y="2928"/>
                          <a:ext cx="226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69" name="对象 489527"/>
            <p:cNvGraphicFramePr/>
            <p:nvPr/>
          </p:nvGraphicFramePr>
          <p:xfrm>
            <a:off x="2149" y="2928"/>
            <a:ext cx="22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8" r:id="rId28" imgW="254000" imgH="317500" progId="Equation.3">
                    <p:embed/>
                  </p:oleObj>
                </mc:Choice>
                <mc:Fallback>
                  <p:oleObj r:id="rId28" imgW="254000" imgH="317500" progId="Equation.3">
                    <p:embed/>
                    <p:pic>
                      <p:nvPicPr>
                        <p:cNvPr id="0" name="图片 3424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2149" y="2928"/>
                          <a:ext cx="225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270" name="对象 489528"/>
            <p:cNvGraphicFramePr/>
            <p:nvPr/>
          </p:nvGraphicFramePr>
          <p:xfrm>
            <a:off x="2655" y="2923"/>
            <a:ext cx="22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29" r:id="rId30" imgW="254000" imgH="330200" progId="Equation.3">
                    <p:embed/>
                  </p:oleObj>
                </mc:Choice>
                <mc:Fallback>
                  <p:oleObj r:id="rId30" imgW="254000" imgH="330200" progId="Equation.3">
                    <p:embed/>
                    <p:pic>
                      <p:nvPicPr>
                        <p:cNvPr id="0" name="图片 3426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2655" y="2923"/>
                          <a:ext cx="225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489529"/>
          <p:cNvGrpSpPr/>
          <p:nvPr/>
        </p:nvGrpSpPr>
        <p:grpSpPr>
          <a:xfrm>
            <a:off x="5867400" y="3141663"/>
            <a:ext cx="606425" cy="835025"/>
            <a:chOff x="1392" y="1196"/>
            <a:chExt cx="557" cy="724"/>
          </a:xfrm>
        </p:grpSpPr>
        <p:graphicFrame>
          <p:nvGraphicFramePr>
            <p:cNvPr id="137272" name="对象 489530"/>
            <p:cNvGraphicFramePr/>
            <p:nvPr/>
          </p:nvGraphicFramePr>
          <p:xfrm>
            <a:off x="1458" y="1196"/>
            <a:ext cx="491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30" r:id="rId32" imgW="177800" imgH="215265" progId="Equation.3">
                    <p:embed/>
                  </p:oleObj>
                </mc:Choice>
                <mc:Fallback>
                  <p:oleObj r:id="rId32" imgW="177800" imgH="215265" progId="Equation.3">
                    <p:embed/>
                    <p:pic>
                      <p:nvPicPr>
                        <p:cNvPr id="0" name="图片 3435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458" y="1196"/>
                          <a:ext cx="491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73" name="下箭头 489531"/>
            <p:cNvSpPr/>
            <p:nvPr/>
          </p:nvSpPr>
          <p:spPr>
            <a:xfrm>
              <a:off x="1392" y="1536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bg2"/>
            </a:solidFill>
            <a:ln w="28575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489532"/>
          <p:cNvGrpSpPr/>
          <p:nvPr/>
        </p:nvGrpSpPr>
        <p:grpSpPr>
          <a:xfrm>
            <a:off x="6300788" y="4652963"/>
            <a:ext cx="638175" cy="784225"/>
            <a:chOff x="1566" y="2352"/>
            <a:chExt cx="576" cy="793"/>
          </a:xfrm>
        </p:grpSpPr>
        <p:graphicFrame>
          <p:nvGraphicFramePr>
            <p:cNvPr id="137275" name="对象 489533"/>
            <p:cNvGraphicFramePr/>
            <p:nvPr/>
          </p:nvGraphicFramePr>
          <p:xfrm>
            <a:off x="1566" y="2539"/>
            <a:ext cx="576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31" r:id="rId34" imgW="203200" imgH="215900" progId="Equation.3">
                    <p:embed/>
                  </p:oleObj>
                </mc:Choice>
                <mc:Fallback>
                  <p:oleObj r:id="rId34" imgW="203200" imgH="215900" progId="Equation.3">
                    <p:embed/>
                    <p:pic>
                      <p:nvPicPr>
                        <p:cNvPr id="0" name="图片 3432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1566" y="2539"/>
                          <a:ext cx="576" cy="6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276" name="下箭头 489534"/>
            <p:cNvSpPr/>
            <p:nvPr/>
          </p:nvSpPr>
          <p:spPr>
            <a:xfrm>
              <a:off x="1584" y="235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28575" cap="flat" cmpd="sng">
              <a:solidFill>
                <a:srgbClr val="00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89536" name="对象 489535"/>
          <p:cNvGraphicFramePr/>
          <p:nvPr/>
        </p:nvGraphicFramePr>
        <p:xfrm>
          <a:off x="6732588" y="2852738"/>
          <a:ext cx="1219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2" r:id="rId36" imgW="659765" imgH="317500" progId="Equation.3">
                  <p:embed/>
                </p:oleObj>
              </mc:Choice>
              <mc:Fallback>
                <p:oleObj r:id="rId36" imgW="659765" imgH="317500" progId="Equation.3">
                  <p:embed/>
                  <p:pic>
                    <p:nvPicPr>
                      <p:cNvPr id="0" name="图片 3430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732588" y="2852738"/>
                        <a:ext cx="1219200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537" name="文本框 489536"/>
          <p:cNvSpPr txBox="1"/>
          <p:nvPr/>
        </p:nvSpPr>
        <p:spPr>
          <a:xfrm>
            <a:off x="1182688" y="1792288"/>
            <a:ext cx="1255712" cy="519112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能流图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8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53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41" name="组合 461877"/>
          <p:cNvGrpSpPr/>
          <p:nvPr/>
        </p:nvGrpSpPr>
        <p:grpSpPr>
          <a:xfrm>
            <a:off x="5653088" y="2625725"/>
            <a:ext cx="3527425" cy="3395663"/>
            <a:chOff x="672" y="864"/>
            <a:chExt cx="2496" cy="2357"/>
          </a:xfrm>
        </p:grpSpPr>
        <p:sp>
          <p:nvSpPr>
            <p:cNvPr id="138242" name="矩形 461826"/>
            <p:cNvSpPr/>
            <p:nvPr/>
          </p:nvSpPr>
          <p:spPr>
            <a:xfrm>
              <a:off x="672" y="864"/>
              <a:ext cx="2496" cy="235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243" name="直接连接符 461827"/>
            <p:cNvSpPr/>
            <p:nvPr/>
          </p:nvSpPr>
          <p:spPr>
            <a:xfrm>
              <a:off x="960" y="2928"/>
              <a:ext cx="216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8244" name="直接连接符 461828"/>
            <p:cNvSpPr/>
            <p:nvPr/>
          </p:nvSpPr>
          <p:spPr>
            <a:xfrm flipV="1">
              <a:off x="960" y="962"/>
              <a:ext cx="1" cy="195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8245" name="对象 461829"/>
            <p:cNvGraphicFramePr/>
            <p:nvPr/>
          </p:nvGraphicFramePr>
          <p:xfrm>
            <a:off x="2929" y="2688"/>
            <a:ext cx="19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2" r:id="rId3" imgW="215900" imgH="241300" progId="Equation.3">
                    <p:embed/>
                  </p:oleObj>
                </mc:Choice>
                <mc:Fallback>
                  <p:oleObj r:id="rId3" imgW="215900" imgH="241300" progId="Equation.3">
                    <p:embed/>
                    <p:pic>
                      <p:nvPicPr>
                        <p:cNvPr id="0" name="图片 343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29" y="2688"/>
                          <a:ext cx="191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46" name="对象 461830"/>
            <p:cNvGraphicFramePr/>
            <p:nvPr/>
          </p:nvGraphicFramePr>
          <p:xfrm>
            <a:off x="856" y="2922"/>
            <a:ext cx="168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3" r:id="rId5" imgW="165100" imgH="190500" progId="Equation.3">
                    <p:embed/>
                  </p:oleObj>
                </mc:Choice>
                <mc:Fallback>
                  <p:oleObj r:id="rId5" imgW="165100" imgH="190500" progId="Equation.3">
                    <p:embed/>
                    <p:pic>
                      <p:nvPicPr>
                        <p:cNvPr id="0" name="图片 343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56" y="2922"/>
                          <a:ext cx="168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47" name="对象 461831"/>
            <p:cNvGraphicFramePr/>
            <p:nvPr/>
          </p:nvGraphicFramePr>
          <p:xfrm>
            <a:off x="697" y="960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4" r:id="rId7" imgW="203200" imgH="241300" progId="Equation.3">
                    <p:embed/>
                  </p:oleObj>
                </mc:Choice>
                <mc:Fallback>
                  <p:oleObj r:id="rId7" imgW="203200" imgH="241300" progId="Equation.3">
                    <p:embed/>
                    <p:pic>
                      <p:nvPicPr>
                        <p:cNvPr id="0" name="图片 343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97" y="960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48" name="对象 461832"/>
            <p:cNvGraphicFramePr/>
            <p:nvPr/>
          </p:nvGraphicFramePr>
          <p:xfrm>
            <a:off x="2160" y="2544"/>
            <a:ext cx="237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5" r:id="rId9" imgW="254000" imgH="317500" progId="Equation.3">
                    <p:embed/>
                  </p:oleObj>
                </mc:Choice>
                <mc:Fallback>
                  <p:oleObj r:id="rId9" imgW="254000" imgH="317500" progId="Equation.3">
                    <p:embed/>
                    <p:pic>
                      <p:nvPicPr>
                        <p:cNvPr id="0" name="图片 343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60" y="2544"/>
                          <a:ext cx="237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49" name="任意多边形 461833"/>
            <p:cNvSpPr/>
            <p:nvPr/>
          </p:nvSpPr>
          <p:spPr>
            <a:xfrm>
              <a:off x="1248" y="1362"/>
              <a:ext cx="1465" cy="1219"/>
            </a:xfrm>
            <a:custGeom>
              <a:avLst/>
              <a:gdLst/>
              <a:ahLst/>
              <a:cxnLst>
                <a:cxn ang="0">
                  <a:pos x="23" y="54"/>
                </a:cxn>
                <a:cxn ang="0">
                  <a:pos x="53" y="246"/>
                </a:cxn>
                <a:cxn ang="0">
                  <a:pos x="106" y="408"/>
                </a:cxn>
                <a:cxn ang="0">
                  <a:pos x="177" y="624"/>
                </a:cxn>
                <a:cxn ang="0">
                  <a:pos x="248" y="763"/>
                </a:cxn>
                <a:cxn ang="0">
                  <a:pos x="349" y="901"/>
                </a:cxn>
                <a:cxn ang="0">
                  <a:pos x="496" y="967"/>
                </a:cxn>
                <a:cxn ang="0">
                  <a:pos x="692" y="1056"/>
                </a:cxn>
                <a:cxn ang="0">
                  <a:pos x="992" y="1135"/>
                </a:cxn>
                <a:cxn ang="0">
                  <a:pos x="1227" y="1182"/>
                </a:cxn>
                <a:cxn ang="0">
                  <a:pos x="1465" y="1219"/>
                </a:cxn>
                <a:cxn ang="0">
                  <a:pos x="1352" y="1117"/>
                </a:cxn>
                <a:cxn ang="0">
                  <a:pos x="1222" y="1027"/>
                </a:cxn>
                <a:cxn ang="0">
                  <a:pos x="1181" y="979"/>
                </a:cxn>
                <a:cxn ang="0">
                  <a:pos x="1122" y="906"/>
                </a:cxn>
                <a:cxn ang="0">
                  <a:pos x="1093" y="859"/>
                </a:cxn>
                <a:cxn ang="0">
                  <a:pos x="1021" y="715"/>
                </a:cxn>
                <a:cxn ang="0">
                  <a:pos x="933" y="661"/>
                </a:cxn>
                <a:cxn ang="0">
                  <a:pos x="1004" y="679"/>
                </a:cxn>
                <a:cxn ang="0">
                  <a:pos x="864" y="633"/>
                </a:cxn>
                <a:cxn ang="0">
                  <a:pos x="791" y="607"/>
                </a:cxn>
                <a:cxn ang="0">
                  <a:pos x="697" y="570"/>
                </a:cxn>
                <a:cxn ang="0">
                  <a:pos x="591" y="504"/>
                </a:cxn>
                <a:cxn ang="0">
                  <a:pos x="383" y="367"/>
                </a:cxn>
                <a:cxn ang="0">
                  <a:pos x="213" y="240"/>
                </a:cxn>
                <a:cxn ang="0">
                  <a:pos x="124" y="162"/>
                </a:cxn>
                <a:cxn ang="0">
                  <a:pos x="0" y="0"/>
                </a:cxn>
              </a:cxnLst>
              <a:rect l="0" t="0" r="0" b="0"/>
              <a:pathLst>
                <a:path w="1465" h="1219">
                  <a:moveTo>
                    <a:pt x="23" y="54"/>
                  </a:moveTo>
                  <a:lnTo>
                    <a:pt x="53" y="246"/>
                  </a:lnTo>
                  <a:lnTo>
                    <a:pt x="106" y="408"/>
                  </a:lnTo>
                  <a:lnTo>
                    <a:pt x="177" y="624"/>
                  </a:lnTo>
                  <a:lnTo>
                    <a:pt x="248" y="763"/>
                  </a:lnTo>
                  <a:lnTo>
                    <a:pt x="349" y="901"/>
                  </a:lnTo>
                  <a:lnTo>
                    <a:pt x="496" y="967"/>
                  </a:lnTo>
                  <a:lnTo>
                    <a:pt x="692" y="1056"/>
                  </a:lnTo>
                  <a:lnTo>
                    <a:pt x="992" y="1135"/>
                  </a:lnTo>
                  <a:lnTo>
                    <a:pt x="1227" y="1182"/>
                  </a:lnTo>
                  <a:lnTo>
                    <a:pt x="1465" y="1219"/>
                  </a:lnTo>
                  <a:lnTo>
                    <a:pt x="1352" y="1117"/>
                  </a:lnTo>
                  <a:lnTo>
                    <a:pt x="1222" y="1027"/>
                  </a:lnTo>
                  <a:lnTo>
                    <a:pt x="1181" y="979"/>
                  </a:lnTo>
                  <a:lnTo>
                    <a:pt x="1122" y="906"/>
                  </a:lnTo>
                  <a:lnTo>
                    <a:pt x="1093" y="859"/>
                  </a:lnTo>
                  <a:lnTo>
                    <a:pt x="1021" y="715"/>
                  </a:lnTo>
                  <a:lnTo>
                    <a:pt x="933" y="661"/>
                  </a:lnTo>
                  <a:lnTo>
                    <a:pt x="1004" y="679"/>
                  </a:lnTo>
                  <a:lnTo>
                    <a:pt x="864" y="633"/>
                  </a:lnTo>
                  <a:lnTo>
                    <a:pt x="791" y="607"/>
                  </a:lnTo>
                  <a:lnTo>
                    <a:pt x="697" y="570"/>
                  </a:lnTo>
                  <a:lnTo>
                    <a:pt x="591" y="504"/>
                  </a:lnTo>
                  <a:lnTo>
                    <a:pt x="383" y="367"/>
                  </a:lnTo>
                  <a:lnTo>
                    <a:pt x="213" y="240"/>
                  </a:lnTo>
                  <a:lnTo>
                    <a:pt x="124" y="162"/>
                  </a:lnTo>
                  <a:lnTo>
                    <a:pt x="0" y="0"/>
                  </a:lnTo>
                </a:path>
              </a:pathLst>
            </a:custGeom>
            <a:blipFill rotWithShape="0">
              <a:blip r:embed="rId11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35" name="文本框 461834"/>
            <p:cNvSpPr txBox="1"/>
            <p:nvPr/>
          </p:nvSpPr>
          <p:spPr>
            <a:xfrm flipH="1">
              <a:off x="1704" y="1950"/>
              <a:ext cx="372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b="1" i="1" kern="1200" cap="none" spc="0" normalizeH="0" baseline="0" noProof="1"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3200" b="1" i="1" kern="1200" cap="none" spc="0" normalizeH="0" baseline="0" noProof="1">
                <a:solidFill>
                  <a:srgbClr val="A5002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251" name="直接连接符 461835"/>
            <p:cNvSpPr/>
            <p:nvPr/>
          </p:nvSpPr>
          <p:spPr>
            <a:xfrm flipH="1" flipV="1">
              <a:off x="1909" y="2413"/>
              <a:ext cx="124" cy="42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8252" name="直接连接符 461836"/>
            <p:cNvSpPr/>
            <p:nvPr/>
          </p:nvSpPr>
          <p:spPr>
            <a:xfrm>
              <a:off x="1730" y="1781"/>
              <a:ext cx="138" cy="85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8253" name="直接连接符 461837"/>
            <p:cNvSpPr/>
            <p:nvPr/>
          </p:nvSpPr>
          <p:spPr>
            <a:xfrm flipH="1" flipV="1">
              <a:off x="1331" y="1740"/>
              <a:ext cx="41" cy="126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8254" name="对象 461838"/>
            <p:cNvGraphicFramePr/>
            <p:nvPr/>
          </p:nvGraphicFramePr>
          <p:xfrm>
            <a:off x="1920" y="1632"/>
            <a:ext cx="20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6" r:id="rId12" imgW="215900" imgH="316865" progId="Equation.3">
                    <p:embed/>
                  </p:oleObj>
                </mc:Choice>
                <mc:Fallback>
                  <p:oleObj r:id="rId12" imgW="215900" imgH="316865" progId="Equation.3">
                    <p:embed/>
                    <p:pic>
                      <p:nvPicPr>
                        <p:cNvPr id="0" name="图片 3437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920" y="1632"/>
                          <a:ext cx="202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55" name="直接连接符 461839"/>
            <p:cNvSpPr/>
            <p:nvPr/>
          </p:nvSpPr>
          <p:spPr>
            <a:xfrm>
              <a:off x="2400" y="2256"/>
              <a:ext cx="88" cy="115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8256" name="任意多边形 461840"/>
            <p:cNvSpPr/>
            <p:nvPr/>
          </p:nvSpPr>
          <p:spPr>
            <a:xfrm>
              <a:off x="1248" y="1362"/>
              <a:ext cx="1044" cy="6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" y="246"/>
                </a:cxn>
                <a:cxn ang="0">
                  <a:pos x="501" y="435"/>
                </a:cxn>
                <a:cxn ang="0">
                  <a:pos x="734" y="565"/>
                </a:cxn>
                <a:cxn ang="0">
                  <a:pos x="1001" y="665"/>
                </a:cxn>
                <a:cxn ang="0">
                  <a:pos x="995" y="658"/>
                </a:cxn>
              </a:cxnLst>
              <a:rect l="0" t="0" r="0" b="0"/>
              <a:pathLst>
                <a:path w="1044" h="680">
                  <a:moveTo>
                    <a:pt x="0" y="0"/>
                  </a:moveTo>
                  <a:cubicBezTo>
                    <a:pt x="40" y="41"/>
                    <a:pt x="159" y="174"/>
                    <a:pt x="242" y="246"/>
                  </a:cubicBezTo>
                  <a:cubicBezTo>
                    <a:pt x="325" y="318"/>
                    <a:pt x="419" y="382"/>
                    <a:pt x="501" y="435"/>
                  </a:cubicBezTo>
                  <a:cubicBezTo>
                    <a:pt x="583" y="488"/>
                    <a:pt x="651" y="527"/>
                    <a:pt x="734" y="565"/>
                  </a:cubicBezTo>
                  <a:cubicBezTo>
                    <a:pt x="817" y="603"/>
                    <a:pt x="958" y="650"/>
                    <a:pt x="1001" y="665"/>
                  </a:cubicBezTo>
                  <a:cubicBezTo>
                    <a:pt x="1044" y="680"/>
                    <a:pt x="996" y="658"/>
                    <a:pt x="995" y="658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7" name="任意多边形 461841"/>
            <p:cNvSpPr/>
            <p:nvPr/>
          </p:nvSpPr>
          <p:spPr>
            <a:xfrm>
              <a:off x="1561" y="2251"/>
              <a:ext cx="1175" cy="3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1" y="87"/>
                </a:cxn>
                <a:cxn ang="0">
                  <a:pos x="473" y="204"/>
                </a:cxn>
                <a:cxn ang="0">
                  <a:pos x="866" y="293"/>
                </a:cxn>
                <a:cxn ang="0">
                  <a:pos x="1175" y="330"/>
                </a:cxn>
              </a:cxnLst>
              <a:rect l="0" t="0" r="0" b="0"/>
              <a:pathLst>
                <a:path w="1175" h="330">
                  <a:moveTo>
                    <a:pt x="0" y="0"/>
                  </a:moveTo>
                  <a:cubicBezTo>
                    <a:pt x="30" y="14"/>
                    <a:pt x="102" y="53"/>
                    <a:pt x="181" y="87"/>
                  </a:cubicBezTo>
                  <a:cubicBezTo>
                    <a:pt x="260" y="121"/>
                    <a:pt x="359" y="170"/>
                    <a:pt x="473" y="204"/>
                  </a:cubicBezTo>
                  <a:cubicBezTo>
                    <a:pt x="587" y="238"/>
                    <a:pt x="749" y="272"/>
                    <a:pt x="866" y="293"/>
                  </a:cubicBezTo>
                  <a:cubicBezTo>
                    <a:pt x="983" y="314"/>
                    <a:pt x="1111" y="322"/>
                    <a:pt x="1175" y="330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8" name="任意多边形 461842"/>
            <p:cNvSpPr/>
            <p:nvPr/>
          </p:nvSpPr>
          <p:spPr>
            <a:xfrm>
              <a:off x="1248" y="1362"/>
              <a:ext cx="325" cy="8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297"/>
                </a:cxn>
                <a:cxn ang="0">
                  <a:pos x="184" y="654"/>
                </a:cxn>
                <a:cxn ang="0">
                  <a:pos x="325" y="895"/>
                </a:cxn>
              </a:cxnLst>
              <a:rect l="0" t="0" r="0" b="0"/>
              <a:pathLst>
                <a:path w="325" h="895">
                  <a:moveTo>
                    <a:pt x="0" y="0"/>
                  </a:moveTo>
                  <a:cubicBezTo>
                    <a:pt x="10" y="49"/>
                    <a:pt x="31" y="188"/>
                    <a:pt x="62" y="297"/>
                  </a:cubicBezTo>
                  <a:cubicBezTo>
                    <a:pt x="93" y="406"/>
                    <a:pt x="140" y="554"/>
                    <a:pt x="184" y="654"/>
                  </a:cubicBezTo>
                  <a:cubicBezTo>
                    <a:pt x="228" y="754"/>
                    <a:pt x="296" y="845"/>
                    <a:pt x="325" y="895"/>
                  </a:cubicBez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9" name="任意多边形 461843"/>
            <p:cNvSpPr/>
            <p:nvPr/>
          </p:nvSpPr>
          <p:spPr>
            <a:xfrm>
              <a:off x="2252" y="2029"/>
              <a:ext cx="484" cy="5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0" y="309"/>
                </a:cxn>
                <a:cxn ang="0">
                  <a:pos x="484" y="552"/>
                </a:cxn>
              </a:cxnLst>
              <a:rect l="0" t="0" r="0" b="0"/>
              <a:pathLst>
                <a:path w="484" h="552">
                  <a:moveTo>
                    <a:pt x="0" y="0"/>
                  </a:moveTo>
                  <a:cubicBezTo>
                    <a:pt x="35" y="51"/>
                    <a:pt x="129" y="217"/>
                    <a:pt x="210" y="309"/>
                  </a:cubicBezTo>
                  <a:cubicBezTo>
                    <a:pt x="291" y="401"/>
                    <a:pt x="427" y="501"/>
                    <a:pt x="484" y="552"/>
                  </a:cubicBez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845" name="文本框 461844"/>
            <p:cNvSpPr txBox="1"/>
            <p:nvPr/>
          </p:nvSpPr>
          <p:spPr>
            <a:xfrm>
              <a:off x="1152" y="1104"/>
              <a:ext cx="290" cy="3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1846" name="文本框 461845"/>
            <p:cNvSpPr txBox="1"/>
            <p:nvPr/>
          </p:nvSpPr>
          <p:spPr>
            <a:xfrm>
              <a:off x="2256" y="1776"/>
              <a:ext cx="336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1847" name="文本框 461846"/>
            <p:cNvSpPr txBox="1"/>
            <p:nvPr/>
          </p:nvSpPr>
          <p:spPr>
            <a:xfrm>
              <a:off x="2736" y="2352"/>
              <a:ext cx="291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1848" name="文本框 461847"/>
            <p:cNvSpPr txBox="1"/>
            <p:nvPr/>
          </p:nvSpPr>
          <p:spPr>
            <a:xfrm>
              <a:off x="1344" y="2208"/>
              <a:ext cx="336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38264" name="直接连接符 461848"/>
            <p:cNvSpPr/>
            <p:nvPr/>
          </p:nvSpPr>
          <p:spPr>
            <a:xfrm flipH="1">
              <a:off x="960" y="1392"/>
              <a:ext cx="28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8265" name="直接连接符 461852"/>
            <p:cNvSpPr/>
            <p:nvPr/>
          </p:nvSpPr>
          <p:spPr>
            <a:xfrm flipH="1">
              <a:off x="1248" y="1392"/>
              <a:ext cx="0" cy="153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8266" name="直接连接符 461853"/>
            <p:cNvSpPr/>
            <p:nvPr/>
          </p:nvSpPr>
          <p:spPr>
            <a:xfrm flipH="1">
              <a:off x="2256" y="2016"/>
              <a:ext cx="0" cy="91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8267" name="直接连接符 461854"/>
            <p:cNvSpPr/>
            <p:nvPr/>
          </p:nvSpPr>
          <p:spPr>
            <a:xfrm flipH="1">
              <a:off x="1584" y="2256"/>
              <a:ext cx="0" cy="67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8268" name="直接连接符 461855"/>
            <p:cNvSpPr/>
            <p:nvPr/>
          </p:nvSpPr>
          <p:spPr>
            <a:xfrm flipH="1">
              <a:off x="2736" y="2592"/>
              <a:ext cx="0" cy="336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38269" name="对象 461860"/>
            <p:cNvGraphicFramePr/>
            <p:nvPr/>
          </p:nvGraphicFramePr>
          <p:xfrm>
            <a:off x="1146" y="2916"/>
            <a:ext cx="203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7" r:id="rId14" imgW="228600" imgH="317500" progId="Equation.3">
                    <p:embed/>
                  </p:oleObj>
                </mc:Choice>
                <mc:Fallback>
                  <p:oleObj r:id="rId14" imgW="228600" imgH="317500" progId="Equation.3">
                    <p:embed/>
                    <p:pic>
                      <p:nvPicPr>
                        <p:cNvPr id="0" name="图片 344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146" y="2916"/>
                          <a:ext cx="203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70" name="对象 461861"/>
            <p:cNvGraphicFramePr/>
            <p:nvPr/>
          </p:nvGraphicFramePr>
          <p:xfrm>
            <a:off x="1477" y="2928"/>
            <a:ext cx="22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8" r:id="rId16" imgW="254000" imgH="317500" progId="Equation.3">
                    <p:embed/>
                  </p:oleObj>
                </mc:Choice>
                <mc:Fallback>
                  <p:oleObj r:id="rId16" imgW="254000" imgH="317500" progId="Equation.3">
                    <p:embed/>
                    <p:pic>
                      <p:nvPicPr>
                        <p:cNvPr id="0" name="图片 343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477" y="2928"/>
                          <a:ext cx="226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71" name="对象 461862"/>
            <p:cNvGraphicFramePr/>
            <p:nvPr/>
          </p:nvGraphicFramePr>
          <p:xfrm>
            <a:off x="2149" y="2928"/>
            <a:ext cx="22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69" r:id="rId18" imgW="254000" imgH="317500" progId="Equation.3">
                    <p:embed/>
                  </p:oleObj>
                </mc:Choice>
                <mc:Fallback>
                  <p:oleObj r:id="rId18" imgW="254000" imgH="317500" progId="Equation.3">
                    <p:embed/>
                    <p:pic>
                      <p:nvPicPr>
                        <p:cNvPr id="0" name="图片 343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149" y="2928"/>
                          <a:ext cx="225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272" name="对象 461863"/>
            <p:cNvGraphicFramePr/>
            <p:nvPr/>
          </p:nvGraphicFramePr>
          <p:xfrm>
            <a:off x="2655" y="2923"/>
            <a:ext cx="22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70" r:id="rId20" imgW="254000" imgH="330200" progId="Equation.3">
                    <p:embed/>
                  </p:oleObj>
                </mc:Choice>
                <mc:Fallback>
                  <p:oleObj r:id="rId20" imgW="254000" imgH="330200" progId="Equation.3">
                    <p:embed/>
                    <p:pic>
                      <p:nvPicPr>
                        <p:cNvPr id="0" name="图片 344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655" y="2923"/>
                          <a:ext cx="225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1865" name="文本框 461864"/>
          <p:cNvSpPr txBox="1"/>
          <p:nvPr/>
        </p:nvSpPr>
        <p:spPr>
          <a:xfrm>
            <a:off x="107950" y="30163"/>
            <a:ext cx="861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Blip>
                <a:blip r:embed="rId22"/>
              </a:buBlip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3333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800" b="1" kern="1200" cap="none" spc="0" normalizeH="0" baseline="0" noProof="1">
                <a:solidFill>
                  <a:srgbClr val="3333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理想气体卡诺循环热机效率的计算</a:t>
            </a:r>
          </a:p>
        </p:txBody>
      </p:sp>
      <p:graphicFrame>
        <p:nvGraphicFramePr>
          <p:cNvPr id="138274" name="对象 461867"/>
          <p:cNvGraphicFramePr/>
          <p:nvPr/>
        </p:nvGraphicFramePr>
        <p:xfrm>
          <a:off x="7524750" y="2852738"/>
          <a:ext cx="1219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1" r:id="rId23" imgW="659765" imgH="317500" progId="Equation.3">
                  <p:embed/>
                </p:oleObj>
              </mc:Choice>
              <mc:Fallback>
                <p:oleObj r:id="rId23" imgW="659765" imgH="317500" progId="Equation.3">
                  <p:embed/>
                  <p:pic>
                    <p:nvPicPr>
                      <p:cNvPr id="0" name="图片 344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24750" y="2852738"/>
                        <a:ext cx="1219200" cy="500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75" name="组合 461868"/>
          <p:cNvGrpSpPr/>
          <p:nvPr/>
        </p:nvGrpSpPr>
        <p:grpSpPr>
          <a:xfrm>
            <a:off x="6826250" y="3170238"/>
            <a:ext cx="606425" cy="835025"/>
            <a:chOff x="1392" y="1196"/>
            <a:chExt cx="557" cy="724"/>
          </a:xfrm>
        </p:grpSpPr>
        <p:graphicFrame>
          <p:nvGraphicFramePr>
            <p:cNvPr id="138276" name="对象 461869"/>
            <p:cNvGraphicFramePr/>
            <p:nvPr/>
          </p:nvGraphicFramePr>
          <p:xfrm>
            <a:off x="1458" y="1196"/>
            <a:ext cx="491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72" r:id="rId25" imgW="177800" imgH="215265" progId="Equation.3">
                    <p:embed/>
                  </p:oleObj>
                </mc:Choice>
                <mc:Fallback>
                  <p:oleObj r:id="rId25" imgW="177800" imgH="215265" progId="Equation.3">
                    <p:embed/>
                    <p:pic>
                      <p:nvPicPr>
                        <p:cNvPr id="0" name="图片 344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58" y="1196"/>
                          <a:ext cx="491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77" name="下箭头 461870"/>
            <p:cNvSpPr/>
            <p:nvPr/>
          </p:nvSpPr>
          <p:spPr>
            <a:xfrm>
              <a:off x="1392" y="1536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bg2"/>
            </a:solidFill>
            <a:ln w="28575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8278" name="组合 461871"/>
          <p:cNvGrpSpPr/>
          <p:nvPr/>
        </p:nvGrpSpPr>
        <p:grpSpPr>
          <a:xfrm>
            <a:off x="7164388" y="4652963"/>
            <a:ext cx="638175" cy="784225"/>
            <a:chOff x="1566" y="2352"/>
            <a:chExt cx="576" cy="793"/>
          </a:xfrm>
        </p:grpSpPr>
        <p:graphicFrame>
          <p:nvGraphicFramePr>
            <p:cNvPr id="138279" name="对象 461872"/>
            <p:cNvGraphicFramePr/>
            <p:nvPr/>
          </p:nvGraphicFramePr>
          <p:xfrm>
            <a:off x="1566" y="2539"/>
            <a:ext cx="576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373" r:id="rId27" imgW="203200" imgH="215900" progId="Equation.3">
                    <p:embed/>
                  </p:oleObj>
                </mc:Choice>
                <mc:Fallback>
                  <p:oleObj r:id="rId27" imgW="203200" imgH="215900" progId="Equation.3">
                    <p:embed/>
                    <p:pic>
                      <p:nvPicPr>
                        <p:cNvPr id="0" name="图片 3447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566" y="2539"/>
                          <a:ext cx="576" cy="6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80" name="下箭头 461873"/>
            <p:cNvSpPr/>
            <p:nvPr/>
          </p:nvSpPr>
          <p:spPr>
            <a:xfrm>
              <a:off x="1584" y="2352"/>
              <a:ext cx="96" cy="384"/>
            </a:xfrm>
            <a:prstGeom prst="downArrow">
              <a:avLst>
                <a:gd name="adj1" fmla="val 50000"/>
                <a:gd name="adj2" fmla="val 100000"/>
              </a:avLst>
            </a:prstGeom>
            <a:solidFill>
              <a:schemeClr val="accent2"/>
            </a:solidFill>
            <a:ln w="28575" cap="flat" cmpd="sng">
              <a:solidFill>
                <a:srgbClr val="00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61883" name="文本框 461882"/>
          <p:cNvSpPr txBox="1"/>
          <p:nvPr/>
        </p:nvSpPr>
        <p:spPr>
          <a:xfrm>
            <a:off x="1025525" y="701675"/>
            <a:ext cx="1962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a→b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sp>
        <p:nvSpPr>
          <p:cNvPr id="461884" name="文本框 461883"/>
          <p:cNvSpPr txBox="1"/>
          <p:nvPr/>
        </p:nvSpPr>
        <p:spPr>
          <a:xfrm>
            <a:off x="974725" y="1514475"/>
            <a:ext cx="2228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c→d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461885" name="对象 461884"/>
          <p:cNvGraphicFramePr/>
          <p:nvPr/>
        </p:nvGraphicFramePr>
        <p:xfrm>
          <a:off x="2020888" y="503238"/>
          <a:ext cx="37496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4" r:id="rId29" imgW="1396365" imgH="444500" progId="Equation.DSMT4">
                  <p:embed/>
                </p:oleObj>
              </mc:Choice>
              <mc:Fallback>
                <p:oleObj r:id="rId29" imgW="1396365" imgH="444500" progId="Equation.DSMT4">
                  <p:embed/>
                  <p:pic>
                    <p:nvPicPr>
                      <p:cNvPr id="0" name="图片 344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020888" y="503238"/>
                        <a:ext cx="3749675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86" name="对象 461885"/>
          <p:cNvGraphicFramePr/>
          <p:nvPr/>
        </p:nvGraphicFramePr>
        <p:xfrm>
          <a:off x="2054225" y="1317625"/>
          <a:ext cx="349885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5" r:id="rId31" imgW="1434465" imgH="444500" progId="Equation.DSMT4">
                  <p:embed/>
                </p:oleObj>
              </mc:Choice>
              <mc:Fallback>
                <p:oleObj r:id="rId31" imgW="1434465" imgH="444500" progId="Equation.DSMT4">
                  <p:embed/>
                  <p:pic>
                    <p:nvPicPr>
                      <p:cNvPr id="0" name="图片 344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054225" y="1317625"/>
                        <a:ext cx="3498850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87" name="矩形 461886"/>
          <p:cNvSpPr/>
          <p:nvPr/>
        </p:nvSpPr>
        <p:spPr>
          <a:xfrm>
            <a:off x="176213" y="758825"/>
            <a:ext cx="901700" cy="1127125"/>
          </a:xfrm>
          <a:prstGeom prst="rect">
            <a:avLst/>
          </a:prstGeom>
          <a:gradFill rotWithShape="1">
            <a:gsLst>
              <a:gs pos="0">
                <a:srgbClr val="FFE7FF"/>
              </a:gs>
              <a:gs pos="50000">
                <a:srgbClr val="FFFFFF"/>
              </a:gs>
              <a:gs pos="100000">
                <a:srgbClr val="FFE7FF"/>
              </a:gs>
            </a:gsLst>
            <a:lin ang="0" scaled="1"/>
            <a:tileRect/>
          </a:gradFill>
          <a:ln w="12700" cap="flat" cmpd="sng">
            <a:solidFill>
              <a:srgbClr val="FF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等温过程</a:t>
            </a:r>
          </a:p>
        </p:txBody>
      </p:sp>
      <p:graphicFrame>
        <p:nvGraphicFramePr>
          <p:cNvPr id="461889" name="对象 461888"/>
          <p:cNvGraphicFramePr/>
          <p:nvPr/>
        </p:nvGraphicFramePr>
        <p:xfrm>
          <a:off x="839788" y="2538413"/>
          <a:ext cx="17732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6" r:id="rId33" imgW="749300" imgH="457200" progId="Equation.DSMT4">
                  <p:embed/>
                </p:oleObj>
              </mc:Choice>
              <mc:Fallback>
                <p:oleObj r:id="rId33" imgW="749300" imgH="457200" progId="Equation.DSMT4">
                  <p:embed/>
                  <p:pic>
                    <p:nvPicPr>
                      <p:cNvPr id="0" name="图片 344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39788" y="2538413"/>
                        <a:ext cx="1773237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90" name="对象 461889"/>
          <p:cNvGraphicFramePr/>
          <p:nvPr/>
        </p:nvGraphicFramePr>
        <p:xfrm>
          <a:off x="2195513" y="3860800"/>
          <a:ext cx="212725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7" r:id="rId35" imgW="977265" imgH="482600" progId="Equation.3">
                  <p:embed/>
                </p:oleObj>
              </mc:Choice>
              <mc:Fallback>
                <p:oleObj r:id="rId35" imgW="977265" imgH="482600" progId="Equation.3">
                  <p:embed/>
                  <p:pic>
                    <p:nvPicPr>
                      <p:cNvPr id="0" name="图片 3445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195513" y="3860800"/>
                        <a:ext cx="2127250" cy="1179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91" name="矩形 461890"/>
          <p:cNvSpPr/>
          <p:nvPr/>
        </p:nvSpPr>
        <p:spPr>
          <a:xfrm>
            <a:off x="179388" y="3900488"/>
            <a:ext cx="901700" cy="1127125"/>
          </a:xfrm>
          <a:prstGeom prst="rect">
            <a:avLst/>
          </a:prstGeom>
          <a:gradFill rotWithShape="1">
            <a:gsLst>
              <a:gs pos="0">
                <a:srgbClr val="FFE7FF"/>
              </a:gs>
              <a:gs pos="50000">
                <a:srgbClr val="FFFFFF"/>
              </a:gs>
              <a:gs pos="100000">
                <a:srgbClr val="FFE7FF"/>
              </a:gs>
            </a:gsLst>
            <a:lin ang="0" scaled="1"/>
            <a:tileRect/>
          </a:gradFill>
          <a:ln w="12700" cap="flat" cmpd="sng">
            <a:solidFill>
              <a:srgbClr val="FF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绝热过程</a:t>
            </a:r>
          </a:p>
        </p:txBody>
      </p:sp>
      <p:sp>
        <p:nvSpPr>
          <p:cNvPr id="461892" name="文本框 461891"/>
          <p:cNvSpPr txBox="1"/>
          <p:nvPr/>
        </p:nvSpPr>
        <p:spPr>
          <a:xfrm>
            <a:off x="1017588" y="3873500"/>
            <a:ext cx="2114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b→c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sp>
        <p:nvSpPr>
          <p:cNvPr id="461893" name="文本框 461892"/>
          <p:cNvSpPr txBox="1"/>
          <p:nvPr/>
        </p:nvSpPr>
        <p:spPr>
          <a:xfrm>
            <a:off x="998538" y="452278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d→a</a:t>
            </a:r>
            <a:r>
              <a:rPr kumimoji="0" lang="zh-CN" altLang="en-US" b="1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  <p:graphicFrame>
        <p:nvGraphicFramePr>
          <p:cNvPr id="461898" name="对象 461897"/>
          <p:cNvGraphicFramePr/>
          <p:nvPr/>
        </p:nvGraphicFramePr>
        <p:xfrm>
          <a:off x="3132138" y="5373688"/>
          <a:ext cx="2092325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8" r:id="rId37" imgW="673100" imgH="431800" progId="Equation.3">
                  <p:embed/>
                </p:oleObj>
              </mc:Choice>
              <mc:Fallback>
                <p:oleObj r:id="rId37" imgW="673100" imgH="431800" progId="Equation.3">
                  <p:embed/>
                  <p:pic>
                    <p:nvPicPr>
                      <p:cNvPr id="0" name="图片 345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132138" y="5373688"/>
                        <a:ext cx="2092325" cy="1301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E1FF"/>
                          </a:gs>
                          <a:gs pos="50000">
                            <a:srgbClr val="FFFFFF"/>
                          </a:gs>
                          <a:gs pos="100000">
                            <a:srgbClr val="FFE1FF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99" name="文本框 461898"/>
          <p:cNvSpPr txBox="1"/>
          <p:nvPr/>
        </p:nvSpPr>
        <p:spPr>
          <a:xfrm>
            <a:off x="250825" y="5718175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Blip>
                <a:blip r:embed="rId22"/>
              </a:buBlip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卡诺热机效率</a:t>
            </a:r>
          </a:p>
        </p:txBody>
      </p:sp>
      <p:graphicFrame>
        <p:nvGraphicFramePr>
          <p:cNvPr id="461900" name="对象 461899"/>
          <p:cNvGraphicFramePr/>
          <p:nvPr/>
        </p:nvGraphicFramePr>
        <p:xfrm>
          <a:off x="4356100" y="3933825"/>
          <a:ext cx="113347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79" r:id="rId39" imgW="520700" imgH="431800" progId="Equation.3">
                  <p:embed/>
                </p:oleObj>
              </mc:Choice>
              <mc:Fallback>
                <p:oleObj r:id="rId39" imgW="520700" imgH="431800" progId="Equation.3">
                  <p:embed/>
                  <p:pic>
                    <p:nvPicPr>
                      <p:cNvPr id="0" name="图片 3450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356100" y="3933825"/>
                        <a:ext cx="1133475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6"/>
          <p:cNvGraphicFramePr/>
          <p:nvPr/>
        </p:nvGraphicFramePr>
        <p:xfrm>
          <a:off x="2627313" y="2060575"/>
          <a:ext cx="1924050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0" r:id="rId41" imgW="812165" imgH="837565" progId="Equation.DSMT4">
                  <p:embed/>
                </p:oleObj>
              </mc:Choice>
              <mc:Fallback>
                <p:oleObj r:id="rId41" imgW="812165" imgH="837565" progId="Equation.DSMT4">
                  <p:embed/>
                  <p:pic>
                    <p:nvPicPr>
                      <p:cNvPr id="0" name="图片 3446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627313" y="2060575"/>
                        <a:ext cx="1924050" cy="179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6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46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46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83" grpId="0"/>
      <p:bldP spid="461884" grpId="0"/>
      <p:bldP spid="461887" grpId="0" animBg="1"/>
      <p:bldP spid="461891" grpId="0" animBg="1"/>
      <p:bldP spid="461892" grpId="0"/>
      <p:bldP spid="461893" grpId="0"/>
      <p:bldP spid="46189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5" name="组合 463964"/>
          <p:cNvGrpSpPr/>
          <p:nvPr/>
        </p:nvGrpSpPr>
        <p:grpSpPr>
          <a:xfrm>
            <a:off x="5651500" y="0"/>
            <a:ext cx="3492500" cy="3395663"/>
            <a:chOff x="3561" y="1654"/>
            <a:chExt cx="2222" cy="2139"/>
          </a:xfrm>
        </p:grpSpPr>
        <p:grpSp>
          <p:nvGrpSpPr>
            <p:cNvPr id="139266" name="组合 463925"/>
            <p:cNvGrpSpPr/>
            <p:nvPr/>
          </p:nvGrpSpPr>
          <p:grpSpPr>
            <a:xfrm>
              <a:off x="3561" y="1654"/>
              <a:ext cx="2222" cy="2139"/>
              <a:chOff x="672" y="864"/>
              <a:chExt cx="2496" cy="2357"/>
            </a:xfrm>
          </p:grpSpPr>
          <p:sp>
            <p:nvSpPr>
              <p:cNvPr id="139267" name="矩形 463926"/>
              <p:cNvSpPr/>
              <p:nvPr/>
            </p:nvSpPr>
            <p:spPr>
              <a:xfrm>
                <a:off x="672" y="864"/>
                <a:ext cx="2496" cy="235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268" name="直接连接符 463927"/>
              <p:cNvSpPr/>
              <p:nvPr/>
            </p:nvSpPr>
            <p:spPr>
              <a:xfrm>
                <a:off x="960" y="2928"/>
                <a:ext cx="2160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9269" name="直接连接符 463928"/>
              <p:cNvSpPr/>
              <p:nvPr/>
            </p:nvSpPr>
            <p:spPr>
              <a:xfrm flipV="1">
                <a:off x="960" y="962"/>
                <a:ext cx="1" cy="1958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39270" name="对象 463929"/>
              <p:cNvGraphicFramePr/>
              <p:nvPr/>
            </p:nvGraphicFramePr>
            <p:xfrm>
              <a:off x="2929" y="2688"/>
              <a:ext cx="191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85" r:id="rId3" imgW="215900" imgH="241300" progId="Equation.3">
                      <p:embed/>
                    </p:oleObj>
                  </mc:Choice>
                  <mc:Fallback>
                    <p:oleObj r:id="rId3" imgW="215900" imgH="241300" progId="Equation.3">
                      <p:embed/>
                      <p:pic>
                        <p:nvPicPr>
                          <p:cNvPr id="0" name="图片 345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929" y="2688"/>
                            <a:ext cx="191" cy="21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9271" name="对象 463930"/>
              <p:cNvGraphicFramePr/>
              <p:nvPr/>
            </p:nvGraphicFramePr>
            <p:xfrm>
              <a:off x="856" y="2922"/>
              <a:ext cx="168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86" r:id="rId5" imgW="165100" imgH="190500" progId="Equation.3">
                      <p:embed/>
                    </p:oleObj>
                  </mc:Choice>
                  <mc:Fallback>
                    <p:oleObj r:id="rId5" imgW="165100" imgH="190500" progId="Equation.3">
                      <p:embed/>
                      <p:pic>
                        <p:nvPicPr>
                          <p:cNvPr id="0" name="图片 345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56" y="2922"/>
                            <a:ext cx="168" cy="19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9272" name="对象 463931"/>
              <p:cNvGraphicFramePr/>
              <p:nvPr/>
            </p:nvGraphicFramePr>
            <p:xfrm>
              <a:off x="697" y="960"/>
              <a:ext cx="202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87" r:id="rId7" imgW="203200" imgH="241300" progId="Equation.3">
                      <p:embed/>
                    </p:oleObj>
                  </mc:Choice>
                  <mc:Fallback>
                    <p:oleObj r:id="rId7" imgW="203200" imgH="241300" progId="Equation.3">
                      <p:embed/>
                      <p:pic>
                        <p:nvPicPr>
                          <p:cNvPr id="0" name="图片 3457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697" y="960"/>
                            <a:ext cx="202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9273" name="对象 463932"/>
              <p:cNvGraphicFramePr/>
              <p:nvPr/>
            </p:nvGraphicFramePr>
            <p:xfrm>
              <a:off x="2160" y="2544"/>
              <a:ext cx="237" cy="2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88" r:id="rId9" imgW="254000" imgH="317500" progId="Equation.3">
                      <p:embed/>
                    </p:oleObj>
                  </mc:Choice>
                  <mc:Fallback>
                    <p:oleObj r:id="rId9" imgW="254000" imgH="317500" progId="Equation.3">
                      <p:embed/>
                      <p:pic>
                        <p:nvPicPr>
                          <p:cNvPr id="0" name="图片 3452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160" y="2544"/>
                            <a:ext cx="237" cy="2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9274" name="任意多边形 463933"/>
              <p:cNvSpPr/>
              <p:nvPr/>
            </p:nvSpPr>
            <p:spPr>
              <a:xfrm>
                <a:off x="1248" y="1362"/>
                <a:ext cx="1465" cy="1219"/>
              </a:xfrm>
              <a:custGeom>
                <a:avLst/>
                <a:gdLst/>
                <a:ahLst/>
                <a:cxnLst>
                  <a:cxn ang="0">
                    <a:pos x="23" y="54"/>
                  </a:cxn>
                  <a:cxn ang="0">
                    <a:pos x="53" y="246"/>
                  </a:cxn>
                  <a:cxn ang="0">
                    <a:pos x="106" y="408"/>
                  </a:cxn>
                  <a:cxn ang="0">
                    <a:pos x="177" y="624"/>
                  </a:cxn>
                  <a:cxn ang="0">
                    <a:pos x="248" y="763"/>
                  </a:cxn>
                  <a:cxn ang="0">
                    <a:pos x="349" y="901"/>
                  </a:cxn>
                  <a:cxn ang="0">
                    <a:pos x="496" y="967"/>
                  </a:cxn>
                  <a:cxn ang="0">
                    <a:pos x="692" y="1056"/>
                  </a:cxn>
                  <a:cxn ang="0">
                    <a:pos x="992" y="1135"/>
                  </a:cxn>
                  <a:cxn ang="0">
                    <a:pos x="1227" y="1182"/>
                  </a:cxn>
                  <a:cxn ang="0">
                    <a:pos x="1465" y="1219"/>
                  </a:cxn>
                  <a:cxn ang="0">
                    <a:pos x="1352" y="1117"/>
                  </a:cxn>
                  <a:cxn ang="0">
                    <a:pos x="1222" y="1027"/>
                  </a:cxn>
                  <a:cxn ang="0">
                    <a:pos x="1181" y="979"/>
                  </a:cxn>
                  <a:cxn ang="0">
                    <a:pos x="1122" y="906"/>
                  </a:cxn>
                  <a:cxn ang="0">
                    <a:pos x="1093" y="859"/>
                  </a:cxn>
                  <a:cxn ang="0">
                    <a:pos x="1021" y="715"/>
                  </a:cxn>
                  <a:cxn ang="0">
                    <a:pos x="933" y="661"/>
                  </a:cxn>
                  <a:cxn ang="0">
                    <a:pos x="1004" y="679"/>
                  </a:cxn>
                  <a:cxn ang="0">
                    <a:pos x="864" y="633"/>
                  </a:cxn>
                  <a:cxn ang="0">
                    <a:pos x="791" y="607"/>
                  </a:cxn>
                  <a:cxn ang="0">
                    <a:pos x="697" y="570"/>
                  </a:cxn>
                  <a:cxn ang="0">
                    <a:pos x="591" y="504"/>
                  </a:cxn>
                  <a:cxn ang="0">
                    <a:pos x="383" y="367"/>
                  </a:cxn>
                  <a:cxn ang="0">
                    <a:pos x="213" y="240"/>
                  </a:cxn>
                  <a:cxn ang="0">
                    <a:pos x="124" y="162"/>
                  </a:cxn>
                  <a:cxn ang="0">
                    <a:pos x="0" y="0"/>
                  </a:cxn>
                </a:cxnLst>
                <a:rect l="0" t="0" r="0" b="0"/>
                <a:pathLst>
                  <a:path w="1465" h="1219">
                    <a:moveTo>
                      <a:pt x="23" y="54"/>
                    </a:moveTo>
                    <a:lnTo>
                      <a:pt x="53" y="246"/>
                    </a:lnTo>
                    <a:lnTo>
                      <a:pt x="106" y="408"/>
                    </a:lnTo>
                    <a:lnTo>
                      <a:pt x="177" y="624"/>
                    </a:lnTo>
                    <a:lnTo>
                      <a:pt x="248" y="763"/>
                    </a:lnTo>
                    <a:lnTo>
                      <a:pt x="349" y="901"/>
                    </a:lnTo>
                    <a:lnTo>
                      <a:pt x="496" y="967"/>
                    </a:lnTo>
                    <a:lnTo>
                      <a:pt x="692" y="1056"/>
                    </a:lnTo>
                    <a:lnTo>
                      <a:pt x="992" y="1135"/>
                    </a:lnTo>
                    <a:lnTo>
                      <a:pt x="1227" y="1182"/>
                    </a:lnTo>
                    <a:lnTo>
                      <a:pt x="1465" y="1219"/>
                    </a:lnTo>
                    <a:lnTo>
                      <a:pt x="1352" y="1117"/>
                    </a:lnTo>
                    <a:lnTo>
                      <a:pt x="1222" y="1027"/>
                    </a:lnTo>
                    <a:lnTo>
                      <a:pt x="1181" y="979"/>
                    </a:lnTo>
                    <a:lnTo>
                      <a:pt x="1122" y="906"/>
                    </a:lnTo>
                    <a:lnTo>
                      <a:pt x="1093" y="859"/>
                    </a:lnTo>
                    <a:lnTo>
                      <a:pt x="1021" y="715"/>
                    </a:lnTo>
                    <a:lnTo>
                      <a:pt x="933" y="661"/>
                    </a:lnTo>
                    <a:lnTo>
                      <a:pt x="1004" y="679"/>
                    </a:lnTo>
                    <a:lnTo>
                      <a:pt x="864" y="633"/>
                    </a:lnTo>
                    <a:lnTo>
                      <a:pt x="791" y="607"/>
                    </a:lnTo>
                    <a:lnTo>
                      <a:pt x="697" y="570"/>
                    </a:lnTo>
                    <a:lnTo>
                      <a:pt x="591" y="504"/>
                    </a:lnTo>
                    <a:lnTo>
                      <a:pt x="383" y="367"/>
                    </a:lnTo>
                    <a:lnTo>
                      <a:pt x="213" y="240"/>
                    </a:lnTo>
                    <a:lnTo>
                      <a:pt x="124" y="162"/>
                    </a:lnTo>
                    <a:lnTo>
                      <a:pt x="0" y="0"/>
                    </a:lnTo>
                  </a:path>
                </a:pathLst>
              </a:custGeom>
              <a:blipFill rotWithShape="0">
                <a:blip r:embed="rId11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3935" name="文本框 463934"/>
              <p:cNvSpPr txBox="1"/>
              <p:nvPr/>
            </p:nvSpPr>
            <p:spPr>
              <a:xfrm flipH="1">
                <a:off x="1704" y="1950"/>
                <a:ext cx="372" cy="4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1" kern="1200" cap="none" spc="0" normalizeH="0" baseline="0" noProof="1">
                    <a:solidFill>
                      <a:srgbClr val="CC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3200" b="1" i="1" kern="1200" cap="none" spc="0" normalizeH="0" baseline="0" noProof="1">
                  <a:solidFill>
                    <a:srgbClr val="A50021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9276" name="直接连接符 463935"/>
              <p:cNvSpPr/>
              <p:nvPr/>
            </p:nvSpPr>
            <p:spPr>
              <a:xfrm flipH="1" flipV="1">
                <a:off x="1909" y="2413"/>
                <a:ext cx="124" cy="42"/>
              </a:xfrm>
              <a:prstGeom prst="line">
                <a:avLst/>
              </a:prstGeom>
              <a:ln w="571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9277" name="直接连接符 463936"/>
              <p:cNvSpPr/>
              <p:nvPr/>
            </p:nvSpPr>
            <p:spPr>
              <a:xfrm>
                <a:off x="1730" y="1781"/>
                <a:ext cx="138" cy="85"/>
              </a:xfrm>
              <a:prstGeom prst="line">
                <a:avLst/>
              </a:prstGeom>
              <a:ln w="571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9278" name="直接连接符 463937"/>
              <p:cNvSpPr/>
              <p:nvPr/>
            </p:nvSpPr>
            <p:spPr>
              <a:xfrm flipH="1" flipV="1">
                <a:off x="1331" y="1740"/>
                <a:ext cx="41" cy="126"/>
              </a:xfrm>
              <a:prstGeom prst="line">
                <a:avLst/>
              </a:prstGeom>
              <a:ln w="57150" cap="flat" cmpd="sng">
                <a:solidFill>
                  <a:srgbClr val="CC0099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39279" name="对象 463938"/>
              <p:cNvGraphicFramePr/>
              <p:nvPr/>
            </p:nvGraphicFramePr>
            <p:xfrm>
              <a:off x="1920" y="1632"/>
              <a:ext cx="202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89" r:id="rId12" imgW="215900" imgH="316865" progId="Equation.3">
                      <p:embed/>
                    </p:oleObj>
                  </mc:Choice>
                  <mc:Fallback>
                    <p:oleObj r:id="rId12" imgW="215900" imgH="316865" progId="Equation.3">
                      <p:embed/>
                      <p:pic>
                        <p:nvPicPr>
                          <p:cNvPr id="0" name="图片 3453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1920" y="1632"/>
                            <a:ext cx="202" cy="29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9280" name="直接连接符 463939"/>
              <p:cNvSpPr/>
              <p:nvPr/>
            </p:nvSpPr>
            <p:spPr>
              <a:xfrm>
                <a:off x="2400" y="2256"/>
                <a:ext cx="88" cy="115"/>
              </a:xfrm>
              <a:prstGeom prst="line">
                <a:avLst/>
              </a:prstGeom>
              <a:ln w="57150" cap="flat" cmpd="sng">
                <a:solidFill>
                  <a:srgbClr val="CC0099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9281" name="任意多边形 463940"/>
              <p:cNvSpPr/>
              <p:nvPr/>
            </p:nvSpPr>
            <p:spPr>
              <a:xfrm>
                <a:off x="1248" y="1362"/>
                <a:ext cx="1044" cy="6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2" y="246"/>
                  </a:cxn>
                  <a:cxn ang="0">
                    <a:pos x="501" y="435"/>
                  </a:cxn>
                  <a:cxn ang="0">
                    <a:pos x="734" y="565"/>
                  </a:cxn>
                  <a:cxn ang="0">
                    <a:pos x="1001" y="665"/>
                  </a:cxn>
                  <a:cxn ang="0">
                    <a:pos x="995" y="658"/>
                  </a:cxn>
                </a:cxnLst>
                <a:rect l="0" t="0" r="0" b="0"/>
                <a:pathLst>
                  <a:path w="1044" h="680">
                    <a:moveTo>
                      <a:pt x="0" y="0"/>
                    </a:moveTo>
                    <a:cubicBezTo>
                      <a:pt x="40" y="41"/>
                      <a:pt x="159" y="174"/>
                      <a:pt x="242" y="246"/>
                    </a:cubicBezTo>
                    <a:cubicBezTo>
                      <a:pt x="325" y="318"/>
                      <a:pt x="419" y="382"/>
                      <a:pt x="501" y="435"/>
                    </a:cubicBezTo>
                    <a:cubicBezTo>
                      <a:pt x="583" y="488"/>
                      <a:pt x="651" y="527"/>
                      <a:pt x="734" y="565"/>
                    </a:cubicBezTo>
                    <a:cubicBezTo>
                      <a:pt x="817" y="603"/>
                      <a:pt x="958" y="650"/>
                      <a:pt x="1001" y="665"/>
                    </a:cubicBezTo>
                    <a:cubicBezTo>
                      <a:pt x="1044" y="680"/>
                      <a:pt x="996" y="658"/>
                      <a:pt x="995" y="658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282" name="任意多边形 463941"/>
              <p:cNvSpPr/>
              <p:nvPr/>
            </p:nvSpPr>
            <p:spPr>
              <a:xfrm>
                <a:off x="1561" y="2251"/>
                <a:ext cx="1175" cy="3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1" y="87"/>
                  </a:cxn>
                  <a:cxn ang="0">
                    <a:pos x="473" y="204"/>
                  </a:cxn>
                  <a:cxn ang="0">
                    <a:pos x="866" y="293"/>
                  </a:cxn>
                  <a:cxn ang="0">
                    <a:pos x="1175" y="330"/>
                  </a:cxn>
                </a:cxnLst>
                <a:rect l="0" t="0" r="0" b="0"/>
                <a:pathLst>
                  <a:path w="1175" h="330">
                    <a:moveTo>
                      <a:pt x="0" y="0"/>
                    </a:moveTo>
                    <a:cubicBezTo>
                      <a:pt x="30" y="14"/>
                      <a:pt x="102" y="53"/>
                      <a:pt x="181" y="87"/>
                    </a:cubicBezTo>
                    <a:cubicBezTo>
                      <a:pt x="260" y="121"/>
                      <a:pt x="359" y="170"/>
                      <a:pt x="473" y="204"/>
                    </a:cubicBezTo>
                    <a:cubicBezTo>
                      <a:pt x="587" y="238"/>
                      <a:pt x="749" y="272"/>
                      <a:pt x="866" y="293"/>
                    </a:cubicBezTo>
                    <a:cubicBezTo>
                      <a:pt x="983" y="314"/>
                      <a:pt x="1111" y="322"/>
                      <a:pt x="1175" y="330"/>
                    </a:cubicBez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283" name="任意多边形 463942"/>
              <p:cNvSpPr/>
              <p:nvPr/>
            </p:nvSpPr>
            <p:spPr>
              <a:xfrm>
                <a:off x="1248" y="1362"/>
                <a:ext cx="325" cy="89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2" y="297"/>
                  </a:cxn>
                  <a:cxn ang="0">
                    <a:pos x="184" y="654"/>
                  </a:cxn>
                  <a:cxn ang="0">
                    <a:pos x="325" y="895"/>
                  </a:cxn>
                </a:cxnLst>
                <a:rect l="0" t="0" r="0" b="0"/>
                <a:pathLst>
                  <a:path w="325" h="895">
                    <a:moveTo>
                      <a:pt x="0" y="0"/>
                    </a:moveTo>
                    <a:cubicBezTo>
                      <a:pt x="10" y="49"/>
                      <a:pt x="31" y="188"/>
                      <a:pt x="62" y="297"/>
                    </a:cubicBezTo>
                    <a:cubicBezTo>
                      <a:pt x="93" y="406"/>
                      <a:pt x="140" y="554"/>
                      <a:pt x="184" y="654"/>
                    </a:cubicBezTo>
                    <a:cubicBezTo>
                      <a:pt x="228" y="754"/>
                      <a:pt x="296" y="845"/>
                      <a:pt x="325" y="895"/>
                    </a:cubicBez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284" name="任意多边形 463943"/>
              <p:cNvSpPr/>
              <p:nvPr/>
            </p:nvSpPr>
            <p:spPr>
              <a:xfrm>
                <a:off x="2252" y="2029"/>
                <a:ext cx="484" cy="55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" y="309"/>
                  </a:cxn>
                  <a:cxn ang="0">
                    <a:pos x="484" y="552"/>
                  </a:cxn>
                </a:cxnLst>
                <a:rect l="0" t="0" r="0" b="0"/>
                <a:pathLst>
                  <a:path w="484" h="552">
                    <a:moveTo>
                      <a:pt x="0" y="0"/>
                    </a:moveTo>
                    <a:cubicBezTo>
                      <a:pt x="35" y="51"/>
                      <a:pt x="129" y="217"/>
                      <a:pt x="210" y="309"/>
                    </a:cubicBezTo>
                    <a:cubicBezTo>
                      <a:pt x="291" y="401"/>
                      <a:pt x="427" y="501"/>
                      <a:pt x="484" y="552"/>
                    </a:cubicBezTo>
                  </a:path>
                </a:pathLst>
              </a:custGeom>
              <a:noFill/>
              <a:ln w="28575" cap="flat" cmpd="sng">
                <a:solidFill>
                  <a:srgbClr val="CC00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3945" name="文本框 463944"/>
              <p:cNvSpPr txBox="1"/>
              <p:nvPr/>
            </p:nvSpPr>
            <p:spPr>
              <a:xfrm>
                <a:off x="1152" y="1104"/>
                <a:ext cx="288" cy="31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b="1" i="1" kern="1200" cap="none" spc="0" normalizeH="0" baseline="0" noProof="1">
                    <a:solidFill>
                      <a:srgbClr val="1C1C1C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463946" name="文本框 463945"/>
              <p:cNvSpPr txBox="1"/>
              <p:nvPr/>
            </p:nvSpPr>
            <p:spPr>
              <a:xfrm>
                <a:off x="2256" y="1776"/>
                <a:ext cx="336" cy="3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b="1" i="1" kern="1200" cap="none" spc="0" normalizeH="0" baseline="0" noProof="1">
                    <a:solidFill>
                      <a:srgbClr val="1C1C1C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463947" name="文本框 463946"/>
              <p:cNvSpPr txBox="1"/>
              <p:nvPr/>
            </p:nvSpPr>
            <p:spPr>
              <a:xfrm>
                <a:off x="2736" y="2352"/>
                <a:ext cx="288" cy="3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b="1" i="1" kern="1200" cap="none" spc="0" normalizeH="0" baseline="0" noProof="1">
                    <a:solidFill>
                      <a:srgbClr val="1C1C1C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463948" name="文本框 463947"/>
              <p:cNvSpPr txBox="1"/>
              <p:nvPr/>
            </p:nvSpPr>
            <p:spPr>
              <a:xfrm>
                <a:off x="1344" y="2208"/>
                <a:ext cx="336" cy="3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en-US" altLang="zh-CN" b="1" i="1" kern="1200" cap="none" spc="0" normalizeH="0" baseline="0" noProof="1">
                    <a:solidFill>
                      <a:srgbClr val="1C1C1C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139289" name="直接连接符 463948"/>
              <p:cNvSpPr/>
              <p:nvPr/>
            </p:nvSpPr>
            <p:spPr>
              <a:xfrm flipH="1">
                <a:off x="960" y="1392"/>
                <a:ext cx="288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9290" name="直接连接符 463949"/>
              <p:cNvSpPr/>
              <p:nvPr/>
            </p:nvSpPr>
            <p:spPr>
              <a:xfrm flipH="1">
                <a:off x="1248" y="1392"/>
                <a:ext cx="0" cy="153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9291" name="直接连接符 463950"/>
              <p:cNvSpPr/>
              <p:nvPr/>
            </p:nvSpPr>
            <p:spPr>
              <a:xfrm flipH="1">
                <a:off x="2256" y="2016"/>
                <a:ext cx="0" cy="91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9292" name="直接连接符 463951"/>
              <p:cNvSpPr/>
              <p:nvPr/>
            </p:nvSpPr>
            <p:spPr>
              <a:xfrm flipH="1">
                <a:off x="1584" y="2256"/>
                <a:ext cx="0" cy="672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9293" name="直接连接符 463952"/>
              <p:cNvSpPr/>
              <p:nvPr/>
            </p:nvSpPr>
            <p:spPr>
              <a:xfrm flipH="1">
                <a:off x="2736" y="2592"/>
                <a:ext cx="0" cy="336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39294" name="对象 463953"/>
              <p:cNvGraphicFramePr/>
              <p:nvPr/>
            </p:nvGraphicFramePr>
            <p:xfrm>
              <a:off x="1146" y="2916"/>
              <a:ext cx="203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90" r:id="rId14" imgW="228600" imgH="317500" progId="Equation.3">
                      <p:embed/>
                    </p:oleObj>
                  </mc:Choice>
                  <mc:Fallback>
                    <p:oleObj r:id="rId14" imgW="228600" imgH="317500" progId="Equation.3">
                      <p:embed/>
                      <p:pic>
                        <p:nvPicPr>
                          <p:cNvPr id="0" name="图片 3467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1146" y="2916"/>
                            <a:ext cx="203" cy="2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9295" name="对象 463954"/>
              <p:cNvGraphicFramePr/>
              <p:nvPr/>
            </p:nvGraphicFramePr>
            <p:xfrm>
              <a:off x="1477" y="2928"/>
              <a:ext cx="226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91" r:id="rId16" imgW="254000" imgH="317500" progId="Equation.3">
                      <p:embed/>
                    </p:oleObj>
                  </mc:Choice>
                  <mc:Fallback>
                    <p:oleObj r:id="rId16" imgW="254000" imgH="317500" progId="Equation.3">
                      <p:embed/>
                      <p:pic>
                        <p:nvPicPr>
                          <p:cNvPr id="0" name="图片 3458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1477" y="2928"/>
                            <a:ext cx="226" cy="2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9296" name="对象 463955"/>
              <p:cNvGraphicFramePr/>
              <p:nvPr/>
            </p:nvGraphicFramePr>
            <p:xfrm>
              <a:off x="2149" y="2928"/>
              <a:ext cx="225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92" r:id="rId18" imgW="254000" imgH="317500" progId="Equation.3">
                      <p:embed/>
                    </p:oleObj>
                  </mc:Choice>
                  <mc:Fallback>
                    <p:oleObj r:id="rId18" imgW="254000" imgH="317500" progId="Equation.3">
                      <p:embed/>
                      <p:pic>
                        <p:nvPicPr>
                          <p:cNvPr id="0" name="图片 3455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2149" y="2928"/>
                            <a:ext cx="225" cy="2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9297" name="对象 463956"/>
              <p:cNvGraphicFramePr/>
              <p:nvPr/>
            </p:nvGraphicFramePr>
            <p:xfrm>
              <a:off x="2655" y="2923"/>
              <a:ext cx="225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93" r:id="rId20" imgW="254000" imgH="330200" progId="Equation.3">
                      <p:embed/>
                    </p:oleObj>
                  </mc:Choice>
                  <mc:Fallback>
                    <p:oleObj r:id="rId20" imgW="254000" imgH="330200" progId="Equation.3">
                      <p:embed/>
                      <p:pic>
                        <p:nvPicPr>
                          <p:cNvPr id="0" name="图片 3465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655" y="2923"/>
                            <a:ext cx="225" cy="29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9298" name="对象 463957"/>
            <p:cNvGraphicFramePr/>
            <p:nvPr/>
          </p:nvGraphicFramePr>
          <p:xfrm>
            <a:off x="4740" y="1797"/>
            <a:ext cx="768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494" r:id="rId22" imgW="659765" imgH="317500" progId="Equation.3">
                    <p:embed/>
                  </p:oleObj>
                </mc:Choice>
                <mc:Fallback>
                  <p:oleObj r:id="rId22" imgW="659765" imgH="317500" progId="Equation.3">
                    <p:embed/>
                    <p:pic>
                      <p:nvPicPr>
                        <p:cNvPr id="0" name="图片 3459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740" y="1797"/>
                          <a:ext cx="768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9299" name="组合 463958"/>
            <p:cNvGrpSpPr/>
            <p:nvPr/>
          </p:nvGrpSpPr>
          <p:grpSpPr>
            <a:xfrm>
              <a:off x="4300" y="1997"/>
              <a:ext cx="394" cy="526"/>
              <a:chOff x="1392" y="1196"/>
              <a:chExt cx="575" cy="724"/>
            </a:xfrm>
          </p:grpSpPr>
          <p:graphicFrame>
            <p:nvGraphicFramePr>
              <p:cNvPr id="139300" name="对象 463959"/>
              <p:cNvGraphicFramePr/>
              <p:nvPr/>
            </p:nvGraphicFramePr>
            <p:xfrm>
              <a:off x="1440" y="1196"/>
              <a:ext cx="527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95" r:id="rId24" imgW="190500" imgH="215900" progId="Equation.3">
                      <p:embed/>
                    </p:oleObj>
                  </mc:Choice>
                  <mc:Fallback>
                    <p:oleObj r:id="rId24" imgW="190500" imgH="215900" progId="Equation.3">
                      <p:embed/>
                      <p:pic>
                        <p:nvPicPr>
                          <p:cNvPr id="0" name="图片 3462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1440" y="1196"/>
                            <a:ext cx="527" cy="5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9301" name="下箭头 463960"/>
              <p:cNvSpPr/>
              <p:nvPr/>
            </p:nvSpPr>
            <p:spPr>
              <a:xfrm>
                <a:off x="1392" y="1536"/>
                <a:ext cx="96" cy="384"/>
              </a:xfrm>
              <a:prstGeom prst="downArrow">
                <a:avLst>
                  <a:gd name="adj1" fmla="val 50000"/>
                  <a:gd name="adj2" fmla="val 100000"/>
                </a:avLst>
              </a:prstGeom>
              <a:solidFill>
                <a:schemeClr val="bg2"/>
              </a:solidFill>
              <a:ln w="28575" cap="flat" cmpd="sng">
                <a:solidFill>
                  <a:srgbClr val="FF00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9302" name="组合 463961"/>
            <p:cNvGrpSpPr/>
            <p:nvPr/>
          </p:nvGrpSpPr>
          <p:grpSpPr>
            <a:xfrm>
              <a:off x="4513" y="2931"/>
              <a:ext cx="402" cy="494"/>
              <a:chOff x="1566" y="2352"/>
              <a:chExt cx="576" cy="793"/>
            </a:xfrm>
          </p:grpSpPr>
          <p:graphicFrame>
            <p:nvGraphicFramePr>
              <p:cNvPr id="139303" name="对象 463962"/>
              <p:cNvGraphicFramePr/>
              <p:nvPr/>
            </p:nvGraphicFramePr>
            <p:xfrm>
              <a:off x="1566" y="2539"/>
              <a:ext cx="576" cy="6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496" r:id="rId26" imgW="203200" imgH="215900" progId="Equation.3">
                      <p:embed/>
                    </p:oleObj>
                  </mc:Choice>
                  <mc:Fallback>
                    <p:oleObj r:id="rId26" imgW="203200" imgH="215900" progId="Equation.3">
                      <p:embed/>
                      <p:pic>
                        <p:nvPicPr>
                          <p:cNvPr id="0" name="图片 3460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1566" y="2539"/>
                            <a:ext cx="576" cy="60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9304" name="下箭头 463963"/>
              <p:cNvSpPr/>
              <p:nvPr/>
            </p:nvSpPr>
            <p:spPr>
              <a:xfrm>
                <a:off x="1584" y="2352"/>
                <a:ext cx="96" cy="384"/>
              </a:xfrm>
              <a:prstGeom prst="downArrow">
                <a:avLst>
                  <a:gd name="adj1" fmla="val 50000"/>
                  <a:gd name="adj2" fmla="val 100000"/>
                </a:avLst>
              </a:prstGeom>
              <a:solidFill>
                <a:schemeClr val="accent2"/>
              </a:solidFill>
              <a:ln w="28575" cap="flat" cmpd="sng">
                <a:solidFill>
                  <a:srgbClr val="0066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63967" name="文本框 463966"/>
          <p:cNvSpPr txBox="1"/>
          <p:nvPr/>
        </p:nvSpPr>
        <p:spPr>
          <a:xfrm>
            <a:off x="0" y="461963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Blip>
                <a:blip r:embed="rId28"/>
              </a:buBlip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卡诺热机效率</a:t>
            </a:r>
          </a:p>
        </p:txBody>
      </p:sp>
      <p:grpSp>
        <p:nvGrpSpPr>
          <p:cNvPr id="7" name="组合 464021"/>
          <p:cNvGrpSpPr/>
          <p:nvPr/>
        </p:nvGrpSpPr>
        <p:grpSpPr>
          <a:xfrm>
            <a:off x="5651500" y="3500438"/>
            <a:ext cx="3529013" cy="3357562"/>
            <a:chOff x="3560" y="2205"/>
            <a:chExt cx="2223" cy="2115"/>
          </a:xfrm>
        </p:grpSpPr>
        <p:sp>
          <p:nvSpPr>
            <p:cNvPr id="139307" name="矩形 463968"/>
            <p:cNvSpPr/>
            <p:nvPr/>
          </p:nvSpPr>
          <p:spPr>
            <a:xfrm>
              <a:off x="3560" y="2205"/>
              <a:ext cx="2223" cy="211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9308" name="直接连接符 463969"/>
            <p:cNvSpPr/>
            <p:nvPr/>
          </p:nvSpPr>
          <p:spPr>
            <a:xfrm>
              <a:off x="3817" y="4061"/>
              <a:ext cx="1923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39309" name="直接连接符 463970"/>
            <p:cNvSpPr/>
            <p:nvPr/>
          </p:nvSpPr>
          <p:spPr>
            <a:xfrm flipV="1">
              <a:off x="3817" y="2293"/>
              <a:ext cx="0" cy="176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39310" name="对象 463971"/>
            <p:cNvGraphicFramePr/>
            <p:nvPr/>
          </p:nvGraphicFramePr>
          <p:xfrm>
            <a:off x="5570" y="3845"/>
            <a:ext cx="17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497" r:id="rId29" imgW="215900" imgH="241300" progId="Equation.3">
                    <p:embed/>
                  </p:oleObj>
                </mc:Choice>
                <mc:Fallback>
                  <p:oleObj r:id="rId29" imgW="215900" imgH="241300" progId="Equation.3">
                    <p:embed/>
                    <p:pic>
                      <p:nvPicPr>
                        <p:cNvPr id="0" name="图片 346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70" y="3845"/>
                          <a:ext cx="170" cy="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311" name="对象 463972"/>
            <p:cNvGraphicFramePr/>
            <p:nvPr/>
          </p:nvGraphicFramePr>
          <p:xfrm>
            <a:off x="3724" y="4056"/>
            <a:ext cx="150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498" r:id="rId30" imgW="165100" imgH="190500" progId="Equation.3">
                    <p:embed/>
                  </p:oleObj>
                </mc:Choice>
                <mc:Fallback>
                  <p:oleObj r:id="rId30" imgW="165100" imgH="190500" progId="Equation.3">
                    <p:embed/>
                    <p:pic>
                      <p:nvPicPr>
                        <p:cNvPr id="0" name="图片 346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24" y="4056"/>
                          <a:ext cx="150" cy="1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312" name="对象 463973"/>
            <p:cNvGraphicFramePr/>
            <p:nvPr/>
          </p:nvGraphicFramePr>
          <p:xfrm>
            <a:off x="3582" y="2291"/>
            <a:ext cx="18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499" r:id="rId31" imgW="203200" imgH="241300" progId="Equation.3">
                    <p:embed/>
                  </p:oleObj>
                </mc:Choice>
                <mc:Fallback>
                  <p:oleObj r:id="rId31" imgW="203200" imgH="241300" progId="Equation.3">
                    <p:embed/>
                    <p:pic>
                      <p:nvPicPr>
                        <p:cNvPr id="0" name="图片 346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82" y="2291"/>
                          <a:ext cx="180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313" name="对象 463974"/>
            <p:cNvGraphicFramePr/>
            <p:nvPr/>
          </p:nvGraphicFramePr>
          <p:xfrm>
            <a:off x="4973" y="3716"/>
            <a:ext cx="212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0" r:id="rId32" imgW="254000" imgH="317500" progId="Equation.3">
                    <p:embed/>
                  </p:oleObj>
                </mc:Choice>
                <mc:Fallback>
                  <p:oleObj r:id="rId32" imgW="254000" imgH="317500" progId="Equation.3">
                    <p:embed/>
                    <p:pic>
                      <p:nvPicPr>
                        <p:cNvPr id="0" name="图片 346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73" y="3716"/>
                          <a:ext cx="212" cy="2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314" name="任意多边形 463975"/>
            <p:cNvSpPr/>
            <p:nvPr/>
          </p:nvSpPr>
          <p:spPr>
            <a:xfrm>
              <a:off x="4073" y="2653"/>
              <a:ext cx="1305" cy="1096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37" y="179"/>
                </a:cxn>
                <a:cxn ang="0">
                  <a:pos x="75" y="297"/>
                </a:cxn>
                <a:cxn ang="0">
                  <a:pos x="126" y="453"/>
                </a:cxn>
                <a:cxn ang="0">
                  <a:pos x="175" y="555"/>
                </a:cxn>
                <a:cxn ang="0">
                  <a:pos x="247" y="655"/>
                </a:cxn>
                <a:cxn ang="0">
                  <a:pos x="351" y="702"/>
                </a:cxn>
                <a:cxn ang="0">
                  <a:pos x="489" y="767"/>
                </a:cxn>
                <a:cxn ang="0">
                  <a:pos x="701" y="824"/>
                </a:cxn>
                <a:cxn ang="0">
                  <a:pos x="868" y="860"/>
                </a:cxn>
                <a:cxn ang="0">
                  <a:pos x="1035" y="886"/>
                </a:cxn>
                <a:cxn ang="0">
                  <a:pos x="956" y="812"/>
                </a:cxn>
                <a:cxn ang="0">
                  <a:pos x="864" y="746"/>
                </a:cxn>
                <a:cxn ang="0">
                  <a:pos x="835" y="711"/>
                </a:cxn>
                <a:cxn ang="0">
                  <a:pos x="793" y="659"/>
                </a:cxn>
                <a:cxn ang="0">
                  <a:pos x="773" y="624"/>
                </a:cxn>
                <a:cxn ang="0">
                  <a:pos x="722" y="520"/>
                </a:cxn>
                <a:cxn ang="0">
                  <a:pos x="659" y="480"/>
                </a:cxn>
                <a:cxn ang="0">
                  <a:pos x="709" y="493"/>
                </a:cxn>
                <a:cxn ang="0">
                  <a:pos x="611" y="460"/>
                </a:cxn>
                <a:cxn ang="0">
                  <a:pos x="559" y="441"/>
                </a:cxn>
                <a:cxn ang="0">
                  <a:pos x="493" y="414"/>
                </a:cxn>
                <a:cxn ang="0">
                  <a:pos x="418" y="366"/>
                </a:cxn>
                <a:cxn ang="0">
                  <a:pos x="271" y="267"/>
                </a:cxn>
                <a:cxn ang="0">
                  <a:pos x="151" y="174"/>
                </a:cxn>
                <a:cxn ang="0">
                  <a:pos x="87" y="118"/>
                </a:cxn>
                <a:cxn ang="0">
                  <a:pos x="0" y="0"/>
                </a:cxn>
              </a:cxnLst>
              <a:rect l="0" t="0" r="0" b="0"/>
              <a:pathLst>
                <a:path w="1465" h="1219">
                  <a:moveTo>
                    <a:pt x="23" y="54"/>
                  </a:moveTo>
                  <a:lnTo>
                    <a:pt x="53" y="246"/>
                  </a:lnTo>
                  <a:lnTo>
                    <a:pt x="106" y="408"/>
                  </a:lnTo>
                  <a:lnTo>
                    <a:pt x="177" y="624"/>
                  </a:lnTo>
                  <a:lnTo>
                    <a:pt x="248" y="763"/>
                  </a:lnTo>
                  <a:lnTo>
                    <a:pt x="349" y="901"/>
                  </a:lnTo>
                  <a:lnTo>
                    <a:pt x="496" y="967"/>
                  </a:lnTo>
                  <a:lnTo>
                    <a:pt x="692" y="1056"/>
                  </a:lnTo>
                  <a:lnTo>
                    <a:pt x="992" y="1135"/>
                  </a:lnTo>
                  <a:lnTo>
                    <a:pt x="1227" y="1182"/>
                  </a:lnTo>
                  <a:lnTo>
                    <a:pt x="1465" y="1219"/>
                  </a:lnTo>
                  <a:lnTo>
                    <a:pt x="1352" y="1117"/>
                  </a:lnTo>
                  <a:lnTo>
                    <a:pt x="1222" y="1027"/>
                  </a:lnTo>
                  <a:lnTo>
                    <a:pt x="1181" y="979"/>
                  </a:lnTo>
                  <a:lnTo>
                    <a:pt x="1122" y="906"/>
                  </a:lnTo>
                  <a:lnTo>
                    <a:pt x="1093" y="859"/>
                  </a:lnTo>
                  <a:lnTo>
                    <a:pt x="1021" y="715"/>
                  </a:lnTo>
                  <a:lnTo>
                    <a:pt x="933" y="661"/>
                  </a:lnTo>
                  <a:lnTo>
                    <a:pt x="1004" y="679"/>
                  </a:lnTo>
                  <a:lnTo>
                    <a:pt x="864" y="633"/>
                  </a:lnTo>
                  <a:lnTo>
                    <a:pt x="791" y="607"/>
                  </a:lnTo>
                  <a:lnTo>
                    <a:pt x="697" y="570"/>
                  </a:lnTo>
                  <a:lnTo>
                    <a:pt x="591" y="504"/>
                  </a:lnTo>
                  <a:lnTo>
                    <a:pt x="383" y="367"/>
                  </a:lnTo>
                  <a:lnTo>
                    <a:pt x="213" y="240"/>
                  </a:lnTo>
                  <a:lnTo>
                    <a:pt x="124" y="162"/>
                  </a:lnTo>
                  <a:lnTo>
                    <a:pt x="0" y="0"/>
                  </a:lnTo>
                </a:path>
              </a:pathLst>
            </a:custGeom>
            <a:blipFill rotWithShape="0">
              <a:blip r:embed="rId33"/>
            </a:blip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77" name="文本框 463976"/>
            <p:cNvSpPr txBox="1"/>
            <p:nvPr/>
          </p:nvSpPr>
          <p:spPr>
            <a:xfrm flipH="1">
              <a:off x="4377" y="3113"/>
              <a:ext cx="48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 eaLnBrk="0" hangingPunct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3200" b="1" i="1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zh-CN" altLang="en-US" sz="2800" b="1" kern="1200" cap="none" spc="0" normalizeH="0" baseline="-2500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外</a:t>
              </a:r>
            </a:p>
          </p:txBody>
        </p:sp>
        <p:sp>
          <p:nvSpPr>
            <p:cNvPr id="139316" name="直接连接符 463977"/>
            <p:cNvSpPr/>
            <p:nvPr/>
          </p:nvSpPr>
          <p:spPr>
            <a:xfrm flipH="1" flipV="1">
              <a:off x="4689" y="3598"/>
              <a:ext cx="111" cy="38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139317" name="直接连接符 463978"/>
            <p:cNvSpPr/>
            <p:nvPr/>
          </p:nvSpPr>
          <p:spPr>
            <a:xfrm>
              <a:off x="4458" y="2986"/>
              <a:ext cx="128" cy="87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139318" name="直接连接符 463979"/>
            <p:cNvSpPr/>
            <p:nvPr/>
          </p:nvSpPr>
          <p:spPr>
            <a:xfrm flipH="1" flipV="1">
              <a:off x="4159" y="3046"/>
              <a:ext cx="36" cy="113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triangle" w="sm" len="lg"/>
              <a:tailEnd type="none" w="sm" len="lg"/>
            </a:ln>
          </p:spPr>
        </p:sp>
        <p:graphicFrame>
          <p:nvGraphicFramePr>
            <p:cNvPr id="139319" name="对象 463980"/>
            <p:cNvGraphicFramePr/>
            <p:nvPr/>
          </p:nvGraphicFramePr>
          <p:xfrm>
            <a:off x="4672" y="2896"/>
            <a:ext cx="17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1" r:id="rId34" imgW="215900" imgH="316865" progId="Equation.3">
                    <p:embed/>
                  </p:oleObj>
                </mc:Choice>
                <mc:Fallback>
                  <p:oleObj r:id="rId34" imgW="215900" imgH="316865" progId="Equation.3">
                    <p:embed/>
                    <p:pic>
                      <p:nvPicPr>
                        <p:cNvPr id="0" name="图片 3468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672" y="2896"/>
                          <a:ext cx="179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320" name="直接连接符 463981"/>
            <p:cNvSpPr/>
            <p:nvPr/>
          </p:nvSpPr>
          <p:spPr>
            <a:xfrm>
              <a:off x="5056" y="3418"/>
              <a:ext cx="86" cy="86"/>
            </a:xfrm>
            <a:prstGeom prst="line">
              <a:avLst/>
            </a:prstGeom>
            <a:ln w="57150" cap="flat" cmpd="sng">
              <a:solidFill>
                <a:srgbClr val="CC0099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139321" name="任意多边形 463982"/>
            <p:cNvSpPr/>
            <p:nvPr/>
          </p:nvSpPr>
          <p:spPr>
            <a:xfrm>
              <a:off x="4073" y="2641"/>
              <a:ext cx="930" cy="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1" y="179"/>
                </a:cxn>
                <a:cxn ang="0">
                  <a:pos x="354" y="318"/>
                </a:cxn>
                <a:cxn ang="0">
                  <a:pos x="519" y="412"/>
                </a:cxn>
                <a:cxn ang="0">
                  <a:pos x="708" y="485"/>
                </a:cxn>
                <a:cxn ang="0">
                  <a:pos x="703" y="480"/>
                </a:cxn>
              </a:cxnLst>
              <a:rect l="0" t="0" r="0" b="0"/>
              <a:pathLst>
                <a:path w="1044" h="680">
                  <a:moveTo>
                    <a:pt x="0" y="0"/>
                  </a:moveTo>
                  <a:cubicBezTo>
                    <a:pt x="40" y="41"/>
                    <a:pt x="159" y="174"/>
                    <a:pt x="242" y="246"/>
                  </a:cubicBezTo>
                  <a:cubicBezTo>
                    <a:pt x="325" y="318"/>
                    <a:pt x="419" y="382"/>
                    <a:pt x="501" y="435"/>
                  </a:cubicBezTo>
                  <a:cubicBezTo>
                    <a:pt x="583" y="488"/>
                    <a:pt x="651" y="527"/>
                    <a:pt x="734" y="565"/>
                  </a:cubicBezTo>
                  <a:cubicBezTo>
                    <a:pt x="817" y="603"/>
                    <a:pt x="958" y="650"/>
                    <a:pt x="1001" y="665"/>
                  </a:cubicBezTo>
                  <a:cubicBezTo>
                    <a:pt x="1044" y="680"/>
                    <a:pt x="996" y="658"/>
                    <a:pt x="995" y="658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322" name="任意多边形 463983"/>
            <p:cNvSpPr/>
            <p:nvPr/>
          </p:nvSpPr>
          <p:spPr>
            <a:xfrm>
              <a:off x="4352" y="3452"/>
              <a:ext cx="1046" cy="2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" y="63"/>
                </a:cxn>
                <a:cxn ang="0">
                  <a:pos x="334" y="149"/>
                </a:cxn>
                <a:cxn ang="0">
                  <a:pos x="611" y="214"/>
                </a:cxn>
                <a:cxn ang="0">
                  <a:pos x="829" y="240"/>
                </a:cxn>
              </a:cxnLst>
              <a:rect l="0" t="0" r="0" b="0"/>
              <a:pathLst>
                <a:path w="1175" h="330">
                  <a:moveTo>
                    <a:pt x="0" y="0"/>
                  </a:moveTo>
                  <a:cubicBezTo>
                    <a:pt x="30" y="14"/>
                    <a:pt x="102" y="53"/>
                    <a:pt x="181" y="87"/>
                  </a:cubicBezTo>
                  <a:cubicBezTo>
                    <a:pt x="260" y="121"/>
                    <a:pt x="359" y="170"/>
                    <a:pt x="473" y="204"/>
                  </a:cubicBezTo>
                  <a:cubicBezTo>
                    <a:pt x="587" y="238"/>
                    <a:pt x="749" y="272"/>
                    <a:pt x="866" y="293"/>
                  </a:cubicBezTo>
                  <a:cubicBezTo>
                    <a:pt x="983" y="314"/>
                    <a:pt x="1111" y="322"/>
                    <a:pt x="1175" y="330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323" name="任意多边形 463984"/>
            <p:cNvSpPr/>
            <p:nvPr/>
          </p:nvSpPr>
          <p:spPr>
            <a:xfrm>
              <a:off x="4073" y="2653"/>
              <a:ext cx="289" cy="80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" y="216"/>
                </a:cxn>
                <a:cxn ang="0">
                  <a:pos x="130" y="476"/>
                </a:cxn>
                <a:cxn ang="0">
                  <a:pos x="229" y="651"/>
                </a:cxn>
              </a:cxnLst>
              <a:rect l="0" t="0" r="0" b="0"/>
              <a:pathLst>
                <a:path w="325" h="895">
                  <a:moveTo>
                    <a:pt x="0" y="0"/>
                  </a:moveTo>
                  <a:cubicBezTo>
                    <a:pt x="10" y="49"/>
                    <a:pt x="31" y="188"/>
                    <a:pt x="62" y="297"/>
                  </a:cubicBezTo>
                  <a:cubicBezTo>
                    <a:pt x="93" y="406"/>
                    <a:pt x="140" y="554"/>
                    <a:pt x="184" y="654"/>
                  </a:cubicBezTo>
                  <a:cubicBezTo>
                    <a:pt x="228" y="754"/>
                    <a:pt x="296" y="845"/>
                    <a:pt x="325" y="895"/>
                  </a:cubicBez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324" name="任意多边形 463985"/>
            <p:cNvSpPr/>
            <p:nvPr/>
          </p:nvSpPr>
          <p:spPr>
            <a:xfrm>
              <a:off x="4971" y="3245"/>
              <a:ext cx="431" cy="4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9" y="225"/>
                </a:cxn>
                <a:cxn ang="0">
                  <a:pos x="342" y="402"/>
                </a:cxn>
              </a:cxnLst>
              <a:rect l="0" t="0" r="0" b="0"/>
              <a:pathLst>
                <a:path w="484" h="552">
                  <a:moveTo>
                    <a:pt x="0" y="0"/>
                  </a:moveTo>
                  <a:cubicBezTo>
                    <a:pt x="35" y="51"/>
                    <a:pt x="129" y="217"/>
                    <a:pt x="210" y="309"/>
                  </a:cubicBezTo>
                  <a:cubicBezTo>
                    <a:pt x="291" y="401"/>
                    <a:pt x="427" y="501"/>
                    <a:pt x="484" y="552"/>
                  </a:cubicBezTo>
                </a:path>
              </a:pathLst>
            </a:cu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987" name="文本框 463986"/>
            <p:cNvSpPr txBox="1"/>
            <p:nvPr/>
          </p:nvSpPr>
          <p:spPr>
            <a:xfrm>
              <a:off x="3988" y="2421"/>
              <a:ext cx="2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3988" name="文本框 463987"/>
            <p:cNvSpPr txBox="1"/>
            <p:nvPr/>
          </p:nvSpPr>
          <p:spPr>
            <a:xfrm>
              <a:off x="4970" y="3024"/>
              <a:ext cx="3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3989" name="文本框 463988"/>
            <p:cNvSpPr txBox="1"/>
            <p:nvPr/>
          </p:nvSpPr>
          <p:spPr>
            <a:xfrm>
              <a:off x="5398" y="3542"/>
              <a:ext cx="2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463990" name="文本框 463989"/>
            <p:cNvSpPr txBox="1"/>
            <p:nvPr/>
          </p:nvSpPr>
          <p:spPr>
            <a:xfrm>
              <a:off x="4159" y="3414"/>
              <a:ext cx="2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1C1C1C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graphicFrame>
          <p:nvGraphicFramePr>
            <p:cNvPr id="139329" name="对象 463990"/>
            <p:cNvGraphicFramePr/>
            <p:nvPr/>
          </p:nvGraphicFramePr>
          <p:xfrm>
            <a:off x="5099" y="2291"/>
            <a:ext cx="61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2" r:id="rId35" imgW="659765" imgH="317500" progId="Equation.3">
                    <p:embed/>
                  </p:oleObj>
                </mc:Choice>
                <mc:Fallback>
                  <p:oleObj r:id="rId35" imgW="659765" imgH="317500" progId="Equation.3">
                    <p:embed/>
                    <p:pic>
                      <p:nvPicPr>
                        <p:cNvPr id="0" name="图片 3469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099" y="2291"/>
                          <a:ext cx="61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463991"/>
          <p:cNvGrpSpPr/>
          <p:nvPr/>
        </p:nvGrpSpPr>
        <p:grpSpPr>
          <a:xfrm>
            <a:off x="1403350" y="3743325"/>
            <a:ext cx="2303463" cy="3141663"/>
            <a:chOff x="3216" y="1008"/>
            <a:chExt cx="1536" cy="2016"/>
          </a:xfrm>
        </p:grpSpPr>
        <p:grpSp>
          <p:nvGrpSpPr>
            <p:cNvPr id="139331" name="组合 463992"/>
            <p:cNvGrpSpPr/>
            <p:nvPr/>
          </p:nvGrpSpPr>
          <p:grpSpPr>
            <a:xfrm>
              <a:off x="3216" y="1008"/>
              <a:ext cx="1440" cy="340"/>
              <a:chOff x="3216" y="1632"/>
              <a:chExt cx="1440" cy="340"/>
            </a:xfrm>
          </p:grpSpPr>
          <p:sp>
            <p:nvSpPr>
              <p:cNvPr id="139332" name="矩形 463993"/>
              <p:cNvSpPr/>
              <p:nvPr/>
            </p:nvSpPr>
            <p:spPr>
              <a:xfrm>
                <a:off x="3216" y="1632"/>
                <a:ext cx="1440" cy="336"/>
              </a:xfrm>
              <a:prstGeom prst="rect">
                <a:avLst/>
              </a:prstGeom>
              <a:solidFill>
                <a:srgbClr val="FDE3F0"/>
              </a:solidFill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3995" name="文本框 463994"/>
              <p:cNvSpPr txBox="1"/>
              <p:nvPr/>
            </p:nvSpPr>
            <p:spPr>
              <a:xfrm>
                <a:off x="3264" y="1638"/>
                <a:ext cx="1248" cy="3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高温热源</a:t>
                </a:r>
                <a:endParaRPr kumimoji="0" lang="zh-CN" altLang="en-US" sz="2800" b="1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endParaRPr>
              </a:p>
            </p:txBody>
          </p:sp>
          <p:graphicFrame>
            <p:nvGraphicFramePr>
              <p:cNvPr id="139334" name="对象 463995"/>
              <p:cNvGraphicFramePr/>
              <p:nvPr/>
            </p:nvGraphicFramePr>
            <p:xfrm>
              <a:off x="4320" y="1632"/>
              <a:ext cx="26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03" r:id="rId36" imgW="215900" imgH="316865" progId="Equation.3">
                      <p:embed/>
                    </p:oleObj>
                  </mc:Choice>
                  <mc:Fallback>
                    <p:oleObj r:id="rId36" imgW="215900" imgH="316865" progId="Equation.3">
                      <p:embed/>
                      <p:pic>
                        <p:nvPicPr>
                          <p:cNvPr id="0" name="图片 3471"/>
                          <p:cNvPicPr/>
                          <p:nvPr/>
                        </p:nvPicPr>
                        <p:blipFill>
                          <a:blip r:embed="rId37"/>
                          <a:stretch>
                            <a:fillRect/>
                          </a:stretch>
                        </p:blipFill>
                        <p:spPr>
                          <a:xfrm>
                            <a:off x="4320" y="1632"/>
                            <a:ext cx="260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9335" name="组合 463996"/>
            <p:cNvGrpSpPr/>
            <p:nvPr/>
          </p:nvGrpSpPr>
          <p:grpSpPr>
            <a:xfrm>
              <a:off x="3264" y="2684"/>
              <a:ext cx="1392" cy="340"/>
              <a:chOff x="3264" y="3168"/>
              <a:chExt cx="1392" cy="340"/>
            </a:xfrm>
          </p:grpSpPr>
          <p:sp>
            <p:nvSpPr>
              <p:cNvPr id="139336" name="矩形 463997"/>
              <p:cNvSpPr/>
              <p:nvPr/>
            </p:nvSpPr>
            <p:spPr>
              <a:xfrm>
                <a:off x="3264" y="3168"/>
                <a:ext cx="1392" cy="336"/>
              </a:xfrm>
              <a:prstGeom prst="rect">
                <a:avLst/>
              </a:pr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3999" name="文本框 463998"/>
              <p:cNvSpPr txBox="1"/>
              <p:nvPr/>
            </p:nvSpPr>
            <p:spPr>
              <a:xfrm>
                <a:off x="3309" y="3168"/>
                <a:ext cx="1247" cy="3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低温热源</a:t>
                </a:r>
              </a:p>
            </p:txBody>
          </p:sp>
          <p:graphicFrame>
            <p:nvGraphicFramePr>
              <p:cNvPr id="139338" name="对象 463999"/>
              <p:cNvGraphicFramePr/>
              <p:nvPr/>
            </p:nvGraphicFramePr>
            <p:xfrm>
              <a:off x="4320" y="3168"/>
              <a:ext cx="306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504" r:id="rId38" imgW="254000" imgH="317500" progId="Equation.3">
                      <p:embed/>
                    </p:oleObj>
                  </mc:Choice>
                  <mc:Fallback>
                    <p:oleObj r:id="rId38" imgW="254000" imgH="317500" progId="Equation.3">
                      <p:embed/>
                      <p:pic>
                        <p:nvPicPr>
                          <p:cNvPr id="0" name="图片 3472"/>
                          <p:cNvPicPr/>
                          <p:nvPr/>
                        </p:nvPicPr>
                        <p:blipFill>
                          <a:blip r:embed="rId39"/>
                          <a:stretch>
                            <a:fillRect/>
                          </a:stretch>
                        </p:blipFill>
                        <p:spPr>
                          <a:xfrm>
                            <a:off x="4320" y="3168"/>
                            <a:ext cx="306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9339" name="组合 464000"/>
            <p:cNvGrpSpPr/>
            <p:nvPr/>
          </p:nvGrpSpPr>
          <p:grpSpPr>
            <a:xfrm>
              <a:off x="3264" y="1728"/>
              <a:ext cx="1488" cy="576"/>
              <a:chOff x="3264" y="2304"/>
              <a:chExt cx="1488" cy="576"/>
            </a:xfrm>
          </p:grpSpPr>
          <p:sp>
            <p:nvSpPr>
              <p:cNvPr id="139340" name="椭圆 464001"/>
              <p:cNvSpPr/>
              <p:nvPr/>
            </p:nvSpPr>
            <p:spPr>
              <a:xfrm>
                <a:off x="3264" y="2304"/>
                <a:ext cx="1344" cy="576"/>
              </a:xfrm>
              <a:prstGeom prst="ellipse">
                <a:avLst/>
              </a:prstGeom>
              <a:solidFill>
                <a:srgbClr val="FFFFCC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4003" name="文本框 464002"/>
              <p:cNvSpPr txBox="1"/>
              <p:nvPr/>
            </p:nvSpPr>
            <p:spPr>
              <a:xfrm>
                <a:off x="3309" y="2420"/>
                <a:ext cx="1443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marR="0" defTabSz="914400" eaLnBrk="0" hangingPunct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0" lang="zh-CN" altLang="en-US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卡诺制冷机</a:t>
                </a:r>
              </a:p>
            </p:txBody>
          </p:sp>
        </p:grpSp>
      </p:grpSp>
      <p:grpSp>
        <p:nvGrpSpPr>
          <p:cNvPr id="12" name="组合 464003"/>
          <p:cNvGrpSpPr/>
          <p:nvPr/>
        </p:nvGrpSpPr>
        <p:grpSpPr>
          <a:xfrm>
            <a:off x="2339975" y="4248150"/>
            <a:ext cx="885825" cy="808038"/>
            <a:chOff x="3792" y="1920"/>
            <a:chExt cx="564" cy="576"/>
          </a:xfrm>
        </p:grpSpPr>
        <p:graphicFrame>
          <p:nvGraphicFramePr>
            <p:cNvPr id="139343" name="对象 464004"/>
            <p:cNvGraphicFramePr/>
            <p:nvPr/>
          </p:nvGraphicFramePr>
          <p:xfrm>
            <a:off x="3984" y="1968"/>
            <a:ext cx="37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5" r:id="rId40" imgW="139700" imgH="165100" progId="Equation.3">
                    <p:embed/>
                  </p:oleObj>
                </mc:Choice>
                <mc:Fallback>
                  <p:oleObj r:id="rId40" imgW="139700" imgH="165100" progId="Equation.3">
                    <p:embed/>
                    <p:pic>
                      <p:nvPicPr>
                        <p:cNvPr id="0" name="图片 3473"/>
                        <p:cNvPicPr/>
                        <p:nvPr/>
                      </p:nvPicPr>
                      <p:blipFill>
                        <a:blip r:embed="rId41"/>
                        <a:stretch>
                          <a:fillRect/>
                        </a:stretch>
                      </p:blipFill>
                      <p:spPr>
                        <a:xfrm>
                          <a:off x="3984" y="1968"/>
                          <a:ext cx="372" cy="4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344" name="下箭头 464005"/>
            <p:cNvSpPr/>
            <p:nvPr/>
          </p:nvSpPr>
          <p:spPr>
            <a:xfrm flipV="1">
              <a:off x="3792" y="1920"/>
              <a:ext cx="192" cy="576"/>
            </a:xfrm>
            <a:prstGeom prst="downArrow">
              <a:avLst>
                <a:gd name="adj1" fmla="val 35416"/>
                <a:gd name="adj2" fmla="val 125000"/>
              </a:avLst>
            </a:prstGeom>
            <a:solidFill>
              <a:srgbClr val="CCECFF"/>
            </a:soli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组合 464006"/>
          <p:cNvGrpSpPr/>
          <p:nvPr/>
        </p:nvGrpSpPr>
        <p:grpSpPr>
          <a:xfrm>
            <a:off x="1908175" y="5513388"/>
            <a:ext cx="720725" cy="822325"/>
            <a:chOff x="3504" y="2784"/>
            <a:chExt cx="480" cy="576"/>
          </a:xfrm>
        </p:grpSpPr>
        <p:sp>
          <p:nvSpPr>
            <p:cNvPr id="139346" name="下箭头 464007"/>
            <p:cNvSpPr/>
            <p:nvPr/>
          </p:nvSpPr>
          <p:spPr>
            <a:xfrm flipV="1">
              <a:off x="3840" y="2784"/>
              <a:ext cx="144" cy="576"/>
            </a:xfrm>
            <a:prstGeom prst="downArrow">
              <a:avLst>
                <a:gd name="adj1" fmla="val 40000"/>
                <a:gd name="adj2" fmla="val 160037"/>
              </a:avLst>
            </a:prstGeom>
            <a:solidFill>
              <a:srgbClr val="FFCCCC"/>
            </a:solidFill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9347" name="对象 464008"/>
            <p:cNvGraphicFramePr/>
            <p:nvPr/>
          </p:nvGraphicFramePr>
          <p:xfrm>
            <a:off x="3504" y="2832"/>
            <a:ext cx="40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6" r:id="rId42" imgW="152400" imgH="165100" progId="Equation.3">
                    <p:embed/>
                  </p:oleObj>
                </mc:Choice>
                <mc:Fallback>
                  <p:oleObj r:id="rId42" imgW="152400" imgH="165100" progId="Equation.3">
                    <p:embed/>
                    <p:pic>
                      <p:nvPicPr>
                        <p:cNvPr id="0" name="图片 3470"/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3504" y="2832"/>
                          <a:ext cx="401" cy="4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464009"/>
          <p:cNvGrpSpPr/>
          <p:nvPr/>
        </p:nvGrpSpPr>
        <p:grpSpPr>
          <a:xfrm>
            <a:off x="3276600" y="4994275"/>
            <a:ext cx="1635125" cy="577850"/>
            <a:chOff x="4464" y="2475"/>
            <a:chExt cx="843" cy="261"/>
          </a:xfrm>
        </p:grpSpPr>
        <p:sp>
          <p:nvSpPr>
            <p:cNvPr id="139349" name="右箭头 464010"/>
            <p:cNvSpPr/>
            <p:nvPr/>
          </p:nvSpPr>
          <p:spPr>
            <a:xfrm flipH="1">
              <a:off x="4464" y="2571"/>
              <a:ext cx="528" cy="96"/>
            </a:xfrm>
            <a:prstGeom prst="rightArrow">
              <a:avLst>
                <a:gd name="adj1" fmla="val 58666"/>
                <a:gd name="adj2" fmla="val 200750"/>
              </a:avLst>
            </a:prstGeom>
            <a:solidFill>
              <a:srgbClr val="99CCFF"/>
            </a:solidFill>
            <a:ln w="1905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9350" name="对象 464011"/>
            <p:cNvGraphicFramePr/>
            <p:nvPr/>
          </p:nvGraphicFramePr>
          <p:xfrm>
            <a:off x="5061" y="2475"/>
            <a:ext cx="246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7" r:id="rId44" imgW="228600" imgH="241300" progId="Equation.DSMT4">
                    <p:embed/>
                  </p:oleObj>
                </mc:Choice>
                <mc:Fallback>
                  <p:oleObj r:id="rId44" imgW="228600" imgH="241300" progId="Equation.DSMT4">
                    <p:embed/>
                    <p:pic>
                      <p:nvPicPr>
                        <p:cNvPr id="0" name="图片 3479"/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5061" y="2475"/>
                          <a:ext cx="246" cy="261"/>
                        </a:xfrm>
                        <a:prstGeom prst="rect">
                          <a:avLst/>
                        </a:prstGeom>
                        <a:solidFill>
                          <a:srgbClr val="CCFF66"/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4013" name="矩形 464012"/>
          <p:cNvSpPr/>
          <p:nvPr/>
        </p:nvSpPr>
        <p:spPr>
          <a:xfrm>
            <a:off x="0" y="1484313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Blip>
                <a:blip r:embed="rId28"/>
              </a:buBlip>
              <a:defRPr/>
            </a:pP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卡诺制冷机（卡诺热机逆循环）</a:t>
            </a:r>
          </a:p>
        </p:txBody>
      </p:sp>
      <p:grpSp>
        <p:nvGrpSpPr>
          <p:cNvPr id="15" name="组合 464013"/>
          <p:cNvGrpSpPr/>
          <p:nvPr/>
        </p:nvGrpSpPr>
        <p:grpSpPr>
          <a:xfrm>
            <a:off x="7092950" y="5445125"/>
            <a:ext cx="609600" cy="914400"/>
            <a:chOff x="1536" y="2304"/>
            <a:chExt cx="384" cy="576"/>
          </a:xfrm>
        </p:grpSpPr>
        <p:sp>
          <p:nvSpPr>
            <p:cNvPr id="139353" name="下箭头 464014"/>
            <p:cNvSpPr/>
            <p:nvPr/>
          </p:nvSpPr>
          <p:spPr>
            <a:xfrm flipV="1">
              <a:off x="1824" y="2304"/>
              <a:ext cx="96" cy="432"/>
            </a:xfrm>
            <a:prstGeom prst="downArrow">
              <a:avLst>
                <a:gd name="adj1" fmla="val 50000"/>
                <a:gd name="adj2" fmla="val 112500"/>
              </a:avLst>
            </a:prstGeom>
            <a:solidFill>
              <a:schemeClr val="bg2"/>
            </a:solidFill>
            <a:ln w="28575" cap="flat" cmpd="sng">
              <a:solidFill>
                <a:srgbClr val="FF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9354" name="对象 464015"/>
            <p:cNvGraphicFramePr/>
            <p:nvPr/>
          </p:nvGraphicFramePr>
          <p:xfrm>
            <a:off x="1536" y="2544"/>
            <a:ext cx="32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8" r:id="rId46" imgW="304800" imgH="317500" progId="Equation.3">
                    <p:embed/>
                  </p:oleObj>
                </mc:Choice>
                <mc:Fallback>
                  <p:oleObj r:id="rId46" imgW="304800" imgH="317500" progId="Equation.3">
                    <p:embed/>
                    <p:pic>
                      <p:nvPicPr>
                        <p:cNvPr id="0" name="图片 3483"/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1536" y="2544"/>
                          <a:ext cx="32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464016"/>
          <p:cNvGrpSpPr/>
          <p:nvPr/>
        </p:nvGrpSpPr>
        <p:grpSpPr>
          <a:xfrm>
            <a:off x="6804025" y="3860800"/>
            <a:ext cx="612775" cy="1143000"/>
            <a:chOff x="1392" y="1056"/>
            <a:chExt cx="386" cy="720"/>
          </a:xfrm>
        </p:grpSpPr>
        <p:graphicFrame>
          <p:nvGraphicFramePr>
            <p:cNvPr id="139356" name="对象 464017"/>
            <p:cNvGraphicFramePr/>
            <p:nvPr/>
          </p:nvGraphicFramePr>
          <p:xfrm>
            <a:off x="1488" y="1056"/>
            <a:ext cx="29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9" r:id="rId48" imgW="266065" imgH="316865" progId="Equation.3">
                    <p:embed/>
                  </p:oleObj>
                </mc:Choice>
                <mc:Fallback>
                  <p:oleObj r:id="rId48" imgW="266065" imgH="316865" progId="Equation.3">
                    <p:embed/>
                    <p:pic>
                      <p:nvPicPr>
                        <p:cNvPr id="0" name="图片 3477"/>
                        <p:cNvPicPr/>
                        <p:nvPr/>
                      </p:nvPicPr>
                      <p:blipFill>
                        <a:blip r:embed="rId49"/>
                        <a:stretch>
                          <a:fillRect/>
                        </a:stretch>
                      </p:blipFill>
                      <p:spPr>
                        <a:xfrm>
                          <a:off x="1488" y="1056"/>
                          <a:ext cx="290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357" name="下箭头 464018"/>
            <p:cNvSpPr/>
            <p:nvPr/>
          </p:nvSpPr>
          <p:spPr>
            <a:xfrm flipV="1">
              <a:off x="1392" y="1296"/>
              <a:ext cx="96" cy="48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chemeClr val="accent2"/>
            </a:solidFill>
            <a:ln w="28575" cap="flat" cmpd="sng">
              <a:solidFill>
                <a:srgbClr val="00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64020" name="矩形 464019"/>
          <p:cNvSpPr/>
          <p:nvPr/>
        </p:nvSpPr>
        <p:spPr>
          <a:xfrm>
            <a:off x="549275" y="2133600"/>
            <a:ext cx="3517900" cy="51911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卡诺制冷机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制冷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系数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graphicFrame>
        <p:nvGraphicFramePr>
          <p:cNvPr id="464021" name="对象 464020"/>
          <p:cNvGraphicFramePr/>
          <p:nvPr/>
        </p:nvGraphicFramePr>
        <p:xfrm>
          <a:off x="495300" y="2606675"/>
          <a:ext cx="242252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0" r:id="rId50" imgW="1168400" imgH="457200" progId="Equation.DSMT4">
                  <p:embed/>
                </p:oleObj>
              </mc:Choice>
              <mc:Fallback>
                <p:oleObj r:id="rId50" imgW="1168400" imgH="457200" progId="Equation.DSMT4">
                  <p:embed/>
                  <p:pic>
                    <p:nvPicPr>
                      <p:cNvPr id="0" name="图片 3476"/>
                      <p:cNvPicPr/>
                      <p:nvPr/>
                    </p:nvPicPr>
                    <p:blipFill>
                      <a:blip r:embed="rId5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5300" y="2606675"/>
                        <a:ext cx="2422525" cy="995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60" name="对象 464022"/>
          <p:cNvGraphicFramePr/>
          <p:nvPr/>
        </p:nvGraphicFramePr>
        <p:xfrm>
          <a:off x="2916238" y="39688"/>
          <a:ext cx="2092325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1" r:id="rId52" imgW="673100" imgH="431800" progId="Equation.3">
                  <p:embed/>
                </p:oleObj>
              </mc:Choice>
              <mc:Fallback>
                <p:oleObj r:id="rId52" imgW="673100" imgH="431800" progId="Equation.3">
                  <p:embed/>
                  <p:pic>
                    <p:nvPicPr>
                      <p:cNvPr id="0" name="图片 3478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2916238" y="39688"/>
                        <a:ext cx="2092325" cy="130175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E1FF"/>
                          </a:gs>
                          <a:gs pos="50000">
                            <a:srgbClr val="FFFFFF"/>
                          </a:gs>
                          <a:gs pos="100000">
                            <a:srgbClr val="FFE1FF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8"/>
          <p:cNvGraphicFramePr/>
          <p:nvPr/>
        </p:nvGraphicFramePr>
        <p:xfrm>
          <a:off x="3132138" y="2565400"/>
          <a:ext cx="1382712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2" r:id="rId54" imgW="747395" imgH="568960" progId="Equation.DSMT4">
                  <p:embed/>
                </p:oleObj>
              </mc:Choice>
              <mc:Fallback>
                <p:oleObj r:id="rId54" imgW="747395" imgH="568960" progId="Equation.DSMT4">
                  <p:embed/>
                  <p:pic>
                    <p:nvPicPr>
                      <p:cNvPr id="0" name="图片 3475"/>
                      <p:cNvPicPr/>
                      <p:nvPr/>
                    </p:nvPicPr>
                    <p:blipFill>
                      <a:blip r:embed="rId5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2138" y="2565400"/>
                        <a:ext cx="1382712" cy="1049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6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6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6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013" grpId="0"/>
      <p:bldP spid="46402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082" name="对象 430081"/>
          <p:cNvGraphicFramePr/>
          <p:nvPr/>
        </p:nvGraphicFramePr>
        <p:xfrm>
          <a:off x="1008063" y="3068638"/>
          <a:ext cx="3019425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r:id="rId3" imgW="1193165" imgH="647065" progId="Equation.3">
                  <p:embed/>
                </p:oleObj>
              </mc:Choice>
              <mc:Fallback>
                <p:oleObj r:id="rId3" imgW="1193165" imgH="647065" progId="Equation.3">
                  <p:embed/>
                  <p:pic>
                    <p:nvPicPr>
                      <p:cNvPr id="0" name="图片 348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505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08063" y="3068638"/>
                        <a:ext cx="3019425" cy="1154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83" name="文本框 430082"/>
          <p:cNvSpPr txBox="1"/>
          <p:nvPr/>
        </p:nvSpPr>
        <p:spPr>
          <a:xfrm>
            <a:off x="400050" y="2709863"/>
            <a:ext cx="36703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2 )</a:t>
            </a:r>
          </a:p>
        </p:txBody>
      </p:sp>
      <p:sp>
        <p:nvSpPr>
          <p:cNvPr id="430087" name="文本框 430086"/>
          <p:cNvSpPr txBox="1"/>
          <p:nvPr/>
        </p:nvSpPr>
        <p:spPr>
          <a:xfrm>
            <a:off x="323850" y="804863"/>
            <a:ext cx="35052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1 ) </a:t>
            </a: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卡诺热机效率</a:t>
            </a:r>
          </a:p>
        </p:txBody>
      </p:sp>
      <p:graphicFrame>
        <p:nvGraphicFramePr>
          <p:cNvPr id="430088" name="对象 430087"/>
          <p:cNvGraphicFramePr/>
          <p:nvPr/>
        </p:nvGraphicFramePr>
        <p:xfrm>
          <a:off x="3708400" y="620713"/>
          <a:ext cx="13811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6" r:id="rId5" imgW="914400" imgH="546100" progId="Equation.3">
                  <p:embed/>
                </p:oleObj>
              </mc:Choice>
              <mc:Fallback>
                <p:oleObj r:id="rId5" imgW="914400" imgH="546100" progId="Equation.3">
                  <p:embed/>
                  <p:pic>
                    <p:nvPicPr>
                      <p:cNvPr id="0" name="图片 348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505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8400" y="620713"/>
                        <a:ext cx="1381125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97" name="矩形 430096"/>
          <p:cNvSpPr/>
          <p:nvPr/>
        </p:nvSpPr>
        <p:spPr>
          <a:xfrm>
            <a:off x="4381500" y="3332163"/>
            <a:ext cx="2362200" cy="461963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实用上是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400" b="1" i="0" u="none" strike="noStrike" kern="120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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430098" name="文本框 430097"/>
          <p:cNvSpPr txBox="1"/>
          <p:nvPr/>
        </p:nvSpPr>
        <p:spPr>
          <a:xfrm>
            <a:off x="919163" y="4195763"/>
            <a:ext cx="3752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现代热电厂：</a:t>
            </a:r>
          </a:p>
        </p:txBody>
      </p:sp>
      <p:graphicFrame>
        <p:nvGraphicFramePr>
          <p:cNvPr id="430099" name="对象 430098"/>
          <p:cNvGraphicFramePr/>
          <p:nvPr/>
        </p:nvGraphicFramePr>
        <p:xfrm>
          <a:off x="3024188" y="4179888"/>
          <a:ext cx="35861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7" r:id="rId7" imgW="1623695" imgH="215900" progId="Equation.3">
                  <p:embed/>
                </p:oleObj>
              </mc:Choice>
              <mc:Fallback>
                <p:oleObj r:id="rId7" imgW="1623695" imgH="215900" progId="Equation.3">
                  <p:embed/>
                  <p:pic>
                    <p:nvPicPr>
                      <p:cNvPr id="0" name="图片 34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24188" y="4179888"/>
                        <a:ext cx="3586162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00" name="文本框 430099"/>
          <p:cNvSpPr txBox="1"/>
          <p:nvPr/>
        </p:nvSpPr>
        <p:spPr>
          <a:xfrm>
            <a:off x="3348038" y="4579938"/>
            <a:ext cx="5067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900K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         （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300K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01" name="文本框 430100"/>
          <p:cNvSpPr txBox="1"/>
          <p:nvPr/>
        </p:nvSpPr>
        <p:spPr>
          <a:xfrm>
            <a:off x="106363" y="1700213"/>
            <a:ext cx="8858250" cy="95567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R="0" defTabSz="91440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 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卡诺热机效率与工作物质无关，只与两个热源的温度有关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.</a:t>
            </a:r>
            <a:r>
              <a:rPr kumimoji="0" lang="en-US" altLang="zh-CN" sz="2800" b="1" kern="1200" cap="none" spc="0" normalizeH="0" baseline="0" noProof="1">
                <a:solidFill>
                  <a:srgbClr val="1C1C1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   </a:t>
            </a:r>
          </a:p>
        </p:txBody>
      </p:sp>
      <p:grpSp>
        <p:nvGrpSpPr>
          <p:cNvPr id="140298" name="组合 430101"/>
          <p:cNvGrpSpPr/>
          <p:nvPr/>
        </p:nvGrpSpPr>
        <p:grpSpPr>
          <a:xfrm>
            <a:off x="0" y="0"/>
            <a:ext cx="1676400" cy="838200"/>
            <a:chOff x="384" y="480"/>
            <a:chExt cx="1056" cy="528"/>
          </a:xfrm>
        </p:grpSpPr>
        <p:sp>
          <p:nvSpPr>
            <p:cNvPr id="68619" name="横卷形 430102"/>
            <p:cNvSpPr>
              <a:spLocks noChangeArrowheads="1"/>
            </p:cNvSpPr>
            <p:nvPr/>
          </p:nvSpPr>
          <p:spPr bwMode="auto">
            <a:xfrm>
              <a:off x="384" y="480"/>
              <a:ext cx="1056" cy="528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  <a:effectLst>
              <a:outerShdw dist="107763" dir="13500000" algn="ctr" rotWithShape="0">
                <a:schemeClr val="tx2"/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104" name="文本框 430103"/>
            <p:cNvSpPr txBox="1"/>
            <p:nvPr/>
          </p:nvSpPr>
          <p:spPr>
            <a:xfrm>
              <a:off x="576" y="576"/>
              <a:ext cx="8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1"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讨  论</a:t>
              </a:r>
            </a:p>
          </p:txBody>
        </p:sp>
      </p:grpSp>
      <p:sp>
        <p:nvSpPr>
          <p:cNvPr id="430106" name="文本框 430105"/>
          <p:cNvSpPr txBox="1"/>
          <p:nvPr/>
        </p:nvSpPr>
        <p:spPr>
          <a:xfrm>
            <a:off x="452438" y="5149850"/>
            <a:ext cx="6172200" cy="10668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3) </a:t>
            </a: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理论说明低温热源温度</a:t>
            </a:r>
            <a:r>
              <a:rPr kumimoji="0" lang="en-US" altLang="zh-CN" sz="2800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800" b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 0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</a:t>
            </a:r>
            <a:r>
              <a:rPr kumimoji="0" lang="zh-CN" altLang="en-US" b="1" kern="1200" cap="none" spc="0" normalizeH="0" baseline="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说明</a:t>
            </a:r>
            <a:r>
              <a:rPr kumimoji="0" lang="zh-CN" altLang="en-US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热机效率</a:t>
            </a:r>
            <a:endParaRPr kumimoji="0" lang="zh-CN" altLang="en-US" b="1" kern="1200" cap="none" spc="0" normalizeH="0" baseline="0" noProof="1"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组合 430107"/>
          <p:cNvGrpSpPr/>
          <p:nvPr/>
        </p:nvGrpSpPr>
        <p:grpSpPr>
          <a:xfrm>
            <a:off x="2890838" y="5686425"/>
            <a:ext cx="1296987" cy="576263"/>
            <a:chOff x="2256" y="2928"/>
            <a:chExt cx="960" cy="440"/>
          </a:xfrm>
        </p:grpSpPr>
        <p:graphicFrame>
          <p:nvGraphicFramePr>
            <p:cNvPr id="140303" name="对象 430108"/>
            <p:cNvGraphicFramePr/>
            <p:nvPr/>
          </p:nvGraphicFramePr>
          <p:xfrm>
            <a:off x="2304" y="2928"/>
            <a:ext cx="76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8" r:id="rId9" imgW="490855" imgH="267335" progId="Equation.3">
                    <p:embed/>
                  </p:oleObj>
                </mc:Choice>
                <mc:Fallback>
                  <p:oleObj r:id="rId9" imgW="490855" imgH="267335" progId="Equation.3">
                    <p:embed/>
                    <p:pic>
                      <p:nvPicPr>
                        <p:cNvPr id="0" name="图片 347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04" y="2928"/>
                          <a:ext cx="768" cy="4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10" name="文本框 430109"/>
            <p:cNvSpPr txBox="1"/>
            <p:nvPr/>
          </p:nvSpPr>
          <p:spPr>
            <a:xfrm>
              <a:off x="2256" y="2976"/>
              <a:ext cx="960" cy="34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&lt;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4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30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30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build="p"/>
      <p:bldP spid="430087" grpId="0"/>
      <p:bldP spid="430097" grpId="0"/>
      <p:bldP spid="430098" grpId="0"/>
      <p:bldP spid="430100" grpId="0"/>
      <p:bldP spid="430101" grpId="0" animBg="1"/>
      <p:bldP spid="430106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文本框 431105"/>
          <p:cNvSpPr txBox="1"/>
          <p:nvPr/>
        </p:nvSpPr>
        <p:spPr>
          <a:xfrm>
            <a:off x="631825" y="315913"/>
            <a:ext cx="7696200" cy="16732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进一步说明</a:t>
            </a:r>
          </a:p>
          <a:p>
            <a:pPr marR="0" defTabSz="91440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Char char="•"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热机循环不向低温热源放热是不可能的</a:t>
            </a:r>
          </a:p>
          <a:p>
            <a:pPr marR="0" defTabSz="914400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Char char="•"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热机循环至少需要两个热源</a:t>
            </a:r>
          </a:p>
        </p:txBody>
      </p:sp>
      <p:sp>
        <p:nvSpPr>
          <p:cNvPr id="431107" name="文本框 431106"/>
          <p:cNvSpPr txBox="1"/>
          <p:nvPr/>
        </p:nvSpPr>
        <p:spPr>
          <a:xfrm>
            <a:off x="327025" y="2044700"/>
            <a:ext cx="61722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4)</a:t>
            </a: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疑问：循环过程中，如果</a:t>
            </a:r>
          </a:p>
        </p:txBody>
      </p:sp>
      <p:sp>
        <p:nvSpPr>
          <p:cNvPr id="431108" name="文本框 431107"/>
          <p:cNvSpPr txBox="1"/>
          <p:nvPr/>
        </p:nvSpPr>
        <p:spPr>
          <a:xfrm>
            <a:off x="631825" y="2708275"/>
            <a:ext cx="6324600" cy="18018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相当于把吸收的热量全作功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从能量转换看   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不违反热一律 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但为什么实际做不到？</a:t>
            </a:r>
          </a:p>
        </p:txBody>
      </p:sp>
      <p:graphicFrame>
        <p:nvGraphicFramePr>
          <p:cNvPr id="431109" name="对象 431108"/>
          <p:cNvGraphicFramePr/>
          <p:nvPr/>
        </p:nvGraphicFramePr>
        <p:xfrm>
          <a:off x="4859338" y="2035175"/>
          <a:ext cx="1081087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r:id="rId3" imgW="423545" imgH="222885" progId="Equation.3">
                  <p:embed/>
                </p:oleObj>
              </mc:Choice>
              <mc:Fallback>
                <p:oleObj r:id="rId3" imgW="423545" imgH="222885" progId="Equation.3">
                  <p:embed/>
                  <p:pic>
                    <p:nvPicPr>
                      <p:cNvPr id="0" name="图片 348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59338" y="2035175"/>
                        <a:ext cx="1081087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10" name="文本框 431109"/>
          <p:cNvSpPr txBox="1"/>
          <p:nvPr/>
        </p:nvSpPr>
        <p:spPr>
          <a:xfrm>
            <a:off x="558800" y="4637088"/>
            <a:ext cx="6705600" cy="18018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说明</a:t>
            </a:r>
            <a:r>
              <a:rPr kumimoji="0" lang="en-US" altLang="zh-CN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必然还有一个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独立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于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热一律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</a:t>
            </a: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定律存在</a:t>
            </a:r>
            <a:r>
              <a:rPr kumimoji="0" lang="en-US" altLang="zh-CN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800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这就是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热二律</a:t>
            </a:r>
          </a:p>
        </p:txBody>
      </p:sp>
      <p:graphicFrame>
        <p:nvGraphicFramePr>
          <p:cNvPr id="141318" name="对象 431110"/>
          <p:cNvGraphicFramePr/>
          <p:nvPr/>
        </p:nvGraphicFramePr>
        <p:xfrm>
          <a:off x="5580063" y="0"/>
          <a:ext cx="33686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8" r:id="rId5" imgW="2297430" imgH="591185" progId="Equation.DSMT4">
                  <p:embed/>
                </p:oleObj>
              </mc:Choice>
              <mc:Fallback>
                <p:oleObj r:id="rId5" imgW="2297430" imgH="591185" progId="Equation.DSMT4">
                  <p:embed/>
                  <p:pic>
                    <p:nvPicPr>
                      <p:cNvPr id="0" name="图片 348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0"/>
                        <a:ext cx="3368675" cy="9271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accent1"/>
                        </a:solidFill>
                        <a:prstDash val="dash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1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1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1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31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1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3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31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1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6" grpId="0" uiExpand="1" build="p"/>
      <p:bldP spid="431107" grpId="0" build="p"/>
      <p:bldP spid="431108" grpId="0" uiExpand="1" build="p"/>
      <p:bldP spid="431110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文本框 434177"/>
          <p:cNvSpPr txBox="1"/>
          <p:nvPr/>
        </p:nvSpPr>
        <p:spPr>
          <a:xfrm>
            <a:off x="5219700" y="1989138"/>
            <a:ext cx="3733800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一直敞开冰箱门     能制冷整个房间吗？</a:t>
            </a:r>
          </a:p>
        </p:txBody>
      </p:sp>
      <p:pic>
        <p:nvPicPr>
          <p:cNvPr id="142338" name="图片 434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549275"/>
            <a:ext cx="4495800" cy="4894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2339" name="文本框 434179"/>
          <p:cNvSpPr txBox="1"/>
          <p:nvPr/>
        </p:nvSpPr>
        <p:spPr>
          <a:xfrm>
            <a:off x="5580063" y="836613"/>
            <a:ext cx="2057400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505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思考：</a:t>
            </a:r>
          </a:p>
        </p:txBody>
      </p:sp>
      <p:sp>
        <p:nvSpPr>
          <p:cNvPr id="434181" name="文本框 434180"/>
          <p:cNvSpPr txBox="1"/>
          <p:nvPr/>
        </p:nvSpPr>
        <p:spPr>
          <a:xfrm>
            <a:off x="755650" y="5516563"/>
            <a:ext cx="3657600" cy="57943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打开冰箱凉快一下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78" grpId="0"/>
      <p:bldP spid="43418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61" name="组合 537601"/>
          <p:cNvGrpSpPr/>
          <p:nvPr/>
        </p:nvGrpSpPr>
        <p:grpSpPr>
          <a:xfrm>
            <a:off x="1219200" y="1349375"/>
            <a:ext cx="5943600" cy="592138"/>
            <a:chOff x="768" y="1013"/>
            <a:chExt cx="3744" cy="373"/>
          </a:xfrm>
        </p:grpSpPr>
        <p:sp>
          <p:nvSpPr>
            <p:cNvPr id="537603" name="文本框 537602"/>
            <p:cNvSpPr txBox="1"/>
            <p:nvPr/>
          </p:nvSpPr>
          <p:spPr>
            <a:xfrm>
              <a:off x="768" y="1056"/>
              <a:ext cx="374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sz="2800" b="1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800" b="1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图中两卡诺循环     与     的关系</a:t>
              </a:r>
            </a:p>
          </p:txBody>
        </p:sp>
        <p:graphicFrame>
          <p:nvGraphicFramePr>
            <p:cNvPr id="143363" name="对象 537603"/>
            <p:cNvGraphicFramePr/>
            <p:nvPr/>
          </p:nvGraphicFramePr>
          <p:xfrm>
            <a:off x="2495" y="1013"/>
            <a:ext cx="241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0" r:id="rId3" imgW="152400" imgH="228600" progId="Equation.DSMT4">
                    <p:embed/>
                  </p:oleObj>
                </mc:Choice>
                <mc:Fallback>
                  <p:oleObj r:id="rId3" imgW="152400" imgH="228600" progId="Equation.DSMT4">
                    <p:embed/>
                    <p:pic>
                      <p:nvPicPr>
                        <p:cNvPr id="0" name="图片 34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95" y="1013"/>
                          <a:ext cx="241" cy="3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7605" name="对象 537604"/>
          <p:cNvGraphicFramePr/>
          <p:nvPr/>
        </p:nvGraphicFramePr>
        <p:xfrm>
          <a:off x="1828800" y="5532438"/>
          <a:ext cx="1447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1" r:id="rId5" imgW="697865" imgH="317500" progId="Equation.3">
                  <p:embed/>
                </p:oleObj>
              </mc:Choice>
              <mc:Fallback>
                <p:oleObj r:id="rId5" imgW="697865" imgH="317500" progId="Equation.3">
                  <p:embed/>
                  <p:pic>
                    <p:nvPicPr>
                      <p:cNvPr id="0" name="图片 34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8800" y="5532438"/>
                        <a:ext cx="1447800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06" name="对象 537605"/>
          <p:cNvGraphicFramePr/>
          <p:nvPr/>
        </p:nvGraphicFramePr>
        <p:xfrm>
          <a:off x="6248400" y="5532438"/>
          <a:ext cx="1447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2" r:id="rId7" imgW="697865" imgH="317500" progId="Equation.3">
                  <p:embed/>
                </p:oleObj>
              </mc:Choice>
              <mc:Fallback>
                <p:oleObj r:id="rId7" imgW="697865" imgH="317500" progId="Equation.3">
                  <p:embed/>
                  <p:pic>
                    <p:nvPicPr>
                      <p:cNvPr id="0" name="图片 349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48400" y="5532438"/>
                        <a:ext cx="1447800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366" name="组合 537652"/>
          <p:cNvGrpSpPr/>
          <p:nvPr/>
        </p:nvGrpSpPr>
        <p:grpSpPr>
          <a:xfrm>
            <a:off x="468313" y="2332038"/>
            <a:ext cx="3875087" cy="3048000"/>
            <a:chOff x="432" y="1469"/>
            <a:chExt cx="2304" cy="1920"/>
          </a:xfrm>
        </p:grpSpPr>
        <p:sp>
          <p:nvSpPr>
            <p:cNvPr id="143367" name="矩形 537607"/>
            <p:cNvSpPr/>
            <p:nvPr/>
          </p:nvSpPr>
          <p:spPr>
            <a:xfrm>
              <a:off x="432" y="1469"/>
              <a:ext cx="2304" cy="192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368" name="任意多边形 537608"/>
            <p:cNvSpPr/>
            <p:nvPr/>
          </p:nvSpPr>
          <p:spPr>
            <a:xfrm>
              <a:off x="1845" y="2347"/>
              <a:ext cx="617" cy="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" y="61"/>
                </a:cxn>
                <a:cxn ang="0">
                  <a:pos x="322" y="103"/>
                </a:cxn>
                <a:cxn ang="0">
                  <a:pos x="486" y="397"/>
                </a:cxn>
                <a:cxn ang="0">
                  <a:pos x="617" y="596"/>
                </a:cxn>
                <a:cxn ang="0">
                  <a:pos x="500" y="596"/>
                </a:cxn>
                <a:cxn ang="0">
                  <a:pos x="473" y="589"/>
                </a:cxn>
                <a:cxn ang="0">
                  <a:pos x="346" y="586"/>
                </a:cxn>
                <a:cxn ang="0">
                  <a:pos x="177" y="340"/>
                </a:cxn>
                <a:cxn ang="0">
                  <a:pos x="0" y="0"/>
                </a:cxn>
              </a:cxnLst>
              <a:rect l="0" t="0" r="0" b="0"/>
              <a:pathLst>
                <a:path w="617" h="596">
                  <a:moveTo>
                    <a:pt x="0" y="0"/>
                  </a:moveTo>
                  <a:lnTo>
                    <a:pt x="178" y="61"/>
                  </a:lnTo>
                  <a:lnTo>
                    <a:pt x="322" y="103"/>
                  </a:lnTo>
                  <a:lnTo>
                    <a:pt x="486" y="397"/>
                  </a:lnTo>
                  <a:lnTo>
                    <a:pt x="617" y="596"/>
                  </a:lnTo>
                  <a:lnTo>
                    <a:pt x="500" y="596"/>
                  </a:lnTo>
                  <a:lnTo>
                    <a:pt x="473" y="589"/>
                  </a:lnTo>
                  <a:lnTo>
                    <a:pt x="346" y="586"/>
                  </a:lnTo>
                  <a:lnTo>
                    <a:pt x="177" y="3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</a:blipFill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69" name="任意多边形 537609"/>
            <p:cNvSpPr/>
            <p:nvPr/>
          </p:nvSpPr>
          <p:spPr>
            <a:xfrm>
              <a:off x="1255" y="1682"/>
              <a:ext cx="624" cy="12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" y="253"/>
                </a:cxn>
                <a:cxn ang="0">
                  <a:pos x="240" y="425"/>
                </a:cxn>
                <a:cxn ang="0">
                  <a:pos x="370" y="548"/>
                </a:cxn>
                <a:cxn ang="0">
                  <a:pos x="473" y="870"/>
                </a:cxn>
                <a:cxn ang="0">
                  <a:pos x="528" y="1028"/>
                </a:cxn>
                <a:cxn ang="0">
                  <a:pos x="624" y="1234"/>
                </a:cxn>
                <a:cxn ang="0">
                  <a:pos x="322" y="1186"/>
                </a:cxn>
                <a:cxn ang="0">
                  <a:pos x="240" y="1008"/>
                </a:cxn>
                <a:cxn ang="0">
                  <a:pos x="151" y="754"/>
                </a:cxn>
                <a:cxn ang="0">
                  <a:pos x="68" y="438"/>
                </a:cxn>
                <a:cxn ang="0">
                  <a:pos x="0" y="0"/>
                </a:cxn>
              </a:cxnLst>
              <a:rect l="0" t="0" r="0" b="0"/>
              <a:pathLst>
                <a:path w="624" h="1234">
                  <a:moveTo>
                    <a:pt x="0" y="0"/>
                  </a:moveTo>
                  <a:lnTo>
                    <a:pt x="123" y="253"/>
                  </a:lnTo>
                  <a:lnTo>
                    <a:pt x="240" y="425"/>
                  </a:lnTo>
                  <a:lnTo>
                    <a:pt x="370" y="548"/>
                  </a:lnTo>
                  <a:lnTo>
                    <a:pt x="473" y="870"/>
                  </a:lnTo>
                  <a:lnTo>
                    <a:pt x="528" y="1028"/>
                  </a:lnTo>
                  <a:lnTo>
                    <a:pt x="624" y="1234"/>
                  </a:lnTo>
                  <a:lnTo>
                    <a:pt x="322" y="1186"/>
                  </a:lnTo>
                  <a:lnTo>
                    <a:pt x="240" y="1008"/>
                  </a:lnTo>
                  <a:lnTo>
                    <a:pt x="151" y="754"/>
                  </a:lnTo>
                  <a:lnTo>
                    <a:pt x="68" y="43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</a:blipFill>
            <a:ln w="19050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70" name="直接连接符 537610"/>
            <p:cNvSpPr/>
            <p:nvPr/>
          </p:nvSpPr>
          <p:spPr>
            <a:xfrm flipV="1">
              <a:off x="720" y="1565"/>
              <a:ext cx="0" cy="153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371" name="直接连接符 537611"/>
            <p:cNvSpPr/>
            <p:nvPr/>
          </p:nvSpPr>
          <p:spPr>
            <a:xfrm>
              <a:off x="720" y="3101"/>
              <a:ext cx="1872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372" name="任意多边形 537612"/>
            <p:cNvSpPr/>
            <p:nvPr/>
          </p:nvSpPr>
          <p:spPr>
            <a:xfrm>
              <a:off x="898" y="1627"/>
              <a:ext cx="1694" cy="13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3" y="691"/>
                </a:cxn>
                <a:cxn ang="0">
                  <a:pos x="295" y="1015"/>
                </a:cxn>
                <a:cxn ang="0">
                  <a:pos x="590" y="1207"/>
                </a:cxn>
                <a:cxn ang="0">
                  <a:pos x="1248" y="1306"/>
                </a:cxn>
                <a:cxn ang="0">
                  <a:pos x="1694" y="1323"/>
                </a:cxn>
              </a:cxnLst>
              <a:rect l="0" t="0" r="0" b="0"/>
              <a:pathLst>
                <a:path w="1694" h="1325">
                  <a:moveTo>
                    <a:pt x="0" y="0"/>
                  </a:moveTo>
                  <a:cubicBezTo>
                    <a:pt x="17" y="115"/>
                    <a:pt x="54" y="522"/>
                    <a:pt x="103" y="691"/>
                  </a:cubicBezTo>
                  <a:cubicBezTo>
                    <a:pt x="152" y="860"/>
                    <a:pt x="214" y="929"/>
                    <a:pt x="295" y="1015"/>
                  </a:cubicBezTo>
                  <a:cubicBezTo>
                    <a:pt x="376" y="1101"/>
                    <a:pt x="431" y="1158"/>
                    <a:pt x="590" y="1207"/>
                  </a:cubicBezTo>
                  <a:cubicBezTo>
                    <a:pt x="749" y="1256"/>
                    <a:pt x="1064" y="1287"/>
                    <a:pt x="1248" y="1306"/>
                  </a:cubicBezTo>
                  <a:cubicBezTo>
                    <a:pt x="1432" y="1325"/>
                    <a:pt x="1601" y="1320"/>
                    <a:pt x="1694" y="1323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373" name="对象 537613"/>
            <p:cNvGraphicFramePr/>
            <p:nvPr/>
          </p:nvGraphicFramePr>
          <p:xfrm>
            <a:off x="1973" y="2024"/>
            <a:ext cx="26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3" r:id="rId11" imgW="152400" imgH="215900" progId="Equation.3">
                    <p:embed/>
                  </p:oleObj>
                </mc:Choice>
                <mc:Fallback>
                  <p:oleObj r:id="rId11" imgW="152400" imgH="215900" progId="Equation.3">
                    <p:embed/>
                    <p:pic>
                      <p:nvPicPr>
                        <p:cNvPr id="0" name="图片 349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73" y="2024"/>
                          <a:ext cx="267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74" name="对象 537614"/>
            <p:cNvGraphicFramePr/>
            <p:nvPr/>
          </p:nvGraphicFramePr>
          <p:xfrm>
            <a:off x="793" y="2432"/>
            <a:ext cx="286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4" r:id="rId13" imgW="165100" imgH="215900" progId="Equation.3">
                    <p:embed/>
                  </p:oleObj>
                </mc:Choice>
                <mc:Fallback>
                  <p:oleObj r:id="rId13" imgW="165100" imgH="215900" progId="Equation.3">
                    <p:embed/>
                    <p:pic>
                      <p:nvPicPr>
                        <p:cNvPr id="0" name="图片 348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93" y="2432"/>
                          <a:ext cx="286" cy="3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375" name="直接连接符 537615"/>
            <p:cNvSpPr/>
            <p:nvPr/>
          </p:nvSpPr>
          <p:spPr>
            <a:xfrm>
              <a:off x="1680" y="2429"/>
              <a:ext cx="57" cy="185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376" name="直接连接符 537616"/>
            <p:cNvSpPr/>
            <p:nvPr/>
          </p:nvSpPr>
          <p:spPr>
            <a:xfrm flipH="1" flipV="1">
              <a:off x="2208" y="2525"/>
              <a:ext cx="96" cy="19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377" name="直接连接符 537617"/>
            <p:cNvSpPr/>
            <p:nvPr/>
          </p:nvSpPr>
          <p:spPr>
            <a:xfrm flipH="1" flipV="1">
              <a:off x="1344" y="2189"/>
              <a:ext cx="48" cy="192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378" name="任意多边形 537618"/>
            <p:cNvSpPr/>
            <p:nvPr/>
          </p:nvSpPr>
          <p:spPr>
            <a:xfrm>
              <a:off x="1214" y="1586"/>
              <a:ext cx="1255" cy="93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6" y="335"/>
                </a:cxn>
                <a:cxn ang="0">
                  <a:pos x="404" y="630"/>
                </a:cxn>
                <a:cxn ang="0">
                  <a:pos x="754" y="809"/>
                </a:cxn>
                <a:cxn ang="0">
                  <a:pos x="1255" y="939"/>
                </a:cxn>
              </a:cxnLst>
              <a:rect l="0" t="0" r="0" b="0"/>
              <a:pathLst>
                <a:path w="1255" h="939">
                  <a:moveTo>
                    <a:pt x="0" y="0"/>
                  </a:moveTo>
                  <a:cubicBezTo>
                    <a:pt x="26" y="56"/>
                    <a:pt x="89" y="230"/>
                    <a:pt x="156" y="335"/>
                  </a:cubicBezTo>
                  <a:cubicBezTo>
                    <a:pt x="223" y="440"/>
                    <a:pt x="304" y="551"/>
                    <a:pt x="404" y="630"/>
                  </a:cubicBezTo>
                  <a:cubicBezTo>
                    <a:pt x="504" y="709"/>
                    <a:pt x="612" y="758"/>
                    <a:pt x="754" y="809"/>
                  </a:cubicBezTo>
                  <a:cubicBezTo>
                    <a:pt x="896" y="860"/>
                    <a:pt x="1151" y="912"/>
                    <a:pt x="1255" y="939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79" name="直接连接符 537619"/>
            <p:cNvSpPr/>
            <p:nvPr/>
          </p:nvSpPr>
          <p:spPr>
            <a:xfrm>
              <a:off x="2016" y="2669"/>
              <a:ext cx="96" cy="144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43380" name="对象 537620"/>
            <p:cNvGraphicFramePr/>
            <p:nvPr/>
          </p:nvGraphicFramePr>
          <p:xfrm>
            <a:off x="1972" y="2469"/>
            <a:ext cx="380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5" r:id="rId15" imgW="203200" imgH="228600" progId="Equation.DSMT4">
                    <p:embed/>
                  </p:oleObj>
                </mc:Choice>
                <mc:Fallback>
                  <p:oleObj r:id="rId15" imgW="203200" imgH="228600" progId="Equation.DSMT4">
                    <p:embed/>
                    <p:pic>
                      <p:nvPicPr>
                        <p:cNvPr id="0" name="图片 349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72" y="2469"/>
                          <a:ext cx="380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81" name="对象 537621"/>
            <p:cNvGraphicFramePr/>
            <p:nvPr/>
          </p:nvGraphicFramePr>
          <p:xfrm>
            <a:off x="1429" y="2373"/>
            <a:ext cx="332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6" r:id="rId17" imgW="177800" imgH="227965" progId="Equation.DSMT4">
                    <p:embed/>
                  </p:oleObj>
                </mc:Choice>
                <mc:Fallback>
                  <p:oleObj r:id="rId17" imgW="177800" imgH="227965" progId="Equation.DSMT4">
                    <p:embed/>
                    <p:pic>
                      <p:nvPicPr>
                        <p:cNvPr id="0" name="图片 348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29" y="2373"/>
                          <a:ext cx="332" cy="3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82" name="对象 537622"/>
            <p:cNvGraphicFramePr/>
            <p:nvPr/>
          </p:nvGraphicFramePr>
          <p:xfrm>
            <a:off x="1655" y="1570"/>
            <a:ext cx="825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7" r:id="rId19" imgW="495300" imgH="228600" progId="Equation.DSMT4">
                    <p:embed/>
                  </p:oleObj>
                </mc:Choice>
                <mc:Fallback>
                  <p:oleObj r:id="rId19" imgW="495300" imgH="228600" progId="Equation.DSMT4">
                    <p:embed/>
                    <p:pic>
                      <p:nvPicPr>
                        <p:cNvPr id="0" name="图片 348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655" y="1570"/>
                          <a:ext cx="825" cy="3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83" name="对象 537623"/>
            <p:cNvGraphicFramePr/>
            <p:nvPr/>
          </p:nvGraphicFramePr>
          <p:xfrm>
            <a:off x="480" y="1613"/>
            <a:ext cx="226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8" r:id="rId21" imgW="203200" imgH="241300" progId="Equation.3">
                    <p:embed/>
                  </p:oleObj>
                </mc:Choice>
                <mc:Fallback>
                  <p:oleObj r:id="rId21" imgW="203200" imgH="241300" progId="Equation.3">
                    <p:embed/>
                    <p:pic>
                      <p:nvPicPr>
                        <p:cNvPr id="0" name="图片 3490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80" y="1613"/>
                          <a:ext cx="226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84" name="对象 537624"/>
            <p:cNvGraphicFramePr/>
            <p:nvPr/>
          </p:nvGraphicFramePr>
          <p:xfrm>
            <a:off x="720" y="3101"/>
            <a:ext cx="18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89" r:id="rId23" imgW="165100" imgH="190500" progId="Equation.3">
                    <p:embed/>
                  </p:oleObj>
                </mc:Choice>
                <mc:Fallback>
                  <p:oleObj r:id="rId23" imgW="165100" imgH="190500" progId="Equation.3">
                    <p:embed/>
                    <p:pic>
                      <p:nvPicPr>
                        <p:cNvPr id="0" name="图片 349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20" y="3101"/>
                          <a:ext cx="187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85" name="对象 537625"/>
            <p:cNvGraphicFramePr/>
            <p:nvPr/>
          </p:nvGraphicFramePr>
          <p:xfrm>
            <a:off x="2261" y="3101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90" r:id="rId25" imgW="215900" imgH="241300" progId="Equation.3">
                    <p:embed/>
                  </p:oleObj>
                </mc:Choice>
                <mc:Fallback>
                  <p:oleObj r:id="rId25" imgW="215900" imgH="241300" progId="Equation.3">
                    <p:embed/>
                    <p:pic>
                      <p:nvPicPr>
                        <p:cNvPr id="0" name="图片 349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261" y="3101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386" name="组合 537626"/>
          <p:cNvGrpSpPr/>
          <p:nvPr/>
        </p:nvGrpSpPr>
        <p:grpSpPr>
          <a:xfrm>
            <a:off x="323850" y="0"/>
            <a:ext cx="1676400" cy="838200"/>
            <a:chOff x="384" y="480"/>
            <a:chExt cx="1056" cy="528"/>
          </a:xfrm>
        </p:grpSpPr>
        <p:sp>
          <p:nvSpPr>
            <p:cNvPr id="71707" name="横卷形 537627"/>
            <p:cNvSpPr>
              <a:spLocks noChangeArrowheads="1"/>
            </p:cNvSpPr>
            <p:nvPr/>
          </p:nvSpPr>
          <p:spPr bwMode="auto">
            <a:xfrm>
              <a:off x="384" y="480"/>
              <a:ext cx="1056" cy="528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  <a:effectLst>
              <a:outerShdw dist="107763" dir="13500000" algn="ctr" rotWithShape="0">
                <a:schemeClr val="tx2"/>
              </a:outerShdw>
            </a:effec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7629" name="文本框 537628"/>
            <p:cNvSpPr txBox="1"/>
            <p:nvPr/>
          </p:nvSpPr>
          <p:spPr>
            <a:xfrm>
              <a:off x="576" y="576"/>
              <a:ext cx="8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1">
                  <a:solidFill>
                    <a:srgbClr val="CC00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请回答</a:t>
              </a:r>
            </a:p>
          </p:txBody>
        </p:sp>
      </p:grpSp>
      <p:grpSp>
        <p:nvGrpSpPr>
          <p:cNvPr id="143389" name="组合 537630"/>
          <p:cNvGrpSpPr/>
          <p:nvPr/>
        </p:nvGrpSpPr>
        <p:grpSpPr>
          <a:xfrm>
            <a:off x="4800600" y="2332038"/>
            <a:ext cx="3875088" cy="3048000"/>
            <a:chOff x="576" y="1728"/>
            <a:chExt cx="2304" cy="1920"/>
          </a:xfrm>
        </p:grpSpPr>
        <p:sp>
          <p:nvSpPr>
            <p:cNvPr id="143390" name="矩形 537631"/>
            <p:cNvSpPr/>
            <p:nvPr/>
          </p:nvSpPr>
          <p:spPr>
            <a:xfrm>
              <a:off x="576" y="1728"/>
              <a:ext cx="2304" cy="192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391" name="直接连接符 537632"/>
            <p:cNvSpPr/>
            <p:nvPr/>
          </p:nvSpPr>
          <p:spPr>
            <a:xfrm flipV="1">
              <a:off x="864" y="1824"/>
              <a:ext cx="0" cy="153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43392" name="直接连接符 537633"/>
            <p:cNvSpPr/>
            <p:nvPr/>
          </p:nvSpPr>
          <p:spPr>
            <a:xfrm>
              <a:off x="864" y="3360"/>
              <a:ext cx="1872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43393" name="对象 537634"/>
            <p:cNvGraphicFramePr/>
            <p:nvPr/>
          </p:nvGraphicFramePr>
          <p:xfrm>
            <a:off x="624" y="1872"/>
            <a:ext cx="226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91" r:id="rId27" imgW="203200" imgH="241300" progId="Equation.3">
                    <p:embed/>
                  </p:oleObj>
                </mc:Choice>
                <mc:Fallback>
                  <p:oleObj r:id="rId27" imgW="203200" imgH="241300" progId="Equation.3">
                    <p:embed/>
                    <p:pic>
                      <p:nvPicPr>
                        <p:cNvPr id="0" name="图片 349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24" y="1872"/>
                          <a:ext cx="226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94" name="对象 537635"/>
            <p:cNvGraphicFramePr/>
            <p:nvPr/>
          </p:nvGraphicFramePr>
          <p:xfrm>
            <a:off x="864" y="3360"/>
            <a:ext cx="18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92" r:id="rId28" imgW="165100" imgH="190500" progId="Equation.3">
                    <p:embed/>
                  </p:oleObj>
                </mc:Choice>
                <mc:Fallback>
                  <p:oleObj r:id="rId28" imgW="165100" imgH="190500" progId="Equation.3">
                    <p:embed/>
                    <p:pic>
                      <p:nvPicPr>
                        <p:cNvPr id="0" name="图片 3498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864" y="3360"/>
                          <a:ext cx="187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95" name="对象 537636"/>
            <p:cNvGraphicFramePr/>
            <p:nvPr/>
          </p:nvGraphicFramePr>
          <p:xfrm>
            <a:off x="2405" y="336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93" r:id="rId29" imgW="215900" imgH="241300" progId="Equation.3">
                    <p:embed/>
                  </p:oleObj>
                </mc:Choice>
                <mc:Fallback>
                  <p:oleObj r:id="rId29" imgW="215900" imgH="241300" progId="Equation.3">
                    <p:embed/>
                    <p:pic>
                      <p:nvPicPr>
                        <p:cNvPr id="0" name="图片 3501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405" y="336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396" name="任意多边形 537637"/>
          <p:cNvSpPr/>
          <p:nvPr/>
        </p:nvSpPr>
        <p:spPr>
          <a:xfrm>
            <a:off x="5876925" y="2589213"/>
            <a:ext cx="904875" cy="205105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0" t="0" r="0" b="0"/>
            <a:pathLst>
              <a:path w="570" h="1292">
                <a:moveTo>
                  <a:pt x="60" y="150"/>
                </a:moveTo>
                <a:lnTo>
                  <a:pt x="162" y="390"/>
                </a:lnTo>
                <a:lnTo>
                  <a:pt x="248" y="572"/>
                </a:lnTo>
                <a:lnTo>
                  <a:pt x="330" y="723"/>
                </a:lnTo>
                <a:lnTo>
                  <a:pt x="397" y="962"/>
                </a:lnTo>
                <a:lnTo>
                  <a:pt x="570" y="1292"/>
                </a:lnTo>
                <a:lnTo>
                  <a:pt x="344" y="1182"/>
                </a:lnTo>
                <a:lnTo>
                  <a:pt x="241" y="1113"/>
                </a:lnTo>
                <a:lnTo>
                  <a:pt x="145" y="839"/>
                </a:lnTo>
                <a:lnTo>
                  <a:pt x="69" y="496"/>
                </a:lnTo>
                <a:lnTo>
                  <a:pt x="0" y="0"/>
                </a:lnTo>
              </a:path>
            </a:pathLst>
          </a:custGeom>
          <a:blipFill rotWithShape="0">
            <a:blip r:embed="rId10"/>
          </a:blipFill>
          <a:ln w="19050" cap="flat" cmpd="sng">
            <a:solidFill>
              <a:srgbClr val="CC009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397" name="任意多边形 537638"/>
          <p:cNvSpPr/>
          <p:nvPr/>
        </p:nvSpPr>
        <p:spPr>
          <a:xfrm>
            <a:off x="6858000" y="3551238"/>
            <a:ext cx="1163638" cy="12477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0" t="0" r="0" b="0"/>
            <a:pathLst>
              <a:path w="733" h="786">
                <a:moveTo>
                  <a:pt x="0" y="0"/>
                </a:moveTo>
                <a:lnTo>
                  <a:pt x="110" y="89"/>
                </a:lnTo>
                <a:lnTo>
                  <a:pt x="220" y="144"/>
                </a:lnTo>
                <a:lnTo>
                  <a:pt x="361" y="186"/>
                </a:lnTo>
                <a:lnTo>
                  <a:pt x="373" y="192"/>
                </a:lnTo>
                <a:lnTo>
                  <a:pt x="451" y="354"/>
                </a:lnTo>
                <a:lnTo>
                  <a:pt x="535" y="510"/>
                </a:lnTo>
                <a:lnTo>
                  <a:pt x="733" y="786"/>
                </a:lnTo>
                <a:lnTo>
                  <a:pt x="631" y="782"/>
                </a:lnTo>
                <a:lnTo>
                  <a:pt x="475" y="768"/>
                </a:lnTo>
                <a:lnTo>
                  <a:pt x="343" y="594"/>
                </a:lnTo>
                <a:lnTo>
                  <a:pt x="199" y="3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</a:blipFill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398" name="任意多边形 537639"/>
          <p:cNvSpPr/>
          <p:nvPr/>
        </p:nvSpPr>
        <p:spPr>
          <a:xfrm>
            <a:off x="5519738" y="2636838"/>
            <a:ext cx="2752725" cy="21796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734" h="1373">
                <a:moveTo>
                  <a:pt x="0" y="0"/>
                </a:moveTo>
                <a:cubicBezTo>
                  <a:pt x="11" y="49"/>
                  <a:pt x="42" y="194"/>
                  <a:pt x="68" y="295"/>
                </a:cubicBezTo>
                <a:cubicBezTo>
                  <a:pt x="94" y="396"/>
                  <a:pt x="118" y="504"/>
                  <a:pt x="157" y="603"/>
                </a:cubicBezTo>
                <a:cubicBezTo>
                  <a:pt x="196" y="702"/>
                  <a:pt x="208" y="788"/>
                  <a:pt x="301" y="891"/>
                </a:cubicBezTo>
                <a:cubicBezTo>
                  <a:pt x="394" y="994"/>
                  <a:pt x="527" y="1144"/>
                  <a:pt x="713" y="1221"/>
                </a:cubicBezTo>
                <a:cubicBezTo>
                  <a:pt x="899" y="1298"/>
                  <a:pt x="1249" y="1329"/>
                  <a:pt x="1419" y="1351"/>
                </a:cubicBezTo>
                <a:cubicBezTo>
                  <a:pt x="1589" y="1373"/>
                  <a:pt x="1669" y="1351"/>
                  <a:pt x="1734" y="1351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399" name="对象 537640"/>
          <p:cNvGraphicFramePr/>
          <p:nvPr/>
        </p:nvGraphicFramePr>
        <p:xfrm>
          <a:off x="8172450" y="4076700"/>
          <a:ext cx="3540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4" r:id="rId30" imgW="152400" imgH="215900" progId="Equation.3">
                  <p:embed/>
                </p:oleObj>
              </mc:Choice>
              <mc:Fallback>
                <p:oleObj r:id="rId30" imgW="152400" imgH="215900" progId="Equation.3">
                  <p:embed/>
                  <p:pic>
                    <p:nvPicPr>
                      <p:cNvPr id="0" name="图片 350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172450" y="4076700"/>
                        <a:ext cx="354013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0" name="对象 537641"/>
          <p:cNvGraphicFramePr/>
          <p:nvPr/>
        </p:nvGraphicFramePr>
        <p:xfrm>
          <a:off x="5364163" y="3429000"/>
          <a:ext cx="50323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5" r:id="rId32" imgW="165100" imgH="215900" progId="Equation.3">
                  <p:embed/>
                </p:oleObj>
              </mc:Choice>
              <mc:Fallback>
                <p:oleObj r:id="rId32" imgW="165100" imgH="215900" progId="Equation.3">
                  <p:embed/>
                  <p:pic>
                    <p:nvPicPr>
                      <p:cNvPr id="0" name="图片 3497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364163" y="3429000"/>
                        <a:ext cx="503237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1" name="直接连接符 537642"/>
          <p:cNvSpPr/>
          <p:nvPr/>
        </p:nvSpPr>
        <p:spPr>
          <a:xfrm>
            <a:off x="6019800" y="3551238"/>
            <a:ext cx="76200" cy="304800"/>
          </a:xfrm>
          <a:prstGeom prst="line">
            <a:avLst/>
          </a:prstGeom>
          <a:ln w="28575" cap="flat" cmpd="sng">
            <a:solidFill>
              <a:srgbClr val="CC00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3402" name="直接连接符 537643"/>
          <p:cNvSpPr/>
          <p:nvPr/>
        </p:nvSpPr>
        <p:spPr>
          <a:xfrm flipH="1" flipV="1">
            <a:off x="7234238" y="4214813"/>
            <a:ext cx="157162" cy="250825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3403" name="直接连接符 537644"/>
          <p:cNvSpPr/>
          <p:nvPr/>
        </p:nvSpPr>
        <p:spPr>
          <a:xfrm flipH="1" flipV="1">
            <a:off x="6477000" y="4008438"/>
            <a:ext cx="76200" cy="228600"/>
          </a:xfrm>
          <a:prstGeom prst="line">
            <a:avLst/>
          </a:prstGeom>
          <a:ln w="28575" cap="flat" cmpd="sng">
            <a:solidFill>
              <a:srgbClr val="CC00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3404" name="任意多边形 537645"/>
          <p:cNvSpPr/>
          <p:nvPr/>
        </p:nvSpPr>
        <p:spPr>
          <a:xfrm>
            <a:off x="5867400" y="2560638"/>
            <a:ext cx="2243138" cy="1820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413" h="1147">
                <a:moveTo>
                  <a:pt x="0" y="0"/>
                </a:moveTo>
                <a:cubicBezTo>
                  <a:pt x="36" y="82"/>
                  <a:pt x="150" y="361"/>
                  <a:pt x="219" y="494"/>
                </a:cubicBezTo>
                <a:cubicBezTo>
                  <a:pt x="288" y="627"/>
                  <a:pt x="322" y="710"/>
                  <a:pt x="411" y="795"/>
                </a:cubicBezTo>
                <a:cubicBezTo>
                  <a:pt x="500" y="880"/>
                  <a:pt x="640" y="950"/>
                  <a:pt x="754" y="1001"/>
                </a:cubicBezTo>
                <a:cubicBezTo>
                  <a:pt x="868" y="1052"/>
                  <a:pt x="999" y="1081"/>
                  <a:pt x="1097" y="1104"/>
                </a:cubicBezTo>
                <a:cubicBezTo>
                  <a:pt x="1195" y="1127"/>
                  <a:pt x="1291" y="1133"/>
                  <a:pt x="1344" y="1140"/>
                </a:cubicBezTo>
                <a:cubicBezTo>
                  <a:pt x="1397" y="1147"/>
                  <a:pt x="1399" y="1144"/>
                  <a:pt x="1413" y="1145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05" name="直接连接符 537646"/>
          <p:cNvSpPr/>
          <p:nvPr/>
        </p:nvSpPr>
        <p:spPr>
          <a:xfrm>
            <a:off x="7696200" y="4313238"/>
            <a:ext cx="179388" cy="273050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sm" len="lg"/>
          </a:ln>
        </p:spPr>
      </p:sp>
      <p:graphicFrame>
        <p:nvGraphicFramePr>
          <p:cNvPr id="143406" name="对象 537647"/>
          <p:cNvGraphicFramePr/>
          <p:nvPr/>
        </p:nvGraphicFramePr>
        <p:xfrm>
          <a:off x="7129463" y="3803650"/>
          <a:ext cx="5667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6" r:id="rId34" imgW="203200" imgH="228600" progId="Equation.DSMT4">
                  <p:embed/>
                </p:oleObj>
              </mc:Choice>
              <mc:Fallback>
                <p:oleObj r:id="rId34" imgW="203200" imgH="228600" progId="Equation.DSMT4">
                  <p:embed/>
                  <p:pic>
                    <p:nvPicPr>
                      <p:cNvPr id="0" name="图片 3500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129463" y="3803650"/>
                        <a:ext cx="566737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7" name="对象 537648"/>
          <p:cNvGraphicFramePr/>
          <p:nvPr/>
        </p:nvGraphicFramePr>
        <p:xfrm>
          <a:off x="6040438" y="3573463"/>
          <a:ext cx="4968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7" r:id="rId36" imgW="177800" imgH="227965" progId="Equation.DSMT4">
                  <p:embed/>
                </p:oleObj>
              </mc:Choice>
              <mc:Fallback>
                <p:oleObj r:id="rId36" imgW="177800" imgH="227965" progId="Equation.DSMT4">
                  <p:embed/>
                  <p:pic>
                    <p:nvPicPr>
                      <p:cNvPr id="0" name="图片 3505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040438" y="3573463"/>
                        <a:ext cx="496887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8" name="任意多边形 537649"/>
          <p:cNvSpPr/>
          <p:nvPr/>
        </p:nvSpPr>
        <p:spPr>
          <a:xfrm>
            <a:off x="6205538" y="2603500"/>
            <a:ext cx="1817687" cy="14271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1145" h="899">
                <a:moveTo>
                  <a:pt x="0" y="0"/>
                </a:moveTo>
                <a:cubicBezTo>
                  <a:pt x="23" y="47"/>
                  <a:pt x="87" y="196"/>
                  <a:pt x="137" y="282"/>
                </a:cubicBezTo>
                <a:cubicBezTo>
                  <a:pt x="187" y="368"/>
                  <a:pt x="221" y="441"/>
                  <a:pt x="301" y="515"/>
                </a:cubicBezTo>
                <a:cubicBezTo>
                  <a:pt x="381" y="589"/>
                  <a:pt x="476" y="663"/>
                  <a:pt x="617" y="727"/>
                </a:cubicBezTo>
                <a:cubicBezTo>
                  <a:pt x="758" y="791"/>
                  <a:pt x="1035" y="863"/>
                  <a:pt x="1145" y="899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409" name="对象 537650"/>
          <p:cNvGraphicFramePr/>
          <p:nvPr/>
        </p:nvGraphicFramePr>
        <p:xfrm>
          <a:off x="6300788" y="2565400"/>
          <a:ext cx="490537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8" r:id="rId38" imgW="152400" imgH="228600" progId="Equation.3">
                  <p:embed/>
                </p:oleObj>
              </mc:Choice>
              <mc:Fallback>
                <p:oleObj r:id="rId38" imgW="152400" imgH="228600" progId="Equation.3">
                  <p:embed/>
                  <p:pic>
                    <p:nvPicPr>
                      <p:cNvPr id="0" name="图片 3506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300788" y="2565400"/>
                        <a:ext cx="490537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0" name="对象 537651"/>
          <p:cNvGraphicFramePr/>
          <p:nvPr/>
        </p:nvGraphicFramePr>
        <p:xfrm>
          <a:off x="7164388" y="2551113"/>
          <a:ext cx="11128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9" r:id="rId40" imgW="495300" imgH="228600" progId="Equation.DSMT4">
                  <p:embed/>
                </p:oleObj>
              </mc:Choice>
              <mc:Fallback>
                <p:oleObj r:id="rId40" imgW="495300" imgH="228600" progId="Equation.DSMT4">
                  <p:embed/>
                  <p:pic>
                    <p:nvPicPr>
                      <p:cNvPr id="0" name="图片 3503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7164388" y="2551113"/>
                        <a:ext cx="1112837" cy="509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1" name="对象 537603"/>
          <p:cNvGraphicFramePr/>
          <p:nvPr/>
        </p:nvGraphicFramePr>
        <p:xfrm>
          <a:off x="4800600" y="1349375"/>
          <a:ext cx="4540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0" r:id="rId42" imgW="177800" imgH="227965" progId="Equation.DSMT4">
                  <p:embed/>
                </p:oleObj>
              </mc:Choice>
              <mc:Fallback>
                <p:oleObj r:id="rId42" imgW="177800" imgH="227965" progId="Equation.DSMT4">
                  <p:embed/>
                  <p:pic>
                    <p:nvPicPr>
                      <p:cNvPr id="0" name="图片 3504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800600" y="1349375"/>
                        <a:ext cx="454025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3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3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矩形 521217"/>
          <p:cNvSpPr>
            <a:spLocks noChangeArrowheads="1"/>
          </p:cNvSpPr>
          <p:nvPr/>
        </p:nvSpPr>
        <p:spPr bwMode="auto">
          <a:xfrm>
            <a:off x="179388" y="2849563"/>
            <a:ext cx="6192838" cy="720725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50000">
                <a:schemeClr val="bg1"/>
              </a:gs>
              <a:gs pos="100000">
                <a:srgbClr val="FF99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1219" name="文本框 521218"/>
          <p:cNvSpPr txBox="1"/>
          <p:nvPr/>
        </p:nvSpPr>
        <p:spPr>
          <a:xfrm>
            <a:off x="0" y="44450"/>
            <a:ext cx="9144000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algn="just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800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一定量的理想气体，从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P-V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图上初态经历（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）或</a:t>
            </a:r>
          </a:p>
          <a:p>
            <a:pPr marR="0" algn="just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）过程到达末态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，已经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两态处于同一绝热线上</a:t>
            </a:r>
          </a:p>
          <a:p>
            <a:pPr marR="0" algn="just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（图中虚线是绝热线），问两过程中气体是吸热还是</a:t>
            </a:r>
          </a:p>
          <a:p>
            <a:pPr marR="0" algn="just" defTabSz="914400" eaLnBrk="0" hangingPunct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放热？ </a:t>
            </a:r>
          </a:p>
        </p:txBody>
      </p:sp>
      <p:sp>
        <p:nvSpPr>
          <p:cNvPr id="521220" name="文本框 521219"/>
          <p:cNvSpPr txBox="1"/>
          <p:nvPr/>
        </p:nvSpPr>
        <p:spPr>
          <a:xfrm>
            <a:off x="228600" y="2338388"/>
            <a:ext cx="5975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(A) 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）过程吸热，（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）过程放热 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</p:txBody>
      </p:sp>
      <p:sp>
        <p:nvSpPr>
          <p:cNvPr id="521221" name="文本框 521220"/>
          <p:cNvSpPr txBox="1"/>
          <p:nvPr/>
        </p:nvSpPr>
        <p:spPr>
          <a:xfrm>
            <a:off x="228600" y="2947988"/>
            <a:ext cx="60436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(B) 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）过程放热，（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）过程吸热  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</p:txBody>
      </p:sp>
      <p:sp>
        <p:nvSpPr>
          <p:cNvPr id="521222" name="文本框 521221"/>
          <p:cNvSpPr txBox="1"/>
          <p:nvPr/>
        </p:nvSpPr>
        <p:spPr>
          <a:xfrm>
            <a:off x="228600" y="3633788"/>
            <a:ext cx="33877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(C)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两种过程都吸热 </a:t>
            </a: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</a:p>
        </p:txBody>
      </p:sp>
      <p:sp>
        <p:nvSpPr>
          <p:cNvPr id="521223" name="文本框 521222"/>
          <p:cNvSpPr txBox="1"/>
          <p:nvPr/>
        </p:nvSpPr>
        <p:spPr>
          <a:xfrm>
            <a:off x="228600" y="4319588"/>
            <a:ext cx="36258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(D)</a:t>
            </a:r>
            <a:r>
              <a:rPr kumimoji="0" lang="zh-CN" altLang="en-US" sz="2800" b="1" kern="1200" cap="none" spc="0" normalizeH="0" baseline="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两种过程都放热 。</a:t>
            </a:r>
          </a:p>
        </p:txBody>
      </p:sp>
      <p:grpSp>
        <p:nvGrpSpPr>
          <p:cNvPr id="2" name="组合 521223"/>
          <p:cNvGrpSpPr/>
          <p:nvPr/>
        </p:nvGrpSpPr>
        <p:grpSpPr>
          <a:xfrm>
            <a:off x="304800" y="4876800"/>
            <a:ext cx="6211888" cy="1096963"/>
            <a:chOff x="192" y="3072"/>
            <a:chExt cx="3913" cy="691"/>
          </a:xfrm>
        </p:grpSpPr>
        <p:sp>
          <p:nvSpPr>
            <p:cNvPr id="521225" name="文本框 521224"/>
            <p:cNvSpPr txBox="1"/>
            <p:nvPr/>
          </p:nvSpPr>
          <p:spPr>
            <a:xfrm>
              <a:off x="192" y="3072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 eaLnBrk="0" hangingPunct="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1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提示：</a:t>
              </a:r>
            </a:p>
          </p:txBody>
        </p:sp>
        <p:sp>
          <p:nvSpPr>
            <p:cNvPr id="521226" name="文本框 521225"/>
            <p:cNvSpPr txBox="1"/>
            <p:nvPr/>
          </p:nvSpPr>
          <p:spPr>
            <a:xfrm>
              <a:off x="614" y="3436"/>
              <a:ext cx="3491" cy="327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>
              <a:spAutoFit/>
            </a:bodyPr>
            <a:lstStyle/>
            <a:p>
              <a:pPr marR="0" defTabSz="914400" eaLnBrk="0" hangingPunct="0">
                <a:buClrTx/>
                <a:buSzTx/>
                <a:buFontTx/>
                <a:buNone/>
                <a:defRPr/>
              </a:pPr>
              <a:r>
                <a:rPr kumimoji="0" lang="zh-CN" altLang="en-US" sz="2800" b="1" kern="1200" cap="none" spc="0" normalizeH="0" baseline="0" noProof="1">
                  <a:solidFill>
                    <a:srgbClr val="000000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与绝热过程组成循环过程来判断。</a:t>
              </a:r>
            </a:p>
          </p:txBody>
        </p:sp>
      </p:grpSp>
      <p:grpSp>
        <p:nvGrpSpPr>
          <p:cNvPr id="3" name="组合 521226"/>
          <p:cNvGrpSpPr/>
          <p:nvPr/>
        </p:nvGrpSpPr>
        <p:grpSpPr>
          <a:xfrm>
            <a:off x="6248400" y="2414588"/>
            <a:ext cx="2895600" cy="2743200"/>
            <a:chOff x="3936" y="1296"/>
            <a:chExt cx="1824" cy="1728"/>
          </a:xfrm>
        </p:grpSpPr>
        <p:sp>
          <p:nvSpPr>
            <p:cNvPr id="144395" name="矩形 521227"/>
            <p:cNvSpPr/>
            <p:nvPr/>
          </p:nvSpPr>
          <p:spPr>
            <a:xfrm>
              <a:off x="3936" y="1296"/>
              <a:ext cx="1824" cy="172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4396" name="组合 521228"/>
            <p:cNvGrpSpPr/>
            <p:nvPr/>
          </p:nvGrpSpPr>
          <p:grpSpPr>
            <a:xfrm>
              <a:off x="4080" y="1440"/>
              <a:ext cx="1680" cy="1392"/>
              <a:chOff x="4080" y="1440"/>
              <a:chExt cx="1680" cy="1392"/>
            </a:xfrm>
          </p:grpSpPr>
          <p:sp>
            <p:nvSpPr>
              <p:cNvPr id="144397" name="直接连接符 521229"/>
              <p:cNvSpPr/>
              <p:nvPr/>
            </p:nvSpPr>
            <p:spPr>
              <a:xfrm>
                <a:off x="4080" y="2832"/>
                <a:ext cx="1680" cy="0"/>
              </a:xfrm>
              <a:prstGeom prst="line">
                <a:avLst/>
              </a:prstGeom>
              <a:ln w="38100" cap="flat" cmpd="sng">
                <a:solidFill>
                  <a:srgbClr val="080808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44398" name="直接连接符 521230"/>
              <p:cNvSpPr/>
              <p:nvPr/>
            </p:nvSpPr>
            <p:spPr>
              <a:xfrm flipV="1">
                <a:off x="4080" y="1440"/>
                <a:ext cx="0" cy="1392"/>
              </a:xfrm>
              <a:prstGeom prst="line">
                <a:avLst/>
              </a:prstGeom>
              <a:ln w="38100" cap="flat" cmpd="sng">
                <a:solidFill>
                  <a:srgbClr val="080808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44399" name="任意多边形 521231"/>
              <p:cNvSpPr/>
              <p:nvPr/>
            </p:nvSpPr>
            <p:spPr>
              <a:xfrm>
                <a:off x="4368" y="1776"/>
                <a:ext cx="816" cy="7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4" y="384"/>
                  </a:cxn>
                  <a:cxn ang="0">
                    <a:pos x="288" y="528"/>
                  </a:cxn>
                  <a:cxn ang="0">
                    <a:pos x="384" y="576"/>
                  </a:cxn>
                  <a:cxn ang="0">
                    <a:pos x="816" y="720"/>
                  </a:cxn>
                </a:cxnLst>
                <a:rect l="0" t="0" r="0" b="0"/>
                <a:pathLst>
                  <a:path w="816" h="720">
                    <a:moveTo>
                      <a:pt x="0" y="0"/>
                    </a:moveTo>
                    <a:cubicBezTo>
                      <a:pt x="48" y="148"/>
                      <a:pt x="96" y="296"/>
                      <a:pt x="144" y="384"/>
                    </a:cubicBezTo>
                    <a:cubicBezTo>
                      <a:pt x="192" y="472"/>
                      <a:pt x="248" y="496"/>
                      <a:pt x="288" y="528"/>
                    </a:cubicBezTo>
                    <a:cubicBezTo>
                      <a:pt x="328" y="560"/>
                      <a:pt x="296" y="544"/>
                      <a:pt x="384" y="576"/>
                    </a:cubicBezTo>
                    <a:cubicBezTo>
                      <a:pt x="472" y="608"/>
                      <a:pt x="752" y="696"/>
                      <a:pt x="816" y="720"/>
                    </a:cubicBezTo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400" name="任意多边形 521232"/>
              <p:cNvSpPr/>
              <p:nvPr/>
            </p:nvSpPr>
            <p:spPr>
              <a:xfrm>
                <a:off x="4464" y="1976"/>
                <a:ext cx="592" cy="472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192" y="40"/>
                  </a:cxn>
                  <a:cxn ang="0">
                    <a:pos x="528" y="280"/>
                  </a:cxn>
                  <a:cxn ang="0">
                    <a:pos x="576" y="472"/>
                  </a:cxn>
                </a:cxnLst>
                <a:rect l="0" t="0" r="0" b="0"/>
                <a:pathLst>
                  <a:path w="592" h="472">
                    <a:moveTo>
                      <a:pt x="0" y="40"/>
                    </a:moveTo>
                    <a:cubicBezTo>
                      <a:pt x="52" y="20"/>
                      <a:pt x="104" y="0"/>
                      <a:pt x="192" y="40"/>
                    </a:cubicBezTo>
                    <a:cubicBezTo>
                      <a:pt x="280" y="80"/>
                      <a:pt x="464" y="208"/>
                      <a:pt x="528" y="280"/>
                    </a:cubicBezTo>
                    <a:cubicBezTo>
                      <a:pt x="592" y="352"/>
                      <a:pt x="584" y="412"/>
                      <a:pt x="576" y="472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401" name="任意多边形 521233"/>
              <p:cNvSpPr/>
              <p:nvPr/>
            </p:nvSpPr>
            <p:spPr>
              <a:xfrm>
                <a:off x="4344" y="2016"/>
                <a:ext cx="696" cy="584"/>
              </a:xfrm>
              <a:custGeom>
                <a:avLst/>
                <a:gdLst/>
                <a:ahLst/>
                <a:cxnLst>
                  <a:cxn ang="0">
                    <a:pos x="120" y="0"/>
                  </a:cxn>
                  <a:cxn ang="0">
                    <a:pos x="24" y="384"/>
                  </a:cxn>
                  <a:cxn ang="0">
                    <a:pos x="264" y="480"/>
                  </a:cxn>
                  <a:cxn ang="0">
                    <a:pos x="456" y="576"/>
                  </a:cxn>
                  <a:cxn ang="0">
                    <a:pos x="696" y="432"/>
                  </a:cxn>
                </a:cxnLst>
                <a:rect l="0" t="0" r="0" b="0"/>
                <a:pathLst>
                  <a:path w="696" h="584">
                    <a:moveTo>
                      <a:pt x="120" y="0"/>
                    </a:moveTo>
                    <a:cubicBezTo>
                      <a:pt x="60" y="152"/>
                      <a:pt x="0" y="304"/>
                      <a:pt x="24" y="384"/>
                    </a:cubicBezTo>
                    <a:cubicBezTo>
                      <a:pt x="48" y="464"/>
                      <a:pt x="192" y="448"/>
                      <a:pt x="264" y="480"/>
                    </a:cubicBezTo>
                    <a:cubicBezTo>
                      <a:pt x="336" y="512"/>
                      <a:pt x="384" y="584"/>
                      <a:pt x="456" y="576"/>
                    </a:cubicBezTo>
                    <a:cubicBezTo>
                      <a:pt x="528" y="568"/>
                      <a:pt x="696" y="456"/>
                      <a:pt x="696" y="432"/>
                    </a:cubicBezTo>
                  </a:path>
                </a:pathLst>
              </a:custGeom>
              <a:noFill/>
              <a:ln w="38100" cap="flat" cmpd="sng">
                <a:solidFill>
                  <a:srgbClr val="080808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1235" name="文本框 521234"/>
              <p:cNvSpPr txBox="1"/>
              <p:nvPr/>
            </p:nvSpPr>
            <p:spPr>
              <a:xfrm>
                <a:off x="4272" y="2400"/>
                <a:ext cx="3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algn="ctr" defTabSz="914400" eaLnBrk="0" hangingPunct="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(1)</a:t>
                </a:r>
              </a:p>
            </p:txBody>
          </p:sp>
          <p:sp>
            <p:nvSpPr>
              <p:cNvPr id="521236" name="文本框 521235"/>
              <p:cNvSpPr txBox="1"/>
              <p:nvPr/>
            </p:nvSpPr>
            <p:spPr>
              <a:xfrm>
                <a:off x="4656" y="1824"/>
                <a:ext cx="3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algn="ctr" defTabSz="914400" eaLnBrk="0" hangingPunct="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(2)</a:t>
                </a:r>
              </a:p>
            </p:txBody>
          </p:sp>
          <p:sp>
            <p:nvSpPr>
              <p:cNvPr id="521237" name="文本框 521236"/>
              <p:cNvSpPr txBox="1"/>
              <p:nvPr/>
            </p:nvSpPr>
            <p:spPr>
              <a:xfrm>
                <a:off x="4224" y="1872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algn="ctr" defTabSz="914400" eaLnBrk="0" hangingPunct="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521238" name="文本框 521237"/>
              <p:cNvSpPr txBox="1"/>
              <p:nvPr/>
            </p:nvSpPr>
            <p:spPr>
              <a:xfrm>
                <a:off x="4938" y="2400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marR="0" algn="ctr" defTabSz="914400" eaLnBrk="0" hangingPunct="0"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kern="1200" cap="none" spc="0" normalizeH="0" baseline="0" noProof="1">
                    <a:solidFill>
                      <a:srgbClr val="000000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2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2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20" grpId="0"/>
      <p:bldP spid="521221" grpId="0"/>
      <p:bldP spid="521222" grpId="0"/>
      <p:bldP spid="52122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文本框 522241"/>
          <p:cNvSpPr txBox="1"/>
          <p:nvPr/>
        </p:nvSpPr>
        <p:spPr>
          <a:xfrm>
            <a:off x="2916238" y="13081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答：</a:t>
            </a:r>
          </a:p>
        </p:txBody>
      </p:sp>
      <p:sp>
        <p:nvSpPr>
          <p:cNvPr id="522243" name="文本框 522242"/>
          <p:cNvSpPr txBox="1"/>
          <p:nvPr/>
        </p:nvSpPr>
        <p:spPr>
          <a:xfrm>
            <a:off x="34925" y="111125"/>
            <a:ext cx="91440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如图，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MT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为等温线，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MQ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为绝热线，则在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AM,BM,CM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三种准静态过程中，温度升高的是 </a:t>
            </a:r>
            <a:r>
              <a:rPr kumimoji="0" lang="zh-CN" altLang="en-US" b="1" u="sng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过程；气体吸热的是 </a:t>
            </a:r>
            <a:r>
              <a:rPr kumimoji="0" lang="zh-CN" altLang="en-US" b="1" u="sng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过程。</a:t>
            </a:r>
          </a:p>
        </p:txBody>
      </p:sp>
      <p:sp>
        <p:nvSpPr>
          <p:cNvPr id="522244" name="文本框 522243"/>
          <p:cNvSpPr txBox="1"/>
          <p:nvPr/>
        </p:nvSpPr>
        <p:spPr>
          <a:xfrm>
            <a:off x="3635375" y="1308100"/>
            <a:ext cx="487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⑴  </a:t>
            </a:r>
            <a:r>
              <a:rPr kumimoji="0" lang="en-US" altLang="zh-CN" b="1" i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BM, CM</a:t>
            </a:r>
            <a:endParaRPr kumimoji="0" lang="en-US" altLang="zh-CN" b="1" kern="1200" cap="none" spc="0" normalizeH="0" baseline="0" noProof="1">
              <a:solidFill>
                <a:srgbClr val="CC0066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45" name="文本框 522244"/>
          <p:cNvSpPr txBox="1"/>
          <p:nvPr/>
        </p:nvSpPr>
        <p:spPr>
          <a:xfrm>
            <a:off x="3708400" y="2938463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⑵  </a:t>
            </a:r>
            <a:r>
              <a:rPr kumimoji="0" lang="en-US" altLang="zh-CN" b="1" i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</a:t>
            </a:r>
            <a:endParaRPr kumimoji="0" lang="en-US" altLang="zh-CN" b="1" kern="1200" cap="none" spc="0" normalizeH="0" baseline="0" noProof="1">
              <a:solidFill>
                <a:srgbClr val="CC0066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522245"/>
          <p:cNvGrpSpPr/>
          <p:nvPr/>
        </p:nvGrpSpPr>
        <p:grpSpPr>
          <a:xfrm>
            <a:off x="0" y="803275"/>
            <a:ext cx="3886200" cy="3994150"/>
            <a:chOff x="0" y="864"/>
            <a:chExt cx="2448" cy="2516"/>
          </a:xfrm>
        </p:grpSpPr>
        <p:sp>
          <p:nvSpPr>
            <p:cNvPr id="145414" name="直接连接符 522246"/>
            <p:cNvSpPr/>
            <p:nvPr/>
          </p:nvSpPr>
          <p:spPr>
            <a:xfrm>
              <a:off x="336" y="1296"/>
              <a:ext cx="10" cy="183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none" w="sm" len="sm"/>
            </a:ln>
          </p:spPr>
        </p:sp>
        <p:sp>
          <p:nvSpPr>
            <p:cNvPr id="145415" name="直接连接符 522247"/>
            <p:cNvSpPr/>
            <p:nvPr/>
          </p:nvSpPr>
          <p:spPr>
            <a:xfrm flipV="1">
              <a:off x="346" y="3120"/>
              <a:ext cx="1622" cy="1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med"/>
            </a:ln>
          </p:spPr>
        </p:sp>
        <p:sp>
          <p:nvSpPr>
            <p:cNvPr id="522249" name="矩形 522248"/>
            <p:cNvSpPr/>
            <p:nvPr/>
          </p:nvSpPr>
          <p:spPr>
            <a:xfrm>
              <a:off x="0" y="1152"/>
              <a:ext cx="43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1" u="none" strike="noStrike" kern="1200" cap="none" spc="0" normalizeH="0" baseline="0" noProof="1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sp>
          <p:nvSpPr>
            <p:cNvPr id="522250" name="矩形 522249"/>
            <p:cNvSpPr/>
            <p:nvPr/>
          </p:nvSpPr>
          <p:spPr>
            <a:xfrm>
              <a:off x="1968" y="2880"/>
              <a:ext cx="48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1" u="none" strike="noStrike" kern="1200" cap="none" spc="0" normalizeH="0" baseline="0" noProof="1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</a:p>
          </p:txBody>
        </p:sp>
        <p:sp>
          <p:nvSpPr>
            <p:cNvPr id="522251" name="矩形 522250"/>
            <p:cNvSpPr/>
            <p:nvPr/>
          </p:nvSpPr>
          <p:spPr>
            <a:xfrm>
              <a:off x="1546" y="1776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CC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522252" name="矩形 522251"/>
            <p:cNvSpPr/>
            <p:nvPr/>
          </p:nvSpPr>
          <p:spPr>
            <a:xfrm>
              <a:off x="1546" y="2688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CC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522253" name="矩形 522252"/>
            <p:cNvSpPr/>
            <p:nvPr/>
          </p:nvSpPr>
          <p:spPr>
            <a:xfrm>
              <a:off x="48" y="2976"/>
              <a:ext cx="48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1" u="none" strike="noStrike" kern="1200" cap="none" spc="0" normalizeH="0" baseline="0" noProof="1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</a:p>
          </p:txBody>
        </p:sp>
        <p:sp>
          <p:nvSpPr>
            <p:cNvPr id="145421" name="直接连接符 522253"/>
            <p:cNvSpPr/>
            <p:nvPr/>
          </p:nvSpPr>
          <p:spPr>
            <a:xfrm>
              <a:off x="1584" y="2016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45422" name="任意多边形 522254"/>
            <p:cNvSpPr/>
            <p:nvPr/>
          </p:nvSpPr>
          <p:spPr>
            <a:xfrm flipH="1" flipV="1">
              <a:off x="774" y="1440"/>
              <a:ext cx="963" cy="5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9688" h="21357" fill="none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</a:path>
                <a:path w="19688" h="21357" stroke="0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  <a:lnTo>
                    <a:pt x="0" y="21357"/>
                  </a:lnTo>
                  <a:lnTo>
                    <a:pt x="323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3" name="任意多边形 522255"/>
            <p:cNvSpPr/>
            <p:nvPr/>
          </p:nvSpPr>
          <p:spPr>
            <a:xfrm flipH="1" flipV="1">
              <a:off x="778" y="1296"/>
              <a:ext cx="963" cy="9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0"/>
                </a:cxn>
              </a:cxnLst>
              <a:rect l="0" t="0" r="0" b="0"/>
              <a:pathLst>
                <a:path w="19688" h="21357" fill="none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</a:path>
                <a:path w="19688" h="21357" stroke="0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  <a:lnTo>
                    <a:pt x="0" y="21357"/>
                  </a:lnTo>
                  <a:lnTo>
                    <a:pt x="323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99FF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4" name="任意多边形 522256"/>
            <p:cNvSpPr/>
            <p:nvPr/>
          </p:nvSpPr>
          <p:spPr>
            <a:xfrm flipH="1" flipV="1">
              <a:off x="778" y="1152"/>
              <a:ext cx="963" cy="1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0"/>
                </a:cxn>
              </a:cxnLst>
              <a:rect l="0" t="0" r="0" b="0"/>
              <a:pathLst>
                <a:path w="19688" h="21357" fill="none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</a:path>
                <a:path w="19688" h="21357" stroke="0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  <a:lnTo>
                    <a:pt x="0" y="21357"/>
                  </a:lnTo>
                  <a:lnTo>
                    <a:pt x="323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5" name="任意多边形 522257"/>
            <p:cNvSpPr/>
            <p:nvPr/>
          </p:nvSpPr>
          <p:spPr>
            <a:xfrm flipH="1" flipV="1">
              <a:off x="778" y="1008"/>
              <a:ext cx="963" cy="15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9"/>
                </a:cxn>
                <a:cxn ang="0">
                  <a:pos x="0" y="0"/>
                </a:cxn>
              </a:cxnLst>
              <a:rect l="0" t="0" r="0" b="0"/>
              <a:pathLst>
                <a:path w="19688" h="21357" fill="none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</a:path>
                <a:path w="19688" h="21357" stroke="0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  <a:lnTo>
                    <a:pt x="0" y="21357"/>
                  </a:lnTo>
                  <a:lnTo>
                    <a:pt x="3230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6" name="任意多边形 522258"/>
            <p:cNvSpPr/>
            <p:nvPr/>
          </p:nvSpPr>
          <p:spPr>
            <a:xfrm flipH="1" flipV="1">
              <a:off x="778" y="864"/>
              <a:ext cx="963" cy="19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0"/>
                </a:cxn>
                <a:cxn ang="0">
                  <a:pos x="0" y="0"/>
                </a:cxn>
                <a:cxn ang="0">
                  <a:pos x="2" y="10"/>
                </a:cxn>
                <a:cxn ang="0">
                  <a:pos x="0" y="17"/>
                </a:cxn>
                <a:cxn ang="0">
                  <a:pos x="0" y="0"/>
                </a:cxn>
              </a:cxnLst>
              <a:rect l="0" t="0" r="0" b="0"/>
              <a:pathLst>
                <a:path w="19688" h="21357" fill="none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</a:path>
                <a:path w="19688" h="21357" stroke="0">
                  <a:moveTo>
                    <a:pt x="3230" y="0"/>
                  </a:moveTo>
                  <a:cubicBezTo>
                    <a:pt x="10591" y="1104"/>
                    <a:pt x="16729" y="5915"/>
                    <a:pt x="19691" y="12465"/>
                  </a:cubicBezTo>
                  <a:lnTo>
                    <a:pt x="0" y="21357"/>
                  </a:lnTo>
                  <a:lnTo>
                    <a:pt x="323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260" name="矩形 522259"/>
            <p:cNvSpPr/>
            <p:nvPr/>
          </p:nvSpPr>
          <p:spPr>
            <a:xfrm>
              <a:off x="1546" y="2208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CC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522261" name="矩形 522260"/>
            <p:cNvSpPr/>
            <p:nvPr/>
          </p:nvSpPr>
          <p:spPr>
            <a:xfrm>
              <a:off x="442" y="1440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rgbClr val="CC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</a:p>
          </p:txBody>
        </p:sp>
        <p:sp>
          <p:nvSpPr>
            <p:cNvPr id="522262" name="矩形 522261"/>
            <p:cNvSpPr/>
            <p:nvPr/>
          </p:nvSpPr>
          <p:spPr>
            <a:xfrm>
              <a:off x="1690" y="2016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</a:p>
          </p:txBody>
        </p:sp>
        <p:sp>
          <p:nvSpPr>
            <p:cNvPr id="522263" name="矩形 522262"/>
            <p:cNvSpPr/>
            <p:nvPr/>
          </p:nvSpPr>
          <p:spPr>
            <a:xfrm>
              <a:off x="1690" y="2400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1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Q</a:t>
              </a:r>
            </a:p>
          </p:txBody>
        </p:sp>
        <p:sp>
          <p:nvSpPr>
            <p:cNvPr id="145431" name="直接连接符 522263"/>
            <p:cNvSpPr/>
            <p:nvPr/>
          </p:nvSpPr>
          <p:spPr>
            <a:xfrm flipH="1" flipV="1">
              <a:off x="1210" y="2256"/>
              <a:ext cx="96" cy="48"/>
            </a:xfrm>
            <a:prstGeom prst="line">
              <a:avLst/>
            </a:prstGeom>
            <a:ln w="9525" cap="flat" cmpd="sng">
              <a:solidFill>
                <a:srgbClr val="FF66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5432" name="直接连接符 522264"/>
            <p:cNvSpPr/>
            <p:nvPr/>
          </p:nvSpPr>
          <p:spPr>
            <a:xfrm flipH="1" flipV="1">
              <a:off x="1210" y="2592"/>
              <a:ext cx="48" cy="48"/>
            </a:xfrm>
            <a:prstGeom prst="line">
              <a:avLst/>
            </a:prstGeom>
            <a:ln w="9525" cap="flat" cmpd="sng">
              <a:solidFill>
                <a:srgbClr val="FF66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5433" name="直接连接符 522265"/>
            <p:cNvSpPr/>
            <p:nvPr/>
          </p:nvSpPr>
          <p:spPr>
            <a:xfrm flipH="1" flipV="1">
              <a:off x="1210" y="1920"/>
              <a:ext cx="96" cy="48"/>
            </a:xfrm>
            <a:prstGeom prst="line">
              <a:avLst/>
            </a:prstGeom>
            <a:ln w="9525" cap="flat" cmpd="sng">
              <a:solidFill>
                <a:srgbClr val="FF66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522267" name="文本框 522266"/>
          <p:cNvSpPr txBox="1"/>
          <p:nvPr/>
        </p:nvSpPr>
        <p:spPr>
          <a:xfrm>
            <a:off x="3708400" y="4627563"/>
            <a:ext cx="52990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类似地，可判定</a:t>
            </a:r>
            <a:r>
              <a:rPr kumimoji="0" lang="en-US" altLang="zh-CN" b="1" i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BM, AM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是放热过程。</a:t>
            </a:r>
          </a:p>
        </p:txBody>
      </p:sp>
      <p:sp>
        <p:nvSpPr>
          <p:cNvPr id="522268" name="文本框 522267"/>
          <p:cNvSpPr txBox="1"/>
          <p:nvPr/>
        </p:nvSpPr>
        <p:spPr>
          <a:xfrm>
            <a:off x="3708400" y="3505200"/>
            <a:ext cx="5473700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lnSpc>
                <a:spcPct val="130000"/>
              </a:lnSpc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理由</a:t>
            </a:r>
            <a:r>
              <a:rPr kumimoji="0" lang="en-US" altLang="zh-CN" b="1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en-US" altLang="zh-CN" b="1" kern="1200" cap="none" spc="0" normalizeH="0" baseline="0" noProof="1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考虑</a:t>
            </a:r>
            <a:r>
              <a:rPr kumimoji="0" lang="zh-CN" altLang="en-US" b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循环</a:t>
            </a:r>
            <a:r>
              <a:rPr kumimoji="0" lang="en-US" altLang="zh-CN" b="1" i="1" kern="1200" cap="none" spc="0" normalizeH="0" baseline="0" noProof="1">
                <a:solidFill>
                  <a:srgbClr val="CC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CMQC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 0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zh-CN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吸热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.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由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Q=Q</a:t>
            </a:r>
            <a:r>
              <a:rPr kumimoji="0" lang="en-US" altLang="zh-CN" b="1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CM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+Q</a:t>
            </a:r>
            <a:r>
              <a:rPr kumimoji="0" lang="en-US" altLang="zh-CN" b="1" i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QC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,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而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QC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放热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故</a:t>
            </a:r>
            <a:r>
              <a:rPr kumimoji="0" lang="en-US" altLang="zh-CN" b="1" i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CM</a:t>
            </a:r>
            <a:r>
              <a:rPr kumimoji="0" lang="zh-CN" altLang="en-US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吸热 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22269" name="文本框 522268"/>
          <p:cNvSpPr txBox="1"/>
          <p:nvPr/>
        </p:nvSpPr>
        <p:spPr>
          <a:xfrm>
            <a:off x="3708400" y="1811338"/>
            <a:ext cx="487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理由：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(T</a:t>
            </a:r>
            <a:r>
              <a:rPr kumimoji="0" lang="en-US" altLang="zh-CN" b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T</a:t>
            </a:r>
            <a:r>
              <a:rPr kumimoji="0" lang="en-US" altLang="zh-CN" b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&lt; T</a:t>
            </a:r>
            <a:r>
              <a:rPr kumimoji="0" lang="en-US" altLang="zh-CN" b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b="1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=T</a:t>
            </a:r>
            <a:r>
              <a:rPr kumimoji="0" lang="en-US" altLang="zh-CN" b="1" kern="1200" cap="none" spc="0" normalizeH="0" baseline="-250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endParaRPr kumimoji="0" lang="en-US" altLang="zh-CN" b="1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52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2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2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22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522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522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522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522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2" grpId="0"/>
      <p:bldP spid="522243" grpId="0" build="p" advAuto="1000"/>
      <p:bldP spid="522244" grpId="0" build="p"/>
      <p:bldP spid="522245" grpId="0" build="p"/>
      <p:bldP spid="522267" grpId="0" build="p"/>
      <p:bldP spid="522268" grpId="0" build="p"/>
      <p:bldP spid="522269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39" name="Text Box 59"/>
          <p:cNvSpPr txBox="1"/>
          <p:nvPr/>
        </p:nvSpPr>
        <p:spPr>
          <a:xfrm>
            <a:off x="152400" y="908050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</a:p>
        </p:txBody>
      </p:sp>
      <p:sp>
        <p:nvSpPr>
          <p:cNvPr id="146434" name="Text Box 60"/>
          <p:cNvSpPr txBox="1"/>
          <p:nvPr/>
        </p:nvSpPr>
        <p:spPr>
          <a:xfrm>
            <a:off x="228600" y="44450"/>
            <a:ext cx="8686800" cy="86677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bIns="82800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如图所示循环过程，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c → a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是绝热过程，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已知，摩尔热容比为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求循环效率。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341" name="Text Box 61"/>
          <p:cNvSpPr txBox="1"/>
          <p:nvPr/>
        </p:nvSpPr>
        <p:spPr>
          <a:xfrm>
            <a:off x="685800" y="908050"/>
            <a:ext cx="22685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→b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等压过程</a:t>
            </a:r>
          </a:p>
        </p:txBody>
      </p:sp>
      <p:sp>
        <p:nvSpPr>
          <p:cNvPr id="97343" name="Text Box 63"/>
          <p:cNvSpPr txBox="1"/>
          <p:nvPr/>
        </p:nvSpPr>
        <p:spPr>
          <a:xfrm>
            <a:off x="304800" y="205105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b→c</a:t>
            </a:r>
            <a:r>
              <a:rPr lang="en-US" altLang="zh-CN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等容过程</a:t>
            </a:r>
          </a:p>
        </p:txBody>
      </p:sp>
      <p:grpSp>
        <p:nvGrpSpPr>
          <p:cNvPr id="2" name="Group 65"/>
          <p:cNvGrpSpPr/>
          <p:nvPr/>
        </p:nvGrpSpPr>
        <p:grpSpPr>
          <a:xfrm>
            <a:off x="6477000" y="984250"/>
            <a:ext cx="2590800" cy="2438400"/>
            <a:chOff x="3696" y="857"/>
            <a:chExt cx="1968" cy="1735"/>
          </a:xfrm>
        </p:grpSpPr>
        <p:sp>
          <p:nvSpPr>
            <p:cNvPr id="146438" name="Rectangle 66"/>
            <p:cNvSpPr/>
            <p:nvPr/>
          </p:nvSpPr>
          <p:spPr>
            <a:xfrm>
              <a:off x="3696" y="864"/>
              <a:ext cx="1968" cy="1728"/>
            </a:xfrm>
            <a:prstGeom prst="rect">
              <a:avLst/>
            </a:prstGeom>
            <a:solidFill>
              <a:srgbClr val="99CCFF"/>
            </a:solidFill>
            <a:ln w="38100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6439" name="Group 67"/>
            <p:cNvGrpSpPr/>
            <p:nvPr/>
          </p:nvGrpSpPr>
          <p:grpSpPr>
            <a:xfrm>
              <a:off x="3792" y="857"/>
              <a:ext cx="1782" cy="1669"/>
              <a:chOff x="3792" y="857"/>
              <a:chExt cx="1782" cy="1669"/>
            </a:xfrm>
          </p:grpSpPr>
          <p:sp>
            <p:nvSpPr>
              <p:cNvPr id="146440" name="Freeform 68"/>
              <p:cNvSpPr/>
              <p:nvPr/>
            </p:nvSpPr>
            <p:spPr>
              <a:xfrm>
                <a:off x="4080" y="1181"/>
                <a:ext cx="1" cy="1027"/>
              </a:xfrm>
              <a:custGeom>
                <a:avLst/>
                <a:gdLst/>
                <a:ahLst/>
                <a:cxnLst>
                  <a:cxn ang="0">
                    <a:pos x="0" y="1027"/>
                  </a:cxn>
                  <a:cxn ang="0">
                    <a:pos x="0" y="0"/>
                  </a:cxn>
                </a:cxnLst>
                <a:rect l="0" t="0" r="0" b="0"/>
                <a:pathLst>
                  <a:path w="1" h="1027">
                    <a:moveTo>
                      <a:pt x="0" y="1027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441" name="Line 69"/>
              <p:cNvSpPr/>
              <p:nvPr/>
            </p:nvSpPr>
            <p:spPr>
              <a:xfrm>
                <a:off x="4080" y="2201"/>
                <a:ext cx="1440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46442" name="Text Box 70"/>
              <p:cNvSpPr txBox="1"/>
              <p:nvPr/>
            </p:nvSpPr>
            <p:spPr>
              <a:xfrm>
                <a:off x="5279" y="2201"/>
                <a:ext cx="295" cy="3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</a:p>
            </p:txBody>
          </p:sp>
          <p:sp>
            <p:nvSpPr>
              <p:cNvPr id="146443" name="Text Box 71"/>
              <p:cNvSpPr txBox="1"/>
              <p:nvPr/>
            </p:nvSpPr>
            <p:spPr>
              <a:xfrm>
                <a:off x="3984" y="857"/>
                <a:ext cx="256" cy="3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</a:p>
            </p:txBody>
          </p:sp>
          <p:sp>
            <p:nvSpPr>
              <p:cNvPr id="146444" name="Freeform 72"/>
              <p:cNvSpPr/>
              <p:nvPr/>
            </p:nvSpPr>
            <p:spPr>
              <a:xfrm>
                <a:off x="4320" y="1337"/>
                <a:ext cx="684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84" y="0"/>
                  </a:cxn>
                  <a:cxn ang="0">
                    <a:pos x="684" y="576"/>
                  </a:cxn>
                </a:cxnLst>
                <a:rect l="0" t="0" r="0" b="0"/>
                <a:pathLst>
                  <a:path w="684" h="576">
                    <a:moveTo>
                      <a:pt x="0" y="0"/>
                    </a:moveTo>
                    <a:lnTo>
                      <a:pt x="684" y="0"/>
                    </a:lnTo>
                    <a:lnTo>
                      <a:pt x="684" y="576"/>
                    </a:lnTo>
                  </a:path>
                </a:pathLst>
              </a:custGeom>
              <a:noFill/>
              <a:ln w="3810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445" name="Freeform 73"/>
              <p:cNvSpPr/>
              <p:nvPr/>
            </p:nvSpPr>
            <p:spPr>
              <a:xfrm>
                <a:off x="4320" y="1337"/>
                <a:ext cx="696" cy="552"/>
              </a:xfrm>
              <a:custGeom>
                <a:avLst/>
                <a:gdLst/>
                <a:ahLst/>
                <a:cxnLst>
                  <a:cxn ang="0">
                    <a:pos x="696" y="552"/>
                  </a:cxn>
                  <a:cxn ang="0">
                    <a:pos x="276" y="372"/>
                  </a:cxn>
                  <a:cxn ang="0">
                    <a:pos x="0" y="0"/>
                  </a:cxn>
                </a:cxnLst>
                <a:rect l="0" t="0" r="0" b="0"/>
                <a:pathLst>
                  <a:path w="696" h="552">
                    <a:moveTo>
                      <a:pt x="696" y="552"/>
                    </a:moveTo>
                    <a:cubicBezTo>
                      <a:pt x="626" y="522"/>
                      <a:pt x="392" y="464"/>
                      <a:pt x="276" y="372"/>
                    </a:cubicBezTo>
                    <a:cubicBezTo>
                      <a:pt x="160" y="280"/>
                      <a:pt x="57" y="77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446" name="Line 74"/>
              <p:cNvSpPr/>
              <p:nvPr/>
            </p:nvSpPr>
            <p:spPr>
              <a:xfrm>
                <a:off x="4992" y="1913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6447" name="Line 75"/>
              <p:cNvSpPr/>
              <p:nvPr/>
            </p:nvSpPr>
            <p:spPr>
              <a:xfrm>
                <a:off x="4320" y="1337"/>
                <a:ext cx="0" cy="864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6448" name="Line 76"/>
              <p:cNvSpPr/>
              <p:nvPr/>
            </p:nvSpPr>
            <p:spPr>
              <a:xfrm flipH="1">
                <a:off x="4080" y="1337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6449" name="Text Box 77"/>
              <p:cNvSpPr txBox="1"/>
              <p:nvPr/>
            </p:nvSpPr>
            <p:spPr>
              <a:xfrm>
                <a:off x="4175" y="2184"/>
                <a:ext cx="371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450" name="Text Box 78"/>
              <p:cNvSpPr txBox="1"/>
              <p:nvPr/>
            </p:nvSpPr>
            <p:spPr>
              <a:xfrm>
                <a:off x="4817" y="2194"/>
                <a:ext cx="363" cy="3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451" name="Text Box 79"/>
              <p:cNvSpPr txBox="1"/>
              <p:nvPr/>
            </p:nvSpPr>
            <p:spPr>
              <a:xfrm>
                <a:off x="3792" y="1177"/>
                <a:ext cx="333" cy="3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bIns="82800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452" name="Text Box 80"/>
              <p:cNvSpPr txBox="1"/>
              <p:nvPr/>
            </p:nvSpPr>
            <p:spPr>
              <a:xfrm>
                <a:off x="4223" y="1081"/>
                <a:ext cx="256" cy="3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46453" name="Text Box 81"/>
              <p:cNvSpPr txBox="1"/>
              <p:nvPr/>
            </p:nvSpPr>
            <p:spPr>
              <a:xfrm>
                <a:off x="4943" y="1090"/>
                <a:ext cx="256" cy="3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46454" name="Text Box 82"/>
              <p:cNvSpPr txBox="1"/>
              <p:nvPr/>
            </p:nvSpPr>
            <p:spPr>
              <a:xfrm>
                <a:off x="4992" y="1721"/>
                <a:ext cx="243" cy="3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i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146455" name="Freeform 83"/>
              <p:cNvSpPr/>
              <p:nvPr/>
            </p:nvSpPr>
            <p:spPr>
              <a:xfrm>
                <a:off x="4608" y="1337"/>
                <a:ext cx="132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2" y="0"/>
                  </a:cxn>
                </a:cxnLst>
                <a:rect l="0" t="0" r="0" b="0"/>
                <a:pathLst>
                  <a:path w="132" h="1">
                    <a:moveTo>
                      <a:pt x="0" y="0"/>
                    </a:moveTo>
                    <a:lnTo>
                      <a:pt x="132" y="0"/>
                    </a:lnTo>
                  </a:path>
                </a:pathLst>
              </a:custGeom>
              <a:noFill/>
              <a:ln w="3810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stealth" w="lg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456" name="Freeform 84"/>
              <p:cNvSpPr/>
              <p:nvPr/>
            </p:nvSpPr>
            <p:spPr>
              <a:xfrm>
                <a:off x="5004" y="1497"/>
                <a:ext cx="4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84"/>
                  </a:cxn>
                </a:cxnLst>
                <a:rect l="0" t="0" r="0" b="0"/>
                <a:pathLst>
                  <a:path w="4" h="184">
                    <a:moveTo>
                      <a:pt x="0" y="0"/>
                    </a:moveTo>
                    <a:lnTo>
                      <a:pt x="4" y="184"/>
                    </a:lnTo>
                  </a:path>
                </a:pathLst>
              </a:custGeom>
              <a:noFill/>
              <a:ln w="3810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stealth" w="lg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457" name="Freeform 85"/>
              <p:cNvSpPr/>
              <p:nvPr/>
            </p:nvSpPr>
            <p:spPr>
              <a:xfrm>
                <a:off x="4652" y="1737"/>
                <a:ext cx="156" cy="88"/>
              </a:xfrm>
              <a:custGeom>
                <a:avLst/>
                <a:gdLst/>
                <a:ahLst/>
                <a:cxnLst>
                  <a:cxn ang="0">
                    <a:pos x="156" y="88"/>
                  </a:cxn>
                  <a:cxn ang="0">
                    <a:pos x="0" y="0"/>
                  </a:cxn>
                </a:cxnLst>
                <a:rect l="0" t="0" r="0" b="0"/>
                <a:pathLst>
                  <a:path w="156" h="88">
                    <a:moveTo>
                      <a:pt x="156" y="8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CC3300"/>
                </a:solidFill>
                <a:prstDash val="solid"/>
                <a:round/>
                <a:headEnd type="none" w="med" len="med"/>
                <a:tailEnd type="stealth" w="lg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458" name="Text Box 86"/>
              <p:cNvSpPr txBox="1"/>
              <p:nvPr/>
            </p:nvSpPr>
            <p:spPr>
              <a:xfrm>
                <a:off x="3792" y="2155"/>
                <a:ext cx="320" cy="3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</p:grpSp>
      </p:grpSp>
      <p:graphicFrame>
        <p:nvGraphicFramePr>
          <p:cNvPr id="97367" name="Object 2"/>
          <p:cNvGraphicFramePr/>
          <p:nvPr/>
        </p:nvGraphicFramePr>
        <p:xfrm>
          <a:off x="2909888" y="1268413"/>
          <a:ext cx="196532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5" r:id="rId3" imgW="1143000" imgH="419100" progId="Equation.DSMT4">
                  <p:embed/>
                </p:oleObj>
              </mc:Choice>
              <mc:Fallback>
                <p:oleObj r:id="rId3" imgW="1143000" imgH="419100" progId="Equation.DSMT4">
                  <p:embed/>
                  <p:pic>
                    <p:nvPicPr>
                      <p:cNvPr id="0" name="图片 35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09888" y="1268413"/>
                        <a:ext cx="1965325" cy="722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88"/>
          <p:cNvGrpSpPr/>
          <p:nvPr/>
        </p:nvGrpSpPr>
        <p:grpSpPr>
          <a:xfrm>
            <a:off x="4916488" y="1441450"/>
            <a:ext cx="1600200" cy="457200"/>
            <a:chOff x="3072" y="912"/>
            <a:chExt cx="1008" cy="288"/>
          </a:xfrm>
        </p:grpSpPr>
        <p:graphicFrame>
          <p:nvGraphicFramePr>
            <p:cNvPr id="146461" name="Object 13"/>
            <p:cNvGraphicFramePr/>
            <p:nvPr/>
          </p:nvGraphicFramePr>
          <p:xfrm>
            <a:off x="3072" y="912"/>
            <a:ext cx="3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06" r:id="rId5" imgW="278765" imgH="200660" progId="Equation.3">
                    <p:embed/>
                  </p:oleObj>
                </mc:Choice>
                <mc:Fallback>
                  <p:oleObj r:id="rId5" imgW="278765" imgH="200660" progId="Equation.3">
                    <p:embed/>
                    <p:pic>
                      <p:nvPicPr>
                        <p:cNvPr id="0" name="图片 350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72" y="912"/>
                          <a:ext cx="336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462" name="Text Box 90"/>
            <p:cNvSpPr txBox="1"/>
            <p:nvPr/>
          </p:nvSpPr>
          <p:spPr>
            <a:xfrm>
              <a:off x="3456" y="912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吸热</a:t>
              </a:r>
            </a:p>
          </p:txBody>
        </p:sp>
      </p:grpSp>
      <p:graphicFrame>
        <p:nvGraphicFramePr>
          <p:cNvPr id="97371" name="Object 3"/>
          <p:cNvGraphicFramePr/>
          <p:nvPr/>
        </p:nvGraphicFramePr>
        <p:xfrm>
          <a:off x="2813050" y="2405063"/>
          <a:ext cx="225266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7" r:id="rId7" imgW="1270000" imgH="405765" progId="Equation.DSMT4">
                  <p:embed/>
                </p:oleObj>
              </mc:Choice>
              <mc:Fallback>
                <p:oleObj r:id="rId7" imgW="1270000" imgH="405765" progId="Equation.DSMT4">
                  <p:embed/>
                  <p:pic>
                    <p:nvPicPr>
                      <p:cNvPr id="0" name="图片 35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3050" y="2405063"/>
                        <a:ext cx="2252663" cy="71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92"/>
          <p:cNvGrpSpPr/>
          <p:nvPr/>
        </p:nvGrpSpPr>
        <p:grpSpPr>
          <a:xfrm>
            <a:off x="5181600" y="2540000"/>
            <a:ext cx="2057400" cy="457200"/>
            <a:chOff x="3264" y="1584"/>
            <a:chExt cx="1296" cy="288"/>
          </a:xfrm>
        </p:grpSpPr>
        <p:graphicFrame>
          <p:nvGraphicFramePr>
            <p:cNvPr id="146465" name="Object 12"/>
            <p:cNvGraphicFramePr/>
            <p:nvPr/>
          </p:nvGraphicFramePr>
          <p:xfrm flipV="1">
            <a:off x="3264" y="1623"/>
            <a:ext cx="33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08" r:id="rId9" imgW="278765" imgH="200660" progId="Equation.3">
                    <p:embed/>
                  </p:oleObj>
                </mc:Choice>
                <mc:Fallback>
                  <p:oleObj r:id="rId9" imgW="278765" imgH="200660" progId="Equation.3">
                    <p:embed/>
                    <p:pic>
                      <p:nvPicPr>
                        <p:cNvPr id="0" name="图片 3518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 flipV="1">
                          <a:off x="3264" y="1623"/>
                          <a:ext cx="33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466" name="Text Box 94"/>
            <p:cNvSpPr txBox="1"/>
            <p:nvPr/>
          </p:nvSpPr>
          <p:spPr>
            <a:xfrm>
              <a:off x="3552" y="1584"/>
              <a:ext cx="10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放热</a:t>
              </a:r>
            </a:p>
          </p:txBody>
        </p:sp>
      </p:grpSp>
      <p:graphicFrame>
        <p:nvGraphicFramePr>
          <p:cNvPr id="97375" name="Object 4"/>
          <p:cNvGraphicFramePr/>
          <p:nvPr/>
        </p:nvGraphicFramePr>
        <p:xfrm>
          <a:off x="609600" y="3270250"/>
          <a:ext cx="182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09" r:id="rId11" imgW="1104265" imgH="278765" progId="Equation.3">
                  <p:embed/>
                </p:oleObj>
              </mc:Choice>
              <mc:Fallback>
                <p:oleObj r:id="rId11" imgW="1104265" imgH="278765" progId="Equation.3">
                  <p:embed/>
                  <p:pic>
                    <p:nvPicPr>
                      <p:cNvPr id="0" name="图片 351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" y="3270250"/>
                        <a:ext cx="1828800" cy="5334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76" name="Object 5"/>
          <p:cNvGraphicFramePr/>
          <p:nvPr/>
        </p:nvGraphicFramePr>
        <p:xfrm>
          <a:off x="3146425" y="3103563"/>
          <a:ext cx="25908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0" r:id="rId13" imgW="1447800" imgH="457200" progId="Equation.DSMT4">
                  <p:embed/>
                </p:oleObj>
              </mc:Choice>
              <mc:Fallback>
                <p:oleObj r:id="rId13" imgW="1447800" imgH="457200" progId="Equation.DSMT4">
                  <p:embed/>
                  <p:pic>
                    <p:nvPicPr>
                      <p:cNvPr id="0" name="图片 351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46425" y="3103563"/>
                        <a:ext cx="2590800" cy="790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77" name="Object 6"/>
          <p:cNvGraphicFramePr/>
          <p:nvPr/>
        </p:nvGraphicFramePr>
        <p:xfrm>
          <a:off x="381000" y="4260850"/>
          <a:ext cx="19812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1" r:id="rId15" imgW="3322955" imgH="1349375" progId="Equation.3">
                  <p:embed/>
                </p:oleObj>
              </mc:Choice>
              <mc:Fallback>
                <p:oleObj r:id="rId15" imgW="3322955" imgH="1349375" progId="Equation.3">
                  <p:embed/>
                  <p:pic>
                    <p:nvPicPr>
                      <p:cNvPr id="0" name="图片 351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000" y="4260850"/>
                        <a:ext cx="1981200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78" name="Object 7"/>
          <p:cNvGraphicFramePr/>
          <p:nvPr/>
        </p:nvGraphicFramePr>
        <p:xfrm>
          <a:off x="2689225" y="4054475"/>
          <a:ext cx="258445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2" r:id="rId17" imgW="1498600" imgH="838200" progId="Equation.DSMT4">
                  <p:embed/>
                </p:oleObj>
              </mc:Choice>
              <mc:Fallback>
                <p:oleObj r:id="rId17" imgW="1498600" imgH="838200" progId="Equation.DSMT4">
                  <p:embed/>
                  <p:pic>
                    <p:nvPicPr>
                      <p:cNvPr id="0" name="图片 351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89225" y="4054475"/>
                        <a:ext cx="2584450" cy="1266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79" name="Object 8"/>
          <p:cNvGraphicFramePr/>
          <p:nvPr/>
        </p:nvGraphicFramePr>
        <p:xfrm>
          <a:off x="5334000" y="4059238"/>
          <a:ext cx="20002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3" r:id="rId19" imgW="1054100" imgH="862965" progId="Equation.DSMT4">
                  <p:embed/>
                </p:oleObj>
              </mc:Choice>
              <mc:Fallback>
                <p:oleObj r:id="rId19" imgW="1054100" imgH="862965" progId="Equation.DSMT4">
                  <p:embed/>
                  <p:pic>
                    <p:nvPicPr>
                      <p:cNvPr id="0" name="图片 351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34000" y="4059238"/>
                        <a:ext cx="2000250" cy="1273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0" name="Object 9"/>
          <p:cNvGraphicFramePr/>
          <p:nvPr/>
        </p:nvGraphicFramePr>
        <p:xfrm>
          <a:off x="1295400" y="5327650"/>
          <a:ext cx="18288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4" r:id="rId21" imgW="3033395" imgH="2720975" progId="Equation.3">
                  <p:embed/>
                </p:oleObj>
              </mc:Choice>
              <mc:Fallback>
                <p:oleObj r:id="rId21" imgW="3033395" imgH="2720975" progId="Equation.3">
                  <p:embed/>
                  <p:pic>
                    <p:nvPicPr>
                      <p:cNvPr id="0" name="图片 3514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95400" y="5327650"/>
                        <a:ext cx="1828800" cy="152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2" name="Object 10"/>
          <p:cNvGraphicFramePr/>
          <p:nvPr/>
        </p:nvGraphicFramePr>
        <p:xfrm>
          <a:off x="185738" y="1258888"/>
          <a:ext cx="26511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5" r:id="rId23" imgW="1308100" imgH="393700" progId="Equation.DSMT4">
                  <p:embed/>
                </p:oleObj>
              </mc:Choice>
              <mc:Fallback>
                <p:oleObj r:id="rId23" imgW="1308100" imgH="393700" progId="Equation.DSMT4">
                  <p:embed/>
                  <p:pic>
                    <p:nvPicPr>
                      <p:cNvPr id="0" name="图片 351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5738" y="1258888"/>
                        <a:ext cx="2651125" cy="798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83" name="Object 11"/>
          <p:cNvGraphicFramePr/>
          <p:nvPr/>
        </p:nvGraphicFramePr>
        <p:xfrm>
          <a:off x="98425" y="2408238"/>
          <a:ext cx="27527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6" r:id="rId25" imgW="1320165" imgH="393700" progId="Equation.DSMT4">
                  <p:embed/>
                </p:oleObj>
              </mc:Choice>
              <mc:Fallback>
                <p:oleObj r:id="rId25" imgW="1320165" imgH="393700" progId="Equation.DSMT4">
                  <p:embed/>
                  <p:pic>
                    <p:nvPicPr>
                      <p:cNvPr id="0" name="图片 351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8425" y="2408238"/>
                        <a:ext cx="2752725" cy="817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75" name="Text Box 30"/>
          <p:cNvSpPr txBox="1"/>
          <p:nvPr/>
        </p:nvSpPr>
        <p:spPr>
          <a:xfrm>
            <a:off x="8280400" y="6381750"/>
            <a:ext cx="8636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fld id="{9A0DB2DC-4C9A-4742-B13C-FB6460FD3503}" type="slidenum"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62</a:t>
            </a:fld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7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7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39" grpId="0"/>
      <p:bldP spid="97341" grpId="0"/>
      <p:bldP spid="9734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矩形 560129"/>
          <p:cNvSpPr/>
          <p:nvPr/>
        </p:nvSpPr>
        <p:spPr>
          <a:xfrm>
            <a:off x="179388" y="142875"/>
            <a:ext cx="5113338" cy="193833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4.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32g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氧气，做如图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所示的循环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abcda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r>
              <a:rPr kumimoji="0" lang="zh-CN" altLang="en-US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-d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均为等温过程，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400" b="1" i="0" u="none" strike="noStrike" kern="120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400K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400" b="1" i="0" u="none" strike="noStrike" kern="1200" cap="none" spc="0" normalizeH="0" baseline="-2500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300K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，试求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循环效率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</a:t>
            </a:r>
            <a:r>
              <a:rPr kumimoji="0" lang="en-US" altLang="zh-CN" sz="2400" b="1" i="1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多少？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设氧气为刚性双原子分子理想气体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</p:txBody>
      </p:sp>
      <p:grpSp>
        <p:nvGrpSpPr>
          <p:cNvPr id="147458" name="组合 560130"/>
          <p:cNvGrpSpPr/>
          <p:nvPr/>
        </p:nvGrpSpPr>
        <p:grpSpPr>
          <a:xfrm>
            <a:off x="5372100" y="0"/>
            <a:ext cx="3663950" cy="3146425"/>
            <a:chOff x="2971" y="1883"/>
            <a:chExt cx="2308" cy="1982"/>
          </a:xfrm>
        </p:grpSpPr>
        <p:sp>
          <p:nvSpPr>
            <p:cNvPr id="147459" name="直接连接符 560131"/>
            <p:cNvSpPr/>
            <p:nvPr/>
          </p:nvSpPr>
          <p:spPr>
            <a:xfrm>
              <a:off x="3193" y="3344"/>
              <a:ext cx="195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47460" name="直接连接符 560132"/>
            <p:cNvSpPr/>
            <p:nvPr/>
          </p:nvSpPr>
          <p:spPr>
            <a:xfrm flipV="1">
              <a:off x="3193" y="2029"/>
              <a:ext cx="0" cy="131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560134" name="文本框 560133"/>
            <p:cNvSpPr txBox="1"/>
            <p:nvPr/>
          </p:nvSpPr>
          <p:spPr>
            <a:xfrm>
              <a:off x="2971" y="1933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p</a:t>
              </a:r>
            </a:p>
          </p:txBody>
        </p:sp>
        <p:sp>
          <p:nvSpPr>
            <p:cNvPr id="560135" name="文本框 560134"/>
            <p:cNvSpPr txBox="1"/>
            <p:nvPr/>
          </p:nvSpPr>
          <p:spPr>
            <a:xfrm>
              <a:off x="3399" y="2576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560136" name="文本框 560135"/>
            <p:cNvSpPr txBox="1"/>
            <p:nvPr/>
          </p:nvSpPr>
          <p:spPr>
            <a:xfrm>
              <a:off x="4604" y="2251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560137" name="文本框 560136"/>
            <p:cNvSpPr txBox="1"/>
            <p:nvPr/>
          </p:nvSpPr>
          <p:spPr>
            <a:xfrm>
              <a:off x="4605" y="2956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560138" name="文本框 560137"/>
            <p:cNvSpPr txBox="1"/>
            <p:nvPr/>
          </p:nvSpPr>
          <p:spPr>
            <a:xfrm>
              <a:off x="3399" y="1883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560139" name="文本框 560138"/>
            <p:cNvSpPr txBox="1"/>
            <p:nvPr/>
          </p:nvSpPr>
          <p:spPr>
            <a:xfrm>
              <a:off x="5007" y="3330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V</a:t>
              </a:r>
            </a:p>
          </p:txBody>
        </p:sp>
        <p:sp>
          <p:nvSpPr>
            <p:cNvPr id="560140" name="文本框 560139"/>
            <p:cNvSpPr txBox="1"/>
            <p:nvPr/>
          </p:nvSpPr>
          <p:spPr>
            <a:xfrm>
              <a:off x="3037" y="3304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O</a:t>
              </a:r>
            </a:p>
          </p:txBody>
        </p:sp>
        <p:sp>
          <p:nvSpPr>
            <p:cNvPr id="560141" name="矩形 560140"/>
            <p:cNvSpPr/>
            <p:nvPr/>
          </p:nvSpPr>
          <p:spPr>
            <a:xfrm>
              <a:off x="4067" y="3577"/>
              <a:ext cx="11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sz="2400" b="1" i="0" u="none" strike="noStrike" kern="1200" cap="none" spc="0" normalizeH="0" baseline="0" noProof="1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469" name="直接连接符 560141"/>
            <p:cNvSpPr/>
            <p:nvPr/>
          </p:nvSpPr>
          <p:spPr>
            <a:xfrm>
              <a:off x="3620" y="2070"/>
              <a:ext cx="0" cy="634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7470" name="直接连接符 560142"/>
            <p:cNvSpPr/>
            <p:nvPr/>
          </p:nvSpPr>
          <p:spPr>
            <a:xfrm>
              <a:off x="4594" y="2456"/>
              <a:ext cx="0" cy="647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7471" name="任意多边形 560143"/>
            <p:cNvSpPr/>
            <p:nvPr/>
          </p:nvSpPr>
          <p:spPr>
            <a:xfrm>
              <a:off x="3606" y="2069"/>
              <a:ext cx="998" cy="4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9" y="272"/>
                </a:cxn>
                <a:cxn ang="0">
                  <a:pos x="998" y="409"/>
                </a:cxn>
              </a:cxnLst>
              <a:rect l="0" t="0" r="0" b="0"/>
              <a:pathLst>
                <a:path w="998" h="409">
                  <a:moveTo>
                    <a:pt x="0" y="0"/>
                  </a:moveTo>
                  <a:cubicBezTo>
                    <a:pt x="166" y="102"/>
                    <a:pt x="333" y="204"/>
                    <a:pt x="499" y="272"/>
                  </a:cubicBezTo>
                  <a:cubicBezTo>
                    <a:pt x="665" y="340"/>
                    <a:pt x="915" y="379"/>
                    <a:pt x="998" y="409"/>
                  </a:cubicBezTo>
                </a:path>
              </a:pathLst>
            </a:custGeom>
            <a:noFill/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72" name="任意多边形 560144"/>
            <p:cNvSpPr/>
            <p:nvPr/>
          </p:nvSpPr>
          <p:spPr>
            <a:xfrm>
              <a:off x="3606" y="2685"/>
              <a:ext cx="998" cy="4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9" y="272"/>
                </a:cxn>
                <a:cxn ang="0">
                  <a:pos x="998" y="409"/>
                </a:cxn>
              </a:cxnLst>
              <a:rect l="0" t="0" r="0" b="0"/>
              <a:pathLst>
                <a:path w="998" h="409">
                  <a:moveTo>
                    <a:pt x="0" y="0"/>
                  </a:moveTo>
                  <a:cubicBezTo>
                    <a:pt x="166" y="102"/>
                    <a:pt x="333" y="204"/>
                    <a:pt x="499" y="272"/>
                  </a:cubicBezTo>
                  <a:cubicBezTo>
                    <a:pt x="665" y="340"/>
                    <a:pt x="915" y="379"/>
                    <a:pt x="998" y="409"/>
                  </a:cubicBezTo>
                </a:path>
              </a:pathLst>
            </a:custGeom>
            <a:noFill/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473" name="直接连接符 560145"/>
            <p:cNvSpPr/>
            <p:nvPr/>
          </p:nvSpPr>
          <p:spPr>
            <a:xfrm>
              <a:off x="4008" y="2291"/>
              <a:ext cx="136" cy="78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47474" name="直接连接符 560146"/>
            <p:cNvSpPr/>
            <p:nvPr/>
          </p:nvSpPr>
          <p:spPr>
            <a:xfrm flipH="1" flipV="1">
              <a:off x="3969" y="2881"/>
              <a:ext cx="181" cy="105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47475" name="直接连接符 560147"/>
            <p:cNvSpPr/>
            <p:nvPr/>
          </p:nvSpPr>
          <p:spPr>
            <a:xfrm>
              <a:off x="3626" y="2669"/>
              <a:ext cx="0" cy="680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47476" name="直接连接符 560148"/>
            <p:cNvSpPr/>
            <p:nvPr/>
          </p:nvSpPr>
          <p:spPr>
            <a:xfrm>
              <a:off x="4594" y="3067"/>
              <a:ext cx="0" cy="272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60150" name="文本框 560149"/>
            <p:cNvSpPr txBox="1"/>
            <p:nvPr/>
          </p:nvSpPr>
          <p:spPr>
            <a:xfrm>
              <a:off x="3475" y="330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V</a:t>
              </a:r>
              <a:r>
                <a:rPr kumimoji="0" lang="en-US" altLang="zh-CN" b="1" kern="1200" cap="none" spc="0" normalizeH="0" baseline="-2500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60151" name="文本框 560150"/>
            <p:cNvSpPr txBox="1"/>
            <p:nvPr/>
          </p:nvSpPr>
          <p:spPr>
            <a:xfrm>
              <a:off x="4442" y="330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V</a:t>
              </a:r>
              <a:r>
                <a:rPr kumimoji="0" lang="en-US" altLang="zh-CN" b="1" kern="1200" cap="none" spc="0" normalizeH="0" baseline="-2500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560152" name="文本框 560151"/>
            <p:cNvSpPr txBox="1"/>
            <p:nvPr/>
          </p:nvSpPr>
          <p:spPr>
            <a:xfrm>
              <a:off x="4014" y="2024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T</a:t>
              </a:r>
              <a:r>
                <a:rPr kumimoji="0" lang="en-US" altLang="zh-CN" b="1" kern="1200" cap="none" spc="0" normalizeH="0" baseline="-2500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560153" name="文本框 560152"/>
            <p:cNvSpPr txBox="1"/>
            <p:nvPr/>
          </p:nvSpPr>
          <p:spPr>
            <a:xfrm>
              <a:off x="3908" y="2916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en-US" altLang="zh-CN" b="1" i="1" kern="1200" cap="none" spc="0" normalizeH="0" baseline="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T</a:t>
              </a:r>
              <a:r>
                <a:rPr kumimoji="0" lang="en-US" altLang="zh-CN" b="1" kern="1200" cap="none" spc="0" normalizeH="0" baseline="-25000" noProof="1">
                  <a:solidFill>
                    <a:srgbClr val="FF0066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2</a:t>
              </a:r>
            </a:p>
          </p:txBody>
        </p:sp>
      </p:grpSp>
      <p:sp>
        <p:nvSpPr>
          <p:cNvPr id="560154" name="矩形 560153"/>
          <p:cNvSpPr/>
          <p:nvPr/>
        </p:nvSpPr>
        <p:spPr>
          <a:xfrm>
            <a:off x="179388" y="2097088"/>
            <a:ext cx="284162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解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方法一：用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>
                <a:outerShdw blurRad="38100" dist="38100" dir="2700000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60155" name="对象 560154"/>
          <p:cNvGraphicFramePr/>
          <p:nvPr/>
        </p:nvGraphicFramePr>
        <p:xfrm>
          <a:off x="2828925" y="1943100"/>
          <a:ext cx="12207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5" r:id="rId3" imgW="698500" imgH="457200" progId="Equation.DSMT4">
                  <p:embed/>
                </p:oleObj>
              </mc:Choice>
              <mc:Fallback>
                <p:oleObj r:id="rId3" imgW="698500" imgH="457200" progId="Equation.DSMT4">
                  <p:embed/>
                  <p:pic>
                    <p:nvPicPr>
                      <p:cNvPr id="0" name="图片 35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8925" y="1943100"/>
                        <a:ext cx="1220788" cy="78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56" name="矩形 560155"/>
          <p:cNvSpPr/>
          <p:nvPr/>
        </p:nvSpPr>
        <p:spPr>
          <a:xfrm>
            <a:off x="4135438" y="2097088"/>
            <a:ext cx="1319213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计算。</a:t>
            </a:r>
          </a:p>
        </p:txBody>
      </p:sp>
      <p:sp>
        <p:nvSpPr>
          <p:cNvPr id="560157" name="矩形 560156"/>
          <p:cNvSpPr/>
          <p:nvPr/>
        </p:nvSpPr>
        <p:spPr>
          <a:xfrm>
            <a:off x="309563" y="3165475"/>
            <a:ext cx="29416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系统吸收的总热量为</a:t>
            </a:r>
          </a:p>
        </p:txBody>
      </p:sp>
      <p:graphicFrame>
        <p:nvGraphicFramePr>
          <p:cNvPr id="560158" name="对象 560157"/>
          <p:cNvGraphicFramePr/>
          <p:nvPr/>
        </p:nvGraphicFramePr>
        <p:xfrm>
          <a:off x="3333750" y="3062288"/>
          <a:ext cx="36226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6" r:id="rId5" imgW="2069465" imgH="431800" progId="Equation.DSMT4">
                  <p:embed/>
                </p:oleObj>
              </mc:Choice>
              <mc:Fallback>
                <p:oleObj r:id="rId5" imgW="2069465" imgH="431800" progId="Equation.DSMT4">
                  <p:embed/>
                  <p:pic>
                    <p:nvPicPr>
                      <p:cNvPr id="0" name="图片 35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33750" y="3062288"/>
                        <a:ext cx="3622675" cy="7366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59" name="矩形 560158"/>
          <p:cNvSpPr/>
          <p:nvPr/>
        </p:nvSpPr>
        <p:spPr>
          <a:xfrm>
            <a:off x="323850" y="4437063"/>
            <a:ext cx="2941638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系统放出的总热量为</a:t>
            </a:r>
          </a:p>
        </p:txBody>
      </p:sp>
      <p:graphicFrame>
        <p:nvGraphicFramePr>
          <p:cNvPr id="560160" name="对象 560159"/>
          <p:cNvGraphicFramePr/>
          <p:nvPr/>
        </p:nvGraphicFramePr>
        <p:xfrm>
          <a:off x="3276600" y="4311650"/>
          <a:ext cx="37798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7" r:id="rId7" imgW="2933065" imgH="546100" progId="Equation.DSMT4">
                  <p:embed/>
                </p:oleObj>
              </mc:Choice>
              <mc:Fallback>
                <p:oleObj r:id="rId7" imgW="2933065" imgH="546100" progId="Equation.DSMT4">
                  <p:embed/>
                  <p:pic>
                    <p:nvPicPr>
                      <p:cNvPr id="0" name="图片 352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4311650"/>
                        <a:ext cx="3779838" cy="7366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61" name="矩形 560160"/>
          <p:cNvSpPr/>
          <p:nvPr/>
        </p:nvSpPr>
        <p:spPr>
          <a:xfrm>
            <a:off x="611188" y="5110163"/>
            <a:ext cx="5086350" cy="457200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将上两式热机效率的一般计算式，得</a:t>
            </a:r>
          </a:p>
        </p:txBody>
      </p:sp>
      <p:graphicFrame>
        <p:nvGraphicFramePr>
          <p:cNvPr id="560162" name="对象 560161"/>
          <p:cNvGraphicFramePr/>
          <p:nvPr/>
        </p:nvGraphicFramePr>
        <p:xfrm>
          <a:off x="1908175" y="5561013"/>
          <a:ext cx="5781675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8" r:id="rId9" imgW="4694555" imgH="1104265" progId="Equation.DSMT4">
                  <p:embed/>
                </p:oleObj>
              </mc:Choice>
              <mc:Fallback>
                <p:oleObj r:id="rId9" imgW="4694555" imgH="1104265" progId="Equation.DSMT4">
                  <p:embed/>
                  <p:pic>
                    <p:nvPicPr>
                      <p:cNvPr id="0" name="图片 352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8175" y="5561013"/>
                        <a:ext cx="5781675" cy="122396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3" name="对象 537603"/>
          <p:cNvGraphicFramePr/>
          <p:nvPr/>
        </p:nvGraphicFramePr>
        <p:xfrm>
          <a:off x="5705475" y="2716213"/>
          <a:ext cx="7778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9" r:id="rId11" imgW="419100" imgH="177165" progId="Equation.3">
                  <p:embed/>
                </p:oleObj>
              </mc:Choice>
              <mc:Fallback>
                <p:oleObj r:id="rId11" imgW="419100" imgH="177165" progId="Equation.3">
                  <p:embed/>
                  <p:pic>
                    <p:nvPicPr>
                      <p:cNvPr id="0" name="图片 35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05475" y="2716213"/>
                        <a:ext cx="777875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537603"/>
          <p:cNvGraphicFramePr/>
          <p:nvPr/>
        </p:nvGraphicFramePr>
        <p:xfrm>
          <a:off x="4056063" y="2689225"/>
          <a:ext cx="8016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0" r:id="rId13" imgW="431800" imgH="177165" progId="Equation.3">
                  <p:embed/>
                </p:oleObj>
              </mc:Choice>
              <mc:Fallback>
                <p:oleObj r:id="rId13" imgW="431800" imgH="177165" progId="Equation.3">
                  <p:embed/>
                  <p:pic>
                    <p:nvPicPr>
                      <p:cNvPr id="0" name="图片 35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56063" y="2689225"/>
                        <a:ext cx="801687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537603"/>
          <p:cNvGraphicFramePr/>
          <p:nvPr/>
        </p:nvGraphicFramePr>
        <p:xfrm>
          <a:off x="4103688" y="3933825"/>
          <a:ext cx="75406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1" r:id="rId15" imgW="405765" imgH="177165" progId="Equation.3">
                  <p:embed/>
                </p:oleObj>
              </mc:Choice>
              <mc:Fallback>
                <p:oleObj r:id="rId15" imgW="405765" imgH="177165" progId="Equation.3">
                  <p:embed/>
                  <p:pic>
                    <p:nvPicPr>
                      <p:cNvPr id="0" name="图片 35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03688" y="3933825"/>
                        <a:ext cx="754062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37603"/>
          <p:cNvGraphicFramePr/>
          <p:nvPr/>
        </p:nvGraphicFramePr>
        <p:xfrm>
          <a:off x="5735638" y="3924300"/>
          <a:ext cx="77946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2" r:id="rId17" imgW="419100" imgH="177165" progId="Equation.3">
                  <p:embed/>
                </p:oleObj>
              </mc:Choice>
              <mc:Fallback>
                <p:oleObj r:id="rId17" imgW="419100" imgH="177165" progId="Equation.3">
                  <p:embed/>
                  <p:pic>
                    <p:nvPicPr>
                      <p:cNvPr id="0" name="图片 35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5638" y="3924300"/>
                        <a:ext cx="779462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6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6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6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60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6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56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6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56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56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0" grpId="0"/>
      <p:bldP spid="560154" grpId="0"/>
      <p:bldP spid="560156" grpId="0"/>
      <p:bldP spid="560157" grpId="0"/>
      <p:bldP spid="560159" grpId="0"/>
      <p:bldP spid="56016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矩形 561153"/>
          <p:cNvSpPr/>
          <p:nvPr/>
        </p:nvSpPr>
        <p:spPr>
          <a:xfrm>
            <a:off x="434975" y="355600"/>
            <a:ext cx="1833563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方法二：用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61155" name="对象 561154"/>
          <p:cNvGraphicFramePr/>
          <p:nvPr/>
        </p:nvGraphicFramePr>
        <p:xfrm>
          <a:off x="2135188" y="242888"/>
          <a:ext cx="82073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6" r:id="rId3" imgW="591185" imgH="546100" progId="Equation.3">
                  <p:embed/>
                </p:oleObj>
              </mc:Choice>
              <mc:Fallback>
                <p:oleObj r:id="rId3" imgW="591185" imgH="546100" progId="Equation.3">
                  <p:embed/>
                  <p:pic>
                    <p:nvPicPr>
                      <p:cNvPr id="0" name="图片 352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35188" y="242888"/>
                        <a:ext cx="820737" cy="73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6" name="矩形 561155"/>
          <p:cNvSpPr/>
          <p:nvPr/>
        </p:nvSpPr>
        <p:spPr>
          <a:xfrm>
            <a:off x="2921000" y="363538"/>
            <a:ext cx="1163638" cy="457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计算。</a:t>
            </a:r>
          </a:p>
        </p:txBody>
      </p:sp>
      <p:sp>
        <p:nvSpPr>
          <p:cNvPr id="561157" name="矩形 561156"/>
          <p:cNvSpPr/>
          <p:nvPr/>
        </p:nvSpPr>
        <p:spPr>
          <a:xfrm>
            <a:off x="395288" y="908050"/>
            <a:ext cx="8424863" cy="82232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循环中系统所做的净功就等于两个等温过程系统做功的代数和，即</a:t>
            </a:r>
          </a:p>
        </p:txBody>
      </p:sp>
      <p:graphicFrame>
        <p:nvGraphicFramePr>
          <p:cNvPr id="561158" name="对象 561157"/>
          <p:cNvGraphicFramePr/>
          <p:nvPr/>
        </p:nvGraphicFramePr>
        <p:xfrm>
          <a:off x="2046288" y="1768475"/>
          <a:ext cx="3349625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7" r:id="rId5" imgW="1917700" imgH="889000" progId="Equation.DSMT4">
                  <p:embed/>
                </p:oleObj>
              </mc:Choice>
              <mc:Fallback>
                <p:oleObj r:id="rId5" imgW="1917700" imgH="889000" progId="Equation.DSMT4">
                  <p:embed/>
                  <p:pic>
                    <p:nvPicPr>
                      <p:cNvPr id="0" name="图片 35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46288" y="1768475"/>
                        <a:ext cx="3349625" cy="15208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9" name="矩形 561158"/>
          <p:cNvSpPr/>
          <p:nvPr/>
        </p:nvSpPr>
        <p:spPr>
          <a:xfrm>
            <a:off x="363538" y="3573463"/>
            <a:ext cx="536575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61160" name="对象 561159"/>
          <p:cNvGraphicFramePr/>
          <p:nvPr/>
        </p:nvGraphicFramePr>
        <p:xfrm>
          <a:off x="1900238" y="3438525"/>
          <a:ext cx="36226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8" r:id="rId7" imgW="2799080" imgH="546100" progId="Equation.DSMT4">
                  <p:embed/>
                </p:oleObj>
              </mc:Choice>
              <mc:Fallback>
                <p:oleObj r:id="rId7" imgW="2799080" imgH="546100" progId="Equation.DSMT4">
                  <p:embed/>
                  <p:pic>
                    <p:nvPicPr>
                      <p:cNvPr id="0" name="图片 353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0238" y="3438525"/>
                        <a:ext cx="3622675" cy="7397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61" name="矩形 561160"/>
          <p:cNvSpPr/>
          <p:nvPr/>
        </p:nvSpPr>
        <p:spPr>
          <a:xfrm>
            <a:off x="323850" y="4627563"/>
            <a:ext cx="863600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61162" name="对象 561161"/>
          <p:cNvGraphicFramePr/>
          <p:nvPr/>
        </p:nvGraphicFramePr>
        <p:xfrm>
          <a:off x="1835150" y="4313238"/>
          <a:ext cx="3794125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9" r:id="rId9" imgW="2943860" imgH="1940560" progId="Equation.DSMT4">
                  <p:embed/>
                </p:oleObj>
              </mc:Choice>
              <mc:Fallback>
                <p:oleObj r:id="rId9" imgW="2943860" imgH="1940560" progId="Equation.DSMT4">
                  <p:embed/>
                  <p:pic>
                    <p:nvPicPr>
                      <p:cNvPr id="0" name="图片 352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4313238"/>
                        <a:ext cx="3794125" cy="24780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8490" name="组合 561162"/>
          <p:cNvGrpSpPr/>
          <p:nvPr/>
        </p:nvGrpSpPr>
        <p:grpSpPr>
          <a:xfrm>
            <a:off x="5435600" y="1484313"/>
            <a:ext cx="3663950" cy="3146425"/>
            <a:chOff x="2971" y="1883"/>
            <a:chExt cx="2308" cy="1982"/>
          </a:xfrm>
        </p:grpSpPr>
        <p:sp>
          <p:nvSpPr>
            <p:cNvPr id="148491" name="直接连接符 561163"/>
            <p:cNvSpPr/>
            <p:nvPr/>
          </p:nvSpPr>
          <p:spPr>
            <a:xfrm>
              <a:off x="3193" y="3344"/>
              <a:ext cx="195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48492" name="直接连接符 561164"/>
            <p:cNvSpPr/>
            <p:nvPr/>
          </p:nvSpPr>
          <p:spPr>
            <a:xfrm flipV="1">
              <a:off x="3193" y="2029"/>
              <a:ext cx="0" cy="131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48493" name="文本框 561165"/>
            <p:cNvSpPr txBox="1"/>
            <p:nvPr/>
          </p:nvSpPr>
          <p:spPr>
            <a:xfrm>
              <a:off x="2971" y="1933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p</a:t>
              </a:r>
            </a:p>
          </p:txBody>
        </p:sp>
        <p:sp>
          <p:nvSpPr>
            <p:cNvPr id="148494" name="文本框 561166"/>
            <p:cNvSpPr txBox="1"/>
            <p:nvPr/>
          </p:nvSpPr>
          <p:spPr>
            <a:xfrm>
              <a:off x="3399" y="2576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d</a:t>
              </a:r>
            </a:p>
          </p:txBody>
        </p:sp>
        <p:sp>
          <p:nvSpPr>
            <p:cNvPr id="148495" name="文本框 561167"/>
            <p:cNvSpPr txBox="1"/>
            <p:nvPr/>
          </p:nvSpPr>
          <p:spPr>
            <a:xfrm>
              <a:off x="4604" y="2251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148496" name="文本框 561168"/>
            <p:cNvSpPr txBox="1"/>
            <p:nvPr/>
          </p:nvSpPr>
          <p:spPr>
            <a:xfrm>
              <a:off x="4605" y="2956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148497" name="文本框 561169"/>
            <p:cNvSpPr txBox="1"/>
            <p:nvPr/>
          </p:nvSpPr>
          <p:spPr>
            <a:xfrm>
              <a:off x="3399" y="1883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148498" name="文本框 561170"/>
            <p:cNvSpPr txBox="1"/>
            <p:nvPr/>
          </p:nvSpPr>
          <p:spPr>
            <a:xfrm>
              <a:off x="5007" y="3330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ea typeface="华文新魏" panose="02010800040101010101" pitchFamily="2" charset="-122"/>
                </a:rPr>
                <a:t>V</a:t>
              </a:r>
            </a:p>
          </p:txBody>
        </p:sp>
        <p:sp>
          <p:nvSpPr>
            <p:cNvPr id="148499" name="文本框 561171"/>
            <p:cNvSpPr txBox="1"/>
            <p:nvPr/>
          </p:nvSpPr>
          <p:spPr>
            <a:xfrm>
              <a:off x="3037" y="3304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O</a:t>
              </a:r>
            </a:p>
          </p:txBody>
        </p:sp>
        <p:sp>
          <p:nvSpPr>
            <p:cNvPr id="148500" name="矩形 561172"/>
            <p:cNvSpPr/>
            <p:nvPr/>
          </p:nvSpPr>
          <p:spPr>
            <a:xfrm>
              <a:off x="4067" y="3577"/>
              <a:ext cx="11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endParaRPr lang="zh-CN" altLang="zh-CN" dirty="0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8501" name="直接连接符 561173"/>
            <p:cNvSpPr/>
            <p:nvPr/>
          </p:nvSpPr>
          <p:spPr>
            <a:xfrm>
              <a:off x="3620" y="2070"/>
              <a:ext cx="0" cy="634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502" name="直接连接符 561174"/>
            <p:cNvSpPr/>
            <p:nvPr/>
          </p:nvSpPr>
          <p:spPr>
            <a:xfrm>
              <a:off x="4594" y="2456"/>
              <a:ext cx="0" cy="647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503" name="任意多边形 561175"/>
            <p:cNvSpPr/>
            <p:nvPr/>
          </p:nvSpPr>
          <p:spPr>
            <a:xfrm>
              <a:off x="3606" y="2069"/>
              <a:ext cx="998" cy="4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9" y="272"/>
                </a:cxn>
                <a:cxn ang="0">
                  <a:pos x="998" y="409"/>
                </a:cxn>
              </a:cxnLst>
              <a:rect l="0" t="0" r="0" b="0"/>
              <a:pathLst>
                <a:path w="998" h="409">
                  <a:moveTo>
                    <a:pt x="0" y="0"/>
                  </a:moveTo>
                  <a:cubicBezTo>
                    <a:pt x="166" y="102"/>
                    <a:pt x="333" y="204"/>
                    <a:pt x="499" y="272"/>
                  </a:cubicBezTo>
                  <a:cubicBezTo>
                    <a:pt x="665" y="340"/>
                    <a:pt x="915" y="379"/>
                    <a:pt x="998" y="409"/>
                  </a:cubicBezTo>
                </a:path>
              </a:pathLst>
            </a:custGeom>
            <a:noFill/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4" name="任意多边形 561176"/>
            <p:cNvSpPr/>
            <p:nvPr/>
          </p:nvSpPr>
          <p:spPr>
            <a:xfrm>
              <a:off x="3606" y="2685"/>
              <a:ext cx="998" cy="4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9" y="272"/>
                </a:cxn>
                <a:cxn ang="0">
                  <a:pos x="998" y="409"/>
                </a:cxn>
              </a:cxnLst>
              <a:rect l="0" t="0" r="0" b="0"/>
              <a:pathLst>
                <a:path w="998" h="409">
                  <a:moveTo>
                    <a:pt x="0" y="0"/>
                  </a:moveTo>
                  <a:cubicBezTo>
                    <a:pt x="166" y="102"/>
                    <a:pt x="333" y="204"/>
                    <a:pt x="499" y="272"/>
                  </a:cubicBezTo>
                  <a:cubicBezTo>
                    <a:pt x="665" y="340"/>
                    <a:pt x="915" y="379"/>
                    <a:pt x="998" y="409"/>
                  </a:cubicBezTo>
                </a:path>
              </a:pathLst>
            </a:custGeom>
            <a:noFill/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5" name="直接连接符 561177"/>
            <p:cNvSpPr/>
            <p:nvPr/>
          </p:nvSpPr>
          <p:spPr>
            <a:xfrm>
              <a:off x="4008" y="2291"/>
              <a:ext cx="136" cy="78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48506" name="直接连接符 561178"/>
            <p:cNvSpPr/>
            <p:nvPr/>
          </p:nvSpPr>
          <p:spPr>
            <a:xfrm flipH="1" flipV="1">
              <a:off x="3969" y="2881"/>
              <a:ext cx="181" cy="105"/>
            </a:xfrm>
            <a:prstGeom prst="line">
              <a:avLst/>
            </a:prstGeom>
            <a:ln w="25400" cap="flat" cmpd="sng">
              <a:solidFill>
                <a:srgbClr val="A5002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48507" name="直接连接符 561179"/>
            <p:cNvSpPr/>
            <p:nvPr/>
          </p:nvSpPr>
          <p:spPr>
            <a:xfrm>
              <a:off x="3626" y="2669"/>
              <a:ext cx="0" cy="680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48508" name="直接连接符 561180"/>
            <p:cNvSpPr/>
            <p:nvPr/>
          </p:nvSpPr>
          <p:spPr>
            <a:xfrm>
              <a:off x="4594" y="3067"/>
              <a:ext cx="0" cy="272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48509" name="文本框 561181"/>
            <p:cNvSpPr txBox="1"/>
            <p:nvPr/>
          </p:nvSpPr>
          <p:spPr>
            <a:xfrm>
              <a:off x="3475" y="330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148510" name="文本框 561182"/>
            <p:cNvSpPr txBox="1"/>
            <p:nvPr/>
          </p:nvSpPr>
          <p:spPr>
            <a:xfrm>
              <a:off x="4442" y="330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V</a:t>
              </a:r>
              <a:r>
                <a:rPr lang="en-US" altLang="zh-CN" baseline="-25000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2</a:t>
              </a:r>
            </a:p>
          </p:txBody>
        </p:sp>
        <p:sp>
          <p:nvSpPr>
            <p:cNvPr id="148511" name="文本框 561183"/>
            <p:cNvSpPr txBox="1"/>
            <p:nvPr/>
          </p:nvSpPr>
          <p:spPr>
            <a:xfrm>
              <a:off x="4014" y="2024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T</a:t>
              </a:r>
              <a:r>
                <a:rPr lang="en-US" altLang="zh-CN" baseline="-25000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148512" name="文本框 561184"/>
            <p:cNvSpPr txBox="1"/>
            <p:nvPr/>
          </p:nvSpPr>
          <p:spPr>
            <a:xfrm>
              <a:off x="3908" y="2916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T</a:t>
              </a:r>
              <a:r>
                <a:rPr lang="en-US" altLang="zh-CN" baseline="-25000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rPr>
                <a:t>2</a:t>
              </a:r>
            </a:p>
          </p:txBody>
        </p:sp>
      </p:grpSp>
      <p:graphicFrame>
        <p:nvGraphicFramePr>
          <p:cNvPr id="2" name="对象 537603"/>
          <p:cNvGraphicFramePr/>
          <p:nvPr/>
        </p:nvGraphicFramePr>
        <p:xfrm>
          <a:off x="468313" y="1862138"/>
          <a:ext cx="137001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0" r:id="rId11" imgW="736600" imgH="254000" progId="Equation.3">
                  <p:embed/>
                </p:oleObj>
              </mc:Choice>
              <mc:Fallback>
                <p:oleObj r:id="rId11" imgW="736600" imgH="254000" progId="Equation.3">
                  <p:embed/>
                  <p:pic>
                    <p:nvPicPr>
                      <p:cNvPr id="0" name="图片 353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8313" y="1862138"/>
                        <a:ext cx="1370012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6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6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5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6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6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6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4" grpId="0"/>
      <p:bldP spid="561156" grpId="0"/>
      <p:bldP spid="561157" grpId="0"/>
      <p:bldP spid="561159" grpId="0"/>
      <p:bldP spid="56116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AwMWQ4ZTZkY2M1MGE1NGJkMGQ0ZDYzMzExMmY4MWM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3391</Words>
  <Application>Microsoft Office PowerPoint</Application>
  <PresentationFormat>全屏显示(4:3)</PresentationFormat>
  <Paragraphs>836</Paragraphs>
  <Slides>64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64</vt:i4>
      </vt:variant>
    </vt:vector>
  </HeadingPairs>
  <TitlesOfParts>
    <vt:vector size="89" baseType="lpstr">
      <vt:lpstr>¿¬Ìå_GB2312</vt:lpstr>
      <vt:lpstr>Batang</vt:lpstr>
      <vt:lpstr>黑体</vt:lpstr>
      <vt:lpstr>华文楷体</vt:lpstr>
      <vt:lpstr>华文新魏</vt:lpstr>
      <vt:lpstr>楷体_GB2312</vt:lpstr>
      <vt:lpstr>隶书</vt:lpstr>
      <vt:lpstr>宋体</vt:lpstr>
      <vt:lpstr>幼圆</vt:lpstr>
      <vt:lpstr>Arial</vt:lpstr>
      <vt:lpstr>Book Antiqua</vt:lpstr>
      <vt:lpstr>Bookman Old Style</vt:lpstr>
      <vt:lpstr>MT Extra</vt:lpstr>
      <vt:lpstr>Symbol</vt:lpstr>
      <vt:lpstr>Times New Roman</vt:lpstr>
      <vt:lpstr>Wingdings</vt:lpstr>
      <vt:lpstr>默认设计模板</vt:lpstr>
      <vt:lpstr>1_默认设计模板</vt:lpstr>
      <vt:lpstr>2_默认设计模板</vt:lpstr>
      <vt:lpstr>3_默认设计模板</vt:lpstr>
      <vt:lpstr>4_默认设计模板</vt:lpstr>
      <vt:lpstr>MathType 6.0 Equation</vt:lpstr>
      <vt:lpstr>Microsoft Equation 3.0</vt:lpstr>
      <vt:lpstr>Equation</vt:lpstr>
      <vt:lpstr>Microsoft Word 97 - 2003 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zf</dc:creator>
  <cp:lastModifiedBy>Administrator</cp:lastModifiedBy>
  <cp:revision>911</cp:revision>
  <dcterms:created xsi:type="dcterms:W3CDTF">1998-11-11T12:17:00Z</dcterms:created>
  <dcterms:modified xsi:type="dcterms:W3CDTF">2024-10-29T02:14:53Z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149AB6EEF4454739800AB3FEE1C00DBB_13</vt:lpwstr>
  </property>
</Properties>
</file>