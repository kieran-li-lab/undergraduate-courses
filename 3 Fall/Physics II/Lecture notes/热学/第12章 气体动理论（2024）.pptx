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</p:sldMasterIdLst>
  <p:notesMasterIdLst>
    <p:notesMasterId r:id="rId70"/>
  </p:notesMasterIdLst>
  <p:handoutMasterIdLst>
    <p:handoutMasterId r:id="rId71"/>
  </p:handoutMasterIdLst>
  <p:sldIdLst>
    <p:sldId id="800" r:id="rId4"/>
    <p:sldId id="725" r:id="rId5"/>
    <p:sldId id="641" r:id="rId6"/>
    <p:sldId id="557" r:id="rId7"/>
    <p:sldId id="708" r:id="rId8"/>
    <p:sldId id="709" r:id="rId9"/>
    <p:sldId id="919" r:id="rId10"/>
    <p:sldId id="920" r:id="rId11"/>
    <p:sldId id="801" r:id="rId12"/>
    <p:sldId id="804" r:id="rId13"/>
    <p:sldId id="806" r:id="rId14"/>
    <p:sldId id="807" r:id="rId15"/>
    <p:sldId id="808" r:id="rId16"/>
    <p:sldId id="809" r:id="rId17"/>
    <p:sldId id="810" r:id="rId18"/>
    <p:sldId id="811" r:id="rId19"/>
    <p:sldId id="1066" r:id="rId20"/>
    <p:sldId id="813" r:id="rId21"/>
    <p:sldId id="815" r:id="rId22"/>
    <p:sldId id="816" r:id="rId23"/>
    <p:sldId id="647" r:id="rId24"/>
    <p:sldId id="648" r:id="rId25"/>
    <p:sldId id="649" r:id="rId26"/>
    <p:sldId id="700" r:id="rId27"/>
    <p:sldId id="701" r:id="rId28"/>
    <p:sldId id="651" r:id="rId29"/>
    <p:sldId id="653" r:id="rId30"/>
    <p:sldId id="654" r:id="rId31"/>
    <p:sldId id="655" r:id="rId32"/>
    <p:sldId id="657" r:id="rId33"/>
    <p:sldId id="995" r:id="rId34"/>
    <p:sldId id="658" r:id="rId35"/>
    <p:sldId id="662" r:id="rId36"/>
    <p:sldId id="471" r:id="rId37"/>
    <p:sldId id="472" r:id="rId38"/>
    <p:sldId id="659" r:id="rId39"/>
    <p:sldId id="660" r:id="rId40"/>
    <p:sldId id="713" r:id="rId41"/>
    <p:sldId id="694" r:id="rId42"/>
    <p:sldId id="663" r:id="rId43"/>
    <p:sldId id="664" r:id="rId44"/>
    <p:sldId id="666" r:id="rId45"/>
    <p:sldId id="667" r:id="rId46"/>
    <p:sldId id="668" r:id="rId47"/>
    <p:sldId id="669" r:id="rId48"/>
    <p:sldId id="670" r:id="rId49"/>
    <p:sldId id="671" r:id="rId50"/>
    <p:sldId id="672" r:id="rId51"/>
    <p:sldId id="673" r:id="rId52"/>
    <p:sldId id="674" r:id="rId53"/>
    <p:sldId id="722" r:id="rId54"/>
    <p:sldId id="676" r:id="rId55"/>
    <p:sldId id="677" r:id="rId56"/>
    <p:sldId id="678" r:id="rId57"/>
    <p:sldId id="887" r:id="rId58"/>
    <p:sldId id="684" r:id="rId59"/>
    <p:sldId id="685" r:id="rId60"/>
    <p:sldId id="996" r:id="rId61"/>
    <p:sldId id="715" r:id="rId62"/>
    <p:sldId id="781" r:id="rId63"/>
    <p:sldId id="680" r:id="rId64"/>
    <p:sldId id="681" r:id="rId65"/>
    <p:sldId id="682" r:id="rId66"/>
    <p:sldId id="716" r:id="rId67"/>
    <p:sldId id="778" r:id="rId68"/>
    <p:sldId id="779" r:id="rId69"/>
  </p:sldIdLst>
  <p:sldSz cx="9144000" cy="6858000" type="screen4x3"/>
  <p:notesSz cx="6858000" cy="9144000"/>
  <p:custDataLst>
    <p:tags r:id="rId72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28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CCFFFF"/>
    <a:srgbClr val="CC3300"/>
    <a:srgbClr val="FF3300"/>
    <a:srgbClr val="3399FF"/>
    <a:srgbClr val="00CC99"/>
    <a:srgbClr val="CC00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 showGuides="1">
      <p:cViewPr varScale="1">
        <p:scale>
          <a:sx n="114" d="100"/>
          <a:sy n="114" d="100"/>
        </p:scale>
        <p:origin x="1524" y="102"/>
      </p:cViewPr>
      <p:guideLst>
        <p:guide orient="horz" pos="2115"/>
        <p:guide pos="282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28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tags" Target="tags/tag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notesMaster" Target="notesMasters/notesMaster1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tableStyles" Target="tableStyles.xml"/><Relationship Id="rId7" Type="http://schemas.openxmlformats.org/officeDocument/2006/relationships/slide" Target="slides/slide4.xml"/><Relationship Id="rId71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4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12" Type="http://schemas.openxmlformats.org/officeDocument/2006/relationships/image" Target="../media/image29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11" Type="http://schemas.openxmlformats.org/officeDocument/2006/relationships/image" Target="../media/image28.wmf"/><Relationship Id="rId5" Type="http://schemas.openxmlformats.org/officeDocument/2006/relationships/image" Target="../media/image22.wmf"/><Relationship Id="rId10" Type="http://schemas.openxmlformats.org/officeDocument/2006/relationships/image" Target="../media/image27.wmf"/><Relationship Id="rId4" Type="http://schemas.openxmlformats.org/officeDocument/2006/relationships/image" Target="../media/image21.wmf"/><Relationship Id="rId9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35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image" Target="../media/image46.wmf"/><Relationship Id="rId7" Type="http://schemas.openxmlformats.org/officeDocument/2006/relationships/image" Target="../media/image50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Relationship Id="rId9" Type="http://schemas.openxmlformats.org/officeDocument/2006/relationships/image" Target="../media/image4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4" Type="http://schemas.openxmlformats.org/officeDocument/2006/relationships/image" Target="../media/image5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5" Type="http://schemas.openxmlformats.org/officeDocument/2006/relationships/image" Target="../media/image60.wmf"/><Relationship Id="rId4" Type="http://schemas.openxmlformats.org/officeDocument/2006/relationships/image" Target="../media/image59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7" Type="http://schemas.openxmlformats.org/officeDocument/2006/relationships/image" Target="../media/image78.emf"/><Relationship Id="rId2" Type="http://schemas.openxmlformats.org/officeDocument/2006/relationships/image" Target="../media/image73.emf"/><Relationship Id="rId1" Type="http://schemas.openxmlformats.org/officeDocument/2006/relationships/image" Target="../media/image72.wmf"/><Relationship Id="rId6" Type="http://schemas.openxmlformats.org/officeDocument/2006/relationships/image" Target="../media/image77.emf"/><Relationship Id="rId5" Type="http://schemas.openxmlformats.org/officeDocument/2006/relationships/image" Target="../media/image76.wmf"/><Relationship Id="rId4" Type="http://schemas.openxmlformats.org/officeDocument/2006/relationships/image" Target="../media/image7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emf"/><Relationship Id="rId1" Type="http://schemas.openxmlformats.org/officeDocument/2006/relationships/image" Target="../media/image79.e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86.emf"/><Relationship Id="rId1" Type="http://schemas.openxmlformats.org/officeDocument/2006/relationships/image" Target="../media/image85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image" Target="../media/image97.wmf"/><Relationship Id="rId3" Type="http://schemas.openxmlformats.org/officeDocument/2006/relationships/image" Target="../media/image84.wmf"/><Relationship Id="rId7" Type="http://schemas.openxmlformats.org/officeDocument/2006/relationships/image" Target="../media/image91.wmf"/><Relationship Id="rId12" Type="http://schemas.openxmlformats.org/officeDocument/2006/relationships/image" Target="../media/image96.wmf"/><Relationship Id="rId2" Type="http://schemas.openxmlformats.org/officeDocument/2006/relationships/image" Target="../media/image83.wmf"/><Relationship Id="rId16" Type="http://schemas.openxmlformats.org/officeDocument/2006/relationships/image" Target="../media/image85.wmf"/><Relationship Id="rId1" Type="http://schemas.openxmlformats.org/officeDocument/2006/relationships/image" Target="../media/image82.wmf"/><Relationship Id="rId6" Type="http://schemas.openxmlformats.org/officeDocument/2006/relationships/image" Target="../media/image90.wmf"/><Relationship Id="rId11" Type="http://schemas.openxmlformats.org/officeDocument/2006/relationships/image" Target="../media/image95.wmf"/><Relationship Id="rId5" Type="http://schemas.openxmlformats.org/officeDocument/2006/relationships/image" Target="../media/image89.emf"/><Relationship Id="rId15" Type="http://schemas.openxmlformats.org/officeDocument/2006/relationships/image" Target="../media/image99.emf"/><Relationship Id="rId10" Type="http://schemas.openxmlformats.org/officeDocument/2006/relationships/image" Target="../media/image94.emf"/><Relationship Id="rId4" Type="http://schemas.openxmlformats.org/officeDocument/2006/relationships/image" Target="../media/image88.wmf"/><Relationship Id="rId9" Type="http://schemas.openxmlformats.org/officeDocument/2006/relationships/image" Target="../media/image93.emf"/><Relationship Id="rId14" Type="http://schemas.openxmlformats.org/officeDocument/2006/relationships/image" Target="../media/image98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emf"/><Relationship Id="rId2" Type="http://schemas.openxmlformats.org/officeDocument/2006/relationships/image" Target="../media/image85.wmf"/><Relationship Id="rId1" Type="http://schemas.openxmlformats.org/officeDocument/2006/relationships/image" Target="../media/image100.e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7" Type="http://schemas.openxmlformats.org/officeDocument/2006/relationships/image" Target="../media/image108.wmf"/><Relationship Id="rId2" Type="http://schemas.openxmlformats.org/officeDocument/2006/relationships/image" Target="../media/image103.emf"/><Relationship Id="rId1" Type="http://schemas.openxmlformats.org/officeDocument/2006/relationships/image" Target="../media/image102.emf"/><Relationship Id="rId6" Type="http://schemas.openxmlformats.org/officeDocument/2006/relationships/image" Target="../media/image107.emf"/><Relationship Id="rId5" Type="http://schemas.openxmlformats.org/officeDocument/2006/relationships/image" Target="../media/image106.wmf"/><Relationship Id="rId4" Type="http://schemas.openxmlformats.org/officeDocument/2006/relationships/image" Target="../media/image105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3" Type="http://schemas.openxmlformats.org/officeDocument/2006/relationships/image" Target="../media/image112.emf"/><Relationship Id="rId7" Type="http://schemas.openxmlformats.org/officeDocument/2006/relationships/image" Target="../media/image84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Relationship Id="rId6" Type="http://schemas.openxmlformats.org/officeDocument/2006/relationships/image" Target="../media/image83.wmf"/><Relationship Id="rId5" Type="http://schemas.openxmlformats.org/officeDocument/2006/relationships/image" Target="../media/image82.wmf"/><Relationship Id="rId10" Type="http://schemas.openxmlformats.org/officeDocument/2006/relationships/image" Target="../media/image116.emf"/><Relationship Id="rId4" Type="http://schemas.openxmlformats.org/officeDocument/2006/relationships/image" Target="../media/image113.wmf"/><Relationship Id="rId9" Type="http://schemas.openxmlformats.org/officeDocument/2006/relationships/image" Target="../media/image115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13" Type="http://schemas.openxmlformats.org/officeDocument/2006/relationships/image" Target="../media/image126.wmf"/><Relationship Id="rId3" Type="http://schemas.openxmlformats.org/officeDocument/2006/relationships/image" Target="../media/image119.wmf"/><Relationship Id="rId7" Type="http://schemas.openxmlformats.org/officeDocument/2006/relationships/image" Target="../media/image84.wmf"/><Relationship Id="rId12" Type="http://schemas.openxmlformats.org/officeDocument/2006/relationships/image" Target="../media/image125.wmf"/><Relationship Id="rId17" Type="http://schemas.openxmlformats.org/officeDocument/2006/relationships/image" Target="../media/image130.wmf"/><Relationship Id="rId2" Type="http://schemas.openxmlformats.org/officeDocument/2006/relationships/image" Target="../media/image118.wmf"/><Relationship Id="rId16" Type="http://schemas.openxmlformats.org/officeDocument/2006/relationships/image" Target="../media/image129.wmf"/><Relationship Id="rId1" Type="http://schemas.openxmlformats.org/officeDocument/2006/relationships/image" Target="../media/image117.wmf"/><Relationship Id="rId6" Type="http://schemas.openxmlformats.org/officeDocument/2006/relationships/image" Target="../media/image83.wmf"/><Relationship Id="rId11" Type="http://schemas.openxmlformats.org/officeDocument/2006/relationships/image" Target="../media/image124.wmf"/><Relationship Id="rId5" Type="http://schemas.openxmlformats.org/officeDocument/2006/relationships/image" Target="../media/image82.wmf"/><Relationship Id="rId15" Type="http://schemas.openxmlformats.org/officeDocument/2006/relationships/image" Target="../media/image128.wmf"/><Relationship Id="rId10" Type="http://schemas.openxmlformats.org/officeDocument/2006/relationships/image" Target="../media/image123.wmf"/><Relationship Id="rId4" Type="http://schemas.openxmlformats.org/officeDocument/2006/relationships/image" Target="../media/image120.wmf"/><Relationship Id="rId9" Type="http://schemas.openxmlformats.org/officeDocument/2006/relationships/image" Target="../media/image122.wmf"/><Relationship Id="rId14" Type="http://schemas.openxmlformats.org/officeDocument/2006/relationships/image" Target="../media/image127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2" Type="http://schemas.openxmlformats.org/officeDocument/2006/relationships/image" Target="../media/image85.wmf"/><Relationship Id="rId1" Type="http://schemas.openxmlformats.org/officeDocument/2006/relationships/image" Target="../media/image131.emf"/><Relationship Id="rId6" Type="http://schemas.openxmlformats.org/officeDocument/2006/relationships/image" Target="../media/image135.wmf"/><Relationship Id="rId5" Type="http://schemas.openxmlformats.org/officeDocument/2006/relationships/image" Target="../media/image134.wmf"/><Relationship Id="rId4" Type="http://schemas.openxmlformats.org/officeDocument/2006/relationships/image" Target="../media/image133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Relationship Id="rId4" Type="http://schemas.openxmlformats.org/officeDocument/2006/relationships/image" Target="../media/image139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6" Type="http://schemas.openxmlformats.org/officeDocument/2006/relationships/image" Target="../media/image145.wmf"/><Relationship Id="rId5" Type="http://schemas.openxmlformats.org/officeDocument/2006/relationships/image" Target="../media/image144.emf"/><Relationship Id="rId4" Type="http://schemas.openxmlformats.org/officeDocument/2006/relationships/image" Target="../media/image143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3" Type="http://schemas.openxmlformats.org/officeDocument/2006/relationships/image" Target="../media/image148.emf"/><Relationship Id="rId7" Type="http://schemas.openxmlformats.org/officeDocument/2006/relationships/image" Target="../media/image152.wmf"/><Relationship Id="rId12" Type="http://schemas.openxmlformats.org/officeDocument/2006/relationships/image" Target="../media/image157.wmf"/><Relationship Id="rId2" Type="http://schemas.openxmlformats.org/officeDocument/2006/relationships/image" Target="../media/image147.emf"/><Relationship Id="rId1" Type="http://schemas.openxmlformats.org/officeDocument/2006/relationships/image" Target="../media/image146.wmf"/><Relationship Id="rId6" Type="http://schemas.openxmlformats.org/officeDocument/2006/relationships/image" Target="../media/image151.wmf"/><Relationship Id="rId11" Type="http://schemas.openxmlformats.org/officeDocument/2006/relationships/image" Target="../media/image156.wmf"/><Relationship Id="rId5" Type="http://schemas.openxmlformats.org/officeDocument/2006/relationships/image" Target="../media/image150.wmf"/><Relationship Id="rId10" Type="http://schemas.openxmlformats.org/officeDocument/2006/relationships/image" Target="../media/image155.emf"/><Relationship Id="rId4" Type="http://schemas.openxmlformats.org/officeDocument/2006/relationships/image" Target="../media/image149.emf"/><Relationship Id="rId9" Type="http://schemas.openxmlformats.org/officeDocument/2006/relationships/image" Target="../media/image154.e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3" Type="http://schemas.openxmlformats.org/officeDocument/2006/relationships/image" Target="../media/image160.wmf"/><Relationship Id="rId7" Type="http://schemas.openxmlformats.org/officeDocument/2006/relationships/image" Target="../media/image164.w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Relationship Id="rId6" Type="http://schemas.openxmlformats.org/officeDocument/2006/relationships/image" Target="../media/image163.wmf"/><Relationship Id="rId5" Type="http://schemas.openxmlformats.org/officeDocument/2006/relationships/image" Target="../media/image162.wmf"/><Relationship Id="rId4" Type="http://schemas.openxmlformats.org/officeDocument/2006/relationships/image" Target="../media/image161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wmf"/><Relationship Id="rId3" Type="http://schemas.openxmlformats.org/officeDocument/2006/relationships/image" Target="../media/image168.wmf"/><Relationship Id="rId7" Type="http://schemas.openxmlformats.org/officeDocument/2006/relationships/image" Target="../media/image172.wmf"/><Relationship Id="rId2" Type="http://schemas.openxmlformats.org/officeDocument/2006/relationships/image" Target="../media/image167.wmf"/><Relationship Id="rId1" Type="http://schemas.openxmlformats.org/officeDocument/2006/relationships/image" Target="../media/image166.wmf"/><Relationship Id="rId6" Type="http://schemas.openxmlformats.org/officeDocument/2006/relationships/image" Target="../media/image171.wmf"/><Relationship Id="rId5" Type="http://schemas.openxmlformats.org/officeDocument/2006/relationships/image" Target="../media/image170.wmf"/><Relationship Id="rId4" Type="http://schemas.openxmlformats.org/officeDocument/2006/relationships/image" Target="../media/image169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wmf"/><Relationship Id="rId13" Type="http://schemas.openxmlformats.org/officeDocument/2006/relationships/image" Target="../media/image186.wmf"/><Relationship Id="rId3" Type="http://schemas.openxmlformats.org/officeDocument/2006/relationships/image" Target="../media/image176.wmf"/><Relationship Id="rId7" Type="http://schemas.openxmlformats.org/officeDocument/2006/relationships/image" Target="../media/image180.wmf"/><Relationship Id="rId12" Type="http://schemas.openxmlformats.org/officeDocument/2006/relationships/image" Target="../media/image185.wmf"/><Relationship Id="rId2" Type="http://schemas.openxmlformats.org/officeDocument/2006/relationships/image" Target="../media/image175.wmf"/><Relationship Id="rId16" Type="http://schemas.openxmlformats.org/officeDocument/2006/relationships/image" Target="../media/image85.wmf"/><Relationship Id="rId1" Type="http://schemas.openxmlformats.org/officeDocument/2006/relationships/image" Target="../media/image174.wmf"/><Relationship Id="rId6" Type="http://schemas.openxmlformats.org/officeDocument/2006/relationships/image" Target="../media/image179.wmf"/><Relationship Id="rId11" Type="http://schemas.openxmlformats.org/officeDocument/2006/relationships/image" Target="../media/image184.wmf"/><Relationship Id="rId5" Type="http://schemas.openxmlformats.org/officeDocument/2006/relationships/image" Target="../media/image178.wmf"/><Relationship Id="rId15" Type="http://schemas.openxmlformats.org/officeDocument/2006/relationships/image" Target="../media/image188.wmf"/><Relationship Id="rId10" Type="http://schemas.openxmlformats.org/officeDocument/2006/relationships/image" Target="../media/image183.wmf"/><Relationship Id="rId4" Type="http://schemas.openxmlformats.org/officeDocument/2006/relationships/image" Target="../media/image177.wmf"/><Relationship Id="rId9" Type="http://schemas.openxmlformats.org/officeDocument/2006/relationships/image" Target="../media/image182.wmf"/><Relationship Id="rId14" Type="http://schemas.openxmlformats.org/officeDocument/2006/relationships/image" Target="../media/image187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3" Type="http://schemas.openxmlformats.org/officeDocument/2006/relationships/image" Target="../media/image191.wmf"/><Relationship Id="rId7" Type="http://schemas.openxmlformats.org/officeDocument/2006/relationships/image" Target="../media/image85.wmf"/><Relationship Id="rId12" Type="http://schemas.openxmlformats.org/officeDocument/2006/relationships/image" Target="../media/image197.wmf"/><Relationship Id="rId2" Type="http://schemas.openxmlformats.org/officeDocument/2006/relationships/image" Target="../media/image190.wmf"/><Relationship Id="rId1" Type="http://schemas.openxmlformats.org/officeDocument/2006/relationships/image" Target="../media/image189.wmf"/><Relationship Id="rId6" Type="http://schemas.openxmlformats.org/officeDocument/2006/relationships/image" Target="../media/image194.emf"/><Relationship Id="rId11" Type="http://schemas.openxmlformats.org/officeDocument/2006/relationships/image" Target="../media/image196.wmf"/><Relationship Id="rId5" Type="http://schemas.openxmlformats.org/officeDocument/2006/relationships/image" Target="../media/image193.wmf"/><Relationship Id="rId10" Type="http://schemas.openxmlformats.org/officeDocument/2006/relationships/image" Target="../media/image195.wmf"/><Relationship Id="rId4" Type="http://schemas.openxmlformats.org/officeDocument/2006/relationships/image" Target="../media/image192.wmf"/><Relationship Id="rId9" Type="http://schemas.openxmlformats.org/officeDocument/2006/relationships/image" Target="../media/image178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emf"/><Relationship Id="rId2" Type="http://schemas.openxmlformats.org/officeDocument/2006/relationships/image" Target="../media/image199.emf"/><Relationship Id="rId1" Type="http://schemas.openxmlformats.org/officeDocument/2006/relationships/image" Target="../media/image198.emf"/><Relationship Id="rId5" Type="http://schemas.openxmlformats.org/officeDocument/2006/relationships/image" Target="../media/image202.emf"/><Relationship Id="rId4" Type="http://schemas.openxmlformats.org/officeDocument/2006/relationships/image" Target="../media/image201.e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3" Type="http://schemas.openxmlformats.org/officeDocument/2006/relationships/image" Target="../media/image205.wmf"/><Relationship Id="rId7" Type="http://schemas.openxmlformats.org/officeDocument/2006/relationships/image" Target="../media/image209.wmf"/><Relationship Id="rId2" Type="http://schemas.openxmlformats.org/officeDocument/2006/relationships/image" Target="../media/image204.wmf"/><Relationship Id="rId1" Type="http://schemas.openxmlformats.org/officeDocument/2006/relationships/image" Target="../media/image203.wmf"/><Relationship Id="rId6" Type="http://schemas.openxmlformats.org/officeDocument/2006/relationships/image" Target="../media/image208.wmf"/><Relationship Id="rId5" Type="http://schemas.openxmlformats.org/officeDocument/2006/relationships/image" Target="../media/image207.wmf"/><Relationship Id="rId4" Type="http://schemas.openxmlformats.org/officeDocument/2006/relationships/image" Target="../media/image206.wmf"/><Relationship Id="rId9" Type="http://schemas.openxmlformats.org/officeDocument/2006/relationships/image" Target="../media/image211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emf"/><Relationship Id="rId2" Type="http://schemas.openxmlformats.org/officeDocument/2006/relationships/image" Target="../media/image213.emf"/><Relationship Id="rId1" Type="http://schemas.openxmlformats.org/officeDocument/2006/relationships/image" Target="../media/image212.wmf"/><Relationship Id="rId4" Type="http://schemas.openxmlformats.org/officeDocument/2006/relationships/image" Target="../media/image215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emf"/><Relationship Id="rId3" Type="http://schemas.openxmlformats.org/officeDocument/2006/relationships/image" Target="../media/image218.emf"/><Relationship Id="rId7" Type="http://schemas.openxmlformats.org/officeDocument/2006/relationships/image" Target="../media/image222.emf"/><Relationship Id="rId2" Type="http://schemas.openxmlformats.org/officeDocument/2006/relationships/image" Target="../media/image217.emf"/><Relationship Id="rId1" Type="http://schemas.openxmlformats.org/officeDocument/2006/relationships/image" Target="../media/image216.emf"/><Relationship Id="rId6" Type="http://schemas.openxmlformats.org/officeDocument/2006/relationships/image" Target="../media/image221.emf"/><Relationship Id="rId5" Type="http://schemas.openxmlformats.org/officeDocument/2006/relationships/image" Target="../media/image220.emf"/><Relationship Id="rId4" Type="http://schemas.openxmlformats.org/officeDocument/2006/relationships/image" Target="../media/image219.emf"/><Relationship Id="rId9" Type="http://schemas.openxmlformats.org/officeDocument/2006/relationships/image" Target="../media/image224.e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emf"/><Relationship Id="rId3" Type="http://schemas.openxmlformats.org/officeDocument/2006/relationships/image" Target="../media/image227.emf"/><Relationship Id="rId7" Type="http://schemas.openxmlformats.org/officeDocument/2006/relationships/image" Target="../media/image231.emf"/><Relationship Id="rId2" Type="http://schemas.openxmlformats.org/officeDocument/2006/relationships/image" Target="../media/image226.emf"/><Relationship Id="rId1" Type="http://schemas.openxmlformats.org/officeDocument/2006/relationships/image" Target="../media/image225.emf"/><Relationship Id="rId6" Type="http://schemas.openxmlformats.org/officeDocument/2006/relationships/image" Target="../media/image230.emf"/><Relationship Id="rId5" Type="http://schemas.openxmlformats.org/officeDocument/2006/relationships/image" Target="../media/image229.emf"/><Relationship Id="rId4" Type="http://schemas.openxmlformats.org/officeDocument/2006/relationships/image" Target="../media/image228.emf"/><Relationship Id="rId9" Type="http://schemas.openxmlformats.org/officeDocument/2006/relationships/image" Target="../media/image233.e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emf"/><Relationship Id="rId2" Type="http://schemas.openxmlformats.org/officeDocument/2006/relationships/image" Target="../media/image235.emf"/><Relationship Id="rId1" Type="http://schemas.openxmlformats.org/officeDocument/2006/relationships/image" Target="../media/image234.emf"/><Relationship Id="rId4" Type="http://schemas.openxmlformats.org/officeDocument/2006/relationships/image" Target="../media/image237.e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emf"/><Relationship Id="rId2" Type="http://schemas.openxmlformats.org/officeDocument/2006/relationships/image" Target="../media/image239.emf"/><Relationship Id="rId1" Type="http://schemas.openxmlformats.org/officeDocument/2006/relationships/image" Target="../media/image238.emf"/><Relationship Id="rId5" Type="http://schemas.openxmlformats.org/officeDocument/2006/relationships/image" Target="../media/image242.emf"/><Relationship Id="rId4" Type="http://schemas.openxmlformats.org/officeDocument/2006/relationships/image" Target="../media/image241.e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wmf"/><Relationship Id="rId2" Type="http://schemas.openxmlformats.org/officeDocument/2006/relationships/image" Target="../media/image244.emf"/><Relationship Id="rId1" Type="http://schemas.openxmlformats.org/officeDocument/2006/relationships/image" Target="../media/image243.emf"/><Relationship Id="rId4" Type="http://schemas.openxmlformats.org/officeDocument/2006/relationships/image" Target="../media/image246.e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wmf"/><Relationship Id="rId13" Type="http://schemas.openxmlformats.org/officeDocument/2006/relationships/image" Target="../media/image259.emf"/><Relationship Id="rId3" Type="http://schemas.openxmlformats.org/officeDocument/2006/relationships/image" Target="../media/image249.emf"/><Relationship Id="rId7" Type="http://schemas.openxmlformats.org/officeDocument/2006/relationships/image" Target="../media/image253.wmf"/><Relationship Id="rId12" Type="http://schemas.openxmlformats.org/officeDocument/2006/relationships/image" Target="../media/image258.emf"/><Relationship Id="rId2" Type="http://schemas.openxmlformats.org/officeDocument/2006/relationships/image" Target="../media/image248.emf"/><Relationship Id="rId1" Type="http://schemas.openxmlformats.org/officeDocument/2006/relationships/image" Target="../media/image247.emf"/><Relationship Id="rId6" Type="http://schemas.openxmlformats.org/officeDocument/2006/relationships/image" Target="../media/image252.wmf"/><Relationship Id="rId11" Type="http://schemas.openxmlformats.org/officeDocument/2006/relationships/image" Target="../media/image257.emf"/><Relationship Id="rId5" Type="http://schemas.openxmlformats.org/officeDocument/2006/relationships/image" Target="../media/image251.emf"/><Relationship Id="rId10" Type="http://schemas.openxmlformats.org/officeDocument/2006/relationships/image" Target="../media/image256.wmf"/><Relationship Id="rId4" Type="http://schemas.openxmlformats.org/officeDocument/2006/relationships/image" Target="../media/image250.emf"/><Relationship Id="rId9" Type="http://schemas.openxmlformats.org/officeDocument/2006/relationships/image" Target="../media/image255.wmf"/><Relationship Id="rId14" Type="http://schemas.openxmlformats.org/officeDocument/2006/relationships/image" Target="../media/image260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1.e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emf"/><Relationship Id="rId2" Type="http://schemas.openxmlformats.org/officeDocument/2006/relationships/image" Target="../media/image263.emf"/><Relationship Id="rId1" Type="http://schemas.openxmlformats.org/officeDocument/2006/relationships/image" Target="../media/image262.emf"/><Relationship Id="rId6" Type="http://schemas.openxmlformats.org/officeDocument/2006/relationships/image" Target="../media/image267.emf"/><Relationship Id="rId5" Type="http://schemas.openxmlformats.org/officeDocument/2006/relationships/image" Target="../media/image266.emf"/><Relationship Id="rId4" Type="http://schemas.openxmlformats.org/officeDocument/2006/relationships/image" Target="../media/image265.e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emf"/><Relationship Id="rId3" Type="http://schemas.openxmlformats.org/officeDocument/2006/relationships/image" Target="../media/image270.wmf"/><Relationship Id="rId7" Type="http://schemas.openxmlformats.org/officeDocument/2006/relationships/image" Target="../media/image274.emf"/><Relationship Id="rId2" Type="http://schemas.openxmlformats.org/officeDocument/2006/relationships/image" Target="../media/image269.emf"/><Relationship Id="rId1" Type="http://schemas.openxmlformats.org/officeDocument/2006/relationships/image" Target="../media/image268.emf"/><Relationship Id="rId6" Type="http://schemas.openxmlformats.org/officeDocument/2006/relationships/image" Target="../media/image273.emf"/><Relationship Id="rId5" Type="http://schemas.openxmlformats.org/officeDocument/2006/relationships/image" Target="../media/image272.emf"/><Relationship Id="rId4" Type="http://schemas.openxmlformats.org/officeDocument/2006/relationships/image" Target="../media/image271.emf"/><Relationship Id="rId9" Type="http://schemas.openxmlformats.org/officeDocument/2006/relationships/image" Target="../media/image276.e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9.emf"/><Relationship Id="rId7" Type="http://schemas.openxmlformats.org/officeDocument/2006/relationships/image" Target="../media/image283.emf"/><Relationship Id="rId2" Type="http://schemas.openxmlformats.org/officeDocument/2006/relationships/image" Target="../media/image278.emf"/><Relationship Id="rId1" Type="http://schemas.openxmlformats.org/officeDocument/2006/relationships/image" Target="../media/image277.emf"/><Relationship Id="rId6" Type="http://schemas.openxmlformats.org/officeDocument/2006/relationships/image" Target="../media/image282.emf"/><Relationship Id="rId5" Type="http://schemas.openxmlformats.org/officeDocument/2006/relationships/image" Target="../media/image281.emf"/><Relationship Id="rId4" Type="http://schemas.openxmlformats.org/officeDocument/2006/relationships/image" Target="../media/image280.e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6.emf"/><Relationship Id="rId2" Type="http://schemas.openxmlformats.org/officeDocument/2006/relationships/image" Target="../media/image285.emf"/><Relationship Id="rId1" Type="http://schemas.openxmlformats.org/officeDocument/2006/relationships/image" Target="../media/image284.emf"/><Relationship Id="rId4" Type="http://schemas.openxmlformats.org/officeDocument/2006/relationships/image" Target="../media/image287.e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wmf"/><Relationship Id="rId2" Type="http://schemas.openxmlformats.org/officeDocument/2006/relationships/image" Target="../media/image289.emf"/><Relationship Id="rId1" Type="http://schemas.openxmlformats.org/officeDocument/2006/relationships/image" Target="../media/image288.emf"/><Relationship Id="rId6" Type="http://schemas.openxmlformats.org/officeDocument/2006/relationships/image" Target="../media/image293.emf"/><Relationship Id="rId5" Type="http://schemas.openxmlformats.org/officeDocument/2006/relationships/image" Target="../media/image292.emf"/><Relationship Id="rId4" Type="http://schemas.openxmlformats.org/officeDocument/2006/relationships/image" Target="../media/image291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6.wmf"/><Relationship Id="rId2" Type="http://schemas.openxmlformats.org/officeDocument/2006/relationships/image" Target="../media/image295.wmf"/><Relationship Id="rId1" Type="http://schemas.openxmlformats.org/officeDocument/2006/relationships/image" Target="../media/image294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9.emf"/><Relationship Id="rId2" Type="http://schemas.openxmlformats.org/officeDocument/2006/relationships/image" Target="../media/image298.emf"/><Relationship Id="rId1" Type="http://schemas.openxmlformats.org/officeDocument/2006/relationships/image" Target="../media/image297.wmf"/><Relationship Id="rId6" Type="http://schemas.openxmlformats.org/officeDocument/2006/relationships/image" Target="../media/image302.wmf"/><Relationship Id="rId5" Type="http://schemas.openxmlformats.org/officeDocument/2006/relationships/image" Target="../media/image301.wmf"/><Relationship Id="rId4" Type="http://schemas.openxmlformats.org/officeDocument/2006/relationships/image" Target="../media/image300.emf"/></Relationships>
</file>

<file path=ppt/drawings/_rels/vmlDrawing4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4.wmf"/><Relationship Id="rId1" Type="http://schemas.openxmlformats.org/officeDocument/2006/relationships/image" Target="../media/image303.e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7.wmf"/><Relationship Id="rId2" Type="http://schemas.openxmlformats.org/officeDocument/2006/relationships/image" Target="../media/image306.wmf"/><Relationship Id="rId1" Type="http://schemas.openxmlformats.org/officeDocument/2006/relationships/image" Target="../media/image305.wmf"/></Relationships>
</file>

<file path=ppt/drawings/_rels/vmlDrawing5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wmf"/><Relationship Id="rId1" Type="http://schemas.openxmlformats.org/officeDocument/2006/relationships/image" Target="../media/image309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1.wmf"/><Relationship Id="rId2" Type="http://schemas.openxmlformats.org/officeDocument/2006/relationships/image" Target="../media/image320.emf"/><Relationship Id="rId1" Type="http://schemas.openxmlformats.org/officeDocument/2006/relationships/image" Target="../media/image319.emf"/><Relationship Id="rId6" Type="http://schemas.openxmlformats.org/officeDocument/2006/relationships/image" Target="../media/image324.wmf"/><Relationship Id="rId5" Type="http://schemas.openxmlformats.org/officeDocument/2006/relationships/image" Target="../media/image323.emf"/><Relationship Id="rId4" Type="http://schemas.openxmlformats.org/officeDocument/2006/relationships/image" Target="../media/image322.emf"/></Relationships>
</file>

<file path=ppt/drawings/_rels/vmlDrawing5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wmf"/><Relationship Id="rId13" Type="http://schemas.openxmlformats.org/officeDocument/2006/relationships/image" Target="../media/image336.wmf"/><Relationship Id="rId3" Type="http://schemas.openxmlformats.org/officeDocument/2006/relationships/image" Target="../media/image327.emf"/><Relationship Id="rId7" Type="http://schemas.openxmlformats.org/officeDocument/2006/relationships/image" Target="../media/image331.emf"/><Relationship Id="rId12" Type="http://schemas.openxmlformats.org/officeDocument/2006/relationships/image" Target="../media/image335.emf"/><Relationship Id="rId2" Type="http://schemas.openxmlformats.org/officeDocument/2006/relationships/image" Target="../media/image326.emf"/><Relationship Id="rId1" Type="http://schemas.openxmlformats.org/officeDocument/2006/relationships/image" Target="../media/image325.emf"/><Relationship Id="rId6" Type="http://schemas.openxmlformats.org/officeDocument/2006/relationships/image" Target="../media/image330.wmf"/><Relationship Id="rId11" Type="http://schemas.openxmlformats.org/officeDocument/2006/relationships/image" Target="../media/image334.wmf"/><Relationship Id="rId5" Type="http://schemas.openxmlformats.org/officeDocument/2006/relationships/image" Target="../media/image329.emf"/><Relationship Id="rId10" Type="http://schemas.openxmlformats.org/officeDocument/2006/relationships/image" Target="../media/image333.wmf"/><Relationship Id="rId4" Type="http://schemas.openxmlformats.org/officeDocument/2006/relationships/image" Target="../media/image328.emf"/><Relationship Id="rId9" Type="http://schemas.openxmlformats.org/officeDocument/2006/relationships/image" Target="../media/image332.wmf"/><Relationship Id="rId14" Type="http://schemas.openxmlformats.org/officeDocument/2006/relationships/image" Target="../media/image337.emf"/></Relationships>
</file>

<file path=ppt/drawings/_rels/vmlDrawing5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5.wmf"/><Relationship Id="rId3" Type="http://schemas.openxmlformats.org/officeDocument/2006/relationships/image" Target="../media/image340.emf"/><Relationship Id="rId7" Type="http://schemas.openxmlformats.org/officeDocument/2006/relationships/image" Target="../media/image344.wmf"/><Relationship Id="rId2" Type="http://schemas.openxmlformats.org/officeDocument/2006/relationships/image" Target="../media/image339.emf"/><Relationship Id="rId1" Type="http://schemas.openxmlformats.org/officeDocument/2006/relationships/image" Target="../media/image338.wmf"/><Relationship Id="rId6" Type="http://schemas.openxmlformats.org/officeDocument/2006/relationships/image" Target="../media/image343.wmf"/><Relationship Id="rId5" Type="http://schemas.openxmlformats.org/officeDocument/2006/relationships/image" Target="../media/image342.emf"/><Relationship Id="rId4" Type="http://schemas.openxmlformats.org/officeDocument/2006/relationships/image" Target="../media/image341.wmf"/><Relationship Id="rId9" Type="http://schemas.openxmlformats.org/officeDocument/2006/relationships/image" Target="../media/image346.e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9.wmf"/><Relationship Id="rId2" Type="http://schemas.openxmlformats.org/officeDocument/2006/relationships/image" Target="../media/image348.emf"/><Relationship Id="rId1" Type="http://schemas.openxmlformats.org/officeDocument/2006/relationships/image" Target="../media/image347.emf"/><Relationship Id="rId4" Type="http://schemas.openxmlformats.org/officeDocument/2006/relationships/image" Target="../media/image350.e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3.wmf"/><Relationship Id="rId2" Type="http://schemas.openxmlformats.org/officeDocument/2006/relationships/image" Target="../media/image352.wmf"/><Relationship Id="rId1" Type="http://schemas.openxmlformats.org/officeDocument/2006/relationships/image" Target="../media/image351.wmf"/><Relationship Id="rId6" Type="http://schemas.openxmlformats.org/officeDocument/2006/relationships/image" Target="../media/image356.wmf"/><Relationship Id="rId5" Type="http://schemas.openxmlformats.org/officeDocument/2006/relationships/image" Target="../media/image355.wmf"/><Relationship Id="rId4" Type="http://schemas.openxmlformats.org/officeDocument/2006/relationships/image" Target="../media/image354.w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9.emf"/><Relationship Id="rId7" Type="http://schemas.openxmlformats.org/officeDocument/2006/relationships/image" Target="../media/image363.wmf"/><Relationship Id="rId2" Type="http://schemas.openxmlformats.org/officeDocument/2006/relationships/image" Target="../media/image358.emf"/><Relationship Id="rId1" Type="http://schemas.openxmlformats.org/officeDocument/2006/relationships/image" Target="../media/image357.emf"/><Relationship Id="rId6" Type="http://schemas.openxmlformats.org/officeDocument/2006/relationships/image" Target="../media/image362.wmf"/><Relationship Id="rId5" Type="http://schemas.openxmlformats.org/officeDocument/2006/relationships/image" Target="../media/image361.wmf"/><Relationship Id="rId4" Type="http://schemas.openxmlformats.org/officeDocument/2006/relationships/image" Target="../media/image36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页眉占位符 42188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200" b="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421891" name="日期占位符 421890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200" b="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421892" name="页脚占位符 421891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200" b="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421893" name="灯片编号占位符 421892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noProof="1"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8D477F-0C07-4248-9902-BF0FDFB943E6}" type="slidenum">
              <a:rPr kumimoji="0" lang="zh-CN" altLang="en-US" sz="12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页眉占位符 3072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200" b="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30723" name="日期占位符 30722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200" b="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47108" name="幻灯片图像占位符 3072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3317" name="文本占位符 3072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第五级</a:t>
            </a:r>
          </a:p>
        </p:txBody>
      </p:sp>
      <p:sp>
        <p:nvSpPr>
          <p:cNvPr id="30726" name="页脚占位符 30725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200" b="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30727" name="灯片编号占位符 30726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noProof="1"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51260A-3186-4078-B957-06A08DFD545B}" type="slidenum">
              <a:rPr kumimoji="0" lang="zh-CN" altLang="en-US" sz="12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46D66F9-8CEA-49E4-82A9-99440BF2CE2D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7C659EE-2A11-4FAF-9021-C799BE090EA1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3DE0B3C-02D7-4B45-86F0-D8A0CFF74F09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A40904C-C976-427B-B2B5-1E0EF7150D28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98FE1F8-DAF5-4381-BFC4-8DE645722887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0EF5C18-57C7-436D-B0B5-6360A886E79C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35C593-CD63-43AE-B3FA-A202A98D9A2D}" type="datetime1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2024.10.23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A3ECBE7-D07B-4335-8D19-16B47BED7DB1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C79387-D5B0-4A69-B36C-39B9A6C3F703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901180-DFCE-4E3A-B2D0-4C7CD3AB65DF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392976-E35A-45CE-AC3E-8F806FA3CD32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16657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25964E-63B9-49CC-9FFD-71A26559F709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451AB2-4D71-4639-8E37-71C78C19EE0E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523768-2FB0-4808-B518-04EE30775BD6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6633BA-235A-4F65-AB66-DB175165B04C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4BBA16-B32F-4A7A-92EB-28464FCBEA63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30146E-DE46-4346-945E-05DEC47A6539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A399B2C-F37A-49D2-8468-1CAC7CB5CA1B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35C593-CD63-43AE-B3FA-A202A98D9A2D}" type="datetime1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2024.10.23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6CDF02-93F3-4BC9-8071-6E7F127C64A0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DC3DAA2-9372-4663-9163-EF5FFA4679C9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B80DA4-0683-4029-B43D-95FF4A7D7226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57998F0-2011-4996-A433-B3852AE4A2DE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16657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249AE0-E5B3-4108-B3E8-670F344BF3EF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93A93DE-045F-4873-A889-4DF70717EB3A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74E00F-6AD2-486A-9C28-2C0A4E0529DF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9BC0DE-9B88-4B29-B537-5CA1F49E1AC7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5462D2-CEB2-4F71-A5B0-B5A4E549CF37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31ABB10-FA62-4CFA-8CC0-D59EBBC7F9CD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644F6A3-95C6-4BAB-834F-C4A8620867A9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35C593-CD63-43AE-B3FA-A202A98D9A2D}" type="datetime1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2024.10.23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A88925-7FB1-4C09-9D3F-30A608B56FE2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A20E4C8-D52F-4426-BDB7-18652AED2209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D6D82C-C9E2-4C16-B448-D96346FFC057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D61DE45-46C3-4F30-B2CF-41CA558E1E2C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16657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B5BD7C-14E0-4DBF-B235-AE52B968515B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b="0" noProof="1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35C593-CD63-43AE-B3FA-A202A98D9A2D}" type="datetime1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2024.10.23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b="0" noProof="1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 noProof="1" dirty="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A3ECBE7-D07B-4335-8D19-16B47BED7DB1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anose="02010609030101010101" pitchFamily="49" charset="-122"/>
          <a:cs typeface="+mn-cs"/>
        </a:defRPr>
      </a:lvl2pPr>
      <a:lvl3pPr marL="914400" lvl="2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anose="02010609030101010101" pitchFamily="49" charset="-122"/>
          <a:cs typeface="+mn-cs"/>
        </a:defRPr>
      </a:lvl3pPr>
      <a:lvl4pPr marL="1371600" lvl="3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anose="02010609030101010101" pitchFamily="49" charset="-122"/>
          <a:cs typeface="+mn-cs"/>
        </a:defRPr>
      </a:lvl4pPr>
      <a:lvl5pPr marL="1828800" lvl="4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anose="02010609030101010101" pitchFamily="49" charset="-122"/>
          <a:cs typeface="+mn-cs"/>
        </a:defRPr>
      </a:lvl5pPr>
      <a:lvl6pPr marL="2286000" lvl="5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anose="02010609030101010101" pitchFamily="49" charset="-122"/>
          <a:cs typeface="+mn-cs"/>
        </a:defRPr>
      </a:lvl6pPr>
      <a:lvl7pPr marL="2743200" lvl="6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anose="02010609030101010101" pitchFamily="49" charset="-122"/>
          <a:cs typeface="+mn-cs"/>
        </a:defRPr>
      </a:lvl7pPr>
      <a:lvl8pPr marL="3200400" lvl="7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anose="02010609030101010101" pitchFamily="49" charset="-122"/>
          <a:cs typeface="+mn-cs"/>
        </a:defRPr>
      </a:lvl8pPr>
      <a:lvl9pPr marL="3657600" lvl="8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anose="02010609030101010101" pitchFamily="49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文本占位符 1026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b="0" noProof="1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35C593-CD63-43AE-B3FA-A202A98D9A2D}" type="datetime1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2024.10.23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b="0" noProof="1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 noProof="1" dirty="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6CDF02-93F3-4BC9-8071-6E7F127C64A0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anose="02010609030101010101" pitchFamily="49" charset="-122"/>
          <a:cs typeface="+mn-cs"/>
        </a:defRPr>
      </a:lvl2pPr>
      <a:lvl3pPr marL="914400" lvl="2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anose="02010609030101010101" pitchFamily="49" charset="-122"/>
          <a:cs typeface="+mn-cs"/>
        </a:defRPr>
      </a:lvl3pPr>
      <a:lvl4pPr marL="1371600" lvl="3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anose="02010609030101010101" pitchFamily="49" charset="-122"/>
          <a:cs typeface="+mn-cs"/>
        </a:defRPr>
      </a:lvl4pPr>
      <a:lvl5pPr marL="1828800" lvl="4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anose="02010609030101010101" pitchFamily="49" charset="-122"/>
          <a:cs typeface="+mn-cs"/>
        </a:defRPr>
      </a:lvl5pPr>
      <a:lvl6pPr marL="2286000" lvl="5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anose="02010609030101010101" pitchFamily="49" charset="-122"/>
          <a:cs typeface="+mn-cs"/>
        </a:defRPr>
      </a:lvl6pPr>
      <a:lvl7pPr marL="2743200" lvl="6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anose="02010609030101010101" pitchFamily="49" charset="-122"/>
          <a:cs typeface="+mn-cs"/>
        </a:defRPr>
      </a:lvl7pPr>
      <a:lvl8pPr marL="3200400" lvl="7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anose="02010609030101010101" pitchFamily="49" charset="-122"/>
          <a:cs typeface="+mn-cs"/>
        </a:defRPr>
      </a:lvl8pPr>
      <a:lvl9pPr marL="3657600" lvl="8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anose="02010609030101010101" pitchFamily="49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025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5" name="文本占位符 1026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b="0" noProof="1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35C593-CD63-43AE-B3FA-A202A98D9A2D}" type="datetime1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2024.10.23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b="0" noProof="1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 noProof="1" dirty="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A88925-7FB1-4C09-9D3F-30A608B56FE2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anose="02010609030101010101" pitchFamily="49" charset="-122"/>
          <a:cs typeface="+mn-cs"/>
        </a:defRPr>
      </a:lvl2pPr>
      <a:lvl3pPr marL="914400" lvl="2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anose="02010609030101010101" pitchFamily="49" charset="-122"/>
          <a:cs typeface="+mn-cs"/>
        </a:defRPr>
      </a:lvl3pPr>
      <a:lvl4pPr marL="1371600" lvl="3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anose="02010609030101010101" pitchFamily="49" charset="-122"/>
          <a:cs typeface="+mn-cs"/>
        </a:defRPr>
      </a:lvl4pPr>
      <a:lvl5pPr marL="1828800" lvl="4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anose="02010609030101010101" pitchFamily="49" charset="-122"/>
          <a:cs typeface="+mn-cs"/>
        </a:defRPr>
      </a:lvl5pPr>
      <a:lvl6pPr marL="2286000" lvl="5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anose="02010609030101010101" pitchFamily="49" charset="-122"/>
          <a:cs typeface="+mn-cs"/>
        </a:defRPr>
      </a:lvl6pPr>
      <a:lvl7pPr marL="2743200" lvl="6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anose="02010609030101010101" pitchFamily="49" charset="-122"/>
          <a:cs typeface="+mn-cs"/>
        </a:defRPr>
      </a:lvl7pPr>
      <a:lvl8pPr marL="3200400" lvl="7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anose="02010609030101010101" pitchFamily="49" charset="-122"/>
          <a:cs typeface="+mn-cs"/>
        </a:defRPr>
      </a:lvl8pPr>
      <a:lvl9pPr marL="3657600" lvl="8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anose="02010609030101010101" pitchFamily="49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../../../../FPCAI/STATICS/STATICS.EXE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emf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12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4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6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14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8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25.wmf"/><Relationship Id="rId26" Type="http://schemas.openxmlformats.org/officeDocument/2006/relationships/image" Target="../media/image29.wmf"/><Relationship Id="rId3" Type="http://schemas.openxmlformats.org/officeDocument/2006/relationships/oleObject" Target="../embeddings/oleObject21.bin"/><Relationship Id="rId21" Type="http://schemas.openxmlformats.org/officeDocument/2006/relationships/oleObject" Target="../embeddings/oleObject30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2.wmf"/><Relationship Id="rId17" Type="http://schemas.openxmlformats.org/officeDocument/2006/relationships/oleObject" Target="../embeddings/oleObject28.bin"/><Relationship Id="rId25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.wmf"/><Relationship Id="rId20" Type="http://schemas.openxmlformats.org/officeDocument/2006/relationships/image" Target="../media/image26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25.bin"/><Relationship Id="rId24" Type="http://schemas.openxmlformats.org/officeDocument/2006/relationships/image" Target="../media/image28.wmf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23" Type="http://schemas.openxmlformats.org/officeDocument/2006/relationships/oleObject" Target="../embeddings/oleObject31.bin"/><Relationship Id="rId10" Type="http://schemas.openxmlformats.org/officeDocument/2006/relationships/image" Target="../media/image21.wmf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3.wmf"/><Relationship Id="rId22" Type="http://schemas.openxmlformats.org/officeDocument/2006/relationships/image" Target="../media/image2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3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3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41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48.bin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4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47.bin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35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43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oleObject" Target="../embeddings/oleObject54.bin"/><Relationship Id="rId18" Type="http://schemas.openxmlformats.org/officeDocument/2006/relationships/image" Target="../media/image51.w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48.wmf"/><Relationship Id="rId17" Type="http://schemas.openxmlformats.org/officeDocument/2006/relationships/oleObject" Target="../embeddings/oleObject5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0.wmf"/><Relationship Id="rId20" Type="http://schemas.openxmlformats.org/officeDocument/2006/relationships/image" Target="../media/image42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5" Type="http://schemas.openxmlformats.org/officeDocument/2006/relationships/oleObject" Target="../embeddings/oleObject55.bin"/><Relationship Id="rId10" Type="http://schemas.openxmlformats.org/officeDocument/2006/relationships/image" Target="../media/image47.wmf"/><Relationship Id="rId19" Type="http://schemas.openxmlformats.org/officeDocument/2006/relationships/oleObject" Target="../embeddings/oleObject57.bin"/><Relationship Id="rId4" Type="http://schemas.openxmlformats.org/officeDocument/2006/relationships/image" Target="../media/image44.w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49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59.bin"/><Relationship Id="rId10" Type="http://schemas.openxmlformats.org/officeDocument/2006/relationships/image" Target="../media/image55.w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61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13" Type="http://schemas.openxmlformats.org/officeDocument/2006/relationships/oleObject" Target="../embeddings/oleObject67.bin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6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0" Type="http://schemas.openxmlformats.org/officeDocument/2006/relationships/image" Target="../media/image59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6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12" Type="http://schemas.openxmlformats.org/officeDocument/2006/relationships/image" Target="../media/image6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72.bin"/><Relationship Id="rId5" Type="http://schemas.openxmlformats.org/officeDocument/2006/relationships/oleObject" Target="../embeddings/oleObject69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71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oleObject" Target="../embeddings/oleObject78.bin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7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77.bin"/><Relationship Id="rId5" Type="http://schemas.openxmlformats.org/officeDocument/2006/relationships/oleObject" Target="../embeddings/oleObject74.bin"/><Relationship Id="rId10" Type="http://schemas.openxmlformats.org/officeDocument/2006/relationships/image" Target="../media/image69.wmf"/><Relationship Id="rId4" Type="http://schemas.openxmlformats.org/officeDocument/2006/relationships/image" Target="../media/image66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71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84.bin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7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8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3.emf"/><Relationship Id="rId11" Type="http://schemas.openxmlformats.org/officeDocument/2006/relationships/oleObject" Target="../embeddings/oleObject83.bin"/><Relationship Id="rId5" Type="http://schemas.openxmlformats.org/officeDocument/2006/relationships/oleObject" Target="../embeddings/oleObject80.bin"/><Relationship Id="rId15" Type="http://schemas.openxmlformats.org/officeDocument/2006/relationships/oleObject" Target="../embeddings/oleObject85.bin"/><Relationship Id="rId10" Type="http://schemas.openxmlformats.org/officeDocument/2006/relationships/image" Target="../media/image75.wmf"/><Relationship Id="rId4" Type="http://schemas.openxmlformats.org/officeDocument/2006/relationships/image" Target="../media/image72.wmf"/><Relationship Id="rId9" Type="http://schemas.openxmlformats.org/officeDocument/2006/relationships/oleObject" Target="../embeddings/oleObject82.bin"/><Relationship Id="rId14" Type="http://schemas.openxmlformats.org/officeDocument/2006/relationships/image" Target="../media/image77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oleObject" Target="../embeddings/oleObject91.bin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88.bin"/><Relationship Id="rId12" Type="http://schemas.openxmlformats.org/officeDocument/2006/relationships/image" Target="../media/image8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0.emf"/><Relationship Id="rId11" Type="http://schemas.openxmlformats.org/officeDocument/2006/relationships/oleObject" Target="../embeddings/oleObject90.bin"/><Relationship Id="rId5" Type="http://schemas.openxmlformats.org/officeDocument/2006/relationships/oleObject" Target="../embeddings/oleObject87.bin"/><Relationship Id="rId10" Type="http://schemas.openxmlformats.org/officeDocument/2006/relationships/image" Target="../media/image82.wmf"/><Relationship Id="rId4" Type="http://schemas.openxmlformats.org/officeDocument/2006/relationships/image" Target="../media/image79.emf"/><Relationship Id="rId9" Type="http://schemas.openxmlformats.org/officeDocument/2006/relationships/oleObject" Target="../embeddings/oleObject89.bin"/><Relationship Id="rId14" Type="http://schemas.openxmlformats.org/officeDocument/2006/relationships/image" Target="../media/image84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emf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6.e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85.wmf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0.bin"/><Relationship Id="rId18" Type="http://schemas.openxmlformats.org/officeDocument/2006/relationships/oleObject" Target="../embeddings/oleObject103.bin"/><Relationship Id="rId26" Type="http://schemas.openxmlformats.org/officeDocument/2006/relationships/image" Target="../media/image95.wmf"/><Relationship Id="rId21" Type="http://schemas.openxmlformats.org/officeDocument/2006/relationships/image" Target="../media/image93.emf"/><Relationship Id="rId34" Type="http://schemas.openxmlformats.org/officeDocument/2006/relationships/oleObject" Target="../embeddings/oleObject112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89.emf"/><Relationship Id="rId17" Type="http://schemas.openxmlformats.org/officeDocument/2006/relationships/image" Target="../media/image91.wmf"/><Relationship Id="rId25" Type="http://schemas.openxmlformats.org/officeDocument/2006/relationships/oleObject" Target="../embeddings/oleObject107.bin"/><Relationship Id="rId33" Type="http://schemas.openxmlformats.org/officeDocument/2006/relationships/image" Target="../media/image9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2.bin"/><Relationship Id="rId20" Type="http://schemas.openxmlformats.org/officeDocument/2006/relationships/oleObject" Target="../embeddings/oleObject104.bin"/><Relationship Id="rId29" Type="http://schemas.openxmlformats.org/officeDocument/2006/relationships/image" Target="../media/image96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99.bin"/><Relationship Id="rId24" Type="http://schemas.openxmlformats.org/officeDocument/2006/relationships/oleObject" Target="../embeddings/oleObject106.bin"/><Relationship Id="rId32" Type="http://schemas.openxmlformats.org/officeDocument/2006/relationships/oleObject" Target="../embeddings/oleObject111.bin"/><Relationship Id="rId37" Type="http://schemas.openxmlformats.org/officeDocument/2006/relationships/image" Target="../media/image85.wmf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1.bin"/><Relationship Id="rId23" Type="http://schemas.openxmlformats.org/officeDocument/2006/relationships/image" Target="../media/image94.emf"/><Relationship Id="rId28" Type="http://schemas.openxmlformats.org/officeDocument/2006/relationships/oleObject" Target="../embeddings/oleObject109.bin"/><Relationship Id="rId36" Type="http://schemas.openxmlformats.org/officeDocument/2006/relationships/oleObject" Target="../embeddings/oleObject113.bin"/><Relationship Id="rId10" Type="http://schemas.openxmlformats.org/officeDocument/2006/relationships/image" Target="../media/image88.wmf"/><Relationship Id="rId19" Type="http://schemas.openxmlformats.org/officeDocument/2006/relationships/image" Target="../media/image92.wmf"/><Relationship Id="rId31" Type="http://schemas.openxmlformats.org/officeDocument/2006/relationships/image" Target="../media/image97.wmf"/><Relationship Id="rId4" Type="http://schemas.openxmlformats.org/officeDocument/2006/relationships/image" Target="../media/image82.w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90.wmf"/><Relationship Id="rId22" Type="http://schemas.openxmlformats.org/officeDocument/2006/relationships/oleObject" Target="../embeddings/oleObject105.bin"/><Relationship Id="rId27" Type="http://schemas.openxmlformats.org/officeDocument/2006/relationships/oleObject" Target="../embeddings/oleObject108.bin"/><Relationship Id="rId30" Type="http://schemas.openxmlformats.org/officeDocument/2006/relationships/oleObject" Target="../embeddings/oleObject110.bin"/><Relationship Id="rId35" Type="http://schemas.openxmlformats.org/officeDocument/2006/relationships/image" Target="../media/image99.emf"/><Relationship Id="rId8" Type="http://schemas.openxmlformats.org/officeDocument/2006/relationships/image" Target="../media/image84.wmf"/><Relationship Id="rId3" Type="http://schemas.openxmlformats.org/officeDocument/2006/relationships/oleObject" Target="../embeddings/oleObject95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emf"/><Relationship Id="rId13" Type="http://schemas.openxmlformats.org/officeDocument/2006/relationships/oleObject" Target="../embeddings/oleObject119.bin"/><Relationship Id="rId3" Type="http://schemas.openxmlformats.org/officeDocument/2006/relationships/oleObject" Target="../embeddings/oleObject114.bin"/><Relationship Id="rId7" Type="http://schemas.openxmlformats.org/officeDocument/2006/relationships/oleObject" Target="../embeddings/oleObject116.bin"/><Relationship Id="rId12" Type="http://schemas.openxmlformats.org/officeDocument/2006/relationships/image" Target="../media/image8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118.bin"/><Relationship Id="rId5" Type="http://schemas.openxmlformats.org/officeDocument/2006/relationships/oleObject" Target="../embeddings/oleObject115.bin"/><Relationship Id="rId10" Type="http://schemas.openxmlformats.org/officeDocument/2006/relationships/image" Target="../media/image82.wmf"/><Relationship Id="rId4" Type="http://schemas.openxmlformats.org/officeDocument/2006/relationships/image" Target="../media/image100.emf"/><Relationship Id="rId9" Type="http://schemas.openxmlformats.org/officeDocument/2006/relationships/oleObject" Target="../embeddings/oleObject117.bin"/><Relationship Id="rId14" Type="http://schemas.openxmlformats.org/officeDocument/2006/relationships/image" Target="../media/image84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2.bin"/><Relationship Id="rId13" Type="http://schemas.openxmlformats.org/officeDocument/2006/relationships/image" Target="../media/image106.wmf"/><Relationship Id="rId3" Type="http://schemas.openxmlformats.org/officeDocument/2006/relationships/image" Target="../media/image109.png"/><Relationship Id="rId7" Type="http://schemas.openxmlformats.org/officeDocument/2006/relationships/image" Target="../media/image103.emf"/><Relationship Id="rId12" Type="http://schemas.openxmlformats.org/officeDocument/2006/relationships/oleObject" Target="../embeddings/oleObject124.bin"/><Relationship Id="rId17" Type="http://schemas.openxmlformats.org/officeDocument/2006/relationships/image" Target="../media/image10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6.bin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21.bin"/><Relationship Id="rId11" Type="http://schemas.openxmlformats.org/officeDocument/2006/relationships/image" Target="../media/image105.wmf"/><Relationship Id="rId5" Type="http://schemas.openxmlformats.org/officeDocument/2006/relationships/image" Target="../media/image102.emf"/><Relationship Id="rId15" Type="http://schemas.openxmlformats.org/officeDocument/2006/relationships/image" Target="../media/image107.emf"/><Relationship Id="rId10" Type="http://schemas.openxmlformats.org/officeDocument/2006/relationships/oleObject" Target="../embeddings/oleObject123.bin"/><Relationship Id="rId4" Type="http://schemas.openxmlformats.org/officeDocument/2006/relationships/oleObject" Target="../embeddings/oleObject120.bin"/><Relationship Id="rId9" Type="http://schemas.openxmlformats.org/officeDocument/2006/relationships/image" Target="../media/image104.wmf"/><Relationship Id="rId14" Type="http://schemas.openxmlformats.org/officeDocument/2006/relationships/oleObject" Target="../embeddings/oleObject125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emf"/><Relationship Id="rId13" Type="http://schemas.openxmlformats.org/officeDocument/2006/relationships/image" Target="../media/image82.wmf"/><Relationship Id="rId18" Type="http://schemas.openxmlformats.org/officeDocument/2006/relationships/oleObject" Target="../embeddings/oleObject135.bin"/><Relationship Id="rId3" Type="http://schemas.openxmlformats.org/officeDocument/2006/relationships/oleObject" Target="../embeddings/oleObject127.bin"/><Relationship Id="rId21" Type="http://schemas.openxmlformats.org/officeDocument/2006/relationships/image" Target="../media/image115.wmf"/><Relationship Id="rId7" Type="http://schemas.openxmlformats.org/officeDocument/2006/relationships/oleObject" Target="../embeddings/oleObject129.bin"/><Relationship Id="rId12" Type="http://schemas.openxmlformats.org/officeDocument/2006/relationships/oleObject" Target="../embeddings/oleObject132.bin"/><Relationship Id="rId17" Type="http://schemas.openxmlformats.org/officeDocument/2006/relationships/image" Target="../media/image8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4.bin"/><Relationship Id="rId20" Type="http://schemas.openxmlformats.org/officeDocument/2006/relationships/oleObject" Target="../embeddings/oleObject136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11.wmf"/><Relationship Id="rId11" Type="http://schemas.openxmlformats.org/officeDocument/2006/relationships/oleObject" Target="../embeddings/oleObject131.bin"/><Relationship Id="rId5" Type="http://schemas.openxmlformats.org/officeDocument/2006/relationships/oleObject" Target="../embeddings/oleObject128.bin"/><Relationship Id="rId15" Type="http://schemas.openxmlformats.org/officeDocument/2006/relationships/image" Target="../media/image83.wmf"/><Relationship Id="rId23" Type="http://schemas.openxmlformats.org/officeDocument/2006/relationships/image" Target="../media/image116.emf"/><Relationship Id="rId10" Type="http://schemas.openxmlformats.org/officeDocument/2006/relationships/image" Target="../media/image113.wmf"/><Relationship Id="rId19" Type="http://schemas.openxmlformats.org/officeDocument/2006/relationships/image" Target="../media/image114.wmf"/><Relationship Id="rId4" Type="http://schemas.openxmlformats.org/officeDocument/2006/relationships/image" Target="../media/image110.wmf"/><Relationship Id="rId9" Type="http://schemas.openxmlformats.org/officeDocument/2006/relationships/oleObject" Target="../embeddings/oleObject130.bin"/><Relationship Id="rId14" Type="http://schemas.openxmlformats.org/officeDocument/2006/relationships/oleObject" Target="../embeddings/oleObject133.bin"/><Relationship Id="rId22" Type="http://schemas.openxmlformats.org/officeDocument/2006/relationships/oleObject" Target="../embeddings/oleObject137.bin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43.bin"/><Relationship Id="rId18" Type="http://schemas.openxmlformats.org/officeDocument/2006/relationships/image" Target="../media/image121.wmf"/><Relationship Id="rId26" Type="http://schemas.openxmlformats.org/officeDocument/2006/relationships/image" Target="../media/image125.wmf"/><Relationship Id="rId21" Type="http://schemas.openxmlformats.org/officeDocument/2006/relationships/oleObject" Target="../embeddings/oleObject147.bin"/><Relationship Id="rId34" Type="http://schemas.openxmlformats.org/officeDocument/2006/relationships/oleObject" Target="../embeddings/oleObject154.bin"/><Relationship Id="rId7" Type="http://schemas.openxmlformats.org/officeDocument/2006/relationships/oleObject" Target="../embeddings/oleObject140.bin"/><Relationship Id="rId12" Type="http://schemas.openxmlformats.org/officeDocument/2006/relationships/image" Target="../media/image82.wmf"/><Relationship Id="rId17" Type="http://schemas.openxmlformats.org/officeDocument/2006/relationships/oleObject" Target="../embeddings/oleObject145.bin"/><Relationship Id="rId25" Type="http://schemas.openxmlformats.org/officeDocument/2006/relationships/oleObject" Target="../embeddings/oleObject149.bin"/><Relationship Id="rId33" Type="http://schemas.openxmlformats.org/officeDocument/2006/relationships/image" Target="../media/image128.wmf"/><Relationship Id="rId38" Type="http://schemas.openxmlformats.org/officeDocument/2006/relationships/image" Target="../media/image13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4.wmf"/><Relationship Id="rId20" Type="http://schemas.openxmlformats.org/officeDocument/2006/relationships/image" Target="../media/image122.wmf"/><Relationship Id="rId29" Type="http://schemas.openxmlformats.org/officeDocument/2006/relationships/oleObject" Target="../embeddings/oleObject151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18.wmf"/><Relationship Id="rId11" Type="http://schemas.openxmlformats.org/officeDocument/2006/relationships/oleObject" Target="../embeddings/oleObject142.bin"/><Relationship Id="rId24" Type="http://schemas.openxmlformats.org/officeDocument/2006/relationships/image" Target="../media/image124.wmf"/><Relationship Id="rId32" Type="http://schemas.openxmlformats.org/officeDocument/2006/relationships/oleObject" Target="../embeddings/oleObject153.bin"/><Relationship Id="rId37" Type="http://schemas.openxmlformats.org/officeDocument/2006/relationships/oleObject" Target="../embeddings/oleObject156.bin"/><Relationship Id="rId5" Type="http://schemas.openxmlformats.org/officeDocument/2006/relationships/oleObject" Target="../embeddings/oleObject139.bin"/><Relationship Id="rId15" Type="http://schemas.openxmlformats.org/officeDocument/2006/relationships/oleObject" Target="../embeddings/oleObject144.bin"/><Relationship Id="rId23" Type="http://schemas.openxmlformats.org/officeDocument/2006/relationships/oleObject" Target="../embeddings/oleObject148.bin"/><Relationship Id="rId28" Type="http://schemas.openxmlformats.org/officeDocument/2006/relationships/image" Target="../media/image126.wmf"/><Relationship Id="rId36" Type="http://schemas.openxmlformats.org/officeDocument/2006/relationships/image" Target="../media/image129.wmf"/><Relationship Id="rId10" Type="http://schemas.openxmlformats.org/officeDocument/2006/relationships/image" Target="../media/image120.wmf"/><Relationship Id="rId19" Type="http://schemas.openxmlformats.org/officeDocument/2006/relationships/oleObject" Target="../embeddings/oleObject146.bin"/><Relationship Id="rId31" Type="http://schemas.openxmlformats.org/officeDocument/2006/relationships/oleObject" Target="../embeddings/oleObject152.bin"/><Relationship Id="rId4" Type="http://schemas.openxmlformats.org/officeDocument/2006/relationships/image" Target="../media/image117.wmf"/><Relationship Id="rId9" Type="http://schemas.openxmlformats.org/officeDocument/2006/relationships/oleObject" Target="../embeddings/oleObject141.bin"/><Relationship Id="rId14" Type="http://schemas.openxmlformats.org/officeDocument/2006/relationships/image" Target="../media/image83.wmf"/><Relationship Id="rId22" Type="http://schemas.openxmlformats.org/officeDocument/2006/relationships/image" Target="../media/image123.wmf"/><Relationship Id="rId27" Type="http://schemas.openxmlformats.org/officeDocument/2006/relationships/oleObject" Target="../embeddings/oleObject150.bin"/><Relationship Id="rId30" Type="http://schemas.openxmlformats.org/officeDocument/2006/relationships/image" Target="../media/image127.wmf"/><Relationship Id="rId35" Type="http://schemas.openxmlformats.org/officeDocument/2006/relationships/oleObject" Target="../embeddings/oleObject155.bin"/><Relationship Id="rId8" Type="http://schemas.openxmlformats.org/officeDocument/2006/relationships/image" Target="../media/image119.wmf"/><Relationship Id="rId3" Type="http://schemas.openxmlformats.org/officeDocument/2006/relationships/oleObject" Target="../embeddings/oleObject138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85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13" Type="http://schemas.openxmlformats.org/officeDocument/2006/relationships/oleObject" Target="../embeddings/oleObject163.bin"/><Relationship Id="rId3" Type="http://schemas.openxmlformats.org/officeDocument/2006/relationships/oleObject" Target="../embeddings/oleObject158.bin"/><Relationship Id="rId7" Type="http://schemas.openxmlformats.org/officeDocument/2006/relationships/oleObject" Target="../embeddings/oleObject160.bin"/><Relationship Id="rId12" Type="http://schemas.openxmlformats.org/officeDocument/2006/relationships/image" Target="../media/image13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162.bin"/><Relationship Id="rId5" Type="http://schemas.openxmlformats.org/officeDocument/2006/relationships/oleObject" Target="../embeddings/oleObject159.bin"/><Relationship Id="rId10" Type="http://schemas.openxmlformats.org/officeDocument/2006/relationships/image" Target="../media/image133.wmf"/><Relationship Id="rId4" Type="http://schemas.openxmlformats.org/officeDocument/2006/relationships/image" Target="../media/image131.emf"/><Relationship Id="rId9" Type="http://schemas.openxmlformats.org/officeDocument/2006/relationships/oleObject" Target="../embeddings/oleObject161.bin"/><Relationship Id="rId14" Type="http://schemas.openxmlformats.org/officeDocument/2006/relationships/image" Target="../media/image135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3" Type="http://schemas.openxmlformats.org/officeDocument/2006/relationships/oleObject" Target="../embeddings/oleObject164.bin"/><Relationship Id="rId7" Type="http://schemas.openxmlformats.org/officeDocument/2006/relationships/oleObject" Target="../embeddings/oleObject166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37.wmf"/><Relationship Id="rId5" Type="http://schemas.openxmlformats.org/officeDocument/2006/relationships/oleObject" Target="../embeddings/oleObject165.bin"/><Relationship Id="rId10" Type="http://schemas.openxmlformats.org/officeDocument/2006/relationships/image" Target="../media/image139.wmf"/><Relationship Id="rId4" Type="http://schemas.openxmlformats.org/officeDocument/2006/relationships/image" Target="../media/image136.wmf"/><Relationship Id="rId9" Type="http://schemas.openxmlformats.org/officeDocument/2006/relationships/oleObject" Target="../embeddings/oleObject167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13" Type="http://schemas.openxmlformats.org/officeDocument/2006/relationships/oleObject" Target="../embeddings/oleObject173.bin"/><Relationship Id="rId3" Type="http://schemas.openxmlformats.org/officeDocument/2006/relationships/oleObject" Target="../embeddings/oleObject168.bin"/><Relationship Id="rId7" Type="http://schemas.openxmlformats.org/officeDocument/2006/relationships/oleObject" Target="../embeddings/oleObject170.bin"/><Relationship Id="rId12" Type="http://schemas.openxmlformats.org/officeDocument/2006/relationships/image" Target="../media/image14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41.wmf"/><Relationship Id="rId11" Type="http://schemas.openxmlformats.org/officeDocument/2006/relationships/oleObject" Target="../embeddings/oleObject172.bin"/><Relationship Id="rId5" Type="http://schemas.openxmlformats.org/officeDocument/2006/relationships/oleObject" Target="../embeddings/oleObject169.bin"/><Relationship Id="rId10" Type="http://schemas.openxmlformats.org/officeDocument/2006/relationships/image" Target="../media/image143.wmf"/><Relationship Id="rId4" Type="http://schemas.openxmlformats.org/officeDocument/2006/relationships/image" Target="../media/image140.wmf"/><Relationship Id="rId9" Type="http://schemas.openxmlformats.org/officeDocument/2006/relationships/oleObject" Target="../embeddings/oleObject171.bin"/><Relationship Id="rId14" Type="http://schemas.openxmlformats.org/officeDocument/2006/relationships/image" Target="../media/image145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emf"/><Relationship Id="rId13" Type="http://schemas.openxmlformats.org/officeDocument/2006/relationships/oleObject" Target="../embeddings/oleObject179.bin"/><Relationship Id="rId18" Type="http://schemas.openxmlformats.org/officeDocument/2006/relationships/image" Target="../media/image153.wmf"/><Relationship Id="rId26" Type="http://schemas.openxmlformats.org/officeDocument/2006/relationships/image" Target="../media/image157.wmf"/><Relationship Id="rId3" Type="http://schemas.openxmlformats.org/officeDocument/2006/relationships/oleObject" Target="../embeddings/oleObject174.bin"/><Relationship Id="rId21" Type="http://schemas.openxmlformats.org/officeDocument/2006/relationships/oleObject" Target="../embeddings/oleObject183.bin"/><Relationship Id="rId7" Type="http://schemas.openxmlformats.org/officeDocument/2006/relationships/oleObject" Target="../embeddings/oleObject176.bin"/><Relationship Id="rId12" Type="http://schemas.openxmlformats.org/officeDocument/2006/relationships/image" Target="../media/image150.wmf"/><Relationship Id="rId17" Type="http://schemas.openxmlformats.org/officeDocument/2006/relationships/oleObject" Target="../embeddings/oleObject181.bin"/><Relationship Id="rId25" Type="http://schemas.openxmlformats.org/officeDocument/2006/relationships/oleObject" Target="../embeddings/oleObject18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2.wmf"/><Relationship Id="rId20" Type="http://schemas.openxmlformats.org/officeDocument/2006/relationships/image" Target="../media/image154.e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47.emf"/><Relationship Id="rId11" Type="http://schemas.openxmlformats.org/officeDocument/2006/relationships/oleObject" Target="../embeddings/oleObject178.bin"/><Relationship Id="rId24" Type="http://schemas.openxmlformats.org/officeDocument/2006/relationships/image" Target="../media/image156.wmf"/><Relationship Id="rId5" Type="http://schemas.openxmlformats.org/officeDocument/2006/relationships/oleObject" Target="../embeddings/oleObject175.bin"/><Relationship Id="rId15" Type="http://schemas.openxmlformats.org/officeDocument/2006/relationships/oleObject" Target="../embeddings/oleObject180.bin"/><Relationship Id="rId23" Type="http://schemas.openxmlformats.org/officeDocument/2006/relationships/oleObject" Target="../embeddings/oleObject184.bin"/><Relationship Id="rId10" Type="http://schemas.openxmlformats.org/officeDocument/2006/relationships/image" Target="../media/image149.emf"/><Relationship Id="rId19" Type="http://schemas.openxmlformats.org/officeDocument/2006/relationships/oleObject" Target="../embeddings/oleObject182.bin"/><Relationship Id="rId4" Type="http://schemas.openxmlformats.org/officeDocument/2006/relationships/image" Target="../media/image146.wmf"/><Relationship Id="rId9" Type="http://schemas.openxmlformats.org/officeDocument/2006/relationships/oleObject" Target="../embeddings/oleObject177.bin"/><Relationship Id="rId14" Type="http://schemas.openxmlformats.org/officeDocument/2006/relationships/image" Target="../media/image151.wmf"/><Relationship Id="rId22" Type="http://schemas.openxmlformats.org/officeDocument/2006/relationships/image" Target="../media/image155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13" Type="http://schemas.openxmlformats.org/officeDocument/2006/relationships/oleObject" Target="../embeddings/oleObject191.bin"/><Relationship Id="rId18" Type="http://schemas.openxmlformats.org/officeDocument/2006/relationships/image" Target="../media/image165.wmf"/><Relationship Id="rId3" Type="http://schemas.openxmlformats.org/officeDocument/2006/relationships/oleObject" Target="../embeddings/oleObject186.bin"/><Relationship Id="rId7" Type="http://schemas.openxmlformats.org/officeDocument/2006/relationships/oleObject" Target="../embeddings/oleObject188.bin"/><Relationship Id="rId12" Type="http://schemas.openxmlformats.org/officeDocument/2006/relationships/image" Target="../media/image162.wmf"/><Relationship Id="rId17" Type="http://schemas.openxmlformats.org/officeDocument/2006/relationships/oleObject" Target="../embeddings/oleObject193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64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59.wmf"/><Relationship Id="rId11" Type="http://schemas.openxmlformats.org/officeDocument/2006/relationships/oleObject" Target="../embeddings/oleObject190.bin"/><Relationship Id="rId5" Type="http://schemas.openxmlformats.org/officeDocument/2006/relationships/oleObject" Target="../embeddings/oleObject187.bin"/><Relationship Id="rId15" Type="http://schemas.openxmlformats.org/officeDocument/2006/relationships/oleObject" Target="../embeddings/oleObject192.bin"/><Relationship Id="rId10" Type="http://schemas.openxmlformats.org/officeDocument/2006/relationships/image" Target="../media/image161.wmf"/><Relationship Id="rId4" Type="http://schemas.openxmlformats.org/officeDocument/2006/relationships/image" Target="../media/image158.wmf"/><Relationship Id="rId9" Type="http://schemas.openxmlformats.org/officeDocument/2006/relationships/oleObject" Target="../embeddings/oleObject189.bin"/><Relationship Id="rId14" Type="http://schemas.openxmlformats.org/officeDocument/2006/relationships/image" Target="../media/image163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wmf"/><Relationship Id="rId13" Type="http://schemas.openxmlformats.org/officeDocument/2006/relationships/oleObject" Target="../embeddings/oleObject199.bin"/><Relationship Id="rId18" Type="http://schemas.openxmlformats.org/officeDocument/2006/relationships/image" Target="../media/image173.wmf"/><Relationship Id="rId3" Type="http://schemas.openxmlformats.org/officeDocument/2006/relationships/oleObject" Target="../embeddings/oleObject194.bin"/><Relationship Id="rId7" Type="http://schemas.openxmlformats.org/officeDocument/2006/relationships/oleObject" Target="../embeddings/oleObject196.bin"/><Relationship Id="rId12" Type="http://schemas.openxmlformats.org/officeDocument/2006/relationships/image" Target="../media/image170.wmf"/><Relationship Id="rId17" Type="http://schemas.openxmlformats.org/officeDocument/2006/relationships/oleObject" Target="../embeddings/oleObject201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172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67.wmf"/><Relationship Id="rId11" Type="http://schemas.openxmlformats.org/officeDocument/2006/relationships/oleObject" Target="../embeddings/oleObject198.bin"/><Relationship Id="rId5" Type="http://schemas.openxmlformats.org/officeDocument/2006/relationships/oleObject" Target="../embeddings/oleObject195.bin"/><Relationship Id="rId15" Type="http://schemas.openxmlformats.org/officeDocument/2006/relationships/oleObject" Target="../embeddings/oleObject200.bin"/><Relationship Id="rId10" Type="http://schemas.openxmlformats.org/officeDocument/2006/relationships/image" Target="../media/image169.wmf"/><Relationship Id="rId4" Type="http://schemas.openxmlformats.org/officeDocument/2006/relationships/image" Target="../media/image166.wmf"/><Relationship Id="rId9" Type="http://schemas.openxmlformats.org/officeDocument/2006/relationships/oleObject" Target="../embeddings/oleObject197.bin"/><Relationship Id="rId14" Type="http://schemas.openxmlformats.org/officeDocument/2006/relationships/image" Target="../media/image171.wmf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7.bin"/><Relationship Id="rId18" Type="http://schemas.openxmlformats.org/officeDocument/2006/relationships/image" Target="../media/image181.wmf"/><Relationship Id="rId26" Type="http://schemas.openxmlformats.org/officeDocument/2006/relationships/image" Target="../media/image185.wmf"/><Relationship Id="rId3" Type="http://schemas.openxmlformats.org/officeDocument/2006/relationships/oleObject" Target="../embeddings/oleObject202.bin"/><Relationship Id="rId21" Type="http://schemas.openxmlformats.org/officeDocument/2006/relationships/oleObject" Target="../embeddings/oleObject211.bin"/><Relationship Id="rId34" Type="http://schemas.openxmlformats.org/officeDocument/2006/relationships/image" Target="../media/image85.wmf"/><Relationship Id="rId7" Type="http://schemas.openxmlformats.org/officeDocument/2006/relationships/oleObject" Target="../embeddings/oleObject204.bin"/><Relationship Id="rId12" Type="http://schemas.openxmlformats.org/officeDocument/2006/relationships/image" Target="../media/image178.wmf"/><Relationship Id="rId17" Type="http://schemas.openxmlformats.org/officeDocument/2006/relationships/oleObject" Target="../embeddings/oleObject209.bin"/><Relationship Id="rId25" Type="http://schemas.openxmlformats.org/officeDocument/2006/relationships/oleObject" Target="../embeddings/oleObject213.bin"/><Relationship Id="rId33" Type="http://schemas.openxmlformats.org/officeDocument/2006/relationships/oleObject" Target="../embeddings/oleObject2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0.wmf"/><Relationship Id="rId20" Type="http://schemas.openxmlformats.org/officeDocument/2006/relationships/image" Target="../media/image182.wmf"/><Relationship Id="rId29" Type="http://schemas.openxmlformats.org/officeDocument/2006/relationships/oleObject" Target="../embeddings/oleObject215.bin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75.wmf"/><Relationship Id="rId11" Type="http://schemas.openxmlformats.org/officeDocument/2006/relationships/oleObject" Target="../embeddings/oleObject206.bin"/><Relationship Id="rId24" Type="http://schemas.openxmlformats.org/officeDocument/2006/relationships/image" Target="../media/image184.wmf"/><Relationship Id="rId32" Type="http://schemas.openxmlformats.org/officeDocument/2006/relationships/image" Target="../media/image188.wmf"/><Relationship Id="rId5" Type="http://schemas.openxmlformats.org/officeDocument/2006/relationships/oleObject" Target="../embeddings/oleObject203.bin"/><Relationship Id="rId15" Type="http://schemas.openxmlformats.org/officeDocument/2006/relationships/oleObject" Target="../embeddings/oleObject208.bin"/><Relationship Id="rId23" Type="http://schemas.openxmlformats.org/officeDocument/2006/relationships/oleObject" Target="../embeddings/oleObject212.bin"/><Relationship Id="rId28" Type="http://schemas.openxmlformats.org/officeDocument/2006/relationships/image" Target="../media/image186.wmf"/><Relationship Id="rId10" Type="http://schemas.openxmlformats.org/officeDocument/2006/relationships/image" Target="../media/image177.wmf"/><Relationship Id="rId19" Type="http://schemas.openxmlformats.org/officeDocument/2006/relationships/oleObject" Target="../embeddings/oleObject210.bin"/><Relationship Id="rId31" Type="http://schemas.openxmlformats.org/officeDocument/2006/relationships/oleObject" Target="../embeddings/oleObject216.bin"/><Relationship Id="rId4" Type="http://schemas.openxmlformats.org/officeDocument/2006/relationships/image" Target="../media/image174.wmf"/><Relationship Id="rId9" Type="http://schemas.openxmlformats.org/officeDocument/2006/relationships/oleObject" Target="../embeddings/oleObject205.bin"/><Relationship Id="rId14" Type="http://schemas.openxmlformats.org/officeDocument/2006/relationships/image" Target="../media/image179.wmf"/><Relationship Id="rId22" Type="http://schemas.openxmlformats.org/officeDocument/2006/relationships/image" Target="../media/image183.wmf"/><Relationship Id="rId27" Type="http://schemas.openxmlformats.org/officeDocument/2006/relationships/oleObject" Target="../embeddings/oleObject214.bin"/><Relationship Id="rId30" Type="http://schemas.openxmlformats.org/officeDocument/2006/relationships/image" Target="../media/image187.wmf"/><Relationship Id="rId8" Type="http://schemas.openxmlformats.org/officeDocument/2006/relationships/image" Target="../media/image176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wmf"/><Relationship Id="rId13" Type="http://schemas.openxmlformats.org/officeDocument/2006/relationships/oleObject" Target="../embeddings/oleObject223.bin"/><Relationship Id="rId18" Type="http://schemas.openxmlformats.org/officeDocument/2006/relationships/image" Target="../media/image177.wmf"/><Relationship Id="rId26" Type="http://schemas.openxmlformats.org/officeDocument/2006/relationships/image" Target="../media/image197.wmf"/><Relationship Id="rId3" Type="http://schemas.openxmlformats.org/officeDocument/2006/relationships/oleObject" Target="../embeddings/oleObject218.bin"/><Relationship Id="rId21" Type="http://schemas.openxmlformats.org/officeDocument/2006/relationships/oleObject" Target="../embeddings/oleObject227.bin"/><Relationship Id="rId7" Type="http://schemas.openxmlformats.org/officeDocument/2006/relationships/oleObject" Target="../embeddings/oleObject220.bin"/><Relationship Id="rId12" Type="http://schemas.openxmlformats.org/officeDocument/2006/relationships/image" Target="../media/image193.wmf"/><Relationship Id="rId17" Type="http://schemas.openxmlformats.org/officeDocument/2006/relationships/oleObject" Target="../embeddings/oleObject225.bin"/><Relationship Id="rId25" Type="http://schemas.openxmlformats.org/officeDocument/2006/relationships/oleObject" Target="../embeddings/oleObject2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5.wmf"/><Relationship Id="rId20" Type="http://schemas.openxmlformats.org/officeDocument/2006/relationships/image" Target="../media/image178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90.wmf"/><Relationship Id="rId11" Type="http://schemas.openxmlformats.org/officeDocument/2006/relationships/oleObject" Target="../embeddings/oleObject222.bin"/><Relationship Id="rId24" Type="http://schemas.openxmlformats.org/officeDocument/2006/relationships/image" Target="../media/image196.wmf"/><Relationship Id="rId5" Type="http://schemas.openxmlformats.org/officeDocument/2006/relationships/oleObject" Target="../embeddings/oleObject219.bin"/><Relationship Id="rId15" Type="http://schemas.openxmlformats.org/officeDocument/2006/relationships/oleObject" Target="../embeddings/oleObject224.bin"/><Relationship Id="rId23" Type="http://schemas.openxmlformats.org/officeDocument/2006/relationships/oleObject" Target="../embeddings/oleObject228.bin"/><Relationship Id="rId10" Type="http://schemas.openxmlformats.org/officeDocument/2006/relationships/image" Target="../media/image192.wmf"/><Relationship Id="rId19" Type="http://schemas.openxmlformats.org/officeDocument/2006/relationships/oleObject" Target="../embeddings/oleObject226.bin"/><Relationship Id="rId4" Type="http://schemas.openxmlformats.org/officeDocument/2006/relationships/image" Target="../media/image189.wmf"/><Relationship Id="rId9" Type="http://schemas.openxmlformats.org/officeDocument/2006/relationships/oleObject" Target="../embeddings/oleObject221.bin"/><Relationship Id="rId14" Type="http://schemas.openxmlformats.org/officeDocument/2006/relationships/image" Target="../media/image194.emf"/><Relationship Id="rId22" Type="http://schemas.openxmlformats.org/officeDocument/2006/relationships/image" Target="../media/image195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emf"/><Relationship Id="rId3" Type="http://schemas.openxmlformats.org/officeDocument/2006/relationships/oleObject" Target="../embeddings/oleObject230.bin"/><Relationship Id="rId7" Type="http://schemas.openxmlformats.org/officeDocument/2006/relationships/oleObject" Target="../embeddings/oleObject232.bin"/><Relationship Id="rId12" Type="http://schemas.openxmlformats.org/officeDocument/2006/relationships/image" Target="../media/image20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99.emf"/><Relationship Id="rId11" Type="http://schemas.openxmlformats.org/officeDocument/2006/relationships/oleObject" Target="../embeddings/oleObject234.bin"/><Relationship Id="rId5" Type="http://schemas.openxmlformats.org/officeDocument/2006/relationships/oleObject" Target="../embeddings/oleObject231.bin"/><Relationship Id="rId10" Type="http://schemas.openxmlformats.org/officeDocument/2006/relationships/image" Target="../media/image201.emf"/><Relationship Id="rId4" Type="http://schemas.openxmlformats.org/officeDocument/2006/relationships/image" Target="../media/image198.emf"/><Relationship Id="rId9" Type="http://schemas.openxmlformats.org/officeDocument/2006/relationships/oleObject" Target="../embeddings/oleObject233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wmf"/><Relationship Id="rId13" Type="http://schemas.openxmlformats.org/officeDocument/2006/relationships/oleObject" Target="../embeddings/oleObject240.bin"/><Relationship Id="rId18" Type="http://schemas.openxmlformats.org/officeDocument/2006/relationships/image" Target="../media/image210.wmf"/><Relationship Id="rId3" Type="http://schemas.openxmlformats.org/officeDocument/2006/relationships/oleObject" Target="../embeddings/oleObject235.bin"/><Relationship Id="rId7" Type="http://schemas.openxmlformats.org/officeDocument/2006/relationships/oleObject" Target="../embeddings/oleObject237.bin"/><Relationship Id="rId12" Type="http://schemas.openxmlformats.org/officeDocument/2006/relationships/image" Target="../media/image207.wmf"/><Relationship Id="rId17" Type="http://schemas.openxmlformats.org/officeDocument/2006/relationships/oleObject" Target="../embeddings/oleObject24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9.wmf"/><Relationship Id="rId20" Type="http://schemas.openxmlformats.org/officeDocument/2006/relationships/image" Target="../media/image211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04.wmf"/><Relationship Id="rId11" Type="http://schemas.openxmlformats.org/officeDocument/2006/relationships/oleObject" Target="../embeddings/oleObject239.bin"/><Relationship Id="rId5" Type="http://schemas.openxmlformats.org/officeDocument/2006/relationships/oleObject" Target="../embeddings/oleObject236.bin"/><Relationship Id="rId15" Type="http://schemas.openxmlformats.org/officeDocument/2006/relationships/oleObject" Target="../embeddings/oleObject241.bin"/><Relationship Id="rId10" Type="http://schemas.openxmlformats.org/officeDocument/2006/relationships/image" Target="../media/image206.wmf"/><Relationship Id="rId19" Type="http://schemas.openxmlformats.org/officeDocument/2006/relationships/oleObject" Target="../embeddings/oleObject243.bin"/><Relationship Id="rId4" Type="http://schemas.openxmlformats.org/officeDocument/2006/relationships/image" Target="../media/image203.wmf"/><Relationship Id="rId9" Type="http://schemas.openxmlformats.org/officeDocument/2006/relationships/oleObject" Target="../embeddings/oleObject238.bin"/><Relationship Id="rId14" Type="http://schemas.openxmlformats.org/officeDocument/2006/relationships/image" Target="../media/image208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emf"/><Relationship Id="rId3" Type="http://schemas.openxmlformats.org/officeDocument/2006/relationships/oleObject" Target="../embeddings/oleObject244.bin"/><Relationship Id="rId7" Type="http://schemas.openxmlformats.org/officeDocument/2006/relationships/oleObject" Target="../embeddings/oleObject2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13.emf"/><Relationship Id="rId5" Type="http://schemas.openxmlformats.org/officeDocument/2006/relationships/oleObject" Target="../embeddings/oleObject245.bin"/><Relationship Id="rId10" Type="http://schemas.openxmlformats.org/officeDocument/2006/relationships/image" Target="../media/image215.wmf"/><Relationship Id="rId4" Type="http://schemas.openxmlformats.org/officeDocument/2006/relationships/image" Target="../media/image212.wmf"/><Relationship Id="rId9" Type="http://schemas.openxmlformats.org/officeDocument/2006/relationships/oleObject" Target="../embeddings/oleObject247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emf"/><Relationship Id="rId13" Type="http://schemas.openxmlformats.org/officeDocument/2006/relationships/oleObject" Target="../embeddings/oleObject253.bin"/><Relationship Id="rId18" Type="http://schemas.openxmlformats.org/officeDocument/2006/relationships/image" Target="../media/image223.emf"/><Relationship Id="rId3" Type="http://schemas.openxmlformats.org/officeDocument/2006/relationships/oleObject" Target="../embeddings/oleObject248.bin"/><Relationship Id="rId7" Type="http://schemas.openxmlformats.org/officeDocument/2006/relationships/oleObject" Target="../embeddings/oleObject250.bin"/><Relationship Id="rId12" Type="http://schemas.openxmlformats.org/officeDocument/2006/relationships/image" Target="../media/image220.emf"/><Relationship Id="rId17" Type="http://schemas.openxmlformats.org/officeDocument/2006/relationships/oleObject" Target="../embeddings/oleObject25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2.emf"/><Relationship Id="rId20" Type="http://schemas.openxmlformats.org/officeDocument/2006/relationships/image" Target="../media/image224.e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17.emf"/><Relationship Id="rId11" Type="http://schemas.openxmlformats.org/officeDocument/2006/relationships/oleObject" Target="../embeddings/oleObject252.bin"/><Relationship Id="rId5" Type="http://schemas.openxmlformats.org/officeDocument/2006/relationships/oleObject" Target="../embeddings/oleObject249.bin"/><Relationship Id="rId15" Type="http://schemas.openxmlformats.org/officeDocument/2006/relationships/oleObject" Target="../embeddings/oleObject254.bin"/><Relationship Id="rId10" Type="http://schemas.openxmlformats.org/officeDocument/2006/relationships/image" Target="../media/image219.emf"/><Relationship Id="rId19" Type="http://schemas.openxmlformats.org/officeDocument/2006/relationships/oleObject" Target="../embeddings/oleObject256.bin"/><Relationship Id="rId4" Type="http://schemas.openxmlformats.org/officeDocument/2006/relationships/image" Target="../media/image216.emf"/><Relationship Id="rId9" Type="http://schemas.openxmlformats.org/officeDocument/2006/relationships/oleObject" Target="../embeddings/oleObject251.bin"/><Relationship Id="rId14" Type="http://schemas.openxmlformats.org/officeDocument/2006/relationships/image" Target="../media/image221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emf"/><Relationship Id="rId13" Type="http://schemas.openxmlformats.org/officeDocument/2006/relationships/oleObject" Target="../embeddings/oleObject262.bin"/><Relationship Id="rId18" Type="http://schemas.openxmlformats.org/officeDocument/2006/relationships/image" Target="../media/image232.emf"/><Relationship Id="rId3" Type="http://schemas.openxmlformats.org/officeDocument/2006/relationships/oleObject" Target="../embeddings/oleObject257.bin"/><Relationship Id="rId7" Type="http://schemas.openxmlformats.org/officeDocument/2006/relationships/oleObject" Target="../embeddings/oleObject259.bin"/><Relationship Id="rId12" Type="http://schemas.openxmlformats.org/officeDocument/2006/relationships/image" Target="../media/image229.emf"/><Relationship Id="rId17" Type="http://schemas.openxmlformats.org/officeDocument/2006/relationships/oleObject" Target="../embeddings/oleObject26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1.emf"/><Relationship Id="rId20" Type="http://schemas.openxmlformats.org/officeDocument/2006/relationships/image" Target="../media/image233.e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26.emf"/><Relationship Id="rId11" Type="http://schemas.openxmlformats.org/officeDocument/2006/relationships/oleObject" Target="../embeddings/oleObject261.bin"/><Relationship Id="rId5" Type="http://schemas.openxmlformats.org/officeDocument/2006/relationships/oleObject" Target="../embeddings/oleObject258.bin"/><Relationship Id="rId15" Type="http://schemas.openxmlformats.org/officeDocument/2006/relationships/oleObject" Target="../embeddings/oleObject263.bin"/><Relationship Id="rId10" Type="http://schemas.openxmlformats.org/officeDocument/2006/relationships/image" Target="../media/image228.emf"/><Relationship Id="rId19" Type="http://schemas.openxmlformats.org/officeDocument/2006/relationships/oleObject" Target="../embeddings/oleObject265.bin"/><Relationship Id="rId4" Type="http://schemas.openxmlformats.org/officeDocument/2006/relationships/image" Target="../media/image225.emf"/><Relationship Id="rId9" Type="http://schemas.openxmlformats.org/officeDocument/2006/relationships/oleObject" Target="../embeddings/oleObject260.bin"/><Relationship Id="rId14" Type="http://schemas.openxmlformats.org/officeDocument/2006/relationships/image" Target="../media/image230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emf"/><Relationship Id="rId3" Type="http://schemas.openxmlformats.org/officeDocument/2006/relationships/oleObject" Target="../embeddings/oleObject266.bin"/><Relationship Id="rId7" Type="http://schemas.openxmlformats.org/officeDocument/2006/relationships/oleObject" Target="../embeddings/oleObject2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35.emf"/><Relationship Id="rId5" Type="http://schemas.openxmlformats.org/officeDocument/2006/relationships/oleObject" Target="../embeddings/oleObject267.bin"/><Relationship Id="rId10" Type="http://schemas.openxmlformats.org/officeDocument/2006/relationships/image" Target="../media/image237.emf"/><Relationship Id="rId4" Type="http://schemas.openxmlformats.org/officeDocument/2006/relationships/image" Target="../media/image234.emf"/><Relationship Id="rId9" Type="http://schemas.openxmlformats.org/officeDocument/2006/relationships/oleObject" Target="../embeddings/oleObject269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emf"/><Relationship Id="rId3" Type="http://schemas.openxmlformats.org/officeDocument/2006/relationships/oleObject" Target="../embeddings/oleObject270.bin"/><Relationship Id="rId7" Type="http://schemas.openxmlformats.org/officeDocument/2006/relationships/oleObject" Target="../embeddings/oleObject272.bin"/><Relationship Id="rId12" Type="http://schemas.openxmlformats.org/officeDocument/2006/relationships/image" Target="../media/image24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39.emf"/><Relationship Id="rId11" Type="http://schemas.openxmlformats.org/officeDocument/2006/relationships/oleObject" Target="../embeddings/oleObject274.bin"/><Relationship Id="rId5" Type="http://schemas.openxmlformats.org/officeDocument/2006/relationships/oleObject" Target="../embeddings/oleObject271.bin"/><Relationship Id="rId10" Type="http://schemas.openxmlformats.org/officeDocument/2006/relationships/image" Target="../media/image241.emf"/><Relationship Id="rId4" Type="http://schemas.openxmlformats.org/officeDocument/2006/relationships/image" Target="../media/image238.emf"/><Relationship Id="rId9" Type="http://schemas.openxmlformats.org/officeDocument/2006/relationships/oleObject" Target="../embeddings/oleObject273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3" Type="http://schemas.openxmlformats.org/officeDocument/2006/relationships/oleObject" Target="../embeddings/oleObject275.bin"/><Relationship Id="rId7" Type="http://schemas.openxmlformats.org/officeDocument/2006/relationships/oleObject" Target="../embeddings/oleObject27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44.emf"/><Relationship Id="rId5" Type="http://schemas.openxmlformats.org/officeDocument/2006/relationships/oleObject" Target="../embeddings/oleObject276.bin"/><Relationship Id="rId10" Type="http://schemas.openxmlformats.org/officeDocument/2006/relationships/image" Target="../media/image246.emf"/><Relationship Id="rId4" Type="http://schemas.openxmlformats.org/officeDocument/2006/relationships/image" Target="../media/image243.emf"/><Relationship Id="rId9" Type="http://schemas.openxmlformats.org/officeDocument/2006/relationships/oleObject" Target="../embeddings/oleObject278.bin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emf"/><Relationship Id="rId13" Type="http://schemas.openxmlformats.org/officeDocument/2006/relationships/oleObject" Target="../embeddings/oleObject284.bin"/><Relationship Id="rId18" Type="http://schemas.openxmlformats.org/officeDocument/2006/relationships/image" Target="../media/image254.wmf"/><Relationship Id="rId26" Type="http://schemas.openxmlformats.org/officeDocument/2006/relationships/image" Target="../media/image258.emf"/><Relationship Id="rId3" Type="http://schemas.openxmlformats.org/officeDocument/2006/relationships/oleObject" Target="../embeddings/oleObject279.bin"/><Relationship Id="rId21" Type="http://schemas.openxmlformats.org/officeDocument/2006/relationships/oleObject" Target="../embeddings/oleObject288.bin"/><Relationship Id="rId7" Type="http://schemas.openxmlformats.org/officeDocument/2006/relationships/oleObject" Target="../embeddings/oleObject281.bin"/><Relationship Id="rId12" Type="http://schemas.openxmlformats.org/officeDocument/2006/relationships/image" Target="../media/image251.emf"/><Relationship Id="rId17" Type="http://schemas.openxmlformats.org/officeDocument/2006/relationships/oleObject" Target="../embeddings/oleObject286.bin"/><Relationship Id="rId25" Type="http://schemas.openxmlformats.org/officeDocument/2006/relationships/oleObject" Target="../embeddings/oleObject29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3.wmf"/><Relationship Id="rId20" Type="http://schemas.openxmlformats.org/officeDocument/2006/relationships/image" Target="../media/image255.wmf"/><Relationship Id="rId29" Type="http://schemas.openxmlformats.org/officeDocument/2006/relationships/oleObject" Target="../embeddings/oleObject292.bin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48.emf"/><Relationship Id="rId11" Type="http://schemas.openxmlformats.org/officeDocument/2006/relationships/oleObject" Target="../embeddings/oleObject283.bin"/><Relationship Id="rId24" Type="http://schemas.openxmlformats.org/officeDocument/2006/relationships/image" Target="../media/image257.emf"/><Relationship Id="rId5" Type="http://schemas.openxmlformats.org/officeDocument/2006/relationships/oleObject" Target="../embeddings/oleObject280.bin"/><Relationship Id="rId15" Type="http://schemas.openxmlformats.org/officeDocument/2006/relationships/oleObject" Target="../embeddings/oleObject285.bin"/><Relationship Id="rId23" Type="http://schemas.openxmlformats.org/officeDocument/2006/relationships/oleObject" Target="../embeddings/oleObject289.bin"/><Relationship Id="rId28" Type="http://schemas.openxmlformats.org/officeDocument/2006/relationships/image" Target="../media/image259.emf"/><Relationship Id="rId10" Type="http://schemas.openxmlformats.org/officeDocument/2006/relationships/image" Target="../media/image250.emf"/><Relationship Id="rId19" Type="http://schemas.openxmlformats.org/officeDocument/2006/relationships/oleObject" Target="../embeddings/oleObject287.bin"/><Relationship Id="rId4" Type="http://schemas.openxmlformats.org/officeDocument/2006/relationships/image" Target="../media/image247.emf"/><Relationship Id="rId9" Type="http://schemas.openxmlformats.org/officeDocument/2006/relationships/oleObject" Target="../embeddings/oleObject282.bin"/><Relationship Id="rId14" Type="http://schemas.openxmlformats.org/officeDocument/2006/relationships/image" Target="../media/image252.wmf"/><Relationship Id="rId22" Type="http://schemas.openxmlformats.org/officeDocument/2006/relationships/image" Target="../media/image256.wmf"/><Relationship Id="rId27" Type="http://schemas.openxmlformats.org/officeDocument/2006/relationships/oleObject" Target="../embeddings/oleObject291.bin"/><Relationship Id="rId30" Type="http://schemas.openxmlformats.org/officeDocument/2006/relationships/image" Target="../media/image260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4" Type="http://schemas.openxmlformats.org/officeDocument/2006/relationships/image" Target="../media/image261.e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emf"/><Relationship Id="rId13" Type="http://schemas.openxmlformats.org/officeDocument/2006/relationships/oleObject" Target="../embeddings/oleObject299.bin"/><Relationship Id="rId3" Type="http://schemas.openxmlformats.org/officeDocument/2006/relationships/oleObject" Target="../embeddings/oleObject294.bin"/><Relationship Id="rId7" Type="http://schemas.openxmlformats.org/officeDocument/2006/relationships/oleObject" Target="../embeddings/oleObject296.bin"/><Relationship Id="rId12" Type="http://schemas.openxmlformats.org/officeDocument/2006/relationships/image" Target="../media/image26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263.emf"/><Relationship Id="rId11" Type="http://schemas.openxmlformats.org/officeDocument/2006/relationships/oleObject" Target="../embeddings/oleObject298.bin"/><Relationship Id="rId5" Type="http://schemas.openxmlformats.org/officeDocument/2006/relationships/oleObject" Target="../embeddings/oleObject295.bin"/><Relationship Id="rId10" Type="http://schemas.openxmlformats.org/officeDocument/2006/relationships/image" Target="../media/image265.emf"/><Relationship Id="rId4" Type="http://schemas.openxmlformats.org/officeDocument/2006/relationships/image" Target="../media/image262.emf"/><Relationship Id="rId9" Type="http://schemas.openxmlformats.org/officeDocument/2006/relationships/oleObject" Target="../embeddings/oleObject297.bin"/><Relationship Id="rId14" Type="http://schemas.openxmlformats.org/officeDocument/2006/relationships/image" Target="../media/image267.e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wmf"/><Relationship Id="rId13" Type="http://schemas.openxmlformats.org/officeDocument/2006/relationships/oleObject" Target="../embeddings/oleObject305.bin"/><Relationship Id="rId18" Type="http://schemas.openxmlformats.org/officeDocument/2006/relationships/image" Target="../media/image275.emf"/><Relationship Id="rId3" Type="http://schemas.openxmlformats.org/officeDocument/2006/relationships/oleObject" Target="../embeddings/oleObject300.bin"/><Relationship Id="rId7" Type="http://schemas.openxmlformats.org/officeDocument/2006/relationships/oleObject" Target="../embeddings/oleObject302.bin"/><Relationship Id="rId12" Type="http://schemas.openxmlformats.org/officeDocument/2006/relationships/image" Target="../media/image272.emf"/><Relationship Id="rId17" Type="http://schemas.openxmlformats.org/officeDocument/2006/relationships/oleObject" Target="../embeddings/oleObject30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4.emf"/><Relationship Id="rId20" Type="http://schemas.openxmlformats.org/officeDocument/2006/relationships/image" Target="../media/image276.emf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69.emf"/><Relationship Id="rId11" Type="http://schemas.openxmlformats.org/officeDocument/2006/relationships/oleObject" Target="../embeddings/oleObject304.bin"/><Relationship Id="rId5" Type="http://schemas.openxmlformats.org/officeDocument/2006/relationships/oleObject" Target="../embeddings/oleObject301.bin"/><Relationship Id="rId15" Type="http://schemas.openxmlformats.org/officeDocument/2006/relationships/oleObject" Target="../embeddings/oleObject306.bin"/><Relationship Id="rId10" Type="http://schemas.openxmlformats.org/officeDocument/2006/relationships/image" Target="../media/image271.emf"/><Relationship Id="rId19" Type="http://schemas.openxmlformats.org/officeDocument/2006/relationships/oleObject" Target="../embeddings/oleObject308.bin"/><Relationship Id="rId4" Type="http://schemas.openxmlformats.org/officeDocument/2006/relationships/image" Target="../media/image268.emf"/><Relationship Id="rId9" Type="http://schemas.openxmlformats.org/officeDocument/2006/relationships/oleObject" Target="../embeddings/oleObject303.bin"/><Relationship Id="rId14" Type="http://schemas.openxmlformats.org/officeDocument/2006/relationships/image" Target="../media/image273.e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emf"/><Relationship Id="rId13" Type="http://schemas.openxmlformats.org/officeDocument/2006/relationships/oleObject" Target="../embeddings/oleObject314.bin"/><Relationship Id="rId3" Type="http://schemas.openxmlformats.org/officeDocument/2006/relationships/oleObject" Target="../embeddings/oleObject309.bin"/><Relationship Id="rId7" Type="http://schemas.openxmlformats.org/officeDocument/2006/relationships/oleObject" Target="../embeddings/oleObject311.bin"/><Relationship Id="rId12" Type="http://schemas.openxmlformats.org/officeDocument/2006/relationships/image" Target="../media/image281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3.e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278.emf"/><Relationship Id="rId11" Type="http://schemas.openxmlformats.org/officeDocument/2006/relationships/oleObject" Target="../embeddings/oleObject313.bin"/><Relationship Id="rId5" Type="http://schemas.openxmlformats.org/officeDocument/2006/relationships/oleObject" Target="../embeddings/oleObject310.bin"/><Relationship Id="rId15" Type="http://schemas.openxmlformats.org/officeDocument/2006/relationships/oleObject" Target="../embeddings/oleObject315.bin"/><Relationship Id="rId10" Type="http://schemas.openxmlformats.org/officeDocument/2006/relationships/image" Target="../media/image280.emf"/><Relationship Id="rId4" Type="http://schemas.openxmlformats.org/officeDocument/2006/relationships/image" Target="../media/image277.emf"/><Relationship Id="rId9" Type="http://schemas.openxmlformats.org/officeDocument/2006/relationships/oleObject" Target="../embeddings/oleObject312.bin"/><Relationship Id="rId14" Type="http://schemas.openxmlformats.org/officeDocument/2006/relationships/image" Target="../media/image282.e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emf"/><Relationship Id="rId3" Type="http://schemas.openxmlformats.org/officeDocument/2006/relationships/oleObject" Target="../embeddings/oleObject316.bin"/><Relationship Id="rId7" Type="http://schemas.openxmlformats.org/officeDocument/2006/relationships/oleObject" Target="../embeddings/oleObject3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285.emf"/><Relationship Id="rId5" Type="http://schemas.openxmlformats.org/officeDocument/2006/relationships/oleObject" Target="../embeddings/oleObject317.bin"/><Relationship Id="rId10" Type="http://schemas.openxmlformats.org/officeDocument/2006/relationships/image" Target="../media/image287.emf"/><Relationship Id="rId4" Type="http://schemas.openxmlformats.org/officeDocument/2006/relationships/image" Target="../media/image284.emf"/><Relationship Id="rId9" Type="http://schemas.openxmlformats.org/officeDocument/2006/relationships/oleObject" Target="../embeddings/oleObject319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wmf"/><Relationship Id="rId13" Type="http://schemas.openxmlformats.org/officeDocument/2006/relationships/oleObject" Target="../embeddings/oleObject325.bin"/><Relationship Id="rId3" Type="http://schemas.openxmlformats.org/officeDocument/2006/relationships/oleObject" Target="../embeddings/oleObject320.bin"/><Relationship Id="rId7" Type="http://schemas.openxmlformats.org/officeDocument/2006/relationships/oleObject" Target="../embeddings/oleObject322.bin"/><Relationship Id="rId12" Type="http://schemas.openxmlformats.org/officeDocument/2006/relationships/image" Target="../media/image29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289.emf"/><Relationship Id="rId11" Type="http://schemas.openxmlformats.org/officeDocument/2006/relationships/oleObject" Target="../embeddings/oleObject324.bin"/><Relationship Id="rId5" Type="http://schemas.openxmlformats.org/officeDocument/2006/relationships/oleObject" Target="../embeddings/oleObject321.bin"/><Relationship Id="rId10" Type="http://schemas.openxmlformats.org/officeDocument/2006/relationships/image" Target="../media/image291.wmf"/><Relationship Id="rId4" Type="http://schemas.openxmlformats.org/officeDocument/2006/relationships/image" Target="../media/image288.emf"/><Relationship Id="rId9" Type="http://schemas.openxmlformats.org/officeDocument/2006/relationships/oleObject" Target="../embeddings/oleObject323.bin"/><Relationship Id="rId14" Type="http://schemas.openxmlformats.org/officeDocument/2006/relationships/image" Target="../media/image293.e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6.wmf"/><Relationship Id="rId3" Type="http://schemas.openxmlformats.org/officeDocument/2006/relationships/oleObject" Target="../embeddings/oleObject326.bin"/><Relationship Id="rId7" Type="http://schemas.openxmlformats.org/officeDocument/2006/relationships/oleObject" Target="../embeddings/oleObject3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295.wmf"/><Relationship Id="rId5" Type="http://schemas.openxmlformats.org/officeDocument/2006/relationships/oleObject" Target="../embeddings/oleObject327.bin"/><Relationship Id="rId4" Type="http://schemas.openxmlformats.org/officeDocument/2006/relationships/image" Target="../media/image294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emf"/><Relationship Id="rId13" Type="http://schemas.openxmlformats.org/officeDocument/2006/relationships/oleObject" Target="../embeddings/oleObject334.bin"/><Relationship Id="rId3" Type="http://schemas.openxmlformats.org/officeDocument/2006/relationships/oleObject" Target="../embeddings/oleObject329.bin"/><Relationship Id="rId7" Type="http://schemas.openxmlformats.org/officeDocument/2006/relationships/oleObject" Target="../embeddings/oleObject331.bin"/><Relationship Id="rId12" Type="http://schemas.openxmlformats.org/officeDocument/2006/relationships/image" Target="../media/image30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298.emf"/><Relationship Id="rId11" Type="http://schemas.openxmlformats.org/officeDocument/2006/relationships/oleObject" Target="../embeddings/oleObject333.bin"/><Relationship Id="rId5" Type="http://schemas.openxmlformats.org/officeDocument/2006/relationships/oleObject" Target="../embeddings/oleObject330.bin"/><Relationship Id="rId10" Type="http://schemas.openxmlformats.org/officeDocument/2006/relationships/image" Target="../media/image300.emf"/><Relationship Id="rId4" Type="http://schemas.openxmlformats.org/officeDocument/2006/relationships/image" Target="../media/image297.wmf"/><Relationship Id="rId9" Type="http://schemas.openxmlformats.org/officeDocument/2006/relationships/oleObject" Target="../embeddings/oleObject332.bin"/><Relationship Id="rId14" Type="http://schemas.openxmlformats.org/officeDocument/2006/relationships/image" Target="../media/image302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304.wmf"/><Relationship Id="rId5" Type="http://schemas.openxmlformats.org/officeDocument/2006/relationships/oleObject" Target="../embeddings/oleObject336.bin"/><Relationship Id="rId4" Type="http://schemas.openxmlformats.org/officeDocument/2006/relationships/image" Target="../media/image303.e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9.bin"/><Relationship Id="rId3" Type="http://schemas.openxmlformats.org/officeDocument/2006/relationships/oleObject" Target="../embeddings/oleObject337.bin"/><Relationship Id="rId7" Type="http://schemas.openxmlformats.org/officeDocument/2006/relationships/image" Target="../media/image308.png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306.wmf"/><Relationship Id="rId5" Type="http://schemas.openxmlformats.org/officeDocument/2006/relationships/oleObject" Target="../embeddings/oleObject338.bin"/><Relationship Id="rId4" Type="http://schemas.openxmlformats.org/officeDocument/2006/relationships/image" Target="../media/image305.wmf"/><Relationship Id="rId9" Type="http://schemas.openxmlformats.org/officeDocument/2006/relationships/image" Target="../media/image307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310.wmf"/><Relationship Id="rId5" Type="http://schemas.openxmlformats.org/officeDocument/2006/relationships/oleObject" Target="../embeddings/oleObject341.bin"/><Relationship Id="rId4" Type="http://schemas.openxmlformats.org/officeDocument/2006/relationships/image" Target="../media/image309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6.png"/><Relationship Id="rId3" Type="http://schemas.openxmlformats.org/officeDocument/2006/relationships/image" Target="../media/image311.jpeg"/><Relationship Id="rId7" Type="http://schemas.openxmlformats.org/officeDocument/2006/relationships/image" Target="../media/image3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4.png"/><Relationship Id="rId5" Type="http://schemas.openxmlformats.org/officeDocument/2006/relationships/image" Target="../media/image313.png"/><Relationship Id="rId10" Type="http://schemas.openxmlformats.org/officeDocument/2006/relationships/image" Target="../media/image318.png"/><Relationship Id="rId4" Type="http://schemas.openxmlformats.org/officeDocument/2006/relationships/image" Target="../media/image312.png"/><Relationship Id="rId9" Type="http://schemas.openxmlformats.org/officeDocument/2006/relationships/image" Target="../media/image317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wmf"/><Relationship Id="rId13" Type="http://schemas.openxmlformats.org/officeDocument/2006/relationships/oleObject" Target="../embeddings/oleObject347.bin"/><Relationship Id="rId3" Type="http://schemas.openxmlformats.org/officeDocument/2006/relationships/oleObject" Target="../embeddings/oleObject342.bin"/><Relationship Id="rId7" Type="http://schemas.openxmlformats.org/officeDocument/2006/relationships/oleObject" Target="../embeddings/oleObject344.bin"/><Relationship Id="rId12" Type="http://schemas.openxmlformats.org/officeDocument/2006/relationships/image" Target="../media/image32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320.emf"/><Relationship Id="rId11" Type="http://schemas.openxmlformats.org/officeDocument/2006/relationships/oleObject" Target="../embeddings/oleObject346.bin"/><Relationship Id="rId5" Type="http://schemas.openxmlformats.org/officeDocument/2006/relationships/oleObject" Target="../embeddings/oleObject343.bin"/><Relationship Id="rId10" Type="http://schemas.openxmlformats.org/officeDocument/2006/relationships/image" Target="../media/image322.emf"/><Relationship Id="rId4" Type="http://schemas.openxmlformats.org/officeDocument/2006/relationships/image" Target="../media/image319.emf"/><Relationship Id="rId9" Type="http://schemas.openxmlformats.org/officeDocument/2006/relationships/oleObject" Target="../embeddings/oleObject345.bin"/><Relationship Id="rId14" Type="http://schemas.openxmlformats.org/officeDocument/2006/relationships/image" Target="../media/image324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7.emf"/><Relationship Id="rId13" Type="http://schemas.openxmlformats.org/officeDocument/2006/relationships/oleObject" Target="../embeddings/oleObject353.bin"/><Relationship Id="rId18" Type="http://schemas.openxmlformats.org/officeDocument/2006/relationships/image" Target="../media/image179.wmf"/><Relationship Id="rId26" Type="http://schemas.openxmlformats.org/officeDocument/2006/relationships/oleObject" Target="../embeddings/oleObject360.bin"/><Relationship Id="rId3" Type="http://schemas.openxmlformats.org/officeDocument/2006/relationships/oleObject" Target="../embeddings/oleObject348.bin"/><Relationship Id="rId21" Type="http://schemas.openxmlformats.org/officeDocument/2006/relationships/image" Target="../media/image332.wmf"/><Relationship Id="rId7" Type="http://schemas.openxmlformats.org/officeDocument/2006/relationships/oleObject" Target="../embeddings/oleObject350.bin"/><Relationship Id="rId12" Type="http://schemas.openxmlformats.org/officeDocument/2006/relationships/image" Target="../media/image329.emf"/><Relationship Id="rId17" Type="http://schemas.openxmlformats.org/officeDocument/2006/relationships/oleObject" Target="../embeddings/oleObject355.bin"/><Relationship Id="rId25" Type="http://schemas.openxmlformats.org/officeDocument/2006/relationships/image" Target="../media/image33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1.emf"/><Relationship Id="rId20" Type="http://schemas.openxmlformats.org/officeDocument/2006/relationships/oleObject" Target="../embeddings/oleObject357.bin"/><Relationship Id="rId29" Type="http://schemas.openxmlformats.org/officeDocument/2006/relationships/image" Target="../media/image336.wmf"/><Relationship Id="rId1" Type="http://schemas.openxmlformats.org/officeDocument/2006/relationships/vmlDrawing" Target="../drawings/vmlDrawing53.vml"/><Relationship Id="rId6" Type="http://schemas.openxmlformats.org/officeDocument/2006/relationships/image" Target="../media/image326.emf"/><Relationship Id="rId11" Type="http://schemas.openxmlformats.org/officeDocument/2006/relationships/oleObject" Target="../embeddings/oleObject352.bin"/><Relationship Id="rId24" Type="http://schemas.openxmlformats.org/officeDocument/2006/relationships/oleObject" Target="../embeddings/oleObject359.bin"/><Relationship Id="rId5" Type="http://schemas.openxmlformats.org/officeDocument/2006/relationships/oleObject" Target="../embeddings/oleObject349.bin"/><Relationship Id="rId15" Type="http://schemas.openxmlformats.org/officeDocument/2006/relationships/oleObject" Target="../embeddings/oleObject354.bin"/><Relationship Id="rId23" Type="http://schemas.openxmlformats.org/officeDocument/2006/relationships/image" Target="../media/image333.wmf"/><Relationship Id="rId28" Type="http://schemas.openxmlformats.org/officeDocument/2006/relationships/oleObject" Target="../embeddings/oleObject361.bin"/><Relationship Id="rId10" Type="http://schemas.openxmlformats.org/officeDocument/2006/relationships/image" Target="../media/image328.emf"/><Relationship Id="rId19" Type="http://schemas.openxmlformats.org/officeDocument/2006/relationships/oleObject" Target="../embeddings/oleObject356.bin"/><Relationship Id="rId31" Type="http://schemas.openxmlformats.org/officeDocument/2006/relationships/image" Target="../media/image337.emf"/><Relationship Id="rId4" Type="http://schemas.openxmlformats.org/officeDocument/2006/relationships/image" Target="../media/image325.emf"/><Relationship Id="rId9" Type="http://schemas.openxmlformats.org/officeDocument/2006/relationships/oleObject" Target="../embeddings/oleObject351.bin"/><Relationship Id="rId14" Type="http://schemas.openxmlformats.org/officeDocument/2006/relationships/image" Target="../media/image330.wmf"/><Relationship Id="rId22" Type="http://schemas.openxmlformats.org/officeDocument/2006/relationships/oleObject" Target="../embeddings/oleObject358.bin"/><Relationship Id="rId27" Type="http://schemas.openxmlformats.org/officeDocument/2006/relationships/image" Target="../media/image335.emf"/><Relationship Id="rId30" Type="http://schemas.openxmlformats.org/officeDocument/2006/relationships/oleObject" Target="../embeddings/oleObject362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emf"/><Relationship Id="rId13" Type="http://schemas.openxmlformats.org/officeDocument/2006/relationships/oleObject" Target="../embeddings/oleObject368.bin"/><Relationship Id="rId18" Type="http://schemas.openxmlformats.org/officeDocument/2006/relationships/image" Target="../media/image345.wmf"/><Relationship Id="rId3" Type="http://schemas.openxmlformats.org/officeDocument/2006/relationships/oleObject" Target="../embeddings/oleObject363.bin"/><Relationship Id="rId7" Type="http://schemas.openxmlformats.org/officeDocument/2006/relationships/oleObject" Target="../embeddings/oleObject365.bin"/><Relationship Id="rId12" Type="http://schemas.openxmlformats.org/officeDocument/2006/relationships/image" Target="../media/image342.emf"/><Relationship Id="rId17" Type="http://schemas.openxmlformats.org/officeDocument/2006/relationships/oleObject" Target="../embeddings/oleObject37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4.wmf"/><Relationship Id="rId20" Type="http://schemas.openxmlformats.org/officeDocument/2006/relationships/image" Target="../media/image346.emf"/><Relationship Id="rId1" Type="http://schemas.openxmlformats.org/officeDocument/2006/relationships/vmlDrawing" Target="../drawings/vmlDrawing54.vml"/><Relationship Id="rId6" Type="http://schemas.openxmlformats.org/officeDocument/2006/relationships/image" Target="../media/image339.emf"/><Relationship Id="rId11" Type="http://schemas.openxmlformats.org/officeDocument/2006/relationships/oleObject" Target="../embeddings/oleObject367.bin"/><Relationship Id="rId5" Type="http://schemas.openxmlformats.org/officeDocument/2006/relationships/oleObject" Target="../embeddings/oleObject364.bin"/><Relationship Id="rId15" Type="http://schemas.openxmlformats.org/officeDocument/2006/relationships/oleObject" Target="../embeddings/oleObject369.bin"/><Relationship Id="rId10" Type="http://schemas.openxmlformats.org/officeDocument/2006/relationships/image" Target="../media/image341.wmf"/><Relationship Id="rId19" Type="http://schemas.openxmlformats.org/officeDocument/2006/relationships/oleObject" Target="../embeddings/oleObject371.bin"/><Relationship Id="rId4" Type="http://schemas.openxmlformats.org/officeDocument/2006/relationships/image" Target="../media/image338.wmf"/><Relationship Id="rId9" Type="http://schemas.openxmlformats.org/officeDocument/2006/relationships/oleObject" Target="../embeddings/oleObject366.bin"/><Relationship Id="rId14" Type="http://schemas.openxmlformats.org/officeDocument/2006/relationships/image" Target="../media/image343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9.wmf"/><Relationship Id="rId3" Type="http://schemas.openxmlformats.org/officeDocument/2006/relationships/oleObject" Target="../embeddings/oleObject372.bin"/><Relationship Id="rId7" Type="http://schemas.openxmlformats.org/officeDocument/2006/relationships/oleObject" Target="../embeddings/oleObject37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348.emf"/><Relationship Id="rId5" Type="http://schemas.openxmlformats.org/officeDocument/2006/relationships/oleObject" Target="../embeddings/oleObject373.bin"/><Relationship Id="rId10" Type="http://schemas.openxmlformats.org/officeDocument/2006/relationships/image" Target="../media/image350.emf"/><Relationship Id="rId4" Type="http://schemas.openxmlformats.org/officeDocument/2006/relationships/image" Target="../media/image347.emf"/><Relationship Id="rId9" Type="http://schemas.openxmlformats.org/officeDocument/2006/relationships/oleObject" Target="../embeddings/oleObject375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3.wmf"/><Relationship Id="rId13" Type="http://schemas.openxmlformats.org/officeDocument/2006/relationships/oleObject" Target="../embeddings/oleObject381.bin"/><Relationship Id="rId3" Type="http://schemas.openxmlformats.org/officeDocument/2006/relationships/oleObject" Target="../embeddings/oleObject376.bin"/><Relationship Id="rId7" Type="http://schemas.openxmlformats.org/officeDocument/2006/relationships/oleObject" Target="../embeddings/oleObject378.bin"/><Relationship Id="rId12" Type="http://schemas.openxmlformats.org/officeDocument/2006/relationships/image" Target="../media/image35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352.wmf"/><Relationship Id="rId11" Type="http://schemas.openxmlformats.org/officeDocument/2006/relationships/oleObject" Target="../embeddings/oleObject380.bin"/><Relationship Id="rId5" Type="http://schemas.openxmlformats.org/officeDocument/2006/relationships/oleObject" Target="../embeddings/oleObject377.bin"/><Relationship Id="rId10" Type="http://schemas.openxmlformats.org/officeDocument/2006/relationships/image" Target="../media/image354.wmf"/><Relationship Id="rId4" Type="http://schemas.openxmlformats.org/officeDocument/2006/relationships/image" Target="../media/image351.wmf"/><Relationship Id="rId9" Type="http://schemas.openxmlformats.org/officeDocument/2006/relationships/oleObject" Target="../embeddings/oleObject379.bin"/><Relationship Id="rId14" Type="http://schemas.openxmlformats.org/officeDocument/2006/relationships/image" Target="../media/image356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9.emf"/><Relationship Id="rId13" Type="http://schemas.openxmlformats.org/officeDocument/2006/relationships/oleObject" Target="../embeddings/oleObject387.bin"/><Relationship Id="rId3" Type="http://schemas.openxmlformats.org/officeDocument/2006/relationships/oleObject" Target="../embeddings/oleObject382.bin"/><Relationship Id="rId7" Type="http://schemas.openxmlformats.org/officeDocument/2006/relationships/oleObject" Target="../embeddings/oleObject384.bin"/><Relationship Id="rId12" Type="http://schemas.openxmlformats.org/officeDocument/2006/relationships/image" Target="../media/image361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63.wmf"/><Relationship Id="rId1" Type="http://schemas.openxmlformats.org/officeDocument/2006/relationships/vmlDrawing" Target="../drawings/vmlDrawing57.vml"/><Relationship Id="rId6" Type="http://schemas.openxmlformats.org/officeDocument/2006/relationships/image" Target="../media/image358.emf"/><Relationship Id="rId11" Type="http://schemas.openxmlformats.org/officeDocument/2006/relationships/oleObject" Target="../embeddings/oleObject386.bin"/><Relationship Id="rId5" Type="http://schemas.openxmlformats.org/officeDocument/2006/relationships/oleObject" Target="../embeddings/oleObject383.bin"/><Relationship Id="rId15" Type="http://schemas.openxmlformats.org/officeDocument/2006/relationships/oleObject" Target="../embeddings/oleObject388.bin"/><Relationship Id="rId10" Type="http://schemas.openxmlformats.org/officeDocument/2006/relationships/image" Target="../media/image360.wmf"/><Relationship Id="rId4" Type="http://schemas.openxmlformats.org/officeDocument/2006/relationships/image" Target="../media/image357.emf"/><Relationship Id="rId9" Type="http://schemas.openxmlformats.org/officeDocument/2006/relationships/oleObject" Target="../embeddings/oleObject385.bin"/><Relationship Id="rId14" Type="http://schemas.openxmlformats.org/officeDocument/2006/relationships/image" Target="../media/image36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1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574466" name="文本框 574465"/>
          <p:cNvSpPr txBox="1"/>
          <p:nvPr/>
        </p:nvSpPr>
        <p:spPr>
          <a:xfrm>
            <a:off x="827088" y="1452563"/>
            <a:ext cx="7610475" cy="39801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14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12-1  </a:t>
            </a:r>
            <a:r>
              <a:rPr kumimoji="0" lang="zh-CN" altLang="en-US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统计规律与概率理论</a:t>
            </a:r>
          </a:p>
          <a:p>
            <a:pPr marR="0" defTabSz="914400">
              <a:lnSpc>
                <a:spcPct val="130000"/>
              </a:lnSpc>
              <a:buClr>
                <a:srgbClr val="CC3300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12-2  </a:t>
            </a:r>
            <a:r>
              <a:rPr kumimoji="0" lang="zh-CN" altLang="en-US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理想气体的压强和温度</a:t>
            </a:r>
          </a:p>
          <a:p>
            <a:pPr marR="0" defTabSz="914400">
              <a:lnSpc>
                <a:spcPct val="130000"/>
              </a:lnSpc>
              <a:spcBef>
                <a:spcPts val="0"/>
              </a:spcBef>
              <a:buClr>
                <a:srgbClr val="CC3300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12-3  </a:t>
            </a:r>
            <a:r>
              <a:rPr kumimoji="0" lang="en-US" altLang="zh-CN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+mn-ea"/>
              </a:rPr>
              <a:t>气体分子的速率分布 </a:t>
            </a:r>
            <a:endParaRPr kumimoji="0" lang="en-US" altLang="zh-CN" kern="1200" cap="none" spc="0" normalizeH="0" baseline="0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R="0" defTabSz="914400">
              <a:lnSpc>
                <a:spcPct val="130000"/>
              </a:lnSpc>
              <a:spcBef>
                <a:spcPts val="0"/>
              </a:spcBef>
              <a:buClr>
                <a:srgbClr val="CC3300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12-4  能量均分定理  理想气体的内能</a:t>
            </a:r>
          </a:p>
          <a:p>
            <a:pPr marR="0" defTabSz="914400">
              <a:lnSpc>
                <a:spcPct val="130000"/>
              </a:lnSpc>
              <a:spcBef>
                <a:spcPts val="0"/>
              </a:spcBef>
              <a:buClr>
                <a:srgbClr val="CC3300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12-5  分子碰撞的统计规律</a:t>
            </a:r>
          </a:p>
          <a:p>
            <a:pPr marR="0" defTabSz="914400">
              <a:lnSpc>
                <a:spcPct val="130000"/>
              </a:lnSpc>
              <a:spcBef>
                <a:spcPts val="0"/>
              </a:spcBef>
              <a:buClr>
                <a:srgbClr val="CC3300"/>
              </a:buClr>
              <a:buSzTx/>
              <a:buFont typeface="Monotype Sorts" pitchFamily="2" charset="2"/>
              <a:buNone/>
              <a:defRPr/>
            </a:pPr>
            <a:endParaRPr kumimoji="0" lang="en-US" altLang="zh-CN" kern="1200" cap="none" spc="0" normalizeH="0" baseline="0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74467" name="矩形 574466"/>
          <p:cNvSpPr/>
          <p:nvPr/>
        </p:nvSpPr>
        <p:spPr>
          <a:xfrm>
            <a:off x="1403350" y="476250"/>
            <a:ext cx="63373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36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第</a:t>
            </a:r>
            <a:r>
              <a:rPr kumimoji="0" lang="en-US" altLang="zh-CN" sz="36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36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章   气体动理论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74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46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2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808962" name="矩形 808961"/>
          <p:cNvSpPr/>
          <p:nvPr/>
        </p:nvSpPr>
        <p:spPr>
          <a:xfrm>
            <a:off x="323850" y="692150"/>
            <a:ext cx="8066088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一、统计规律</a:t>
            </a: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08963" name="矩形 808962"/>
          <p:cNvSpPr/>
          <p:nvPr/>
        </p:nvSpPr>
        <p:spPr>
          <a:xfrm>
            <a:off x="827088" y="2833688"/>
            <a:ext cx="2819400" cy="95567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  <a:tileRect/>
          </a:gra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1C1C1C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小球在伽尔顿板中的分布规律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1C1C1C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.</a:t>
            </a:r>
          </a:p>
        </p:txBody>
      </p:sp>
      <p:grpSp>
        <p:nvGrpSpPr>
          <p:cNvPr id="2" name="组合 808963"/>
          <p:cNvGrpSpPr/>
          <p:nvPr/>
        </p:nvGrpSpPr>
        <p:grpSpPr>
          <a:xfrm>
            <a:off x="4540250" y="857250"/>
            <a:ext cx="4495800" cy="5486400"/>
            <a:chOff x="2304" y="624"/>
            <a:chExt cx="2832" cy="3456"/>
          </a:xfrm>
        </p:grpSpPr>
        <p:grpSp>
          <p:nvGrpSpPr>
            <p:cNvPr id="49157" name="组合 808964"/>
            <p:cNvGrpSpPr/>
            <p:nvPr/>
          </p:nvGrpSpPr>
          <p:grpSpPr>
            <a:xfrm>
              <a:off x="2304" y="624"/>
              <a:ext cx="2832" cy="3456"/>
              <a:chOff x="2304" y="624"/>
              <a:chExt cx="2832" cy="3456"/>
            </a:xfrm>
          </p:grpSpPr>
          <p:sp>
            <p:nvSpPr>
              <p:cNvPr id="49158" name="棱台 808965"/>
              <p:cNvSpPr/>
              <p:nvPr/>
            </p:nvSpPr>
            <p:spPr>
              <a:xfrm>
                <a:off x="2304" y="624"/>
                <a:ext cx="2832" cy="3456"/>
              </a:xfrm>
              <a:prstGeom prst="bevel">
                <a:avLst>
                  <a:gd name="adj" fmla="val 3051"/>
                </a:avLst>
              </a:prstGeom>
              <a:solidFill>
                <a:srgbClr val="996633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49159" name="矩形 808966"/>
              <p:cNvSpPr/>
              <p:nvPr/>
            </p:nvSpPr>
            <p:spPr>
              <a:xfrm>
                <a:off x="2400" y="720"/>
                <a:ext cx="2640" cy="3264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49160" name="任意多边形 808967"/>
              <p:cNvSpPr/>
              <p:nvPr/>
            </p:nvSpPr>
            <p:spPr>
              <a:xfrm flipV="1">
                <a:off x="3408" y="624"/>
                <a:ext cx="528" cy="14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32" y="144"/>
                  </a:cxn>
                  <a:cxn ang="0">
                    <a:pos x="396" y="144"/>
                  </a:cxn>
                  <a:cxn ang="0">
                    <a:pos x="528" y="0"/>
                  </a:cxn>
                </a:cxnLst>
                <a:rect l="0" t="0" r="0" b="0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08969" name="文本框 808968"/>
            <p:cNvSpPr txBox="1"/>
            <p:nvPr/>
          </p:nvSpPr>
          <p:spPr>
            <a:xfrm>
              <a:off x="2400" y="652"/>
              <a:ext cx="2640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3600" kern="1200" cap="none" spc="0" normalizeH="0" baseline="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.  .  .  .  .  .  .  .  .  .  .  .</a:t>
              </a:r>
            </a:p>
          </p:txBody>
        </p:sp>
        <p:sp>
          <p:nvSpPr>
            <p:cNvPr id="808970" name="矩形 808969"/>
            <p:cNvSpPr/>
            <p:nvPr/>
          </p:nvSpPr>
          <p:spPr>
            <a:xfrm>
              <a:off x="2592" y="864"/>
              <a:ext cx="2492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1">
                  <a:ln>
                    <a:noFill/>
                  </a:ln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  .  .  .  .  .  .  .  .  .  .  </a:t>
              </a:r>
            </a:p>
          </p:txBody>
        </p:sp>
        <p:sp>
          <p:nvSpPr>
            <p:cNvPr id="808971" name="矩形 808970"/>
            <p:cNvSpPr/>
            <p:nvPr/>
          </p:nvSpPr>
          <p:spPr>
            <a:xfrm>
              <a:off x="2476" y="1084"/>
              <a:ext cx="2564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1">
                  <a:ln>
                    <a:noFill/>
                  </a:ln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  .  .  .  .  .  .  .  .  .  .  .</a:t>
              </a:r>
            </a:p>
          </p:txBody>
        </p:sp>
        <p:sp>
          <p:nvSpPr>
            <p:cNvPr id="808972" name="矩形 808971"/>
            <p:cNvSpPr/>
            <p:nvPr/>
          </p:nvSpPr>
          <p:spPr>
            <a:xfrm>
              <a:off x="2596" y="1296"/>
              <a:ext cx="2492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1">
                  <a:ln>
                    <a:noFill/>
                  </a:ln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  .  .  .  .  .  .  .  .  .  .  </a:t>
              </a:r>
            </a:p>
          </p:txBody>
        </p:sp>
        <p:sp>
          <p:nvSpPr>
            <p:cNvPr id="808973" name="矩形 808972"/>
            <p:cNvSpPr/>
            <p:nvPr/>
          </p:nvSpPr>
          <p:spPr>
            <a:xfrm>
              <a:off x="2476" y="1516"/>
              <a:ext cx="2564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1">
                  <a:ln>
                    <a:noFill/>
                  </a:ln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  .  .  .  .  .  .  .  .  .  .  .</a:t>
              </a:r>
            </a:p>
          </p:txBody>
        </p:sp>
        <p:sp>
          <p:nvSpPr>
            <p:cNvPr id="808974" name="矩形 808973"/>
            <p:cNvSpPr/>
            <p:nvPr/>
          </p:nvSpPr>
          <p:spPr>
            <a:xfrm>
              <a:off x="2596" y="1728"/>
              <a:ext cx="2492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1">
                  <a:ln>
                    <a:noFill/>
                  </a:ln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  .  .  .  .  .  .  .  .  .  .  </a:t>
              </a:r>
            </a:p>
          </p:txBody>
        </p:sp>
        <p:sp>
          <p:nvSpPr>
            <p:cNvPr id="808975" name="矩形 808974"/>
            <p:cNvSpPr/>
            <p:nvPr/>
          </p:nvSpPr>
          <p:spPr>
            <a:xfrm>
              <a:off x="2476" y="1958"/>
              <a:ext cx="2564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1">
                  <a:ln>
                    <a:noFill/>
                  </a:ln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  .  .  .  .  .  .  .  .  .  .  .</a:t>
              </a:r>
            </a:p>
          </p:txBody>
        </p:sp>
        <p:sp>
          <p:nvSpPr>
            <p:cNvPr id="49168" name="直接连接符 808975"/>
            <p:cNvSpPr/>
            <p:nvPr/>
          </p:nvSpPr>
          <p:spPr>
            <a:xfrm>
              <a:off x="2640" y="2448"/>
              <a:ext cx="0" cy="1536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69" name="直接连接符 808976"/>
            <p:cNvSpPr/>
            <p:nvPr/>
          </p:nvSpPr>
          <p:spPr>
            <a:xfrm>
              <a:off x="2880" y="2448"/>
              <a:ext cx="0" cy="1536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70" name="直接连接符 808977"/>
            <p:cNvSpPr/>
            <p:nvPr/>
          </p:nvSpPr>
          <p:spPr>
            <a:xfrm>
              <a:off x="4080" y="2448"/>
              <a:ext cx="0" cy="1536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71" name="直接连接符 808978"/>
            <p:cNvSpPr/>
            <p:nvPr/>
          </p:nvSpPr>
          <p:spPr>
            <a:xfrm>
              <a:off x="4320" y="2448"/>
              <a:ext cx="0" cy="1536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72" name="直接连接符 808979"/>
            <p:cNvSpPr/>
            <p:nvPr/>
          </p:nvSpPr>
          <p:spPr>
            <a:xfrm>
              <a:off x="4560" y="2448"/>
              <a:ext cx="0" cy="1536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73" name="直接连接符 808980"/>
            <p:cNvSpPr/>
            <p:nvPr/>
          </p:nvSpPr>
          <p:spPr>
            <a:xfrm>
              <a:off x="4800" y="2448"/>
              <a:ext cx="0" cy="1536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74" name="直接连接符 808981"/>
            <p:cNvSpPr/>
            <p:nvPr/>
          </p:nvSpPr>
          <p:spPr>
            <a:xfrm>
              <a:off x="3600" y="2448"/>
              <a:ext cx="0" cy="1536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75" name="直接连接符 808982"/>
            <p:cNvSpPr/>
            <p:nvPr/>
          </p:nvSpPr>
          <p:spPr>
            <a:xfrm>
              <a:off x="3840" y="2448"/>
              <a:ext cx="0" cy="1536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76" name="直接连接符 808983"/>
            <p:cNvSpPr/>
            <p:nvPr/>
          </p:nvSpPr>
          <p:spPr>
            <a:xfrm>
              <a:off x="3120" y="2448"/>
              <a:ext cx="0" cy="1536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77" name="直接连接符 808984"/>
            <p:cNvSpPr/>
            <p:nvPr/>
          </p:nvSpPr>
          <p:spPr>
            <a:xfrm>
              <a:off x="3360" y="2448"/>
              <a:ext cx="0" cy="1536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808986" name="椭圆 808985"/>
          <p:cNvSpPr/>
          <p:nvPr/>
        </p:nvSpPr>
        <p:spPr>
          <a:xfrm>
            <a:off x="6673850" y="4762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8987" name="椭圆 808986"/>
          <p:cNvSpPr/>
          <p:nvPr/>
        </p:nvSpPr>
        <p:spPr>
          <a:xfrm>
            <a:off x="6673850" y="12382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8988" name="椭圆 808987"/>
          <p:cNvSpPr/>
          <p:nvPr/>
        </p:nvSpPr>
        <p:spPr>
          <a:xfrm>
            <a:off x="7054850" y="15430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8989" name="椭圆 808988"/>
          <p:cNvSpPr/>
          <p:nvPr/>
        </p:nvSpPr>
        <p:spPr>
          <a:xfrm>
            <a:off x="6521450" y="22288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8990" name="椭圆 808989"/>
          <p:cNvSpPr/>
          <p:nvPr/>
        </p:nvSpPr>
        <p:spPr>
          <a:xfrm>
            <a:off x="6902450" y="29908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8991" name="椭圆 808990"/>
          <p:cNvSpPr/>
          <p:nvPr/>
        </p:nvSpPr>
        <p:spPr>
          <a:xfrm>
            <a:off x="7207250" y="33718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8992" name="椭圆 808991"/>
          <p:cNvSpPr/>
          <p:nvPr/>
        </p:nvSpPr>
        <p:spPr>
          <a:xfrm>
            <a:off x="7054850" y="60388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8993" name="椭圆 808992"/>
          <p:cNvSpPr/>
          <p:nvPr/>
        </p:nvSpPr>
        <p:spPr>
          <a:xfrm>
            <a:off x="6673850" y="4762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8994" name="椭圆 808993"/>
          <p:cNvSpPr/>
          <p:nvPr/>
        </p:nvSpPr>
        <p:spPr>
          <a:xfrm>
            <a:off x="6521450" y="12382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8995" name="椭圆 808994"/>
          <p:cNvSpPr/>
          <p:nvPr/>
        </p:nvSpPr>
        <p:spPr>
          <a:xfrm>
            <a:off x="6140450" y="15430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8996" name="椭圆 808995"/>
          <p:cNvSpPr/>
          <p:nvPr/>
        </p:nvSpPr>
        <p:spPr>
          <a:xfrm>
            <a:off x="6521450" y="20002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8997" name="椭圆 808996"/>
          <p:cNvSpPr/>
          <p:nvPr/>
        </p:nvSpPr>
        <p:spPr>
          <a:xfrm>
            <a:off x="5988050" y="26098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8998" name="椭圆 808997"/>
          <p:cNvSpPr/>
          <p:nvPr/>
        </p:nvSpPr>
        <p:spPr>
          <a:xfrm>
            <a:off x="6521450" y="33718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8999" name="椭圆 808998"/>
          <p:cNvSpPr/>
          <p:nvPr/>
        </p:nvSpPr>
        <p:spPr>
          <a:xfrm>
            <a:off x="6292850" y="60388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9000" name="椭圆 808999"/>
          <p:cNvSpPr/>
          <p:nvPr/>
        </p:nvSpPr>
        <p:spPr>
          <a:xfrm>
            <a:off x="6597650" y="6286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9001" name="椭圆 809000"/>
          <p:cNvSpPr/>
          <p:nvPr/>
        </p:nvSpPr>
        <p:spPr>
          <a:xfrm>
            <a:off x="6521450" y="15430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9002" name="椭圆 809001"/>
          <p:cNvSpPr/>
          <p:nvPr/>
        </p:nvSpPr>
        <p:spPr>
          <a:xfrm>
            <a:off x="6826250" y="22288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9003" name="椭圆 809002"/>
          <p:cNvSpPr/>
          <p:nvPr/>
        </p:nvSpPr>
        <p:spPr>
          <a:xfrm>
            <a:off x="7359650" y="29908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9004" name="椭圆 809003"/>
          <p:cNvSpPr/>
          <p:nvPr/>
        </p:nvSpPr>
        <p:spPr>
          <a:xfrm>
            <a:off x="7359650" y="33718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9005" name="椭圆 809004"/>
          <p:cNvSpPr/>
          <p:nvPr/>
        </p:nvSpPr>
        <p:spPr>
          <a:xfrm>
            <a:off x="7512050" y="60388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9006" name="椭圆 809005"/>
          <p:cNvSpPr/>
          <p:nvPr/>
        </p:nvSpPr>
        <p:spPr>
          <a:xfrm>
            <a:off x="6673850" y="7048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9007" name="椭圆 809006"/>
          <p:cNvSpPr/>
          <p:nvPr/>
        </p:nvSpPr>
        <p:spPr>
          <a:xfrm>
            <a:off x="6673850" y="16192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9008" name="椭圆 809007"/>
          <p:cNvSpPr/>
          <p:nvPr/>
        </p:nvSpPr>
        <p:spPr>
          <a:xfrm>
            <a:off x="6216650" y="23050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9009" name="椭圆 809008"/>
          <p:cNvSpPr/>
          <p:nvPr/>
        </p:nvSpPr>
        <p:spPr>
          <a:xfrm>
            <a:off x="6521450" y="26098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9010" name="椭圆 809009"/>
          <p:cNvSpPr/>
          <p:nvPr/>
        </p:nvSpPr>
        <p:spPr>
          <a:xfrm>
            <a:off x="5988050" y="33718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9011" name="椭圆 809010"/>
          <p:cNvSpPr/>
          <p:nvPr/>
        </p:nvSpPr>
        <p:spPr>
          <a:xfrm>
            <a:off x="5988050" y="60388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9012" name="椭圆 809011"/>
          <p:cNvSpPr/>
          <p:nvPr/>
        </p:nvSpPr>
        <p:spPr>
          <a:xfrm>
            <a:off x="6673850" y="6286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9013" name="椭圆 809012"/>
          <p:cNvSpPr/>
          <p:nvPr/>
        </p:nvSpPr>
        <p:spPr>
          <a:xfrm>
            <a:off x="6826250" y="15430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9014" name="椭圆 809013"/>
          <p:cNvSpPr/>
          <p:nvPr/>
        </p:nvSpPr>
        <p:spPr>
          <a:xfrm>
            <a:off x="7207250" y="20002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9015" name="椭圆 809014"/>
          <p:cNvSpPr/>
          <p:nvPr/>
        </p:nvSpPr>
        <p:spPr>
          <a:xfrm>
            <a:off x="7054850" y="23050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9016" name="椭圆 809015"/>
          <p:cNvSpPr/>
          <p:nvPr/>
        </p:nvSpPr>
        <p:spPr>
          <a:xfrm>
            <a:off x="6673850" y="26098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9017" name="椭圆 809016"/>
          <p:cNvSpPr/>
          <p:nvPr/>
        </p:nvSpPr>
        <p:spPr>
          <a:xfrm>
            <a:off x="7207250" y="33718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09018" name="椭圆 809017"/>
          <p:cNvSpPr/>
          <p:nvPr/>
        </p:nvSpPr>
        <p:spPr>
          <a:xfrm>
            <a:off x="7207250" y="60388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grpSp>
        <p:nvGrpSpPr>
          <p:cNvPr id="4" name="组合 809018"/>
          <p:cNvGrpSpPr/>
          <p:nvPr/>
        </p:nvGrpSpPr>
        <p:grpSpPr>
          <a:xfrm>
            <a:off x="5073650" y="628650"/>
            <a:ext cx="3352800" cy="5562600"/>
            <a:chOff x="2640" y="480"/>
            <a:chExt cx="2112" cy="3504"/>
          </a:xfrm>
        </p:grpSpPr>
        <p:sp>
          <p:nvSpPr>
            <p:cNvPr id="49212" name="椭圆 809019"/>
            <p:cNvSpPr/>
            <p:nvPr/>
          </p:nvSpPr>
          <p:spPr>
            <a:xfrm>
              <a:off x="3696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13" name="椭圆 809020"/>
            <p:cNvSpPr/>
            <p:nvPr/>
          </p:nvSpPr>
          <p:spPr>
            <a:xfrm>
              <a:off x="4128" y="384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14" name="椭圆 809021"/>
            <p:cNvSpPr/>
            <p:nvPr/>
          </p:nvSpPr>
          <p:spPr>
            <a:xfrm>
              <a:off x="3888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15" name="椭圆 809022"/>
            <p:cNvSpPr/>
            <p:nvPr/>
          </p:nvSpPr>
          <p:spPr>
            <a:xfrm>
              <a:off x="3648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16" name="椭圆 809023"/>
            <p:cNvSpPr/>
            <p:nvPr/>
          </p:nvSpPr>
          <p:spPr>
            <a:xfrm>
              <a:off x="3600" y="48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17" name="椭圆 809024"/>
            <p:cNvSpPr/>
            <p:nvPr/>
          </p:nvSpPr>
          <p:spPr>
            <a:xfrm>
              <a:off x="3696" y="62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18" name="椭圆 809025"/>
            <p:cNvSpPr/>
            <p:nvPr/>
          </p:nvSpPr>
          <p:spPr>
            <a:xfrm>
              <a:off x="3552" y="67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19" name="椭圆 809026"/>
            <p:cNvSpPr/>
            <p:nvPr/>
          </p:nvSpPr>
          <p:spPr>
            <a:xfrm>
              <a:off x="3792" y="81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20" name="椭圆 809027"/>
            <p:cNvSpPr/>
            <p:nvPr/>
          </p:nvSpPr>
          <p:spPr>
            <a:xfrm>
              <a:off x="3456" y="91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21" name="椭圆 809028"/>
            <p:cNvSpPr/>
            <p:nvPr/>
          </p:nvSpPr>
          <p:spPr>
            <a:xfrm>
              <a:off x="3360" y="11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22" name="椭圆 809029"/>
            <p:cNvSpPr/>
            <p:nvPr/>
          </p:nvSpPr>
          <p:spPr>
            <a:xfrm>
              <a:off x="3696" y="100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23" name="椭圆 809030"/>
            <p:cNvSpPr/>
            <p:nvPr/>
          </p:nvSpPr>
          <p:spPr>
            <a:xfrm>
              <a:off x="4032" y="11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24" name="椭圆 809031"/>
            <p:cNvSpPr/>
            <p:nvPr/>
          </p:nvSpPr>
          <p:spPr>
            <a:xfrm>
              <a:off x="3648" y="76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25" name="椭圆 809032"/>
            <p:cNvSpPr/>
            <p:nvPr/>
          </p:nvSpPr>
          <p:spPr>
            <a:xfrm>
              <a:off x="3504" y="144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26" name="椭圆 809033"/>
            <p:cNvSpPr/>
            <p:nvPr/>
          </p:nvSpPr>
          <p:spPr>
            <a:xfrm>
              <a:off x="3168" y="14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27" name="椭圆 809034"/>
            <p:cNvSpPr/>
            <p:nvPr/>
          </p:nvSpPr>
          <p:spPr>
            <a:xfrm>
              <a:off x="3840" y="124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28" name="椭圆 809035"/>
            <p:cNvSpPr/>
            <p:nvPr/>
          </p:nvSpPr>
          <p:spPr>
            <a:xfrm>
              <a:off x="3888" y="158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29" name="椭圆 809036"/>
            <p:cNvSpPr/>
            <p:nvPr/>
          </p:nvSpPr>
          <p:spPr>
            <a:xfrm>
              <a:off x="3744" y="177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30" name="椭圆 809037"/>
            <p:cNvSpPr/>
            <p:nvPr/>
          </p:nvSpPr>
          <p:spPr>
            <a:xfrm>
              <a:off x="3024" y="187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31" name="椭圆 809038"/>
            <p:cNvSpPr/>
            <p:nvPr/>
          </p:nvSpPr>
          <p:spPr>
            <a:xfrm>
              <a:off x="3456" y="187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32" name="椭圆 809039"/>
            <p:cNvSpPr/>
            <p:nvPr/>
          </p:nvSpPr>
          <p:spPr>
            <a:xfrm>
              <a:off x="4128" y="172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33" name="椭圆 809040"/>
            <p:cNvSpPr/>
            <p:nvPr/>
          </p:nvSpPr>
          <p:spPr>
            <a:xfrm>
              <a:off x="4512" y="192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34" name="椭圆 809041"/>
            <p:cNvSpPr/>
            <p:nvPr/>
          </p:nvSpPr>
          <p:spPr>
            <a:xfrm>
              <a:off x="3744" y="144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35" name="椭圆 809042"/>
            <p:cNvSpPr/>
            <p:nvPr/>
          </p:nvSpPr>
          <p:spPr>
            <a:xfrm>
              <a:off x="3648" y="206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36" name="椭圆 809043"/>
            <p:cNvSpPr/>
            <p:nvPr/>
          </p:nvSpPr>
          <p:spPr>
            <a:xfrm>
              <a:off x="3264" y="216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37" name="椭圆 809044"/>
            <p:cNvSpPr/>
            <p:nvPr/>
          </p:nvSpPr>
          <p:spPr>
            <a:xfrm>
              <a:off x="4176" y="216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38" name="椭圆 809045"/>
            <p:cNvSpPr/>
            <p:nvPr/>
          </p:nvSpPr>
          <p:spPr>
            <a:xfrm>
              <a:off x="3312" y="168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39" name="椭圆 809046"/>
            <p:cNvSpPr/>
            <p:nvPr/>
          </p:nvSpPr>
          <p:spPr>
            <a:xfrm>
              <a:off x="3984" y="211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40" name="椭圆 809047"/>
            <p:cNvSpPr/>
            <p:nvPr/>
          </p:nvSpPr>
          <p:spPr>
            <a:xfrm>
              <a:off x="3024" y="220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41" name="椭圆 809048"/>
            <p:cNvSpPr/>
            <p:nvPr/>
          </p:nvSpPr>
          <p:spPr>
            <a:xfrm>
              <a:off x="2640" y="220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42" name="椭圆 809049"/>
            <p:cNvSpPr/>
            <p:nvPr/>
          </p:nvSpPr>
          <p:spPr>
            <a:xfrm>
              <a:off x="4080" y="192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43" name="椭圆 809050"/>
            <p:cNvSpPr/>
            <p:nvPr/>
          </p:nvSpPr>
          <p:spPr>
            <a:xfrm>
              <a:off x="3648" y="235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44" name="椭圆 809051"/>
            <p:cNvSpPr/>
            <p:nvPr/>
          </p:nvSpPr>
          <p:spPr>
            <a:xfrm>
              <a:off x="3936" y="244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45" name="椭圆 809052"/>
            <p:cNvSpPr/>
            <p:nvPr/>
          </p:nvSpPr>
          <p:spPr>
            <a:xfrm>
              <a:off x="4416" y="24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46" name="椭圆 809053"/>
            <p:cNvSpPr/>
            <p:nvPr/>
          </p:nvSpPr>
          <p:spPr>
            <a:xfrm>
              <a:off x="3408" y="244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47" name="椭圆 809054"/>
            <p:cNvSpPr/>
            <p:nvPr/>
          </p:nvSpPr>
          <p:spPr>
            <a:xfrm>
              <a:off x="3216" y="283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48" name="椭圆 809055"/>
            <p:cNvSpPr/>
            <p:nvPr/>
          </p:nvSpPr>
          <p:spPr>
            <a:xfrm>
              <a:off x="3936" y="355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49" name="椭圆 809056"/>
            <p:cNvSpPr/>
            <p:nvPr/>
          </p:nvSpPr>
          <p:spPr>
            <a:xfrm>
              <a:off x="3168" y="355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50" name="椭圆 809057"/>
            <p:cNvSpPr/>
            <p:nvPr/>
          </p:nvSpPr>
          <p:spPr>
            <a:xfrm>
              <a:off x="3408" y="321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51" name="椭圆 809058"/>
            <p:cNvSpPr/>
            <p:nvPr/>
          </p:nvSpPr>
          <p:spPr>
            <a:xfrm>
              <a:off x="4416" y="316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52" name="椭圆 809059"/>
            <p:cNvSpPr/>
            <p:nvPr/>
          </p:nvSpPr>
          <p:spPr>
            <a:xfrm>
              <a:off x="3648" y="302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53" name="椭圆 809060"/>
            <p:cNvSpPr/>
            <p:nvPr/>
          </p:nvSpPr>
          <p:spPr>
            <a:xfrm>
              <a:off x="3408" y="374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54" name="椭圆 809061"/>
            <p:cNvSpPr/>
            <p:nvPr/>
          </p:nvSpPr>
          <p:spPr>
            <a:xfrm>
              <a:off x="3696" y="331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55" name="椭圆 809062"/>
            <p:cNvSpPr/>
            <p:nvPr/>
          </p:nvSpPr>
          <p:spPr>
            <a:xfrm>
              <a:off x="4176" y="278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56" name="椭圆 809063"/>
            <p:cNvSpPr/>
            <p:nvPr/>
          </p:nvSpPr>
          <p:spPr>
            <a:xfrm>
              <a:off x="2928" y="36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57" name="椭圆 809064"/>
            <p:cNvSpPr/>
            <p:nvPr/>
          </p:nvSpPr>
          <p:spPr>
            <a:xfrm>
              <a:off x="4176" y="331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58" name="椭圆 809065"/>
            <p:cNvSpPr/>
            <p:nvPr/>
          </p:nvSpPr>
          <p:spPr>
            <a:xfrm>
              <a:off x="3936" y="283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59" name="椭圆 809066"/>
            <p:cNvSpPr/>
            <p:nvPr/>
          </p:nvSpPr>
          <p:spPr>
            <a:xfrm>
              <a:off x="4656" y="316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60" name="椭圆 809067"/>
            <p:cNvSpPr/>
            <p:nvPr/>
          </p:nvSpPr>
          <p:spPr>
            <a:xfrm>
              <a:off x="4416" y="364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61" name="椭圆 809068"/>
            <p:cNvSpPr/>
            <p:nvPr/>
          </p:nvSpPr>
          <p:spPr>
            <a:xfrm>
              <a:off x="3936" y="316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62" name="椭圆 809069"/>
            <p:cNvSpPr/>
            <p:nvPr/>
          </p:nvSpPr>
          <p:spPr>
            <a:xfrm>
              <a:off x="3456" y="283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63" name="椭圆 809070"/>
            <p:cNvSpPr/>
            <p:nvPr/>
          </p:nvSpPr>
          <p:spPr>
            <a:xfrm>
              <a:off x="2736" y="292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64" name="椭圆 809071"/>
            <p:cNvSpPr/>
            <p:nvPr/>
          </p:nvSpPr>
          <p:spPr>
            <a:xfrm>
              <a:off x="2976" y="307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65" name="椭圆 809072"/>
            <p:cNvSpPr/>
            <p:nvPr/>
          </p:nvSpPr>
          <p:spPr>
            <a:xfrm>
              <a:off x="3168" y="254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66" name="椭圆 809073"/>
            <p:cNvSpPr/>
            <p:nvPr/>
          </p:nvSpPr>
          <p:spPr>
            <a:xfrm>
              <a:off x="3648" y="35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5" name="组合 809074"/>
          <p:cNvGrpSpPr/>
          <p:nvPr/>
        </p:nvGrpSpPr>
        <p:grpSpPr>
          <a:xfrm>
            <a:off x="4845050" y="4667250"/>
            <a:ext cx="3886200" cy="1524000"/>
            <a:chOff x="2496" y="3024"/>
            <a:chExt cx="2448" cy="960"/>
          </a:xfrm>
        </p:grpSpPr>
        <p:sp>
          <p:nvSpPr>
            <p:cNvPr id="49268" name="椭圆 809075"/>
            <p:cNvSpPr/>
            <p:nvPr/>
          </p:nvSpPr>
          <p:spPr>
            <a:xfrm>
              <a:off x="3408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69" name="椭圆 809076"/>
            <p:cNvSpPr/>
            <p:nvPr/>
          </p:nvSpPr>
          <p:spPr>
            <a:xfrm>
              <a:off x="3504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70" name="椭圆 809077"/>
            <p:cNvSpPr/>
            <p:nvPr/>
          </p:nvSpPr>
          <p:spPr>
            <a:xfrm>
              <a:off x="3648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71" name="椭圆 809078"/>
            <p:cNvSpPr/>
            <p:nvPr/>
          </p:nvSpPr>
          <p:spPr>
            <a:xfrm>
              <a:off x="3168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72" name="椭圆 809079"/>
            <p:cNvSpPr/>
            <p:nvPr/>
          </p:nvSpPr>
          <p:spPr>
            <a:xfrm>
              <a:off x="3648" y="312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73" name="椭圆 809080"/>
            <p:cNvSpPr/>
            <p:nvPr/>
          </p:nvSpPr>
          <p:spPr>
            <a:xfrm>
              <a:off x="3744" y="307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74" name="椭圆 809081"/>
            <p:cNvSpPr/>
            <p:nvPr/>
          </p:nvSpPr>
          <p:spPr>
            <a:xfrm>
              <a:off x="3840" y="316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75" name="椭圆 809082"/>
            <p:cNvSpPr/>
            <p:nvPr/>
          </p:nvSpPr>
          <p:spPr>
            <a:xfrm>
              <a:off x="3936" y="321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76" name="椭圆 809083"/>
            <p:cNvSpPr/>
            <p:nvPr/>
          </p:nvSpPr>
          <p:spPr>
            <a:xfrm>
              <a:off x="3984" y="331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77" name="椭圆 809084"/>
            <p:cNvSpPr/>
            <p:nvPr/>
          </p:nvSpPr>
          <p:spPr>
            <a:xfrm>
              <a:off x="4176" y="345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78" name="椭圆 809085"/>
            <p:cNvSpPr/>
            <p:nvPr/>
          </p:nvSpPr>
          <p:spPr>
            <a:xfrm>
              <a:off x="4320" y="35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79" name="椭圆 809086"/>
            <p:cNvSpPr/>
            <p:nvPr/>
          </p:nvSpPr>
          <p:spPr>
            <a:xfrm>
              <a:off x="4320" y="369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80" name="椭圆 809087"/>
            <p:cNvSpPr/>
            <p:nvPr/>
          </p:nvSpPr>
          <p:spPr>
            <a:xfrm>
              <a:off x="4416" y="369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81" name="椭圆 809088"/>
            <p:cNvSpPr/>
            <p:nvPr/>
          </p:nvSpPr>
          <p:spPr>
            <a:xfrm>
              <a:off x="4464" y="369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82" name="椭圆 809089"/>
            <p:cNvSpPr/>
            <p:nvPr/>
          </p:nvSpPr>
          <p:spPr>
            <a:xfrm>
              <a:off x="4704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83" name="椭圆 809090"/>
            <p:cNvSpPr/>
            <p:nvPr/>
          </p:nvSpPr>
          <p:spPr>
            <a:xfrm>
              <a:off x="4848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84" name="椭圆 809091"/>
            <p:cNvSpPr/>
            <p:nvPr/>
          </p:nvSpPr>
          <p:spPr>
            <a:xfrm>
              <a:off x="3840" y="345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85" name="椭圆 809092"/>
            <p:cNvSpPr/>
            <p:nvPr/>
          </p:nvSpPr>
          <p:spPr>
            <a:xfrm>
              <a:off x="3648" y="302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86" name="椭圆 809093"/>
            <p:cNvSpPr/>
            <p:nvPr/>
          </p:nvSpPr>
          <p:spPr>
            <a:xfrm>
              <a:off x="3600" y="321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87" name="椭圆 809094"/>
            <p:cNvSpPr/>
            <p:nvPr/>
          </p:nvSpPr>
          <p:spPr>
            <a:xfrm>
              <a:off x="3696" y="316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88" name="椭圆 809095"/>
            <p:cNvSpPr/>
            <p:nvPr/>
          </p:nvSpPr>
          <p:spPr>
            <a:xfrm>
              <a:off x="3840" y="326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89" name="椭圆 809096"/>
            <p:cNvSpPr/>
            <p:nvPr/>
          </p:nvSpPr>
          <p:spPr>
            <a:xfrm>
              <a:off x="3888" y="336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90" name="椭圆 809097"/>
            <p:cNvSpPr/>
            <p:nvPr/>
          </p:nvSpPr>
          <p:spPr>
            <a:xfrm>
              <a:off x="3936" y="340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91" name="椭圆 809098"/>
            <p:cNvSpPr/>
            <p:nvPr/>
          </p:nvSpPr>
          <p:spPr>
            <a:xfrm>
              <a:off x="4128" y="35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92" name="椭圆 809099"/>
            <p:cNvSpPr/>
            <p:nvPr/>
          </p:nvSpPr>
          <p:spPr>
            <a:xfrm>
              <a:off x="4224" y="355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93" name="椭圆 809100"/>
            <p:cNvSpPr/>
            <p:nvPr/>
          </p:nvSpPr>
          <p:spPr>
            <a:xfrm>
              <a:off x="4320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94" name="椭圆 809101"/>
            <p:cNvSpPr/>
            <p:nvPr/>
          </p:nvSpPr>
          <p:spPr>
            <a:xfrm>
              <a:off x="4464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95" name="椭圆 809102"/>
            <p:cNvSpPr/>
            <p:nvPr/>
          </p:nvSpPr>
          <p:spPr>
            <a:xfrm>
              <a:off x="4416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96" name="椭圆 809103"/>
            <p:cNvSpPr/>
            <p:nvPr/>
          </p:nvSpPr>
          <p:spPr>
            <a:xfrm>
              <a:off x="4608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97" name="椭圆 809104"/>
            <p:cNvSpPr/>
            <p:nvPr/>
          </p:nvSpPr>
          <p:spPr>
            <a:xfrm>
              <a:off x="4368" y="36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98" name="椭圆 809105"/>
            <p:cNvSpPr/>
            <p:nvPr/>
          </p:nvSpPr>
          <p:spPr>
            <a:xfrm>
              <a:off x="3504" y="307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299" name="椭圆 809106"/>
            <p:cNvSpPr/>
            <p:nvPr/>
          </p:nvSpPr>
          <p:spPr>
            <a:xfrm>
              <a:off x="3360" y="326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00" name="椭圆 809107"/>
            <p:cNvSpPr/>
            <p:nvPr/>
          </p:nvSpPr>
          <p:spPr>
            <a:xfrm>
              <a:off x="3504" y="316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01" name="椭圆 809108"/>
            <p:cNvSpPr/>
            <p:nvPr/>
          </p:nvSpPr>
          <p:spPr>
            <a:xfrm>
              <a:off x="3600" y="340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02" name="椭圆 809109"/>
            <p:cNvSpPr/>
            <p:nvPr/>
          </p:nvSpPr>
          <p:spPr>
            <a:xfrm>
              <a:off x="3696" y="336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03" name="椭圆 809110"/>
            <p:cNvSpPr/>
            <p:nvPr/>
          </p:nvSpPr>
          <p:spPr>
            <a:xfrm>
              <a:off x="3696" y="326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04" name="椭圆 809111"/>
            <p:cNvSpPr/>
            <p:nvPr/>
          </p:nvSpPr>
          <p:spPr>
            <a:xfrm>
              <a:off x="3888" y="355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05" name="椭圆 809112"/>
            <p:cNvSpPr/>
            <p:nvPr/>
          </p:nvSpPr>
          <p:spPr>
            <a:xfrm>
              <a:off x="3984" y="36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06" name="椭圆 809113"/>
            <p:cNvSpPr/>
            <p:nvPr/>
          </p:nvSpPr>
          <p:spPr>
            <a:xfrm>
              <a:off x="4080" y="369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07" name="椭圆 809114"/>
            <p:cNvSpPr/>
            <p:nvPr/>
          </p:nvSpPr>
          <p:spPr>
            <a:xfrm>
              <a:off x="4176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08" name="椭圆 809115"/>
            <p:cNvSpPr/>
            <p:nvPr/>
          </p:nvSpPr>
          <p:spPr>
            <a:xfrm>
              <a:off x="4320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09" name="椭圆 809116"/>
            <p:cNvSpPr/>
            <p:nvPr/>
          </p:nvSpPr>
          <p:spPr>
            <a:xfrm>
              <a:off x="2976" y="35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10" name="椭圆 809117"/>
            <p:cNvSpPr/>
            <p:nvPr/>
          </p:nvSpPr>
          <p:spPr>
            <a:xfrm>
              <a:off x="3456" y="326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11" name="椭圆 809118"/>
            <p:cNvSpPr/>
            <p:nvPr/>
          </p:nvSpPr>
          <p:spPr>
            <a:xfrm>
              <a:off x="3408" y="316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12" name="椭圆 809119"/>
            <p:cNvSpPr/>
            <p:nvPr/>
          </p:nvSpPr>
          <p:spPr>
            <a:xfrm>
              <a:off x="3504" y="331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13" name="椭圆 809120"/>
            <p:cNvSpPr/>
            <p:nvPr/>
          </p:nvSpPr>
          <p:spPr>
            <a:xfrm>
              <a:off x="3600" y="35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14" name="椭圆 809121"/>
            <p:cNvSpPr/>
            <p:nvPr/>
          </p:nvSpPr>
          <p:spPr>
            <a:xfrm>
              <a:off x="3696" y="345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15" name="椭圆 809122"/>
            <p:cNvSpPr/>
            <p:nvPr/>
          </p:nvSpPr>
          <p:spPr>
            <a:xfrm>
              <a:off x="3744" y="355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16" name="椭圆 809123"/>
            <p:cNvSpPr/>
            <p:nvPr/>
          </p:nvSpPr>
          <p:spPr>
            <a:xfrm>
              <a:off x="3888" y="364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17" name="椭圆 809124"/>
            <p:cNvSpPr/>
            <p:nvPr/>
          </p:nvSpPr>
          <p:spPr>
            <a:xfrm>
              <a:off x="3984" y="374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18" name="椭圆 809125"/>
            <p:cNvSpPr/>
            <p:nvPr/>
          </p:nvSpPr>
          <p:spPr>
            <a:xfrm>
              <a:off x="4080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19" name="椭圆 809126"/>
            <p:cNvSpPr/>
            <p:nvPr/>
          </p:nvSpPr>
          <p:spPr>
            <a:xfrm>
              <a:off x="4176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20" name="椭圆 809127"/>
            <p:cNvSpPr/>
            <p:nvPr/>
          </p:nvSpPr>
          <p:spPr>
            <a:xfrm>
              <a:off x="2880" y="36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21" name="椭圆 809128"/>
            <p:cNvSpPr/>
            <p:nvPr/>
          </p:nvSpPr>
          <p:spPr>
            <a:xfrm>
              <a:off x="2928" y="35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22" name="椭圆 809129"/>
            <p:cNvSpPr/>
            <p:nvPr/>
          </p:nvSpPr>
          <p:spPr>
            <a:xfrm>
              <a:off x="3360" y="336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23" name="椭圆 809130"/>
            <p:cNvSpPr/>
            <p:nvPr/>
          </p:nvSpPr>
          <p:spPr>
            <a:xfrm>
              <a:off x="3456" y="340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24" name="椭圆 809131"/>
            <p:cNvSpPr/>
            <p:nvPr/>
          </p:nvSpPr>
          <p:spPr>
            <a:xfrm>
              <a:off x="3264" y="321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25" name="椭圆 809132"/>
            <p:cNvSpPr/>
            <p:nvPr/>
          </p:nvSpPr>
          <p:spPr>
            <a:xfrm>
              <a:off x="3648" y="36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26" name="椭圆 809133"/>
            <p:cNvSpPr/>
            <p:nvPr/>
          </p:nvSpPr>
          <p:spPr>
            <a:xfrm>
              <a:off x="3744" y="364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27" name="椭圆 809134"/>
            <p:cNvSpPr/>
            <p:nvPr/>
          </p:nvSpPr>
          <p:spPr>
            <a:xfrm>
              <a:off x="3840" y="374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28" name="椭圆 809135"/>
            <p:cNvSpPr/>
            <p:nvPr/>
          </p:nvSpPr>
          <p:spPr>
            <a:xfrm>
              <a:off x="3984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29" name="椭圆 809136"/>
            <p:cNvSpPr/>
            <p:nvPr/>
          </p:nvSpPr>
          <p:spPr>
            <a:xfrm>
              <a:off x="4080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30" name="椭圆 809137"/>
            <p:cNvSpPr/>
            <p:nvPr/>
          </p:nvSpPr>
          <p:spPr>
            <a:xfrm>
              <a:off x="3216" y="331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31" name="椭圆 809138"/>
            <p:cNvSpPr/>
            <p:nvPr/>
          </p:nvSpPr>
          <p:spPr>
            <a:xfrm>
              <a:off x="3360" y="345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32" name="椭圆 809139"/>
            <p:cNvSpPr/>
            <p:nvPr/>
          </p:nvSpPr>
          <p:spPr>
            <a:xfrm>
              <a:off x="3504" y="35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33" name="椭圆 809140"/>
            <p:cNvSpPr/>
            <p:nvPr/>
          </p:nvSpPr>
          <p:spPr>
            <a:xfrm>
              <a:off x="3504" y="36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34" name="椭圆 809141"/>
            <p:cNvSpPr/>
            <p:nvPr/>
          </p:nvSpPr>
          <p:spPr>
            <a:xfrm>
              <a:off x="3600" y="369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35" name="椭圆 809142"/>
            <p:cNvSpPr/>
            <p:nvPr/>
          </p:nvSpPr>
          <p:spPr>
            <a:xfrm>
              <a:off x="3696" y="374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36" name="椭圆 809143"/>
            <p:cNvSpPr/>
            <p:nvPr/>
          </p:nvSpPr>
          <p:spPr>
            <a:xfrm>
              <a:off x="3744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37" name="椭圆 809144"/>
            <p:cNvSpPr/>
            <p:nvPr/>
          </p:nvSpPr>
          <p:spPr>
            <a:xfrm>
              <a:off x="3888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38" name="椭圆 809145"/>
            <p:cNvSpPr/>
            <p:nvPr/>
          </p:nvSpPr>
          <p:spPr>
            <a:xfrm>
              <a:off x="3120" y="331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39" name="椭圆 809146"/>
            <p:cNvSpPr/>
            <p:nvPr/>
          </p:nvSpPr>
          <p:spPr>
            <a:xfrm>
              <a:off x="3216" y="340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40" name="椭圆 809147"/>
            <p:cNvSpPr/>
            <p:nvPr/>
          </p:nvSpPr>
          <p:spPr>
            <a:xfrm>
              <a:off x="3408" y="355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41" name="椭圆 809148"/>
            <p:cNvSpPr/>
            <p:nvPr/>
          </p:nvSpPr>
          <p:spPr>
            <a:xfrm>
              <a:off x="3408" y="364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42" name="椭圆 809149"/>
            <p:cNvSpPr/>
            <p:nvPr/>
          </p:nvSpPr>
          <p:spPr>
            <a:xfrm>
              <a:off x="3504" y="369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43" name="椭圆 809150"/>
            <p:cNvSpPr/>
            <p:nvPr/>
          </p:nvSpPr>
          <p:spPr>
            <a:xfrm>
              <a:off x="3600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44" name="椭圆 809151"/>
            <p:cNvSpPr/>
            <p:nvPr/>
          </p:nvSpPr>
          <p:spPr>
            <a:xfrm>
              <a:off x="3696" y="384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45" name="椭圆 809152"/>
            <p:cNvSpPr/>
            <p:nvPr/>
          </p:nvSpPr>
          <p:spPr>
            <a:xfrm>
              <a:off x="3168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46" name="椭圆 809153"/>
            <p:cNvSpPr/>
            <p:nvPr/>
          </p:nvSpPr>
          <p:spPr>
            <a:xfrm>
              <a:off x="3360" y="369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47" name="椭圆 809154"/>
            <p:cNvSpPr/>
            <p:nvPr/>
          </p:nvSpPr>
          <p:spPr>
            <a:xfrm>
              <a:off x="3168" y="36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48" name="椭圆 809155"/>
            <p:cNvSpPr/>
            <p:nvPr/>
          </p:nvSpPr>
          <p:spPr>
            <a:xfrm>
              <a:off x="3264" y="369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49" name="椭圆 809156"/>
            <p:cNvSpPr/>
            <p:nvPr/>
          </p:nvSpPr>
          <p:spPr>
            <a:xfrm>
              <a:off x="3360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50" name="椭圆 809157"/>
            <p:cNvSpPr/>
            <p:nvPr/>
          </p:nvSpPr>
          <p:spPr>
            <a:xfrm>
              <a:off x="3456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51" name="椭圆 809158"/>
            <p:cNvSpPr/>
            <p:nvPr/>
          </p:nvSpPr>
          <p:spPr>
            <a:xfrm>
              <a:off x="3264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52" name="椭圆 809159"/>
            <p:cNvSpPr/>
            <p:nvPr/>
          </p:nvSpPr>
          <p:spPr>
            <a:xfrm>
              <a:off x="2976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53" name="椭圆 809160"/>
            <p:cNvSpPr/>
            <p:nvPr/>
          </p:nvSpPr>
          <p:spPr>
            <a:xfrm>
              <a:off x="3168" y="369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54" name="椭圆 809161"/>
            <p:cNvSpPr/>
            <p:nvPr/>
          </p:nvSpPr>
          <p:spPr>
            <a:xfrm>
              <a:off x="3264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55" name="椭圆 809162"/>
            <p:cNvSpPr/>
            <p:nvPr/>
          </p:nvSpPr>
          <p:spPr>
            <a:xfrm>
              <a:off x="3264" y="36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56" name="椭圆 809163"/>
            <p:cNvSpPr/>
            <p:nvPr/>
          </p:nvSpPr>
          <p:spPr>
            <a:xfrm>
              <a:off x="2736" y="364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57" name="椭圆 809164"/>
            <p:cNvSpPr/>
            <p:nvPr/>
          </p:nvSpPr>
          <p:spPr>
            <a:xfrm>
              <a:off x="4224" y="369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58" name="椭圆 809165"/>
            <p:cNvSpPr/>
            <p:nvPr/>
          </p:nvSpPr>
          <p:spPr>
            <a:xfrm>
              <a:off x="4128" y="36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59" name="椭圆 809166"/>
            <p:cNvSpPr/>
            <p:nvPr/>
          </p:nvSpPr>
          <p:spPr>
            <a:xfrm>
              <a:off x="3984" y="35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60" name="椭圆 809167"/>
            <p:cNvSpPr/>
            <p:nvPr/>
          </p:nvSpPr>
          <p:spPr>
            <a:xfrm>
              <a:off x="4080" y="340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61" name="椭圆 809168"/>
            <p:cNvSpPr/>
            <p:nvPr/>
          </p:nvSpPr>
          <p:spPr>
            <a:xfrm>
              <a:off x="2880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62" name="椭圆 809169"/>
            <p:cNvSpPr/>
            <p:nvPr/>
          </p:nvSpPr>
          <p:spPr>
            <a:xfrm>
              <a:off x="3024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63" name="椭圆 809170"/>
            <p:cNvSpPr/>
            <p:nvPr/>
          </p:nvSpPr>
          <p:spPr>
            <a:xfrm>
              <a:off x="3120" y="340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64" name="椭圆 809171"/>
            <p:cNvSpPr/>
            <p:nvPr/>
          </p:nvSpPr>
          <p:spPr>
            <a:xfrm>
              <a:off x="3120" y="35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65" name="椭圆 809172"/>
            <p:cNvSpPr/>
            <p:nvPr/>
          </p:nvSpPr>
          <p:spPr>
            <a:xfrm>
              <a:off x="3216" y="35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66" name="椭圆 809173"/>
            <p:cNvSpPr/>
            <p:nvPr/>
          </p:nvSpPr>
          <p:spPr>
            <a:xfrm>
              <a:off x="3600" y="331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67" name="椭圆 809174"/>
            <p:cNvSpPr/>
            <p:nvPr/>
          </p:nvSpPr>
          <p:spPr>
            <a:xfrm>
              <a:off x="4560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68" name="椭圆 809175"/>
            <p:cNvSpPr/>
            <p:nvPr/>
          </p:nvSpPr>
          <p:spPr>
            <a:xfrm>
              <a:off x="4656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69" name="椭圆 809176"/>
            <p:cNvSpPr/>
            <p:nvPr/>
          </p:nvSpPr>
          <p:spPr>
            <a:xfrm>
              <a:off x="2928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70" name="椭圆 809177"/>
            <p:cNvSpPr/>
            <p:nvPr/>
          </p:nvSpPr>
          <p:spPr>
            <a:xfrm>
              <a:off x="2736" y="374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71" name="椭圆 809178"/>
            <p:cNvSpPr/>
            <p:nvPr/>
          </p:nvSpPr>
          <p:spPr>
            <a:xfrm>
              <a:off x="3024" y="36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72" name="椭圆 809179"/>
            <p:cNvSpPr/>
            <p:nvPr/>
          </p:nvSpPr>
          <p:spPr>
            <a:xfrm>
              <a:off x="3024" y="35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73" name="椭圆 809180"/>
            <p:cNvSpPr/>
            <p:nvPr/>
          </p:nvSpPr>
          <p:spPr>
            <a:xfrm>
              <a:off x="2928" y="369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74" name="椭圆 809181"/>
            <p:cNvSpPr/>
            <p:nvPr/>
          </p:nvSpPr>
          <p:spPr>
            <a:xfrm>
              <a:off x="2496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75" name="椭圆 809182"/>
            <p:cNvSpPr/>
            <p:nvPr/>
          </p:nvSpPr>
          <p:spPr>
            <a:xfrm>
              <a:off x="2688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76" name="椭圆 809183"/>
            <p:cNvSpPr/>
            <p:nvPr/>
          </p:nvSpPr>
          <p:spPr>
            <a:xfrm>
              <a:off x="2640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77" name="椭圆 809184"/>
            <p:cNvSpPr/>
            <p:nvPr/>
          </p:nvSpPr>
          <p:spPr>
            <a:xfrm>
              <a:off x="2784" y="384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78" name="椭圆 809185"/>
            <p:cNvSpPr/>
            <p:nvPr/>
          </p:nvSpPr>
          <p:spPr>
            <a:xfrm>
              <a:off x="3024" y="369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79" name="椭圆 809186"/>
            <p:cNvSpPr/>
            <p:nvPr/>
          </p:nvSpPr>
          <p:spPr>
            <a:xfrm>
              <a:off x="3024" y="340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80" name="椭圆 809187"/>
            <p:cNvSpPr/>
            <p:nvPr/>
          </p:nvSpPr>
          <p:spPr>
            <a:xfrm>
              <a:off x="3936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9381" name="椭圆 809188"/>
            <p:cNvSpPr/>
            <p:nvPr/>
          </p:nvSpPr>
          <p:spPr>
            <a:xfrm>
              <a:off x="4176" y="336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sp>
        <p:nvSpPr>
          <p:cNvPr id="809190" name="矩形 809189"/>
          <p:cNvSpPr/>
          <p:nvPr/>
        </p:nvSpPr>
        <p:spPr>
          <a:xfrm>
            <a:off x="1763713" y="53975"/>
            <a:ext cx="4805363" cy="584200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12-1 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统计规律与概率理论</a:t>
            </a:r>
          </a:p>
        </p:txBody>
      </p:sp>
      <p:sp>
        <p:nvSpPr>
          <p:cNvPr id="809191" name="矩形 809190"/>
          <p:cNvSpPr/>
          <p:nvPr/>
        </p:nvSpPr>
        <p:spPr>
          <a:xfrm>
            <a:off x="395288" y="1428750"/>
            <a:ext cx="3554413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大量偶然事件在整体上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所表现出来的确定的规律</a:t>
            </a:r>
          </a:p>
        </p:txBody>
      </p:sp>
      <p:sp>
        <p:nvSpPr>
          <p:cNvPr id="809192" name="文本框 809191"/>
          <p:cNvSpPr txBox="1"/>
          <p:nvPr/>
        </p:nvSpPr>
        <p:spPr>
          <a:xfrm>
            <a:off x="323850" y="4249738"/>
            <a:ext cx="58674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单个小球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粒子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运动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----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偶然事件 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落入哪个槽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</a:p>
        </p:txBody>
      </p:sp>
      <p:sp>
        <p:nvSpPr>
          <p:cNvPr id="809193" name="文本框 809192">
            <a:hlinkClick r:id="rId2"/>
          </p:cNvPr>
          <p:cNvSpPr txBox="1"/>
          <p:nvPr/>
        </p:nvSpPr>
        <p:spPr>
          <a:xfrm>
            <a:off x="293688" y="5765800"/>
            <a:ext cx="70866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大量小球（粒子）运动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-----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统计规律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在槽中的分布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8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09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0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75"/>
                                        <p:tgtEl>
                                          <p:spTgt spid="809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75"/>
                                        <p:tgtEl>
                                          <p:spTgt spid="809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8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8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8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8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8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5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8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8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500"/>
                            </p:stCondLst>
                            <p:childTnLst>
                              <p:par>
                                <p:cTn id="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8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0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8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5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0"/>
                            </p:stCondLst>
                            <p:childTnLst>
                              <p:par>
                                <p:cTn id="7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9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7500"/>
                            </p:stCondLst>
                            <p:childTnLst>
                              <p:par>
                                <p:cTn id="7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9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00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9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8500"/>
                            </p:stCondLst>
                            <p:childTnLst>
                              <p:par>
                                <p:cTn id="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9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9000"/>
                            </p:stCondLst>
                            <p:childTnLst>
                              <p:par>
                                <p:cTn id="8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9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500"/>
                            </p:stCondLst>
                            <p:childTnLst>
                              <p:par>
                                <p:cTn id="9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0"/>
                            </p:stCondLst>
                            <p:childTnLst>
                              <p:par>
                                <p:cTn id="9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9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500"/>
                            </p:stCondLst>
                            <p:childTnLst>
                              <p:par>
                                <p:cTn id="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9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1000"/>
                            </p:stCondLst>
                            <p:childTnLst>
                              <p:par>
                                <p:cTn id="9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9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9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9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9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4500"/>
                            </p:stCondLst>
                            <p:childTnLst>
                              <p:par>
                                <p:cTn id="1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9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5000"/>
                            </p:stCondLst>
                            <p:childTnLst>
                              <p:par>
                                <p:cTn id="1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5500"/>
                            </p:stCondLst>
                            <p:childTnLst>
                              <p:par>
                                <p:cTn id="1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9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6000"/>
                            </p:stCondLst>
                            <p:childTnLst>
                              <p:par>
                                <p:cTn id="1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6500"/>
                            </p:stCondLst>
                            <p:childTnLst>
                              <p:par>
                                <p:cTn id="132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75"/>
                                        <p:tgtEl>
                                          <p:spTgt spid="809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75"/>
                                        <p:tgtEl>
                                          <p:spTgt spid="809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62" grpId="0"/>
      <p:bldP spid="808963" grpId="0" animBg="1"/>
      <p:bldP spid="809191" grpId="0"/>
      <p:bldP spid="809192" grpId="0" build="p"/>
      <p:bldP spid="80919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3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grpSp>
        <p:nvGrpSpPr>
          <p:cNvPr id="50178" name="组合 701441"/>
          <p:cNvGrpSpPr/>
          <p:nvPr/>
        </p:nvGrpSpPr>
        <p:grpSpPr>
          <a:xfrm>
            <a:off x="395288" y="185738"/>
            <a:ext cx="2897187" cy="3603625"/>
            <a:chOff x="249" y="2022"/>
            <a:chExt cx="1825" cy="2270"/>
          </a:xfrm>
        </p:grpSpPr>
        <p:sp>
          <p:nvSpPr>
            <p:cNvPr id="50179" name="任意多边形 701442"/>
            <p:cNvSpPr/>
            <p:nvPr/>
          </p:nvSpPr>
          <p:spPr>
            <a:xfrm>
              <a:off x="249" y="2035"/>
              <a:ext cx="1825" cy="2256"/>
            </a:xfrm>
            <a:custGeom>
              <a:avLst/>
              <a:gdLst/>
              <a:ahLst/>
              <a:cxnLst>
                <a:cxn ang="0">
                  <a:pos x="816" y="0"/>
                </a:cxn>
                <a:cxn ang="0">
                  <a:pos x="0" y="0"/>
                </a:cxn>
                <a:cxn ang="0">
                  <a:pos x="0" y="2256"/>
                </a:cxn>
                <a:cxn ang="0">
                  <a:pos x="1825" y="2256"/>
                </a:cxn>
                <a:cxn ang="0">
                  <a:pos x="1825" y="0"/>
                </a:cxn>
                <a:cxn ang="0">
                  <a:pos x="961" y="0"/>
                </a:cxn>
              </a:cxnLst>
              <a:rect l="0" t="0" r="0" b="0"/>
              <a:pathLst>
                <a:path w="1824" h="2256">
                  <a:moveTo>
                    <a:pt x="816" y="0"/>
                  </a:moveTo>
                  <a:lnTo>
                    <a:pt x="0" y="0"/>
                  </a:lnTo>
                  <a:lnTo>
                    <a:pt x="0" y="2256"/>
                  </a:lnTo>
                  <a:lnTo>
                    <a:pt x="1824" y="2256"/>
                  </a:lnTo>
                  <a:lnTo>
                    <a:pt x="1824" y="0"/>
                  </a:lnTo>
                  <a:lnTo>
                    <a:pt x="96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80" name="直接连接符 701443"/>
            <p:cNvSpPr/>
            <p:nvPr/>
          </p:nvSpPr>
          <p:spPr>
            <a:xfrm flipH="1">
              <a:off x="970" y="2022"/>
              <a:ext cx="96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0181" name="直接连接符 701444"/>
            <p:cNvSpPr/>
            <p:nvPr/>
          </p:nvSpPr>
          <p:spPr>
            <a:xfrm>
              <a:off x="1203" y="2022"/>
              <a:ext cx="96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0182" name="椭圆 701445"/>
            <p:cNvSpPr/>
            <p:nvPr/>
          </p:nvSpPr>
          <p:spPr>
            <a:xfrm>
              <a:off x="1066" y="213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183" name="椭圆 701446"/>
            <p:cNvSpPr/>
            <p:nvPr/>
          </p:nvSpPr>
          <p:spPr>
            <a:xfrm>
              <a:off x="792" y="227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184" name="椭圆 701447"/>
            <p:cNvSpPr/>
            <p:nvPr/>
          </p:nvSpPr>
          <p:spPr>
            <a:xfrm>
              <a:off x="613" y="238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185" name="椭圆 701448"/>
            <p:cNvSpPr/>
            <p:nvPr/>
          </p:nvSpPr>
          <p:spPr>
            <a:xfrm>
              <a:off x="593" y="275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186" name="椭圆 701449"/>
            <p:cNvSpPr/>
            <p:nvPr/>
          </p:nvSpPr>
          <p:spPr>
            <a:xfrm>
              <a:off x="778" y="28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187" name="椭圆 701450"/>
            <p:cNvSpPr/>
            <p:nvPr/>
          </p:nvSpPr>
          <p:spPr>
            <a:xfrm>
              <a:off x="984" y="251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188" name="椭圆 701451"/>
            <p:cNvSpPr/>
            <p:nvPr/>
          </p:nvSpPr>
          <p:spPr>
            <a:xfrm>
              <a:off x="1183" y="257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189" name="椭圆 701452"/>
            <p:cNvSpPr/>
            <p:nvPr/>
          </p:nvSpPr>
          <p:spPr>
            <a:xfrm>
              <a:off x="1553" y="261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190" name="椭圆 701453"/>
            <p:cNvSpPr/>
            <p:nvPr/>
          </p:nvSpPr>
          <p:spPr>
            <a:xfrm>
              <a:off x="1738" y="275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191" name="椭圆 701454"/>
            <p:cNvSpPr/>
            <p:nvPr/>
          </p:nvSpPr>
          <p:spPr>
            <a:xfrm>
              <a:off x="1361" y="29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192" name="椭圆 701455"/>
            <p:cNvSpPr/>
            <p:nvPr/>
          </p:nvSpPr>
          <p:spPr>
            <a:xfrm>
              <a:off x="339" y="376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193" name="椭圆 701456"/>
            <p:cNvSpPr/>
            <p:nvPr/>
          </p:nvSpPr>
          <p:spPr>
            <a:xfrm>
              <a:off x="717" y="41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194" name="椭圆 701457"/>
            <p:cNvSpPr/>
            <p:nvPr/>
          </p:nvSpPr>
          <p:spPr>
            <a:xfrm>
              <a:off x="1101" y="417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195" name="椭圆 701458"/>
            <p:cNvSpPr/>
            <p:nvPr/>
          </p:nvSpPr>
          <p:spPr>
            <a:xfrm>
              <a:off x="1485" y="376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196" name="椭圆 701459"/>
            <p:cNvSpPr/>
            <p:nvPr/>
          </p:nvSpPr>
          <p:spPr>
            <a:xfrm>
              <a:off x="1671" y="41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grpSp>
          <p:nvGrpSpPr>
            <p:cNvPr id="50197" name="组合 701460"/>
            <p:cNvGrpSpPr/>
            <p:nvPr/>
          </p:nvGrpSpPr>
          <p:grpSpPr>
            <a:xfrm>
              <a:off x="346" y="2324"/>
              <a:ext cx="1584" cy="48"/>
              <a:chOff x="480" y="1152"/>
              <a:chExt cx="1584" cy="48"/>
            </a:xfrm>
          </p:grpSpPr>
          <p:sp>
            <p:nvSpPr>
              <p:cNvPr id="50198" name="椭圆 701461"/>
              <p:cNvSpPr/>
              <p:nvPr/>
            </p:nvSpPr>
            <p:spPr>
              <a:xfrm>
                <a:off x="48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199" name="椭圆 701462"/>
              <p:cNvSpPr/>
              <p:nvPr/>
            </p:nvSpPr>
            <p:spPr>
              <a:xfrm>
                <a:off x="67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00" name="椭圆 701463"/>
              <p:cNvSpPr/>
              <p:nvPr/>
            </p:nvSpPr>
            <p:spPr>
              <a:xfrm>
                <a:off x="86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01" name="椭圆 701464"/>
              <p:cNvSpPr/>
              <p:nvPr/>
            </p:nvSpPr>
            <p:spPr>
              <a:xfrm>
                <a:off x="105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02" name="椭圆 701465"/>
              <p:cNvSpPr/>
              <p:nvPr/>
            </p:nvSpPr>
            <p:spPr>
              <a:xfrm>
                <a:off x="1248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03" name="椭圆 701466"/>
              <p:cNvSpPr/>
              <p:nvPr/>
            </p:nvSpPr>
            <p:spPr>
              <a:xfrm>
                <a:off x="144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04" name="椭圆 701467"/>
              <p:cNvSpPr/>
              <p:nvPr/>
            </p:nvSpPr>
            <p:spPr>
              <a:xfrm>
                <a:off x="163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05" name="椭圆 701468"/>
              <p:cNvSpPr/>
              <p:nvPr/>
            </p:nvSpPr>
            <p:spPr>
              <a:xfrm>
                <a:off x="182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06" name="椭圆 701469"/>
              <p:cNvSpPr/>
              <p:nvPr/>
            </p:nvSpPr>
            <p:spPr>
              <a:xfrm>
                <a:off x="201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  <p:grpSp>
          <p:nvGrpSpPr>
            <p:cNvPr id="50207" name="组合 701470"/>
            <p:cNvGrpSpPr/>
            <p:nvPr/>
          </p:nvGrpSpPr>
          <p:grpSpPr>
            <a:xfrm>
              <a:off x="346" y="2516"/>
              <a:ext cx="1584" cy="48"/>
              <a:chOff x="480" y="1152"/>
              <a:chExt cx="1584" cy="48"/>
            </a:xfrm>
          </p:grpSpPr>
          <p:sp>
            <p:nvSpPr>
              <p:cNvPr id="50208" name="椭圆 701471"/>
              <p:cNvSpPr/>
              <p:nvPr/>
            </p:nvSpPr>
            <p:spPr>
              <a:xfrm>
                <a:off x="48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09" name="椭圆 701472"/>
              <p:cNvSpPr/>
              <p:nvPr/>
            </p:nvSpPr>
            <p:spPr>
              <a:xfrm>
                <a:off x="67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10" name="椭圆 701473"/>
              <p:cNvSpPr/>
              <p:nvPr/>
            </p:nvSpPr>
            <p:spPr>
              <a:xfrm>
                <a:off x="86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11" name="椭圆 701474"/>
              <p:cNvSpPr/>
              <p:nvPr/>
            </p:nvSpPr>
            <p:spPr>
              <a:xfrm>
                <a:off x="105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12" name="椭圆 701475"/>
              <p:cNvSpPr/>
              <p:nvPr/>
            </p:nvSpPr>
            <p:spPr>
              <a:xfrm>
                <a:off x="1248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13" name="椭圆 701476"/>
              <p:cNvSpPr/>
              <p:nvPr/>
            </p:nvSpPr>
            <p:spPr>
              <a:xfrm>
                <a:off x="144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14" name="椭圆 701477"/>
              <p:cNvSpPr/>
              <p:nvPr/>
            </p:nvSpPr>
            <p:spPr>
              <a:xfrm>
                <a:off x="163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15" name="椭圆 701478"/>
              <p:cNvSpPr/>
              <p:nvPr/>
            </p:nvSpPr>
            <p:spPr>
              <a:xfrm>
                <a:off x="182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16" name="椭圆 701479"/>
              <p:cNvSpPr/>
              <p:nvPr/>
            </p:nvSpPr>
            <p:spPr>
              <a:xfrm>
                <a:off x="201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  <p:grpSp>
          <p:nvGrpSpPr>
            <p:cNvPr id="50217" name="组合 701480"/>
            <p:cNvGrpSpPr/>
            <p:nvPr/>
          </p:nvGrpSpPr>
          <p:grpSpPr>
            <a:xfrm>
              <a:off x="346" y="2708"/>
              <a:ext cx="1584" cy="48"/>
              <a:chOff x="480" y="1152"/>
              <a:chExt cx="1584" cy="48"/>
            </a:xfrm>
          </p:grpSpPr>
          <p:sp>
            <p:nvSpPr>
              <p:cNvPr id="50218" name="椭圆 701481"/>
              <p:cNvSpPr/>
              <p:nvPr/>
            </p:nvSpPr>
            <p:spPr>
              <a:xfrm>
                <a:off x="48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19" name="椭圆 701482"/>
              <p:cNvSpPr/>
              <p:nvPr/>
            </p:nvSpPr>
            <p:spPr>
              <a:xfrm>
                <a:off x="67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20" name="椭圆 701483"/>
              <p:cNvSpPr/>
              <p:nvPr/>
            </p:nvSpPr>
            <p:spPr>
              <a:xfrm>
                <a:off x="86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21" name="椭圆 701484"/>
              <p:cNvSpPr/>
              <p:nvPr/>
            </p:nvSpPr>
            <p:spPr>
              <a:xfrm>
                <a:off x="105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22" name="椭圆 701485"/>
              <p:cNvSpPr/>
              <p:nvPr/>
            </p:nvSpPr>
            <p:spPr>
              <a:xfrm>
                <a:off x="1248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23" name="椭圆 701486"/>
              <p:cNvSpPr/>
              <p:nvPr/>
            </p:nvSpPr>
            <p:spPr>
              <a:xfrm>
                <a:off x="144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24" name="椭圆 701487"/>
              <p:cNvSpPr/>
              <p:nvPr/>
            </p:nvSpPr>
            <p:spPr>
              <a:xfrm>
                <a:off x="163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25" name="椭圆 701488"/>
              <p:cNvSpPr/>
              <p:nvPr/>
            </p:nvSpPr>
            <p:spPr>
              <a:xfrm>
                <a:off x="182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26" name="椭圆 701489"/>
              <p:cNvSpPr/>
              <p:nvPr/>
            </p:nvSpPr>
            <p:spPr>
              <a:xfrm>
                <a:off x="201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  <p:grpSp>
          <p:nvGrpSpPr>
            <p:cNvPr id="50227" name="组合 701490"/>
            <p:cNvGrpSpPr/>
            <p:nvPr/>
          </p:nvGrpSpPr>
          <p:grpSpPr>
            <a:xfrm>
              <a:off x="346" y="2900"/>
              <a:ext cx="1584" cy="48"/>
              <a:chOff x="480" y="1152"/>
              <a:chExt cx="1584" cy="48"/>
            </a:xfrm>
          </p:grpSpPr>
          <p:sp>
            <p:nvSpPr>
              <p:cNvPr id="50228" name="椭圆 701491"/>
              <p:cNvSpPr/>
              <p:nvPr/>
            </p:nvSpPr>
            <p:spPr>
              <a:xfrm>
                <a:off x="48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29" name="椭圆 701492"/>
              <p:cNvSpPr/>
              <p:nvPr/>
            </p:nvSpPr>
            <p:spPr>
              <a:xfrm>
                <a:off x="67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30" name="椭圆 701493"/>
              <p:cNvSpPr/>
              <p:nvPr/>
            </p:nvSpPr>
            <p:spPr>
              <a:xfrm>
                <a:off x="86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31" name="椭圆 701494"/>
              <p:cNvSpPr/>
              <p:nvPr/>
            </p:nvSpPr>
            <p:spPr>
              <a:xfrm>
                <a:off x="105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32" name="椭圆 701495"/>
              <p:cNvSpPr/>
              <p:nvPr/>
            </p:nvSpPr>
            <p:spPr>
              <a:xfrm>
                <a:off x="1248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33" name="椭圆 701496"/>
              <p:cNvSpPr/>
              <p:nvPr/>
            </p:nvSpPr>
            <p:spPr>
              <a:xfrm>
                <a:off x="144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34" name="椭圆 701497"/>
              <p:cNvSpPr/>
              <p:nvPr/>
            </p:nvSpPr>
            <p:spPr>
              <a:xfrm>
                <a:off x="163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35" name="椭圆 701498"/>
              <p:cNvSpPr/>
              <p:nvPr/>
            </p:nvSpPr>
            <p:spPr>
              <a:xfrm>
                <a:off x="182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36" name="椭圆 701499"/>
              <p:cNvSpPr/>
              <p:nvPr/>
            </p:nvSpPr>
            <p:spPr>
              <a:xfrm>
                <a:off x="201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  <p:sp>
          <p:nvSpPr>
            <p:cNvPr id="50237" name="直接连接符 701500"/>
            <p:cNvSpPr/>
            <p:nvPr/>
          </p:nvSpPr>
          <p:spPr>
            <a:xfrm>
              <a:off x="477" y="3140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0238" name="直接连接符 701501"/>
            <p:cNvSpPr/>
            <p:nvPr/>
          </p:nvSpPr>
          <p:spPr>
            <a:xfrm>
              <a:off x="669" y="3140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0239" name="直接连接符 701502"/>
            <p:cNvSpPr/>
            <p:nvPr/>
          </p:nvSpPr>
          <p:spPr>
            <a:xfrm>
              <a:off x="861" y="3140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0240" name="直接连接符 701503"/>
            <p:cNvSpPr/>
            <p:nvPr/>
          </p:nvSpPr>
          <p:spPr>
            <a:xfrm>
              <a:off x="1053" y="3140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0241" name="直接连接符 701504"/>
            <p:cNvSpPr/>
            <p:nvPr/>
          </p:nvSpPr>
          <p:spPr>
            <a:xfrm>
              <a:off x="1245" y="3140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0242" name="直接连接符 701505"/>
            <p:cNvSpPr/>
            <p:nvPr/>
          </p:nvSpPr>
          <p:spPr>
            <a:xfrm>
              <a:off x="1437" y="3140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0243" name="直接连接符 701506"/>
            <p:cNvSpPr/>
            <p:nvPr/>
          </p:nvSpPr>
          <p:spPr>
            <a:xfrm>
              <a:off x="1629" y="3140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0244" name="直接连接符 701507"/>
            <p:cNvSpPr/>
            <p:nvPr/>
          </p:nvSpPr>
          <p:spPr>
            <a:xfrm>
              <a:off x="1821" y="3140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</p:grpSp>
      <p:grpSp>
        <p:nvGrpSpPr>
          <p:cNvPr id="50245" name="组合 701508"/>
          <p:cNvGrpSpPr/>
          <p:nvPr/>
        </p:nvGrpSpPr>
        <p:grpSpPr>
          <a:xfrm>
            <a:off x="4716463" y="188913"/>
            <a:ext cx="2897187" cy="3603625"/>
            <a:chOff x="3112" y="1976"/>
            <a:chExt cx="1825" cy="2270"/>
          </a:xfrm>
        </p:grpSpPr>
        <p:sp>
          <p:nvSpPr>
            <p:cNvPr id="50246" name="椭圆 701509"/>
            <p:cNvSpPr/>
            <p:nvPr/>
          </p:nvSpPr>
          <p:spPr>
            <a:xfrm>
              <a:off x="4128" y="410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47" name="椭圆 701510"/>
            <p:cNvSpPr/>
            <p:nvPr/>
          </p:nvSpPr>
          <p:spPr>
            <a:xfrm>
              <a:off x="3264" y="415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48" name="椭圆 701511"/>
            <p:cNvSpPr/>
            <p:nvPr/>
          </p:nvSpPr>
          <p:spPr>
            <a:xfrm>
              <a:off x="4032" y="357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49" name="椭圆 701512"/>
            <p:cNvSpPr/>
            <p:nvPr/>
          </p:nvSpPr>
          <p:spPr>
            <a:xfrm>
              <a:off x="3744" y="410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50" name="椭圆 701513"/>
            <p:cNvSpPr/>
            <p:nvPr/>
          </p:nvSpPr>
          <p:spPr>
            <a:xfrm>
              <a:off x="4416" y="386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51" name="椭圆 701514"/>
            <p:cNvSpPr/>
            <p:nvPr/>
          </p:nvSpPr>
          <p:spPr>
            <a:xfrm>
              <a:off x="4704" y="410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52" name="直接连接符 701515"/>
            <p:cNvSpPr/>
            <p:nvPr/>
          </p:nvSpPr>
          <p:spPr>
            <a:xfrm>
              <a:off x="3360" y="3094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0253" name="直接连接符 701516"/>
            <p:cNvSpPr/>
            <p:nvPr/>
          </p:nvSpPr>
          <p:spPr>
            <a:xfrm>
              <a:off x="3552" y="3094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0254" name="直接连接符 701517"/>
            <p:cNvSpPr/>
            <p:nvPr/>
          </p:nvSpPr>
          <p:spPr>
            <a:xfrm>
              <a:off x="3744" y="3094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0255" name="直接连接符 701518"/>
            <p:cNvSpPr/>
            <p:nvPr/>
          </p:nvSpPr>
          <p:spPr>
            <a:xfrm>
              <a:off x="3936" y="3094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0256" name="直接连接符 701519"/>
            <p:cNvSpPr/>
            <p:nvPr/>
          </p:nvSpPr>
          <p:spPr>
            <a:xfrm>
              <a:off x="4128" y="3094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0257" name="直接连接符 701520"/>
            <p:cNvSpPr/>
            <p:nvPr/>
          </p:nvSpPr>
          <p:spPr>
            <a:xfrm>
              <a:off x="4320" y="3094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0258" name="直接连接符 701521"/>
            <p:cNvSpPr/>
            <p:nvPr/>
          </p:nvSpPr>
          <p:spPr>
            <a:xfrm>
              <a:off x="4512" y="3094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0259" name="直接连接符 701522"/>
            <p:cNvSpPr/>
            <p:nvPr/>
          </p:nvSpPr>
          <p:spPr>
            <a:xfrm>
              <a:off x="4704" y="3094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0260" name="任意多边形 701523"/>
            <p:cNvSpPr/>
            <p:nvPr/>
          </p:nvSpPr>
          <p:spPr>
            <a:xfrm>
              <a:off x="3112" y="1990"/>
              <a:ext cx="1825" cy="2256"/>
            </a:xfrm>
            <a:custGeom>
              <a:avLst/>
              <a:gdLst/>
              <a:ahLst/>
              <a:cxnLst>
                <a:cxn ang="0">
                  <a:pos x="816" y="0"/>
                </a:cxn>
                <a:cxn ang="0">
                  <a:pos x="0" y="0"/>
                </a:cxn>
                <a:cxn ang="0">
                  <a:pos x="0" y="2256"/>
                </a:cxn>
                <a:cxn ang="0">
                  <a:pos x="1825" y="2256"/>
                </a:cxn>
                <a:cxn ang="0">
                  <a:pos x="1825" y="0"/>
                </a:cxn>
                <a:cxn ang="0">
                  <a:pos x="961" y="0"/>
                </a:cxn>
              </a:cxnLst>
              <a:rect l="0" t="0" r="0" b="0"/>
              <a:pathLst>
                <a:path w="1824" h="2256">
                  <a:moveTo>
                    <a:pt x="816" y="0"/>
                  </a:moveTo>
                  <a:lnTo>
                    <a:pt x="0" y="0"/>
                  </a:lnTo>
                  <a:lnTo>
                    <a:pt x="0" y="2256"/>
                  </a:lnTo>
                  <a:lnTo>
                    <a:pt x="1824" y="2256"/>
                  </a:lnTo>
                  <a:lnTo>
                    <a:pt x="1824" y="0"/>
                  </a:lnTo>
                  <a:lnTo>
                    <a:pt x="96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61" name="椭圆 701524"/>
            <p:cNvSpPr/>
            <p:nvPr/>
          </p:nvSpPr>
          <p:spPr>
            <a:xfrm>
              <a:off x="4224" y="415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62" name="椭圆 701525"/>
            <p:cNvSpPr/>
            <p:nvPr/>
          </p:nvSpPr>
          <p:spPr>
            <a:xfrm>
              <a:off x="4224" y="405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63" name="椭圆 701526"/>
            <p:cNvSpPr/>
            <p:nvPr/>
          </p:nvSpPr>
          <p:spPr>
            <a:xfrm>
              <a:off x="4128" y="400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64" name="椭圆 701527"/>
            <p:cNvSpPr/>
            <p:nvPr/>
          </p:nvSpPr>
          <p:spPr>
            <a:xfrm>
              <a:off x="4224" y="395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65" name="椭圆 701528"/>
            <p:cNvSpPr/>
            <p:nvPr/>
          </p:nvSpPr>
          <p:spPr>
            <a:xfrm>
              <a:off x="4128" y="391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66" name="椭圆 701529"/>
            <p:cNvSpPr/>
            <p:nvPr/>
          </p:nvSpPr>
          <p:spPr>
            <a:xfrm>
              <a:off x="4128" y="381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67" name="椭圆 701530"/>
            <p:cNvSpPr/>
            <p:nvPr/>
          </p:nvSpPr>
          <p:spPr>
            <a:xfrm>
              <a:off x="4224" y="386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68" name="椭圆 701531"/>
            <p:cNvSpPr/>
            <p:nvPr/>
          </p:nvSpPr>
          <p:spPr>
            <a:xfrm>
              <a:off x="4224" y="376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69" name="椭圆 701532"/>
            <p:cNvSpPr/>
            <p:nvPr/>
          </p:nvSpPr>
          <p:spPr>
            <a:xfrm>
              <a:off x="4128" y="371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70" name="椭圆 701533"/>
            <p:cNvSpPr/>
            <p:nvPr/>
          </p:nvSpPr>
          <p:spPr>
            <a:xfrm>
              <a:off x="4224" y="367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71" name="椭圆 701534"/>
            <p:cNvSpPr/>
            <p:nvPr/>
          </p:nvSpPr>
          <p:spPr>
            <a:xfrm>
              <a:off x="4128" y="362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grpSp>
          <p:nvGrpSpPr>
            <p:cNvPr id="50272" name="组合 701535"/>
            <p:cNvGrpSpPr/>
            <p:nvPr/>
          </p:nvGrpSpPr>
          <p:grpSpPr>
            <a:xfrm>
              <a:off x="3936" y="3910"/>
              <a:ext cx="192" cy="336"/>
              <a:chOff x="4224" y="2880"/>
              <a:chExt cx="192" cy="336"/>
            </a:xfrm>
          </p:grpSpPr>
          <p:sp>
            <p:nvSpPr>
              <p:cNvPr id="50273" name="椭圆 701536"/>
              <p:cNvSpPr/>
              <p:nvPr/>
            </p:nvSpPr>
            <p:spPr>
              <a:xfrm>
                <a:off x="4224" y="3072"/>
                <a:ext cx="96" cy="96"/>
              </a:xfrm>
              <a:prstGeom prst="ellipse">
                <a:avLst/>
              </a:prstGeom>
              <a:gradFill rotWithShape="0">
                <a:gsLst>
                  <a:gs pos="0">
                    <a:srgbClr val="FF9900"/>
                  </a:gs>
                  <a:gs pos="100000">
                    <a:srgbClr val="945900"/>
                  </a:gs>
                </a:gsLst>
                <a:path path="shape">
                  <a:fillToRect l="50000" t="50000" r="50000" b="50000"/>
                </a:path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74" name="椭圆 701537"/>
              <p:cNvSpPr/>
              <p:nvPr/>
            </p:nvSpPr>
            <p:spPr>
              <a:xfrm>
                <a:off x="4320" y="3120"/>
                <a:ext cx="96" cy="96"/>
              </a:xfrm>
              <a:prstGeom prst="ellipse">
                <a:avLst/>
              </a:prstGeom>
              <a:gradFill rotWithShape="0">
                <a:gsLst>
                  <a:gs pos="0">
                    <a:srgbClr val="FF9900"/>
                  </a:gs>
                  <a:gs pos="100000">
                    <a:srgbClr val="945900"/>
                  </a:gs>
                </a:gsLst>
                <a:path path="shape">
                  <a:fillToRect l="50000" t="50000" r="50000" b="50000"/>
                </a:path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75" name="椭圆 701538"/>
              <p:cNvSpPr/>
              <p:nvPr/>
            </p:nvSpPr>
            <p:spPr>
              <a:xfrm>
                <a:off x="4320" y="3024"/>
                <a:ext cx="96" cy="96"/>
              </a:xfrm>
              <a:prstGeom prst="ellipse">
                <a:avLst/>
              </a:prstGeom>
              <a:gradFill rotWithShape="0">
                <a:gsLst>
                  <a:gs pos="0">
                    <a:srgbClr val="FF9900"/>
                  </a:gs>
                  <a:gs pos="100000">
                    <a:srgbClr val="945900"/>
                  </a:gs>
                </a:gsLst>
                <a:path path="shape">
                  <a:fillToRect l="50000" t="50000" r="50000" b="50000"/>
                </a:path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76" name="椭圆 701539"/>
              <p:cNvSpPr/>
              <p:nvPr/>
            </p:nvSpPr>
            <p:spPr>
              <a:xfrm>
                <a:off x="4224" y="2976"/>
                <a:ext cx="96" cy="96"/>
              </a:xfrm>
              <a:prstGeom prst="ellipse">
                <a:avLst/>
              </a:prstGeom>
              <a:gradFill rotWithShape="0">
                <a:gsLst>
                  <a:gs pos="0">
                    <a:srgbClr val="FF9900"/>
                  </a:gs>
                  <a:gs pos="100000">
                    <a:srgbClr val="945900"/>
                  </a:gs>
                </a:gsLst>
                <a:path path="shape">
                  <a:fillToRect l="50000" t="50000" r="50000" b="50000"/>
                </a:path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77" name="椭圆 701540"/>
              <p:cNvSpPr/>
              <p:nvPr/>
            </p:nvSpPr>
            <p:spPr>
              <a:xfrm>
                <a:off x="4320" y="2928"/>
                <a:ext cx="96" cy="96"/>
              </a:xfrm>
              <a:prstGeom prst="ellipse">
                <a:avLst/>
              </a:prstGeom>
              <a:gradFill rotWithShape="0">
                <a:gsLst>
                  <a:gs pos="0">
                    <a:srgbClr val="FF9900"/>
                  </a:gs>
                  <a:gs pos="100000">
                    <a:srgbClr val="945900"/>
                  </a:gs>
                </a:gsLst>
                <a:path path="shape">
                  <a:fillToRect l="50000" t="50000" r="50000" b="50000"/>
                </a:path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278" name="椭圆 701541"/>
              <p:cNvSpPr/>
              <p:nvPr/>
            </p:nvSpPr>
            <p:spPr>
              <a:xfrm>
                <a:off x="4224" y="2880"/>
                <a:ext cx="96" cy="96"/>
              </a:xfrm>
              <a:prstGeom prst="ellipse">
                <a:avLst/>
              </a:prstGeom>
              <a:gradFill rotWithShape="0">
                <a:gsLst>
                  <a:gs pos="0">
                    <a:srgbClr val="FF9900"/>
                  </a:gs>
                  <a:gs pos="100000">
                    <a:srgbClr val="945900"/>
                  </a:gs>
                </a:gsLst>
                <a:path path="shape">
                  <a:fillToRect l="50000" t="50000" r="50000" b="50000"/>
                </a:path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  <p:sp>
          <p:nvSpPr>
            <p:cNvPr id="50279" name="椭圆 701542"/>
            <p:cNvSpPr/>
            <p:nvPr/>
          </p:nvSpPr>
          <p:spPr>
            <a:xfrm>
              <a:off x="3936" y="381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80" name="椭圆 701543"/>
            <p:cNvSpPr/>
            <p:nvPr/>
          </p:nvSpPr>
          <p:spPr>
            <a:xfrm>
              <a:off x="4032" y="386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81" name="椭圆 701544"/>
            <p:cNvSpPr/>
            <p:nvPr/>
          </p:nvSpPr>
          <p:spPr>
            <a:xfrm>
              <a:off x="4032" y="376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82" name="椭圆 701545"/>
            <p:cNvSpPr/>
            <p:nvPr/>
          </p:nvSpPr>
          <p:spPr>
            <a:xfrm>
              <a:off x="3936" y="371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83" name="椭圆 701546"/>
            <p:cNvSpPr/>
            <p:nvPr/>
          </p:nvSpPr>
          <p:spPr>
            <a:xfrm>
              <a:off x="4032" y="367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84" name="椭圆 701547"/>
            <p:cNvSpPr/>
            <p:nvPr/>
          </p:nvSpPr>
          <p:spPr>
            <a:xfrm>
              <a:off x="3936" y="362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85" name="椭圆 701548"/>
            <p:cNvSpPr/>
            <p:nvPr/>
          </p:nvSpPr>
          <p:spPr>
            <a:xfrm>
              <a:off x="4320" y="410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86" name="椭圆 701549"/>
            <p:cNvSpPr/>
            <p:nvPr/>
          </p:nvSpPr>
          <p:spPr>
            <a:xfrm>
              <a:off x="4416" y="415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87" name="椭圆 701550"/>
            <p:cNvSpPr/>
            <p:nvPr/>
          </p:nvSpPr>
          <p:spPr>
            <a:xfrm>
              <a:off x="4416" y="405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88" name="椭圆 701551"/>
            <p:cNvSpPr/>
            <p:nvPr/>
          </p:nvSpPr>
          <p:spPr>
            <a:xfrm>
              <a:off x="4320" y="400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89" name="椭圆 701552"/>
            <p:cNvSpPr/>
            <p:nvPr/>
          </p:nvSpPr>
          <p:spPr>
            <a:xfrm>
              <a:off x="4416" y="395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90" name="椭圆 701553"/>
            <p:cNvSpPr/>
            <p:nvPr/>
          </p:nvSpPr>
          <p:spPr>
            <a:xfrm>
              <a:off x="4320" y="391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91" name="椭圆 701554"/>
            <p:cNvSpPr/>
            <p:nvPr/>
          </p:nvSpPr>
          <p:spPr>
            <a:xfrm>
              <a:off x="3744" y="410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92" name="椭圆 701555"/>
            <p:cNvSpPr/>
            <p:nvPr/>
          </p:nvSpPr>
          <p:spPr>
            <a:xfrm>
              <a:off x="3840" y="415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93" name="椭圆 701556"/>
            <p:cNvSpPr/>
            <p:nvPr/>
          </p:nvSpPr>
          <p:spPr>
            <a:xfrm>
              <a:off x="3840" y="405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94" name="椭圆 701557"/>
            <p:cNvSpPr/>
            <p:nvPr/>
          </p:nvSpPr>
          <p:spPr>
            <a:xfrm>
              <a:off x="3744" y="400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95" name="椭圆 701558"/>
            <p:cNvSpPr/>
            <p:nvPr/>
          </p:nvSpPr>
          <p:spPr>
            <a:xfrm>
              <a:off x="3840" y="395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96" name="椭圆 701559"/>
            <p:cNvSpPr/>
            <p:nvPr/>
          </p:nvSpPr>
          <p:spPr>
            <a:xfrm>
              <a:off x="3744" y="391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97" name="椭圆 701560"/>
            <p:cNvSpPr/>
            <p:nvPr/>
          </p:nvSpPr>
          <p:spPr>
            <a:xfrm>
              <a:off x="3744" y="381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98" name="椭圆 701561"/>
            <p:cNvSpPr/>
            <p:nvPr/>
          </p:nvSpPr>
          <p:spPr>
            <a:xfrm>
              <a:off x="3840" y="386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299" name="椭圆 701562"/>
            <p:cNvSpPr/>
            <p:nvPr/>
          </p:nvSpPr>
          <p:spPr>
            <a:xfrm>
              <a:off x="3840" y="376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00" name="椭圆 701563"/>
            <p:cNvSpPr/>
            <p:nvPr/>
          </p:nvSpPr>
          <p:spPr>
            <a:xfrm>
              <a:off x="3744" y="371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01" name="椭圆 701564"/>
            <p:cNvSpPr/>
            <p:nvPr/>
          </p:nvSpPr>
          <p:spPr>
            <a:xfrm>
              <a:off x="3840" y="367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02" name="椭圆 701565"/>
            <p:cNvSpPr/>
            <p:nvPr/>
          </p:nvSpPr>
          <p:spPr>
            <a:xfrm>
              <a:off x="4320" y="381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03" name="椭圆 701566"/>
            <p:cNvSpPr/>
            <p:nvPr/>
          </p:nvSpPr>
          <p:spPr>
            <a:xfrm>
              <a:off x="3552" y="410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04" name="椭圆 701567"/>
            <p:cNvSpPr/>
            <p:nvPr/>
          </p:nvSpPr>
          <p:spPr>
            <a:xfrm>
              <a:off x="3648" y="415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05" name="椭圆 701568"/>
            <p:cNvSpPr/>
            <p:nvPr/>
          </p:nvSpPr>
          <p:spPr>
            <a:xfrm>
              <a:off x="3648" y="405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06" name="椭圆 701569"/>
            <p:cNvSpPr/>
            <p:nvPr/>
          </p:nvSpPr>
          <p:spPr>
            <a:xfrm>
              <a:off x="3552" y="400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07" name="椭圆 701570"/>
            <p:cNvSpPr/>
            <p:nvPr/>
          </p:nvSpPr>
          <p:spPr>
            <a:xfrm>
              <a:off x="3648" y="395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08" name="椭圆 701571"/>
            <p:cNvSpPr/>
            <p:nvPr/>
          </p:nvSpPr>
          <p:spPr>
            <a:xfrm>
              <a:off x="3552" y="391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09" name="椭圆 701572"/>
            <p:cNvSpPr/>
            <p:nvPr/>
          </p:nvSpPr>
          <p:spPr>
            <a:xfrm>
              <a:off x="4800" y="415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10" name="椭圆 701573"/>
            <p:cNvSpPr/>
            <p:nvPr/>
          </p:nvSpPr>
          <p:spPr>
            <a:xfrm>
              <a:off x="3648" y="386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11" name="椭圆 701574"/>
            <p:cNvSpPr/>
            <p:nvPr/>
          </p:nvSpPr>
          <p:spPr>
            <a:xfrm>
              <a:off x="3648" y="376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12" name="椭圆 701575"/>
            <p:cNvSpPr/>
            <p:nvPr/>
          </p:nvSpPr>
          <p:spPr>
            <a:xfrm>
              <a:off x="3120" y="415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13" name="椭圆 701576"/>
            <p:cNvSpPr/>
            <p:nvPr/>
          </p:nvSpPr>
          <p:spPr>
            <a:xfrm>
              <a:off x="3456" y="415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14" name="椭圆 701577"/>
            <p:cNvSpPr/>
            <p:nvPr/>
          </p:nvSpPr>
          <p:spPr>
            <a:xfrm>
              <a:off x="3360" y="410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15" name="椭圆 701578"/>
            <p:cNvSpPr/>
            <p:nvPr/>
          </p:nvSpPr>
          <p:spPr>
            <a:xfrm>
              <a:off x="3360" y="400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16" name="椭圆 701579"/>
            <p:cNvSpPr/>
            <p:nvPr/>
          </p:nvSpPr>
          <p:spPr>
            <a:xfrm>
              <a:off x="3456" y="405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17" name="椭圆 701580"/>
            <p:cNvSpPr/>
            <p:nvPr/>
          </p:nvSpPr>
          <p:spPr>
            <a:xfrm>
              <a:off x="3456" y="395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18" name="椭圆 701581"/>
            <p:cNvSpPr/>
            <p:nvPr/>
          </p:nvSpPr>
          <p:spPr>
            <a:xfrm>
              <a:off x="4416" y="3759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19" name="椭圆 701582"/>
            <p:cNvSpPr/>
            <p:nvPr/>
          </p:nvSpPr>
          <p:spPr>
            <a:xfrm>
              <a:off x="4608" y="415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20" name="椭圆 701583"/>
            <p:cNvSpPr/>
            <p:nvPr/>
          </p:nvSpPr>
          <p:spPr>
            <a:xfrm>
              <a:off x="4512" y="410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21" name="椭圆 701584"/>
            <p:cNvSpPr/>
            <p:nvPr/>
          </p:nvSpPr>
          <p:spPr>
            <a:xfrm>
              <a:off x="4512" y="400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22" name="椭圆 701585"/>
            <p:cNvSpPr/>
            <p:nvPr/>
          </p:nvSpPr>
          <p:spPr>
            <a:xfrm>
              <a:off x="4608" y="405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23" name="椭圆 701586"/>
            <p:cNvSpPr/>
            <p:nvPr/>
          </p:nvSpPr>
          <p:spPr>
            <a:xfrm>
              <a:off x="4608" y="395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24" name="椭圆 701587"/>
            <p:cNvSpPr/>
            <p:nvPr/>
          </p:nvSpPr>
          <p:spPr>
            <a:xfrm>
              <a:off x="4512" y="391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325" name="直接连接符 701588"/>
            <p:cNvSpPr/>
            <p:nvPr/>
          </p:nvSpPr>
          <p:spPr>
            <a:xfrm flipH="1">
              <a:off x="3840" y="1976"/>
              <a:ext cx="96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0326" name="直接连接符 701589"/>
            <p:cNvSpPr/>
            <p:nvPr/>
          </p:nvSpPr>
          <p:spPr>
            <a:xfrm>
              <a:off x="4073" y="1976"/>
              <a:ext cx="96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grpSp>
          <p:nvGrpSpPr>
            <p:cNvPr id="50327" name="组合 701590"/>
            <p:cNvGrpSpPr/>
            <p:nvPr/>
          </p:nvGrpSpPr>
          <p:grpSpPr>
            <a:xfrm>
              <a:off x="3216" y="2278"/>
              <a:ext cx="1584" cy="48"/>
              <a:chOff x="480" y="1152"/>
              <a:chExt cx="1584" cy="48"/>
            </a:xfrm>
          </p:grpSpPr>
          <p:sp>
            <p:nvSpPr>
              <p:cNvPr id="50328" name="椭圆 701591"/>
              <p:cNvSpPr/>
              <p:nvPr/>
            </p:nvSpPr>
            <p:spPr>
              <a:xfrm>
                <a:off x="48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29" name="椭圆 701592"/>
              <p:cNvSpPr/>
              <p:nvPr/>
            </p:nvSpPr>
            <p:spPr>
              <a:xfrm>
                <a:off x="67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30" name="椭圆 701593"/>
              <p:cNvSpPr/>
              <p:nvPr/>
            </p:nvSpPr>
            <p:spPr>
              <a:xfrm>
                <a:off x="86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31" name="椭圆 701594"/>
              <p:cNvSpPr/>
              <p:nvPr/>
            </p:nvSpPr>
            <p:spPr>
              <a:xfrm>
                <a:off x="105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32" name="椭圆 701595"/>
              <p:cNvSpPr/>
              <p:nvPr/>
            </p:nvSpPr>
            <p:spPr>
              <a:xfrm>
                <a:off x="1248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33" name="椭圆 701596"/>
              <p:cNvSpPr/>
              <p:nvPr/>
            </p:nvSpPr>
            <p:spPr>
              <a:xfrm>
                <a:off x="144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34" name="椭圆 701597"/>
              <p:cNvSpPr/>
              <p:nvPr/>
            </p:nvSpPr>
            <p:spPr>
              <a:xfrm>
                <a:off x="163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35" name="椭圆 701598"/>
              <p:cNvSpPr/>
              <p:nvPr/>
            </p:nvSpPr>
            <p:spPr>
              <a:xfrm>
                <a:off x="182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36" name="椭圆 701599"/>
              <p:cNvSpPr/>
              <p:nvPr/>
            </p:nvSpPr>
            <p:spPr>
              <a:xfrm>
                <a:off x="201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  <p:grpSp>
          <p:nvGrpSpPr>
            <p:cNvPr id="50337" name="组合 701600"/>
            <p:cNvGrpSpPr/>
            <p:nvPr/>
          </p:nvGrpSpPr>
          <p:grpSpPr>
            <a:xfrm>
              <a:off x="3216" y="2470"/>
              <a:ext cx="1584" cy="48"/>
              <a:chOff x="480" y="1152"/>
              <a:chExt cx="1584" cy="48"/>
            </a:xfrm>
          </p:grpSpPr>
          <p:sp>
            <p:nvSpPr>
              <p:cNvPr id="50338" name="椭圆 701601"/>
              <p:cNvSpPr/>
              <p:nvPr/>
            </p:nvSpPr>
            <p:spPr>
              <a:xfrm>
                <a:off x="48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39" name="椭圆 701602"/>
              <p:cNvSpPr/>
              <p:nvPr/>
            </p:nvSpPr>
            <p:spPr>
              <a:xfrm>
                <a:off x="67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40" name="椭圆 701603"/>
              <p:cNvSpPr/>
              <p:nvPr/>
            </p:nvSpPr>
            <p:spPr>
              <a:xfrm>
                <a:off x="86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41" name="椭圆 701604"/>
              <p:cNvSpPr/>
              <p:nvPr/>
            </p:nvSpPr>
            <p:spPr>
              <a:xfrm>
                <a:off x="105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42" name="椭圆 701605"/>
              <p:cNvSpPr/>
              <p:nvPr/>
            </p:nvSpPr>
            <p:spPr>
              <a:xfrm>
                <a:off x="1248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43" name="椭圆 701606"/>
              <p:cNvSpPr/>
              <p:nvPr/>
            </p:nvSpPr>
            <p:spPr>
              <a:xfrm>
                <a:off x="144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44" name="椭圆 701607"/>
              <p:cNvSpPr/>
              <p:nvPr/>
            </p:nvSpPr>
            <p:spPr>
              <a:xfrm>
                <a:off x="163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45" name="椭圆 701608"/>
              <p:cNvSpPr/>
              <p:nvPr/>
            </p:nvSpPr>
            <p:spPr>
              <a:xfrm>
                <a:off x="182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46" name="椭圆 701609"/>
              <p:cNvSpPr/>
              <p:nvPr/>
            </p:nvSpPr>
            <p:spPr>
              <a:xfrm>
                <a:off x="201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  <p:grpSp>
          <p:nvGrpSpPr>
            <p:cNvPr id="50347" name="组合 701610"/>
            <p:cNvGrpSpPr/>
            <p:nvPr/>
          </p:nvGrpSpPr>
          <p:grpSpPr>
            <a:xfrm>
              <a:off x="3216" y="2662"/>
              <a:ext cx="1584" cy="48"/>
              <a:chOff x="480" y="1152"/>
              <a:chExt cx="1584" cy="48"/>
            </a:xfrm>
          </p:grpSpPr>
          <p:sp>
            <p:nvSpPr>
              <p:cNvPr id="50348" name="椭圆 701611"/>
              <p:cNvSpPr/>
              <p:nvPr/>
            </p:nvSpPr>
            <p:spPr>
              <a:xfrm>
                <a:off x="48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49" name="椭圆 701612"/>
              <p:cNvSpPr/>
              <p:nvPr/>
            </p:nvSpPr>
            <p:spPr>
              <a:xfrm>
                <a:off x="67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50" name="椭圆 701613"/>
              <p:cNvSpPr/>
              <p:nvPr/>
            </p:nvSpPr>
            <p:spPr>
              <a:xfrm>
                <a:off x="86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51" name="椭圆 701614"/>
              <p:cNvSpPr/>
              <p:nvPr/>
            </p:nvSpPr>
            <p:spPr>
              <a:xfrm>
                <a:off x="105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52" name="椭圆 701615"/>
              <p:cNvSpPr/>
              <p:nvPr/>
            </p:nvSpPr>
            <p:spPr>
              <a:xfrm>
                <a:off x="1248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53" name="椭圆 701616"/>
              <p:cNvSpPr/>
              <p:nvPr/>
            </p:nvSpPr>
            <p:spPr>
              <a:xfrm>
                <a:off x="144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54" name="椭圆 701617"/>
              <p:cNvSpPr/>
              <p:nvPr/>
            </p:nvSpPr>
            <p:spPr>
              <a:xfrm>
                <a:off x="163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55" name="椭圆 701618"/>
              <p:cNvSpPr/>
              <p:nvPr/>
            </p:nvSpPr>
            <p:spPr>
              <a:xfrm>
                <a:off x="182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56" name="椭圆 701619"/>
              <p:cNvSpPr/>
              <p:nvPr/>
            </p:nvSpPr>
            <p:spPr>
              <a:xfrm>
                <a:off x="201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  <p:grpSp>
          <p:nvGrpSpPr>
            <p:cNvPr id="50357" name="组合 701620"/>
            <p:cNvGrpSpPr/>
            <p:nvPr/>
          </p:nvGrpSpPr>
          <p:grpSpPr>
            <a:xfrm>
              <a:off x="3216" y="2854"/>
              <a:ext cx="1584" cy="48"/>
              <a:chOff x="480" y="1152"/>
              <a:chExt cx="1584" cy="48"/>
            </a:xfrm>
          </p:grpSpPr>
          <p:sp>
            <p:nvSpPr>
              <p:cNvPr id="50358" name="椭圆 701621"/>
              <p:cNvSpPr/>
              <p:nvPr/>
            </p:nvSpPr>
            <p:spPr>
              <a:xfrm>
                <a:off x="48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59" name="椭圆 701622"/>
              <p:cNvSpPr/>
              <p:nvPr/>
            </p:nvSpPr>
            <p:spPr>
              <a:xfrm>
                <a:off x="67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60" name="椭圆 701623"/>
              <p:cNvSpPr/>
              <p:nvPr/>
            </p:nvSpPr>
            <p:spPr>
              <a:xfrm>
                <a:off x="86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61" name="椭圆 701624"/>
              <p:cNvSpPr/>
              <p:nvPr/>
            </p:nvSpPr>
            <p:spPr>
              <a:xfrm>
                <a:off x="105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62" name="椭圆 701625"/>
              <p:cNvSpPr/>
              <p:nvPr/>
            </p:nvSpPr>
            <p:spPr>
              <a:xfrm>
                <a:off x="1248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63" name="椭圆 701626"/>
              <p:cNvSpPr/>
              <p:nvPr/>
            </p:nvSpPr>
            <p:spPr>
              <a:xfrm>
                <a:off x="144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64" name="椭圆 701627"/>
              <p:cNvSpPr/>
              <p:nvPr/>
            </p:nvSpPr>
            <p:spPr>
              <a:xfrm>
                <a:off x="163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65" name="椭圆 701628"/>
              <p:cNvSpPr/>
              <p:nvPr/>
            </p:nvSpPr>
            <p:spPr>
              <a:xfrm>
                <a:off x="182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0366" name="椭圆 701629"/>
              <p:cNvSpPr/>
              <p:nvPr/>
            </p:nvSpPr>
            <p:spPr>
              <a:xfrm>
                <a:off x="201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</p:grpSp>
      <p:sp>
        <p:nvSpPr>
          <p:cNvPr id="701631" name="文本框 701630"/>
          <p:cNvSpPr txBox="1"/>
          <p:nvPr/>
        </p:nvSpPr>
        <p:spPr>
          <a:xfrm>
            <a:off x="4614863" y="3892550"/>
            <a:ext cx="3135313" cy="831850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50000">
                <a:srgbClr val="FFFFFF"/>
              </a:gs>
              <a:gs pos="100000">
                <a:srgbClr val="CCFFFF"/>
              </a:gs>
            </a:gsLst>
            <a:lin ang="5400000" scaled="1"/>
            <a:tileRect/>
          </a:gradFill>
          <a:ln w="9525" cap="flat" cmpd="sng">
            <a:solidFill>
              <a:srgbClr val="006699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统计规律 ：中间多，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两边少的概率分布</a:t>
            </a:r>
          </a:p>
        </p:txBody>
      </p:sp>
      <p:sp>
        <p:nvSpPr>
          <p:cNvPr id="701632" name="文本框 701631"/>
          <p:cNvSpPr txBox="1"/>
          <p:nvPr/>
        </p:nvSpPr>
        <p:spPr>
          <a:xfrm>
            <a:off x="111125" y="4868863"/>
            <a:ext cx="4389438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Monotype Sorts" pitchFamily="2" charset="2"/>
              </a:rPr>
              <a:t>一个小球（粒子）的多次行为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Monotype Sorts" pitchFamily="2" charset="2"/>
              </a:rPr>
              <a:t>大量小球（粒子）的一次行为</a:t>
            </a:r>
          </a:p>
        </p:txBody>
      </p:sp>
      <p:sp>
        <p:nvSpPr>
          <p:cNvPr id="2" name="矩形标注 701633"/>
          <p:cNvSpPr/>
          <p:nvPr/>
        </p:nvSpPr>
        <p:spPr>
          <a:xfrm rot="10800000">
            <a:off x="4932363" y="5084763"/>
            <a:ext cx="2232025" cy="609600"/>
          </a:xfrm>
          <a:prstGeom prst="wedgeRectCallout">
            <a:avLst>
              <a:gd name="adj1" fmla="val 74676"/>
              <a:gd name="adj2" fmla="val 13019"/>
            </a:avLst>
          </a:prstGeom>
          <a:gradFill rotWithShape="1">
            <a:gsLst>
              <a:gs pos="0">
                <a:srgbClr val="CCFFFF"/>
              </a:gs>
              <a:gs pos="50000">
                <a:schemeClr val="bg1"/>
              </a:gs>
              <a:gs pos="100000">
                <a:srgbClr val="CCFFFF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400" b="1" i="0" u="none" strike="noStrike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大量偶然事件</a:t>
            </a:r>
          </a:p>
        </p:txBody>
      </p:sp>
      <p:sp>
        <p:nvSpPr>
          <p:cNvPr id="701635" name="矩形 701634"/>
          <p:cNvSpPr/>
          <p:nvPr/>
        </p:nvSpPr>
        <p:spPr>
          <a:xfrm>
            <a:off x="107950" y="4797425"/>
            <a:ext cx="4249738" cy="1152525"/>
          </a:xfrm>
          <a:prstGeom prst="rect">
            <a:avLst/>
          </a:prstGeom>
          <a:noFill/>
          <a:ln w="28575" cap="flat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701636" name="文本框 701635"/>
          <p:cNvSpPr txBox="1"/>
          <p:nvPr/>
        </p:nvSpPr>
        <p:spPr>
          <a:xfrm>
            <a:off x="106363" y="6107113"/>
            <a:ext cx="561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服从同样的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统计规律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1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701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7016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701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01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1631" grpId="0" animBg="1"/>
      <p:bldP spid="701632" grpId="0" build="p"/>
      <p:bldP spid="2" grpId="0" animBg="1"/>
      <p:bldP spid="7016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4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602116" name="文本框 602115"/>
          <p:cNvSpPr txBox="1"/>
          <p:nvPr/>
        </p:nvSpPr>
        <p:spPr>
          <a:xfrm>
            <a:off x="450850" y="3957638"/>
            <a:ext cx="8382000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统计规律的特点</a:t>
            </a:r>
            <a:r>
              <a:rPr kumimoji="0" lang="en-US" altLang="zh-CN" sz="28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:</a:t>
            </a:r>
            <a:endParaRPr kumimoji="0" lang="en-US" altLang="zh-CN" sz="2800" i="1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602117" name="文本框 602116"/>
          <p:cNvSpPr txBox="1"/>
          <p:nvPr/>
        </p:nvSpPr>
        <p:spPr>
          <a:xfrm>
            <a:off x="234950" y="5800725"/>
            <a:ext cx="548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）与系统所处宏观条件有关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</a:p>
        </p:txBody>
      </p:sp>
      <p:sp>
        <p:nvSpPr>
          <p:cNvPr id="602118" name="矩形 602117"/>
          <p:cNvSpPr/>
          <p:nvPr/>
        </p:nvSpPr>
        <p:spPr>
          <a:xfrm>
            <a:off x="234950" y="4462463"/>
            <a:ext cx="47021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）只对大量偶然的事件才有效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</a:p>
        </p:txBody>
      </p:sp>
      <p:sp>
        <p:nvSpPr>
          <p:cNvPr id="602119" name="矩形 602118"/>
          <p:cNvSpPr/>
          <p:nvPr/>
        </p:nvSpPr>
        <p:spPr>
          <a:xfrm>
            <a:off x="234950" y="4953000"/>
            <a:ext cx="9577388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）是有别于个体规律的整体规律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（单个粒子服从牛顿力学规律）</a:t>
            </a:r>
          </a:p>
        </p:txBody>
      </p:sp>
      <p:sp>
        <p:nvSpPr>
          <p:cNvPr id="602120" name="矩形 602119"/>
          <p:cNvSpPr/>
          <p:nvPr/>
        </p:nvSpPr>
        <p:spPr>
          <a:xfrm>
            <a:off x="234950" y="6270625"/>
            <a:ext cx="81375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）总是伴随着涨落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即对统计规律 的偏离现象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</a:p>
        </p:txBody>
      </p:sp>
      <p:grpSp>
        <p:nvGrpSpPr>
          <p:cNvPr id="51207" name="组合 602120"/>
          <p:cNvGrpSpPr/>
          <p:nvPr/>
        </p:nvGrpSpPr>
        <p:grpSpPr>
          <a:xfrm>
            <a:off x="5364163" y="260350"/>
            <a:ext cx="2897187" cy="3603625"/>
            <a:chOff x="3112" y="1976"/>
            <a:chExt cx="1825" cy="2270"/>
          </a:xfrm>
        </p:grpSpPr>
        <p:sp>
          <p:nvSpPr>
            <p:cNvPr id="51208" name="椭圆 602121"/>
            <p:cNvSpPr/>
            <p:nvPr/>
          </p:nvSpPr>
          <p:spPr>
            <a:xfrm>
              <a:off x="4128" y="410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09" name="椭圆 602122"/>
            <p:cNvSpPr/>
            <p:nvPr/>
          </p:nvSpPr>
          <p:spPr>
            <a:xfrm>
              <a:off x="3264" y="415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10" name="椭圆 602123"/>
            <p:cNvSpPr/>
            <p:nvPr/>
          </p:nvSpPr>
          <p:spPr>
            <a:xfrm>
              <a:off x="4032" y="357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11" name="椭圆 602124"/>
            <p:cNvSpPr/>
            <p:nvPr/>
          </p:nvSpPr>
          <p:spPr>
            <a:xfrm>
              <a:off x="3744" y="410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12" name="椭圆 602125"/>
            <p:cNvSpPr/>
            <p:nvPr/>
          </p:nvSpPr>
          <p:spPr>
            <a:xfrm>
              <a:off x="4416" y="386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13" name="椭圆 602126"/>
            <p:cNvSpPr/>
            <p:nvPr/>
          </p:nvSpPr>
          <p:spPr>
            <a:xfrm>
              <a:off x="4704" y="410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14" name="直接连接符 602127"/>
            <p:cNvSpPr/>
            <p:nvPr/>
          </p:nvSpPr>
          <p:spPr>
            <a:xfrm>
              <a:off x="3360" y="3094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1215" name="直接连接符 602128"/>
            <p:cNvSpPr/>
            <p:nvPr/>
          </p:nvSpPr>
          <p:spPr>
            <a:xfrm>
              <a:off x="3552" y="3094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1216" name="直接连接符 602129"/>
            <p:cNvSpPr/>
            <p:nvPr/>
          </p:nvSpPr>
          <p:spPr>
            <a:xfrm>
              <a:off x="3744" y="3094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1217" name="直接连接符 602130"/>
            <p:cNvSpPr/>
            <p:nvPr/>
          </p:nvSpPr>
          <p:spPr>
            <a:xfrm>
              <a:off x="3936" y="3094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1218" name="直接连接符 602131"/>
            <p:cNvSpPr/>
            <p:nvPr/>
          </p:nvSpPr>
          <p:spPr>
            <a:xfrm>
              <a:off x="4128" y="3094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1219" name="直接连接符 602132"/>
            <p:cNvSpPr/>
            <p:nvPr/>
          </p:nvSpPr>
          <p:spPr>
            <a:xfrm>
              <a:off x="4320" y="3094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1220" name="直接连接符 602133"/>
            <p:cNvSpPr/>
            <p:nvPr/>
          </p:nvSpPr>
          <p:spPr>
            <a:xfrm>
              <a:off x="4512" y="3094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1221" name="直接连接符 602134"/>
            <p:cNvSpPr/>
            <p:nvPr/>
          </p:nvSpPr>
          <p:spPr>
            <a:xfrm>
              <a:off x="4704" y="3094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1222" name="任意多边形 602135"/>
            <p:cNvSpPr/>
            <p:nvPr/>
          </p:nvSpPr>
          <p:spPr>
            <a:xfrm>
              <a:off x="3112" y="1990"/>
              <a:ext cx="1825" cy="2256"/>
            </a:xfrm>
            <a:custGeom>
              <a:avLst/>
              <a:gdLst/>
              <a:ahLst/>
              <a:cxnLst>
                <a:cxn ang="0">
                  <a:pos x="816" y="0"/>
                </a:cxn>
                <a:cxn ang="0">
                  <a:pos x="0" y="0"/>
                </a:cxn>
                <a:cxn ang="0">
                  <a:pos x="0" y="2256"/>
                </a:cxn>
                <a:cxn ang="0">
                  <a:pos x="1825" y="2256"/>
                </a:cxn>
                <a:cxn ang="0">
                  <a:pos x="1825" y="0"/>
                </a:cxn>
                <a:cxn ang="0">
                  <a:pos x="961" y="0"/>
                </a:cxn>
              </a:cxnLst>
              <a:rect l="0" t="0" r="0" b="0"/>
              <a:pathLst>
                <a:path w="1824" h="2256">
                  <a:moveTo>
                    <a:pt x="816" y="0"/>
                  </a:moveTo>
                  <a:lnTo>
                    <a:pt x="0" y="0"/>
                  </a:lnTo>
                  <a:lnTo>
                    <a:pt x="0" y="2256"/>
                  </a:lnTo>
                  <a:lnTo>
                    <a:pt x="1824" y="2256"/>
                  </a:lnTo>
                  <a:lnTo>
                    <a:pt x="1824" y="0"/>
                  </a:lnTo>
                  <a:lnTo>
                    <a:pt x="96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3" name="椭圆 602136"/>
            <p:cNvSpPr/>
            <p:nvPr/>
          </p:nvSpPr>
          <p:spPr>
            <a:xfrm>
              <a:off x="4224" y="415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24" name="椭圆 602137"/>
            <p:cNvSpPr/>
            <p:nvPr/>
          </p:nvSpPr>
          <p:spPr>
            <a:xfrm>
              <a:off x="4224" y="405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25" name="椭圆 602138"/>
            <p:cNvSpPr/>
            <p:nvPr/>
          </p:nvSpPr>
          <p:spPr>
            <a:xfrm>
              <a:off x="4128" y="400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26" name="椭圆 602139"/>
            <p:cNvSpPr/>
            <p:nvPr/>
          </p:nvSpPr>
          <p:spPr>
            <a:xfrm>
              <a:off x="4224" y="395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27" name="椭圆 602140"/>
            <p:cNvSpPr/>
            <p:nvPr/>
          </p:nvSpPr>
          <p:spPr>
            <a:xfrm>
              <a:off x="4128" y="391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28" name="椭圆 602141"/>
            <p:cNvSpPr/>
            <p:nvPr/>
          </p:nvSpPr>
          <p:spPr>
            <a:xfrm>
              <a:off x="4128" y="381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29" name="椭圆 602142"/>
            <p:cNvSpPr/>
            <p:nvPr/>
          </p:nvSpPr>
          <p:spPr>
            <a:xfrm>
              <a:off x="4224" y="386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30" name="椭圆 602143"/>
            <p:cNvSpPr/>
            <p:nvPr/>
          </p:nvSpPr>
          <p:spPr>
            <a:xfrm>
              <a:off x="4224" y="376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31" name="椭圆 602144"/>
            <p:cNvSpPr/>
            <p:nvPr/>
          </p:nvSpPr>
          <p:spPr>
            <a:xfrm>
              <a:off x="4128" y="371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32" name="椭圆 602145"/>
            <p:cNvSpPr/>
            <p:nvPr/>
          </p:nvSpPr>
          <p:spPr>
            <a:xfrm>
              <a:off x="4224" y="367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33" name="椭圆 602146"/>
            <p:cNvSpPr/>
            <p:nvPr/>
          </p:nvSpPr>
          <p:spPr>
            <a:xfrm>
              <a:off x="4128" y="362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grpSp>
          <p:nvGrpSpPr>
            <p:cNvPr id="51234" name="组合 602147"/>
            <p:cNvGrpSpPr/>
            <p:nvPr/>
          </p:nvGrpSpPr>
          <p:grpSpPr>
            <a:xfrm>
              <a:off x="3936" y="3910"/>
              <a:ext cx="192" cy="336"/>
              <a:chOff x="4224" y="2880"/>
              <a:chExt cx="192" cy="336"/>
            </a:xfrm>
          </p:grpSpPr>
          <p:sp>
            <p:nvSpPr>
              <p:cNvPr id="51235" name="椭圆 602148"/>
              <p:cNvSpPr/>
              <p:nvPr/>
            </p:nvSpPr>
            <p:spPr>
              <a:xfrm>
                <a:off x="4224" y="3072"/>
                <a:ext cx="96" cy="96"/>
              </a:xfrm>
              <a:prstGeom prst="ellipse">
                <a:avLst/>
              </a:prstGeom>
              <a:gradFill rotWithShape="0">
                <a:gsLst>
                  <a:gs pos="0">
                    <a:srgbClr val="FF9900"/>
                  </a:gs>
                  <a:gs pos="100000">
                    <a:srgbClr val="945900"/>
                  </a:gs>
                </a:gsLst>
                <a:path path="shape">
                  <a:fillToRect l="50000" t="50000" r="50000" b="50000"/>
                </a:path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236" name="椭圆 602149"/>
              <p:cNvSpPr/>
              <p:nvPr/>
            </p:nvSpPr>
            <p:spPr>
              <a:xfrm>
                <a:off x="4320" y="3120"/>
                <a:ext cx="96" cy="96"/>
              </a:xfrm>
              <a:prstGeom prst="ellipse">
                <a:avLst/>
              </a:prstGeom>
              <a:gradFill rotWithShape="0">
                <a:gsLst>
                  <a:gs pos="0">
                    <a:srgbClr val="FF9900"/>
                  </a:gs>
                  <a:gs pos="100000">
                    <a:srgbClr val="945900"/>
                  </a:gs>
                </a:gsLst>
                <a:path path="shape">
                  <a:fillToRect l="50000" t="50000" r="50000" b="50000"/>
                </a:path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237" name="椭圆 602150"/>
              <p:cNvSpPr/>
              <p:nvPr/>
            </p:nvSpPr>
            <p:spPr>
              <a:xfrm>
                <a:off x="4320" y="3024"/>
                <a:ext cx="96" cy="96"/>
              </a:xfrm>
              <a:prstGeom prst="ellipse">
                <a:avLst/>
              </a:prstGeom>
              <a:gradFill rotWithShape="0">
                <a:gsLst>
                  <a:gs pos="0">
                    <a:srgbClr val="FF9900"/>
                  </a:gs>
                  <a:gs pos="100000">
                    <a:srgbClr val="945900"/>
                  </a:gs>
                </a:gsLst>
                <a:path path="shape">
                  <a:fillToRect l="50000" t="50000" r="50000" b="50000"/>
                </a:path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238" name="椭圆 602151"/>
              <p:cNvSpPr/>
              <p:nvPr/>
            </p:nvSpPr>
            <p:spPr>
              <a:xfrm>
                <a:off x="4224" y="2976"/>
                <a:ext cx="96" cy="96"/>
              </a:xfrm>
              <a:prstGeom prst="ellipse">
                <a:avLst/>
              </a:prstGeom>
              <a:gradFill rotWithShape="0">
                <a:gsLst>
                  <a:gs pos="0">
                    <a:srgbClr val="FF9900"/>
                  </a:gs>
                  <a:gs pos="100000">
                    <a:srgbClr val="945900"/>
                  </a:gs>
                </a:gsLst>
                <a:path path="shape">
                  <a:fillToRect l="50000" t="50000" r="50000" b="50000"/>
                </a:path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239" name="椭圆 602152"/>
              <p:cNvSpPr/>
              <p:nvPr/>
            </p:nvSpPr>
            <p:spPr>
              <a:xfrm>
                <a:off x="4320" y="2928"/>
                <a:ext cx="96" cy="96"/>
              </a:xfrm>
              <a:prstGeom prst="ellipse">
                <a:avLst/>
              </a:prstGeom>
              <a:gradFill rotWithShape="0">
                <a:gsLst>
                  <a:gs pos="0">
                    <a:srgbClr val="FF9900"/>
                  </a:gs>
                  <a:gs pos="100000">
                    <a:srgbClr val="945900"/>
                  </a:gs>
                </a:gsLst>
                <a:path path="shape">
                  <a:fillToRect l="50000" t="50000" r="50000" b="50000"/>
                </a:path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240" name="椭圆 602153"/>
              <p:cNvSpPr/>
              <p:nvPr/>
            </p:nvSpPr>
            <p:spPr>
              <a:xfrm>
                <a:off x="4224" y="2880"/>
                <a:ext cx="96" cy="96"/>
              </a:xfrm>
              <a:prstGeom prst="ellipse">
                <a:avLst/>
              </a:prstGeom>
              <a:gradFill rotWithShape="0">
                <a:gsLst>
                  <a:gs pos="0">
                    <a:srgbClr val="FF9900"/>
                  </a:gs>
                  <a:gs pos="100000">
                    <a:srgbClr val="945900"/>
                  </a:gs>
                </a:gsLst>
                <a:path path="shape">
                  <a:fillToRect l="50000" t="50000" r="50000" b="50000"/>
                </a:path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  <p:sp>
          <p:nvSpPr>
            <p:cNvPr id="51241" name="椭圆 602154"/>
            <p:cNvSpPr/>
            <p:nvPr/>
          </p:nvSpPr>
          <p:spPr>
            <a:xfrm>
              <a:off x="3936" y="381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42" name="椭圆 602155"/>
            <p:cNvSpPr/>
            <p:nvPr/>
          </p:nvSpPr>
          <p:spPr>
            <a:xfrm>
              <a:off x="4032" y="386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43" name="椭圆 602156"/>
            <p:cNvSpPr/>
            <p:nvPr/>
          </p:nvSpPr>
          <p:spPr>
            <a:xfrm>
              <a:off x="4032" y="376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44" name="椭圆 602157"/>
            <p:cNvSpPr/>
            <p:nvPr/>
          </p:nvSpPr>
          <p:spPr>
            <a:xfrm>
              <a:off x="3936" y="371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45" name="椭圆 602158"/>
            <p:cNvSpPr/>
            <p:nvPr/>
          </p:nvSpPr>
          <p:spPr>
            <a:xfrm>
              <a:off x="4032" y="367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46" name="椭圆 602159"/>
            <p:cNvSpPr/>
            <p:nvPr/>
          </p:nvSpPr>
          <p:spPr>
            <a:xfrm>
              <a:off x="3936" y="362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47" name="椭圆 602160"/>
            <p:cNvSpPr/>
            <p:nvPr/>
          </p:nvSpPr>
          <p:spPr>
            <a:xfrm>
              <a:off x="4320" y="410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48" name="椭圆 602161"/>
            <p:cNvSpPr/>
            <p:nvPr/>
          </p:nvSpPr>
          <p:spPr>
            <a:xfrm>
              <a:off x="4416" y="415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49" name="椭圆 602162"/>
            <p:cNvSpPr/>
            <p:nvPr/>
          </p:nvSpPr>
          <p:spPr>
            <a:xfrm>
              <a:off x="4416" y="405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50" name="椭圆 602163"/>
            <p:cNvSpPr/>
            <p:nvPr/>
          </p:nvSpPr>
          <p:spPr>
            <a:xfrm>
              <a:off x="4320" y="400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51" name="椭圆 602164"/>
            <p:cNvSpPr/>
            <p:nvPr/>
          </p:nvSpPr>
          <p:spPr>
            <a:xfrm>
              <a:off x="4416" y="395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52" name="椭圆 602165"/>
            <p:cNvSpPr/>
            <p:nvPr/>
          </p:nvSpPr>
          <p:spPr>
            <a:xfrm>
              <a:off x="4320" y="391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53" name="椭圆 602166"/>
            <p:cNvSpPr/>
            <p:nvPr/>
          </p:nvSpPr>
          <p:spPr>
            <a:xfrm>
              <a:off x="3744" y="410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54" name="椭圆 602167"/>
            <p:cNvSpPr/>
            <p:nvPr/>
          </p:nvSpPr>
          <p:spPr>
            <a:xfrm>
              <a:off x="3840" y="415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55" name="椭圆 602168"/>
            <p:cNvSpPr/>
            <p:nvPr/>
          </p:nvSpPr>
          <p:spPr>
            <a:xfrm>
              <a:off x="3840" y="405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56" name="椭圆 602169"/>
            <p:cNvSpPr/>
            <p:nvPr/>
          </p:nvSpPr>
          <p:spPr>
            <a:xfrm>
              <a:off x="3744" y="400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57" name="椭圆 602170"/>
            <p:cNvSpPr/>
            <p:nvPr/>
          </p:nvSpPr>
          <p:spPr>
            <a:xfrm>
              <a:off x="3840" y="395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58" name="椭圆 602171"/>
            <p:cNvSpPr/>
            <p:nvPr/>
          </p:nvSpPr>
          <p:spPr>
            <a:xfrm>
              <a:off x="3744" y="391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59" name="椭圆 602172"/>
            <p:cNvSpPr/>
            <p:nvPr/>
          </p:nvSpPr>
          <p:spPr>
            <a:xfrm>
              <a:off x="3744" y="381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60" name="椭圆 602173"/>
            <p:cNvSpPr/>
            <p:nvPr/>
          </p:nvSpPr>
          <p:spPr>
            <a:xfrm>
              <a:off x="3840" y="386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61" name="椭圆 602174"/>
            <p:cNvSpPr/>
            <p:nvPr/>
          </p:nvSpPr>
          <p:spPr>
            <a:xfrm>
              <a:off x="3840" y="376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62" name="椭圆 602175"/>
            <p:cNvSpPr/>
            <p:nvPr/>
          </p:nvSpPr>
          <p:spPr>
            <a:xfrm>
              <a:off x="3744" y="371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63" name="椭圆 602176"/>
            <p:cNvSpPr/>
            <p:nvPr/>
          </p:nvSpPr>
          <p:spPr>
            <a:xfrm>
              <a:off x="3840" y="367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64" name="椭圆 602177"/>
            <p:cNvSpPr/>
            <p:nvPr/>
          </p:nvSpPr>
          <p:spPr>
            <a:xfrm>
              <a:off x="4320" y="381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65" name="椭圆 602178"/>
            <p:cNvSpPr/>
            <p:nvPr/>
          </p:nvSpPr>
          <p:spPr>
            <a:xfrm>
              <a:off x="3552" y="410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66" name="椭圆 602179"/>
            <p:cNvSpPr/>
            <p:nvPr/>
          </p:nvSpPr>
          <p:spPr>
            <a:xfrm>
              <a:off x="3648" y="415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67" name="椭圆 602180"/>
            <p:cNvSpPr/>
            <p:nvPr/>
          </p:nvSpPr>
          <p:spPr>
            <a:xfrm>
              <a:off x="3648" y="405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68" name="椭圆 602181"/>
            <p:cNvSpPr/>
            <p:nvPr/>
          </p:nvSpPr>
          <p:spPr>
            <a:xfrm>
              <a:off x="3552" y="400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69" name="椭圆 602182"/>
            <p:cNvSpPr/>
            <p:nvPr/>
          </p:nvSpPr>
          <p:spPr>
            <a:xfrm>
              <a:off x="3648" y="395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70" name="椭圆 602183"/>
            <p:cNvSpPr/>
            <p:nvPr/>
          </p:nvSpPr>
          <p:spPr>
            <a:xfrm>
              <a:off x="3552" y="391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71" name="椭圆 602184"/>
            <p:cNvSpPr/>
            <p:nvPr/>
          </p:nvSpPr>
          <p:spPr>
            <a:xfrm>
              <a:off x="4800" y="415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72" name="椭圆 602185"/>
            <p:cNvSpPr/>
            <p:nvPr/>
          </p:nvSpPr>
          <p:spPr>
            <a:xfrm>
              <a:off x="3648" y="386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73" name="椭圆 602186"/>
            <p:cNvSpPr/>
            <p:nvPr/>
          </p:nvSpPr>
          <p:spPr>
            <a:xfrm>
              <a:off x="3648" y="376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74" name="椭圆 602187"/>
            <p:cNvSpPr/>
            <p:nvPr/>
          </p:nvSpPr>
          <p:spPr>
            <a:xfrm>
              <a:off x="3120" y="415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75" name="椭圆 602188"/>
            <p:cNvSpPr/>
            <p:nvPr/>
          </p:nvSpPr>
          <p:spPr>
            <a:xfrm>
              <a:off x="3456" y="415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76" name="椭圆 602189"/>
            <p:cNvSpPr/>
            <p:nvPr/>
          </p:nvSpPr>
          <p:spPr>
            <a:xfrm>
              <a:off x="3360" y="410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77" name="椭圆 602190"/>
            <p:cNvSpPr/>
            <p:nvPr/>
          </p:nvSpPr>
          <p:spPr>
            <a:xfrm>
              <a:off x="3360" y="400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78" name="椭圆 602191"/>
            <p:cNvSpPr/>
            <p:nvPr/>
          </p:nvSpPr>
          <p:spPr>
            <a:xfrm>
              <a:off x="3456" y="405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79" name="椭圆 602192"/>
            <p:cNvSpPr/>
            <p:nvPr/>
          </p:nvSpPr>
          <p:spPr>
            <a:xfrm>
              <a:off x="3456" y="395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80" name="椭圆 602193"/>
            <p:cNvSpPr/>
            <p:nvPr/>
          </p:nvSpPr>
          <p:spPr>
            <a:xfrm>
              <a:off x="4416" y="3759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81" name="椭圆 602194"/>
            <p:cNvSpPr/>
            <p:nvPr/>
          </p:nvSpPr>
          <p:spPr>
            <a:xfrm>
              <a:off x="4608" y="415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82" name="椭圆 602195"/>
            <p:cNvSpPr/>
            <p:nvPr/>
          </p:nvSpPr>
          <p:spPr>
            <a:xfrm>
              <a:off x="4512" y="410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83" name="椭圆 602196"/>
            <p:cNvSpPr/>
            <p:nvPr/>
          </p:nvSpPr>
          <p:spPr>
            <a:xfrm>
              <a:off x="4512" y="400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84" name="椭圆 602197"/>
            <p:cNvSpPr/>
            <p:nvPr/>
          </p:nvSpPr>
          <p:spPr>
            <a:xfrm>
              <a:off x="4608" y="405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85" name="椭圆 602198"/>
            <p:cNvSpPr/>
            <p:nvPr/>
          </p:nvSpPr>
          <p:spPr>
            <a:xfrm>
              <a:off x="4608" y="395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86" name="椭圆 602199"/>
            <p:cNvSpPr/>
            <p:nvPr/>
          </p:nvSpPr>
          <p:spPr>
            <a:xfrm>
              <a:off x="4512" y="391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287" name="直接连接符 602200"/>
            <p:cNvSpPr/>
            <p:nvPr/>
          </p:nvSpPr>
          <p:spPr>
            <a:xfrm flipH="1">
              <a:off x="3840" y="1976"/>
              <a:ext cx="96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1288" name="直接连接符 602201"/>
            <p:cNvSpPr/>
            <p:nvPr/>
          </p:nvSpPr>
          <p:spPr>
            <a:xfrm>
              <a:off x="4073" y="1976"/>
              <a:ext cx="96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grpSp>
          <p:nvGrpSpPr>
            <p:cNvPr id="51289" name="组合 602202"/>
            <p:cNvGrpSpPr/>
            <p:nvPr/>
          </p:nvGrpSpPr>
          <p:grpSpPr>
            <a:xfrm>
              <a:off x="3216" y="2278"/>
              <a:ext cx="1584" cy="48"/>
              <a:chOff x="480" y="1152"/>
              <a:chExt cx="1584" cy="48"/>
            </a:xfrm>
          </p:grpSpPr>
          <p:sp>
            <p:nvSpPr>
              <p:cNvPr id="51290" name="椭圆 602203"/>
              <p:cNvSpPr/>
              <p:nvPr/>
            </p:nvSpPr>
            <p:spPr>
              <a:xfrm>
                <a:off x="48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291" name="椭圆 602204"/>
              <p:cNvSpPr/>
              <p:nvPr/>
            </p:nvSpPr>
            <p:spPr>
              <a:xfrm>
                <a:off x="67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292" name="椭圆 602205"/>
              <p:cNvSpPr/>
              <p:nvPr/>
            </p:nvSpPr>
            <p:spPr>
              <a:xfrm>
                <a:off x="86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293" name="椭圆 602206"/>
              <p:cNvSpPr/>
              <p:nvPr/>
            </p:nvSpPr>
            <p:spPr>
              <a:xfrm>
                <a:off x="105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294" name="椭圆 602207"/>
              <p:cNvSpPr/>
              <p:nvPr/>
            </p:nvSpPr>
            <p:spPr>
              <a:xfrm>
                <a:off x="1248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295" name="椭圆 602208"/>
              <p:cNvSpPr/>
              <p:nvPr/>
            </p:nvSpPr>
            <p:spPr>
              <a:xfrm>
                <a:off x="144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296" name="椭圆 602209"/>
              <p:cNvSpPr/>
              <p:nvPr/>
            </p:nvSpPr>
            <p:spPr>
              <a:xfrm>
                <a:off x="163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297" name="椭圆 602210"/>
              <p:cNvSpPr/>
              <p:nvPr/>
            </p:nvSpPr>
            <p:spPr>
              <a:xfrm>
                <a:off x="182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298" name="椭圆 602211"/>
              <p:cNvSpPr/>
              <p:nvPr/>
            </p:nvSpPr>
            <p:spPr>
              <a:xfrm>
                <a:off x="201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  <p:grpSp>
          <p:nvGrpSpPr>
            <p:cNvPr id="51299" name="组合 602212"/>
            <p:cNvGrpSpPr/>
            <p:nvPr/>
          </p:nvGrpSpPr>
          <p:grpSpPr>
            <a:xfrm>
              <a:off x="3216" y="2470"/>
              <a:ext cx="1584" cy="48"/>
              <a:chOff x="480" y="1152"/>
              <a:chExt cx="1584" cy="48"/>
            </a:xfrm>
          </p:grpSpPr>
          <p:sp>
            <p:nvSpPr>
              <p:cNvPr id="51300" name="椭圆 602213"/>
              <p:cNvSpPr/>
              <p:nvPr/>
            </p:nvSpPr>
            <p:spPr>
              <a:xfrm>
                <a:off x="48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01" name="椭圆 602214"/>
              <p:cNvSpPr/>
              <p:nvPr/>
            </p:nvSpPr>
            <p:spPr>
              <a:xfrm>
                <a:off x="67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02" name="椭圆 602215"/>
              <p:cNvSpPr/>
              <p:nvPr/>
            </p:nvSpPr>
            <p:spPr>
              <a:xfrm>
                <a:off x="86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03" name="椭圆 602216"/>
              <p:cNvSpPr/>
              <p:nvPr/>
            </p:nvSpPr>
            <p:spPr>
              <a:xfrm>
                <a:off x="105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04" name="椭圆 602217"/>
              <p:cNvSpPr/>
              <p:nvPr/>
            </p:nvSpPr>
            <p:spPr>
              <a:xfrm>
                <a:off x="1248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05" name="椭圆 602218"/>
              <p:cNvSpPr/>
              <p:nvPr/>
            </p:nvSpPr>
            <p:spPr>
              <a:xfrm>
                <a:off x="144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06" name="椭圆 602219"/>
              <p:cNvSpPr/>
              <p:nvPr/>
            </p:nvSpPr>
            <p:spPr>
              <a:xfrm>
                <a:off x="163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07" name="椭圆 602220"/>
              <p:cNvSpPr/>
              <p:nvPr/>
            </p:nvSpPr>
            <p:spPr>
              <a:xfrm>
                <a:off x="182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08" name="椭圆 602221"/>
              <p:cNvSpPr/>
              <p:nvPr/>
            </p:nvSpPr>
            <p:spPr>
              <a:xfrm>
                <a:off x="201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  <p:grpSp>
          <p:nvGrpSpPr>
            <p:cNvPr id="51309" name="组合 602222"/>
            <p:cNvGrpSpPr/>
            <p:nvPr/>
          </p:nvGrpSpPr>
          <p:grpSpPr>
            <a:xfrm>
              <a:off x="3216" y="2662"/>
              <a:ext cx="1584" cy="48"/>
              <a:chOff x="480" y="1152"/>
              <a:chExt cx="1584" cy="48"/>
            </a:xfrm>
          </p:grpSpPr>
          <p:sp>
            <p:nvSpPr>
              <p:cNvPr id="51310" name="椭圆 602223"/>
              <p:cNvSpPr/>
              <p:nvPr/>
            </p:nvSpPr>
            <p:spPr>
              <a:xfrm>
                <a:off x="48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11" name="椭圆 602224"/>
              <p:cNvSpPr/>
              <p:nvPr/>
            </p:nvSpPr>
            <p:spPr>
              <a:xfrm>
                <a:off x="67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12" name="椭圆 602225"/>
              <p:cNvSpPr/>
              <p:nvPr/>
            </p:nvSpPr>
            <p:spPr>
              <a:xfrm>
                <a:off x="86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13" name="椭圆 602226"/>
              <p:cNvSpPr/>
              <p:nvPr/>
            </p:nvSpPr>
            <p:spPr>
              <a:xfrm>
                <a:off x="105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14" name="椭圆 602227"/>
              <p:cNvSpPr/>
              <p:nvPr/>
            </p:nvSpPr>
            <p:spPr>
              <a:xfrm>
                <a:off x="1248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15" name="椭圆 602228"/>
              <p:cNvSpPr/>
              <p:nvPr/>
            </p:nvSpPr>
            <p:spPr>
              <a:xfrm>
                <a:off x="144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16" name="椭圆 602229"/>
              <p:cNvSpPr/>
              <p:nvPr/>
            </p:nvSpPr>
            <p:spPr>
              <a:xfrm>
                <a:off x="163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17" name="椭圆 602230"/>
              <p:cNvSpPr/>
              <p:nvPr/>
            </p:nvSpPr>
            <p:spPr>
              <a:xfrm>
                <a:off x="182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18" name="椭圆 602231"/>
              <p:cNvSpPr/>
              <p:nvPr/>
            </p:nvSpPr>
            <p:spPr>
              <a:xfrm>
                <a:off x="201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  <p:grpSp>
          <p:nvGrpSpPr>
            <p:cNvPr id="51319" name="组合 602232"/>
            <p:cNvGrpSpPr/>
            <p:nvPr/>
          </p:nvGrpSpPr>
          <p:grpSpPr>
            <a:xfrm>
              <a:off x="3216" y="2854"/>
              <a:ext cx="1584" cy="48"/>
              <a:chOff x="480" y="1152"/>
              <a:chExt cx="1584" cy="48"/>
            </a:xfrm>
          </p:grpSpPr>
          <p:sp>
            <p:nvSpPr>
              <p:cNvPr id="51320" name="椭圆 602233"/>
              <p:cNvSpPr/>
              <p:nvPr/>
            </p:nvSpPr>
            <p:spPr>
              <a:xfrm>
                <a:off x="48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21" name="椭圆 602234"/>
              <p:cNvSpPr/>
              <p:nvPr/>
            </p:nvSpPr>
            <p:spPr>
              <a:xfrm>
                <a:off x="67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22" name="椭圆 602235"/>
              <p:cNvSpPr/>
              <p:nvPr/>
            </p:nvSpPr>
            <p:spPr>
              <a:xfrm>
                <a:off x="86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23" name="椭圆 602236"/>
              <p:cNvSpPr/>
              <p:nvPr/>
            </p:nvSpPr>
            <p:spPr>
              <a:xfrm>
                <a:off x="105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24" name="椭圆 602237"/>
              <p:cNvSpPr/>
              <p:nvPr/>
            </p:nvSpPr>
            <p:spPr>
              <a:xfrm>
                <a:off x="1248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25" name="椭圆 602238"/>
              <p:cNvSpPr/>
              <p:nvPr/>
            </p:nvSpPr>
            <p:spPr>
              <a:xfrm>
                <a:off x="144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26" name="椭圆 602239"/>
              <p:cNvSpPr/>
              <p:nvPr/>
            </p:nvSpPr>
            <p:spPr>
              <a:xfrm>
                <a:off x="163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27" name="椭圆 602240"/>
              <p:cNvSpPr/>
              <p:nvPr/>
            </p:nvSpPr>
            <p:spPr>
              <a:xfrm>
                <a:off x="182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28" name="椭圆 602241"/>
              <p:cNvSpPr/>
              <p:nvPr/>
            </p:nvSpPr>
            <p:spPr>
              <a:xfrm>
                <a:off x="201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</p:grpSp>
      <p:grpSp>
        <p:nvGrpSpPr>
          <p:cNvPr id="51329" name="组合 602242"/>
          <p:cNvGrpSpPr/>
          <p:nvPr/>
        </p:nvGrpSpPr>
        <p:grpSpPr>
          <a:xfrm>
            <a:off x="1116013" y="260350"/>
            <a:ext cx="2897187" cy="3603625"/>
            <a:chOff x="249" y="2022"/>
            <a:chExt cx="1825" cy="2270"/>
          </a:xfrm>
        </p:grpSpPr>
        <p:sp>
          <p:nvSpPr>
            <p:cNvPr id="51330" name="任意多边形 602243"/>
            <p:cNvSpPr/>
            <p:nvPr/>
          </p:nvSpPr>
          <p:spPr>
            <a:xfrm>
              <a:off x="249" y="2035"/>
              <a:ext cx="1825" cy="2256"/>
            </a:xfrm>
            <a:custGeom>
              <a:avLst/>
              <a:gdLst/>
              <a:ahLst/>
              <a:cxnLst>
                <a:cxn ang="0">
                  <a:pos x="816" y="0"/>
                </a:cxn>
                <a:cxn ang="0">
                  <a:pos x="0" y="0"/>
                </a:cxn>
                <a:cxn ang="0">
                  <a:pos x="0" y="2256"/>
                </a:cxn>
                <a:cxn ang="0">
                  <a:pos x="1825" y="2256"/>
                </a:cxn>
                <a:cxn ang="0">
                  <a:pos x="1825" y="0"/>
                </a:cxn>
                <a:cxn ang="0">
                  <a:pos x="961" y="0"/>
                </a:cxn>
              </a:cxnLst>
              <a:rect l="0" t="0" r="0" b="0"/>
              <a:pathLst>
                <a:path w="1824" h="2256">
                  <a:moveTo>
                    <a:pt x="816" y="0"/>
                  </a:moveTo>
                  <a:lnTo>
                    <a:pt x="0" y="0"/>
                  </a:lnTo>
                  <a:lnTo>
                    <a:pt x="0" y="2256"/>
                  </a:lnTo>
                  <a:lnTo>
                    <a:pt x="1824" y="2256"/>
                  </a:lnTo>
                  <a:lnTo>
                    <a:pt x="1824" y="0"/>
                  </a:lnTo>
                  <a:lnTo>
                    <a:pt x="96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31" name="直接连接符 602244"/>
            <p:cNvSpPr/>
            <p:nvPr/>
          </p:nvSpPr>
          <p:spPr>
            <a:xfrm flipH="1">
              <a:off x="970" y="2022"/>
              <a:ext cx="96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1332" name="直接连接符 602245"/>
            <p:cNvSpPr/>
            <p:nvPr/>
          </p:nvSpPr>
          <p:spPr>
            <a:xfrm>
              <a:off x="1203" y="2022"/>
              <a:ext cx="96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1333" name="椭圆 602246"/>
            <p:cNvSpPr/>
            <p:nvPr/>
          </p:nvSpPr>
          <p:spPr>
            <a:xfrm>
              <a:off x="1066" y="213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334" name="椭圆 602247"/>
            <p:cNvSpPr/>
            <p:nvPr/>
          </p:nvSpPr>
          <p:spPr>
            <a:xfrm>
              <a:off x="792" y="227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335" name="椭圆 602248"/>
            <p:cNvSpPr/>
            <p:nvPr/>
          </p:nvSpPr>
          <p:spPr>
            <a:xfrm>
              <a:off x="613" y="238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336" name="椭圆 602249"/>
            <p:cNvSpPr/>
            <p:nvPr/>
          </p:nvSpPr>
          <p:spPr>
            <a:xfrm>
              <a:off x="593" y="275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337" name="椭圆 602250"/>
            <p:cNvSpPr/>
            <p:nvPr/>
          </p:nvSpPr>
          <p:spPr>
            <a:xfrm>
              <a:off x="778" y="28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338" name="椭圆 602251"/>
            <p:cNvSpPr/>
            <p:nvPr/>
          </p:nvSpPr>
          <p:spPr>
            <a:xfrm>
              <a:off x="984" y="251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339" name="椭圆 602252"/>
            <p:cNvSpPr/>
            <p:nvPr/>
          </p:nvSpPr>
          <p:spPr>
            <a:xfrm>
              <a:off x="1183" y="257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340" name="椭圆 602253"/>
            <p:cNvSpPr/>
            <p:nvPr/>
          </p:nvSpPr>
          <p:spPr>
            <a:xfrm>
              <a:off x="1553" y="261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341" name="椭圆 602254"/>
            <p:cNvSpPr/>
            <p:nvPr/>
          </p:nvSpPr>
          <p:spPr>
            <a:xfrm>
              <a:off x="1738" y="275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342" name="椭圆 602255"/>
            <p:cNvSpPr/>
            <p:nvPr/>
          </p:nvSpPr>
          <p:spPr>
            <a:xfrm>
              <a:off x="1361" y="29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343" name="椭圆 602256"/>
            <p:cNvSpPr/>
            <p:nvPr/>
          </p:nvSpPr>
          <p:spPr>
            <a:xfrm>
              <a:off x="339" y="376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344" name="椭圆 602257"/>
            <p:cNvSpPr/>
            <p:nvPr/>
          </p:nvSpPr>
          <p:spPr>
            <a:xfrm>
              <a:off x="717" y="41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345" name="椭圆 602258"/>
            <p:cNvSpPr/>
            <p:nvPr/>
          </p:nvSpPr>
          <p:spPr>
            <a:xfrm>
              <a:off x="1101" y="417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346" name="椭圆 602259"/>
            <p:cNvSpPr/>
            <p:nvPr/>
          </p:nvSpPr>
          <p:spPr>
            <a:xfrm>
              <a:off x="1485" y="376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347" name="椭圆 602260"/>
            <p:cNvSpPr/>
            <p:nvPr/>
          </p:nvSpPr>
          <p:spPr>
            <a:xfrm>
              <a:off x="1671" y="41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9459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grpSp>
          <p:nvGrpSpPr>
            <p:cNvPr id="51348" name="组合 602261"/>
            <p:cNvGrpSpPr/>
            <p:nvPr/>
          </p:nvGrpSpPr>
          <p:grpSpPr>
            <a:xfrm>
              <a:off x="346" y="2324"/>
              <a:ext cx="1584" cy="48"/>
              <a:chOff x="480" y="1152"/>
              <a:chExt cx="1584" cy="48"/>
            </a:xfrm>
          </p:grpSpPr>
          <p:sp>
            <p:nvSpPr>
              <p:cNvPr id="51349" name="椭圆 602262"/>
              <p:cNvSpPr/>
              <p:nvPr/>
            </p:nvSpPr>
            <p:spPr>
              <a:xfrm>
                <a:off x="48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50" name="椭圆 602263"/>
              <p:cNvSpPr/>
              <p:nvPr/>
            </p:nvSpPr>
            <p:spPr>
              <a:xfrm>
                <a:off x="67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51" name="椭圆 602264"/>
              <p:cNvSpPr/>
              <p:nvPr/>
            </p:nvSpPr>
            <p:spPr>
              <a:xfrm>
                <a:off x="86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52" name="椭圆 602265"/>
              <p:cNvSpPr/>
              <p:nvPr/>
            </p:nvSpPr>
            <p:spPr>
              <a:xfrm>
                <a:off x="105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53" name="椭圆 602266"/>
              <p:cNvSpPr/>
              <p:nvPr/>
            </p:nvSpPr>
            <p:spPr>
              <a:xfrm>
                <a:off x="1248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54" name="椭圆 602267"/>
              <p:cNvSpPr/>
              <p:nvPr/>
            </p:nvSpPr>
            <p:spPr>
              <a:xfrm>
                <a:off x="144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55" name="椭圆 602268"/>
              <p:cNvSpPr/>
              <p:nvPr/>
            </p:nvSpPr>
            <p:spPr>
              <a:xfrm>
                <a:off x="163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56" name="椭圆 602269"/>
              <p:cNvSpPr/>
              <p:nvPr/>
            </p:nvSpPr>
            <p:spPr>
              <a:xfrm>
                <a:off x="182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57" name="椭圆 602270"/>
              <p:cNvSpPr/>
              <p:nvPr/>
            </p:nvSpPr>
            <p:spPr>
              <a:xfrm>
                <a:off x="201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  <p:grpSp>
          <p:nvGrpSpPr>
            <p:cNvPr id="51358" name="组合 602271"/>
            <p:cNvGrpSpPr/>
            <p:nvPr/>
          </p:nvGrpSpPr>
          <p:grpSpPr>
            <a:xfrm>
              <a:off x="346" y="2516"/>
              <a:ext cx="1584" cy="48"/>
              <a:chOff x="480" y="1152"/>
              <a:chExt cx="1584" cy="48"/>
            </a:xfrm>
          </p:grpSpPr>
          <p:sp>
            <p:nvSpPr>
              <p:cNvPr id="51359" name="椭圆 602272"/>
              <p:cNvSpPr/>
              <p:nvPr/>
            </p:nvSpPr>
            <p:spPr>
              <a:xfrm>
                <a:off x="48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60" name="椭圆 602273"/>
              <p:cNvSpPr/>
              <p:nvPr/>
            </p:nvSpPr>
            <p:spPr>
              <a:xfrm>
                <a:off x="67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61" name="椭圆 602274"/>
              <p:cNvSpPr/>
              <p:nvPr/>
            </p:nvSpPr>
            <p:spPr>
              <a:xfrm>
                <a:off x="86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62" name="椭圆 602275"/>
              <p:cNvSpPr/>
              <p:nvPr/>
            </p:nvSpPr>
            <p:spPr>
              <a:xfrm>
                <a:off x="105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63" name="椭圆 602276"/>
              <p:cNvSpPr/>
              <p:nvPr/>
            </p:nvSpPr>
            <p:spPr>
              <a:xfrm>
                <a:off x="1248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64" name="椭圆 602277"/>
              <p:cNvSpPr/>
              <p:nvPr/>
            </p:nvSpPr>
            <p:spPr>
              <a:xfrm>
                <a:off x="144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65" name="椭圆 602278"/>
              <p:cNvSpPr/>
              <p:nvPr/>
            </p:nvSpPr>
            <p:spPr>
              <a:xfrm>
                <a:off x="163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66" name="椭圆 602279"/>
              <p:cNvSpPr/>
              <p:nvPr/>
            </p:nvSpPr>
            <p:spPr>
              <a:xfrm>
                <a:off x="182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67" name="椭圆 602280"/>
              <p:cNvSpPr/>
              <p:nvPr/>
            </p:nvSpPr>
            <p:spPr>
              <a:xfrm>
                <a:off x="201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  <p:grpSp>
          <p:nvGrpSpPr>
            <p:cNvPr id="51368" name="组合 602281"/>
            <p:cNvGrpSpPr/>
            <p:nvPr/>
          </p:nvGrpSpPr>
          <p:grpSpPr>
            <a:xfrm>
              <a:off x="346" y="2708"/>
              <a:ext cx="1584" cy="48"/>
              <a:chOff x="480" y="1152"/>
              <a:chExt cx="1584" cy="48"/>
            </a:xfrm>
          </p:grpSpPr>
          <p:sp>
            <p:nvSpPr>
              <p:cNvPr id="51369" name="椭圆 602282"/>
              <p:cNvSpPr/>
              <p:nvPr/>
            </p:nvSpPr>
            <p:spPr>
              <a:xfrm>
                <a:off x="48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70" name="椭圆 602283"/>
              <p:cNvSpPr/>
              <p:nvPr/>
            </p:nvSpPr>
            <p:spPr>
              <a:xfrm>
                <a:off x="67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71" name="椭圆 602284"/>
              <p:cNvSpPr/>
              <p:nvPr/>
            </p:nvSpPr>
            <p:spPr>
              <a:xfrm>
                <a:off x="86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72" name="椭圆 602285"/>
              <p:cNvSpPr/>
              <p:nvPr/>
            </p:nvSpPr>
            <p:spPr>
              <a:xfrm>
                <a:off x="105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73" name="椭圆 602286"/>
              <p:cNvSpPr/>
              <p:nvPr/>
            </p:nvSpPr>
            <p:spPr>
              <a:xfrm>
                <a:off x="1248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74" name="椭圆 602287"/>
              <p:cNvSpPr/>
              <p:nvPr/>
            </p:nvSpPr>
            <p:spPr>
              <a:xfrm>
                <a:off x="144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75" name="椭圆 602288"/>
              <p:cNvSpPr/>
              <p:nvPr/>
            </p:nvSpPr>
            <p:spPr>
              <a:xfrm>
                <a:off x="163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76" name="椭圆 602289"/>
              <p:cNvSpPr/>
              <p:nvPr/>
            </p:nvSpPr>
            <p:spPr>
              <a:xfrm>
                <a:off x="182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77" name="椭圆 602290"/>
              <p:cNvSpPr/>
              <p:nvPr/>
            </p:nvSpPr>
            <p:spPr>
              <a:xfrm>
                <a:off x="201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  <p:grpSp>
          <p:nvGrpSpPr>
            <p:cNvPr id="51378" name="组合 602291"/>
            <p:cNvGrpSpPr/>
            <p:nvPr/>
          </p:nvGrpSpPr>
          <p:grpSpPr>
            <a:xfrm>
              <a:off x="346" y="2900"/>
              <a:ext cx="1584" cy="48"/>
              <a:chOff x="480" y="1152"/>
              <a:chExt cx="1584" cy="48"/>
            </a:xfrm>
          </p:grpSpPr>
          <p:sp>
            <p:nvSpPr>
              <p:cNvPr id="51379" name="椭圆 602292"/>
              <p:cNvSpPr/>
              <p:nvPr/>
            </p:nvSpPr>
            <p:spPr>
              <a:xfrm>
                <a:off x="48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80" name="椭圆 602293"/>
              <p:cNvSpPr/>
              <p:nvPr/>
            </p:nvSpPr>
            <p:spPr>
              <a:xfrm>
                <a:off x="67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81" name="椭圆 602294"/>
              <p:cNvSpPr/>
              <p:nvPr/>
            </p:nvSpPr>
            <p:spPr>
              <a:xfrm>
                <a:off x="86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82" name="椭圆 602295"/>
              <p:cNvSpPr/>
              <p:nvPr/>
            </p:nvSpPr>
            <p:spPr>
              <a:xfrm>
                <a:off x="105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83" name="椭圆 602296"/>
              <p:cNvSpPr/>
              <p:nvPr/>
            </p:nvSpPr>
            <p:spPr>
              <a:xfrm>
                <a:off x="1248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84" name="椭圆 602297"/>
              <p:cNvSpPr/>
              <p:nvPr/>
            </p:nvSpPr>
            <p:spPr>
              <a:xfrm>
                <a:off x="1440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85" name="椭圆 602298"/>
              <p:cNvSpPr/>
              <p:nvPr/>
            </p:nvSpPr>
            <p:spPr>
              <a:xfrm>
                <a:off x="1632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86" name="椭圆 602299"/>
              <p:cNvSpPr/>
              <p:nvPr/>
            </p:nvSpPr>
            <p:spPr>
              <a:xfrm>
                <a:off x="1824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1387" name="椭圆 602300"/>
              <p:cNvSpPr/>
              <p:nvPr/>
            </p:nvSpPr>
            <p:spPr>
              <a:xfrm>
                <a:off x="2016" y="11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  <p:sp>
          <p:nvSpPr>
            <p:cNvPr id="51388" name="直接连接符 602301"/>
            <p:cNvSpPr/>
            <p:nvPr/>
          </p:nvSpPr>
          <p:spPr>
            <a:xfrm>
              <a:off x="477" y="3140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1389" name="直接连接符 602302"/>
            <p:cNvSpPr/>
            <p:nvPr/>
          </p:nvSpPr>
          <p:spPr>
            <a:xfrm>
              <a:off x="669" y="3140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1390" name="直接连接符 602303"/>
            <p:cNvSpPr/>
            <p:nvPr/>
          </p:nvSpPr>
          <p:spPr>
            <a:xfrm>
              <a:off x="861" y="3140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1391" name="直接连接符 602304"/>
            <p:cNvSpPr/>
            <p:nvPr/>
          </p:nvSpPr>
          <p:spPr>
            <a:xfrm>
              <a:off x="1053" y="3140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1392" name="直接连接符 602305"/>
            <p:cNvSpPr/>
            <p:nvPr/>
          </p:nvSpPr>
          <p:spPr>
            <a:xfrm>
              <a:off x="1245" y="3140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1393" name="直接连接符 602306"/>
            <p:cNvSpPr/>
            <p:nvPr/>
          </p:nvSpPr>
          <p:spPr>
            <a:xfrm>
              <a:off x="1437" y="3140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1394" name="直接连接符 602307"/>
            <p:cNvSpPr/>
            <p:nvPr/>
          </p:nvSpPr>
          <p:spPr>
            <a:xfrm>
              <a:off x="1629" y="3140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51395" name="直接连接符 602308"/>
            <p:cNvSpPr/>
            <p:nvPr/>
          </p:nvSpPr>
          <p:spPr>
            <a:xfrm>
              <a:off x="1821" y="3140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</p:grpSp>
      <p:sp>
        <p:nvSpPr>
          <p:cNvPr id="602310" name="文本框 602309"/>
          <p:cNvSpPr txBox="1"/>
          <p:nvPr/>
        </p:nvSpPr>
        <p:spPr>
          <a:xfrm>
            <a:off x="5580063" y="3933825"/>
            <a:ext cx="27368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 eaLnBrk="0" hangingPunct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若开口不在中间？</a:t>
            </a:r>
          </a:p>
        </p:txBody>
      </p:sp>
      <p:sp>
        <p:nvSpPr>
          <p:cNvPr id="602312" name="文本框 602311"/>
          <p:cNvSpPr txBox="1"/>
          <p:nvPr/>
        </p:nvSpPr>
        <p:spPr>
          <a:xfrm>
            <a:off x="6140450" y="5229225"/>
            <a:ext cx="1539875" cy="457200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zh-CN" altLang="en-US" sz="24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不矛盾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2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2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02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2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0" fill="hold"/>
                                        <p:tgtEl>
                                          <p:spTgt spid="602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0" fill="hold"/>
                                        <p:tgtEl>
                                          <p:spTgt spid="602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75"/>
                                        <p:tgtEl>
                                          <p:spTgt spid="602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02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2116" grpId="0" build="p"/>
      <p:bldP spid="602117" grpId="0" build="p"/>
      <p:bldP spid="602118" grpId="0"/>
      <p:bldP spid="602119" grpId="0"/>
      <p:bldP spid="602120" grpId="0"/>
      <p:bldP spid="602310" grpId="0"/>
      <p:bldP spid="60231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5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779266" name="文本框 779265"/>
          <p:cNvSpPr txBox="1"/>
          <p:nvPr/>
        </p:nvSpPr>
        <p:spPr>
          <a:xfrm>
            <a:off x="150813" y="115888"/>
            <a:ext cx="8021638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二、 概率及性质</a:t>
            </a:r>
          </a:p>
        </p:txBody>
      </p:sp>
      <p:sp>
        <p:nvSpPr>
          <p:cNvPr id="779267" name="文本框 779266"/>
          <p:cNvSpPr txBox="1"/>
          <p:nvPr/>
        </p:nvSpPr>
        <p:spPr>
          <a:xfrm>
            <a:off x="487363" y="1727200"/>
            <a:ext cx="890905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设做 </a:t>
            </a: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 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次实验（比如掷</a:t>
            </a: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次骰子）若出现某事件</a:t>
            </a: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（结果）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的次数为 </a:t>
            </a: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en-US" altLang="zh-CN" sz="2400" kern="1200" cap="none" spc="0" normalizeH="0" baseline="-25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，则当 </a:t>
            </a: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 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很大时</a:t>
            </a: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事件的概率为</a:t>
            </a:r>
          </a:p>
        </p:txBody>
      </p:sp>
      <p:graphicFrame>
        <p:nvGraphicFramePr>
          <p:cNvPr id="779268" name="对象 779267"/>
          <p:cNvGraphicFramePr/>
          <p:nvPr/>
        </p:nvGraphicFramePr>
        <p:xfrm>
          <a:off x="2700338" y="2590800"/>
          <a:ext cx="2166937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r:id="rId3" imgW="1070610" imgH="457200" progId="Equation.3">
                  <p:embed/>
                </p:oleObj>
              </mc:Choice>
              <mc:Fallback>
                <p:oleObj r:id="rId3" imgW="1070610" imgH="4572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00338" y="2590800"/>
                        <a:ext cx="2166937" cy="930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9269" name="文本框 779268"/>
          <p:cNvSpPr txBox="1"/>
          <p:nvPr/>
        </p:nvSpPr>
        <p:spPr>
          <a:xfrm>
            <a:off x="155575" y="3357563"/>
            <a:ext cx="3581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>
                <a:srgbClr val="CC3300"/>
              </a:buClr>
              <a:buSzPct val="120000"/>
              <a:buFontTx/>
              <a:buChar char="•"/>
              <a:defRPr/>
            </a:pPr>
            <a:r>
              <a:rPr kumimoji="0" lang="en-US" altLang="zh-CN" sz="2400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2400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基本性质  </a:t>
            </a:r>
          </a:p>
        </p:txBody>
      </p:sp>
      <p:graphicFrame>
        <p:nvGraphicFramePr>
          <p:cNvPr id="779270" name="对象 779269"/>
          <p:cNvGraphicFramePr/>
          <p:nvPr/>
        </p:nvGraphicFramePr>
        <p:xfrm>
          <a:off x="827088" y="4030663"/>
          <a:ext cx="12255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r:id="rId5" imgW="713740" imgH="212090" progId="Equation.3">
                  <p:embed/>
                </p:oleObj>
              </mc:Choice>
              <mc:Fallback>
                <p:oleObj r:id="rId5" imgW="713740" imgH="21209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7088" y="4030663"/>
                        <a:ext cx="1225550" cy="377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9271" name="文本框 779270"/>
          <p:cNvSpPr txBox="1"/>
          <p:nvPr/>
        </p:nvSpPr>
        <p:spPr>
          <a:xfrm>
            <a:off x="2630488" y="3975100"/>
            <a:ext cx="5181600" cy="896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8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W=0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为不可能事件</a:t>
            </a: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  </a:t>
            </a:r>
          </a:p>
          <a:p>
            <a:pPr marR="0" defTabSz="914400">
              <a:lnSpc>
                <a:spcPct val="8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W=1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为必然事件</a:t>
            </a: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</a:p>
        </p:txBody>
      </p:sp>
      <p:sp>
        <p:nvSpPr>
          <p:cNvPr id="779272" name="文本框 779271"/>
          <p:cNvSpPr txBox="1"/>
          <p:nvPr/>
        </p:nvSpPr>
        <p:spPr>
          <a:xfrm>
            <a:off x="144463" y="3933825"/>
            <a:ext cx="539750" cy="457200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(1)</a:t>
            </a:r>
          </a:p>
        </p:txBody>
      </p:sp>
      <p:sp>
        <p:nvSpPr>
          <p:cNvPr id="779282" name="文本框 779281"/>
          <p:cNvSpPr txBox="1"/>
          <p:nvPr/>
        </p:nvSpPr>
        <p:spPr>
          <a:xfrm>
            <a:off x="107950" y="5157788"/>
            <a:ext cx="9793288" cy="896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marR="0" indent="-457200" defTabSz="914400">
              <a:lnSpc>
                <a:spcPct val="85000"/>
              </a:lnSpc>
              <a:spcBef>
                <a:spcPct val="50000"/>
              </a:spcBef>
              <a:buClrTx/>
              <a:buSzTx/>
              <a:buFontTx/>
              <a:buAutoNum type="arabicParenBoth" startAt="2"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加法定则：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A,B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为不相容事件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不可能同时出现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</a:p>
          <a:p>
            <a:pPr marL="457200" marR="0" indent="-457200" defTabSz="914400">
              <a:lnSpc>
                <a:spcPct val="8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        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则出现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或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的总概率是每个事件发生的概率之和。</a:t>
            </a:r>
          </a:p>
        </p:txBody>
      </p:sp>
      <p:graphicFrame>
        <p:nvGraphicFramePr>
          <p:cNvPr id="779283" name="对象 779282"/>
          <p:cNvGraphicFramePr/>
          <p:nvPr/>
        </p:nvGraphicFramePr>
        <p:xfrm>
          <a:off x="2843213" y="6165850"/>
          <a:ext cx="192246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r:id="rId7" imgW="1036955" imgH="256540" progId="Equation.3">
                  <p:embed/>
                </p:oleObj>
              </mc:Choice>
              <mc:Fallback>
                <p:oleObj r:id="rId7" imgW="1036955" imgH="25654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43213" y="6165850"/>
                        <a:ext cx="1922462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9284" name="矩形 779283"/>
          <p:cNvSpPr/>
          <p:nvPr/>
        </p:nvSpPr>
        <p:spPr>
          <a:xfrm>
            <a:off x="179388" y="1125538"/>
            <a:ext cx="16843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CC3300"/>
              </a:buClr>
              <a:buSzPct val="120000"/>
              <a:buFontTx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概率定义</a:t>
            </a:r>
          </a:p>
        </p:txBody>
      </p:sp>
      <p:sp>
        <p:nvSpPr>
          <p:cNvPr id="779285" name="矩形 779284"/>
          <p:cNvSpPr/>
          <p:nvPr/>
        </p:nvSpPr>
        <p:spPr>
          <a:xfrm>
            <a:off x="685800" y="533400"/>
            <a:ext cx="6191250" cy="603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指某一事件或某一种状态出现的机会大小。</a:t>
            </a:r>
          </a:p>
        </p:txBody>
      </p:sp>
      <p:grpSp>
        <p:nvGrpSpPr>
          <p:cNvPr id="2" name="组合 779285"/>
          <p:cNvGrpSpPr/>
          <p:nvPr/>
        </p:nvGrpSpPr>
        <p:grpSpPr>
          <a:xfrm rot="-3746589">
            <a:off x="7308850" y="3608388"/>
            <a:ext cx="1600200" cy="1600200"/>
            <a:chOff x="4224" y="3312"/>
            <a:chExt cx="1008" cy="1008"/>
          </a:xfrm>
        </p:grpSpPr>
        <p:sp>
          <p:nvSpPr>
            <p:cNvPr id="52238" name="立方体 779286"/>
            <p:cNvSpPr/>
            <p:nvPr/>
          </p:nvSpPr>
          <p:spPr>
            <a:xfrm>
              <a:off x="4224" y="3312"/>
              <a:ext cx="1008" cy="1008"/>
            </a:xfrm>
            <a:prstGeom prst="cube">
              <a:avLst>
                <a:gd name="adj" fmla="val 25000"/>
              </a:avLst>
            </a:prstGeom>
            <a:gradFill rotWithShape="0">
              <a:gsLst>
                <a:gs pos="0">
                  <a:srgbClr val="767600"/>
                </a:gs>
                <a:gs pos="100000">
                  <a:srgbClr val="FF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2239" name="椭圆 779287"/>
            <p:cNvSpPr/>
            <p:nvPr/>
          </p:nvSpPr>
          <p:spPr>
            <a:xfrm>
              <a:off x="4704" y="374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2240" name="椭圆 779288"/>
            <p:cNvSpPr/>
            <p:nvPr/>
          </p:nvSpPr>
          <p:spPr>
            <a:xfrm>
              <a:off x="4416" y="374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2241" name="椭圆 779289"/>
            <p:cNvSpPr/>
            <p:nvPr/>
          </p:nvSpPr>
          <p:spPr>
            <a:xfrm>
              <a:off x="4416" y="398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2242" name="椭圆 779290"/>
            <p:cNvSpPr/>
            <p:nvPr/>
          </p:nvSpPr>
          <p:spPr>
            <a:xfrm>
              <a:off x="4704" y="398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2243" name="椭圆 779291"/>
            <p:cNvSpPr/>
            <p:nvPr/>
          </p:nvSpPr>
          <p:spPr>
            <a:xfrm>
              <a:off x="4608" y="3408"/>
              <a:ext cx="192" cy="96"/>
            </a:xfrm>
            <a:prstGeom prst="ellipse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2244" name="椭圆 779292"/>
            <p:cNvSpPr/>
            <p:nvPr/>
          </p:nvSpPr>
          <p:spPr>
            <a:xfrm>
              <a:off x="5040" y="3792"/>
              <a:ext cx="96" cy="192"/>
            </a:xfrm>
            <a:prstGeom prst="ellipse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2245" name="椭圆 779293"/>
            <p:cNvSpPr/>
            <p:nvPr/>
          </p:nvSpPr>
          <p:spPr>
            <a:xfrm>
              <a:off x="5040" y="3552"/>
              <a:ext cx="96" cy="192"/>
            </a:xfrm>
            <a:prstGeom prst="ellipse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3" name="组合 779294"/>
          <p:cNvGrpSpPr/>
          <p:nvPr/>
        </p:nvGrpSpPr>
        <p:grpSpPr>
          <a:xfrm rot="7504012">
            <a:off x="7493000" y="2060575"/>
            <a:ext cx="1600200" cy="1600200"/>
            <a:chOff x="4224" y="3312"/>
            <a:chExt cx="1008" cy="1008"/>
          </a:xfrm>
        </p:grpSpPr>
        <p:sp>
          <p:nvSpPr>
            <p:cNvPr id="52247" name="立方体 779295"/>
            <p:cNvSpPr/>
            <p:nvPr/>
          </p:nvSpPr>
          <p:spPr>
            <a:xfrm>
              <a:off x="4224" y="3312"/>
              <a:ext cx="1008" cy="1008"/>
            </a:xfrm>
            <a:prstGeom prst="cube">
              <a:avLst>
                <a:gd name="adj" fmla="val 25000"/>
              </a:avLst>
            </a:prstGeom>
            <a:gradFill rotWithShape="0">
              <a:gsLst>
                <a:gs pos="0">
                  <a:srgbClr val="767600"/>
                </a:gs>
                <a:gs pos="100000">
                  <a:srgbClr val="FF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2248" name="椭圆 779296"/>
            <p:cNvSpPr/>
            <p:nvPr/>
          </p:nvSpPr>
          <p:spPr>
            <a:xfrm>
              <a:off x="4704" y="374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2249" name="椭圆 779297"/>
            <p:cNvSpPr/>
            <p:nvPr/>
          </p:nvSpPr>
          <p:spPr>
            <a:xfrm>
              <a:off x="4416" y="374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2250" name="椭圆 779298"/>
            <p:cNvSpPr/>
            <p:nvPr/>
          </p:nvSpPr>
          <p:spPr>
            <a:xfrm>
              <a:off x="4416" y="398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2251" name="椭圆 779299"/>
            <p:cNvSpPr/>
            <p:nvPr/>
          </p:nvSpPr>
          <p:spPr>
            <a:xfrm>
              <a:off x="4704" y="398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2252" name="椭圆 779300"/>
            <p:cNvSpPr/>
            <p:nvPr/>
          </p:nvSpPr>
          <p:spPr>
            <a:xfrm>
              <a:off x="4608" y="3408"/>
              <a:ext cx="192" cy="96"/>
            </a:xfrm>
            <a:prstGeom prst="ellipse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2253" name="椭圆 779301"/>
            <p:cNvSpPr/>
            <p:nvPr/>
          </p:nvSpPr>
          <p:spPr>
            <a:xfrm>
              <a:off x="5040" y="3792"/>
              <a:ext cx="96" cy="192"/>
            </a:xfrm>
            <a:prstGeom prst="ellipse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2254" name="椭圆 779302"/>
            <p:cNvSpPr/>
            <p:nvPr/>
          </p:nvSpPr>
          <p:spPr>
            <a:xfrm>
              <a:off x="5040" y="3552"/>
              <a:ext cx="96" cy="192"/>
            </a:xfrm>
            <a:prstGeom prst="ellipse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4" name="组合 779303"/>
          <p:cNvGrpSpPr/>
          <p:nvPr/>
        </p:nvGrpSpPr>
        <p:grpSpPr>
          <a:xfrm rot="19650">
            <a:off x="7308850" y="3756025"/>
            <a:ext cx="1600200" cy="1600200"/>
            <a:chOff x="4224" y="3312"/>
            <a:chExt cx="1008" cy="1008"/>
          </a:xfrm>
        </p:grpSpPr>
        <p:sp>
          <p:nvSpPr>
            <p:cNvPr id="52256" name="立方体 779304"/>
            <p:cNvSpPr/>
            <p:nvPr/>
          </p:nvSpPr>
          <p:spPr>
            <a:xfrm>
              <a:off x="4224" y="3312"/>
              <a:ext cx="1008" cy="1008"/>
            </a:xfrm>
            <a:prstGeom prst="cube">
              <a:avLst>
                <a:gd name="adj" fmla="val 25000"/>
              </a:avLst>
            </a:prstGeom>
            <a:gradFill rotWithShape="0">
              <a:gsLst>
                <a:gs pos="0">
                  <a:srgbClr val="767600"/>
                </a:gs>
                <a:gs pos="100000">
                  <a:srgbClr val="FF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2257" name="椭圆 779305"/>
            <p:cNvSpPr/>
            <p:nvPr/>
          </p:nvSpPr>
          <p:spPr>
            <a:xfrm>
              <a:off x="4704" y="374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2258" name="椭圆 779306"/>
            <p:cNvSpPr/>
            <p:nvPr/>
          </p:nvSpPr>
          <p:spPr>
            <a:xfrm>
              <a:off x="4416" y="374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2259" name="椭圆 779307"/>
            <p:cNvSpPr/>
            <p:nvPr/>
          </p:nvSpPr>
          <p:spPr>
            <a:xfrm>
              <a:off x="4416" y="398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2260" name="椭圆 779308"/>
            <p:cNvSpPr/>
            <p:nvPr/>
          </p:nvSpPr>
          <p:spPr>
            <a:xfrm>
              <a:off x="4704" y="398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2261" name="椭圆 779309"/>
            <p:cNvSpPr/>
            <p:nvPr/>
          </p:nvSpPr>
          <p:spPr>
            <a:xfrm>
              <a:off x="4608" y="3408"/>
              <a:ext cx="192" cy="96"/>
            </a:xfrm>
            <a:prstGeom prst="ellipse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2262" name="椭圆 779310"/>
            <p:cNvSpPr/>
            <p:nvPr/>
          </p:nvSpPr>
          <p:spPr>
            <a:xfrm>
              <a:off x="5040" y="3792"/>
              <a:ext cx="96" cy="192"/>
            </a:xfrm>
            <a:prstGeom prst="ellipse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2263" name="椭圆 779311"/>
            <p:cNvSpPr/>
            <p:nvPr/>
          </p:nvSpPr>
          <p:spPr>
            <a:xfrm>
              <a:off x="5040" y="3552"/>
              <a:ext cx="96" cy="192"/>
            </a:xfrm>
            <a:prstGeom prst="ellipse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79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79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7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77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779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77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77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779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779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779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779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779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9267" grpId="0"/>
      <p:bldP spid="779269" grpId="0" build="p"/>
      <p:bldP spid="779271" grpId="0" build="p"/>
      <p:bldP spid="779272" grpId="0"/>
      <p:bldP spid="779282" grpId="0" build="p"/>
      <p:bldP spid="779284" grpId="0"/>
      <p:bldP spid="77928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6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780290" name="文本框 780289"/>
          <p:cNvSpPr txBox="1"/>
          <p:nvPr/>
        </p:nvSpPr>
        <p:spPr>
          <a:xfrm>
            <a:off x="685800" y="333375"/>
            <a:ext cx="830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概率的归一化</a:t>
            </a: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</a:t>
            </a: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所有可能发生的事件的概率之和必定为</a:t>
            </a: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1.</a:t>
            </a:r>
          </a:p>
        </p:txBody>
      </p:sp>
      <p:graphicFrame>
        <p:nvGraphicFramePr>
          <p:cNvPr id="780291" name="对象 780290"/>
          <p:cNvGraphicFramePr/>
          <p:nvPr/>
        </p:nvGraphicFramePr>
        <p:xfrm>
          <a:off x="1206500" y="1268413"/>
          <a:ext cx="4229100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6" r:id="rId3" imgW="2553335" imgH="535305" progId="Equation.3">
                  <p:embed/>
                </p:oleObj>
              </mc:Choice>
              <mc:Fallback>
                <p:oleObj r:id="rId3" imgW="2553335" imgH="535305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06500" y="1268413"/>
                        <a:ext cx="4229100" cy="884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0292" name="文本框 780291"/>
          <p:cNvSpPr txBox="1"/>
          <p:nvPr/>
        </p:nvSpPr>
        <p:spPr>
          <a:xfrm>
            <a:off x="5867400" y="1450975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或</a:t>
            </a:r>
          </a:p>
        </p:txBody>
      </p:sp>
      <p:graphicFrame>
        <p:nvGraphicFramePr>
          <p:cNvPr id="780293" name="对象 780292"/>
          <p:cNvGraphicFramePr/>
          <p:nvPr/>
        </p:nvGraphicFramePr>
        <p:xfrm>
          <a:off x="6477000" y="1289050"/>
          <a:ext cx="144780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" r:id="rId5" imgW="591185" imgH="323215" progId="Equation.3">
                  <p:embed/>
                </p:oleObj>
              </mc:Choice>
              <mc:Fallback>
                <p:oleObj r:id="rId5" imgW="591185" imgH="323215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77000" y="1289050"/>
                        <a:ext cx="1447800" cy="796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0294" name="文本框 780293"/>
          <p:cNvSpPr txBox="1"/>
          <p:nvPr/>
        </p:nvSpPr>
        <p:spPr>
          <a:xfrm>
            <a:off x="395288" y="2173288"/>
            <a:ext cx="8534400" cy="903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(3)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乘法定则：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J,K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为相容事件</a:t>
            </a: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可同时出现 ），则同时发生</a:t>
            </a: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总概率等于各个事件的概率之积。</a:t>
            </a:r>
          </a:p>
        </p:txBody>
      </p:sp>
      <p:graphicFrame>
        <p:nvGraphicFramePr>
          <p:cNvPr id="780295" name="对象 780294"/>
          <p:cNvGraphicFramePr/>
          <p:nvPr/>
        </p:nvGraphicFramePr>
        <p:xfrm>
          <a:off x="3563938" y="3141663"/>
          <a:ext cx="17272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8" r:id="rId7" imgW="902970" imgH="267335" progId="Equation.3">
                  <p:embed/>
                </p:oleObj>
              </mc:Choice>
              <mc:Fallback>
                <p:oleObj r:id="rId7" imgW="902970" imgH="267335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63938" y="3141663"/>
                        <a:ext cx="1727200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675" y="3838575"/>
            <a:ext cx="7413625" cy="2135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417513" y="3917950"/>
            <a:ext cx="538163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 eaLnBrk="0" hangingPunct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(4) </a:t>
            </a:r>
            <a:endParaRPr kumimoji="0" lang="zh-CN" altLang="en-US" sz="2400" kern="1200" cap="none" spc="0" normalizeH="0" baseline="0" noProof="1"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0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780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8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780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8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0292" grpId="0" build="p"/>
      <p:bldP spid="780294" grpId="0" build="p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" altLang="en-US" sz="1400" b="0" dirty="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fld>
            <a:endParaRPr lang="" altLang="en-US" sz="1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3060" name="文本框 813059"/>
          <p:cNvSpPr txBox="1"/>
          <p:nvPr/>
        </p:nvSpPr>
        <p:spPr>
          <a:xfrm>
            <a:off x="301625" y="225425"/>
            <a:ext cx="82486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在描述大量粒子状态时往往运用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统计平均值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</a:p>
        </p:txBody>
      </p:sp>
      <p:sp>
        <p:nvSpPr>
          <p:cNvPr id="813061" name="文本框 813060"/>
          <p:cNvSpPr txBox="1"/>
          <p:nvPr/>
        </p:nvSpPr>
        <p:spPr>
          <a:xfrm>
            <a:off x="301625" y="681038"/>
            <a:ext cx="906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分子速率的平均值</a:t>
            </a:r>
          </a:p>
        </p:txBody>
      </p:sp>
      <p:sp>
        <p:nvSpPr>
          <p:cNvPr id="813062" name="文本框 813061"/>
          <p:cNvSpPr txBox="1"/>
          <p:nvPr/>
        </p:nvSpPr>
        <p:spPr>
          <a:xfrm>
            <a:off x="246063" y="1133475"/>
            <a:ext cx="40624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设有一个系统有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个分子且：</a:t>
            </a:r>
          </a:p>
        </p:txBody>
      </p:sp>
      <p:graphicFrame>
        <p:nvGraphicFramePr>
          <p:cNvPr id="813063" name="对象 813062"/>
          <p:cNvGraphicFramePr/>
          <p:nvPr/>
        </p:nvGraphicFramePr>
        <p:xfrm>
          <a:off x="312738" y="1717675"/>
          <a:ext cx="715327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2" r:id="rId3" imgW="3094990" imgH="215900" progId="Equation.3">
                  <p:embed/>
                </p:oleObj>
              </mc:Choice>
              <mc:Fallback>
                <p:oleObj r:id="rId3" imgW="3094990" imgH="2159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2738" y="1717675"/>
                        <a:ext cx="7153275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3064" name="对象 813063"/>
          <p:cNvGraphicFramePr/>
          <p:nvPr/>
        </p:nvGraphicFramePr>
        <p:xfrm>
          <a:off x="306388" y="2251075"/>
          <a:ext cx="72993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3" r:id="rId5" imgW="3158490" imgH="215900" progId="Equation.3">
                  <p:embed/>
                </p:oleObj>
              </mc:Choice>
              <mc:Fallback>
                <p:oleObj r:id="rId5" imgW="3158490" imgH="2159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6388" y="2251075"/>
                        <a:ext cx="7299325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3066" name="对象 813065"/>
          <p:cNvGraphicFramePr/>
          <p:nvPr/>
        </p:nvGraphicFramePr>
        <p:xfrm>
          <a:off x="301625" y="3325813"/>
          <a:ext cx="7259638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4" r:id="rId7" imgW="3238500" imgH="228600" progId="Equation.3">
                  <p:embed/>
                </p:oleObj>
              </mc:Choice>
              <mc:Fallback>
                <p:oleObj r:id="rId7" imgW="3238500" imgH="2286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1625" y="3325813"/>
                        <a:ext cx="7259638" cy="51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3067" name="文本框 813066"/>
          <p:cNvSpPr txBox="1"/>
          <p:nvPr/>
        </p:nvSpPr>
        <p:spPr>
          <a:xfrm>
            <a:off x="333375" y="2814638"/>
            <a:ext cx="6508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……………………………………………………...</a:t>
            </a:r>
          </a:p>
        </p:txBody>
      </p:sp>
      <p:sp>
        <p:nvSpPr>
          <p:cNvPr id="814083" name="文本框 814082"/>
          <p:cNvSpPr txBox="1"/>
          <p:nvPr/>
        </p:nvSpPr>
        <p:spPr>
          <a:xfrm>
            <a:off x="350838" y="3981450"/>
            <a:ext cx="1555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故平均值</a:t>
            </a:r>
            <a:r>
              <a:rPr kumimoji="0" lang="en-US" altLang="zh-CN" sz="2400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:</a:t>
            </a:r>
          </a:p>
        </p:txBody>
      </p:sp>
      <p:graphicFrame>
        <p:nvGraphicFramePr>
          <p:cNvPr id="814084" name="对象 814083"/>
          <p:cNvGraphicFramePr/>
          <p:nvPr/>
        </p:nvGraphicFramePr>
        <p:xfrm>
          <a:off x="1979613" y="3790950"/>
          <a:ext cx="54006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5" r:id="rId9" imgW="2310130" imgH="393700" progId="Equation.3">
                  <p:embed/>
                </p:oleObj>
              </mc:Choice>
              <mc:Fallback>
                <p:oleObj r:id="rId9" imgW="2310130" imgH="3937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79613" y="3790950"/>
                        <a:ext cx="5400675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085" name="对象 814084"/>
          <p:cNvGraphicFramePr/>
          <p:nvPr/>
        </p:nvGraphicFramePr>
        <p:xfrm>
          <a:off x="2147888" y="5518150"/>
          <a:ext cx="1803400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6" r:id="rId11" imgW="584200" imgH="431800" progId="Equation.3">
                  <p:embed/>
                </p:oleObj>
              </mc:Choice>
              <mc:Fallback>
                <p:oleObj r:id="rId11" imgW="584200" imgH="4318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47888" y="5518150"/>
                        <a:ext cx="1803400" cy="1330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086" name="对象 814085"/>
          <p:cNvGraphicFramePr/>
          <p:nvPr/>
        </p:nvGraphicFramePr>
        <p:xfrm>
          <a:off x="2162175" y="4670425"/>
          <a:ext cx="1677988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7" r:id="rId13" imgW="660400" imgH="419100" progId="Equation.3">
                  <p:embed/>
                </p:oleObj>
              </mc:Choice>
              <mc:Fallback>
                <p:oleObj r:id="rId13" imgW="660400" imgH="4191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62175" y="4670425"/>
                        <a:ext cx="1677988" cy="885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101" name="对象 814100"/>
          <p:cNvGraphicFramePr/>
          <p:nvPr/>
        </p:nvGraphicFramePr>
        <p:xfrm>
          <a:off x="5059363" y="6022975"/>
          <a:ext cx="27273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8" r:id="rId15" imgW="1180465" imgH="228600" progId="Equation.3">
                  <p:embed/>
                </p:oleObj>
              </mc:Choice>
              <mc:Fallback>
                <p:oleObj r:id="rId15" imgW="1180465" imgH="2286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059363" y="6022975"/>
                        <a:ext cx="2727325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1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1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1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813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81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813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81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81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81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81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81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81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3060" grpId="0"/>
      <p:bldP spid="813061" grpId="0"/>
      <p:bldP spid="813062" grpId="0"/>
      <p:bldP spid="813067" grpId="0"/>
      <p:bldP spid="81408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" altLang="en-US" sz="1400" b="0" dirty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fld>
            <a:endParaRPr lang="" altLang="en-US" sz="1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4083" name="文本框 814082"/>
          <p:cNvSpPr txBox="1"/>
          <p:nvPr/>
        </p:nvSpPr>
        <p:spPr>
          <a:xfrm>
            <a:off x="539750" y="955675"/>
            <a:ext cx="1555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故平均值</a:t>
            </a:r>
            <a:r>
              <a:rPr kumimoji="0" lang="en-US" altLang="zh-CN" sz="2400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:</a:t>
            </a:r>
          </a:p>
        </p:txBody>
      </p:sp>
      <p:graphicFrame>
        <p:nvGraphicFramePr>
          <p:cNvPr id="55299" name="对象 814083"/>
          <p:cNvGraphicFramePr/>
          <p:nvPr/>
        </p:nvGraphicFramePr>
        <p:xfrm>
          <a:off x="2168525" y="765175"/>
          <a:ext cx="54006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2" r:id="rId3" imgW="2310130" imgH="393700" progId="Equation.3">
                  <p:embed/>
                </p:oleObj>
              </mc:Choice>
              <mc:Fallback>
                <p:oleObj r:id="rId3" imgW="2310130" imgH="3937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68525" y="765175"/>
                        <a:ext cx="5400675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0" name="对象 814084"/>
          <p:cNvGraphicFramePr/>
          <p:nvPr/>
        </p:nvGraphicFramePr>
        <p:xfrm>
          <a:off x="2336800" y="2492375"/>
          <a:ext cx="1803400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3" r:id="rId5" imgW="584200" imgH="431800" progId="Equation.3">
                  <p:embed/>
                </p:oleObj>
              </mc:Choice>
              <mc:Fallback>
                <p:oleObj r:id="rId5" imgW="584200" imgH="4318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36800" y="2492375"/>
                        <a:ext cx="1803400" cy="1330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1" name="对象 814085"/>
          <p:cNvGraphicFramePr/>
          <p:nvPr/>
        </p:nvGraphicFramePr>
        <p:xfrm>
          <a:off x="2382838" y="1538288"/>
          <a:ext cx="16129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4" r:id="rId7" imgW="635000" imgH="520700" progId="Equation.3">
                  <p:embed/>
                </p:oleObj>
              </mc:Choice>
              <mc:Fallback>
                <p:oleObj r:id="rId7" imgW="635000" imgH="5207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82838" y="1538288"/>
                        <a:ext cx="1612900" cy="1098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087" name="对象 814086"/>
          <p:cNvGraphicFramePr/>
          <p:nvPr/>
        </p:nvGraphicFramePr>
        <p:xfrm>
          <a:off x="3521075" y="3429000"/>
          <a:ext cx="194310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5" r:id="rId9" imgW="634365" imgH="355600" progId="Equation.3">
                  <p:embed/>
                </p:oleObj>
              </mc:Choice>
              <mc:Fallback>
                <p:oleObj r:id="rId9" imgW="634365" imgH="3556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21075" y="3429000"/>
                        <a:ext cx="1943100" cy="1082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4088" name="文本框 814087"/>
          <p:cNvSpPr txBox="1"/>
          <p:nvPr/>
        </p:nvSpPr>
        <p:spPr>
          <a:xfrm>
            <a:off x="468313" y="3805238"/>
            <a:ext cx="29511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若速率连续分布，则</a:t>
            </a:r>
          </a:p>
        </p:txBody>
      </p:sp>
      <p:grpSp>
        <p:nvGrpSpPr>
          <p:cNvPr id="814089" name="组合 814088"/>
          <p:cNvGrpSpPr/>
          <p:nvPr/>
        </p:nvGrpSpPr>
        <p:grpSpPr>
          <a:xfrm>
            <a:off x="5910263" y="3822700"/>
            <a:ext cx="2860675" cy="519113"/>
            <a:chOff x="2451" y="2821"/>
            <a:chExt cx="1375" cy="327"/>
          </a:xfrm>
        </p:grpSpPr>
        <p:sp>
          <p:nvSpPr>
            <p:cNvPr id="814090" name="文本框 814089"/>
            <p:cNvSpPr txBox="1"/>
            <p:nvPr/>
          </p:nvSpPr>
          <p:spPr>
            <a:xfrm>
              <a:off x="2699" y="2821"/>
              <a:ext cx="11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为出现 </a:t>
              </a:r>
              <a:r>
                <a:rPr kumimoji="0" lang="en-US" altLang="zh-CN" sz="2800" i="1" kern="1200" cap="none" spc="0" normalizeH="0" baseline="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 </a:t>
              </a:r>
              <a:r>
                <a:rPr kumimoji="0" lang="zh-CN" altLang="en-US" sz="2400" kern="1200" cap="none" spc="0" normalizeH="0" baseline="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的概率</a:t>
              </a:r>
            </a:p>
          </p:txBody>
        </p:sp>
        <p:graphicFrame>
          <p:nvGraphicFramePr>
            <p:cNvPr id="55306" name="对象 814090"/>
            <p:cNvGraphicFramePr/>
            <p:nvPr/>
          </p:nvGraphicFramePr>
          <p:xfrm>
            <a:off x="2451" y="2856"/>
            <a:ext cx="366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36" r:id="rId11" imgW="215265" imgH="177800" progId="Equation.3">
                    <p:embed/>
                  </p:oleObj>
                </mc:Choice>
                <mc:Fallback>
                  <p:oleObj r:id="rId11" imgW="215265" imgH="177800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451" y="2856"/>
                          <a:ext cx="366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5315" name="对象 814100"/>
          <p:cNvGraphicFramePr/>
          <p:nvPr/>
        </p:nvGraphicFramePr>
        <p:xfrm>
          <a:off x="5248275" y="2997200"/>
          <a:ext cx="27273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7" r:id="rId13" imgW="1180465" imgH="228600" progId="Equation.3">
                  <p:embed/>
                </p:oleObj>
              </mc:Choice>
              <mc:Fallback>
                <p:oleObj r:id="rId13" imgW="1180465" imgH="2286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48275" y="2997200"/>
                        <a:ext cx="2727325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14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814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408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9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792580" name="文本框 792579"/>
          <p:cNvSpPr txBox="1"/>
          <p:nvPr/>
        </p:nvSpPr>
        <p:spPr>
          <a:xfrm>
            <a:off x="309563" y="1173163"/>
            <a:ext cx="906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>
                <a:srgbClr val="3399FF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研究内容</a:t>
            </a:r>
          </a:p>
        </p:txBody>
      </p:sp>
      <p:sp>
        <p:nvSpPr>
          <p:cNvPr id="792581" name="文本框 792580"/>
          <p:cNvSpPr txBox="1"/>
          <p:nvPr/>
        </p:nvSpPr>
        <p:spPr>
          <a:xfrm>
            <a:off x="171450" y="2727325"/>
            <a:ext cx="95361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>
                <a:srgbClr val="3399FF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出发点</a:t>
            </a: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----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分子运动的三个基本论点。</a:t>
            </a:r>
          </a:p>
        </p:txBody>
      </p:sp>
      <p:sp>
        <p:nvSpPr>
          <p:cNvPr id="792582" name="矩形 792581"/>
          <p:cNvSpPr/>
          <p:nvPr/>
        </p:nvSpPr>
        <p:spPr>
          <a:xfrm>
            <a:off x="755650" y="1676400"/>
            <a:ext cx="10296525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1.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平衡态下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宏观量与微观量的关系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2.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平衡态下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微观量的统计分布规律</a:t>
            </a:r>
          </a:p>
        </p:txBody>
      </p:sp>
      <p:sp>
        <p:nvSpPr>
          <p:cNvPr id="792583" name="文本框 792582"/>
          <p:cNvSpPr txBox="1"/>
          <p:nvPr/>
        </p:nvSpPr>
        <p:spPr>
          <a:xfrm>
            <a:off x="747713" y="3240088"/>
            <a:ext cx="77771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1.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任何物质都是由分子（或原子）构成。</a:t>
            </a:r>
          </a:p>
        </p:txBody>
      </p:sp>
      <p:sp>
        <p:nvSpPr>
          <p:cNvPr id="792584" name="文本框 792583"/>
          <p:cNvSpPr txBox="1"/>
          <p:nvPr/>
        </p:nvSpPr>
        <p:spPr>
          <a:xfrm>
            <a:off x="747713" y="3763963"/>
            <a:ext cx="53959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2.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分子之间存在相互作用力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--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分子力。</a:t>
            </a:r>
          </a:p>
        </p:txBody>
      </p:sp>
      <p:sp>
        <p:nvSpPr>
          <p:cNvPr id="792585" name="文本框 792584"/>
          <p:cNvSpPr txBox="1"/>
          <p:nvPr/>
        </p:nvSpPr>
        <p:spPr>
          <a:xfrm>
            <a:off x="755650" y="4289425"/>
            <a:ext cx="72548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3.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分子作永不停息的运动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---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热运动</a:t>
            </a:r>
          </a:p>
        </p:txBody>
      </p:sp>
      <p:sp>
        <p:nvSpPr>
          <p:cNvPr id="56328" name="文本框 792585"/>
          <p:cNvSpPr txBox="1"/>
          <p:nvPr/>
        </p:nvSpPr>
        <p:spPr>
          <a:xfrm>
            <a:off x="1619250" y="55563"/>
            <a:ext cx="5472113" cy="584775"/>
          </a:xfrm>
          <a:prstGeom prst="rect">
            <a:avLst/>
          </a:prstGeom>
          <a:gradFill rotWithShape="1">
            <a:gsLst>
              <a:gs pos="0">
                <a:srgbClr val="CC3300"/>
              </a:gs>
              <a:gs pos="50000">
                <a:srgbClr val="FFFF00"/>
              </a:gs>
              <a:gs pos="100000">
                <a:srgbClr val="CC3300"/>
              </a:gs>
            </a:gsLst>
            <a:lin ang="5400000" scaled="1"/>
            <a:tileRect/>
          </a:gradFill>
          <a:ln w="57150" cap="flat" cmpd="thinThick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12-2 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理想气体的压强和温度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</a:p>
        </p:txBody>
      </p:sp>
      <p:sp>
        <p:nvSpPr>
          <p:cNvPr id="792587" name="文本框 792586"/>
          <p:cNvSpPr txBox="1"/>
          <p:nvPr/>
        </p:nvSpPr>
        <p:spPr>
          <a:xfrm>
            <a:off x="212725" y="4856163"/>
            <a:ext cx="89312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>
                <a:srgbClr val="3399FF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基本方法 </a:t>
            </a: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----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经典统计法</a:t>
            </a:r>
          </a:p>
        </p:txBody>
      </p:sp>
      <p:sp>
        <p:nvSpPr>
          <p:cNvPr id="792589" name="文本框 792588"/>
          <p:cNvSpPr txBox="1"/>
          <p:nvPr/>
        </p:nvSpPr>
        <p:spPr>
          <a:xfrm>
            <a:off x="76200" y="654050"/>
            <a:ext cx="67024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统计物理：研究内容，出发点，基本方法 </a:t>
            </a:r>
          </a:p>
        </p:txBody>
      </p:sp>
      <p:sp>
        <p:nvSpPr>
          <p:cNvPr id="813059" name="矩形 813058"/>
          <p:cNvSpPr/>
          <p:nvPr/>
        </p:nvSpPr>
        <p:spPr>
          <a:xfrm>
            <a:off x="766763" y="5305425"/>
            <a:ext cx="7278688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思路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建模型（如 理想气体分子模型）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用统计方法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分析结果  得出结论</a:t>
            </a:r>
            <a:r>
              <a:rPr kumimoji="0" lang="zh-CN" altLang="en-US" sz="2400" b="1" i="1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9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9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9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9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9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9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792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81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2580" grpId="0"/>
      <p:bldP spid="792581" grpId="0"/>
      <p:bldP spid="792582" grpId="0"/>
      <p:bldP spid="792583" grpId="0"/>
      <p:bldP spid="792584" grpId="0"/>
      <p:bldP spid="792585" grpId="0"/>
      <p:bldP spid="792587" grpId="0"/>
      <p:bldP spid="81305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10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796674" name="文本框 796673"/>
          <p:cNvSpPr txBox="1"/>
          <p:nvPr/>
        </p:nvSpPr>
        <p:spPr>
          <a:xfrm>
            <a:off x="658813" y="3478213"/>
            <a:ext cx="5894388" cy="11874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如：质量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、速度 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、动量</a:t>
            </a:r>
            <a:r>
              <a:rPr kumimoji="0" lang="zh-CN" altLang="en-US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、能量</a:t>
            </a:r>
            <a:r>
              <a:rPr kumimoji="0" lang="zh-CN" altLang="en-US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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等。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宏观量与微观量有一定的内在联系。</a:t>
            </a:r>
          </a:p>
        </p:txBody>
      </p:sp>
      <p:sp>
        <p:nvSpPr>
          <p:cNvPr id="796675" name="矩形 796674"/>
          <p:cNvSpPr/>
          <p:nvPr/>
        </p:nvSpPr>
        <p:spPr>
          <a:xfrm>
            <a:off x="658813" y="4649788"/>
            <a:ext cx="7488238" cy="895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例如：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气体的</a:t>
            </a:r>
            <a:r>
              <a:rPr kumimoji="0" lang="zh-CN" altLang="en-US" sz="2400" b="1" i="0" u="sng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压强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是大量分子撞击器壁的</a:t>
            </a:r>
            <a:r>
              <a:rPr kumimoji="0" lang="zh-CN" altLang="en-US" sz="2400" b="1" i="0" u="sng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平均</a:t>
            </a:r>
            <a:r>
              <a:rPr kumimoji="0" lang="zh-CN" altLang="en-US" sz="2400" b="1" i="0" u="sng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效果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0" lang="zh-CN" altLang="en-US" sz="24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与大量分子对器壁的</a:t>
            </a:r>
            <a:r>
              <a:rPr kumimoji="0" lang="zh-CN" altLang="en-US" sz="2400" b="1" i="0" u="sng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平均冲力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有关。</a:t>
            </a:r>
          </a:p>
        </p:txBody>
      </p:sp>
      <p:sp>
        <p:nvSpPr>
          <p:cNvPr id="796676" name="矩形 796675"/>
          <p:cNvSpPr/>
          <p:nvPr/>
        </p:nvSpPr>
        <p:spPr>
          <a:xfrm>
            <a:off x="658813" y="2687638"/>
            <a:ext cx="8281988" cy="933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表征系统内微观粒子状态及性质的物理量</a:t>
            </a: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一般只能间接测量）</a:t>
            </a:r>
          </a:p>
        </p:txBody>
      </p:sp>
      <p:sp>
        <p:nvSpPr>
          <p:cNvPr id="796677" name="矩形 796676"/>
          <p:cNvSpPr/>
          <p:nvPr/>
        </p:nvSpPr>
        <p:spPr>
          <a:xfrm>
            <a:off x="395288" y="2187575"/>
            <a:ext cx="1403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2.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微观量</a:t>
            </a:r>
          </a:p>
        </p:txBody>
      </p:sp>
      <p:sp>
        <p:nvSpPr>
          <p:cNvPr id="796678" name="矩形 796677"/>
          <p:cNvSpPr/>
          <p:nvPr/>
        </p:nvSpPr>
        <p:spPr>
          <a:xfrm>
            <a:off x="395288" y="212725"/>
            <a:ext cx="3384550" cy="519113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一、宏观量与微观量</a:t>
            </a:r>
          </a:p>
        </p:txBody>
      </p:sp>
      <p:sp>
        <p:nvSpPr>
          <p:cNvPr id="796679" name="矩形 796678"/>
          <p:cNvSpPr/>
          <p:nvPr/>
        </p:nvSpPr>
        <p:spPr>
          <a:xfrm>
            <a:off x="658813" y="1695450"/>
            <a:ext cx="15843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 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P,  T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等</a:t>
            </a:r>
          </a:p>
        </p:txBody>
      </p:sp>
      <p:sp>
        <p:nvSpPr>
          <p:cNvPr id="796680" name="矩形 796679"/>
          <p:cNvSpPr/>
          <p:nvPr/>
        </p:nvSpPr>
        <p:spPr>
          <a:xfrm>
            <a:off x="658813" y="1230313"/>
            <a:ext cx="84010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表征系统宏观性质的物理量（可直接测量）。</a:t>
            </a:r>
          </a:p>
        </p:txBody>
      </p:sp>
      <p:sp>
        <p:nvSpPr>
          <p:cNvPr id="796682" name="矩形 796681"/>
          <p:cNvSpPr/>
          <p:nvPr/>
        </p:nvSpPr>
        <p:spPr>
          <a:xfrm>
            <a:off x="395288" y="763588"/>
            <a:ext cx="1403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1.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宏观量</a:t>
            </a:r>
          </a:p>
        </p:txBody>
      </p:sp>
      <p:sp>
        <p:nvSpPr>
          <p:cNvPr id="650270" name="矩形 650269"/>
          <p:cNvSpPr/>
          <p:nvPr/>
        </p:nvSpPr>
        <p:spPr>
          <a:xfrm>
            <a:off x="3827463" y="6224588"/>
            <a:ext cx="4095750" cy="519113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----</a:t>
            </a: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统计物理的基本思想</a:t>
            </a:r>
          </a:p>
        </p:txBody>
      </p:sp>
      <p:sp>
        <p:nvSpPr>
          <p:cNvPr id="650271" name="文本框 650270"/>
          <p:cNvSpPr txBox="1"/>
          <p:nvPr/>
        </p:nvSpPr>
        <p:spPr>
          <a:xfrm>
            <a:off x="730250" y="5721350"/>
            <a:ext cx="6011863" cy="433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宏观量是相应微观量的统计平均值</a:t>
            </a:r>
            <a:r>
              <a:rPr kumimoji="0" lang="en-US" altLang="zh-CN" sz="28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!</a:t>
            </a:r>
          </a:p>
        </p:txBody>
      </p:sp>
      <p:sp>
        <p:nvSpPr>
          <p:cNvPr id="650272" name="矩形 650271"/>
          <p:cNvSpPr/>
          <p:nvPr/>
        </p:nvSpPr>
        <p:spPr>
          <a:xfrm>
            <a:off x="658813" y="5576888"/>
            <a:ext cx="7345362" cy="1196975"/>
          </a:xfrm>
          <a:prstGeom prst="rect">
            <a:avLst/>
          </a:prstGeom>
          <a:noFill/>
          <a:ln w="38100" cap="flat" cmpd="dbl">
            <a:solidFill>
              <a:srgbClr val="009999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96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6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96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96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96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96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96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9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79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65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65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65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6674" grpId="0" build="p"/>
      <p:bldP spid="796675" grpId="0" uiExpand="1" build="p"/>
      <p:bldP spid="796676" grpId="0"/>
      <p:bldP spid="796677" grpId="0" build="p"/>
      <p:bldP spid="796679" grpId="0"/>
      <p:bldP spid="796680" grpId="0"/>
      <p:bldP spid="796682" grpId="0"/>
      <p:bldP spid="650270" grpId="0"/>
      <p:bldP spid="65027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11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613379" name="文本框 613378"/>
          <p:cNvSpPr txBox="1"/>
          <p:nvPr/>
        </p:nvSpPr>
        <p:spPr>
          <a:xfrm>
            <a:off x="739775" y="1598613"/>
            <a:ext cx="9593263" cy="294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）大小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分子线度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&lt;&lt;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分子间平均距离  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可以视为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质点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；</a:t>
            </a:r>
            <a:endParaRPr kumimoji="0" lang="zh-CN" altLang="en-US" sz="2400" kern="120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algn="just" defTabSz="914400">
              <a:lnSpc>
                <a:spcPct val="17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）分子力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除碰撞的瞬间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（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10</a:t>
            </a:r>
            <a:r>
              <a:rPr kumimoji="0" lang="en-US" altLang="zh-CN" sz="2400" kern="1200" cap="none" spc="0" normalizeH="0" baseline="30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-8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秒）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，在分子之间、</a:t>
            </a:r>
          </a:p>
          <a:p>
            <a:pPr marR="0" algn="just" defTabSz="914400">
              <a:lnSpc>
                <a:spcPct val="17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           分子与器壁之间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无作用力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；</a:t>
            </a:r>
          </a:p>
          <a:p>
            <a:pPr marR="0" algn="just" defTabSz="914400">
              <a:lnSpc>
                <a:spcPct val="17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）碰撞性质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完全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弹性碰撞；</a:t>
            </a:r>
          </a:p>
          <a:p>
            <a:pPr marR="0" algn="just" defTabSz="914400">
              <a:lnSpc>
                <a:spcPct val="17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）服从规律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牛顿力学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  </a:t>
            </a:r>
          </a:p>
        </p:txBody>
      </p:sp>
      <p:sp>
        <p:nvSpPr>
          <p:cNvPr id="613380" name="文本框 613379"/>
          <p:cNvSpPr txBox="1"/>
          <p:nvPr/>
        </p:nvSpPr>
        <p:spPr>
          <a:xfrm>
            <a:off x="395288" y="260350"/>
            <a:ext cx="75612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二、理想气体的分子模型及其宏观统计假设</a:t>
            </a:r>
          </a:p>
        </p:txBody>
      </p:sp>
      <p:sp>
        <p:nvSpPr>
          <p:cNvPr id="613381" name="文本框 613380"/>
          <p:cNvSpPr txBox="1"/>
          <p:nvPr/>
        </p:nvSpPr>
        <p:spPr>
          <a:xfrm>
            <a:off x="971550" y="960438"/>
            <a:ext cx="59515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1. </a:t>
            </a:r>
            <a:r>
              <a:rPr kumimoji="0" lang="zh-CN" altLang="en-US" sz="2800" b="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关于每个分子的</a:t>
            </a:r>
            <a:r>
              <a:rPr kumimoji="0" lang="zh-CN" altLang="en-US" sz="2800" b="0" u="sng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力学性质的假设</a:t>
            </a:r>
          </a:p>
        </p:txBody>
      </p:sp>
      <p:sp>
        <p:nvSpPr>
          <p:cNvPr id="613382" name="矩形 613381"/>
          <p:cNvSpPr/>
          <p:nvPr/>
        </p:nvSpPr>
        <p:spPr>
          <a:xfrm>
            <a:off x="960438" y="4695825"/>
            <a:ext cx="87249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2. </a:t>
            </a: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关于分子集体的</a:t>
            </a:r>
            <a:r>
              <a:rPr kumimoji="0" lang="zh-CN" altLang="en-US" sz="2800" b="0" i="0" u="sng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统计假设</a:t>
            </a: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（对平衡态）</a:t>
            </a:r>
          </a:p>
        </p:txBody>
      </p:sp>
      <p:sp>
        <p:nvSpPr>
          <p:cNvPr id="613384" name="矩形 613383"/>
          <p:cNvSpPr/>
          <p:nvPr/>
        </p:nvSpPr>
        <p:spPr>
          <a:xfrm>
            <a:off x="700088" y="6359525"/>
            <a:ext cx="88582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无占优势的方向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3385" name="矩形 613384"/>
          <p:cNvSpPr/>
          <p:nvPr/>
        </p:nvSpPr>
        <p:spPr>
          <a:xfrm>
            <a:off x="700088" y="5811838"/>
            <a:ext cx="94376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无占优势的位置，</a:t>
            </a:r>
          </a:p>
        </p:txBody>
      </p:sp>
      <p:graphicFrame>
        <p:nvGraphicFramePr>
          <p:cNvPr id="613386" name="对象 613385"/>
          <p:cNvGraphicFramePr/>
          <p:nvPr/>
        </p:nvGraphicFramePr>
        <p:xfrm>
          <a:off x="4346575" y="5605463"/>
          <a:ext cx="2808288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r:id="rId3" imgW="1433830" imgH="405765" progId="Equation.3">
                  <p:embed/>
                </p:oleObj>
              </mc:Choice>
              <mc:Fallback>
                <p:oleObj r:id="rId3" imgW="1433830" imgH="405765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46575" y="5605463"/>
                        <a:ext cx="2808288" cy="790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3387" name="矩形 613386"/>
          <p:cNvSpPr/>
          <p:nvPr/>
        </p:nvSpPr>
        <p:spPr>
          <a:xfrm>
            <a:off x="1271588" y="5305425"/>
            <a:ext cx="27892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无外场时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分子运动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13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13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13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13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13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13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13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613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613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13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13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3379" grpId="0" build="p"/>
      <p:bldP spid="613381" grpId="0"/>
      <p:bldP spid="613382" grpId="0"/>
      <p:bldP spid="613384" grpId="0"/>
      <p:bldP spid="613385" grpId="0"/>
      <p:bldP spid="61338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12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614402" name="矩形 614401"/>
          <p:cNvSpPr/>
          <p:nvPr/>
        </p:nvSpPr>
        <p:spPr>
          <a:xfrm>
            <a:off x="455613" y="160338"/>
            <a:ext cx="87249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2.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关于分子集体的统计假设（对平衡态）</a:t>
            </a:r>
          </a:p>
        </p:txBody>
      </p:sp>
      <p:sp>
        <p:nvSpPr>
          <p:cNvPr id="614403" name="矩形 614402"/>
          <p:cNvSpPr/>
          <p:nvPr/>
        </p:nvSpPr>
        <p:spPr>
          <a:xfrm>
            <a:off x="247650" y="1778000"/>
            <a:ext cx="88582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无占优势的方向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404" name="矩形 614403"/>
          <p:cNvSpPr/>
          <p:nvPr/>
        </p:nvSpPr>
        <p:spPr>
          <a:xfrm>
            <a:off x="247650" y="1204913"/>
            <a:ext cx="94376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无占优势的位置，</a:t>
            </a:r>
          </a:p>
        </p:txBody>
      </p:sp>
      <p:graphicFrame>
        <p:nvGraphicFramePr>
          <p:cNvPr id="59397" name="对象 614404"/>
          <p:cNvGraphicFramePr/>
          <p:nvPr/>
        </p:nvGraphicFramePr>
        <p:xfrm>
          <a:off x="3894138" y="998538"/>
          <a:ext cx="2808287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9" r:id="rId3" imgW="1433830" imgH="405765" progId="Equation.DSMT4">
                  <p:embed/>
                </p:oleObj>
              </mc:Choice>
              <mc:Fallback>
                <p:oleObj r:id="rId3" imgW="1433830" imgH="405765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94138" y="998538"/>
                        <a:ext cx="2808287" cy="790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4413" name="组合 614412"/>
          <p:cNvGrpSpPr/>
          <p:nvPr/>
        </p:nvGrpSpPr>
        <p:grpSpPr>
          <a:xfrm>
            <a:off x="455613" y="2074863"/>
            <a:ext cx="3146425" cy="2155825"/>
            <a:chOff x="1696" y="1392"/>
            <a:chExt cx="2139" cy="1501"/>
          </a:xfrm>
        </p:grpSpPr>
        <p:grpSp>
          <p:nvGrpSpPr>
            <p:cNvPr id="59399" name="组合 614413"/>
            <p:cNvGrpSpPr/>
            <p:nvPr/>
          </p:nvGrpSpPr>
          <p:grpSpPr>
            <a:xfrm>
              <a:off x="2112" y="1680"/>
              <a:ext cx="1248" cy="1056"/>
              <a:chOff x="2112" y="1440"/>
              <a:chExt cx="1248" cy="1056"/>
            </a:xfrm>
          </p:grpSpPr>
          <p:sp>
            <p:nvSpPr>
              <p:cNvPr id="59400" name="立方体 614414"/>
              <p:cNvSpPr/>
              <p:nvPr/>
            </p:nvSpPr>
            <p:spPr>
              <a:xfrm>
                <a:off x="2112" y="1440"/>
                <a:ext cx="1248" cy="1056"/>
              </a:xfrm>
              <a:prstGeom prst="cube">
                <a:avLst>
                  <a:gd name="adj" fmla="val 25000"/>
                </a:avLst>
              </a:prstGeom>
              <a:noFill/>
              <a:ln w="9525" cap="flat" cmpd="sng">
                <a:solidFill>
                  <a:schemeClr val="accent2"/>
                </a:solidFill>
                <a:prstDash val="dash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9401" name="直接连接符 614415"/>
              <p:cNvSpPr/>
              <p:nvPr/>
            </p:nvSpPr>
            <p:spPr>
              <a:xfrm>
                <a:off x="2400" y="1440"/>
                <a:ext cx="0" cy="768"/>
              </a:xfrm>
              <a:prstGeom prst="line">
                <a:avLst/>
              </a:prstGeom>
              <a:ln w="9525" cap="flat" cmpd="sng">
                <a:solidFill>
                  <a:srgbClr val="99FF33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402" name="直接连接符 614416"/>
              <p:cNvSpPr/>
              <p:nvPr/>
            </p:nvSpPr>
            <p:spPr>
              <a:xfrm flipV="1">
                <a:off x="2112" y="2208"/>
                <a:ext cx="288" cy="288"/>
              </a:xfrm>
              <a:prstGeom prst="line">
                <a:avLst/>
              </a:prstGeom>
              <a:ln w="9525" cap="flat" cmpd="sng">
                <a:solidFill>
                  <a:srgbClr val="99FF33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403" name="直接连接符 614417"/>
              <p:cNvSpPr/>
              <p:nvPr/>
            </p:nvSpPr>
            <p:spPr>
              <a:xfrm>
                <a:off x="2400" y="2208"/>
                <a:ext cx="960" cy="0"/>
              </a:xfrm>
              <a:prstGeom prst="line">
                <a:avLst/>
              </a:prstGeom>
              <a:ln w="9525" cap="flat" cmpd="sng">
                <a:solidFill>
                  <a:srgbClr val="99FF33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59404" name="直接连接符 614418"/>
            <p:cNvSpPr/>
            <p:nvPr/>
          </p:nvSpPr>
          <p:spPr>
            <a:xfrm>
              <a:off x="2400" y="2448"/>
              <a:ext cx="960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9405" name="直接连接符 614419"/>
            <p:cNvSpPr/>
            <p:nvPr/>
          </p:nvSpPr>
          <p:spPr>
            <a:xfrm flipH="1">
              <a:off x="2112" y="2448"/>
              <a:ext cx="288" cy="288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9406" name="直接连接符 614420"/>
            <p:cNvSpPr/>
            <p:nvPr/>
          </p:nvSpPr>
          <p:spPr>
            <a:xfrm flipV="1">
              <a:off x="2400" y="1680"/>
              <a:ext cx="0" cy="768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59407" name="对象 614421"/>
            <p:cNvGraphicFramePr/>
            <p:nvPr/>
          </p:nvGraphicFramePr>
          <p:xfrm>
            <a:off x="3328" y="2064"/>
            <a:ext cx="507" cy="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50" r:id="rId5" imgW="190500" imgH="228600" progId="Equation.3">
                    <p:embed/>
                  </p:oleObj>
                </mc:Choice>
                <mc:Fallback>
                  <p:oleObj r:id="rId5" imgW="190500" imgH="22860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328" y="2064"/>
                          <a:ext cx="507" cy="56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08" name="对象 614422"/>
            <p:cNvGraphicFramePr/>
            <p:nvPr/>
          </p:nvGraphicFramePr>
          <p:xfrm>
            <a:off x="2444" y="1392"/>
            <a:ext cx="546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51" r:id="rId7" imgW="203200" imgH="241300" progId="Equation.3">
                    <p:embed/>
                  </p:oleObj>
                </mc:Choice>
                <mc:Fallback>
                  <p:oleObj r:id="rId7" imgW="203200" imgH="241300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444" y="1392"/>
                          <a:ext cx="546" cy="5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09" name="对象 614423"/>
            <p:cNvGraphicFramePr/>
            <p:nvPr/>
          </p:nvGraphicFramePr>
          <p:xfrm>
            <a:off x="1696" y="2336"/>
            <a:ext cx="508" cy="5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52" r:id="rId9" imgW="190500" imgH="228600" progId="Equation.3">
                    <p:embed/>
                  </p:oleObj>
                </mc:Choice>
                <mc:Fallback>
                  <p:oleObj r:id="rId9" imgW="190500" imgH="228600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696" y="2336"/>
                          <a:ext cx="508" cy="5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10" name="椭圆 614424"/>
            <p:cNvSpPr/>
            <p:nvPr/>
          </p:nvSpPr>
          <p:spPr>
            <a:xfrm>
              <a:off x="2304" y="235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A9A9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9411" name="直接连接符 614425"/>
            <p:cNvSpPr/>
            <p:nvPr/>
          </p:nvSpPr>
          <p:spPr>
            <a:xfrm flipV="1">
              <a:off x="2400" y="1968"/>
              <a:ext cx="672" cy="480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59412" name="对象 614426"/>
            <p:cNvGraphicFramePr/>
            <p:nvPr/>
          </p:nvGraphicFramePr>
          <p:xfrm>
            <a:off x="3040" y="1779"/>
            <a:ext cx="405" cy="5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53" r:id="rId11" imgW="152400" imgH="228600" progId="Equation.3">
                    <p:embed/>
                  </p:oleObj>
                </mc:Choice>
                <mc:Fallback>
                  <p:oleObj r:id="rId11" imgW="152400" imgH="228600" progId="Equation.3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040" y="1779"/>
                          <a:ext cx="405" cy="5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4429" name="矩形 614428"/>
          <p:cNvSpPr/>
          <p:nvPr/>
        </p:nvSpPr>
        <p:spPr>
          <a:xfrm>
            <a:off x="819150" y="698500"/>
            <a:ext cx="27892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无外场时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分子运动</a:t>
            </a:r>
          </a:p>
        </p:txBody>
      </p:sp>
      <p:graphicFrame>
        <p:nvGraphicFramePr>
          <p:cNvPr id="614431" name="对象 614430"/>
          <p:cNvGraphicFramePr/>
          <p:nvPr/>
        </p:nvGraphicFramePr>
        <p:xfrm>
          <a:off x="3894138" y="2263775"/>
          <a:ext cx="1917700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4" r:id="rId13" imgW="901065" imgH="660400" progId="Equation.3">
                  <p:embed/>
                </p:oleObj>
              </mc:Choice>
              <mc:Fallback>
                <p:oleObj r:id="rId13" imgW="901065" imgH="6604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94138" y="2263775"/>
                        <a:ext cx="1917700" cy="1327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32" name="对象 614431"/>
          <p:cNvGraphicFramePr/>
          <p:nvPr/>
        </p:nvGraphicFramePr>
        <p:xfrm>
          <a:off x="6270625" y="2233613"/>
          <a:ext cx="2271713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5" r:id="rId15" imgW="901065" imgH="660400" progId="Equation.3">
                  <p:embed/>
                </p:oleObj>
              </mc:Choice>
              <mc:Fallback>
                <p:oleObj r:id="rId15" imgW="901065" imgH="6604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270625" y="2233613"/>
                        <a:ext cx="2271713" cy="1495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33" name="对象 614432"/>
          <p:cNvGraphicFramePr/>
          <p:nvPr/>
        </p:nvGraphicFramePr>
        <p:xfrm>
          <a:off x="4960938" y="5203825"/>
          <a:ext cx="3998912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6" r:id="rId17" imgW="1370965" imgH="393700" progId="Equation.3">
                  <p:embed/>
                </p:oleObj>
              </mc:Choice>
              <mc:Fallback>
                <p:oleObj r:id="rId17" imgW="1370965" imgH="3937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960938" y="5203825"/>
                        <a:ext cx="3998912" cy="1063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34" name="对象 614433"/>
          <p:cNvGraphicFramePr/>
          <p:nvPr/>
        </p:nvGraphicFramePr>
        <p:xfrm>
          <a:off x="5006975" y="4213225"/>
          <a:ext cx="3794125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7" r:id="rId19" imgW="1497965" imgH="292100" progId="Equation.3">
                  <p:embed/>
                </p:oleObj>
              </mc:Choice>
              <mc:Fallback>
                <p:oleObj r:id="rId19" imgW="1497965" imgH="2921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006975" y="4213225"/>
                        <a:ext cx="3794125" cy="804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35" name="对象 614434"/>
          <p:cNvGraphicFramePr/>
          <p:nvPr/>
        </p:nvGraphicFramePr>
        <p:xfrm>
          <a:off x="1538288" y="4230688"/>
          <a:ext cx="115887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8" r:id="rId21" imgW="367665" imgH="203200" progId="Equation.3">
                  <p:embed/>
                </p:oleObj>
              </mc:Choice>
              <mc:Fallback>
                <p:oleObj r:id="rId21" imgW="367665" imgH="2032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38288" y="4230688"/>
                        <a:ext cx="1158875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36" name="文本框 614435"/>
          <p:cNvSpPr txBox="1"/>
          <p:nvPr/>
        </p:nvSpPr>
        <p:spPr>
          <a:xfrm>
            <a:off x="371475" y="4313238"/>
            <a:ext cx="15827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结果：</a:t>
            </a:r>
          </a:p>
        </p:txBody>
      </p:sp>
      <p:graphicFrame>
        <p:nvGraphicFramePr>
          <p:cNvPr id="614437" name="对象 614436"/>
          <p:cNvGraphicFramePr/>
          <p:nvPr/>
        </p:nvGraphicFramePr>
        <p:xfrm>
          <a:off x="1541463" y="5505450"/>
          <a:ext cx="2268537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9" r:id="rId23" imgW="799465" imgH="355600" progId="Equation.3">
                  <p:embed/>
                </p:oleObj>
              </mc:Choice>
              <mc:Fallback>
                <p:oleObj r:id="rId23" imgW="799465" imgH="3556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41463" y="5505450"/>
                        <a:ext cx="2268537" cy="912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38" name="对象 614437"/>
          <p:cNvGraphicFramePr/>
          <p:nvPr/>
        </p:nvGraphicFramePr>
        <p:xfrm>
          <a:off x="1546225" y="4702175"/>
          <a:ext cx="261937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0" r:id="rId25" imgW="1015365" imgH="342900" progId="Equation.3">
                  <p:embed/>
                </p:oleObj>
              </mc:Choice>
              <mc:Fallback>
                <p:oleObj r:id="rId25" imgW="1015365" imgH="3429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46225" y="4702175"/>
                        <a:ext cx="2619375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14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14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14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14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14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14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14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14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13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621570" name="矩形 621569"/>
          <p:cNvSpPr/>
          <p:nvPr/>
        </p:nvSpPr>
        <p:spPr>
          <a:xfrm>
            <a:off x="395288" y="115888"/>
            <a:ext cx="68961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三、理想气体压强公式的推导</a:t>
            </a:r>
          </a:p>
        </p:txBody>
      </p:sp>
      <p:sp>
        <p:nvSpPr>
          <p:cNvPr id="621571" name="矩形 621570"/>
          <p:cNvSpPr/>
          <p:nvPr/>
        </p:nvSpPr>
        <p:spPr>
          <a:xfrm>
            <a:off x="1663700" y="727075"/>
            <a:ext cx="21875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平衡态</a:t>
            </a:r>
          </a:p>
        </p:txBody>
      </p:sp>
      <p:sp>
        <p:nvSpPr>
          <p:cNvPr id="621572" name="矩形 621571"/>
          <p:cNvSpPr/>
          <p:nvPr/>
        </p:nvSpPr>
        <p:spPr>
          <a:xfrm>
            <a:off x="4524375" y="714375"/>
            <a:ext cx="27400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忽略重力</a:t>
            </a:r>
          </a:p>
        </p:txBody>
      </p:sp>
      <p:sp>
        <p:nvSpPr>
          <p:cNvPr id="621573" name="矩形 621572"/>
          <p:cNvSpPr/>
          <p:nvPr/>
        </p:nvSpPr>
        <p:spPr>
          <a:xfrm>
            <a:off x="1663700" y="1260475"/>
            <a:ext cx="33496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分子看成质点</a:t>
            </a:r>
          </a:p>
        </p:txBody>
      </p:sp>
      <p:sp>
        <p:nvSpPr>
          <p:cNvPr id="621574" name="矩形 621573"/>
          <p:cNvSpPr/>
          <p:nvPr/>
        </p:nvSpPr>
        <p:spPr>
          <a:xfrm>
            <a:off x="3708400" y="1268413"/>
            <a:ext cx="55975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（只考虑分子的平动）；</a:t>
            </a:r>
          </a:p>
        </p:txBody>
      </p:sp>
      <p:sp>
        <p:nvSpPr>
          <p:cNvPr id="621575" name="矩形 621574"/>
          <p:cNvSpPr/>
          <p:nvPr/>
        </p:nvSpPr>
        <p:spPr>
          <a:xfrm>
            <a:off x="755650" y="1938338"/>
            <a:ext cx="73850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设：     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1576" name="矩形 621575"/>
          <p:cNvSpPr/>
          <p:nvPr/>
        </p:nvSpPr>
        <p:spPr>
          <a:xfrm>
            <a:off x="1835150" y="2603500"/>
            <a:ext cx="38338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 —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总分子数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足够大）</a:t>
            </a:r>
          </a:p>
        </p:txBody>
      </p:sp>
      <p:sp>
        <p:nvSpPr>
          <p:cNvPr id="621577" name="矩形 621576"/>
          <p:cNvSpPr/>
          <p:nvPr/>
        </p:nvSpPr>
        <p:spPr>
          <a:xfrm>
            <a:off x="5534025" y="2611438"/>
            <a:ext cx="32956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 — 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总体积</a:t>
            </a:r>
          </a:p>
        </p:txBody>
      </p:sp>
      <p:grpSp>
        <p:nvGrpSpPr>
          <p:cNvPr id="621578" name="组合 621577"/>
          <p:cNvGrpSpPr/>
          <p:nvPr/>
        </p:nvGrpSpPr>
        <p:grpSpPr>
          <a:xfrm>
            <a:off x="2033588" y="3195638"/>
            <a:ext cx="6840537" cy="981075"/>
            <a:chOff x="1292" y="2374"/>
            <a:chExt cx="4036" cy="618"/>
          </a:xfrm>
        </p:grpSpPr>
        <p:graphicFrame>
          <p:nvGraphicFramePr>
            <p:cNvPr id="60427" name="对象 621578"/>
            <p:cNvGraphicFramePr/>
            <p:nvPr/>
          </p:nvGraphicFramePr>
          <p:xfrm>
            <a:off x="1292" y="2374"/>
            <a:ext cx="680" cy="6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2" r:id="rId3" imgW="431800" imgH="393700" progId="Equation.3">
                    <p:embed/>
                  </p:oleObj>
                </mc:Choice>
                <mc:Fallback>
                  <p:oleObj r:id="rId3" imgW="431800" imgH="393700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92" y="2374"/>
                          <a:ext cx="680" cy="6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1580" name="矩形 621579"/>
            <p:cNvSpPr/>
            <p:nvPr/>
          </p:nvSpPr>
          <p:spPr>
            <a:xfrm>
              <a:off x="2076" y="2525"/>
              <a:ext cx="325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---- </a:t>
              </a: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分子数密度</a:t>
              </a:r>
            </a:p>
          </p:txBody>
        </p:sp>
      </p:grpSp>
      <p:graphicFrame>
        <p:nvGraphicFramePr>
          <p:cNvPr id="621581" name="对象 621580"/>
          <p:cNvGraphicFramePr/>
          <p:nvPr/>
        </p:nvGraphicFramePr>
        <p:xfrm>
          <a:off x="2020888" y="4729163"/>
          <a:ext cx="1069975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3" r:id="rId5" imgW="508000" imgH="393700" progId="Equation.3">
                  <p:embed/>
                </p:oleObj>
              </mc:Choice>
              <mc:Fallback>
                <p:oleObj r:id="rId5" imgW="508000" imgH="3937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20888" y="4729163"/>
                        <a:ext cx="1069975" cy="954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1582" name="对象 621581"/>
          <p:cNvGraphicFramePr/>
          <p:nvPr/>
        </p:nvGraphicFramePr>
        <p:xfrm>
          <a:off x="1979613" y="5827713"/>
          <a:ext cx="36671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4" r:id="rId7" imgW="1447165" imgH="342900" progId="Equation.3">
                  <p:embed/>
                </p:oleObj>
              </mc:Choice>
              <mc:Fallback>
                <p:oleObj r:id="rId7" imgW="1447165" imgH="3429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79613" y="5827713"/>
                        <a:ext cx="3667125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583" name="矩形 621582"/>
          <p:cNvSpPr/>
          <p:nvPr/>
        </p:nvSpPr>
        <p:spPr>
          <a:xfrm>
            <a:off x="755650" y="727075"/>
            <a:ext cx="13303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系统：</a:t>
            </a:r>
          </a:p>
        </p:txBody>
      </p:sp>
      <p:sp>
        <p:nvSpPr>
          <p:cNvPr id="621584" name="矩形 621583"/>
          <p:cNvSpPr/>
          <p:nvPr/>
        </p:nvSpPr>
        <p:spPr>
          <a:xfrm>
            <a:off x="2933700" y="727075"/>
            <a:ext cx="15192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理想气体</a:t>
            </a:r>
          </a:p>
        </p:txBody>
      </p:sp>
      <p:grpSp>
        <p:nvGrpSpPr>
          <p:cNvPr id="621585" name="组合 621584"/>
          <p:cNvGrpSpPr/>
          <p:nvPr/>
        </p:nvGrpSpPr>
        <p:grpSpPr>
          <a:xfrm>
            <a:off x="3421063" y="4922838"/>
            <a:ext cx="5111750" cy="619125"/>
            <a:chOff x="2155" y="3085"/>
            <a:chExt cx="3220" cy="390"/>
          </a:xfrm>
        </p:grpSpPr>
        <p:sp>
          <p:nvSpPr>
            <p:cNvPr id="621586" name="矩形 621585"/>
            <p:cNvSpPr/>
            <p:nvPr/>
          </p:nvSpPr>
          <p:spPr>
            <a:xfrm>
              <a:off x="2155" y="3122"/>
              <a:ext cx="322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---- </a:t>
              </a: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速度为   的分子数密度</a:t>
              </a:r>
            </a:p>
          </p:txBody>
        </p:sp>
        <p:graphicFrame>
          <p:nvGraphicFramePr>
            <p:cNvPr id="60435" name="对象 621586"/>
            <p:cNvGraphicFramePr/>
            <p:nvPr/>
          </p:nvGraphicFramePr>
          <p:xfrm>
            <a:off x="3288" y="3085"/>
            <a:ext cx="283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5" r:id="rId9" imgW="165100" imgH="228600" progId="Equation.DSMT4">
                    <p:embed/>
                  </p:oleObj>
                </mc:Choice>
                <mc:Fallback>
                  <p:oleObj r:id="rId9" imgW="165100" imgH="228600" progId="Equation.DSMT4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288" y="3085"/>
                          <a:ext cx="283" cy="3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21598" name="组合 621597"/>
          <p:cNvGrpSpPr/>
          <p:nvPr/>
        </p:nvGrpSpPr>
        <p:grpSpPr>
          <a:xfrm>
            <a:off x="1801813" y="4292600"/>
            <a:ext cx="4967287" cy="498475"/>
            <a:chOff x="1135" y="2704"/>
            <a:chExt cx="3129" cy="314"/>
          </a:xfrm>
        </p:grpSpPr>
        <p:sp>
          <p:nvSpPr>
            <p:cNvPr id="621594" name="矩形 621593"/>
            <p:cNvSpPr/>
            <p:nvPr/>
          </p:nvSpPr>
          <p:spPr>
            <a:xfrm>
              <a:off x="1135" y="2704"/>
              <a:ext cx="3129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2400" b="1" i="1" u="none" strike="noStrike" kern="1200" cap="none" spc="0" normalizeH="0" baseline="-2500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------</a:t>
              </a: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速度为</a:t>
              </a: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  </a:t>
              </a: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的分子数</a:t>
              </a:r>
            </a:p>
          </p:txBody>
        </p:sp>
        <p:graphicFrame>
          <p:nvGraphicFramePr>
            <p:cNvPr id="60438" name="对象 621594"/>
            <p:cNvGraphicFramePr/>
            <p:nvPr/>
          </p:nvGraphicFramePr>
          <p:xfrm>
            <a:off x="2321" y="2704"/>
            <a:ext cx="209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6" r:id="rId11" imgW="152400" imgH="228600" progId="Equation.DSMT4">
                    <p:embed/>
                  </p:oleObj>
                </mc:Choice>
                <mc:Fallback>
                  <p:oleObj r:id="rId11" imgW="152400" imgH="228600" progId="Equation.DSMT4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321" y="2704"/>
                          <a:ext cx="209" cy="3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21599" name="矩形 621598"/>
          <p:cNvSpPr/>
          <p:nvPr/>
        </p:nvSpPr>
        <p:spPr>
          <a:xfrm>
            <a:off x="1590675" y="1938338"/>
            <a:ext cx="3773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同种气体，分子质量为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m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21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21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62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621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621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62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621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21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621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21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2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21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621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621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621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21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1570" grpId="0"/>
      <p:bldP spid="621571" grpId="0"/>
      <p:bldP spid="621572" grpId="0"/>
      <p:bldP spid="621573" grpId="0"/>
      <p:bldP spid="621574" grpId="0"/>
      <p:bldP spid="621575" grpId="0"/>
      <p:bldP spid="621576" grpId="0"/>
      <p:bldP spid="621577" grpId="0"/>
      <p:bldP spid="621583" grpId="0"/>
      <p:bldP spid="621584" grpId="0"/>
      <p:bldP spid="62159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14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622594" name="文本框 622593"/>
          <p:cNvSpPr txBox="1"/>
          <p:nvPr/>
        </p:nvSpPr>
        <p:spPr>
          <a:xfrm>
            <a:off x="34925" y="117475"/>
            <a:ext cx="77089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6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推导：</a:t>
            </a:r>
            <a:endParaRPr kumimoji="0" lang="zh-CN" altLang="en-US" sz="2800" kern="1200" cap="none" spc="0" normalizeH="0" baseline="0" noProof="1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2595" name="文本框 622594"/>
          <p:cNvSpPr txBox="1"/>
          <p:nvPr/>
        </p:nvSpPr>
        <p:spPr>
          <a:xfrm>
            <a:off x="179388" y="1052513"/>
            <a:ext cx="8534400" cy="785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思维转换</a:t>
            </a: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 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大量分子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单位时间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内作用在器壁</a:t>
            </a:r>
          </a:p>
          <a:p>
            <a:pPr marR="0" defTabSz="914400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单位面积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上的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平均冲量</a:t>
            </a:r>
          </a:p>
        </p:txBody>
      </p:sp>
      <p:sp>
        <p:nvSpPr>
          <p:cNvPr id="622596" name="文本框 622595"/>
          <p:cNvSpPr txBox="1"/>
          <p:nvPr/>
        </p:nvSpPr>
        <p:spPr>
          <a:xfrm>
            <a:off x="179388" y="1854200"/>
            <a:ext cx="7696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algn="just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取器壁上小面元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&gt;&gt;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分子截面面积）</a:t>
            </a:r>
          </a:p>
        </p:txBody>
      </p:sp>
      <p:grpSp>
        <p:nvGrpSpPr>
          <p:cNvPr id="622597" name="组合 622596"/>
          <p:cNvGrpSpPr/>
          <p:nvPr/>
        </p:nvGrpSpPr>
        <p:grpSpPr>
          <a:xfrm>
            <a:off x="6426200" y="2151063"/>
            <a:ext cx="2717800" cy="2933700"/>
            <a:chOff x="312" y="852"/>
            <a:chExt cx="1712" cy="1848"/>
          </a:xfrm>
        </p:grpSpPr>
        <p:sp>
          <p:nvSpPr>
            <p:cNvPr id="61446" name="椭圆 622597"/>
            <p:cNvSpPr/>
            <p:nvPr/>
          </p:nvSpPr>
          <p:spPr>
            <a:xfrm>
              <a:off x="312" y="2063"/>
              <a:ext cx="167" cy="334"/>
            </a:xfrm>
            <a:prstGeom prst="ellipse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61447" name="平行四边形 622598"/>
            <p:cNvSpPr/>
            <p:nvPr/>
          </p:nvSpPr>
          <p:spPr>
            <a:xfrm rot="5400000">
              <a:off x="510" y="1175"/>
              <a:ext cx="1545" cy="877"/>
            </a:xfrm>
            <a:prstGeom prst="parallelogram">
              <a:avLst>
                <a:gd name="adj" fmla="val 44042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61448" name="椭圆 622599"/>
            <p:cNvSpPr/>
            <p:nvPr/>
          </p:nvSpPr>
          <p:spPr>
            <a:xfrm>
              <a:off x="1189" y="1301"/>
              <a:ext cx="167" cy="334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61449" name="直接连接符 622600"/>
            <p:cNvSpPr/>
            <p:nvPr/>
          </p:nvSpPr>
          <p:spPr>
            <a:xfrm flipV="1">
              <a:off x="342" y="1304"/>
              <a:ext cx="918" cy="79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50" name="直接连接符 622601"/>
            <p:cNvSpPr/>
            <p:nvPr/>
          </p:nvSpPr>
          <p:spPr>
            <a:xfrm flipV="1">
              <a:off x="416" y="1604"/>
              <a:ext cx="919" cy="79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51" name="直接连接符 622602"/>
            <p:cNvSpPr/>
            <p:nvPr/>
          </p:nvSpPr>
          <p:spPr>
            <a:xfrm>
              <a:off x="855" y="1656"/>
              <a:ext cx="0" cy="355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52" name="直接连接符 622603"/>
            <p:cNvSpPr/>
            <p:nvPr/>
          </p:nvSpPr>
          <p:spPr>
            <a:xfrm flipV="1">
              <a:off x="396" y="1771"/>
              <a:ext cx="542" cy="459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dash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61453" name="对象 622604"/>
            <p:cNvGraphicFramePr/>
            <p:nvPr/>
          </p:nvGraphicFramePr>
          <p:xfrm>
            <a:off x="928" y="1519"/>
            <a:ext cx="264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06" r:id="rId3" imgW="177800" imgH="227965" progId="Equation.3">
                    <p:embed/>
                  </p:oleObj>
                </mc:Choice>
                <mc:Fallback>
                  <p:oleObj r:id="rId3" imgW="177800" imgH="227965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28" y="1519"/>
                          <a:ext cx="264" cy="3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54" name="直接连接符 622605"/>
            <p:cNvSpPr/>
            <p:nvPr/>
          </p:nvSpPr>
          <p:spPr>
            <a:xfrm flipH="1" flipV="1">
              <a:off x="688" y="1552"/>
              <a:ext cx="125" cy="16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22607" name="文本框 622606"/>
            <p:cNvSpPr txBox="1"/>
            <p:nvPr/>
          </p:nvSpPr>
          <p:spPr>
            <a:xfrm>
              <a:off x="404" y="1090"/>
              <a:ext cx="352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小柱体</a:t>
              </a:r>
            </a:p>
          </p:txBody>
        </p:sp>
        <p:sp>
          <p:nvSpPr>
            <p:cNvPr id="61456" name="直接连接符 622607"/>
            <p:cNvSpPr/>
            <p:nvPr/>
          </p:nvSpPr>
          <p:spPr>
            <a:xfrm flipH="1" flipV="1">
              <a:off x="1272" y="1478"/>
              <a:ext cx="126" cy="25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457" name="组合 622608"/>
            <p:cNvGrpSpPr/>
            <p:nvPr/>
          </p:nvGrpSpPr>
          <p:grpSpPr>
            <a:xfrm>
              <a:off x="1178" y="1395"/>
              <a:ext cx="84" cy="230"/>
              <a:chOff x="1764" y="1248"/>
              <a:chExt cx="96" cy="264"/>
            </a:xfrm>
          </p:grpSpPr>
          <p:sp>
            <p:nvSpPr>
              <p:cNvPr id="61458" name="直接连接符 622609"/>
              <p:cNvSpPr/>
              <p:nvPr/>
            </p:nvSpPr>
            <p:spPr>
              <a:xfrm>
                <a:off x="1776" y="1248"/>
                <a:ext cx="48" cy="0"/>
              </a:xfrm>
              <a:prstGeom prst="line">
                <a:avLst/>
              </a:prstGeom>
              <a:ln w="571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59" name="直接连接符 622610"/>
              <p:cNvSpPr/>
              <p:nvPr/>
            </p:nvSpPr>
            <p:spPr>
              <a:xfrm>
                <a:off x="1764" y="1332"/>
                <a:ext cx="48" cy="0"/>
              </a:xfrm>
              <a:prstGeom prst="line">
                <a:avLst/>
              </a:prstGeom>
              <a:ln w="571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60" name="直接连接符 622611"/>
              <p:cNvSpPr/>
              <p:nvPr/>
            </p:nvSpPr>
            <p:spPr>
              <a:xfrm>
                <a:off x="1764" y="1428"/>
                <a:ext cx="48" cy="0"/>
              </a:xfrm>
              <a:prstGeom prst="line">
                <a:avLst/>
              </a:prstGeom>
              <a:ln w="571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61" name="直接连接符 622612"/>
              <p:cNvSpPr/>
              <p:nvPr/>
            </p:nvSpPr>
            <p:spPr>
              <a:xfrm>
                <a:off x="1812" y="1512"/>
                <a:ext cx="48" cy="0"/>
              </a:xfrm>
              <a:prstGeom prst="line">
                <a:avLst/>
              </a:prstGeom>
              <a:ln w="571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622614" name="文本框 622613"/>
            <p:cNvSpPr txBox="1"/>
            <p:nvPr/>
          </p:nvSpPr>
          <p:spPr>
            <a:xfrm>
              <a:off x="1293" y="1677"/>
              <a:ext cx="6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0" lang="en-US" altLang="zh-CN" sz="2400" i="1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endPara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63" name="直接连接符 622614"/>
            <p:cNvSpPr/>
            <p:nvPr/>
          </p:nvSpPr>
          <p:spPr>
            <a:xfrm>
              <a:off x="1272" y="1656"/>
              <a:ext cx="0" cy="104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464" name="组合 622615"/>
            <p:cNvGrpSpPr/>
            <p:nvPr/>
          </p:nvGrpSpPr>
          <p:grpSpPr>
            <a:xfrm>
              <a:off x="730" y="2136"/>
              <a:ext cx="1169" cy="94"/>
              <a:chOff x="528" y="2100"/>
              <a:chExt cx="1344" cy="108"/>
            </a:xfrm>
          </p:grpSpPr>
          <p:sp>
            <p:nvSpPr>
              <p:cNvPr id="61465" name="直接连接符 622616"/>
              <p:cNvSpPr/>
              <p:nvPr/>
            </p:nvSpPr>
            <p:spPr>
              <a:xfrm>
                <a:off x="528" y="2160"/>
                <a:ext cx="13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pSp>
            <p:nvGrpSpPr>
              <p:cNvPr id="61466" name="组合 622617"/>
              <p:cNvGrpSpPr/>
              <p:nvPr/>
            </p:nvGrpSpPr>
            <p:grpSpPr>
              <a:xfrm>
                <a:off x="1236" y="2100"/>
                <a:ext cx="360" cy="108"/>
                <a:chOff x="1956" y="2088"/>
                <a:chExt cx="360" cy="108"/>
              </a:xfrm>
            </p:grpSpPr>
            <p:sp>
              <p:nvSpPr>
                <p:cNvPr id="61467" name="直接连接符 622618"/>
                <p:cNvSpPr/>
                <p:nvPr/>
              </p:nvSpPr>
              <p:spPr>
                <a:xfrm>
                  <a:off x="1956" y="2088"/>
                  <a:ext cx="0" cy="96"/>
                </a:xfrm>
                <a:prstGeom prst="line">
                  <a:avLst/>
                </a:prstGeom>
                <a:ln w="571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468" name="直接连接符 622619"/>
                <p:cNvSpPr/>
                <p:nvPr/>
              </p:nvSpPr>
              <p:spPr>
                <a:xfrm>
                  <a:off x="2076" y="2100"/>
                  <a:ext cx="0" cy="96"/>
                </a:xfrm>
                <a:prstGeom prst="line">
                  <a:avLst/>
                </a:prstGeom>
                <a:ln w="571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469" name="直接连接符 622620"/>
                <p:cNvSpPr/>
                <p:nvPr/>
              </p:nvSpPr>
              <p:spPr>
                <a:xfrm>
                  <a:off x="2196" y="2100"/>
                  <a:ext cx="0" cy="96"/>
                </a:xfrm>
                <a:prstGeom prst="line">
                  <a:avLst/>
                </a:prstGeom>
                <a:ln w="571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470" name="直接连接符 622621"/>
                <p:cNvSpPr/>
                <p:nvPr/>
              </p:nvSpPr>
              <p:spPr>
                <a:xfrm>
                  <a:off x="2316" y="2100"/>
                  <a:ext cx="0" cy="96"/>
                </a:xfrm>
                <a:prstGeom prst="line">
                  <a:avLst/>
                </a:prstGeom>
                <a:ln w="571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61471" name="直接连接符 622622"/>
            <p:cNvSpPr/>
            <p:nvPr/>
          </p:nvSpPr>
          <p:spPr>
            <a:xfrm>
              <a:off x="396" y="2355"/>
              <a:ext cx="0" cy="33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72" name="直接连接符 622623"/>
            <p:cNvSpPr/>
            <p:nvPr/>
          </p:nvSpPr>
          <p:spPr>
            <a:xfrm>
              <a:off x="396" y="2564"/>
              <a:ext cx="87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622625" name="文本框 622624"/>
            <p:cNvSpPr txBox="1"/>
            <p:nvPr/>
          </p:nvSpPr>
          <p:spPr>
            <a:xfrm>
              <a:off x="630" y="2234"/>
              <a:ext cx="75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400" i="1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Bookman Old Style" panose="02050604050505020204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2400" i="1" kern="1200" cap="none" spc="0" normalizeH="0" baseline="-250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ix</a:t>
              </a:r>
              <a:r>
                <a:rPr kumimoji="0" lang="en-US" altLang="zh-CN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0" lang="en-US" altLang="zh-CN" sz="2400" i="1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</a:p>
          </p:txBody>
        </p:sp>
        <p:sp>
          <p:nvSpPr>
            <p:cNvPr id="622626" name="文本框 622625"/>
            <p:cNvSpPr txBox="1"/>
            <p:nvPr/>
          </p:nvSpPr>
          <p:spPr>
            <a:xfrm>
              <a:off x="1732" y="2121"/>
              <a:ext cx="2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400" i="1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  <p:sp>
          <p:nvSpPr>
            <p:cNvPr id="622627" name="文本框 622626"/>
            <p:cNvSpPr txBox="1"/>
            <p:nvPr/>
          </p:nvSpPr>
          <p:spPr>
            <a:xfrm>
              <a:off x="1429" y="1210"/>
              <a:ext cx="292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器壁</a:t>
              </a:r>
            </a:p>
          </p:txBody>
        </p:sp>
      </p:grpSp>
      <p:sp>
        <p:nvSpPr>
          <p:cNvPr id="622628" name="矩形 622627"/>
          <p:cNvSpPr/>
          <p:nvPr/>
        </p:nvSpPr>
        <p:spPr>
          <a:xfrm>
            <a:off x="179388" y="2349500"/>
            <a:ext cx="21717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步：</a:t>
            </a:r>
          </a:p>
        </p:txBody>
      </p:sp>
      <p:grpSp>
        <p:nvGrpSpPr>
          <p:cNvPr id="622629" name="组合 622628"/>
          <p:cNvGrpSpPr/>
          <p:nvPr/>
        </p:nvGrpSpPr>
        <p:grpSpPr>
          <a:xfrm>
            <a:off x="1477963" y="3257550"/>
            <a:ext cx="4030662" cy="1954213"/>
            <a:chOff x="521" y="2251"/>
            <a:chExt cx="2539" cy="1231"/>
          </a:xfrm>
        </p:grpSpPr>
        <p:grpSp>
          <p:nvGrpSpPr>
            <p:cNvPr id="61478" name="组合 622629"/>
            <p:cNvGrpSpPr/>
            <p:nvPr/>
          </p:nvGrpSpPr>
          <p:grpSpPr>
            <a:xfrm>
              <a:off x="2155" y="2490"/>
              <a:ext cx="905" cy="992"/>
              <a:chOff x="2450" y="255"/>
              <a:chExt cx="958" cy="1061"/>
            </a:xfrm>
          </p:grpSpPr>
          <p:sp>
            <p:nvSpPr>
              <p:cNvPr id="61479" name="直接连接符 622630"/>
              <p:cNvSpPr/>
              <p:nvPr/>
            </p:nvSpPr>
            <p:spPr>
              <a:xfrm>
                <a:off x="2450" y="699"/>
                <a:ext cx="7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stealth" w="sm" len="lg"/>
                <a:tailEnd type="none" w="med" len="med"/>
              </a:ln>
            </p:spPr>
          </p:sp>
          <p:sp>
            <p:nvSpPr>
              <p:cNvPr id="61480" name="直接连接符 622631"/>
              <p:cNvSpPr/>
              <p:nvPr/>
            </p:nvSpPr>
            <p:spPr>
              <a:xfrm flipH="1" flipV="1">
                <a:off x="2450" y="733"/>
                <a:ext cx="390" cy="25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lg"/>
                <a:tailEnd type="stealth" w="sm" len="lg"/>
              </a:ln>
            </p:spPr>
          </p:sp>
          <p:sp>
            <p:nvSpPr>
              <p:cNvPr id="61481" name="直接连接符 622632"/>
              <p:cNvSpPr/>
              <p:nvPr/>
            </p:nvSpPr>
            <p:spPr>
              <a:xfrm flipV="1">
                <a:off x="2840" y="721"/>
                <a:ext cx="391" cy="25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sm" len="lg"/>
              </a:ln>
            </p:spPr>
          </p:sp>
          <p:sp>
            <p:nvSpPr>
              <p:cNvPr id="622634" name="文本框 622633"/>
              <p:cNvSpPr txBox="1"/>
              <p:nvPr/>
            </p:nvSpPr>
            <p:spPr>
              <a:xfrm>
                <a:off x="2541" y="940"/>
                <a:ext cx="339" cy="376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0" tIns="0" rIns="0" bIns="0"/>
              <a:lstStyle/>
              <a:p>
                <a:pPr marR="0" algn="just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400" i="1" kern="1200" cap="none" spc="0" normalizeH="0" baseline="0" noProof="1">
                    <a:solidFill>
                      <a:srgbClr val="CC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Book Antiqua" panose="02040602050305030304" pitchFamily="18" charset="0"/>
                    <a:ea typeface="宋体" panose="02010600030101010101" pitchFamily="2" charset="-122"/>
                    <a:cs typeface="+mn-cs"/>
                  </a:rPr>
                  <a:t>v</a:t>
                </a:r>
                <a:r>
                  <a:rPr kumimoji="0" lang="en-US" altLang="zh-CN" sz="2400" i="1" kern="1200" cap="none" spc="0" normalizeH="0" baseline="0" noProof="1">
                    <a:solidFill>
                      <a:srgbClr val="CC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'</a:t>
                </a:r>
                <a:r>
                  <a:rPr kumimoji="0" lang="en-US" altLang="zh-CN" sz="2400" b="0" i="1" kern="1200" cap="none" spc="0" normalizeH="0" baseline="-25000" noProof="1">
                    <a:solidFill>
                      <a:srgbClr val="CC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</a:p>
            </p:txBody>
          </p:sp>
          <p:sp>
            <p:nvSpPr>
              <p:cNvPr id="622635" name="文本框 622634"/>
              <p:cNvSpPr txBox="1"/>
              <p:nvPr/>
            </p:nvSpPr>
            <p:spPr>
              <a:xfrm>
                <a:off x="3028" y="928"/>
                <a:ext cx="235" cy="25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0" tIns="0" rIns="0" bIns="0"/>
              <a:lstStyle/>
              <a:p>
                <a:pPr marR="0" algn="just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400" i="1" kern="1200" cap="none" spc="0" normalizeH="0" baseline="0" noProof="1">
                    <a:solidFill>
                      <a:srgbClr val="CC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Book Antiqua" panose="02040602050305030304" pitchFamily="18" charset="0"/>
                    <a:ea typeface="宋体" panose="02010600030101010101" pitchFamily="2" charset="-122"/>
                    <a:cs typeface="+mn-cs"/>
                  </a:rPr>
                  <a:t>v</a:t>
                </a:r>
                <a:r>
                  <a:rPr kumimoji="0" lang="en-US" altLang="zh-CN" sz="2400" b="0" i="1" kern="1200" cap="none" spc="0" normalizeH="0" baseline="-25000" noProof="1">
                    <a:solidFill>
                      <a:srgbClr val="CC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</a:p>
            </p:txBody>
          </p:sp>
          <p:sp>
            <p:nvSpPr>
              <p:cNvPr id="622636" name="文本框 622635"/>
              <p:cNvSpPr txBox="1"/>
              <p:nvPr/>
            </p:nvSpPr>
            <p:spPr>
              <a:xfrm>
                <a:off x="2588" y="255"/>
                <a:ext cx="820" cy="27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0" tIns="0" rIns="0" bIns="0"/>
              <a:lstStyle/>
              <a:p>
                <a:pPr marR="0" algn="just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kern="1200" cap="none" spc="0" normalizeH="0" baseline="0" noProof="1">
                    <a:solidFill>
                      <a:srgbClr val="CC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</a:t>
                </a:r>
                <a:r>
                  <a:rPr kumimoji="0" lang="en-US" altLang="zh-CN" sz="2400" b="0" i="1" kern="1200" cap="none" spc="0" normalizeH="0" baseline="0" noProof="1">
                    <a:solidFill>
                      <a:srgbClr val="CC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Book Antiqua" panose="02040602050305030304" pitchFamily="18" charset="0"/>
                    <a:ea typeface="宋体" panose="02010600030101010101" pitchFamily="2" charset="-122"/>
                    <a:cs typeface="+mn-cs"/>
                  </a:rPr>
                  <a:t>v</a:t>
                </a:r>
                <a:r>
                  <a:rPr kumimoji="0" lang="en-US" altLang="zh-CN" sz="2400" b="0" i="1" kern="1200" cap="none" spc="0" normalizeH="0" baseline="-25000" noProof="1">
                    <a:solidFill>
                      <a:srgbClr val="CC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 </a:t>
                </a:r>
                <a:r>
                  <a:rPr kumimoji="0" lang="en-US" altLang="zh-CN" sz="2400" b="0" kern="1200" cap="none" spc="0" normalizeH="0" baseline="0" noProof="1">
                    <a:solidFill>
                      <a:srgbClr val="CC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=</a:t>
                </a:r>
                <a:r>
                  <a:rPr kumimoji="0" lang="en-US" altLang="zh-CN" sz="2400" b="0" kern="1200" cap="none" spc="0" normalizeH="0" baseline="0" noProof="1">
                    <a:solidFill>
                      <a:srgbClr val="CC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-</a:t>
                </a:r>
                <a:r>
                  <a:rPr kumimoji="0" lang="en-US" altLang="zh-CN" sz="2400" b="0" kern="1200" cap="none" spc="0" normalizeH="0" baseline="0" noProof="1">
                    <a:solidFill>
                      <a:srgbClr val="CC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  <a:r>
                  <a:rPr kumimoji="0" lang="en-US" altLang="zh-CN" sz="2400" b="0" i="1" kern="1200" cap="none" spc="0" normalizeH="0" baseline="0" noProof="1">
                    <a:solidFill>
                      <a:srgbClr val="CC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Book Antiqua" panose="02040602050305030304" pitchFamily="18" charset="0"/>
                    <a:ea typeface="宋体" panose="02010600030101010101" pitchFamily="2" charset="-122"/>
                    <a:cs typeface="+mn-cs"/>
                  </a:rPr>
                  <a:t>v</a:t>
                </a:r>
                <a:r>
                  <a:rPr kumimoji="0" lang="en-US" altLang="zh-CN" sz="2400" b="0" i="1" kern="1200" cap="none" spc="0" normalizeH="0" baseline="-25000" noProof="1">
                    <a:solidFill>
                      <a:srgbClr val="CC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ix</a:t>
                </a:r>
              </a:p>
            </p:txBody>
          </p:sp>
        </p:grpSp>
        <p:grpSp>
          <p:nvGrpSpPr>
            <p:cNvPr id="61485" name="组合 622636"/>
            <p:cNvGrpSpPr/>
            <p:nvPr/>
          </p:nvGrpSpPr>
          <p:grpSpPr>
            <a:xfrm>
              <a:off x="521" y="2251"/>
              <a:ext cx="1107" cy="1212"/>
              <a:chOff x="816" y="0"/>
              <a:chExt cx="1172" cy="1296"/>
            </a:xfrm>
          </p:grpSpPr>
          <p:sp>
            <p:nvSpPr>
              <p:cNvPr id="61486" name="直接连接符 622637"/>
              <p:cNvSpPr/>
              <p:nvPr/>
            </p:nvSpPr>
            <p:spPr>
              <a:xfrm>
                <a:off x="1207" y="0"/>
                <a:ext cx="0" cy="1129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87" name="直接连接符 622638"/>
              <p:cNvSpPr/>
              <p:nvPr/>
            </p:nvSpPr>
            <p:spPr>
              <a:xfrm>
                <a:off x="1207" y="630"/>
                <a:ext cx="625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sm" len="lg"/>
              </a:ln>
            </p:spPr>
          </p:sp>
          <p:sp>
            <p:nvSpPr>
              <p:cNvPr id="61488" name="直接连接符 622639"/>
              <p:cNvSpPr/>
              <p:nvPr/>
            </p:nvSpPr>
            <p:spPr>
              <a:xfrm flipH="1">
                <a:off x="816" y="627"/>
                <a:ext cx="39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89" name="直接连接符 622640"/>
              <p:cNvSpPr/>
              <p:nvPr/>
            </p:nvSpPr>
            <p:spPr>
              <a:xfrm flipV="1">
                <a:off x="816" y="630"/>
                <a:ext cx="389" cy="37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sm" len="lg"/>
              </a:ln>
            </p:spPr>
          </p:sp>
          <p:sp>
            <p:nvSpPr>
              <p:cNvPr id="61490" name="直接连接符 622641"/>
              <p:cNvSpPr/>
              <p:nvPr/>
            </p:nvSpPr>
            <p:spPr>
              <a:xfrm flipH="1" flipV="1">
                <a:off x="816" y="251"/>
                <a:ext cx="389" cy="37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sm" len="lg"/>
              </a:ln>
            </p:spPr>
          </p:sp>
          <p:sp>
            <p:nvSpPr>
              <p:cNvPr id="622643" name="文本框 622642"/>
              <p:cNvSpPr txBox="1"/>
              <p:nvPr/>
            </p:nvSpPr>
            <p:spPr>
              <a:xfrm>
                <a:off x="816" y="1003"/>
                <a:ext cx="336" cy="29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0" tIns="0" rIns="0" bIns="0"/>
              <a:lstStyle/>
              <a:p>
                <a:pPr marR="0" algn="just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400" i="1" kern="1200" cap="none" spc="0" normalizeH="0" baseline="0" noProof="1">
                    <a:solidFill>
                      <a:srgbClr val="CC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Book Antiqua" panose="02040602050305030304" pitchFamily="18" charset="0"/>
                    <a:ea typeface="宋体" panose="02010600030101010101" pitchFamily="2" charset="-122"/>
                    <a:cs typeface="+mn-cs"/>
                  </a:rPr>
                  <a:t>v</a:t>
                </a:r>
                <a:r>
                  <a:rPr kumimoji="0" lang="en-US" altLang="zh-CN" sz="2400" b="0" i="1" kern="1200" cap="none" spc="0" normalizeH="0" baseline="-25000" noProof="1">
                    <a:solidFill>
                      <a:srgbClr val="CC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</a:p>
            </p:txBody>
          </p:sp>
          <p:sp>
            <p:nvSpPr>
              <p:cNvPr id="622644" name="文本框 622643"/>
              <p:cNvSpPr txBox="1"/>
              <p:nvPr/>
            </p:nvSpPr>
            <p:spPr>
              <a:xfrm>
                <a:off x="816" y="0"/>
                <a:ext cx="384" cy="24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0" tIns="0" rIns="0" bIns="0"/>
              <a:lstStyle/>
              <a:p>
                <a:pPr marR="0" algn="just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400" i="1" kern="1200" cap="none" spc="0" normalizeH="0" baseline="0" noProof="1">
                    <a:solidFill>
                      <a:srgbClr val="CC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Book Antiqua" panose="02040602050305030304" pitchFamily="18" charset="0"/>
                    <a:ea typeface="宋体" panose="02010600030101010101" pitchFamily="2" charset="-122"/>
                    <a:cs typeface="+mn-cs"/>
                  </a:rPr>
                  <a:t>v</a:t>
                </a:r>
                <a:r>
                  <a:rPr kumimoji="0" lang="en-US" altLang="zh-CN" sz="2400" b="0" i="1" kern="1200" cap="none" spc="0" normalizeH="0" baseline="0" noProof="1">
                    <a:solidFill>
                      <a:srgbClr val="CC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'</a:t>
                </a:r>
                <a:r>
                  <a:rPr kumimoji="0" lang="en-US" altLang="zh-CN" sz="2400" b="0" i="1" kern="1200" cap="none" spc="0" normalizeH="0" baseline="-25000" noProof="1">
                    <a:solidFill>
                      <a:srgbClr val="CC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</a:p>
            </p:txBody>
          </p:sp>
          <p:sp>
            <p:nvSpPr>
              <p:cNvPr id="61493" name="直接连接符 622644"/>
              <p:cNvSpPr/>
              <p:nvPr/>
            </p:nvSpPr>
            <p:spPr>
              <a:xfrm>
                <a:off x="1207" y="126"/>
                <a:ext cx="78" cy="12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94" name="直接连接符 622645"/>
              <p:cNvSpPr/>
              <p:nvPr/>
            </p:nvSpPr>
            <p:spPr>
              <a:xfrm>
                <a:off x="1207" y="251"/>
                <a:ext cx="78" cy="12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95" name="直接连接符 622646"/>
              <p:cNvSpPr/>
              <p:nvPr/>
            </p:nvSpPr>
            <p:spPr>
              <a:xfrm>
                <a:off x="1207" y="376"/>
                <a:ext cx="78" cy="1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96" name="直接连接符 622647"/>
              <p:cNvSpPr/>
              <p:nvPr/>
            </p:nvSpPr>
            <p:spPr>
              <a:xfrm>
                <a:off x="1207" y="627"/>
                <a:ext cx="78" cy="1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97" name="直接连接符 622648"/>
              <p:cNvSpPr/>
              <p:nvPr/>
            </p:nvSpPr>
            <p:spPr>
              <a:xfrm>
                <a:off x="1207" y="878"/>
                <a:ext cx="78" cy="12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98" name="直接连接符 622649"/>
              <p:cNvSpPr/>
              <p:nvPr/>
            </p:nvSpPr>
            <p:spPr>
              <a:xfrm>
                <a:off x="1207" y="1003"/>
                <a:ext cx="78" cy="1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99" name="直接连接符 622650"/>
              <p:cNvSpPr/>
              <p:nvPr/>
            </p:nvSpPr>
            <p:spPr>
              <a:xfrm>
                <a:off x="1207" y="753"/>
                <a:ext cx="78" cy="12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500" name="直接连接符 622651"/>
              <p:cNvSpPr/>
              <p:nvPr/>
            </p:nvSpPr>
            <p:spPr>
              <a:xfrm>
                <a:off x="1207" y="502"/>
                <a:ext cx="78" cy="12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2653" name="文本框 622652"/>
              <p:cNvSpPr txBox="1"/>
              <p:nvPr/>
            </p:nvSpPr>
            <p:spPr>
              <a:xfrm>
                <a:off x="1381" y="251"/>
                <a:ext cx="299" cy="27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0" tIns="0" rIns="0" bIns="0"/>
              <a:lstStyle/>
              <a:p>
                <a:pPr marR="0" algn="just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kern="1200" cap="none" spc="0" normalizeH="0" baseline="0" noProof="1">
                    <a:solidFill>
                      <a:srgbClr val="CC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</a:t>
                </a:r>
                <a:r>
                  <a:rPr kumimoji="0" lang="en-US" altLang="zh-CN" sz="2400" b="0" i="1" kern="1200" cap="none" spc="0" normalizeH="0" baseline="0" noProof="1">
                    <a:solidFill>
                      <a:srgbClr val="CC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</a:t>
                </a:r>
              </a:p>
            </p:txBody>
          </p:sp>
          <p:sp>
            <p:nvSpPr>
              <p:cNvPr id="622654" name="文本框 622653"/>
              <p:cNvSpPr txBox="1"/>
              <p:nvPr/>
            </p:nvSpPr>
            <p:spPr>
              <a:xfrm>
                <a:off x="1753" y="700"/>
                <a:ext cx="235" cy="24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0" tIns="0" rIns="0" bIns="0"/>
              <a:lstStyle/>
              <a:p>
                <a:pPr marR="0" algn="just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400" i="1" kern="1200" cap="none" spc="0" normalizeH="0" baseline="0" noProof="1">
                    <a:solidFill>
                      <a:srgbClr val="CC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x</a:t>
                </a:r>
              </a:p>
            </p:txBody>
          </p:sp>
        </p:grpSp>
      </p:grpSp>
      <p:graphicFrame>
        <p:nvGraphicFramePr>
          <p:cNvPr id="622655" name="对象 622654"/>
          <p:cNvGraphicFramePr/>
          <p:nvPr/>
        </p:nvGraphicFramePr>
        <p:xfrm>
          <a:off x="3630613" y="5324475"/>
          <a:ext cx="374015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7" r:id="rId5" imgW="1612900" imgH="228600" progId="Equation.DSMT4">
                  <p:embed/>
                </p:oleObj>
              </mc:Choice>
              <mc:Fallback>
                <p:oleObj r:id="rId5" imgW="1612900" imgH="2286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30613" y="5324475"/>
                        <a:ext cx="3740150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2656" name="文本框 622655"/>
          <p:cNvSpPr txBox="1"/>
          <p:nvPr/>
        </p:nvSpPr>
        <p:spPr>
          <a:xfrm>
            <a:off x="1276350" y="5365750"/>
            <a:ext cx="24749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分子动量增量为</a:t>
            </a:r>
          </a:p>
        </p:txBody>
      </p:sp>
      <p:sp>
        <p:nvSpPr>
          <p:cNvPr id="622657" name="文本框 622656"/>
          <p:cNvSpPr txBox="1"/>
          <p:nvPr/>
        </p:nvSpPr>
        <p:spPr>
          <a:xfrm>
            <a:off x="1258888" y="5797550"/>
            <a:ext cx="52244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器壁给分子的冲量为</a:t>
            </a:r>
          </a:p>
        </p:txBody>
      </p:sp>
      <p:graphicFrame>
        <p:nvGraphicFramePr>
          <p:cNvPr id="622658" name="对象 622657"/>
          <p:cNvGraphicFramePr/>
          <p:nvPr/>
        </p:nvGraphicFramePr>
        <p:xfrm>
          <a:off x="4456113" y="5822950"/>
          <a:ext cx="1147762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8" r:id="rId7" imgW="495300" imgH="228600" progId="Equation.DSMT4">
                  <p:embed/>
                </p:oleObj>
              </mc:Choice>
              <mc:Fallback>
                <p:oleObj r:id="rId7" imgW="495300" imgH="2286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56113" y="5822950"/>
                        <a:ext cx="1147762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2659" name="文本框 622658"/>
          <p:cNvSpPr txBox="1"/>
          <p:nvPr/>
        </p:nvSpPr>
        <p:spPr>
          <a:xfrm>
            <a:off x="1271588" y="6272213"/>
            <a:ext cx="60499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分子给器壁的冲量为</a:t>
            </a:r>
          </a:p>
        </p:txBody>
      </p:sp>
      <p:graphicFrame>
        <p:nvGraphicFramePr>
          <p:cNvPr id="622660" name="对象 622659"/>
          <p:cNvGraphicFramePr/>
          <p:nvPr/>
        </p:nvGraphicFramePr>
        <p:xfrm>
          <a:off x="4179888" y="6289675"/>
          <a:ext cx="1058862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9" r:id="rId9" imgW="457200" imgH="228600" progId="Equation.DSMT4">
                  <p:embed/>
                </p:oleObj>
              </mc:Choice>
              <mc:Fallback>
                <p:oleObj r:id="rId9" imgW="457200" imgH="2286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79888" y="6289675"/>
                        <a:ext cx="1058862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2661" name="文本框 622660"/>
          <p:cNvSpPr txBox="1"/>
          <p:nvPr/>
        </p:nvSpPr>
        <p:spPr>
          <a:xfrm>
            <a:off x="5160963" y="6289675"/>
            <a:ext cx="39957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方向与 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垂直沿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轴正向。</a:t>
            </a:r>
          </a:p>
        </p:txBody>
      </p:sp>
      <p:grpSp>
        <p:nvGrpSpPr>
          <p:cNvPr id="622662" name="组合 622661"/>
          <p:cNvGrpSpPr/>
          <p:nvPr/>
        </p:nvGrpSpPr>
        <p:grpSpPr>
          <a:xfrm>
            <a:off x="1477963" y="2349500"/>
            <a:ext cx="5289550" cy="485775"/>
            <a:chOff x="1197" y="1842"/>
            <a:chExt cx="3225" cy="306"/>
          </a:xfrm>
        </p:grpSpPr>
        <p:sp>
          <p:nvSpPr>
            <p:cNvPr id="622663" name="矩形 622662"/>
            <p:cNvSpPr/>
            <p:nvPr/>
          </p:nvSpPr>
          <p:spPr>
            <a:xfrm>
              <a:off x="1197" y="1842"/>
              <a:ext cx="322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求速度为    的</a:t>
              </a:r>
              <a:r>
                <a:rPr kumimoji="0" lang="zh-CN" altLang="en-US" sz="2400" b="1" i="0" u="none" strike="noStrike" kern="1200" cap="none" spc="0" normalizeH="0" baseline="-2500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单个</a:t>
              </a: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分子对</a:t>
              </a: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 </a:t>
              </a: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的冲量：</a:t>
              </a:r>
              <a:r>
                <a:rPr kumimoji="0" lang="zh-CN" altLang="en-US" sz="2400" b="1" i="1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      </a:t>
              </a: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           </a:t>
              </a:r>
              <a:endPara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61512" name="对象 622663"/>
            <p:cNvGraphicFramePr/>
            <p:nvPr/>
          </p:nvGraphicFramePr>
          <p:xfrm>
            <a:off x="2018" y="1852"/>
            <a:ext cx="22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10" r:id="rId11" imgW="177800" imgH="227965" progId="Equation.3">
                    <p:embed/>
                  </p:oleObj>
                </mc:Choice>
                <mc:Fallback>
                  <p:oleObj r:id="rId11" imgW="177800" imgH="227965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018" y="1852"/>
                          <a:ext cx="228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22666" name="矩形 622665"/>
          <p:cNvSpPr/>
          <p:nvPr/>
        </p:nvSpPr>
        <p:spPr>
          <a:xfrm>
            <a:off x="179388" y="523875"/>
            <a:ext cx="741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气体压强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大量分子碰撞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单位面积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器壁的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平均冲力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22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6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622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22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22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22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622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622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5"/>
                                        <p:tgtEl>
                                          <p:spTgt spid="622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22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75"/>
                                        <p:tgtEl>
                                          <p:spTgt spid="622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22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75"/>
                                        <p:tgtEl>
                                          <p:spTgt spid="622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22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75"/>
                                        <p:tgtEl>
                                          <p:spTgt spid="622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2595" grpId="0" build="p"/>
      <p:bldP spid="622596" grpId="0"/>
      <p:bldP spid="622628" grpId="0"/>
      <p:bldP spid="622656" grpId="0"/>
      <p:bldP spid="622657" grpId="0"/>
      <p:bldP spid="622659" grpId="0"/>
      <p:bldP spid="622661" grpId="0"/>
      <p:bldP spid="62266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15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623618" name="矩形 623617"/>
          <p:cNvSpPr/>
          <p:nvPr/>
        </p:nvSpPr>
        <p:spPr>
          <a:xfrm>
            <a:off x="250825" y="4005263"/>
            <a:ext cx="23241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步：</a:t>
            </a:r>
          </a:p>
        </p:txBody>
      </p:sp>
      <p:sp>
        <p:nvSpPr>
          <p:cNvPr id="623619" name="矩形 623618"/>
          <p:cNvSpPr/>
          <p:nvPr/>
        </p:nvSpPr>
        <p:spPr>
          <a:xfrm>
            <a:off x="1476375" y="4005263"/>
            <a:ext cx="51577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内与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ds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相碰的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所有分子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对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冲量：</a:t>
            </a:r>
          </a:p>
        </p:txBody>
      </p:sp>
      <p:sp>
        <p:nvSpPr>
          <p:cNvPr id="623620" name="矩形 623619"/>
          <p:cNvSpPr/>
          <p:nvPr/>
        </p:nvSpPr>
        <p:spPr>
          <a:xfrm>
            <a:off x="2051050" y="3357563"/>
            <a:ext cx="35433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80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en-US" altLang="zh-CN" sz="2800" i="1" dirty="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80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ix</a:t>
            </a:r>
            <a:r>
              <a:rPr lang="en-US" altLang="zh-CN" sz="28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623621" name="矩形 623620"/>
          <p:cNvSpPr/>
          <p:nvPr/>
        </p:nvSpPr>
        <p:spPr>
          <a:xfrm>
            <a:off x="250825" y="120650"/>
            <a:ext cx="23050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步：</a:t>
            </a:r>
          </a:p>
        </p:txBody>
      </p:sp>
      <p:grpSp>
        <p:nvGrpSpPr>
          <p:cNvPr id="62470" name="组合 623621"/>
          <p:cNvGrpSpPr/>
          <p:nvPr/>
        </p:nvGrpSpPr>
        <p:grpSpPr>
          <a:xfrm>
            <a:off x="1287463" y="115888"/>
            <a:ext cx="5346700" cy="495300"/>
            <a:chOff x="1145" y="139"/>
            <a:chExt cx="3325" cy="312"/>
          </a:xfrm>
        </p:grpSpPr>
        <p:sp>
          <p:nvSpPr>
            <p:cNvPr id="623623" name="矩形 623622"/>
            <p:cNvSpPr/>
            <p:nvPr/>
          </p:nvSpPr>
          <p:spPr>
            <a:xfrm>
              <a:off x="1145" y="139"/>
              <a:ext cx="146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内</a:t>
              </a: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所有</a:t>
              </a: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速度为</a:t>
              </a:r>
            </a:p>
          </p:txBody>
        </p:sp>
        <p:sp>
          <p:nvSpPr>
            <p:cNvPr id="623624" name="矩形 623623"/>
            <p:cNvSpPr/>
            <p:nvPr/>
          </p:nvSpPr>
          <p:spPr>
            <a:xfrm>
              <a:off x="2789" y="140"/>
              <a:ext cx="168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rgbClr val="CC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分子</a:t>
              </a: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对</a:t>
              </a: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的冲量：</a:t>
              </a:r>
            </a:p>
          </p:txBody>
        </p:sp>
        <p:graphicFrame>
          <p:nvGraphicFramePr>
            <p:cNvPr id="62473" name="对象 623624"/>
            <p:cNvGraphicFramePr/>
            <p:nvPr/>
          </p:nvGraphicFramePr>
          <p:xfrm>
            <a:off x="2581" y="155"/>
            <a:ext cx="22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43" r:id="rId3" imgW="177800" imgH="227965" progId="Equation.3">
                    <p:embed/>
                  </p:oleObj>
                </mc:Choice>
                <mc:Fallback>
                  <p:oleObj r:id="rId3" imgW="177800" imgH="227965" progId="Equation.3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581" y="155"/>
                          <a:ext cx="228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23626" name="文本框 623625"/>
          <p:cNvSpPr txBox="1"/>
          <p:nvPr/>
        </p:nvSpPr>
        <p:spPr>
          <a:xfrm>
            <a:off x="1287463" y="911225"/>
            <a:ext cx="7543800" cy="750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6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能发生碰撞的分子皆在底面积为 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,</a:t>
            </a:r>
          </a:p>
          <a:p>
            <a:pPr marR="0" defTabSz="914400">
              <a:lnSpc>
                <a:spcPct val="6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高为 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0" lang="en-US" altLang="zh-CN" sz="2400" i="1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ix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的斜柱体内,其分子数为</a:t>
            </a:r>
            <a:endParaRPr kumimoji="0" lang="zh-CN" altLang="en-US" sz="2400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23627" name="对象 623626"/>
          <p:cNvGraphicFramePr/>
          <p:nvPr/>
        </p:nvGraphicFramePr>
        <p:xfrm>
          <a:off x="2230438" y="1795463"/>
          <a:ext cx="151923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4" r:id="rId5" imgW="711200" imgH="228600" progId="Equation.DSMT4">
                  <p:embed/>
                </p:oleObj>
              </mc:Choice>
              <mc:Fallback>
                <p:oleObj r:id="rId5" imgW="711200" imgH="2286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30438" y="1795463"/>
                        <a:ext cx="1519237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3628" name="文本框 623627"/>
          <p:cNvSpPr txBox="1"/>
          <p:nvPr/>
        </p:nvSpPr>
        <p:spPr>
          <a:xfrm>
            <a:off x="1287463" y="2409825"/>
            <a:ext cx="46799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这些分子对器壁 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dS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的冲量为：</a:t>
            </a:r>
          </a:p>
        </p:txBody>
      </p:sp>
      <p:graphicFrame>
        <p:nvGraphicFramePr>
          <p:cNvPr id="623629" name="对象 623628"/>
          <p:cNvGraphicFramePr/>
          <p:nvPr/>
        </p:nvGraphicFramePr>
        <p:xfrm>
          <a:off x="1558925" y="2905125"/>
          <a:ext cx="350678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5" r:id="rId7" imgW="1498600" imgH="228600" progId="Equation.DSMT4">
                  <p:embed/>
                </p:oleObj>
              </mc:Choice>
              <mc:Fallback>
                <p:oleObj r:id="rId7" imgW="1498600" imgH="2286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58925" y="2905125"/>
                        <a:ext cx="3506788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478" name="组合 623629"/>
          <p:cNvGrpSpPr/>
          <p:nvPr/>
        </p:nvGrpSpPr>
        <p:grpSpPr>
          <a:xfrm>
            <a:off x="5724525" y="1341438"/>
            <a:ext cx="2717800" cy="2933700"/>
            <a:chOff x="312" y="852"/>
            <a:chExt cx="1712" cy="1848"/>
          </a:xfrm>
        </p:grpSpPr>
        <p:sp>
          <p:nvSpPr>
            <p:cNvPr id="62479" name="椭圆 623630"/>
            <p:cNvSpPr/>
            <p:nvPr/>
          </p:nvSpPr>
          <p:spPr>
            <a:xfrm>
              <a:off x="312" y="2063"/>
              <a:ext cx="167" cy="334"/>
            </a:xfrm>
            <a:prstGeom prst="ellipse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62480" name="平行四边形 623631"/>
            <p:cNvSpPr/>
            <p:nvPr/>
          </p:nvSpPr>
          <p:spPr>
            <a:xfrm rot="5400000">
              <a:off x="510" y="1175"/>
              <a:ext cx="1545" cy="877"/>
            </a:xfrm>
            <a:prstGeom prst="parallelogram">
              <a:avLst>
                <a:gd name="adj" fmla="val 44042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62481" name="椭圆 623632"/>
            <p:cNvSpPr/>
            <p:nvPr/>
          </p:nvSpPr>
          <p:spPr>
            <a:xfrm>
              <a:off x="1189" y="1301"/>
              <a:ext cx="167" cy="334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62482" name="直接连接符 623633"/>
            <p:cNvSpPr/>
            <p:nvPr/>
          </p:nvSpPr>
          <p:spPr>
            <a:xfrm flipV="1">
              <a:off x="342" y="1304"/>
              <a:ext cx="918" cy="79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2483" name="直接连接符 623634"/>
            <p:cNvSpPr/>
            <p:nvPr/>
          </p:nvSpPr>
          <p:spPr>
            <a:xfrm flipV="1">
              <a:off x="416" y="1604"/>
              <a:ext cx="919" cy="79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2484" name="直接连接符 623635"/>
            <p:cNvSpPr/>
            <p:nvPr/>
          </p:nvSpPr>
          <p:spPr>
            <a:xfrm>
              <a:off x="855" y="1656"/>
              <a:ext cx="0" cy="355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2485" name="直接连接符 623636"/>
            <p:cNvSpPr/>
            <p:nvPr/>
          </p:nvSpPr>
          <p:spPr>
            <a:xfrm flipV="1">
              <a:off x="396" y="1771"/>
              <a:ext cx="542" cy="459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dash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62486" name="对象 623637"/>
            <p:cNvGraphicFramePr/>
            <p:nvPr/>
          </p:nvGraphicFramePr>
          <p:xfrm>
            <a:off x="928" y="1519"/>
            <a:ext cx="264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46" r:id="rId9" imgW="177800" imgH="227965" progId="Equation.3">
                    <p:embed/>
                  </p:oleObj>
                </mc:Choice>
                <mc:Fallback>
                  <p:oleObj r:id="rId9" imgW="177800" imgH="227965" progId="Equation.3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928" y="1519"/>
                          <a:ext cx="264" cy="3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87" name="直接连接符 623638"/>
            <p:cNvSpPr/>
            <p:nvPr/>
          </p:nvSpPr>
          <p:spPr>
            <a:xfrm flipH="1" flipV="1">
              <a:off x="688" y="1552"/>
              <a:ext cx="125" cy="16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23640" name="文本框 623639"/>
            <p:cNvSpPr txBox="1"/>
            <p:nvPr/>
          </p:nvSpPr>
          <p:spPr>
            <a:xfrm>
              <a:off x="404" y="1090"/>
              <a:ext cx="352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小柱体</a:t>
              </a:r>
            </a:p>
          </p:txBody>
        </p:sp>
        <p:sp>
          <p:nvSpPr>
            <p:cNvPr id="62489" name="直接连接符 623640"/>
            <p:cNvSpPr/>
            <p:nvPr/>
          </p:nvSpPr>
          <p:spPr>
            <a:xfrm flipH="1" flipV="1">
              <a:off x="1272" y="1478"/>
              <a:ext cx="126" cy="25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2490" name="组合 623641"/>
            <p:cNvGrpSpPr/>
            <p:nvPr/>
          </p:nvGrpSpPr>
          <p:grpSpPr>
            <a:xfrm>
              <a:off x="1178" y="1395"/>
              <a:ext cx="84" cy="230"/>
              <a:chOff x="1764" y="1248"/>
              <a:chExt cx="96" cy="264"/>
            </a:xfrm>
          </p:grpSpPr>
          <p:sp>
            <p:nvSpPr>
              <p:cNvPr id="62491" name="直接连接符 623642"/>
              <p:cNvSpPr/>
              <p:nvPr/>
            </p:nvSpPr>
            <p:spPr>
              <a:xfrm>
                <a:off x="1776" y="1248"/>
                <a:ext cx="48" cy="0"/>
              </a:xfrm>
              <a:prstGeom prst="line">
                <a:avLst/>
              </a:prstGeom>
              <a:ln w="571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492" name="直接连接符 623643"/>
              <p:cNvSpPr/>
              <p:nvPr/>
            </p:nvSpPr>
            <p:spPr>
              <a:xfrm>
                <a:off x="1764" y="1332"/>
                <a:ext cx="48" cy="0"/>
              </a:xfrm>
              <a:prstGeom prst="line">
                <a:avLst/>
              </a:prstGeom>
              <a:ln w="571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493" name="直接连接符 623644"/>
              <p:cNvSpPr/>
              <p:nvPr/>
            </p:nvSpPr>
            <p:spPr>
              <a:xfrm>
                <a:off x="1764" y="1428"/>
                <a:ext cx="48" cy="0"/>
              </a:xfrm>
              <a:prstGeom prst="line">
                <a:avLst/>
              </a:prstGeom>
              <a:ln w="571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494" name="直接连接符 623645"/>
              <p:cNvSpPr/>
              <p:nvPr/>
            </p:nvSpPr>
            <p:spPr>
              <a:xfrm>
                <a:off x="1812" y="1512"/>
                <a:ext cx="48" cy="0"/>
              </a:xfrm>
              <a:prstGeom prst="line">
                <a:avLst/>
              </a:prstGeom>
              <a:ln w="571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623647" name="文本框 623646"/>
            <p:cNvSpPr txBox="1"/>
            <p:nvPr/>
          </p:nvSpPr>
          <p:spPr>
            <a:xfrm>
              <a:off x="1293" y="1677"/>
              <a:ext cx="6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0" lang="en-US" altLang="zh-CN" sz="2400" i="1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endPara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496" name="直接连接符 623647"/>
            <p:cNvSpPr/>
            <p:nvPr/>
          </p:nvSpPr>
          <p:spPr>
            <a:xfrm>
              <a:off x="1272" y="1656"/>
              <a:ext cx="0" cy="104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2497" name="组合 623648"/>
            <p:cNvGrpSpPr/>
            <p:nvPr/>
          </p:nvGrpSpPr>
          <p:grpSpPr>
            <a:xfrm>
              <a:off x="730" y="2136"/>
              <a:ext cx="1169" cy="94"/>
              <a:chOff x="528" y="2100"/>
              <a:chExt cx="1344" cy="108"/>
            </a:xfrm>
          </p:grpSpPr>
          <p:sp>
            <p:nvSpPr>
              <p:cNvPr id="62498" name="直接连接符 623649"/>
              <p:cNvSpPr/>
              <p:nvPr/>
            </p:nvSpPr>
            <p:spPr>
              <a:xfrm>
                <a:off x="528" y="2160"/>
                <a:ext cx="13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pSp>
            <p:nvGrpSpPr>
              <p:cNvPr id="62499" name="组合 623650"/>
              <p:cNvGrpSpPr/>
              <p:nvPr/>
            </p:nvGrpSpPr>
            <p:grpSpPr>
              <a:xfrm>
                <a:off x="1236" y="2100"/>
                <a:ext cx="360" cy="108"/>
                <a:chOff x="1956" y="2088"/>
                <a:chExt cx="360" cy="108"/>
              </a:xfrm>
            </p:grpSpPr>
            <p:sp>
              <p:nvSpPr>
                <p:cNvPr id="62500" name="直接连接符 623651"/>
                <p:cNvSpPr/>
                <p:nvPr/>
              </p:nvSpPr>
              <p:spPr>
                <a:xfrm>
                  <a:off x="1956" y="2088"/>
                  <a:ext cx="0" cy="96"/>
                </a:xfrm>
                <a:prstGeom prst="line">
                  <a:avLst/>
                </a:prstGeom>
                <a:ln w="571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2501" name="直接连接符 623652"/>
                <p:cNvSpPr/>
                <p:nvPr/>
              </p:nvSpPr>
              <p:spPr>
                <a:xfrm>
                  <a:off x="2076" y="2100"/>
                  <a:ext cx="0" cy="96"/>
                </a:xfrm>
                <a:prstGeom prst="line">
                  <a:avLst/>
                </a:prstGeom>
                <a:ln w="571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2502" name="直接连接符 623653"/>
                <p:cNvSpPr/>
                <p:nvPr/>
              </p:nvSpPr>
              <p:spPr>
                <a:xfrm>
                  <a:off x="2196" y="2100"/>
                  <a:ext cx="0" cy="96"/>
                </a:xfrm>
                <a:prstGeom prst="line">
                  <a:avLst/>
                </a:prstGeom>
                <a:ln w="571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2503" name="直接连接符 623654"/>
                <p:cNvSpPr/>
                <p:nvPr/>
              </p:nvSpPr>
              <p:spPr>
                <a:xfrm>
                  <a:off x="2316" y="2100"/>
                  <a:ext cx="0" cy="96"/>
                </a:xfrm>
                <a:prstGeom prst="line">
                  <a:avLst/>
                </a:prstGeom>
                <a:ln w="571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62504" name="直接连接符 623655"/>
            <p:cNvSpPr/>
            <p:nvPr/>
          </p:nvSpPr>
          <p:spPr>
            <a:xfrm>
              <a:off x="396" y="2355"/>
              <a:ext cx="0" cy="33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2505" name="直接连接符 623656"/>
            <p:cNvSpPr/>
            <p:nvPr/>
          </p:nvSpPr>
          <p:spPr>
            <a:xfrm>
              <a:off x="396" y="2564"/>
              <a:ext cx="87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623658" name="文本框 623657"/>
            <p:cNvSpPr txBox="1"/>
            <p:nvPr/>
          </p:nvSpPr>
          <p:spPr>
            <a:xfrm>
              <a:off x="630" y="2234"/>
              <a:ext cx="75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400" i="1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Bookman Old Style" panose="02050604050505020204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2400" i="1" kern="1200" cap="none" spc="0" normalizeH="0" baseline="-250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ix</a:t>
              </a:r>
              <a:r>
                <a:rPr kumimoji="0" lang="en-US" altLang="zh-CN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0" lang="en-US" altLang="zh-CN" sz="2400" i="1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</a:p>
          </p:txBody>
        </p:sp>
        <p:sp>
          <p:nvSpPr>
            <p:cNvPr id="623659" name="文本框 623658"/>
            <p:cNvSpPr txBox="1"/>
            <p:nvPr/>
          </p:nvSpPr>
          <p:spPr>
            <a:xfrm>
              <a:off x="1732" y="2121"/>
              <a:ext cx="2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400" i="1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  <p:sp>
          <p:nvSpPr>
            <p:cNvPr id="623660" name="文本框 623659"/>
            <p:cNvSpPr txBox="1"/>
            <p:nvPr/>
          </p:nvSpPr>
          <p:spPr>
            <a:xfrm>
              <a:off x="1429" y="1210"/>
              <a:ext cx="292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器壁</a:t>
              </a:r>
            </a:p>
          </p:txBody>
        </p:sp>
      </p:grpSp>
      <p:graphicFrame>
        <p:nvGraphicFramePr>
          <p:cNvPr id="623661" name="对象 623660"/>
          <p:cNvGraphicFramePr/>
          <p:nvPr/>
        </p:nvGraphicFramePr>
        <p:xfrm>
          <a:off x="2343150" y="5876925"/>
          <a:ext cx="5541963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7" r:id="rId11" imgW="2501900" imgH="419100" progId="Equation.DSMT4">
                  <p:embed/>
                </p:oleObj>
              </mc:Choice>
              <mc:Fallback>
                <p:oleObj r:id="rId11" imgW="2501900" imgH="4191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43150" y="5876925"/>
                        <a:ext cx="5541963" cy="854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3662" name="文本框 623661"/>
          <p:cNvSpPr txBox="1"/>
          <p:nvPr/>
        </p:nvSpPr>
        <p:spPr>
          <a:xfrm>
            <a:off x="1287463" y="5489575"/>
            <a:ext cx="88392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由于</a:t>
            </a:r>
            <a:r>
              <a:rPr kumimoji="0" lang="zh-CN" altLang="en-US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0" lang="en-US" altLang="zh-CN" sz="2400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i="1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400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&gt; 0 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 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0" lang="en-US" altLang="zh-CN" sz="2400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i="1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 0 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的分子数应各占分子总数的一半，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故有</a:t>
            </a:r>
          </a:p>
        </p:txBody>
      </p:sp>
      <p:graphicFrame>
        <p:nvGraphicFramePr>
          <p:cNvPr id="623663" name="对象 623662"/>
          <p:cNvGraphicFramePr/>
          <p:nvPr/>
        </p:nvGraphicFramePr>
        <p:xfrm>
          <a:off x="1524000" y="4652963"/>
          <a:ext cx="36957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8" r:id="rId13" imgW="1447800" imgH="368300" progId="Equation.DSMT4">
                  <p:embed/>
                </p:oleObj>
              </mc:Choice>
              <mc:Fallback>
                <p:oleObj r:id="rId13" imgW="1447800" imgH="3683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24000" y="4652963"/>
                        <a:ext cx="3695700" cy="823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623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3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623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3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3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2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23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23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"/>
                                        <p:tgtEl>
                                          <p:spTgt spid="623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23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618" grpId="0"/>
      <p:bldP spid="623619" grpId="0"/>
      <p:bldP spid="623620" grpId="0"/>
      <p:bldP spid="623626" grpId="0"/>
      <p:bldP spid="623628" grpId="0"/>
      <p:bldP spid="6236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16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624642" name="文本框 624641"/>
          <p:cNvSpPr txBox="1"/>
          <p:nvPr/>
        </p:nvSpPr>
        <p:spPr>
          <a:xfrm>
            <a:off x="395288" y="811213"/>
            <a:ext cx="59055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algn="just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</a:t>
            </a: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步：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代入气体压强公式</a:t>
            </a:r>
            <a:endParaRPr kumimoji="0" lang="zh-CN" altLang="en-US" sz="2400" kern="120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24643" name="对象 624642"/>
          <p:cNvGraphicFramePr/>
          <p:nvPr/>
        </p:nvGraphicFramePr>
        <p:xfrm>
          <a:off x="1473200" y="1206500"/>
          <a:ext cx="474027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6" r:id="rId3" imgW="2159000" imgH="419100" progId="Equation.DSMT4">
                  <p:embed/>
                </p:oleObj>
              </mc:Choice>
              <mc:Fallback>
                <p:oleObj r:id="rId3" imgW="2159000" imgH="419100" progId="Equation.DSMT4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3200" y="1206500"/>
                        <a:ext cx="4740275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44" name="对象 624643"/>
          <p:cNvGraphicFramePr/>
          <p:nvPr/>
        </p:nvGraphicFramePr>
        <p:xfrm>
          <a:off x="6832600" y="1147763"/>
          <a:ext cx="1931988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7" r:id="rId5" imgW="850265" imgH="431800" progId="Equation.DSMT4">
                  <p:embed/>
                </p:oleObj>
              </mc:Choice>
              <mc:Fallback>
                <p:oleObj r:id="rId5" imgW="850265" imgH="4318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32600" y="1147763"/>
                        <a:ext cx="1931988" cy="985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45" name="对象 624644"/>
          <p:cNvGraphicFramePr/>
          <p:nvPr/>
        </p:nvGraphicFramePr>
        <p:xfrm>
          <a:off x="1574800" y="2209800"/>
          <a:ext cx="189230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8" r:id="rId7" imgW="825500" imgH="279400" progId="Equation.DSMT4">
                  <p:embed/>
                </p:oleObj>
              </mc:Choice>
              <mc:Fallback>
                <p:oleObj r:id="rId7" imgW="825500" imgH="2794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74800" y="2209800"/>
                        <a:ext cx="1892300" cy="642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46" name="对象 624645"/>
          <p:cNvGraphicFramePr/>
          <p:nvPr/>
        </p:nvGraphicFramePr>
        <p:xfrm>
          <a:off x="1865313" y="2986088"/>
          <a:ext cx="1712912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9" r:id="rId9" imgW="774065" imgH="393700" progId="Equation.DSMT4">
                  <p:embed/>
                </p:oleObj>
              </mc:Choice>
              <mc:Fallback>
                <p:oleObj r:id="rId9" imgW="774065" imgH="3937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65313" y="2986088"/>
                        <a:ext cx="1712912" cy="874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4647" name="组合 624646"/>
          <p:cNvGrpSpPr/>
          <p:nvPr/>
        </p:nvGrpSpPr>
        <p:grpSpPr>
          <a:xfrm>
            <a:off x="1547813" y="3859213"/>
            <a:ext cx="2303462" cy="936625"/>
            <a:chOff x="385" y="3294"/>
            <a:chExt cx="1542" cy="680"/>
          </a:xfrm>
        </p:grpSpPr>
        <p:sp>
          <p:nvSpPr>
            <p:cNvPr id="63496" name="矩形 624647"/>
            <p:cNvSpPr/>
            <p:nvPr/>
          </p:nvSpPr>
          <p:spPr>
            <a:xfrm>
              <a:off x="385" y="3294"/>
              <a:ext cx="1542" cy="680"/>
            </a:xfrm>
            <a:prstGeom prst="rect">
              <a:avLst/>
            </a:prstGeom>
            <a:noFill/>
            <a:ln w="57150" cap="flat" cmpd="thinThick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graphicFrame>
          <p:nvGraphicFramePr>
            <p:cNvPr id="63497" name="对象 624648"/>
            <p:cNvGraphicFramePr/>
            <p:nvPr/>
          </p:nvGraphicFramePr>
          <p:xfrm>
            <a:off x="512" y="3294"/>
            <a:ext cx="1329" cy="6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10" r:id="rId11" imgW="862965" imgH="393700" progId="Equation.DSMT4">
                    <p:embed/>
                  </p:oleObj>
                </mc:Choice>
                <mc:Fallback>
                  <p:oleObj r:id="rId11" imgW="862965" imgH="393700" progId="Equation.DSMT4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12" y="3294"/>
                          <a:ext cx="1329" cy="6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24650" name="文本框 624649"/>
          <p:cNvSpPr txBox="1"/>
          <p:nvPr/>
        </p:nvSpPr>
        <p:spPr>
          <a:xfrm>
            <a:off x="3995738" y="4076700"/>
            <a:ext cx="36004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----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分子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平均平动动能</a:t>
            </a:r>
          </a:p>
        </p:txBody>
      </p:sp>
      <p:sp>
        <p:nvSpPr>
          <p:cNvPr id="624651" name="文本框 624650"/>
          <p:cNvSpPr txBox="1"/>
          <p:nvPr/>
        </p:nvSpPr>
        <p:spPr>
          <a:xfrm>
            <a:off x="395288" y="5084763"/>
            <a:ext cx="18002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algn="just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则：</a:t>
            </a:r>
            <a:endParaRPr kumimoji="0" lang="zh-CN" altLang="en-US" sz="2400" kern="120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24652" name="组合 624651"/>
          <p:cNvGrpSpPr/>
          <p:nvPr/>
        </p:nvGrpSpPr>
        <p:grpSpPr>
          <a:xfrm>
            <a:off x="1719263" y="5868988"/>
            <a:ext cx="1789112" cy="898525"/>
            <a:chOff x="657" y="3705"/>
            <a:chExt cx="1728" cy="678"/>
          </a:xfrm>
        </p:grpSpPr>
        <p:sp>
          <p:nvSpPr>
            <p:cNvPr id="63501" name="矩形 624652"/>
            <p:cNvSpPr/>
            <p:nvPr/>
          </p:nvSpPr>
          <p:spPr>
            <a:xfrm>
              <a:off x="657" y="3705"/>
              <a:ext cx="1728" cy="678"/>
            </a:xfrm>
            <a:prstGeom prst="rect">
              <a:avLst/>
            </a:prstGeom>
            <a:gradFill rotWithShape="1">
              <a:gsLst>
                <a:gs pos="0">
                  <a:srgbClr val="CC3300"/>
                </a:gs>
                <a:gs pos="50000">
                  <a:srgbClr val="FFFF00"/>
                </a:gs>
                <a:gs pos="100000">
                  <a:srgbClr val="CC3300"/>
                </a:gs>
              </a:gsLst>
              <a:lin ang="5400000" scaled="1"/>
              <a:tileRect/>
            </a:gradFill>
            <a:ln w="57150" cap="flat" cmpd="thinThick">
              <a:solidFill>
                <a:srgbClr val="CC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graphicFrame>
          <p:nvGraphicFramePr>
            <p:cNvPr id="63502" name="对象 624653"/>
            <p:cNvGraphicFramePr/>
            <p:nvPr/>
          </p:nvGraphicFramePr>
          <p:xfrm>
            <a:off x="821" y="3748"/>
            <a:ext cx="1326" cy="6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11" r:id="rId13" imgW="635000" imgH="393700" progId="Equation.3">
                    <p:embed/>
                  </p:oleObj>
                </mc:Choice>
                <mc:Fallback>
                  <p:oleObj r:id="rId13" imgW="635000" imgH="393700" progId="Equation.3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821" y="3748"/>
                          <a:ext cx="1326" cy="6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24655" name="文本框 624654"/>
          <p:cNvSpPr txBox="1"/>
          <p:nvPr/>
        </p:nvSpPr>
        <p:spPr>
          <a:xfrm>
            <a:off x="3924300" y="6021388"/>
            <a:ext cx="41767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----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理想气体的压强公式</a:t>
            </a:r>
          </a:p>
        </p:txBody>
      </p:sp>
      <p:graphicFrame>
        <p:nvGraphicFramePr>
          <p:cNvPr id="624656" name="对象 624655"/>
          <p:cNvGraphicFramePr/>
          <p:nvPr/>
        </p:nvGraphicFramePr>
        <p:xfrm>
          <a:off x="4176713" y="2147888"/>
          <a:ext cx="3235325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2" r:id="rId15" imgW="1282065" imgH="393700" progId="Equation.DSMT4">
                  <p:embed/>
                </p:oleObj>
              </mc:Choice>
              <mc:Fallback>
                <p:oleObj r:id="rId15" imgW="1282065" imgH="3937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76713" y="2147888"/>
                        <a:ext cx="3235325" cy="920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58" name="对象 624657"/>
          <p:cNvGraphicFramePr/>
          <p:nvPr/>
        </p:nvGraphicFramePr>
        <p:xfrm>
          <a:off x="1471613" y="4868863"/>
          <a:ext cx="3344862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3" r:id="rId17" imgW="1510665" imgH="393700" progId="Equation.DSMT4">
                  <p:embed/>
                </p:oleObj>
              </mc:Choice>
              <mc:Fallback>
                <p:oleObj r:id="rId17" imgW="1510665" imgH="393700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471613" y="4868863"/>
                        <a:ext cx="3344862" cy="874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59" name="矩形 624658"/>
          <p:cNvSpPr/>
          <p:nvPr/>
        </p:nvSpPr>
        <p:spPr>
          <a:xfrm>
            <a:off x="5969000" y="4135438"/>
            <a:ext cx="1266825" cy="384175"/>
          </a:xfrm>
          <a:prstGeom prst="rect">
            <a:avLst/>
          </a:prstGeom>
          <a:noFill/>
          <a:ln w="38100" cap="flat" cmpd="dbl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graphicFrame>
        <p:nvGraphicFramePr>
          <p:cNvPr id="63507" name="对象 624659"/>
          <p:cNvGraphicFramePr/>
          <p:nvPr/>
        </p:nvGraphicFramePr>
        <p:xfrm>
          <a:off x="1547813" y="-26987"/>
          <a:ext cx="5541962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4" r:id="rId19" imgW="2501900" imgH="419100" progId="Equation.DSMT4">
                  <p:embed/>
                </p:oleObj>
              </mc:Choice>
              <mc:Fallback>
                <p:oleObj r:id="rId19" imgW="2501900" imgH="419100" progId="Equation.DSMT4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47813" y="-26987"/>
                        <a:ext cx="5541962" cy="854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4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4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24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624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624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624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24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624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624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50" grpId="0"/>
      <p:bldP spid="624651" grpId="0"/>
      <p:bldP spid="62465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17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815106" name="文本框 815105"/>
          <p:cNvSpPr txBox="1"/>
          <p:nvPr/>
        </p:nvSpPr>
        <p:spPr>
          <a:xfrm>
            <a:off x="323850" y="5661025"/>
            <a:ext cx="1223963" cy="4667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思考：</a:t>
            </a:r>
          </a:p>
        </p:txBody>
      </p:sp>
      <p:graphicFrame>
        <p:nvGraphicFramePr>
          <p:cNvPr id="815107" name="对象 815106"/>
          <p:cNvGraphicFramePr/>
          <p:nvPr/>
        </p:nvGraphicFramePr>
        <p:xfrm>
          <a:off x="7980363" y="4292600"/>
          <a:ext cx="1163637" cy="200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9" r:id="rId3" imgW="4017010" imgH="3945255" progId="MS_ClipArt_Gallery.2">
                  <p:embed/>
                </p:oleObj>
              </mc:Choice>
              <mc:Fallback>
                <p:oleObj r:id="rId3" imgW="4017010" imgH="3945255" progId="MS_ClipArt_Gallery.2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4"/>
                      <a:srcRect l="43022"/>
                      <a:stretch>
                        <a:fillRect/>
                      </a:stretch>
                    </p:blipFill>
                    <p:spPr>
                      <a:xfrm>
                        <a:off x="7980363" y="4292600"/>
                        <a:ext cx="1163637" cy="2006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5108" name="组合 815107"/>
          <p:cNvGrpSpPr/>
          <p:nvPr/>
        </p:nvGrpSpPr>
        <p:grpSpPr>
          <a:xfrm>
            <a:off x="1692275" y="5734050"/>
            <a:ext cx="7416800" cy="1004888"/>
            <a:chOff x="1066" y="3612"/>
            <a:chExt cx="4672" cy="633"/>
          </a:xfrm>
        </p:grpSpPr>
        <p:sp>
          <p:nvSpPr>
            <p:cNvPr id="815109" name="文本框 815108"/>
            <p:cNvSpPr txBox="1"/>
            <p:nvPr/>
          </p:nvSpPr>
          <p:spPr>
            <a:xfrm>
              <a:off x="1066" y="3612"/>
              <a:ext cx="4672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推导过程</a:t>
              </a:r>
              <a:r>
                <a:rPr kumimoji="0" lang="zh-CN" altLang="en-US" sz="2400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为什么不考虑小柱体内会有</a:t>
              </a:r>
            </a:p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速度为   的分子被碰撞出来？</a:t>
              </a:r>
            </a:p>
          </p:txBody>
        </p:sp>
        <p:graphicFrame>
          <p:nvGraphicFramePr>
            <p:cNvPr id="65542" name="对象 815109"/>
            <p:cNvGraphicFramePr/>
            <p:nvPr/>
          </p:nvGraphicFramePr>
          <p:xfrm>
            <a:off x="1774" y="3945"/>
            <a:ext cx="199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0" r:id="rId5" imgW="152400" imgH="228600" progId="Equation.3">
                    <p:embed/>
                  </p:oleObj>
                </mc:Choice>
                <mc:Fallback>
                  <p:oleObj r:id="rId5" imgW="152400" imgH="228600" progId="Equation.3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774" y="3945"/>
                          <a:ext cx="199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5543" name="组合 815110"/>
          <p:cNvGrpSpPr/>
          <p:nvPr/>
        </p:nvGrpSpPr>
        <p:grpSpPr>
          <a:xfrm>
            <a:off x="2525713" y="188913"/>
            <a:ext cx="2447925" cy="1076325"/>
            <a:chOff x="657" y="3705"/>
            <a:chExt cx="1728" cy="678"/>
          </a:xfrm>
        </p:grpSpPr>
        <p:sp>
          <p:nvSpPr>
            <p:cNvPr id="65544" name="矩形 815111"/>
            <p:cNvSpPr/>
            <p:nvPr/>
          </p:nvSpPr>
          <p:spPr>
            <a:xfrm>
              <a:off x="657" y="3705"/>
              <a:ext cx="1728" cy="678"/>
            </a:xfrm>
            <a:prstGeom prst="rect">
              <a:avLst/>
            </a:prstGeom>
            <a:gradFill rotWithShape="1">
              <a:gsLst>
                <a:gs pos="0">
                  <a:srgbClr val="CC3300"/>
                </a:gs>
                <a:gs pos="50000">
                  <a:srgbClr val="FFFF00"/>
                </a:gs>
                <a:gs pos="100000">
                  <a:srgbClr val="CC3300"/>
                </a:gs>
              </a:gsLst>
              <a:lin ang="5400000" scaled="1"/>
              <a:tileRect/>
            </a:gradFill>
            <a:ln w="57150" cap="flat" cmpd="thinThick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graphicFrame>
          <p:nvGraphicFramePr>
            <p:cNvPr id="65545" name="对象 815112"/>
            <p:cNvGraphicFramePr/>
            <p:nvPr/>
          </p:nvGraphicFramePr>
          <p:xfrm>
            <a:off x="822" y="3748"/>
            <a:ext cx="1327" cy="6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1" r:id="rId7" imgW="609600" imgH="393700" progId="Equation.3">
                    <p:embed/>
                  </p:oleObj>
                </mc:Choice>
                <mc:Fallback>
                  <p:oleObj r:id="rId7" imgW="609600" imgH="393700" progId="Equation.3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22" y="3748"/>
                          <a:ext cx="1327" cy="6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15114" name="文本框 815113"/>
          <p:cNvSpPr txBox="1"/>
          <p:nvPr/>
        </p:nvSpPr>
        <p:spPr>
          <a:xfrm>
            <a:off x="5118100" y="455613"/>
            <a:ext cx="3536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----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理想气体的压强公式</a:t>
            </a:r>
          </a:p>
        </p:txBody>
      </p:sp>
      <p:grpSp>
        <p:nvGrpSpPr>
          <p:cNvPr id="815115" name="组合 815114"/>
          <p:cNvGrpSpPr/>
          <p:nvPr/>
        </p:nvGrpSpPr>
        <p:grpSpPr>
          <a:xfrm>
            <a:off x="-252412" y="2276475"/>
            <a:ext cx="7505700" cy="823913"/>
            <a:chOff x="113" y="890"/>
            <a:chExt cx="4728" cy="519"/>
          </a:xfrm>
        </p:grpSpPr>
        <p:grpSp>
          <p:nvGrpSpPr>
            <p:cNvPr id="65548" name="组合 815115"/>
            <p:cNvGrpSpPr/>
            <p:nvPr/>
          </p:nvGrpSpPr>
          <p:grpSpPr>
            <a:xfrm>
              <a:off x="113" y="890"/>
              <a:ext cx="4728" cy="519"/>
              <a:chOff x="113" y="890"/>
              <a:chExt cx="4728" cy="519"/>
            </a:xfrm>
          </p:grpSpPr>
          <p:sp>
            <p:nvSpPr>
              <p:cNvPr id="815117" name="文本框 815116"/>
              <p:cNvSpPr txBox="1"/>
              <p:nvPr/>
            </p:nvSpPr>
            <p:spPr>
              <a:xfrm>
                <a:off x="113" y="1055"/>
                <a:ext cx="4552" cy="31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R="0" algn="ctr" defTabSz="914400">
                  <a:lnSpc>
                    <a:spcPct val="110000"/>
                  </a:lnSpc>
                  <a:buClrTx/>
                  <a:buSzTx/>
                  <a:buFontTx/>
                  <a:buNone/>
                  <a:defRPr/>
                </a:pPr>
                <a:r>
                  <a:rPr kumimoji="0" lang="zh-CN" altLang="en-US" sz="2400" kern="1200" cap="none" spc="0" normalizeH="0" baseline="0" noProof="1">
                    <a:solidFill>
                      <a:schemeClr val="tx1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宏观量</a:t>
                </a:r>
                <a:r>
                  <a:rPr kumimoji="0" lang="en-US" altLang="zh-CN" sz="2400" kern="1200" cap="none" spc="0" normalizeH="0" baseline="0" noProof="1">
                    <a:solidFill>
                      <a:schemeClr val="tx1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P</a:t>
                </a:r>
                <a:r>
                  <a:rPr kumimoji="0" lang="en-US" altLang="zh-CN" sz="2400" i="1" kern="1200" cap="none" spc="0" normalizeH="0" baseline="0" noProof="1">
                    <a:solidFill>
                      <a:schemeClr val="tx1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                    </a:t>
                </a:r>
                <a:r>
                  <a:rPr kumimoji="0" lang="zh-CN" altLang="en-US" sz="2400" kern="1200" cap="none" spc="0" normalizeH="0" baseline="0" noProof="1">
                    <a:solidFill>
                      <a:schemeClr val="tx1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微观量的 统计平均值      </a:t>
                </a:r>
              </a:p>
            </p:txBody>
          </p:sp>
          <p:graphicFrame>
            <p:nvGraphicFramePr>
              <p:cNvPr id="65550" name="对象 815117"/>
              <p:cNvGraphicFramePr/>
              <p:nvPr/>
            </p:nvGraphicFramePr>
            <p:xfrm>
              <a:off x="4238" y="1006"/>
              <a:ext cx="603" cy="4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92" r:id="rId9" imgW="367665" imgH="254000" progId="Equation.3">
                      <p:embed/>
                    </p:oleObj>
                  </mc:Choice>
                  <mc:Fallback>
                    <p:oleObj r:id="rId9" imgW="367665" imgH="254000" progId="Equation.3">
                      <p:embed/>
                      <p:pic>
                        <p:nvPicPr>
                          <p:cNvPr id="0" name="图片 3137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4238" y="1006"/>
                            <a:ext cx="603" cy="40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15119" name="文本框 815118"/>
              <p:cNvSpPr txBox="1"/>
              <p:nvPr/>
            </p:nvSpPr>
            <p:spPr>
              <a:xfrm>
                <a:off x="1500" y="890"/>
                <a:ext cx="917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zh-CN" altLang="en-US" sz="2000" kern="1200" cap="none" spc="0" normalizeH="0" baseline="0" noProof="1">
                    <a:solidFill>
                      <a:srgbClr val="CC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压强公式</a:t>
                </a:r>
              </a:p>
            </p:txBody>
          </p:sp>
        </p:grpSp>
        <p:sp>
          <p:nvSpPr>
            <p:cNvPr id="64528" name="左右箭头 815119"/>
            <p:cNvSpPr>
              <a:spLocks noChangeArrowheads="1"/>
            </p:cNvSpPr>
            <p:nvPr/>
          </p:nvSpPr>
          <p:spPr bwMode="auto">
            <a:xfrm>
              <a:off x="1401" y="1135"/>
              <a:ext cx="908" cy="181"/>
            </a:xfrm>
            <a:prstGeom prst="leftRightArrow">
              <a:avLst>
                <a:gd name="adj1" fmla="val 50000"/>
                <a:gd name="adj2" fmla="val 100122"/>
              </a:avLst>
            </a:prstGeom>
            <a:gradFill rotWithShape="1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endParaRPr>
            </a:p>
          </p:txBody>
        </p:sp>
      </p:grpSp>
      <p:sp>
        <p:nvSpPr>
          <p:cNvPr id="815121" name="文本框 815120"/>
          <p:cNvSpPr txBox="1"/>
          <p:nvPr/>
        </p:nvSpPr>
        <p:spPr>
          <a:xfrm>
            <a:off x="1403350" y="3141663"/>
            <a:ext cx="51625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说明气体压强只具有统计意义！</a:t>
            </a:r>
          </a:p>
        </p:txBody>
      </p:sp>
      <p:sp>
        <p:nvSpPr>
          <p:cNvPr id="815122" name="文本框 815121"/>
          <p:cNvSpPr txBox="1"/>
          <p:nvPr/>
        </p:nvSpPr>
        <p:spPr>
          <a:xfrm>
            <a:off x="173038" y="3862388"/>
            <a:ext cx="822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公式指出</a:t>
            </a: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:</a:t>
            </a: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kern="1200" cap="none" spc="0" normalizeH="0" baseline="0" noProof="1">
                <a:solidFill>
                  <a:srgbClr val="0000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有两个途径可以增加压强</a:t>
            </a:r>
          </a:p>
        </p:txBody>
      </p:sp>
      <p:sp>
        <p:nvSpPr>
          <p:cNvPr id="815123" name="文本框 815122"/>
          <p:cNvSpPr txBox="1"/>
          <p:nvPr/>
        </p:nvSpPr>
        <p:spPr>
          <a:xfrm>
            <a:off x="250825" y="4511675"/>
            <a:ext cx="76962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rgbClr val="0000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1)</a:t>
            </a:r>
            <a:r>
              <a:rPr kumimoji="0" lang="zh-CN" altLang="en-US" sz="2400" kern="1200" cap="none" spc="0" normalizeH="0" baseline="0" noProof="1">
                <a:solidFill>
                  <a:srgbClr val="0000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增加分子数密度 </a:t>
            </a:r>
            <a:r>
              <a:rPr kumimoji="0" lang="en-US" altLang="zh-CN" sz="2400" i="1" kern="1200" cap="none" spc="0" normalizeH="0" baseline="0" noProof="1">
                <a:solidFill>
                  <a:srgbClr val="0000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en-US" altLang="zh-CN" sz="2400" kern="1200" cap="none" spc="0" normalizeH="0" baseline="0" noProof="1">
                <a:solidFill>
                  <a:srgbClr val="0000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kern="1200" cap="none" spc="0" normalizeH="0" baseline="0" noProof="1">
                <a:solidFill>
                  <a:srgbClr val="0000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kern="1200" cap="none" spc="0" normalizeH="0" baseline="0" noProof="1">
                <a:solidFill>
                  <a:srgbClr val="0000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即增加碰壁的个数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rgbClr val="0000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2)</a:t>
            </a:r>
            <a:r>
              <a:rPr kumimoji="0" lang="zh-CN" altLang="en-US" sz="2400" kern="1200" cap="none" spc="0" normalizeH="0" baseline="0" noProof="1">
                <a:solidFill>
                  <a:srgbClr val="0000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增加分子运动的平均平动能  即增加每次碰壁的强度</a:t>
            </a:r>
          </a:p>
        </p:txBody>
      </p:sp>
      <p:grpSp>
        <p:nvGrpSpPr>
          <p:cNvPr id="815124" name="组合 815123"/>
          <p:cNvGrpSpPr/>
          <p:nvPr/>
        </p:nvGrpSpPr>
        <p:grpSpPr>
          <a:xfrm>
            <a:off x="179388" y="923925"/>
            <a:ext cx="2781300" cy="1152525"/>
            <a:chOff x="1104" y="1536"/>
            <a:chExt cx="2112" cy="720"/>
          </a:xfrm>
        </p:grpSpPr>
        <p:sp>
          <p:nvSpPr>
            <p:cNvPr id="65557" name="任意多边形 815124"/>
            <p:cNvSpPr/>
            <p:nvPr/>
          </p:nvSpPr>
          <p:spPr>
            <a:xfrm>
              <a:off x="1104" y="1536"/>
              <a:ext cx="2112" cy="720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0" y="720"/>
                </a:cxn>
                <a:cxn ang="0">
                  <a:pos x="1536" y="720"/>
                </a:cxn>
                <a:cxn ang="0">
                  <a:pos x="1536" y="432"/>
                </a:cxn>
                <a:cxn ang="0">
                  <a:pos x="1536" y="384"/>
                </a:cxn>
                <a:cxn ang="0">
                  <a:pos x="2112" y="0"/>
                </a:cxn>
                <a:cxn ang="0">
                  <a:pos x="1344" y="384"/>
                </a:cxn>
                <a:cxn ang="0">
                  <a:pos x="0" y="384"/>
                </a:cxn>
              </a:cxnLst>
              <a:rect l="0" t="0" r="0" b="0"/>
              <a:pathLst>
                <a:path w="2112" h="720">
                  <a:moveTo>
                    <a:pt x="0" y="384"/>
                  </a:moveTo>
                  <a:lnTo>
                    <a:pt x="0" y="720"/>
                  </a:lnTo>
                  <a:lnTo>
                    <a:pt x="1536" y="720"/>
                  </a:lnTo>
                  <a:lnTo>
                    <a:pt x="1536" y="432"/>
                  </a:lnTo>
                  <a:lnTo>
                    <a:pt x="1536" y="384"/>
                  </a:lnTo>
                  <a:lnTo>
                    <a:pt x="2112" y="0"/>
                  </a:lnTo>
                  <a:lnTo>
                    <a:pt x="1344" y="384"/>
                  </a:lnTo>
                  <a:lnTo>
                    <a:pt x="0" y="384"/>
                  </a:lnTo>
                  <a:close/>
                </a:path>
              </a:pathLst>
            </a:custGeom>
            <a:solidFill>
              <a:srgbClr val="CCFFFF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5126" name="文本框 815125"/>
            <p:cNvSpPr txBox="1"/>
            <p:nvPr/>
          </p:nvSpPr>
          <p:spPr>
            <a:xfrm>
              <a:off x="1104" y="1920"/>
              <a:ext cx="2016" cy="2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宏观可观测量</a:t>
              </a:r>
            </a:p>
          </p:txBody>
        </p:sp>
      </p:grpSp>
      <p:grpSp>
        <p:nvGrpSpPr>
          <p:cNvPr id="815127" name="组合 815126"/>
          <p:cNvGrpSpPr/>
          <p:nvPr/>
        </p:nvGrpSpPr>
        <p:grpSpPr>
          <a:xfrm>
            <a:off x="2555875" y="908050"/>
            <a:ext cx="3382963" cy="1185863"/>
            <a:chOff x="3024" y="1509"/>
            <a:chExt cx="2592" cy="747"/>
          </a:xfrm>
        </p:grpSpPr>
        <p:sp>
          <p:nvSpPr>
            <p:cNvPr id="65560" name="任意多边形 815127"/>
            <p:cNvSpPr/>
            <p:nvPr/>
          </p:nvSpPr>
          <p:spPr>
            <a:xfrm>
              <a:off x="3024" y="1509"/>
              <a:ext cx="2304" cy="747"/>
            </a:xfrm>
            <a:custGeom>
              <a:avLst/>
              <a:gdLst/>
              <a:ahLst/>
              <a:cxnLst>
                <a:cxn ang="0">
                  <a:pos x="0" y="411"/>
                </a:cxn>
                <a:cxn ang="0">
                  <a:pos x="0" y="747"/>
                </a:cxn>
                <a:cxn ang="0">
                  <a:pos x="2304" y="747"/>
                </a:cxn>
                <a:cxn ang="0">
                  <a:pos x="2304" y="363"/>
                </a:cxn>
                <a:cxn ang="0">
                  <a:pos x="1728" y="363"/>
                </a:cxn>
                <a:cxn ang="0">
                  <a:pos x="1488" y="27"/>
                </a:cxn>
                <a:cxn ang="0">
                  <a:pos x="1632" y="363"/>
                </a:cxn>
                <a:cxn ang="0">
                  <a:pos x="1248" y="363"/>
                </a:cxn>
                <a:cxn ang="0">
                  <a:pos x="1200" y="0"/>
                </a:cxn>
                <a:cxn ang="0">
                  <a:pos x="1152" y="363"/>
                </a:cxn>
                <a:cxn ang="0">
                  <a:pos x="0" y="363"/>
                </a:cxn>
                <a:cxn ang="0">
                  <a:pos x="0" y="507"/>
                </a:cxn>
              </a:cxnLst>
              <a:rect l="0" t="0" r="0" b="0"/>
              <a:pathLst>
                <a:path w="2304" h="747">
                  <a:moveTo>
                    <a:pt x="0" y="411"/>
                  </a:moveTo>
                  <a:lnTo>
                    <a:pt x="0" y="747"/>
                  </a:lnTo>
                  <a:lnTo>
                    <a:pt x="2304" y="747"/>
                  </a:lnTo>
                  <a:lnTo>
                    <a:pt x="2304" y="363"/>
                  </a:lnTo>
                  <a:lnTo>
                    <a:pt x="1728" y="363"/>
                  </a:lnTo>
                  <a:lnTo>
                    <a:pt x="1488" y="27"/>
                  </a:lnTo>
                  <a:lnTo>
                    <a:pt x="1632" y="363"/>
                  </a:lnTo>
                  <a:lnTo>
                    <a:pt x="1248" y="363"/>
                  </a:lnTo>
                  <a:lnTo>
                    <a:pt x="1200" y="0"/>
                  </a:lnTo>
                  <a:lnTo>
                    <a:pt x="1152" y="363"/>
                  </a:lnTo>
                  <a:lnTo>
                    <a:pt x="0" y="363"/>
                  </a:lnTo>
                  <a:lnTo>
                    <a:pt x="0" y="507"/>
                  </a:lnTo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FFEFFF"/>
                </a:gs>
              </a:gsLst>
              <a:lin ang="5400000" scaled="1"/>
              <a:tileRect/>
            </a:gradFill>
            <a:ln w="12700" cap="flat" cmpd="sng">
              <a:solidFill>
                <a:srgbClr val="CC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5129" name="文本框 815128"/>
            <p:cNvSpPr txBox="1"/>
            <p:nvPr/>
          </p:nvSpPr>
          <p:spPr>
            <a:xfrm>
              <a:off x="3071" y="1920"/>
              <a:ext cx="2545" cy="288"/>
            </a:xfrm>
            <a:prstGeom prst="rect">
              <a:avLst/>
            </a:prstGeom>
            <a:noFill/>
            <a:ln w="317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微观量的统计平均值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81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" dur="500"/>
                                        <p:tgtEl>
                                          <p:spTgt spid="81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15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5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1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81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81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1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1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81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5106" grpId="0" bldLvl="0" animBg="1"/>
      <p:bldP spid="815121" grpId="0"/>
      <p:bldP spid="815122" grpId="0"/>
      <p:bldP spid="81512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18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816131" name="文本框 816130"/>
          <p:cNvSpPr txBox="1"/>
          <p:nvPr/>
        </p:nvSpPr>
        <p:spPr>
          <a:xfrm>
            <a:off x="5076825" y="1125538"/>
            <a:ext cx="40671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b="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----</a:t>
            </a:r>
            <a:r>
              <a:rPr kumimoji="0" lang="zh-CN" altLang="en-US" sz="2400" b="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理想气体温度公式</a:t>
            </a:r>
          </a:p>
        </p:txBody>
      </p:sp>
      <p:sp>
        <p:nvSpPr>
          <p:cNvPr id="816132" name="文本框 816131"/>
          <p:cNvSpPr txBox="1"/>
          <p:nvPr/>
        </p:nvSpPr>
        <p:spPr>
          <a:xfrm>
            <a:off x="409575" y="4845050"/>
            <a:ext cx="8915400" cy="384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marR="0" indent="-457200" defTabSz="914400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Monotype Sorts" pitchFamily="2" charset="2"/>
              </a:rPr>
              <a:t>  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Monotype Sorts" pitchFamily="2" charset="2"/>
              </a:rPr>
              <a:t>1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Monotype Sorts" pitchFamily="2" charset="2"/>
              </a:rPr>
              <a:t>）温度也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Monotype Sorts" pitchFamily="2" charset="2"/>
              </a:rPr>
              <a:t>具有统计意义  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Monotype Sorts" pitchFamily="2" charset="2"/>
              </a:rPr>
              <a:t>(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Monotype Sorts" pitchFamily="2" charset="2"/>
              </a:rPr>
              <a:t>N----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Monotype Sorts" pitchFamily="2" charset="2"/>
              </a:rPr>
              <a:t>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Monotype Sorts" pitchFamily="2" charset="2"/>
              </a:rPr>
              <a:t>数目少无意义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Monotype Sorts" pitchFamily="2" charset="2"/>
              </a:rPr>
              <a:t>)</a:t>
            </a:r>
          </a:p>
        </p:txBody>
      </p:sp>
      <p:sp>
        <p:nvSpPr>
          <p:cNvPr id="816133" name="矩形 816132"/>
          <p:cNvSpPr/>
          <p:nvPr/>
        </p:nvSpPr>
        <p:spPr>
          <a:xfrm>
            <a:off x="539750" y="5372100"/>
            <a:ext cx="8604250" cy="53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温度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 实质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---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即分子 无规运动剧烈程度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）的量度。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16134" name="对象 816133"/>
          <p:cNvGraphicFramePr/>
          <p:nvPr/>
        </p:nvGraphicFramePr>
        <p:xfrm>
          <a:off x="3482975" y="855663"/>
          <a:ext cx="1473200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9" r:id="rId3" imgW="609600" imgH="393700" progId="Equation.3">
                  <p:embed/>
                </p:oleObj>
              </mc:Choice>
              <mc:Fallback>
                <p:oleObj r:id="rId3" imgW="609600" imgH="3937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82975" y="855663"/>
                        <a:ext cx="1473200" cy="1004887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3300"/>
                          </a:gs>
                          <a:gs pos="50000">
                            <a:srgbClr val="FFFF00"/>
                          </a:gs>
                          <a:gs pos="100000">
                            <a:srgbClr val="CC3300"/>
                          </a:gs>
                        </a:gsLst>
                        <a:lin ang="5400000" scaled="1"/>
                        <a:tileRect/>
                      </a:gradFill>
                      <a:ln w="57150" cap="flat" cmpd="thinThick">
                        <a:solidFill>
                          <a:srgbClr val="CC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5" name="对象 816134"/>
          <p:cNvGraphicFramePr/>
          <p:nvPr/>
        </p:nvGraphicFramePr>
        <p:xfrm>
          <a:off x="3236913" y="3422650"/>
          <a:ext cx="2376487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0" r:id="rId5" imgW="1180465" imgH="228600" progId="Equation.3">
                  <p:embed/>
                </p:oleObj>
              </mc:Choice>
              <mc:Fallback>
                <p:oleObj r:id="rId5" imgW="1180465" imgH="2286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36913" y="3422650"/>
                        <a:ext cx="2376487" cy="449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6" name="对象 816135"/>
          <p:cNvGraphicFramePr/>
          <p:nvPr/>
        </p:nvGraphicFramePr>
        <p:xfrm>
          <a:off x="468313" y="541338"/>
          <a:ext cx="2008187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1" r:id="rId7" imgW="799465" imgH="405765" progId="Equation.3">
                  <p:embed/>
                </p:oleObj>
              </mc:Choice>
              <mc:Fallback>
                <p:oleObj r:id="rId7" imgW="799465" imgH="405765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8313" y="541338"/>
                        <a:ext cx="2008187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7" name="对象 816136"/>
          <p:cNvGraphicFramePr/>
          <p:nvPr/>
        </p:nvGraphicFramePr>
        <p:xfrm>
          <a:off x="381000" y="1489075"/>
          <a:ext cx="2008188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2" r:id="rId9" imgW="760730" imgH="215900" progId="Equation.3">
                  <p:embed/>
                </p:oleObj>
              </mc:Choice>
              <mc:Fallback>
                <p:oleObj r:id="rId9" imgW="760730" imgH="2159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1000" y="1489075"/>
                        <a:ext cx="2008188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6138" name="右大括号 816137"/>
          <p:cNvSpPr/>
          <p:nvPr/>
        </p:nvSpPr>
        <p:spPr>
          <a:xfrm>
            <a:off x="2609850" y="1030288"/>
            <a:ext cx="76200" cy="762000"/>
          </a:xfrm>
          <a:prstGeom prst="rightBrace">
            <a:avLst>
              <a:gd name="adj1" fmla="val 82824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16139" name="直接连接符 816138"/>
          <p:cNvSpPr/>
          <p:nvPr/>
        </p:nvSpPr>
        <p:spPr>
          <a:xfrm>
            <a:off x="2762250" y="1373188"/>
            <a:ext cx="533400" cy="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</p:spPr>
      </p:sp>
      <p:sp>
        <p:nvSpPr>
          <p:cNvPr id="816140" name="文本框 816139"/>
          <p:cNvSpPr txBox="1"/>
          <p:nvPr/>
        </p:nvSpPr>
        <p:spPr>
          <a:xfrm>
            <a:off x="539750" y="6142038"/>
            <a:ext cx="85328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     只与温度有关，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与气体种类无关。</a:t>
            </a:r>
          </a:p>
        </p:txBody>
      </p:sp>
      <p:grpSp>
        <p:nvGrpSpPr>
          <p:cNvPr id="816141" name="组合 816140"/>
          <p:cNvGrpSpPr/>
          <p:nvPr/>
        </p:nvGrpSpPr>
        <p:grpSpPr>
          <a:xfrm>
            <a:off x="4275138" y="1927225"/>
            <a:ext cx="2628900" cy="996950"/>
            <a:chOff x="3270" y="2732"/>
            <a:chExt cx="1824" cy="669"/>
          </a:xfrm>
        </p:grpSpPr>
        <p:sp>
          <p:nvSpPr>
            <p:cNvPr id="66573" name="任意多边形 816142"/>
            <p:cNvSpPr/>
            <p:nvPr/>
          </p:nvSpPr>
          <p:spPr>
            <a:xfrm flipH="1">
              <a:off x="3319" y="2732"/>
              <a:ext cx="1368" cy="669"/>
            </a:xfrm>
            <a:custGeom>
              <a:avLst/>
              <a:gdLst/>
              <a:ahLst/>
              <a:cxnLst>
                <a:cxn ang="0">
                  <a:pos x="0" y="312"/>
                </a:cxn>
                <a:cxn ang="0">
                  <a:pos x="0" y="669"/>
                </a:cxn>
                <a:cxn ang="0">
                  <a:pos x="1368" y="669"/>
                </a:cxn>
                <a:cxn ang="0">
                  <a:pos x="1368" y="312"/>
                </a:cxn>
                <a:cxn ang="0">
                  <a:pos x="1006" y="312"/>
                </a:cxn>
                <a:cxn ang="0">
                  <a:pos x="966" y="0"/>
                </a:cxn>
                <a:cxn ang="0">
                  <a:pos x="885" y="312"/>
                </a:cxn>
                <a:cxn ang="0">
                  <a:pos x="0" y="312"/>
                </a:cxn>
              </a:cxnLst>
              <a:rect l="0" t="0" r="0" b="0"/>
              <a:pathLst>
                <a:path w="1632" h="720">
                  <a:moveTo>
                    <a:pt x="0" y="336"/>
                  </a:moveTo>
                  <a:lnTo>
                    <a:pt x="0" y="720"/>
                  </a:lnTo>
                  <a:lnTo>
                    <a:pt x="1632" y="720"/>
                  </a:lnTo>
                  <a:lnTo>
                    <a:pt x="1632" y="336"/>
                  </a:lnTo>
                  <a:lnTo>
                    <a:pt x="1200" y="336"/>
                  </a:lnTo>
                  <a:lnTo>
                    <a:pt x="1152" y="0"/>
                  </a:lnTo>
                  <a:lnTo>
                    <a:pt x="1056" y="336"/>
                  </a:lnTo>
                  <a:lnTo>
                    <a:pt x="0" y="336"/>
                  </a:lnTo>
                  <a:close/>
                </a:path>
              </a:pathLst>
            </a:custGeom>
            <a:gradFill rotWithShape="1">
              <a:gsLst>
                <a:gs pos="0">
                  <a:srgbClr val="CCFFFF"/>
                </a:gs>
                <a:gs pos="50000">
                  <a:srgbClr val="FFFFFF"/>
                </a:gs>
                <a:gs pos="100000">
                  <a:srgbClr val="CCFFFF"/>
                </a:gs>
              </a:gsLst>
              <a:lin ang="5400000" scaled="1"/>
              <a:tileRect/>
            </a:gradFill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6144" name="文本框 816143"/>
            <p:cNvSpPr txBox="1"/>
            <p:nvPr/>
          </p:nvSpPr>
          <p:spPr>
            <a:xfrm>
              <a:off x="3270" y="3052"/>
              <a:ext cx="1824" cy="30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rgbClr val="00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宏观可观测量</a:t>
              </a:r>
            </a:p>
          </p:txBody>
        </p:sp>
      </p:grpSp>
      <p:grpSp>
        <p:nvGrpSpPr>
          <p:cNvPr id="816145" name="组合 816144"/>
          <p:cNvGrpSpPr/>
          <p:nvPr/>
        </p:nvGrpSpPr>
        <p:grpSpPr>
          <a:xfrm>
            <a:off x="666750" y="1925638"/>
            <a:ext cx="3933825" cy="1000125"/>
            <a:chOff x="1104" y="3456"/>
            <a:chExt cx="2448" cy="672"/>
          </a:xfrm>
        </p:grpSpPr>
        <p:sp>
          <p:nvSpPr>
            <p:cNvPr id="66576" name="任意多边形 816146"/>
            <p:cNvSpPr/>
            <p:nvPr/>
          </p:nvSpPr>
          <p:spPr>
            <a:xfrm>
              <a:off x="1104" y="3456"/>
              <a:ext cx="2208" cy="672"/>
            </a:xfrm>
            <a:custGeom>
              <a:avLst/>
              <a:gdLst/>
              <a:ahLst/>
              <a:cxnLst>
                <a:cxn ang="0">
                  <a:pos x="0" y="288"/>
                </a:cxn>
                <a:cxn ang="0">
                  <a:pos x="0" y="672"/>
                </a:cxn>
                <a:cxn ang="0">
                  <a:pos x="2208" y="672"/>
                </a:cxn>
                <a:cxn ang="0">
                  <a:pos x="2208" y="288"/>
                </a:cxn>
                <a:cxn ang="0">
                  <a:pos x="1776" y="288"/>
                </a:cxn>
                <a:cxn ang="0">
                  <a:pos x="1824" y="0"/>
                </a:cxn>
                <a:cxn ang="0">
                  <a:pos x="1632" y="288"/>
                </a:cxn>
                <a:cxn ang="0">
                  <a:pos x="0" y="288"/>
                </a:cxn>
              </a:cxnLst>
              <a:rect l="0" t="0" r="0" b="0"/>
              <a:pathLst>
                <a:path w="2208" h="672">
                  <a:moveTo>
                    <a:pt x="0" y="288"/>
                  </a:moveTo>
                  <a:lnTo>
                    <a:pt x="0" y="672"/>
                  </a:lnTo>
                  <a:lnTo>
                    <a:pt x="2208" y="672"/>
                  </a:lnTo>
                  <a:lnTo>
                    <a:pt x="2208" y="288"/>
                  </a:lnTo>
                  <a:lnTo>
                    <a:pt x="1776" y="288"/>
                  </a:lnTo>
                  <a:lnTo>
                    <a:pt x="1824" y="0"/>
                  </a:lnTo>
                  <a:lnTo>
                    <a:pt x="1632" y="288"/>
                  </a:lnTo>
                  <a:lnTo>
                    <a:pt x="0" y="288"/>
                  </a:lnTo>
                  <a:close/>
                </a:path>
              </a:pathLst>
            </a:custGeom>
            <a:solidFill>
              <a:srgbClr val="FFFFEB"/>
            </a:solidFill>
            <a:ln w="19050" cap="flat" cmpd="sng">
              <a:solidFill>
                <a:srgbClr val="99663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6148" name="文本框 816147"/>
            <p:cNvSpPr txBox="1"/>
            <p:nvPr/>
          </p:nvSpPr>
          <p:spPr>
            <a:xfrm>
              <a:off x="1152" y="3753"/>
              <a:ext cx="2400" cy="30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rgbClr val="333333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微观量的统计平均值</a:t>
              </a:r>
            </a:p>
          </p:txBody>
        </p:sp>
      </p:grpSp>
      <p:sp>
        <p:nvSpPr>
          <p:cNvPr id="816152" name="横卷形 816151"/>
          <p:cNvSpPr/>
          <p:nvPr/>
        </p:nvSpPr>
        <p:spPr>
          <a:xfrm>
            <a:off x="250825" y="4075113"/>
            <a:ext cx="1296988" cy="649288"/>
          </a:xfrm>
          <a:prstGeom prst="horizontalScroll">
            <a:avLst>
              <a:gd name="adj" fmla="val 12500"/>
            </a:avLst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说明：</a:t>
            </a:r>
          </a:p>
        </p:txBody>
      </p:sp>
      <p:sp>
        <p:nvSpPr>
          <p:cNvPr id="816153" name="文本框 816152"/>
          <p:cNvSpPr txBox="1"/>
          <p:nvPr/>
        </p:nvSpPr>
        <p:spPr>
          <a:xfrm>
            <a:off x="250825" y="52388"/>
            <a:ext cx="56435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0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四、理想气体的温度</a:t>
            </a:r>
          </a:p>
        </p:txBody>
      </p:sp>
      <p:graphicFrame>
        <p:nvGraphicFramePr>
          <p:cNvPr id="816154" name="对象 816153"/>
          <p:cNvGraphicFramePr/>
          <p:nvPr/>
        </p:nvGraphicFramePr>
        <p:xfrm>
          <a:off x="1038225" y="6070600"/>
          <a:ext cx="3683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3" r:id="rId11" imgW="152400" imgH="228600" progId="Equation.DSMT4">
                  <p:embed/>
                </p:oleObj>
              </mc:Choice>
              <mc:Fallback>
                <p:oleObj r:id="rId11" imgW="152400" imgH="2286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38225" y="6070600"/>
                        <a:ext cx="368300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55" name="对象 816154"/>
          <p:cNvGraphicFramePr/>
          <p:nvPr/>
        </p:nvGraphicFramePr>
        <p:xfrm>
          <a:off x="3471863" y="5375275"/>
          <a:ext cx="3683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4" r:id="rId13" imgW="152400" imgH="228600" progId="Equation.DSMT4">
                  <p:embed/>
                </p:oleObj>
              </mc:Choice>
              <mc:Fallback>
                <p:oleObj r:id="rId13" imgW="152400" imgH="2286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71863" y="5375275"/>
                        <a:ext cx="368300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1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1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16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1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816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81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816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0" dur="500"/>
                                        <p:tgtEl>
                                          <p:spTgt spid="816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816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81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816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81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81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16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16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81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816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6131" grpId="0"/>
      <p:bldP spid="816132" grpId="0" build="p"/>
      <p:bldP spid="816133" grpId="0"/>
      <p:bldP spid="816140" grpId="0"/>
      <p:bldP spid="816152" grpId="0" bldLvl="0" animBg="1"/>
      <p:bldP spid="81615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19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799746" name="文本框 799745"/>
          <p:cNvSpPr txBox="1"/>
          <p:nvPr/>
        </p:nvSpPr>
        <p:spPr>
          <a:xfrm>
            <a:off x="34925" y="188913"/>
            <a:ext cx="9545638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21-1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某理想气体在温度为 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27</a:t>
            </a:r>
            <a:r>
              <a:rPr kumimoji="0" lang="en-US" altLang="zh-CN" sz="2400" kern="1200" cap="none" spc="0" normalizeH="0" baseline="30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和压强为 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1.0×10</a:t>
            </a:r>
            <a:r>
              <a:rPr kumimoji="0" lang="en-US" altLang="zh-CN" sz="2400" kern="1200" cap="none" spc="0" normalizeH="0" baseline="30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-2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atm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情况下，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密度为 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11.3 g/m</a:t>
            </a:r>
            <a:r>
              <a:rPr kumimoji="0" lang="en-US" altLang="zh-CN" sz="2400" kern="1200" cap="none" spc="0" normalizeH="0" baseline="30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则这气体的摩尔质量 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2400" kern="1200" cap="none" spc="0" normalizeH="0" baseline="-25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mol</a:t>
            </a:r>
            <a:endParaRPr kumimoji="0" lang="en-US" altLang="zh-CN" sz="2400" kern="120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9747" name="直接连接符 799746"/>
          <p:cNvSpPr/>
          <p:nvPr/>
        </p:nvSpPr>
        <p:spPr>
          <a:xfrm>
            <a:off x="6207125" y="950913"/>
            <a:ext cx="2743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99748" name="文本框 799747"/>
          <p:cNvSpPr txBox="1"/>
          <p:nvPr/>
        </p:nvSpPr>
        <p:spPr>
          <a:xfrm>
            <a:off x="381000" y="1281113"/>
            <a:ext cx="11080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解：由</a:t>
            </a:r>
          </a:p>
        </p:txBody>
      </p:sp>
      <p:graphicFrame>
        <p:nvGraphicFramePr>
          <p:cNvPr id="799749" name="对象 799748"/>
          <p:cNvGraphicFramePr/>
          <p:nvPr/>
        </p:nvGraphicFramePr>
        <p:xfrm>
          <a:off x="1600200" y="1281113"/>
          <a:ext cx="1447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4" r:id="rId3" imgW="545465" imgH="203200" progId="Equation.3">
                  <p:embed/>
                </p:oleObj>
              </mc:Choice>
              <mc:Fallback>
                <p:oleObj r:id="rId3" imgW="545465" imgH="2032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00200" y="1281113"/>
                        <a:ext cx="14478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750" name="文本框 799749"/>
          <p:cNvSpPr txBox="1"/>
          <p:nvPr/>
        </p:nvSpPr>
        <p:spPr>
          <a:xfrm>
            <a:off x="3200400" y="1281113"/>
            <a:ext cx="20224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得分子数密度</a:t>
            </a:r>
          </a:p>
        </p:txBody>
      </p:sp>
      <p:graphicFrame>
        <p:nvGraphicFramePr>
          <p:cNvPr id="799751" name="对象 799750"/>
          <p:cNvGraphicFramePr/>
          <p:nvPr/>
        </p:nvGraphicFramePr>
        <p:xfrm>
          <a:off x="5257800" y="1052513"/>
          <a:ext cx="145415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5" r:id="rId5" imgW="469900" imgH="393700" progId="Equation.3">
                  <p:embed/>
                </p:oleObj>
              </mc:Choice>
              <mc:Fallback>
                <p:oleObj r:id="rId5" imgW="469900" imgH="3937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57800" y="1052513"/>
                        <a:ext cx="1454150" cy="958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754" name="文本框 799753"/>
          <p:cNvSpPr txBox="1"/>
          <p:nvPr/>
        </p:nvSpPr>
        <p:spPr>
          <a:xfrm>
            <a:off x="996950" y="2263775"/>
            <a:ext cx="20224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可知分子质量</a:t>
            </a:r>
          </a:p>
        </p:txBody>
      </p:sp>
      <p:graphicFrame>
        <p:nvGraphicFramePr>
          <p:cNvPr id="799755" name="对象 799754"/>
          <p:cNvGraphicFramePr/>
          <p:nvPr/>
        </p:nvGraphicFramePr>
        <p:xfrm>
          <a:off x="3492500" y="2000250"/>
          <a:ext cx="121920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6" r:id="rId7" imgW="444500" imgH="393700" progId="Equation.3">
                  <p:embed/>
                </p:oleObj>
              </mc:Choice>
              <mc:Fallback>
                <p:oleObj r:id="rId7" imgW="444500" imgH="3937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92500" y="2000250"/>
                        <a:ext cx="1219200" cy="957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756" name="文本框 799755"/>
          <p:cNvSpPr txBox="1"/>
          <p:nvPr/>
        </p:nvSpPr>
        <p:spPr>
          <a:xfrm>
            <a:off x="996950" y="2911475"/>
            <a:ext cx="20224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故摩尔质量为</a:t>
            </a:r>
          </a:p>
        </p:txBody>
      </p:sp>
      <p:graphicFrame>
        <p:nvGraphicFramePr>
          <p:cNvPr id="799757" name="对象 799756"/>
          <p:cNvGraphicFramePr/>
          <p:nvPr/>
        </p:nvGraphicFramePr>
        <p:xfrm>
          <a:off x="2555875" y="3209925"/>
          <a:ext cx="5334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7" r:id="rId9" imgW="2627630" imgH="431800" progId="Equation.3">
                  <p:embed/>
                </p:oleObj>
              </mc:Choice>
              <mc:Fallback>
                <p:oleObj r:id="rId9" imgW="2627630" imgH="4318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55875" y="3209925"/>
                        <a:ext cx="53340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758" name="对象 799757"/>
          <p:cNvGraphicFramePr/>
          <p:nvPr/>
        </p:nvGraphicFramePr>
        <p:xfrm>
          <a:off x="2268538" y="4289425"/>
          <a:ext cx="66294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8" r:id="rId11" imgW="3200400" imgH="419100" progId="Equation.3">
                  <p:embed/>
                </p:oleObj>
              </mc:Choice>
              <mc:Fallback>
                <p:oleObj r:id="rId11" imgW="3200400" imgH="4191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68538" y="4289425"/>
                        <a:ext cx="6629400" cy="866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759" name="文本框 799758"/>
          <p:cNvSpPr txBox="1"/>
          <p:nvPr/>
        </p:nvSpPr>
        <p:spPr>
          <a:xfrm>
            <a:off x="3657600" y="5529263"/>
            <a:ext cx="28908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 </a:t>
            </a: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1atm= 101325 pa)</a:t>
            </a:r>
          </a:p>
        </p:txBody>
      </p:sp>
      <p:sp>
        <p:nvSpPr>
          <p:cNvPr id="799760" name="文本框 799759"/>
          <p:cNvSpPr txBox="1"/>
          <p:nvPr/>
        </p:nvSpPr>
        <p:spPr>
          <a:xfrm>
            <a:off x="6419850" y="534988"/>
            <a:ext cx="15208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27.9 g/mol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79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79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9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79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9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79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9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"/>
                                        <p:tgtEl>
                                          <p:spTgt spid="79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99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99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99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75"/>
                                        <p:tgtEl>
                                          <p:spTgt spid="799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746" grpId="0"/>
      <p:bldP spid="799748" grpId="0"/>
      <p:bldP spid="799750" grpId="0"/>
      <p:bldP spid="799754" grpId="0"/>
      <p:bldP spid="799756" grpId="0"/>
      <p:bldP spid="799759" grpId="0"/>
      <p:bldP spid="79976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20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746498" name="文本框 746497"/>
          <p:cNvSpPr txBox="1"/>
          <p:nvPr/>
        </p:nvSpPr>
        <p:spPr>
          <a:xfrm>
            <a:off x="138113" y="49213"/>
            <a:ext cx="8963025" cy="1200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2400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21-2.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氢分子的质量为 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3.3×10</a:t>
            </a:r>
            <a:r>
              <a:rPr kumimoji="0" lang="en-US" altLang="zh-CN" sz="2400" kern="1200" cap="none" spc="0" normalizeH="0" baseline="30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-24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g , 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如果</a:t>
            </a:r>
            <a:r>
              <a:rPr kumimoji="0" lang="zh-CN" altLang="en-US" sz="2400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每秒有 </a:t>
            </a:r>
            <a:r>
              <a:rPr kumimoji="0" lang="en-US" altLang="zh-CN" sz="2400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N=10</a:t>
            </a:r>
            <a:r>
              <a:rPr kumimoji="0" lang="en-US" altLang="zh-CN" sz="2400" kern="1200" cap="none" spc="0" normalizeH="0" baseline="3000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23</a:t>
            </a:r>
            <a:r>
              <a:rPr kumimoji="0" lang="en-US" altLang="zh-CN" sz="2400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en-US" sz="2400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氢分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子沿着与容器器壁成 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45</a:t>
            </a:r>
            <a:r>
              <a:rPr kumimoji="0" lang="en-US" altLang="zh-CN" sz="2400" kern="1200" cap="none" spc="0" normalizeH="0" baseline="30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角的方向以 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</a:t>
            </a:r>
            <a:r>
              <a:rPr kumimoji="0" lang="en-US" altLang="zh-CN" sz="2400" kern="1200" cap="none" spc="0" normalizeH="0" baseline="30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cm / s 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的速率</a:t>
            </a:r>
            <a:r>
              <a:rPr kumimoji="0" lang="zh-CN" altLang="en-US" sz="2400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撞击在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2.0 cm</a:t>
            </a:r>
            <a:r>
              <a:rPr kumimoji="0" lang="en-US" altLang="zh-CN" sz="2400" kern="1200" cap="none" spc="0" normalizeH="0" baseline="3000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面积上（碰撞是完全弹性的），则此氢气的压强为</a:t>
            </a:r>
          </a:p>
        </p:txBody>
      </p:sp>
      <p:sp>
        <p:nvSpPr>
          <p:cNvPr id="746499" name="直接连接符 746498"/>
          <p:cNvSpPr/>
          <p:nvPr/>
        </p:nvSpPr>
        <p:spPr>
          <a:xfrm>
            <a:off x="384175" y="1760538"/>
            <a:ext cx="449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46500" name="文本框 746499"/>
          <p:cNvSpPr txBox="1"/>
          <p:nvPr/>
        </p:nvSpPr>
        <p:spPr>
          <a:xfrm>
            <a:off x="538163" y="1892300"/>
            <a:ext cx="5392738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由动量的增量等于所受的冲量，有</a:t>
            </a:r>
          </a:p>
          <a:p>
            <a:pPr marR="0" defTabSz="914400">
              <a:buClrTx/>
              <a:buSzTx/>
              <a:buFontTx/>
              <a:buNone/>
              <a:defRPr/>
            </a:pPr>
            <a:endParaRPr kumimoji="0" lang="zh-CN" altLang="en-US" sz="2400" kern="120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46501" name="对象 746500"/>
          <p:cNvGraphicFramePr/>
          <p:nvPr/>
        </p:nvGraphicFramePr>
        <p:xfrm>
          <a:off x="2832100" y="2411413"/>
          <a:ext cx="31813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1" r:id="rId3" imgW="1281430" imgH="203200" progId="Equation.DSMT4">
                  <p:embed/>
                </p:oleObj>
              </mc:Choice>
              <mc:Fallback>
                <p:oleObj r:id="rId3" imgW="1281430" imgH="203200" progId="Equation.DSMT4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32100" y="2411413"/>
                        <a:ext cx="3181350" cy="503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6502" name="文本框 746501"/>
          <p:cNvSpPr txBox="1"/>
          <p:nvPr/>
        </p:nvSpPr>
        <p:spPr>
          <a:xfrm>
            <a:off x="1258888" y="3068638"/>
            <a:ext cx="11033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据题意</a:t>
            </a:r>
          </a:p>
        </p:txBody>
      </p:sp>
      <p:graphicFrame>
        <p:nvGraphicFramePr>
          <p:cNvPr id="746503" name="对象 746502"/>
          <p:cNvGraphicFramePr/>
          <p:nvPr/>
        </p:nvGraphicFramePr>
        <p:xfrm>
          <a:off x="2195513" y="3355975"/>
          <a:ext cx="2166937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2" r:id="rId5" imgW="837565" imgH="241300" progId="Equation.DSMT4">
                  <p:embed/>
                </p:oleObj>
              </mc:Choice>
              <mc:Fallback>
                <p:oleObj r:id="rId5" imgW="837565" imgH="2413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95513" y="3355975"/>
                        <a:ext cx="2166937" cy="619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6504" name="文本框 746503"/>
          <p:cNvSpPr txBox="1"/>
          <p:nvPr/>
        </p:nvSpPr>
        <p:spPr>
          <a:xfrm>
            <a:off x="1258888" y="4076700"/>
            <a:ext cx="14097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故压强为</a:t>
            </a:r>
          </a:p>
        </p:txBody>
      </p:sp>
      <p:graphicFrame>
        <p:nvGraphicFramePr>
          <p:cNvPr id="746505" name="对象 746504"/>
          <p:cNvGraphicFramePr/>
          <p:nvPr/>
        </p:nvGraphicFramePr>
        <p:xfrm>
          <a:off x="1093788" y="4508500"/>
          <a:ext cx="2944812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3" r:id="rId7" imgW="1257300" imgH="419100" progId="Equation.DSMT4">
                  <p:embed/>
                </p:oleObj>
              </mc:Choice>
              <mc:Fallback>
                <p:oleObj r:id="rId7" imgW="1257300" imgH="419100" progId="Equation.DSMT4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93788" y="4508500"/>
                        <a:ext cx="2944812" cy="947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06" name="对象 746505"/>
          <p:cNvGraphicFramePr/>
          <p:nvPr/>
        </p:nvGraphicFramePr>
        <p:xfrm>
          <a:off x="1114425" y="5521325"/>
          <a:ext cx="7272338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4" r:id="rId9" imgW="4011295" imgH="431800" progId="Equation.3">
                  <p:embed/>
                </p:oleObj>
              </mc:Choice>
              <mc:Fallback>
                <p:oleObj r:id="rId9" imgW="4011295" imgH="4318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14425" y="5521325"/>
                        <a:ext cx="7272338" cy="931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6507" name="文本框 746506"/>
          <p:cNvSpPr txBox="1"/>
          <p:nvPr/>
        </p:nvSpPr>
        <p:spPr>
          <a:xfrm>
            <a:off x="1282700" y="1344613"/>
            <a:ext cx="18176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2.33×10</a:t>
            </a:r>
            <a:r>
              <a:rPr lang="en-US" altLang="zh-CN" sz="2400" baseline="300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en-US" altLang="zh-CN" sz="24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</a:t>
            </a:r>
          </a:p>
        </p:txBody>
      </p:sp>
      <p:grpSp>
        <p:nvGrpSpPr>
          <p:cNvPr id="746508" name="组合 746507"/>
          <p:cNvGrpSpPr/>
          <p:nvPr/>
        </p:nvGrpSpPr>
        <p:grpSpPr>
          <a:xfrm>
            <a:off x="4718050" y="3357563"/>
            <a:ext cx="4030663" cy="1954212"/>
            <a:chOff x="521" y="2251"/>
            <a:chExt cx="2539" cy="1231"/>
          </a:xfrm>
        </p:grpSpPr>
        <p:grpSp>
          <p:nvGrpSpPr>
            <p:cNvPr id="69645" name="组合 746508"/>
            <p:cNvGrpSpPr/>
            <p:nvPr/>
          </p:nvGrpSpPr>
          <p:grpSpPr>
            <a:xfrm>
              <a:off x="2155" y="2490"/>
              <a:ext cx="905" cy="992"/>
              <a:chOff x="2450" y="255"/>
              <a:chExt cx="958" cy="1061"/>
            </a:xfrm>
          </p:grpSpPr>
          <p:sp>
            <p:nvSpPr>
              <p:cNvPr id="69646" name="直接连接符 746509"/>
              <p:cNvSpPr/>
              <p:nvPr/>
            </p:nvSpPr>
            <p:spPr>
              <a:xfrm>
                <a:off x="2450" y="699"/>
                <a:ext cx="7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stealth" w="sm" len="lg"/>
                <a:tailEnd type="none" w="med" len="med"/>
              </a:ln>
            </p:spPr>
          </p:sp>
          <p:sp>
            <p:nvSpPr>
              <p:cNvPr id="69647" name="直接连接符 746510"/>
              <p:cNvSpPr/>
              <p:nvPr/>
            </p:nvSpPr>
            <p:spPr>
              <a:xfrm flipH="1" flipV="1">
                <a:off x="2450" y="733"/>
                <a:ext cx="390" cy="25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lg"/>
                <a:tailEnd type="stealth" w="sm" len="lg"/>
              </a:ln>
            </p:spPr>
          </p:sp>
          <p:sp>
            <p:nvSpPr>
              <p:cNvPr id="69648" name="直接连接符 746511"/>
              <p:cNvSpPr/>
              <p:nvPr/>
            </p:nvSpPr>
            <p:spPr>
              <a:xfrm flipV="1">
                <a:off x="2840" y="721"/>
                <a:ext cx="391" cy="25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sm" len="lg"/>
              </a:ln>
            </p:spPr>
          </p:sp>
          <p:sp>
            <p:nvSpPr>
              <p:cNvPr id="746513" name="文本框 746512"/>
              <p:cNvSpPr txBox="1"/>
              <p:nvPr/>
            </p:nvSpPr>
            <p:spPr>
              <a:xfrm>
                <a:off x="2541" y="940"/>
                <a:ext cx="339" cy="376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0" tIns="0" rIns="0" bIns="0"/>
              <a:lstStyle/>
              <a:p>
                <a:pPr marR="0" algn="just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400" i="1" kern="1200" cap="none" spc="0" normalizeH="0" baseline="0" noProof="1">
                    <a:solidFill>
                      <a:srgbClr val="FF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Book Antiqua" panose="02040602050305030304" pitchFamily="18" charset="0"/>
                    <a:ea typeface="宋体" panose="02010600030101010101" pitchFamily="2" charset="-122"/>
                    <a:cs typeface="+mn-cs"/>
                  </a:rPr>
                  <a:t>v</a:t>
                </a:r>
                <a:r>
                  <a:rPr kumimoji="0" lang="en-US" altLang="zh-CN" sz="2400" i="1" kern="1200" cap="none" spc="0" normalizeH="0" baseline="0" noProof="1">
                    <a:solidFill>
                      <a:srgbClr val="FF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'</a:t>
                </a:r>
                <a:r>
                  <a:rPr kumimoji="0" lang="en-US" altLang="zh-CN" sz="2400" b="0" i="1" kern="1200" cap="none" spc="0" normalizeH="0" baseline="-25000" noProof="1">
                    <a:solidFill>
                      <a:srgbClr val="FF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</a:p>
            </p:txBody>
          </p:sp>
          <p:sp>
            <p:nvSpPr>
              <p:cNvPr id="746514" name="文本框 746513"/>
              <p:cNvSpPr txBox="1"/>
              <p:nvPr/>
            </p:nvSpPr>
            <p:spPr>
              <a:xfrm>
                <a:off x="3028" y="928"/>
                <a:ext cx="235" cy="25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0" tIns="0" rIns="0" bIns="0"/>
              <a:lstStyle/>
              <a:p>
                <a:pPr marR="0" algn="just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400" i="1" kern="1200" cap="none" spc="0" normalizeH="0" baseline="0" noProof="1">
                    <a:solidFill>
                      <a:srgbClr val="FF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Book Antiqua" panose="02040602050305030304" pitchFamily="18" charset="0"/>
                    <a:ea typeface="宋体" panose="02010600030101010101" pitchFamily="2" charset="-122"/>
                    <a:cs typeface="+mn-cs"/>
                  </a:rPr>
                  <a:t>v</a:t>
                </a:r>
                <a:r>
                  <a:rPr kumimoji="0" lang="en-US" altLang="zh-CN" sz="2400" b="0" i="1" kern="1200" cap="none" spc="0" normalizeH="0" baseline="-25000" noProof="1">
                    <a:solidFill>
                      <a:srgbClr val="FF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</a:p>
            </p:txBody>
          </p:sp>
          <p:sp>
            <p:nvSpPr>
              <p:cNvPr id="746515" name="文本框 746514"/>
              <p:cNvSpPr txBox="1"/>
              <p:nvPr/>
            </p:nvSpPr>
            <p:spPr>
              <a:xfrm>
                <a:off x="2588" y="255"/>
                <a:ext cx="820" cy="27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0" tIns="0" rIns="0" bIns="0"/>
              <a:lstStyle/>
              <a:p>
                <a:pPr marR="0" algn="just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kern="1200" cap="none" spc="0" normalizeH="0" baseline="0" noProof="1">
                    <a:solidFill>
                      <a:srgbClr val="FF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</a:t>
                </a:r>
                <a:r>
                  <a:rPr kumimoji="0" lang="en-US" altLang="zh-CN" sz="2400" b="0" i="1" kern="1200" cap="none" spc="0" normalizeH="0" baseline="0" noProof="1">
                    <a:solidFill>
                      <a:srgbClr val="FF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Book Antiqua" panose="02040602050305030304" pitchFamily="18" charset="0"/>
                    <a:ea typeface="宋体" panose="02010600030101010101" pitchFamily="2" charset="-122"/>
                    <a:cs typeface="+mn-cs"/>
                  </a:rPr>
                  <a:t>v</a:t>
                </a:r>
                <a:r>
                  <a:rPr kumimoji="0" lang="en-US" altLang="zh-CN" sz="2400" b="0" i="1" kern="1200" cap="none" spc="0" normalizeH="0" baseline="-25000" noProof="1">
                    <a:solidFill>
                      <a:srgbClr val="FF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 </a:t>
                </a:r>
                <a:r>
                  <a:rPr kumimoji="0" lang="en-US" altLang="zh-CN" sz="2400" b="0" kern="1200" cap="none" spc="0" normalizeH="0" baseline="0" noProof="1">
                    <a:solidFill>
                      <a:srgbClr val="FF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=</a:t>
                </a:r>
                <a:r>
                  <a:rPr kumimoji="0" lang="en-US" altLang="zh-CN" sz="2400" b="0" kern="1200" cap="none" spc="0" normalizeH="0" baseline="0" noProof="1">
                    <a:solidFill>
                      <a:srgbClr val="FF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-</a:t>
                </a:r>
                <a:r>
                  <a:rPr kumimoji="0" lang="en-US" altLang="zh-CN" sz="2400" b="0" kern="1200" cap="none" spc="0" normalizeH="0" baseline="0" noProof="1">
                    <a:solidFill>
                      <a:srgbClr val="FF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  <a:r>
                  <a:rPr kumimoji="0" lang="en-US" altLang="zh-CN" sz="2400" b="0" i="1" kern="1200" cap="none" spc="0" normalizeH="0" baseline="0" noProof="1">
                    <a:solidFill>
                      <a:srgbClr val="FF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Book Antiqua" panose="02040602050305030304" pitchFamily="18" charset="0"/>
                    <a:ea typeface="宋体" panose="02010600030101010101" pitchFamily="2" charset="-122"/>
                    <a:cs typeface="+mn-cs"/>
                  </a:rPr>
                  <a:t>v</a:t>
                </a:r>
                <a:r>
                  <a:rPr kumimoji="0" lang="en-US" altLang="zh-CN" sz="2400" b="0" i="1" kern="1200" cap="none" spc="0" normalizeH="0" baseline="-25000" noProof="1">
                    <a:solidFill>
                      <a:srgbClr val="FF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ix</a:t>
                </a:r>
              </a:p>
            </p:txBody>
          </p:sp>
        </p:grpSp>
        <p:grpSp>
          <p:nvGrpSpPr>
            <p:cNvPr id="69652" name="组合 746515"/>
            <p:cNvGrpSpPr/>
            <p:nvPr/>
          </p:nvGrpSpPr>
          <p:grpSpPr>
            <a:xfrm>
              <a:off x="521" y="2251"/>
              <a:ext cx="1107" cy="1212"/>
              <a:chOff x="816" y="0"/>
              <a:chExt cx="1172" cy="1296"/>
            </a:xfrm>
          </p:grpSpPr>
          <p:sp>
            <p:nvSpPr>
              <p:cNvPr id="69653" name="直接连接符 746516"/>
              <p:cNvSpPr/>
              <p:nvPr/>
            </p:nvSpPr>
            <p:spPr>
              <a:xfrm>
                <a:off x="1207" y="0"/>
                <a:ext cx="0" cy="1129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54" name="直接连接符 746517"/>
              <p:cNvSpPr/>
              <p:nvPr/>
            </p:nvSpPr>
            <p:spPr>
              <a:xfrm>
                <a:off x="1207" y="630"/>
                <a:ext cx="625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sm" len="lg"/>
              </a:ln>
            </p:spPr>
          </p:sp>
          <p:sp>
            <p:nvSpPr>
              <p:cNvPr id="69655" name="直接连接符 746518"/>
              <p:cNvSpPr/>
              <p:nvPr/>
            </p:nvSpPr>
            <p:spPr>
              <a:xfrm flipH="1">
                <a:off x="816" y="627"/>
                <a:ext cx="39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56" name="直接连接符 746519"/>
              <p:cNvSpPr/>
              <p:nvPr/>
            </p:nvSpPr>
            <p:spPr>
              <a:xfrm flipV="1">
                <a:off x="816" y="630"/>
                <a:ext cx="389" cy="37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sm" len="lg"/>
              </a:ln>
            </p:spPr>
          </p:sp>
          <p:sp>
            <p:nvSpPr>
              <p:cNvPr id="69657" name="直接连接符 746520"/>
              <p:cNvSpPr/>
              <p:nvPr/>
            </p:nvSpPr>
            <p:spPr>
              <a:xfrm flipH="1" flipV="1">
                <a:off x="816" y="251"/>
                <a:ext cx="389" cy="37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sm" len="lg"/>
              </a:ln>
            </p:spPr>
          </p:sp>
          <p:sp>
            <p:nvSpPr>
              <p:cNvPr id="746522" name="文本框 746521"/>
              <p:cNvSpPr txBox="1"/>
              <p:nvPr/>
            </p:nvSpPr>
            <p:spPr>
              <a:xfrm>
                <a:off x="816" y="1003"/>
                <a:ext cx="336" cy="29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0" tIns="0" rIns="0" bIns="0"/>
              <a:lstStyle/>
              <a:p>
                <a:pPr marR="0" algn="just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400" i="1" kern="1200" cap="none" spc="0" normalizeH="0" baseline="0" noProof="1">
                    <a:solidFill>
                      <a:srgbClr val="FF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Book Antiqua" panose="02040602050305030304" pitchFamily="18" charset="0"/>
                    <a:ea typeface="宋体" panose="02010600030101010101" pitchFamily="2" charset="-122"/>
                    <a:cs typeface="+mn-cs"/>
                  </a:rPr>
                  <a:t>v</a:t>
                </a:r>
                <a:r>
                  <a:rPr kumimoji="0" lang="en-US" altLang="zh-CN" sz="2400" b="0" i="1" kern="1200" cap="none" spc="0" normalizeH="0" baseline="-25000" noProof="1">
                    <a:solidFill>
                      <a:srgbClr val="FF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</a:p>
            </p:txBody>
          </p:sp>
          <p:sp>
            <p:nvSpPr>
              <p:cNvPr id="746523" name="文本框 746522"/>
              <p:cNvSpPr txBox="1"/>
              <p:nvPr/>
            </p:nvSpPr>
            <p:spPr>
              <a:xfrm>
                <a:off x="816" y="0"/>
                <a:ext cx="384" cy="24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0" tIns="0" rIns="0" bIns="0"/>
              <a:lstStyle/>
              <a:p>
                <a:pPr marR="0" algn="just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400" i="1" kern="1200" cap="none" spc="0" normalizeH="0" baseline="0" noProof="1">
                    <a:solidFill>
                      <a:srgbClr val="FF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Book Antiqua" panose="02040602050305030304" pitchFamily="18" charset="0"/>
                    <a:ea typeface="宋体" panose="02010600030101010101" pitchFamily="2" charset="-122"/>
                    <a:cs typeface="+mn-cs"/>
                  </a:rPr>
                  <a:t>v</a:t>
                </a:r>
                <a:r>
                  <a:rPr kumimoji="0" lang="en-US" altLang="zh-CN" sz="2400" b="0" i="1" kern="1200" cap="none" spc="0" normalizeH="0" baseline="0" noProof="1">
                    <a:solidFill>
                      <a:srgbClr val="FF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'</a:t>
                </a:r>
                <a:r>
                  <a:rPr kumimoji="0" lang="en-US" altLang="zh-CN" sz="2400" b="0" i="1" kern="1200" cap="none" spc="0" normalizeH="0" baseline="-25000" noProof="1">
                    <a:solidFill>
                      <a:srgbClr val="FF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</a:p>
            </p:txBody>
          </p:sp>
          <p:sp>
            <p:nvSpPr>
              <p:cNvPr id="69660" name="直接连接符 746523"/>
              <p:cNvSpPr/>
              <p:nvPr/>
            </p:nvSpPr>
            <p:spPr>
              <a:xfrm>
                <a:off x="1207" y="126"/>
                <a:ext cx="78" cy="12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61" name="直接连接符 746524"/>
              <p:cNvSpPr/>
              <p:nvPr/>
            </p:nvSpPr>
            <p:spPr>
              <a:xfrm>
                <a:off x="1207" y="251"/>
                <a:ext cx="78" cy="12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62" name="直接连接符 746525"/>
              <p:cNvSpPr/>
              <p:nvPr/>
            </p:nvSpPr>
            <p:spPr>
              <a:xfrm>
                <a:off x="1207" y="376"/>
                <a:ext cx="78" cy="1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63" name="直接连接符 746526"/>
              <p:cNvSpPr/>
              <p:nvPr/>
            </p:nvSpPr>
            <p:spPr>
              <a:xfrm>
                <a:off x="1207" y="627"/>
                <a:ext cx="78" cy="1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64" name="直接连接符 746527"/>
              <p:cNvSpPr/>
              <p:nvPr/>
            </p:nvSpPr>
            <p:spPr>
              <a:xfrm>
                <a:off x="1207" y="878"/>
                <a:ext cx="78" cy="12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65" name="直接连接符 746528"/>
              <p:cNvSpPr/>
              <p:nvPr/>
            </p:nvSpPr>
            <p:spPr>
              <a:xfrm>
                <a:off x="1207" y="1003"/>
                <a:ext cx="78" cy="1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66" name="直接连接符 746529"/>
              <p:cNvSpPr/>
              <p:nvPr/>
            </p:nvSpPr>
            <p:spPr>
              <a:xfrm>
                <a:off x="1207" y="753"/>
                <a:ext cx="78" cy="12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67" name="直接连接符 746530"/>
              <p:cNvSpPr/>
              <p:nvPr/>
            </p:nvSpPr>
            <p:spPr>
              <a:xfrm>
                <a:off x="1207" y="502"/>
                <a:ext cx="78" cy="12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6532" name="文本框 746531"/>
              <p:cNvSpPr txBox="1"/>
              <p:nvPr/>
            </p:nvSpPr>
            <p:spPr>
              <a:xfrm>
                <a:off x="1381" y="251"/>
                <a:ext cx="299" cy="27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0" tIns="0" rIns="0" bIns="0"/>
              <a:lstStyle/>
              <a:p>
                <a:pPr marR="0" algn="just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kern="1200" cap="none" spc="0" normalizeH="0" baseline="0" noProof="1">
                    <a:solidFill>
                      <a:srgbClr val="FF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△</a:t>
                </a:r>
                <a:r>
                  <a:rPr kumimoji="0" lang="en-US" altLang="zh-CN" sz="2800" b="0" i="1" kern="1200" cap="none" spc="0" normalizeH="0" baseline="0" noProof="1">
                    <a:solidFill>
                      <a:srgbClr val="FF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</a:t>
                </a:r>
              </a:p>
            </p:txBody>
          </p:sp>
          <p:sp>
            <p:nvSpPr>
              <p:cNvPr id="746533" name="文本框 746532"/>
              <p:cNvSpPr txBox="1"/>
              <p:nvPr/>
            </p:nvSpPr>
            <p:spPr>
              <a:xfrm>
                <a:off x="1753" y="700"/>
                <a:ext cx="235" cy="24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0" tIns="0" rIns="0" bIns="0"/>
              <a:lstStyle/>
              <a:p>
                <a:pPr marR="0" algn="just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400" i="1" kern="1200" cap="none" spc="0" normalizeH="0" baseline="0" noProof="1">
                    <a:solidFill>
                      <a:srgbClr val="FF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x</a:t>
                </a:r>
              </a:p>
            </p:txBody>
          </p:sp>
        </p:grpSp>
      </p:grpSp>
      <p:graphicFrame>
        <p:nvGraphicFramePr>
          <p:cNvPr id="746534" name="对象 746533"/>
          <p:cNvGraphicFramePr/>
          <p:nvPr/>
        </p:nvGraphicFramePr>
        <p:xfrm>
          <a:off x="6948488" y="2205038"/>
          <a:ext cx="1449387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5" r:id="rId11" imgW="659765" imgH="405765" progId="Equation.DSMT4">
                  <p:embed/>
                </p:oleObj>
              </mc:Choice>
              <mc:Fallback>
                <p:oleObj r:id="rId11" imgW="659765" imgH="405765" progId="Equation.DSMT4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948488" y="2205038"/>
                        <a:ext cx="1449387" cy="896937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00808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/>
          <p:nvPr/>
        </p:nvGraphicFramePr>
        <p:xfrm>
          <a:off x="1289050" y="2378075"/>
          <a:ext cx="154305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6" r:id="rId13" imgW="622300" imgH="228600" progId="Equation.DSMT4">
                  <p:embed/>
                </p:oleObj>
              </mc:Choice>
              <mc:Fallback>
                <p:oleObj r:id="rId13" imgW="622300" imgH="228600" progId="Equation.DSMT4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89050" y="2378075"/>
                        <a:ext cx="1543050" cy="566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746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6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6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74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4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46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"/>
                                        <p:tgtEl>
                                          <p:spTgt spid="74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4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"/>
                                        <p:tgtEl>
                                          <p:spTgt spid="74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46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46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"/>
                                        <p:tgtEl>
                                          <p:spTgt spid="746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6498" grpId="0"/>
      <p:bldP spid="746500" grpId="0"/>
      <p:bldP spid="746502" grpId="0"/>
      <p:bldP spid="746504" grpId="0"/>
      <p:bldP spid="74650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21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709634" name="文本框 709633"/>
          <p:cNvSpPr txBox="1"/>
          <p:nvPr/>
        </p:nvSpPr>
        <p:spPr>
          <a:xfrm>
            <a:off x="354013" y="1731963"/>
            <a:ext cx="5759450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考虑速率在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宋体" panose="02010600030101010101" pitchFamily="2" charset="-122"/>
                <a:cs typeface="+mn-cs"/>
              </a:rPr>
              <a:t>v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 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宋体" panose="02010600030101010101" pitchFamily="2" charset="-122"/>
                <a:cs typeface="+mn-cs"/>
              </a:rPr>
              <a:t>v 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宋体" panose="02010600030101010101" pitchFamily="2" charset="-122"/>
                <a:cs typeface="+mn-cs"/>
              </a:rPr>
              <a:t>+d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宋体" panose="02010600030101010101" pitchFamily="2" charset="-122"/>
                <a:cs typeface="+mn-cs"/>
              </a:rPr>
              <a:t>v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内的分子，方向可以任意，</a:t>
            </a:r>
          </a:p>
        </p:txBody>
      </p:sp>
      <p:sp>
        <p:nvSpPr>
          <p:cNvPr id="709635" name="文本框 709634"/>
          <p:cNvSpPr txBox="1"/>
          <p:nvPr/>
        </p:nvSpPr>
        <p:spPr>
          <a:xfrm>
            <a:off x="442913" y="2852738"/>
            <a:ext cx="5403850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速度矢量端点都在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半径为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厚度为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的球壳内。</a:t>
            </a:r>
          </a:p>
        </p:txBody>
      </p:sp>
      <p:sp>
        <p:nvSpPr>
          <p:cNvPr id="709636" name="文本框 709635"/>
          <p:cNvSpPr txBox="1"/>
          <p:nvPr/>
        </p:nvSpPr>
        <p:spPr>
          <a:xfrm>
            <a:off x="442913" y="4097338"/>
            <a:ext cx="1112838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经推导</a:t>
            </a:r>
          </a:p>
        </p:txBody>
      </p:sp>
      <p:grpSp>
        <p:nvGrpSpPr>
          <p:cNvPr id="2" name="组合 709636"/>
          <p:cNvGrpSpPr/>
          <p:nvPr/>
        </p:nvGrpSpPr>
        <p:grpSpPr>
          <a:xfrm>
            <a:off x="6134100" y="2571750"/>
            <a:ext cx="2830513" cy="2447925"/>
            <a:chOff x="431" y="2024"/>
            <a:chExt cx="1783" cy="1542"/>
          </a:xfrm>
        </p:grpSpPr>
        <p:sp>
          <p:nvSpPr>
            <p:cNvPr id="70662" name="椭圆 709637"/>
            <p:cNvSpPr/>
            <p:nvPr/>
          </p:nvSpPr>
          <p:spPr>
            <a:xfrm>
              <a:off x="727" y="2432"/>
              <a:ext cx="1134" cy="1134"/>
            </a:xfrm>
            <a:prstGeom prst="ellipse">
              <a:avLst/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70663" name="椭圆 709638"/>
            <p:cNvSpPr/>
            <p:nvPr/>
          </p:nvSpPr>
          <p:spPr>
            <a:xfrm>
              <a:off x="796" y="2499"/>
              <a:ext cx="998" cy="99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70664" name="直接连接符 709639"/>
            <p:cNvSpPr/>
            <p:nvPr/>
          </p:nvSpPr>
          <p:spPr>
            <a:xfrm>
              <a:off x="1292" y="3022"/>
              <a:ext cx="9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0665" name="直接连接符 709640"/>
            <p:cNvSpPr/>
            <p:nvPr/>
          </p:nvSpPr>
          <p:spPr>
            <a:xfrm flipV="1">
              <a:off x="1292" y="2205"/>
              <a:ext cx="0" cy="8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0666" name="直接连接符 709641"/>
            <p:cNvSpPr/>
            <p:nvPr/>
          </p:nvSpPr>
          <p:spPr>
            <a:xfrm flipH="1">
              <a:off x="657" y="3022"/>
              <a:ext cx="635" cy="4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0667" name="直接连接符 709642"/>
            <p:cNvSpPr/>
            <p:nvPr/>
          </p:nvSpPr>
          <p:spPr>
            <a:xfrm flipV="1">
              <a:off x="1292" y="2614"/>
              <a:ext cx="318" cy="408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0668" name="直接连接符 709643"/>
            <p:cNvSpPr/>
            <p:nvPr/>
          </p:nvSpPr>
          <p:spPr>
            <a:xfrm flipV="1">
              <a:off x="1655" y="2432"/>
              <a:ext cx="91" cy="13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graphicFrame>
          <p:nvGraphicFramePr>
            <p:cNvPr id="70669" name="对象 709644"/>
            <p:cNvGraphicFramePr/>
            <p:nvPr/>
          </p:nvGraphicFramePr>
          <p:xfrm>
            <a:off x="1927" y="2659"/>
            <a:ext cx="287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48" r:id="rId3" imgW="177800" imgH="240665" progId="Equation.3">
                    <p:embed/>
                  </p:oleObj>
                </mc:Choice>
                <mc:Fallback>
                  <p:oleObj r:id="rId3" imgW="177800" imgH="240665" progId="Equation.3">
                    <p:embed/>
                    <p:pic>
                      <p:nvPicPr>
                        <p:cNvPr id="0" name="图片 314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27" y="2659"/>
                          <a:ext cx="287" cy="3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670" name="对象 709645"/>
            <p:cNvGraphicFramePr/>
            <p:nvPr/>
          </p:nvGraphicFramePr>
          <p:xfrm>
            <a:off x="1453" y="2205"/>
            <a:ext cx="348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49" r:id="rId5" imgW="256540" imgH="212090" progId="Equation.3">
                    <p:embed/>
                  </p:oleObj>
                </mc:Choice>
                <mc:Fallback>
                  <p:oleObj r:id="rId5" imgW="256540" imgH="212090" progId="Equation.3">
                    <p:embed/>
                    <p:pic>
                      <p:nvPicPr>
                        <p:cNvPr id="0" name="图片 3154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CC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53" y="2205"/>
                          <a:ext cx="348" cy="2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671" name="对象 709646"/>
            <p:cNvGraphicFramePr/>
            <p:nvPr/>
          </p:nvGraphicFramePr>
          <p:xfrm>
            <a:off x="431" y="3067"/>
            <a:ext cx="287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50" r:id="rId7" imgW="177800" imgH="227965" progId="Equation.3">
                    <p:embed/>
                  </p:oleObj>
                </mc:Choice>
                <mc:Fallback>
                  <p:oleObj r:id="rId7" imgW="177800" imgH="227965" progId="Equation.3">
                    <p:embed/>
                    <p:pic>
                      <p:nvPicPr>
                        <p:cNvPr id="0" name="图片 314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31" y="3067"/>
                          <a:ext cx="287" cy="3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672" name="对象 709647"/>
            <p:cNvGraphicFramePr/>
            <p:nvPr/>
          </p:nvGraphicFramePr>
          <p:xfrm>
            <a:off x="1020" y="2024"/>
            <a:ext cx="266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51" r:id="rId9" imgW="165100" imgH="228600" progId="Equation.3">
                    <p:embed/>
                  </p:oleObj>
                </mc:Choice>
                <mc:Fallback>
                  <p:oleObj r:id="rId9" imgW="165100" imgH="228600" progId="Equation.3">
                    <p:embed/>
                    <p:pic>
                      <p:nvPicPr>
                        <p:cNvPr id="0" name="图片 3150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020" y="2024"/>
                          <a:ext cx="266" cy="3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673" name="对象 709648"/>
            <p:cNvGraphicFramePr/>
            <p:nvPr/>
          </p:nvGraphicFramePr>
          <p:xfrm>
            <a:off x="1144" y="2840"/>
            <a:ext cx="165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52" r:id="rId11" imgW="127000" imgH="177165" progId="Equation.3">
                    <p:embed/>
                  </p:oleObj>
                </mc:Choice>
                <mc:Fallback>
                  <p:oleObj r:id="rId11" imgW="127000" imgH="177165" progId="Equation.3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144" y="2840"/>
                          <a:ext cx="165" cy="2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674" name="对象 709649"/>
            <p:cNvGraphicFramePr/>
            <p:nvPr/>
          </p:nvGraphicFramePr>
          <p:xfrm>
            <a:off x="1338" y="2614"/>
            <a:ext cx="205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53" r:id="rId13" imgW="144780" imgH="167005" progId="Equation.3">
                    <p:embed/>
                  </p:oleObj>
                </mc:Choice>
                <mc:Fallback>
                  <p:oleObj r:id="rId13" imgW="144780" imgH="167005" progId="Equation.3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CC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38" y="2614"/>
                          <a:ext cx="205" cy="2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09651" name="文本框 709650"/>
          <p:cNvSpPr txBox="1"/>
          <p:nvPr/>
        </p:nvSpPr>
        <p:spPr>
          <a:xfrm>
            <a:off x="1258888" y="5676900"/>
            <a:ext cx="487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 eaLnBrk="0" hangingPunct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----</a:t>
            </a:r>
            <a:r>
              <a:rPr kumimoji="0" lang="zh-CN" altLang="en-US" sz="28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麦克斯韦分子速率分布律</a:t>
            </a:r>
            <a:endParaRPr kumimoji="0" lang="zh-CN" altLang="en-US" sz="2800" b="0" kern="1200" cap="none" spc="0" normalizeH="0" baseline="0" noProof="1">
              <a:solidFill>
                <a:srgbClr val="FF3300"/>
              </a:solidFill>
              <a:effectLst>
                <a:outerShdw blurRad="38100" dist="38100" dir="2700000">
                  <a:srgbClr val="C0C0C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graphicFrame>
        <p:nvGraphicFramePr>
          <p:cNvPr id="709667" name="对象 709666"/>
          <p:cNvGraphicFramePr/>
          <p:nvPr/>
        </p:nvGraphicFramePr>
        <p:xfrm>
          <a:off x="1296988" y="4610100"/>
          <a:ext cx="4141787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4" r:id="rId15" imgW="2241550" imgH="546100" progId="Equation.DSMT4">
                  <p:embed/>
                </p:oleObj>
              </mc:Choice>
              <mc:Fallback>
                <p:oleObj r:id="rId15" imgW="2241550" imgH="546100" progId="Equation.DSMT4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96988" y="4610100"/>
                        <a:ext cx="4141787" cy="1009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9668" name="文本框 709667"/>
          <p:cNvSpPr txBox="1"/>
          <p:nvPr/>
        </p:nvSpPr>
        <p:spPr>
          <a:xfrm>
            <a:off x="323850" y="1082675"/>
            <a:ext cx="7921625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 eaLnBrk="0" hangingPunct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一</a:t>
            </a:r>
            <a:r>
              <a:rPr kumimoji="0" lang="en-US" altLang="zh-CN" sz="2800" b="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  </a:t>
            </a:r>
            <a:r>
              <a:rPr kumimoji="0" lang="zh-CN" altLang="en-US" sz="2800" b="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麦氏速率分布律及其速率分布函数</a:t>
            </a:r>
          </a:p>
        </p:txBody>
      </p:sp>
      <p:sp>
        <p:nvSpPr>
          <p:cNvPr id="70678" name="文本框 703501"/>
          <p:cNvSpPr txBox="1"/>
          <p:nvPr/>
        </p:nvSpPr>
        <p:spPr>
          <a:xfrm>
            <a:off x="2255838" y="231775"/>
            <a:ext cx="489585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75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12-3 </a:t>
            </a:r>
            <a:r>
              <a:rPr lang="zh-CN" altLang="zh-CN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气体分子的速率分布</a:t>
            </a:r>
            <a:r>
              <a: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0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0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0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09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9634" grpId="0"/>
      <p:bldP spid="709635" grpId="0"/>
      <p:bldP spid="709636" grpId="0"/>
      <p:bldP spid="70965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659" name="文本框 710658"/>
          <p:cNvSpPr txBox="1"/>
          <p:nvPr/>
        </p:nvSpPr>
        <p:spPr>
          <a:xfrm>
            <a:off x="4702175" y="2978150"/>
            <a:ext cx="37401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Symbol" panose="05050102010706020507" pitchFamily="18" charset="2"/>
              </a:rPr>
              <a:t>----</a:t>
            </a:r>
            <a:r>
              <a:rPr kumimoji="0" lang="zh-CN" altLang="en-US" sz="28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Symbol" panose="05050102010706020507" pitchFamily="18" charset="2"/>
              </a:rPr>
              <a:t>麦氏</a:t>
            </a:r>
            <a:r>
              <a:rPr kumimoji="0" lang="zh-CN" altLang="en-US" sz="28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速率分布函数</a:t>
            </a:r>
          </a:p>
        </p:txBody>
      </p:sp>
      <p:graphicFrame>
        <p:nvGraphicFramePr>
          <p:cNvPr id="710660" name="对象 710659"/>
          <p:cNvGraphicFramePr/>
          <p:nvPr/>
        </p:nvGraphicFramePr>
        <p:xfrm>
          <a:off x="1473200" y="1879600"/>
          <a:ext cx="5495925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9" r:id="rId3" imgW="2731770" imgH="546100" progId="Equation.DSMT4">
                  <p:embed/>
                </p:oleObj>
              </mc:Choice>
              <mc:Fallback>
                <p:oleObj r:id="rId3" imgW="2731770" imgH="546100" progId="Equation.DSMT4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3200" y="1879600"/>
                        <a:ext cx="5495925" cy="1098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0661" name="矩形 710660"/>
          <p:cNvSpPr/>
          <p:nvPr/>
        </p:nvSpPr>
        <p:spPr>
          <a:xfrm>
            <a:off x="250825" y="2151063"/>
            <a:ext cx="89852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∴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</a:p>
        </p:txBody>
      </p:sp>
      <p:graphicFrame>
        <p:nvGraphicFramePr>
          <p:cNvPr id="71684" name="对象 710661"/>
          <p:cNvGraphicFramePr/>
          <p:nvPr/>
        </p:nvGraphicFramePr>
        <p:xfrm>
          <a:off x="1600200" y="168275"/>
          <a:ext cx="4141788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0" r:id="rId5" imgW="2241550" imgH="546100" progId="Equation.DSMT4">
                  <p:embed/>
                </p:oleObj>
              </mc:Choice>
              <mc:Fallback>
                <p:oleObj r:id="rId5" imgW="2241550" imgH="546100" progId="Equation.DSMT4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00200" y="168275"/>
                        <a:ext cx="4141788" cy="1009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0663" name="矩形 710662"/>
          <p:cNvSpPr/>
          <p:nvPr/>
        </p:nvSpPr>
        <p:spPr>
          <a:xfrm>
            <a:off x="4533900" y="5886450"/>
            <a:ext cx="20129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 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速率分布曲线 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grpSp>
        <p:nvGrpSpPr>
          <p:cNvPr id="2" name="组合 710663"/>
          <p:cNvGrpSpPr/>
          <p:nvPr/>
        </p:nvGrpSpPr>
        <p:grpSpPr>
          <a:xfrm>
            <a:off x="755650" y="3408363"/>
            <a:ext cx="3635375" cy="2974975"/>
            <a:chOff x="3696" y="2115"/>
            <a:chExt cx="2064" cy="1874"/>
          </a:xfrm>
        </p:grpSpPr>
        <p:sp>
          <p:nvSpPr>
            <p:cNvPr id="71687" name="矩形 710664"/>
            <p:cNvSpPr/>
            <p:nvPr/>
          </p:nvSpPr>
          <p:spPr>
            <a:xfrm>
              <a:off x="3696" y="2115"/>
              <a:ext cx="2064" cy="187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graphicFrame>
          <p:nvGraphicFramePr>
            <p:cNvPr id="71688" name="对象 710665"/>
            <p:cNvGraphicFramePr/>
            <p:nvPr/>
          </p:nvGraphicFramePr>
          <p:xfrm>
            <a:off x="4876" y="2160"/>
            <a:ext cx="835" cy="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1" r:id="rId7" imgW="837565" imgH="393700" progId="Equation.DSMT4">
                    <p:embed/>
                  </p:oleObj>
                </mc:Choice>
                <mc:Fallback>
                  <p:oleObj r:id="rId7" imgW="837565" imgH="393700" progId="Equation.DSMT4">
                    <p:embed/>
                    <p:pic>
                      <p:nvPicPr>
                        <p:cNvPr id="0" name="图片 315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876" y="2160"/>
                          <a:ext cx="835" cy="393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CCFFFF"/>
                            </a:gs>
                            <a:gs pos="50000">
                              <a:srgbClr val="FFFFFF"/>
                            </a:gs>
                            <a:gs pos="100000">
                              <a:srgbClr val="CCFFFF"/>
                            </a:gs>
                          </a:gsLst>
                          <a:lin ang="5400000" scaled="1"/>
                          <a:tileRect/>
                        </a:gradFill>
                        <a:ln w="6350" cap="flat" cmpd="sng">
                          <a:solidFill>
                            <a:schemeClr val="tx1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689" name="直接连接符 710666"/>
            <p:cNvSpPr/>
            <p:nvPr/>
          </p:nvSpPr>
          <p:spPr>
            <a:xfrm>
              <a:off x="3918" y="3702"/>
              <a:ext cx="1707" cy="6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71690" name="对象 710667"/>
            <p:cNvGraphicFramePr/>
            <p:nvPr/>
          </p:nvGraphicFramePr>
          <p:xfrm>
            <a:off x="5356" y="3755"/>
            <a:ext cx="182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2" r:id="rId9" imgW="177800" imgH="189865" progId="Equation.3">
                    <p:embed/>
                  </p:oleObj>
                </mc:Choice>
                <mc:Fallback>
                  <p:oleObj r:id="rId9" imgW="177800" imgH="189865" progId="Equation.3">
                    <p:embed/>
                    <p:pic>
                      <p:nvPicPr>
                        <p:cNvPr id="0" name="图片 3162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356" y="3755"/>
                          <a:ext cx="182" cy="2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691" name="对象 710668"/>
            <p:cNvGraphicFramePr/>
            <p:nvPr/>
          </p:nvGraphicFramePr>
          <p:xfrm>
            <a:off x="3965" y="2724"/>
            <a:ext cx="314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3" r:id="rId11" imgW="532765" imgH="304800" progId="Equation.3">
                    <p:embed/>
                  </p:oleObj>
                </mc:Choice>
                <mc:Fallback>
                  <p:oleObj r:id="rId11" imgW="532765" imgH="304800" progId="Equation.3">
                    <p:embed/>
                    <p:pic>
                      <p:nvPicPr>
                        <p:cNvPr id="0" name="图片 3158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965" y="2724"/>
                          <a:ext cx="314" cy="2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692" name="任意多边形 710669"/>
            <p:cNvSpPr/>
            <p:nvPr/>
          </p:nvSpPr>
          <p:spPr>
            <a:xfrm>
              <a:off x="3920" y="2888"/>
              <a:ext cx="1596" cy="820"/>
            </a:xfrm>
            <a:custGeom>
              <a:avLst/>
              <a:gdLst/>
              <a:ahLst/>
              <a:cxnLst>
                <a:cxn ang="0">
                  <a:pos x="0" y="820"/>
                </a:cxn>
                <a:cxn ang="0">
                  <a:pos x="168" y="633"/>
                </a:cxn>
                <a:cxn ang="0">
                  <a:pos x="462" y="117"/>
                </a:cxn>
                <a:cxn ang="0">
                  <a:pos x="672" y="23"/>
                </a:cxn>
                <a:cxn ang="0">
                  <a:pos x="924" y="258"/>
                </a:cxn>
                <a:cxn ang="0">
                  <a:pos x="1134" y="445"/>
                </a:cxn>
                <a:cxn ang="0">
                  <a:pos x="1386" y="633"/>
                </a:cxn>
                <a:cxn ang="0">
                  <a:pos x="1596" y="726"/>
                </a:cxn>
              </a:cxnLst>
              <a:rect l="0" t="0" r="0" b="0"/>
              <a:pathLst>
                <a:path w="1824" h="840">
                  <a:moveTo>
                    <a:pt x="0" y="840"/>
                  </a:moveTo>
                  <a:cubicBezTo>
                    <a:pt x="52" y="804"/>
                    <a:pt x="104" y="768"/>
                    <a:pt x="192" y="648"/>
                  </a:cubicBezTo>
                  <a:cubicBezTo>
                    <a:pt x="280" y="528"/>
                    <a:pt x="432" y="224"/>
                    <a:pt x="528" y="120"/>
                  </a:cubicBezTo>
                  <a:cubicBezTo>
                    <a:pt x="624" y="16"/>
                    <a:pt x="680" y="0"/>
                    <a:pt x="768" y="24"/>
                  </a:cubicBezTo>
                  <a:cubicBezTo>
                    <a:pt x="856" y="48"/>
                    <a:pt x="968" y="192"/>
                    <a:pt x="1056" y="264"/>
                  </a:cubicBezTo>
                  <a:cubicBezTo>
                    <a:pt x="1144" y="336"/>
                    <a:pt x="1208" y="392"/>
                    <a:pt x="1296" y="456"/>
                  </a:cubicBezTo>
                  <a:cubicBezTo>
                    <a:pt x="1384" y="520"/>
                    <a:pt x="1496" y="600"/>
                    <a:pt x="1584" y="648"/>
                  </a:cubicBezTo>
                  <a:cubicBezTo>
                    <a:pt x="1672" y="696"/>
                    <a:pt x="1784" y="728"/>
                    <a:pt x="1824" y="744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3" name="直接连接符 710670"/>
            <p:cNvSpPr/>
            <p:nvPr/>
          </p:nvSpPr>
          <p:spPr>
            <a:xfrm flipV="1">
              <a:off x="3920" y="2724"/>
              <a:ext cx="0" cy="984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71694" name="对象 710671"/>
            <p:cNvGraphicFramePr/>
            <p:nvPr/>
          </p:nvGraphicFramePr>
          <p:xfrm>
            <a:off x="3786" y="3661"/>
            <a:ext cx="244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4" r:id="rId13" imgW="127000" imgH="139700" progId="Equation.3">
                    <p:embed/>
                  </p:oleObj>
                </mc:Choice>
                <mc:Fallback>
                  <p:oleObj r:id="rId13" imgW="127000" imgH="139700" progId="Equation.3">
                    <p:embed/>
                    <p:pic>
                      <p:nvPicPr>
                        <p:cNvPr id="0" name="图片 3159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786" y="3661"/>
                          <a:ext cx="244" cy="2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0679" name="文本框 710678"/>
          <p:cNvSpPr txBox="1"/>
          <p:nvPr/>
        </p:nvSpPr>
        <p:spPr>
          <a:xfrm>
            <a:off x="4067175" y="1136650"/>
            <a:ext cx="487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 eaLnBrk="0" hangingPunct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----</a:t>
            </a:r>
            <a:r>
              <a:rPr kumimoji="0" lang="zh-CN" altLang="en-US" sz="28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麦克斯韦分子速率分布律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1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1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0659" grpId="0"/>
      <p:bldP spid="710661" grpId="0"/>
      <p:bldP spid="71066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23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grpSp>
        <p:nvGrpSpPr>
          <p:cNvPr id="72706" name="组合 711681"/>
          <p:cNvGrpSpPr/>
          <p:nvPr/>
        </p:nvGrpSpPr>
        <p:grpSpPr>
          <a:xfrm>
            <a:off x="250825" y="1557338"/>
            <a:ext cx="1828800" cy="1066800"/>
            <a:chOff x="288" y="96"/>
            <a:chExt cx="1152" cy="672"/>
          </a:xfrm>
        </p:grpSpPr>
        <p:sp>
          <p:nvSpPr>
            <p:cNvPr id="711683" name="爆炸形 1 711682"/>
            <p:cNvSpPr/>
            <p:nvPr/>
          </p:nvSpPr>
          <p:spPr>
            <a:xfrm>
              <a:off x="288" y="96"/>
              <a:ext cx="1152" cy="672"/>
            </a:xfrm>
            <a:prstGeom prst="irregularSeal1">
              <a:avLst/>
            </a:prstGeom>
            <a:gradFill rotWithShape="1">
              <a:gsLst>
                <a:gs pos="0">
                  <a:srgbClr val="00CC00"/>
                </a:gs>
                <a:gs pos="50000">
                  <a:srgbClr val="FFFFFF"/>
                </a:gs>
                <a:gs pos="100000">
                  <a:srgbClr val="00CC00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1684" name="文本框 711683"/>
            <p:cNvSpPr txBox="1"/>
            <p:nvPr/>
          </p:nvSpPr>
          <p:spPr>
            <a:xfrm>
              <a:off x="528" y="240"/>
              <a:ext cx="72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8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rPr>
                <a:t>讨论</a:t>
              </a:r>
            </a:p>
          </p:txBody>
        </p:sp>
      </p:grpSp>
      <p:graphicFrame>
        <p:nvGraphicFramePr>
          <p:cNvPr id="72709" name="对象 711684"/>
          <p:cNvGraphicFramePr/>
          <p:nvPr/>
        </p:nvGraphicFramePr>
        <p:xfrm>
          <a:off x="4264025" y="374650"/>
          <a:ext cx="2195513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4" r:id="rId3" imgW="787400" imgH="419100" progId="Equation.3">
                  <p:embed/>
                </p:oleObj>
              </mc:Choice>
              <mc:Fallback>
                <p:oleObj r:id="rId3" imgW="787400" imgH="41910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64025" y="374650"/>
                        <a:ext cx="2195513" cy="9810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8F8FE"/>
                          </a:gs>
                          <a:gs pos="50000">
                            <a:srgbClr val="FFFFFF"/>
                          </a:gs>
                          <a:gs pos="100000">
                            <a:srgbClr val="E8F8FE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1686" name="矩形 711685"/>
          <p:cNvSpPr/>
          <p:nvPr/>
        </p:nvSpPr>
        <p:spPr>
          <a:xfrm>
            <a:off x="1709738" y="476250"/>
            <a:ext cx="34194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速率分布函数</a:t>
            </a: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3300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1687" name="椭圆 711686"/>
          <p:cNvSpPr/>
          <p:nvPr/>
        </p:nvSpPr>
        <p:spPr>
          <a:xfrm>
            <a:off x="766763" y="2744788"/>
            <a:ext cx="2376487" cy="676275"/>
          </a:xfrm>
          <a:prstGeom prst="ellipse">
            <a:avLst/>
          </a:prstGeom>
          <a:solidFill>
            <a:srgbClr val="FFFFCC"/>
          </a:solidFill>
          <a:ln w="19050" cap="flat" cmpd="sng">
            <a:solidFill>
              <a:srgbClr val="CC66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711688" name="矩形 711687"/>
          <p:cNvSpPr/>
          <p:nvPr/>
        </p:nvSpPr>
        <p:spPr>
          <a:xfrm>
            <a:off x="982663" y="2844800"/>
            <a:ext cx="2133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物理意义</a:t>
            </a:r>
          </a:p>
        </p:txBody>
      </p:sp>
      <p:sp>
        <p:nvSpPr>
          <p:cNvPr id="711689" name="矩形 711688"/>
          <p:cNvSpPr/>
          <p:nvPr/>
        </p:nvSpPr>
        <p:spPr>
          <a:xfrm>
            <a:off x="735013" y="3608388"/>
            <a:ext cx="7024688" cy="1693863"/>
          </a:xfrm>
          <a:prstGeom prst="rect">
            <a:avLst/>
          </a:prstGeom>
          <a:gradFill rotWithShape="1">
            <a:gsLst>
              <a:gs pos="0">
                <a:srgbClr val="E8F8FE"/>
              </a:gs>
              <a:gs pos="50000">
                <a:schemeClr val="bg1"/>
              </a:gs>
              <a:gs pos="100000">
                <a:srgbClr val="E8F8FE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11690" name="对象 711689"/>
          <p:cNvGraphicFramePr/>
          <p:nvPr/>
        </p:nvGraphicFramePr>
        <p:xfrm>
          <a:off x="849313" y="4035425"/>
          <a:ext cx="1812925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5" r:id="rId5" imgW="925830" imgH="457200" progId="Equation.3">
                  <p:embed/>
                </p:oleObj>
              </mc:Choice>
              <mc:Fallback>
                <p:oleObj r:id="rId5" imgW="925830" imgH="45720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49313" y="4035425"/>
                        <a:ext cx="1812925" cy="973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1691" name="文本框 711690"/>
          <p:cNvSpPr txBox="1"/>
          <p:nvPr/>
        </p:nvSpPr>
        <p:spPr>
          <a:xfrm>
            <a:off x="2863850" y="4287838"/>
            <a:ext cx="47244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单位速率间隔内的分子数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占总分子数的百分比</a:t>
            </a:r>
          </a:p>
        </p:txBody>
      </p:sp>
      <p:grpSp>
        <p:nvGrpSpPr>
          <p:cNvPr id="3" name="组合 711691"/>
          <p:cNvGrpSpPr/>
          <p:nvPr/>
        </p:nvGrpSpPr>
        <p:grpSpPr>
          <a:xfrm>
            <a:off x="2876550" y="3744913"/>
            <a:ext cx="2651125" cy="469900"/>
            <a:chOff x="2299" y="1729"/>
            <a:chExt cx="1670" cy="296"/>
          </a:xfrm>
        </p:grpSpPr>
        <p:graphicFrame>
          <p:nvGraphicFramePr>
            <p:cNvPr id="72717" name="对象 711692"/>
            <p:cNvGraphicFramePr/>
            <p:nvPr/>
          </p:nvGraphicFramePr>
          <p:xfrm>
            <a:off x="2971" y="1809"/>
            <a:ext cx="227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46" r:id="rId7" imgW="144780" imgH="167005" progId="Equation.3">
                    <p:embed/>
                  </p:oleObj>
                </mc:Choice>
                <mc:Fallback>
                  <p:oleObj r:id="rId7" imgW="144780" imgH="167005" progId="Equation.3">
                    <p:embed/>
                    <p:pic>
                      <p:nvPicPr>
                        <p:cNvPr id="0" name="图片 3165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71" y="1809"/>
                          <a:ext cx="227" cy="2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1694" name="文本框 711693"/>
            <p:cNvSpPr txBox="1"/>
            <p:nvPr/>
          </p:nvSpPr>
          <p:spPr>
            <a:xfrm>
              <a:off x="2299" y="1729"/>
              <a:ext cx="15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速率在</a:t>
              </a:r>
            </a:p>
          </p:txBody>
        </p:sp>
        <p:sp>
          <p:nvSpPr>
            <p:cNvPr id="711695" name="文本框 711694"/>
            <p:cNvSpPr txBox="1"/>
            <p:nvPr/>
          </p:nvSpPr>
          <p:spPr>
            <a:xfrm>
              <a:off x="3132" y="1737"/>
              <a:ext cx="83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附近</a:t>
              </a:r>
            </a:p>
          </p:txBody>
        </p:sp>
      </p:grpSp>
      <p:sp>
        <p:nvSpPr>
          <p:cNvPr id="711696" name="矩形 711695"/>
          <p:cNvSpPr/>
          <p:nvPr/>
        </p:nvSpPr>
        <p:spPr>
          <a:xfrm>
            <a:off x="5672138" y="4835525"/>
            <a:ext cx="20256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----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概率密度</a:t>
            </a:r>
          </a:p>
        </p:txBody>
      </p:sp>
      <p:sp>
        <p:nvSpPr>
          <p:cNvPr id="711697" name="文本框 711696"/>
          <p:cNvSpPr txBox="1"/>
          <p:nvPr/>
        </p:nvSpPr>
        <p:spPr>
          <a:xfrm>
            <a:off x="693738" y="6024563"/>
            <a:ext cx="63896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率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v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附近</a:t>
            </a:r>
            <a:r>
              <a:rPr kumimoji="0" lang="zh-CN" altLang="en-US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单位速率区间的概率。</a:t>
            </a:r>
            <a:r>
              <a:rPr kumimoji="0" lang="en-US" altLang="zh-CN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概率密度）</a:t>
            </a:r>
          </a:p>
        </p:txBody>
      </p:sp>
      <p:sp>
        <p:nvSpPr>
          <p:cNvPr id="711698" name="矩形 711697"/>
          <p:cNvSpPr/>
          <p:nvPr/>
        </p:nvSpPr>
        <p:spPr>
          <a:xfrm>
            <a:off x="1123950" y="5664200"/>
            <a:ext cx="45037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对于一个分子来说，</a:t>
            </a:r>
          </a:p>
        </p:txBody>
      </p:sp>
      <p:sp>
        <p:nvSpPr>
          <p:cNvPr id="711699" name="矩形 711698"/>
          <p:cNvSpPr/>
          <p:nvPr/>
        </p:nvSpPr>
        <p:spPr>
          <a:xfrm>
            <a:off x="3890963" y="5664200"/>
            <a:ext cx="45339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就是分子处于速</a:t>
            </a:r>
            <a:endParaRPr kumimoji="0" lang="zh-CN" altLang="en-US" sz="2400" b="1" i="1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Bookman Old Style" panose="020506040505050202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1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71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1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71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11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11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711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11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71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71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1688" grpId="0"/>
      <p:bldP spid="711689" grpId="0" animBg="1"/>
      <p:bldP spid="711691" grpId="0" build="p"/>
      <p:bldP spid="711696" grpId="0"/>
      <p:bldP spid="711697" grpId="0"/>
      <p:bldP spid="711698" grpId="0"/>
      <p:bldP spid="71169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24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grpSp>
        <p:nvGrpSpPr>
          <p:cNvPr id="2" name="组合 771138"/>
          <p:cNvGrpSpPr/>
          <p:nvPr/>
        </p:nvGrpSpPr>
        <p:grpSpPr>
          <a:xfrm>
            <a:off x="5453063" y="1801813"/>
            <a:ext cx="3530600" cy="2776537"/>
            <a:chOff x="3435" y="1135"/>
            <a:chExt cx="2224" cy="1749"/>
          </a:xfrm>
        </p:grpSpPr>
        <p:grpSp>
          <p:nvGrpSpPr>
            <p:cNvPr id="73731" name="组合 771087"/>
            <p:cNvGrpSpPr/>
            <p:nvPr/>
          </p:nvGrpSpPr>
          <p:grpSpPr>
            <a:xfrm>
              <a:off x="3435" y="1444"/>
              <a:ext cx="2208" cy="1440"/>
              <a:chOff x="336" y="1152"/>
              <a:chExt cx="2208" cy="1440"/>
            </a:xfrm>
          </p:grpSpPr>
          <p:sp>
            <p:nvSpPr>
              <p:cNvPr id="73732" name="矩形 771088"/>
              <p:cNvSpPr/>
              <p:nvPr/>
            </p:nvSpPr>
            <p:spPr>
              <a:xfrm>
                <a:off x="336" y="1152"/>
                <a:ext cx="2208" cy="144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73733" name="直接连接符 771089"/>
              <p:cNvSpPr/>
              <p:nvPr/>
            </p:nvSpPr>
            <p:spPr>
              <a:xfrm>
                <a:off x="466" y="2300"/>
                <a:ext cx="2030" cy="4"/>
              </a:xfrm>
              <a:prstGeom prst="line">
                <a:avLst/>
              </a:prstGeom>
              <a:ln w="19050" cap="flat" cmpd="sng">
                <a:solidFill>
                  <a:srgbClr val="1C1C1C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73734" name="对象 771090"/>
              <p:cNvGraphicFramePr/>
              <p:nvPr/>
            </p:nvGraphicFramePr>
            <p:xfrm>
              <a:off x="2262" y="2352"/>
              <a:ext cx="14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776" r:id="rId3" imgW="177800" imgH="189865" progId="Equation.3">
                      <p:embed/>
                    </p:oleObj>
                  </mc:Choice>
                  <mc:Fallback>
                    <p:oleObj r:id="rId3" imgW="177800" imgH="189865" progId="Equation.3">
                      <p:embed/>
                      <p:pic>
                        <p:nvPicPr>
                          <p:cNvPr id="0" name="图片 3166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262" y="2352"/>
                            <a:ext cx="146" cy="19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3735" name="对象 771091"/>
              <p:cNvGraphicFramePr/>
              <p:nvPr/>
            </p:nvGraphicFramePr>
            <p:xfrm>
              <a:off x="528" y="1200"/>
              <a:ext cx="328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777" r:id="rId5" imgW="532765" imgH="304800" progId="Equation.3">
                      <p:embed/>
                    </p:oleObj>
                  </mc:Choice>
                  <mc:Fallback>
                    <p:oleObj r:id="rId5" imgW="532765" imgH="304800" progId="Equation.3">
                      <p:embed/>
                      <p:pic>
                        <p:nvPicPr>
                          <p:cNvPr id="0" name="图片 3163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528" y="1200"/>
                            <a:ext cx="328" cy="24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3736" name="直接连接符 771092"/>
              <p:cNvSpPr/>
              <p:nvPr/>
            </p:nvSpPr>
            <p:spPr>
              <a:xfrm flipV="1">
                <a:off x="480" y="1200"/>
                <a:ext cx="0" cy="1107"/>
              </a:xfrm>
              <a:prstGeom prst="line">
                <a:avLst/>
              </a:prstGeom>
              <a:ln w="19050" cap="flat" cmpd="sng">
                <a:solidFill>
                  <a:srgbClr val="1C1C1C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73737" name="对象 771093"/>
              <p:cNvGraphicFramePr/>
              <p:nvPr/>
            </p:nvGraphicFramePr>
            <p:xfrm>
              <a:off x="384" y="2304"/>
              <a:ext cx="218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778" r:id="rId7" imgW="127000" imgH="139700" progId="Equation.3">
                      <p:embed/>
                    </p:oleObj>
                  </mc:Choice>
                  <mc:Fallback>
                    <p:oleObj r:id="rId7" imgW="127000" imgH="139700" progId="Equation.3">
                      <p:embed/>
                      <p:pic>
                        <p:nvPicPr>
                          <p:cNvPr id="0" name="图片 3164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84" y="2304"/>
                            <a:ext cx="218" cy="2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3738" name="文本框 771100"/>
            <p:cNvSpPr txBox="1"/>
            <p:nvPr/>
          </p:nvSpPr>
          <p:spPr>
            <a:xfrm>
              <a:off x="3436" y="1135"/>
              <a:ext cx="2223" cy="296"/>
            </a:xfrm>
            <a:prstGeom prst="rect">
              <a:avLst/>
            </a:prstGeom>
            <a:gradFill rotWithShape="0">
              <a:gsLst>
                <a:gs pos="0">
                  <a:srgbClr val="FFE1FF"/>
                </a:gs>
                <a:gs pos="50000">
                  <a:srgbClr val="FFFFFF"/>
                </a:gs>
                <a:gs pos="100000">
                  <a:srgbClr val="FFE1FF"/>
                </a:gs>
              </a:gsLst>
              <a:lin ang="5400000" scaled="1"/>
              <a:tileRect/>
            </a:gradFill>
            <a:ln w="12700" cap="flat" cmpd="sng">
              <a:solidFill>
                <a:srgbClr val="CC00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A5002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速率分布函数曲线</a:t>
              </a:r>
            </a:p>
          </p:txBody>
        </p:sp>
      </p:grpSp>
      <p:grpSp>
        <p:nvGrpSpPr>
          <p:cNvPr id="4" name="组合 771112"/>
          <p:cNvGrpSpPr/>
          <p:nvPr/>
        </p:nvGrpSpPr>
        <p:grpSpPr>
          <a:xfrm>
            <a:off x="557213" y="5118100"/>
            <a:ext cx="8153400" cy="850900"/>
            <a:chOff x="158" y="3004"/>
            <a:chExt cx="5136" cy="536"/>
          </a:xfrm>
        </p:grpSpPr>
        <p:sp>
          <p:nvSpPr>
            <p:cNvPr id="73740" name="文本框 771113"/>
            <p:cNvSpPr txBox="1"/>
            <p:nvPr/>
          </p:nvSpPr>
          <p:spPr>
            <a:xfrm>
              <a:off x="158" y="3067"/>
              <a:ext cx="5136" cy="47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65000"/>
                </a:lnSpc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速率处于                区间的分子数</a:t>
              </a:r>
            </a:p>
            <a:p>
              <a:pPr>
                <a:lnSpc>
                  <a:spcPct val="65000"/>
                </a:lnSpc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占总数的百分比</a:t>
              </a:r>
              <a:r>
                <a:rPr lang="zh-CN" altLang="en-US" sz="2400" dirty="0">
                  <a:solidFill>
                    <a:srgbClr val="CC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（</a:t>
              </a:r>
              <a:r>
                <a:rPr lang="zh-CN" altLang="en-US" sz="2400" dirty="0">
                  <a:solidFill>
                    <a:srgbClr val="CC33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概率）</a:t>
              </a:r>
            </a:p>
          </p:txBody>
        </p:sp>
        <p:graphicFrame>
          <p:nvGraphicFramePr>
            <p:cNvPr id="73741" name="对象 771114"/>
            <p:cNvGraphicFramePr/>
            <p:nvPr/>
          </p:nvGraphicFramePr>
          <p:xfrm>
            <a:off x="975" y="3004"/>
            <a:ext cx="680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79" r:id="rId9" imgW="850265" imgH="317500" progId="Equation.3">
                    <p:embed/>
                  </p:oleObj>
                </mc:Choice>
                <mc:Fallback>
                  <p:oleObj r:id="rId9" imgW="850265" imgH="317500" progId="Equation.3">
                    <p:embed/>
                    <p:pic>
                      <p:nvPicPr>
                        <p:cNvPr id="0" name="图片 3170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975" y="3004"/>
                          <a:ext cx="680" cy="2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71076" name="矩形 771075"/>
          <p:cNvSpPr>
            <a:spLocks noChangeArrowheads="1"/>
          </p:cNvSpPr>
          <p:nvPr/>
        </p:nvSpPr>
        <p:spPr bwMode="auto">
          <a:xfrm>
            <a:off x="104775" y="74613"/>
            <a:ext cx="7024688" cy="1579563"/>
          </a:xfrm>
          <a:prstGeom prst="rect">
            <a:avLst/>
          </a:prstGeom>
          <a:gradFill rotWithShape="1">
            <a:gsLst>
              <a:gs pos="0">
                <a:srgbClr val="E8F8FE"/>
              </a:gs>
              <a:gs pos="50000">
                <a:schemeClr val="bg1"/>
              </a:gs>
              <a:gs pos="100000">
                <a:srgbClr val="E8F8FE"/>
              </a:gs>
            </a:gsLst>
            <a:lin ang="5400000" scaled="1"/>
          </a:gradFill>
          <a:ln w="1905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graphicFrame>
        <p:nvGraphicFramePr>
          <p:cNvPr id="771077" name="对象 771076"/>
          <p:cNvGraphicFramePr/>
          <p:nvPr/>
        </p:nvGraphicFramePr>
        <p:xfrm>
          <a:off x="1685925" y="506413"/>
          <a:ext cx="1058863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0" r:id="rId11" imgW="457200" imgH="457200" progId="Equation.3">
                  <p:embed/>
                </p:oleObj>
              </mc:Choice>
              <mc:Fallback>
                <p:oleObj r:id="rId11" imgW="457200" imgH="45720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85925" y="506413"/>
                        <a:ext cx="1058863" cy="865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1078" name="文本框 771077"/>
          <p:cNvSpPr txBox="1"/>
          <p:nvPr/>
        </p:nvSpPr>
        <p:spPr>
          <a:xfrm>
            <a:off x="2913063" y="649288"/>
            <a:ext cx="4494213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间隔内的分子数占总分子数的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百分比</a:t>
            </a:r>
            <a:r>
              <a:rPr kumimoji="0" lang="en-US" altLang="zh-CN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----</a:t>
            </a:r>
            <a:r>
              <a:rPr kumimoji="0" lang="zh-CN" altLang="en-US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概率</a:t>
            </a:r>
          </a:p>
        </p:txBody>
      </p:sp>
      <p:sp>
        <p:nvSpPr>
          <p:cNvPr id="771079" name="文本框 771078"/>
          <p:cNvSpPr txBox="1"/>
          <p:nvPr/>
        </p:nvSpPr>
        <p:spPr>
          <a:xfrm>
            <a:off x="2913063" y="119063"/>
            <a:ext cx="37719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速率在 </a:t>
            </a:r>
            <a:r>
              <a:rPr kumimoji="0" lang="en-US" altLang="zh-CN" sz="2800" b="0" i="1" kern="1200" cap="none" spc="0" normalizeH="0" baseline="0" noProof="1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v</a:t>
            </a:r>
            <a:r>
              <a:rPr kumimoji="0" lang="en-US" altLang="zh-CN" kern="1200" cap="none" spc="0" normalizeH="0" baseline="0" noProof="1">
                <a:latin typeface="+mn-lt"/>
                <a:ea typeface="楷体_GB2312" panose="02010609030101010101" pitchFamily="49" charset="-122"/>
                <a:cs typeface="+mn-cs"/>
              </a:rPr>
              <a:t> </a:t>
            </a:r>
            <a:r>
              <a:rPr kumimoji="0" lang="en-US" altLang="zh-CN" sz="28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楷体_GB2312" panose="02010609030101010101" pitchFamily="49" charset="-122"/>
                <a:cs typeface="+mn-cs"/>
              </a:rPr>
              <a:t>~</a:t>
            </a:r>
            <a:r>
              <a:rPr kumimoji="0" lang="en-US" altLang="zh-CN" kern="1200" cap="none" spc="0" normalizeH="0" baseline="0" noProof="1">
                <a:latin typeface="+mn-lt"/>
                <a:ea typeface="楷体_GB2312" panose="02010609030101010101" pitchFamily="49" charset="-122"/>
                <a:cs typeface="+mn-cs"/>
              </a:rPr>
              <a:t> </a:t>
            </a:r>
            <a:r>
              <a:rPr kumimoji="0" lang="en-US" altLang="zh-CN" sz="2800" b="0" i="1" kern="1200" cap="none" spc="0" normalizeH="0" baseline="0" noProof="1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v</a:t>
            </a:r>
            <a:r>
              <a:rPr kumimoji="0" lang="en-US" altLang="zh-CN" sz="2800" b="0" kern="1200" cap="none" spc="0" normalizeH="0" baseline="0" noProof="1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+d</a:t>
            </a:r>
            <a:r>
              <a:rPr kumimoji="0" lang="en-US" altLang="zh-CN" sz="2800" b="0" i="1" kern="1200" cap="none" spc="0" normalizeH="0" baseline="0" noProof="1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v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 </a:t>
            </a:r>
          </a:p>
        </p:txBody>
      </p:sp>
      <p:graphicFrame>
        <p:nvGraphicFramePr>
          <p:cNvPr id="771080" name="对象 771079"/>
          <p:cNvGraphicFramePr/>
          <p:nvPr/>
        </p:nvGraphicFramePr>
        <p:xfrm>
          <a:off x="347663" y="695325"/>
          <a:ext cx="1296987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1" r:id="rId13" imgW="494665" imgH="203200" progId="Equation.3">
                  <p:embed/>
                </p:oleObj>
              </mc:Choice>
              <mc:Fallback>
                <p:oleObj r:id="rId13" imgW="494665" imgH="203200" progId="Equation.3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7663" y="695325"/>
                        <a:ext cx="1296987" cy="531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1100" name="任意多边形 771099"/>
          <p:cNvSpPr/>
          <p:nvPr/>
        </p:nvSpPr>
        <p:spPr>
          <a:xfrm>
            <a:off x="5681663" y="2695575"/>
            <a:ext cx="3060700" cy="1425575"/>
          </a:xfrm>
          <a:custGeom>
            <a:avLst/>
            <a:gdLst/>
            <a:ahLst/>
            <a:cxnLst>
              <a:cxn ang="0">
                <a:pos x="0" y="1425575"/>
              </a:cxn>
              <a:cxn ang="0">
                <a:pos x="277813" y="1212850"/>
              </a:cxn>
              <a:cxn ang="0">
                <a:pos x="635000" y="649288"/>
              </a:cxn>
              <a:cxn ang="0">
                <a:pos x="952500" y="119063"/>
              </a:cxn>
              <a:cxn ang="0">
                <a:pos x="1241425" y="41275"/>
              </a:cxn>
              <a:cxn ang="0">
                <a:pos x="1547813" y="366713"/>
              </a:cxn>
              <a:cxn ang="0">
                <a:pos x="1909763" y="741363"/>
              </a:cxn>
              <a:cxn ang="0">
                <a:pos x="2225675" y="1001713"/>
              </a:cxn>
              <a:cxn ang="0">
                <a:pos x="2716213" y="1263650"/>
              </a:cxn>
              <a:cxn ang="0">
                <a:pos x="3009900" y="1352550"/>
              </a:cxn>
              <a:cxn ang="0">
                <a:pos x="3021013" y="1352550"/>
              </a:cxn>
            </a:cxnLst>
            <a:rect l="0" t="0" r="0" b="0"/>
            <a:pathLst>
              <a:path w="1928" h="898">
                <a:moveTo>
                  <a:pt x="0" y="898"/>
                </a:moveTo>
                <a:cubicBezTo>
                  <a:pt x="54" y="872"/>
                  <a:pt x="108" y="846"/>
                  <a:pt x="175" y="764"/>
                </a:cubicBezTo>
                <a:cubicBezTo>
                  <a:pt x="242" y="683"/>
                  <a:pt x="330" y="523"/>
                  <a:pt x="400" y="409"/>
                </a:cubicBezTo>
                <a:cubicBezTo>
                  <a:pt x="470" y="293"/>
                  <a:pt x="536" y="139"/>
                  <a:pt x="600" y="75"/>
                </a:cubicBezTo>
                <a:cubicBezTo>
                  <a:pt x="664" y="11"/>
                  <a:pt x="719" y="0"/>
                  <a:pt x="782" y="26"/>
                </a:cubicBezTo>
                <a:cubicBezTo>
                  <a:pt x="845" y="52"/>
                  <a:pt x="905" y="158"/>
                  <a:pt x="975" y="231"/>
                </a:cubicBezTo>
                <a:cubicBezTo>
                  <a:pt x="1045" y="304"/>
                  <a:pt x="1132" y="400"/>
                  <a:pt x="1203" y="467"/>
                </a:cubicBezTo>
                <a:cubicBezTo>
                  <a:pt x="1274" y="534"/>
                  <a:pt x="1317" y="577"/>
                  <a:pt x="1402" y="631"/>
                </a:cubicBezTo>
                <a:cubicBezTo>
                  <a:pt x="1487" y="686"/>
                  <a:pt x="1629" y="759"/>
                  <a:pt x="1711" y="796"/>
                </a:cubicBezTo>
                <a:cubicBezTo>
                  <a:pt x="1793" y="832"/>
                  <a:pt x="1864" y="843"/>
                  <a:pt x="1896" y="852"/>
                </a:cubicBezTo>
                <a:cubicBezTo>
                  <a:pt x="1928" y="861"/>
                  <a:pt x="1902" y="852"/>
                  <a:pt x="1903" y="852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771137"/>
          <p:cNvGrpSpPr/>
          <p:nvPr/>
        </p:nvGrpSpPr>
        <p:grpSpPr>
          <a:xfrm>
            <a:off x="6257925" y="2414588"/>
            <a:ext cx="2074863" cy="2078037"/>
            <a:chOff x="3942" y="1521"/>
            <a:chExt cx="1307" cy="1309"/>
          </a:xfrm>
        </p:grpSpPr>
        <p:grpSp>
          <p:nvGrpSpPr>
            <p:cNvPr id="73749" name="组合 771094"/>
            <p:cNvGrpSpPr/>
            <p:nvPr/>
          </p:nvGrpSpPr>
          <p:grpSpPr>
            <a:xfrm>
              <a:off x="3942" y="1828"/>
              <a:ext cx="795" cy="1002"/>
              <a:chOff x="816" y="1536"/>
              <a:chExt cx="795" cy="1002"/>
            </a:xfrm>
          </p:grpSpPr>
          <p:sp>
            <p:nvSpPr>
              <p:cNvPr id="73750" name="矩形 771095"/>
              <p:cNvSpPr/>
              <p:nvPr/>
            </p:nvSpPr>
            <p:spPr>
              <a:xfrm>
                <a:off x="981" y="1536"/>
                <a:ext cx="75" cy="768"/>
              </a:xfrm>
              <a:prstGeom prst="rect">
                <a:avLst/>
              </a:prstGeom>
              <a:pattFill prst="wdUpDiag">
                <a:fgClr>
                  <a:srgbClr val="0000FF"/>
                </a:fgClr>
                <a:bgClr>
                  <a:srgbClr val="CCECFF"/>
                </a:bgClr>
              </a:pattFill>
              <a:ln w="9525" cap="flat" cmpd="sng">
                <a:solidFill>
                  <a:srgbClr val="53A2E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graphicFrame>
            <p:nvGraphicFramePr>
              <p:cNvPr id="73751" name="对象 771096"/>
              <p:cNvGraphicFramePr/>
              <p:nvPr/>
            </p:nvGraphicFramePr>
            <p:xfrm>
              <a:off x="816" y="2328"/>
              <a:ext cx="165" cy="2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782" r:id="rId15" imgW="177800" imgH="189865" progId="Equation.3">
                      <p:embed/>
                    </p:oleObj>
                  </mc:Choice>
                  <mc:Fallback>
                    <p:oleObj r:id="rId15" imgW="177800" imgH="189865" progId="Equation.3">
                      <p:embed/>
                      <p:pic>
                        <p:nvPicPr>
                          <p:cNvPr id="0" name="图片 3171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816" y="2328"/>
                            <a:ext cx="165" cy="20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3752" name="对象 771097"/>
              <p:cNvGraphicFramePr/>
              <p:nvPr/>
            </p:nvGraphicFramePr>
            <p:xfrm>
              <a:off x="1035" y="2294"/>
              <a:ext cx="576" cy="2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783" r:id="rId16" imgW="659765" imgH="254000" progId="Equation.3">
                      <p:embed/>
                    </p:oleObj>
                  </mc:Choice>
                  <mc:Fallback>
                    <p:oleObj r:id="rId16" imgW="659765" imgH="254000" progId="Equation.3">
                      <p:embed/>
                      <p:pic>
                        <p:nvPicPr>
                          <p:cNvPr id="0" name="图片 3169"/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1035" y="2294"/>
                            <a:ext cx="576" cy="24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3753" name="对象 771098"/>
              <p:cNvGraphicFramePr/>
              <p:nvPr/>
            </p:nvGraphicFramePr>
            <p:xfrm>
              <a:off x="1056" y="1680"/>
              <a:ext cx="336" cy="2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784" r:id="rId18" imgW="215265" imgH="177800" progId="Equation.3">
                      <p:embed/>
                    </p:oleObj>
                  </mc:Choice>
                  <mc:Fallback>
                    <p:oleObj r:id="rId18" imgW="215265" imgH="177800" progId="Equation.3">
                      <p:embed/>
                      <p:pic>
                        <p:nvPicPr>
                          <p:cNvPr id="0" name="图片 3172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1056" y="1680"/>
                            <a:ext cx="336" cy="27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3754" name="组合 771134"/>
            <p:cNvGrpSpPr/>
            <p:nvPr/>
          </p:nvGrpSpPr>
          <p:grpSpPr>
            <a:xfrm>
              <a:off x="4093" y="1521"/>
              <a:ext cx="1156" cy="267"/>
              <a:chOff x="4093" y="1521"/>
              <a:chExt cx="1156" cy="267"/>
            </a:xfrm>
          </p:grpSpPr>
          <p:graphicFrame>
            <p:nvGraphicFramePr>
              <p:cNvPr id="73755" name="对象 771102"/>
              <p:cNvGraphicFramePr/>
              <p:nvPr/>
            </p:nvGraphicFramePr>
            <p:xfrm>
              <a:off x="4216" y="1521"/>
              <a:ext cx="1033" cy="2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785" r:id="rId20" imgW="613410" imgH="234315" progId="Equation.DSMT4">
                      <p:embed/>
                    </p:oleObj>
                  </mc:Choice>
                  <mc:Fallback>
                    <p:oleObj r:id="rId20" imgW="613410" imgH="234315" progId="Equation.DSMT4">
                      <p:embed/>
                      <p:pic>
                        <p:nvPicPr>
                          <p:cNvPr id="0" name="图片 3173"/>
                          <p:cNvPicPr/>
                          <p:nvPr/>
                        </p:nvPicPr>
                        <p:blipFill>
                          <a:blip r:embed="rId21">
                            <a:clrChange>
                              <a:clrFrom>
                                <a:srgbClr val="000000"/>
                              </a:clrFrom>
                              <a:clrTo>
                                <a:srgbClr val="3333CC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216" y="1521"/>
                            <a:ext cx="1033" cy="26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3756" name="椭圆形标注 771103"/>
              <p:cNvSpPr/>
              <p:nvPr/>
            </p:nvSpPr>
            <p:spPr>
              <a:xfrm>
                <a:off x="4093" y="1535"/>
                <a:ext cx="1146" cy="253"/>
              </a:xfrm>
              <a:prstGeom prst="wedgeEllipseCallout">
                <a:avLst>
                  <a:gd name="adj1" fmla="val -43977"/>
                  <a:gd name="adj2" fmla="val 138537"/>
                </a:avLst>
              </a:prstGeom>
              <a:noFill/>
              <a:ln w="9525" cap="flat" cmpd="sng">
                <a:solidFill>
                  <a:srgbClr val="F70D0D"/>
                </a:solidFill>
                <a:prstDash val="dash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>
                  <a:spcBef>
                    <a:spcPct val="50000"/>
                  </a:spcBef>
                </a:pPr>
                <a:endParaRPr lang="zh-CN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graphicFrame>
        <p:nvGraphicFramePr>
          <p:cNvPr id="771116" name="对象 771115"/>
          <p:cNvGraphicFramePr/>
          <p:nvPr/>
        </p:nvGraphicFramePr>
        <p:xfrm>
          <a:off x="566738" y="3492500"/>
          <a:ext cx="4067175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6" r:id="rId22" imgW="2219325" imgH="624205" progId="Equation.3">
                  <p:embed/>
                </p:oleObj>
              </mc:Choice>
              <mc:Fallback>
                <p:oleObj r:id="rId22" imgW="2219325" imgH="624205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66738" y="3492500"/>
                        <a:ext cx="4067175" cy="1149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71116"/>
          <p:cNvGrpSpPr/>
          <p:nvPr/>
        </p:nvGrpSpPr>
        <p:grpSpPr>
          <a:xfrm>
            <a:off x="5449888" y="4567238"/>
            <a:ext cx="3505200" cy="2311400"/>
            <a:chOff x="288" y="576"/>
            <a:chExt cx="2256" cy="1488"/>
          </a:xfrm>
        </p:grpSpPr>
        <p:sp>
          <p:nvSpPr>
            <p:cNvPr id="73759" name="矩形 771117"/>
            <p:cNvSpPr/>
            <p:nvPr/>
          </p:nvSpPr>
          <p:spPr>
            <a:xfrm>
              <a:off x="288" y="576"/>
              <a:ext cx="2256" cy="148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73760" name="直接连接符 771118"/>
            <p:cNvSpPr/>
            <p:nvPr/>
          </p:nvSpPr>
          <p:spPr>
            <a:xfrm>
              <a:off x="460" y="1728"/>
              <a:ext cx="2036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73761" name="对象 771119"/>
            <p:cNvGraphicFramePr/>
            <p:nvPr/>
          </p:nvGraphicFramePr>
          <p:xfrm>
            <a:off x="2208" y="1776"/>
            <a:ext cx="19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87" r:id="rId24" imgW="177800" imgH="189865" progId="Equation.3">
                    <p:embed/>
                  </p:oleObj>
                </mc:Choice>
                <mc:Fallback>
                  <p:oleObj r:id="rId24" imgW="177800" imgH="189865" progId="Equation.3">
                    <p:embed/>
                    <p:pic>
                      <p:nvPicPr>
                        <p:cNvPr id="0" name="图片 317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208" y="1776"/>
                          <a:ext cx="196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762" name="对象 771120"/>
            <p:cNvGraphicFramePr/>
            <p:nvPr/>
          </p:nvGraphicFramePr>
          <p:xfrm>
            <a:off x="528" y="672"/>
            <a:ext cx="394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88" r:id="rId25" imgW="532765" imgH="304800" progId="Equation.3">
                    <p:embed/>
                  </p:oleObj>
                </mc:Choice>
                <mc:Fallback>
                  <p:oleObj r:id="rId25" imgW="532765" imgH="304800" progId="Equation.3">
                    <p:embed/>
                    <p:pic>
                      <p:nvPicPr>
                        <p:cNvPr id="0" name="图片 3176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28" y="672"/>
                          <a:ext cx="394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763" name="对象 771121"/>
            <p:cNvGraphicFramePr/>
            <p:nvPr/>
          </p:nvGraphicFramePr>
          <p:xfrm>
            <a:off x="288" y="1750"/>
            <a:ext cx="241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89" r:id="rId27" imgW="127000" imgH="139700" progId="Equation.3">
                    <p:embed/>
                  </p:oleObj>
                </mc:Choice>
                <mc:Fallback>
                  <p:oleObj r:id="rId27" imgW="127000" imgH="139700" progId="Equation.3">
                    <p:embed/>
                    <p:pic>
                      <p:nvPicPr>
                        <p:cNvPr id="0" name="图片 316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88" y="1750"/>
                          <a:ext cx="241" cy="2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764" name="直接连接符 771122"/>
            <p:cNvSpPr/>
            <p:nvPr/>
          </p:nvSpPr>
          <p:spPr>
            <a:xfrm flipV="1">
              <a:off x="480" y="672"/>
              <a:ext cx="0" cy="1056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</p:grpSp>
      <p:sp>
        <p:nvSpPr>
          <p:cNvPr id="771129" name="任意多边形 771128"/>
          <p:cNvSpPr/>
          <p:nvPr/>
        </p:nvSpPr>
        <p:spPr>
          <a:xfrm>
            <a:off x="5754688" y="4872038"/>
            <a:ext cx="2971800" cy="1549400"/>
          </a:xfrm>
          <a:custGeom>
            <a:avLst/>
            <a:gdLst/>
            <a:ahLst/>
            <a:cxnLst>
              <a:cxn ang="0">
                <a:pos x="0" y="1549400"/>
              </a:cxn>
              <a:cxn ang="0">
                <a:pos x="329736" y="1182875"/>
              </a:cxn>
              <a:cxn ang="0">
                <a:pos x="605212" y="652778"/>
              </a:cxn>
              <a:cxn ang="0">
                <a:pos x="882079" y="133282"/>
              </a:cxn>
              <a:cxn ang="0">
                <a:pos x="1168685" y="27262"/>
              </a:cxn>
              <a:cxn ang="0">
                <a:pos x="1453900" y="299884"/>
              </a:cxn>
              <a:cxn ang="0">
                <a:pos x="1779463" y="781516"/>
              </a:cxn>
              <a:cxn ang="0">
                <a:pos x="2086938" y="1090487"/>
              </a:cxn>
              <a:cxn ang="0">
                <a:pos x="2571108" y="1382798"/>
              </a:cxn>
              <a:cxn ang="0">
                <a:pos x="2934235" y="1478215"/>
              </a:cxn>
              <a:cxn ang="0">
                <a:pos x="2800671" y="1447924"/>
              </a:cxn>
            </a:cxnLst>
            <a:rect l="0" t="0" r="0" b="0"/>
            <a:pathLst>
              <a:path w="2136" h="1023">
                <a:moveTo>
                  <a:pt x="0" y="1023"/>
                </a:moveTo>
                <a:cubicBezTo>
                  <a:pt x="40" y="982"/>
                  <a:pt x="164" y="880"/>
                  <a:pt x="237" y="781"/>
                </a:cubicBezTo>
                <a:cubicBezTo>
                  <a:pt x="310" y="682"/>
                  <a:pt x="369" y="547"/>
                  <a:pt x="435" y="431"/>
                </a:cubicBezTo>
                <a:cubicBezTo>
                  <a:pt x="501" y="315"/>
                  <a:pt x="566" y="157"/>
                  <a:pt x="634" y="88"/>
                </a:cubicBezTo>
                <a:cubicBezTo>
                  <a:pt x="702" y="19"/>
                  <a:pt x="772" y="0"/>
                  <a:pt x="840" y="18"/>
                </a:cubicBezTo>
                <a:cubicBezTo>
                  <a:pt x="908" y="36"/>
                  <a:pt x="972" y="115"/>
                  <a:pt x="1045" y="198"/>
                </a:cubicBezTo>
                <a:cubicBezTo>
                  <a:pt x="1118" y="281"/>
                  <a:pt x="1203" y="429"/>
                  <a:pt x="1279" y="516"/>
                </a:cubicBezTo>
                <a:cubicBezTo>
                  <a:pt x="1355" y="603"/>
                  <a:pt x="1405" y="654"/>
                  <a:pt x="1500" y="720"/>
                </a:cubicBezTo>
                <a:cubicBezTo>
                  <a:pt x="1595" y="786"/>
                  <a:pt x="1747" y="870"/>
                  <a:pt x="1848" y="913"/>
                </a:cubicBezTo>
                <a:cubicBezTo>
                  <a:pt x="1949" y="955"/>
                  <a:pt x="2082" y="968"/>
                  <a:pt x="2109" y="976"/>
                </a:cubicBezTo>
                <a:cubicBezTo>
                  <a:pt x="2136" y="983"/>
                  <a:pt x="2033" y="960"/>
                  <a:pt x="2013" y="956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9" name="组合 771140"/>
          <p:cNvGrpSpPr/>
          <p:nvPr/>
        </p:nvGrpSpPr>
        <p:grpSpPr>
          <a:xfrm>
            <a:off x="6888163" y="4637088"/>
            <a:ext cx="2024062" cy="2209800"/>
            <a:chOff x="4339" y="2921"/>
            <a:chExt cx="1275" cy="1392"/>
          </a:xfrm>
        </p:grpSpPr>
        <p:grpSp>
          <p:nvGrpSpPr>
            <p:cNvPr id="73767" name="组合 771123"/>
            <p:cNvGrpSpPr/>
            <p:nvPr/>
          </p:nvGrpSpPr>
          <p:grpSpPr>
            <a:xfrm>
              <a:off x="4339" y="3190"/>
              <a:ext cx="645" cy="1123"/>
              <a:chOff x="1152" y="850"/>
              <a:chExt cx="665" cy="1214"/>
            </a:xfrm>
          </p:grpSpPr>
          <p:sp>
            <p:nvSpPr>
              <p:cNvPr id="73768" name="任意多边形 771124"/>
              <p:cNvSpPr/>
              <p:nvPr/>
            </p:nvSpPr>
            <p:spPr>
              <a:xfrm>
                <a:off x="1296" y="850"/>
                <a:ext cx="378" cy="878"/>
              </a:xfrm>
              <a:custGeom>
                <a:avLst/>
                <a:gdLst/>
                <a:ahLst/>
                <a:cxnLst>
                  <a:cxn ang="0">
                    <a:pos x="0" y="878"/>
                  </a:cxn>
                  <a:cxn ang="0">
                    <a:pos x="4" y="0"/>
                  </a:cxn>
                  <a:cxn ang="0">
                    <a:pos x="97" y="103"/>
                  </a:cxn>
                  <a:cxn ang="0">
                    <a:pos x="172" y="239"/>
                  </a:cxn>
                  <a:cxn ang="0">
                    <a:pos x="284" y="407"/>
                  </a:cxn>
                  <a:cxn ang="0">
                    <a:pos x="369" y="513"/>
                  </a:cxn>
                  <a:cxn ang="0">
                    <a:pos x="378" y="878"/>
                  </a:cxn>
                  <a:cxn ang="0">
                    <a:pos x="0" y="878"/>
                  </a:cxn>
                </a:cxnLst>
                <a:rect l="0" t="0" r="0" b="0"/>
                <a:pathLst>
                  <a:path w="378" h="878">
                    <a:moveTo>
                      <a:pt x="0" y="878"/>
                    </a:moveTo>
                    <a:lnTo>
                      <a:pt x="4" y="0"/>
                    </a:lnTo>
                    <a:lnTo>
                      <a:pt x="97" y="103"/>
                    </a:lnTo>
                    <a:lnTo>
                      <a:pt x="172" y="239"/>
                    </a:lnTo>
                    <a:lnTo>
                      <a:pt x="284" y="407"/>
                    </a:lnTo>
                    <a:lnTo>
                      <a:pt x="369" y="513"/>
                    </a:lnTo>
                    <a:lnTo>
                      <a:pt x="378" y="878"/>
                    </a:lnTo>
                    <a:lnTo>
                      <a:pt x="0" y="878"/>
                    </a:lnTo>
                    <a:close/>
                  </a:path>
                </a:pathLst>
              </a:custGeom>
              <a:pattFill prst="dkUpDiag">
                <a:fgClr>
                  <a:schemeClr val="bg1"/>
                </a:fgClr>
                <a:bgClr>
                  <a:srgbClr val="37871B"/>
                </a:bgClr>
              </a:patt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73769" name="对象 771125"/>
              <p:cNvGraphicFramePr/>
              <p:nvPr/>
            </p:nvGraphicFramePr>
            <p:xfrm>
              <a:off x="1152" y="1680"/>
              <a:ext cx="272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790" r:id="rId28" imgW="228600" imgH="317500" progId="Equation.3">
                      <p:embed/>
                    </p:oleObj>
                  </mc:Choice>
                  <mc:Fallback>
                    <p:oleObj r:id="rId28" imgW="228600" imgH="317500" progId="Equation.3">
                      <p:embed/>
                      <p:pic>
                        <p:nvPicPr>
                          <p:cNvPr id="0" name="图片 3184"/>
                          <p:cNvPicPr/>
                          <p:nvPr/>
                        </p:nvPicPr>
                        <p:blipFill>
                          <a:blip r:embed="rId29"/>
                          <a:stretch>
                            <a:fillRect/>
                          </a:stretch>
                        </p:blipFill>
                        <p:spPr>
                          <a:xfrm>
                            <a:off x="1152" y="1680"/>
                            <a:ext cx="272" cy="38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3770" name="对象 771126"/>
              <p:cNvGraphicFramePr/>
              <p:nvPr/>
            </p:nvGraphicFramePr>
            <p:xfrm>
              <a:off x="1296" y="1398"/>
              <a:ext cx="336" cy="2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791" r:id="rId30" imgW="342900" imgH="241300" progId="Equation.3">
                      <p:embed/>
                    </p:oleObj>
                  </mc:Choice>
                  <mc:Fallback>
                    <p:oleObj r:id="rId30" imgW="342900" imgH="241300" progId="Equation.3">
                      <p:embed/>
                      <p:pic>
                        <p:nvPicPr>
                          <p:cNvPr id="0" name="图片 3180"/>
                          <p:cNvPicPr/>
                          <p:nvPr/>
                        </p:nvPicPr>
                        <p:blipFill>
                          <a:blip r:embed="rId31"/>
                          <a:stretch>
                            <a:fillRect/>
                          </a:stretch>
                        </p:blipFill>
                        <p:spPr>
                          <a:xfrm>
                            <a:off x="1296" y="1398"/>
                            <a:ext cx="336" cy="23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3771" name="对象 771127"/>
              <p:cNvGraphicFramePr/>
              <p:nvPr/>
            </p:nvGraphicFramePr>
            <p:xfrm>
              <a:off x="1584" y="1776"/>
              <a:ext cx="233" cy="2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792" r:id="rId32" imgW="355600" imgH="367665" progId="Equation.3">
                      <p:embed/>
                    </p:oleObj>
                  </mc:Choice>
                  <mc:Fallback>
                    <p:oleObj r:id="rId32" imgW="355600" imgH="367665" progId="Equation.3">
                      <p:embed/>
                      <p:pic>
                        <p:nvPicPr>
                          <p:cNvPr id="0" name="图片 3185"/>
                          <p:cNvPicPr/>
                          <p:nvPr/>
                        </p:nvPicPr>
                        <p:blipFill>
                          <a:blip r:embed="rId33"/>
                          <a:stretch>
                            <a:fillRect/>
                          </a:stretch>
                        </p:blipFill>
                        <p:spPr>
                          <a:xfrm>
                            <a:off x="1584" y="1776"/>
                            <a:ext cx="233" cy="27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3772" name="组合 771135"/>
            <p:cNvGrpSpPr/>
            <p:nvPr/>
          </p:nvGrpSpPr>
          <p:grpSpPr>
            <a:xfrm>
              <a:off x="4526" y="2921"/>
              <a:ext cx="1088" cy="483"/>
              <a:chOff x="4526" y="2921"/>
              <a:chExt cx="1088" cy="483"/>
            </a:xfrm>
          </p:grpSpPr>
          <p:graphicFrame>
            <p:nvGraphicFramePr>
              <p:cNvPr id="73773" name="对象 771132"/>
              <p:cNvGraphicFramePr/>
              <p:nvPr/>
            </p:nvGraphicFramePr>
            <p:xfrm>
              <a:off x="4649" y="2921"/>
              <a:ext cx="929" cy="4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793" r:id="rId34" imgW="802640" imgH="412750" progId="Equation.3">
                      <p:embed/>
                    </p:oleObj>
                  </mc:Choice>
                  <mc:Fallback>
                    <p:oleObj r:id="rId34" imgW="802640" imgH="412750" progId="Equation.3">
                      <p:embed/>
                      <p:pic>
                        <p:nvPicPr>
                          <p:cNvPr id="0" name="图片 3186"/>
                          <p:cNvPicPr/>
                          <p:nvPr/>
                        </p:nvPicPr>
                        <p:blipFill>
                          <a:blip r:embed="rId35">
                            <a:clrChange>
                              <a:clrFrom>
                                <a:srgbClr val="000000"/>
                              </a:clrFrom>
                              <a:clrTo>
                                <a:srgbClr val="3333CC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649" y="2921"/>
                            <a:ext cx="929" cy="48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3774" name="椭圆形标注 771133"/>
              <p:cNvSpPr/>
              <p:nvPr/>
            </p:nvSpPr>
            <p:spPr>
              <a:xfrm>
                <a:off x="4526" y="2924"/>
                <a:ext cx="1088" cy="453"/>
              </a:xfrm>
              <a:prstGeom prst="wedgeEllipseCallout">
                <a:avLst>
                  <a:gd name="adj1" fmla="val -48991"/>
                  <a:gd name="adj2" fmla="val 64347"/>
                </a:avLst>
              </a:prstGeom>
              <a:noFill/>
              <a:ln w="9525" cap="flat" cmpd="sng">
                <a:solidFill>
                  <a:srgbClr val="F70D0D"/>
                </a:solidFill>
                <a:prstDash val="dash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>
                  <a:spcBef>
                    <a:spcPct val="50000"/>
                  </a:spcBef>
                </a:pPr>
                <a:endParaRPr lang="zh-CN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graphicFrame>
        <p:nvGraphicFramePr>
          <p:cNvPr id="73775" name="对象 771141"/>
          <p:cNvGraphicFramePr/>
          <p:nvPr/>
        </p:nvGraphicFramePr>
        <p:xfrm>
          <a:off x="7243763" y="377825"/>
          <a:ext cx="1811337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94" r:id="rId36" imgW="787400" imgH="419100" progId="Equation.3">
                  <p:embed/>
                </p:oleObj>
              </mc:Choice>
              <mc:Fallback>
                <p:oleObj r:id="rId36" imgW="787400" imgH="419100" progId="Equation.3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7243763" y="377825"/>
                        <a:ext cx="1811337" cy="9810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8F8FE"/>
                          </a:gs>
                          <a:gs pos="50000">
                            <a:srgbClr val="FFFFFF"/>
                          </a:gs>
                          <a:gs pos="100000">
                            <a:srgbClr val="E8F8FE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771095"/>
          <p:cNvSpPr/>
          <p:nvPr/>
        </p:nvSpPr>
        <p:spPr>
          <a:xfrm>
            <a:off x="6413500" y="3044825"/>
            <a:ext cx="106363" cy="10572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53A2E9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7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7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77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7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71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71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77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71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77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1078" grpId="0" build="p"/>
      <p:bldP spid="771079" grpId="0"/>
      <p:bldP spid="3" grpId="0" bldLvl="0" animBg="1"/>
      <p:bldP spid="3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25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772100" name="椭圆 772099"/>
          <p:cNvSpPr/>
          <p:nvPr/>
        </p:nvSpPr>
        <p:spPr>
          <a:xfrm>
            <a:off x="238125" y="334963"/>
            <a:ext cx="2808288" cy="935037"/>
          </a:xfrm>
          <a:prstGeom prst="ellipse">
            <a:avLst/>
          </a:prstGeom>
          <a:solidFill>
            <a:srgbClr val="FFFFCC"/>
          </a:solidFill>
          <a:ln w="19050" cap="flat" cmpd="sng">
            <a:solidFill>
              <a:srgbClr val="CC66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772101" name="文本框 772100"/>
          <p:cNvSpPr txBox="1"/>
          <p:nvPr/>
        </p:nvSpPr>
        <p:spPr>
          <a:xfrm>
            <a:off x="346075" y="534988"/>
            <a:ext cx="3276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Monotype Sorts" pitchFamily="2" charset="2"/>
              </a:rPr>
              <a:t>2. </a:t>
            </a:r>
            <a:r>
              <a:rPr kumimoji="0" lang="en-US" altLang="zh-CN" sz="28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Monotype Sorts" pitchFamily="2" charset="2"/>
              </a:rPr>
              <a:t>f </a:t>
            </a:r>
            <a:r>
              <a:rPr kumimoji="0" lang="en-US" altLang="zh-CN" sz="28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Monotype Sorts" pitchFamily="2" charset="2"/>
              </a:rPr>
              <a:t>(</a:t>
            </a:r>
            <a:r>
              <a:rPr kumimoji="0" lang="en-US" altLang="zh-CN" sz="28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Book Antiqua" panose="02040602050305030304" pitchFamily="18" charset="0"/>
                <a:ea typeface="黑体" panose="02010609060101010101" pitchFamily="49" charset="-122"/>
                <a:cs typeface="+mn-cs"/>
                <a:sym typeface="Monotype Sorts" pitchFamily="2" charset="2"/>
              </a:rPr>
              <a:t>v</a:t>
            </a:r>
            <a:r>
              <a:rPr kumimoji="0" lang="en-US" altLang="zh-CN" sz="28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Monotype Sorts" pitchFamily="2" charset="2"/>
              </a:rPr>
              <a:t> </a:t>
            </a:r>
            <a:r>
              <a:rPr kumimoji="0" lang="en-US" altLang="zh-CN" sz="28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Monotype Sorts" pitchFamily="2" charset="2"/>
              </a:rPr>
              <a:t>)</a:t>
            </a:r>
            <a:r>
              <a:rPr kumimoji="0" lang="en-US" altLang="zh-CN" sz="2800" b="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Monotype Sorts" pitchFamily="2" charset="2"/>
              </a:rPr>
              <a:t> </a:t>
            </a:r>
            <a:r>
              <a:rPr kumimoji="0" lang="zh-CN" altLang="en-US" sz="2800" b="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的性质</a:t>
            </a:r>
          </a:p>
        </p:txBody>
      </p:sp>
      <p:graphicFrame>
        <p:nvGraphicFramePr>
          <p:cNvPr id="772107" name="对象 772106"/>
          <p:cNvGraphicFramePr/>
          <p:nvPr/>
        </p:nvGraphicFramePr>
        <p:xfrm>
          <a:off x="828675" y="3211513"/>
          <a:ext cx="2217738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1" r:id="rId3" imgW="902970" imgH="568960" progId="Equation.3">
                  <p:embed/>
                </p:oleObj>
              </mc:Choice>
              <mc:Fallback>
                <p:oleObj r:id="rId3" imgW="902970" imgH="568960" progId="Equation.3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8675" y="3211513"/>
                        <a:ext cx="2217738" cy="1146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2108" name="文本框 772107"/>
          <p:cNvSpPr txBox="1"/>
          <p:nvPr/>
        </p:nvSpPr>
        <p:spPr>
          <a:xfrm>
            <a:off x="3054350" y="3500438"/>
            <a:ext cx="17748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归一性质</a:t>
            </a:r>
          </a:p>
        </p:txBody>
      </p:sp>
      <p:sp>
        <p:nvSpPr>
          <p:cNvPr id="772109" name="矩形 772108"/>
          <p:cNvSpPr/>
          <p:nvPr/>
        </p:nvSpPr>
        <p:spPr>
          <a:xfrm>
            <a:off x="754063" y="3097213"/>
            <a:ext cx="3960812" cy="1341437"/>
          </a:xfrm>
          <a:prstGeom prst="rect">
            <a:avLst/>
          </a:prstGeom>
          <a:noFill/>
          <a:ln w="38100" cap="flat" cmpd="sng">
            <a:solidFill>
              <a:schemeClr val="accent2"/>
            </a:solidFill>
            <a:prstDash val="sysDot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graphicFrame>
        <p:nvGraphicFramePr>
          <p:cNvPr id="74759" name="对象 772109"/>
          <p:cNvGraphicFramePr/>
          <p:nvPr/>
        </p:nvGraphicFramePr>
        <p:xfrm>
          <a:off x="6948488" y="14288"/>
          <a:ext cx="2195512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2" r:id="rId5" imgW="787400" imgH="419100" progId="Equation.3">
                  <p:embed/>
                </p:oleObj>
              </mc:Choice>
              <mc:Fallback>
                <p:oleObj r:id="rId5" imgW="787400" imgH="419100" progId="Equation.3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48488" y="14288"/>
                        <a:ext cx="2195512" cy="9810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8F8FE"/>
                          </a:gs>
                          <a:gs pos="50000">
                            <a:srgbClr val="FFFFFF"/>
                          </a:gs>
                          <a:gs pos="100000">
                            <a:srgbClr val="E8F8FE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0" name="对象 772126"/>
          <p:cNvGraphicFramePr/>
          <p:nvPr/>
        </p:nvGraphicFramePr>
        <p:xfrm>
          <a:off x="1069975" y="1582738"/>
          <a:ext cx="3952875" cy="115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3" r:id="rId7" imgW="2040890" imgH="591185" progId="Equation.3">
                  <p:embed/>
                </p:oleObj>
              </mc:Choice>
              <mc:Fallback>
                <p:oleObj r:id="rId7" imgW="2040890" imgH="591185" progId="Equation.3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69975" y="1582738"/>
                        <a:ext cx="3952875" cy="1154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772135"/>
          <p:cNvGrpSpPr/>
          <p:nvPr/>
        </p:nvGrpSpPr>
        <p:grpSpPr>
          <a:xfrm>
            <a:off x="5322888" y="1984375"/>
            <a:ext cx="3635375" cy="2974975"/>
            <a:chOff x="3424" y="188"/>
            <a:chExt cx="2290" cy="1874"/>
          </a:xfrm>
        </p:grpSpPr>
        <p:sp>
          <p:nvSpPr>
            <p:cNvPr id="74762" name="矩形 772136"/>
            <p:cNvSpPr/>
            <p:nvPr/>
          </p:nvSpPr>
          <p:spPr>
            <a:xfrm>
              <a:off x="3424" y="188"/>
              <a:ext cx="2290" cy="187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74763" name="直接连接符 772137"/>
            <p:cNvSpPr/>
            <p:nvPr/>
          </p:nvSpPr>
          <p:spPr>
            <a:xfrm>
              <a:off x="3670" y="1775"/>
              <a:ext cx="1894" cy="6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74764" name="对象 772138"/>
            <p:cNvGraphicFramePr/>
            <p:nvPr/>
          </p:nvGraphicFramePr>
          <p:xfrm>
            <a:off x="5266" y="1828"/>
            <a:ext cx="202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34" r:id="rId9" imgW="177800" imgH="189865" progId="Equation.3">
                    <p:embed/>
                  </p:oleObj>
                </mc:Choice>
                <mc:Fallback>
                  <p:oleObj r:id="rId9" imgW="177800" imgH="189865" progId="Equation.3">
                    <p:embed/>
                    <p:pic>
                      <p:nvPicPr>
                        <p:cNvPr id="0" name="图片 3182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266" y="1828"/>
                          <a:ext cx="202" cy="2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765" name="对象 772139"/>
            <p:cNvGraphicFramePr/>
            <p:nvPr/>
          </p:nvGraphicFramePr>
          <p:xfrm>
            <a:off x="3722" y="797"/>
            <a:ext cx="349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35" r:id="rId11" imgW="532765" imgH="304800" progId="Equation.3">
                    <p:embed/>
                  </p:oleObj>
                </mc:Choice>
                <mc:Fallback>
                  <p:oleObj r:id="rId11" imgW="532765" imgH="304800" progId="Equation.3">
                    <p:embed/>
                    <p:pic>
                      <p:nvPicPr>
                        <p:cNvPr id="0" name="图片 318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722" y="797"/>
                          <a:ext cx="349" cy="2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766" name="任意多边形 772140"/>
            <p:cNvSpPr/>
            <p:nvPr/>
          </p:nvSpPr>
          <p:spPr>
            <a:xfrm>
              <a:off x="3673" y="961"/>
              <a:ext cx="1770" cy="820"/>
            </a:xfrm>
            <a:custGeom>
              <a:avLst/>
              <a:gdLst/>
              <a:ahLst/>
              <a:cxnLst>
                <a:cxn ang="0">
                  <a:pos x="0" y="820"/>
                </a:cxn>
                <a:cxn ang="0">
                  <a:pos x="186" y="633"/>
                </a:cxn>
                <a:cxn ang="0">
                  <a:pos x="512" y="117"/>
                </a:cxn>
                <a:cxn ang="0">
                  <a:pos x="745" y="23"/>
                </a:cxn>
                <a:cxn ang="0">
                  <a:pos x="1025" y="258"/>
                </a:cxn>
                <a:cxn ang="0">
                  <a:pos x="1258" y="445"/>
                </a:cxn>
                <a:cxn ang="0">
                  <a:pos x="1537" y="633"/>
                </a:cxn>
                <a:cxn ang="0">
                  <a:pos x="1770" y="726"/>
                </a:cxn>
              </a:cxnLst>
              <a:rect l="0" t="0" r="0" b="0"/>
              <a:pathLst>
                <a:path w="1824" h="840">
                  <a:moveTo>
                    <a:pt x="0" y="840"/>
                  </a:moveTo>
                  <a:cubicBezTo>
                    <a:pt x="52" y="804"/>
                    <a:pt x="104" y="768"/>
                    <a:pt x="192" y="648"/>
                  </a:cubicBezTo>
                  <a:cubicBezTo>
                    <a:pt x="280" y="528"/>
                    <a:pt x="432" y="224"/>
                    <a:pt x="528" y="120"/>
                  </a:cubicBezTo>
                  <a:cubicBezTo>
                    <a:pt x="624" y="16"/>
                    <a:pt x="680" y="0"/>
                    <a:pt x="768" y="24"/>
                  </a:cubicBezTo>
                  <a:cubicBezTo>
                    <a:pt x="856" y="48"/>
                    <a:pt x="968" y="192"/>
                    <a:pt x="1056" y="264"/>
                  </a:cubicBezTo>
                  <a:cubicBezTo>
                    <a:pt x="1144" y="336"/>
                    <a:pt x="1208" y="392"/>
                    <a:pt x="1296" y="456"/>
                  </a:cubicBezTo>
                  <a:cubicBezTo>
                    <a:pt x="1384" y="520"/>
                    <a:pt x="1496" y="600"/>
                    <a:pt x="1584" y="648"/>
                  </a:cubicBezTo>
                  <a:cubicBezTo>
                    <a:pt x="1672" y="696"/>
                    <a:pt x="1784" y="728"/>
                    <a:pt x="1824" y="744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67" name="直接连接符 772141"/>
            <p:cNvSpPr/>
            <p:nvPr/>
          </p:nvSpPr>
          <p:spPr>
            <a:xfrm flipV="1">
              <a:off x="3673" y="797"/>
              <a:ext cx="0" cy="984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74768" name="对象 772142"/>
            <p:cNvGraphicFramePr/>
            <p:nvPr/>
          </p:nvGraphicFramePr>
          <p:xfrm>
            <a:off x="3524" y="1734"/>
            <a:ext cx="271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36" r:id="rId13" imgW="127000" imgH="139700" progId="Equation.3">
                    <p:embed/>
                  </p:oleObj>
                </mc:Choice>
                <mc:Fallback>
                  <p:oleObj r:id="rId13" imgW="127000" imgH="139700" progId="Equation.3">
                    <p:embed/>
                    <p:pic>
                      <p:nvPicPr>
                        <p:cNvPr id="0" name="图片 318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524" y="1734"/>
                          <a:ext cx="271" cy="2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72144" name="文本框 772143"/>
          <p:cNvSpPr txBox="1"/>
          <p:nvPr/>
        </p:nvSpPr>
        <p:spPr>
          <a:xfrm>
            <a:off x="5608638" y="5000625"/>
            <a:ext cx="419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曲线下总面积恒为</a:t>
            </a: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72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72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7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772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72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7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77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2101" grpId="0"/>
      <p:bldP spid="772108" grpId="0" build="p"/>
      <p:bldP spid="77214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26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713730" name="文本框 713729"/>
          <p:cNvSpPr txBox="1"/>
          <p:nvPr/>
        </p:nvSpPr>
        <p:spPr>
          <a:xfrm>
            <a:off x="1042988" y="-26987"/>
            <a:ext cx="6502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665480" marR="0" indent="-665480" defTabSz="914400">
              <a:buClrTx/>
              <a:buSzTx/>
              <a:buFontTx/>
              <a:buNone/>
              <a:defRPr/>
            </a:pPr>
            <a:r>
              <a:rPr kumimoji="0" lang="zh-CN" altLang="en-US" sz="3600" b="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测定气体分子速率分布的实验</a:t>
            </a:r>
          </a:p>
        </p:txBody>
      </p:sp>
      <p:sp>
        <p:nvSpPr>
          <p:cNvPr id="713731" name="文本框 713730"/>
          <p:cNvSpPr txBox="1"/>
          <p:nvPr/>
        </p:nvSpPr>
        <p:spPr>
          <a:xfrm>
            <a:off x="377825" y="884238"/>
            <a:ext cx="2955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Blip>
                <a:blip r:embed="rId3"/>
              </a:buBlip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 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实验装置</a:t>
            </a:r>
          </a:p>
        </p:txBody>
      </p:sp>
      <p:sp>
        <p:nvSpPr>
          <p:cNvPr id="713732" name="文本框 713731"/>
          <p:cNvSpPr txBox="1"/>
          <p:nvPr/>
        </p:nvSpPr>
        <p:spPr>
          <a:xfrm>
            <a:off x="371475" y="1397000"/>
            <a:ext cx="27368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Blip>
                <a:blip r:embed="rId3"/>
              </a:buBlip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 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测量原理</a:t>
            </a:r>
          </a:p>
        </p:txBody>
      </p:sp>
      <p:sp>
        <p:nvSpPr>
          <p:cNvPr id="713733" name="文本框 713732"/>
          <p:cNvSpPr txBox="1"/>
          <p:nvPr/>
        </p:nvSpPr>
        <p:spPr>
          <a:xfrm>
            <a:off x="250825" y="2019300"/>
            <a:ext cx="3908425" cy="9144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(1) 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能通过狭缝到达接收屏</a:t>
            </a:r>
            <a:r>
              <a:rPr kumimoji="0" lang="zh-CN" altLang="en-US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  </a:t>
            </a:r>
          </a:p>
          <a:p>
            <a:pPr marR="0" defTabSz="914400">
              <a:lnSpc>
                <a:spcPct val="125000"/>
              </a:lnSpc>
              <a:buClrTx/>
              <a:buSzTx/>
              <a:buFontTx/>
              <a:buNone/>
              <a:defRPr/>
            </a:pPr>
            <a:r>
              <a:rPr kumimoji="0" lang="zh-CN" altLang="en-US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      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的分子所满足的条件</a:t>
            </a:r>
            <a:endParaRPr kumimoji="0" lang="zh-CN" altLang="en-US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graphicFrame>
        <p:nvGraphicFramePr>
          <p:cNvPr id="713734" name="对象 713733"/>
          <p:cNvGraphicFramePr/>
          <p:nvPr/>
        </p:nvGraphicFramePr>
        <p:xfrm>
          <a:off x="2987675" y="3284538"/>
          <a:ext cx="112077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8" r:id="rId4" imgW="1304925" imgH="1059180" progId="Equation.3">
                  <p:embed/>
                </p:oleObj>
              </mc:Choice>
              <mc:Fallback>
                <p:oleObj r:id="rId4" imgW="1304925" imgH="1059180" progId="Equation.3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87675" y="3284538"/>
                        <a:ext cx="1120775" cy="904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3735" name="对象 713734"/>
          <p:cNvGraphicFramePr/>
          <p:nvPr/>
        </p:nvGraphicFramePr>
        <p:xfrm>
          <a:off x="468313" y="3254375"/>
          <a:ext cx="92075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9" r:id="rId6" imgW="1070610" imgH="970280" progId="Equation.3">
                  <p:embed/>
                </p:oleObj>
              </mc:Choice>
              <mc:Fallback>
                <p:oleObj r:id="rId6" imgW="1070610" imgH="970280" progId="Equation.3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8313" y="3254375"/>
                        <a:ext cx="920750" cy="822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3736" name="文本框 713735"/>
          <p:cNvSpPr txBox="1"/>
          <p:nvPr/>
        </p:nvSpPr>
        <p:spPr>
          <a:xfrm>
            <a:off x="323850" y="4365625"/>
            <a:ext cx="5759450" cy="549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125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(2)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通过改变角速度</a:t>
            </a:r>
            <a:r>
              <a:rPr kumimoji="0" lang="el-GR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ω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的大小，选择速率</a:t>
            </a:r>
            <a:r>
              <a:rPr kumimoji="0" lang="en-US" altLang="zh-CN" sz="2400" b="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Bookman Old Style" panose="02050604050505020204" pitchFamily="18" charset="0"/>
                <a:ea typeface="楷体_GB2312" panose="02010609030101010101" pitchFamily="49" charset="-122"/>
                <a:cs typeface="+mn-cs"/>
              </a:rPr>
              <a:t>v</a:t>
            </a:r>
            <a:r>
              <a:rPr kumimoji="0" lang="en-US" altLang="zh-CN" sz="2400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  </a:t>
            </a:r>
          </a:p>
        </p:txBody>
      </p:sp>
      <p:sp>
        <p:nvSpPr>
          <p:cNvPr id="713737" name="右箭头 713736"/>
          <p:cNvSpPr/>
          <p:nvPr/>
        </p:nvSpPr>
        <p:spPr>
          <a:xfrm>
            <a:off x="1908175" y="3573463"/>
            <a:ext cx="576263" cy="288925"/>
          </a:xfrm>
          <a:prstGeom prst="rightArrow">
            <a:avLst>
              <a:gd name="adj1" fmla="val 50000"/>
              <a:gd name="adj2" fmla="val 49705"/>
            </a:avLst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grpSp>
        <p:nvGrpSpPr>
          <p:cNvPr id="2" name="组合 713738"/>
          <p:cNvGrpSpPr/>
          <p:nvPr/>
        </p:nvGrpSpPr>
        <p:grpSpPr>
          <a:xfrm>
            <a:off x="4284663" y="692150"/>
            <a:ext cx="5046662" cy="3816350"/>
            <a:chOff x="2671" y="572"/>
            <a:chExt cx="3179" cy="2404"/>
          </a:xfrm>
        </p:grpSpPr>
        <p:sp>
          <p:nvSpPr>
            <p:cNvPr id="75787" name="矩形 713739"/>
            <p:cNvSpPr/>
            <p:nvPr/>
          </p:nvSpPr>
          <p:spPr>
            <a:xfrm>
              <a:off x="2676" y="572"/>
              <a:ext cx="3084" cy="240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713741" name="文本框 713740"/>
            <p:cNvSpPr txBox="1"/>
            <p:nvPr/>
          </p:nvSpPr>
          <p:spPr>
            <a:xfrm>
              <a:off x="2671" y="572"/>
              <a:ext cx="1226" cy="333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rgbClr val="FFFFFF"/>
                </a:gs>
                <a:gs pos="100000">
                  <a:schemeClr val="accent1"/>
                </a:gs>
              </a:gsLst>
              <a:lin ang="5400000" scaled="1"/>
              <a:tileRect/>
            </a:gra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marR="0" algn="ctr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800" kern="1200" cap="none" spc="0" normalizeH="0" baseline="0" noProof="1">
                  <a:solidFill>
                    <a:srgbClr val="00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实验装置</a:t>
              </a:r>
              <a:endParaRPr kumimoji="0" lang="zh-CN" altLang="en-US" sz="2800" b="0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75789" name="组合 713741"/>
            <p:cNvGrpSpPr/>
            <p:nvPr/>
          </p:nvGrpSpPr>
          <p:grpSpPr>
            <a:xfrm>
              <a:off x="2766" y="663"/>
              <a:ext cx="3084" cy="2260"/>
              <a:chOff x="1632" y="1056"/>
              <a:chExt cx="3864" cy="2832"/>
            </a:xfrm>
          </p:grpSpPr>
          <p:sp>
            <p:nvSpPr>
              <p:cNvPr id="75790" name="平行四边形 713742"/>
              <p:cNvSpPr/>
              <p:nvPr/>
            </p:nvSpPr>
            <p:spPr>
              <a:xfrm rot="5380271" flipH="1">
                <a:off x="1811" y="2557"/>
                <a:ext cx="1970" cy="504"/>
              </a:xfrm>
              <a:prstGeom prst="parallelogram">
                <a:avLst>
                  <a:gd name="adj" fmla="val 88560"/>
                </a:avLst>
              </a:prstGeom>
              <a:solidFill>
                <a:srgbClr val="37871B"/>
              </a:solidFill>
              <a:ln w="19050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75791" name="平行四边形 713743"/>
              <p:cNvSpPr/>
              <p:nvPr/>
            </p:nvSpPr>
            <p:spPr>
              <a:xfrm rot="5380271" flipH="1">
                <a:off x="2439" y="2279"/>
                <a:ext cx="705" cy="49"/>
              </a:xfrm>
              <a:prstGeom prst="parallelogram">
                <a:avLst>
                  <a:gd name="adj" fmla="val 193831"/>
                </a:avLst>
              </a:prstGeom>
              <a:solidFill>
                <a:schemeClr val="bg1"/>
              </a:solidFill>
              <a:ln w="19050">
                <a:noFill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75792" name="圆柱形 713744"/>
              <p:cNvSpPr/>
              <p:nvPr/>
            </p:nvSpPr>
            <p:spPr>
              <a:xfrm rot="5401630">
                <a:off x="3048" y="2544"/>
                <a:ext cx="96" cy="480"/>
              </a:xfrm>
              <a:prstGeom prst="can">
                <a:avLst>
                  <a:gd name="adj" fmla="val 52083"/>
                </a:avLst>
              </a:prstGeom>
              <a:gradFill rotWithShape="0">
                <a:gsLst>
                  <a:gs pos="0">
                    <a:srgbClr val="475E00"/>
                  </a:gs>
                  <a:gs pos="50000">
                    <a:srgbClr val="99CC00"/>
                  </a:gs>
                  <a:gs pos="100000">
                    <a:srgbClr val="475E00"/>
                  </a:gs>
                </a:gsLst>
                <a:lin ang="540000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75793" name="椭圆 713745"/>
              <p:cNvSpPr/>
              <p:nvPr/>
            </p:nvSpPr>
            <p:spPr>
              <a:xfrm>
                <a:off x="3288" y="2112"/>
                <a:ext cx="384" cy="1200"/>
              </a:xfrm>
              <a:prstGeom prst="ellipse">
                <a:avLst/>
              </a:prstGeom>
              <a:solidFill>
                <a:srgbClr val="C0C0C0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75794" name="圆柱形 713746"/>
              <p:cNvSpPr/>
              <p:nvPr/>
            </p:nvSpPr>
            <p:spPr>
              <a:xfrm rot="5401630">
                <a:off x="3672" y="2544"/>
                <a:ext cx="96" cy="480"/>
              </a:xfrm>
              <a:prstGeom prst="can">
                <a:avLst>
                  <a:gd name="adj" fmla="val 52083"/>
                </a:avLst>
              </a:prstGeom>
              <a:gradFill rotWithShape="0">
                <a:gsLst>
                  <a:gs pos="0">
                    <a:srgbClr val="475E00"/>
                  </a:gs>
                  <a:gs pos="50000">
                    <a:srgbClr val="99CC00"/>
                  </a:gs>
                  <a:gs pos="100000">
                    <a:srgbClr val="475E00"/>
                  </a:gs>
                </a:gsLst>
                <a:lin ang="540000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75795" name="椭圆 713747"/>
              <p:cNvSpPr/>
              <p:nvPr/>
            </p:nvSpPr>
            <p:spPr>
              <a:xfrm>
                <a:off x="3864" y="2112"/>
                <a:ext cx="384" cy="1200"/>
              </a:xfrm>
              <a:prstGeom prst="ellipse">
                <a:avLst/>
              </a:prstGeom>
              <a:solidFill>
                <a:srgbClr val="C0C0C0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75796" name="等腰三角形 713748"/>
              <p:cNvSpPr/>
              <p:nvPr/>
            </p:nvSpPr>
            <p:spPr>
              <a:xfrm rot="8735512">
                <a:off x="3864" y="2304"/>
                <a:ext cx="118" cy="415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noFill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75797" name="直接连接符 713749"/>
              <p:cNvSpPr/>
              <p:nvPr/>
            </p:nvSpPr>
            <p:spPr>
              <a:xfrm flipH="1" flipV="1">
                <a:off x="3912" y="2352"/>
                <a:ext cx="144" cy="3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798" name="直接连接符 713750"/>
              <p:cNvSpPr/>
              <p:nvPr/>
            </p:nvSpPr>
            <p:spPr>
              <a:xfrm flipH="1" flipV="1">
                <a:off x="3864" y="2496"/>
                <a:ext cx="192" cy="19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799" name="立方体 713751"/>
              <p:cNvSpPr/>
              <p:nvPr/>
            </p:nvSpPr>
            <p:spPr>
              <a:xfrm>
                <a:off x="1656" y="1584"/>
                <a:ext cx="3648" cy="2304"/>
              </a:xfrm>
              <a:prstGeom prst="cube">
                <a:avLst>
                  <a:gd name="adj" fmla="val 25000"/>
                </a:avLst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75800" name="直接连接符 713752"/>
              <p:cNvSpPr/>
              <p:nvPr/>
            </p:nvSpPr>
            <p:spPr>
              <a:xfrm>
                <a:off x="2232" y="1584"/>
                <a:ext cx="0" cy="172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01" name="直接连接符 713753"/>
              <p:cNvSpPr/>
              <p:nvPr/>
            </p:nvSpPr>
            <p:spPr>
              <a:xfrm>
                <a:off x="2256" y="3312"/>
                <a:ext cx="3072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02" name="直接连接符 713754"/>
              <p:cNvSpPr/>
              <p:nvPr/>
            </p:nvSpPr>
            <p:spPr>
              <a:xfrm flipH="1">
                <a:off x="1656" y="3312"/>
                <a:ext cx="576" cy="57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036" name="圆角矩形 713755"/>
              <p:cNvSpPr>
                <a:spLocks noChangeArrowheads="1"/>
              </p:cNvSpPr>
              <p:nvPr/>
            </p:nvSpPr>
            <p:spPr bwMode="auto">
              <a:xfrm>
                <a:off x="1776" y="2304"/>
                <a:ext cx="553" cy="336"/>
              </a:xfrm>
              <a:prstGeom prst="roundRect">
                <a:avLst>
                  <a:gd name="adj" fmla="val 26667"/>
                </a:avLst>
              </a:prstGeom>
              <a:gradFill rotWithShape="0">
                <a:gsLst>
                  <a:gs pos="0">
                    <a:srgbClr val="B2B2B2"/>
                  </a:gs>
                  <a:gs pos="50000">
                    <a:schemeClr val="bg1"/>
                  </a:gs>
                  <a:gs pos="100000">
                    <a:srgbClr val="B2B2B2"/>
                  </a:gs>
                </a:gsLst>
                <a:lin ang="5400000" scaled="1"/>
              </a:gradFill>
              <a:ln w="19050">
                <a:solidFill>
                  <a:srgbClr val="5F5F5F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endParaRPr>
              </a:p>
            </p:txBody>
          </p:sp>
          <p:sp>
            <p:nvSpPr>
              <p:cNvPr id="75804" name="等腰三角形 713756"/>
              <p:cNvSpPr/>
              <p:nvPr/>
            </p:nvSpPr>
            <p:spPr>
              <a:xfrm rot="10734736">
                <a:off x="3431" y="2064"/>
                <a:ext cx="96" cy="623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noFill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75805" name="直接连接符 713757"/>
              <p:cNvSpPr/>
              <p:nvPr/>
            </p:nvSpPr>
            <p:spPr>
              <a:xfrm flipV="1">
                <a:off x="3480" y="2112"/>
                <a:ext cx="48" cy="57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06" name="直接连接符 713758"/>
              <p:cNvSpPr/>
              <p:nvPr/>
            </p:nvSpPr>
            <p:spPr>
              <a:xfrm flipH="1" flipV="1">
                <a:off x="3432" y="2112"/>
                <a:ext cx="48" cy="57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07" name="圆柱形 713759"/>
              <p:cNvSpPr/>
              <p:nvPr/>
            </p:nvSpPr>
            <p:spPr>
              <a:xfrm rot="5401630">
                <a:off x="4326" y="2431"/>
                <a:ext cx="97" cy="672"/>
              </a:xfrm>
              <a:prstGeom prst="can">
                <a:avLst>
                  <a:gd name="adj" fmla="val 0"/>
                </a:avLst>
              </a:prstGeom>
              <a:gradFill rotWithShape="0">
                <a:gsLst>
                  <a:gs pos="0">
                    <a:srgbClr val="475E00"/>
                  </a:gs>
                  <a:gs pos="50000">
                    <a:srgbClr val="99CC00"/>
                  </a:gs>
                  <a:gs pos="100000">
                    <a:srgbClr val="475E00"/>
                  </a:gs>
                </a:gsLst>
                <a:lin ang="540000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75808" name="平行四边形 713760"/>
              <p:cNvSpPr/>
              <p:nvPr/>
            </p:nvSpPr>
            <p:spPr>
              <a:xfrm rot="8170170">
                <a:off x="4524" y="2203"/>
                <a:ext cx="972" cy="457"/>
              </a:xfrm>
              <a:prstGeom prst="parallelogram">
                <a:avLst>
                  <a:gd name="adj" fmla="val 96017"/>
                </a:avLst>
              </a:prstGeom>
              <a:solidFill>
                <a:srgbClr val="CC00FF">
                  <a:alpha val="50195"/>
                </a:srgbClr>
              </a:solidFill>
              <a:ln w="19050" cap="flat" cmpd="sng">
                <a:solidFill>
                  <a:srgbClr val="CC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43042" name="圆柱形 713761"/>
              <p:cNvSpPr>
                <a:spLocks noChangeArrowheads="1"/>
              </p:cNvSpPr>
              <p:nvPr/>
            </p:nvSpPr>
            <p:spPr bwMode="auto">
              <a:xfrm>
                <a:off x="3239" y="1488"/>
                <a:ext cx="193" cy="336"/>
              </a:xfrm>
              <a:prstGeom prst="can">
                <a:avLst>
                  <a:gd name="adj" fmla="val 43750"/>
                </a:avLst>
              </a:prstGeom>
              <a:gradFill rotWithShape="0">
                <a:gsLst>
                  <a:gs pos="0">
                    <a:srgbClr val="A9A9A9"/>
                  </a:gs>
                  <a:gs pos="50000">
                    <a:schemeClr val="bg1"/>
                  </a:gs>
                  <a:gs pos="100000">
                    <a:srgbClr val="A9A9A9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endParaRPr>
              </a:p>
            </p:txBody>
          </p:sp>
          <p:sp>
            <p:nvSpPr>
              <p:cNvPr id="43043" name="圆柱形 713762"/>
              <p:cNvSpPr>
                <a:spLocks noChangeArrowheads="1"/>
              </p:cNvSpPr>
              <p:nvPr/>
            </p:nvSpPr>
            <p:spPr bwMode="auto">
              <a:xfrm>
                <a:off x="4296" y="1488"/>
                <a:ext cx="192" cy="336"/>
              </a:xfrm>
              <a:prstGeom prst="can">
                <a:avLst>
                  <a:gd name="adj" fmla="val 43750"/>
                </a:avLst>
              </a:prstGeom>
              <a:gradFill rotWithShape="0">
                <a:gsLst>
                  <a:gs pos="0">
                    <a:srgbClr val="A9A9A9"/>
                  </a:gs>
                  <a:gs pos="50000">
                    <a:schemeClr val="bg1"/>
                  </a:gs>
                  <a:gs pos="100000">
                    <a:srgbClr val="A9A9A9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endParaRPr>
              </a:p>
            </p:txBody>
          </p:sp>
          <p:sp>
            <p:nvSpPr>
              <p:cNvPr id="75811" name="直接连接符 713763"/>
              <p:cNvSpPr/>
              <p:nvPr/>
            </p:nvSpPr>
            <p:spPr>
              <a:xfrm>
                <a:off x="3480" y="3312"/>
                <a:ext cx="0" cy="384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12" name="直接连接符 713764"/>
              <p:cNvSpPr/>
              <p:nvPr/>
            </p:nvSpPr>
            <p:spPr>
              <a:xfrm>
                <a:off x="4056" y="3312"/>
                <a:ext cx="0" cy="384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13" name="直接连接符 713765"/>
              <p:cNvSpPr/>
              <p:nvPr/>
            </p:nvSpPr>
            <p:spPr>
              <a:xfrm>
                <a:off x="3480" y="3600"/>
                <a:ext cx="576" cy="0"/>
              </a:xfrm>
              <a:prstGeom prst="line">
                <a:avLst/>
              </a:prstGeom>
              <a:ln w="12700" cap="flat" cmpd="sng">
                <a:solidFill>
                  <a:srgbClr val="FF0066"/>
                </a:solidFill>
                <a:prstDash val="dash"/>
                <a:round/>
                <a:headEnd type="triangle" w="sm" len="lg"/>
                <a:tailEnd type="triangle" w="sm" len="lg"/>
              </a:ln>
            </p:spPr>
          </p:sp>
          <p:sp>
            <p:nvSpPr>
              <p:cNvPr id="75814" name="直接连接符 713766"/>
              <p:cNvSpPr/>
              <p:nvPr/>
            </p:nvSpPr>
            <p:spPr>
              <a:xfrm>
                <a:off x="2328" y="2448"/>
                <a:ext cx="216" cy="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15" name="直接连接符 713767"/>
              <p:cNvSpPr/>
              <p:nvPr/>
            </p:nvSpPr>
            <p:spPr>
              <a:xfrm>
                <a:off x="2808" y="2448"/>
                <a:ext cx="480" cy="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16" name="直接连接符 713768"/>
              <p:cNvSpPr/>
              <p:nvPr/>
            </p:nvSpPr>
            <p:spPr>
              <a:xfrm>
                <a:off x="3480" y="2448"/>
                <a:ext cx="1488" cy="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17" name="直接连接符 713769"/>
              <p:cNvSpPr/>
              <p:nvPr/>
            </p:nvSpPr>
            <p:spPr>
              <a:xfrm>
                <a:off x="2328" y="2496"/>
                <a:ext cx="216" cy="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18" name="直接连接符 713770"/>
              <p:cNvSpPr/>
              <p:nvPr/>
            </p:nvSpPr>
            <p:spPr>
              <a:xfrm>
                <a:off x="2808" y="2496"/>
                <a:ext cx="480" cy="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19" name="直接连接符 713771"/>
              <p:cNvSpPr/>
              <p:nvPr/>
            </p:nvSpPr>
            <p:spPr>
              <a:xfrm>
                <a:off x="3480" y="2496"/>
                <a:ext cx="1440" cy="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20" name="直接连接符 713772"/>
              <p:cNvSpPr/>
              <p:nvPr/>
            </p:nvSpPr>
            <p:spPr>
              <a:xfrm>
                <a:off x="2328" y="2400"/>
                <a:ext cx="216" cy="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21" name="直接连接符 713773"/>
              <p:cNvSpPr/>
              <p:nvPr/>
            </p:nvSpPr>
            <p:spPr>
              <a:xfrm>
                <a:off x="2808" y="2400"/>
                <a:ext cx="480" cy="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22" name="直接连接符 713774"/>
              <p:cNvSpPr/>
              <p:nvPr/>
            </p:nvSpPr>
            <p:spPr>
              <a:xfrm>
                <a:off x="3480" y="2400"/>
                <a:ext cx="1584" cy="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graphicFrame>
            <p:nvGraphicFramePr>
              <p:cNvPr id="75823" name="对象 713775"/>
              <p:cNvGraphicFramePr/>
              <p:nvPr/>
            </p:nvGraphicFramePr>
            <p:xfrm>
              <a:off x="3647" y="3563"/>
              <a:ext cx="200" cy="2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670" r:id="rId8" imgW="152400" imgH="165100" progId="Equation.3">
                      <p:embed/>
                    </p:oleObj>
                  </mc:Choice>
                  <mc:Fallback>
                    <p:oleObj r:id="rId8" imgW="152400" imgH="165100" progId="Equation.3">
                      <p:embed/>
                      <p:pic>
                        <p:nvPicPr>
                          <p:cNvPr id="0" name="图片 3191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647" y="3563"/>
                            <a:ext cx="200" cy="21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5824" name="对象 713776"/>
              <p:cNvGraphicFramePr/>
              <p:nvPr/>
            </p:nvGraphicFramePr>
            <p:xfrm>
              <a:off x="1930" y="2352"/>
              <a:ext cx="301" cy="2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671" r:id="rId10" imgW="355600" imgH="292100" progId="Equation.3">
                      <p:embed/>
                    </p:oleObj>
                  </mc:Choice>
                  <mc:Fallback>
                    <p:oleObj r:id="rId10" imgW="355600" imgH="292100" progId="Equation.3">
                      <p:embed/>
                      <p:pic>
                        <p:nvPicPr>
                          <p:cNvPr id="0" name="图片 3194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1930" y="2352"/>
                            <a:ext cx="301" cy="24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13778" name="文本框 713777"/>
              <p:cNvSpPr txBox="1"/>
              <p:nvPr/>
            </p:nvSpPr>
            <p:spPr>
              <a:xfrm>
                <a:off x="1632" y="2640"/>
                <a:ext cx="1440" cy="36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zh-CN" altLang="en-US" sz="2400" kern="1200" cap="none" spc="0" normalizeH="0" baseline="0" noProof="1">
                    <a:solidFill>
                      <a:srgbClr val="0100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金属蒸汽</a:t>
                </a:r>
                <a:endParaRPr kumimoji="0" lang="zh-CN" altLang="en-US" sz="2800" b="0" kern="1200" cap="none" spc="0" normalizeH="0" baseline="0" noProof="1">
                  <a:solidFill>
                    <a:srgbClr val="01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3779" name="文本框 713778"/>
              <p:cNvSpPr txBox="1"/>
              <p:nvPr/>
            </p:nvSpPr>
            <p:spPr>
              <a:xfrm>
                <a:off x="4808" y="2784"/>
                <a:ext cx="434" cy="9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zh-CN" altLang="en-US" sz="2400" kern="1200" cap="none" spc="0" normalizeH="0" baseline="0" noProof="1">
                    <a:solidFill>
                      <a:schemeClr val="tx1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接收屏</a:t>
                </a:r>
                <a:endParaRPr kumimoji="0" lang="zh-CN" altLang="en-US" sz="2400" b="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3780" name="文本框 713779"/>
              <p:cNvSpPr txBox="1"/>
              <p:nvPr/>
            </p:nvSpPr>
            <p:spPr>
              <a:xfrm>
                <a:off x="2544" y="2688"/>
                <a:ext cx="480" cy="6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zh-CN" altLang="en-US" sz="2400" kern="1200" cap="none" spc="0" normalizeH="0" baseline="0" noProof="1">
                    <a:solidFill>
                      <a:schemeClr val="bg1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狭缝</a:t>
                </a:r>
                <a:endParaRPr kumimoji="0" lang="zh-CN" altLang="en-US" sz="2800" b="0" kern="1200" cap="none" spc="0" normalizeH="0" baseline="0" noProof="1">
                  <a:solidFill>
                    <a:schemeClr val="bg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828" name="任意多边形 713780"/>
              <p:cNvSpPr/>
              <p:nvPr/>
            </p:nvSpPr>
            <p:spPr>
              <a:xfrm flipH="1">
                <a:off x="4343" y="2592"/>
                <a:ext cx="247" cy="336"/>
              </a:xfrm>
              <a:custGeom>
                <a:avLst/>
                <a:gdLst/>
                <a:ahLst/>
                <a:cxnLst>
                  <a:cxn ang="0">
                    <a:pos x="3" y="58"/>
                  </a:cxn>
                  <a:cxn ang="0">
                    <a:pos x="108" y="0"/>
                  </a:cxn>
                  <a:cxn ang="0">
                    <a:pos x="247" y="168"/>
                  </a:cxn>
                  <a:cxn ang="0">
                    <a:pos x="108" y="336"/>
                  </a:cxn>
                  <a:cxn ang="0">
                    <a:pos x="0" y="274"/>
                  </a:cxn>
                  <a:cxn ang="0">
                    <a:pos x="3" y="58"/>
                  </a:cxn>
                  <a:cxn ang="0">
                    <a:pos x="108" y="0"/>
                  </a:cxn>
                  <a:cxn ang="0">
                    <a:pos x="247" y="168"/>
                  </a:cxn>
                  <a:cxn ang="0">
                    <a:pos x="108" y="336"/>
                  </a:cxn>
                  <a:cxn ang="0">
                    <a:pos x="0" y="274"/>
                  </a:cxn>
                  <a:cxn ang="0">
                    <a:pos x="108" y="168"/>
                  </a:cxn>
                </a:cxnLst>
                <a:rect l="0" t="0" r="0" b="0"/>
                <a:pathLst>
                  <a:path w="38399" h="43200" fill="none">
                    <a:moveTo>
                      <a:pt x="504" y="7421"/>
                    </a:moveTo>
                    <a:cubicBezTo>
                      <a:pt x="4464" y="2874"/>
                      <a:pt x="10296" y="0"/>
                      <a:pt x="16799" y="0"/>
                    </a:cubicBezTo>
                    <a:cubicBezTo>
                      <a:pt x="28728" y="0"/>
                      <a:pt x="38399" y="9671"/>
                      <a:pt x="38399" y="21600"/>
                    </a:cubicBezTo>
                    <a:cubicBezTo>
                      <a:pt x="38399" y="33529"/>
                      <a:pt x="28728" y="43200"/>
                      <a:pt x="16799" y="43200"/>
                    </a:cubicBezTo>
                    <a:cubicBezTo>
                      <a:pt x="10014" y="43200"/>
                      <a:pt x="3959" y="40071"/>
                      <a:pt x="-1" y="35178"/>
                    </a:cubicBezTo>
                  </a:path>
                  <a:path w="38399" h="43200" stroke="0">
                    <a:moveTo>
                      <a:pt x="504" y="7421"/>
                    </a:moveTo>
                    <a:cubicBezTo>
                      <a:pt x="4464" y="2874"/>
                      <a:pt x="10296" y="0"/>
                      <a:pt x="16799" y="0"/>
                    </a:cubicBezTo>
                    <a:cubicBezTo>
                      <a:pt x="28728" y="0"/>
                      <a:pt x="38399" y="9671"/>
                      <a:pt x="38399" y="21600"/>
                    </a:cubicBezTo>
                    <a:cubicBezTo>
                      <a:pt x="38399" y="33529"/>
                      <a:pt x="28728" y="43200"/>
                      <a:pt x="16799" y="43200"/>
                    </a:cubicBezTo>
                    <a:cubicBezTo>
                      <a:pt x="10014" y="43200"/>
                      <a:pt x="3959" y="40071"/>
                      <a:pt x="-1" y="35178"/>
                    </a:cubicBezTo>
                    <a:lnTo>
                      <a:pt x="16799" y="21600"/>
                    </a:lnTo>
                    <a:lnTo>
                      <a:pt x="504" y="7421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 type="triangle" w="sm" len="lg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75829" name="对象 713781"/>
              <p:cNvGraphicFramePr/>
              <p:nvPr/>
            </p:nvGraphicFramePr>
            <p:xfrm>
              <a:off x="4344" y="2976"/>
              <a:ext cx="259" cy="2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672" r:id="rId12" imgW="215900" imgH="190500" progId="Equation.3">
                      <p:embed/>
                    </p:oleObj>
                  </mc:Choice>
                  <mc:Fallback>
                    <p:oleObj r:id="rId12" imgW="215900" imgH="190500" progId="Equation.3">
                      <p:embed/>
                      <p:pic>
                        <p:nvPicPr>
                          <p:cNvPr id="0" name="图片 3195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4344" y="2976"/>
                            <a:ext cx="259" cy="23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5830" name="直接连接符 713782"/>
              <p:cNvSpPr/>
              <p:nvPr/>
            </p:nvSpPr>
            <p:spPr>
              <a:xfrm flipH="1" flipV="1">
                <a:off x="3288" y="2496"/>
                <a:ext cx="192" cy="192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graphicFrame>
            <p:nvGraphicFramePr>
              <p:cNvPr id="75831" name="对象 713783"/>
              <p:cNvGraphicFramePr/>
              <p:nvPr/>
            </p:nvGraphicFramePr>
            <p:xfrm>
              <a:off x="3330" y="2388"/>
              <a:ext cx="134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673" r:id="rId14" imgW="167005" imgH="189865" progId="Equation.3">
                      <p:embed/>
                    </p:oleObj>
                  </mc:Choice>
                  <mc:Fallback>
                    <p:oleObj r:id="rId14" imgW="167005" imgH="189865" progId="Equation.3">
                      <p:embed/>
                      <p:pic>
                        <p:nvPicPr>
                          <p:cNvPr id="0" name="图片 3192"/>
                          <p:cNvPicPr/>
                          <p:nvPr/>
                        </p:nvPicPr>
                        <p:blipFill>
                          <a:blip r:embed="rId15">
                            <a:clrChange>
                              <a:clrFrom>
                                <a:srgbClr val="000000"/>
                              </a:clrFrom>
                              <a:clrTo>
                                <a:srgbClr val="FF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330" y="2388"/>
                            <a:ext cx="134" cy="15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75832" name="组合 713784"/>
              <p:cNvGrpSpPr/>
              <p:nvPr/>
            </p:nvGrpSpPr>
            <p:grpSpPr>
              <a:xfrm>
                <a:off x="3336" y="1056"/>
                <a:ext cx="1296" cy="480"/>
                <a:chOff x="3336" y="1056"/>
                <a:chExt cx="1296" cy="480"/>
              </a:xfrm>
            </p:grpSpPr>
            <p:sp>
              <p:nvSpPr>
                <p:cNvPr id="75833" name="任意多边形 713785"/>
                <p:cNvSpPr/>
                <p:nvPr/>
              </p:nvSpPr>
              <p:spPr>
                <a:xfrm>
                  <a:off x="3336" y="1056"/>
                  <a:ext cx="1152" cy="480"/>
                </a:xfrm>
                <a:custGeom>
                  <a:avLst/>
                  <a:gdLst/>
                  <a:ahLst/>
                  <a:cxnLst>
                    <a:cxn ang="0">
                      <a:pos x="0" y="480"/>
                    </a:cxn>
                    <a:cxn ang="0">
                      <a:pos x="96" y="336"/>
                    </a:cxn>
                    <a:cxn ang="0">
                      <a:pos x="96" y="0"/>
                    </a:cxn>
                    <a:cxn ang="0">
                      <a:pos x="1152" y="0"/>
                    </a:cxn>
                    <a:cxn ang="0">
                      <a:pos x="1152" y="336"/>
                    </a:cxn>
                    <a:cxn ang="0">
                      <a:pos x="1104" y="336"/>
                    </a:cxn>
                    <a:cxn ang="0">
                      <a:pos x="1056" y="480"/>
                    </a:cxn>
                    <a:cxn ang="0">
                      <a:pos x="1008" y="336"/>
                    </a:cxn>
                    <a:cxn ang="0">
                      <a:pos x="240" y="336"/>
                    </a:cxn>
                    <a:cxn ang="0">
                      <a:pos x="0" y="480"/>
                    </a:cxn>
                  </a:cxnLst>
                  <a:rect l="0" t="0" r="0" b="0"/>
                  <a:pathLst>
                    <a:path w="1152" h="480">
                      <a:moveTo>
                        <a:pt x="0" y="480"/>
                      </a:moveTo>
                      <a:lnTo>
                        <a:pt x="96" y="336"/>
                      </a:lnTo>
                      <a:lnTo>
                        <a:pt x="96" y="0"/>
                      </a:lnTo>
                      <a:lnTo>
                        <a:pt x="1152" y="0"/>
                      </a:lnTo>
                      <a:lnTo>
                        <a:pt x="1152" y="336"/>
                      </a:lnTo>
                      <a:lnTo>
                        <a:pt x="1104" y="336"/>
                      </a:lnTo>
                      <a:lnTo>
                        <a:pt x="1056" y="480"/>
                      </a:lnTo>
                      <a:lnTo>
                        <a:pt x="1008" y="336"/>
                      </a:lnTo>
                      <a:lnTo>
                        <a:pt x="240" y="336"/>
                      </a:lnTo>
                      <a:lnTo>
                        <a:pt x="0" y="48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n w="12700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3787" name="文本框 713786"/>
                <p:cNvSpPr txBox="1"/>
                <p:nvPr/>
              </p:nvSpPr>
              <p:spPr>
                <a:xfrm>
                  <a:off x="3432" y="1056"/>
                  <a:ext cx="1197" cy="36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marR="0" defTabSz="914400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400" kern="1200" cap="none" spc="0" normalizeH="0" baseline="0" noProof="1">
                      <a:solidFill>
                        <a:srgbClr val="000000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接抽气泵</a:t>
                  </a:r>
                </a:p>
              </p:txBody>
            </p:sp>
          </p:grpSp>
        </p:grpSp>
      </p:grpSp>
      <p:sp>
        <p:nvSpPr>
          <p:cNvPr id="713788" name="文本框 713787"/>
          <p:cNvSpPr txBox="1"/>
          <p:nvPr/>
        </p:nvSpPr>
        <p:spPr>
          <a:xfrm>
            <a:off x="323850" y="5002213"/>
            <a:ext cx="83073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(3)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由于转盘豁口有一定的宽度，选择不同的速率区间</a:t>
            </a:r>
          </a:p>
        </p:txBody>
      </p:sp>
      <p:sp>
        <p:nvSpPr>
          <p:cNvPr id="713789" name="文本框 713788"/>
          <p:cNvSpPr txBox="1"/>
          <p:nvPr/>
        </p:nvSpPr>
        <p:spPr>
          <a:xfrm>
            <a:off x="323850" y="5643563"/>
            <a:ext cx="82804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(4)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从接收屏上沉积的分子多少（金属层厚度）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         测出不同速率间隔内的</a:t>
            </a:r>
          </a:p>
        </p:txBody>
      </p:sp>
      <p:graphicFrame>
        <p:nvGraphicFramePr>
          <p:cNvPr id="713790" name="对象 713789"/>
          <p:cNvGraphicFramePr/>
          <p:nvPr/>
        </p:nvGraphicFramePr>
        <p:xfrm>
          <a:off x="4259263" y="6102350"/>
          <a:ext cx="936625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4" r:id="rId16" imgW="469265" imgH="177800" progId="Equation.3">
                  <p:embed/>
                </p:oleObj>
              </mc:Choice>
              <mc:Fallback>
                <p:oleObj r:id="rId16" imgW="469265" imgH="177800" progId="Equation.3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259263" y="6102350"/>
                        <a:ext cx="936625" cy="354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1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1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1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713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713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713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3731" grpId="0"/>
      <p:bldP spid="713732" grpId="0"/>
      <p:bldP spid="713733" grpId="0"/>
      <p:bldP spid="713736" grpId="0"/>
      <p:bldP spid="713788" grpId="0"/>
      <p:bldP spid="71378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27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715778" name="文本框 715777"/>
          <p:cNvSpPr txBox="1"/>
          <p:nvPr/>
        </p:nvSpPr>
        <p:spPr>
          <a:xfrm>
            <a:off x="133350" y="115888"/>
            <a:ext cx="731520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二、 三种统计速率</a:t>
            </a:r>
          </a:p>
        </p:txBody>
      </p:sp>
      <p:sp>
        <p:nvSpPr>
          <p:cNvPr id="715779" name="文本框 715778"/>
          <p:cNvSpPr txBox="1"/>
          <p:nvPr/>
        </p:nvSpPr>
        <p:spPr>
          <a:xfrm>
            <a:off x="179388" y="2022475"/>
            <a:ext cx="8782050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 1.</a:t>
            </a:r>
            <a:r>
              <a:rPr kumimoji="0" lang="zh-CN" altLang="en-US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最概然（可几）速率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（</a:t>
            </a:r>
            <a:r>
              <a:rPr kumimoji="0" lang="en-US" altLang="zh-CN" b="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most probable speed</a:t>
            </a:r>
            <a:r>
              <a:rPr kumimoji="0" lang="zh-CN" altLang="en-US" b="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）</a:t>
            </a:r>
            <a:endParaRPr kumimoji="0" lang="zh-CN" altLang="en-US" b="0" kern="1200" cap="none" spc="0" normalizeH="0" baseline="-25000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grpSp>
        <p:nvGrpSpPr>
          <p:cNvPr id="2" name="组合 715816"/>
          <p:cNvGrpSpPr/>
          <p:nvPr/>
        </p:nvGrpSpPr>
        <p:grpSpPr>
          <a:xfrm>
            <a:off x="1098550" y="4179888"/>
            <a:ext cx="9494838" cy="1046162"/>
            <a:chOff x="692" y="2633"/>
            <a:chExt cx="5981" cy="659"/>
          </a:xfrm>
        </p:grpSpPr>
        <p:sp>
          <p:nvSpPr>
            <p:cNvPr id="715780" name="矩形 715779"/>
            <p:cNvSpPr/>
            <p:nvPr/>
          </p:nvSpPr>
          <p:spPr>
            <a:xfrm>
              <a:off x="2653" y="2886"/>
              <a:ext cx="402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Bookman Old Style" panose="02050604050505020204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2400" b="1" i="0" u="none" strike="noStrike" kern="1200" cap="none" spc="0" normalizeH="0" baseline="-25000" noProof="1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 </a:t>
              </a: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称为最概然速率。</a:t>
              </a:r>
            </a:p>
          </p:txBody>
        </p:sp>
        <p:graphicFrame>
          <p:nvGraphicFramePr>
            <p:cNvPr id="76806" name="对象 715780"/>
            <p:cNvGraphicFramePr/>
            <p:nvPr/>
          </p:nvGraphicFramePr>
          <p:xfrm>
            <a:off x="692" y="2633"/>
            <a:ext cx="1948" cy="6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44" r:id="rId3" imgW="1308100" imgH="444500" progId="Equation.3">
                    <p:embed/>
                  </p:oleObj>
                </mc:Choice>
                <mc:Fallback>
                  <p:oleObj r:id="rId3" imgW="1308100" imgH="444500" progId="Equation.3">
                    <p:embed/>
                    <p:pic>
                      <p:nvPicPr>
                        <p:cNvPr id="0" name="图片 319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92" y="2633"/>
                          <a:ext cx="1948" cy="659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00CC99"/>
                            </a:gs>
                            <a:gs pos="50000">
                              <a:schemeClr val="bg1"/>
                            </a:gs>
                            <a:gs pos="100000">
                              <a:srgbClr val="00CC99"/>
                            </a:gs>
                          </a:gsLst>
                          <a:lin ang="5400000" scaled="1"/>
                          <a:tileRect/>
                        </a:gradFill>
                        <a:ln w="9525" cap="flat" cmpd="sng">
                          <a:solidFill>
                            <a:schemeClr val="tx1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715781"/>
          <p:cNvGrpSpPr/>
          <p:nvPr/>
        </p:nvGrpSpPr>
        <p:grpSpPr>
          <a:xfrm>
            <a:off x="755650" y="3141663"/>
            <a:ext cx="4419600" cy="974725"/>
            <a:chOff x="2664" y="1680"/>
            <a:chExt cx="2784" cy="614"/>
          </a:xfrm>
        </p:grpSpPr>
        <p:graphicFrame>
          <p:nvGraphicFramePr>
            <p:cNvPr id="76808" name="对象 715782"/>
            <p:cNvGraphicFramePr/>
            <p:nvPr/>
          </p:nvGraphicFramePr>
          <p:xfrm>
            <a:off x="3052" y="1680"/>
            <a:ext cx="1676" cy="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45" r:id="rId5" imgW="1103630" imgH="405765" progId="Equation.3">
                    <p:embed/>
                  </p:oleObj>
                </mc:Choice>
                <mc:Fallback>
                  <p:oleObj r:id="rId5" imgW="1103630" imgH="405765" progId="Equation.3">
                    <p:embed/>
                    <p:pic>
                      <p:nvPicPr>
                        <p:cNvPr id="0" name="图片 319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052" y="1680"/>
                          <a:ext cx="1676" cy="6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809" name="文本框 715783"/>
            <p:cNvSpPr txBox="1"/>
            <p:nvPr/>
          </p:nvSpPr>
          <p:spPr>
            <a:xfrm>
              <a:off x="2664" y="1788"/>
              <a:ext cx="5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由</a:t>
              </a:r>
            </a:p>
          </p:txBody>
        </p:sp>
        <p:sp>
          <p:nvSpPr>
            <p:cNvPr id="76810" name="文本框 715784"/>
            <p:cNvSpPr txBox="1"/>
            <p:nvPr/>
          </p:nvSpPr>
          <p:spPr>
            <a:xfrm>
              <a:off x="4776" y="1776"/>
              <a:ext cx="6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有：</a:t>
              </a:r>
            </a:p>
          </p:txBody>
        </p:sp>
      </p:grpSp>
      <p:grpSp>
        <p:nvGrpSpPr>
          <p:cNvPr id="4" name="组合 715788"/>
          <p:cNvGrpSpPr/>
          <p:nvPr/>
        </p:nvGrpSpPr>
        <p:grpSpPr>
          <a:xfrm>
            <a:off x="660400" y="619125"/>
            <a:ext cx="4848225" cy="1295400"/>
            <a:chOff x="318" y="2976"/>
            <a:chExt cx="4914" cy="1344"/>
          </a:xfrm>
        </p:grpSpPr>
        <p:sp>
          <p:nvSpPr>
            <p:cNvPr id="76812" name="矩形 715789"/>
            <p:cNvSpPr/>
            <p:nvPr/>
          </p:nvSpPr>
          <p:spPr>
            <a:xfrm>
              <a:off x="432" y="2976"/>
              <a:ext cx="4800" cy="1344"/>
            </a:xfrm>
            <a:prstGeom prst="rect">
              <a:avLst/>
            </a:prstGeom>
            <a:noFill/>
            <a:ln w="57150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graphicFrame>
          <p:nvGraphicFramePr>
            <p:cNvPr id="76813" name="对象 715790"/>
            <p:cNvGraphicFramePr/>
            <p:nvPr/>
          </p:nvGraphicFramePr>
          <p:xfrm>
            <a:off x="318" y="3072"/>
            <a:ext cx="4908" cy="1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46" r:id="rId7" imgW="2241550" imgH="546100" progId="Equation.DSMT4">
                    <p:embed/>
                  </p:oleObj>
                </mc:Choice>
                <mc:Fallback>
                  <p:oleObj r:id="rId7" imgW="2241550" imgH="546100" progId="Equation.DSMT4">
                    <p:embed/>
                    <p:pic>
                      <p:nvPicPr>
                        <p:cNvPr id="0" name="图片 3199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18" y="3072"/>
                          <a:ext cx="4908" cy="1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5792" name="文本框 715791"/>
            <p:cNvSpPr txBox="1"/>
            <p:nvPr/>
          </p:nvSpPr>
          <p:spPr>
            <a:xfrm>
              <a:off x="463" y="3039"/>
              <a:ext cx="185" cy="4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endParaRPr kumimoji="0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15793" name="横卷形 715792"/>
          <p:cNvSpPr>
            <a:spLocks noChangeArrowheads="1"/>
          </p:cNvSpPr>
          <p:nvPr/>
        </p:nvSpPr>
        <p:spPr bwMode="auto">
          <a:xfrm>
            <a:off x="468313" y="5373688"/>
            <a:ext cx="903288" cy="762000"/>
          </a:xfrm>
          <a:prstGeom prst="horizontalScroll">
            <a:avLst>
              <a:gd name="adj" fmla="val 16667"/>
            </a:avLst>
          </a:prstGeom>
          <a:gradFill rotWithShape="1">
            <a:gsLst>
              <a:gs pos="0">
                <a:srgbClr val="CCFFFF"/>
              </a:gs>
              <a:gs pos="50000">
                <a:schemeClr val="bg1"/>
              </a:gs>
              <a:gs pos="100000">
                <a:srgbClr val="CCFFFF"/>
              </a:gs>
            </a:gsLst>
            <a:lin ang="5400000" scaled="1"/>
          </a:gradFill>
          <a:ln w="9525">
            <a:solidFill>
              <a:schemeClr val="tx1"/>
            </a:solidFill>
            <a:round/>
          </a:ln>
          <a:effectLst>
            <a:outerShdw dist="107763" dir="13500000" algn="ctr" rotWithShape="0">
              <a:srgbClr val="006600"/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5794" name="矩形 715793"/>
          <p:cNvSpPr/>
          <p:nvPr/>
        </p:nvSpPr>
        <p:spPr>
          <a:xfrm>
            <a:off x="539750" y="5445125"/>
            <a:ext cx="11303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意义</a:t>
            </a:r>
          </a:p>
        </p:txBody>
      </p:sp>
      <p:grpSp>
        <p:nvGrpSpPr>
          <p:cNvPr id="5" name="组合 715794"/>
          <p:cNvGrpSpPr/>
          <p:nvPr/>
        </p:nvGrpSpPr>
        <p:grpSpPr>
          <a:xfrm>
            <a:off x="1768475" y="6308725"/>
            <a:ext cx="5548313" cy="544513"/>
            <a:chOff x="1338" y="3974"/>
            <a:chExt cx="3495" cy="343"/>
          </a:xfrm>
        </p:grpSpPr>
        <p:graphicFrame>
          <p:nvGraphicFramePr>
            <p:cNvPr id="76818" name="对象 715795"/>
            <p:cNvGraphicFramePr/>
            <p:nvPr/>
          </p:nvGraphicFramePr>
          <p:xfrm>
            <a:off x="2979" y="3974"/>
            <a:ext cx="254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47" r:id="rId9" imgW="177800" imgH="240665" progId="Equation.DSMT4">
                    <p:embed/>
                  </p:oleObj>
                </mc:Choice>
                <mc:Fallback>
                  <p:oleObj r:id="rId9" imgW="177800" imgH="240665" progId="Equation.DSMT4">
                    <p:embed/>
                    <p:pic>
                      <p:nvPicPr>
                        <p:cNvPr id="0" name="图片 3200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979" y="3974"/>
                          <a:ext cx="254" cy="3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5797" name="矩形 715796"/>
            <p:cNvSpPr/>
            <p:nvPr/>
          </p:nvSpPr>
          <p:spPr>
            <a:xfrm>
              <a:off x="1338" y="3984"/>
              <a:ext cx="349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即，气体分子处于   附近的概率最大。</a:t>
              </a:r>
            </a:p>
          </p:txBody>
        </p:sp>
      </p:grpSp>
      <p:grpSp>
        <p:nvGrpSpPr>
          <p:cNvPr id="6" name="组合 715817"/>
          <p:cNvGrpSpPr/>
          <p:nvPr/>
        </p:nvGrpSpPr>
        <p:grpSpPr>
          <a:xfrm>
            <a:off x="1695450" y="5462588"/>
            <a:ext cx="6985000" cy="846137"/>
            <a:chOff x="1068" y="3441"/>
            <a:chExt cx="4400" cy="533"/>
          </a:xfrm>
        </p:grpSpPr>
        <p:sp>
          <p:nvSpPr>
            <p:cNvPr id="715799" name="文本框 715798"/>
            <p:cNvSpPr txBox="1"/>
            <p:nvPr/>
          </p:nvSpPr>
          <p:spPr>
            <a:xfrm>
              <a:off x="1068" y="3456"/>
              <a:ext cx="4400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400" kern="1200" cap="none" spc="0" normalizeH="0" baseline="0" noProof="1"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 </a:t>
              </a:r>
              <a:r>
                <a:rPr kumimoji="0" lang="zh-CN" altLang="en-US" sz="2400" kern="1200" cap="none" spc="0" normalizeH="0" baseline="0" noProof="1"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处在  附近</a:t>
              </a:r>
              <a:r>
                <a:rPr kumimoji="0" lang="zh-CN" altLang="en-US" sz="2400" kern="1200" cap="none" spc="0" normalizeH="0" baseline="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zh-CN" altLang="en-US" sz="2400" u="sng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相同速率间隔</a:t>
              </a:r>
              <a:r>
                <a:rPr kumimoji="0" lang="en-US" altLang="zh-CN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0" lang="en-US" altLang="zh-CN" sz="2400" i="1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内</a:t>
              </a:r>
              <a:r>
                <a:rPr kumimoji="0" lang="zh-CN" altLang="en-US" sz="2400" kern="1200" cap="none" spc="0" normalizeH="0" baseline="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的</a:t>
              </a:r>
              <a:r>
                <a:rPr kumimoji="0" lang="zh-CN" altLang="en-US" sz="2400" kern="1200" cap="none" spc="0" normalizeH="0" baseline="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分子数占总分子数的百分比最大</a:t>
              </a:r>
              <a:r>
                <a:rPr kumimoji="0" lang="en-US" altLang="zh-CN" sz="2400" kern="1200" cap="none" spc="0" normalizeH="0" baseline="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  <p:graphicFrame>
          <p:nvGraphicFramePr>
            <p:cNvPr id="76822" name="对象 715799"/>
            <p:cNvGraphicFramePr/>
            <p:nvPr/>
          </p:nvGraphicFramePr>
          <p:xfrm>
            <a:off x="1907" y="3441"/>
            <a:ext cx="254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48" r:id="rId11" imgW="177800" imgH="240665" progId="Equation.DSMT4">
                    <p:embed/>
                  </p:oleObj>
                </mc:Choice>
                <mc:Fallback>
                  <p:oleObj r:id="rId11" imgW="177800" imgH="240665" progId="Equation.DSMT4">
                    <p:embed/>
                    <p:pic>
                      <p:nvPicPr>
                        <p:cNvPr id="0" name="图片 320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907" y="3441"/>
                          <a:ext cx="254" cy="3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6823" name="组合 715800"/>
          <p:cNvGrpSpPr/>
          <p:nvPr/>
        </p:nvGrpSpPr>
        <p:grpSpPr>
          <a:xfrm>
            <a:off x="5694363" y="115888"/>
            <a:ext cx="3414712" cy="2370137"/>
            <a:chOff x="0" y="0"/>
            <a:chExt cx="2400" cy="1584"/>
          </a:xfrm>
        </p:grpSpPr>
        <p:sp>
          <p:nvSpPr>
            <p:cNvPr id="76824" name="矩形 715801"/>
            <p:cNvSpPr/>
            <p:nvPr/>
          </p:nvSpPr>
          <p:spPr>
            <a:xfrm>
              <a:off x="0" y="0"/>
              <a:ext cx="2400" cy="158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76825" name="直接连接符 715802"/>
            <p:cNvSpPr/>
            <p:nvPr/>
          </p:nvSpPr>
          <p:spPr>
            <a:xfrm>
              <a:off x="477" y="1242"/>
              <a:ext cx="1827" cy="6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76826" name="对象 715803"/>
            <p:cNvGraphicFramePr/>
            <p:nvPr/>
          </p:nvGraphicFramePr>
          <p:xfrm>
            <a:off x="2016" y="1296"/>
            <a:ext cx="19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49" r:id="rId12" imgW="177800" imgH="189865" progId="Equation.3">
                    <p:embed/>
                  </p:oleObj>
                </mc:Choice>
                <mc:Fallback>
                  <p:oleObj r:id="rId12" imgW="177800" imgH="189865" progId="Equation.3">
                    <p:embed/>
                    <p:pic>
                      <p:nvPicPr>
                        <p:cNvPr id="0" name="图片 3196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016" y="1296"/>
                          <a:ext cx="195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27" name="对象 715804"/>
            <p:cNvGraphicFramePr/>
            <p:nvPr/>
          </p:nvGraphicFramePr>
          <p:xfrm>
            <a:off x="576" y="108"/>
            <a:ext cx="384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50" r:id="rId14" imgW="532765" imgH="304800" progId="Equation.3">
                    <p:embed/>
                  </p:oleObj>
                </mc:Choice>
                <mc:Fallback>
                  <p:oleObj r:id="rId14" imgW="532765" imgH="304800" progId="Equation.3">
                    <p:embed/>
                    <p:pic>
                      <p:nvPicPr>
                        <p:cNvPr id="0" name="图片 3207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576" y="108"/>
                          <a:ext cx="384" cy="2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828" name="任意多边形 715805"/>
            <p:cNvSpPr/>
            <p:nvPr/>
          </p:nvSpPr>
          <p:spPr>
            <a:xfrm>
              <a:off x="480" y="410"/>
              <a:ext cx="1707" cy="838"/>
            </a:xfrm>
            <a:custGeom>
              <a:avLst/>
              <a:gdLst/>
              <a:ahLst/>
              <a:cxnLst>
                <a:cxn ang="0">
                  <a:pos x="0" y="838"/>
                </a:cxn>
                <a:cxn ang="0">
                  <a:pos x="213" y="605"/>
                </a:cxn>
                <a:cxn ang="0">
                  <a:pos x="480" y="145"/>
                </a:cxn>
                <a:cxn ang="0">
                  <a:pos x="719" y="22"/>
                </a:cxn>
                <a:cxn ang="0">
                  <a:pos x="967" y="276"/>
                </a:cxn>
                <a:cxn ang="0">
                  <a:pos x="1179" y="468"/>
                </a:cxn>
                <a:cxn ang="0">
                  <a:pos x="1482" y="646"/>
                </a:cxn>
                <a:cxn ang="0">
                  <a:pos x="1707" y="742"/>
                </a:cxn>
              </a:cxnLst>
              <a:rect l="0" t="0" r="0" b="0"/>
              <a:pathLst>
                <a:path w="1707" h="838">
                  <a:moveTo>
                    <a:pt x="0" y="838"/>
                  </a:moveTo>
                  <a:cubicBezTo>
                    <a:pt x="35" y="799"/>
                    <a:pt x="133" y="720"/>
                    <a:pt x="213" y="605"/>
                  </a:cubicBezTo>
                  <a:cubicBezTo>
                    <a:pt x="293" y="490"/>
                    <a:pt x="396" y="242"/>
                    <a:pt x="480" y="145"/>
                  </a:cubicBezTo>
                  <a:cubicBezTo>
                    <a:pt x="564" y="48"/>
                    <a:pt x="638" y="0"/>
                    <a:pt x="719" y="22"/>
                  </a:cubicBezTo>
                  <a:cubicBezTo>
                    <a:pt x="800" y="44"/>
                    <a:pt x="890" y="202"/>
                    <a:pt x="967" y="276"/>
                  </a:cubicBezTo>
                  <a:cubicBezTo>
                    <a:pt x="1044" y="350"/>
                    <a:pt x="1093" y="406"/>
                    <a:pt x="1179" y="468"/>
                  </a:cubicBezTo>
                  <a:cubicBezTo>
                    <a:pt x="1265" y="530"/>
                    <a:pt x="1394" y="600"/>
                    <a:pt x="1482" y="646"/>
                  </a:cubicBezTo>
                  <a:cubicBezTo>
                    <a:pt x="1570" y="692"/>
                    <a:pt x="1670" y="726"/>
                    <a:pt x="1707" y="742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9" name="直接连接符 715806"/>
            <p:cNvSpPr/>
            <p:nvPr/>
          </p:nvSpPr>
          <p:spPr>
            <a:xfrm flipV="1">
              <a:off x="480" y="96"/>
              <a:ext cx="0" cy="1152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76830" name="对象 715807"/>
            <p:cNvGraphicFramePr/>
            <p:nvPr/>
          </p:nvGraphicFramePr>
          <p:xfrm>
            <a:off x="336" y="1200"/>
            <a:ext cx="26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51" r:id="rId16" imgW="127000" imgH="139700" progId="Equation.3">
                    <p:embed/>
                  </p:oleObj>
                </mc:Choice>
                <mc:Fallback>
                  <p:oleObj r:id="rId16" imgW="127000" imgH="139700" progId="Equation.3">
                    <p:embed/>
                    <p:pic>
                      <p:nvPicPr>
                        <p:cNvPr id="0" name="图片 3206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36" y="1200"/>
                          <a:ext cx="261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15808"/>
          <p:cNvGrpSpPr/>
          <p:nvPr/>
        </p:nvGrpSpPr>
        <p:grpSpPr>
          <a:xfrm>
            <a:off x="5694363" y="547688"/>
            <a:ext cx="1974850" cy="1938337"/>
            <a:chOff x="0" y="0"/>
            <a:chExt cx="1401" cy="1296"/>
          </a:xfrm>
        </p:grpSpPr>
        <p:sp>
          <p:nvSpPr>
            <p:cNvPr id="76832" name="直接连接符 715809"/>
            <p:cNvSpPr/>
            <p:nvPr/>
          </p:nvSpPr>
          <p:spPr>
            <a:xfrm>
              <a:off x="1200" y="144"/>
              <a:ext cx="0" cy="816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76833" name="对象 715810"/>
            <p:cNvGraphicFramePr/>
            <p:nvPr/>
          </p:nvGraphicFramePr>
          <p:xfrm>
            <a:off x="1104" y="912"/>
            <a:ext cx="297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52" r:id="rId18" imgW="292100" imgH="368300" progId="Equation.3">
                    <p:embed/>
                  </p:oleObj>
                </mc:Choice>
                <mc:Fallback>
                  <p:oleObj r:id="rId18" imgW="292100" imgH="368300" progId="Equation.3">
                    <p:embed/>
                    <p:pic>
                      <p:nvPicPr>
                        <p:cNvPr id="0" name="图片 3208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104" y="912"/>
                          <a:ext cx="297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834" name="直接连接符 715811"/>
            <p:cNvSpPr/>
            <p:nvPr/>
          </p:nvSpPr>
          <p:spPr>
            <a:xfrm flipH="1">
              <a:off x="480" y="144"/>
              <a:ext cx="720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76835" name="对象 715812"/>
            <p:cNvGraphicFramePr/>
            <p:nvPr/>
          </p:nvGraphicFramePr>
          <p:xfrm>
            <a:off x="0" y="0"/>
            <a:ext cx="459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53" r:id="rId20" imgW="405765" imgH="330200" progId="Equation.3">
                    <p:embed/>
                  </p:oleObj>
                </mc:Choice>
                <mc:Fallback>
                  <p:oleObj r:id="rId20" imgW="405765" imgH="330200" progId="Equation.3">
                    <p:embed/>
                    <p:pic>
                      <p:nvPicPr>
                        <p:cNvPr id="0" name="图片 3202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459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715813"/>
          <p:cNvGrpSpPr/>
          <p:nvPr/>
        </p:nvGrpSpPr>
        <p:grpSpPr>
          <a:xfrm>
            <a:off x="7632700" y="4249738"/>
            <a:ext cx="1260475" cy="1123950"/>
            <a:chOff x="4416" y="3360"/>
            <a:chExt cx="989" cy="816"/>
          </a:xfrm>
        </p:grpSpPr>
        <p:sp>
          <p:nvSpPr>
            <p:cNvPr id="76837" name="矩形 715814"/>
            <p:cNvSpPr/>
            <p:nvPr/>
          </p:nvSpPr>
          <p:spPr>
            <a:xfrm>
              <a:off x="4416" y="3360"/>
              <a:ext cx="960" cy="81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graphicFrame>
          <p:nvGraphicFramePr>
            <p:cNvPr id="76838" name="对象 715815"/>
            <p:cNvGraphicFramePr/>
            <p:nvPr/>
          </p:nvGraphicFramePr>
          <p:xfrm>
            <a:off x="4417" y="3360"/>
            <a:ext cx="988" cy="8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54" r:id="rId22" imgW="624205" imgH="501650" progId="Equation.3">
                    <p:embed/>
                  </p:oleObj>
                </mc:Choice>
                <mc:Fallback>
                  <p:oleObj r:id="rId22" imgW="624205" imgH="501650" progId="Equation.3">
                    <p:embed/>
                    <p:pic>
                      <p:nvPicPr>
                        <p:cNvPr id="0" name="图片 3204"/>
                        <p:cNvPicPr/>
                        <p:nvPr/>
                      </p:nvPicPr>
                      <p:blipFill>
                        <a:blip r:embed="rId23">
                          <a:clrChange>
                            <a:clrFrom>
                              <a:srgbClr val="000000"/>
                            </a:clrFrom>
                            <a:clrTo>
                              <a:srgbClr val="CC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17" y="3360"/>
                          <a:ext cx="988" cy="8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715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715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5778" grpId="0"/>
      <p:bldP spid="715779" grpId="0"/>
      <p:bldP spid="715793" grpId="0" animBg="1"/>
      <p:bldP spid="71579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28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grpSp>
        <p:nvGrpSpPr>
          <p:cNvPr id="2" name="组合 716801"/>
          <p:cNvGrpSpPr/>
          <p:nvPr/>
        </p:nvGrpSpPr>
        <p:grpSpPr>
          <a:xfrm>
            <a:off x="107950" y="2852738"/>
            <a:ext cx="3962400" cy="4000500"/>
            <a:chOff x="295" y="164"/>
            <a:chExt cx="2496" cy="2520"/>
          </a:xfrm>
        </p:grpSpPr>
        <p:sp>
          <p:nvSpPr>
            <p:cNvPr id="716803" name="文本框 716802"/>
            <p:cNvSpPr txBox="1"/>
            <p:nvPr/>
          </p:nvSpPr>
          <p:spPr>
            <a:xfrm>
              <a:off x="343" y="2084"/>
              <a:ext cx="2400" cy="600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1"/>
                </a:gs>
              </a:gsLst>
              <a:lin ang="5400000" scaled="1"/>
              <a:tileRect/>
            </a:gradFill>
            <a:ln w="635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800" kern="1200" cap="none" spc="0" normalizeH="0" baseline="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</a:t>
              </a:r>
              <a:r>
                <a:rPr kumimoji="0" lang="zh-CN" altLang="en-US" sz="2800" kern="1200" cap="none" spc="0" normalizeH="0" baseline="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同种</a:t>
              </a:r>
              <a:r>
                <a:rPr kumimoji="0" lang="zh-CN" altLang="en-US" sz="2800" kern="1200" cap="none" spc="0" normalizeH="0" baseline="-2500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zh-CN" altLang="en-US" sz="2800" kern="1200" cap="none" spc="0" normalizeH="0" baseline="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分子在不同温度下的速率分布</a:t>
              </a:r>
            </a:p>
          </p:txBody>
        </p:sp>
        <p:sp>
          <p:nvSpPr>
            <p:cNvPr id="77828" name="矩形 716803"/>
            <p:cNvSpPr/>
            <p:nvPr/>
          </p:nvSpPr>
          <p:spPr>
            <a:xfrm>
              <a:off x="295" y="164"/>
              <a:ext cx="2496" cy="182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77829" name="任意多边形 716804"/>
            <p:cNvSpPr/>
            <p:nvPr/>
          </p:nvSpPr>
          <p:spPr>
            <a:xfrm>
              <a:off x="495" y="941"/>
              <a:ext cx="2104" cy="666"/>
            </a:xfrm>
            <a:custGeom>
              <a:avLst/>
              <a:gdLst/>
              <a:ahLst/>
              <a:cxnLst>
                <a:cxn ang="0">
                  <a:pos x="0" y="666"/>
                </a:cxn>
                <a:cxn ang="0">
                  <a:pos x="221" y="512"/>
                </a:cxn>
                <a:cxn ang="0">
                  <a:pos x="643" y="108"/>
                </a:cxn>
                <a:cxn ang="0">
                  <a:pos x="945" y="18"/>
                </a:cxn>
                <a:cxn ang="0">
                  <a:pos x="1233" y="217"/>
                </a:cxn>
                <a:cxn ang="0">
                  <a:pos x="1487" y="375"/>
                </a:cxn>
                <a:cxn ang="0">
                  <a:pos x="1775" y="505"/>
                </a:cxn>
                <a:cxn ang="0">
                  <a:pos x="2104" y="589"/>
                </a:cxn>
              </a:cxnLst>
              <a:rect l="0" t="0" r="0" b="0"/>
              <a:pathLst>
                <a:path w="2104" h="666">
                  <a:moveTo>
                    <a:pt x="0" y="666"/>
                  </a:moveTo>
                  <a:cubicBezTo>
                    <a:pt x="60" y="637"/>
                    <a:pt x="114" y="605"/>
                    <a:pt x="221" y="512"/>
                  </a:cubicBezTo>
                  <a:cubicBezTo>
                    <a:pt x="328" y="419"/>
                    <a:pt x="522" y="190"/>
                    <a:pt x="643" y="108"/>
                  </a:cubicBezTo>
                  <a:cubicBezTo>
                    <a:pt x="764" y="26"/>
                    <a:pt x="847" y="0"/>
                    <a:pt x="945" y="18"/>
                  </a:cubicBezTo>
                  <a:cubicBezTo>
                    <a:pt x="1043" y="36"/>
                    <a:pt x="1143" y="158"/>
                    <a:pt x="1233" y="217"/>
                  </a:cubicBezTo>
                  <a:cubicBezTo>
                    <a:pt x="1323" y="276"/>
                    <a:pt x="1397" y="327"/>
                    <a:pt x="1487" y="375"/>
                  </a:cubicBezTo>
                  <a:cubicBezTo>
                    <a:pt x="1577" y="423"/>
                    <a:pt x="1672" y="469"/>
                    <a:pt x="1775" y="505"/>
                  </a:cubicBezTo>
                  <a:cubicBezTo>
                    <a:pt x="1878" y="541"/>
                    <a:pt x="2036" y="572"/>
                    <a:pt x="2104" y="589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0" name="任意多边形 716805"/>
            <p:cNvSpPr/>
            <p:nvPr/>
          </p:nvSpPr>
          <p:spPr>
            <a:xfrm>
              <a:off x="487" y="450"/>
              <a:ext cx="1323" cy="1157"/>
            </a:xfrm>
            <a:custGeom>
              <a:avLst/>
              <a:gdLst/>
              <a:ahLst/>
              <a:cxnLst>
                <a:cxn ang="0">
                  <a:pos x="0" y="1157"/>
                </a:cxn>
                <a:cxn ang="0">
                  <a:pos x="141" y="915"/>
                </a:cxn>
                <a:cxn ang="0">
                  <a:pos x="322" y="441"/>
                </a:cxn>
                <a:cxn ang="0">
                  <a:pos x="411" y="187"/>
                </a:cxn>
                <a:cxn ang="0">
                  <a:pos x="459" y="71"/>
                </a:cxn>
                <a:cxn ang="0">
                  <a:pos x="528" y="2"/>
                </a:cxn>
                <a:cxn ang="0">
                  <a:pos x="597" y="57"/>
                </a:cxn>
                <a:cxn ang="0">
                  <a:pos x="651" y="153"/>
                </a:cxn>
                <a:cxn ang="0">
                  <a:pos x="727" y="372"/>
                </a:cxn>
                <a:cxn ang="0">
                  <a:pos x="871" y="743"/>
                </a:cxn>
                <a:cxn ang="0">
                  <a:pos x="1090" y="996"/>
                </a:cxn>
                <a:cxn ang="0">
                  <a:pos x="1323" y="1079"/>
                </a:cxn>
              </a:cxnLst>
              <a:rect l="0" t="0" r="0" b="0"/>
              <a:pathLst>
                <a:path w="1323" h="1157">
                  <a:moveTo>
                    <a:pt x="0" y="1157"/>
                  </a:moveTo>
                  <a:cubicBezTo>
                    <a:pt x="38" y="1112"/>
                    <a:pt x="87" y="1034"/>
                    <a:pt x="141" y="915"/>
                  </a:cubicBezTo>
                  <a:cubicBezTo>
                    <a:pt x="195" y="796"/>
                    <a:pt x="277" y="562"/>
                    <a:pt x="322" y="441"/>
                  </a:cubicBezTo>
                  <a:cubicBezTo>
                    <a:pt x="367" y="320"/>
                    <a:pt x="388" y="249"/>
                    <a:pt x="411" y="187"/>
                  </a:cubicBezTo>
                  <a:cubicBezTo>
                    <a:pt x="434" y="125"/>
                    <a:pt x="440" y="102"/>
                    <a:pt x="459" y="71"/>
                  </a:cubicBezTo>
                  <a:cubicBezTo>
                    <a:pt x="478" y="40"/>
                    <a:pt x="505" y="4"/>
                    <a:pt x="528" y="2"/>
                  </a:cubicBezTo>
                  <a:cubicBezTo>
                    <a:pt x="551" y="0"/>
                    <a:pt x="576" y="32"/>
                    <a:pt x="597" y="57"/>
                  </a:cubicBezTo>
                  <a:cubicBezTo>
                    <a:pt x="618" y="82"/>
                    <a:pt x="629" y="100"/>
                    <a:pt x="651" y="153"/>
                  </a:cubicBezTo>
                  <a:cubicBezTo>
                    <a:pt x="673" y="206"/>
                    <a:pt x="690" y="274"/>
                    <a:pt x="727" y="372"/>
                  </a:cubicBezTo>
                  <a:cubicBezTo>
                    <a:pt x="764" y="470"/>
                    <a:pt x="811" y="639"/>
                    <a:pt x="871" y="743"/>
                  </a:cubicBezTo>
                  <a:cubicBezTo>
                    <a:pt x="931" y="847"/>
                    <a:pt x="1015" y="940"/>
                    <a:pt x="1090" y="996"/>
                  </a:cubicBezTo>
                  <a:cubicBezTo>
                    <a:pt x="1165" y="1052"/>
                    <a:pt x="1275" y="1062"/>
                    <a:pt x="1323" y="1079"/>
                  </a:cubicBez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1" name="任意多边形 716806"/>
            <p:cNvSpPr/>
            <p:nvPr/>
          </p:nvSpPr>
          <p:spPr>
            <a:xfrm>
              <a:off x="1015" y="459"/>
              <a:ext cx="1" cy="11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145"/>
                </a:cxn>
              </a:cxnLst>
              <a:rect l="0" t="0" r="0" b="0"/>
              <a:pathLst>
                <a:path w="1" h="1145">
                  <a:moveTo>
                    <a:pt x="0" y="0"/>
                  </a:moveTo>
                  <a:lnTo>
                    <a:pt x="0" y="1145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2" name="直接连接符 716807"/>
            <p:cNvSpPr/>
            <p:nvPr/>
          </p:nvSpPr>
          <p:spPr>
            <a:xfrm>
              <a:off x="1399" y="980"/>
              <a:ext cx="0" cy="624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77833" name="对象 716808"/>
            <p:cNvGraphicFramePr/>
            <p:nvPr/>
          </p:nvGraphicFramePr>
          <p:xfrm>
            <a:off x="1111" y="255"/>
            <a:ext cx="267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72" r:id="rId3" imgW="165100" imgH="215900" progId="Equation.3">
                    <p:embed/>
                  </p:oleObj>
                </mc:Choice>
                <mc:Fallback>
                  <p:oleObj r:id="rId3" imgW="165100" imgH="215900" progId="Equation.3">
                    <p:embed/>
                    <p:pic>
                      <p:nvPicPr>
                        <p:cNvPr id="0" name="图片 321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11" y="255"/>
                          <a:ext cx="267" cy="3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34" name="对象 716809"/>
            <p:cNvGraphicFramePr/>
            <p:nvPr/>
          </p:nvGraphicFramePr>
          <p:xfrm>
            <a:off x="867" y="1527"/>
            <a:ext cx="333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73" r:id="rId5" imgW="368300" imgH="419100" progId="Equation.3">
                    <p:embed/>
                  </p:oleObj>
                </mc:Choice>
                <mc:Fallback>
                  <p:oleObj r:id="rId5" imgW="368300" imgH="419100" progId="Equation.3">
                    <p:embed/>
                    <p:pic>
                      <p:nvPicPr>
                        <p:cNvPr id="0" name="图片 320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67" y="1527"/>
                          <a:ext cx="333" cy="3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35" name="对象 716810"/>
            <p:cNvGraphicFramePr/>
            <p:nvPr/>
          </p:nvGraphicFramePr>
          <p:xfrm>
            <a:off x="1299" y="1527"/>
            <a:ext cx="305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74" r:id="rId7" imgW="405765" imgH="418465" progId="Equation.3">
                    <p:embed/>
                  </p:oleObj>
                </mc:Choice>
                <mc:Fallback>
                  <p:oleObj r:id="rId7" imgW="405765" imgH="418465" progId="Equation.3">
                    <p:embed/>
                    <p:pic>
                      <p:nvPicPr>
                        <p:cNvPr id="0" name="图片 321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99" y="1527"/>
                          <a:ext cx="305" cy="3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36" name="Object 12"/>
            <p:cNvGraphicFramePr/>
            <p:nvPr/>
          </p:nvGraphicFramePr>
          <p:xfrm>
            <a:off x="1810" y="785"/>
            <a:ext cx="262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75" r:id="rId9" imgW="165100" imgH="215900" progId="Equation.3">
                    <p:embed/>
                  </p:oleObj>
                </mc:Choice>
                <mc:Fallback>
                  <p:oleObj r:id="rId9" imgW="165100" imgH="215900" progId="Equation.3">
                    <p:embed/>
                    <p:pic>
                      <p:nvPicPr>
                        <p:cNvPr id="0" name="图片 320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810" y="785"/>
                          <a:ext cx="262" cy="3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7837" name="组合 716812"/>
            <p:cNvGrpSpPr/>
            <p:nvPr/>
          </p:nvGrpSpPr>
          <p:grpSpPr>
            <a:xfrm>
              <a:off x="391" y="356"/>
              <a:ext cx="2199" cy="1488"/>
              <a:chOff x="3163" y="2592"/>
              <a:chExt cx="2199" cy="1488"/>
            </a:xfrm>
          </p:grpSpPr>
          <p:sp>
            <p:nvSpPr>
              <p:cNvPr id="77838" name="直接连接符 716813"/>
              <p:cNvSpPr/>
              <p:nvPr/>
            </p:nvSpPr>
            <p:spPr>
              <a:xfrm>
                <a:off x="3245" y="3836"/>
                <a:ext cx="2117" cy="7"/>
              </a:xfrm>
              <a:prstGeom prst="line">
                <a:avLst/>
              </a:prstGeom>
              <a:ln w="19050" cap="flat" cmpd="sng">
                <a:solidFill>
                  <a:srgbClr val="1C1C1C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77839" name="对象 716814"/>
              <p:cNvGraphicFramePr/>
              <p:nvPr/>
            </p:nvGraphicFramePr>
            <p:xfrm>
              <a:off x="5041" y="3888"/>
              <a:ext cx="14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876" r:id="rId11" imgW="177800" imgH="189865" progId="Equation.3">
                      <p:embed/>
                    </p:oleObj>
                  </mc:Choice>
                  <mc:Fallback>
                    <p:oleObj r:id="rId11" imgW="177800" imgH="189865" progId="Equation.3">
                      <p:embed/>
                      <p:pic>
                        <p:nvPicPr>
                          <p:cNvPr id="0" name="图片 3212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5041" y="3888"/>
                            <a:ext cx="146" cy="19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7840" name="对象 716815"/>
              <p:cNvGraphicFramePr/>
              <p:nvPr/>
            </p:nvGraphicFramePr>
            <p:xfrm>
              <a:off x="3312" y="2592"/>
              <a:ext cx="328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877" r:id="rId13" imgW="532765" imgH="304800" progId="Equation.3">
                      <p:embed/>
                    </p:oleObj>
                  </mc:Choice>
                  <mc:Fallback>
                    <p:oleObj r:id="rId13" imgW="532765" imgH="304800" progId="Equation.3">
                      <p:embed/>
                      <p:pic>
                        <p:nvPicPr>
                          <p:cNvPr id="0" name="图片 3213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3312" y="2592"/>
                            <a:ext cx="328" cy="24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7841" name="直接连接符 716816"/>
              <p:cNvSpPr/>
              <p:nvPr/>
            </p:nvSpPr>
            <p:spPr>
              <a:xfrm flipV="1">
                <a:off x="3270" y="2592"/>
                <a:ext cx="0" cy="1251"/>
              </a:xfrm>
              <a:prstGeom prst="line">
                <a:avLst/>
              </a:prstGeom>
              <a:ln w="19050" cap="flat" cmpd="sng">
                <a:solidFill>
                  <a:srgbClr val="1C1C1C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77842" name="对象 716817"/>
              <p:cNvGraphicFramePr/>
              <p:nvPr/>
            </p:nvGraphicFramePr>
            <p:xfrm>
              <a:off x="3163" y="3840"/>
              <a:ext cx="218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878" r:id="rId15" imgW="127000" imgH="139700" progId="Equation.3">
                      <p:embed/>
                    </p:oleObj>
                  </mc:Choice>
                  <mc:Fallback>
                    <p:oleObj r:id="rId15" imgW="127000" imgH="139700" progId="Equation.3">
                      <p:embed/>
                      <p:pic>
                        <p:nvPicPr>
                          <p:cNvPr id="0" name="图片 3205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3163" y="3840"/>
                            <a:ext cx="218" cy="2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716819" name="对象 716818"/>
          <p:cNvGraphicFramePr/>
          <p:nvPr/>
        </p:nvGraphicFramePr>
        <p:xfrm>
          <a:off x="2089150" y="233363"/>
          <a:ext cx="2843213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79" r:id="rId17" imgW="1435100" imgH="508000" progId="Equation.3">
                  <p:embed/>
                </p:oleObj>
              </mc:Choice>
              <mc:Fallback>
                <p:oleObj r:id="rId17" imgW="1435100" imgH="508000" progId="Equation.3">
                  <p:embed/>
                  <p:pic>
                    <p:nvPicPr>
                      <p:cNvPr id="0" name="图片 321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089150" y="233363"/>
                        <a:ext cx="2843213" cy="1008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20" name="文本框 716819"/>
          <p:cNvSpPr txBox="1"/>
          <p:nvPr/>
        </p:nvSpPr>
        <p:spPr>
          <a:xfrm>
            <a:off x="0" y="1341438"/>
            <a:ext cx="60166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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当分子质量 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一定时，</a:t>
            </a:r>
          </a:p>
        </p:txBody>
      </p:sp>
      <p:graphicFrame>
        <p:nvGraphicFramePr>
          <p:cNvPr id="716821" name="对象 716820"/>
          <p:cNvGraphicFramePr/>
          <p:nvPr/>
        </p:nvGraphicFramePr>
        <p:xfrm>
          <a:off x="539750" y="1817688"/>
          <a:ext cx="2303463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80" r:id="rId19" imgW="1054100" imgH="508000" progId="Equation.3">
                  <p:embed/>
                </p:oleObj>
              </mc:Choice>
              <mc:Fallback>
                <p:oleObj r:id="rId19" imgW="1054100" imgH="508000" progId="Equation.3">
                  <p:embed/>
                  <p:pic>
                    <p:nvPicPr>
                      <p:cNvPr id="0" name="图片 322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39750" y="1817688"/>
                        <a:ext cx="2303463" cy="1054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6" name="对象 716821"/>
          <p:cNvGraphicFramePr/>
          <p:nvPr/>
        </p:nvGraphicFramePr>
        <p:xfrm>
          <a:off x="0" y="260350"/>
          <a:ext cx="208915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81" r:id="rId21" imgW="964565" imgH="444500" progId="Equation.3">
                  <p:embed/>
                </p:oleObj>
              </mc:Choice>
              <mc:Fallback>
                <p:oleObj r:id="rId21" imgW="964565" imgH="444500" progId="Equation.3">
                  <p:embed/>
                  <p:pic>
                    <p:nvPicPr>
                      <p:cNvPr id="0" name="图片 322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0" y="260350"/>
                        <a:ext cx="2089150" cy="957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23" name="文本框 716822"/>
          <p:cNvSpPr txBox="1"/>
          <p:nvPr/>
        </p:nvSpPr>
        <p:spPr>
          <a:xfrm>
            <a:off x="4192588" y="5734050"/>
            <a:ext cx="54768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速率大的分子数    所占比例越大，</a:t>
            </a:r>
          </a:p>
        </p:txBody>
      </p:sp>
      <p:sp>
        <p:nvSpPr>
          <p:cNvPr id="716824" name="矩形 716823"/>
          <p:cNvSpPr/>
          <p:nvPr/>
        </p:nvSpPr>
        <p:spPr>
          <a:xfrm>
            <a:off x="4211638" y="6237288"/>
            <a:ext cx="53530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气体分子的热运动越激烈。</a:t>
            </a:r>
          </a:p>
        </p:txBody>
      </p:sp>
      <p:sp>
        <p:nvSpPr>
          <p:cNvPr id="716826" name="矩形 716825"/>
          <p:cNvSpPr/>
          <p:nvPr/>
        </p:nvSpPr>
        <p:spPr>
          <a:xfrm>
            <a:off x="4237038" y="5243513"/>
            <a:ext cx="32813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一定时，温度越高，</a:t>
            </a:r>
          </a:p>
        </p:txBody>
      </p:sp>
      <p:grpSp>
        <p:nvGrpSpPr>
          <p:cNvPr id="5" name="组合 716826"/>
          <p:cNvGrpSpPr/>
          <p:nvPr/>
        </p:nvGrpSpPr>
        <p:grpSpPr>
          <a:xfrm>
            <a:off x="5003800" y="908050"/>
            <a:ext cx="3733800" cy="4000500"/>
            <a:chOff x="3072" y="1440"/>
            <a:chExt cx="2352" cy="2520"/>
          </a:xfrm>
        </p:grpSpPr>
        <p:sp>
          <p:nvSpPr>
            <p:cNvPr id="716828" name="文本框 716827"/>
            <p:cNvSpPr txBox="1"/>
            <p:nvPr/>
          </p:nvSpPr>
          <p:spPr>
            <a:xfrm>
              <a:off x="3120" y="3360"/>
              <a:ext cx="2304" cy="600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1"/>
                </a:gs>
              </a:gsLst>
              <a:lin ang="5400000" scaled="1"/>
              <a:tileRect/>
            </a:gradFill>
            <a:ln w="635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800" kern="1200" cap="none" spc="0" normalizeH="0" baseline="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</a:t>
              </a:r>
              <a:r>
                <a:rPr kumimoji="0" lang="zh-CN" altLang="en-US" sz="2800" kern="1200" cap="none" spc="0" normalizeH="0" baseline="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同一温度下不同气体的速率分布</a:t>
              </a:r>
            </a:p>
          </p:txBody>
        </p:sp>
        <p:sp>
          <p:nvSpPr>
            <p:cNvPr id="77852" name="矩形 716828"/>
            <p:cNvSpPr/>
            <p:nvPr/>
          </p:nvSpPr>
          <p:spPr>
            <a:xfrm>
              <a:off x="3072" y="1440"/>
              <a:ext cx="2352" cy="182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grpSp>
          <p:nvGrpSpPr>
            <p:cNvPr id="77853" name="组合 716829"/>
            <p:cNvGrpSpPr/>
            <p:nvPr/>
          </p:nvGrpSpPr>
          <p:grpSpPr>
            <a:xfrm>
              <a:off x="3264" y="1968"/>
              <a:ext cx="2016" cy="1318"/>
              <a:chOff x="3264" y="1968"/>
              <a:chExt cx="2016" cy="1318"/>
            </a:xfrm>
          </p:grpSpPr>
          <p:sp>
            <p:nvSpPr>
              <p:cNvPr id="77854" name="任意多边形 716830"/>
              <p:cNvSpPr/>
              <p:nvPr/>
            </p:nvSpPr>
            <p:spPr>
              <a:xfrm>
                <a:off x="3264" y="1968"/>
                <a:ext cx="1578" cy="952"/>
              </a:xfrm>
              <a:custGeom>
                <a:avLst/>
                <a:gdLst/>
                <a:ahLst/>
                <a:cxnLst>
                  <a:cxn ang="0">
                    <a:pos x="0" y="952"/>
                  </a:cxn>
                  <a:cxn ang="0">
                    <a:pos x="166" y="734"/>
                  </a:cxn>
                  <a:cxn ang="0">
                    <a:pos x="457" y="136"/>
                  </a:cxn>
                  <a:cxn ang="0">
                    <a:pos x="664" y="27"/>
                  </a:cxn>
                  <a:cxn ang="0">
                    <a:pos x="914" y="299"/>
                  </a:cxn>
                  <a:cxn ang="0">
                    <a:pos x="1121" y="517"/>
                  </a:cxn>
                  <a:cxn ang="0">
                    <a:pos x="1370" y="734"/>
                  </a:cxn>
                  <a:cxn ang="0">
                    <a:pos x="1578" y="843"/>
                  </a:cxn>
                </a:cxnLst>
                <a:rect l="0" t="0" r="0" b="0"/>
                <a:pathLst>
                  <a:path w="1824" h="840">
                    <a:moveTo>
                      <a:pt x="0" y="840"/>
                    </a:moveTo>
                    <a:cubicBezTo>
                      <a:pt x="52" y="804"/>
                      <a:pt x="104" y="768"/>
                      <a:pt x="192" y="648"/>
                    </a:cubicBezTo>
                    <a:cubicBezTo>
                      <a:pt x="280" y="528"/>
                      <a:pt x="432" y="224"/>
                      <a:pt x="528" y="120"/>
                    </a:cubicBezTo>
                    <a:cubicBezTo>
                      <a:pt x="624" y="16"/>
                      <a:pt x="680" y="0"/>
                      <a:pt x="768" y="24"/>
                    </a:cubicBezTo>
                    <a:cubicBezTo>
                      <a:pt x="856" y="48"/>
                      <a:pt x="968" y="192"/>
                      <a:pt x="1056" y="264"/>
                    </a:cubicBezTo>
                    <a:cubicBezTo>
                      <a:pt x="1144" y="336"/>
                      <a:pt x="1208" y="392"/>
                      <a:pt x="1296" y="456"/>
                    </a:cubicBezTo>
                    <a:cubicBezTo>
                      <a:pt x="1384" y="520"/>
                      <a:pt x="1496" y="600"/>
                      <a:pt x="1584" y="648"/>
                    </a:cubicBezTo>
                    <a:cubicBezTo>
                      <a:pt x="1672" y="696"/>
                      <a:pt x="1784" y="728"/>
                      <a:pt x="1824" y="744"/>
                    </a:cubicBezTo>
                  </a:path>
                </a:pathLst>
              </a:custGeom>
              <a:noFill/>
              <a:ln w="28575" cap="flat" cmpd="sng">
                <a:solidFill>
                  <a:srgbClr val="D60093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55" name="任意多边形 716831"/>
              <p:cNvSpPr/>
              <p:nvPr/>
            </p:nvSpPr>
            <p:spPr>
              <a:xfrm>
                <a:off x="3264" y="2160"/>
                <a:ext cx="2016" cy="760"/>
              </a:xfrm>
              <a:custGeom>
                <a:avLst/>
                <a:gdLst/>
                <a:ahLst/>
                <a:cxnLst>
                  <a:cxn ang="0">
                    <a:pos x="0" y="760"/>
                  </a:cxn>
                  <a:cxn ang="0">
                    <a:pos x="212" y="586"/>
                  </a:cxn>
                  <a:cxn ang="0">
                    <a:pos x="584" y="109"/>
                  </a:cxn>
                  <a:cxn ang="0">
                    <a:pos x="849" y="22"/>
                  </a:cxn>
                  <a:cxn ang="0">
                    <a:pos x="1167" y="239"/>
                  </a:cxn>
                  <a:cxn ang="0">
                    <a:pos x="1432" y="413"/>
                  </a:cxn>
                  <a:cxn ang="0">
                    <a:pos x="1751" y="586"/>
                  </a:cxn>
                  <a:cxn ang="0">
                    <a:pos x="2016" y="673"/>
                  </a:cxn>
                </a:cxnLst>
                <a:rect l="0" t="0" r="0" b="0"/>
                <a:pathLst>
                  <a:path w="1824" h="840">
                    <a:moveTo>
                      <a:pt x="0" y="840"/>
                    </a:moveTo>
                    <a:cubicBezTo>
                      <a:pt x="52" y="804"/>
                      <a:pt x="104" y="768"/>
                      <a:pt x="192" y="648"/>
                    </a:cubicBezTo>
                    <a:cubicBezTo>
                      <a:pt x="280" y="528"/>
                      <a:pt x="432" y="224"/>
                      <a:pt x="528" y="120"/>
                    </a:cubicBezTo>
                    <a:cubicBezTo>
                      <a:pt x="624" y="16"/>
                      <a:pt x="680" y="0"/>
                      <a:pt x="768" y="24"/>
                    </a:cubicBezTo>
                    <a:cubicBezTo>
                      <a:pt x="856" y="48"/>
                      <a:pt x="968" y="192"/>
                      <a:pt x="1056" y="264"/>
                    </a:cubicBezTo>
                    <a:cubicBezTo>
                      <a:pt x="1144" y="336"/>
                      <a:pt x="1208" y="392"/>
                      <a:pt x="1296" y="456"/>
                    </a:cubicBezTo>
                    <a:cubicBezTo>
                      <a:pt x="1384" y="520"/>
                      <a:pt x="1496" y="600"/>
                      <a:pt x="1584" y="648"/>
                    </a:cubicBezTo>
                    <a:cubicBezTo>
                      <a:pt x="1672" y="696"/>
                      <a:pt x="1784" y="728"/>
                      <a:pt x="1824" y="744"/>
                    </a:cubicBez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56" name="直接连接符 716832"/>
              <p:cNvSpPr/>
              <p:nvPr/>
            </p:nvSpPr>
            <p:spPr>
              <a:xfrm>
                <a:off x="3888" y="2016"/>
                <a:ext cx="0" cy="912"/>
              </a:xfrm>
              <a:prstGeom prst="line">
                <a:avLst/>
              </a:prstGeom>
              <a:ln w="19050" cap="flat" cmpd="sng">
                <a:solidFill>
                  <a:srgbClr val="1C1C1C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77857" name="直接连接符 716833"/>
              <p:cNvSpPr/>
              <p:nvPr/>
            </p:nvSpPr>
            <p:spPr>
              <a:xfrm>
                <a:off x="4080" y="2160"/>
                <a:ext cx="0" cy="768"/>
              </a:xfrm>
              <a:prstGeom prst="line">
                <a:avLst/>
              </a:prstGeom>
              <a:ln w="19050" cap="flat" cmpd="sng">
                <a:solidFill>
                  <a:srgbClr val="1C1C1C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graphicFrame>
            <p:nvGraphicFramePr>
              <p:cNvPr id="77858" name="对象 716834"/>
              <p:cNvGraphicFramePr/>
              <p:nvPr/>
            </p:nvGraphicFramePr>
            <p:xfrm>
              <a:off x="4656" y="2304"/>
              <a:ext cx="256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882" r:id="rId23" imgW="330200" imgH="317500" progId="Equation.3">
                      <p:embed/>
                    </p:oleObj>
                  </mc:Choice>
                  <mc:Fallback>
                    <p:oleObj r:id="rId23" imgW="330200" imgH="317500" progId="Equation.3">
                      <p:embed/>
                      <p:pic>
                        <p:nvPicPr>
                          <p:cNvPr id="0" name="图片 3223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4656" y="2304"/>
                            <a:ext cx="256" cy="24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7859" name="对象 716835"/>
              <p:cNvGraphicFramePr/>
              <p:nvPr/>
            </p:nvGraphicFramePr>
            <p:xfrm>
              <a:off x="3340" y="2112"/>
              <a:ext cx="256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883" r:id="rId25" imgW="330200" imgH="317500" progId="Equation.3">
                      <p:embed/>
                    </p:oleObj>
                  </mc:Choice>
                  <mc:Fallback>
                    <p:oleObj r:id="rId25" imgW="330200" imgH="317500" progId="Equation.3">
                      <p:embed/>
                      <p:pic>
                        <p:nvPicPr>
                          <p:cNvPr id="0" name="图片 3215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3340" y="2112"/>
                            <a:ext cx="256" cy="24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7860" name="对象 716836"/>
              <p:cNvGraphicFramePr/>
              <p:nvPr/>
            </p:nvGraphicFramePr>
            <p:xfrm>
              <a:off x="3648" y="2905"/>
              <a:ext cx="357" cy="3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884" r:id="rId27" imgW="393700" imgH="419100" progId="Equation.3">
                      <p:embed/>
                    </p:oleObj>
                  </mc:Choice>
                  <mc:Fallback>
                    <p:oleObj r:id="rId27" imgW="393700" imgH="419100" progId="Equation.3">
                      <p:embed/>
                      <p:pic>
                        <p:nvPicPr>
                          <p:cNvPr id="0" name="图片 3221"/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3648" y="2905"/>
                            <a:ext cx="357" cy="38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7861" name="对象 716837"/>
              <p:cNvGraphicFramePr/>
              <p:nvPr/>
            </p:nvGraphicFramePr>
            <p:xfrm>
              <a:off x="4038" y="2905"/>
              <a:ext cx="391" cy="3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885" r:id="rId29" imgW="431800" imgH="419100" progId="Equation.3">
                      <p:embed/>
                    </p:oleObj>
                  </mc:Choice>
                  <mc:Fallback>
                    <p:oleObj r:id="rId29" imgW="431800" imgH="419100" progId="Equation.3">
                      <p:embed/>
                      <p:pic>
                        <p:nvPicPr>
                          <p:cNvPr id="0" name="图片 3225"/>
                          <p:cNvPicPr/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4038" y="2905"/>
                            <a:ext cx="391" cy="38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7862" name="组合 716838"/>
            <p:cNvGrpSpPr/>
            <p:nvPr/>
          </p:nvGrpSpPr>
          <p:grpSpPr>
            <a:xfrm>
              <a:off x="3163" y="1680"/>
              <a:ext cx="2199" cy="1488"/>
              <a:chOff x="3163" y="1680"/>
              <a:chExt cx="2199" cy="1488"/>
            </a:xfrm>
          </p:grpSpPr>
          <p:sp>
            <p:nvSpPr>
              <p:cNvPr id="77863" name="直接连接符 716839"/>
              <p:cNvSpPr/>
              <p:nvPr/>
            </p:nvSpPr>
            <p:spPr>
              <a:xfrm>
                <a:off x="3245" y="2924"/>
                <a:ext cx="2117" cy="7"/>
              </a:xfrm>
              <a:prstGeom prst="line">
                <a:avLst/>
              </a:prstGeom>
              <a:ln w="19050" cap="flat" cmpd="sng">
                <a:solidFill>
                  <a:srgbClr val="1C1C1C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77864" name="对象 716840"/>
              <p:cNvGraphicFramePr/>
              <p:nvPr/>
            </p:nvGraphicFramePr>
            <p:xfrm>
              <a:off x="5041" y="2976"/>
              <a:ext cx="14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886" r:id="rId31" imgW="177800" imgH="189865" progId="Equation.3">
                      <p:embed/>
                    </p:oleObj>
                  </mc:Choice>
                  <mc:Fallback>
                    <p:oleObj r:id="rId31" imgW="177800" imgH="189865" progId="Equation.3">
                      <p:embed/>
                      <p:pic>
                        <p:nvPicPr>
                          <p:cNvPr id="0" name="图片 3219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5041" y="2976"/>
                            <a:ext cx="146" cy="19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7865" name="对象 716841"/>
              <p:cNvGraphicFramePr/>
              <p:nvPr/>
            </p:nvGraphicFramePr>
            <p:xfrm>
              <a:off x="3312" y="1680"/>
              <a:ext cx="328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887" r:id="rId32" imgW="532765" imgH="304800" progId="Equation.3">
                      <p:embed/>
                    </p:oleObj>
                  </mc:Choice>
                  <mc:Fallback>
                    <p:oleObj r:id="rId32" imgW="532765" imgH="304800" progId="Equation.3">
                      <p:embed/>
                      <p:pic>
                        <p:nvPicPr>
                          <p:cNvPr id="0" name="图片 3214"/>
                          <p:cNvPicPr/>
                          <p:nvPr/>
                        </p:nvPicPr>
                        <p:blipFill>
                          <a:blip r:embed="rId33"/>
                          <a:stretch>
                            <a:fillRect/>
                          </a:stretch>
                        </p:blipFill>
                        <p:spPr>
                          <a:xfrm>
                            <a:off x="3312" y="1680"/>
                            <a:ext cx="328" cy="24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7866" name="直接连接符 716842"/>
              <p:cNvSpPr/>
              <p:nvPr/>
            </p:nvSpPr>
            <p:spPr>
              <a:xfrm flipV="1">
                <a:off x="3270" y="1680"/>
                <a:ext cx="0" cy="1251"/>
              </a:xfrm>
              <a:prstGeom prst="line">
                <a:avLst/>
              </a:prstGeom>
              <a:ln w="19050" cap="flat" cmpd="sng">
                <a:solidFill>
                  <a:srgbClr val="1C1C1C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77867" name="对象 716843"/>
              <p:cNvGraphicFramePr/>
              <p:nvPr/>
            </p:nvGraphicFramePr>
            <p:xfrm>
              <a:off x="3163" y="2928"/>
              <a:ext cx="218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888" r:id="rId34" imgW="127000" imgH="139700" progId="Equation.3">
                      <p:embed/>
                    </p:oleObj>
                  </mc:Choice>
                  <mc:Fallback>
                    <p:oleObj r:id="rId34" imgW="127000" imgH="139700" progId="Equation.3">
                      <p:embed/>
                      <p:pic>
                        <p:nvPicPr>
                          <p:cNvPr id="0" name="图片 3220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3163" y="2928"/>
                            <a:ext cx="218" cy="2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716845" name="对象 716844"/>
          <p:cNvGraphicFramePr/>
          <p:nvPr/>
        </p:nvGraphicFramePr>
        <p:xfrm>
          <a:off x="6361113" y="979488"/>
          <a:ext cx="2219325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89" r:id="rId35" imgW="1016000" imgH="508000" progId="Equation.DSMT4">
                  <p:embed/>
                </p:oleObj>
              </mc:Choice>
              <mc:Fallback>
                <p:oleObj r:id="rId35" imgW="1016000" imgH="508000" progId="Equation.DSMT4">
                  <p:embed/>
                  <p:pic>
                    <p:nvPicPr>
                      <p:cNvPr id="0" name="图片 3216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6361113" y="979488"/>
                        <a:ext cx="2219325" cy="1054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716811"/>
          <p:cNvGraphicFramePr/>
          <p:nvPr/>
        </p:nvGraphicFramePr>
        <p:xfrm>
          <a:off x="2862263" y="3838575"/>
          <a:ext cx="67468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0" r:id="rId37" imgW="266700" imgH="215900" progId="Equation.3">
                  <p:embed/>
                </p:oleObj>
              </mc:Choice>
              <mc:Fallback>
                <p:oleObj r:id="rId37" imgW="266700" imgH="215900" progId="Equation.3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862263" y="3838575"/>
                        <a:ext cx="674687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148263" y="260350"/>
            <a:ext cx="38846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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当</a:t>
            </a:r>
            <a:r>
              <a:rPr kumimoji="0" 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温度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一定时，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6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6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16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16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16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16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20" grpId="0"/>
      <p:bldP spid="716823" grpId="0"/>
      <p:bldP spid="716824" grpId="0"/>
      <p:bldP spid="716826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29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717826" name="矩形 717825"/>
          <p:cNvSpPr/>
          <p:nvPr/>
        </p:nvSpPr>
        <p:spPr>
          <a:xfrm>
            <a:off x="34925" y="115888"/>
            <a:ext cx="8964613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：求速率在</a:t>
            </a:r>
            <a:r>
              <a:rPr kumimoji="0" lang="en-US" altLang="zh-CN" sz="28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0" lang="en-US" altLang="zh-CN" sz="2800" b="0" i="1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</a:t>
            </a:r>
            <a:r>
              <a:rPr kumimoji="0" lang="en-US" altLang="zh-CN" sz="28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1.01V</a:t>
            </a:r>
            <a:r>
              <a:rPr kumimoji="0" lang="en-US" altLang="zh-CN" sz="2800" b="0" i="1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之间的气体分子数所占比率。</a:t>
            </a:r>
          </a:p>
        </p:txBody>
      </p:sp>
      <p:sp>
        <p:nvSpPr>
          <p:cNvPr id="717827" name="矩形 717826"/>
          <p:cNvSpPr/>
          <p:nvPr/>
        </p:nvSpPr>
        <p:spPr>
          <a:xfrm>
            <a:off x="1676400" y="3733800"/>
            <a:ext cx="2173288" cy="6413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lstStyle/>
          <a:p>
            <a:pPr eaLnBrk="0" hangingPunct="0"/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△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8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0.01 </a:t>
            </a: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8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</a:p>
        </p:txBody>
      </p:sp>
      <p:grpSp>
        <p:nvGrpSpPr>
          <p:cNvPr id="2" name="组合 717827"/>
          <p:cNvGrpSpPr/>
          <p:nvPr/>
        </p:nvGrpSpPr>
        <p:grpSpPr>
          <a:xfrm>
            <a:off x="1979613" y="1341438"/>
            <a:ext cx="2987675" cy="1052512"/>
            <a:chOff x="864" y="1056"/>
            <a:chExt cx="1882" cy="663"/>
          </a:xfrm>
        </p:grpSpPr>
        <p:sp>
          <p:nvSpPr>
            <p:cNvPr id="78853" name="矩形 717828"/>
            <p:cNvSpPr/>
            <p:nvPr/>
          </p:nvSpPr>
          <p:spPr>
            <a:xfrm>
              <a:off x="1488" y="1200"/>
              <a:ext cx="125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 anchorCtr="0">
              <a:spAutoFit/>
            </a:bodyPr>
            <a:lstStyle/>
            <a:p>
              <a:pPr eaLnBrk="0" hangingPunct="0"/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 f </a:t>
              </a: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b="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r>
                <a:rPr lang="en-US" altLang="zh-CN" sz="2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△</a:t>
              </a: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 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854" name="矩形 717829"/>
            <p:cNvSpPr/>
            <p:nvPr/>
          </p:nvSpPr>
          <p:spPr>
            <a:xfrm>
              <a:off x="912" y="1056"/>
              <a:ext cx="4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 anchorCtr="0">
              <a:spAutoFit/>
            </a:bodyPr>
            <a:lstStyle/>
            <a:p>
              <a:pPr eaLnBrk="0" hangingPunct="0"/>
              <a:r>
                <a:rPr lang="en-US" altLang="zh-CN" sz="2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△</a:t>
              </a:r>
              <a:r>
                <a:rPr lang="en-US" altLang="zh-CN" sz="28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855" name="直接连接符 717830"/>
            <p:cNvSpPr/>
            <p:nvPr/>
          </p:nvSpPr>
          <p:spPr>
            <a:xfrm>
              <a:off x="864" y="1392"/>
              <a:ext cx="56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78856" name="矩形 717831"/>
            <p:cNvSpPr/>
            <p:nvPr/>
          </p:nvSpPr>
          <p:spPr>
            <a:xfrm>
              <a:off x="1008" y="1392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t" anchorCtr="0">
              <a:spAutoFit/>
            </a:bodyPr>
            <a:lstStyle/>
            <a:p>
              <a:pPr eaLnBrk="0" hangingPunct="0"/>
              <a:r>
                <a:rPr lang="en-US" altLang="zh-CN" sz="28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组合 717832"/>
          <p:cNvGrpSpPr/>
          <p:nvPr/>
        </p:nvGrpSpPr>
        <p:grpSpPr>
          <a:xfrm>
            <a:off x="2994025" y="1989138"/>
            <a:ext cx="5140325" cy="1411287"/>
            <a:chOff x="1632" y="1344"/>
            <a:chExt cx="3238" cy="889"/>
          </a:xfrm>
        </p:grpSpPr>
        <p:grpSp>
          <p:nvGrpSpPr>
            <p:cNvPr id="78858" name="组合 717833"/>
            <p:cNvGrpSpPr/>
            <p:nvPr/>
          </p:nvGrpSpPr>
          <p:grpSpPr>
            <a:xfrm>
              <a:off x="1632" y="1344"/>
              <a:ext cx="2866" cy="889"/>
              <a:chOff x="2592" y="816"/>
              <a:chExt cx="2866" cy="889"/>
            </a:xfrm>
          </p:grpSpPr>
          <p:sp>
            <p:nvSpPr>
              <p:cNvPr id="78859" name="矩形 717834"/>
              <p:cNvSpPr/>
              <p:nvPr/>
            </p:nvSpPr>
            <p:spPr>
              <a:xfrm>
                <a:off x="3254" y="1310"/>
                <a:ext cx="244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36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860" name="矩形 717835"/>
              <p:cNvSpPr/>
              <p:nvPr/>
            </p:nvSpPr>
            <p:spPr>
              <a:xfrm>
                <a:off x="2774" y="1166"/>
                <a:ext cx="260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sz="36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</a:p>
            </p:txBody>
          </p:sp>
          <p:sp>
            <p:nvSpPr>
              <p:cNvPr id="78861" name="矩形 717836"/>
              <p:cNvSpPr/>
              <p:nvPr/>
            </p:nvSpPr>
            <p:spPr>
              <a:xfrm>
                <a:off x="2592" y="1166"/>
                <a:ext cx="278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sz="36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=</a:t>
                </a:r>
              </a:p>
            </p:txBody>
          </p:sp>
          <p:sp>
            <p:nvSpPr>
              <p:cNvPr id="78862" name="矩形 717837"/>
              <p:cNvSpPr/>
              <p:nvPr/>
            </p:nvSpPr>
            <p:spPr>
              <a:xfrm>
                <a:off x="5078" y="1166"/>
                <a:ext cx="320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sz="3600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800" b="0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  <a:endParaRPr lang="en-US" altLang="zh-CN" sz="36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863" name="矩形 717838"/>
              <p:cNvSpPr/>
              <p:nvPr/>
            </p:nvSpPr>
            <p:spPr>
              <a:xfrm>
                <a:off x="2870" y="1119"/>
                <a:ext cx="436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sz="40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π</a:t>
                </a:r>
              </a:p>
            </p:txBody>
          </p:sp>
          <p:sp>
            <p:nvSpPr>
              <p:cNvPr id="78864" name="矩形 717839"/>
              <p:cNvSpPr/>
              <p:nvPr/>
            </p:nvSpPr>
            <p:spPr>
              <a:xfrm>
                <a:off x="3110" y="1166"/>
                <a:ext cx="212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sz="36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78865" name="矩形 717840"/>
              <p:cNvSpPr/>
              <p:nvPr/>
            </p:nvSpPr>
            <p:spPr>
              <a:xfrm>
                <a:off x="4023" y="1166"/>
                <a:ext cx="212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sz="36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78866" name="直接连接符 717841"/>
              <p:cNvSpPr/>
              <p:nvPr/>
            </p:nvSpPr>
            <p:spPr>
              <a:xfrm>
                <a:off x="3216" y="1359"/>
                <a:ext cx="81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78867" name="矩形 717842"/>
              <p:cNvSpPr/>
              <p:nvPr/>
            </p:nvSpPr>
            <p:spPr>
              <a:xfrm>
                <a:off x="3446" y="1022"/>
                <a:ext cx="301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</a:t>
                </a:r>
                <a:endParaRPr lang="en-US" altLang="zh-CN" sz="36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868" name="矩形 717843"/>
              <p:cNvSpPr/>
              <p:nvPr/>
            </p:nvSpPr>
            <p:spPr>
              <a:xfrm>
                <a:off x="3350" y="1263"/>
                <a:ext cx="436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sz="40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π</a:t>
                </a:r>
              </a:p>
            </p:txBody>
          </p:sp>
          <p:sp>
            <p:nvSpPr>
              <p:cNvPr id="78869" name="矩形 717844"/>
              <p:cNvSpPr/>
              <p:nvPr/>
            </p:nvSpPr>
            <p:spPr>
              <a:xfrm>
                <a:off x="4118" y="960"/>
                <a:ext cx="18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</a:p>
            </p:txBody>
          </p:sp>
          <p:sp>
            <p:nvSpPr>
              <p:cNvPr id="78870" name="矩形 717845"/>
              <p:cNvSpPr/>
              <p:nvPr/>
            </p:nvSpPr>
            <p:spPr>
              <a:xfrm>
                <a:off x="4118" y="1152"/>
                <a:ext cx="18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78871" name="直接连接符 717846"/>
              <p:cNvSpPr/>
              <p:nvPr/>
            </p:nvSpPr>
            <p:spPr>
              <a:xfrm>
                <a:off x="4128" y="1167"/>
                <a:ext cx="192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78872" name="矩形 717847"/>
              <p:cNvSpPr/>
              <p:nvPr/>
            </p:nvSpPr>
            <p:spPr>
              <a:xfrm>
                <a:off x="4272" y="1200"/>
                <a:ext cx="346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sz="36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endParaRPr lang="en-US" altLang="zh-CN" sz="4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78873" name="组合 717848"/>
              <p:cNvGrpSpPr/>
              <p:nvPr/>
            </p:nvGrpSpPr>
            <p:grpSpPr>
              <a:xfrm>
                <a:off x="4416" y="816"/>
                <a:ext cx="764" cy="672"/>
                <a:chOff x="4512" y="720"/>
                <a:chExt cx="764" cy="672"/>
              </a:xfrm>
            </p:grpSpPr>
            <p:sp>
              <p:nvSpPr>
                <p:cNvPr id="78874" name="矩形 717849"/>
                <p:cNvSpPr/>
                <p:nvPr/>
              </p:nvSpPr>
              <p:spPr>
                <a:xfrm>
                  <a:off x="4704" y="720"/>
                  <a:ext cx="453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075" tIns="46038" rIns="92075" bIns="46038" anchor="t" anchorCtr="0">
                  <a:spAutoFit/>
                </a:bodyPr>
                <a:lstStyle/>
                <a:p>
                  <a:pPr eaLnBrk="0" hangingPunct="0"/>
                  <a:r>
                    <a:rPr lang="en-US" altLang="zh-CN" sz="2800" b="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mv</a:t>
                  </a:r>
                  <a:r>
                    <a:rPr lang="en-US" altLang="zh-CN" sz="2800" b="0" i="1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</a:t>
                  </a:r>
                  <a:endParaRPr lang="en-US" altLang="zh-CN" sz="2800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8875" name="直接连接符 717850"/>
                <p:cNvSpPr/>
                <p:nvPr/>
              </p:nvSpPr>
              <p:spPr>
                <a:xfrm>
                  <a:off x="4704" y="1071"/>
                  <a:ext cx="432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78876" name="矩形 717851"/>
                <p:cNvSpPr/>
                <p:nvPr/>
              </p:nvSpPr>
              <p:spPr>
                <a:xfrm>
                  <a:off x="4704" y="1104"/>
                  <a:ext cx="538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2075" tIns="46038" rIns="92075" bIns="46038" anchor="t" anchorCtr="0">
                  <a:spAutoFit/>
                </a:bodyPr>
                <a:lstStyle/>
                <a:p>
                  <a:pPr eaLnBrk="0" hangingPunct="0"/>
                  <a:r>
                    <a:rPr lang="en-US" altLang="zh-CN" sz="2400" b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</a:t>
                  </a:r>
                  <a:r>
                    <a:rPr lang="en-US" altLang="zh-CN" sz="2400" b="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kT</a:t>
                  </a:r>
                </a:p>
              </p:txBody>
            </p:sp>
            <p:sp>
              <p:nvSpPr>
                <p:cNvPr id="78877" name="直接连接符 717852"/>
                <p:cNvSpPr/>
                <p:nvPr/>
              </p:nvSpPr>
              <p:spPr>
                <a:xfrm>
                  <a:off x="4512" y="1071"/>
                  <a:ext cx="96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78878" name="矩形 717853"/>
                <p:cNvSpPr/>
                <p:nvPr/>
              </p:nvSpPr>
              <p:spPr>
                <a:xfrm>
                  <a:off x="5088" y="720"/>
                  <a:ext cx="188" cy="23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075" tIns="46038" rIns="92075" bIns="46038" anchor="t" anchorCtr="0">
                  <a:spAutoFit/>
                </a:bodyPr>
                <a:lstStyle/>
                <a:p>
                  <a:pPr eaLnBrk="0" hangingPunct="0"/>
                  <a:r>
                    <a:rPr lang="en-US" altLang="zh-CN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</a:t>
                  </a:r>
                </a:p>
              </p:txBody>
            </p:sp>
          </p:grpSp>
          <p:sp>
            <p:nvSpPr>
              <p:cNvPr id="78879" name="矩形 717854"/>
              <p:cNvSpPr/>
              <p:nvPr/>
            </p:nvSpPr>
            <p:spPr>
              <a:xfrm>
                <a:off x="5270" y="1104"/>
                <a:ext cx="18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78880" name="矩形 717855"/>
              <p:cNvSpPr/>
              <p:nvPr/>
            </p:nvSpPr>
            <p:spPr>
              <a:xfrm>
                <a:off x="3600" y="1344"/>
                <a:ext cx="38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sz="2800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kT</a:t>
                </a:r>
                <a:endParaRPr lang="en-US" altLang="zh-CN" sz="36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8881" name="矩形 717856"/>
            <p:cNvSpPr/>
            <p:nvPr/>
          </p:nvSpPr>
          <p:spPr>
            <a:xfrm>
              <a:off x="4416" y="1726"/>
              <a:ext cx="454" cy="4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△</a:t>
              </a: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</a:p>
          </p:txBody>
        </p:sp>
      </p:grpSp>
      <p:grpSp>
        <p:nvGrpSpPr>
          <p:cNvPr id="6" name="组合 717857"/>
          <p:cNvGrpSpPr/>
          <p:nvPr/>
        </p:nvGrpSpPr>
        <p:grpSpPr>
          <a:xfrm>
            <a:off x="4859338" y="3644900"/>
            <a:ext cx="2301875" cy="1004888"/>
            <a:chOff x="3696" y="2256"/>
            <a:chExt cx="1450" cy="633"/>
          </a:xfrm>
        </p:grpSpPr>
        <p:sp>
          <p:nvSpPr>
            <p:cNvPr id="78883" name="矩形 717858"/>
            <p:cNvSpPr/>
            <p:nvPr/>
          </p:nvSpPr>
          <p:spPr>
            <a:xfrm>
              <a:off x="3696" y="2305"/>
              <a:ext cx="244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 anchorCtr="0">
              <a:spAutoFit/>
            </a:bodyPr>
            <a:lstStyle/>
            <a:p>
              <a:pPr eaLnBrk="0" hangingPunct="0"/>
              <a:r>
                <a:rPr lang="en-US" altLang="zh-CN" sz="36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</a:p>
          </p:txBody>
        </p:sp>
        <p:sp>
          <p:nvSpPr>
            <p:cNvPr id="78884" name="矩形 717859"/>
            <p:cNvSpPr/>
            <p:nvPr/>
          </p:nvSpPr>
          <p:spPr>
            <a:xfrm>
              <a:off x="3888" y="2448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 anchorCtr="0">
              <a:spAutoFit/>
            </a:bodyPr>
            <a:lstStyle/>
            <a:p>
              <a:pPr eaLnBrk="0" hangingPunct="0"/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78885" name="文本框 717860"/>
            <p:cNvSpPr txBox="1"/>
            <p:nvPr/>
          </p:nvSpPr>
          <p:spPr>
            <a:xfrm>
              <a:off x="4090" y="2349"/>
              <a:ext cx="260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/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</a:p>
          </p:txBody>
        </p:sp>
        <p:sp>
          <p:nvSpPr>
            <p:cNvPr id="78886" name="直接连接符 717861"/>
            <p:cNvSpPr/>
            <p:nvPr/>
          </p:nvSpPr>
          <p:spPr>
            <a:xfrm flipH="1">
              <a:off x="4378" y="2257"/>
              <a:ext cx="144" cy="48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78887" name="直接连接符 717862"/>
            <p:cNvSpPr/>
            <p:nvPr/>
          </p:nvSpPr>
          <p:spPr>
            <a:xfrm flipV="1">
              <a:off x="4522" y="2256"/>
              <a:ext cx="624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78888" name="直接连接符 717863"/>
            <p:cNvSpPr/>
            <p:nvPr/>
          </p:nvSpPr>
          <p:spPr>
            <a:xfrm flipH="1">
              <a:off x="4282" y="2641"/>
              <a:ext cx="48" cy="14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78889" name="直接连接符 717864"/>
            <p:cNvSpPr/>
            <p:nvPr/>
          </p:nvSpPr>
          <p:spPr>
            <a:xfrm>
              <a:off x="4330" y="2593"/>
              <a:ext cx="48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78890" name="矩形 717865"/>
            <p:cNvSpPr/>
            <p:nvPr/>
          </p:nvSpPr>
          <p:spPr>
            <a:xfrm>
              <a:off x="4570" y="2256"/>
              <a:ext cx="45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 anchorCtr="0">
              <a:spAutoFit/>
            </a:bodyPr>
            <a:lstStyle/>
            <a:p>
              <a:pPr eaLnBrk="0" hangingPunct="0"/>
              <a:r>
                <a:rPr lang="en-US" altLang="zh-CN" sz="2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8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kT</a:t>
              </a:r>
              <a:endPara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891" name="直接连接符 717866"/>
            <p:cNvSpPr/>
            <p:nvPr/>
          </p:nvSpPr>
          <p:spPr>
            <a:xfrm flipV="1">
              <a:off x="4570" y="2544"/>
              <a:ext cx="576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78892" name="矩形 717867"/>
            <p:cNvSpPr/>
            <p:nvPr/>
          </p:nvSpPr>
          <p:spPr>
            <a:xfrm>
              <a:off x="4608" y="2524"/>
              <a:ext cx="44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t" anchorCtr="0">
              <a:spAutoFit/>
            </a:bodyPr>
            <a:lstStyle/>
            <a:p>
              <a:pPr eaLnBrk="0" hangingPunct="0"/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</a:p>
          </p:txBody>
        </p:sp>
      </p:grpSp>
      <p:sp>
        <p:nvSpPr>
          <p:cNvPr id="78893" name="矩形 717868"/>
          <p:cNvSpPr/>
          <p:nvPr/>
        </p:nvSpPr>
        <p:spPr>
          <a:xfrm>
            <a:off x="7773988" y="4281488"/>
            <a:ext cx="184150" cy="3667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lstStyle/>
          <a:p>
            <a:pPr eaLnBrk="0" hangingPunct="0"/>
            <a:endParaRPr lang="zh-CN" altLang="zh-CN" sz="1800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" name="组合 717869"/>
          <p:cNvGrpSpPr/>
          <p:nvPr/>
        </p:nvGrpSpPr>
        <p:grpSpPr>
          <a:xfrm>
            <a:off x="1371600" y="4495800"/>
            <a:ext cx="6502400" cy="1531938"/>
            <a:chOff x="864" y="2832"/>
            <a:chExt cx="4096" cy="965"/>
          </a:xfrm>
        </p:grpSpPr>
        <p:grpSp>
          <p:nvGrpSpPr>
            <p:cNvPr id="78895" name="组合 717870"/>
            <p:cNvGrpSpPr/>
            <p:nvPr/>
          </p:nvGrpSpPr>
          <p:grpSpPr>
            <a:xfrm>
              <a:off x="1440" y="2832"/>
              <a:ext cx="3520" cy="965"/>
              <a:chOff x="1440" y="2544"/>
              <a:chExt cx="3520" cy="965"/>
            </a:xfrm>
          </p:grpSpPr>
          <p:sp>
            <p:nvSpPr>
              <p:cNvPr id="78896" name="矩形 717871"/>
              <p:cNvSpPr/>
              <p:nvPr/>
            </p:nvSpPr>
            <p:spPr>
              <a:xfrm>
                <a:off x="1872" y="2688"/>
                <a:ext cx="260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sz="36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</a:p>
            </p:txBody>
          </p:sp>
          <p:sp>
            <p:nvSpPr>
              <p:cNvPr id="78897" name="矩形 717872"/>
              <p:cNvSpPr/>
              <p:nvPr/>
            </p:nvSpPr>
            <p:spPr>
              <a:xfrm>
                <a:off x="1440" y="2832"/>
                <a:ext cx="278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sz="36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=</a:t>
                </a:r>
              </a:p>
            </p:txBody>
          </p:sp>
          <p:sp>
            <p:nvSpPr>
              <p:cNvPr id="78898" name="矩形 717873"/>
              <p:cNvSpPr/>
              <p:nvPr/>
            </p:nvSpPr>
            <p:spPr>
              <a:xfrm>
                <a:off x="2400" y="2990"/>
                <a:ext cx="320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sz="3600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800" b="0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  <a:endParaRPr lang="en-US" altLang="zh-CN" sz="36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899" name="矩形 717874"/>
              <p:cNvSpPr/>
              <p:nvPr/>
            </p:nvSpPr>
            <p:spPr>
              <a:xfrm>
                <a:off x="1776" y="3024"/>
                <a:ext cx="720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sz="40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π</a:t>
                </a:r>
              </a:p>
            </p:txBody>
          </p:sp>
          <p:sp>
            <p:nvSpPr>
              <p:cNvPr id="78900" name="矩形 717875"/>
              <p:cNvSpPr/>
              <p:nvPr/>
            </p:nvSpPr>
            <p:spPr>
              <a:xfrm>
                <a:off x="2160" y="2784"/>
                <a:ext cx="212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sz="36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78901" name="矩形 717876"/>
              <p:cNvSpPr/>
              <p:nvPr/>
            </p:nvSpPr>
            <p:spPr>
              <a:xfrm>
                <a:off x="2880" y="2784"/>
                <a:ext cx="212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sz="36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78902" name="矩形 717877"/>
              <p:cNvSpPr/>
              <p:nvPr/>
            </p:nvSpPr>
            <p:spPr>
              <a:xfrm>
                <a:off x="2438" y="2654"/>
                <a:ext cx="244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36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903" name="矩形 717878"/>
              <p:cNvSpPr/>
              <p:nvPr/>
            </p:nvSpPr>
            <p:spPr>
              <a:xfrm>
                <a:off x="2976" y="2544"/>
                <a:ext cx="18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</a:p>
            </p:txBody>
          </p:sp>
          <p:sp>
            <p:nvSpPr>
              <p:cNvPr id="78904" name="矩形 717879"/>
              <p:cNvSpPr/>
              <p:nvPr/>
            </p:nvSpPr>
            <p:spPr>
              <a:xfrm>
                <a:off x="2976" y="2736"/>
                <a:ext cx="18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78905" name="直接连接符 717880"/>
              <p:cNvSpPr/>
              <p:nvPr/>
            </p:nvSpPr>
            <p:spPr>
              <a:xfrm>
                <a:off x="2986" y="2751"/>
                <a:ext cx="192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78906" name="矩形 717881"/>
              <p:cNvSpPr/>
              <p:nvPr/>
            </p:nvSpPr>
            <p:spPr>
              <a:xfrm>
                <a:off x="3744" y="2784"/>
                <a:ext cx="18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78907" name="矩形 717882"/>
              <p:cNvSpPr/>
              <p:nvPr/>
            </p:nvSpPr>
            <p:spPr>
              <a:xfrm>
                <a:off x="2592" y="2976"/>
                <a:ext cx="18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</a:p>
            </p:txBody>
          </p:sp>
          <p:grpSp>
            <p:nvGrpSpPr>
              <p:cNvPr id="78908" name="组合 717883"/>
              <p:cNvGrpSpPr/>
              <p:nvPr/>
            </p:nvGrpSpPr>
            <p:grpSpPr>
              <a:xfrm>
                <a:off x="3168" y="2784"/>
                <a:ext cx="476" cy="452"/>
                <a:chOff x="3264" y="2784"/>
                <a:chExt cx="476" cy="452"/>
              </a:xfrm>
            </p:grpSpPr>
            <p:sp>
              <p:nvSpPr>
                <p:cNvPr id="78909" name="矩形 717884"/>
                <p:cNvSpPr/>
                <p:nvPr/>
              </p:nvSpPr>
              <p:spPr>
                <a:xfrm>
                  <a:off x="3264" y="2832"/>
                  <a:ext cx="346" cy="40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2075" tIns="46038" rIns="92075" bIns="46038" anchor="t" anchorCtr="0">
                  <a:spAutoFit/>
                </a:bodyPr>
                <a:lstStyle/>
                <a:p>
                  <a:pPr eaLnBrk="0" hangingPunct="0"/>
                  <a:r>
                    <a:rPr lang="en-US" altLang="zh-CN" sz="3600" b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e</a:t>
                  </a:r>
                  <a:endParaRPr lang="en-US" altLang="zh-CN" sz="44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8910" name="直接连接符 717885"/>
                <p:cNvSpPr/>
                <p:nvPr/>
              </p:nvSpPr>
              <p:spPr>
                <a:xfrm>
                  <a:off x="3456" y="2928"/>
                  <a:ext cx="96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78911" name="文本框 717886"/>
                <p:cNvSpPr txBox="1"/>
                <p:nvPr/>
              </p:nvSpPr>
              <p:spPr>
                <a:xfrm>
                  <a:off x="3552" y="2784"/>
                  <a:ext cx="188" cy="26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</a:p>
              </p:txBody>
            </p:sp>
          </p:grpSp>
          <p:sp>
            <p:nvSpPr>
              <p:cNvPr id="78912" name="直接连接符 717887"/>
              <p:cNvSpPr/>
              <p:nvPr/>
            </p:nvSpPr>
            <p:spPr>
              <a:xfrm>
                <a:off x="2352" y="3024"/>
                <a:ext cx="52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8913" name="矩形 717888"/>
              <p:cNvSpPr/>
              <p:nvPr/>
            </p:nvSpPr>
            <p:spPr>
              <a:xfrm>
                <a:off x="3744" y="2777"/>
                <a:ext cx="1216" cy="4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800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（</a:t>
                </a:r>
                <a:r>
                  <a:rPr lang="en-US" altLang="zh-CN" sz="2800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0.01 </a:t>
                </a:r>
                <a:r>
                  <a:rPr lang="en-US" altLang="zh-CN" sz="3600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800" b="0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  <a:r>
                  <a:rPr lang="zh-CN" altLang="en-US" sz="2800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）</a:t>
                </a:r>
                <a:endParaRPr lang="zh-CN" altLang="en-US" sz="2800" b="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914" name="矩形 717889"/>
              <p:cNvSpPr/>
              <p:nvPr/>
            </p:nvSpPr>
            <p:spPr>
              <a:xfrm>
                <a:off x="3552" y="2832"/>
                <a:ext cx="320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 anchorCtr="0">
                <a:spAutoFit/>
              </a:bodyPr>
              <a:lstStyle/>
              <a:p>
                <a:pPr eaLnBrk="0" hangingPunct="0"/>
                <a:r>
                  <a:rPr lang="en-US" altLang="zh-CN" sz="3600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800" b="0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  <a:endParaRPr lang="en-US" altLang="zh-CN" sz="36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915" name="直接连接符 717890"/>
              <p:cNvSpPr/>
              <p:nvPr/>
            </p:nvSpPr>
            <p:spPr>
              <a:xfrm>
                <a:off x="1824" y="3024"/>
                <a:ext cx="3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8916" name="矩形 717891"/>
              <p:cNvSpPr/>
              <p:nvPr/>
            </p:nvSpPr>
            <p:spPr>
              <a:xfrm>
                <a:off x="1618" y="2990"/>
                <a:ext cx="436" cy="51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40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√</a:t>
                </a:r>
              </a:p>
            </p:txBody>
          </p:sp>
          <p:sp>
            <p:nvSpPr>
              <p:cNvPr id="78917" name="直接连接符 717892"/>
              <p:cNvSpPr/>
              <p:nvPr/>
            </p:nvSpPr>
            <p:spPr>
              <a:xfrm>
                <a:off x="1844" y="3055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78918" name="矩形 717893"/>
            <p:cNvSpPr/>
            <p:nvPr/>
          </p:nvSpPr>
          <p:spPr>
            <a:xfrm>
              <a:off x="912" y="2976"/>
              <a:ext cx="4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 anchorCtr="0">
              <a:spAutoFit/>
            </a:bodyPr>
            <a:lstStyle/>
            <a:p>
              <a:pPr eaLnBrk="0" hangingPunct="0"/>
              <a:r>
                <a:rPr lang="en-US" altLang="zh-CN" sz="2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△</a:t>
              </a:r>
              <a:r>
                <a:rPr lang="en-US" altLang="zh-CN" sz="28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919" name="直接连接符 717894"/>
            <p:cNvSpPr/>
            <p:nvPr/>
          </p:nvSpPr>
          <p:spPr>
            <a:xfrm>
              <a:off x="864" y="3312"/>
              <a:ext cx="56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78920" name="矩形 717895"/>
            <p:cNvSpPr/>
            <p:nvPr/>
          </p:nvSpPr>
          <p:spPr>
            <a:xfrm>
              <a:off x="1008" y="3312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t" anchorCtr="0">
              <a:spAutoFit/>
            </a:bodyPr>
            <a:lstStyle/>
            <a:p>
              <a:pPr eaLnBrk="0" hangingPunct="0"/>
              <a:r>
                <a:rPr lang="en-US" altLang="zh-CN" sz="28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17897" name="文本框 717896"/>
          <p:cNvSpPr txBox="1"/>
          <p:nvPr/>
        </p:nvSpPr>
        <p:spPr>
          <a:xfrm>
            <a:off x="2286000" y="5943600"/>
            <a:ext cx="1563688" cy="6826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0.83%</a:t>
            </a:r>
          </a:p>
        </p:txBody>
      </p:sp>
      <p:sp>
        <p:nvSpPr>
          <p:cNvPr id="717898" name="文本框 717897"/>
          <p:cNvSpPr txBox="1"/>
          <p:nvPr/>
        </p:nvSpPr>
        <p:spPr>
          <a:xfrm>
            <a:off x="684213" y="1412875"/>
            <a:ext cx="898525" cy="6048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</a:p>
        </p:txBody>
      </p:sp>
      <p:graphicFrame>
        <p:nvGraphicFramePr>
          <p:cNvPr id="78923" name="对象 717898"/>
          <p:cNvGraphicFramePr/>
          <p:nvPr/>
        </p:nvGraphicFramePr>
        <p:xfrm>
          <a:off x="7164388" y="5949950"/>
          <a:ext cx="1944687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2" r:id="rId3" imgW="787400" imgH="419100" progId="Equation.3">
                  <p:embed/>
                </p:oleObj>
              </mc:Choice>
              <mc:Fallback>
                <p:oleObj r:id="rId3" imgW="787400" imgH="419100" progId="Equation.3">
                  <p:embed/>
                  <p:pic>
                    <p:nvPicPr>
                      <p:cNvPr id="0" name="图片 32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64388" y="5949950"/>
                        <a:ext cx="1944687" cy="86836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8F8FE"/>
                          </a:gs>
                          <a:gs pos="50000">
                            <a:srgbClr val="FFFFFF"/>
                          </a:gs>
                          <a:gs pos="100000">
                            <a:srgbClr val="E8F8FE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7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7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1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826" grpId="0"/>
      <p:bldP spid="717827" grpId="0"/>
      <p:bldP spid="717897" grpId="0"/>
      <p:bldP spid="71789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30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719874" name="文本框 719873"/>
          <p:cNvSpPr txBox="1"/>
          <p:nvPr/>
        </p:nvSpPr>
        <p:spPr>
          <a:xfrm>
            <a:off x="555625" y="260350"/>
            <a:ext cx="63404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2. </a:t>
            </a:r>
            <a:r>
              <a:rPr kumimoji="0" lang="zh-CN" altLang="en-US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平均速率</a:t>
            </a:r>
            <a:r>
              <a:rPr kumimoji="0" lang="zh-CN" altLang="en-US" b="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（</a:t>
            </a:r>
            <a:r>
              <a:rPr kumimoji="0" lang="en-US" altLang="zh-CN" b="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average speed</a:t>
            </a:r>
            <a:r>
              <a:rPr kumimoji="0" lang="zh-CN" altLang="en-US" b="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）</a:t>
            </a:r>
          </a:p>
        </p:txBody>
      </p:sp>
      <p:sp>
        <p:nvSpPr>
          <p:cNvPr id="719875" name="矩形 719874"/>
          <p:cNvSpPr/>
          <p:nvPr/>
        </p:nvSpPr>
        <p:spPr>
          <a:xfrm>
            <a:off x="1038225" y="5524500"/>
            <a:ext cx="24828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平均值计算式为</a:t>
            </a:r>
          </a:p>
        </p:txBody>
      </p:sp>
      <p:graphicFrame>
        <p:nvGraphicFramePr>
          <p:cNvPr id="719876" name="对象 719875"/>
          <p:cNvGraphicFramePr/>
          <p:nvPr/>
        </p:nvGraphicFramePr>
        <p:xfrm>
          <a:off x="3871913" y="4724400"/>
          <a:ext cx="24765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1" r:id="rId3" imgW="948055" imgH="925830" progId="Equation.3">
                  <p:embed/>
                </p:oleObj>
              </mc:Choice>
              <mc:Fallback>
                <p:oleObj r:id="rId3" imgW="948055" imgH="925830" progId="Equation.3">
                  <p:embed/>
                  <p:pic>
                    <p:nvPicPr>
                      <p:cNvPr id="0" name="图片 322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71913" y="4724400"/>
                        <a:ext cx="2476500" cy="213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7" name="对象 719882"/>
          <p:cNvGraphicFramePr/>
          <p:nvPr/>
        </p:nvGraphicFramePr>
        <p:xfrm>
          <a:off x="7092950" y="44450"/>
          <a:ext cx="1944688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2" r:id="rId5" imgW="787400" imgH="419100" progId="Equation.3">
                  <p:embed/>
                </p:oleObj>
              </mc:Choice>
              <mc:Fallback>
                <p:oleObj r:id="rId5" imgW="787400" imgH="419100" progId="Equation.3">
                  <p:embed/>
                  <p:pic>
                    <p:nvPicPr>
                      <p:cNvPr id="0" name="图片 322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92950" y="44450"/>
                        <a:ext cx="1944688" cy="100806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8F8FE"/>
                          </a:gs>
                          <a:gs pos="50000">
                            <a:srgbClr val="FFFFFF"/>
                          </a:gs>
                          <a:gs pos="100000">
                            <a:srgbClr val="E8F8FE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/>
          <p:nvPr/>
        </p:nvGraphicFramePr>
        <p:xfrm>
          <a:off x="2992438" y="1493838"/>
          <a:ext cx="2409825" cy="162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3" r:id="rId7" imgW="862965" imgH="647700" progId="Equation.3">
                  <p:embed/>
                </p:oleObj>
              </mc:Choice>
              <mc:Fallback>
                <p:oleObj r:id="rId7" imgW="862965" imgH="647700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92438" y="1493838"/>
                        <a:ext cx="2409825" cy="1627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757238" y="3536950"/>
          <a:ext cx="2697162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4" r:id="rId9" imgW="837565" imgH="482600" progId="Equation.3">
                  <p:embed/>
                </p:oleObj>
              </mc:Choice>
              <mc:Fallback>
                <p:oleObj r:id="rId9" imgW="837565" imgH="48260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7238" y="3536950"/>
                        <a:ext cx="2697162" cy="1241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1150938" y="917575"/>
            <a:ext cx="40322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全空间 速率平均值</a:t>
            </a:r>
          </a:p>
        </p:txBody>
      </p:sp>
      <p:graphicFrame>
        <p:nvGraphicFramePr>
          <p:cNvPr id="7" name="对象 6"/>
          <p:cNvGraphicFramePr/>
          <p:nvPr/>
        </p:nvGraphicFramePr>
        <p:xfrm>
          <a:off x="415925" y="1781175"/>
          <a:ext cx="2449513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5" r:id="rId11" imgW="951865" imgH="635000" progId="Equation.DSMT4">
                  <p:embed/>
                </p:oleObj>
              </mc:Choice>
              <mc:Fallback>
                <p:oleObj r:id="rId11" imgW="951865" imgH="635000" progId="Equation.DSMT4">
                  <p:embed/>
                  <p:pic>
                    <p:nvPicPr>
                      <p:cNvPr id="0" name="图片 323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5925" y="1781175"/>
                        <a:ext cx="2449513" cy="1628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/>
          <p:nvPr/>
        </p:nvGraphicFramePr>
        <p:xfrm>
          <a:off x="5457825" y="3683000"/>
          <a:ext cx="280035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6" r:id="rId13" imgW="1231265" imgH="444500" progId="Equation.3">
                  <p:embed/>
                </p:oleObj>
              </mc:Choice>
              <mc:Fallback>
                <p:oleObj r:id="rId13" imgW="1231265" imgH="444500" progId="Equation.3">
                  <p:embed/>
                  <p:pic>
                    <p:nvPicPr>
                      <p:cNvPr id="0" name="图片 323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57825" y="3683000"/>
                        <a:ext cx="2800350" cy="10064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CC99"/>
                          </a:gs>
                          <a:gs pos="50000">
                            <a:schemeClr val="bg1"/>
                          </a:gs>
                          <a:gs pos="100000">
                            <a:srgbClr val="00CC99"/>
                          </a:gs>
                        </a:gsLst>
                        <a:lin ang="5400000" scaled="1"/>
                        <a:tileRect/>
                      </a:gra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3514725" y="3725863"/>
            <a:ext cx="1828800" cy="82232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代入麦氏分布函数得：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71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71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874" grpId="0"/>
      <p:bldP spid="719875" grpId="0"/>
      <p:bldP spid="6" grpId="0"/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文本框 566273"/>
          <p:cNvSpPr txBox="1"/>
          <p:nvPr/>
        </p:nvSpPr>
        <p:spPr>
          <a:xfrm>
            <a:off x="395288" y="188913"/>
            <a:ext cx="8529637" cy="977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rgbClr val="CC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例</a:t>
            </a:r>
            <a:r>
              <a:rPr lang="en-US" altLang="zh-CN" sz="2400" dirty="0">
                <a:solidFill>
                  <a:srgbClr val="CC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、一气缸内盛有一定量的单原子理想气体，若绝热压缩使其容积减半。问气体分子平均速率为原来的几倍？</a:t>
            </a:r>
          </a:p>
        </p:txBody>
      </p:sp>
      <p:sp>
        <p:nvSpPr>
          <p:cNvPr id="566275" name="文本框 566274"/>
          <p:cNvSpPr txBox="1"/>
          <p:nvPr/>
        </p:nvSpPr>
        <p:spPr>
          <a:xfrm>
            <a:off x="468313" y="1314450"/>
            <a:ext cx="795337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CC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解：</a:t>
            </a:r>
          </a:p>
        </p:txBody>
      </p:sp>
      <p:graphicFrame>
        <p:nvGraphicFramePr>
          <p:cNvPr id="566276" name="对象 566275"/>
          <p:cNvGraphicFramePr/>
          <p:nvPr/>
        </p:nvGraphicFramePr>
        <p:xfrm>
          <a:off x="1331913" y="1482725"/>
          <a:ext cx="2573337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9" r:id="rId3" imgW="1066165" imgH="241300" progId="Equation.DSMT4">
                  <p:embed/>
                </p:oleObj>
              </mc:Choice>
              <mc:Fallback>
                <p:oleObj r:id="rId3" imgW="1066165" imgH="241300" progId="Equation.DSMT4">
                  <p:embed/>
                  <p:pic>
                    <p:nvPicPr>
                      <p:cNvPr id="0" name="图片 323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1482725"/>
                        <a:ext cx="2573337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77" name="对象 566276"/>
          <p:cNvGraphicFramePr/>
          <p:nvPr/>
        </p:nvGraphicFramePr>
        <p:xfrm>
          <a:off x="1403350" y="2076450"/>
          <a:ext cx="1944688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0" r:id="rId5" imgW="927100" imgH="508000" progId="Equation.DSMT4">
                  <p:embed/>
                </p:oleObj>
              </mc:Choice>
              <mc:Fallback>
                <p:oleObj r:id="rId5" imgW="927100" imgH="508000" progId="Equation.DSMT4">
                  <p:embed/>
                  <p:pic>
                    <p:nvPicPr>
                      <p:cNvPr id="0" name="图片 323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3350" y="2076450"/>
                        <a:ext cx="1944688" cy="1065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78" name="对象 566277"/>
          <p:cNvGraphicFramePr/>
          <p:nvPr/>
        </p:nvGraphicFramePr>
        <p:xfrm>
          <a:off x="1563688" y="3429000"/>
          <a:ext cx="2162175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1" r:id="rId7" imgW="812165" imgH="444500" progId="Equation.DSMT4">
                  <p:embed/>
                </p:oleObj>
              </mc:Choice>
              <mc:Fallback>
                <p:oleObj r:id="rId7" imgW="812165" imgH="444500" progId="Equation.DSMT4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63688" y="3429000"/>
                        <a:ext cx="2162175" cy="1187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79" name="对象 566278"/>
          <p:cNvGraphicFramePr/>
          <p:nvPr/>
        </p:nvGraphicFramePr>
        <p:xfrm>
          <a:off x="900113" y="4652963"/>
          <a:ext cx="6978650" cy="137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2" r:id="rId9" imgW="2894330" imgH="571500" progId="Equation.DSMT4">
                  <p:embed/>
                </p:oleObj>
              </mc:Choice>
              <mc:Fallback>
                <p:oleObj r:id="rId9" imgW="2894330" imgH="571500" progId="Equation.DSMT4">
                  <p:embed/>
                  <p:pic>
                    <p:nvPicPr>
                      <p:cNvPr id="0" name="图片 3236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4652963"/>
                        <a:ext cx="6978650" cy="1376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566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6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6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6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627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32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graphicFrame>
        <p:nvGraphicFramePr>
          <p:cNvPr id="720901" name="对象 720900"/>
          <p:cNvGraphicFramePr/>
          <p:nvPr/>
        </p:nvGraphicFramePr>
        <p:xfrm>
          <a:off x="3554413" y="1911350"/>
          <a:ext cx="2066925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9" r:id="rId3" imgW="838200" imgH="444500" progId="Equation.3">
                  <p:embed/>
                </p:oleObj>
              </mc:Choice>
              <mc:Fallback>
                <p:oleObj r:id="rId3" imgW="838200" imgH="444500" progId="Equation.3">
                  <p:embed/>
                  <p:pic>
                    <p:nvPicPr>
                      <p:cNvPr id="0" name="图片 323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54413" y="1911350"/>
                        <a:ext cx="2066925" cy="109696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3300"/>
                          </a:gs>
                          <a:gs pos="50000">
                            <a:srgbClr val="FFFF00"/>
                          </a:gs>
                          <a:gs pos="100000">
                            <a:srgbClr val="CC3300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902" name="对象 720901"/>
          <p:cNvGraphicFramePr/>
          <p:nvPr/>
        </p:nvGraphicFramePr>
        <p:xfrm>
          <a:off x="5632450" y="1939925"/>
          <a:ext cx="1439863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0" r:id="rId5" imgW="584200" imgH="444500" progId="Equation.3">
                  <p:embed/>
                </p:oleObj>
              </mc:Choice>
              <mc:Fallback>
                <p:oleObj r:id="rId5" imgW="584200" imgH="444500" progId="Equation.3">
                  <p:embed/>
                  <p:pic>
                    <p:nvPicPr>
                      <p:cNvPr id="0" name="图片 323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32450" y="1939925"/>
                        <a:ext cx="1439863" cy="103663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3300"/>
                          </a:gs>
                          <a:gs pos="50000">
                            <a:srgbClr val="FFFF00"/>
                          </a:gs>
                          <a:gs pos="100000">
                            <a:srgbClr val="CC3300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720920"/>
          <p:cNvGrpSpPr/>
          <p:nvPr/>
        </p:nvGrpSpPr>
        <p:grpSpPr>
          <a:xfrm>
            <a:off x="782638" y="1357313"/>
            <a:ext cx="2686050" cy="2005012"/>
            <a:chOff x="493" y="855"/>
            <a:chExt cx="1692" cy="1263"/>
          </a:xfrm>
        </p:grpSpPr>
        <p:graphicFrame>
          <p:nvGraphicFramePr>
            <p:cNvPr id="81925" name="对象 720897"/>
            <p:cNvGraphicFramePr/>
            <p:nvPr/>
          </p:nvGraphicFramePr>
          <p:xfrm>
            <a:off x="496" y="1477"/>
            <a:ext cx="1024" cy="6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1" r:id="rId7" imgW="647065" imgH="405765" progId="Equation.3">
                    <p:embed/>
                  </p:oleObj>
                </mc:Choice>
                <mc:Fallback>
                  <p:oleObj r:id="rId7" imgW="647065" imgH="405765" progId="Equation.3">
                    <p:embed/>
                    <p:pic>
                      <p:nvPicPr>
                        <p:cNvPr id="0" name="图片 323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96" y="1477"/>
                          <a:ext cx="1024" cy="6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26" name="对象 720898"/>
            <p:cNvGraphicFramePr/>
            <p:nvPr/>
          </p:nvGraphicFramePr>
          <p:xfrm>
            <a:off x="493" y="855"/>
            <a:ext cx="1183" cy="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2" r:id="rId9" imgW="748665" imgH="405765" progId="Equation.3">
                    <p:embed/>
                  </p:oleObj>
                </mc:Choice>
                <mc:Fallback>
                  <p:oleObj r:id="rId9" imgW="748665" imgH="405765" progId="Equation.3">
                    <p:embed/>
                    <p:pic>
                      <p:nvPicPr>
                        <p:cNvPr id="0" name="图片 323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93" y="855"/>
                          <a:ext cx="1183" cy="6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927" name="右大括号 720899"/>
            <p:cNvSpPr/>
            <p:nvPr/>
          </p:nvSpPr>
          <p:spPr>
            <a:xfrm>
              <a:off x="1729" y="1162"/>
              <a:ext cx="60" cy="692"/>
            </a:xfrm>
            <a:prstGeom prst="rightBrace">
              <a:avLst>
                <a:gd name="adj1" fmla="val 95203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81928" name="直接连接符 720907"/>
            <p:cNvSpPr/>
            <p:nvPr/>
          </p:nvSpPr>
          <p:spPr>
            <a:xfrm>
              <a:off x="1849" y="1494"/>
              <a:ext cx="336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</p:spPr>
        </p:sp>
      </p:grpSp>
      <p:sp>
        <p:nvSpPr>
          <p:cNvPr id="720909" name="任意多边形 720908"/>
          <p:cNvSpPr/>
          <p:nvPr/>
        </p:nvSpPr>
        <p:spPr>
          <a:xfrm>
            <a:off x="5686425" y="3208338"/>
            <a:ext cx="719138" cy="863600"/>
          </a:xfrm>
          <a:custGeom>
            <a:avLst/>
            <a:gdLst/>
            <a:ahLst/>
            <a:cxnLst>
              <a:cxn ang="0">
                <a:pos x="513651" y="0"/>
              </a:cxn>
              <a:cxn ang="0">
                <a:pos x="308197" y="287867"/>
              </a:cxn>
              <a:cxn ang="0">
                <a:pos x="410941" y="287867"/>
              </a:cxn>
              <a:cxn ang="0">
                <a:pos x="410941" y="575733"/>
              </a:cxn>
              <a:cxn ang="0">
                <a:pos x="0" y="575733"/>
              </a:cxn>
              <a:cxn ang="0">
                <a:pos x="0" y="863600"/>
              </a:cxn>
              <a:cxn ang="0">
                <a:pos x="616394" y="863600"/>
              </a:cxn>
              <a:cxn ang="0">
                <a:pos x="616394" y="287867"/>
              </a:cxn>
              <a:cxn ang="0">
                <a:pos x="719138" y="287867"/>
              </a:cxn>
            </a:cxnLst>
            <a:rect l="0" t="0" r="0" b="0"/>
            <a:pathLst>
              <a:path w="21600" h="21600">
                <a:moveTo>
                  <a:pt x="15428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8" y="0"/>
                </a:lnTo>
                <a:close/>
              </a:path>
            </a:pathLst>
          </a:custGeom>
          <a:solidFill>
            <a:srgbClr val="99FF66">
              <a:alpha val="50195"/>
            </a:srgbClr>
          </a:solidFill>
          <a:ln w="9525"/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9FF66"/>
            </a:extrusionClr>
          </a:sp3d>
        </p:spPr>
        <p:txBody>
          <a:bodyPr/>
          <a:lstStyle/>
          <a:p>
            <a:endParaRPr lang="zh-CN" altLang="en-US"/>
          </a:p>
        </p:txBody>
      </p:sp>
      <p:grpSp>
        <p:nvGrpSpPr>
          <p:cNvPr id="3" name="组合 720909"/>
          <p:cNvGrpSpPr/>
          <p:nvPr/>
        </p:nvGrpSpPr>
        <p:grpSpPr>
          <a:xfrm>
            <a:off x="4238625" y="3379788"/>
            <a:ext cx="1260475" cy="1123950"/>
            <a:chOff x="4416" y="3360"/>
            <a:chExt cx="989" cy="816"/>
          </a:xfrm>
        </p:grpSpPr>
        <p:sp>
          <p:nvSpPr>
            <p:cNvPr id="81931" name="矩形 720910"/>
            <p:cNvSpPr/>
            <p:nvPr/>
          </p:nvSpPr>
          <p:spPr>
            <a:xfrm>
              <a:off x="4416" y="3360"/>
              <a:ext cx="960" cy="81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graphicFrame>
          <p:nvGraphicFramePr>
            <p:cNvPr id="81932" name="对象 720911"/>
            <p:cNvGraphicFramePr/>
            <p:nvPr/>
          </p:nvGraphicFramePr>
          <p:xfrm>
            <a:off x="4417" y="3360"/>
            <a:ext cx="988" cy="8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3" r:id="rId11" imgW="624205" imgH="501650" progId="Equation.3">
                    <p:embed/>
                  </p:oleObj>
                </mc:Choice>
                <mc:Fallback>
                  <p:oleObj r:id="rId11" imgW="624205" imgH="501650" progId="Equation.3">
                    <p:embed/>
                    <p:pic>
                      <p:nvPicPr>
                        <p:cNvPr id="0" name="图片 3229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CC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17" y="3360"/>
                          <a:ext cx="988" cy="8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20913" name="矩形 720912"/>
          <p:cNvSpPr/>
          <p:nvPr/>
        </p:nvSpPr>
        <p:spPr>
          <a:xfrm>
            <a:off x="1579563" y="4287838"/>
            <a:ext cx="457200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  <a:sym typeface="Symbol" panose="05050102010706020507" pitchFamily="18" charset="2"/>
              </a:rPr>
              <a:t>M -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  <a:sym typeface="Symbol" panose="05050102010706020507" pitchFamily="18" charset="2"/>
              </a:rPr>
              <a:t>-mol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  <a:sym typeface="Symbol" panose="05050102010706020507" pitchFamily="18" charset="2"/>
              </a:rPr>
              <a:t>质量</a:t>
            </a:r>
          </a:p>
        </p:txBody>
      </p:sp>
      <p:sp>
        <p:nvSpPr>
          <p:cNvPr id="720914" name="文本框 720913"/>
          <p:cNvSpPr txBox="1"/>
          <p:nvPr/>
        </p:nvSpPr>
        <p:spPr>
          <a:xfrm>
            <a:off x="179388" y="115888"/>
            <a:ext cx="86487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 3. </a:t>
            </a:r>
            <a:r>
              <a:rPr kumimoji="0" lang="zh-CN" altLang="en-US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方均根速率</a:t>
            </a:r>
            <a:r>
              <a:rPr kumimoji="0" lang="zh-CN" altLang="en-US" b="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（</a:t>
            </a:r>
            <a:r>
              <a:rPr kumimoji="0" lang="en-US" altLang="zh-CN" b="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root-mean-square speed</a:t>
            </a:r>
            <a:r>
              <a:rPr kumimoji="0" lang="zh-CN" altLang="en-US" b="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） </a:t>
            </a:r>
          </a:p>
        </p:txBody>
      </p:sp>
      <p:grpSp>
        <p:nvGrpSpPr>
          <p:cNvPr id="4" name="组合 720914"/>
          <p:cNvGrpSpPr/>
          <p:nvPr/>
        </p:nvGrpSpPr>
        <p:grpSpPr>
          <a:xfrm>
            <a:off x="827088" y="5151438"/>
            <a:ext cx="4895850" cy="969962"/>
            <a:chOff x="768" y="492"/>
            <a:chExt cx="3673" cy="772"/>
          </a:xfrm>
        </p:grpSpPr>
        <p:graphicFrame>
          <p:nvGraphicFramePr>
            <p:cNvPr id="81936" name="对象 720915"/>
            <p:cNvGraphicFramePr/>
            <p:nvPr/>
          </p:nvGraphicFramePr>
          <p:xfrm>
            <a:off x="768" y="528"/>
            <a:ext cx="3673" cy="7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4" r:id="rId13" imgW="1878965" imgH="444500" progId="Equation.3">
                    <p:embed/>
                  </p:oleObj>
                </mc:Choice>
                <mc:Fallback>
                  <p:oleObj r:id="rId13" imgW="1878965" imgH="444500" progId="Equation.3">
                    <p:embed/>
                    <p:pic>
                      <p:nvPicPr>
                        <p:cNvPr id="0" name="图片 3241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68" y="528"/>
                          <a:ext cx="3673" cy="7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937" name="文本框 720916"/>
            <p:cNvSpPr txBox="1"/>
            <p:nvPr/>
          </p:nvSpPr>
          <p:spPr>
            <a:xfrm>
              <a:off x="2748" y="492"/>
              <a:ext cx="1056" cy="36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（麦）</a:t>
              </a:r>
            </a:p>
          </p:txBody>
        </p:sp>
      </p:grpSp>
      <p:sp>
        <p:nvSpPr>
          <p:cNvPr id="720918" name="任意多边形 720917"/>
          <p:cNvSpPr/>
          <p:nvPr/>
        </p:nvSpPr>
        <p:spPr>
          <a:xfrm>
            <a:off x="5795963" y="4864100"/>
            <a:ext cx="1441450" cy="936625"/>
          </a:xfrm>
          <a:custGeom>
            <a:avLst/>
            <a:gdLst/>
            <a:ahLst/>
            <a:cxnLst>
              <a:cxn ang="0">
                <a:pos x="1029569" y="0"/>
              </a:cxn>
              <a:cxn ang="0">
                <a:pos x="617755" y="312208"/>
              </a:cxn>
              <a:cxn ang="0">
                <a:pos x="823695" y="312208"/>
              </a:cxn>
              <a:cxn ang="0">
                <a:pos x="823695" y="624417"/>
              </a:cxn>
              <a:cxn ang="0">
                <a:pos x="0" y="624417"/>
              </a:cxn>
              <a:cxn ang="0">
                <a:pos x="0" y="936625"/>
              </a:cxn>
              <a:cxn ang="0">
                <a:pos x="1235510" y="936625"/>
              </a:cxn>
              <a:cxn ang="0">
                <a:pos x="1235510" y="312208"/>
              </a:cxn>
              <a:cxn ang="0">
                <a:pos x="1441450" y="312208"/>
              </a:cxn>
            </a:cxnLst>
            <a:rect l="0" t="0" r="0" b="0"/>
            <a:pathLst>
              <a:path w="21600" h="21600">
                <a:moveTo>
                  <a:pt x="15428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8" y="0"/>
                </a:lnTo>
                <a:close/>
              </a:path>
            </a:pathLst>
          </a:custGeom>
          <a:gradFill rotWithShape="1">
            <a:gsLst>
              <a:gs pos="0">
                <a:srgbClr val="006666">
                  <a:alpha val="31000"/>
                </a:srgbClr>
              </a:gs>
              <a:gs pos="100000">
                <a:srgbClr val="217A7A">
                  <a:alpha val="32001"/>
                </a:srgbClr>
              </a:gs>
            </a:gsLst>
            <a:lin ang="5400000" scaled="1"/>
            <a:tileRect/>
          </a:gradFill>
          <a:ln w="9525"/>
          <a:scene3d>
            <a:camera prst="legacyPerspectiveTopRight">
              <a:rot lat="0" lon="0" rev="0"/>
            </a:camera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006666"/>
            </a:extrusionClr>
          </a:sp3d>
        </p:spPr>
        <p:txBody>
          <a:bodyPr/>
          <a:lstStyle/>
          <a:p>
            <a:endParaRPr lang="zh-CN" altLang="en-US"/>
          </a:p>
        </p:txBody>
      </p:sp>
      <p:sp>
        <p:nvSpPr>
          <p:cNvPr id="720920" name="文本框 720919"/>
          <p:cNvSpPr txBox="1"/>
          <p:nvPr/>
        </p:nvSpPr>
        <p:spPr>
          <a:xfrm>
            <a:off x="300038" y="717550"/>
            <a:ext cx="125571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前节：</a:t>
            </a:r>
          </a:p>
        </p:txBody>
      </p:sp>
      <p:sp>
        <p:nvSpPr>
          <p:cNvPr id="5" name="矩形 4"/>
          <p:cNvSpPr/>
          <p:nvPr/>
        </p:nvSpPr>
        <p:spPr>
          <a:xfrm>
            <a:off x="277813" y="4675188"/>
            <a:ext cx="1522413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  <a:sym typeface="Symbol" panose="05050102010706020507" pitchFamily="18" charset="2"/>
              </a:rPr>
              <a:t>另解：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20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2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20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72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72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720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913" grpId="0"/>
      <p:bldP spid="720920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33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graphicFrame>
        <p:nvGraphicFramePr>
          <p:cNvPr id="724994" name="对象 724993"/>
          <p:cNvGraphicFramePr/>
          <p:nvPr/>
        </p:nvGraphicFramePr>
        <p:xfrm>
          <a:off x="738188" y="144463"/>
          <a:ext cx="3328987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1" r:id="rId3" imgW="1409700" imgH="444500" progId="Equation.3">
                  <p:embed/>
                </p:oleObj>
              </mc:Choice>
              <mc:Fallback>
                <p:oleObj r:id="rId3" imgW="1409700" imgH="444500" progId="Equation.3">
                  <p:embed/>
                  <p:pic>
                    <p:nvPicPr>
                      <p:cNvPr id="0" name="图片 324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8188" y="144463"/>
                        <a:ext cx="3328987" cy="102235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3300"/>
                          </a:gs>
                          <a:gs pos="50000">
                            <a:srgbClr val="FFFF00"/>
                          </a:gs>
                          <a:gs pos="100000">
                            <a:srgbClr val="CC3300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724994"/>
          <p:cNvGrpSpPr/>
          <p:nvPr/>
        </p:nvGrpSpPr>
        <p:grpSpPr>
          <a:xfrm>
            <a:off x="5508625" y="2562225"/>
            <a:ext cx="3135313" cy="2208213"/>
            <a:chOff x="570" y="323"/>
            <a:chExt cx="2044" cy="1603"/>
          </a:xfrm>
        </p:grpSpPr>
        <p:sp>
          <p:nvSpPr>
            <p:cNvPr id="82948" name="直接连接符 724995"/>
            <p:cNvSpPr/>
            <p:nvPr/>
          </p:nvSpPr>
          <p:spPr>
            <a:xfrm flipV="1">
              <a:off x="577" y="384"/>
              <a:ext cx="0" cy="151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</p:spPr>
        </p:sp>
        <p:sp>
          <p:nvSpPr>
            <p:cNvPr id="82949" name="矩形 724996"/>
            <p:cNvSpPr/>
            <p:nvPr/>
          </p:nvSpPr>
          <p:spPr>
            <a:xfrm>
              <a:off x="593" y="649"/>
              <a:ext cx="1978" cy="124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graphicFrame>
          <p:nvGraphicFramePr>
            <p:cNvPr id="82950" name="对象 724997"/>
            <p:cNvGraphicFramePr/>
            <p:nvPr/>
          </p:nvGraphicFramePr>
          <p:xfrm>
            <a:off x="682" y="323"/>
            <a:ext cx="473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02" r:id="rId5" imgW="390525" imgH="256540" progId="Equation.3">
                    <p:embed/>
                  </p:oleObj>
                </mc:Choice>
                <mc:Fallback>
                  <p:oleObj r:id="rId5" imgW="390525" imgH="256540" progId="Equation.3">
                    <p:embed/>
                    <p:pic>
                      <p:nvPicPr>
                        <p:cNvPr id="0" name="图片 3243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82" y="323"/>
                          <a:ext cx="473" cy="2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951" name="直接连接符 724998"/>
            <p:cNvSpPr/>
            <p:nvPr/>
          </p:nvSpPr>
          <p:spPr>
            <a:xfrm>
              <a:off x="570" y="1895"/>
              <a:ext cx="20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</p:spPr>
        </p:sp>
        <p:sp>
          <p:nvSpPr>
            <p:cNvPr id="82952" name="文本框 724999"/>
            <p:cNvSpPr txBox="1"/>
            <p:nvPr/>
          </p:nvSpPr>
          <p:spPr>
            <a:xfrm>
              <a:off x="2380" y="1638"/>
              <a:ext cx="234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t" anchorCtr="0"/>
            <a:lstStyle/>
            <a:p>
              <a:pPr eaLnBrk="0" hangingPunct="0"/>
              <a:r>
                <a:rPr lang="en-US" altLang="zh-CN" sz="2800" i="1" dirty="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rPr>
                <a:t>v</a:t>
              </a:r>
            </a:p>
          </p:txBody>
        </p:sp>
      </p:grpSp>
      <p:sp>
        <p:nvSpPr>
          <p:cNvPr id="725001" name="任意多边形 725000"/>
          <p:cNvSpPr/>
          <p:nvPr/>
        </p:nvSpPr>
        <p:spPr>
          <a:xfrm>
            <a:off x="5626100" y="3138488"/>
            <a:ext cx="2667000" cy="1549400"/>
          </a:xfrm>
          <a:custGeom>
            <a:avLst/>
            <a:gdLst/>
            <a:ahLst/>
            <a:cxnLst>
              <a:cxn ang="0">
                <a:pos x="0" y="1549400"/>
              </a:cxn>
              <a:cxn ang="0">
                <a:pos x="334963" y="1327427"/>
              </a:cxn>
              <a:cxn ang="0">
                <a:pos x="652463" y="857021"/>
              </a:cxn>
              <a:cxn ang="0">
                <a:pos x="876300" y="288124"/>
              </a:cxn>
              <a:cxn ang="0">
                <a:pos x="1138238" y="17640"/>
              </a:cxn>
              <a:cxn ang="0">
                <a:pos x="1406525" y="183752"/>
              </a:cxn>
              <a:cxn ang="0">
                <a:pos x="1809750" y="782050"/>
              </a:cxn>
              <a:cxn ang="0">
                <a:pos x="2108200" y="1105454"/>
              </a:cxn>
              <a:cxn ang="0">
                <a:pos x="2517775" y="1302437"/>
              </a:cxn>
              <a:cxn ang="0">
                <a:pos x="2667000" y="1327427"/>
              </a:cxn>
            </a:cxnLst>
            <a:rect l="0" t="0" r="0" b="0"/>
            <a:pathLst>
              <a:path w="1680" h="1054">
                <a:moveTo>
                  <a:pt x="0" y="1054"/>
                </a:moveTo>
                <a:cubicBezTo>
                  <a:pt x="71" y="1017"/>
                  <a:pt x="143" y="982"/>
                  <a:pt x="211" y="903"/>
                </a:cubicBezTo>
                <a:cubicBezTo>
                  <a:pt x="280" y="824"/>
                  <a:pt x="355" y="701"/>
                  <a:pt x="411" y="583"/>
                </a:cubicBezTo>
                <a:cubicBezTo>
                  <a:pt x="468" y="465"/>
                  <a:pt x="502" y="292"/>
                  <a:pt x="552" y="196"/>
                </a:cubicBezTo>
                <a:cubicBezTo>
                  <a:pt x="603" y="101"/>
                  <a:pt x="661" y="24"/>
                  <a:pt x="717" y="12"/>
                </a:cubicBezTo>
                <a:cubicBezTo>
                  <a:pt x="773" y="0"/>
                  <a:pt x="816" y="38"/>
                  <a:pt x="886" y="125"/>
                </a:cubicBezTo>
                <a:cubicBezTo>
                  <a:pt x="956" y="212"/>
                  <a:pt x="1066" y="427"/>
                  <a:pt x="1140" y="532"/>
                </a:cubicBezTo>
                <a:cubicBezTo>
                  <a:pt x="1214" y="637"/>
                  <a:pt x="1253" y="693"/>
                  <a:pt x="1328" y="752"/>
                </a:cubicBezTo>
                <a:cubicBezTo>
                  <a:pt x="1402" y="810"/>
                  <a:pt x="1528" y="861"/>
                  <a:pt x="1586" y="886"/>
                </a:cubicBezTo>
                <a:cubicBezTo>
                  <a:pt x="1645" y="910"/>
                  <a:pt x="1663" y="906"/>
                  <a:pt x="1680" y="903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" name="组合 725001"/>
          <p:cNvGrpSpPr/>
          <p:nvPr/>
        </p:nvGrpSpPr>
        <p:grpSpPr>
          <a:xfrm>
            <a:off x="6878638" y="3363913"/>
            <a:ext cx="287337" cy="1830387"/>
            <a:chOff x="1487" y="1510"/>
            <a:chExt cx="181" cy="1121"/>
          </a:xfrm>
        </p:grpSpPr>
        <p:sp>
          <p:nvSpPr>
            <p:cNvPr id="82955" name="直接连接符 725002"/>
            <p:cNvSpPr/>
            <p:nvPr/>
          </p:nvSpPr>
          <p:spPr>
            <a:xfrm>
              <a:off x="1572" y="1510"/>
              <a:ext cx="0" cy="887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lgDashDot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82956" name="对象 725003"/>
            <p:cNvGraphicFramePr/>
            <p:nvPr/>
          </p:nvGraphicFramePr>
          <p:xfrm>
            <a:off x="1487" y="2418"/>
            <a:ext cx="181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03" r:id="rId7" imgW="167005" imgH="189865" progId="Equation.3">
                    <p:embed/>
                  </p:oleObj>
                </mc:Choice>
                <mc:Fallback>
                  <p:oleObj r:id="rId7" imgW="167005" imgH="189865" progId="Equation.3">
                    <p:embed/>
                    <p:pic>
                      <p:nvPicPr>
                        <p:cNvPr id="0" name="图片 3244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87" y="2418"/>
                          <a:ext cx="181" cy="2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725004"/>
          <p:cNvGrpSpPr/>
          <p:nvPr/>
        </p:nvGrpSpPr>
        <p:grpSpPr>
          <a:xfrm>
            <a:off x="6596063" y="3141663"/>
            <a:ext cx="641350" cy="2111375"/>
            <a:chOff x="1246" y="1386"/>
            <a:chExt cx="404" cy="1330"/>
          </a:xfrm>
        </p:grpSpPr>
        <p:sp>
          <p:nvSpPr>
            <p:cNvPr id="82958" name="直接连接符 725005"/>
            <p:cNvSpPr/>
            <p:nvPr/>
          </p:nvSpPr>
          <p:spPr>
            <a:xfrm>
              <a:off x="1370" y="1386"/>
              <a:ext cx="0" cy="996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lgDashDot"/>
              <a:round/>
              <a:headEnd type="none" w="med" len="med"/>
              <a:tailEnd type="none" w="med" len="med"/>
            </a:ln>
          </p:spPr>
        </p:sp>
        <p:sp>
          <p:nvSpPr>
            <p:cNvPr id="82959" name="文本框 725006"/>
            <p:cNvSpPr txBox="1"/>
            <p:nvPr/>
          </p:nvSpPr>
          <p:spPr>
            <a:xfrm>
              <a:off x="1246" y="2428"/>
              <a:ext cx="4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solidFill>
                    <a:srgbClr val="FF3300"/>
                  </a:solidFill>
                  <a:latin typeface="Book Antiqua" panose="0204060205030503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lang="en-US" altLang="zh-CN" sz="2400" b="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组合 725007"/>
          <p:cNvGrpSpPr/>
          <p:nvPr/>
        </p:nvGrpSpPr>
        <p:grpSpPr>
          <a:xfrm>
            <a:off x="7021513" y="3762375"/>
            <a:ext cx="803275" cy="1608138"/>
            <a:chOff x="4649" y="1056"/>
            <a:chExt cx="506" cy="1013"/>
          </a:xfrm>
        </p:grpSpPr>
        <p:sp>
          <p:nvSpPr>
            <p:cNvPr id="82961" name="直接连接符 725008"/>
            <p:cNvSpPr/>
            <p:nvPr/>
          </p:nvSpPr>
          <p:spPr>
            <a:xfrm>
              <a:off x="4808" y="1056"/>
              <a:ext cx="0" cy="632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lgDashDot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82962" name="对象 725009"/>
            <p:cNvGraphicFramePr/>
            <p:nvPr/>
          </p:nvGraphicFramePr>
          <p:xfrm>
            <a:off x="4649" y="1682"/>
            <a:ext cx="506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04" r:id="rId9" imgW="368300" imgH="323215" progId="Equation.3">
                    <p:embed/>
                  </p:oleObj>
                </mc:Choice>
                <mc:Fallback>
                  <p:oleObj r:id="rId9" imgW="368300" imgH="323215" progId="Equation.3">
                    <p:embed/>
                    <p:pic>
                      <p:nvPicPr>
                        <p:cNvPr id="0" name="图片 3240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99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49" y="1682"/>
                          <a:ext cx="506" cy="3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25011" name="对象 725010"/>
          <p:cNvGraphicFramePr/>
          <p:nvPr/>
        </p:nvGraphicFramePr>
        <p:xfrm>
          <a:off x="741363" y="1312863"/>
          <a:ext cx="3092450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5" r:id="rId11" imgW="1308100" imgH="444500" progId="Equation.3">
                  <p:embed/>
                </p:oleObj>
              </mc:Choice>
              <mc:Fallback>
                <p:oleObj r:id="rId11" imgW="1308100" imgH="444500" progId="Equation.3">
                  <p:embed/>
                  <p:pic>
                    <p:nvPicPr>
                      <p:cNvPr id="0" name="图片 325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41363" y="1312863"/>
                        <a:ext cx="3092450" cy="1046162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3300"/>
                          </a:gs>
                          <a:gs pos="50000">
                            <a:srgbClr val="FFFF00"/>
                          </a:gs>
                          <a:gs pos="100000">
                            <a:srgbClr val="CC3300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12" name="对象 725011"/>
          <p:cNvGraphicFramePr/>
          <p:nvPr/>
        </p:nvGraphicFramePr>
        <p:xfrm>
          <a:off x="755650" y="2446338"/>
          <a:ext cx="2798763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6" r:id="rId13" imgW="1231265" imgH="444500" progId="Equation.3">
                  <p:embed/>
                </p:oleObj>
              </mc:Choice>
              <mc:Fallback>
                <p:oleObj r:id="rId13" imgW="1231265" imgH="444500" progId="Equation.3">
                  <p:embed/>
                  <p:pic>
                    <p:nvPicPr>
                      <p:cNvPr id="0" name="图片 324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55650" y="2446338"/>
                        <a:ext cx="2798763" cy="10064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3300"/>
                          </a:gs>
                          <a:gs pos="50000">
                            <a:srgbClr val="FFFF00"/>
                          </a:gs>
                          <a:gs pos="100000">
                            <a:srgbClr val="CC3300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13" name="对象 725012"/>
          <p:cNvGraphicFramePr/>
          <p:nvPr/>
        </p:nvGraphicFramePr>
        <p:xfrm>
          <a:off x="755650" y="3644900"/>
          <a:ext cx="3305175" cy="137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7" r:id="rId15" imgW="1688465" imgH="635000" progId="Equation.3">
                  <p:embed/>
                </p:oleObj>
              </mc:Choice>
              <mc:Fallback>
                <p:oleObj r:id="rId15" imgW="1688465" imgH="635000" progId="Equation.3">
                  <p:embed/>
                  <p:pic>
                    <p:nvPicPr>
                      <p:cNvPr id="0" name="图片 324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55650" y="3644900"/>
                        <a:ext cx="3305175" cy="1376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14" name="对象 725013"/>
          <p:cNvGraphicFramePr/>
          <p:nvPr/>
        </p:nvGraphicFramePr>
        <p:xfrm>
          <a:off x="6888163" y="1628775"/>
          <a:ext cx="1871662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8" r:id="rId17" imgW="850265" imgH="317500" progId="Equation.3">
                  <p:embed/>
                </p:oleObj>
              </mc:Choice>
              <mc:Fallback>
                <p:oleObj r:id="rId17" imgW="850265" imgH="317500" progId="Equation.3">
                  <p:embed/>
                  <p:pic>
                    <p:nvPicPr>
                      <p:cNvPr id="0" name="图片 324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888163" y="1628775"/>
                        <a:ext cx="1871662" cy="7175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CE0F5"/>
                          </a:gs>
                          <a:gs pos="50000">
                            <a:srgbClr val="FFFFFF"/>
                          </a:gs>
                          <a:gs pos="100000">
                            <a:srgbClr val="FCE0F5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rgbClr val="CC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5015" name="右大括号 725014"/>
          <p:cNvSpPr/>
          <p:nvPr/>
        </p:nvSpPr>
        <p:spPr>
          <a:xfrm>
            <a:off x="4140200" y="187325"/>
            <a:ext cx="358775" cy="3529013"/>
          </a:xfrm>
          <a:prstGeom prst="rightBrace">
            <a:avLst>
              <a:gd name="adj1" fmla="val 81194"/>
              <a:gd name="adj2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725016" name="文本框 725015"/>
          <p:cNvSpPr txBox="1"/>
          <p:nvPr/>
        </p:nvSpPr>
        <p:spPr>
          <a:xfrm>
            <a:off x="1476375" y="5248275"/>
            <a:ext cx="74517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主要在讨论分子平均平动动能时用</a:t>
            </a:r>
          </a:p>
        </p:txBody>
      </p:sp>
      <p:sp>
        <p:nvSpPr>
          <p:cNvPr id="725017" name="文本框 725016"/>
          <p:cNvSpPr txBox="1"/>
          <p:nvPr/>
        </p:nvSpPr>
        <p:spPr>
          <a:xfrm>
            <a:off x="1497013" y="5815013"/>
            <a:ext cx="6172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 </a:t>
            </a:r>
            <a:r>
              <a:rPr kumimoji="0" lang="zh-CN" altLang="en-US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主要在讨论分子碰撞问题时用</a:t>
            </a:r>
          </a:p>
        </p:txBody>
      </p:sp>
      <p:sp>
        <p:nvSpPr>
          <p:cNvPr id="725018" name="文本框 725017"/>
          <p:cNvSpPr txBox="1"/>
          <p:nvPr/>
        </p:nvSpPr>
        <p:spPr>
          <a:xfrm>
            <a:off x="1547813" y="6372225"/>
            <a:ext cx="65166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 </a:t>
            </a:r>
            <a:r>
              <a:rPr kumimoji="0" lang="zh-CN" altLang="en-US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主要在讨论分子的速率分布时用</a:t>
            </a:r>
          </a:p>
        </p:txBody>
      </p:sp>
      <p:graphicFrame>
        <p:nvGraphicFramePr>
          <p:cNvPr id="725019" name="对象 725018"/>
          <p:cNvGraphicFramePr/>
          <p:nvPr/>
        </p:nvGraphicFramePr>
        <p:xfrm>
          <a:off x="755650" y="6265863"/>
          <a:ext cx="469900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9" r:id="rId19" imgW="222885" imgH="278765" progId="Equation.3">
                  <p:embed/>
                </p:oleObj>
              </mc:Choice>
              <mc:Fallback>
                <p:oleObj r:id="rId19" imgW="222885" imgH="278765" progId="Equation.3">
                  <p:embed/>
                  <p:pic>
                    <p:nvPicPr>
                      <p:cNvPr id="0" name="图片 325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55650" y="6265863"/>
                        <a:ext cx="469900" cy="592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20" name="对象 725019"/>
          <p:cNvGraphicFramePr/>
          <p:nvPr/>
        </p:nvGraphicFramePr>
        <p:xfrm>
          <a:off x="755650" y="5822950"/>
          <a:ext cx="392113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0" r:id="rId21" imgW="178435" imgH="212090" progId="Equation.3">
                  <p:embed/>
                </p:oleObj>
              </mc:Choice>
              <mc:Fallback>
                <p:oleObj r:id="rId21" imgW="178435" imgH="212090" progId="Equation.3">
                  <p:embed/>
                  <p:pic>
                    <p:nvPicPr>
                      <p:cNvPr id="0" name="图片 3246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55650" y="5822950"/>
                        <a:ext cx="392113" cy="458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21" name="对象 725020"/>
          <p:cNvGraphicFramePr/>
          <p:nvPr/>
        </p:nvGraphicFramePr>
        <p:xfrm>
          <a:off x="584200" y="5184775"/>
          <a:ext cx="676275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1" r:id="rId23" imgW="330200" imgH="292100" progId="Equation.3">
                  <p:embed/>
                </p:oleObj>
              </mc:Choice>
              <mc:Fallback>
                <p:oleObj r:id="rId23" imgW="330200" imgH="292100" progId="Equation.3">
                  <p:embed/>
                  <p:pic>
                    <p:nvPicPr>
                      <p:cNvPr id="0" name="图片 3249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84200" y="5184775"/>
                        <a:ext cx="676275" cy="592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22" name="对象 725021"/>
          <p:cNvGraphicFramePr/>
          <p:nvPr/>
        </p:nvGraphicFramePr>
        <p:xfrm>
          <a:off x="4662488" y="1438275"/>
          <a:ext cx="1925637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2" r:id="rId25" imgW="736600" imgH="419100" progId="Equation.3">
                  <p:embed/>
                </p:oleObj>
              </mc:Choice>
              <mc:Fallback>
                <p:oleObj r:id="rId25" imgW="736600" imgH="419100" progId="Equation.3">
                  <p:embed/>
                  <p:pic>
                    <p:nvPicPr>
                      <p:cNvPr id="0" name="图片 3251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662488" y="1438275"/>
                        <a:ext cx="1925637" cy="1090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2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25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25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25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5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2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25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25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25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25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25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725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5016" grpId="0"/>
      <p:bldP spid="725017" grpId="0"/>
      <p:bldP spid="72501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969" name="Group 44"/>
          <p:cNvGrpSpPr/>
          <p:nvPr/>
        </p:nvGrpSpPr>
        <p:grpSpPr>
          <a:xfrm>
            <a:off x="233363" y="-7937"/>
            <a:ext cx="8586787" cy="2736850"/>
            <a:chOff x="147" y="-5"/>
            <a:chExt cx="5409" cy="1724"/>
          </a:xfrm>
        </p:grpSpPr>
        <p:sp>
          <p:nvSpPr>
            <p:cNvPr id="83970" name="Rectangle 3"/>
            <p:cNvSpPr/>
            <p:nvPr/>
          </p:nvSpPr>
          <p:spPr>
            <a:xfrm>
              <a:off x="147" y="66"/>
              <a:ext cx="5409" cy="1653"/>
            </a:xfrm>
            <a:prstGeom prst="rect">
              <a:avLst/>
            </a:prstGeom>
            <a:solidFill>
              <a:srgbClr val="99CCFF"/>
            </a:solidFill>
            <a:ln w="9525">
              <a:noFill/>
            </a:ln>
          </p:spPr>
          <p:txBody>
            <a:bodyPr wrap="none" anchor="ctr" anchorCtr="0"/>
            <a:lstStyle/>
            <a:p>
              <a:pPr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83971" name="Text Box 5"/>
            <p:cNvSpPr txBox="1"/>
            <p:nvPr/>
          </p:nvSpPr>
          <p:spPr>
            <a:xfrm>
              <a:off x="152" y="1385"/>
              <a:ext cx="2087" cy="291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none" anchor="ctr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(3)</a:t>
              </a:r>
              <a:r>
                <a:rPr lang="zh-CN" altLang="en-US" sz="2400" dirty="0">
                  <a:latin typeface="宋体" panose="02010600030101010101" pitchFamily="2" charset="-122"/>
                  <a:ea typeface="楷体_GB2312" panose="02010609030101010101" pitchFamily="49" charset="-122"/>
                </a:rPr>
                <a:t>求粒子的平均速率。</a:t>
              </a:r>
            </a:p>
          </p:txBody>
        </p:sp>
        <p:sp>
          <p:nvSpPr>
            <p:cNvPr id="83972" name="Text Box 7"/>
            <p:cNvSpPr txBox="1"/>
            <p:nvPr/>
          </p:nvSpPr>
          <p:spPr>
            <a:xfrm>
              <a:off x="174" y="312"/>
              <a:ext cx="3493" cy="291"/>
            </a:xfrm>
            <a:prstGeom prst="rect">
              <a:avLst/>
            </a:prstGeom>
            <a:noFill/>
            <a:ln w="57150">
              <a:noFill/>
            </a:ln>
          </p:spPr>
          <p:txBody>
            <a:bodyPr anchor="ctr" anchorCtr="0">
              <a:spAutoFit/>
            </a:bodyPr>
            <a:lstStyle/>
            <a:p>
              <a:pPr marL="1714500" indent="-1714500"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例</a:t>
              </a:r>
              <a:r>
                <a:rPr lang="en-US" altLang="zh-CN" sz="2400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4. </a:t>
              </a:r>
              <a:r>
                <a:rPr lang="en-US" altLang="zh-CN" sz="2400" dirty="0">
                  <a:latin typeface="宋体" panose="02010600030101010101" pitchFamily="2" charset="-122"/>
                  <a:ea typeface="楷体_GB2312" panose="02010609030101010101" pitchFamily="49" charset="-122"/>
                </a:rPr>
                <a:t> </a:t>
              </a:r>
              <a:r>
                <a:rPr lang="en-US" altLang="zh-CN" sz="2400" i="1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N</a:t>
              </a:r>
              <a:r>
                <a:rPr lang="zh-CN" altLang="zh-CN" sz="2400" dirty="0">
                  <a:latin typeface="宋体" panose="02010600030101010101" pitchFamily="2" charset="-122"/>
                  <a:ea typeface="楷体_GB2312" panose="02010609030101010101" pitchFamily="49" charset="-122"/>
                </a:rPr>
                <a:t>个</a:t>
              </a:r>
              <a:r>
                <a:rPr lang="zh-CN" altLang="en-US" sz="2400" dirty="0">
                  <a:latin typeface="宋体" panose="02010600030101010101" pitchFamily="2" charset="-122"/>
                  <a:ea typeface="楷体_GB2312" panose="02010609030101010101" pitchFamily="49" charset="-122"/>
                </a:rPr>
                <a:t>粒子</a:t>
              </a:r>
              <a:r>
                <a:rPr lang="zh-CN" altLang="zh-CN" sz="2400" dirty="0">
                  <a:latin typeface="宋体" panose="02010600030101010101" pitchFamily="2" charset="-122"/>
                  <a:ea typeface="楷体_GB2312" panose="02010609030101010101" pitchFamily="49" charset="-122"/>
                </a:rPr>
                <a:t>,其速率分布</a:t>
              </a:r>
              <a:r>
                <a:rPr lang="zh-CN" altLang="en-US" sz="2400" dirty="0">
                  <a:latin typeface="宋体" panose="02010600030101010101" pitchFamily="2" charset="-122"/>
                  <a:ea typeface="楷体_GB2312" panose="02010609030101010101" pitchFamily="49" charset="-122"/>
                </a:rPr>
                <a:t>函数为</a:t>
              </a:r>
            </a:p>
          </p:txBody>
        </p:sp>
        <p:sp>
          <p:nvSpPr>
            <p:cNvPr id="83973" name="Text Box 8"/>
            <p:cNvSpPr txBox="1"/>
            <p:nvPr/>
          </p:nvSpPr>
          <p:spPr>
            <a:xfrm>
              <a:off x="152" y="720"/>
              <a:ext cx="3198" cy="291"/>
            </a:xfrm>
            <a:prstGeom prst="rect">
              <a:avLst/>
            </a:prstGeom>
            <a:noFill/>
            <a:ln w="57150">
              <a:noFill/>
            </a:ln>
          </p:spPr>
          <p:txBody>
            <a:bodyPr anchor="ctr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(1)</a:t>
              </a:r>
              <a:r>
                <a:rPr lang="zh-CN" altLang="en-US" sz="2400" dirty="0">
                  <a:latin typeface="宋体" panose="02010600030101010101" pitchFamily="2" charset="-122"/>
                  <a:ea typeface="楷体_GB2312" panose="02010609030101010101" pitchFamily="49" charset="-122"/>
                </a:rPr>
                <a:t>作速率分布曲线并求常数</a:t>
              </a:r>
              <a:r>
                <a:rPr lang="en-US" altLang="zh-CN" sz="2400" i="1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a</a:t>
              </a:r>
              <a:r>
                <a:rPr lang="zh-CN" altLang="en-US" sz="2400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；</a:t>
              </a:r>
              <a:r>
                <a:rPr lang="zh-CN" altLang="en-US" sz="2400" dirty="0">
                  <a:latin typeface="宋体" panose="02010600030101010101" pitchFamily="2" charset="-122"/>
                  <a:ea typeface="楷体_GB2312" panose="02010609030101010101" pitchFamily="49" charset="-122"/>
                </a:rPr>
                <a:t>     </a:t>
              </a:r>
            </a:p>
          </p:txBody>
        </p:sp>
        <p:sp>
          <p:nvSpPr>
            <p:cNvPr id="83974" name="Text Box 9"/>
            <p:cNvSpPr txBox="1"/>
            <p:nvPr/>
          </p:nvSpPr>
          <p:spPr>
            <a:xfrm>
              <a:off x="158" y="1038"/>
              <a:ext cx="4281" cy="291"/>
            </a:xfrm>
            <a:prstGeom prst="rect">
              <a:avLst/>
            </a:prstGeom>
            <a:noFill/>
            <a:ln w="57150">
              <a:noFill/>
            </a:ln>
          </p:spPr>
          <p:txBody>
            <a:bodyPr anchor="ctr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(2)</a:t>
              </a:r>
              <a:r>
                <a:rPr lang="zh-CN" altLang="en-US" sz="2400" dirty="0">
                  <a:latin typeface="宋体" panose="02010600030101010101" pitchFamily="2" charset="-122"/>
                  <a:ea typeface="楷体_GB2312" panose="02010609030101010101" pitchFamily="49" charset="-122"/>
                </a:rPr>
                <a:t>分别求速率大于</a:t>
              </a:r>
              <a:r>
                <a:rPr lang="en-US" altLang="zh-CN" sz="2400" i="1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0</a:t>
              </a:r>
              <a:r>
                <a:rPr lang="en-US" altLang="zh-CN" sz="2400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 </a:t>
              </a:r>
              <a:r>
                <a:rPr lang="zh-CN" altLang="en-US" sz="2400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和小于 </a:t>
              </a:r>
              <a:r>
                <a:rPr lang="en-US" altLang="zh-CN" sz="2400" i="1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0</a:t>
              </a:r>
              <a:r>
                <a:rPr lang="zh-CN" altLang="zh-CN" sz="2400" dirty="0">
                  <a:latin typeface="宋体" panose="02010600030101010101" pitchFamily="2" charset="-122"/>
                  <a:ea typeface="楷体_GB2312" panose="02010609030101010101" pitchFamily="49" charset="-122"/>
                </a:rPr>
                <a:t>的</a:t>
              </a:r>
              <a:r>
                <a:rPr lang="zh-CN" altLang="en-US" sz="2400" dirty="0">
                  <a:latin typeface="宋体" panose="02010600030101010101" pitchFamily="2" charset="-122"/>
                  <a:ea typeface="楷体_GB2312" panose="02010609030101010101" pitchFamily="49" charset="-122"/>
                </a:rPr>
                <a:t>粒子</a:t>
              </a:r>
              <a:r>
                <a:rPr lang="zh-CN" altLang="zh-CN" sz="2400" dirty="0">
                  <a:latin typeface="宋体" panose="02010600030101010101" pitchFamily="2" charset="-122"/>
                  <a:ea typeface="楷体_GB2312" panose="02010609030101010101" pitchFamily="49" charset="-122"/>
                </a:rPr>
                <a:t>数；</a:t>
              </a:r>
              <a:endParaRPr lang="zh-CN" altLang="en-US" sz="2400" dirty="0">
                <a:latin typeface="宋体" panose="02010600030101010101" pitchFamily="2" charset="-122"/>
                <a:ea typeface="楷体_GB2312" panose="02010609030101010101" pitchFamily="49" charset="-122"/>
              </a:endParaRPr>
            </a:p>
          </p:txBody>
        </p:sp>
        <p:graphicFrame>
          <p:nvGraphicFramePr>
            <p:cNvPr id="83975" name="Object 9"/>
            <p:cNvGraphicFramePr/>
            <p:nvPr/>
          </p:nvGraphicFramePr>
          <p:xfrm>
            <a:off x="3469" y="-5"/>
            <a:ext cx="2042" cy="1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73" r:id="rId3" imgW="1739265" imgH="1002665" progId="Equation.3">
                    <p:embed/>
                  </p:oleObj>
                </mc:Choice>
                <mc:Fallback>
                  <p:oleObj r:id="rId3" imgW="1739265" imgH="1002665" progId="Equation.3">
                    <p:embed/>
                    <p:pic>
                      <p:nvPicPr>
                        <p:cNvPr id="0" name="图片 325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469" y="-5"/>
                          <a:ext cx="2042" cy="11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976" name="AutoShape 11"/>
            <p:cNvSpPr/>
            <p:nvPr/>
          </p:nvSpPr>
          <p:spPr>
            <a:xfrm>
              <a:off x="3334" y="222"/>
              <a:ext cx="91" cy="816"/>
            </a:xfrm>
            <a:prstGeom prst="leftBrace">
              <a:avLst>
                <a:gd name="adj1" fmla="val 74600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3" name="Group 12"/>
          <p:cNvGrpSpPr/>
          <p:nvPr/>
        </p:nvGrpSpPr>
        <p:grpSpPr>
          <a:xfrm>
            <a:off x="5795963" y="2636838"/>
            <a:ext cx="3200400" cy="2333625"/>
            <a:chOff x="2976" y="48"/>
            <a:chExt cx="2544" cy="1470"/>
          </a:xfrm>
        </p:grpSpPr>
        <p:sp>
          <p:nvSpPr>
            <p:cNvPr id="83978" name="Rectangle 13"/>
            <p:cNvSpPr/>
            <p:nvPr/>
          </p:nvSpPr>
          <p:spPr>
            <a:xfrm>
              <a:off x="2976" y="48"/>
              <a:ext cx="2544" cy="14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>
                <a:spcBef>
                  <a:spcPct val="50000"/>
                </a:spcBef>
              </a:pPr>
              <a:endPara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grpSp>
          <p:nvGrpSpPr>
            <p:cNvPr id="83979" name="Group 14"/>
            <p:cNvGrpSpPr/>
            <p:nvPr/>
          </p:nvGrpSpPr>
          <p:grpSpPr>
            <a:xfrm>
              <a:off x="3069" y="75"/>
              <a:ext cx="2359" cy="1443"/>
              <a:chOff x="3084" y="2043"/>
              <a:chExt cx="2359" cy="1443"/>
            </a:xfrm>
          </p:grpSpPr>
          <p:sp>
            <p:nvSpPr>
              <p:cNvPr id="83980" name="Line 15"/>
              <p:cNvSpPr/>
              <p:nvPr/>
            </p:nvSpPr>
            <p:spPr>
              <a:xfrm flipV="1">
                <a:off x="3408" y="2630"/>
                <a:ext cx="672" cy="576"/>
              </a:xfrm>
              <a:prstGeom prst="line">
                <a:avLst/>
              </a:prstGeom>
              <a:ln w="57150" cap="flat" cmpd="sng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3981" name="Line 16"/>
              <p:cNvSpPr/>
              <p:nvPr/>
            </p:nvSpPr>
            <p:spPr>
              <a:xfrm>
                <a:off x="4080" y="2630"/>
                <a:ext cx="672" cy="0"/>
              </a:xfrm>
              <a:prstGeom prst="line">
                <a:avLst/>
              </a:prstGeom>
              <a:ln w="57150" cap="flat" cmpd="sng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3982" name="Line 17"/>
              <p:cNvSpPr/>
              <p:nvPr/>
            </p:nvSpPr>
            <p:spPr>
              <a:xfrm>
                <a:off x="4080" y="2630"/>
                <a:ext cx="0" cy="57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83983" name="Line 18"/>
              <p:cNvSpPr/>
              <p:nvPr/>
            </p:nvSpPr>
            <p:spPr>
              <a:xfrm>
                <a:off x="4752" y="2630"/>
                <a:ext cx="0" cy="57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83984" name="Line 19"/>
              <p:cNvSpPr/>
              <p:nvPr/>
            </p:nvSpPr>
            <p:spPr>
              <a:xfrm>
                <a:off x="3408" y="2630"/>
                <a:ext cx="67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83985" name="Text Box 20"/>
              <p:cNvSpPr txBox="1"/>
              <p:nvPr/>
            </p:nvSpPr>
            <p:spPr>
              <a:xfrm>
                <a:off x="3910" y="3147"/>
                <a:ext cx="337" cy="291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v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0</a:t>
                </a:r>
                <a:endParaRPr lang="en-US" altLang="zh-CN" sz="2400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83986" name="Text Box 21"/>
              <p:cNvSpPr txBox="1"/>
              <p:nvPr/>
            </p:nvSpPr>
            <p:spPr>
              <a:xfrm>
                <a:off x="4514" y="3147"/>
                <a:ext cx="459" cy="291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2</a:t>
                </a:r>
                <a:r>
                  <a:rPr lang="en-US" altLang="zh-CN" sz="2400" i="1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v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0</a:t>
                </a:r>
                <a:endParaRPr lang="en-US" altLang="zh-CN" sz="2400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83987" name="Text Box 22"/>
              <p:cNvSpPr txBox="1"/>
              <p:nvPr/>
            </p:nvSpPr>
            <p:spPr>
              <a:xfrm>
                <a:off x="3084" y="2475"/>
                <a:ext cx="330" cy="291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 a</a:t>
                </a:r>
              </a:p>
            </p:txBody>
          </p:sp>
          <p:grpSp>
            <p:nvGrpSpPr>
              <p:cNvPr id="83988" name="Group 23"/>
              <p:cNvGrpSpPr/>
              <p:nvPr/>
            </p:nvGrpSpPr>
            <p:grpSpPr>
              <a:xfrm>
                <a:off x="3408" y="2198"/>
                <a:ext cx="1968" cy="1008"/>
                <a:chOff x="3408" y="1824"/>
                <a:chExt cx="1968" cy="1008"/>
              </a:xfrm>
            </p:grpSpPr>
            <p:sp>
              <p:nvSpPr>
                <p:cNvPr id="83989" name="Line 24"/>
                <p:cNvSpPr/>
                <p:nvPr/>
              </p:nvSpPr>
              <p:spPr>
                <a:xfrm>
                  <a:off x="3408" y="2832"/>
                  <a:ext cx="196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83990" name="Line 25"/>
                <p:cNvSpPr/>
                <p:nvPr/>
              </p:nvSpPr>
              <p:spPr>
                <a:xfrm flipV="1">
                  <a:off x="3408" y="1824"/>
                  <a:ext cx="0" cy="1008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83991" name="Text Box 26"/>
              <p:cNvSpPr txBox="1"/>
              <p:nvPr/>
            </p:nvSpPr>
            <p:spPr>
              <a:xfrm>
                <a:off x="3148" y="3147"/>
                <a:ext cx="269" cy="291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0</a:t>
                </a:r>
              </a:p>
            </p:txBody>
          </p:sp>
          <p:sp>
            <p:nvSpPr>
              <p:cNvPr id="83992" name="Text Box 27"/>
              <p:cNvSpPr txBox="1"/>
              <p:nvPr/>
            </p:nvSpPr>
            <p:spPr>
              <a:xfrm>
                <a:off x="5188" y="3195"/>
                <a:ext cx="255" cy="291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v</a:t>
                </a:r>
              </a:p>
            </p:txBody>
          </p:sp>
          <p:sp>
            <p:nvSpPr>
              <p:cNvPr id="83993" name="Text Box 28"/>
              <p:cNvSpPr txBox="1"/>
              <p:nvPr/>
            </p:nvSpPr>
            <p:spPr>
              <a:xfrm>
                <a:off x="3406" y="2043"/>
                <a:ext cx="500" cy="291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f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(</a:t>
                </a:r>
                <a:r>
                  <a:rPr lang="en-US" altLang="zh-CN" sz="2400" i="1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v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)</a:t>
                </a:r>
              </a:p>
            </p:txBody>
          </p:sp>
        </p:grpSp>
      </p:grpSp>
      <p:grpSp>
        <p:nvGrpSpPr>
          <p:cNvPr id="6" name="Group 29"/>
          <p:cNvGrpSpPr/>
          <p:nvPr/>
        </p:nvGrpSpPr>
        <p:grpSpPr>
          <a:xfrm>
            <a:off x="217488" y="2781300"/>
            <a:ext cx="5815012" cy="490538"/>
            <a:chOff x="0" y="1752"/>
            <a:chExt cx="3663" cy="309"/>
          </a:xfrm>
        </p:grpSpPr>
        <p:sp>
          <p:nvSpPr>
            <p:cNvPr id="83995" name="Text Box 30"/>
            <p:cNvSpPr txBox="1"/>
            <p:nvPr/>
          </p:nvSpPr>
          <p:spPr>
            <a:xfrm>
              <a:off x="431" y="1770"/>
              <a:ext cx="3232" cy="291"/>
            </a:xfrm>
            <a:prstGeom prst="rect">
              <a:avLst/>
            </a:prstGeom>
            <a:noFill/>
            <a:ln w="57150">
              <a:noFill/>
            </a:ln>
          </p:spPr>
          <p:txBody>
            <a:bodyPr anchor="ctr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(1) </a:t>
              </a:r>
              <a:r>
                <a:rPr lang="zh-CN" altLang="en-US" sz="2400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速率分布曲线如右图所示：</a:t>
              </a:r>
            </a:p>
          </p:txBody>
        </p:sp>
        <p:sp>
          <p:nvSpPr>
            <p:cNvPr id="83996" name="Text Box 31"/>
            <p:cNvSpPr txBox="1"/>
            <p:nvPr/>
          </p:nvSpPr>
          <p:spPr>
            <a:xfrm>
              <a:off x="0" y="1752"/>
              <a:ext cx="504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宋体" panose="02010600030101010101" pitchFamily="2" charset="-122"/>
                  <a:ea typeface="楷体_GB2312" panose="02010609030101010101" pitchFamily="49" charset="-122"/>
                </a:rPr>
                <a:t>解：</a:t>
              </a:r>
            </a:p>
          </p:txBody>
        </p:sp>
      </p:grpSp>
      <p:graphicFrame>
        <p:nvGraphicFramePr>
          <p:cNvPr id="91168" name="Object 2"/>
          <p:cNvGraphicFramePr/>
          <p:nvPr/>
        </p:nvGraphicFramePr>
        <p:xfrm>
          <a:off x="7742238" y="5000625"/>
          <a:ext cx="1150937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4" r:id="rId5" imgW="533400" imgH="444500" progId="Equation.3">
                  <p:embed/>
                </p:oleObj>
              </mc:Choice>
              <mc:Fallback>
                <p:oleObj r:id="rId5" imgW="533400" imgH="444500" progId="Equation.3">
                  <p:embed/>
                  <p:pic>
                    <p:nvPicPr>
                      <p:cNvPr id="0" name="图片 325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42238" y="5000625"/>
                        <a:ext cx="1150937" cy="1020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33"/>
          <p:cNvGrpSpPr/>
          <p:nvPr/>
        </p:nvGrpSpPr>
        <p:grpSpPr>
          <a:xfrm>
            <a:off x="180975" y="3278188"/>
            <a:ext cx="4968875" cy="798512"/>
            <a:chOff x="-23" y="2065"/>
            <a:chExt cx="3130" cy="503"/>
          </a:xfrm>
        </p:grpSpPr>
        <p:graphicFrame>
          <p:nvGraphicFramePr>
            <p:cNvPr id="83999" name="Object 8"/>
            <p:cNvGraphicFramePr/>
            <p:nvPr/>
          </p:nvGraphicFramePr>
          <p:xfrm>
            <a:off x="1746" y="2065"/>
            <a:ext cx="1361" cy="5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75" r:id="rId7" imgW="951865" imgH="330200" progId="Equation.3">
                    <p:embed/>
                  </p:oleObj>
                </mc:Choice>
                <mc:Fallback>
                  <p:oleObj r:id="rId7" imgW="951865" imgH="330200" progId="Equation.3">
                    <p:embed/>
                    <p:pic>
                      <p:nvPicPr>
                        <p:cNvPr id="0" name="图片 325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746" y="2065"/>
                          <a:ext cx="1361" cy="5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4000" name="Text Box 35"/>
            <p:cNvSpPr txBox="1"/>
            <p:nvPr/>
          </p:nvSpPr>
          <p:spPr>
            <a:xfrm>
              <a:off x="-23" y="2160"/>
              <a:ext cx="2276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400" dirty="0">
                  <a:latin typeface="宋体" panose="02010600030101010101" pitchFamily="2" charset="-122"/>
                  <a:ea typeface="楷体_GB2312" panose="02010609030101010101" pitchFamily="49" charset="-122"/>
                </a:rPr>
                <a:t>由归一化条件：</a:t>
              </a:r>
              <a:endPara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graphicFrame>
        <p:nvGraphicFramePr>
          <p:cNvPr id="91172" name="Object 3"/>
          <p:cNvGraphicFramePr/>
          <p:nvPr/>
        </p:nvGraphicFramePr>
        <p:xfrm>
          <a:off x="252413" y="4111625"/>
          <a:ext cx="576103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6" r:id="rId9" imgW="2753360" imgH="355600" progId="Equation.3">
                  <p:embed/>
                </p:oleObj>
              </mc:Choice>
              <mc:Fallback>
                <p:oleObj r:id="rId9" imgW="2753360" imgH="355600" progId="Equation.3">
                  <p:embed/>
                  <p:pic>
                    <p:nvPicPr>
                      <p:cNvPr id="0" name="图片 325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2413" y="4111625"/>
                        <a:ext cx="5761037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73" name="Object 4"/>
          <p:cNvGraphicFramePr/>
          <p:nvPr/>
        </p:nvGraphicFramePr>
        <p:xfrm>
          <a:off x="4429125" y="5022850"/>
          <a:ext cx="2881313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7" r:id="rId11" imgW="1435100" imgH="457200" progId="Equation.3">
                  <p:embed/>
                </p:oleObj>
              </mc:Choice>
              <mc:Fallback>
                <p:oleObj r:id="rId11" imgW="1435100" imgH="457200" progId="Equation.3">
                  <p:embed/>
                  <p:pic>
                    <p:nvPicPr>
                      <p:cNvPr id="0" name="图片 325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29125" y="5022850"/>
                        <a:ext cx="2881313" cy="998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74" name="Object 5"/>
          <p:cNvGraphicFramePr/>
          <p:nvPr/>
        </p:nvGraphicFramePr>
        <p:xfrm>
          <a:off x="325438" y="5013325"/>
          <a:ext cx="367188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8" r:id="rId13" imgW="1828165" imgH="444500" progId="Equation.3">
                  <p:embed/>
                </p:oleObj>
              </mc:Choice>
              <mc:Fallback>
                <p:oleObj r:id="rId13" imgW="1828165" imgH="444500" progId="Equation.3">
                  <p:embed/>
                  <p:pic>
                    <p:nvPicPr>
                      <p:cNvPr id="0" name="图片 325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5438" y="5013325"/>
                        <a:ext cx="3671887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75" name="Object 6"/>
          <p:cNvGraphicFramePr/>
          <p:nvPr/>
        </p:nvGraphicFramePr>
        <p:xfrm>
          <a:off x="4268788" y="6021388"/>
          <a:ext cx="2479675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9" r:id="rId15" imgW="1155065" imgH="393700" progId="Equation.3">
                  <p:embed/>
                </p:oleObj>
              </mc:Choice>
              <mc:Fallback>
                <p:oleObj r:id="rId15" imgW="1155065" imgH="393700" progId="Equation.3">
                  <p:embed/>
                  <p:pic>
                    <p:nvPicPr>
                      <p:cNvPr id="0" name="图片 326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68788" y="6021388"/>
                        <a:ext cx="2479675" cy="779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40"/>
          <p:cNvGrpSpPr/>
          <p:nvPr/>
        </p:nvGrpSpPr>
        <p:grpSpPr>
          <a:xfrm>
            <a:off x="109538" y="6181725"/>
            <a:ext cx="3349625" cy="466725"/>
            <a:chOff x="-68" y="3894"/>
            <a:chExt cx="2110" cy="294"/>
          </a:xfrm>
        </p:grpSpPr>
        <p:sp>
          <p:nvSpPr>
            <p:cNvPr id="84006" name="Text Box 41"/>
            <p:cNvSpPr txBox="1"/>
            <p:nvPr/>
          </p:nvSpPr>
          <p:spPr>
            <a:xfrm>
              <a:off x="-68" y="3894"/>
              <a:ext cx="698" cy="291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none" anchor="ctr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宋体" panose="02010600030101010101" pitchFamily="2" charset="-122"/>
                  <a:ea typeface="楷体_GB2312" panose="02010609030101010101" pitchFamily="49" charset="-122"/>
                </a:rPr>
                <a:t>另法：</a:t>
              </a:r>
            </a:p>
          </p:txBody>
        </p:sp>
        <p:sp>
          <p:nvSpPr>
            <p:cNvPr id="84007" name="Text Box 42"/>
            <p:cNvSpPr txBox="1"/>
            <p:nvPr/>
          </p:nvSpPr>
          <p:spPr>
            <a:xfrm>
              <a:off x="556" y="3897"/>
              <a:ext cx="1486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宋体" panose="02010600030101010101" pitchFamily="2" charset="-122"/>
                  <a:ea typeface="楷体_GB2312" panose="02010609030101010101" pitchFamily="49" charset="-122"/>
                </a:rPr>
                <a:t>由图可有面积 </a:t>
              </a:r>
              <a:r>
                <a:rPr lang="en-US" altLang="zh-CN" sz="2400" i="1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S</a:t>
              </a:r>
              <a:endParaRPr lang="en-US" altLang="zh-CN" sz="24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graphicFrame>
        <p:nvGraphicFramePr>
          <p:cNvPr id="91179" name="Object 7"/>
          <p:cNvGraphicFramePr/>
          <p:nvPr/>
        </p:nvGraphicFramePr>
        <p:xfrm>
          <a:off x="7164388" y="5989638"/>
          <a:ext cx="1150937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0" r:id="rId17" imgW="533400" imgH="444500" progId="Equation.3">
                  <p:embed/>
                </p:oleObj>
              </mc:Choice>
              <mc:Fallback>
                <p:oleObj r:id="rId17" imgW="533400" imgH="444500" progId="Equation.3">
                  <p:embed/>
                  <p:pic>
                    <p:nvPicPr>
                      <p:cNvPr id="0" name="图片 326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164388" y="5989638"/>
                        <a:ext cx="1150937" cy="895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009" name="Text Box 30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fld id="{9A0DB2DC-4C9A-4742-B13C-FB6460FD3503}" type="slidenum"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34</a:t>
            </a:fld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1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1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1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2"/>
          <p:cNvSpPr txBox="1"/>
          <p:nvPr/>
        </p:nvSpPr>
        <p:spPr>
          <a:xfrm>
            <a:off x="34925" y="130175"/>
            <a:ext cx="4537075" cy="461963"/>
          </a:xfrm>
          <a:prstGeom prst="rect">
            <a:avLst/>
          </a:prstGeom>
          <a:noFill/>
          <a:ln w="57150">
            <a:noFill/>
          </a:ln>
        </p:spPr>
        <p:txBody>
          <a:bodyPr anchor="ctr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(2)  </a:t>
            </a:r>
            <a:r>
              <a:rPr lang="zh-CN" altLang="en-US" sz="2400" dirty="0">
                <a:latin typeface="宋体" panose="02010600030101010101" pitchFamily="2" charset="-122"/>
                <a:ea typeface="楷体_GB2312" panose="02010609030101010101" pitchFamily="49" charset="-122"/>
              </a:rPr>
              <a:t>大于 </a:t>
            </a:r>
            <a:r>
              <a:rPr lang="en-US" altLang="zh-CN" sz="2400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0  </a:t>
            </a:r>
            <a:r>
              <a:rPr lang="zh-CN" altLang="zh-CN" sz="2400" dirty="0">
                <a:latin typeface="宋体" panose="02010600030101010101" pitchFamily="2" charset="-122"/>
                <a:ea typeface="楷体_GB2312" panose="02010609030101010101" pitchFamily="49" charset="-122"/>
              </a:rPr>
              <a:t>的</a:t>
            </a:r>
            <a:r>
              <a:rPr lang="zh-CN" altLang="en-US" sz="2400" dirty="0">
                <a:latin typeface="宋体" panose="02010600030101010101" pitchFamily="2" charset="-122"/>
                <a:ea typeface="楷体_GB2312" panose="02010609030101010101" pitchFamily="49" charset="-122"/>
              </a:rPr>
              <a:t>粒子数：</a:t>
            </a:r>
          </a:p>
        </p:txBody>
      </p:sp>
      <p:graphicFrame>
        <p:nvGraphicFramePr>
          <p:cNvPr id="92163" name="Object 2"/>
          <p:cNvGraphicFramePr/>
          <p:nvPr/>
        </p:nvGraphicFramePr>
        <p:xfrm>
          <a:off x="363538" y="863600"/>
          <a:ext cx="2932112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7" r:id="rId3" imgW="1370330" imgH="355600" progId="Equation.3">
                  <p:embed/>
                </p:oleObj>
              </mc:Choice>
              <mc:Fallback>
                <p:oleObj r:id="rId3" imgW="1370330" imgH="355600" progId="Equation.3">
                  <p:embed/>
                  <p:pic>
                    <p:nvPicPr>
                      <p:cNvPr id="0" name="图片 325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3538" y="863600"/>
                        <a:ext cx="2932112" cy="836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4" name="Object 3"/>
          <p:cNvGraphicFramePr/>
          <p:nvPr/>
        </p:nvGraphicFramePr>
        <p:xfrm>
          <a:off x="3419475" y="841375"/>
          <a:ext cx="2057400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8" r:id="rId5" imgW="850265" imgH="355600" progId="Equation.3">
                  <p:embed/>
                </p:oleObj>
              </mc:Choice>
              <mc:Fallback>
                <p:oleObj r:id="rId5" imgW="850265" imgH="355600" progId="Equation.3">
                  <p:embed/>
                  <p:pic>
                    <p:nvPicPr>
                      <p:cNvPr id="0" name="图片 326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19475" y="841375"/>
                        <a:ext cx="2057400" cy="858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5" name="Object 4"/>
          <p:cNvGraphicFramePr/>
          <p:nvPr/>
        </p:nvGraphicFramePr>
        <p:xfrm>
          <a:off x="900113" y="1668463"/>
          <a:ext cx="3863975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9" r:id="rId7" imgW="1650365" imgH="444500" progId="Equation.3">
                  <p:embed/>
                </p:oleObj>
              </mc:Choice>
              <mc:Fallback>
                <p:oleObj r:id="rId7" imgW="1650365" imgH="444500" progId="Equation.3">
                  <p:embed/>
                  <p:pic>
                    <p:nvPicPr>
                      <p:cNvPr id="0" name="图片 326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00113" y="1668463"/>
                        <a:ext cx="3863975" cy="1039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/>
          <p:nvPr/>
        </p:nvGrpSpPr>
        <p:grpSpPr>
          <a:xfrm>
            <a:off x="5867400" y="152400"/>
            <a:ext cx="3200400" cy="2333625"/>
            <a:chOff x="2976" y="48"/>
            <a:chExt cx="2544" cy="1470"/>
          </a:xfrm>
        </p:grpSpPr>
        <p:sp>
          <p:nvSpPr>
            <p:cNvPr id="84998" name="Rectangle 7"/>
            <p:cNvSpPr/>
            <p:nvPr/>
          </p:nvSpPr>
          <p:spPr>
            <a:xfrm>
              <a:off x="2976" y="48"/>
              <a:ext cx="2544" cy="14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>
                <a:spcBef>
                  <a:spcPct val="50000"/>
                </a:spcBef>
              </a:pPr>
              <a:endPara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grpSp>
          <p:nvGrpSpPr>
            <p:cNvPr id="84999" name="Group 8"/>
            <p:cNvGrpSpPr/>
            <p:nvPr/>
          </p:nvGrpSpPr>
          <p:grpSpPr>
            <a:xfrm>
              <a:off x="3099" y="75"/>
              <a:ext cx="2329" cy="1443"/>
              <a:chOff x="3114" y="2043"/>
              <a:chExt cx="2329" cy="1443"/>
            </a:xfrm>
          </p:grpSpPr>
          <p:sp>
            <p:nvSpPr>
              <p:cNvPr id="85000" name="Line 9"/>
              <p:cNvSpPr/>
              <p:nvPr/>
            </p:nvSpPr>
            <p:spPr>
              <a:xfrm flipV="1">
                <a:off x="3408" y="2630"/>
                <a:ext cx="672" cy="576"/>
              </a:xfrm>
              <a:prstGeom prst="line">
                <a:avLst/>
              </a:prstGeom>
              <a:ln w="57150" cap="flat" cmpd="sng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5001" name="Line 10"/>
              <p:cNvSpPr/>
              <p:nvPr/>
            </p:nvSpPr>
            <p:spPr>
              <a:xfrm>
                <a:off x="4080" y="2630"/>
                <a:ext cx="672" cy="0"/>
              </a:xfrm>
              <a:prstGeom prst="line">
                <a:avLst/>
              </a:prstGeom>
              <a:ln w="57150" cap="flat" cmpd="sng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5002" name="Line 11"/>
              <p:cNvSpPr/>
              <p:nvPr/>
            </p:nvSpPr>
            <p:spPr>
              <a:xfrm>
                <a:off x="4080" y="2630"/>
                <a:ext cx="0" cy="57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85003" name="Line 12"/>
              <p:cNvSpPr/>
              <p:nvPr/>
            </p:nvSpPr>
            <p:spPr>
              <a:xfrm>
                <a:off x="4752" y="2630"/>
                <a:ext cx="0" cy="57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85004" name="Line 13"/>
              <p:cNvSpPr/>
              <p:nvPr/>
            </p:nvSpPr>
            <p:spPr>
              <a:xfrm>
                <a:off x="3408" y="2630"/>
                <a:ext cx="67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85005" name="Text Box 14"/>
              <p:cNvSpPr txBox="1"/>
              <p:nvPr/>
            </p:nvSpPr>
            <p:spPr>
              <a:xfrm>
                <a:off x="3910" y="3147"/>
                <a:ext cx="337" cy="291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v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0</a:t>
                </a:r>
                <a:endParaRPr lang="en-US" altLang="zh-CN" sz="2400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85006" name="Text Box 15"/>
              <p:cNvSpPr txBox="1"/>
              <p:nvPr/>
            </p:nvSpPr>
            <p:spPr>
              <a:xfrm>
                <a:off x="4514" y="3147"/>
                <a:ext cx="459" cy="291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2</a:t>
                </a:r>
                <a:r>
                  <a:rPr lang="en-US" altLang="zh-CN" sz="2400" i="1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v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0</a:t>
                </a:r>
                <a:endParaRPr lang="en-US" altLang="zh-CN" sz="2400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85007" name="Text Box 16"/>
              <p:cNvSpPr txBox="1"/>
              <p:nvPr/>
            </p:nvSpPr>
            <p:spPr>
              <a:xfrm>
                <a:off x="3114" y="2475"/>
                <a:ext cx="269" cy="291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a</a:t>
                </a:r>
              </a:p>
            </p:txBody>
          </p:sp>
          <p:grpSp>
            <p:nvGrpSpPr>
              <p:cNvPr id="85008" name="Group 17"/>
              <p:cNvGrpSpPr/>
              <p:nvPr/>
            </p:nvGrpSpPr>
            <p:grpSpPr>
              <a:xfrm>
                <a:off x="3408" y="2198"/>
                <a:ext cx="1968" cy="1008"/>
                <a:chOff x="3408" y="1824"/>
                <a:chExt cx="1968" cy="1008"/>
              </a:xfrm>
            </p:grpSpPr>
            <p:sp>
              <p:nvSpPr>
                <p:cNvPr id="85009" name="Line 18"/>
                <p:cNvSpPr/>
                <p:nvPr/>
              </p:nvSpPr>
              <p:spPr>
                <a:xfrm>
                  <a:off x="3408" y="2832"/>
                  <a:ext cx="196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85010" name="Line 19"/>
                <p:cNvSpPr/>
                <p:nvPr/>
              </p:nvSpPr>
              <p:spPr>
                <a:xfrm flipV="1">
                  <a:off x="3408" y="1824"/>
                  <a:ext cx="0" cy="1008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85011" name="Text Box 20"/>
              <p:cNvSpPr txBox="1"/>
              <p:nvPr/>
            </p:nvSpPr>
            <p:spPr>
              <a:xfrm>
                <a:off x="3148" y="3147"/>
                <a:ext cx="269" cy="291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0</a:t>
                </a:r>
              </a:p>
            </p:txBody>
          </p:sp>
          <p:sp>
            <p:nvSpPr>
              <p:cNvPr id="85012" name="Text Box 21"/>
              <p:cNvSpPr txBox="1"/>
              <p:nvPr/>
            </p:nvSpPr>
            <p:spPr>
              <a:xfrm>
                <a:off x="5188" y="3195"/>
                <a:ext cx="255" cy="291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v</a:t>
                </a:r>
              </a:p>
            </p:txBody>
          </p:sp>
          <p:sp>
            <p:nvSpPr>
              <p:cNvPr id="85013" name="Text Box 22"/>
              <p:cNvSpPr txBox="1"/>
              <p:nvPr/>
            </p:nvSpPr>
            <p:spPr>
              <a:xfrm>
                <a:off x="3406" y="2043"/>
                <a:ext cx="500" cy="291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f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(</a:t>
                </a:r>
                <a:r>
                  <a:rPr lang="en-US" altLang="zh-CN" sz="2400" i="1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v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)</a:t>
                </a:r>
              </a:p>
            </p:txBody>
          </p:sp>
        </p:grpSp>
      </p:grpSp>
      <p:grpSp>
        <p:nvGrpSpPr>
          <p:cNvPr id="5" name="Group 23"/>
          <p:cNvGrpSpPr/>
          <p:nvPr/>
        </p:nvGrpSpPr>
        <p:grpSpPr>
          <a:xfrm>
            <a:off x="152400" y="3527425"/>
            <a:ext cx="5294313" cy="823913"/>
            <a:chOff x="96" y="2222"/>
            <a:chExt cx="3335" cy="519"/>
          </a:xfrm>
        </p:grpSpPr>
        <p:sp>
          <p:nvSpPr>
            <p:cNvPr id="85015" name="Text Box 24"/>
            <p:cNvSpPr txBox="1"/>
            <p:nvPr/>
          </p:nvSpPr>
          <p:spPr>
            <a:xfrm>
              <a:off x="96" y="2342"/>
              <a:ext cx="1409" cy="291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none" anchor="ctr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(3)  </a:t>
              </a:r>
              <a:r>
                <a:rPr lang="zh-CN" altLang="en-US" sz="2400" dirty="0">
                  <a:latin typeface="宋体" panose="02010600030101010101" pitchFamily="2" charset="-122"/>
                  <a:ea typeface="楷体_GB2312" panose="02010609030101010101" pitchFamily="49" charset="-122"/>
                </a:rPr>
                <a:t>平均速率：</a:t>
              </a:r>
            </a:p>
          </p:txBody>
        </p:sp>
        <p:graphicFrame>
          <p:nvGraphicFramePr>
            <p:cNvPr id="85016" name="Object 9"/>
            <p:cNvGraphicFramePr/>
            <p:nvPr/>
          </p:nvGraphicFramePr>
          <p:xfrm>
            <a:off x="1655" y="2222"/>
            <a:ext cx="1776" cy="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00" r:id="rId9" imgW="1116965" imgH="330200" progId="Equation.3">
                    <p:embed/>
                  </p:oleObj>
                </mc:Choice>
                <mc:Fallback>
                  <p:oleObj r:id="rId9" imgW="1116965" imgH="330200" progId="Equation.3">
                    <p:embed/>
                    <p:pic>
                      <p:nvPicPr>
                        <p:cNvPr id="0" name="图片 326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655" y="2222"/>
                          <a:ext cx="1776" cy="5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2186" name="Object 5"/>
          <p:cNvGraphicFramePr/>
          <p:nvPr/>
        </p:nvGraphicFramePr>
        <p:xfrm>
          <a:off x="2632075" y="4468813"/>
          <a:ext cx="59007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1" r:id="rId11" imgW="2411095" imgH="355600" progId="Equation.3">
                  <p:embed/>
                </p:oleObj>
              </mc:Choice>
              <mc:Fallback>
                <p:oleObj r:id="rId11" imgW="2411095" imgH="355600" progId="Equation.3">
                  <p:embed/>
                  <p:pic>
                    <p:nvPicPr>
                      <p:cNvPr id="0" name="图片 326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32075" y="4468813"/>
                        <a:ext cx="5900738" cy="904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7"/>
          <p:cNvGrpSpPr/>
          <p:nvPr/>
        </p:nvGrpSpPr>
        <p:grpSpPr>
          <a:xfrm>
            <a:off x="611188" y="2663825"/>
            <a:ext cx="5400675" cy="909638"/>
            <a:chOff x="385" y="1587"/>
            <a:chExt cx="3402" cy="573"/>
          </a:xfrm>
        </p:grpSpPr>
        <p:sp>
          <p:nvSpPr>
            <p:cNvPr id="85019" name="Text Box 28"/>
            <p:cNvSpPr txBox="1"/>
            <p:nvPr/>
          </p:nvSpPr>
          <p:spPr>
            <a:xfrm>
              <a:off x="385" y="1715"/>
              <a:ext cx="2603" cy="291"/>
            </a:xfrm>
            <a:prstGeom prst="rect">
              <a:avLst/>
            </a:prstGeom>
            <a:noFill/>
            <a:ln w="57150">
              <a:noFill/>
            </a:ln>
          </p:spPr>
          <p:txBody>
            <a:bodyPr anchor="ctr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小</a:t>
              </a:r>
              <a:r>
                <a:rPr lang="zh-CN" altLang="en-US" sz="2400" dirty="0">
                  <a:latin typeface="宋体" panose="02010600030101010101" pitchFamily="2" charset="-122"/>
                  <a:ea typeface="楷体_GB2312" panose="02010609030101010101" pitchFamily="49" charset="-122"/>
                </a:rPr>
                <a:t>于 </a:t>
              </a:r>
              <a:r>
                <a:rPr lang="en-US" altLang="zh-CN" sz="2400" i="1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0  </a:t>
              </a:r>
              <a:r>
                <a:rPr lang="zh-CN" altLang="zh-CN" sz="2400" dirty="0">
                  <a:latin typeface="宋体" panose="02010600030101010101" pitchFamily="2" charset="-122"/>
                  <a:ea typeface="楷体_GB2312" panose="02010609030101010101" pitchFamily="49" charset="-122"/>
                </a:rPr>
                <a:t>的</a:t>
              </a:r>
              <a:r>
                <a:rPr lang="zh-CN" altLang="en-US" sz="2400" dirty="0">
                  <a:latin typeface="宋体" panose="02010600030101010101" pitchFamily="2" charset="-122"/>
                  <a:ea typeface="楷体_GB2312" panose="02010609030101010101" pitchFamily="49" charset="-122"/>
                </a:rPr>
                <a:t>粒子数</a:t>
              </a:r>
              <a:r>
                <a:rPr lang="en-US" altLang="zh-CN" sz="2400" dirty="0">
                  <a:latin typeface="宋体" panose="02010600030101010101" pitchFamily="2" charset="-122"/>
                  <a:ea typeface="楷体_GB2312" panose="02010609030101010101" pitchFamily="49" charset="-122"/>
                </a:rPr>
                <a:t>:</a:t>
              </a:r>
            </a:p>
          </p:txBody>
        </p:sp>
        <p:graphicFrame>
          <p:nvGraphicFramePr>
            <p:cNvPr id="85020" name="Object 8"/>
            <p:cNvGraphicFramePr/>
            <p:nvPr/>
          </p:nvGraphicFramePr>
          <p:xfrm>
            <a:off x="2517" y="1587"/>
            <a:ext cx="1270" cy="5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02" r:id="rId13" imgW="1015365" imgH="405765" progId="Equation.3">
                    <p:embed/>
                  </p:oleObj>
                </mc:Choice>
                <mc:Fallback>
                  <p:oleObj r:id="rId13" imgW="1015365" imgH="405765" progId="Equation.3">
                    <p:embed/>
                    <p:pic>
                      <p:nvPicPr>
                        <p:cNvPr id="0" name="图片 3270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517" y="1587"/>
                          <a:ext cx="1270" cy="5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30"/>
          <p:cNvGrpSpPr/>
          <p:nvPr/>
        </p:nvGrpSpPr>
        <p:grpSpPr>
          <a:xfrm>
            <a:off x="2986088" y="5432425"/>
            <a:ext cx="5186362" cy="1092200"/>
            <a:chOff x="1881" y="3422"/>
            <a:chExt cx="3267" cy="688"/>
          </a:xfrm>
        </p:grpSpPr>
        <p:graphicFrame>
          <p:nvGraphicFramePr>
            <p:cNvPr id="85022" name="Object 6"/>
            <p:cNvGraphicFramePr/>
            <p:nvPr/>
          </p:nvGraphicFramePr>
          <p:xfrm>
            <a:off x="1881" y="3422"/>
            <a:ext cx="2496" cy="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03" r:id="rId15" imgW="1688465" imgH="444500" progId="Equation.3">
                    <p:embed/>
                  </p:oleObj>
                </mc:Choice>
                <mc:Fallback>
                  <p:oleObj r:id="rId15" imgW="1688465" imgH="444500" progId="Equation.3">
                    <p:embed/>
                    <p:pic>
                      <p:nvPicPr>
                        <p:cNvPr id="0" name="图片 3269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881" y="3422"/>
                          <a:ext cx="2496" cy="6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023" name="Object 7"/>
            <p:cNvGraphicFramePr/>
            <p:nvPr/>
          </p:nvGraphicFramePr>
          <p:xfrm>
            <a:off x="4422" y="3447"/>
            <a:ext cx="726" cy="6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04" r:id="rId17" imgW="481965" imgH="405765" progId="Equation.3">
                    <p:embed/>
                  </p:oleObj>
                </mc:Choice>
                <mc:Fallback>
                  <p:oleObj r:id="rId17" imgW="481965" imgH="405765" progId="Equation.3">
                    <p:embed/>
                    <p:pic>
                      <p:nvPicPr>
                        <p:cNvPr id="0" name="图片 3267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422" y="3447"/>
                          <a:ext cx="726" cy="61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5024" name="Text Box 30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fld id="{9A0DB2DC-4C9A-4742-B13C-FB6460FD3503}" type="slidenum"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35</a:t>
            </a:fld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2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36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721922" name="文本框 721921"/>
          <p:cNvSpPr txBox="1"/>
          <p:nvPr/>
        </p:nvSpPr>
        <p:spPr>
          <a:xfrm>
            <a:off x="361950" y="44450"/>
            <a:ext cx="19431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</a:t>
            </a:r>
            <a:r>
              <a:rPr kumimoji="0" lang="zh-CN" altLang="en-US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en-US" altLang="zh-CN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</a:t>
            </a:r>
            <a:endParaRPr kumimoji="0" lang="en-US" altLang="zh-CN" sz="2400" kern="1200" cap="none" spc="0" normalizeH="0" baseline="0" noProof="1">
              <a:solidFill>
                <a:srgbClr val="0000FF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1923" name="文本框 721922"/>
          <p:cNvSpPr txBox="1"/>
          <p:nvPr/>
        </p:nvSpPr>
        <p:spPr>
          <a:xfrm>
            <a:off x="1468438" y="63500"/>
            <a:ext cx="60579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设某气体的速率分布函数为</a:t>
            </a:r>
          </a:p>
        </p:txBody>
      </p:sp>
      <p:grpSp>
        <p:nvGrpSpPr>
          <p:cNvPr id="2" name="组合 721923"/>
          <p:cNvGrpSpPr/>
          <p:nvPr/>
        </p:nvGrpSpPr>
        <p:grpSpPr>
          <a:xfrm>
            <a:off x="1468438" y="476250"/>
            <a:ext cx="3895725" cy="1081088"/>
            <a:chOff x="684" y="636"/>
            <a:chExt cx="2724" cy="772"/>
          </a:xfrm>
        </p:grpSpPr>
        <p:graphicFrame>
          <p:nvGraphicFramePr>
            <p:cNvPr id="86021" name="对象 721924"/>
            <p:cNvGraphicFramePr/>
            <p:nvPr/>
          </p:nvGraphicFramePr>
          <p:xfrm>
            <a:off x="1634" y="636"/>
            <a:ext cx="1774" cy="4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25" r:id="rId3" imgW="1103630" imgH="254000" progId="Equation.3">
                    <p:embed/>
                  </p:oleObj>
                </mc:Choice>
                <mc:Fallback>
                  <p:oleObj r:id="rId3" imgW="1103630" imgH="254000" progId="Equation.3">
                    <p:embed/>
                    <p:pic>
                      <p:nvPicPr>
                        <p:cNvPr id="0" name="图片 327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34" y="636"/>
                          <a:ext cx="1774" cy="4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022" name="对象 721925"/>
            <p:cNvGraphicFramePr/>
            <p:nvPr/>
          </p:nvGraphicFramePr>
          <p:xfrm>
            <a:off x="684" y="891"/>
            <a:ext cx="742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26" r:id="rId5" imgW="481965" imgH="203200" progId="Equation.3">
                    <p:embed/>
                  </p:oleObj>
                </mc:Choice>
                <mc:Fallback>
                  <p:oleObj r:id="rId5" imgW="481965" imgH="203200" progId="Equation.3">
                    <p:embed/>
                    <p:pic>
                      <p:nvPicPr>
                        <p:cNvPr id="0" name="图片 326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84" y="891"/>
                          <a:ext cx="742" cy="3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6023" name="左大括号 721926"/>
            <p:cNvSpPr/>
            <p:nvPr/>
          </p:nvSpPr>
          <p:spPr>
            <a:xfrm>
              <a:off x="1496" y="868"/>
              <a:ext cx="104" cy="359"/>
            </a:xfrm>
            <a:prstGeom prst="leftBrace">
              <a:avLst>
                <a:gd name="adj1" fmla="val 28494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graphicFrame>
          <p:nvGraphicFramePr>
            <p:cNvPr id="86024" name="对象 721927"/>
            <p:cNvGraphicFramePr/>
            <p:nvPr/>
          </p:nvGraphicFramePr>
          <p:xfrm>
            <a:off x="1671" y="1043"/>
            <a:ext cx="1377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27" r:id="rId7" imgW="862965" imgH="228600" progId="Equation.3">
                    <p:embed/>
                  </p:oleObj>
                </mc:Choice>
                <mc:Fallback>
                  <p:oleObj r:id="rId7" imgW="862965" imgH="228600" progId="Equation.3">
                    <p:embed/>
                    <p:pic>
                      <p:nvPicPr>
                        <p:cNvPr id="0" name="图片 326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671" y="1043"/>
                          <a:ext cx="1377" cy="3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21929" name="文本框 721928"/>
          <p:cNvSpPr txBox="1"/>
          <p:nvPr/>
        </p:nvSpPr>
        <p:spPr>
          <a:xfrm>
            <a:off x="400050" y="1590675"/>
            <a:ext cx="121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求：</a:t>
            </a:r>
          </a:p>
        </p:txBody>
      </p:sp>
      <p:grpSp>
        <p:nvGrpSpPr>
          <p:cNvPr id="3" name="组合 721929"/>
          <p:cNvGrpSpPr/>
          <p:nvPr/>
        </p:nvGrpSpPr>
        <p:grpSpPr>
          <a:xfrm>
            <a:off x="1042988" y="2420938"/>
            <a:ext cx="6694487" cy="855662"/>
            <a:chOff x="657" y="1706"/>
            <a:chExt cx="4217" cy="539"/>
          </a:xfrm>
        </p:grpSpPr>
        <p:sp>
          <p:nvSpPr>
            <p:cNvPr id="721931" name="文本框 721930"/>
            <p:cNvSpPr txBox="1"/>
            <p:nvPr/>
          </p:nvSpPr>
          <p:spPr>
            <a:xfrm>
              <a:off x="657" y="1848"/>
              <a:ext cx="192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（</a:t>
              </a:r>
              <a:r>
                <a:rPr kumimoji="0" lang="en-US" altLang="zh-CN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）速率在</a:t>
              </a:r>
            </a:p>
          </p:txBody>
        </p:sp>
        <p:graphicFrame>
          <p:nvGraphicFramePr>
            <p:cNvPr id="86028" name="对象 721931"/>
            <p:cNvGraphicFramePr/>
            <p:nvPr/>
          </p:nvGraphicFramePr>
          <p:xfrm>
            <a:off x="1837" y="1706"/>
            <a:ext cx="589" cy="5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28" r:id="rId9" imgW="443865" imgH="405765" progId="Equation.3">
                    <p:embed/>
                  </p:oleObj>
                </mc:Choice>
                <mc:Fallback>
                  <p:oleObj r:id="rId9" imgW="443865" imgH="405765" progId="Equation.3">
                    <p:embed/>
                    <p:pic>
                      <p:nvPicPr>
                        <p:cNvPr id="0" name="图片 327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837" y="1706"/>
                          <a:ext cx="589" cy="5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1933" name="文本框 721932"/>
            <p:cNvSpPr txBox="1"/>
            <p:nvPr/>
          </p:nvSpPr>
          <p:spPr>
            <a:xfrm>
              <a:off x="2426" y="1842"/>
              <a:ext cx="244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之间分子的平均速率</a:t>
              </a:r>
            </a:p>
          </p:txBody>
        </p:sp>
        <p:graphicFrame>
          <p:nvGraphicFramePr>
            <p:cNvPr id="86030" name="对象 721933"/>
            <p:cNvGraphicFramePr/>
            <p:nvPr/>
          </p:nvGraphicFramePr>
          <p:xfrm>
            <a:off x="4195" y="1834"/>
            <a:ext cx="327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29" r:id="rId11" imgW="189865" imgH="177800" progId="Equation.3">
                    <p:embed/>
                  </p:oleObj>
                </mc:Choice>
                <mc:Fallback>
                  <p:oleObj r:id="rId11" imgW="189865" imgH="177800" progId="Equation.3">
                    <p:embed/>
                    <p:pic>
                      <p:nvPicPr>
                        <p:cNvPr id="0" name="图片 327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195" y="1834"/>
                          <a:ext cx="327" cy="3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21935" name="文本框 721934"/>
          <p:cNvSpPr txBox="1"/>
          <p:nvPr/>
        </p:nvSpPr>
        <p:spPr>
          <a:xfrm>
            <a:off x="476250" y="3141663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</a:p>
        </p:txBody>
      </p:sp>
      <p:sp>
        <p:nvSpPr>
          <p:cNvPr id="721936" name="文本框 721935"/>
          <p:cNvSpPr txBox="1"/>
          <p:nvPr/>
        </p:nvSpPr>
        <p:spPr>
          <a:xfrm>
            <a:off x="1009650" y="1614488"/>
            <a:ext cx="6400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）常量 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 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0" lang="en-US" altLang="zh-CN" sz="2400" kern="1200" cap="none" spc="0" normalizeH="0" baseline="-25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的关系</a:t>
            </a:r>
          </a:p>
        </p:txBody>
      </p:sp>
      <p:grpSp>
        <p:nvGrpSpPr>
          <p:cNvPr id="4" name="组合 721936"/>
          <p:cNvGrpSpPr/>
          <p:nvPr/>
        </p:nvGrpSpPr>
        <p:grpSpPr>
          <a:xfrm>
            <a:off x="1028700" y="2132013"/>
            <a:ext cx="3124200" cy="457200"/>
            <a:chOff x="648" y="1434"/>
            <a:chExt cx="1968" cy="288"/>
          </a:xfrm>
        </p:grpSpPr>
        <p:graphicFrame>
          <p:nvGraphicFramePr>
            <p:cNvPr id="86034" name="对象 721937"/>
            <p:cNvGraphicFramePr/>
            <p:nvPr/>
          </p:nvGraphicFramePr>
          <p:xfrm>
            <a:off x="1973" y="1434"/>
            <a:ext cx="238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30" r:id="rId13" imgW="152400" imgH="177800" progId="Equation.3">
                    <p:embed/>
                  </p:oleObj>
                </mc:Choice>
                <mc:Fallback>
                  <p:oleObj r:id="rId13" imgW="152400" imgH="177800" progId="Equation.3">
                    <p:embed/>
                    <p:pic>
                      <p:nvPicPr>
                        <p:cNvPr id="0" name="图片 327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973" y="1434"/>
                          <a:ext cx="238" cy="2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1939" name="文本框 721938"/>
            <p:cNvSpPr txBox="1"/>
            <p:nvPr/>
          </p:nvSpPr>
          <p:spPr>
            <a:xfrm>
              <a:off x="648" y="1434"/>
              <a:ext cx="19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（</a:t>
              </a:r>
              <a:r>
                <a:rPr kumimoji="0" lang="en-US" altLang="zh-CN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）平均速率</a:t>
              </a:r>
            </a:p>
          </p:txBody>
        </p:sp>
      </p:grpSp>
      <p:graphicFrame>
        <p:nvGraphicFramePr>
          <p:cNvPr id="721940" name="对象 721939"/>
          <p:cNvGraphicFramePr/>
          <p:nvPr/>
        </p:nvGraphicFramePr>
        <p:xfrm>
          <a:off x="3419475" y="3038475"/>
          <a:ext cx="230505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31" r:id="rId15" imgW="951865" imgH="292100" progId="Equation.3">
                  <p:embed/>
                </p:oleObj>
              </mc:Choice>
              <mc:Fallback>
                <p:oleObj r:id="rId15" imgW="951865" imgH="292100" progId="Equation.3">
                  <p:embed/>
                  <p:pic>
                    <p:nvPicPr>
                      <p:cNvPr id="0" name="图片 327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419475" y="3038475"/>
                        <a:ext cx="2305050" cy="703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941" name="对象 721940"/>
          <p:cNvGraphicFramePr/>
          <p:nvPr/>
        </p:nvGraphicFramePr>
        <p:xfrm>
          <a:off x="1403350" y="3644900"/>
          <a:ext cx="446405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32" r:id="rId17" imgW="2055495" imgH="405765" progId="Equation.3">
                  <p:embed/>
                </p:oleObj>
              </mc:Choice>
              <mc:Fallback>
                <p:oleObj r:id="rId17" imgW="2055495" imgH="405765" progId="Equation.3">
                  <p:embed/>
                  <p:pic>
                    <p:nvPicPr>
                      <p:cNvPr id="0" name="图片 327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403350" y="3644900"/>
                        <a:ext cx="4464050" cy="877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1942" name="文本框 721941"/>
          <p:cNvSpPr txBox="1"/>
          <p:nvPr/>
        </p:nvSpPr>
        <p:spPr>
          <a:xfrm>
            <a:off x="971550" y="3179763"/>
            <a:ext cx="40767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）归一化条件</a:t>
            </a:r>
          </a:p>
        </p:txBody>
      </p:sp>
      <p:sp>
        <p:nvSpPr>
          <p:cNvPr id="721943" name="右大括号 721942"/>
          <p:cNvSpPr/>
          <p:nvPr/>
        </p:nvSpPr>
        <p:spPr>
          <a:xfrm>
            <a:off x="5867400" y="3284538"/>
            <a:ext cx="76200" cy="838200"/>
          </a:xfrm>
          <a:prstGeom prst="rightBrace">
            <a:avLst>
              <a:gd name="adj1" fmla="val 90800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721944" name="直接连接符 721943"/>
          <p:cNvSpPr/>
          <p:nvPr/>
        </p:nvSpPr>
        <p:spPr>
          <a:xfrm>
            <a:off x="6156325" y="3716338"/>
            <a:ext cx="457200" cy="0"/>
          </a:xfrm>
          <a:prstGeom prst="line">
            <a:avLst/>
          </a:prstGeom>
          <a:ln w="57150" cap="flat" cmpd="sng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</p:spPr>
      </p:sp>
      <p:graphicFrame>
        <p:nvGraphicFramePr>
          <p:cNvPr id="721945" name="对象 721944"/>
          <p:cNvGraphicFramePr/>
          <p:nvPr/>
        </p:nvGraphicFramePr>
        <p:xfrm>
          <a:off x="6659563" y="3213100"/>
          <a:ext cx="1181100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33" r:id="rId19" imgW="482600" imgH="457200" progId="Equation.3">
                  <p:embed/>
                </p:oleObj>
              </mc:Choice>
              <mc:Fallback>
                <p:oleObj r:id="rId19" imgW="482600" imgH="457200" progId="Equation.3">
                  <p:embed/>
                  <p:pic>
                    <p:nvPicPr>
                      <p:cNvPr id="0" name="图片 327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659563" y="3213100"/>
                        <a:ext cx="1181100" cy="1123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721945"/>
          <p:cNvGrpSpPr/>
          <p:nvPr/>
        </p:nvGrpSpPr>
        <p:grpSpPr>
          <a:xfrm>
            <a:off x="5829300" y="474663"/>
            <a:ext cx="3238500" cy="2076450"/>
            <a:chOff x="3624" y="768"/>
            <a:chExt cx="2040" cy="1308"/>
          </a:xfrm>
        </p:grpSpPr>
        <p:sp>
          <p:nvSpPr>
            <p:cNvPr id="86043" name="直接连接符 721946"/>
            <p:cNvSpPr/>
            <p:nvPr/>
          </p:nvSpPr>
          <p:spPr>
            <a:xfrm flipV="1">
              <a:off x="3744" y="864"/>
              <a:ext cx="0" cy="96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86044" name="直接连接符 721947"/>
            <p:cNvSpPr/>
            <p:nvPr/>
          </p:nvSpPr>
          <p:spPr>
            <a:xfrm>
              <a:off x="3744" y="1824"/>
              <a:ext cx="17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86045" name="任意多边形 721948"/>
            <p:cNvSpPr/>
            <p:nvPr/>
          </p:nvSpPr>
          <p:spPr>
            <a:xfrm flipV="1">
              <a:off x="3744" y="960"/>
              <a:ext cx="624" cy="8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24" y="852"/>
                </a:cxn>
                <a:cxn ang="0">
                  <a:pos x="0" y="0"/>
                </a:cxn>
                <a:cxn ang="0">
                  <a:pos x="624" y="852"/>
                </a:cxn>
                <a:cxn ang="0">
                  <a:pos x="0" y="852"/>
                </a:cxn>
              </a:cxnLst>
              <a:rect l="0" t="0" r="0" b="0"/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6" name="矩形 721949"/>
            <p:cNvSpPr/>
            <p:nvPr/>
          </p:nvSpPr>
          <p:spPr>
            <a:xfrm>
              <a:off x="4272" y="924"/>
              <a:ext cx="192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86047" name="直接连接符 721950"/>
            <p:cNvSpPr/>
            <p:nvPr/>
          </p:nvSpPr>
          <p:spPr>
            <a:xfrm>
              <a:off x="4332" y="1200"/>
              <a:ext cx="0" cy="62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86048" name="对象 721951"/>
            <p:cNvGraphicFramePr/>
            <p:nvPr/>
          </p:nvGraphicFramePr>
          <p:xfrm>
            <a:off x="3792" y="768"/>
            <a:ext cx="45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34" r:id="rId21" imgW="367665" imgH="203200" progId="Equation.3">
                    <p:embed/>
                  </p:oleObj>
                </mc:Choice>
                <mc:Fallback>
                  <p:oleObj r:id="rId21" imgW="367665" imgH="203200" progId="Equation.3">
                    <p:embed/>
                    <p:pic>
                      <p:nvPicPr>
                        <p:cNvPr id="0" name="图片 3272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792" y="768"/>
                          <a:ext cx="452" cy="2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1953" name="文本框 721952"/>
            <p:cNvSpPr txBox="1"/>
            <p:nvPr/>
          </p:nvSpPr>
          <p:spPr>
            <a:xfrm>
              <a:off x="5280" y="1764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400" i="1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Bookman Old Style" panose="02050604050505020204" pitchFamily="18" charset="0"/>
                  <a:ea typeface="宋体" panose="02010600030101010101" pitchFamily="2" charset="-122"/>
                  <a:cs typeface="+mn-cs"/>
                </a:rPr>
                <a:t>v</a:t>
              </a:r>
            </a:p>
          </p:txBody>
        </p:sp>
        <p:sp>
          <p:nvSpPr>
            <p:cNvPr id="721954" name="文本框 721953"/>
            <p:cNvSpPr txBox="1"/>
            <p:nvPr/>
          </p:nvSpPr>
          <p:spPr>
            <a:xfrm>
              <a:off x="4212" y="1764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400" i="1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Bookman Old Style" panose="02050604050505020204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2400" kern="1200" cap="none" spc="0" normalizeH="0" baseline="-250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4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1955" name="文本框 721954"/>
            <p:cNvSpPr txBox="1"/>
            <p:nvPr/>
          </p:nvSpPr>
          <p:spPr>
            <a:xfrm>
              <a:off x="3624" y="1788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4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052" name="直接连接符 721955"/>
            <p:cNvSpPr/>
            <p:nvPr/>
          </p:nvSpPr>
          <p:spPr>
            <a:xfrm>
              <a:off x="4368" y="1824"/>
              <a:ext cx="864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721957" name="文本框 721956"/>
          <p:cNvSpPr txBox="1"/>
          <p:nvPr/>
        </p:nvSpPr>
        <p:spPr>
          <a:xfrm>
            <a:off x="1042988" y="4510088"/>
            <a:ext cx="5181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）设总分子数为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</a:p>
        </p:txBody>
      </p:sp>
      <p:sp>
        <p:nvSpPr>
          <p:cNvPr id="721958" name="矩形 721957"/>
          <p:cNvSpPr/>
          <p:nvPr/>
        </p:nvSpPr>
        <p:spPr>
          <a:xfrm>
            <a:off x="4140200" y="4505325"/>
            <a:ext cx="19240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则</a:t>
            </a:r>
          </a:p>
        </p:txBody>
      </p:sp>
      <p:graphicFrame>
        <p:nvGraphicFramePr>
          <p:cNvPr id="721959" name="对象 721958"/>
          <p:cNvGraphicFramePr/>
          <p:nvPr/>
        </p:nvGraphicFramePr>
        <p:xfrm>
          <a:off x="1403350" y="4929188"/>
          <a:ext cx="2890838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35" r:id="rId23" imgW="1282700" imgH="469900" progId="Equation.3">
                  <p:embed/>
                </p:oleObj>
              </mc:Choice>
              <mc:Fallback>
                <p:oleObj r:id="rId23" imgW="1282700" imgH="469900" progId="Equation.3">
                  <p:embed/>
                  <p:pic>
                    <p:nvPicPr>
                      <p:cNvPr id="0" name="图片 3287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403350" y="4929188"/>
                        <a:ext cx="2890838" cy="1057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960" name="对象 721959"/>
          <p:cNvGraphicFramePr/>
          <p:nvPr/>
        </p:nvGraphicFramePr>
        <p:xfrm>
          <a:off x="4354513" y="5113338"/>
          <a:ext cx="2522537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36" r:id="rId25" imgW="1028065" imgH="292100" progId="Equation.3">
                  <p:embed/>
                </p:oleObj>
              </mc:Choice>
              <mc:Fallback>
                <p:oleObj r:id="rId25" imgW="1028065" imgH="292100" progId="Equation.3">
                  <p:embed/>
                  <p:pic>
                    <p:nvPicPr>
                      <p:cNvPr id="0" name="图片 3281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354513" y="5113338"/>
                        <a:ext cx="2522537" cy="714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961" name="对象 721960"/>
          <p:cNvGraphicFramePr/>
          <p:nvPr/>
        </p:nvGraphicFramePr>
        <p:xfrm>
          <a:off x="4060825" y="5876925"/>
          <a:ext cx="101600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37" r:id="rId27" imgW="443865" imgH="405765" progId="Equation.3">
                  <p:embed/>
                </p:oleObj>
              </mc:Choice>
              <mc:Fallback>
                <p:oleObj r:id="rId27" imgW="443865" imgH="405765" progId="Equation.3">
                  <p:embed/>
                  <p:pic>
                    <p:nvPicPr>
                      <p:cNvPr id="0" name="图片 3282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060825" y="5876925"/>
                        <a:ext cx="1016000" cy="928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962" name="对象 721961"/>
          <p:cNvGraphicFramePr/>
          <p:nvPr/>
        </p:nvGraphicFramePr>
        <p:xfrm>
          <a:off x="1547813" y="5962650"/>
          <a:ext cx="2466975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38" r:id="rId29" imgW="1002665" imgH="292100" progId="Equation.3">
                  <p:embed/>
                </p:oleObj>
              </mc:Choice>
              <mc:Fallback>
                <p:oleObj r:id="rId29" imgW="1002665" imgH="292100" progId="Equation.3">
                  <p:embed/>
                  <p:pic>
                    <p:nvPicPr>
                      <p:cNvPr id="0" name="图片 3286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47813" y="5962650"/>
                        <a:ext cx="2466975" cy="715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963" name="对象 721962"/>
          <p:cNvGraphicFramePr/>
          <p:nvPr/>
        </p:nvGraphicFramePr>
        <p:xfrm>
          <a:off x="5165725" y="5902325"/>
          <a:ext cx="2501900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39" r:id="rId31" imgW="1168400" imgH="457200" progId="Equation.3">
                  <p:embed/>
                </p:oleObj>
              </mc:Choice>
              <mc:Fallback>
                <p:oleObj r:id="rId31" imgW="1168400" imgH="457200" progId="Equation.3">
                  <p:embed/>
                  <p:pic>
                    <p:nvPicPr>
                      <p:cNvPr id="0" name="图片 3283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165725" y="5902325"/>
                        <a:ext cx="2501900" cy="982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60" name="对象 721963"/>
          <p:cNvGraphicFramePr/>
          <p:nvPr/>
        </p:nvGraphicFramePr>
        <p:xfrm>
          <a:off x="7092950" y="44450"/>
          <a:ext cx="1944688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0" r:id="rId33" imgW="787400" imgH="419100" progId="Equation.3">
                  <p:embed/>
                </p:oleObj>
              </mc:Choice>
              <mc:Fallback>
                <p:oleObj r:id="rId33" imgW="787400" imgH="419100" progId="Equation.3">
                  <p:embed/>
                  <p:pic>
                    <p:nvPicPr>
                      <p:cNvPr id="0" name="图片 3284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092950" y="44450"/>
                        <a:ext cx="1944688" cy="100806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8F8FE"/>
                          </a:gs>
                          <a:gs pos="50000">
                            <a:srgbClr val="FFFFFF"/>
                          </a:gs>
                          <a:gs pos="100000">
                            <a:srgbClr val="E8F8FE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2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2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2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2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21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21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721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21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21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21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21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21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21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21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721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72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922" grpId="0"/>
      <p:bldP spid="721923" grpId="0"/>
      <p:bldP spid="721929" grpId="0"/>
      <p:bldP spid="721935" grpId="0"/>
      <p:bldP spid="721936" grpId="0"/>
      <p:bldP spid="721942" grpId="0"/>
      <p:bldP spid="721957" grpId="0"/>
      <p:bldP spid="72195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2947" name="对象 722946"/>
          <p:cNvGraphicFramePr/>
          <p:nvPr/>
        </p:nvGraphicFramePr>
        <p:xfrm>
          <a:off x="563563" y="1284288"/>
          <a:ext cx="2665412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97" r:id="rId3" imgW="1231265" imgH="330200" progId="Equation.3">
                  <p:embed/>
                </p:oleObj>
              </mc:Choice>
              <mc:Fallback>
                <p:oleObj r:id="rId3" imgW="1231265" imgH="330200" progId="Equation.3">
                  <p:embed/>
                  <p:pic>
                    <p:nvPicPr>
                      <p:cNvPr id="0" name="图片 328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3563" y="1284288"/>
                        <a:ext cx="2665412" cy="755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2948" name="文本框 722947"/>
          <p:cNvSpPr txBox="1"/>
          <p:nvPr/>
        </p:nvSpPr>
        <p:spPr>
          <a:xfrm>
            <a:off x="1476375" y="2163763"/>
            <a:ext cx="1752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对否？</a:t>
            </a:r>
          </a:p>
        </p:txBody>
      </p:sp>
      <p:sp>
        <p:nvSpPr>
          <p:cNvPr id="722949" name="文本框 722948"/>
          <p:cNvSpPr txBox="1"/>
          <p:nvPr/>
        </p:nvSpPr>
        <p:spPr>
          <a:xfrm>
            <a:off x="800100" y="2898775"/>
            <a:ext cx="26289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——</a:t>
            </a:r>
            <a:r>
              <a:rPr kumimoji="0" lang="zh-CN" altLang="en-US" sz="28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不对！</a:t>
            </a:r>
          </a:p>
        </p:txBody>
      </p:sp>
      <p:sp>
        <p:nvSpPr>
          <p:cNvPr id="722950" name="文本框 722949"/>
          <p:cNvSpPr txBox="1"/>
          <p:nvPr/>
        </p:nvSpPr>
        <p:spPr>
          <a:xfrm>
            <a:off x="2667000" y="2898775"/>
            <a:ext cx="4724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上式分母上的</a:t>
            </a:r>
            <a:r>
              <a:rPr kumimoji="0" lang="en-US" altLang="zh-CN" sz="28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N</a:t>
            </a:r>
            <a:r>
              <a:rPr kumimoji="0" lang="zh-CN" altLang="en-US" sz="28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应改为</a:t>
            </a:r>
          </a:p>
        </p:txBody>
      </p:sp>
      <p:graphicFrame>
        <p:nvGraphicFramePr>
          <p:cNvPr id="722951" name="对象 722950"/>
          <p:cNvGraphicFramePr/>
          <p:nvPr/>
        </p:nvGraphicFramePr>
        <p:xfrm>
          <a:off x="6305550" y="2770188"/>
          <a:ext cx="2398713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98" r:id="rId5" imgW="951865" imgH="292100" progId="Equation.3">
                  <p:embed/>
                </p:oleObj>
              </mc:Choice>
              <mc:Fallback>
                <p:oleObj r:id="rId5" imgW="951865" imgH="292100" progId="Equation.3">
                  <p:embed/>
                  <p:pic>
                    <p:nvPicPr>
                      <p:cNvPr id="0" name="图片 328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05550" y="2770188"/>
                        <a:ext cx="2398713" cy="731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52" name="对象 722951"/>
          <p:cNvGraphicFramePr/>
          <p:nvPr/>
        </p:nvGraphicFramePr>
        <p:xfrm>
          <a:off x="292100" y="3554413"/>
          <a:ext cx="3378200" cy="154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99" r:id="rId7" imgW="1459865" imgH="634365" progId="Equation.3">
                  <p:embed/>
                </p:oleObj>
              </mc:Choice>
              <mc:Fallback>
                <p:oleObj r:id="rId7" imgW="1459865" imgH="634365" progId="Equation.3">
                  <p:embed/>
                  <p:pic>
                    <p:nvPicPr>
                      <p:cNvPr id="0" name="图片 327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2100" y="3554413"/>
                        <a:ext cx="3378200" cy="1547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53" name="对象 722952"/>
          <p:cNvGraphicFramePr/>
          <p:nvPr/>
        </p:nvGraphicFramePr>
        <p:xfrm>
          <a:off x="766763" y="5237163"/>
          <a:ext cx="1728787" cy="155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00" r:id="rId9" imgW="609600" imgH="520700" progId="Equation.3">
                  <p:embed/>
                </p:oleObj>
              </mc:Choice>
              <mc:Fallback>
                <p:oleObj r:id="rId9" imgW="609600" imgH="520700" progId="Equation.3">
                  <p:embed/>
                  <p:pic>
                    <p:nvPicPr>
                      <p:cNvPr id="0" name="图片 328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66763" y="5237163"/>
                        <a:ext cx="1728787" cy="1557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54" name="对象 722953"/>
          <p:cNvGraphicFramePr/>
          <p:nvPr/>
        </p:nvGraphicFramePr>
        <p:xfrm>
          <a:off x="2570163" y="5518150"/>
          <a:ext cx="881062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01" r:id="rId11" imgW="381000" imgH="393700" progId="Equation.DSMT4">
                  <p:embed/>
                </p:oleObj>
              </mc:Choice>
              <mc:Fallback>
                <p:oleObj r:id="rId11" imgW="381000" imgH="393700" progId="Equation.DSMT4">
                  <p:embed/>
                  <p:pic>
                    <p:nvPicPr>
                      <p:cNvPr id="0" name="图片 329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70163" y="5518150"/>
                        <a:ext cx="881062" cy="957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56" name="对象 722955"/>
          <p:cNvGraphicFramePr/>
          <p:nvPr/>
        </p:nvGraphicFramePr>
        <p:xfrm>
          <a:off x="6559550" y="4652963"/>
          <a:ext cx="24765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02" r:id="rId13" imgW="948055" imgH="925830" progId="Equation.3">
                  <p:embed/>
                </p:oleObj>
              </mc:Choice>
              <mc:Fallback>
                <p:oleObj r:id="rId13" imgW="948055" imgH="925830" progId="Equation.3">
                  <p:embed/>
                  <p:pic>
                    <p:nvPicPr>
                      <p:cNvPr id="0" name="图片 329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559550" y="4652963"/>
                        <a:ext cx="2476500" cy="213360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CC3300"/>
                        </a:solidFill>
                        <a:prstDash val="dash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0" name="对象 722956"/>
          <p:cNvGraphicFramePr/>
          <p:nvPr/>
        </p:nvGraphicFramePr>
        <p:xfrm>
          <a:off x="7092950" y="44450"/>
          <a:ext cx="1944688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03" r:id="rId15" imgW="787400" imgH="419100" progId="Equation.3">
                  <p:embed/>
                </p:oleObj>
              </mc:Choice>
              <mc:Fallback>
                <p:oleObj r:id="rId15" imgW="787400" imgH="419100" progId="Equation.3">
                  <p:embed/>
                  <p:pic>
                    <p:nvPicPr>
                      <p:cNvPr id="0" name="图片 329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092950" y="44450"/>
                        <a:ext cx="1944688" cy="100806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8F8FE"/>
                          </a:gs>
                          <a:gs pos="50000">
                            <a:srgbClr val="FFFFFF"/>
                          </a:gs>
                          <a:gs pos="100000">
                            <a:srgbClr val="E8F8FE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7051" name="组合 721929"/>
          <p:cNvGrpSpPr/>
          <p:nvPr/>
        </p:nvGrpSpPr>
        <p:grpSpPr>
          <a:xfrm>
            <a:off x="106363" y="114300"/>
            <a:ext cx="6694487" cy="855663"/>
            <a:chOff x="657" y="1706"/>
            <a:chExt cx="4217" cy="539"/>
          </a:xfrm>
        </p:grpSpPr>
        <p:sp>
          <p:nvSpPr>
            <p:cNvPr id="17" name="文本框 16"/>
            <p:cNvSpPr txBox="1"/>
            <p:nvPr/>
          </p:nvSpPr>
          <p:spPr>
            <a:xfrm>
              <a:off x="657" y="1848"/>
              <a:ext cx="192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（</a:t>
              </a:r>
              <a:r>
                <a:rPr kumimoji="0" lang="en-US" altLang="zh-CN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）速率在</a:t>
              </a:r>
            </a:p>
          </p:txBody>
        </p:sp>
        <p:graphicFrame>
          <p:nvGraphicFramePr>
            <p:cNvPr id="87053" name="对象 721931"/>
            <p:cNvGraphicFramePr/>
            <p:nvPr/>
          </p:nvGraphicFramePr>
          <p:xfrm>
            <a:off x="1837" y="1706"/>
            <a:ext cx="589" cy="5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004" r:id="rId17" imgW="443865" imgH="405765" progId="Equation.3">
                    <p:embed/>
                  </p:oleObj>
                </mc:Choice>
                <mc:Fallback>
                  <p:oleObj r:id="rId17" imgW="443865" imgH="405765" progId="Equation.3">
                    <p:embed/>
                    <p:pic>
                      <p:nvPicPr>
                        <p:cNvPr id="0" name="图片 3293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837" y="1706"/>
                          <a:ext cx="589" cy="5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文本框 18"/>
            <p:cNvSpPr txBox="1"/>
            <p:nvPr/>
          </p:nvSpPr>
          <p:spPr>
            <a:xfrm>
              <a:off x="2426" y="1842"/>
              <a:ext cx="244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之间分子的平均速率</a:t>
              </a:r>
            </a:p>
          </p:txBody>
        </p:sp>
        <p:graphicFrame>
          <p:nvGraphicFramePr>
            <p:cNvPr id="87055" name="对象 721933"/>
            <p:cNvGraphicFramePr/>
            <p:nvPr/>
          </p:nvGraphicFramePr>
          <p:xfrm>
            <a:off x="4195" y="1834"/>
            <a:ext cx="327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005" r:id="rId19" imgW="189865" imgH="177800" progId="Equation.3">
                    <p:embed/>
                  </p:oleObj>
                </mc:Choice>
                <mc:Fallback>
                  <p:oleObj r:id="rId19" imgW="189865" imgH="177800" progId="Equation.3">
                    <p:embed/>
                    <p:pic>
                      <p:nvPicPr>
                        <p:cNvPr id="0" name="图片 3297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195" y="1834"/>
                          <a:ext cx="327" cy="3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对象 1"/>
          <p:cNvGraphicFramePr/>
          <p:nvPr/>
        </p:nvGraphicFramePr>
        <p:xfrm>
          <a:off x="3281363" y="979488"/>
          <a:ext cx="2582862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06" r:id="rId21" imgW="1193800" imgH="508000" progId="Equation.3">
                  <p:embed/>
                </p:oleObj>
              </mc:Choice>
              <mc:Fallback>
                <p:oleObj r:id="rId21" imgW="1193800" imgH="508000" progId="Equation.3">
                  <p:embed/>
                  <p:pic>
                    <p:nvPicPr>
                      <p:cNvPr id="0" name="图片 3295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281363" y="979488"/>
                        <a:ext cx="2582862" cy="1160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6015038" y="941388"/>
          <a:ext cx="2584450" cy="144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07" r:id="rId23" imgW="1193800" imgH="634365" progId="Equation.3">
                  <p:embed/>
                </p:oleObj>
              </mc:Choice>
              <mc:Fallback>
                <p:oleObj r:id="rId23" imgW="1193800" imgH="634365" progId="Equation.3">
                  <p:embed/>
                  <p:pic>
                    <p:nvPicPr>
                      <p:cNvPr id="0" name="图片 3292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015038" y="941388"/>
                        <a:ext cx="2584450" cy="1449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3668713" y="3554413"/>
          <a:ext cx="2555875" cy="154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08" r:id="rId25" imgW="1104900" imgH="634365" progId="Equation.3">
                  <p:embed/>
                </p:oleObj>
              </mc:Choice>
              <mc:Fallback>
                <p:oleObj r:id="rId25" imgW="1104900" imgH="634365" progId="Equation.3">
                  <p:embed/>
                  <p:pic>
                    <p:nvPicPr>
                      <p:cNvPr id="0" name="图片 3291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668713" y="3554413"/>
                        <a:ext cx="2555875" cy="1547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2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2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72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2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2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2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2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72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2948" grpId="0"/>
      <p:bldP spid="722949" grpId="0"/>
      <p:bldP spid="72295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38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graphicFrame>
        <p:nvGraphicFramePr>
          <p:cNvPr id="788482" name="对象 788481"/>
          <p:cNvGraphicFramePr/>
          <p:nvPr/>
        </p:nvGraphicFramePr>
        <p:xfrm>
          <a:off x="1879600" y="381000"/>
          <a:ext cx="2538413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30" r:id="rId3" imgW="814070" imgH="802640" progId="Equation.3">
                  <p:embed/>
                </p:oleObj>
              </mc:Choice>
              <mc:Fallback>
                <p:oleObj r:id="rId3" imgW="814070" imgH="802640" progId="Equation.3">
                  <p:embed/>
                  <p:pic>
                    <p:nvPicPr>
                      <p:cNvPr id="0" name="图片 329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79600" y="381000"/>
                        <a:ext cx="2538413" cy="1895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483" name="文本框 788482"/>
          <p:cNvSpPr txBox="1"/>
          <p:nvPr/>
        </p:nvSpPr>
        <p:spPr>
          <a:xfrm>
            <a:off x="4860925" y="958850"/>
            <a:ext cx="1970088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物理意义？</a:t>
            </a:r>
          </a:p>
        </p:txBody>
      </p:sp>
      <p:graphicFrame>
        <p:nvGraphicFramePr>
          <p:cNvPr id="788484" name="对象 788483"/>
          <p:cNvGraphicFramePr/>
          <p:nvPr/>
        </p:nvGraphicFramePr>
        <p:xfrm>
          <a:off x="304800" y="3478213"/>
          <a:ext cx="2908300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31" r:id="rId5" imgW="936625" imgH="802640" progId="Equation.DSMT4">
                  <p:embed/>
                </p:oleObj>
              </mc:Choice>
              <mc:Fallback>
                <p:oleObj r:id="rId5" imgW="936625" imgH="802640" progId="Equation.DSMT4">
                  <p:embed/>
                  <p:pic>
                    <p:nvPicPr>
                      <p:cNvPr id="0" name="图片 328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4800" y="3478213"/>
                        <a:ext cx="2908300" cy="1895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485" name="对象 788484"/>
          <p:cNvGraphicFramePr/>
          <p:nvPr/>
        </p:nvGraphicFramePr>
        <p:xfrm>
          <a:off x="3352800" y="3478213"/>
          <a:ext cx="2301875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32" r:id="rId7" imgW="747395" imgH="802640" progId="Equation.DSMT4">
                  <p:embed/>
                </p:oleObj>
              </mc:Choice>
              <mc:Fallback>
                <p:oleObj r:id="rId7" imgW="747395" imgH="802640" progId="Equation.DSMT4">
                  <p:embed/>
                  <p:pic>
                    <p:nvPicPr>
                      <p:cNvPr id="0" name="图片 329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52800" y="3478213"/>
                        <a:ext cx="2301875" cy="1895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486" name="对象 788485"/>
          <p:cNvGraphicFramePr/>
          <p:nvPr/>
        </p:nvGraphicFramePr>
        <p:xfrm>
          <a:off x="5867400" y="3478213"/>
          <a:ext cx="2216150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33" r:id="rId9" imgW="713740" imgH="802640" progId="Equation.DSMT4">
                  <p:embed/>
                </p:oleObj>
              </mc:Choice>
              <mc:Fallback>
                <p:oleObj r:id="rId9" imgW="713740" imgH="802640" progId="Equation.DSMT4">
                  <p:embed/>
                  <p:pic>
                    <p:nvPicPr>
                      <p:cNvPr id="0" name="图片 330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67400" y="3478213"/>
                        <a:ext cx="2216150" cy="1895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487" name="文本框 788486"/>
          <p:cNvSpPr txBox="1"/>
          <p:nvPr/>
        </p:nvSpPr>
        <p:spPr>
          <a:xfrm>
            <a:off x="2755900" y="5767388"/>
            <a:ext cx="5486400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速率大于</a:t>
            </a:r>
            <a:r>
              <a:rPr kumimoji="0" lang="en-US" altLang="zh-CN" sz="28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v</a:t>
            </a:r>
            <a:r>
              <a:rPr kumimoji="0" lang="en-US" altLang="zh-CN" sz="2800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1</a:t>
            </a:r>
            <a:r>
              <a:rPr kumimoji="0" lang="zh-CN" altLang="en-US" sz="28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的</a:t>
            </a:r>
            <a:r>
              <a:rPr kumimoji="0" lang="zh-CN" altLang="en-US" sz="28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那些分子的平均速率</a:t>
            </a:r>
          </a:p>
        </p:txBody>
      </p:sp>
      <p:graphicFrame>
        <p:nvGraphicFramePr>
          <p:cNvPr id="788488" name="对象 788487"/>
          <p:cNvGraphicFramePr/>
          <p:nvPr/>
        </p:nvGraphicFramePr>
        <p:xfrm>
          <a:off x="1763713" y="2205038"/>
          <a:ext cx="2819400" cy="1309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34" r:id="rId11" imgW="1059180" imgH="490855" progId="Equation.DSMT4">
                  <p:embed/>
                </p:oleObj>
              </mc:Choice>
              <mc:Fallback>
                <p:oleObj r:id="rId11" imgW="1059180" imgH="490855" progId="Equation.DSMT4">
                  <p:embed/>
                  <p:pic>
                    <p:nvPicPr>
                      <p:cNvPr id="0" name="图片 330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63713" y="2205038"/>
                        <a:ext cx="2819400" cy="1309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489" name="文本框 788488"/>
          <p:cNvSpPr txBox="1"/>
          <p:nvPr/>
        </p:nvSpPr>
        <p:spPr>
          <a:xfrm>
            <a:off x="1138238" y="2622550"/>
            <a:ext cx="541338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由</a:t>
            </a:r>
          </a:p>
        </p:txBody>
      </p:sp>
      <p:sp>
        <p:nvSpPr>
          <p:cNvPr id="788490" name="文本框 788489"/>
          <p:cNvSpPr txBox="1"/>
          <p:nvPr/>
        </p:nvSpPr>
        <p:spPr>
          <a:xfrm>
            <a:off x="136525" y="120650"/>
            <a:ext cx="1627188" cy="519113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请思考：</a:t>
            </a:r>
          </a:p>
        </p:txBody>
      </p:sp>
      <p:sp>
        <p:nvSpPr>
          <p:cNvPr id="788491" name="右箭头 788490"/>
          <p:cNvSpPr/>
          <p:nvPr/>
        </p:nvSpPr>
        <p:spPr>
          <a:xfrm>
            <a:off x="1331913" y="5797550"/>
            <a:ext cx="976312" cy="485775"/>
          </a:xfrm>
          <a:prstGeom prst="rightArrow">
            <a:avLst>
              <a:gd name="adj1" fmla="val 50000"/>
              <a:gd name="adj2" fmla="val 50086"/>
            </a:avLst>
          </a:prstGeom>
          <a:noFill/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8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8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88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8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8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8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8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88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88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483" grpId="0" build="p"/>
      <p:bldP spid="788487" grpId="0" build="p"/>
      <p:bldP spid="788489" grpId="0" build="p"/>
      <p:bldP spid="788490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7842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39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graphicFrame>
        <p:nvGraphicFramePr>
          <p:cNvPr id="763906" name="对象 763905"/>
          <p:cNvGraphicFramePr/>
          <p:nvPr/>
        </p:nvGraphicFramePr>
        <p:xfrm>
          <a:off x="1281113" y="4002088"/>
          <a:ext cx="2033587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06" r:id="rId3" imgW="647700" imgH="368300" progId="Equation.3">
                  <p:embed/>
                </p:oleObj>
              </mc:Choice>
              <mc:Fallback>
                <p:oleObj r:id="rId3" imgW="647700" imgH="368300" progId="Equation.3">
                  <p:embed/>
                  <p:pic>
                    <p:nvPicPr>
                      <p:cNvPr id="0" name="图片 330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81113" y="4002088"/>
                        <a:ext cx="2033587" cy="1098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3907" name="对象 763906"/>
          <p:cNvGraphicFramePr/>
          <p:nvPr/>
        </p:nvGraphicFramePr>
        <p:xfrm>
          <a:off x="4981575" y="395288"/>
          <a:ext cx="212725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07" r:id="rId5" imgW="673100" imgH="330200" progId="Equation.3">
                  <p:embed/>
                </p:oleObj>
              </mc:Choice>
              <mc:Fallback>
                <p:oleObj r:id="rId5" imgW="673100" imgH="330200" progId="Equation.3">
                  <p:embed/>
                  <p:pic>
                    <p:nvPicPr>
                      <p:cNvPr id="0" name="图片 330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81575" y="395288"/>
                        <a:ext cx="2127250" cy="984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3908" name="对象 763907"/>
          <p:cNvGraphicFramePr/>
          <p:nvPr/>
        </p:nvGraphicFramePr>
        <p:xfrm>
          <a:off x="1301750" y="242888"/>
          <a:ext cx="157797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08" r:id="rId7" imgW="482600" imgH="203200" progId="Equation.3">
                  <p:embed/>
                </p:oleObj>
              </mc:Choice>
              <mc:Fallback>
                <p:oleObj r:id="rId7" imgW="482600" imgH="203200" progId="Equation.3">
                  <p:embed/>
                  <p:pic>
                    <p:nvPicPr>
                      <p:cNvPr id="0" name="图片 330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01750" y="242888"/>
                        <a:ext cx="1577975" cy="585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3909" name="对象 763908"/>
          <p:cNvGraphicFramePr/>
          <p:nvPr/>
        </p:nvGraphicFramePr>
        <p:xfrm>
          <a:off x="1258888" y="1825625"/>
          <a:ext cx="2163762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09" r:id="rId9" imgW="660400" imgH="355600" progId="Equation.3">
                  <p:embed/>
                </p:oleObj>
              </mc:Choice>
              <mc:Fallback>
                <p:oleObj r:id="rId9" imgW="660400" imgH="355600" progId="Equation.3">
                  <p:embed/>
                  <p:pic>
                    <p:nvPicPr>
                      <p:cNvPr id="0" name="图片 330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58888" y="1825625"/>
                        <a:ext cx="2163762" cy="1028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3910" name="对象 763909"/>
          <p:cNvGraphicFramePr/>
          <p:nvPr/>
        </p:nvGraphicFramePr>
        <p:xfrm>
          <a:off x="1281113" y="1177925"/>
          <a:ext cx="1831975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0" r:id="rId11" imgW="558800" imgH="203200" progId="Equation.3">
                  <p:embed/>
                </p:oleObj>
              </mc:Choice>
              <mc:Fallback>
                <p:oleObj r:id="rId11" imgW="558800" imgH="203200" progId="Equation.3">
                  <p:embed/>
                  <p:pic>
                    <p:nvPicPr>
                      <p:cNvPr id="0" name="图片 330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81113" y="1177925"/>
                        <a:ext cx="1831975" cy="585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3911" name="对象 763910"/>
          <p:cNvGraphicFramePr/>
          <p:nvPr/>
        </p:nvGraphicFramePr>
        <p:xfrm>
          <a:off x="1301750" y="2914650"/>
          <a:ext cx="2538413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1" r:id="rId13" imgW="774065" imgH="355600" progId="Equation.3">
                  <p:embed/>
                </p:oleObj>
              </mc:Choice>
              <mc:Fallback>
                <p:oleObj r:id="rId13" imgW="774065" imgH="355600" progId="Equation.3">
                  <p:embed/>
                  <p:pic>
                    <p:nvPicPr>
                      <p:cNvPr id="0" name="图片 330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01750" y="2914650"/>
                        <a:ext cx="2538413" cy="1028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3912" name="对象 763911"/>
          <p:cNvGraphicFramePr/>
          <p:nvPr/>
        </p:nvGraphicFramePr>
        <p:xfrm>
          <a:off x="4910138" y="1612900"/>
          <a:ext cx="328295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2" r:id="rId15" imgW="1002665" imgH="393700" progId="Equation.3">
                  <p:embed/>
                </p:oleObj>
              </mc:Choice>
              <mc:Fallback>
                <p:oleObj r:id="rId15" imgW="1002665" imgH="393700" progId="Equation.3">
                  <p:embed/>
                  <p:pic>
                    <p:nvPicPr>
                      <p:cNvPr id="0" name="图片 331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910138" y="1612900"/>
                        <a:ext cx="3282950" cy="1139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3913" name="矩形 763912"/>
          <p:cNvSpPr/>
          <p:nvPr/>
        </p:nvSpPr>
        <p:spPr>
          <a:xfrm>
            <a:off x="468313" y="115888"/>
            <a:ext cx="7993062" cy="6742112"/>
          </a:xfrm>
          <a:prstGeom prst="rect">
            <a:avLst/>
          </a:prstGeom>
          <a:noFill/>
          <a:ln w="38100" cap="flat" cmpd="sng">
            <a:solidFill>
              <a:srgbClr val="66FF66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9099" name="文本框 763913"/>
          <p:cNvSpPr txBox="1"/>
          <p:nvPr/>
        </p:nvSpPr>
        <p:spPr>
          <a:xfrm>
            <a:off x="1116013" y="6162675"/>
            <a:ext cx="3671887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什么含义？</a:t>
            </a:r>
          </a:p>
        </p:txBody>
      </p:sp>
      <p:graphicFrame>
        <p:nvGraphicFramePr>
          <p:cNvPr id="2" name="对象 1"/>
          <p:cNvGraphicFramePr/>
          <p:nvPr/>
        </p:nvGraphicFramePr>
        <p:xfrm>
          <a:off x="1258888" y="5100638"/>
          <a:ext cx="2274887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3" r:id="rId17" imgW="723900" imgH="368300" progId="Equation.3">
                  <p:embed/>
                </p:oleObj>
              </mc:Choice>
              <mc:Fallback>
                <p:oleObj r:id="rId17" imgW="723900" imgH="368300" progId="Equation.3">
                  <p:embed/>
                  <p:pic>
                    <p:nvPicPr>
                      <p:cNvPr id="0" name="图片 330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58888" y="5100638"/>
                        <a:ext cx="2274887" cy="1098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4983163" y="2990850"/>
          <a:ext cx="2566987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4" r:id="rId19" imgW="812800" imgH="685800" progId="Equation.3">
                  <p:embed/>
                </p:oleObj>
              </mc:Choice>
              <mc:Fallback>
                <p:oleObj r:id="rId19" imgW="812800" imgH="685800" progId="Equation.3">
                  <p:embed/>
                  <p:pic>
                    <p:nvPicPr>
                      <p:cNvPr id="0" name="图片 330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983163" y="2990850"/>
                        <a:ext cx="2566987" cy="2044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63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6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6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6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6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76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76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763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4" name="灯片编号占位符 1">
            <a:extLst>
              <a:ext uri="{FF2B5EF4-FFF2-40B4-BE49-F238E27FC236}">
                <a16:creationId xmlns:a16="http://schemas.microsoft.com/office/drawing/2014/main" id="{B0AD1CC7-730F-47E0-BD52-3363DBC864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fld id="{E741F673-D3CE-4107-8DA2-096C3B122C46}" type="slidenum">
              <a:rPr lang="zh-CN" altLang="en-US" sz="1400" b="0">
                <a:ea typeface="宋体" panose="02010600030101010101" pitchFamily="2" charset="-122"/>
              </a:rPr>
              <a:pPr/>
              <a:t>40</a:t>
            </a:fld>
            <a:endParaRPr lang="zh-CN" altLang="en-US" sz="1400" b="0">
              <a:ea typeface="宋体" panose="02010600030101010101" pitchFamily="2" charset="-122"/>
            </a:endParaRPr>
          </a:p>
        </p:txBody>
      </p:sp>
      <p:sp>
        <p:nvSpPr>
          <p:cNvPr id="726018" name="矩形 726017">
            <a:extLst>
              <a:ext uri="{FF2B5EF4-FFF2-40B4-BE49-F238E27FC236}">
                <a16:creationId xmlns:a16="http://schemas.microsoft.com/office/drawing/2014/main" id="{D88FAC6C-8405-4BEA-97B2-1610BE0A0662}"/>
              </a:ext>
            </a:extLst>
          </p:cNvPr>
          <p:cNvSpPr/>
          <p:nvPr/>
        </p:nvSpPr>
        <p:spPr>
          <a:xfrm>
            <a:off x="-288925" y="2841625"/>
            <a:ext cx="5775325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800" b="0" noProof="1"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1</a:t>
            </a:r>
            <a:r>
              <a:rPr lang="zh-CN" altLang="en-US" sz="2800" b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、</a:t>
            </a:r>
            <a:r>
              <a:rPr lang="zh-CN" altLang="en-US" sz="2800" b="0" noProof="1"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玻耳兹曼能量分布律</a:t>
            </a:r>
          </a:p>
        </p:txBody>
      </p:sp>
      <p:sp>
        <p:nvSpPr>
          <p:cNvPr id="726019" name="文本框 726018">
            <a:extLst>
              <a:ext uri="{FF2B5EF4-FFF2-40B4-BE49-F238E27FC236}">
                <a16:creationId xmlns:a16="http://schemas.microsoft.com/office/drawing/2014/main" id="{EF9C4872-D9F9-408D-9A07-C94B252EC391}"/>
              </a:ext>
            </a:extLst>
          </p:cNvPr>
          <p:cNvSpPr txBox="1"/>
          <p:nvPr/>
        </p:nvSpPr>
        <p:spPr>
          <a:xfrm>
            <a:off x="379413" y="3762375"/>
            <a:ext cx="426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24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宋体" panose="02010600030101010101" pitchFamily="2" charset="-122"/>
              </a:rPr>
              <a:t>麦克斯韦速率分布律</a:t>
            </a:r>
          </a:p>
        </p:txBody>
      </p:sp>
      <p:graphicFrame>
        <p:nvGraphicFramePr>
          <p:cNvPr id="726020" name="对象 726019">
            <a:extLst>
              <a:ext uri="{FF2B5EF4-FFF2-40B4-BE49-F238E27FC236}">
                <a16:creationId xmlns:a16="http://schemas.microsoft.com/office/drawing/2014/main" id="{EB829F6E-79D6-47CF-86E9-E8EB7CDD54EE}"/>
              </a:ext>
            </a:extLst>
          </p:cNvPr>
          <p:cNvGraphicFramePr>
            <a:graphicFrameLocks/>
          </p:cNvGraphicFramePr>
          <p:nvPr/>
        </p:nvGraphicFramePr>
        <p:xfrm>
          <a:off x="3698875" y="3362325"/>
          <a:ext cx="5265738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2" r:id="rId3" imgW="2298600" imgH="495000" progId="Equation.DSMT4">
                  <p:embed/>
                </p:oleObj>
              </mc:Choice>
              <mc:Fallback>
                <p:oleObj r:id="rId3" imgW="2298600" imgH="495000" progId="Equation.DSMT4">
                  <p:embed/>
                  <p:pic>
                    <p:nvPicPr>
                      <p:cNvPr id="726020" name="对象 726019">
                        <a:extLst>
                          <a:ext uri="{FF2B5EF4-FFF2-40B4-BE49-F238E27FC236}">
                            <a16:creationId xmlns:a16="http://schemas.microsoft.com/office/drawing/2014/main" id="{EB829F6E-79D6-47CF-86E9-E8EB7CDD54E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75" y="3362325"/>
                        <a:ext cx="5265738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726021">
            <a:extLst>
              <a:ext uri="{FF2B5EF4-FFF2-40B4-BE49-F238E27FC236}">
                <a16:creationId xmlns:a16="http://schemas.microsoft.com/office/drawing/2014/main" id="{AB7805E8-256A-403A-9D0D-91F0462E1E79}"/>
              </a:ext>
            </a:extLst>
          </p:cNvPr>
          <p:cNvGrpSpPr>
            <a:grpSpLocks/>
          </p:cNvGrpSpPr>
          <p:nvPr/>
        </p:nvGrpSpPr>
        <p:grpSpPr bwMode="auto">
          <a:xfrm>
            <a:off x="2454275" y="5846763"/>
            <a:ext cx="2716213" cy="820737"/>
            <a:chOff x="1796" y="3748"/>
            <a:chExt cx="1711" cy="517"/>
          </a:xfrm>
        </p:grpSpPr>
        <p:sp>
          <p:nvSpPr>
            <p:cNvPr id="726025" name="文本框 726024">
              <a:extLst>
                <a:ext uri="{FF2B5EF4-FFF2-40B4-BE49-F238E27FC236}">
                  <a16:creationId xmlns:a16="http://schemas.microsoft.com/office/drawing/2014/main" id="{61409A9C-3367-466A-B82A-88ED95D85DD6}"/>
                </a:ext>
              </a:extLst>
            </p:cNvPr>
            <p:cNvSpPr txBox="1"/>
            <p:nvPr/>
          </p:nvSpPr>
          <p:spPr>
            <a:xfrm>
              <a:off x="1796" y="3955"/>
              <a:ext cx="308" cy="29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  <a:defRPr/>
              </a:pPr>
              <a:r>
                <a:rPr lang="zh-CN" altLang="en-US" sz="240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与</a:t>
              </a:r>
            </a:p>
          </p:txBody>
        </p:sp>
        <p:graphicFrame>
          <p:nvGraphicFramePr>
            <p:cNvPr id="27653" name="对象 726025">
              <a:extLst>
                <a:ext uri="{FF2B5EF4-FFF2-40B4-BE49-F238E27FC236}">
                  <a16:creationId xmlns:a16="http://schemas.microsoft.com/office/drawing/2014/main" id="{323452BA-B565-482C-A318-F0575852A60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200" y="3748"/>
            <a:ext cx="635" cy="5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83" r:id="rId5" imgW="342751" imgH="330057" progId="Equation.3">
                    <p:embed/>
                  </p:oleObj>
                </mc:Choice>
                <mc:Fallback>
                  <p:oleObj r:id="rId5" imgW="342751" imgH="330057" progId="Equation.3">
                    <p:embed/>
                    <p:pic>
                      <p:nvPicPr>
                        <p:cNvPr id="27653" name="对象 726025">
                          <a:extLst>
                            <a:ext uri="{FF2B5EF4-FFF2-40B4-BE49-F238E27FC236}">
                              <a16:creationId xmlns:a16="http://schemas.microsoft.com/office/drawing/2014/main" id="{323452BA-B565-482C-A318-F0575852A60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0" y="3748"/>
                          <a:ext cx="635" cy="5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6027" name="文本框 726026">
              <a:extLst>
                <a:ext uri="{FF2B5EF4-FFF2-40B4-BE49-F238E27FC236}">
                  <a16:creationId xmlns:a16="http://schemas.microsoft.com/office/drawing/2014/main" id="{E0170E39-3FE2-4990-9F06-ADF80F1DE294}"/>
                </a:ext>
              </a:extLst>
            </p:cNvPr>
            <p:cNvSpPr txBox="1"/>
            <p:nvPr/>
          </p:nvSpPr>
          <p:spPr>
            <a:xfrm>
              <a:off x="2812" y="3955"/>
              <a:ext cx="695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  <a:defRPr/>
              </a:pPr>
              <a:r>
                <a:rPr lang="zh-CN" altLang="en-US" sz="240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成正比</a:t>
              </a:r>
            </a:p>
          </p:txBody>
        </p:sp>
      </p:grpSp>
      <p:sp>
        <p:nvSpPr>
          <p:cNvPr id="726030" name="文本框 726029">
            <a:extLst>
              <a:ext uri="{FF2B5EF4-FFF2-40B4-BE49-F238E27FC236}">
                <a16:creationId xmlns:a16="http://schemas.microsoft.com/office/drawing/2014/main" id="{CEDD2951-A446-4B0C-848E-F6333FA24A88}"/>
              </a:ext>
            </a:extLst>
          </p:cNvPr>
          <p:cNvSpPr txBox="1"/>
          <p:nvPr/>
        </p:nvSpPr>
        <p:spPr>
          <a:xfrm>
            <a:off x="900113" y="909638"/>
            <a:ext cx="3886200" cy="91440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若气体分子处于恒定的外力场（如重力场）中</a:t>
            </a:r>
          </a:p>
        </p:txBody>
      </p:sp>
      <p:grpSp>
        <p:nvGrpSpPr>
          <p:cNvPr id="3" name="组合 726030">
            <a:extLst>
              <a:ext uri="{FF2B5EF4-FFF2-40B4-BE49-F238E27FC236}">
                <a16:creationId xmlns:a16="http://schemas.microsoft.com/office/drawing/2014/main" id="{DAAD486F-C212-41F7-BF44-252B86750451}"/>
              </a:ext>
            </a:extLst>
          </p:cNvPr>
          <p:cNvGrpSpPr>
            <a:grpSpLocks/>
          </p:cNvGrpSpPr>
          <p:nvPr/>
        </p:nvGrpSpPr>
        <p:grpSpPr bwMode="auto">
          <a:xfrm>
            <a:off x="4849813" y="935038"/>
            <a:ext cx="4114800" cy="914400"/>
            <a:chOff x="2736" y="688"/>
            <a:chExt cx="2592" cy="576"/>
          </a:xfrm>
        </p:grpSpPr>
        <p:sp>
          <p:nvSpPr>
            <p:cNvPr id="27663" name="右箭头 726031">
              <a:extLst>
                <a:ext uri="{FF2B5EF4-FFF2-40B4-BE49-F238E27FC236}">
                  <a16:creationId xmlns:a16="http://schemas.microsoft.com/office/drawing/2014/main" id="{96CDED25-AD11-4794-B283-EC6CF013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912"/>
              <a:ext cx="528" cy="192"/>
            </a:xfrm>
            <a:prstGeom prst="rightArrow">
              <a:avLst>
                <a:gd name="adj1" fmla="val 50000"/>
                <a:gd name="adj2" fmla="val 68750"/>
              </a:avLst>
            </a:prstGeom>
            <a:gradFill rotWithShape="1">
              <a:gsLst>
                <a:gs pos="0">
                  <a:srgbClr val="5E7676"/>
                </a:gs>
                <a:gs pos="50000">
                  <a:srgbClr val="CCFFFF"/>
                </a:gs>
                <a:gs pos="100000">
                  <a:srgbClr val="5E7676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eaLnBrk="0" hangingPunct="0"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eaLnBrk="0" hangingPunct="0"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eaLnBrk="0" hangingPunct="0"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eaLnBrk="0" hangingPunct="0"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6033" name="文本框 726032">
              <a:extLst>
                <a:ext uri="{FF2B5EF4-FFF2-40B4-BE49-F238E27FC236}">
                  <a16:creationId xmlns:a16="http://schemas.microsoft.com/office/drawing/2014/main" id="{ECC0063F-4C94-443B-ACD9-E040F29097D6}"/>
                </a:ext>
              </a:extLst>
            </p:cNvPr>
            <p:cNvSpPr txBox="1"/>
            <p:nvPr/>
          </p:nvSpPr>
          <p:spPr>
            <a:xfrm>
              <a:off x="3264" y="688"/>
              <a:ext cx="2064" cy="576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zh-CN" altLang="en-US" sz="24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气体分子在空间位置不再呈均匀分布</a:t>
              </a:r>
            </a:p>
          </p:txBody>
        </p:sp>
      </p:grpSp>
      <p:grpSp>
        <p:nvGrpSpPr>
          <p:cNvPr id="4" name="组合 726033">
            <a:extLst>
              <a:ext uri="{FF2B5EF4-FFF2-40B4-BE49-F238E27FC236}">
                <a16:creationId xmlns:a16="http://schemas.microsoft.com/office/drawing/2014/main" id="{68B9316E-FFD3-4B6A-B82C-379214D709CD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1824038"/>
            <a:ext cx="5181600" cy="1155700"/>
            <a:chOff x="480" y="1392"/>
            <a:chExt cx="3264" cy="728"/>
          </a:xfrm>
        </p:grpSpPr>
        <p:graphicFrame>
          <p:nvGraphicFramePr>
            <p:cNvPr id="27652" name="对象 726034">
              <a:extLst>
                <a:ext uri="{FF2B5EF4-FFF2-40B4-BE49-F238E27FC236}">
                  <a16:creationId xmlns:a16="http://schemas.microsoft.com/office/drawing/2014/main" id="{ECE4E7B2-5A5F-4511-964F-6BA30AF9B8D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80" y="1392"/>
            <a:ext cx="468" cy="7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84" r:id="rId7" imgW="114102" imgH="177492" progId="Equation.3">
                    <p:embed/>
                  </p:oleObj>
                </mc:Choice>
                <mc:Fallback>
                  <p:oleObj r:id="rId7" imgW="114102" imgH="177492" progId="Equation.3">
                    <p:embed/>
                    <p:pic>
                      <p:nvPicPr>
                        <p:cNvPr id="27652" name="对象 726034">
                          <a:extLst>
                            <a:ext uri="{FF2B5EF4-FFF2-40B4-BE49-F238E27FC236}">
                              <a16:creationId xmlns:a16="http://schemas.microsoft.com/office/drawing/2014/main" id="{ECE4E7B2-5A5F-4511-964F-6BA30AF9B8D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1392"/>
                          <a:ext cx="468" cy="7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6036" name="文本框 726035">
              <a:extLst>
                <a:ext uri="{FF2B5EF4-FFF2-40B4-BE49-F238E27FC236}">
                  <a16:creationId xmlns:a16="http://schemas.microsoft.com/office/drawing/2014/main" id="{B1CDC1ED-3913-47B0-B84A-87A5A751826D}"/>
                </a:ext>
              </a:extLst>
            </p:cNvPr>
            <p:cNvSpPr txBox="1"/>
            <p:nvPr/>
          </p:nvSpPr>
          <p:spPr>
            <a:xfrm>
              <a:off x="960" y="1584"/>
              <a:ext cx="27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400" noProof="1"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气体分子分布规律如何</a:t>
              </a:r>
            </a:p>
          </p:txBody>
        </p:sp>
      </p:grpSp>
      <p:sp>
        <p:nvSpPr>
          <p:cNvPr id="726038" name="矩形 726037">
            <a:extLst>
              <a:ext uri="{FF2B5EF4-FFF2-40B4-BE49-F238E27FC236}">
                <a16:creationId xmlns:a16="http://schemas.microsoft.com/office/drawing/2014/main" id="{40663E8A-813C-41A5-A97F-25EC54AC5429}"/>
              </a:ext>
            </a:extLst>
          </p:cNvPr>
          <p:cNvSpPr/>
          <p:nvPr/>
        </p:nvSpPr>
        <p:spPr>
          <a:xfrm>
            <a:off x="323850" y="188913"/>
            <a:ext cx="5330305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0" noProof="1"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三、重力场中粒子按高度的分布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C15463E-9D35-4A3D-8D86-9B47194F7E40}"/>
              </a:ext>
            </a:extLst>
          </p:cNvPr>
          <p:cNvGraphicFramePr>
            <a:graphicFrameLocks/>
          </p:cNvGraphicFramePr>
          <p:nvPr/>
        </p:nvGraphicFramePr>
        <p:xfrm>
          <a:off x="1433513" y="4564063"/>
          <a:ext cx="5819775" cy="116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5" r:id="rId9" imgW="2539800" imgH="495000" progId="Equation.DSMT4">
                  <p:embed/>
                </p:oleObj>
              </mc:Choice>
              <mc:Fallback>
                <p:oleObj r:id="rId9" imgW="2539800" imgH="4950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DC15463E-9D35-4A3D-8D86-9B47194F7E4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513" y="4564063"/>
                        <a:ext cx="5819775" cy="116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2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2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2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6018" grpId="0"/>
      <p:bldP spid="726019" grpId="0" build="p"/>
      <p:bldP spid="72603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3" name="灯片编号占位符 1">
            <a:extLst>
              <a:ext uri="{FF2B5EF4-FFF2-40B4-BE49-F238E27FC236}">
                <a16:creationId xmlns:a16="http://schemas.microsoft.com/office/drawing/2014/main" id="{748A19D9-C815-40DC-997E-E97975DF6C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fld id="{AC014F3F-17FB-4715-B489-74600A7D8598}" type="slidenum">
              <a:rPr lang="zh-CN" altLang="en-US" sz="1400" b="0">
                <a:ea typeface="宋体" panose="02010600030101010101" pitchFamily="2" charset="-122"/>
              </a:rPr>
              <a:pPr/>
              <a:t>41</a:t>
            </a:fld>
            <a:endParaRPr lang="zh-CN" altLang="en-US" sz="1400" b="0">
              <a:ea typeface="宋体" panose="02010600030101010101" pitchFamily="2" charset="-122"/>
            </a:endParaRPr>
          </a:p>
        </p:txBody>
      </p:sp>
      <p:sp>
        <p:nvSpPr>
          <p:cNvPr id="727042" name="文本框 727041">
            <a:extLst>
              <a:ext uri="{FF2B5EF4-FFF2-40B4-BE49-F238E27FC236}">
                <a16:creationId xmlns:a16="http://schemas.microsoft.com/office/drawing/2014/main" id="{6A124A4B-57C7-4957-BA73-DDC47AD39885}"/>
              </a:ext>
            </a:extLst>
          </p:cNvPr>
          <p:cNvSpPr txBox="1"/>
          <p:nvPr/>
        </p:nvSpPr>
        <p:spPr>
          <a:xfrm>
            <a:off x="323850" y="6078538"/>
            <a:ext cx="5181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altLang="zh-CN" sz="2400" i="1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n</a:t>
            </a:r>
            <a:r>
              <a:rPr lang="en-US" altLang="zh-CN" sz="2400" baseline="-25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0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为 </a:t>
            </a:r>
            <a:r>
              <a:rPr lang="en-US" altLang="zh-CN" sz="2400" i="1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E</a:t>
            </a:r>
            <a:r>
              <a:rPr lang="en-US" altLang="zh-CN" sz="2400" i="1" baseline="-25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p 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=0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处的粒子数密度</a:t>
            </a:r>
            <a:endParaRPr lang="zh-CN" altLang="en-US" sz="2400" b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7044" name="文本框 727043">
            <a:extLst>
              <a:ext uri="{FF2B5EF4-FFF2-40B4-BE49-F238E27FC236}">
                <a16:creationId xmlns:a16="http://schemas.microsoft.com/office/drawing/2014/main" id="{DE45DF5E-2738-44EE-9568-11BB07EDF9B9}"/>
              </a:ext>
            </a:extLst>
          </p:cNvPr>
          <p:cNvSpPr txBox="1"/>
          <p:nvPr/>
        </p:nvSpPr>
        <p:spPr>
          <a:xfrm>
            <a:off x="-369888" y="1119188"/>
            <a:ext cx="4176713" cy="51911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zh-CN" altLang="en-US" sz="280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推广到任意系统</a:t>
            </a:r>
          </a:p>
        </p:txBody>
      </p:sp>
      <p:grpSp>
        <p:nvGrpSpPr>
          <p:cNvPr id="28686" name="组合 727044">
            <a:extLst>
              <a:ext uri="{FF2B5EF4-FFF2-40B4-BE49-F238E27FC236}">
                <a16:creationId xmlns:a16="http://schemas.microsoft.com/office/drawing/2014/main" id="{6A007248-8929-4A0F-8D95-D1D0D046C280}"/>
              </a:ext>
            </a:extLst>
          </p:cNvPr>
          <p:cNvGrpSpPr>
            <a:grpSpLocks/>
          </p:cNvGrpSpPr>
          <p:nvPr/>
        </p:nvGrpSpPr>
        <p:grpSpPr bwMode="auto">
          <a:xfrm>
            <a:off x="286045" y="192016"/>
            <a:ext cx="6656388" cy="933450"/>
            <a:chOff x="476" y="436"/>
            <a:chExt cx="4193" cy="588"/>
          </a:xfrm>
        </p:grpSpPr>
        <p:sp>
          <p:nvSpPr>
            <p:cNvPr id="727046" name="文本框 727045">
              <a:extLst>
                <a:ext uri="{FF2B5EF4-FFF2-40B4-BE49-F238E27FC236}">
                  <a16:creationId xmlns:a16="http://schemas.microsoft.com/office/drawing/2014/main" id="{FB30413F-AF2C-4A07-9FEE-7D7A2236227C}"/>
                </a:ext>
              </a:extLst>
            </p:cNvPr>
            <p:cNvSpPr txBox="1"/>
            <p:nvPr/>
          </p:nvSpPr>
          <p:spPr>
            <a:xfrm>
              <a:off x="3878" y="709"/>
              <a:ext cx="791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0"/>
                </a:spcBef>
                <a:defRPr/>
              </a:pPr>
              <a:r>
                <a: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成正比</a:t>
              </a:r>
            </a:p>
          </p:txBody>
        </p:sp>
        <p:sp>
          <p:nvSpPr>
            <p:cNvPr id="727047" name="文本框 727046">
              <a:extLst>
                <a:ext uri="{FF2B5EF4-FFF2-40B4-BE49-F238E27FC236}">
                  <a16:creationId xmlns:a16="http://schemas.microsoft.com/office/drawing/2014/main" id="{6CA59D5E-8035-484F-B8CE-5E09D336F28D}"/>
                </a:ext>
              </a:extLst>
            </p:cNvPr>
            <p:cNvSpPr txBox="1"/>
            <p:nvPr/>
          </p:nvSpPr>
          <p:spPr>
            <a:xfrm>
              <a:off x="476" y="436"/>
              <a:ext cx="4193" cy="55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  <a:spcBef>
                  <a:spcPct val="0"/>
                </a:spcBef>
                <a:defRPr/>
              </a:pPr>
              <a:r>
                <a: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温度为</a:t>
              </a:r>
              <a:r>
                <a:rPr lang="en-US" altLang="zh-CN" sz="2400" i="1" noProof="1"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T </a:t>
              </a:r>
              <a:r>
                <a: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的平衡态</a:t>
              </a:r>
              <a:r>
                <a:rPr lang="zh-CN" altLang="en-US" sz="24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r>
                <a: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任何系统</a:t>
              </a:r>
              <a:r>
                <a:rPr lang="zh-CN" altLang="en-US" sz="24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</a:p>
            <a:p>
              <a:pPr>
                <a:lnSpc>
                  <a:spcPct val="115000"/>
                </a:lnSpc>
                <a:spcBef>
                  <a:spcPct val="0"/>
                </a:spcBef>
                <a:defRPr/>
              </a:pPr>
              <a:r>
                <a:rPr lang="zh-CN" altLang="en-US" sz="24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在</a:t>
              </a:r>
              <a:r>
                <a: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某一状态区间的粒子数</a:t>
              </a:r>
              <a:r>
                <a:rPr lang="zh-CN" altLang="en-US" sz="24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r>
                <a: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与</a:t>
              </a:r>
            </a:p>
          </p:txBody>
        </p:sp>
        <p:graphicFrame>
          <p:nvGraphicFramePr>
            <p:cNvPr id="28682" name="对象 727047">
              <a:extLst>
                <a:ext uri="{FF2B5EF4-FFF2-40B4-BE49-F238E27FC236}">
                  <a16:creationId xmlns:a16="http://schemas.microsoft.com/office/drawing/2014/main" id="{CBF07DB2-B5B7-447C-ADDA-F6BD469D9A5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152" y="679"/>
            <a:ext cx="690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51" r:id="rId3" imgW="406048" imgH="203024" progId="Equation.3">
                    <p:embed/>
                  </p:oleObj>
                </mc:Choice>
                <mc:Fallback>
                  <p:oleObj r:id="rId3" imgW="406048" imgH="203024" progId="Equation.3">
                    <p:embed/>
                    <p:pic>
                      <p:nvPicPr>
                        <p:cNvPr id="28682" name="对象 727047">
                          <a:extLst>
                            <a:ext uri="{FF2B5EF4-FFF2-40B4-BE49-F238E27FC236}">
                              <a16:creationId xmlns:a16="http://schemas.microsoft.com/office/drawing/2014/main" id="{CBF07DB2-B5B7-447C-ADDA-F6BD469D9A5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2" y="679"/>
                          <a:ext cx="690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27049" name="文本框 727048">
            <a:extLst>
              <a:ext uri="{FF2B5EF4-FFF2-40B4-BE49-F238E27FC236}">
                <a16:creationId xmlns:a16="http://schemas.microsoft.com/office/drawing/2014/main" id="{7C0D86BA-73A5-4479-87CD-4A14FD1FD0A9}"/>
              </a:ext>
            </a:extLst>
          </p:cNvPr>
          <p:cNvSpPr txBox="1"/>
          <p:nvPr/>
        </p:nvSpPr>
        <p:spPr>
          <a:xfrm>
            <a:off x="195263" y="2541588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外力场中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粒子在</a:t>
            </a:r>
          </a:p>
        </p:txBody>
      </p:sp>
      <p:grpSp>
        <p:nvGrpSpPr>
          <p:cNvPr id="3" name="组合 727049">
            <a:extLst>
              <a:ext uri="{FF2B5EF4-FFF2-40B4-BE49-F238E27FC236}">
                <a16:creationId xmlns:a16="http://schemas.microsoft.com/office/drawing/2014/main" id="{2DD5A7A9-CA7E-49B1-BF32-58910DF8E1B6}"/>
              </a:ext>
            </a:extLst>
          </p:cNvPr>
          <p:cNvGrpSpPr>
            <a:grpSpLocks/>
          </p:cNvGrpSpPr>
          <p:nvPr/>
        </p:nvGrpSpPr>
        <p:grpSpPr bwMode="auto">
          <a:xfrm>
            <a:off x="3001963" y="1970088"/>
            <a:ext cx="1998662" cy="1533525"/>
            <a:chOff x="1837" y="2872"/>
            <a:chExt cx="1302" cy="1012"/>
          </a:xfrm>
        </p:grpSpPr>
        <p:graphicFrame>
          <p:nvGraphicFramePr>
            <p:cNvPr id="28679" name="对象 727050">
              <a:extLst>
                <a:ext uri="{FF2B5EF4-FFF2-40B4-BE49-F238E27FC236}">
                  <a16:creationId xmlns:a16="http://schemas.microsoft.com/office/drawing/2014/main" id="{C1A2007C-8DDB-44EF-85D8-B3262936646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895" y="2872"/>
            <a:ext cx="1244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52" r:id="rId5" imgW="633899" imgH="177492" progId="Equation.3">
                    <p:embed/>
                  </p:oleObj>
                </mc:Choice>
                <mc:Fallback>
                  <p:oleObj r:id="rId5" imgW="633899" imgH="177492" progId="Equation.3">
                    <p:embed/>
                    <p:pic>
                      <p:nvPicPr>
                        <p:cNvPr id="28679" name="对象 727050">
                          <a:extLst>
                            <a:ext uri="{FF2B5EF4-FFF2-40B4-BE49-F238E27FC236}">
                              <a16:creationId xmlns:a16="http://schemas.microsoft.com/office/drawing/2014/main" id="{C1A2007C-8DDB-44EF-85D8-B3262936646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" y="2872"/>
                          <a:ext cx="1244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0" name="对象 727051">
              <a:extLst>
                <a:ext uri="{FF2B5EF4-FFF2-40B4-BE49-F238E27FC236}">
                  <a16:creationId xmlns:a16="http://schemas.microsoft.com/office/drawing/2014/main" id="{716E0EBC-0FED-49EC-B6EB-CEBDC602020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837" y="3214"/>
            <a:ext cx="1260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53" r:id="rId7" imgW="659827" imgH="203024" progId="Equation.3">
                    <p:embed/>
                  </p:oleObj>
                </mc:Choice>
                <mc:Fallback>
                  <p:oleObj r:id="rId7" imgW="659827" imgH="203024" progId="Equation.3">
                    <p:embed/>
                    <p:pic>
                      <p:nvPicPr>
                        <p:cNvPr id="28680" name="对象 727051">
                          <a:extLst>
                            <a:ext uri="{FF2B5EF4-FFF2-40B4-BE49-F238E27FC236}">
                              <a16:creationId xmlns:a16="http://schemas.microsoft.com/office/drawing/2014/main" id="{716E0EBC-0FED-49EC-B6EB-CEBDC602020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7" y="3214"/>
                          <a:ext cx="1260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1" name="对象 727052">
              <a:extLst>
                <a:ext uri="{FF2B5EF4-FFF2-40B4-BE49-F238E27FC236}">
                  <a16:creationId xmlns:a16="http://schemas.microsoft.com/office/drawing/2014/main" id="{0A7841BA-780E-4BA0-9CC7-4DEEDF8133A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837" y="3565"/>
            <a:ext cx="1224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54" r:id="rId9" imgW="621221" imgH="177492" progId="Equation.3">
                    <p:embed/>
                  </p:oleObj>
                </mc:Choice>
                <mc:Fallback>
                  <p:oleObj r:id="rId9" imgW="621221" imgH="177492" progId="Equation.3">
                    <p:embed/>
                    <p:pic>
                      <p:nvPicPr>
                        <p:cNvPr id="28681" name="对象 727052">
                          <a:extLst>
                            <a:ext uri="{FF2B5EF4-FFF2-40B4-BE49-F238E27FC236}">
                              <a16:creationId xmlns:a16="http://schemas.microsoft.com/office/drawing/2014/main" id="{0A7841BA-780E-4BA0-9CC7-4DEEDF8133A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7" y="3565"/>
                          <a:ext cx="1224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27054" name="文本框 727053">
            <a:extLst>
              <a:ext uri="{FF2B5EF4-FFF2-40B4-BE49-F238E27FC236}">
                <a16:creationId xmlns:a16="http://schemas.microsoft.com/office/drawing/2014/main" id="{F162A2B3-F7B7-4257-81FF-C972BC0ABDBC}"/>
              </a:ext>
            </a:extLst>
          </p:cNvPr>
          <p:cNvSpPr txBox="1"/>
          <p:nvPr/>
        </p:nvSpPr>
        <p:spPr>
          <a:xfrm>
            <a:off x="5148263" y="2541588"/>
            <a:ext cx="16081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速度在</a:t>
            </a:r>
            <a:endParaRPr lang="zh-CN" altLang="en-US" sz="2400" b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4" name="组合 727054">
            <a:extLst>
              <a:ext uri="{FF2B5EF4-FFF2-40B4-BE49-F238E27FC236}">
                <a16:creationId xmlns:a16="http://schemas.microsoft.com/office/drawing/2014/main" id="{E5FA17F7-9350-41DB-B56B-42F6719504E2}"/>
              </a:ext>
            </a:extLst>
          </p:cNvPr>
          <p:cNvGrpSpPr>
            <a:grpSpLocks/>
          </p:cNvGrpSpPr>
          <p:nvPr/>
        </p:nvGrpSpPr>
        <p:grpSpPr bwMode="auto">
          <a:xfrm>
            <a:off x="6891338" y="1919288"/>
            <a:ext cx="1976437" cy="1747837"/>
            <a:chOff x="3949" y="528"/>
            <a:chExt cx="1216" cy="905"/>
          </a:xfrm>
        </p:grpSpPr>
        <p:graphicFrame>
          <p:nvGraphicFramePr>
            <p:cNvPr id="28676" name="对象 727055">
              <a:extLst>
                <a:ext uri="{FF2B5EF4-FFF2-40B4-BE49-F238E27FC236}">
                  <a16:creationId xmlns:a16="http://schemas.microsoft.com/office/drawing/2014/main" id="{DE4F897F-E935-46DA-87C6-BE2FE15627D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956" y="528"/>
            <a:ext cx="1207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55" r:id="rId11" imgW="825500" imgH="228600" progId="Equation.3">
                    <p:embed/>
                  </p:oleObj>
                </mc:Choice>
                <mc:Fallback>
                  <p:oleObj r:id="rId11" imgW="825500" imgH="228600" progId="Equation.3">
                    <p:embed/>
                    <p:pic>
                      <p:nvPicPr>
                        <p:cNvPr id="28676" name="对象 727055">
                          <a:extLst>
                            <a:ext uri="{FF2B5EF4-FFF2-40B4-BE49-F238E27FC236}">
                              <a16:creationId xmlns:a16="http://schemas.microsoft.com/office/drawing/2014/main" id="{DE4F897F-E935-46DA-87C6-BE2FE15627D1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6" y="528"/>
                          <a:ext cx="1207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7" name="对象 727056">
              <a:extLst>
                <a:ext uri="{FF2B5EF4-FFF2-40B4-BE49-F238E27FC236}">
                  <a16:creationId xmlns:a16="http://schemas.microsoft.com/office/drawing/2014/main" id="{FBE39333-48E8-44A0-B92A-873BD9B18F7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949" y="816"/>
            <a:ext cx="1174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56" r:id="rId13" imgW="850531" imgH="241195" progId="Equation.3">
                    <p:embed/>
                  </p:oleObj>
                </mc:Choice>
                <mc:Fallback>
                  <p:oleObj r:id="rId13" imgW="850531" imgH="241195" progId="Equation.3">
                    <p:embed/>
                    <p:pic>
                      <p:nvPicPr>
                        <p:cNvPr id="28677" name="对象 727056">
                          <a:extLst>
                            <a:ext uri="{FF2B5EF4-FFF2-40B4-BE49-F238E27FC236}">
                              <a16:creationId xmlns:a16="http://schemas.microsoft.com/office/drawing/2014/main" id="{FBE39333-48E8-44A0-B92A-873BD9B18F7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9" y="816"/>
                          <a:ext cx="1174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8" name="对象 727057">
              <a:extLst>
                <a:ext uri="{FF2B5EF4-FFF2-40B4-BE49-F238E27FC236}">
                  <a16:creationId xmlns:a16="http://schemas.microsoft.com/office/drawing/2014/main" id="{5E3F4344-D87A-4E37-858A-9EB51D91459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957" y="1095"/>
            <a:ext cx="1208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57" r:id="rId15" imgW="812447" imgH="228501" progId="Equation.3">
                    <p:embed/>
                  </p:oleObj>
                </mc:Choice>
                <mc:Fallback>
                  <p:oleObj r:id="rId15" imgW="812447" imgH="228501" progId="Equation.3">
                    <p:embed/>
                    <p:pic>
                      <p:nvPicPr>
                        <p:cNvPr id="28678" name="对象 727057">
                          <a:extLst>
                            <a:ext uri="{FF2B5EF4-FFF2-40B4-BE49-F238E27FC236}">
                              <a16:creationId xmlns:a16="http://schemas.microsoft.com/office/drawing/2014/main" id="{5E3F4344-D87A-4E37-858A-9EB51D91459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7" y="1095"/>
                          <a:ext cx="1208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27059" name="左大括号 727058">
            <a:extLst>
              <a:ext uri="{FF2B5EF4-FFF2-40B4-BE49-F238E27FC236}">
                <a16:creationId xmlns:a16="http://schemas.microsoft.com/office/drawing/2014/main" id="{4EBD84E9-58EC-43F6-8F0B-535A6EA28CBE}"/>
              </a:ext>
            </a:extLst>
          </p:cNvPr>
          <p:cNvSpPr/>
          <p:nvPr/>
        </p:nvSpPr>
        <p:spPr>
          <a:xfrm>
            <a:off x="2641600" y="2135188"/>
            <a:ext cx="381000" cy="1295400"/>
          </a:xfrm>
          <a:prstGeom prst="leftBrace">
            <a:avLst>
              <a:gd name="adj1" fmla="val 28333"/>
              <a:gd name="adj2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endParaRPr sz="240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727060" name="左大括号 727059">
            <a:extLst>
              <a:ext uri="{FF2B5EF4-FFF2-40B4-BE49-F238E27FC236}">
                <a16:creationId xmlns:a16="http://schemas.microsoft.com/office/drawing/2014/main" id="{45DABC4F-BB23-42D1-AA78-A9ABE1937B4E}"/>
              </a:ext>
            </a:extLst>
          </p:cNvPr>
          <p:cNvSpPr>
            <a:spLocks/>
          </p:cNvSpPr>
          <p:nvPr/>
        </p:nvSpPr>
        <p:spPr bwMode="auto">
          <a:xfrm>
            <a:off x="6367463" y="2063750"/>
            <a:ext cx="457200" cy="1447800"/>
          </a:xfrm>
          <a:prstGeom prst="leftBrace">
            <a:avLst>
              <a:gd name="adj1" fmla="val 26301"/>
              <a:gd name="adj2" fmla="val 50000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endParaRPr lang="zh-CN" altLang="en-US"/>
          </a:p>
        </p:txBody>
      </p:sp>
      <p:grpSp>
        <p:nvGrpSpPr>
          <p:cNvPr id="5" name="组合 727060">
            <a:extLst>
              <a:ext uri="{FF2B5EF4-FFF2-40B4-BE49-F238E27FC236}">
                <a16:creationId xmlns:a16="http://schemas.microsoft.com/office/drawing/2014/main" id="{6E3FECF6-B7DA-4283-B96B-2232B97C07E6}"/>
              </a:ext>
            </a:extLst>
          </p:cNvPr>
          <p:cNvGrpSpPr>
            <a:grpSpLocks/>
          </p:cNvGrpSpPr>
          <p:nvPr/>
        </p:nvGrpSpPr>
        <p:grpSpPr bwMode="auto">
          <a:xfrm>
            <a:off x="93663" y="3733800"/>
            <a:ext cx="7229475" cy="579438"/>
            <a:chOff x="254" y="391"/>
            <a:chExt cx="4413" cy="365"/>
          </a:xfrm>
        </p:grpSpPr>
        <p:graphicFrame>
          <p:nvGraphicFramePr>
            <p:cNvPr id="28675" name="对象 727061">
              <a:extLst>
                <a:ext uri="{FF2B5EF4-FFF2-40B4-BE49-F238E27FC236}">
                  <a16:creationId xmlns:a16="http://schemas.microsoft.com/office/drawing/2014/main" id="{3EACE250-1041-40B4-BB0D-E2304BC9A6F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647" y="398"/>
            <a:ext cx="1626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58" r:id="rId17" imgW="1091726" imgH="241195" progId="Equation.3">
                    <p:embed/>
                  </p:oleObj>
                </mc:Choice>
                <mc:Fallback>
                  <p:oleObj r:id="rId17" imgW="1091726" imgH="241195" progId="Equation.3">
                    <p:embed/>
                    <p:pic>
                      <p:nvPicPr>
                        <p:cNvPr id="28675" name="对象 727061">
                          <a:extLst>
                            <a:ext uri="{FF2B5EF4-FFF2-40B4-BE49-F238E27FC236}">
                              <a16:creationId xmlns:a16="http://schemas.microsoft.com/office/drawing/2014/main" id="{3EACE250-1041-40B4-BB0D-E2304BC9A6F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7" y="398"/>
                          <a:ext cx="1626" cy="3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7063" name="文本框 727062">
              <a:extLst>
                <a:ext uri="{FF2B5EF4-FFF2-40B4-BE49-F238E27FC236}">
                  <a16:creationId xmlns:a16="http://schemas.microsoft.com/office/drawing/2014/main" id="{B4E12001-367D-4F83-8CF5-ABE8FB986B9D}"/>
                </a:ext>
              </a:extLst>
            </p:cNvPr>
            <p:cNvSpPr txBox="1"/>
            <p:nvPr/>
          </p:nvSpPr>
          <p:spPr>
            <a:xfrm>
              <a:off x="254" y="391"/>
              <a:ext cx="126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0"/>
                </a:spcBef>
                <a:defRPr/>
              </a:pPr>
              <a:r>
                <a:rPr lang="zh-CN" altLang="en-US" sz="24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即在</a:t>
              </a:r>
            </a:p>
          </p:txBody>
        </p:sp>
        <p:sp>
          <p:nvSpPr>
            <p:cNvPr id="727064" name="文本框 727063">
              <a:extLst>
                <a:ext uri="{FF2B5EF4-FFF2-40B4-BE49-F238E27FC236}">
                  <a16:creationId xmlns:a16="http://schemas.microsoft.com/office/drawing/2014/main" id="{C233B02F-CC60-4BFB-AF8D-86912E334F2A}"/>
                </a:ext>
              </a:extLst>
            </p:cNvPr>
            <p:cNvSpPr txBox="1"/>
            <p:nvPr/>
          </p:nvSpPr>
          <p:spPr>
            <a:xfrm>
              <a:off x="3334" y="400"/>
              <a:ext cx="13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zh-CN" altLang="en-US" sz="24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的粒子数为 </a:t>
              </a:r>
              <a:r>
                <a:rPr lang="en-US" altLang="zh-CN" sz="24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:</a:t>
              </a:r>
            </a:p>
          </p:txBody>
        </p:sp>
      </p:grpSp>
      <p:graphicFrame>
        <p:nvGraphicFramePr>
          <p:cNvPr id="727065" name="对象 727064">
            <a:extLst>
              <a:ext uri="{FF2B5EF4-FFF2-40B4-BE49-F238E27FC236}">
                <a16:creationId xmlns:a16="http://schemas.microsoft.com/office/drawing/2014/main" id="{6CE81FEE-48A1-4324-A1DC-B49EC7B75458}"/>
              </a:ext>
            </a:extLst>
          </p:cNvPr>
          <p:cNvGraphicFramePr>
            <a:graphicFrameLocks/>
          </p:cNvGraphicFramePr>
          <p:nvPr/>
        </p:nvGraphicFramePr>
        <p:xfrm>
          <a:off x="811213" y="4310063"/>
          <a:ext cx="6272212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59" r:id="rId19" imgW="2653148" imgH="431613" progId="Equation.DSMT4">
                  <p:embed/>
                </p:oleObj>
              </mc:Choice>
              <mc:Fallback>
                <p:oleObj r:id="rId19" imgW="2653148" imgH="431613" progId="Equation.DSMT4">
                  <p:embed/>
                  <p:pic>
                    <p:nvPicPr>
                      <p:cNvPr id="727065" name="对象 727064">
                        <a:extLst>
                          <a:ext uri="{FF2B5EF4-FFF2-40B4-BE49-F238E27FC236}">
                            <a16:creationId xmlns:a16="http://schemas.microsoft.com/office/drawing/2014/main" id="{6CE81FEE-48A1-4324-A1DC-B49EC7B7545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3" y="4310063"/>
                        <a:ext cx="6272212" cy="101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66" name="文本框 727065">
            <a:extLst>
              <a:ext uri="{FF2B5EF4-FFF2-40B4-BE49-F238E27FC236}">
                <a16:creationId xmlns:a16="http://schemas.microsoft.com/office/drawing/2014/main" id="{C1F4777B-59C3-4E0B-AAE8-28179B15AAD1}"/>
              </a:ext>
            </a:extLst>
          </p:cNvPr>
          <p:cNvSpPr txBox="1"/>
          <p:nvPr/>
        </p:nvSpPr>
        <p:spPr>
          <a:xfrm>
            <a:off x="3090863" y="5459413"/>
            <a:ext cx="67691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zh-CN" sz="280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-------</a:t>
            </a:r>
            <a:r>
              <a:rPr lang="zh-CN" altLang="en-US" sz="280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玻耳兹曼能量分布律</a:t>
            </a:r>
            <a:endParaRPr lang="zh-CN" altLang="en-US" sz="2800" noProof="1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2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70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27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727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727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72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42" grpId="0"/>
      <p:bldP spid="727044" grpId="0"/>
      <p:bldP spid="727049" grpId="0" build="p"/>
      <p:bldP spid="727054" grpId="0" build="p"/>
      <p:bldP spid="727059" grpId="0" animBg="1"/>
      <p:bldP spid="72706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1" name="灯片编号占位符 1">
            <a:extLst>
              <a:ext uri="{FF2B5EF4-FFF2-40B4-BE49-F238E27FC236}">
                <a16:creationId xmlns:a16="http://schemas.microsoft.com/office/drawing/2014/main" id="{B0A967C1-DA91-4BC9-A16C-A863E6044D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fld id="{96DC7708-AC75-49AC-B362-E29CD5675D99}" type="slidenum">
              <a:rPr lang="zh-CN" altLang="en-US" sz="1400" b="0">
                <a:ea typeface="宋体" panose="02010600030101010101" pitchFamily="2" charset="-122"/>
              </a:rPr>
              <a:pPr/>
              <a:t>42</a:t>
            </a:fld>
            <a:endParaRPr lang="zh-CN" altLang="en-US" sz="1400" b="0">
              <a:ea typeface="宋体" panose="02010600030101010101" pitchFamily="2" charset="-122"/>
            </a:endParaRPr>
          </a:p>
        </p:txBody>
      </p:sp>
      <p:sp>
        <p:nvSpPr>
          <p:cNvPr id="729091" name="文本框 729090">
            <a:extLst>
              <a:ext uri="{FF2B5EF4-FFF2-40B4-BE49-F238E27FC236}">
                <a16:creationId xmlns:a16="http://schemas.microsoft.com/office/drawing/2014/main" id="{6A8971F7-BF29-4BDB-8A61-B95A650BD8F4}"/>
              </a:ext>
            </a:extLst>
          </p:cNvPr>
          <p:cNvSpPr txBox="1"/>
          <p:nvPr/>
        </p:nvSpPr>
        <p:spPr>
          <a:xfrm>
            <a:off x="261938" y="5013325"/>
            <a:ext cx="3302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对所有速度积分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729092" name="对象 729091">
            <a:extLst>
              <a:ext uri="{FF2B5EF4-FFF2-40B4-BE49-F238E27FC236}">
                <a16:creationId xmlns:a16="http://schemas.microsoft.com/office/drawing/2014/main" id="{5D7CD8E5-3ADC-4EF3-A66B-117B6F2FCA08}"/>
              </a:ext>
            </a:extLst>
          </p:cNvPr>
          <p:cNvGraphicFramePr>
            <a:graphicFrameLocks/>
          </p:cNvGraphicFramePr>
          <p:nvPr/>
        </p:nvGraphicFramePr>
        <p:xfrm>
          <a:off x="525463" y="5548313"/>
          <a:ext cx="7986712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99" r:id="rId3" imgW="3378200" imgH="508000" progId="Equation.DSMT4">
                  <p:embed/>
                </p:oleObj>
              </mc:Choice>
              <mc:Fallback>
                <p:oleObj r:id="rId3" imgW="3378200" imgH="508000" progId="Equation.DSMT4">
                  <p:embed/>
                  <p:pic>
                    <p:nvPicPr>
                      <p:cNvPr id="729092" name="对象 729091">
                        <a:extLst>
                          <a:ext uri="{FF2B5EF4-FFF2-40B4-BE49-F238E27FC236}">
                            <a16:creationId xmlns:a16="http://schemas.microsoft.com/office/drawing/2014/main" id="{5D7CD8E5-3ADC-4EF3-A66B-117B6F2FCA0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63" y="5548313"/>
                        <a:ext cx="7986712" cy="1195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9093" name="文本框 729092">
            <a:extLst>
              <a:ext uri="{FF2B5EF4-FFF2-40B4-BE49-F238E27FC236}">
                <a16:creationId xmlns:a16="http://schemas.microsoft.com/office/drawing/2014/main" id="{2B877C88-B832-49CB-B6C4-7504C33E2866}"/>
              </a:ext>
            </a:extLst>
          </p:cNvPr>
          <p:cNvSpPr txBox="1"/>
          <p:nvPr/>
        </p:nvSpPr>
        <p:spPr>
          <a:xfrm>
            <a:off x="2851150" y="5013325"/>
            <a:ext cx="52498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得体积元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d</a:t>
            </a:r>
            <a:r>
              <a:rPr lang="en-US" altLang="zh-CN" sz="2400" i="1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x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d</a:t>
            </a:r>
            <a:r>
              <a:rPr lang="en-US" altLang="zh-CN" sz="2400" i="1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y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d</a:t>
            </a:r>
            <a:r>
              <a:rPr lang="en-US" altLang="zh-CN" sz="2400" i="1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z</a:t>
            </a:r>
            <a:r>
              <a:rPr lang="zh-CN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内的总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粒</a:t>
            </a:r>
            <a:r>
              <a:rPr lang="zh-CN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子数:</a:t>
            </a:r>
            <a:endParaRPr lang="zh-CN" altLang="en-US" sz="240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729095" name="文本框 729094">
            <a:extLst>
              <a:ext uri="{FF2B5EF4-FFF2-40B4-BE49-F238E27FC236}">
                <a16:creationId xmlns:a16="http://schemas.microsoft.com/office/drawing/2014/main" id="{44F9EF02-0211-4224-9011-7B18BA30A11B}"/>
              </a:ext>
            </a:extLst>
          </p:cNvPr>
          <p:cNvSpPr txBox="1"/>
          <p:nvPr/>
        </p:nvSpPr>
        <p:spPr>
          <a:xfrm>
            <a:off x="179388" y="44450"/>
            <a:ext cx="8229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800" b="0" noProof="1"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2</a:t>
            </a:r>
            <a:r>
              <a:rPr lang="zh-CN" altLang="en-US" sz="2800" b="0" noProof="1"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、重力场中粒子按高度的分布</a:t>
            </a:r>
          </a:p>
        </p:txBody>
      </p:sp>
      <p:sp>
        <p:nvSpPr>
          <p:cNvPr id="729096" name="矩形 729095">
            <a:extLst>
              <a:ext uri="{FF2B5EF4-FFF2-40B4-BE49-F238E27FC236}">
                <a16:creationId xmlns:a16="http://schemas.microsoft.com/office/drawing/2014/main" id="{393A2F37-6262-436B-96A6-725E5F3AEF5D}"/>
              </a:ext>
            </a:extLst>
          </p:cNvPr>
          <p:cNvSpPr/>
          <p:nvPr/>
        </p:nvSpPr>
        <p:spPr>
          <a:xfrm>
            <a:off x="654050" y="768350"/>
            <a:ext cx="28384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设温度为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T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的平衡态</a:t>
            </a:r>
          </a:p>
        </p:txBody>
      </p:sp>
      <p:sp>
        <p:nvSpPr>
          <p:cNvPr id="729097" name="文本框 729096">
            <a:extLst>
              <a:ext uri="{FF2B5EF4-FFF2-40B4-BE49-F238E27FC236}">
                <a16:creationId xmlns:a16="http://schemas.microsoft.com/office/drawing/2014/main" id="{6E01ED67-B25B-4E03-9EAF-7D1878EB6580}"/>
              </a:ext>
            </a:extLst>
          </p:cNvPr>
          <p:cNvSpPr txBox="1"/>
          <p:nvPr/>
        </p:nvSpPr>
        <p:spPr>
          <a:xfrm>
            <a:off x="195263" y="197485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外力场中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粒子在</a:t>
            </a:r>
          </a:p>
        </p:txBody>
      </p:sp>
      <p:grpSp>
        <p:nvGrpSpPr>
          <p:cNvPr id="2" name="组合 729097">
            <a:extLst>
              <a:ext uri="{FF2B5EF4-FFF2-40B4-BE49-F238E27FC236}">
                <a16:creationId xmlns:a16="http://schemas.microsoft.com/office/drawing/2014/main" id="{E57E0F56-B38F-41EE-B270-6CD46BACEE44}"/>
              </a:ext>
            </a:extLst>
          </p:cNvPr>
          <p:cNvGrpSpPr>
            <a:grpSpLocks/>
          </p:cNvGrpSpPr>
          <p:nvPr/>
        </p:nvGrpSpPr>
        <p:grpSpPr bwMode="auto">
          <a:xfrm>
            <a:off x="3001963" y="1403350"/>
            <a:ext cx="1998662" cy="1533525"/>
            <a:chOff x="1837" y="2872"/>
            <a:chExt cx="1302" cy="1012"/>
          </a:xfrm>
        </p:grpSpPr>
        <p:graphicFrame>
          <p:nvGraphicFramePr>
            <p:cNvPr id="30728" name="对象 729098">
              <a:extLst>
                <a:ext uri="{FF2B5EF4-FFF2-40B4-BE49-F238E27FC236}">
                  <a16:creationId xmlns:a16="http://schemas.microsoft.com/office/drawing/2014/main" id="{88C09CB8-AC89-4E2F-98DB-692056A67EB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895" y="2872"/>
            <a:ext cx="1244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00" r:id="rId5" imgW="633899" imgH="177492" progId="Equation.3">
                    <p:embed/>
                  </p:oleObj>
                </mc:Choice>
                <mc:Fallback>
                  <p:oleObj r:id="rId5" imgW="633899" imgH="177492" progId="Equation.3">
                    <p:embed/>
                    <p:pic>
                      <p:nvPicPr>
                        <p:cNvPr id="30728" name="对象 729098">
                          <a:extLst>
                            <a:ext uri="{FF2B5EF4-FFF2-40B4-BE49-F238E27FC236}">
                              <a16:creationId xmlns:a16="http://schemas.microsoft.com/office/drawing/2014/main" id="{88C09CB8-AC89-4E2F-98DB-692056A67EB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" y="2872"/>
                          <a:ext cx="1244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9" name="对象 729099">
              <a:extLst>
                <a:ext uri="{FF2B5EF4-FFF2-40B4-BE49-F238E27FC236}">
                  <a16:creationId xmlns:a16="http://schemas.microsoft.com/office/drawing/2014/main" id="{08B00492-9ABB-4285-9590-945332CD3B5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837" y="3214"/>
            <a:ext cx="1260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01" r:id="rId7" imgW="659827" imgH="203024" progId="Equation.3">
                    <p:embed/>
                  </p:oleObj>
                </mc:Choice>
                <mc:Fallback>
                  <p:oleObj r:id="rId7" imgW="659827" imgH="203024" progId="Equation.3">
                    <p:embed/>
                    <p:pic>
                      <p:nvPicPr>
                        <p:cNvPr id="30729" name="对象 729099">
                          <a:extLst>
                            <a:ext uri="{FF2B5EF4-FFF2-40B4-BE49-F238E27FC236}">
                              <a16:creationId xmlns:a16="http://schemas.microsoft.com/office/drawing/2014/main" id="{08B00492-9ABB-4285-9590-945332CD3B5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7" y="3214"/>
                          <a:ext cx="1260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0" name="对象 729100">
              <a:extLst>
                <a:ext uri="{FF2B5EF4-FFF2-40B4-BE49-F238E27FC236}">
                  <a16:creationId xmlns:a16="http://schemas.microsoft.com/office/drawing/2014/main" id="{B7095720-A989-4367-93F2-24F2A8344A0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837" y="3565"/>
            <a:ext cx="1224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02" r:id="rId9" imgW="621221" imgH="177492" progId="Equation.3">
                    <p:embed/>
                  </p:oleObj>
                </mc:Choice>
                <mc:Fallback>
                  <p:oleObj r:id="rId9" imgW="621221" imgH="177492" progId="Equation.3">
                    <p:embed/>
                    <p:pic>
                      <p:nvPicPr>
                        <p:cNvPr id="30730" name="对象 729100">
                          <a:extLst>
                            <a:ext uri="{FF2B5EF4-FFF2-40B4-BE49-F238E27FC236}">
                              <a16:creationId xmlns:a16="http://schemas.microsoft.com/office/drawing/2014/main" id="{B7095720-A989-4367-93F2-24F2A8344A0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7" y="3565"/>
                          <a:ext cx="1224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29102" name="文本框 729101">
            <a:extLst>
              <a:ext uri="{FF2B5EF4-FFF2-40B4-BE49-F238E27FC236}">
                <a16:creationId xmlns:a16="http://schemas.microsoft.com/office/drawing/2014/main" id="{CE81968B-B423-4E2E-AFF9-7D5DF9F25AE6}"/>
              </a:ext>
            </a:extLst>
          </p:cNvPr>
          <p:cNvSpPr txBox="1"/>
          <p:nvPr/>
        </p:nvSpPr>
        <p:spPr>
          <a:xfrm>
            <a:off x="5148263" y="1974850"/>
            <a:ext cx="16081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速度在</a:t>
            </a:r>
            <a:endParaRPr lang="zh-CN" altLang="en-US" sz="2400" b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 729102">
            <a:extLst>
              <a:ext uri="{FF2B5EF4-FFF2-40B4-BE49-F238E27FC236}">
                <a16:creationId xmlns:a16="http://schemas.microsoft.com/office/drawing/2014/main" id="{7CCC009F-04F1-45EF-A557-8E9DD162CBF4}"/>
              </a:ext>
            </a:extLst>
          </p:cNvPr>
          <p:cNvGrpSpPr>
            <a:grpSpLocks/>
          </p:cNvGrpSpPr>
          <p:nvPr/>
        </p:nvGrpSpPr>
        <p:grpSpPr bwMode="auto">
          <a:xfrm>
            <a:off x="6891338" y="1352550"/>
            <a:ext cx="1976437" cy="1747838"/>
            <a:chOff x="3949" y="528"/>
            <a:chExt cx="1216" cy="905"/>
          </a:xfrm>
        </p:grpSpPr>
        <p:graphicFrame>
          <p:nvGraphicFramePr>
            <p:cNvPr id="30725" name="对象 729103">
              <a:extLst>
                <a:ext uri="{FF2B5EF4-FFF2-40B4-BE49-F238E27FC236}">
                  <a16:creationId xmlns:a16="http://schemas.microsoft.com/office/drawing/2014/main" id="{B81AC3E0-AB1C-4A58-AFF4-19FBB49C443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956" y="528"/>
            <a:ext cx="1207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03" r:id="rId11" imgW="825500" imgH="228600" progId="Equation.3">
                    <p:embed/>
                  </p:oleObj>
                </mc:Choice>
                <mc:Fallback>
                  <p:oleObj r:id="rId11" imgW="825500" imgH="228600" progId="Equation.3">
                    <p:embed/>
                    <p:pic>
                      <p:nvPicPr>
                        <p:cNvPr id="30725" name="对象 729103">
                          <a:extLst>
                            <a:ext uri="{FF2B5EF4-FFF2-40B4-BE49-F238E27FC236}">
                              <a16:creationId xmlns:a16="http://schemas.microsoft.com/office/drawing/2014/main" id="{B81AC3E0-AB1C-4A58-AFF4-19FBB49C443E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6" y="528"/>
                          <a:ext cx="1207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6" name="对象 729104">
              <a:extLst>
                <a:ext uri="{FF2B5EF4-FFF2-40B4-BE49-F238E27FC236}">
                  <a16:creationId xmlns:a16="http://schemas.microsoft.com/office/drawing/2014/main" id="{B53A8C07-60A6-4480-9AE4-46A69E0EE5C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949" y="816"/>
            <a:ext cx="1174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04" r:id="rId13" imgW="850531" imgH="241195" progId="Equation.3">
                    <p:embed/>
                  </p:oleObj>
                </mc:Choice>
                <mc:Fallback>
                  <p:oleObj r:id="rId13" imgW="850531" imgH="241195" progId="Equation.3">
                    <p:embed/>
                    <p:pic>
                      <p:nvPicPr>
                        <p:cNvPr id="30726" name="对象 729104">
                          <a:extLst>
                            <a:ext uri="{FF2B5EF4-FFF2-40B4-BE49-F238E27FC236}">
                              <a16:creationId xmlns:a16="http://schemas.microsoft.com/office/drawing/2014/main" id="{B53A8C07-60A6-4480-9AE4-46A69E0EE5C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9" y="816"/>
                          <a:ext cx="1174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7" name="对象 729105">
              <a:extLst>
                <a:ext uri="{FF2B5EF4-FFF2-40B4-BE49-F238E27FC236}">
                  <a16:creationId xmlns:a16="http://schemas.microsoft.com/office/drawing/2014/main" id="{8725E8EB-BE7F-49A9-8297-9079CD530E9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957" y="1095"/>
            <a:ext cx="1208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05" r:id="rId15" imgW="812447" imgH="228501" progId="Equation.3">
                    <p:embed/>
                  </p:oleObj>
                </mc:Choice>
                <mc:Fallback>
                  <p:oleObj r:id="rId15" imgW="812447" imgH="228501" progId="Equation.3">
                    <p:embed/>
                    <p:pic>
                      <p:nvPicPr>
                        <p:cNvPr id="30727" name="对象 729105">
                          <a:extLst>
                            <a:ext uri="{FF2B5EF4-FFF2-40B4-BE49-F238E27FC236}">
                              <a16:creationId xmlns:a16="http://schemas.microsoft.com/office/drawing/2014/main" id="{8725E8EB-BE7F-49A9-8297-9079CD530E9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7" y="1095"/>
                          <a:ext cx="1208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29107" name="左大括号 729106">
            <a:extLst>
              <a:ext uri="{FF2B5EF4-FFF2-40B4-BE49-F238E27FC236}">
                <a16:creationId xmlns:a16="http://schemas.microsoft.com/office/drawing/2014/main" id="{994F3A5F-33A7-4D65-940F-5554BC0CB710}"/>
              </a:ext>
            </a:extLst>
          </p:cNvPr>
          <p:cNvSpPr/>
          <p:nvPr/>
        </p:nvSpPr>
        <p:spPr>
          <a:xfrm>
            <a:off x="2641600" y="1568450"/>
            <a:ext cx="381000" cy="1295400"/>
          </a:xfrm>
          <a:prstGeom prst="leftBrace">
            <a:avLst>
              <a:gd name="adj1" fmla="val 28333"/>
              <a:gd name="adj2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endParaRPr sz="240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729108" name="左大括号 729107">
            <a:extLst>
              <a:ext uri="{FF2B5EF4-FFF2-40B4-BE49-F238E27FC236}">
                <a16:creationId xmlns:a16="http://schemas.microsoft.com/office/drawing/2014/main" id="{4761F4C2-4D33-446C-B805-42249CA8DA9A}"/>
              </a:ext>
            </a:extLst>
          </p:cNvPr>
          <p:cNvSpPr>
            <a:spLocks/>
          </p:cNvSpPr>
          <p:nvPr/>
        </p:nvSpPr>
        <p:spPr bwMode="auto">
          <a:xfrm>
            <a:off x="6367463" y="1497013"/>
            <a:ext cx="457200" cy="1447800"/>
          </a:xfrm>
          <a:prstGeom prst="leftBrace">
            <a:avLst>
              <a:gd name="adj1" fmla="val 26301"/>
              <a:gd name="adj2" fmla="val 50000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endParaRPr lang="zh-CN" altLang="en-US"/>
          </a:p>
        </p:txBody>
      </p:sp>
      <p:grpSp>
        <p:nvGrpSpPr>
          <p:cNvPr id="4" name="组合 729108">
            <a:extLst>
              <a:ext uri="{FF2B5EF4-FFF2-40B4-BE49-F238E27FC236}">
                <a16:creationId xmlns:a16="http://schemas.microsoft.com/office/drawing/2014/main" id="{9D904F47-B3EA-437A-8139-61484AD25E84}"/>
              </a:ext>
            </a:extLst>
          </p:cNvPr>
          <p:cNvGrpSpPr>
            <a:grpSpLocks/>
          </p:cNvGrpSpPr>
          <p:nvPr/>
        </p:nvGrpSpPr>
        <p:grpSpPr bwMode="auto">
          <a:xfrm>
            <a:off x="222250" y="3209925"/>
            <a:ext cx="7229475" cy="579438"/>
            <a:chOff x="254" y="391"/>
            <a:chExt cx="4413" cy="365"/>
          </a:xfrm>
        </p:grpSpPr>
        <p:graphicFrame>
          <p:nvGraphicFramePr>
            <p:cNvPr id="30724" name="对象 729109">
              <a:extLst>
                <a:ext uri="{FF2B5EF4-FFF2-40B4-BE49-F238E27FC236}">
                  <a16:creationId xmlns:a16="http://schemas.microsoft.com/office/drawing/2014/main" id="{955DA5D8-541D-4D40-A46B-56531E70845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647" y="398"/>
            <a:ext cx="1626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06" r:id="rId17" imgW="1091726" imgH="241195" progId="Equation.3">
                    <p:embed/>
                  </p:oleObj>
                </mc:Choice>
                <mc:Fallback>
                  <p:oleObj r:id="rId17" imgW="1091726" imgH="241195" progId="Equation.3">
                    <p:embed/>
                    <p:pic>
                      <p:nvPicPr>
                        <p:cNvPr id="30724" name="对象 729109">
                          <a:extLst>
                            <a:ext uri="{FF2B5EF4-FFF2-40B4-BE49-F238E27FC236}">
                              <a16:creationId xmlns:a16="http://schemas.microsoft.com/office/drawing/2014/main" id="{955DA5D8-541D-4D40-A46B-56531E70845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7" y="398"/>
                          <a:ext cx="1626" cy="3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9111" name="文本框 729110">
              <a:extLst>
                <a:ext uri="{FF2B5EF4-FFF2-40B4-BE49-F238E27FC236}">
                  <a16:creationId xmlns:a16="http://schemas.microsoft.com/office/drawing/2014/main" id="{450F5904-475E-4DE2-8FE3-E61C8CF8DB97}"/>
                </a:ext>
              </a:extLst>
            </p:cNvPr>
            <p:cNvSpPr txBox="1"/>
            <p:nvPr/>
          </p:nvSpPr>
          <p:spPr>
            <a:xfrm>
              <a:off x="254" y="391"/>
              <a:ext cx="126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0"/>
                </a:spcBef>
                <a:defRPr/>
              </a:pPr>
              <a:r>
                <a:rPr lang="zh-CN" altLang="en-US" sz="24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即在空间</a:t>
              </a:r>
            </a:p>
          </p:txBody>
        </p:sp>
        <p:sp>
          <p:nvSpPr>
            <p:cNvPr id="729112" name="文本框 729111">
              <a:extLst>
                <a:ext uri="{FF2B5EF4-FFF2-40B4-BE49-F238E27FC236}">
                  <a16:creationId xmlns:a16="http://schemas.microsoft.com/office/drawing/2014/main" id="{BF98548B-FB31-4751-88AD-DAAB4D85F82F}"/>
                </a:ext>
              </a:extLst>
            </p:cNvPr>
            <p:cNvSpPr txBox="1"/>
            <p:nvPr/>
          </p:nvSpPr>
          <p:spPr>
            <a:xfrm>
              <a:off x="3334" y="400"/>
              <a:ext cx="13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zh-CN" altLang="en-US" sz="24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的粒子数为 </a:t>
              </a:r>
              <a:r>
                <a:rPr lang="en-US" altLang="zh-CN" sz="24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:</a:t>
              </a:r>
            </a:p>
          </p:txBody>
        </p:sp>
      </p:grpSp>
      <p:graphicFrame>
        <p:nvGraphicFramePr>
          <p:cNvPr id="729113" name="对象 729112">
            <a:extLst>
              <a:ext uri="{FF2B5EF4-FFF2-40B4-BE49-F238E27FC236}">
                <a16:creationId xmlns:a16="http://schemas.microsoft.com/office/drawing/2014/main" id="{8B085127-E5E4-40A4-B8DA-53B3ABAD2400}"/>
              </a:ext>
            </a:extLst>
          </p:cNvPr>
          <p:cNvGraphicFramePr>
            <a:graphicFrameLocks/>
          </p:cNvGraphicFramePr>
          <p:nvPr/>
        </p:nvGraphicFramePr>
        <p:xfrm>
          <a:off x="885825" y="3810000"/>
          <a:ext cx="6119813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07" r:id="rId19" imgW="2590800" imgH="419100" progId="Equation.DSMT4">
                  <p:embed/>
                </p:oleObj>
              </mc:Choice>
              <mc:Fallback>
                <p:oleObj r:id="rId19" imgW="2590800" imgH="419100" progId="Equation.DSMT4">
                  <p:embed/>
                  <p:pic>
                    <p:nvPicPr>
                      <p:cNvPr id="729113" name="对象 729112">
                        <a:extLst>
                          <a:ext uri="{FF2B5EF4-FFF2-40B4-BE49-F238E27FC236}">
                            <a16:creationId xmlns:a16="http://schemas.microsoft.com/office/drawing/2014/main" id="{8B085127-E5E4-40A4-B8DA-53B3ABAD240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3810000"/>
                        <a:ext cx="6119813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2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2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2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29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29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29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2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29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2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9091" grpId="0" build="p"/>
      <p:bldP spid="729093" grpId="0" build="p"/>
      <p:bldP spid="729096" grpId="0"/>
      <p:bldP spid="729097" grpId="0"/>
      <p:bldP spid="729102" grpId="0"/>
      <p:bldP spid="72910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0" name="灯片编号占位符 1">
            <a:extLst>
              <a:ext uri="{FF2B5EF4-FFF2-40B4-BE49-F238E27FC236}">
                <a16:creationId xmlns:a16="http://schemas.microsoft.com/office/drawing/2014/main" id="{B7178E5F-3C3F-4E4E-8E5E-A8CADE3F31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fld id="{5149F1C0-FAD3-4689-A80D-8E28134582F1}" type="slidenum">
              <a:rPr lang="zh-CN" altLang="en-US" sz="1400" b="0">
                <a:ea typeface="宋体" panose="02010600030101010101" pitchFamily="2" charset="-122"/>
              </a:rPr>
              <a:pPr/>
              <a:t>43</a:t>
            </a:fld>
            <a:endParaRPr lang="zh-CN" altLang="en-US" sz="1400" b="0">
              <a:ea typeface="宋体" panose="02010600030101010101" pitchFamily="2" charset="-122"/>
            </a:endParaRPr>
          </a:p>
        </p:txBody>
      </p:sp>
      <p:sp>
        <p:nvSpPr>
          <p:cNvPr id="730114" name="文本框 730113">
            <a:extLst>
              <a:ext uri="{FF2B5EF4-FFF2-40B4-BE49-F238E27FC236}">
                <a16:creationId xmlns:a16="http://schemas.microsoft.com/office/drawing/2014/main" id="{86AB46C2-B927-4439-BB0B-F55E489E66DE}"/>
              </a:ext>
            </a:extLst>
          </p:cNvPr>
          <p:cNvSpPr txBox="1"/>
          <p:nvPr/>
        </p:nvSpPr>
        <p:spPr>
          <a:xfrm>
            <a:off x="304800" y="26035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对所有速度积分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730115" name="文本框 730114">
            <a:extLst>
              <a:ext uri="{FF2B5EF4-FFF2-40B4-BE49-F238E27FC236}">
                <a16:creationId xmlns:a16="http://schemas.microsoft.com/office/drawing/2014/main" id="{C9CC2630-D70C-47D0-A966-2C1D92169FDF}"/>
              </a:ext>
            </a:extLst>
          </p:cNvPr>
          <p:cNvSpPr txBox="1"/>
          <p:nvPr/>
        </p:nvSpPr>
        <p:spPr>
          <a:xfrm>
            <a:off x="250825" y="2212975"/>
            <a:ext cx="1905000" cy="120032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由速率分布函数的归一化条件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730116" name="文本框 730115">
            <a:extLst>
              <a:ext uri="{FF2B5EF4-FFF2-40B4-BE49-F238E27FC236}">
                <a16:creationId xmlns:a16="http://schemas.microsoft.com/office/drawing/2014/main" id="{FD7FFF8A-99C2-4DE1-8B15-A254C0F47D7A}"/>
              </a:ext>
            </a:extLst>
          </p:cNvPr>
          <p:cNvSpPr txBox="1"/>
          <p:nvPr/>
        </p:nvSpPr>
        <p:spPr>
          <a:xfrm>
            <a:off x="2819400" y="260350"/>
            <a:ext cx="472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得体积元</a:t>
            </a:r>
            <a:r>
              <a:rPr lang="en-US" altLang="zh-CN" sz="2400" i="1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dxdydz</a:t>
            </a:r>
            <a:r>
              <a:rPr lang="zh-CN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内的总分子数:</a:t>
            </a:r>
            <a:endParaRPr lang="en-US" altLang="zh-CN" sz="240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graphicFrame>
        <p:nvGraphicFramePr>
          <p:cNvPr id="31746" name="对象 730116">
            <a:extLst>
              <a:ext uri="{FF2B5EF4-FFF2-40B4-BE49-F238E27FC236}">
                <a16:creationId xmlns:a16="http://schemas.microsoft.com/office/drawing/2014/main" id="{FA0018DC-D6FB-411A-ABFF-063F2C769C0C}"/>
              </a:ext>
            </a:extLst>
          </p:cNvPr>
          <p:cNvGraphicFramePr>
            <a:graphicFrameLocks/>
          </p:cNvGraphicFramePr>
          <p:nvPr/>
        </p:nvGraphicFramePr>
        <p:xfrm>
          <a:off x="395288" y="765175"/>
          <a:ext cx="7986712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8" r:id="rId3" imgW="3378200" imgH="508000" progId="Equation.DSMT4">
                  <p:embed/>
                </p:oleObj>
              </mc:Choice>
              <mc:Fallback>
                <p:oleObj r:id="rId3" imgW="3378200" imgH="508000" progId="Equation.DSMT4">
                  <p:embed/>
                  <p:pic>
                    <p:nvPicPr>
                      <p:cNvPr id="31746" name="对象 730116">
                        <a:extLst>
                          <a:ext uri="{FF2B5EF4-FFF2-40B4-BE49-F238E27FC236}">
                            <a16:creationId xmlns:a16="http://schemas.microsoft.com/office/drawing/2014/main" id="{FA0018DC-D6FB-411A-ABFF-063F2C769C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765175"/>
                        <a:ext cx="7986712" cy="1195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18" name="对象 730117">
            <a:extLst>
              <a:ext uri="{FF2B5EF4-FFF2-40B4-BE49-F238E27FC236}">
                <a16:creationId xmlns:a16="http://schemas.microsoft.com/office/drawing/2014/main" id="{B728D73C-AF9F-4050-BAA6-312C9CAAD58F}"/>
              </a:ext>
            </a:extLst>
          </p:cNvPr>
          <p:cNvGraphicFramePr>
            <a:graphicFrameLocks/>
          </p:cNvGraphicFramePr>
          <p:nvPr/>
        </p:nvGraphicFramePr>
        <p:xfrm>
          <a:off x="2295525" y="2276475"/>
          <a:ext cx="6245225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9" r:id="rId5" imgW="2641600" imgH="457200" progId="Equation.DSMT4">
                  <p:embed/>
                </p:oleObj>
              </mc:Choice>
              <mc:Fallback>
                <p:oleObj r:id="rId5" imgW="2641600" imgH="457200" progId="Equation.DSMT4">
                  <p:embed/>
                  <p:pic>
                    <p:nvPicPr>
                      <p:cNvPr id="730118" name="对象 730117">
                        <a:extLst>
                          <a:ext uri="{FF2B5EF4-FFF2-40B4-BE49-F238E27FC236}">
                            <a16:creationId xmlns:a16="http://schemas.microsoft.com/office/drawing/2014/main" id="{B728D73C-AF9F-4050-BAA6-312C9CAAD58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525" y="2276475"/>
                        <a:ext cx="6245225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19" name="对象 730118">
            <a:extLst>
              <a:ext uri="{FF2B5EF4-FFF2-40B4-BE49-F238E27FC236}">
                <a16:creationId xmlns:a16="http://schemas.microsoft.com/office/drawing/2014/main" id="{F6F939CA-4217-4AB4-ADA3-6E55204EB5D9}"/>
              </a:ext>
            </a:extLst>
          </p:cNvPr>
          <p:cNvGraphicFramePr>
            <a:graphicFrameLocks/>
          </p:cNvGraphicFramePr>
          <p:nvPr/>
        </p:nvGraphicFramePr>
        <p:xfrm>
          <a:off x="1892300" y="3789363"/>
          <a:ext cx="4119563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0" r:id="rId7" imgW="1308100" imgH="368300" progId="Equation.3">
                  <p:embed/>
                </p:oleObj>
              </mc:Choice>
              <mc:Fallback>
                <p:oleObj r:id="rId7" imgW="1308100" imgH="368300" progId="Equation.3">
                  <p:embed/>
                  <p:pic>
                    <p:nvPicPr>
                      <p:cNvPr id="730119" name="对象 730118">
                        <a:extLst>
                          <a:ext uri="{FF2B5EF4-FFF2-40B4-BE49-F238E27FC236}">
                            <a16:creationId xmlns:a16="http://schemas.microsoft.com/office/drawing/2014/main" id="{F6F939CA-4217-4AB4-ADA3-6E55204EB5D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3789363"/>
                        <a:ext cx="4119563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0120" name="文本框 730119">
            <a:extLst>
              <a:ext uri="{FF2B5EF4-FFF2-40B4-BE49-F238E27FC236}">
                <a16:creationId xmlns:a16="http://schemas.microsoft.com/office/drawing/2014/main" id="{9A14ED4C-172D-46C7-BBEB-8951EF766A2A}"/>
              </a:ext>
            </a:extLst>
          </p:cNvPr>
          <p:cNvSpPr txBox="1"/>
          <p:nvPr/>
        </p:nvSpPr>
        <p:spPr>
          <a:xfrm>
            <a:off x="1127125" y="4102100"/>
            <a:ext cx="490538" cy="457200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得</a:t>
            </a:r>
          </a:p>
        </p:txBody>
      </p:sp>
      <p:sp>
        <p:nvSpPr>
          <p:cNvPr id="730121" name="文本框 730120">
            <a:extLst>
              <a:ext uri="{FF2B5EF4-FFF2-40B4-BE49-F238E27FC236}">
                <a16:creationId xmlns:a16="http://schemas.microsoft.com/office/drawing/2014/main" id="{9C2DE5B1-D216-4810-A129-DB51EA4DD24B}"/>
              </a:ext>
            </a:extLst>
          </p:cNvPr>
          <p:cNvSpPr txBox="1"/>
          <p:nvPr/>
        </p:nvSpPr>
        <p:spPr>
          <a:xfrm>
            <a:off x="304800" y="5124450"/>
            <a:ext cx="426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用空间粒子数密度表示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</a:p>
        </p:txBody>
      </p:sp>
      <p:graphicFrame>
        <p:nvGraphicFramePr>
          <p:cNvPr id="730122" name="对象 730121">
            <a:extLst>
              <a:ext uri="{FF2B5EF4-FFF2-40B4-BE49-F238E27FC236}">
                <a16:creationId xmlns:a16="http://schemas.microsoft.com/office/drawing/2014/main" id="{2D936248-5B8A-4D48-B41C-CCD02608B6BB}"/>
              </a:ext>
            </a:extLst>
          </p:cNvPr>
          <p:cNvGraphicFramePr>
            <a:graphicFrameLocks/>
          </p:cNvGraphicFramePr>
          <p:nvPr/>
        </p:nvGraphicFramePr>
        <p:xfrm>
          <a:off x="4297363" y="4803775"/>
          <a:ext cx="3144837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1" r:id="rId9" imgW="1320227" imgH="469696" progId="Equation.3">
                  <p:embed/>
                </p:oleObj>
              </mc:Choice>
              <mc:Fallback>
                <p:oleObj r:id="rId9" imgW="1320227" imgH="469696" progId="Equation.3">
                  <p:embed/>
                  <p:pic>
                    <p:nvPicPr>
                      <p:cNvPr id="730122" name="对象 730121">
                        <a:extLst>
                          <a:ext uri="{FF2B5EF4-FFF2-40B4-BE49-F238E27FC236}">
                            <a16:creationId xmlns:a16="http://schemas.microsoft.com/office/drawing/2014/main" id="{2D936248-5B8A-4D48-B41C-CCD02608B6B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7363" y="4803775"/>
                        <a:ext cx="3144837" cy="111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0123" name="文本框 730122">
            <a:extLst>
              <a:ext uri="{FF2B5EF4-FFF2-40B4-BE49-F238E27FC236}">
                <a16:creationId xmlns:a16="http://schemas.microsoft.com/office/drawing/2014/main" id="{63692135-A3A6-43B5-B9E6-BDE4D5A0B137}"/>
              </a:ext>
            </a:extLst>
          </p:cNvPr>
          <p:cNvSpPr txBox="1"/>
          <p:nvPr/>
        </p:nvSpPr>
        <p:spPr>
          <a:xfrm>
            <a:off x="4214813" y="5995988"/>
            <a:ext cx="5181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altLang="zh-CN" sz="2400" i="1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n</a:t>
            </a:r>
            <a:r>
              <a:rPr lang="en-US" altLang="zh-CN" sz="2400" baseline="-25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0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为 </a:t>
            </a:r>
            <a:r>
              <a:rPr lang="en-US" altLang="zh-CN" sz="2400" i="1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E</a:t>
            </a:r>
            <a:r>
              <a:rPr lang="en-US" altLang="zh-CN" sz="2400" i="1" baseline="-25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p 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=0  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处的粒子数密度</a:t>
            </a:r>
            <a:endParaRPr lang="zh-CN" altLang="en-US" sz="2400" b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3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3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0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3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73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0115" grpId="0" build="p"/>
      <p:bldP spid="730120" grpId="0"/>
      <p:bldP spid="730121" grpId="0" build="p"/>
      <p:bldP spid="73012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5" name="灯片编号占位符 1">
            <a:extLst>
              <a:ext uri="{FF2B5EF4-FFF2-40B4-BE49-F238E27FC236}">
                <a16:creationId xmlns:a16="http://schemas.microsoft.com/office/drawing/2014/main" id="{33084E94-8C52-4330-B06B-00C2348977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fld id="{07F74404-D168-443D-9227-8DE1ABB48D2B}" type="slidenum">
              <a:rPr lang="zh-CN" altLang="en-US" sz="1400" b="0">
                <a:ea typeface="宋体" panose="02010600030101010101" pitchFamily="2" charset="-122"/>
              </a:rPr>
              <a:pPr/>
              <a:t>44</a:t>
            </a:fld>
            <a:endParaRPr lang="zh-CN" altLang="en-US" sz="1400" b="0">
              <a:ea typeface="宋体" panose="02010600030101010101" pitchFamily="2" charset="-122"/>
            </a:endParaRPr>
          </a:p>
        </p:txBody>
      </p:sp>
      <p:graphicFrame>
        <p:nvGraphicFramePr>
          <p:cNvPr id="32770" name="对象 731138">
            <a:extLst>
              <a:ext uri="{FF2B5EF4-FFF2-40B4-BE49-F238E27FC236}">
                <a16:creationId xmlns:a16="http://schemas.microsoft.com/office/drawing/2014/main" id="{60BA8308-D7A1-4740-9817-FD5BF5EEDB14}"/>
              </a:ext>
            </a:extLst>
          </p:cNvPr>
          <p:cNvGraphicFramePr>
            <a:graphicFrameLocks/>
          </p:cNvGraphicFramePr>
          <p:nvPr/>
        </p:nvGraphicFramePr>
        <p:xfrm>
          <a:off x="2278063" y="282575"/>
          <a:ext cx="3144837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11" r:id="rId3" imgW="1320227" imgH="469696" progId="Equation.3">
                  <p:embed/>
                </p:oleObj>
              </mc:Choice>
              <mc:Fallback>
                <p:oleObj r:id="rId3" imgW="1320227" imgH="469696" progId="Equation.3">
                  <p:embed/>
                  <p:pic>
                    <p:nvPicPr>
                      <p:cNvPr id="32770" name="对象 731138">
                        <a:extLst>
                          <a:ext uri="{FF2B5EF4-FFF2-40B4-BE49-F238E27FC236}">
                            <a16:creationId xmlns:a16="http://schemas.microsoft.com/office/drawing/2014/main" id="{60BA8308-D7A1-4740-9817-FD5BF5EEDB1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8063" y="282575"/>
                        <a:ext cx="3144837" cy="111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1140" name="文本框 731139">
            <a:extLst>
              <a:ext uri="{FF2B5EF4-FFF2-40B4-BE49-F238E27FC236}">
                <a16:creationId xmlns:a16="http://schemas.microsoft.com/office/drawing/2014/main" id="{ED5B54B4-14E1-429A-92EC-110E1819B8B5}"/>
              </a:ext>
            </a:extLst>
          </p:cNvPr>
          <p:cNvSpPr txBox="1"/>
          <p:nvPr/>
        </p:nvSpPr>
        <p:spPr>
          <a:xfrm>
            <a:off x="2195513" y="1435100"/>
            <a:ext cx="5181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altLang="zh-CN" sz="2400" i="1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n</a:t>
            </a:r>
            <a:r>
              <a:rPr lang="en-US" altLang="zh-CN" sz="2400" baseline="-25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0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为 </a:t>
            </a:r>
            <a:r>
              <a:rPr lang="en-US" altLang="zh-CN" sz="2400" i="1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E</a:t>
            </a:r>
            <a:r>
              <a:rPr lang="en-US" altLang="zh-CN" sz="2400" i="1" baseline="-25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p 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=0  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处的粒子数密度</a:t>
            </a:r>
            <a:endParaRPr lang="zh-CN" altLang="en-US" sz="2400" b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731141" name="文本框 731140">
            <a:extLst>
              <a:ext uri="{FF2B5EF4-FFF2-40B4-BE49-F238E27FC236}">
                <a16:creationId xmlns:a16="http://schemas.microsoft.com/office/drawing/2014/main" id="{67ED5FBB-5B96-4053-8472-D4E32E1046AD}"/>
              </a:ext>
            </a:extLst>
          </p:cNvPr>
          <p:cNvSpPr txBox="1"/>
          <p:nvPr/>
        </p:nvSpPr>
        <p:spPr>
          <a:xfrm>
            <a:off x="250825" y="2276475"/>
            <a:ext cx="17240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280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重力场中</a:t>
            </a:r>
          </a:p>
        </p:txBody>
      </p:sp>
      <p:graphicFrame>
        <p:nvGraphicFramePr>
          <p:cNvPr id="731142" name="对象 731141">
            <a:extLst>
              <a:ext uri="{FF2B5EF4-FFF2-40B4-BE49-F238E27FC236}">
                <a16:creationId xmlns:a16="http://schemas.microsoft.com/office/drawing/2014/main" id="{498CDCF1-3EB2-4BC5-A67E-C1C6696BA097}"/>
              </a:ext>
            </a:extLst>
          </p:cNvPr>
          <p:cNvGraphicFramePr>
            <a:graphicFrameLocks/>
          </p:cNvGraphicFramePr>
          <p:nvPr/>
        </p:nvGraphicFramePr>
        <p:xfrm>
          <a:off x="2222500" y="2301875"/>
          <a:ext cx="163195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12" r:id="rId5" imgW="672808" imgH="241195" progId="Equation.DSMT4">
                  <p:embed/>
                </p:oleObj>
              </mc:Choice>
              <mc:Fallback>
                <p:oleObj r:id="rId5" imgW="672808" imgH="241195" progId="Equation.DSMT4">
                  <p:embed/>
                  <p:pic>
                    <p:nvPicPr>
                      <p:cNvPr id="731142" name="对象 731141">
                        <a:extLst>
                          <a:ext uri="{FF2B5EF4-FFF2-40B4-BE49-F238E27FC236}">
                            <a16:creationId xmlns:a16="http://schemas.microsoft.com/office/drawing/2014/main" id="{498CDCF1-3EB2-4BC5-A67E-C1C6696BA09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0" y="2301875"/>
                        <a:ext cx="163195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6" name="对象 731142">
            <a:extLst>
              <a:ext uri="{FF2B5EF4-FFF2-40B4-BE49-F238E27FC236}">
                <a16:creationId xmlns:a16="http://schemas.microsoft.com/office/drawing/2014/main" id="{2F7CF192-77FF-4C47-8A68-264948FE30ED}"/>
              </a:ext>
            </a:extLst>
          </p:cNvPr>
          <p:cNvGraphicFramePr>
            <a:graphicFrameLocks/>
          </p:cNvGraphicFramePr>
          <p:nvPr/>
        </p:nvGraphicFramePr>
        <p:xfrm>
          <a:off x="2195513" y="2968625"/>
          <a:ext cx="2008187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13" r:id="rId7" imgW="723586" imgH="342751" progId="Equation.DSMT4">
                  <p:embed/>
                </p:oleObj>
              </mc:Choice>
              <mc:Fallback>
                <p:oleObj r:id="rId7" imgW="723586" imgH="342751" progId="Equation.DSMT4">
                  <p:embed/>
                  <p:pic>
                    <p:nvPicPr>
                      <p:cNvPr id="56326" name="对象 731142">
                        <a:extLst>
                          <a:ext uri="{FF2B5EF4-FFF2-40B4-BE49-F238E27FC236}">
                            <a16:creationId xmlns:a16="http://schemas.microsoft.com/office/drawing/2014/main" id="{2F7CF192-77FF-4C47-8A68-264948FE30E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2968625"/>
                        <a:ext cx="2008187" cy="9461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CCFF"/>
                          </a:gs>
                          <a:gs pos="50000">
                            <a:schemeClr val="bg1"/>
                          </a:gs>
                          <a:gs pos="100000">
                            <a:srgbClr val="FFCCFF"/>
                          </a:gs>
                        </a:gsLst>
                        <a:lin ang="5400000" scaled="1"/>
                      </a:gradFill>
                      <a:ln w="57150">
                        <a:pattFill prst="pct60">
                          <a:fgClr>
                            <a:srgbClr val="FFCCFF"/>
                          </a:fgClr>
                          <a:bgClr>
                            <a:schemeClr val="tx1"/>
                          </a:bgClr>
                        </a:patt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1145" name="文本框 731144">
            <a:extLst>
              <a:ext uri="{FF2B5EF4-FFF2-40B4-BE49-F238E27FC236}">
                <a16:creationId xmlns:a16="http://schemas.microsoft.com/office/drawing/2014/main" id="{0AB7D768-E82C-4657-B85F-101FF72BEF5B}"/>
              </a:ext>
            </a:extLst>
          </p:cNvPr>
          <p:cNvSpPr txBox="1"/>
          <p:nvPr/>
        </p:nvSpPr>
        <p:spPr>
          <a:xfrm>
            <a:off x="4197350" y="3238500"/>
            <a:ext cx="6858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zh-CN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----</a:t>
            </a: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粒子按高度的分布</a:t>
            </a:r>
          </a:p>
        </p:txBody>
      </p:sp>
      <p:sp>
        <p:nvSpPr>
          <p:cNvPr id="731147" name="文本框 731146">
            <a:extLst>
              <a:ext uri="{FF2B5EF4-FFF2-40B4-BE49-F238E27FC236}">
                <a16:creationId xmlns:a16="http://schemas.microsoft.com/office/drawing/2014/main" id="{1755C7F3-954D-41EF-8992-6B9BC10944CD}"/>
              </a:ext>
            </a:extLst>
          </p:cNvPr>
          <p:cNvSpPr txBox="1"/>
          <p:nvPr/>
        </p:nvSpPr>
        <p:spPr>
          <a:xfrm>
            <a:off x="280988" y="4905375"/>
            <a:ext cx="3892550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2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）大气分子</a:t>
            </a: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n 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随</a:t>
            </a: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h 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的增加而</a:t>
            </a:r>
          </a:p>
          <a:p>
            <a:pPr>
              <a:spcBef>
                <a:spcPct val="0"/>
              </a:spcBef>
              <a:defRPr/>
            </a:pP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   按指数减小；</a:t>
            </a:r>
          </a:p>
        </p:txBody>
      </p:sp>
      <p:sp>
        <p:nvSpPr>
          <p:cNvPr id="731148" name="文本框 731147">
            <a:extLst>
              <a:ext uri="{FF2B5EF4-FFF2-40B4-BE49-F238E27FC236}">
                <a16:creationId xmlns:a16="http://schemas.microsoft.com/office/drawing/2014/main" id="{1070C118-5838-4640-B287-E97762E16167}"/>
              </a:ext>
            </a:extLst>
          </p:cNvPr>
          <p:cNvSpPr txBox="1"/>
          <p:nvPr/>
        </p:nvSpPr>
        <p:spPr>
          <a:xfrm>
            <a:off x="280988" y="5884863"/>
            <a:ext cx="43195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3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）分子质量越大，减小愈快。</a:t>
            </a:r>
          </a:p>
        </p:txBody>
      </p:sp>
      <p:sp>
        <p:nvSpPr>
          <p:cNvPr id="731149" name="文本框 731148">
            <a:extLst>
              <a:ext uri="{FF2B5EF4-FFF2-40B4-BE49-F238E27FC236}">
                <a16:creationId xmlns:a16="http://schemas.microsoft.com/office/drawing/2014/main" id="{60974F65-BF3E-41E6-850A-18F2520459B3}"/>
              </a:ext>
            </a:extLst>
          </p:cNvPr>
          <p:cNvSpPr txBox="1"/>
          <p:nvPr/>
        </p:nvSpPr>
        <p:spPr>
          <a:xfrm>
            <a:off x="280988" y="3963988"/>
            <a:ext cx="604837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1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）以上规律是分子无规运动与重力</a:t>
            </a:r>
          </a:p>
          <a:p>
            <a:pPr>
              <a:spcBef>
                <a:spcPct val="0"/>
              </a:spcBef>
              <a:defRPr/>
            </a:pP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   的共同作用结果，也是一统计规律</a:t>
            </a: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;</a:t>
            </a:r>
          </a:p>
        </p:txBody>
      </p:sp>
      <p:grpSp>
        <p:nvGrpSpPr>
          <p:cNvPr id="2" name="组合 731149">
            <a:extLst>
              <a:ext uri="{FF2B5EF4-FFF2-40B4-BE49-F238E27FC236}">
                <a16:creationId xmlns:a16="http://schemas.microsoft.com/office/drawing/2014/main" id="{D5FD04D1-DBC1-4F38-B70A-A16742D7A7CE}"/>
              </a:ext>
            </a:extLst>
          </p:cNvPr>
          <p:cNvGrpSpPr>
            <a:grpSpLocks/>
          </p:cNvGrpSpPr>
          <p:nvPr/>
        </p:nvGrpSpPr>
        <p:grpSpPr bwMode="auto">
          <a:xfrm>
            <a:off x="5581650" y="3949700"/>
            <a:ext cx="3527425" cy="2863850"/>
            <a:chOff x="3461" y="2488"/>
            <a:chExt cx="2222" cy="1804"/>
          </a:xfrm>
        </p:grpSpPr>
        <p:grpSp>
          <p:nvGrpSpPr>
            <p:cNvPr id="32783" name="组合 731150">
              <a:extLst>
                <a:ext uri="{FF2B5EF4-FFF2-40B4-BE49-F238E27FC236}">
                  <a16:creationId xmlns:a16="http://schemas.microsoft.com/office/drawing/2014/main" id="{A27A6666-6929-4964-A9FE-3E5A547949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1" y="2488"/>
              <a:ext cx="1945" cy="1700"/>
              <a:chOff x="-24" y="2208"/>
              <a:chExt cx="2136" cy="1968"/>
            </a:xfrm>
          </p:grpSpPr>
          <p:grpSp>
            <p:nvGrpSpPr>
              <p:cNvPr id="32788" name="组合 731151">
                <a:extLst>
                  <a:ext uri="{FF2B5EF4-FFF2-40B4-BE49-F238E27FC236}">
                    <a16:creationId xmlns:a16="http://schemas.microsoft.com/office/drawing/2014/main" id="{B728C087-E325-462C-B6F5-FC5AAD045F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" y="2592"/>
                <a:ext cx="1872" cy="1584"/>
                <a:chOff x="3648" y="2544"/>
                <a:chExt cx="1872" cy="1584"/>
              </a:xfrm>
            </p:grpSpPr>
            <p:grpSp>
              <p:nvGrpSpPr>
                <p:cNvPr id="32789" name="组合 731152">
                  <a:extLst>
                    <a:ext uri="{FF2B5EF4-FFF2-40B4-BE49-F238E27FC236}">
                      <a16:creationId xmlns:a16="http://schemas.microsoft.com/office/drawing/2014/main" id="{54352A85-9477-4701-B7B2-15BAAE2CB23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48" y="2544"/>
                  <a:ext cx="1872" cy="1584"/>
                  <a:chOff x="3888" y="2736"/>
                  <a:chExt cx="1872" cy="1584"/>
                </a:xfrm>
              </p:grpSpPr>
              <p:sp>
                <p:nvSpPr>
                  <p:cNvPr id="32801" name="直接连接符 731153">
                    <a:extLst>
                      <a:ext uri="{FF2B5EF4-FFF2-40B4-BE49-F238E27FC236}">
                        <a16:creationId xmlns:a16="http://schemas.microsoft.com/office/drawing/2014/main" id="{66D7EFDA-9AA9-468A-83D1-CA89BF46ECD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88" y="4320"/>
                    <a:ext cx="187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802" name="直接连接符 731154">
                    <a:extLst>
                      <a:ext uri="{FF2B5EF4-FFF2-40B4-BE49-F238E27FC236}">
                        <a16:creationId xmlns:a16="http://schemas.microsoft.com/office/drawing/2014/main" id="{35114326-79B3-43F3-84BD-36261B18D15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888" y="2736"/>
                    <a:ext cx="0" cy="158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2790" name="直接连接符 731155">
                  <a:extLst>
                    <a:ext uri="{FF2B5EF4-FFF2-40B4-BE49-F238E27FC236}">
                      <a16:creationId xmlns:a16="http://schemas.microsoft.com/office/drawing/2014/main" id="{2ECBB1FF-1652-4CA8-B32F-EE6E14D36A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36" y="4080"/>
                  <a:ext cx="0" cy="48"/>
                </a:xfrm>
                <a:prstGeom prst="line">
                  <a:avLst/>
                </a:prstGeom>
                <a:noFill/>
                <a:ln w="9525">
                  <a:solidFill>
                    <a:srgbClr val="37871B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791" name="直接连接符 731156">
                  <a:extLst>
                    <a:ext uri="{FF2B5EF4-FFF2-40B4-BE49-F238E27FC236}">
                      <a16:creationId xmlns:a16="http://schemas.microsoft.com/office/drawing/2014/main" id="{B59C0AB8-117D-4EFF-A7B1-AC1E29DC5D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12" y="4080"/>
                  <a:ext cx="0" cy="48"/>
                </a:xfrm>
                <a:prstGeom prst="line">
                  <a:avLst/>
                </a:prstGeom>
                <a:noFill/>
                <a:ln w="9525">
                  <a:solidFill>
                    <a:srgbClr val="37871B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792" name="直接连接符 731157">
                  <a:extLst>
                    <a:ext uri="{FF2B5EF4-FFF2-40B4-BE49-F238E27FC236}">
                      <a16:creationId xmlns:a16="http://schemas.microsoft.com/office/drawing/2014/main" id="{7B370EB9-55D3-4B82-A766-E682DA8CFF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28" y="4080"/>
                  <a:ext cx="0" cy="48"/>
                </a:xfrm>
                <a:prstGeom prst="line">
                  <a:avLst/>
                </a:prstGeom>
                <a:noFill/>
                <a:ln w="9525">
                  <a:solidFill>
                    <a:srgbClr val="37871B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793" name="直接连接符 731158">
                  <a:extLst>
                    <a:ext uri="{FF2B5EF4-FFF2-40B4-BE49-F238E27FC236}">
                      <a16:creationId xmlns:a16="http://schemas.microsoft.com/office/drawing/2014/main" id="{B10AA9AA-E3A3-4F48-8C9D-EE115E3B50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88" y="4080"/>
                  <a:ext cx="0" cy="48"/>
                </a:xfrm>
                <a:prstGeom prst="line">
                  <a:avLst/>
                </a:prstGeom>
                <a:noFill/>
                <a:ln w="9525">
                  <a:solidFill>
                    <a:srgbClr val="37871B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794" name="直接连接符 731159">
                  <a:extLst>
                    <a:ext uri="{FF2B5EF4-FFF2-40B4-BE49-F238E27FC236}">
                      <a16:creationId xmlns:a16="http://schemas.microsoft.com/office/drawing/2014/main" id="{E59ACFCC-155F-446E-977D-6DFF4971A3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0" y="4080"/>
                  <a:ext cx="0" cy="48"/>
                </a:xfrm>
                <a:prstGeom prst="line">
                  <a:avLst/>
                </a:prstGeom>
                <a:noFill/>
                <a:ln w="9525">
                  <a:solidFill>
                    <a:srgbClr val="37871B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795" name="直接连接符 731160">
                  <a:extLst>
                    <a:ext uri="{FF2B5EF4-FFF2-40B4-BE49-F238E27FC236}">
                      <a16:creationId xmlns:a16="http://schemas.microsoft.com/office/drawing/2014/main" id="{857B9618-BC96-4238-A214-48B40C2E5A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24" y="4080"/>
                  <a:ext cx="0" cy="48"/>
                </a:xfrm>
                <a:prstGeom prst="line">
                  <a:avLst/>
                </a:prstGeom>
                <a:noFill/>
                <a:ln w="9525">
                  <a:solidFill>
                    <a:srgbClr val="37871B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796" name="直接连接符 731161">
                  <a:extLst>
                    <a:ext uri="{FF2B5EF4-FFF2-40B4-BE49-F238E27FC236}">
                      <a16:creationId xmlns:a16="http://schemas.microsoft.com/office/drawing/2014/main" id="{23A2908B-5374-43C8-A3CA-8DDE2D27D7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273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37871B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797" name="直接连接符 731162">
                  <a:extLst>
                    <a:ext uri="{FF2B5EF4-FFF2-40B4-BE49-F238E27FC236}">
                      <a16:creationId xmlns:a16="http://schemas.microsoft.com/office/drawing/2014/main" id="{9E2E841A-C10D-4A32-AB3C-1ED2B8987E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37871B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798" name="直接连接符 731163">
                  <a:extLst>
                    <a:ext uri="{FF2B5EF4-FFF2-40B4-BE49-F238E27FC236}">
                      <a16:creationId xmlns:a16="http://schemas.microsoft.com/office/drawing/2014/main" id="{E8145073-9EBF-46D3-A028-58EE1C3A17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326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37871B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799" name="直接连接符 731164">
                  <a:extLst>
                    <a:ext uri="{FF2B5EF4-FFF2-40B4-BE49-F238E27FC236}">
                      <a16:creationId xmlns:a16="http://schemas.microsoft.com/office/drawing/2014/main" id="{5981D030-303A-41DC-AB09-79FF766912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37871B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00" name="直接连接符 731165">
                  <a:extLst>
                    <a:ext uri="{FF2B5EF4-FFF2-40B4-BE49-F238E27FC236}">
                      <a16:creationId xmlns:a16="http://schemas.microsoft.com/office/drawing/2014/main" id="{EF4E0B25-77B3-4411-BC10-5CB70BF007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3840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37871B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32774" name="对象 731166">
                <a:extLst>
                  <a:ext uri="{FF2B5EF4-FFF2-40B4-BE49-F238E27FC236}">
                    <a16:creationId xmlns:a16="http://schemas.microsoft.com/office/drawing/2014/main" id="{8C461981-3337-4870-A1D4-05F24F171E5A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-24" y="2208"/>
              <a:ext cx="672" cy="4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514" r:id="rId9" imgW="355292" imgH="228402" progId="Equation.3">
                      <p:embed/>
                    </p:oleObj>
                  </mc:Choice>
                  <mc:Fallback>
                    <p:oleObj r:id="rId9" imgW="355292" imgH="228402" progId="Equation.3">
                      <p:embed/>
                      <p:pic>
                        <p:nvPicPr>
                          <p:cNvPr id="32774" name="对象 731166">
                            <a:extLst>
                              <a:ext uri="{FF2B5EF4-FFF2-40B4-BE49-F238E27FC236}">
                                <a16:creationId xmlns:a16="http://schemas.microsoft.com/office/drawing/2014/main" id="{8C461981-3337-4870-A1D4-05F24F171E5A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24" y="2208"/>
                            <a:ext cx="672" cy="4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2773" name="对象 731167">
              <a:extLst>
                <a:ext uri="{FF2B5EF4-FFF2-40B4-BE49-F238E27FC236}">
                  <a16:creationId xmlns:a16="http://schemas.microsoft.com/office/drawing/2014/main" id="{3F949485-5EC8-40C8-9DCD-F21CFFB9DC3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465" y="4003"/>
            <a:ext cx="218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15" r:id="rId11" imgW="126725" imgH="177415" progId="Equation.DSMT4">
                    <p:embed/>
                  </p:oleObj>
                </mc:Choice>
                <mc:Fallback>
                  <p:oleObj r:id="rId11" imgW="126725" imgH="177415" progId="Equation.DSMT4">
                    <p:embed/>
                    <p:pic>
                      <p:nvPicPr>
                        <p:cNvPr id="32773" name="对象 731167">
                          <a:extLst>
                            <a:ext uri="{FF2B5EF4-FFF2-40B4-BE49-F238E27FC236}">
                              <a16:creationId xmlns:a16="http://schemas.microsoft.com/office/drawing/2014/main" id="{3F949485-5EC8-40C8-9DCD-F21CFFB9DC3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5" y="4003"/>
                          <a:ext cx="218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4" name="任意多边形 731168">
              <a:extLst>
                <a:ext uri="{FF2B5EF4-FFF2-40B4-BE49-F238E27FC236}">
                  <a16:creationId xmlns:a16="http://schemas.microsoft.com/office/drawing/2014/main" id="{3BAA4C02-19E7-4E42-8037-C641C0850D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1" y="2985"/>
              <a:ext cx="1487" cy="705"/>
            </a:xfrm>
            <a:custGeom>
              <a:avLst/>
              <a:gdLst>
                <a:gd name="T0" fmla="*/ 0 w 1632"/>
                <a:gd name="T1" fmla="*/ 0 h 816"/>
                <a:gd name="T2" fmla="*/ 262 w 1632"/>
                <a:gd name="T3" fmla="*/ 290 h 816"/>
                <a:gd name="T4" fmla="*/ 525 w 1632"/>
                <a:gd name="T5" fmla="*/ 498 h 816"/>
                <a:gd name="T6" fmla="*/ 875 w 1632"/>
                <a:gd name="T7" fmla="*/ 622 h 816"/>
                <a:gd name="T8" fmla="*/ 1050 w 1632"/>
                <a:gd name="T9" fmla="*/ 664 h 816"/>
                <a:gd name="T10" fmla="*/ 1487 w 1632"/>
                <a:gd name="T11" fmla="*/ 705 h 8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32"/>
                <a:gd name="T19" fmla="*/ 0 h 816"/>
                <a:gd name="T20" fmla="*/ 1632 w 1632"/>
                <a:gd name="T21" fmla="*/ 816 h 81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32" h="816">
                  <a:moveTo>
                    <a:pt x="0" y="0"/>
                  </a:moveTo>
                  <a:cubicBezTo>
                    <a:pt x="96" y="120"/>
                    <a:pt x="192" y="240"/>
                    <a:pt x="288" y="336"/>
                  </a:cubicBezTo>
                  <a:cubicBezTo>
                    <a:pt x="384" y="432"/>
                    <a:pt x="464" y="512"/>
                    <a:pt x="576" y="576"/>
                  </a:cubicBezTo>
                  <a:cubicBezTo>
                    <a:pt x="688" y="640"/>
                    <a:pt x="864" y="688"/>
                    <a:pt x="960" y="720"/>
                  </a:cubicBezTo>
                  <a:cubicBezTo>
                    <a:pt x="1056" y="752"/>
                    <a:pt x="1040" y="752"/>
                    <a:pt x="1152" y="768"/>
                  </a:cubicBezTo>
                  <a:cubicBezTo>
                    <a:pt x="1264" y="784"/>
                    <a:pt x="1552" y="808"/>
                    <a:pt x="1632" y="81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5" name="任意多边形 731169">
              <a:extLst>
                <a:ext uri="{FF2B5EF4-FFF2-40B4-BE49-F238E27FC236}">
                  <a16:creationId xmlns:a16="http://schemas.microsoft.com/office/drawing/2014/main" id="{78FCC734-D12A-44DF-AC64-AE5BE8BBCD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1" y="2985"/>
              <a:ext cx="1268" cy="1161"/>
            </a:xfrm>
            <a:custGeom>
              <a:avLst/>
              <a:gdLst>
                <a:gd name="T0" fmla="*/ 0 w 1392"/>
                <a:gd name="T1" fmla="*/ 0 h 1344"/>
                <a:gd name="T2" fmla="*/ 175 w 1392"/>
                <a:gd name="T3" fmla="*/ 373 h 1344"/>
                <a:gd name="T4" fmla="*/ 306 w 1392"/>
                <a:gd name="T5" fmla="*/ 581 h 1344"/>
                <a:gd name="T6" fmla="*/ 394 w 1392"/>
                <a:gd name="T7" fmla="*/ 705 h 1344"/>
                <a:gd name="T8" fmla="*/ 525 w 1392"/>
                <a:gd name="T9" fmla="*/ 829 h 1344"/>
                <a:gd name="T10" fmla="*/ 700 w 1392"/>
                <a:gd name="T11" fmla="*/ 954 h 1344"/>
                <a:gd name="T12" fmla="*/ 1006 w 1392"/>
                <a:gd name="T13" fmla="*/ 1078 h 1344"/>
                <a:gd name="T14" fmla="*/ 1268 w 1392"/>
                <a:gd name="T15" fmla="*/ 1161 h 13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92"/>
                <a:gd name="T25" fmla="*/ 0 h 1344"/>
                <a:gd name="T26" fmla="*/ 1392 w 1392"/>
                <a:gd name="T27" fmla="*/ 1344 h 13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92" h="1344">
                  <a:moveTo>
                    <a:pt x="0" y="0"/>
                  </a:moveTo>
                  <a:cubicBezTo>
                    <a:pt x="68" y="160"/>
                    <a:pt x="136" y="320"/>
                    <a:pt x="192" y="432"/>
                  </a:cubicBezTo>
                  <a:cubicBezTo>
                    <a:pt x="248" y="544"/>
                    <a:pt x="296" y="608"/>
                    <a:pt x="336" y="672"/>
                  </a:cubicBezTo>
                  <a:cubicBezTo>
                    <a:pt x="376" y="736"/>
                    <a:pt x="392" y="768"/>
                    <a:pt x="432" y="816"/>
                  </a:cubicBezTo>
                  <a:cubicBezTo>
                    <a:pt x="472" y="864"/>
                    <a:pt x="520" y="912"/>
                    <a:pt x="576" y="960"/>
                  </a:cubicBezTo>
                  <a:cubicBezTo>
                    <a:pt x="632" y="1008"/>
                    <a:pt x="680" y="1056"/>
                    <a:pt x="768" y="1104"/>
                  </a:cubicBezTo>
                  <a:cubicBezTo>
                    <a:pt x="856" y="1152"/>
                    <a:pt x="1000" y="1208"/>
                    <a:pt x="1104" y="1248"/>
                  </a:cubicBezTo>
                  <a:cubicBezTo>
                    <a:pt x="1208" y="1288"/>
                    <a:pt x="1344" y="1328"/>
                    <a:pt x="1392" y="1344"/>
                  </a:cubicBezTo>
                </a:path>
              </a:pathLst>
            </a:custGeom>
            <a:noFill/>
            <a:ln w="28575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6" name="文本框 731170">
              <a:extLst>
                <a:ext uri="{FF2B5EF4-FFF2-40B4-BE49-F238E27FC236}">
                  <a16:creationId xmlns:a16="http://schemas.microsoft.com/office/drawing/2014/main" id="{696E7617-46F3-41F9-9340-611FC95173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9" y="3286"/>
              <a:ext cx="39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eaLnBrk="0" hangingPunct="0"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eaLnBrk="0" hangingPunct="0"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eaLnBrk="0" hangingPunct="0"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eaLnBrk="0" hangingPunct="0"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a typeface="宋体" panose="02010600030101010101" pitchFamily="2" charset="-122"/>
                </a:rPr>
                <a:t>H</a:t>
              </a:r>
              <a:r>
                <a:rPr lang="en-US" altLang="zh-CN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2</a:t>
              </a:r>
              <a:endParaRPr lang="en-US" altLang="zh-CN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787" name="文本框 731171">
              <a:extLst>
                <a:ext uri="{FF2B5EF4-FFF2-40B4-BE49-F238E27FC236}">
                  <a16:creationId xmlns:a16="http://schemas.microsoft.com/office/drawing/2014/main" id="{40C5B3D0-1369-4A5D-8C66-720995BFF4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3" y="3742"/>
              <a:ext cx="39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eaLnBrk="0" hangingPunct="0"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eaLnBrk="0" hangingPunct="0"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eaLnBrk="0" hangingPunct="0"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eaLnBrk="0" hangingPunct="0"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  <a:r>
                <a:rPr lang="en-US" altLang="zh-CN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2</a:t>
              </a:r>
              <a:endParaRPr lang="en-US" altLang="zh-CN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1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3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31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3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73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1141" grpId="0" build="p"/>
      <p:bldP spid="731145" grpId="0"/>
      <p:bldP spid="731147" grpId="0"/>
      <p:bldP spid="731148" grpId="0"/>
      <p:bldP spid="73114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灯片编号占位符 1">
            <a:extLst>
              <a:ext uri="{FF2B5EF4-FFF2-40B4-BE49-F238E27FC236}">
                <a16:creationId xmlns:a16="http://schemas.microsoft.com/office/drawing/2014/main" id="{7D2E058D-1656-479F-A46C-AD3AA36217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fld id="{C6557679-94B5-4D7E-AF74-D41A8C6427CA}" type="slidenum">
              <a:rPr lang="zh-CN" altLang="en-US" sz="1400" b="0">
                <a:ea typeface="宋体" panose="02010600030101010101" pitchFamily="2" charset="-122"/>
              </a:rPr>
              <a:pPr/>
              <a:t>45</a:t>
            </a:fld>
            <a:endParaRPr lang="zh-CN" altLang="en-US" sz="1400" b="0">
              <a:ea typeface="宋体" panose="02010600030101010101" pitchFamily="2" charset="-122"/>
            </a:endParaRPr>
          </a:p>
        </p:txBody>
      </p:sp>
      <p:sp>
        <p:nvSpPr>
          <p:cNvPr id="732162" name="文本框 732161">
            <a:extLst>
              <a:ext uri="{FF2B5EF4-FFF2-40B4-BE49-F238E27FC236}">
                <a16:creationId xmlns:a16="http://schemas.microsoft.com/office/drawing/2014/main" id="{9B6AB8D6-CBA2-4E26-9DFC-FA3BCBE70DAE}"/>
              </a:ext>
            </a:extLst>
          </p:cNvPr>
          <p:cNvSpPr txBox="1"/>
          <p:nvPr/>
        </p:nvSpPr>
        <p:spPr>
          <a:xfrm>
            <a:off x="4203700" y="5957888"/>
            <a:ext cx="3397250" cy="519112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zh-CN" sz="280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</a:rPr>
              <a:t>----</a:t>
            </a:r>
            <a:r>
              <a:rPr lang="zh-CN" altLang="en-US" sz="280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</a:rPr>
              <a:t>高度计的原理</a:t>
            </a:r>
            <a:endParaRPr lang="zh-CN" altLang="en-US" sz="280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ea typeface="华文楷体" panose="02010600040101010101" pitchFamily="2" charset="-122"/>
            </a:endParaRPr>
          </a:p>
        </p:txBody>
      </p:sp>
      <p:sp>
        <p:nvSpPr>
          <p:cNvPr id="732163" name="文本框 732162">
            <a:extLst>
              <a:ext uri="{FF2B5EF4-FFF2-40B4-BE49-F238E27FC236}">
                <a16:creationId xmlns:a16="http://schemas.microsoft.com/office/drawing/2014/main" id="{09827DA0-6446-48A8-ACDE-F8339A9B06EB}"/>
              </a:ext>
            </a:extLst>
          </p:cNvPr>
          <p:cNvSpPr txBox="1"/>
          <p:nvPr/>
        </p:nvSpPr>
        <p:spPr>
          <a:xfrm>
            <a:off x="1908175" y="3430588"/>
            <a:ext cx="4940300" cy="1006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defRPr/>
            </a:pP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可以从气压计上气压的读数</a:t>
            </a:r>
            <a:r>
              <a:rPr lang="en-US" altLang="zh-CN" sz="2400" i="1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P</a:t>
            </a:r>
          </a:p>
          <a:p>
            <a:pPr>
              <a:lnSpc>
                <a:spcPct val="125000"/>
              </a:lnSpc>
              <a:spcBef>
                <a:spcPct val="0"/>
              </a:spcBef>
              <a:defRPr/>
            </a:pPr>
            <a:r>
              <a:rPr lang="en-US" altLang="zh-CN" sz="2400" i="1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                     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知道离地面的高度</a:t>
            </a:r>
            <a:r>
              <a:rPr lang="en-US" altLang="zh-CN" sz="2400" i="1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h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。</a:t>
            </a:r>
          </a:p>
        </p:txBody>
      </p:sp>
      <p:graphicFrame>
        <p:nvGraphicFramePr>
          <p:cNvPr id="732164" name="对象 732163">
            <a:extLst>
              <a:ext uri="{FF2B5EF4-FFF2-40B4-BE49-F238E27FC236}">
                <a16:creationId xmlns:a16="http://schemas.microsoft.com/office/drawing/2014/main" id="{3F6E908C-99C2-49BD-876B-B95115D6F70D}"/>
              </a:ext>
            </a:extLst>
          </p:cNvPr>
          <p:cNvGraphicFramePr>
            <a:graphicFrameLocks/>
          </p:cNvGraphicFramePr>
          <p:nvPr/>
        </p:nvGraphicFramePr>
        <p:xfrm>
          <a:off x="893763" y="4651375"/>
          <a:ext cx="5407025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6" r:id="rId3" imgW="1815312" imgH="431613" progId="Equation.DSMT4">
                  <p:embed/>
                </p:oleObj>
              </mc:Choice>
              <mc:Fallback>
                <p:oleObj r:id="rId3" imgW="1815312" imgH="431613" progId="Equation.DSMT4">
                  <p:embed/>
                  <p:pic>
                    <p:nvPicPr>
                      <p:cNvPr id="732164" name="对象 732163">
                        <a:extLst>
                          <a:ext uri="{FF2B5EF4-FFF2-40B4-BE49-F238E27FC236}">
                            <a16:creationId xmlns:a16="http://schemas.microsoft.com/office/drawing/2014/main" id="{3F6E908C-99C2-49BD-876B-B95115D6F70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763" y="4651375"/>
                        <a:ext cx="5407025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732166">
            <a:extLst>
              <a:ext uri="{FF2B5EF4-FFF2-40B4-BE49-F238E27FC236}">
                <a16:creationId xmlns:a16="http://schemas.microsoft.com/office/drawing/2014/main" id="{E1F88E39-A228-4FF9-B9DC-DD7DBC633FE4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2901950"/>
            <a:ext cx="1524000" cy="1031875"/>
            <a:chOff x="4643" y="1731"/>
            <a:chExt cx="960" cy="650"/>
          </a:xfrm>
        </p:grpSpPr>
        <p:sp>
          <p:nvSpPr>
            <p:cNvPr id="33805" name="椭圆 732167">
              <a:extLst>
                <a:ext uri="{FF2B5EF4-FFF2-40B4-BE49-F238E27FC236}">
                  <a16:creationId xmlns:a16="http://schemas.microsoft.com/office/drawing/2014/main" id="{74F7E12E-6D66-4BA7-8FE7-75124FBC76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" y="1757"/>
              <a:ext cx="960" cy="624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CC66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eaLnBrk="0" hangingPunct="0"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eaLnBrk="0" hangingPunct="0"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eaLnBrk="0" hangingPunct="0"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eaLnBrk="0" hangingPunct="0"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2169" name="文本框 732168">
              <a:extLst>
                <a:ext uri="{FF2B5EF4-FFF2-40B4-BE49-F238E27FC236}">
                  <a16:creationId xmlns:a16="http://schemas.microsoft.com/office/drawing/2014/main" id="{CB66F8F0-E0FB-484A-8913-0748946B55A7}"/>
                </a:ext>
              </a:extLst>
            </p:cNvPr>
            <p:cNvSpPr txBox="1"/>
            <p:nvPr/>
          </p:nvSpPr>
          <p:spPr>
            <a:xfrm>
              <a:off x="4835" y="1731"/>
              <a:ext cx="624" cy="650"/>
            </a:xfrm>
            <a:prstGeom prst="rect">
              <a:avLst/>
            </a:prstGeom>
            <a:noFill/>
            <a:ln w="9525">
              <a:noFill/>
            </a:ln>
            <a:scene3d>
              <a:camera prst="legacyPerspectiveBottom">
                <a:rot lat="0" lon="0" rev="0"/>
              </a:camera>
              <a:lightRig rig="legacyFlat3" dir="t"/>
            </a:scene3d>
            <a:sp3d extrusionH="887400" prstMaterial="legacyMatte">
              <a:bevelT w="13500" h="13500" prst="angle"/>
              <a:bevelB w="13500" h="13500" prst="angle"/>
              <a:extrusionClr>
                <a:schemeClr val="tx1"/>
              </a:extrusionClr>
            </a:sp3d>
          </p:spPr>
          <p:txBody>
            <a:bodyPr>
              <a:spAutoFit/>
              <a:flatTx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zh-CN" altLang="en-US" sz="280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实际应用</a:t>
              </a:r>
            </a:p>
          </p:txBody>
        </p:sp>
      </p:grpSp>
      <p:graphicFrame>
        <p:nvGraphicFramePr>
          <p:cNvPr id="732170" name="对象 732169">
            <a:extLst>
              <a:ext uri="{FF2B5EF4-FFF2-40B4-BE49-F238E27FC236}">
                <a16:creationId xmlns:a16="http://schemas.microsoft.com/office/drawing/2014/main" id="{CCF11827-221D-4306-8FFE-5792385D134C}"/>
              </a:ext>
            </a:extLst>
          </p:cNvPr>
          <p:cNvGraphicFramePr>
            <a:graphicFrameLocks/>
          </p:cNvGraphicFramePr>
          <p:nvPr/>
        </p:nvGraphicFramePr>
        <p:xfrm>
          <a:off x="1373188" y="844550"/>
          <a:ext cx="4927600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7" r:id="rId5" imgW="1954951" imgH="342751" progId="Equation.DSMT4">
                  <p:embed/>
                </p:oleObj>
              </mc:Choice>
              <mc:Fallback>
                <p:oleObj r:id="rId5" imgW="1954951" imgH="342751" progId="Equation.DSMT4">
                  <p:embed/>
                  <p:pic>
                    <p:nvPicPr>
                      <p:cNvPr id="732170" name="对象 732169">
                        <a:extLst>
                          <a:ext uri="{FF2B5EF4-FFF2-40B4-BE49-F238E27FC236}">
                            <a16:creationId xmlns:a16="http://schemas.microsoft.com/office/drawing/2014/main" id="{CCF11827-221D-4306-8FFE-5792385D134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3188" y="844550"/>
                        <a:ext cx="4927600" cy="855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2171" name="文本框 732170">
            <a:extLst>
              <a:ext uri="{FF2B5EF4-FFF2-40B4-BE49-F238E27FC236}">
                <a16:creationId xmlns:a16="http://schemas.microsoft.com/office/drawing/2014/main" id="{21560826-7C8A-4854-8E51-AAF56AAF33EC}"/>
              </a:ext>
            </a:extLst>
          </p:cNvPr>
          <p:cNvSpPr txBox="1"/>
          <p:nvPr/>
        </p:nvSpPr>
        <p:spPr>
          <a:xfrm>
            <a:off x="5148263" y="1798638"/>
            <a:ext cx="3851275" cy="51911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80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---- </a:t>
            </a:r>
            <a:r>
              <a:rPr lang="zh-CN" altLang="en-US" sz="280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恒温气压公式</a:t>
            </a:r>
          </a:p>
        </p:txBody>
      </p:sp>
      <p:sp>
        <p:nvSpPr>
          <p:cNvPr id="732172" name="直接连接符 732171">
            <a:extLst>
              <a:ext uri="{FF2B5EF4-FFF2-40B4-BE49-F238E27FC236}">
                <a16:creationId xmlns:a16="http://schemas.microsoft.com/office/drawing/2014/main" id="{27220127-5799-45FD-8370-F2879A8CF01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213" y="2159000"/>
            <a:ext cx="935037" cy="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/>
            <a:tailEnd type="triangle" w="med" len="med"/>
          </a:ln>
          <a:scene3d>
            <a:camera prst="legacyObliqueTopRight"/>
            <a:lightRig rig="legacyFlat1" dir="t"/>
          </a:scene3d>
          <a:sp3d extrusionH="430200" prstMaterial="legacyMatte">
            <a:bevelT w="13500" h="13500" prst="angle"/>
            <a:bevelB w="13500" h="13500" prst="angle"/>
            <a:extrusionClr>
              <a:srgbClr val="FF3300"/>
            </a:extrusionClr>
            <a:contourClr>
              <a:srgbClr val="FF3300"/>
            </a:contour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flatTx/>
          </a:bodyPr>
          <a:lstStyle/>
          <a:p>
            <a:endParaRPr lang="zh-CN" altLang="en-US"/>
          </a:p>
        </p:txBody>
      </p:sp>
      <p:graphicFrame>
        <p:nvGraphicFramePr>
          <p:cNvPr id="732173" name="对象 732172">
            <a:extLst>
              <a:ext uri="{FF2B5EF4-FFF2-40B4-BE49-F238E27FC236}">
                <a16:creationId xmlns:a16="http://schemas.microsoft.com/office/drawing/2014/main" id="{BB0C7549-A605-478E-9038-F03E1074D734}"/>
              </a:ext>
            </a:extLst>
          </p:cNvPr>
          <p:cNvGraphicFramePr>
            <a:graphicFrameLocks/>
          </p:cNvGraphicFramePr>
          <p:nvPr/>
        </p:nvGraphicFramePr>
        <p:xfrm>
          <a:off x="2209800" y="1743075"/>
          <a:ext cx="268287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8" r:id="rId7" imgW="977476" imgH="241195" progId="Equation.DSMT4">
                  <p:embed/>
                </p:oleObj>
              </mc:Choice>
              <mc:Fallback>
                <p:oleObj r:id="rId7" imgW="977476" imgH="241195" progId="Equation.DSMT4">
                  <p:embed/>
                  <p:pic>
                    <p:nvPicPr>
                      <p:cNvPr id="732173" name="对象 732172">
                        <a:extLst>
                          <a:ext uri="{FF2B5EF4-FFF2-40B4-BE49-F238E27FC236}">
                            <a16:creationId xmlns:a16="http://schemas.microsoft.com/office/drawing/2014/main" id="{BB0C7549-A605-478E-9038-F03E1074D73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743075"/>
                        <a:ext cx="2682875" cy="5873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FF"/>
                          </a:gs>
                          <a:gs pos="50000">
                            <a:schemeClr val="bg1"/>
                          </a:gs>
                          <a:gs pos="100000">
                            <a:srgbClr val="FFCCFF"/>
                          </a:gs>
                        </a:gsLst>
                        <a:lin ang="5400000" scaled="1"/>
                      </a:gra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2174" name="矩形 732173">
            <a:extLst>
              <a:ext uri="{FF2B5EF4-FFF2-40B4-BE49-F238E27FC236}">
                <a16:creationId xmlns:a16="http://schemas.microsoft.com/office/drawing/2014/main" id="{2EFC1DBE-07B7-4CEB-9310-971048347822}"/>
              </a:ext>
            </a:extLst>
          </p:cNvPr>
          <p:cNvSpPr/>
          <p:nvPr/>
        </p:nvSpPr>
        <p:spPr>
          <a:xfrm>
            <a:off x="1908175" y="2540000"/>
            <a:ext cx="43164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式中 </a:t>
            </a:r>
            <a:r>
              <a:rPr lang="zh-CN" altLang="en-US" sz="2400" i="1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en-US" altLang="zh-CN" sz="2400" i="1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P</a:t>
            </a:r>
            <a:r>
              <a:rPr lang="en-US" altLang="zh-CN" sz="2400" baseline="-25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0</a:t>
            </a:r>
            <a:r>
              <a:rPr lang="en-US" altLang="zh-CN" sz="2400" i="1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= n</a:t>
            </a:r>
            <a:r>
              <a:rPr lang="en-US" altLang="zh-CN" sz="2400" baseline="-25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0</a:t>
            </a:r>
            <a:r>
              <a:rPr lang="en-US" altLang="zh-CN" sz="2400" i="1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kT 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为地面处的压强</a:t>
            </a:r>
          </a:p>
        </p:txBody>
      </p:sp>
      <p:graphicFrame>
        <p:nvGraphicFramePr>
          <p:cNvPr id="33797" name="对象 732174">
            <a:extLst>
              <a:ext uri="{FF2B5EF4-FFF2-40B4-BE49-F238E27FC236}">
                <a16:creationId xmlns:a16="http://schemas.microsoft.com/office/drawing/2014/main" id="{383F64E4-F546-4C32-94D1-F6FE218E30EE}"/>
              </a:ext>
            </a:extLst>
          </p:cNvPr>
          <p:cNvGraphicFramePr>
            <a:graphicFrameLocks/>
          </p:cNvGraphicFramePr>
          <p:nvPr/>
        </p:nvGraphicFramePr>
        <p:xfrm>
          <a:off x="2195513" y="0"/>
          <a:ext cx="2008187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9" r:id="rId9" imgW="723586" imgH="342751" progId="Equation.DSMT4">
                  <p:embed/>
                </p:oleObj>
              </mc:Choice>
              <mc:Fallback>
                <p:oleObj r:id="rId9" imgW="723586" imgH="342751" progId="Equation.DSMT4">
                  <p:embed/>
                  <p:pic>
                    <p:nvPicPr>
                      <p:cNvPr id="33797" name="对象 732174">
                        <a:extLst>
                          <a:ext uri="{FF2B5EF4-FFF2-40B4-BE49-F238E27FC236}">
                            <a16:creationId xmlns:a16="http://schemas.microsoft.com/office/drawing/2014/main" id="{383F64E4-F546-4C32-94D1-F6FE218E30E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0"/>
                        <a:ext cx="2008187" cy="94615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FF"/>
                          </a:gs>
                          <a:gs pos="50000">
                            <a:schemeClr val="bg1"/>
                          </a:gs>
                          <a:gs pos="100000">
                            <a:srgbClr val="FFCCFF"/>
                          </a:gs>
                        </a:gsLst>
                        <a:lin ang="5400000" scaled="1"/>
                      </a:gra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2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2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32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32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732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3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3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3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2162" grpId="0"/>
      <p:bldP spid="732163" grpId="0"/>
      <p:bldP spid="732171" grpId="0"/>
      <p:bldP spid="73217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46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733186" name="文本框 733185"/>
          <p:cNvSpPr txBox="1"/>
          <p:nvPr/>
        </p:nvSpPr>
        <p:spPr>
          <a:xfrm>
            <a:off x="304800" y="1304925"/>
            <a:ext cx="88392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0066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引出</a:t>
            </a:r>
            <a:r>
              <a:rPr kumimoji="0" lang="zh-CN" altLang="en-US" sz="2400" kern="1200" cap="none" spc="0" normalizeH="0" baseline="0" noProof="1">
                <a:solidFill>
                  <a:srgbClr val="0066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气体分子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---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质点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单原子分子气体的比热，理论与实际吻合得很好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多原子分子，理论值与实验值相差甚远。            </a:t>
            </a:r>
          </a:p>
        </p:txBody>
      </p:sp>
      <p:sp>
        <p:nvSpPr>
          <p:cNvPr id="733187" name="文本框 733186"/>
          <p:cNvSpPr txBox="1"/>
          <p:nvPr/>
        </p:nvSpPr>
        <p:spPr>
          <a:xfrm>
            <a:off x="212725" y="4508500"/>
            <a:ext cx="33512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一、自由度</a:t>
            </a:r>
          </a:p>
        </p:txBody>
      </p:sp>
      <p:sp>
        <p:nvSpPr>
          <p:cNvPr id="90116" name="文本框 733187"/>
          <p:cNvSpPr txBox="1"/>
          <p:nvPr/>
        </p:nvSpPr>
        <p:spPr>
          <a:xfrm>
            <a:off x="1476375" y="188913"/>
            <a:ext cx="6696075" cy="584200"/>
          </a:xfrm>
          <a:prstGeom prst="rect">
            <a:avLst/>
          </a:prstGeom>
          <a:gradFill rotWithShape="0">
            <a:gsLst>
              <a:gs pos="0">
                <a:srgbClr val="CC3300"/>
              </a:gs>
              <a:gs pos="50000">
                <a:srgbClr val="FFFF00"/>
              </a:gs>
              <a:gs pos="100000">
                <a:srgbClr val="CC3300"/>
              </a:gs>
            </a:gsLst>
            <a:lin ang="5400000" scaled="1"/>
            <a:tileRect/>
          </a:gradFill>
          <a:ln w="57150" cap="flat" cmpd="thickThin">
            <a:pattFill prst="pct75">
              <a:fgClr>
                <a:schemeClr val="bg1"/>
              </a:fgClr>
              <a:bgClr>
                <a:srgbClr val="CC3300"/>
              </a:bgClr>
            </a:patt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" altLang="zh-CN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12-</a:t>
            </a:r>
            <a:r>
              <a:rPr lang="" altLang="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" altLang="zh-CN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" altLang="en-US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能量均分定理  理想气体的内能</a:t>
            </a:r>
          </a:p>
        </p:txBody>
      </p:sp>
      <p:sp>
        <p:nvSpPr>
          <p:cNvPr id="733189" name="文本框 733188"/>
          <p:cNvSpPr txBox="1"/>
          <p:nvPr/>
        </p:nvSpPr>
        <p:spPr>
          <a:xfrm>
            <a:off x="855663" y="5156200"/>
            <a:ext cx="8331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自由度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---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确定物体空间位置所需的独立坐标数</a:t>
            </a:r>
          </a:p>
        </p:txBody>
      </p:sp>
      <p:sp>
        <p:nvSpPr>
          <p:cNvPr id="733190" name="文本框 733189"/>
          <p:cNvSpPr txBox="1"/>
          <p:nvPr/>
        </p:nvSpPr>
        <p:spPr>
          <a:xfrm>
            <a:off x="908050" y="6284913"/>
            <a:ext cx="6400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举例：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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质点在三维空间自由运动</a:t>
            </a:r>
            <a:endParaRPr kumimoji="0" lang="zh-CN" altLang="en-US" sz="2400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3191" name="矩形 733190"/>
          <p:cNvSpPr/>
          <p:nvPr/>
        </p:nvSpPr>
        <p:spPr>
          <a:xfrm>
            <a:off x="2268538" y="5734050"/>
            <a:ext cx="31623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用 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表示。</a:t>
            </a:r>
          </a:p>
        </p:txBody>
      </p:sp>
      <p:sp>
        <p:nvSpPr>
          <p:cNvPr id="733192" name="矩形 733191"/>
          <p:cNvSpPr/>
          <p:nvPr/>
        </p:nvSpPr>
        <p:spPr>
          <a:xfrm>
            <a:off x="323850" y="2852738"/>
            <a:ext cx="8820150" cy="12969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6666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1857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6666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年克劳修斯：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对结构复杂的分子，不但要考察其平动，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还要考虑其转动、振动等。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3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3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3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3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3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3186" grpId="0"/>
      <p:bldP spid="733187" grpId="0"/>
      <p:bldP spid="733189" grpId="0"/>
      <p:bldP spid="733190" grpId="0"/>
      <p:bldP spid="733191" grpId="0"/>
      <p:bldP spid="73319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47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734210" name="文本框 734209"/>
          <p:cNvSpPr txBox="1"/>
          <p:nvPr/>
        </p:nvSpPr>
        <p:spPr>
          <a:xfrm>
            <a:off x="250825" y="187325"/>
            <a:ext cx="6400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举例：</a:t>
            </a: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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质点在三维空间自由运动</a:t>
            </a:r>
            <a:endParaRPr kumimoji="0" lang="zh-CN" altLang="en-US" sz="2400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4211" name="文本框 734210"/>
          <p:cNvSpPr txBox="1"/>
          <p:nvPr/>
        </p:nvSpPr>
        <p:spPr>
          <a:xfrm>
            <a:off x="1258888" y="2452688"/>
            <a:ext cx="59769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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自由运动的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刚体（既有平动又有转动）</a:t>
            </a:r>
          </a:p>
        </p:txBody>
      </p:sp>
      <p:sp>
        <p:nvSpPr>
          <p:cNvPr id="734212" name="文本框 734211"/>
          <p:cNvSpPr txBox="1"/>
          <p:nvPr/>
        </p:nvSpPr>
        <p:spPr>
          <a:xfrm>
            <a:off x="3708400" y="2884488"/>
            <a:ext cx="56880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>
                <a:srgbClr val="CC3300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确定质心位置：</a:t>
            </a:r>
            <a:r>
              <a:rPr kumimoji="0" lang="en-US" altLang="zh-CN" sz="28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zh-CN" altLang="en-US" sz="28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8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zh-CN" altLang="en-US" sz="28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8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        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需</a:t>
            </a: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</a:t>
            </a:r>
          </a:p>
        </p:txBody>
      </p:sp>
      <p:graphicFrame>
        <p:nvGraphicFramePr>
          <p:cNvPr id="734213" name="对象 734212"/>
          <p:cNvGraphicFramePr/>
          <p:nvPr/>
        </p:nvGraphicFramePr>
        <p:xfrm>
          <a:off x="3805238" y="3821113"/>
          <a:ext cx="42227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95" r:id="rId3" imgW="1962785" imgH="267335" progId="Equation.3">
                  <p:embed/>
                </p:oleObj>
              </mc:Choice>
              <mc:Fallback>
                <p:oleObj r:id="rId3" imgW="1962785" imgH="267335" progId="Equation.3">
                  <p:embed/>
                  <p:pic>
                    <p:nvPicPr>
                      <p:cNvPr id="0" name="图片 33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05238" y="3821113"/>
                        <a:ext cx="4222750" cy="576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4214" name="文本框 734213"/>
          <p:cNvSpPr txBox="1"/>
          <p:nvPr/>
        </p:nvSpPr>
        <p:spPr>
          <a:xfrm>
            <a:off x="3690938" y="3375025"/>
            <a:ext cx="28971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>
                <a:srgbClr val="CC3300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确定转轴方位：</a:t>
            </a:r>
          </a:p>
        </p:txBody>
      </p:sp>
      <p:graphicFrame>
        <p:nvGraphicFramePr>
          <p:cNvPr id="734215" name="对象 734214"/>
          <p:cNvGraphicFramePr/>
          <p:nvPr/>
        </p:nvGraphicFramePr>
        <p:xfrm>
          <a:off x="6084888" y="3376613"/>
          <a:ext cx="122396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96" r:id="rId5" imgW="523875" imgH="234315" progId="Equation.3">
                  <p:embed/>
                </p:oleObj>
              </mc:Choice>
              <mc:Fallback>
                <p:oleObj r:id="rId5" imgW="523875" imgH="234315" progId="Equation.3">
                  <p:embed/>
                  <p:pic>
                    <p:nvPicPr>
                      <p:cNvPr id="0" name="图片 331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84888" y="3376613"/>
                        <a:ext cx="1223962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4216" name="文本框 734215"/>
          <p:cNvSpPr txBox="1"/>
          <p:nvPr/>
        </p:nvSpPr>
        <p:spPr>
          <a:xfrm>
            <a:off x="7164388" y="3357563"/>
            <a:ext cx="7985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但：</a:t>
            </a:r>
          </a:p>
        </p:txBody>
      </p:sp>
      <p:grpSp>
        <p:nvGrpSpPr>
          <p:cNvPr id="2" name="组合 734216"/>
          <p:cNvGrpSpPr/>
          <p:nvPr/>
        </p:nvGrpSpPr>
        <p:grpSpPr>
          <a:xfrm>
            <a:off x="3716338" y="4438650"/>
            <a:ext cx="3486150" cy="895350"/>
            <a:chOff x="2341" y="2821"/>
            <a:chExt cx="1989" cy="564"/>
          </a:xfrm>
        </p:grpSpPr>
        <p:graphicFrame>
          <p:nvGraphicFramePr>
            <p:cNvPr id="91146" name="对象 734217"/>
            <p:cNvGraphicFramePr/>
            <p:nvPr/>
          </p:nvGraphicFramePr>
          <p:xfrm>
            <a:off x="3827" y="3113"/>
            <a:ext cx="23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97" r:id="rId7" imgW="167005" imgH="189865" progId="Equation.3">
                    <p:embed/>
                  </p:oleObj>
                </mc:Choice>
                <mc:Fallback>
                  <p:oleObj r:id="rId7" imgW="167005" imgH="189865" progId="Equation.3">
                    <p:embed/>
                    <p:pic>
                      <p:nvPicPr>
                        <p:cNvPr id="0" name="图片 3315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CC66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27" y="3113"/>
                          <a:ext cx="232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4219" name="文本框 734218"/>
            <p:cNvSpPr txBox="1"/>
            <p:nvPr/>
          </p:nvSpPr>
          <p:spPr>
            <a:xfrm>
              <a:off x="2341" y="2821"/>
              <a:ext cx="1989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R="0" defTabSz="914400">
                <a:buClr>
                  <a:srgbClr val="CC3300"/>
                </a:buClr>
                <a:buSzPct val="80000"/>
                <a:buFont typeface="Wingdings" panose="05000000000000000000" pitchFamily="2" charset="2"/>
                <a:buChar char="u"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确定刚体相对起始位置</a:t>
              </a:r>
            </a:p>
            <a:p>
              <a:pPr marR="0" defTabSz="914400">
                <a:buClr>
                  <a:srgbClr val="CC3300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转过的角度</a:t>
              </a:r>
              <a:endPara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734220" name="对象 734219"/>
          <p:cNvGraphicFramePr/>
          <p:nvPr/>
        </p:nvGraphicFramePr>
        <p:xfrm>
          <a:off x="3924300" y="692150"/>
          <a:ext cx="79216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98" r:id="rId9" imgW="368300" imgH="212090" progId="Equation.3">
                  <p:embed/>
                </p:oleObj>
              </mc:Choice>
              <mc:Fallback>
                <p:oleObj r:id="rId9" imgW="368300" imgH="212090" progId="Equation.3">
                  <p:embed/>
                  <p:pic>
                    <p:nvPicPr>
                      <p:cNvPr id="0" name="图片 33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24300" y="692150"/>
                        <a:ext cx="792163" cy="4413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 cap="flat" cmpd="dbl">
                        <a:solidFill>
                          <a:srgbClr val="00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4221" name="文本框 734220"/>
          <p:cNvSpPr txBox="1"/>
          <p:nvPr/>
        </p:nvSpPr>
        <p:spPr>
          <a:xfrm>
            <a:off x="1619250" y="690563"/>
            <a:ext cx="2447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三个独立坐标</a:t>
            </a:r>
            <a:endParaRPr kumimoji="0" lang="zh-CN" altLang="en-US" sz="2400" kern="120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34222" name="对象 734221"/>
          <p:cNvGraphicFramePr/>
          <p:nvPr/>
        </p:nvGraphicFramePr>
        <p:xfrm>
          <a:off x="6877050" y="2470150"/>
          <a:ext cx="790575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99" r:id="rId11" imgW="368300" imgH="212090" progId="Equation.3">
                  <p:embed/>
                </p:oleObj>
              </mc:Choice>
              <mc:Fallback>
                <p:oleObj r:id="rId11" imgW="368300" imgH="212090" progId="Equation.3">
                  <p:embed/>
                  <p:pic>
                    <p:nvPicPr>
                      <p:cNvPr id="0" name="图片 331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77050" y="2470150"/>
                        <a:ext cx="790575" cy="43973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 cap="flat" cmpd="dbl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4223" name="矩形 734222"/>
          <p:cNvSpPr/>
          <p:nvPr/>
        </p:nvSpPr>
        <p:spPr>
          <a:xfrm>
            <a:off x="1277938" y="1266825"/>
            <a:ext cx="5886450" cy="1114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若受到限制自由度降低         </a:t>
            </a:r>
          </a:p>
          <a:p>
            <a:pPr marL="0" marR="0" lvl="0" indent="0" algn="l" defTabSz="914400" rtl="0" eaLnBrk="1" fontAlgn="base" latinLnBrk="0" hangingPunct="1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Monotype Sorts" pitchFamily="2" charset="2"/>
              </a:rPr>
              <a:t>        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平面上 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个</a:t>
            </a:r>
          </a:p>
          <a:p>
            <a:pPr marL="0" marR="0" lvl="0" indent="0" algn="l" defTabSz="914400" rtl="0" eaLnBrk="1" fontAlgn="base" latinLnBrk="0" hangingPunct="1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Monotype Sorts" pitchFamily="2" charset="2"/>
              </a:rPr>
              <a:t>            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直线上 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个</a:t>
            </a:r>
            <a:endParaRPr kumimoji="0" lang="zh-CN" altLang="en-US" sz="2400" b="1" i="1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4224" name="文本框 734223"/>
          <p:cNvSpPr txBox="1"/>
          <p:nvPr/>
        </p:nvSpPr>
        <p:spPr>
          <a:xfrm>
            <a:off x="3995738" y="5314950"/>
            <a:ext cx="5976938" cy="1354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115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需要：六个自由度</a:t>
            </a:r>
          </a:p>
          <a:p>
            <a:pPr marR="0" defTabSz="914400">
              <a:lnSpc>
                <a:spcPct val="115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三个平动自由度、  </a:t>
            </a:r>
          </a:p>
          <a:p>
            <a:pPr marR="0" defTabSz="914400">
              <a:lnSpc>
                <a:spcPct val="115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三个转动自由度</a:t>
            </a:r>
          </a:p>
        </p:txBody>
      </p:sp>
      <p:grpSp>
        <p:nvGrpSpPr>
          <p:cNvPr id="3" name="组合 734224"/>
          <p:cNvGrpSpPr/>
          <p:nvPr/>
        </p:nvGrpSpPr>
        <p:grpSpPr>
          <a:xfrm>
            <a:off x="5795963" y="220663"/>
            <a:ext cx="2808287" cy="2160587"/>
            <a:chOff x="3408" y="2409"/>
            <a:chExt cx="2152" cy="1767"/>
          </a:xfrm>
        </p:grpSpPr>
        <p:grpSp>
          <p:nvGrpSpPr>
            <p:cNvPr id="91154" name="组合 734225"/>
            <p:cNvGrpSpPr/>
            <p:nvPr/>
          </p:nvGrpSpPr>
          <p:grpSpPr>
            <a:xfrm>
              <a:off x="3408" y="2409"/>
              <a:ext cx="2152" cy="1767"/>
              <a:chOff x="3408" y="2409"/>
              <a:chExt cx="2152" cy="1767"/>
            </a:xfrm>
          </p:grpSpPr>
          <p:sp>
            <p:nvSpPr>
              <p:cNvPr id="91155" name="直接连接符 734226"/>
              <p:cNvSpPr/>
              <p:nvPr/>
            </p:nvSpPr>
            <p:spPr>
              <a:xfrm>
                <a:off x="3888" y="3561"/>
                <a:ext cx="115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med" len="lg"/>
              </a:ln>
            </p:spPr>
          </p:sp>
          <p:sp>
            <p:nvSpPr>
              <p:cNvPr id="91156" name="直接连接符 734227"/>
              <p:cNvSpPr/>
              <p:nvPr/>
            </p:nvSpPr>
            <p:spPr>
              <a:xfrm flipV="1">
                <a:off x="3888" y="2649"/>
                <a:ext cx="0" cy="91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med" len="lg"/>
              </a:ln>
            </p:spPr>
          </p:sp>
          <p:sp>
            <p:nvSpPr>
              <p:cNvPr id="91157" name="直接连接符 734228"/>
              <p:cNvSpPr/>
              <p:nvPr/>
            </p:nvSpPr>
            <p:spPr>
              <a:xfrm flipH="1">
                <a:off x="3456" y="3561"/>
                <a:ext cx="432" cy="38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med" len="lg"/>
              </a:ln>
            </p:spPr>
          </p:sp>
          <p:graphicFrame>
            <p:nvGraphicFramePr>
              <p:cNvPr id="91158" name="对象 734229"/>
              <p:cNvGraphicFramePr/>
              <p:nvPr/>
            </p:nvGraphicFramePr>
            <p:xfrm>
              <a:off x="3840" y="2409"/>
              <a:ext cx="167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100" r:id="rId13" imgW="266065" imgH="291465" progId="Equation.3">
                      <p:embed/>
                    </p:oleObj>
                  </mc:Choice>
                  <mc:Fallback>
                    <p:oleObj r:id="rId13" imgW="266065" imgH="291465" progId="Equation.3">
                      <p:embed/>
                      <p:pic>
                        <p:nvPicPr>
                          <p:cNvPr id="0" name="图片 3321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3840" y="2409"/>
                            <a:ext cx="167" cy="18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1159" name="对象 734230"/>
              <p:cNvGraphicFramePr/>
              <p:nvPr/>
            </p:nvGraphicFramePr>
            <p:xfrm>
              <a:off x="5088" y="3393"/>
              <a:ext cx="183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101" r:id="rId15" imgW="292100" imgH="368300" progId="Equation.3">
                      <p:embed/>
                    </p:oleObj>
                  </mc:Choice>
                  <mc:Fallback>
                    <p:oleObj r:id="rId15" imgW="292100" imgH="368300" progId="Equation.3">
                      <p:embed/>
                      <p:pic>
                        <p:nvPicPr>
                          <p:cNvPr id="0" name="图片 3316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5088" y="3393"/>
                            <a:ext cx="183" cy="23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1160" name="对象 734231"/>
              <p:cNvGraphicFramePr/>
              <p:nvPr/>
            </p:nvGraphicFramePr>
            <p:xfrm>
              <a:off x="3408" y="3993"/>
              <a:ext cx="183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102" r:id="rId17" imgW="292100" imgH="292100" progId="Equation.3">
                      <p:embed/>
                    </p:oleObj>
                  </mc:Choice>
                  <mc:Fallback>
                    <p:oleObj r:id="rId17" imgW="292100" imgH="292100" progId="Equation.3">
                      <p:embed/>
                      <p:pic>
                        <p:nvPicPr>
                          <p:cNvPr id="0" name="图片 3317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3408" y="3993"/>
                            <a:ext cx="183" cy="18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1161" name="椭圆 734232"/>
              <p:cNvSpPr/>
              <p:nvPr/>
            </p:nvSpPr>
            <p:spPr>
              <a:xfrm>
                <a:off x="4272" y="2889"/>
                <a:ext cx="144" cy="144"/>
              </a:xfrm>
              <a:prstGeom prst="ellipse">
                <a:avLst/>
              </a:prstGeom>
              <a:gradFill rotWithShape="0">
                <a:gsLst>
                  <a:gs pos="0">
                    <a:srgbClr val="FFFF00"/>
                  </a:gs>
                  <a:gs pos="100000">
                    <a:srgbClr val="767600"/>
                  </a:gs>
                </a:gsLst>
                <a:path path="shape">
                  <a:fillToRect l="50000" t="50000" r="50000" b="50000"/>
                </a:path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graphicFrame>
            <p:nvGraphicFramePr>
              <p:cNvPr id="91162" name="对象 734233"/>
              <p:cNvGraphicFramePr/>
              <p:nvPr/>
            </p:nvGraphicFramePr>
            <p:xfrm>
              <a:off x="4560" y="2745"/>
              <a:ext cx="1000" cy="2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103" r:id="rId19" imgW="1790065" imgH="482600" progId="Equation.3">
                      <p:embed/>
                    </p:oleObj>
                  </mc:Choice>
                  <mc:Fallback>
                    <p:oleObj r:id="rId19" imgW="1790065" imgH="482600" progId="Equation.3">
                      <p:embed/>
                      <p:pic>
                        <p:nvPicPr>
                          <p:cNvPr id="0" name="图片 3320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560" y="2745"/>
                            <a:ext cx="1000" cy="26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91163" name="对象 734234"/>
            <p:cNvGraphicFramePr/>
            <p:nvPr/>
          </p:nvGraphicFramePr>
          <p:xfrm>
            <a:off x="3600" y="3312"/>
            <a:ext cx="159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104" r:id="rId21" imgW="254000" imgH="292100" progId="Equation.3">
                    <p:embed/>
                  </p:oleObj>
                </mc:Choice>
                <mc:Fallback>
                  <p:oleObj r:id="rId21" imgW="254000" imgH="292100" progId="Equation.3">
                    <p:embed/>
                    <p:pic>
                      <p:nvPicPr>
                        <p:cNvPr id="0" name="图片 3318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600" y="3312"/>
                          <a:ext cx="159" cy="1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734235"/>
          <p:cNvGrpSpPr/>
          <p:nvPr/>
        </p:nvGrpSpPr>
        <p:grpSpPr>
          <a:xfrm>
            <a:off x="0" y="3101975"/>
            <a:ext cx="3810000" cy="3476625"/>
            <a:chOff x="3120" y="480"/>
            <a:chExt cx="2400" cy="2190"/>
          </a:xfrm>
        </p:grpSpPr>
        <p:sp>
          <p:nvSpPr>
            <p:cNvPr id="91165" name="左弧形箭头 734236"/>
            <p:cNvSpPr/>
            <p:nvPr/>
          </p:nvSpPr>
          <p:spPr>
            <a:xfrm>
              <a:off x="4896" y="480"/>
              <a:ext cx="240" cy="288"/>
            </a:xfrm>
            <a:prstGeom prst="curvedRightArrow">
              <a:avLst>
                <a:gd name="adj1" fmla="val 30417"/>
                <a:gd name="adj2" fmla="val 50416"/>
                <a:gd name="adj3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91166" name="任意多边形 734237"/>
            <p:cNvSpPr/>
            <p:nvPr/>
          </p:nvSpPr>
          <p:spPr>
            <a:xfrm>
              <a:off x="4272" y="672"/>
              <a:ext cx="995" cy="960"/>
            </a:xfrm>
            <a:custGeom>
              <a:avLst/>
              <a:gdLst/>
              <a:ahLst/>
              <a:cxnLst>
                <a:cxn ang="0">
                  <a:pos x="873" y="87"/>
                </a:cxn>
                <a:cxn ang="0">
                  <a:pos x="273" y="67"/>
                </a:cxn>
                <a:cxn ang="0">
                  <a:pos x="258" y="148"/>
                </a:cxn>
                <a:cxn ang="0">
                  <a:pos x="213" y="168"/>
                </a:cxn>
                <a:cxn ang="0">
                  <a:pos x="18" y="309"/>
                </a:cxn>
                <a:cxn ang="0">
                  <a:pos x="41" y="885"/>
                </a:cxn>
                <a:cxn ang="0">
                  <a:pos x="251" y="955"/>
                </a:cxn>
                <a:cxn ang="0">
                  <a:pos x="685" y="905"/>
                </a:cxn>
                <a:cxn ang="0">
                  <a:pos x="865" y="835"/>
                </a:cxn>
                <a:cxn ang="0">
                  <a:pos x="956" y="815"/>
                </a:cxn>
                <a:cxn ang="0">
                  <a:pos x="978" y="795"/>
                </a:cxn>
                <a:cxn ang="0">
                  <a:pos x="993" y="613"/>
                </a:cxn>
                <a:cxn ang="0">
                  <a:pos x="986" y="289"/>
                </a:cxn>
                <a:cxn ang="0">
                  <a:pos x="940" y="127"/>
                </a:cxn>
                <a:cxn ang="0">
                  <a:pos x="873" y="117"/>
                </a:cxn>
                <a:cxn ang="0">
                  <a:pos x="873" y="87"/>
                </a:cxn>
              </a:cxnLst>
              <a:rect l="0" t="0" r="0" b="0"/>
              <a:pathLst>
                <a:path w="1475" h="1056">
                  <a:moveTo>
                    <a:pt x="1294" y="96"/>
                  </a:moveTo>
                  <a:cubicBezTo>
                    <a:pt x="1036" y="0"/>
                    <a:pt x="659" y="63"/>
                    <a:pt x="405" y="74"/>
                  </a:cubicBezTo>
                  <a:cubicBezTo>
                    <a:pt x="398" y="104"/>
                    <a:pt x="402" y="139"/>
                    <a:pt x="383" y="163"/>
                  </a:cubicBezTo>
                  <a:cubicBezTo>
                    <a:pt x="368" y="181"/>
                    <a:pt x="337" y="175"/>
                    <a:pt x="316" y="185"/>
                  </a:cubicBezTo>
                  <a:cubicBezTo>
                    <a:pt x="60" y="304"/>
                    <a:pt x="120" y="251"/>
                    <a:pt x="27" y="340"/>
                  </a:cubicBezTo>
                  <a:cubicBezTo>
                    <a:pt x="40" y="551"/>
                    <a:pt x="0" y="771"/>
                    <a:pt x="61" y="974"/>
                  </a:cubicBezTo>
                  <a:cubicBezTo>
                    <a:pt x="86" y="1056"/>
                    <a:pt x="338" y="1049"/>
                    <a:pt x="372" y="1051"/>
                  </a:cubicBezTo>
                  <a:cubicBezTo>
                    <a:pt x="590" y="1036"/>
                    <a:pt x="794" y="1009"/>
                    <a:pt x="1016" y="996"/>
                  </a:cubicBezTo>
                  <a:cubicBezTo>
                    <a:pt x="1126" y="1023"/>
                    <a:pt x="1181" y="952"/>
                    <a:pt x="1283" y="918"/>
                  </a:cubicBezTo>
                  <a:cubicBezTo>
                    <a:pt x="1326" y="904"/>
                    <a:pt x="1372" y="903"/>
                    <a:pt x="1417" y="896"/>
                  </a:cubicBezTo>
                  <a:cubicBezTo>
                    <a:pt x="1428" y="889"/>
                    <a:pt x="1445" y="886"/>
                    <a:pt x="1450" y="874"/>
                  </a:cubicBezTo>
                  <a:cubicBezTo>
                    <a:pt x="1475" y="812"/>
                    <a:pt x="1465" y="741"/>
                    <a:pt x="1472" y="674"/>
                  </a:cubicBezTo>
                  <a:cubicBezTo>
                    <a:pt x="1468" y="555"/>
                    <a:pt x="1468" y="437"/>
                    <a:pt x="1461" y="318"/>
                  </a:cubicBezTo>
                  <a:cubicBezTo>
                    <a:pt x="1460" y="303"/>
                    <a:pt x="1420" y="149"/>
                    <a:pt x="1394" y="140"/>
                  </a:cubicBezTo>
                  <a:cubicBezTo>
                    <a:pt x="1363" y="128"/>
                    <a:pt x="1327" y="133"/>
                    <a:pt x="1294" y="129"/>
                  </a:cubicBezTo>
                  <a:cubicBezTo>
                    <a:pt x="1282" y="93"/>
                    <a:pt x="1271" y="96"/>
                    <a:pt x="1294" y="96"/>
                  </a:cubicBezTo>
                  <a:close/>
                </a:path>
              </a:pathLst>
            </a:custGeom>
            <a:solidFill>
              <a:srgbClr val="FFCC00"/>
            </a:solidFill>
            <a:ln w="9525"/>
            <a:scene3d>
              <a:camera prst="legacyPerspectiveTopRight">
                <a:rot lat="17700000" lon="1950000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CC00"/>
              </a:extrusionClr>
            </a:sp3d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67" name="直接连接符 734238"/>
            <p:cNvSpPr/>
            <p:nvPr/>
          </p:nvSpPr>
          <p:spPr>
            <a:xfrm flipV="1">
              <a:off x="4080" y="1536"/>
              <a:ext cx="288" cy="336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168" name="直接连接符 734239"/>
            <p:cNvSpPr/>
            <p:nvPr/>
          </p:nvSpPr>
          <p:spPr>
            <a:xfrm flipV="1">
              <a:off x="4656" y="480"/>
              <a:ext cx="528" cy="672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91169" name="对象 734240"/>
            <p:cNvGraphicFramePr/>
            <p:nvPr/>
          </p:nvGraphicFramePr>
          <p:xfrm>
            <a:off x="4886" y="1066"/>
            <a:ext cx="232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105" r:id="rId23" imgW="167005" imgH="189865" progId="Equation.3">
                    <p:embed/>
                  </p:oleObj>
                </mc:Choice>
                <mc:Fallback>
                  <p:oleObj r:id="rId23" imgW="167005" imgH="189865" progId="Equation.3">
                    <p:embed/>
                    <p:pic>
                      <p:nvPicPr>
                        <p:cNvPr id="0" name="图片 3319"/>
                        <p:cNvPicPr/>
                        <p:nvPr/>
                      </p:nvPicPr>
                      <p:blipFill>
                        <a:blip r:embed="rId24">
                          <a:clrChange>
                            <a:clrFrom>
                              <a:srgbClr val="000000"/>
                            </a:clrFrom>
                            <a:clrTo>
                              <a:srgbClr val="FFFF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86" y="1066"/>
                          <a:ext cx="232" cy="2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4242" name="文本框 734241"/>
            <p:cNvSpPr txBox="1"/>
            <p:nvPr/>
          </p:nvSpPr>
          <p:spPr>
            <a:xfrm>
              <a:off x="3168" y="2064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kumimoji="0" kern="1200" cap="none" spc="0" normalizeH="0" baseline="0" noProof="1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34243" name="矩形 734242"/>
            <p:cNvSpPr/>
            <p:nvPr/>
          </p:nvSpPr>
          <p:spPr>
            <a:xfrm>
              <a:off x="4032" y="1776"/>
              <a:ext cx="27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1" u="none" strike="noStrike" kern="1200" cap="none" spc="0" normalizeH="0" baseline="0" noProof="1">
                  <a:ln>
                    <a:noFill/>
                  </a:ln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734244" name="矩形 734243"/>
            <p:cNvSpPr/>
            <p:nvPr/>
          </p:nvSpPr>
          <p:spPr>
            <a:xfrm>
              <a:off x="4368" y="1440"/>
              <a:ext cx="25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1" u="none" strike="noStrike" kern="1200" cap="none" spc="0" normalizeH="0" baseline="0" noProof="1">
                  <a:ln>
                    <a:noFill/>
                  </a:ln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734245" name="矩形 734244"/>
            <p:cNvSpPr/>
            <p:nvPr/>
          </p:nvSpPr>
          <p:spPr>
            <a:xfrm>
              <a:off x="3858" y="1411"/>
              <a:ext cx="22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1" u="none" strike="noStrike" kern="1200" cap="none" spc="0" normalizeH="0" baseline="0" noProof="1">
                  <a:ln>
                    <a:noFill/>
                  </a:ln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91174" name="直接连接符 734245"/>
            <p:cNvSpPr/>
            <p:nvPr/>
          </p:nvSpPr>
          <p:spPr>
            <a:xfrm flipV="1">
              <a:off x="4656" y="1056"/>
              <a:ext cx="480" cy="96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91175" name="直接连接符 734246"/>
            <p:cNvSpPr/>
            <p:nvPr/>
          </p:nvSpPr>
          <p:spPr>
            <a:xfrm>
              <a:off x="4704" y="1152"/>
              <a:ext cx="480" cy="192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91176" name="任意多边形 734247"/>
            <p:cNvSpPr/>
            <p:nvPr/>
          </p:nvSpPr>
          <p:spPr>
            <a:xfrm>
              <a:off x="4224" y="1728"/>
              <a:ext cx="144" cy="1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6" y="48"/>
                </a:cxn>
                <a:cxn ang="0">
                  <a:pos x="144" y="144"/>
                </a:cxn>
              </a:cxnLst>
              <a:rect l="0" t="0" r="0" b="0"/>
              <a:pathLst>
                <a:path w="144" h="144">
                  <a:moveTo>
                    <a:pt x="0" y="0"/>
                  </a:moveTo>
                  <a:cubicBezTo>
                    <a:pt x="36" y="12"/>
                    <a:pt x="72" y="24"/>
                    <a:pt x="96" y="48"/>
                  </a:cubicBezTo>
                  <a:cubicBezTo>
                    <a:pt x="120" y="72"/>
                    <a:pt x="136" y="120"/>
                    <a:pt x="144" y="144"/>
                  </a:cubicBez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77" name="任意多边形 734248"/>
            <p:cNvSpPr/>
            <p:nvPr/>
          </p:nvSpPr>
          <p:spPr>
            <a:xfrm>
              <a:off x="4080" y="1680"/>
              <a:ext cx="96" cy="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6" y="96"/>
                </a:cxn>
              </a:cxnLst>
              <a:rect l="0" t="0" r="0" b="0"/>
              <a:pathLst>
                <a:path w="96" h="48">
                  <a:moveTo>
                    <a:pt x="0" y="0"/>
                  </a:moveTo>
                  <a:cubicBezTo>
                    <a:pt x="0" y="0"/>
                    <a:pt x="48" y="24"/>
                    <a:pt x="96" y="48"/>
                  </a:cubicBez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78" name="任意多边形 734249"/>
            <p:cNvSpPr/>
            <p:nvPr/>
          </p:nvSpPr>
          <p:spPr>
            <a:xfrm>
              <a:off x="3792" y="1584"/>
              <a:ext cx="528" cy="480"/>
            </a:xfrm>
            <a:custGeom>
              <a:avLst/>
              <a:gdLst/>
              <a:ahLst/>
              <a:cxnLst>
                <a:cxn ang="0">
                  <a:pos x="528" y="0"/>
                </a:cxn>
                <a:cxn ang="0">
                  <a:pos x="480" y="240"/>
                </a:cxn>
                <a:cxn ang="0">
                  <a:pos x="288" y="432"/>
                </a:cxn>
                <a:cxn ang="0">
                  <a:pos x="0" y="480"/>
                </a:cxn>
              </a:cxnLst>
              <a:rect l="0" t="0" r="0" b="0"/>
              <a:pathLst>
                <a:path w="528" h="480">
                  <a:moveTo>
                    <a:pt x="528" y="0"/>
                  </a:moveTo>
                  <a:cubicBezTo>
                    <a:pt x="524" y="84"/>
                    <a:pt x="520" y="168"/>
                    <a:pt x="480" y="240"/>
                  </a:cubicBezTo>
                  <a:cubicBezTo>
                    <a:pt x="440" y="312"/>
                    <a:pt x="368" y="392"/>
                    <a:pt x="288" y="432"/>
                  </a:cubicBezTo>
                  <a:cubicBezTo>
                    <a:pt x="208" y="472"/>
                    <a:pt x="48" y="472"/>
                    <a:pt x="0" y="480"/>
                  </a:cubicBez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1179" name="组合 734250"/>
            <p:cNvGrpSpPr/>
            <p:nvPr/>
          </p:nvGrpSpPr>
          <p:grpSpPr>
            <a:xfrm>
              <a:off x="3120" y="768"/>
              <a:ext cx="2400" cy="1902"/>
              <a:chOff x="240" y="576"/>
              <a:chExt cx="2400" cy="1902"/>
            </a:xfrm>
          </p:grpSpPr>
          <p:sp>
            <p:nvSpPr>
              <p:cNvPr id="91180" name="直接连接符 734251"/>
              <p:cNvSpPr/>
              <p:nvPr/>
            </p:nvSpPr>
            <p:spPr>
              <a:xfrm>
                <a:off x="1200" y="1680"/>
                <a:ext cx="144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91181" name="直接连接符 734252"/>
              <p:cNvSpPr/>
              <p:nvPr/>
            </p:nvSpPr>
            <p:spPr>
              <a:xfrm flipH="1" flipV="1">
                <a:off x="1200" y="624"/>
                <a:ext cx="0" cy="104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91182" name="直接连接符 734253"/>
              <p:cNvSpPr/>
              <p:nvPr/>
            </p:nvSpPr>
            <p:spPr>
              <a:xfrm flipH="1">
                <a:off x="240" y="1672"/>
                <a:ext cx="960" cy="68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graphicFrame>
            <p:nvGraphicFramePr>
              <p:cNvPr id="91183" name="对象 734254"/>
              <p:cNvGraphicFramePr/>
              <p:nvPr/>
            </p:nvGraphicFramePr>
            <p:xfrm>
              <a:off x="384" y="2256"/>
              <a:ext cx="236" cy="2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106" r:id="rId25" imgW="167005" imgH="167005" progId="Equation.3">
                      <p:embed/>
                    </p:oleObj>
                  </mc:Choice>
                  <mc:Fallback>
                    <p:oleObj r:id="rId25" imgW="167005" imgH="167005" progId="Equation.3">
                      <p:embed/>
                      <p:pic>
                        <p:nvPicPr>
                          <p:cNvPr id="0" name="图片 3323"/>
                          <p:cNvPicPr/>
                          <p:nvPr/>
                        </p:nvPicPr>
                        <p:blipFill>
                          <a:blip r:embed="rId26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84" y="2256"/>
                            <a:ext cx="236" cy="22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1184" name="对象 734255"/>
              <p:cNvGraphicFramePr/>
              <p:nvPr/>
            </p:nvGraphicFramePr>
            <p:xfrm>
              <a:off x="864" y="576"/>
              <a:ext cx="193" cy="2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107" r:id="rId27" imgW="133985" imgH="167005" progId="Equation.3">
                      <p:embed/>
                    </p:oleObj>
                  </mc:Choice>
                  <mc:Fallback>
                    <p:oleObj r:id="rId27" imgW="133985" imgH="167005" progId="Equation.3">
                      <p:embed/>
                      <p:pic>
                        <p:nvPicPr>
                          <p:cNvPr id="0" name="图片 3325"/>
                          <p:cNvPicPr/>
                          <p:nvPr/>
                        </p:nvPicPr>
                        <p:blipFill>
                          <a:blip r:embed="rId28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864" y="576"/>
                            <a:ext cx="193" cy="22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1185" name="对象 734256"/>
              <p:cNvGraphicFramePr/>
              <p:nvPr/>
            </p:nvGraphicFramePr>
            <p:xfrm>
              <a:off x="2256" y="1728"/>
              <a:ext cx="236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108" r:id="rId29" imgW="167005" imgH="189865" progId="Equation.3">
                      <p:embed/>
                    </p:oleObj>
                  </mc:Choice>
                  <mc:Fallback>
                    <p:oleObj r:id="rId29" imgW="167005" imgH="189865" progId="Equation.3">
                      <p:embed/>
                      <p:pic>
                        <p:nvPicPr>
                          <p:cNvPr id="0" name="图片 3324"/>
                          <p:cNvPicPr/>
                          <p:nvPr/>
                        </p:nvPicPr>
                        <p:blipFill>
                          <a:blip r:embed="rId30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256" y="1728"/>
                            <a:ext cx="236" cy="26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734258" name="文本框 734257"/>
          <p:cNvSpPr txBox="1"/>
          <p:nvPr/>
        </p:nvSpPr>
        <p:spPr>
          <a:xfrm>
            <a:off x="1800225" y="3867150"/>
            <a:ext cx="4048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</a:p>
        </p:txBody>
      </p:sp>
      <p:sp>
        <p:nvSpPr>
          <p:cNvPr id="734259" name="椭圆 734258"/>
          <p:cNvSpPr/>
          <p:nvPr/>
        </p:nvSpPr>
        <p:spPr>
          <a:xfrm>
            <a:off x="2333625" y="4149725"/>
            <a:ext cx="152400" cy="15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3200" b="1" i="0" u="none" strike="noStrike" kern="1200" cap="none" spc="0" normalizeH="0" baseline="0" noProof="1">
              <a:ln>
                <a:noFill/>
              </a:ln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734260" name="右大括号 734259"/>
          <p:cNvSpPr/>
          <p:nvPr/>
        </p:nvSpPr>
        <p:spPr>
          <a:xfrm>
            <a:off x="7956550" y="3460750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734261" name="矩形 734260"/>
          <p:cNvSpPr/>
          <p:nvPr/>
        </p:nvSpPr>
        <p:spPr>
          <a:xfrm>
            <a:off x="8101013" y="3716338"/>
            <a:ext cx="9509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需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个</a:t>
            </a:r>
          </a:p>
        </p:txBody>
      </p:sp>
      <p:sp>
        <p:nvSpPr>
          <p:cNvPr id="734262" name="矩形 734261"/>
          <p:cNvSpPr/>
          <p:nvPr/>
        </p:nvSpPr>
        <p:spPr>
          <a:xfrm>
            <a:off x="8101013" y="4811713"/>
            <a:ext cx="9509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需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个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34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734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734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73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734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734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73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73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73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73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73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734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734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1" dur="500"/>
                                        <p:tgtEl>
                                          <p:spTgt spid="734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6" dur="500"/>
                                        <p:tgtEl>
                                          <p:spTgt spid="734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34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34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4211" grpId="0"/>
      <p:bldP spid="734212" grpId="0"/>
      <p:bldP spid="734214" grpId="0"/>
      <p:bldP spid="734216" grpId="0"/>
      <p:bldP spid="734221" grpId="0"/>
      <p:bldP spid="734223" grpId="0"/>
      <p:bldP spid="734224" grpId="0"/>
      <p:bldP spid="734258" grpId="0"/>
      <p:bldP spid="734259" grpId="0" animBg="1"/>
      <p:bldP spid="734261" grpId="0"/>
      <p:bldP spid="73426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48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735234" name="文本框 735233"/>
          <p:cNvSpPr txBox="1"/>
          <p:nvPr/>
        </p:nvSpPr>
        <p:spPr>
          <a:xfrm>
            <a:off x="238125" y="130175"/>
            <a:ext cx="45497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二、气体分子的自由度</a:t>
            </a:r>
          </a:p>
        </p:txBody>
      </p:sp>
      <p:sp>
        <p:nvSpPr>
          <p:cNvPr id="735235" name="文本框 735234"/>
          <p:cNvSpPr txBox="1"/>
          <p:nvPr/>
        </p:nvSpPr>
        <p:spPr>
          <a:xfrm>
            <a:off x="539750" y="720725"/>
            <a:ext cx="53276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b="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Wingdings" panose="05000000000000000000" pitchFamily="2" charset="2"/>
              </a:rPr>
              <a:t>1. </a:t>
            </a:r>
            <a:r>
              <a:rPr kumimoji="0" lang="zh-CN" altLang="en-US" sz="2400" b="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Wingdings" panose="05000000000000000000" pitchFamily="2" charset="2"/>
              </a:rPr>
              <a:t>理想气体分子</a:t>
            </a:r>
            <a:endParaRPr kumimoji="0" lang="zh-CN" altLang="en-US" sz="2400" b="0" kern="1200" cap="none" spc="0" normalizeH="0" baseline="0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35236" name="文本框 735235"/>
          <p:cNvSpPr txBox="1"/>
          <p:nvPr/>
        </p:nvSpPr>
        <p:spPr>
          <a:xfrm>
            <a:off x="533400" y="1252538"/>
            <a:ext cx="5334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1)  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单原子分子 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(He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Ne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Ar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等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</a:p>
          <a:p>
            <a:pPr marR="0" defTabSz="914400">
              <a:buClrTx/>
              <a:buSzTx/>
              <a:buFontTx/>
              <a:buNone/>
              <a:defRPr/>
            </a:pPr>
            <a:endParaRPr kumimoji="0" lang="en-US" altLang="zh-CN" sz="2400" kern="120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5237" name="文本框 735236"/>
          <p:cNvSpPr txBox="1"/>
          <p:nvPr/>
        </p:nvSpPr>
        <p:spPr>
          <a:xfrm>
            <a:off x="552450" y="2162175"/>
            <a:ext cx="675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2)   </a:t>
            </a:r>
            <a:r>
              <a:rPr kumimoji="0" lang="zh-CN" altLang="en-US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刚性双原子分子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常温下的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</a:t>
            </a:r>
            <a:r>
              <a:rPr kumimoji="0" lang="en-US" altLang="zh-CN" sz="2400" kern="1200" cap="none" spc="0" normalizeH="0" baseline="-250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</a:t>
            </a:r>
            <a:r>
              <a:rPr kumimoji="0" lang="en-US" altLang="zh-CN" sz="2400" kern="1200" cap="none" spc="0" normalizeH="0" baseline="-250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等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</a:p>
        </p:txBody>
      </p:sp>
      <p:sp>
        <p:nvSpPr>
          <p:cNvPr id="735238" name="文本框 735237"/>
          <p:cNvSpPr txBox="1"/>
          <p:nvPr/>
        </p:nvSpPr>
        <p:spPr>
          <a:xfrm>
            <a:off x="1044575" y="2809875"/>
            <a:ext cx="38623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确定质心</a:t>
            </a: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----</a:t>
            </a: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</a:t>
            </a:r>
          </a:p>
        </p:txBody>
      </p:sp>
      <p:sp>
        <p:nvSpPr>
          <p:cNvPr id="735239" name="文本框 735238"/>
          <p:cNvSpPr txBox="1"/>
          <p:nvPr/>
        </p:nvSpPr>
        <p:spPr>
          <a:xfrm>
            <a:off x="1038225" y="3386138"/>
            <a:ext cx="49736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确定联连线方位</a:t>
            </a: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----</a:t>
            </a: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</a:t>
            </a:r>
          </a:p>
        </p:txBody>
      </p:sp>
      <p:graphicFrame>
        <p:nvGraphicFramePr>
          <p:cNvPr id="735240" name="对象 735239"/>
          <p:cNvGraphicFramePr/>
          <p:nvPr/>
        </p:nvGraphicFramePr>
        <p:xfrm>
          <a:off x="1187450" y="3962400"/>
          <a:ext cx="235743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0" r:id="rId3" imgW="1327150" imgH="256540" progId="Equation.3">
                  <p:embed/>
                </p:oleObj>
              </mc:Choice>
              <mc:Fallback>
                <p:oleObj r:id="rId3" imgW="1327150" imgH="256540" progId="Equation.3">
                  <p:embed/>
                  <p:pic>
                    <p:nvPicPr>
                      <p:cNvPr id="0" name="图片 332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7450" y="3962400"/>
                        <a:ext cx="2357438" cy="446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5241" name="文本框 735240"/>
          <p:cNvSpPr txBox="1"/>
          <p:nvPr/>
        </p:nvSpPr>
        <p:spPr>
          <a:xfrm>
            <a:off x="611188" y="4752975"/>
            <a:ext cx="47529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3)  </a:t>
            </a:r>
            <a:r>
              <a:rPr kumimoji="0" lang="zh-CN" altLang="en-US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刚性多原子分子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(H</a:t>
            </a:r>
            <a:r>
              <a:rPr kumimoji="0" lang="en-US" altLang="zh-CN" sz="2400" kern="1200" cap="none" spc="0" normalizeH="0" baseline="-25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NH</a:t>
            </a:r>
            <a:r>
              <a:rPr kumimoji="0" lang="en-US" altLang="zh-CN" sz="2400" kern="1200" cap="none" spc="0" normalizeH="0" baseline="-25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)</a:t>
            </a:r>
          </a:p>
        </p:txBody>
      </p:sp>
      <p:sp>
        <p:nvSpPr>
          <p:cNvPr id="735242" name="文本框 735241"/>
          <p:cNvSpPr txBox="1"/>
          <p:nvPr/>
        </p:nvSpPr>
        <p:spPr>
          <a:xfrm>
            <a:off x="1030288" y="5257800"/>
            <a:ext cx="36449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视为自由刚体</a:t>
            </a:r>
          </a:p>
        </p:txBody>
      </p:sp>
      <p:grpSp>
        <p:nvGrpSpPr>
          <p:cNvPr id="2" name="组合 735242"/>
          <p:cNvGrpSpPr/>
          <p:nvPr/>
        </p:nvGrpSpPr>
        <p:grpSpPr>
          <a:xfrm>
            <a:off x="5846763" y="4776788"/>
            <a:ext cx="2911475" cy="1670050"/>
            <a:chOff x="3683" y="2991"/>
            <a:chExt cx="1834" cy="1052"/>
          </a:xfrm>
        </p:grpSpPr>
        <p:grpSp>
          <p:nvGrpSpPr>
            <p:cNvPr id="92172" name="组合 735243"/>
            <p:cNvGrpSpPr/>
            <p:nvPr/>
          </p:nvGrpSpPr>
          <p:grpSpPr>
            <a:xfrm>
              <a:off x="3683" y="3061"/>
              <a:ext cx="1834" cy="982"/>
              <a:chOff x="3600" y="2558"/>
              <a:chExt cx="1834" cy="982"/>
            </a:xfrm>
          </p:grpSpPr>
          <p:grpSp>
            <p:nvGrpSpPr>
              <p:cNvPr id="92173" name="组合 735244"/>
              <p:cNvGrpSpPr/>
              <p:nvPr/>
            </p:nvGrpSpPr>
            <p:grpSpPr>
              <a:xfrm>
                <a:off x="3706" y="2580"/>
                <a:ext cx="1728" cy="960"/>
                <a:chOff x="4032" y="624"/>
                <a:chExt cx="1728" cy="960"/>
              </a:xfrm>
            </p:grpSpPr>
            <p:sp>
              <p:nvSpPr>
                <p:cNvPr id="92174" name="直接连接符 735245"/>
                <p:cNvSpPr/>
                <p:nvPr/>
              </p:nvSpPr>
              <p:spPr>
                <a:xfrm>
                  <a:off x="4368" y="1344"/>
                  <a:ext cx="139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92175" name="直接连接符 735246"/>
                <p:cNvSpPr/>
                <p:nvPr/>
              </p:nvSpPr>
              <p:spPr>
                <a:xfrm flipV="1">
                  <a:off x="4368" y="624"/>
                  <a:ext cx="0" cy="72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92176" name="直接连接符 735247"/>
                <p:cNvSpPr/>
                <p:nvPr/>
              </p:nvSpPr>
              <p:spPr>
                <a:xfrm flipH="1">
                  <a:off x="4032" y="1344"/>
                  <a:ext cx="336" cy="24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735249" name="文本框 735248"/>
              <p:cNvSpPr txBox="1"/>
              <p:nvPr/>
            </p:nvSpPr>
            <p:spPr>
              <a:xfrm>
                <a:off x="5184" y="2990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400" i="1" kern="1200" cap="none" spc="0" normalizeH="0" baseline="0" noProof="1">
                    <a:solidFill>
                      <a:schemeClr val="tx1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x</a:t>
                </a:r>
              </a:p>
            </p:txBody>
          </p:sp>
          <p:sp>
            <p:nvSpPr>
              <p:cNvPr id="735250" name="文本框 735249"/>
              <p:cNvSpPr txBox="1"/>
              <p:nvPr/>
            </p:nvSpPr>
            <p:spPr>
              <a:xfrm>
                <a:off x="3696" y="2558"/>
                <a:ext cx="20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400" i="1" kern="1200" cap="none" spc="0" normalizeH="0" baseline="0" noProof="1">
                    <a:solidFill>
                      <a:schemeClr val="tx1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y</a:t>
                </a:r>
              </a:p>
            </p:txBody>
          </p:sp>
          <p:sp>
            <p:nvSpPr>
              <p:cNvPr id="735251" name="文本框 735250"/>
              <p:cNvSpPr txBox="1"/>
              <p:nvPr/>
            </p:nvSpPr>
            <p:spPr>
              <a:xfrm>
                <a:off x="3600" y="3134"/>
                <a:ext cx="19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400" i="1" kern="1200" cap="none" spc="0" normalizeH="0" baseline="0" noProof="1">
                    <a:solidFill>
                      <a:schemeClr val="tx1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z</a:t>
                </a:r>
              </a:p>
            </p:txBody>
          </p:sp>
        </p:grpSp>
        <p:grpSp>
          <p:nvGrpSpPr>
            <p:cNvPr id="92180" name="组合 735251"/>
            <p:cNvGrpSpPr/>
            <p:nvPr/>
          </p:nvGrpSpPr>
          <p:grpSpPr>
            <a:xfrm>
              <a:off x="4445" y="2991"/>
              <a:ext cx="658" cy="546"/>
              <a:chOff x="4445" y="2991"/>
              <a:chExt cx="658" cy="546"/>
            </a:xfrm>
          </p:grpSpPr>
          <p:sp>
            <p:nvSpPr>
              <p:cNvPr id="92181" name="椭圆 735252"/>
              <p:cNvSpPr/>
              <p:nvPr/>
            </p:nvSpPr>
            <p:spPr>
              <a:xfrm>
                <a:off x="4445" y="3423"/>
                <a:ext cx="74" cy="74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100000">
                    <a:srgbClr val="8F8F39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92182" name="椭圆 735253"/>
              <p:cNvSpPr/>
              <p:nvPr/>
            </p:nvSpPr>
            <p:spPr>
              <a:xfrm>
                <a:off x="5029" y="2991"/>
                <a:ext cx="74" cy="74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100000">
                    <a:srgbClr val="8F8F39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92183" name="直接连接符 735254"/>
              <p:cNvSpPr/>
              <p:nvPr/>
            </p:nvSpPr>
            <p:spPr>
              <a:xfrm flipH="1">
                <a:off x="4512" y="3047"/>
                <a:ext cx="528" cy="384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184" name="直接连接符 735255"/>
              <p:cNvSpPr/>
              <p:nvPr/>
            </p:nvSpPr>
            <p:spPr>
              <a:xfrm>
                <a:off x="4752" y="3239"/>
                <a:ext cx="192" cy="240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185" name="椭圆 735256"/>
              <p:cNvSpPr/>
              <p:nvPr/>
            </p:nvSpPr>
            <p:spPr>
              <a:xfrm>
                <a:off x="4792" y="3295"/>
                <a:ext cx="48" cy="48"/>
              </a:xfrm>
              <a:prstGeom prst="ellipse">
                <a:avLst/>
              </a:prstGeom>
              <a:solidFill>
                <a:srgbClr val="FF3300"/>
              </a:solidFill>
              <a:ln w="9525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92186" name="椭圆 735257"/>
              <p:cNvSpPr/>
              <p:nvPr/>
            </p:nvSpPr>
            <p:spPr>
              <a:xfrm>
                <a:off x="4933" y="3463"/>
                <a:ext cx="74" cy="74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100000">
                    <a:srgbClr val="8F8F39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735259" name="文本框 735258"/>
              <p:cNvSpPr txBox="1"/>
              <p:nvPr/>
            </p:nvSpPr>
            <p:spPr>
              <a:xfrm>
                <a:off x="4896" y="3121"/>
                <a:ext cx="20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400" kern="1200" cap="none" spc="0" normalizeH="0" baseline="0" noProof="1">
                    <a:solidFill>
                      <a:srgbClr val="CC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</p:grpSp>
      </p:grpSp>
      <p:sp>
        <p:nvSpPr>
          <p:cNvPr id="735260" name="矩形 735259"/>
          <p:cNvSpPr/>
          <p:nvPr/>
        </p:nvSpPr>
        <p:spPr>
          <a:xfrm>
            <a:off x="5146675" y="1238250"/>
            <a:ext cx="865188" cy="457200"/>
          </a:xfrm>
          <a:prstGeom prst="rect">
            <a:avLst/>
          </a:prstGeom>
          <a:noFill/>
          <a:ln w="38100" cap="flat" cmpd="dbl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735261" name="矩形 735260"/>
          <p:cNvSpPr/>
          <p:nvPr/>
        </p:nvSpPr>
        <p:spPr>
          <a:xfrm>
            <a:off x="7064375" y="2198688"/>
            <a:ext cx="820738" cy="457200"/>
          </a:xfrm>
          <a:prstGeom prst="rect">
            <a:avLst/>
          </a:prstGeom>
          <a:noFill/>
          <a:ln w="38100" cap="flat" cmpd="dbl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735262" name="矩形 735261"/>
          <p:cNvSpPr/>
          <p:nvPr/>
        </p:nvSpPr>
        <p:spPr>
          <a:xfrm>
            <a:off x="5089525" y="4768850"/>
            <a:ext cx="777875" cy="457200"/>
          </a:xfrm>
          <a:prstGeom prst="rect">
            <a:avLst/>
          </a:prstGeom>
          <a:noFill/>
          <a:ln w="38100" cap="flat" cmpd="dbl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735263" name="矩形 735262"/>
          <p:cNvSpPr/>
          <p:nvPr/>
        </p:nvSpPr>
        <p:spPr>
          <a:xfrm>
            <a:off x="5218113" y="1238250"/>
            <a:ext cx="7461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 = 3</a:t>
            </a:r>
          </a:p>
        </p:txBody>
      </p:sp>
      <p:sp>
        <p:nvSpPr>
          <p:cNvPr id="735264" name="矩形 735263"/>
          <p:cNvSpPr/>
          <p:nvPr/>
        </p:nvSpPr>
        <p:spPr>
          <a:xfrm>
            <a:off x="7135813" y="2170113"/>
            <a:ext cx="7461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 = 5</a:t>
            </a:r>
          </a:p>
        </p:txBody>
      </p:sp>
      <p:sp>
        <p:nvSpPr>
          <p:cNvPr id="735265" name="矩形 735264"/>
          <p:cNvSpPr/>
          <p:nvPr/>
        </p:nvSpPr>
        <p:spPr>
          <a:xfrm>
            <a:off x="5075238" y="4752975"/>
            <a:ext cx="7461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 = 6</a:t>
            </a:r>
          </a:p>
        </p:txBody>
      </p:sp>
      <p:grpSp>
        <p:nvGrpSpPr>
          <p:cNvPr id="7" name="组合 735265"/>
          <p:cNvGrpSpPr/>
          <p:nvPr/>
        </p:nvGrpSpPr>
        <p:grpSpPr>
          <a:xfrm>
            <a:off x="6011863" y="3170238"/>
            <a:ext cx="2911475" cy="1558925"/>
            <a:chOff x="3648" y="1558"/>
            <a:chExt cx="1834" cy="982"/>
          </a:xfrm>
        </p:grpSpPr>
        <p:grpSp>
          <p:nvGrpSpPr>
            <p:cNvPr id="92195" name="组合 735266"/>
            <p:cNvGrpSpPr/>
            <p:nvPr/>
          </p:nvGrpSpPr>
          <p:grpSpPr>
            <a:xfrm>
              <a:off x="3648" y="1558"/>
              <a:ext cx="1834" cy="982"/>
              <a:chOff x="3600" y="2558"/>
              <a:chExt cx="1834" cy="982"/>
            </a:xfrm>
          </p:grpSpPr>
          <p:grpSp>
            <p:nvGrpSpPr>
              <p:cNvPr id="92196" name="组合 735267"/>
              <p:cNvGrpSpPr/>
              <p:nvPr/>
            </p:nvGrpSpPr>
            <p:grpSpPr>
              <a:xfrm>
                <a:off x="3706" y="2580"/>
                <a:ext cx="1728" cy="960"/>
                <a:chOff x="4032" y="624"/>
                <a:chExt cx="1728" cy="960"/>
              </a:xfrm>
            </p:grpSpPr>
            <p:sp>
              <p:nvSpPr>
                <p:cNvPr id="92197" name="直接连接符 735268"/>
                <p:cNvSpPr/>
                <p:nvPr/>
              </p:nvSpPr>
              <p:spPr>
                <a:xfrm>
                  <a:off x="4368" y="1344"/>
                  <a:ext cx="139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92198" name="直接连接符 735269"/>
                <p:cNvSpPr/>
                <p:nvPr/>
              </p:nvSpPr>
              <p:spPr>
                <a:xfrm flipV="1">
                  <a:off x="4368" y="624"/>
                  <a:ext cx="0" cy="72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92199" name="直接连接符 735270"/>
                <p:cNvSpPr/>
                <p:nvPr/>
              </p:nvSpPr>
              <p:spPr>
                <a:xfrm flipH="1">
                  <a:off x="4032" y="1344"/>
                  <a:ext cx="336" cy="24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735272" name="文本框 735271"/>
              <p:cNvSpPr txBox="1"/>
              <p:nvPr/>
            </p:nvSpPr>
            <p:spPr>
              <a:xfrm>
                <a:off x="5184" y="2990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400" i="1" kern="1200" cap="none" spc="0" normalizeH="0" baseline="0" noProof="1">
                    <a:solidFill>
                      <a:schemeClr val="tx1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x</a:t>
                </a:r>
              </a:p>
            </p:txBody>
          </p:sp>
          <p:sp>
            <p:nvSpPr>
              <p:cNvPr id="735273" name="文本框 735272"/>
              <p:cNvSpPr txBox="1"/>
              <p:nvPr/>
            </p:nvSpPr>
            <p:spPr>
              <a:xfrm>
                <a:off x="3696" y="2558"/>
                <a:ext cx="201" cy="28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400" i="1" kern="1200" cap="none" spc="0" normalizeH="0" baseline="0" noProof="1">
                    <a:solidFill>
                      <a:schemeClr val="tx1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y</a:t>
                </a:r>
              </a:p>
            </p:txBody>
          </p:sp>
          <p:sp>
            <p:nvSpPr>
              <p:cNvPr id="735274" name="文本框 735273"/>
              <p:cNvSpPr txBox="1"/>
              <p:nvPr/>
            </p:nvSpPr>
            <p:spPr>
              <a:xfrm>
                <a:off x="3600" y="3134"/>
                <a:ext cx="19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400" i="1" kern="1200" cap="none" spc="0" normalizeH="0" baseline="0" noProof="1">
                    <a:solidFill>
                      <a:schemeClr val="tx1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z</a:t>
                </a:r>
              </a:p>
            </p:txBody>
          </p:sp>
        </p:grpSp>
        <p:grpSp>
          <p:nvGrpSpPr>
            <p:cNvPr id="92203" name="组合 735274"/>
            <p:cNvGrpSpPr/>
            <p:nvPr/>
          </p:nvGrpSpPr>
          <p:grpSpPr>
            <a:xfrm rot="-1077458">
              <a:off x="4377" y="1797"/>
              <a:ext cx="635" cy="90"/>
              <a:chOff x="839" y="2478"/>
              <a:chExt cx="635" cy="90"/>
            </a:xfrm>
          </p:grpSpPr>
          <p:sp>
            <p:nvSpPr>
              <p:cNvPr id="92204" name="椭圆 735275"/>
              <p:cNvSpPr/>
              <p:nvPr/>
            </p:nvSpPr>
            <p:spPr>
              <a:xfrm>
                <a:off x="839" y="2478"/>
                <a:ext cx="91" cy="90"/>
              </a:xfrm>
              <a:prstGeom prst="ellipse">
                <a:avLst/>
              </a:prstGeom>
              <a:solidFill>
                <a:srgbClr val="FF0000"/>
              </a:solidFill>
              <a:ln w="25400">
                <a:noFill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92205" name="椭圆 735276"/>
              <p:cNvSpPr/>
              <p:nvPr/>
            </p:nvSpPr>
            <p:spPr>
              <a:xfrm>
                <a:off x="1383" y="2478"/>
                <a:ext cx="91" cy="90"/>
              </a:xfrm>
              <a:prstGeom prst="ellipse">
                <a:avLst/>
              </a:prstGeom>
              <a:solidFill>
                <a:srgbClr val="FF0000"/>
              </a:solidFill>
              <a:ln w="25400">
                <a:noFill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92206" name="直接连接符 735277"/>
              <p:cNvSpPr/>
              <p:nvPr/>
            </p:nvSpPr>
            <p:spPr>
              <a:xfrm>
                <a:off x="884" y="2523"/>
                <a:ext cx="545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735279" name="矩形 735278"/>
          <p:cNvSpPr/>
          <p:nvPr/>
        </p:nvSpPr>
        <p:spPr>
          <a:xfrm>
            <a:off x="1055688" y="5838825"/>
            <a:ext cx="4572000" cy="858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平动自由度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---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个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转动自由度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---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个</a:t>
            </a:r>
          </a:p>
        </p:txBody>
      </p:sp>
      <p:sp>
        <p:nvSpPr>
          <p:cNvPr id="92208" name="左大括号 735279"/>
          <p:cNvSpPr/>
          <p:nvPr/>
        </p:nvSpPr>
        <p:spPr>
          <a:xfrm>
            <a:off x="4100513" y="28575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735281" name="文本框 735280"/>
          <p:cNvSpPr txBox="1"/>
          <p:nvPr/>
        </p:nvSpPr>
        <p:spPr>
          <a:xfrm>
            <a:off x="4252913" y="28575"/>
            <a:ext cx="53276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Wingdings" panose="05000000000000000000" pitchFamily="2" charset="2"/>
              </a:rPr>
              <a:t>理想气体</a:t>
            </a:r>
            <a:endParaRPr kumimoji="0" lang="zh-CN" altLang="en-US" sz="2400" b="0" kern="1200" cap="none" spc="0" normalizeH="0" baseline="0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35282" name="文本框 735281"/>
          <p:cNvSpPr txBox="1"/>
          <p:nvPr/>
        </p:nvSpPr>
        <p:spPr>
          <a:xfrm>
            <a:off x="4192588" y="530225"/>
            <a:ext cx="202723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Wingdings" panose="05000000000000000000" pitchFamily="2" charset="2"/>
              </a:rPr>
              <a:t>实际气体</a:t>
            </a:r>
            <a:endParaRPr kumimoji="0" lang="zh-CN" altLang="en-US" sz="2400" kern="1200" cap="none" spc="0" normalizeH="0" baseline="0" noProof="1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252913" y="28575"/>
            <a:ext cx="1568450" cy="457200"/>
          </a:xfrm>
          <a:prstGeom prst="rect">
            <a:avLst/>
          </a:prstGeom>
          <a:solidFill>
            <a:schemeClr val="bg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3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3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35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35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3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73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73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73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35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35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73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735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735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735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35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5235" grpId="0"/>
      <p:bldP spid="735236" grpId="0"/>
      <p:bldP spid="735237" grpId="0"/>
      <p:bldP spid="735238" grpId="0"/>
      <p:bldP spid="735239" grpId="0"/>
      <p:bldP spid="735241" grpId="0"/>
      <p:bldP spid="735242" grpId="0"/>
      <p:bldP spid="735263" grpId="0"/>
      <p:bldP spid="735264" grpId="0"/>
      <p:bldP spid="735265" grpId="0"/>
      <p:bldP spid="73527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文本框 736257"/>
          <p:cNvSpPr txBox="1"/>
          <p:nvPr/>
        </p:nvSpPr>
        <p:spPr>
          <a:xfrm>
            <a:off x="611188" y="2368550"/>
            <a:ext cx="7775575" cy="479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105000"/>
              </a:lnSpc>
              <a:buClrTx/>
              <a:buSzTx/>
              <a:buFontTx/>
              <a:buNone/>
              <a:defRPr/>
            </a:pPr>
            <a:r>
              <a:rPr kumimoji="0" lang="en-US" altLang="zh-CN" sz="2400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+mn-ea"/>
              </a:rPr>
              <a:t>2)  </a:t>
            </a:r>
            <a:r>
              <a:rPr kumimoji="0" lang="zh-CN" altLang="en-US" sz="2400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双原子分子</a:t>
            </a:r>
            <a:endParaRPr kumimoji="0" lang="zh-CN" altLang="en-US" sz="2400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736258"/>
          <p:cNvGrpSpPr/>
          <p:nvPr/>
        </p:nvGrpSpPr>
        <p:grpSpPr>
          <a:xfrm rot="1628658">
            <a:off x="5003800" y="1978025"/>
            <a:ext cx="1066800" cy="1543050"/>
            <a:chOff x="0" y="1104"/>
            <a:chExt cx="672" cy="972"/>
          </a:xfrm>
        </p:grpSpPr>
        <p:grpSp>
          <p:nvGrpSpPr>
            <p:cNvPr id="93187" name="组合 736259"/>
            <p:cNvGrpSpPr/>
            <p:nvPr/>
          </p:nvGrpSpPr>
          <p:grpSpPr>
            <a:xfrm rot="-3518552">
              <a:off x="-32" y="1539"/>
              <a:ext cx="734" cy="136"/>
              <a:chOff x="2208" y="2640"/>
              <a:chExt cx="720" cy="240"/>
            </a:xfrm>
          </p:grpSpPr>
          <p:grpSp>
            <p:nvGrpSpPr>
              <p:cNvPr id="93188" name="组合 736260"/>
              <p:cNvGrpSpPr/>
              <p:nvPr/>
            </p:nvGrpSpPr>
            <p:grpSpPr>
              <a:xfrm>
                <a:off x="2208" y="2640"/>
                <a:ext cx="384" cy="240"/>
                <a:chOff x="2208" y="2640"/>
                <a:chExt cx="384" cy="240"/>
              </a:xfrm>
            </p:grpSpPr>
            <p:sp>
              <p:nvSpPr>
                <p:cNvPr id="93189" name="椭圆 736261"/>
                <p:cNvSpPr/>
                <p:nvPr/>
              </p:nvSpPr>
              <p:spPr>
                <a:xfrm>
                  <a:off x="2208" y="2640"/>
                  <a:ext cx="96" cy="240"/>
                </a:xfrm>
                <a:prstGeom prst="ellipse">
                  <a:avLst/>
                </a:prstGeom>
                <a:noFill/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93190" name="椭圆 736262"/>
                <p:cNvSpPr/>
                <p:nvPr/>
              </p:nvSpPr>
              <p:spPr>
                <a:xfrm>
                  <a:off x="2304" y="2640"/>
                  <a:ext cx="96" cy="240"/>
                </a:xfrm>
                <a:prstGeom prst="ellipse">
                  <a:avLst/>
                </a:prstGeom>
                <a:noFill/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93191" name="椭圆 736263"/>
                <p:cNvSpPr/>
                <p:nvPr/>
              </p:nvSpPr>
              <p:spPr>
                <a:xfrm>
                  <a:off x="2256" y="2640"/>
                  <a:ext cx="96" cy="240"/>
                </a:xfrm>
                <a:prstGeom prst="ellipse">
                  <a:avLst/>
                </a:prstGeom>
                <a:noFill/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93192" name="椭圆 736264"/>
                <p:cNvSpPr/>
                <p:nvPr/>
              </p:nvSpPr>
              <p:spPr>
                <a:xfrm>
                  <a:off x="2352" y="2640"/>
                  <a:ext cx="96" cy="240"/>
                </a:xfrm>
                <a:prstGeom prst="ellipse">
                  <a:avLst/>
                </a:prstGeom>
                <a:noFill/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93193" name="椭圆 736265"/>
                <p:cNvSpPr/>
                <p:nvPr/>
              </p:nvSpPr>
              <p:spPr>
                <a:xfrm>
                  <a:off x="2400" y="2640"/>
                  <a:ext cx="96" cy="240"/>
                </a:xfrm>
                <a:prstGeom prst="ellipse">
                  <a:avLst/>
                </a:prstGeom>
                <a:noFill/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93194" name="椭圆 736266"/>
                <p:cNvSpPr/>
                <p:nvPr/>
              </p:nvSpPr>
              <p:spPr>
                <a:xfrm>
                  <a:off x="2448" y="2640"/>
                  <a:ext cx="96" cy="240"/>
                </a:xfrm>
                <a:prstGeom prst="ellipse">
                  <a:avLst/>
                </a:prstGeom>
                <a:noFill/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93195" name="椭圆 736267"/>
                <p:cNvSpPr/>
                <p:nvPr/>
              </p:nvSpPr>
              <p:spPr>
                <a:xfrm>
                  <a:off x="2496" y="2640"/>
                  <a:ext cx="96" cy="240"/>
                </a:xfrm>
                <a:prstGeom prst="ellipse">
                  <a:avLst/>
                </a:prstGeom>
                <a:noFill/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</p:grpSp>
          <p:grpSp>
            <p:nvGrpSpPr>
              <p:cNvPr id="93196" name="组合 736268"/>
              <p:cNvGrpSpPr/>
              <p:nvPr/>
            </p:nvGrpSpPr>
            <p:grpSpPr>
              <a:xfrm>
                <a:off x="2544" y="2640"/>
                <a:ext cx="384" cy="240"/>
                <a:chOff x="2208" y="2640"/>
                <a:chExt cx="384" cy="240"/>
              </a:xfrm>
            </p:grpSpPr>
            <p:sp>
              <p:nvSpPr>
                <p:cNvPr id="93197" name="椭圆 736269"/>
                <p:cNvSpPr/>
                <p:nvPr/>
              </p:nvSpPr>
              <p:spPr>
                <a:xfrm>
                  <a:off x="2208" y="2640"/>
                  <a:ext cx="96" cy="240"/>
                </a:xfrm>
                <a:prstGeom prst="ellipse">
                  <a:avLst/>
                </a:prstGeom>
                <a:noFill/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93198" name="椭圆 736270"/>
                <p:cNvSpPr/>
                <p:nvPr/>
              </p:nvSpPr>
              <p:spPr>
                <a:xfrm>
                  <a:off x="2304" y="2640"/>
                  <a:ext cx="96" cy="240"/>
                </a:xfrm>
                <a:prstGeom prst="ellipse">
                  <a:avLst/>
                </a:prstGeom>
                <a:noFill/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93199" name="椭圆 736271"/>
                <p:cNvSpPr/>
                <p:nvPr/>
              </p:nvSpPr>
              <p:spPr>
                <a:xfrm>
                  <a:off x="2256" y="2640"/>
                  <a:ext cx="96" cy="240"/>
                </a:xfrm>
                <a:prstGeom prst="ellipse">
                  <a:avLst/>
                </a:prstGeom>
                <a:noFill/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93200" name="椭圆 736272"/>
                <p:cNvSpPr/>
                <p:nvPr/>
              </p:nvSpPr>
              <p:spPr>
                <a:xfrm>
                  <a:off x="2352" y="2640"/>
                  <a:ext cx="96" cy="240"/>
                </a:xfrm>
                <a:prstGeom prst="ellipse">
                  <a:avLst/>
                </a:prstGeom>
                <a:noFill/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93201" name="椭圆 736273"/>
                <p:cNvSpPr/>
                <p:nvPr/>
              </p:nvSpPr>
              <p:spPr>
                <a:xfrm>
                  <a:off x="2400" y="2640"/>
                  <a:ext cx="96" cy="240"/>
                </a:xfrm>
                <a:prstGeom prst="ellipse">
                  <a:avLst/>
                </a:prstGeom>
                <a:noFill/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93202" name="椭圆 736274"/>
                <p:cNvSpPr/>
                <p:nvPr/>
              </p:nvSpPr>
              <p:spPr>
                <a:xfrm>
                  <a:off x="2448" y="2640"/>
                  <a:ext cx="96" cy="240"/>
                </a:xfrm>
                <a:prstGeom prst="ellipse">
                  <a:avLst/>
                </a:prstGeom>
                <a:noFill/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93203" name="椭圆 736275"/>
                <p:cNvSpPr/>
                <p:nvPr/>
              </p:nvSpPr>
              <p:spPr>
                <a:xfrm>
                  <a:off x="2496" y="2640"/>
                  <a:ext cx="96" cy="240"/>
                </a:xfrm>
                <a:prstGeom prst="ellipse">
                  <a:avLst/>
                </a:prstGeom>
                <a:noFill/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</p:grpSp>
        </p:grpSp>
        <p:sp>
          <p:nvSpPr>
            <p:cNvPr id="93204" name="椭圆 736276"/>
            <p:cNvSpPr/>
            <p:nvPr/>
          </p:nvSpPr>
          <p:spPr>
            <a:xfrm>
              <a:off x="0" y="183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8F1D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93205" name="椭圆 736277"/>
            <p:cNvSpPr/>
            <p:nvPr/>
          </p:nvSpPr>
          <p:spPr>
            <a:xfrm>
              <a:off x="432" y="110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8F1D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sp>
        <p:nvSpPr>
          <p:cNvPr id="736279" name="文本框 736278"/>
          <p:cNvSpPr txBox="1"/>
          <p:nvPr/>
        </p:nvSpPr>
        <p:spPr>
          <a:xfrm>
            <a:off x="715963" y="4189413"/>
            <a:ext cx="37179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3)  </a:t>
            </a:r>
            <a:r>
              <a:rPr kumimoji="0" lang="zh-CN" altLang="en-US" sz="2400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多原子系统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（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N 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 3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）</a:t>
            </a:r>
            <a:endParaRPr kumimoji="0" lang="zh-CN" altLang="en-US" sz="2400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36280" name="文本框 736279"/>
          <p:cNvSpPr txBox="1"/>
          <p:nvPr/>
        </p:nvSpPr>
        <p:spPr>
          <a:xfrm>
            <a:off x="4129088" y="4549775"/>
            <a:ext cx="28892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平动自由度（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736281" name="文本框 736280"/>
          <p:cNvSpPr txBox="1"/>
          <p:nvPr/>
        </p:nvSpPr>
        <p:spPr>
          <a:xfrm>
            <a:off x="4103688" y="5053013"/>
            <a:ext cx="29225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转动自由度（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736282" name="文本框 736281"/>
          <p:cNvSpPr txBox="1"/>
          <p:nvPr/>
        </p:nvSpPr>
        <p:spPr>
          <a:xfrm>
            <a:off x="3824288" y="5529263"/>
            <a:ext cx="399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-6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个振动自由度（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736283" name="文本框 736282"/>
          <p:cNvSpPr txBox="1"/>
          <p:nvPr/>
        </p:nvSpPr>
        <p:spPr>
          <a:xfrm>
            <a:off x="1120775" y="5053013"/>
            <a:ext cx="24653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最多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3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N</a:t>
            </a:r>
            <a:r>
              <a:rPr kumimoji="0" lang="zh-CN" altLang="en-US" sz="2400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个自由度</a:t>
            </a:r>
          </a:p>
        </p:txBody>
      </p:sp>
      <p:sp>
        <p:nvSpPr>
          <p:cNvPr id="736284" name="文本框 736283"/>
          <p:cNvSpPr txBox="1"/>
          <p:nvPr/>
        </p:nvSpPr>
        <p:spPr>
          <a:xfrm>
            <a:off x="179388" y="119063"/>
            <a:ext cx="786765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Wingdings" panose="05000000000000000000" pitchFamily="2" charset="2"/>
              </a:rPr>
              <a:t>2.  </a:t>
            </a:r>
            <a:r>
              <a:rPr kumimoji="0" lang="zh-CN" altLang="en-US" sz="2400" b="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Wingdings" panose="05000000000000000000" pitchFamily="2" charset="2"/>
              </a:rPr>
              <a:t>实际气体</a:t>
            </a: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----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不能看成刚性分子，因原子之间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                           还有振动</a:t>
            </a:r>
            <a:endParaRPr kumimoji="0" lang="zh-CN" altLang="en-US" sz="2400" kern="1200" cap="none" spc="0" normalizeH="0" baseline="0" noProof="1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6285" name="文本框 736284"/>
          <p:cNvSpPr txBox="1"/>
          <p:nvPr/>
        </p:nvSpPr>
        <p:spPr>
          <a:xfrm>
            <a:off x="611188" y="836613"/>
            <a:ext cx="9432925" cy="895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例：氢气（</a:t>
            </a: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</a:t>
            </a:r>
            <a:r>
              <a:rPr kumimoji="0" lang="en-US" altLang="zh-CN" sz="2400" kern="1200" cap="none" spc="0" normalizeH="0" baseline="-25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）在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高温下（</a:t>
            </a: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1000K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以上</a:t>
            </a: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  <a:p>
            <a:pPr marR="0" defTabSz="914400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氯气（</a:t>
            </a: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</a:t>
            </a:r>
            <a:r>
              <a:rPr kumimoji="0" lang="en-US" altLang="zh-CN" sz="2400" kern="1200" cap="none" spc="0" normalizeH="0" baseline="-25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）在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常温下 </a:t>
            </a:r>
          </a:p>
        </p:txBody>
      </p:sp>
      <p:sp>
        <p:nvSpPr>
          <p:cNvPr id="736286" name="左大括号 736285"/>
          <p:cNvSpPr/>
          <p:nvPr/>
        </p:nvSpPr>
        <p:spPr>
          <a:xfrm>
            <a:off x="3641725" y="4791075"/>
            <a:ext cx="215900" cy="1122363"/>
          </a:xfrm>
          <a:prstGeom prst="leftBrace">
            <a:avLst>
              <a:gd name="adj1" fmla="val 42911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736287" name="文本框 736286"/>
          <p:cNvSpPr txBox="1"/>
          <p:nvPr/>
        </p:nvSpPr>
        <p:spPr>
          <a:xfrm>
            <a:off x="1695450" y="5997575"/>
            <a:ext cx="7015163" cy="828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一个自由度对应着一个独立的坐标，代表一种独立的运动。</a:t>
            </a:r>
          </a:p>
        </p:txBody>
      </p:sp>
      <p:grpSp>
        <p:nvGrpSpPr>
          <p:cNvPr id="6" name="组合 736287"/>
          <p:cNvGrpSpPr/>
          <p:nvPr/>
        </p:nvGrpSpPr>
        <p:grpSpPr>
          <a:xfrm>
            <a:off x="6137275" y="906463"/>
            <a:ext cx="3013075" cy="792162"/>
            <a:chOff x="3833" y="663"/>
            <a:chExt cx="1898" cy="499"/>
          </a:xfrm>
        </p:grpSpPr>
        <p:sp>
          <p:nvSpPr>
            <p:cNvPr id="736289" name="矩形 736288"/>
            <p:cNvSpPr/>
            <p:nvPr/>
          </p:nvSpPr>
          <p:spPr>
            <a:xfrm>
              <a:off x="3878" y="754"/>
              <a:ext cx="185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仿宋_GB2312" panose="02010609030101010101" pitchFamily="49" charset="-122"/>
                  <a:ea typeface="仿宋_GB2312" panose="02010609030101010101" pitchFamily="49" charset="-122"/>
                  <a:cs typeface="+mn-cs"/>
                </a:rPr>
                <a:t>两原子之间就有振动</a:t>
              </a:r>
            </a:p>
          </p:txBody>
        </p:sp>
        <p:sp>
          <p:nvSpPr>
            <p:cNvPr id="93217" name="右大括号 736289"/>
            <p:cNvSpPr/>
            <p:nvPr/>
          </p:nvSpPr>
          <p:spPr>
            <a:xfrm>
              <a:off x="3833" y="663"/>
              <a:ext cx="51" cy="499"/>
            </a:xfrm>
            <a:prstGeom prst="rightBrace">
              <a:avLst>
                <a:gd name="adj1" fmla="val 80765"/>
                <a:gd name="adj2" fmla="val 50000"/>
              </a:avLst>
            </a:pr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sp>
        <p:nvSpPr>
          <p:cNvPr id="736291" name="矩形 736290"/>
          <p:cNvSpPr/>
          <p:nvPr/>
        </p:nvSpPr>
        <p:spPr>
          <a:xfrm>
            <a:off x="6940550" y="1617663"/>
            <a:ext cx="2178050" cy="493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---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弹性谐振子</a:t>
            </a:r>
          </a:p>
        </p:txBody>
      </p:sp>
      <p:sp>
        <p:nvSpPr>
          <p:cNvPr id="736292" name="横卷形 736291"/>
          <p:cNvSpPr/>
          <p:nvPr/>
        </p:nvSpPr>
        <p:spPr>
          <a:xfrm>
            <a:off x="311150" y="6115050"/>
            <a:ext cx="1296988" cy="649288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CCFFFF"/>
              </a:gs>
              <a:gs pos="50000">
                <a:schemeClr val="bg1"/>
              </a:gs>
              <a:gs pos="100000">
                <a:srgbClr val="CCFFFF"/>
              </a:gs>
            </a:gsLst>
            <a:lin ang="5400000" scaled="1"/>
            <a:tileRect/>
          </a:gradFill>
          <a:ln w="9525" cap="flat" cmpd="sng">
            <a:solidFill>
              <a:srgbClr val="3399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结论</a:t>
            </a:r>
          </a:p>
        </p:txBody>
      </p:sp>
      <p:sp>
        <p:nvSpPr>
          <p:cNvPr id="736293" name="文本框 736292"/>
          <p:cNvSpPr txBox="1"/>
          <p:nvPr/>
        </p:nvSpPr>
        <p:spPr>
          <a:xfrm>
            <a:off x="1044575" y="2863850"/>
            <a:ext cx="3862388" cy="384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8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决定质心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----3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</a:t>
            </a:r>
          </a:p>
        </p:txBody>
      </p:sp>
      <p:sp>
        <p:nvSpPr>
          <p:cNvPr id="736294" name="文本框 736293"/>
          <p:cNvSpPr txBox="1"/>
          <p:nvPr/>
        </p:nvSpPr>
        <p:spPr>
          <a:xfrm>
            <a:off x="1038225" y="3322638"/>
            <a:ext cx="4973638" cy="384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8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确定联连线方位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----2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</a:t>
            </a:r>
          </a:p>
        </p:txBody>
      </p:sp>
      <p:sp>
        <p:nvSpPr>
          <p:cNvPr id="736295" name="矩形 736294"/>
          <p:cNvSpPr/>
          <p:nvPr/>
        </p:nvSpPr>
        <p:spPr>
          <a:xfrm>
            <a:off x="6011863" y="3105150"/>
            <a:ext cx="7461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 = 6</a:t>
            </a:r>
          </a:p>
        </p:txBody>
      </p:sp>
      <p:sp>
        <p:nvSpPr>
          <p:cNvPr id="736296" name="矩形 736295"/>
          <p:cNvSpPr/>
          <p:nvPr/>
        </p:nvSpPr>
        <p:spPr>
          <a:xfrm>
            <a:off x="1016000" y="3709988"/>
            <a:ext cx="4419600" cy="4762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确定两原子之间相对位置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----1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11188" y="1804988"/>
            <a:ext cx="2205038" cy="477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105000"/>
              </a:lnSpc>
              <a:buClrTx/>
              <a:buSzTx/>
              <a:buFontTx/>
              <a:buNone/>
              <a:defRPr/>
            </a:pPr>
            <a:r>
              <a:rPr kumimoji="0" lang="en-US" altLang="zh-CN" sz="2400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+mn-ea"/>
              </a:rPr>
              <a:t>1)  </a:t>
            </a:r>
            <a:r>
              <a:rPr kumimoji="0" lang="zh-CN" altLang="en-US" sz="2400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+mn-ea"/>
              </a:rPr>
              <a:t>单</a:t>
            </a:r>
            <a:r>
              <a:rPr kumimoji="0" lang="zh-CN" altLang="en-US" sz="2400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原子分子</a:t>
            </a:r>
            <a:endParaRPr kumimoji="0" lang="zh-CN" altLang="en-US" sz="2400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95600" y="1806575"/>
            <a:ext cx="7461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 =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36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36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73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736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736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736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36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736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736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736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73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736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736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0" dur="500"/>
                                        <p:tgtEl>
                                          <p:spTgt spid="736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5" dur="500"/>
                                        <p:tgtEl>
                                          <p:spTgt spid="736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6258" grpId="0"/>
      <p:bldP spid="736279" grpId="0"/>
      <p:bldP spid="736280" grpId="0"/>
      <p:bldP spid="736281" grpId="0"/>
      <p:bldP spid="736282" grpId="0"/>
      <p:bldP spid="736283" grpId="0"/>
      <p:bldP spid="736285" grpId="0"/>
      <p:bldP spid="736287" grpId="0"/>
      <p:bldP spid="736291" grpId="0"/>
      <p:bldP spid="736292" grpId="0" bldLvl="0" animBg="1"/>
      <p:bldP spid="736293" grpId="0"/>
      <p:bldP spid="736294" grpId="0"/>
      <p:bldP spid="736295" grpId="0"/>
      <p:bldP spid="736296" grpId="0"/>
      <p:bldP spid="3" grpId="0"/>
      <p:bldP spid="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50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94210" name="文本框 737281"/>
          <p:cNvSpPr txBox="1"/>
          <p:nvPr/>
        </p:nvSpPr>
        <p:spPr>
          <a:xfrm>
            <a:off x="457200" y="188913"/>
            <a:ext cx="4906963" cy="576262"/>
          </a:xfrm>
          <a:prstGeom prst="rect">
            <a:avLst/>
          </a:prstGeom>
          <a:gradFill rotWithShape="0">
            <a:gsLst>
              <a:gs pos="0">
                <a:srgbClr val="CC3300"/>
              </a:gs>
              <a:gs pos="50000">
                <a:srgbClr val="FFFF00"/>
              </a:gs>
              <a:gs pos="100000">
                <a:srgbClr val="CC3300"/>
              </a:gs>
            </a:gsLst>
            <a:lin ang="5400000" scaled="1"/>
            <a:tileRect/>
          </a:gradFill>
          <a:ln w="57150" cap="flat" cmpd="thinThick">
            <a:pattFill prst="pct40">
              <a:fgClr>
                <a:srgbClr val="CC3300"/>
              </a:fgClr>
              <a:bgClr>
                <a:srgbClr val="FFFFFF"/>
              </a:bgClr>
            </a:patt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三、能量按自由度均分定理</a:t>
            </a:r>
          </a:p>
        </p:txBody>
      </p:sp>
      <p:sp>
        <p:nvSpPr>
          <p:cNvPr id="737283" name="文本框 737282"/>
          <p:cNvSpPr txBox="1"/>
          <p:nvPr/>
        </p:nvSpPr>
        <p:spPr>
          <a:xfrm>
            <a:off x="457200" y="908050"/>
            <a:ext cx="74676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条件：温度为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的平衡态  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1. 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每一平动自由度具有相同的平均动能</a:t>
            </a:r>
            <a:r>
              <a:rPr kumimoji="0" lang="zh-CN" altLang="en-US" sz="2400" kern="1200" cap="none" spc="0" normalizeH="0" baseline="0" noProof="1">
                <a:solidFill>
                  <a:srgbClr val="3333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</a:p>
        </p:txBody>
      </p:sp>
      <p:graphicFrame>
        <p:nvGraphicFramePr>
          <p:cNvPr id="737284" name="对象 737283"/>
          <p:cNvGraphicFramePr/>
          <p:nvPr/>
        </p:nvGraphicFramePr>
        <p:xfrm>
          <a:off x="857250" y="2065338"/>
          <a:ext cx="1889125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9" r:id="rId3" imgW="892175" imgH="457200" progId="Equation.3">
                  <p:embed/>
                </p:oleObj>
              </mc:Choice>
              <mc:Fallback>
                <p:oleObj r:id="rId3" imgW="892175" imgH="457200" progId="Equation.3">
                  <p:embed/>
                  <p:pic>
                    <p:nvPicPr>
                      <p:cNvPr id="0" name="图片 334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7250" y="2065338"/>
                        <a:ext cx="1889125" cy="858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285" name="对象 737284"/>
          <p:cNvGraphicFramePr/>
          <p:nvPr/>
        </p:nvGraphicFramePr>
        <p:xfrm>
          <a:off x="2700338" y="2052638"/>
          <a:ext cx="4103687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0" r:id="rId5" imgW="2498090" imgH="457200" progId="Equation.3">
                  <p:embed/>
                </p:oleObj>
              </mc:Choice>
              <mc:Fallback>
                <p:oleObj r:id="rId5" imgW="2498090" imgH="457200" progId="Equation.3">
                  <p:embed/>
                  <p:pic>
                    <p:nvPicPr>
                      <p:cNvPr id="0" name="图片 334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00338" y="2052638"/>
                        <a:ext cx="4103687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286" name="对象 737285"/>
          <p:cNvGraphicFramePr/>
          <p:nvPr/>
        </p:nvGraphicFramePr>
        <p:xfrm>
          <a:off x="862013" y="3141663"/>
          <a:ext cx="397986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1" r:id="rId7" imgW="2419985" imgH="457200" progId="Equation.3">
                  <p:embed/>
                </p:oleObj>
              </mc:Choice>
              <mc:Fallback>
                <p:oleObj r:id="rId7" imgW="2419985" imgH="457200" progId="Equation.3">
                  <p:embed/>
                  <p:pic>
                    <p:nvPicPr>
                      <p:cNvPr id="0" name="图片 334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62013" y="3141663"/>
                        <a:ext cx="3979862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287" name="对象 737286"/>
          <p:cNvGraphicFramePr/>
          <p:nvPr/>
        </p:nvGraphicFramePr>
        <p:xfrm>
          <a:off x="1116013" y="4076700"/>
          <a:ext cx="801687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2" r:id="rId9" imgW="401320" imgH="457200" progId="Equation.3">
                  <p:embed/>
                </p:oleObj>
              </mc:Choice>
              <mc:Fallback>
                <p:oleObj r:id="rId9" imgW="401320" imgH="457200" progId="Equation.3">
                  <p:embed/>
                  <p:pic>
                    <p:nvPicPr>
                      <p:cNvPr id="0" name="图片 334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16013" y="4076700"/>
                        <a:ext cx="801687" cy="884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288" name="文本框 737287"/>
          <p:cNvSpPr txBox="1"/>
          <p:nvPr/>
        </p:nvSpPr>
        <p:spPr>
          <a:xfrm>
            <a:off x="1835150" y="4241800"/>
            <a:ext cx="508000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u="sng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均匀地分</a:t>
            </a:r>
            <a:r>
              <a:rPr kumimoji="0" lang="zh-CN" altLang="en-US" sz="2400" u="sng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配在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每一个平动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自由度上。</a:t>
            </a:r>
            <a:endParaRPr kumimoji="0" lang="zh-CN" altLang="en-US" sz="2400" kern="120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37289" name="对象 737288"/>
          <p:cNvGraphicFramePr/>
          <p:nvPr/>
        </p:nvGraphicFramePr>
        <p:xfrm>
          <a:off x="6011863" y="1292225"/>
          <a:ext cx="74295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3" r:id="rId11" imgW="401320" imgH="457200" progId="Equation.3">
                  <p:embed/>
                </p:oleObj>
              </mc:Choice>
              <mc:Fallback>
                <p:oleObj r:id="rId11" imgW="401320" imgH="457200" progId="Equation.3">
                  <p:embed/>
                  <p:pic>
                    <p:nvPicPr>
                      <p:cNvPr id="0" name="图片 334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11863" y="1292225"/>
                        <a:ext cx="742950" cy="765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290" name="矩形 737289"/>
          <p:cNvSpPr/>
          <p:nvPr/>
        </p:nvSpPr>
        <p:spPr>
          <a:xfrm>
            <a:off x="611188" y="5181600"/>
            <a:ext cx="4176713" cy="403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MT Extra" panose="05050102010205020202" pitchFamily="18" charset="2"/>
              </a:rPr>
              <a:t>2.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平衡态   各自由度平权</a:t>
            </a:r>
          </a:p>
        </p:txBody>
      </p:sp>
      <p:sp>
        <p:nvSpPr>
          <p:cNvPr id="737291" name="文本框 737290"/>
          <p:cNvSpPr txBox="1"/>
          <p:nvPr/>
        </p:nvSpPr>
        <p:spPr>
          <a:xfrm>
            <a:off x="468313" y="5949950"/>
            <a:ext cx="7924800" cy="403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8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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每一转动自由度  每一振动自由度也具有</a:t>
            </a:r>
            <a:endParaRPr kumimoji="0" lang="zh-CN" altLang="en-US" sz="2400" kern="120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37292" name="对象 737291"/>
          <p:cNvGraphicFramePr/>
          <p:nvPr/>
        </p:nvGraphicFramePr>
        <p:xfrm>
          <a:off x="6443663" y="5805488"/>
          <a:ext cx="74295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4" r:id="rId13" imgW="401320" imgH="457200" progId="Equation.3">
                  <p:embed/>
                </p:oleObj>
              </mc:Choice>
              <mc:Fallback>
                <p:oleObj r:id="rId13" imgW="401320" imgH="457200" progId="Equation.3">
                  <p:embed/>
                  <p:pic>
                    <p:nvPicPr>
                      <p:cNvPr id="0" name="图片 334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43663" y="5805488"/>
                        <a:ext cx="742950" cy="765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293" name="矩形 737292"/>
          <p:cNvSpPr/>
          <p:nvPr/>
        </p:nvSpPr>
        <p:spPr>
          <a:xfrm>
            <a:off x="7164388" y="5940425"/>
            <a:ext cx="17160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的平均动能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3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73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73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37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3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73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3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737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737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37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737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283" grpId="0" build="p"/>
      <p:bldP spid="737288" grpId="0"/>
      <p:bldP spid="737290" grpId="0"/>
      <p:bldP spid="737291" grpId="0" build="p"/>
      <p:bldP spid="73729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51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802818" name="文本框 802817"/>
          <p:cNvSpPr txBox="1"/>
          <p:nvPr/>
        </p:nvSpPr>
        <p:spPr>
          <a:xfrm>
            <a:off x="468313" y="693738"/>
            <a:ext cx="7924800" cy="403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8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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每一转动自由度  每一振动自由度也具有</a:t>
            </a:r>
            <a:endParaRPr kumimoji="0" lang="zh-CN" altLang="en-US" sz="2400" kern="120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5235" name="对象 802818"/>
          <p:cNvGraphicFramePr/>
          <p:nvPr/>
        </p:nvGraphicFramePr>
        <p:xfrm>
          <a:off x="6443663" y="549275"/>
          <a:ext cx="74295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02" r:id="rId3" imgW="401320" imgH="457200" progId="Equation.3">
                  <p:embed/>
                </p:oleObj>
              </mc:Choice>
              <mc:Fallback>
                <p:oleObj r:id="rId3" imgW="401320" imgH="457200" progId="Equation.3">
                  <p:embed/>
                  <p:pic>
                    <p:nvPicPr>
                      <p:cNvPr id="0" name="图片 335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CC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43663" y="549275"/>
                        <a:ext cx="742950" cy="765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802819"/>
          <p:cNvGrpSpPr/>
          <p:nvPr/>
        </p:nvGrpSpPr>
        <p:grpSpPr>
          <a:xfrm>
            <a:off x="468313" y="1268413"/>
            <a:ext cx="8458200" cy="1439862"/>
            <a:chOff x="295" y="1797"/>
            <a:chExt cx="5328" cy="907"/>
          </a:xfrm>
        </p:grpSpPr>
        <p:sp>
          <p:nvSpPr>
            <p:cNvPr id="802821" name="矩形 802820"/>
            <p:cNvSpPr/>
            <p:nvPr/>
          </p:nvSpPr>
          <p:spPr>
            <a:xfrm>
              <a:off x="295" y="1797"/>
              <a:ext cx="5328" cy="907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32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02822" name="文本框 802821"/>
            <p:cNvSpPr txBox="1"/>
            <p:nvPr/>
          </p:nvSpPr>
          <p:spPr>
            <a:xfrm>
              <a:off x="333" y="1829"/>
              <a:ext cx="5210" cy="754"/>
            </a:xfrm>
            <a:prstGeom prst="rect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bg1"/>
                </a:gs>
                <a:gs pos="100000">
                  <a:srgbClr val="CCFFFF"/>
                </a:gs>
              </a:gsLst>
              <a:lin ang="5400000" scaled="1"/>
              <a:tileRect/>
            </a:gradFill>
            <a:ln w="9525" cap="flat" cmpd="sng">
              <a:solidFill>
                <a:srgbClr val="0066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marR="0" defTabSz="914400">
                <a:lnSpc>
                  <a:spcPct val="150000"/>
                </a:lnSpc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rgbClr val="CC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幼圆" panose="02010509060101010101" pitchFamily="49" charset="-122"/>
                  <a:ea typeface="幼圆" panose="02010509060101010101" pitchFamily="49" charset="-122"/>
                  <a:cs typeface="+mn-cs"/>
                </a:rPr>
                <a:t>能量均分定理</a:t>
              </a:r>
              <a:r>
                <a:rPr kumimoji="0" lang="en-US" altLang="zh-CN" sz="2400" kern="1200" cap="none" spc="0" normalizeH="0" baseline="0" noProof="1">
                  <a:solidFill>
                    <a:srgbClr val="CC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幼圆" panose="02010509060101010101" pitchFamily="49" charset="-122"/>
                  <a:ea typeface="幼圆" panose="02010509060101010101" pitchFamily="49" charset="-122"/>
                  <a:cs typeface="+mn-cs"/>
                </a:rPr>
                <a:t>----</a:t>
              </a: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幼圆" panose="02010509060101010101" pitchFamily="49" charset="-122"/>
                  <a:ea typeface="幼圆" panose="02010509060101010101" pitchFamily="49" charset="-122"/>
                  <a:cs typeface="+mn-cs"/>
                </a:rPr>
                <a:t>在温度为</a:t>
              </a:r>
              <a:r>
                <a:rPr kumimoji="0" lang="en-US" altLang="zh-CN" sz="2400" i="1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幼圆" panose="02010509060101010101" pitchFamily="49" charset="-122"/>
                  <a:ea typeface="幼圆" panose="02010509060101010101" pitchFamily="49" charset="-122"/>
                  <a:cs typeface="+mn-cs"/>
                </a:rPr>
                <a:t>T </a:t>
              </a: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幼圆" panose="02010509060101010101" pitchFamily="49" charset="-122"/>
                  <a:ea typeface="幼圆" panose="02010509060101010101" pitchFamily="49" charset="-122"/>
                  <a:cs typeface="+mn-cs"/>
                </a:rPr>
                <a:t>的平衡态下  物质 </a:t>
              </a:r>
              <a:r>
                <a:rPr kumimoji="0" lang="en-US" altLang="zh-CN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幼圆" panose="02010509060101010101" pitchFamily="49" charset="-122"/>
                  <a:ea typeface="幼圆" panose="02010509060101010101" pitchFamily="49" charset="-122"/>
                  <a:cs typeface="+mn-cs"/>
                </a:rPr>
                <a:t>(</a:t>
              </a: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幼圆" panose="02010509060101010101" pitchFamily="49" charset="-122"/>
                  <a:ea typeface="幼圆" panose="02010509060101010101" pitchFamily="49" charset="-122"/>
                  <a:cs typeface="+mn-cs"/>
                </a:rPr>
                <a:t>气 液 固</a:t>
              </a:r>
              <a:r>
                <a:rPr kumimoji="0" lang="en-US" altLang="zh-CN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幼圆" panose="02010509060101010101" pitchFamily="49" charset="-122"/>
                  <a:ea typeface="幼圆" panose="02010509060101010101" pitchFamily="49" charset="-122"/>
                  <a:cs typeface="+mn-cs"/>
                </a:rPr>
                <a:t>)</a:t>
              </a:r>
            </a:p>
            <a:p>
              <a:pPr marR="0" defTabSz="914400">
                <a:lnSpc>
                  <a:spcPct val="150000"/>
                </a:lnSpc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幼圆" panose="02010509060101010101" pitchFamily="49" charset="-122"/>
                  <a:ea typeface="幼圆" panose="02010509060101010101" pitchFamily="49" charset="-122"/>
                  <a:cs typeface="+mn-cs"/>
                </a:rPr>
                <a:t>分子的每个自由度都具有相同的平均动能</a:t>
              </a:r>
            </a:p>
          </p:txBody>
        </p:sp>
        <p:graphicFrame>
          <p:nvGraphicFramePr>
            <p:cNvPr id="95239" name="对象 802822"/>
            <p:cNvGraphicFramePr/>
            <p:nvPr/>
          </p:nvGraphicFramePr>
          <p:xfrm>
            <a:off x="3906" y="2291"/>
            <a:ext cx="510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03" r:id="rId5" imgW="434975" imgH="256540" progId="Equation.DSMT4">
                    <p:embed/>
                  </p:oleObj>
                </mc:Choice>
                <mc:Fallback>
                  <p:oleObj r:id="rId5" imgW="434975" imgH="256540" progId="Equation.DSMT4">
                    <p:embed/>
                    <p:pic>
                      <p:nvPicPr>
                        <p:cNvPr id="0" name="图片 3351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06" y="2291"/>
                          <a:ext cx="510" cy="2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02824" name="矩形 802823"/>
          <p:cNvSpPr/>
          <p:nvPr/>
        </p:nvSpPr>
        <p:spPr>
          <a:xfrm>
            <a:off x="611188" y="188913"/>
            <a:ext cx="4176713" cy="403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MT Extra" panose="05050102010205020202" pitchFamily="18" charset="2"/>
              </a:rPr>
              <a:t>2.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平衡态   各自由度平权</a:t>
            </a:r>
          </a:p>
        </p:txBody>
      </p:sp>
      <p:sp>
        <p:nvSpPr>
          <p:cNvPr id="802825" name="矩形 802824"/>
          <p:cNvSpPr/>
          <p:nvPr/>
        </p:nvSpPr>
        <p:spPr>
          <a:xfrm>
            <a:off x="7164388" y="684213"/>
            <a:ext cx="17160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的平均动能</a:t>
            </a:r>
          </a:p>
        </p:txBody>
      </p:sp>
      <p:sp>
        <p:nvSpPr>
          <p:cNvPr id="802826" name="文本框 802825"/>
          <p:cNvSpPr txBox="1"/>
          <p:nvPr/>
        </p:nvSpPr>
        <p:spPr>
          <a:xfrm>
            <a:off x="3851275" y="2565400"/>
            <a:ext cx="49482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 eaLnBrk="0" hangingPunct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----</a:t>
            </a:r>
            <a:r>
              <a:rPr kumimoji="0" lang="zh-CN" altLang="en-US" sz="28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分子热运动动能的统计规律</a:t>
            </a:r>
          </a:p>
        </p:txBody>
      </p:sp>
      <p:grpSp>
        <p:nvGrpSpPr>
          <p:cNvPr id="3" name="组合 802826"/>
          <p:cNvGrpSpPr/>
          <p:nvPr/>
        </p:nvGrpSpPr>
        <p:grpSpPr>
          <a:xfrm>
            <a:off x="584200" y="3141663"/>
            <a:ext cx="6384925" cy="822325"/>
            <a:chOff x="232" y="2718"/>
            <a:chExt cx="4022" cy="518"/>
          </a:xfrm>
        </p:grpSpPr>
        <p:sp>
          <p:nvSpPr>
            <p:cNvPr id="802828" name="文本框 802827"/>
            <p:cNvSpPr txBox="1"/>
            <p:nvPr/>
          </p:nvSpPr>
          <p:spPr>
            <a:xfrm>
              <a:off x="232" y="2718"/>
              <a:ext cx="4022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如某种分子有      个</a:t>
              </a:r>
              <a:r>
                <a:rPr kumimoji="0" lang="zh-CN" altLang="en-US" sz="2400" kern="1200" cap="none" spc="0" normalizeH="0" baseline="0" noProof="1"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平动</a:t>
              </a: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自由度，   个</a:t>
              </a:r>
              <a:r>
                <a:rPr kumimoji="0" lang="zh-CN" altLang="en-US" sz="2400" kern="1200" cap="none" spc="0" normalizeH="0" baseline="0" noProof="1"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转动</a:t>
              </a: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自由</a:t>
              </a:r>
            </a:p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度       个</a:t>
              </a:r>
              <a:r>
                <a:rPr kumimoji="0" lang="zh-CN" altLang="en-US" sz="2400" kern="1200" cap="none" spc="0" normalizeH="0" baseline="0" noProof="1"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振动</a:t>
              </a: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自由度，则平衡态下分子具有：</a:t>
              </a:r>
            </a:p>
          </p:txBody>
        </p:sp>
        <p:graphicFrame>
          <p:nvGraphicFramePr>
            <p:cNvPr id="95245" name="对象 802828"/>
            <p:cNvGraphicFramePr/>
            <p:nvPr/>
          </p:nvGraphicFramePr>
          <p:xfrm>
            <a:off x="570" y="3005"/>
            <a:ext cx="141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04" r:id="rId7" imgW="114300" imgH="139700" progId="Equation.3">
                    <p:embed/>
                  </p:oleObj>
                </mc:Choice>
                <mc:Fallback>
                  <p:oleObj r:id="rId7" imgW="114300" imgH="139700" progId="Equation.3">
                    <p:embed/>
                    <p:pic>
                      <p:nvPicPr>
                        <p:cNvPr id="0" name="图片 335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70" y="3005"/>
                          <a:ext cx="141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5246" name="对象 802829"/>
            <p:cNvGraphicFramePr/>
            <p:nvPr/>
          </p:nvGraphicFramePr>
          <p:xfrm>
            <a:off x="1526" y="2750"/>
            <a:ext cx="148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05" r:id="rId9" imgW="100330" imgH="178435" progId="Equation.3">
                    <p:embed/>
                  </p:oleObj>
                </mc:Choice>
                <mc:Fallback>
                  <p:oleObj r:id="rId9" imgW="100330" imgH="178435" progId="Equation.3">
                    <p:embed/>
                    <p:pic>
                      <p:nvPicPr>
                        <p:cNvPr id="0" name="图片 3353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CC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26" y="2750"/>
                          <a:ext cx="148" cy="2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5247" name="对象 802830"/>
            <p:cNvGraphicFramePr/>
            <p:nvPr/>
          </p:nvGraphicFramePr>
          <p:xfrm>
            <a:off x="3061" y="2726"/>
            <a:ext cx="225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06" r:id="rId11" imgW="133985" imgH="144780" progId="Equation.3">
                    <p:embed/>
                  </p:oleObj>
                </mc:Choice>
                <mc:Fallback>
                  <p:oleObj r:id="rId11" imgW="133985" imgH="144780" progId="Equation.3">
                    <p:embed/>
                    <p:pic>
                      <p:nvPicPr>
                        <p:cNvPr id="0" name="图片 3349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CC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61" y="2726"/>
                          <a:ext cx="225" cy="2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802831"/>
          <p:cNvGrpSpPr/>
          <p:nvPr/>
        </p:nvGrpSpPr>
        <p:grpSpPr>
          <a:xfrm>
            <a:off x="684213" y="4076700"/>
            <a:ext cx="2255837" cy="1316038"/>
            <a:chOff x="326" y="2832"/>
            <a:chExt cx="1690" cy="1200"/>
          </a:xfrm>
        </p:grpSpPr>
        <p:sp>
          <p:nvSpPr>
            <p:cNvPr id="802833" name="文本框 802832"/>
            <p:cNvSpPr txBox="1"/>
            <p:nvPr/>
          </p:nvSpPr>
          <p:spPr>
            <a:xfrm>
              <a:off x="326" y="2893"/>
              <a:ext cx="1515" cy="41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rgbClr val="3333C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平均平动动能</a:t>
              </a:r>
            </a:p>
          </p:txBody>
        </p:sp>
        <p:graphicFrame>
          <p:nvGraphicFramePr>
            <p:cNvPr id="95250" name="对象 802833"/>
            <p:cNvGraphicFramePr/>
            <p:nvPr/>
          </p:nvGraphicFramePr>
          <p:xfrm>
            <a:off x="864" y="3216"/>
            <a:ext cx="682" cy="7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07" r:id="rId13" imgW="401320" imgH="457200" progId="Equation.3">
                    <p:embed/>
                  </p:oleObj>
                </mc:Choice>
                <mc:Fallback>
                  <p:oleObj r:id="rId13" imgW="401320" imgH="457200" progId="Equation.3">
                    <p:embed/>
                    <p:pic>
                      <p:nvPicPr>
                        <p:cNvPr id="0" name="图片 3350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CC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64" y="3216"/>
                          <a:ext cx="682" cy="7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251" name="矩形 802834"/>
            <p:cNvSpPr/>
            <p:nvPr/>
          </p:nvSpPr>
          <p:spPr>
            <a:xfrm>
              <a:off x="336" y="2832"/>
              <a:ext cx="1680" cy="1200"/>
            </a:xfrm>
            <a:prstGeom prst="rect">
              <a:avLst/>
            </a:prstGeom>
            <a:noFill/>
            <a:ln w="76200" cap="flat" cmpd="tri">
              <a:solidFill>
                <a:srgbClr val="00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5" name="组合 802835"/>
          <p:cNvGrpSpPr/>
          <p:nvPr/>
        </p:nvGrpSpPr>
        <p:grpSpPr>
          <a:xfrm>
            <a:off x="3717925" y="4083050"/>
            <a:ext cx="2149475" cy="1316038"/>
            <a:chOff x="2064" y="2832"/>
            <a:chExt cx="1680" cy="1200"/>
          </a:xfrm>
        </p:grpSpPr>
        <p:sp>
          <p:nvSpPr>
            <p:cNvPr id="802837" name="文本框 802836"/>
            <p:cNvSpPr txBox="1"/>
            <p:nvPr/>
          </p:nvSpPr>
          <p:spPr>
            <a:xfrm>
              <a:off x="2064" y="2899"/>
              <a:ext cx="1581" cy="41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rgbClr val="3333C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平均转动动能</a:t>
              </a:r>
            </a:p>
          </p:txBody>
        </p:sp>
        <p:graphicFrame>
          <p:nvGraphicFramePr>
            <p:cNvPr id="95254" name="对象 802837"/>
            <p:cNvGraphicFramePr/>
            <p:nvPr/>
          </p:nvGraphicFramePr>
          <p:xfrm>
            <a:off x="2544" y="3216"/>
            <a:ext cx="682" cy="7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08" r:id="rId15" imgW="401320" imgH="457200" progId="Equation.3">
                    <p:embed/>
                  </p:oleObj>
                </mc:Choice>
                <mc:Fallback>
                  <p:oleObj r:id="rId15" imgW="401320" imgH="457200" progId="Equation.3">
                    <p:embed/>
                    <p:pic>
                      <p:nvPicPr>
                        <p:cNvPr id="0" name="图片 3354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CC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544" y="3216"/>
                          <a:ext cx="682" cy="7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255" name="矩形 802838"/>
            <p:cNvSpPr/>
            <p:nvPr/>
          </p:nvSpPr>
          <p:spPr>
            <a:xfrm>
              <a:off x="2064" y="2832"/>
              <a:ext cx="1680" cy="1200"/>
            </a:xfrm>
            <a:prstGeom prst="rect">
              <a:avLst/>
            </a:prstGeom>
            <a:noFill/>
            <a:ln w="76200" cap="flat" cmpd="tri">
              <a:solidFill>
                <a:srgbClr val="00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6" name="组合 802839"/>
          <p:cNvGrpSpPr/>
          <p:nvPr/>
        </p:nvGrpSpPr>
        <p:grpSpPr>
          <a:xfrm>
            <a:off x="6599238" y="4083050"/>
            <a:ext cx="2149475" cy="1330325"/>
            <a:chOff x="3888" y="2832"/>
            <a:chExt cx="1680" cy="1213"/>
          </a:xfrm>
        </p:grpSpPr>
        <p:sp>
          <p:nvSpPr>
            <p:cNvPr id="802841" name="文本框 802840"/>
            <p:cNvSpPr txBox="1"/>
            <p:nvPr/>
          </p:nvSpPr>
          <p:spPr>
            <a:xfrm>
              <a:off x="3888" y="2899"/>
              <a:ext cx="1581" cy="41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rgbClr val="3333C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平均振动动能</a:t>
              </a:r>
            </a:p>
          </p:txBody>
        </p:sp>
        <p:graphicFrame>
          <p:nvGraphicFramePr>
            <p:cNvPr id="95258" name="对象 802841"/>
            <p:cNvGraphicFramePr/>
            <p:nvPr/>
          </p:nvGraphicFramePr>
          <p:xfrm>
            <a:off x="4416" y="3264"/>
            <a:ext cx="682" cy="7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09" r:id="rId17" imgW="401320" imgH="457200" progId="Equation.3">
                    <p:embed/>
                  </p:oleObj>
                </mc:Choice>
                <mc:Fallback>
                  <p:oleObj r:id="rId17" imgW="401320" imgH="457200" progId="Equation.3">
                    <p:embed/>
                    <p:pic>
                      <p:nvPicPr>
                        <p:cNvPr id="0" name="图片 3348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CC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16" y="3264"/>
                          <a:ext cx="682" cy="7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259" name="矩形 802842"/>
            <p:cNvSpPr/>
            <p:nvPr/>
          </p:nvSpPr>
          <p:spPr>
            <a:xfrm>
              <a:off x="3888" y="2832"/>
              <a:ext cx="1680" cy="1200"/>
            </a:xfrm>
            <a:prstGeom prst="rect">
              <a:avLst/>
            </a:prstGeom>
            <a:noFill/>
            <a:ln w="76200" cap="flat" cmpd="tri">
              <a:solidFill>
                <a:srgbClr val="00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graphicFrame>
        <p:nvGraphicFramePr>
          <p:cNvPr id="95260" name="对象 802843"/>
          <p:cNvGraphicFramePr/>
          <p:nvPr/>
        </p:nvGraphicFramePr>
        <p:xfrm>
          <a:off x="4356100" y="5700713"/>
          <a:ext cx="4376738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10" r:id="rId19" imgW="1884680" imgH="457200" progId="Equation.3">
                  <p:embed/>
                </p:oleObj>
              </mc:Choice>
              <mc:Fallback>
                <p:oleObj r:id="rId19" imgW="1884680" imgH="457200" progId="Equation.3">
                  <p:embed/>
                  <p:pic>
                    <p:nvPicPr>
                      <p:cNvPr id="0" name="图片 3361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56100" y="5700713"/>
                        <a:ext cx="4376738" cy="93186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CCFFFF"/>
                          </a:gs>
                          <a:gs pos="50000">
                            <a:schemeClr val="bg1"/>
                          </a:gs>
                          <a:gs pos="100000">
                            <a:srgbClr val="CCFFFF"/>
                          </a:gs>
                        </a:gsLst>
                        <a:lin ang="5400000" scaled="1"/>
                        <a:tileRect/>
                      </a:gradFill>
                      <a:ln w="57150" cap="flat" cmpd="sng">
                        <a:pattFill prst="pct70">
                          <a:fgClr>
                            <a:srgbClr val="009999"/>
                          </a:fgClr>
                          <a:bgClr>
                            <a:srgbClr val="FFFFFF"/>
                          </a:bgClr>
                        </a:patt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2845" name="文本框 802844"/>
          <p:cNvSpPr txBox="1"/>
          <p:nvPr/>
        </p:nvSpPr>
        <p:spPr>
          <a:xfrm>
            <a:off x="755650" y="5916613"/>
            <a:ext cx="3429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 eaLnBrk="0" hangingPunct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每个分子的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平均动能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02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02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95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2826" grpId="0"/>
      <p:bldP spid="802845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52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739330" name="文本框 739329"/>
          <p:cNvSpPr txBox="1"/>
          <p:nvPr/>
        </p:nvSpPr>
        <p:spPr>
          <a:xfrm>
            <a:off x="466725" y="1787525"/>
            <a:ext cx="8167688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注意</a:t>
            </a:r>
            <a:r>
              <a:rPr kumimoji="0" lang="zh-CN" altLang="en-US" sz="2400" b="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：对应分子的  一个振动自由度，</a:t>
            </a:r>
            <a:r>
              <a:rPr kumimoji="0" lang="zh-CN" altLang="en-US" sz="2400" b="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除有一份振动的动能外，还有一份振动势能。</a:t>
            </a:r>
          </a:p>
        </p:txBody>
      </p:sp>
      <p:graphicFrame>
        <p:nvGraphicFramePr>
          <p:cNvPr id="96259" name="对象 739330"/>
          <p:cNvGraphicFramePr/>
          <p:nvPr/>
        </p:nvGraphicFramePr>
        <p:xfrm>
          <a:off x="3779838" y="382588"/>
          <a:ext cx="4376737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0" r:id="rId3" imgW="1884680" imgH="457200" progId="Equation.3">
                  <p:embed/>
                </p:oleObj>
              </mc:Choice>
              <mc:Fallback>
                <p:oleObj r:id="rId3" imgW="1884680" imgH="457200" progId="Equation.3">
                  <p:embed/>
                  <p:pic>
                    <p:nvPicPr>
                      <p:cNvPr id="0" name="图片 335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79838" y="382588"/>
                        <a:ext cx="4376737" cy="93186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CCFFFF"/>
                          </a:gs>
                          <a:gs pos="50000">
                            <a:schemeClr val="bg1"/>
                          </a:gs>
                          <a:gs pos="100000">
                            <a:srgbClr val="CCFFFF"/>
                          </a:gs>
                        </a:gsLst>
                        <a:lin ang="5400000" scaled="1"/>
                        <a:tileRect/>
                      </a:gradFill>
                      <a:ln w="57150" cap="flat" cmpd="sng">
                        <a:pattFill prst="pct70">
                          <a:fgClr>
                            <a:srgbClr val="66CCFF"/>
                          </a:fgClr>
                          <a:bgClr>
                            <a:srgbClr val="FFFFFF"/>
                          </a:bgClr>
                        </a:patt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9332" name="文本框 739331"/>
          <p:cNvSpPr txBox="1"/>
          <p:nvPr/>
        </p:nvSpPr>
        <p:spPr>
          <a:xfrm>
            <a:off x="466725" y="598488"/>
            <a:ext cx="3429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 eaLnBrk="0" hangingPunct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每个分子的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平均动能</a:t>
            </a:r>
          </a:p>
        </p:txBody>
      </p:sp>
      <p:sp>
        <p:nvSpPr>
          <p:cNvPr id="739333" name="矩形 739332"/>
          <p:cNvSpPr>
            <a:spLocks noChangeArrowheads="1"/>
          </p:cNvSpPr>
          <p:nvPr/>
        </p:nvSpPr>
        <p:spPr bwMode="auto">
          <a:xfrm>
            <a:off x="3779838" y="2867025"/>
            <a:ext cx="4537075" cy="935038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50000">
                <a:schemeClr val="bg1"/>
              </a:gs>
              <a:gs pos="100000">
                <a:srgbClr val="CCECFF"/>
              </a:gs>
            </a:gsLst>
            <a:lin ang="5400000" scaled="1"/>
          </a:gradFill>
          <a:ln w="57150" cmpd="thinThick">
            <a:solidFill>
              <a:srgbClr val="66CCFF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graphicFrame>
        <p:nvGraphicFramePr>
          <p:cNvPr id="739334" name="对象 739333"/>
          <p:cNvGraphicFramePr/>
          <p:nvPr/>
        </p:nvGraphicFramePr>
        <p:xfrm>
          <a:off x="2713038" y="4629150"/>
          <a:ext cx="2290762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1" r:id="rId5" imgW="1148715" imgH="479425" progId="Equation.3">
                  <p:embed/>
                </p:oleObj>
              </mc:Choice>
              <mc:Fallback>
                <p:oleObj r:id="rId5" imgW="1148715" imgH="479425" progId="Equation.3">
                  <p:embed/>
                  <p:pic>
                    <p:nvPicPr>
                      <p:cNvPr id="0" name="图片 336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13038" y="4629150"/>
                        <a:ext cx="2290762" cy="947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9335" name="文本框 739334"/>
          <p:cNvSpPr txBox="1"/>
          <p:nvPr/>
        </p:nvSpPr>
        <p:spPr>
          <a:xfrm>
            <a:off x="331788" y="4872038"/>
            <a:ext cx="2381250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0" kern="1200" cap="none" spc="0" normalizeH="0" baseline="0" noProof="1">
                <a:solidFill>
                  <a:srgbClr val="3333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对理想气体刚性分子（</a:t>
            </a:r>
            <a:r>
              <a:rPr kumimoji="0" lang="en-US" altLang="zh-CN" sz="2400" b="0" kern="1200" cap="none" spc="0" normalizeH="0" baseline="0" noProof="1">
                <a:solidFill>
                  <a:srgbClr val="3333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s=0)</a:t>
            </a:r>
            <a:r>
              <a:rPr kumimoji="0" lang="zh-CN" altLang="en-US" sz="2400" b="0" kern="1200" cap="none" spc="0" normalizeH="0" baseline="0" noProof="1">
                <a:solidFill>
                  <a:srgbClr val="3333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：</a:t>
            </a:r>
          </a:p>
        </p:txBody>
      </p:sp>
      <p:sp>
        <p:nvSpPr>
          <p:cNvPr id="739336" name="文本框 739335"/>
          <p:cNvSpPr txBox="1"/>
          <p:nvPr/>
        </p:nvSpPr>
        <p:spPr>
          <a:xfrm>
            <a:off x="466725" y="3043238"/>
            <a:ext cx="3429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 eaLnBrk="0" hangingPunct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每个分子的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平均总能量</a:t>
            </a:r>
          </a:p>
        </p:txBody>
      </p:sp>
      <p:graphicFrame>
        <p:nvGraphicFramePr>
          <p:cNvPr id="739337" name="对象 739336"/>
          <p:cNvGraphicFramePr/>
          <p:nvPr/>
        </p:nvGraphicFramePr>
        <p:xfrm>
          <a:off x="3756025" y="2938463"/>
          <a:ext cx="18827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2" r:id="rId7" imgW="858520" imgH="256540" progId="Equation.3">
                  <p:embed/>
                </p:oleObj>
              </mc:Choice>
              <mc:Fallback>
                <p:oleObj r:id="rId7" imgW="858520" imgH="256540" progId="Equation.3">
                  <p:embed/>
                  <p:pic>
                    <p:nvPicPr>
                      <p:cNvPr id="0" name="图片 336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56025" y="2938463"/>
                        <a:ext cx="1882775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38" name="对象 739337"/>
          <p:cNvGraphicFramePr/>
          <p:nvPr/>
        </p:nvGraphicFramePr>
        <p:xfrm>
          <a:off x="5686425" y="2852738"/>
          <a:ext cx="2517775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3" r:id="rId9" imgW="1204595" imgH="457200" progId="Equation.3">
                  <p:embed/>
                </p:oleObj>
              </mc:Choice>
              <mc:Fallback>
                <p:oleObj r:id="rId9" imgW="1204595" imgH="457200" progId="Equation.3">
                  <p:embed/>
                  <p:pic>
                    <p:nvPicPr>
                      <p:cNvPr id="0" name="图片 335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686425" y="2852738"/>
                        <a:ext cx="2517775" cy="906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9339" name="文本框 739338"/>
          <p:cNvSpPr txBox="1"/>
          <p:nvPr/>
        </p:nvSpPr>
        <p:spPr>
          <a:xfrm>
            <a:off x="5324475" y="4135438"/>
            <a:ext cx="1219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单原子</a:t>
            </a:r>
            <a:endParaRPr lang="zh-CN" altLang="en-US" sz="24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9340" name="文本框 739339"/>
          <p:cNvSpPr txBox="1"/>
          <p:nvPr/>
        </p:nvSpPr>
        <p:spPr>
          <a:xfrm>
            <a:off x="5324475" y="4897438"/>
            <a:ext cx="1219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双原子</a:t>
            </a:r>
          </a:p>
        </p:txBody>
      </p:sp>
      <p:sp>
        <p:nvSpPr>
          <p:cNvPr id="739341" name="文本框 739340"/>
          <p:cNvSpPr txBox="1"/>
          <p:nvPr/>
        </p:nvSpPr>
        <p:spPr>
          <a:xfrm>
            <a:off x="5324475" y="5583238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多原子</a:t>
            </a:r>
            <a:endParaRPr lang="zh-CN" altLang="en-US" sz="24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39342" name="对象 739341"/>
          <p:cNvGraphicFramePr/>
          <p:nvPr/>
        </p:nvGraphicFramePr>
        <p:xfrm>
          <a:off x="6659563" y="4135438"/>
          <a:ext cx="1646237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4" r:id="rId11" imgW="814070" imgH="212090" progId="Equation.3">
                  <p:embed/>
                </p:oleObj>
              </mc:Choice>
              <mc:Fallback>
                <p:oleObj r:id="rId11" imgW="814070" imgH="212090" progId="Equation.3">
                  <p:embed/>
                  <p:pic>
                    <p:nvPicPr>
                      <p:cNvPr id="0" name="图片 335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659563" y="4135438"/>
                        <a:ext cx="1646237" cy="420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43" name="对象 739342"/>
          <p:cNvGraphicFramePr/>
          <p:nvPr/>
        </p:nvGraphicFramePr>
        <p:xfrm>
          <a:off x="6667500" y="4872038"/>
          <a:ext cx="17208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5" r:id="rId13" imgW="814070" imgH="212090" progId="Equation.3">
                  <p:embed/>
                </p:oleObj>
              </mc:Choice>
              <mc:Fallback>
                <p:oleObj r:id="rId13" imgW="814070" imgH="212090" progId="Equation.3">
                  <p:embed/>
                  <p:pic>
                    <p:nvPicPr>
                      <p:cNvPr id="0" name="图片 336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667500" y="4872038"/>
                        <a:ext cx="1720850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44" name="对象 739343"/>
          <p:cNvGraphicFramePr/>
          <p:nvPr/>
        </p:nvGraphicFramePr>
        <p:xfrm>
          <a:off x="6605588" y="5584825"/>
          <a:ext cx="16065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6" r:id="rId15" imgW="802640" imgH="256540" progId="Equation.3">
                  <p:embed/>
                </p:oleObj>
              </mc:Choice>
              <mc:Fallback>
                <p:oleObj r:id="rId15" imgW="802640" imgH="256540" progId="Equation.3">
                  <p:embed/>
                  <p:pic>
                    <p:nvPicPr>
                      <p:cNvPr id="0" name="图片 336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605588" y="5584825"/>
                        <a:ext cx="160655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9345" name="左大括号 739344"/>
          <p:cNvSpPr/>
          <p:nvPr/>
        </p:nvSpPr>
        <p:spPr>
          <a:xfrm>
            <a:off x="5083175" y="4186238"/>
            <a:ext cx="360363" cy="1871662"/>
          </a:xfrm>
          <a:prstGeom prst="leftBrace">
            <a:avLst>
              <a:gd name="adj1" fmla="val 42873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zh-CN" sz="2400" dirty="0">
              <a:solidFill>
                <a:srgbClr val="FFFF00"/>
              </a:solidFill>
              <a:latin typeface="仿宋_GB2312" panose="02010609030101010101" pitchFamily="49" charset="-122"/>
              <a:ea typeface="仿宋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39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9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73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73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739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39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39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39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39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39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39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39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39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39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39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9330" grpId="0"/>
      <p:bldP spid="739335" grpId="0"/>
      <p:bldP spid="739336" grpId="0" build="p"/>
      <p:bldP spid="739339" grpId="0" build="p"/>
      <p:bldP spid="739340" grpId="0" build="p"/>
      <p:bldP spid="739341" grpId="0" build="p"/>
      <p:bldP spid="73934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53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740354" name="文本框 740353"/>
          <p:cNvSpPr txBox="1"/>
          <p:nvPr/>
        </p:nvSpPr>
        <p:spPr>
          <a:xfrm>
            <a:off x="179388" y="173038"/>
            <a:ext cx="9144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四、理想气体的内能</a:t>
            </a:r>
            <a:r>
              <a:rPr kumimoji="0" lang="zh-CN" altLang="en-US" sz="2400" kern="1200" cap="none" spc="0" normalizeH="0" baseline="0" noProof="1">
                <a:solidFill>
                  <a:srgbClr val="3333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    </a:t>
            </a:r>
            <a:endParaRPr kumimoji="0" lang="zh-CN" altLang="en-US" sz="2400" kern="1200" cap="none" spc="0" normalizeH="0" baseline="0" noProof="1">
              <a:solidFill>
                <a:srgbClr val="3333CC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0355" name="文本框 740354"/>
          <p:cNvSpPr txBox="1"/>
          <p:nvPr/>
        </p:nvSpPr>
        <p:spPr>
          <a:xfrm>
            <a:off x="1979613" y="792163"/>
            <a:ext cx="7086600" cy="10144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所有分子平均总能与    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分子间作用的平均势能之总和</a:t>
            </a:r>
          </a:p>
        </p:txBody>
      </p:sp>
      <p:graphicFrame>
        <p:nvGraphicFramePr>
          <p:cNvPr id="740358" name="对象 740357"/>
          <p:cNvGraphicFramePr/>
          <p:nvPr/>
        </p:nvGraphicFramePr>
        <p:xfrm>
          <a:off x="4340225" y="3522663"/>
          <a:ext cx="1370013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5" r:id="rId3" imgW="713740" imgH="401320" progId="Equation.3">
                  <p:embed/>
                </p:oleObj>
              </mc:Choice>
              <mc:Fallback>
                <p:oleObj r:id="rId3" imgW="713740" imgH="401320" progId="Equation.3">
                  <p:embed/>
                  <p:pic>
                    <p:nvPicPr>
                      <p:cNvPr id="0" name="图片 336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40225" y="3522663"/>
                        <a:ext cx="1370013" cy="803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0359" name="文本框 740358"/>
          <p:cNvSpPr txBox="1"/>
          <p:nvPr/>
        </p:nvSpPr>
        <p:spPr>
          <a:xfrm>
            <a:off x="742950" y="765175"/>
            <a:ext cx="2819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3333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热力学系统内能：</a:t>
            </a:r>
          </a:p>
        </p:txBody>
      </p:sp>
      <p:sp>
        <p:nvSpPr>
          <p:cNvPr id="740360" name="文本框 740359"/>
          <p:cNvSpPr txBox="1"/>
          <p:nvPr/>
        </p:nvSpPr>
        <p:spPr>
          <a:xfrm>
            <a:off x="700088" y="2970213"/>
            <a:ext cx="5943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气体内能：分子平均总能</a:t>
            </a:r>
          </a:p>
        </p:txBody>
      </p:sp>
      <p:graphicFrame>
        <p:nvGraphicFramePr>
          <p:cNvPr id="740361" name="对象 740360"/>
          <p:cNvGraphicFramePr/>
          <p:nvPr/>
        </p:nvGraphicFramePr>
        <p:xfrm>
          <a:off x="5637213" y="3370263"/>
          <a:ext cx="2820987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6" r:id="rId5" imgW="1460500" imgH="490855" progId="Equation.DSMT4">
                  <p:embed/>
                </p:oleObj>
              </mc:Choice>
              <mc:Fallback>
                <p:oleObj r:id="rId5" imgW="1460500" imgH="490855" progId="Equation.DSMT4">
                  <p:embed/>
                  <p:pic>
                    <p:nvPicPr>
                      <p:cNvPr id="0" name="图片 336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37213" y="3370263"/>
                        <a:ext cx="2820987" cy="893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0362" name="文本框 740361"/>
          <p:cNvSpPr txBox="1"/>
          <p:nvPr/>
        </p:nvSpPr>
        <p:spPr>
          <a:xfrm>
            <a:off x="827088" y="2046288"/>
            <a:ext cx="796925" cy="45720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通常</a:t>
            </a:r>
          </a:p>
        </p:txBody>
      </p:sp>
      <p:graphicFrame>
        <p:nvGraphicFramePr>
          <p:cNvPr id="740363" name="对象 740362"/>
          <p:cNvGraphicFramePr/>
          <p:nvPr/>
        </p:nvGraphicFramePr>
        <p:xfrm>
          <a:off x="1924050" y="2057400"/>
          <a:ext cx="221615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7" r:id="rId7" imgW="902970" imgH="234315" progId="Equation.DSMT4">
                  <p:embed/>
                </p:oleObj>
              </mc:Choice>
              <mc:Fallback>
                <p:oleObj r:id="rId7" imgW="902970" imgH="234315" progId="Equation.DSMT4">
                  <p:embed/>
                  <p:pic>
                    <p:nvPicPr>
                      <p:cNvPr id="0" name="图片 336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24050" y="2057400"/>
                        <a:ext cx="2216150" cy="506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0364" name="文本框 740363"/>
          <p:cNvSpPr txBox="1"/>
          <p:nvPr/>
        </p:nvSpPr>
        <p:spPr>
          <a:xfrm>
            <a:off x="823913" y="4456113"/>
            <a:ext cx="5211763" cy="1630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理想气体分子系统</a:t>
            </a:r>
            <a:r>
              <a:rPr kumimoji="0" lang="zh-CN" altLang="en-US" sz="28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（</a:t>
            </a:r>
            <a:r>
              <a:rPr kumimoji="0" lang="zh-CN" altLang="en-US" sz="28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rPr>
              <a:t>刚性，</a:t>
            </a:r>
            <a:r>
              <a:rPr kumimoji="0" lang="en-US" altLang="zh-CN" sz="28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s=0</a:t>
            </a:r>
            <a:r>
              <a:rPr kumimoji="0" lang="en-US" altLang="zh-CN" sz="28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)</a:t>
            </a:r>
            <a:endParaRPr kumimoji="0" lang="en-US" altLang="zh-CN" sz="2400" kern="1200" cap="none" spc="0" normalizeH="0" baseline="0" noProof="1">
              <a:solidFill>
                <a:srgbClr val="3333CC"/>
              </a:solidFill>
              <a:effectLst>
                <a:outerShdw blurRad="38100" dist="38100" dir="2700000">
                  <a:srgbClr val="C0C0C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endParaRPr kumimoji="0" lang="zh-CN" altLang="en-US" sz="2400" kern="1200" cap="none" spc="0" normalizeH="0" baseline="0" noProof="1">
              <a:solidFill>
                <a:srgbClr val="3333CC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3333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所以内能为</a:t>
            </a:r>
          </a:p>
        </p:txBody>
      </p:sp>
      <p:graphicFrame>
        <p:nvGraphicFramePr>
          <p:cNvPr id="740365" name="对象 740364"/>
          <p:cNvGraphicFramePr/>
          <p:nvPr/>
        </p:nvGraphicFramePr>
        <p:xfrm>
          <a:off x="2889250" y="5392738"/>
          <a:ext cx="5016500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8" r:id="rId9" imgW="2498090" imgH="490855" progId="Equation.DSMT4">
                  <p:embed/>
                </p:oleObj>
              </mc:Choice>
              <mc:Fallback>
                <p:oleObj r:id="rId9" imgW="2498090" imgH="490855" progId="Equation.DSMT4">
                  <p:embed/>
                  <p:pic>
                    <p:nvPicPr>
                      <p:cNvPr id="0" name="图片 336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89250" y="5392738"/>
                        <a:ext cx="5016500" cy="966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0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4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740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40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40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740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740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500"/>
                                        <p:tgtEl>
                                          <p:spTgt spid="740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4">
                                            <p:txEl>
                                              <p:char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740364">
                                            <p:txEl>
                                              <p:char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740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0355" grpId="0"/>
      <p:bldP spid="740359" grpId="0"/>
      <p:bldP spid="740360" grpId="0"/>
      <p:bldP spid="740362" grpId="0"/>
      <p:bldP spid="740364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54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98306" name="矩形 741377"/>
          <p:cNvSpPr/>
          <p:nvPr/>
        </p:nvSpPr>
        <p:spPr>
          <a:xfrm>
            <a:off x="2554288" y="3065463"/>
            <a:ext cx="4105275" cy="935037"/>
          </a:xfrm>
          <a:prstGeom prst="rect">
            <a:avLst/>
          </a:prstGeom>
          <a:gradFill rotWithShape="0">
            <a:gsLst>
              <a:gs pos="0">
                <a:srgbClr val="CC3300"/>
              </a:gs>
              <a:gs pos="50000">
                <a:srgbClr val="FFFF00"/>
              </a:gs>
              <a:gs pos="100000">
                <a:srgbClr val="CC3300"/>
              </a:gs>
            </a:gsLst>
            <a:lin ang="5400000" scaled="1"/>
            <a:tileRect/>
          </a:gradFill>
          <a:ln w="57150" cap="flat" cmpd="thinThick">
            <a:pattFill prst="pct70">
              <a:fgClr>
                <a:schemeClr val="tx1"/>
              </a:fgClr>
              <a:bgClr>
                <a:srgbClr val="FFFFFF"/>
              </a:bgClr>
            </a:patt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98307" name="矩形 741378"/>
          <p:cNvSpPr/>
          <p:nvPr/>
        </p:nvSpPr>
        <p:spPr>
          <a:xfrm>
            <a:off x="2554288" y="1841500"/>
            <a:ext cx="4105275" cy="1079500"/>
          </a:xfrm>
          <a:prstGeom prst="rect">
            <a:avLst/>
          </a:prstGeom>
          <a:gradFill rotWithShape="0">
            <a:gsLst>
              <a:gs pos="0">
                <a:srgbClr val="CC3300"/>
              </a:gs>
              <a:gs pos="50000">
                <a:srgbClr val="FFFF00"/>
              </a:gs>
              <a:gs pos="100000">
                <a:srgbClr val="CC3300"/>
              </a:gs>
            </a:gsLst>
            <a:lin ang="5400000" scaled="1"/>
            <a:tileRect/>
          </a:gradFill>
          <a:ln w="38100" cap="flat" cmpd="dbl">
            <a:pattFill prst="pct75">
              <a:fgClr>
                <a:schemeClr val="tx1"/>
              </a:fgClr>
              <a:bgClr>
                <a:srgbClr val="FFFFFF"/>
              </a:bgClr>
            </a:patt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741380" name="文本框 741379"/>
          <p:cNvSpPr txBox="1"/>
          <p:nvPr/>
        </p:nvSpPr>
        <p:spPr>
          <a:xfrm>
            <a:off x="179388" y="0"/>
            <a:ext cx="8713788" cy="1630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刚性理想气体分子系统</a:t>
            </a:r>
            <a:r>
              <a:rPr kumimoji="0" lang="zh-CN" altLang="en-US" sz="28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（</a:t>
            </a:r>
            <a:r>
              <a:rPr kumimoji="0" lang="en-US" altLang="zh-CN" sz="28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s=0</a:t>
            </a:r>
            <a:r>
              <a:rPr kumimoji="0" lang="en-US" altLang="zh-CN" sz="28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)</a:t>
            </a:r>
            <a:endParaRPr kumimoji="0" lang="en-US" altLang="zh-CN" sz="2400" kern="1200" cap="none" spc="0" normalizeH="0" baseline="0" noProof="1">
              <a:solidFill>
                <a:srgbClr val="3333CC"/>
              </a:solidFill>
              <a:effectLst>
                <a:outerShdw blurRad="38100" dist="38100" dir="2700000">
                  <a:srgbClr val="C0C0C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endParaRPr kumimoji="0" lang="zh-CN" altLang="en-US" sz="2400" kern="1200" cap="none" spc="0" normalizeH="0" baseline="0" noProof="1">
              <a:solidFill>
                <a:srgbClr val="3333CC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3333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所以内能为</a:t>
            </a:r>
          </a:p>
        </p:txBody>
      </p:sp>
      <p:graphicFrame>
        <p:nvGraphicFramePr>
          <p:cNvPr id="741381" name="对象 741380"/>
          <p:cNvGraphicFramePr/>
          <p:nvPr/>
        </p:nvGraphicFramePr>
        <p:xfrm>
          <a:off x="2516188" y="1871663"/>
          <a:ext cx="2936875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47" r:id="rId3" imgW="1739900" imgH="457200" progId="Equation.3">
                  <p:embed/>
                </p:oleObj>
              </mc:Choice>
              <mc:Fallback>
                <p:oleObj r:id="rId3" imgW="1739900" imgH="457200" progId="Equation.3">
                  <p:embed/>
                  <p:pic>
                    <p:nvPicPr>
                      <p:cNvPr id="0" name="图片 337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6188" y="1871663"/>
                        <a:ext cx="2936875" cy="941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382" name="对象 741381"/>
          <p:cNvGraphicFramePr/>
          <p:nvPr/>
        </p:nvGraphicFramePr>
        <p:xfrm>
          <a:off x="5349875" y="1912938"/>
          <a:ext cx="1233488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48" r:id="rId5" imgW="591185" imgH="457200" progId="Equation.3">
                  <p:embed/>
                </p:oleObj>
              </mc:Choice>
              <mc:Fallback>
                <p:oleObj r:id="rId5" imgW="591185" imgH="457200" progId="Equation.3">
                  <p:embed/>
                  <p:pic>
                    <p:nvPicPr>
                      <p:cNvPr id="0" name="图片 337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49875" y="1912938"/>
                        <a:ext cx="1233488" cy="879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383" name="对象 741382"/>
          <p:cNvGraphicFramePr/>
          <p:nvPr/>
        </p:nvGraphicFramePr>
        <p:xfrm>
          <a:off x="2493963" y="2992438"/>
          <a:ext cx="3459162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49" r:id="rId7" imgW="1498600" imgH="393700" progId="Equation.3">
                  <p:embed/>
                </p:oleObj>
              </mc:Choice>
              <mc:Fallback>
                <p:oleObj r:id="rId7" imgW="1498600" imgH="393700" progId="Equation.3">
                  <p:embed/>
                  <p:pic>
                    <p:nvPicPr>
                      <p:cNvPr id="0" name="图片 337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93963" y="2992438"/>
                        <a:ext cx="3459162" cy="1012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1384" name="文本框 741383"/>
          <p:cNvSpPr txBox="1"/>
          <p:nvPr/>
        </p:nvSpPr>
        <p:spPr>
          <a:xfrm>
            <a:off x="1468438" y="2124075"/>
            <a:ext cx="9032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mol</a:t>
            </a:r>
          </a:p>
        </p:txBody>
      </p:sp>
      <p:sp>
        <p:nvSpPr>
          <p:cNvPr id="741385" name="文本框 741384"/>
          <p:cNvSpPr txBox="1"/>
          <p:nvPr/>
        </p:nvSpPr>
        <p:spPr>
          <a:xfrm>
            <a:off x="611188" y="4778375"/>
            <a:ext cx="6858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Monotype Sorts" pitchFamily="2" charset="2"/>
              </a:rPr>
              <a:t> 1)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Monotype Sorts" pitchFamily="2" charset="2"/>
              </a:rPr>
              <a:t>一般情况下  不加说明则把分子看作刚性分子</a:t>
            </a:r>
          </a:p>
        </p:txBody>
      </p:sp>
      <p:sp>
        <p:nvSpPr>
          <p:cNvPr id="741388" name="文本框 741387"/>
          <p:cNvSpPr txBox="1"/>
          <p:nvPr/>
        </p:nvSpPr>
        <p:spPr>
          <a:xfrm>
            <a:off x="755650" y="5353050"/>
            <a:ext cx="594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Monotype Sorts" pitchFamily="2" charset="2"/>
              </a:rPr>
              <a:t>2)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Monotype Sorts" pitchFamily="2" charset="2"/>
              </a:rPr>
              <a:t>理气内能是温度的单值函数</a:t>
            </a:r>
            <a:endParaRPr kumimoji="0" lang="zh-CN" altLang="en-US" sz="2400" kern="120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741388"/>
          <p:cNvGrpSpPr/>
          <p:nvPr/>
        </p:nvGrpSpPr>
        <p:grpSpPr>
          <a:xfrm>
            <a:off x="0" y="3840163"/>
            <a:ext cx="1828800" cy="1143000"/>
            <a:chOff x="144" y="96"/>
            <a:chExt cx="1152" cy="720"/>
          </a:xfrm>
        </p:grpSpPr>
        <p:sp>
          <p:nvSpPr>
            <p:cNvPr id="741390" name="爆炸形 1 741389"/>
            <p:cNvSpPr/>
            <p:nvPr/>
          </p:nvSpPr>
          <p:spPr>
            <a:xfrm>
              <a:off x="144" y="96"/>
              <a:ext cx="1152" cy="720"/>
            </a:xfrm>
            <a:prstGeom prst="irregularSeal1">
              <a:avLst/>
            </a:prstGeom>
            <a:solidFill>
              <a:srgbClr val="CC3300"/>
            </a:solidFill>
            <a:ln w="9525" cap="flat" cmpd="sng">
              <a:solidFill>
                <a:srgbClr val="CC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3200" b="1" i="1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1391" name="文本框 741390"/>
            <p:cNvSpPr txBox="1"/>
            <p:nvPr/>
          </p:nvSpPr>
          <p:spPr>
            <a:xfrm>
              <a:off x="384" y="240"/>
              <a:ext cx="9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800" kern="1200" cap="none" spc="0" normalizeH="0" baseline="0" noProof="1">
                  <a:solidFill>
                    <a:srgbClr val="FFFF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讨论</a:t>
              </a:r>
            </a:p>
          </p:txBody>
        </p:sp>
      </p:grpSp>
      <p:sp>
        <p:nvSpPr>
          <p:cNvPr id="741392" name="文本框 741391"/>
          <p:cNvSpPr txBox="1"/>
          <p:nvPr/>
        </p:nvSpPr>
        <p:spPr>
          <a:xfrm>
            <a:off x="6835775" y="5400675"/>
            <a:ext cx="2057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为什么？</a:t>
            </a:r>
            <a:endParaRPr kumimoji="0" lang="en-US" altLang="zh-CN" sz="2400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41393" name="对象 741392"/>
          <p:cNvGraphicFramePr/>
          <p:nvPr/>
        </p:nvGraphicFramePr>
        <p:xfrm>
          <a:off x="1243013" y="3090863"/>
          <a:ext cx="120332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50" r:id="rId9" imgW="520700" imgH="393700" progId="Equation.3">
                  <p:embed/>
                </p:oleObj>
              </mc:Choice>
              <mc:Fallback>
                <p:oleObj r:id="rId9" imgW="520700" imgH="393700" progId="Equation.3">
                  <p:embed/>
                  <p:pic>
                    <p:nvPicPr>
                      <p:cNvPr id="0" name="图片 337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43013" y="3090863"/>
                        <a:ext cx="1203325" cy="1012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394" name="对象 741393"/>
          <p:cNvGraphicFramePr/>
          <p:nvPr/>
        </p:nvGraphicFramePr>
        <p:xfrm>
          <a:off x="5003800" y="5397500"/>
          <a:ext cx="1728788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51" r:id="rId11" imgW="724535" imgH="234315" progId="Equation.DSMT4">
                  <p:embed/>
                </p:oleObj>
              </mc:Choice>
              <mc:Fallback>
                <p:oleObj r:id="rId11" imgW="724535" imgH="234315" progId="Equation.DSMT4">
                  <p:embed/>
                  <p:pic>
                    <p:nvPicPr>
                      <p:cNvPr id="0" name="图片 337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03800" y="5397500"/>
                        <a:ext cx="1728788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21" name="对象 741394"/>
          <p:cNvGraphicFramePr/>
          <p:nvPr/>
        </p:nvGraphicFramePr>
        <p:xfrm>
          <a:off x="2484438" y="908050"/>
          <a:ext cx="5016500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52" r:id="rId13" imgW="2498090" imgH="490855" progId="Equation.DSMT4">
                  <p:embed/>
                </p:oleObj>
              </mc:Choice>
              <mc:Fallback>
                <p:oleObj r:id="rId13" imgW="2498090" imgH="490855" progId="Equation.DSMT4">
                  <p:embed/>
                  <p:pic>
                    <p:nvPicPr>
                      <p:cNvPr id="0" name="图片 3375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CC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84438" y="908050"/>
                        <a:ext cx="5016500" cy="966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1396" name="直接连接符 741395"/>
          <p:cNvSpPr/>
          <p:nvPr/>
        </p:nvSpPr>
        <p:spPr>
          <a:xfrm>
            <a:off x="2932113" y="4111625"/>
            <a:ext cx="420687" cy="0"/>
          </a:xfrm>
          <a:prstGeom prst="line">
            <a:avLst/>
          </a:prstGeom>
          <a:ln w="28575" cap="flat" cmpd="sng">
            <a:solidFill>
              <a:srgbClr val="009999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41397" name="直接连接符 741396"/>
          <p:cNvSpPr/>
          <p:nvPr/>
        </p:nvSpPr>
        <p:spPr>
          <a:xfrm flipV="1">
            <a:off x="5318125" y="4111625"/>
            <a:ext cx="501650" cy="1588"/>
          </a:xfrm>
          <a:prstGeom prst="line">
            <a:avLst/>
          </a:prstGeom>
          <a:ln w="28575" cap="flat" cmpd="sng">
            <a:solidFill>
              <a:srgbClr val="009999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文本框 2"/>
          <p:cNvSpPr txBox="1"/>
          <p:nvPr/>
        </p:nvSpPr>
        <p:spPr>
          <a:xfrm>
            <a:off x="4670425" y="6035675"/>
            <a:ext cx="37877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忽略了分子间相互作用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4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9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74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4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4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9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4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741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74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741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9" dur="500"/>
                                        <p:tgtEl>
                                          <p:spTgt spid="741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4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1384" grpId="0"/>
      <p:bldP spid="741385" grpId="0" build="p"/>
      <p:bldP spid="741388" grpId="0" build="p"/>
      <p:bldP spid="741392" grpId="0" build="allAtOnce"/>
      <p:bldP spid="3" grpId="0" build="allAtOnce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文本框 559105"/>
          <p:cNvSpPr txBox="1"/>
          <p:nvPr/>
        </p:nvSpPr>
        <p:spPr>
          <a:xfrm>
            <a:off x="339725" y="131763"/>
            <a:ext cx="8318500" cy="15684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</a:t>
            </a:r>
            <a:r>
              <a:rPr kumimoji="0" lang="en-US" altLang="zh-CN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某理想气体的定压摩尔热容为 </a:t>
            </a:r>
            <a:r>
              <a:rPr kumimoji="0" lang="en-US" altLang="zh-CN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29.1  J.  mol</a:t>
            </a:r>
            <a:r>
              <a:rPr kumimoji="0" lang="en-US" altLang="zh-CN" sz="2400" kern="1200" cap="none" spc="0" normalizeH="0" baseline="3000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-1   </a:t>
            </a:r>
            <a:r>
              <a:rPr kumimoji="0" lang="en-US" altLang="zh-CN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 K</a:t>
            </a:r>
            <a:r>
              <a:rPr kumimoji="0" lang="en-US" altLang="zh-CN" sz="2400" kern="1200" cap="none" spc="0" normalizeH="0" baseline="3000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-1 </a:t>
            </a:r>
            <a:r>
              <a:rPr kumimoji="0" lang="en-US" altLang="zh-CN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。求它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在温度为 </a:t>
            </a:r>
            <a:r>
              <a:rPr kumimoji="0" lang="en-US" altLang="zh-CN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273 K </a:t>
            </a:r>
            <a:r>
              <a:rPr kumimoji="0" lang="zh-CN" altLang="en-US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时分子的平均转动动能。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（ 玻耳兹曼常量  </a:t>
            </a:r>
            <a:r>
              <a:rPr kumimoji="0" lang="en-US" altLang="zh-CN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 = 1.38×10</a:t>
            </a:r>
            <a:r>
              <a:rPr kumimoji="0" lang="en-US" altLang="zh-CN" sz="2400" kern="1200" cap="none" spc="0" normalizeH="0" baseline="3000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-23</a:t>
            </a:r>
            <a:r>
              <a:rPr kumimoji="0" lang="en-US" altLang="zh-CN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J . K</a:t>
            </a:r>
            <a:r>
              <a:rPr kumimoji="0" lang="en-US" altLang="zh-CN" sz="2400" kern="1200" cap="none" spc="0" normalizeH="0" baseline="3000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-1 </a:t>
            </a:r>
            <a:r>
              <a:rPr kumimoji="0" lang="en-US" altLang="zh-CN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</a:p>
        </p:txBody>
      </p:sp>
      <p:sp>
        <p:nvSpPr>
          <p:cNvPr id="559107" name="文本框 559106"/>
          <p:cNvSpPr txBox="1"/>
          <p:nvPr/>
        </p:nvSpPr>
        <p:spPr>
          <a:xfrm>
            <a:off x="468313" y="1700213"/>
            <a:ext cx="871538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 </a:t>
            </a:r>
          </a:p>
        </p:txBody>
      </p:sp>
      <p:graphicFrame>
        <p:nvGraphicFramePr>
          <p:cNvPr id="559108" name="对象 559107"/>
          <p:cNvGraphicFramePr/>
          <p:nvPr/>
        </p:nvGraphicFramePr>
        <p:xfrm>
          <a:off x="1452563" y="1524000"/>
          <a:ext cx="33813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0" r:id="rId3" imgW="1447165" imgH="393700" progId="Equation.3">
                  <p:embed/>
                </p:oleObj>
              </mc:Choice>
              <mc:Fallback>
                <p:oleObj r:id="rId3" imgW="1447165" imgH="393700" progId="Equation.3">
                  <p:embed/>
                  <p:pic>
                    <p:nvPicPr>
                      <p:cNvPr id="0" name="图片 338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52563" y="1524000"/>
                        <a:ext cx="3381375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9109" name="对象 559108"/>
          <p:cNvGraphicFramePr/>
          <p:nvPr/>
        </p:nvGraphicFramePr>
        <p:xfrm>
          <a:off x="1401763" y="2514600"/>
          <a:ext cx="6818312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1" r:id="rId5" imgW="2755900" imgH="419100" progId="Equation.3">
                  <p:embed/>
                </p:oleObj>
              </mc:Choice>
              <mc:Fallback>
                <p:oleObj r:id="rId5" imgW="2755900" imgH="419100" progId="Equation.3">
                  <p:embed/>
                  <p:pic>
                    <p:nvPicPr>
                      <p:cNvPr id="0" name="图片 33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01763" y="2514600"/>
                        <a:ext cx="6818312" cy="1036638"/>
                      </a:xfrm>
                      <a:prstGeom prst="rect">
                        <a:avLst/>
                      </a:prstGeom>
                      <a:solidFill>
                        <a:srgbClr val="0080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9110" name="文本框 559109"/>
          <p:cNvSpPr txBox="1"/>
          <p:nvPr/>
        </p:nvSpPr>
        <p:spPr>
          <a:xfrm>
            <a:off x="895350" y="3627438"/>
            <a:ext cx="7219950" cy="10144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3399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   </a:t>
            </a:r>
            <a:r>
              <a:rPr lang="zh-CN" altLang="en-US" sz="2400" dirty="0">
                <a:solidFill>
                  <a:srgbClr val="003399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可知该气体是</a:t>
            </a:r>
            <a:r>
              <a:rPr lang="zh-CN" altLang="en-US" sz="2400" dirty="0">
                <a:solidFill>
                  <a:srgbClr val="CC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双原子</a:t>
            </a:r>
            <a:r>
              <a:rPr lang="zh-CN" altLang="en-US" sz="2400" dirty="0">
                <a:solidFill>
                  <a:srgbClr val="003399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分子，有两个转动自由度，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3399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故平均转动动能为</a:t>
            </a:r>
          </a:p>
        </p:txBody>
      </p:sp>
      <p:graphicFrame>
        <p:nvGraphicFramePr>
          <p:cNvPr id="559111" name="对象 559110"/>
          <p:cNvGraphicFramePr/>
          <p:nvPr/>
        </p:nvGraphicFramePr>
        <p:xfrm>
          <a:off x="1476375" y="4700588"/>
          <a:ext cx="6056313" cy="176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2" r:id="rId7" imgW="2780030" imgH="812165" progId="Equation.3">
                  <p:embed/>
                </p:oleObj>
              </mc:Choice>
              <mc:Fallback>
                <p:oleObj r:id="rId7" imgW="2780030" imgH="812165" progId="Equation.3">
                  <p:embed/>
                  <p:pic>
                    <p:nvPicPr>
                      <p:cNvPr id="0" name="图片 337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6375" y="4700588"/>
                        <a:ext cx="6056313" cy="1766887"/>
                      </a:xfrm>
                      <a:prstGeom prst="rect">
                        <a:avLst/>
                      </a:prstGeom>
                      <a:solidFill>
                        <a:srgbClr val="0080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559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9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9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559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9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9107" grpId="0"/>
      <p:bldP spid="55911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56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747522" name="文本框 747521"/>
          <p:cNvSpPr txBox="1"/>
          <p:nvPr/>
        </p:nvSpPr>
        <p:spPr>
          <a:xfrm>
            <a:off x="57150" y="0"/>
            <a:ext cx="9086850" cy="1938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一容器内某双原子理想气体的温度为</a:t>
            </a:r>
            <a:r>
              <a:rPr kumimoji="0" lang="en-US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T=273K,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压强为 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 =1.013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10</a:t>
            </a:r>
            <a:r>
              <a:rPr kumimoji="0" lang="en-US" altLang="zh-CN" sz="2400" kern="1200" cap="none" spc="0" normalizeH="0" baseline="30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5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Pa, 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密度为 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 =1. 25 g / m</a:t>
            </a:r>
            <a:r>
              <a:rPr kumimoji="0" lang="en-US" altLang="zh-CN" sz="2400" kern="1200" cap="none" spc="0" normalizeH="0" baseline="30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3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,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试求：（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）气体分子运动的方均根速率；（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）气体分子的摩尔质量；（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3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）气体分子的平均</a:t>
            </a:r>
            <a:r>
              <a:rPr kumimoji="0" lang="zh-CN" altLang="en-US" sz="2400" u="sng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平动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动能和</a:t>
            </a:r>
            <a:r>
              <a:rPr kumimoji="0" lang="zh-CN" altLang="en-US" sz="2400" u="sng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转动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动能；（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4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）单位体积内气体分子的总平动动能；（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5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）设该气体有 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0. 3 mol ,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气体的内能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?</a:t>
            </a:r>
            <a:endParaRPr kumimoji="0" lang="en-US" altLang="zh-CN" sz="2400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7523" name="文本框 747522"/>
          <p:cNvSpPr txBox="1"/>
          <p:nvPr/>
        </p:nvSpPr>
        <p:spPr>
          <a:xfrm>
            <a:off x="57150" y="2205038"/>
            <a:ext cx="15621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解：（</a:t>
            </a:r>
            <a:r>
              <a:rPr kumimoji="0" lang="en-US" altLang="zh-CN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747524" name="文本框 747523"/>
          <p:cNvSpPr txBox="1"/>
          <p:nvPr/>
        </p:nvSpPr>
        <p:spPr>
          <a:xfrm>
            <a:off x="684213" y="3979863"/>
            <a:ext cx="10731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graphicFrame>
        <p:nvGraphicFramePr>
          <p:cNvPr id="747525" name="对象 747524"/>
          <p:cNvGraphicFramePr/>
          <p:nvPr/>
        </p:nvGraphicFramePr>
        <p:xfrm>
          <a:off x="1619250" y="3756025"/>
          <a:ext cx="214788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3" r:id="rId3" imgW="927100" imgH="393700" progId="Equation.DSMT4">
                  <p:embed/>
                </p:oleObj>
              </mc:Choice>
              <mc:Fallback>
                <p:oleObj r:id="rId3" imgW="927100" imgH="393700" progId="Equation.DSMT4">
                  <p:embed/>
                  <p:pic>
                    <p:nvPicPr>
                      <p:cNvPr id="0" name="图片 33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250" y="3756025"/>
                        <a:ext cx="2147888" cy="904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26" name="文本框 747525"/>
          <p:cNvSpPr txBox="1"/>
          <p:nvPr/>
        </p:nvSpPr>
        <p:spPr>
          <a:xfrm>
            <a:off x="684213" y="4916488"/>
            <a:ext cx="10731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graphicFrame>
        <p:nvGraphicFramePr>
          <p:cNvPr id="747527" name="对象 747526"/>
          <p:cNvGraphicFramePr/>
          <p:nvPr/>
        </p:nvGraphicFramePr>
        <p:xfrm>
          <a:off x="1547813" y="4643438"/>
          <a:ext cx="4746625" cy="195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4" r:id="rId5" imgW="2508885" imgH="948055" progId="Equation.DSMT4">
                  <p:embed/>
                </p:oleObj>
              </mc:Choice>
              <mc:Fallback>
                <p:oleObj r:id="rId5" imgW="2508885" imgH="948055" progId="Equation.DSMT4">
                  <p:embed/>
                  <p:pic>
                    <p:nvPicPr>
                      <p:cNvPr id="0" name="图片 338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47813" y="4643438"/>
                        <a:ext cx="4746625" cy="1954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28" name="对象 747527"/>
          <p:cNvGraphicFramePr/>
          <p:nvPr/>
        </p:nvGraphicFramePr>
        <p:xfrm>
          <a:off x="1547813" y="3213100"/>
          <a:ext cx="305911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5" r:id="rId7" imgW="1616710" imgH="256540" progId="Equation.3">
                  <p:embed/>
                </p:oleObj>
              </mc:Choice>
              <mc:Fallback>
                <p:oleObj r:id="rId7" imgW="1616710" imgH="256540" progId="Equation.3">
                  <p:embed/>
                  <p:pic>
                    <p:nvPicPr>
                      <p:cNvPr id="0" name="图片 338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47813" y="3213100"/>
                        <a:ext cx="3059112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29" name="对象 747528"/>
          <p:cNvGraphicFramePr/>
          <p:nvPr/>
        </p:nvGraphicFramePr>
        <p:xfrm>
          <a:off x="1462088" y="2103438"/>
          <a:ext cx="187166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6" r:id="rId9" imgW="1014730" imgH="523875" progId="Equation.DSMT4">
                  <p:embed/>
                </p:oleObj>
              </mc:Choice>
              <mc:Fallback>
                <p:oleObj r:id="rId9" imgW="1014730" imgH="523875" progId="Equation.DSMT4">
                  <p:embed/>
                  <p:pic>
                    <p:nvPicPr>
                      <p:cNvPr id="0" name="图片 338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62088" y="2103438"/>
                        <a:ext cx="1871662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30" name="对象 747529"/>
          <p:cNvGraphicFramePr/>
          <p:nvPr/>
        </p:nvGraphicFramePr>
        <p:xfrm>
          <a:off x="3419475" y="2098675"/>
          <a:ext cx="2592388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7" r:id="rId11" imgW="1257300" imgH="469900" progId="Equation.3">
                  <p:embed/>
                </p:oleObj>
              </mc:Choice>
              <mc:Fallback>
                <p:oleObj r:id="rId11" imgW="1257300" imgH="469900" progId="Equation.3">
                  <p:embed/>
                  <p:pic>
                    <p:nvPicPr>
                      <p:cNvPr id="0" name="图片 338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19475" y="2098675"/>
                        <a:ext cx="2592388" cy="969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/>
          <p:nvPr/>
        </p:nvGraphicFramePr>
        <p:xfrm>
          <a:off x="4071938" y="3727450"/>
          <a:ext cx="4386262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8" r:id="rId13" imgW="1892300" imgH="419100" progId="Equation.DSMT4">
                  <p:embed/>
                </p:oleObj>
              </mc:Choice>
              <mc:Fallback>
                <p:oleObj r:id="rId13" imgW="1892300" imgH="419100" progId="Equation.DSMT4">
                  <p:embed/>
                  <p:pic>
                    <p:nvPicPr>
                      <p:cNvPr id="0" name="图片 337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071938" y="3727450"/>
                        <a:ext cx="4386262" cy="962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4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47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47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47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47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4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7475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747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23" grpId="0" build="p"/>
      <p:bldP spid="747524" grpId="0" build="p"/>
      <p:bldP spid="747526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57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748546" name="文本框 748545"/>
          <p:cNvSpPr txBox="1"/>
          <p:nvPr/>
        </p:nvSpPr>
        <p:spPr>
          <a:xfrm>
            <a:off x="757238" y="2559050"/>
            <a:ext cx="11461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graphicFrame>
        <p:nvGraphicFramePr>
          <p:cNvPr id="748547" name="对象 748546"/>
          <p:cNvGraphicFramePr/>
          <p:nvPr/>
        </p:nvGraphicFramePr>
        <p:xfrm>
          <a:off x="1692275" y="2378075"/>
          <a:ext cx="4754563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5" r:id="rId3" imgW="2720975" imgH="457200" progId="Equation.DSMT4">
                  <p:embed/>
                </p:oleObj>
              </mc:Choice>
              <mc:Fallback>
                <p:oleObj r:id="rId3" imgW="2720975" imgH="457200" progId="Equation.DSMT4">
                  <p:embed/>
                  <p:pic>
                    <p:nvPicPr>
                      <p:cNvPr id="0" name="图片 339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2275" y="2378075"/>
                        <a:ext cx="4754563" cy="917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8548" name="文本框 748547"/>
          <p:cNvSpPr txBox="1"/>
          <p:nvPr/>
        </p:nvSpPr>
        <p:spPr>
          <a:xfrm>
            <a:off x="757238" y="3473450"/>
            <a:ext cx="11461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zh-CN" altLang="en-US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graphicFrame>
        <p:nvGraphicFramePr>
          <p:cNvPr id="748549" name="对象 748548"/>
          <p:cNvGraphicFramePr/>
          <p:nvPr/>
        </p:nvGraphicFramePr>
        <p:xfrm>
          <a:off x="1704975" y="3344863"/>
          <a:ext cx="3648075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6" r:id="rId5" imgW="1841500" imgH="393700" progId="Equation.DSMT4">
                  <p:embed/>
                </p:oleObj>
              </mc:Choice>
              <mc:Fallback>
                <p:oleObj r:id="rId5" imgW="1841500" imgH="393700" progId="Equation.DSMT4">
                  <p:embed/>
                  <p:pic>
                    <p:nvPicPr>
                      <p:cNvPr id="0" name="图片 338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04975" y="3344863"/>
                        <a:ext cx="3648075" cy="846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8550" name="文本框 748549"/>
          <p:cNvSpPr txBox="1"/>
          <p:nvPr/>
        </p:nvSpPr>
        <p:spPr>
          <a:xfrm>
            <a:off x="757238" y="687388"/>
            <a:ext cx="5851525" cy="1006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lnSpc>
                <a:spcPct val="125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（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4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）单位体积内气体分子的总平动动能；</a:t>
            </a:r>
          </a:p>
          <a:p>
            <a:pPr marR="0" defTabSz="914400">
              <a:lnSpc>
                <a:spcPct val="125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（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5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）设该气体有 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0. 3 mol ,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气体的内能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?</a:t>
            </a:r>
            <a:endParaRPr kumimoji="0" lang="en-US" altLang="zh-CN" sz="2400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8551" name="文本框 748550"/>
          <p:cNvSpPr txBox="1"/>
          <p:nvPr/>
        </p:nvSpPr>
        <p:spPr>
          <a:xfrm>
            <a:off x="5886450" y="3508375"/>
            <a:ext cx="830263" cy="457200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i=5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48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4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48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4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48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8546" grpId="0" build="p"/>
      <p:bldP spid="748548" grpId="0" build="p"/>
      <p:bldP spid="74855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文本框 99"/>
          <p:cNvSpPr txBox="1"/>
          <p:nvPr/>
        </p:nvSpPr>
        <p:spPr>
          <a:xfrm>
            <a:off x="398463" y="400050"/>
            <a:ext cx="8535987" cy="1938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一瓶氢气和一瓶氧气温度相同，若氢气分子的平均平动动能为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6.21×10</a:t>
            </a:r>
            <a:r>
              <a:rPr lang="en-US" altLang="zh-CN" sz="24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-21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J</a:t>
            </a:r>
            <a:r>
              <a:rPr lang="zh-CN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．试求： 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(1) </a:t>
            </a:r>
            <a:r>
              <a:rPr lang="zh-CN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氧气分子的平均平动动能和方均根速率；                    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(2) </a:t>
            </a:r>
            <a:r>
              <a:rPr lang="zh-CN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氧气的温度。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02" name="文本框 100"/>
          <p:cNvSpPr txBox="1"/>
          <p:nvPr/>
        </p:nvSpPr>
        <p:spPr>
          <a:xfrm>
            <a:off x="384175" y="2416175"/>
            <a:ext cx="8550275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(</a:t>
            </a:r>
            <a:r>
              <a:rPr lang="zh-CN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阿伏伽德罗常量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6.022×10</a:t>
            </a:r>
            <a:r>
              <a:rPr lang="en-US" altLang="zh-CN" sz="24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23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mol</a:t>
            </a:r>
            <a:r>
              <a:rPr lang="en-US" altLang="zh-CN" sz="24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zh-CN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，氧气分子摩尔质量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32 g </a:t>
            </a:r>
            <a:r>
              <a:rPr lang="zh-CN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，玻尔兹曼常量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zh-CN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1.38×10</a:t>
            </a:r>
            <a:r>
              <a:rPr lang="en-US" altLang="zh-CN" sz="24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-23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J·K</a:t>
            </a:r>
            <a:r>
              <a:rPr lang="en-US" altLang="zh-CN" sz="24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762000" y="5043488"/>
            <a:ext cx="6477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(2)         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2982913" y="5873750"/>
            <a:ext cx="255905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300 K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．   </a:t>
            </a: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28700" y="3368675"/>
            <a:ext cx="7543800" cy="828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(1) ∵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相等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, ∴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氧气分子平均平动动能＝氢气分子平均平动动能＝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6.21×10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-21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J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．</a:t>
            </a: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54850" y="4505325"/>
            <a:ext cx="102235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m/s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graphicFrame>
        <p:nvGraphicFramePr>
          <p:cNvPr id="58375" name="对象 -2147482605"/>
          <p:cNvGraphicFramePr>
            <a:graphicFrameLocks noChangeAspect="1"/>
          </p:cNvGraphicFramePr>
          <p:nvPr/>
        </p:nvGraphicFramePr>
        <p:xfrm>
          <a:off x="1582738" y="5903913"/>
          <a:ext cx="1400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2" r:id="rId3" imgW="812800" imgH="228600" progId="Equation.3">
                  <p:embed/>
                </p:oleObj>
              </mc:Choice>
              <mc:Fallback>
                <p:oleObj r:id="rId3" imgW="812800" imgH="228600" progId="Equation.3">
                  <p:embed/>
                  <p:pic>
                    <p:nvPicPr>
                      <p:cNvPr id="0" name="图片 33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2738" y="5903913"/>
                        <a:ext cx="1400175" cy="400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646488" y="4275138"/>
          <a:ext cx="3279775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3" r:id="rId5" imgW="1459865" imgH="304800" progId="Equation.3">
                  <p:embed/>
                </p:oleObj>
              </mc:Choice>
              <mc:Fallback>
                <p:oleObj r:id="rId5" imgW="1459865" imgH="304800" progId="Equation.3">
                  <p:embed/>
                  <p:pic>
                    <p:nvPicPr>
                      <p:cNvPr id="0" name="图片 338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46488" y="4275138"/>
                        <a:ext cx="3279775" cy="690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 descr="图片11"/>
          <p:cNvPicPr>
            <a:picLocks noChangeAspect="1"/>
          </p:cNvPicPr>
          <p:nvPr/>
        </p:nvPicPr>
        <p:blipFill>
          <a:blip r:embed="rId7"/>
          <a:srcRect l="19145"/>
          <a:stretch>
            <a:fillRect/>
          </a:stretch>
        </p:blipFill>
        <p:spPr>
          <a:xfrm>
            <a:off x="1841500" y="4197350"/>
            <a:ext cx="1489075" cy="75565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54294" name="对象 816150"/>
          <p:cNvGraphicFramePr/>
          <p:nvPr/>
        </p:nvGraphicFramePr>
        <p:xfrm>
          <a:off x="1611313" y="4953000"/>
          <a:ext cx="1344612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4" r:id="rId8" imgW="609600" imgH="393700" progId="Equation.3">
                  <p:embed/>
                </p:oleObj>
              </mc:Choice>
              <mc:Fallback>
                <p:oleObj r:id="rId8" imgW="609600" imgH="393700" progId="Equation.3">
                  <p:embed/>
                  <p:pic>
                    <p:nvPicPr>
                      <p:cNvPr id="0" name="图片 338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11313" y="4953000"/>
                        <a:ext cx="1344612" cy="866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4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  <p:bldP spid="103" grpId="1"/>
      <p:bldP spid="104" grpId="0"/>
      <p:bldP spid="104" grpId="1"/>
      <p:bldP spid="6" grpId="0"/>
      <p:bldP spid="7" grpId="0"/>
      <p:bldP spid="7" grpId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59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790530" name="文本框 790529"/>
          <p:cNvSpPr txBox="1"/>
          <p:nvPr/>
        </p:nvSpPr>
        <p:spPr>
          <a:xfrm>
            <a:off x="107950" y="0"/>
            <a:ext cx="8785225" cy="2584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2400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有两个容器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一个装氢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(H</a:t>
            </a:r>
            <a:r>
              <a:rPr kumimoji="0" lang="en-US" altLang="zh-CN" sz="2400" kern="1200" cap="none" spc="0" normalizeH="0" baseline="-25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),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一个装氩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(Ar),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均视为理想气体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已知两种气体的</a:t>
            </a:r>
            <a:r>
              <a:rPr kumimoji="0" lang="zh-CN" altLang="en-US" sz="2400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体积</a:t>
            </a:r>
            <a:r>
              <a:rPr kumimoji="0" lang="en-US" altLang="zh-CN" sz="2400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400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质量</a:t>
            </a:r>
            <a:r>
              <a:rPr kumimoji="0" lang="en-US" altLang="zh-CN" sz="2400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400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温度都相等</a:t>
            </a:r>
            <a:r>
              <a:rPr kumimoji="0" lang="en-US" altLang="zh-CN" sz="2400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问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(1)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每个氢分子和每个氩分子的平均</a:t>
            </a:r>
            <a:r>
              <a:rPr kumimoji="0" lang="zh-CN" altLang="en-US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平动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动能是否相等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?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(2)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两种气体的</a:t>
            </a:r>
            <a:r>
              <a:rPr kumimoji="0" lang="zh-CN" altLang="en-US" sz="24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内能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是否相等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?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氩的摩尔质量</a:t>
            </a:r>
            <a:r>
              <a:rPr kumimoji="0" lang="en-US" altLang="zh-CN" sz="28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µ</a:t>
            </a:r>
            <a:r>
              <a:rPr kumimoji="0" lang="en-US" altLang="zh-CN" sz="2800" i="1" kern="1200" cap="none" spc="0" normalizeH="0" baseline="-25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Ar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=40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10</a:t>
            </a:r>
            <a:r>
              <a:rPr kumimoji="0" lang="en-US" altLang="zh-CN" sz="2400" kern="1200" cap="none" spc="0" normalizeH="0" baseline="30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-3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kg/mol)</a:t>
            </a:r>
            <a:endParaRPr kumimoji="0" lang="en-US" altLang="zh-CN" sz="2400" kern="120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0531" name="文本框 790530"/>
          <p:cNvSpPr txBox="1"/>
          <p:nvPr/>
        </p:nvSpPr>
        <p:spPr>
          <a:xfrm>
            <a:off x="123825" y="2997200"/>
            <a:ext cx="26479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</a:t>
            </a:r>
            <a:r>
              <a:rPr kumimoji="0" lang="en-US" altLang="zh-CN" sz="2400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</a:p>
        </p:txBody>
      </p:sp>
      <p:sp>
        <p:nvSpPr>
          <p:cNvPr id="790532" name="文本框 790531"/>
          <p:cNvSpPr txBox="1"/>
          <p:nvPr/>
        </p:nvSpPr>
        <p:spPr>
          <a:xfrm>
            <a:off x="900113" y="3005138"/>
            <a:ext cx="807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(1)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相等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因为气体分子的平均</a:t>
            </a:r>
            <a:r>
              <a:rPr kumimoji="0" lang="zh-CN" altLang="en-US" sz="2400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平动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动能</a:t>
            </a:r>
            <a:r>
              <a:rPr kumimoji="0" lang="zh-CN" altLang="en-US" sz="2400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只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决定于温度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</a:p>
        </p:txBody>
      </p:sp>
      <p:sp>
        <p:nvSpPr>
          <p:cNvPr id="790533" name="文本框 790532"/>
          <p:cNvSpPr txBox="1"/>
          <p:nvPr/>
        </p:nvSpPr>
        <p:spPr>
          <a:xfrm>
            <a:off x="971550" y="4025900"/>
            <a:ext cx="18002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(2)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不等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</a:t>
            </a:r>
          </a:p>
        </p:txBody>
      </p:sp>
      <p:graphicFrame>
        <p:nvGraphicFramePr>
          <p:cNvPr id="790534" name="对象 790533"/>
          <p:cNvGraphicFramePr/>
          <p:nvPr/>
        </p:nvGraphicFramePr>
        <p:xfrm>
          <a:off x="2790825" y="3840163"/>
          <a:ext cx="2025650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3" r:id="rId3" imgW="889000" imgH="393700" progId="Equation.3">
                  <p:embed/>
                </p:oleObj>
              </mc:Choice>
              <mc:Fallback>
                <p:oleObj r:id="rId3" imgW="889000" imgH="393700" progId="Equation.3">
                  <p:embed/>
                  <p:pic>
                    <p:nvPicPr>
                      <p:cNvPr id="0" name="图片 339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90825" y="3840163"/>
                        <a:ext cx="2025650" cy="893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0535" name="文本框 790534"/>
          <p:cNvSpPr txBox="1"/>
          <p:nvPr/>
        </p:nvSpPr>
        <p:spPr>
          <a:xfrm>
            <a:off x="1476375" y="5300663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得</a:t>
            </a:r>
          </a:p>
        </p:txBody>
      </p:sp>
      <p:graphicFrame>
        <p:nvGraphicFramePr>
          <p:cNvPr id="790536" name="对象 790535"/>
          <p:cNvGraphicFramePr/>
          <p:nvPr/>
        </p:nvGraphicFramePr>
        <p:xfrm>
          <a:off x="2749550" y="5084763"/>
          <a:ext cx="3335338" cy="159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4" r:id="rId5" imgW="1536700" imgH="736600" progId="Equation.3">
                  <p:embed/>
                </p:oleObj>
              </mc:Choice>
              <mc:Fallback>
                <p:oleObj r:id="rId5" imgW="1536700" imgH="736600" progId="Equation.3">
                  <p:embed/>
                  <p:pic>
                    <p:nvPicPr>
                      <p:cNvPr id="0" name="图片 339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49550" y="5084763"/>
                        <a:ext cx="3335338" cy="1598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790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790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790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90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790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90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790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790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790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0530" grpId="0" build="p"/>
      <p:bldP spid="790531" grpId="0"/>
      <p:bldP spid="790532" grpId="0" build="p"/>
      <p:bldP spid="790533" grpId="0"/>
      <p:bldP spid="79053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文本框 103"/>
          <p:cNvSpPr txBox="1"/>
          <p:nvPr/>
        </p:nvSpPr>
        <p:spPr>
          <a:xfrm>
            <a:off x="520700" y="219075"/>
            <a:ext cx="8202613" cy="1938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例</a:t>
            </a:r>
            <a:r>
              <a:rPr kumimoji="0" lang="en-US" altLang="zh-CN" sz="2400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5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 </a:t>
            </a:r>
            <a:r>
              <a:rPr kumimoji="0" lang="zh-CN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用绝热材料制成的一个容器，体积为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2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0" lang="en-US" altLang="zh-CN" sz="2400" kern="1200" cap="none" spc="0" normalizeH="0" baseline="-250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，被绝热板隔成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zh-CN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两部分，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内储有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1 mol </a:t>
            </a:r>
            <a:r>
              <a:rPr kumimoji="0" lang="zh-CN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单原子理想气体，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zh-CN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内储有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 mol </a:t>
            </a:r>
            <a:r>
              <a:rPr kumimoji="0" lang="zh-CN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双原子理想气体。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两部分压强相等均为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sz="2400" kern="1200" cap="none" spc="0" normalizeH="0" baseline="-250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,</a:t>
            </a:r>
            <a:r>
              <a:rPr kumimoji="0" lang="zh-CN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两部分体积均为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0" lang="en-US" altLang="zh-CN" sz="2400" kern="1200" cap="none" spc="0" normalizeH="0" baseline="-250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</a:t>
            </a:r>
            <a:r>
              <a:rPr kumimoji="0" lang="zh-CN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，求（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）两种气体各自的内能；（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zh-CN" sz="2400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）抽去绝热板，两种气体混合后处于平衡时的温度。</a:t>
            </a:r>
            <a:endParaRPr kumimoji="0" lang="zh-CN" altLang="en-US" sz="2400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4450" name="Group 18"/>
          <p:cNvGrpSpPr/>
          <p:nvPr/>
        </p:nvGrpSpPr>
        <p:grpSpPr>
          <a:xfrm>
            <a:off x="5518150" y="1914525"/>
            <a:ext cx="2886075" cy="1560513"/>
            <a:chOff x="3969" y="981"/>
            <a:chExt cx="1392" cy="816"/>
          </a:xfrm>
        </p:grpSpPr>
        <p:sp>
          <p:nvSpPr>
            <p:cNvPr id="104451" name="Rectangle 19"/>
            <p:cNvSpPr/>
            <p:nvPr/>
          </p:nvSpPr>
          <p:spPr>
            <a:xfrm>
              <a:off x="4065" y="1077"/>
              <a:ext cx="576" cy="67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52" name="Rectangle 20" descr="栎木"/>
            <p:cNvSpPr/>
            <p:nvPr/>
          </p:nvSpPr>
          <p:spPr>
            <a:xfrm>
              <a:off x="3969" y="981"/>
              <a:ext cx="1344" cy="96"/>
            </a:xfrm>
            <a:prstGeom prst="rect">
              <a:avLst/>
            </a:prstGeom>
            <a:blipFill rotWithShape="0">
              <a:blip r:embed="rId3"/>
            </a:blip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53" name="Rectangle 21" descr="栎木"/>
            <p:cNvSpPr/>
            <p:nvPr/>
          </p:nvSpPr>
          <p:spPr>
            <a:xfrm>
              <a:off x="3969" y="1701"/>
              <a:ext cx="1344" cy="96"/>
            </a:xfrm>
            <a:prstGeom prst="rect">
              <a:avLst/>
            </a:prstGeom>
            <a:blipFill rotWithShape="0">
              <a:blip r:embed="rId3"/>
            </a:blip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54" name="Rectangle 22" descr="栎木"/>
            <p:cNvSpPr/>
            <p:nvPr/>
          </p:nvSpPr>
          <p:spPr>
            <a:xfrm>
              <a:off x="5265" y="981"/>
              <a:ext cx="96" cy="816"/>
            </a:xfrm>
            <a:prstGeom prst="rect">
              <a:avLst/>
            </a:prstGeom>
            <a:blipFill rotWithShape="0">
              <a:blip r:embed="rId3"/>
            </a:blip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55" name="Rectangle 23" descr="栎木"/>
            <p:cNvSpPr/>
            <p:nvPr/>
          </p:nvSpPr>
          <p:spPr>
            <a:xfrm>
              <a:off x="3969" y="981"/>
              <a:ext cx="96" cy="816"/>
            </a:xfrm>
            <a:prstGeom prst="rect">
              <a:avLst/>
            </a:prstGeom>
            <a:blipFill rotWithShape="0">
              <a:blip r:embed="rId3"/>
            </a:blip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56" name="Text Box 24"/>
            <p:cNvSpPr txBox="1"/>
            <p:nvPr/>
          </p:nvSpPr>
          <p:spPr>
            <a:xfrm>
              <a:off x="4161" y="1221"/>
              <a:ext cx="244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sz="2400" i="1" dirty="0">
                  <a:solidFill>
                    <a:srgbClr val="FF3300"/>
                  </a:solidFill>
                  <a:latin typeface="Times New Roman" panose="02020603050405020304" pitchFamily="18" charset="0"/>
                  <a:ea typeface="ˎ̥"/>
                </a:rPr>
                <a:t>A</a:t>
              </a:r>
            </a:p>
          </p:txBody>
        </p:sp>
        <p:sp>
          <p:nvSpPr>
            <p:cNvPr id="104457" name="Text Box 25"/>
            <p:cNvSpPr txBox="1"/>
            <p:nvPr/>
          </p:nvSpPr>
          <p:spPr>
            <a:xfrm>
              <a:off x="4785" y="1221"/>
              <a:ext cx="244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sz="2400" i="1" dirty="0">
                  <a:solidFill>
                    <a:srgbClr val="FF3300"/>
                  </a:solidFill>
                  <a:latin typeface="Times New Roman" panose="02020603050405020304" pitchFamily="18" charset="0"/>
                  <a:ea typeface="ˎ̥"/>
                </a:rPr>
                <a:t>B</a:t>
              </a:r>
            </a:p>
          </p:txBody>
        </p:sp>
        <p:sp>
          <p:nvSpPr>
            <p:cNvPr id="104458" name="Oval 26"/>
            <p:cNvSpPr/>
            <p:nvPr/>
          </p:nvSpPr>
          <p:spPr>
            <a:xfrm>
              <a:off x="4400" y="1162"/>
              <a:ext cx="45" cy="45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59" name="Oval 27"/>
            <p:cNvSpPr/>
            <p:nvPr/>
          </p:nvSpPr>
          <p:spPr>
            <a:xfrm>
              <a:off x="4513" y="1275"/>
              <a:ext cx="45" cy="45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60" name="Oval 28"/>
            <p:cNvSpPr/>
            <p:nvPr/>
          </p:nvSpPr>
          <p:spPr>
            <a:xfrm>
              <a:off x="4218" y="1207"/>
              <a:ext cx="45" cy="45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61" name="Oval 29"/>
            <p:cNvSpPr/>
            <p:nvPr/>
          </p:nvSpPr>
          <p:spPr>
            <a:xfrm>
              <a:off x="4195" y="1525"/>
              <a:ext cx="45" cy="45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62" name="Oval 30"/>
            <p:cNvSpPr/>
            <p:nvPr/>
          </p:nvSpPr>
          <p:spPr>
            <a:xfrm>
              <a:off x="4468" y="1502"/>
              <a:ext cx="45" cy="45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63" name="Oval 31"/>
            <p:cNvSpPr/>
            <p:nvPr/>
          </p:nvSpPr>
          <p:spPr>
            <a:xfrm>
              <a:off x="4400" y="1321"/>
              <a:ext cx="45" cy="45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64" name="Oval 32"/>
            <p:cNvSpPr/>
            <p:nvPr/>
          </p:nvSpPr>
          <p:spPr>
            <a:xfrm>
              <a:off x="4309" y="1570"/>
              <a:ext cx="45" cy="45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65" name="Oval 33"/>
            <p:cNvSpPr/>
            <p:nvPr/>
          </p:nvSpPr>
          <p:spPr>
            <a:xfrm>
              <a:off x="4127" y="1321"/>
              <a:ext cx="45" cy="45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66" name="Oval 34"/>
            <p:cNvSpPr/>
            <p:nvPr/>
          </p:nvSpPr>
          <p:spPr>
            <a:xfrm>
              <a:off x="4740" y="1207"/>
              <a:ext cx="68" cy="68"/>
            </a:xfrm>
            <a:prstGeom prst="ellipse">
              <a:avLst/>
            </a:prstGeom>
            <a:solidFill>
              <a:srgbClr val="339966"/>
            </a:solidFill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67" name="Oval 35"/>
            <p:cNvSpPr/>
            <p:nvPr/>
          </p:nvSpPr>
          <p:spPr>
            <a:xfrm>
              <a:off x="5148" y="1117"/>
              <a:ext cx="68" cy="68"/>
            </a:xfrm>
            <a:prstGeom prst="ellipse">
              <a:avLst/>
            </a:prstGeom>
            <a:solidFill>
              <a:srgbClr val="339966"/>
            </a:solidFill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68" name="Oval 36"/>
            <p:cNvSpPr/>
            <p:nvPr/>
          </p:nvSpPr>
          <p:spPr>
            <a:xfrm>
              <a:off x="4966" y="1433"/>
              <a:ext cx="68" cy="68"/>
            </a:xfrm>
            <a:prstGeom prst="ellipse">
              <a:avLst/>
            </a:prstGeom>
            <a:solidFill>
              <a:srgbClr val="339966"/>
            </a:solidFill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69" name="Oval 37"/>
            <p:cNvSpPr/>
            <p:nvPr/>
          </p:nvSpPr>
          <p:spPr>
            <a:xfrm>
              <a:off x="5079" y="1546"/>
              <a:ext cx="68" cy="68"/>
            </a:xfrm>
            <a:prstGeom prst="ellipse">
              <a:avLst/>
            </a:prstGeom>
            <a:solidFill>
              <a:srgbClr val="339966"/>
            </a:solidFill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70" name="Oval 38"/>
            <p:cNvSpPr/>
            <p:nvPr/>
          </p:nvSpPr>
          <p:spPr>
            <a:xfrm>
              <a:off x="5125" y="1344"/>
              <a:ext cx="68" cy="68"/>
            </a:xfrm>
            <a:prstGeom prst="ellipse">
              <a:avLst/>
            </a:prstGeom>
            <a:solidFill>
              <a:srgbClr val="339966"/>
            </a:solidFill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71" name="Oval 39"/>
            <p:cNvSpPr/>
            <p:nvPr/>
          </p:nvSpPr>
          <p:spPr>
            <a:xfrm>
              <a:off x="4830" y="1548"/>
              <a:ext cx="68" cy="68"/>
            </a:xfrm>
            <a:prstGeom prst="ellipse">
              <a:avLst/>
            </a:prstGeom>
            <a:solidFill>
              <a:srgbClr val="339966"/>
            </a:solidFill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72" name="Oval 40"/>
            <p:cNvSpPr/>
            <p:nvPr/>
          </p:nvSpPr>
          <p:spPr>
            <a:xfrm>
              <a:off x="4694" y="1570"/>
              <a:ext cx="68" cy="68"/>
            </a:xfrm>
            <a:prstGeom prst="ellipse">
              <a:avLst/>
            </a:prstGeom>
            <a:solidFill>
              <a:srgbClr val="339966"/>
            </a:solidFill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73" name="Oval 41"/>
            <p:cNvSpPr/>
            <p:nvPr/>
          </p:nvSpPr>
          <p:spPr>
            <a:xfrm>
              <a:off x="4967" y="1117"/>
              <a:ext cx="68" cy="68"/>
            </a:xfrm>
            <a:prstGeom prst="ellipse">
              <a:avLst/>
            </a:prstGeom>
            <a:solidFill>
              <a:srgbClr val="339966"/>
            </a:solidFill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74" name="Oval 42"/>
            <p:cNvSpPr/>
            <p:nvPr/>
          </p:nvSpPr>
          <p:spPr>
            <a:xfrm>
              <a:off x="4717" y="1389"/>
              <a:ext cx="68" cy="68"/>
            </a:xfrm>
            <a:prstGeom prst="ellipse">
              <a:avLst/>
            </a:prstGeom>
            <a:solidFill>
              <a:srgbClr val="339966"/>
            </a:solidFill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75" name="Oval 43"/>
            <p:cNvSpPr/>
            <p:nvPr/>
          </p:nvSpPr>
          <p:spPr>
            <a:xfrm>
              <a:off x="5035" y="1207"/>
              <a:ext cx="68" cy="68"/>
            </a:xfrm>
            <a:prstGeom prst="ellipse">
              <a:avLst/>
            </a:prstGeom>
            <a:solidFill>
              <a:srgbClr val="339966"/>
            </a:solidFill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20700" y="2235200"/>
            <a:ext cx="50800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解：（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）理想气体内能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4"/>
          <a:stretch>
            <a:fillRect/>
          </a:stretch>
        </p:blipFill>
        <p:spPr>
          <a:xfrm>
            <a:off x="1130300" y="2705100"/>
            <a:ext cx="2660650" cy="779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5" name="文本框 104"/>
          <p:cNvSpPr txBox="1"/>
          <p:nvPr/>
        </p:nvSpPr>
        <p:spPr>
          <a:xfrm>
            <a:off x="369888" y="3451225"/>
            <a:ext cx="636905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A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气体自由度为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气体自由度为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5"/>
          <a:stretch>
            <a:fillRect/>
          </a:stretch>
        </p:blipFill>
        <p:spPr>
          <a:xfrm>
            <a:off x="520700" y="3975100"/>
            <a:ext cx="1681163" cy="860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/>
          <p:nvPr/>
        </p:nvPicPr>
        <p:blipFill>
          <a:blip r:embed="rId6"/>
          <a:stretch>
            <a:fillRect/>
          </a:stretch>
        </p:blipFill>
        <p:spPr>
          <a:xfrm>
            <a:off x="3446463" y="4040188"/>
            <a:ext cx="1431925" cy="792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7" name="文本框 106"/>
          <p:cNvSpPr txBox="1"/>
          <p:nvPr/>
        </p:nvSpPr>
        <p:spPr>
          <a:xfrm>
            <a:off x="417513" y="4832350"/>
            <a:ext cx="7685087" cy="11985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indent="276225">
              <a:spcBef>
                <a:spcPct val="50000"/>
              </a:spcBef>
            </a:pP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）设两种气体混合后处于平衡时的温度为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，气体内能不变，有</a:t>
            </a:r>
          </a:p>
          <a:p>
            <a:pPr indent="276225">
              <a:spcBef>
                <a:spcPct val="50000"/>
              </a:spcBef>
            </a:pP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初内能：</a:t>
            </a: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7"/>
          <a:stretch>
            <a:fillRect/>
          </a:stretch>
        </p:blipFill>
        <p:spPr>
          <a:xfrm>
            <a:off x="1935163" y="5553075"/>
            <a:ext cx="1855787" cy="477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8" name="文本框 107"/>
          <p:cNvSpPr txBox="1"/>
          <p:nvPr/>
        </p:nvSpPr>
        <p:spPr>
          <a:xfrm>
            <a:off x="131763" y="6030913"/>
            <a:ext cx="50800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indent="276225">
              <a:spcBef>
                <a:spcPct val="50000"/>
              </a:spcBef>
            </a:pP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末内能：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8"/>
          <a:stretch>
            <a:fillRect/>
          </a:stretch>
        </p:blipFill>
        <p:spPr>
          <a:xfrm>
            <a:off x="1928813" y="6030913"/>
            <a:ext cx="2049462" cy="663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9" name="图片 108"/>
          <p:cNvPicPr/>
          <p:nvPr/>
        </p:nvPicPr>
        <p:blipFill>
          <a:blip r:embed="rId9"/>
          <a:stretch>
            <a:fillRect/>
          </a:stretch>
        </p:blipFill>
        <p:spPr>
          <a:xfrm>
            <a:off x="4838700" y="5716588"/>
            <a:ext cx="1006475" cy="527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" name="图片 109"/>
          <p:cNvPicPr/>
          <p:nvPr/>
        </p:nvPicPr>
        <p:blipFill>
          <a:blip r:embed="rId10"/>
          <a:stretch>
            <a:fillRect/>
          </a:stretch>
        </p:blipFill>
        <p:spPr>
          <a:xfrm>
            <a:off x="6462713" y="5513388"/>
            <a:ext cx="1497012" cy="9318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5" grpId="0"/>
      <p:bldP spid="107" grpId="0"/>
      <p:bldP spid="10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61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743426" name="文本框 743425"/>
          <p:cNvSpPr txBox="1"/>
          <p:nvPr/>
        </p:nvSpPr>
        <p:spPr>
          <a:xfrm>
            <a:off x="395288" y="1141413"/>
            <a:ext cx="7543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扩散与</a:t>
            </a:r>
          </a:p>
        </p:txBody>
      </p:sp>
      <p:sp>
        <p:nvSpPr>
          <p:cNvPr id="743427" name="文本框 743426"/>
          <p:cNvSpPr txBox="1"/>
          <p:nvPr/>
        </p:nvSpPr>
        <p:spPr>
          <a:xfrm>
            <a:off x="3419475" y="1125538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矛盾</a:t>
            </a:r>
          </a:p>
        </p:txBody>
      </p:sp>
      <p:graphicFrame>
        <p:nvGraphicFramePr>
          <p:cNvPr id="743428" name="对象 743427"/>
          <p:cNvGraphicFramePr/>
          <p:nvPr/>
        </p:nvGraphicFramePr>
        <p:xfrm>
          <a:off x="1677988" y="1125538"/>
          <a:ext cx="168433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9" r:id="rId3" imgW="880745" imgH="234315" progId="Equation.3">
                  <p:embed/>
                </p:oleObj>
              </mc:Choice>
              <mc:Fallback>
                <p:oleObj r:id="rId3" imgW="880745" imgH="234315" progId="Equation.3">
                  <p:embed/>
                  <p:pic>
                    <p:nvPicPr>
                      <p:cNvPr id="0" name="图片 339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77988" y="1125538"/>
                        <a:ext cx="1684337" cy="454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3429" name="文本框 743428"/>
          <p:cNvSpPr txBox="1"/>
          <p:nvPr/>
        </p:nvSpPr>
        <p:spPr>
          <a:xfrm>
            <a:off x="395288" y="1773238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解释：</a:t>
            </a:r>
          </a:p>
        </p:txBody>
      </p:sp>
      <p:sp>
        <p:nvSpPr>
          <p:cNvPr id="743430" name="文本框 743429"/>
          <p:cNvSpPr txBox="1"/>
          <p:nvPr/>
        </p:nvSpPr>
        <p:spPr>
          <a:xfrm>
            <a:off x="395288" y="2349500"/>
            <a:ext cx="4248150" cy="82232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分子由于不断的碰撞走了一条艰难曲折的道路</a:t>
            </a:r>
          </a:p>
        </p:txBody>
      </p:sp>
      <p:sp>
        <p:nvSpPr>
          <p:cNvPr id="743431" name="文本框 743430"/>
          <p:cNvSpPr txBox="1"/>
          <p:nvPr/>
        </p:nvSpPr>
        <p:spPr>
          <a:xfrm>
            <a:off x="395288" y="3332163"/>
            <a:ext cx="3657600" cy="82232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描述气体分子碰撞问题的物理量是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</a:p>
        </p:txBody>
      </p:sp>
      <p:sp>
        <p:nvSpPr>
          <p:cNvPr id="743432" name="文本框 743431"/>
          <p:cNvSpPr txBox="1"/>
          <p:nvPr/>
        </p:nvSpPr>
        <p:spPr>
          <a:xfrm>
            <a:off x="1908175" y="185738"/>
            <a:ext cx="6337300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b="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12-5  </a:t>
            </a:r>
            <a:r>
              <a:rPr kumimoji="0" lang="zh-CN" altLang="en-US" b="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分子碰撞的统计规律</a:t>
            </a:r>
          </a:p>
        </p:txBody>
      </p:sp>
      <p:grpSp>
        <p:nvGrpSpPr>
          <p:cNvPr id="2" name="组合 743432"/>
          <p:cNvGrpSpPr/>
          <p:nvPr/>
        </p:nvGrpSpPr>
        <p:grpSpPr>
          <a:xfrm>
            <a:off x="4859338" y="1052513"/>
            <a:ext cx="3403600" cy="2447925"/>
            <a:chOff x="2653" y="1026"/>
            <a:chExt cx="2144" cy="1542"/>
          </a:xfrm>
        </p:grpSpPr>
        <p:grpSp>
          <p:nvGrpSpPr>
            <p:cNvPr id="106506" name="组合 743433"/>
            <p:cNvGrpSpPr/>
            <p:nvPr/>
          </p:nvGrpSpPr>
          <p:grpSpPr>
            <a:xfrm>
              <a:off x="2653" y="1026"/>
              <a:ext cx="2144" cy="1488"/>
              <a:chOff x="3024" y="1248"/>
              <a:chExt cx="2144" cy="1488"/>
            </a:xfrm>
          </p:grpSpPr>
          <p:sp>
            <p:nvSpPr>
              <p:cNvPr id="106507" name="任意多边形 743434"/>
              <p:cNvSpPr/>
              <p:nvPr/>
            </p:nvSpPr>
            <p:spPr>
              <a:xfrm>
                <a:off x="3216" y="1488"/>
                <a:ext cx="1824" cy="1200"/>
              </a:xfrm>
              <a:custGeom>
                <a:avLst/>
                <a:gdLst/>
                <a:ahLst/>
                <a:cxnLst>
                  <a:cxn ang="0">
                    <a:pos x="48" y="816"/>
                  </a:cxn>
                  <a:cxn ang="0">
                    <a:pos x="0" y="192"/>
                  </a:cxn>
                  <a:cxn ang="0">
                    <a:pos x="528" y="336"/>
                  </a:cxn>
                  <a:cxn ang="0">
                    <a:pos x="816" y="624"/>
                  </a:cxn>
                  <a:cxn ang="0">
                    <a:pos x="672" y="1200"/>
                  </a:cxn>
                  <a:cxn ang="0">
                    <a:pos x="384" y="864"/>
                  </a:cxn>
                  <a:cxn ang="0">
                    <a:pos x="576" y="768"/>
                  </a:cxn>
                  <a:cxn ang="0">
                    <a:pos x="768" y="144"/>
                  </a:cxn>
                  <a:cxn ang="0">
                    <a:pos x="1056" y="288"/>
                  </a:cxn>
                  <a:cxn ang="0">
                    <a:pos x="1296" y="672"/>
                  </a:cxn>
                  <a:cxn ang="0">
                    <a:pos x="1824" y="768"/>
                  </a:cxn>
                  <a:cxn ang="0">
                    <a:pos x="1152" y="0"/>
                  </a:cxn>
                  <a:cxn ang="0">
                    <a:pos x="1440" y="528"/>
                  </a:cxn>
                  <a:cxn ang="0">
                    <a:pos x="1248" y="384"/>
                  </a:cxn>
                  <a:cxn ang="0">
                    <a:pos x="1728" y="240"/>
                  </a:cxn>
                  <a:cxn ang="0">
                    <a:pos x="1488" y="96"/>
                  </a:cxn>
                  <a:cxn ang="0">
                    <a:pos x="1680" y="0"/>
                  </a:cxn>
                </a:cxnLst>
                <a:rect l="0" t="0" r="0" b="0"/>
                <a:pathLst>
                  <a:path w="1824" h="1200">
                    <a:moveTo>
                      <a:pt x="48" y="816"/>
                    </a:moveTo>
                    <a:lnTo>
                      <a:pt x="0" y="192"/>
                    </a:lnTo>
                    <a:lnTo>
                      <a:pt x="528" y="336"/>
                    </a:lnTo>
                    <a:lnTo>
                      <a:pt x="816" y="624"/>
                    </a:lnTo>
                    <a:lnTo>
                      <a:pt x="672" y="1200"/>
                    </a:lnTo>
                    <a:lnTo>
                      <a:pt x="384" y="864"/>
                    </a:lnTo>
                    <a:lnTo>
                      <a:pt x="576" y="768"/>
                    </a:lnTo>
                    <a:lnTo>
                      <a:pt x="768" y="144"/>
                    </a:lnTo>
                    <a:lnTo>
                      <a:pt x="1056" y="288"/>
                    </a:lnTo>
                    <a:lnTo>
                      <a:pt x="1296" y="672"/>
                    </a:lnTo>
                    <a:lnTo>
                      <a:pt x="1824" y="768"/>
                    </a:lnTo>
                    <a:lnTo>
                      <a:pt x="1152" y="0"/>
                    </a:lnTo>
                    <a:lnTo>
                      <a:pt x="1440" y="528"/>
                    </a:lnTo>
                    <a:lnTo>
                      <a:pt x="1248" y="384"/>
                    </a:lnTo>
                    <a:lnTo>
                      <a:pt x="1728" y="240"/>
                    </a:lnTo>
                    <a:lnTo>
                      <a:pt x="1488" y="96"/>
                    </a:lnTo>
                    <a:lnTo>
                      <a:pt x="1680" y="0"/>
                    </a:lnTo>
                  </a:path>
                </a:pathLst>
              </a:cu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08" name="椭圆 743435"/>
              <p:cNvSpPr/>
              <p:nvPr/>
            </p:nvSpPr>
            <p:spPr>
              <a:xfrm>
                <a:off x="3216" y="1248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09" name="椭圆 743436"/>
              <p:cNvSpPr/>
              <p:nvPr/>
            </p:nvSpPr>
            <p:spPr>
              <a:xfrm>
                <a:off x="3648" y="1344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10" name="椭圆 743437"/>
              <p:cNvSpPr/>
              <p:nvPr/>
            </p:nvSpPr>
            <p:spPr>
              <a:xfrm>
                <a:off x="3024" y="1824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11" name="椭圆 743438"/>
              <p:cNvSpPr/>
              <p:nvPr/>
            </p:nvSpPr>
            <p:spPr>
              <a:xfrm>
                <a:off x="4320" y="2496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12" name="椭圆 743439"/>
              <p:cNvSpPr/>
              <p:nvPr/>
            </p:nvSpPr>
            <p:spPr>
              <a:xfrm>
                <a:off x="3120" y="1584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13" name="椭圆 743440"/>
              <p:cNvSpPr/>
              <p:nvPr/>
            </p:nvSpPr>
            <p:spPr>
              <a:xfrm>
                <a:off x="4656" y="1248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14" name="椭圆 743441"/>
              <p:cNvSpPr/>
              <p:nvPr/>
            </p:nvSpPr>
            <p:spPr>
              <a:xfrm>
                <a:off x="4320" y="1872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15" name="椭圆 743442"/>
              <p:cNvSpPr/>
              <p:nvPr/>
            </p:nvSpPr>
            <p:spPr>
              <a:xfrm>
                <a:off x="3120" y="2016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16" name="椭圆 743443"/>
              <p:cNvSpPr/>
              <p:nvPr/>
            </p:nvSpPr>
            <p:spPr>
              <a:xfrm>
                <a:off x="3456" y="2448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17" name="椭圆 743444"/>
              <p:cNvSpPr/>
              <p:nvPr/>
            </p:nvSpPr>
            <p:spPr>
              <a:xfrm>
                <a:off x="3504" y="2064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18" name="椭圆 743445"/>
              <p:cNvSpPr/>
              <p:nvPr/>
            </p:nvSpPr>
            <p:spPr>
              <a:xfrm>
                <a:off x="4608" y="2016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19" name="椭圆 743446"/>
              <p:cNvSpPr/>
              <p:nvPr/>
            </p:nvSpPr>
            <p:spPr>
              <a:xfrm>
                <a:off x="3744" y="2640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20" name="椭圆 743447"/>
              <p:cNvSpPr/>
              <p:nvPr/>
            </p:nvSpPr>
            <p:spPr>
              <a:xfrm>
                <a:off x="4656" y="2448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21" name="椭圆 743448"/>
              <p:cNvSpPr/>
              <p:nvPr/>
            </p:nvSpPr>
            <p:spPr>
              <a:xfrm>
                <a:off x="3120" y="2256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22" name="椭圆 743449"/>
              <p:cNvSpPr/>
              <p:nvPr/>
            </p:nvSpPr>
            <p:spPr>
              <a:xfrm>
                <a:off x="3984" y="1536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23" name="椭圆 743450"/>
              <p:cNvSpPr/>
              <p:nvPr/>
            </p:nvSpPr>
            <p:spPr>
              <a:xfrm>
                <a:off x="3408" y="1632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24" name="椭圆 743451"/>
              <p:cNvSpPr/>
              <p:nvPr/>
            </p:nvSpPr>
            <p:spPr>
              <a:xfrm>
                <a:off x="4992" y="1728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25" name="椭圆 743452"/>
              <p:cNvSpPr/>
              <p:nvPr/>
            </p:nvSpPr>
            <p:spPr>
              <a:xfrm>
                <a:off x="4272" y="1680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26" name="椭圆 743453"/>
              <p:cNvSpPr/>
              <p:nvPr/>
            </p:nvSpPr>
            <p:spPr>
              <a:xfrm>
                <a:off x="4704" y="1632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27" name="椭圆 743454"/>
              <p:cNvSpPr/>
              <p:nvPr/>
            </p:nvSpPr>
            <p:spPr>
              <a:xfrm>
                <a:off x="4800" y="1488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28" name="椭圆 743455"/>
              <p:cNvSpPr/>
              <p:nvPr/>
            </p:nvSpPr>
            <p:spPr>
              <a:xfrm>
                <a:off x="4080" y="1824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29" name="椭圆 743456"/>
              <p:cNvSpPr/>
              <p:nvPr/>
            </p:nvSpPr>
            <p:spPr>
              <a:xfrm>
                <a:off x="4272" y="1440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30" name="椭圆 743457"/>
              <p:cNvSpPr/>
              <p:nvPr/>
            </p:nvSpPr>
            <p:spPr>
              <a:xfrm>
                <a:off x="3696" y="1584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31" name="椭圆 743458"/>
              <p:cNvSpPr/>
              <p:nvPr/>
            </p:nvSpPr>
            <p:spPr>
              <a:xfrm>
                <a:off x="3696" y="1872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32" name="椭圆 743459"/>
              <p:cNvSpPr/>
              <p:nvPr/>
            </p:nvSpPr>
            <p:spPr>
              <a:xfrm>
                <a:off x="4080" y="2016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33" name="椭圆 743460"/>
              <p:cNvSpPr/>
              <p:nvPr/>
            </p:nvSpPr>
            <p:spPr>
              <a:xfrm>
                <a:off x="3792" y="2304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34" name="椭圆 743461"/>
              <p:cNvSpPr/>
              <p:nvPr/>
            </p:nvSpPr>
            <p:spPr>
              <a:xfrm>
                <a:off x="4032" y="2304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35" name="椭圆 743462"/>
              <p:cNvSpPr/>
              <p:nvPr/>
            </p:nvSpPr>
            <p:spPr>
              <a:xfrm>
                <a:off x="5040" y="2256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36" name="椭圆 743463"/>
              <p:cNvSpPr/>
              <p:nvPr/>
            </p:nvSpPr>
            <p:spPr>
              <a:xfrm>
                <a:off x="4368" y="2112"/>
                <a:ext cx="96" cy="96"/>
              </a:xfrm>
              <a:prstGeom prst="ellipse">
                <a:avLst/>
              </a:prstGeom>
              <a:noFill/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37" name="椭圆 743464"/>
              <p:cNvSpPr/>
              <p:nvPr/>
            </p:nvSpPr>
            <p:spPr>
              <a:xfrm>
                <a:off x="3216" y="2256"/>
                <a:ext cx="96" cy="96"/>
              </a:xfrm>
              <a:prstGeom prst="ellipse">
                <a:avLst/>
              </a:prstGeom>
              <a:solidFill>
                <a:srgbClr val="FF99FF"/>
              </a:solidFill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38" name="椭圆 743465"/>
              <p:cNvSpPr/>
              <p:nvPr/>
            </p:nvSpPr>
            <p:spPr>
              <a:xfrm>
                <a:off x="3840" y="2592"/>
                <a:ext cx="96" cy="96"/>
              </a:xfrm>
              <a:prstGeom prst="ellipse">
                <a:avLst/>
              </a:prstGeom>
              <a:solidFill>
                <a:srgbClr val="FF99FF"/>
              </a:solidFill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39" name="直接连接符 743466"/>
              <p:cNvSpPr/>
              <p:nvPr/>
            </p:nvSpPr>
            <p:spPr>
              <a:xfrm flipH="1" flipV="1">
                <a:off x="3312" y="2352"/>
                <a:ext cx="96" cy="192"/>
              </a:xfrm>
              <a:prstGeom prst="line">
                <a:avLst/>
              </a:prstGeom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stealth" w="med" len="lg"/>
              </a:ln>
            </p:spPr>
          </p:sp>
          <p:sp>
            <p:nvSpPr>
              <p:cNvPr id="106540" name="直接连接符 743467"/>
              <p:cNvSpPr/>
              <p:nvPr/>
            </p:nvSpPr>
            <p:spPr>
              <a:xfrm flipV="1">
                <a:off x="3264" y="1536"/>
                <a:ext cx="1632" cy="76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lg"/>
              </a:ln>
            </p:spPr>
          </p:sp>
          <p:sp>
            <p:nvSpPr>
              <p:cNvPr id="106541" name="椭圆 743468"/>
              <p:cNvSpPr/>
              <p:nvPr/>
            </p:nvSpPr>
            <p:spPr>
              <a:xfrm>
                <a:off x="4848" y="1440"/>
                <a:ext cx="96" cy="96"/>
              </a:xfrm>
              <a:prstGeom prst="ellipse">
                <a:avLst/>
              </a:prstGeom>
              <a:solidFill>
                <a:srgbClr val="FF99FF"/>
              </a:solidFill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42" name="椭圆 743469"/>
              <p:cNvSpPr/>
              <p:nvPr/>
            </p:nvSpPr>
            <p:spPr>
              <a:xfrm>
                <a:off x="4464" y="2112"/>
                <a:ext cx="96" cy="96"/>
              </a:xfrm>
              <a:prstGeom prst="ellipse">
                <a:avLst/>
              </a:prstGeom>
              <a:solidFill>
                <a:srgbClr val="FF99FF"/>
              </a:solidFill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43" name="椭圆 743470"/>
              <p:cNvSpPr/>
              <p:nvPr/>
            </p:nvSpPr>
            <p:spPr>
              <a:xfrm>
                <a:off x="3744" y="2208"/>
                <a:ext cx="96" cy="96"/>
              </a:xfrm>
              <a:prstGeom prst="ellipse">
                <a:avLst/>
              </a:prstGeom>
              <a:solidFill>
                <a:srgbClr val="FF99FF"/>
              </a:solidFill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44" name="椭圆 743471"/>
              <p:cNvSpPr/>
              <p:nvPr/>
            </p:nvSpPr>
            <p:spPr>
              <a:xfrm>
                <a:off x="4966" y="2193"/>
                <a:ext cx="96" cy="96"/>
              </a:xfrm>
              <a:prstGeom prst="ellipse">
                <a:avLst/>
              </a:prstGeom>
              <a:solidFill>
                <a:srgbClr val="FF99FF"/>
              </a:solidFill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graphicFrame>
            <p:nvGraphicFramePr>
              <p:cNvPr id="106545" name="对象 743472"/>
              <p:cNvGraphicFramePr/>
              <p:nvPr/>
            </p:nvGraphicFramePr>
            <p:xfrm>
              <a:off x="4992" y="1264"/>
              <a:ext cx="176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280" r:id="rId5" imgW="323215" imgH="323215" progId="Equation.3">
                      <p:embed/>
                    </p:oleObj>
                  </mc:Choice>
                  <mc:Fallback>
                    <p:oleObj r:id="rId5" imgW="323215" imgH="323215" progId="Equation.3">
                      <p:embed/>
                      <p:pic>
                        <p:nvPicPr>
                          <p:cNvPr id="0" name="图片 3394"/>
                          <p:cNvPicPr/>
                          <p:nvPr/>
                        </p:nvPicPr>
                        <p:blipFill>
                          <a:blip r:embed="rId6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992" y="1264"/>
                            <a:ext cx="176" cy="17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6546" name="椭圆 743473"/>
              <p:cNvSpPr/>
              <p:nvPr/>
            </p:nvSpPr>
            <p:spPr>
              <a:xfrm>
                <a:off x="4224" y="1728"/>
                <a:ext cx="96" cy="96"/>
              </a:xfrm>
              <a:prstGeom prst="ellipse">
                <a:avLst/>
              </a:prstGeom>
              <a:solidFill>
                <a:srgbClr val="FF99FF"/>
              </a:solidFill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47" name="椭圆 743474"/>
              <p:cNvSpPr/>
              <p:nvPr/>
            </p:nvSpPr>
            <p:spPr>
              <a:xfrm>
                <a:off x="3936" y="1584"/>
                <a:ext cx="96" cy="96"/>
              </a:xfrm>
              <a:prstGeom prst="ellipse">
                <a:avLst/>
              </a:prstGeom>
              <a:solidFill>
                <a:srgbClr val="FF99FF"/>
              </a:solidFill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48" name="椭圆 743475"/>
              <p:cNvSpPr/>
              <p:nvPr/>
            </p:nvSpPr>
            <p:spPr>
              <a:xfrm>
                <a:off x="3168" y="1632"/>
                <a:ext cx="96" cy="96"/>
              </a:xfrm>
              <a:prstGeom prst="ellipse">
                <a:avLst/>
              </a:prstGeom>
              <a:solidFill>
                <a:srgbClr val="FF99FF"/>
              </a:solidFill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49" name="椭圆 743476"/>
              <p:cNvSpPr/>
              <p:nvPr/>
            </p:nvSpPr>
            <p:spPr>
              <a:xfrm>
                <a:off x="3696" y="1776"/>
                <a:ext cx="96" cy="96"/>
              </a:xfrm>
              <a:prstGeom prst="ellipse">
                <a:avLst/>
              </a:prstGeom>
              <a:solidFill>
                <a:srgbClr val="FF99FF"/>
              </a:solidFill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50" name="椭圆 743477"/>
              <p:cNvSpPr/>
              <p:nvPr/>
            </p:nvSpPr>
            <p:spPr>
              <a:xfrm>
                <a:off x="4353" y="1440"/>
                <a:ext cx="96" cy="96"/>
              </a:xfrm>
              <a:prstGeom prst="ellipse">
                <a:avLst/>
              </a:prstGeom>
              <a:solidFill>
                <a:srgbClr val="FF99FF"/>
              </a:solidFill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51" name="椭圆 743478"/>
              <p:cNvSpPr/>
              <p:nvPr/>
            </p:nvSpPr>
            <p:spPr>
              <a:xfrm>
                <a:off x="3984" y="2064"/>
                <a:ext cx="96" cy="96"/>
              </a:xfrm>
              <a:prstGeom prst="ellipse">
                <a:avLst/>
              </a:prstGeom>
              <a:solidFill>
                <a:srgbClr val="FF99FF"/>
              </a:solidFill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52" name="椭圆 743479"/>
              <p:cNvSpPr/>
              <p:nvPr/>
            </p:nvSpPr>
            <p:spPr>
              <a:xfrm>
                <a:off x="4416" y="1824"/>
                <a:ext cx="96" cy="96"/>
              </a:xfrm>
              <a:prstGeom prst="ellipse">
                <a:avLst/>
              </a:prstGeom>
              <a:solidFill>
                <a:srgbClr val="FF99FF"/>
              </a:solidFill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53" name="椭圆 743480"/>
              <p:cNvSpPr/>
              <p:nvPr/>
            </p:nvSpPr>
            <p:spPr>
              <a:xfrm>
                <a:off x="4896" y="1680"/>
                <a:ext cx="96" cy="96"/>
              </a:xfrm>
              <a:prstGeom prst="ellipse">
                <a:avLst/>
              </a:prstGeom>
              <a:solidFill>
                <a:srgbClr val="FF99FF"/>
              </a:solidFill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54" name="椭圆 743481"/>
              <p:cNvSpPr/>
              <p:nvPr/>
            </p:nvSpPr>
            <p:spPr>
              <a:xfrm>
                <a:off x="4656" y="1547"/>
                <a:ext cx="96" cy="96"/>
              </a:xfrm>
              <a:prstGeom prst="ellipse">
                <a:avLst/>
              </a:prstGeom>
              <a:solidFill>
                <a:srgbClr val="FF99FF"/>
              </a:solidFill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55" name="椭圆 743482"/>
              <p:cNvSpPr/>
              <p:nvPr/>
            </p:nvSpPr>
            <p:spPr>
              <a:xfrm>
                <a:off x="3552" y="2304"/>
                <a:ext cx="96" cy="96"/>
              </a:xfrm>
              <a:prstGeom prst="ellipse">
                <a:avLst/>
              </a:prstGeom>
              <a:solidFill>
                <a:srgbClr val="FF99FF"/>
              </a:solidFill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6556" name="椭圆 743483"/>
              <p:cNvSpPr/>
              <p:nvPr/>
            </p:nvSpPr>
            <p:spPr>
              <a:xfrm>
                <a:off x="4560" y="1935"/>
                <a:ext cx="96" cy="96"/>
              </a:xfrm>
              <a:prstGeom prst="ellipse">
                <a:avLst/>
              </a:prstGeom>
              <a:solidFill>
                <a:srgbClr val="FF99FF"/>
              </a:solidFill>
              <a:ln w="19050" cap="flat" cmpd="sng">
                <a:solidFill>
                  <a:srgbClr val="990000"/>
                </a:solidFill>
                <a:prstDash val="solid"/>
                <a:round/>
                <a:headEnd type="none" w="med" len="med"/>
                <a:tailEnd type="none" w="med" len="lg"/>
              </a:ln>
            </p:spPr>
            <p:txBody>
              <a:bodyPr anchor="t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  <p:graphicFrame>
          <p:nvGraphicFramePr>
            <p:cNvPr id="106557" name="对象 743484"/>
            <p:cNvGraphicFramePr/>
            <p:nvPr/>
          </p:nvGraphicFramePr>
          <p:xfrm>
            <a:off x="2925" y="2341"/>
            <a:ext cx="210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81" r:id="rId7" imgW="152400" imgH="165100" progId="Equation.3">
                    <p:embed/>
                  </p:oleObj>
                </mc:Choice>
                <mc:Fallback>
                  <p:oleObj r:id="rId7" imgW="152400" imgH="165100" progId="Equation.3">
                    <p:embed/>
                    <p:pic>
                      <p:nvPicPr>
                        <p:cNvPr id="0" name="图片 339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925" y="2341"/>
                          <a:ext cx="210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43486" name="矩形 743485"/>
          <p:cNvSpPr/>
          <p:nvPr/>
        </p:nvSpPr>
        <p:spPr>
          <a:xfrm>
            <a:off x="395288" y="4173538"/>
            <a:ext cx="20351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平均碰撞频率</a:t>
            </a:r>
          </a:p>
        </p:txBody>
      </p:sp>
      <p:graphicFrame>
        <p:nvGraphicFramePr>
          <p:cNvPr id="743487" name="对象 743486"/>
          <p:cNvGraphicFramePr/>
          <p:nvPr/>
        </p:nvGraphicFramePr>
        <p:xfrm>
          <a:off x="2379663" y="4144963"/>
          <a:ext cx="4635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2" r:id="rId9" imgW="189865" imgH="189865" progId="Equation.3">
                  <p:embed/>
                </p:oleObj>
              </mc:Choice>
              <mc:Fallback>
                <p:oleObj r:id="rId9" imgW="189865" imgH="189865" progId="Equation.3">
                  <p:embed/>
                  <p:pic>
                    <p:nvPicPr>
                      <p:cNvPr id="0" name="图片 339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79663" y="4144963"/>
                        <a:ext cx="46355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743487"/>
          <p:cNvGrpSpPr/>
          <p:nvPr/>
        </p:nvGrpSpPr>
        <p:grpSpPr>
          <a:xfrm>
            <a:off x="2843213" y="4192588"/>
            <a:ext cx="8401050" cy="960437"/>
            <a:chOff x="1791" y="2387"/>
            <a:chExt cx="5292" cy="605"/>
          </a:xfrm>
        </p:grpSpPr>
        <p:sp>
          <p:nvSpPr>
            <p:cNvPr id="743489" name="文本框 743488"/>
            <p:cNvSpPr txBox="1"/>
            <p:nvPr/>
          </p:nvSpPr>
          <p:spPr>
            <a:xfrm>
              <a:off x="1809" y="2704"/>
              <a:ext cx="21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algn="just" defTabSz="914400">
                <a:buClrTx/>
                <a:buSzTx/>
                <a:buFontTx/>
                <a:buNone/>
                <a:defRPr/>
              </a:pPr>
              <a:r>
                <a:rPr kumimoji="0" lang="zh-CN" altLang="en-US" sz="2400" u="sng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平均次数</a:t>
              </a: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。 </a:t>
              </a:r>
              <a:endParaRPr kumimoji="0" lang="zh-CN" altLang="en-US" sz="2400" b="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3490" name="矩形 743489"/>
            <p:cNvSpPr/>
            <p:nvPr/>
          </p:nvSpPr>
          <p:spPr>
            <a:xfrm>
              <a:off x="1791" y="2387"/>
              <a:ext cx="52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sng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单位时间内</a:t>
              </a: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一个气体分子与其它分子碰撞的</a:t>
              </a:r>
            </a:p>
          </p:txBody>
        </p:sp>
      </p:grpSp>
      <p:sp>
        <p:nvSpPr>
          <p:cNvPr id="743491" name="文本框 743490"/>
          <p:cNvSpPr txBox="1"/>
          <p:nvPr/>
        </p:nvSpPr>
        <p:spPr>
          <a:xfrm>
            <a:off x="395288" y="5111750"/>
            <a:ext cx="62642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algn="just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平均自由程</a:t>
            </a:r>
            <a:endParaRPr kumimoji="0" lang="zh-CN" altLang="en-US" sz="2400" b="0" kern="1200" cap="none" spc="0" normalizeH="0" baseline="0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43492" name="对象 743491"/>
          <p:cNvGraphicFramePr/>
          <p:nvPr/>
        </p:nvGraphicFramePr>
        <p:xfrm>
          <a:off x="2249488" y="5054600"/>
          <a:ext cx="5937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3" r:id="rId11" imgW="234315" imgH="234315" progId="Equation.3">
                  <p:embed/>
                </p:oleObj>
              </mc:Choice>
              <mc:Fallback>
                <p:oleObj r:id="rId11" imgW="234315" imgH="234315" progId="Equation.3">
                  <p:embed/>
                  <p:pic>
                    <p:nvPicPr>
                      <p:cNvPr id="0" name="图片 339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49488" y="5054600"/>
                        <a:ext cx="593725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493" name="对象 743492"/>
          <p:cNvGraphicFramePr/>
          <p:nvPr/>
        </p:nvGraphicFramePr>
        <p:xfrm>
          <a:off x="3240088" y="5803900"/>
          <a:ext cx="122237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4" r:id="rId13" imgW="419100" imgH="393700" progId="Equation.3">
                  <p:embed/>
                </p:oleObj>
              </mc:Choice>
              <mc:Fallback>
                <p:oleObj r:id="rId13" imgW="419100" imgH="393700" progId="Equation.3">
                  <p:embed/>
                  <p:pic>
                    <p:nvPicPr>
                      <p:cNvPr id="0" name="图片 339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40088" y="5803900"/>
                        <a:ext cx="1222375" cy="949325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accent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3494" name="矩形 743493"/>
          <p:cNvSpPr/>
          <p:nvPr/>
        </p:nvSpPr>
        <p:spPr>
          <a:xfrm>
            <a:off x="2771775" y="5126038"/>
            <a:ext cx="66246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气体分子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在</a:t>
            </a:r>
            <a:r>
              <a:rPr kumimoji="0" lang="zh-CN" altLang="en-US" sz="2400" b="1" i="0" u="sng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相邻两次碰撞间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通过的</a:t>
            </a:r>
            <a:r>
              <a:rPr kumimoji="0" lang="zh-CN" altLang="en-US" sz="2400" b="1" i="0" u="sng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平均路程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3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4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4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434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4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4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743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743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74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74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4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4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3426" grpId="0" build="p"/>
      <p:bldP spid="743427" grpId="0"/>
      <p:bldP spid="743429" grpId="0" build="p"/>
      <p:bldP spid="743430" grpId="0"/>
      <p:bldP spid="743431" grpId="0"/>
      <p:bldP spid="743486" grpId="0"/>
      <p:bldP spid="743491" grpId="0"/>
      <p:bldP spid="74349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62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744450" name="文本框 744449"/>
          <p:cNvSpPr txBox="1"/>
          <p:nvPr/>
        </p:nvSpPr>
        <p:spPr>
          <a:xfrm>
            <a:off x="179388" y="692150"/>
            <a:ext cx="26019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>
                <a:srgbClr val="66CCFF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假设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(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模型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)</a:t>
            </a:r>
          </a:p>
        </p:txBody>
      </p:sp>
      <p:grpSp>
        <p:nvGrpSpPr>
          <p:cNvPr id="2" name="组合 744450"/>
          <p:cNvGrpSpPr/>
          <p:nvPr/>
        </p:nvGrpSpPr>
        <p:grpSpPr>
          <a:xfrm>
            <a:off x="466725" y="2133600"/>
            <a:ext cx="7273925" cy="822325"/>
            <a:chOff x="249" y="1344"/>
            <a:chExt cx="4582" cy="518"/>
          </a:xfrm>
        </p:grpSpPr>
        <p:graphicFrame>
          <p:nvGraphicFramePr>
            <p:cNvPr id="107524" name="对象 744451"/>
            <p:cNvGraphicFramePr/>
            <p:nvPr/>
          </p:nvGraphicFramePr>
          <p:xfrm>
            <a:off x="2789" y="1411"/>
            <a:ext cx="129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20" r:id="rId3" imgW="278765" imgH="300990" progId="Equation.3">
                    <p:embed/>
                  </p:oleObj>
                </mc:Choice>
                <mc:Fallback>
                  <p:oleObj r:id="rId3" imgW="278765" imgH="300990" progId="Equation.3">
                    <p:embed/>
                    <p:pic>
                      <p:nvPicPr>
                        <p:cNvPr id="0" name="图片 3397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33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89" y="1411"/>
                          <a:ext cx="129" cy="1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4453" name="文本框 744452"/>
            <p:cNvSpPr txBox="1"/>
            <p:nvPr/>
          </p:nvSpPr>
          <p:spPr>
            <a:xfrm>
              <a:off x="249" y="1344"/>
              <a:ext cx="4582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anose="02010609030101010101" pitchFamily="49" charset="-122"/>
                  <a:cs typeface="+mn-cs"/>
                </a:rPr>
                <a:t>被考察</a:t>
              </a:r>
              <a:r>
                <a:rPr kumimoji="0" lang="zh-CN" altLang="en-US" sz="2400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anose="02010609030101010101" pitchFamily="49" charset="-122"/>
                  <a:cs typeface="+mn-cs"/>
                </a:rPr>
                <a:t>分子</a:t>
              </a:r>
              <a:r>
                <a:rPr kumimoji="0" lang="en-US" altLang="zh-CN" sz="2400" i="1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anose="02010609030101010101" pitchFamily="49" charset="-122"/>
                  <a:cs typeface="+mn-cs"/>
                </a:rPr>
                <a:t>A</a:t>
              </a:r>
              <a:r>
                <a:rPr kumimoji="0" lang="zh-CN" altLang="en-US" sz="2400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anose="02010609030101010101" pitchFamily="49" charset="-122"/>
                  <a:cs typeface="+mn-cs"/>
                </a:rPr>
                <a:t>以</a:t>
              </a:r>
              <a:r>
                <a:rPr kumimoji="0" lang="zh-CN" altLang="en-US" sz="2400" u="sng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anose="02010609030101010101" pitchFamily="49" charset="-122"/>
                  <a:cs typeface="+mn-cs"/>
                </a:rPr>
                <a:t>平均相对速率</a:t>
              </a: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anose="02010609030101010101" pitchFamily="49" charset="-122"/>
                  <a:cs typeface="+mn-cs"/>
                </a:rPr>
                <a:t>     </a:t>
              </a:r>
            </a:p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anose="02010609030101010101" pitchFamily="49" charset="-122"/>
                  <a:cs typeface="+mn-cs"/>
                </a:rPr>
                <a:t>运动，其它分子视为静止。</a:t>
              </a:r>
            </a:p>
          </p:txBody>
        </p:sp>
      </p:grpSp>
      <p:sp>
        <p:nvSpPr>
          <p:cNvPr id="744454" name="文本框 744453"/>
          <p:cNvSpPr txBox="1"/>
          <p:nvPr/>
        </p:nvSpPr>
        <p:spPr>
          <a:xfrm>
            <a:off x="466725" y="1628775"/>
            <a:ext cx="42211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分子视为直径为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d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的刚球</a:t>
            </a:r>
          </a:p>
        </p:txBody>
      </p:sp>
      <p:sp>
        <p:nvSpPr>
          <p:cNvPr id="744455" name="文本框 744454"/>
          <p:cNvSpPr txBox="1"/>
          <p:nvPr/>
        </p:nvSpPr>
        <p:spPr>
          <a:xfrm>
            <a:off x="179388" y="115888"/>
            <a:ext cx="70564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一、平均碰撞频率</a:t>
            </a:r>
            <a:endParaRPr kumimoji="0" lang="zh-CN" altLang="en-US" sz="2800" b="0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3" name="组合 744455"/>
          <p:cNvGrpSpPr/>
          <p:nvPr/>
        </p:nvGrpSpPr>
        <p:grpSpPr>
          <a:xfrm>
            <a:off x="4572000" y="476250"/>
            <a:ext cx="4606925" cy="3082925"/>
            <a:chOff x="1066" y="890"/>
            <a:chExt cx="3492" cy="2169"/>
          </a:xfrm>
        </p:grpSpPr>
        <p:sp>
          <p:nvSpPr>
            <p:cNvPr id="107529" name="直接连接符 744456"/>
            <p:cNvSpPr/>
            <p:nvPr/>
          </p:nvSpPr>
          <p:spPr>
            <a:xfrm flipV="1">
              <a:off x="1400" y="1576"/>
              <a:ext cx="554" cy="61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lg"/>
            </a:ln>
          </p:spPr>
        </p:sp>
        <p:sp>
          <p:nvSpPr>
            <p:cNvPr id="107530" name="直接连接符 744457"/>
            <p:cNvSpPr/>
            <p:nvPr/>
          </p:nvSpPr>
          <p:spPr>
            <a:xfrm flipV="1">
              <a:off x="1656" y="1911"/>
              <a:ext cx="426" cy="49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lgDash"/>
              <a:round/>
              <a:headEnd type="none" w="med" len="med"/>
              <a:tailEnd type="none" w="med" len="lg"/>
            </a:ln>
          </p:spPr>
        </p:sp>
        <p:sp>
          <p:nvSpPr>
            <p:cNvPr id="107531" name="直接连接符 744458"/>
            <p:cNvSpPr/>
            <p:nvPr/>
          </p:nvSpPr>
          <p:spPr>
            <a:xfrm>
              <a:off x="2088" y="1916"/>
              <a:ext cx="1609" cy="55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lg"/>
            </a:ln>
          </p:spPr>
        </p:sp>
        <p:sp>
          <p:nvSpPr>
            <p:cNvPr id="107532" name="直接连接符 744459"/>
            <p:cNvSpPr/>
            <p:nvPr/>
          </p:nvSpPr>
          <p:spPr>
            <a:xfrm>
              <a:off x="2003" y="1547"/>
              <a:ext cx="1535" cy="51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lg"/>
            </a:ln>
          </p:spPr>
        </p:sp>
        <p:sp>
          <p:nvSpPr>
            <p:cNvPr id="107533" name="直接连接符 744460"/>
            <p:cNvSpPr/>
            <p:nvPr/>
          </p:nvSpPr>
          <p:spPr>
            <a:xfrm flipV="1">
              <a:off x="3536" y="902"/>
              <a:ext cx="426" cy="115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lg"/>
            </a:ln>
          </p:spPr>
        </p:sp>
        <p:sp>
          <p:nvSpPr>
            <p:cNvPr id="107534" name="直接连接符 744461"/>
            <p:cNvSpPr/>
            <p:nvPr/>
          </p:nvSpPr>
          <p:spPr>
            <a:xfrm flipV="1">
              <a:off x="3749" y="931"/>
              <a:ext cx="554" cy="151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lg"/>
            </a:ln>
          </p:spPr>
        </p:sp>
        <p:sp>
          <p:nvSpPr>
            <p:cNvPr id="107535" name="椭圆 744462"/>
            <p:cNvSpPr/>
            <p:nvPr/>
          </p:nvSpPr>
          <p:spPr>
            <a:xfrm>
              <a:off x="4132" y="2081"/>
              <a:ext cx="171" cy="164"/>
            </a:xfrm>
            <a:prstGeom prst="ellipse">
              <a:avLst/>
            </a:prstGeom>
            <a:gradFill rotWithShape="1">
              <a:gsLst>
                <a:gs pos="0">
                  <a:srgbClr val="66FFFF"/>
                </a:gs>
                <a:gs pos="100000">
                  <a:srgbClr val="2F7676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07536" name="椭圆 744463"/>
            <p:cNvSpPr/>
            <p:nvPr/>
          </p:nvSpPr>
          <p:spPr>
            <a:xfrm>
              <a:off x="3621" y="2327"/>
              <a:ext cx="170" cy="165"/>
            </a:xfrm>
            <a:prstGeom prst="ellipse">
              <a:avLst/>
            </a:prstGeom>
            <a:gradFill rotWithShape="1">
              <a:gsLst>
                <a:gs pos="0">
                  <a:srgbClr val="66FFFF"/>
                </a:gs>
                <a:gs pos="100000">
                  <a:srgbClr val="2F7676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07537" name="椭圆 744464"/>
            <p:cNvSpPr/>
            <p:nvPr/>
          </p:nvSpPr>
          <p:spPr>
            <a:xfrm>
              <a:off x="2770" y="2574"/>
              <a:ext cx="170" cy="164"/>
            </a:xfrm>
            <a:prstGeom prst="ellipse">
              <a:avLst/>
            </a:prstGeom>
            <a:gradFill rotWithShape="1">
              <a:gsLst>
                <a:gs pos="0">
                  <a:srgbClr val="66FFFF"/>
                </a:gs>
                <a:gs pos="100000">
                  <a:srgbClr val="2F7676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07538" name="椭圆 744465"/>
            <p:cNvSpPr/>
            <p:nvPr/>
          </p:nvSpPr>
          <p:spPr>
            <a:xfrm>
              <a:off x="2429" y="1219"/>
              <a:ext cx="170" cy="164"/>
            </a:xfrm>
            <a:prstGeom prst="ellipse">
              <a:avLst/>
            </a:prstGeom>
            <a:gradFill rotWithShape="1">
              <a:gsLst>
                <a:gs pos="0">
                  <a:srgbClr val="66FFFF"/>
                </a:gs>
                <a:gs pos="100000">
                  <a:srgbClr val="2F7676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07539" name="椭圆 744466"/>
            <p:cNvSpPr/>
            <p:nvPr/>
          </p:nvSpPr>
          <p:spPr>
            <a:xfrm>
              <a:off x="2808" y="2081"/>
              <a:ext cx="170" cy="164"/>
            </a:xfrm>
            <a:prstGeom prst="ellipse">
              <a:avLst/>
            </a:prstGeom>
            <a:gradFill rotWithShape="1">
              <a:gsLst>
                <a:gs pos="0">
                  <a:srgbClr val="66FFFF"/>
                </a:gs>
                <a:gs pos="100000">
                  <a:srgbClr val="2F7676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07540" name="椭圆 744467"/>
            <p:cNvSpPr/>
            <p:nvPr/>
          </p:nvSpPr>
          <p:spPr>
            <a:xfrm>
              <a:off x="2003" y="2574"/>
              <a:ext cx="171" cy="164"/>
            </a:xfrm>
            <a:prstGeom prst="ellipse">
              <a:avLst/>
            </a:prstGeom>
            <a:gradFill rotWithShape="1">
              <a:gsLst>
                <a:gs pos="0">
                  <a:srgbClr val="66FFFF"/>
                </a:gs>
                <a:gs pos="100000">
                  <a:srgbClr val="2F7676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07541" name="椭圆 744468"/>
            <p:cNvSpPr/>
            <p:nvPr/>
          </p:nvSpPr>
          <p:spPr>
            <a:xfrm>
              <a:off x="1449" y="1588"/>
              <a:ext cx="171" cy="164"/>
            </a:xfrm>
            <a:prstGeom prst="ellipse">
              <a:avLst/>
            </a:prstGeom>
            <a:gradFill rotWithShape="1">
              <a:gsLst>
                <a:gs pos="0">
                  <a:srgbClr val="66FFFF"/>
                </a:gs>
                <a:gs pos="100000">
                  <a:srgbClr val="2F7676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07542" name="椭圆 744469"/>
            <p:cNvSpPr/>
            <p:nvPr/>
          </p:nvSpPr>
          <p:spPr>
            <a:xfrm>
              <a:off x="1066" y="1465"/>
              <a:ext cx="170" cy="164"/>
            </a:xfrm>
            <a:prstGeom prst="ellipse">
              <a:avLst/>
            </a:prstGeom>
            <a:gradFill rotWithShape="1">
              <a:gsLst>
                <a:gs pos="0">
                  <a:srgbClr val="66FFFF"/>
                </a:gs>
                <a:gs pos="100000">
                  <a:srgbClr val="2F7676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07543" name="椭圆 744470"/>
            <p:cNvSpPr/>
            <p:nvPr/>
          </p:nvSpPr>
          <p:spPr>
            <a:xfrm>
              <a:off x="2940" y="1259"/>
              <a:ext cx="170" cy="165"/>
            </a:xfrm>
            <a:prstGeom prst="ellipse">
              <a:avLst/>
            </a:prstGeom>
            <a:gradFill rotWithShape="1">
              <a:gsLst>
                <a:gs pos="0">
                  <a:srgbClr val="66FFFF"/>
                </a:gs>
                <a:gs pos="100000">
                  <a:srgbClr val="2F7676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07544" name="椭圆 744471"/>
            <p:cNvSpPr/>
            <p:nvPr/>
          </p:nvSpPr>
          <p:spPr>
            <a:xfrm>
              <a:off x="4217" y="1547"/>
              <a:ext cx="171" cy="165"/>
            </a:xfrm>
            <a:prstGeom prst="ellipse">
              <a:avLst/>
            </a:prstGeom>
            <a:gradFill rotWithShape="1">
              <a:gsLst>
                <a:gs pos="0">
                  <a:srgbClr val="66FFFF"/>
                </a:gs>
                <a:gs pos="100000">
                  <a:srgbClr val="2F7676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07545" name="椭圆 744472"/>
            <p:cNvSpPr/>
            <p:nvPr/>
          </p:nvSpPr>
          <p:spPr>
            <a:xfrm>
              <a:off x="3450" y="1136"/>
              <a:ext cx="171" cy="165"/>
            </a:xfrm>
            <a:prstGeom prst="ellipse">
              <a:avLst/>
            </a:prstGeom>
            <a:gradFill rotWithShape="1">
              <a:gsLst>
                <a:gs pos="0">
                  <a:srgbClr val="66FFFF"/>
                </a:gs>
                <a:gs pos="100000">
                  <a:srgbClr val="2F7676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07546" name="椭圆 744473"/>
            <p:cNvSpPr/>
            <p:nvPr/>
          </p:nvSpPr>
          <p:spPr>
            <a:xfrm>
              <a:off x="4388" y="1136"/>
              <a:ext cx="170" cy="165"/>
            </a:xfrm>
            <a:prstGeom prst="ellipse">
              <a:avLst/>
            </a:prstGeom>
            <a:gradFill rotWithShape="1">
              <a:gsLst>
                <a:gs pos="0">
                  <a:srgbClr val="66FFFF"/>
                </a:gs>
                <a:gs pos="100000">
                  <a:srgbClr val="2F7676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07547" name="椭圆 744474"/>
            <p:cNvSpPr/>
            <p:nvPr/>
          </p:nvSpPr>
          <p:spPr>
            <a:xfrm>
              <a:off x="2216" y="2204"/>
              <a:ext cx="170" cy="165"/>
            </a:xfrm>
            <a:prstGeom prst="ellipse">
              <a:avLst/>
            </a:prstGeom>
            <a:gradFill rotWithShape="1">
              <a:gsLst>
                <a:gs pos="0">
                  <a:srgbClr val="66FFFF"/>
                </a:gs>
                <a:gs pos="100000">
                  <a:srgbClr val="2F7676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07548" name="椭圆 744475"/>
            <p:cNvSpPr/>
            <p:nvPr/>
          </p:nvSpPr>
          <p:spPr>
            <a:xfrm>
              <a:off x="3025" y="1588"/>
              <a:ext cx="170" cy="164"/>
            </a:xfrm>
            <a:prstGeom prst="ellipse">
              <a:avLst/>
            </a:prstGeom>
            <a:gradFill rotWithShape="1">
              <a:gsLst>
                <a:gs pos="0">
                  <a:srgbClr val="66FFFF"/>
                </a:gs>
                <a:gs pos="100000">
                  <a:srgbClr val="2F7676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07549" name="椭圆 744476"/>
            <p:cNvSpPr/>
            <p:nvPr/>
          </p:nvSpPr>
          <p:spPr>
            <a:xfrm>
              <a:off x="3366" y="1588"/>
              <a:ext cx="170" cy="164"/>
            </a:xfrm>
            <a:prstGeom prst="ellipse">
              <a:avLst/>
            </a:prstGeom>
            <a:gradFill rotWithShape="1">
              <a:gsLst>
                <a:gs pos="0">
                  <a:srgbClr val="66FFFF"/>
                </a:gs>
                <a:gs pos="100000">
                  <a:srgbClr val="2F7676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07550" name="椭圆 744477"/>
            <p:cNvSpPr/>
            <p:nvPr/>
          </p:nvSpPr>
          <p:spPr>
            <a:xfrm>
              <a:off x="1534" y="1219"/>
              <a:ext cx="170" cy="164"/>
            </a:xfrm>
            <a:prstGeom prst="ellipse">
              <a:avLst/>
            </a:prstGeom>
            <a:gradFill rotWithShape="1">
              <a:gsLst>
                <a:gs pos="0">
                  <a:srgbClr val="66FFFF"/>
                </a:gs>
                <a:gs pos="100000">
                  <a:srgbClr val="2F7676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07551" name="直接连接符 744478"/>
            <p:cNvSpPr/>
            <p:nvPr/>
          </p:nvSpPr>
          <p:spPr>
            <a:xfrm rot="-732" flipV="1">
              <a:off x="1619" y="1769"/>
              <a:ext cx="383" cy="45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lg"/>
            </a:ln>
          </p:spPr>
        </p:sp>
        <p:sp>
          <p:nvSpPr>
            <p:cNvPr id="107552" name="直接连接符 744479"/>
            <p:cNvSpPr/>
            <p:nvPr/>
          </p:nvSpPr>
          <p:spPr>
            <a:xfrm>
              <a:off x="2088" y="1752"/>
              <a:ext cx="1500" cy="50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lg"/>
            </a:ln>
          </p:spPr>
        </p:sp>
        <p:sp>
          <p:nvSpPr>
            <p:cNvPr id="107553" name="直接连接符 744480"/>
            <p:cNvSpPr/>
            <p:nvPr/>
          </p:nvSpPr>
          <p:spPr>
            <a:xfrm>
              <a:off x="2683" y="1943"/>
              <a:ext cx="159" cy="6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</p:spPr>
        </p:sp>
        <p:sp>
          <p:nvSpPr>
            <p:cNvPr id="107554" name="直接连接符 744481"/>
            <p:cNvSpPr/>
            <p:nvPr/>
          </p:nvSpPr>
          <p:spPr>
            <a:xfrm flipV="1">
              <a:off x="3663" y="890"/>
              <a:ext cx="489" cy="1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lg"/>
            </a:ln>
          </p:spPr>
        </p:sp>
        <p:sp>
          <p:nvSpPr>
            <p:cNvPr id="107555" name="直接连接符 744482"/>
            <p:cNvSpPr/>
            <p:nvPr/>
          </p:nvSpPr>
          <p:spPr>
            <a:xfrm>
              <a:off x="1999" y="265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107556" name="直接连接符 744483"/>
            <p:cNvSpPr/>
            <p:nvPr/>
          </p:nvSpPr>
          <p:spPr>
            <a:xfrm>
              <a:off x="2174" y="265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107557" name="直接连接符 744484"/>
            <p:cNvSpPr/>
            <p:nvPr/>
          </p:nvSpPr>
          <p:spPr>
            <a:xfrm>
              <a:off x="1747" y="2820"/>
              <a:ext cx="25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</p:spPr>
        </p:sp>
        <p:sp>
          <p:nvSpPr>
            <p:cNvPr id="107558" name="直接连接符 744485"/>
            <p:cNvSpPr/>
            <p:nvPr/>
          </p:nvSpPr>
          <p:spPr>
            <a:xfrm>
              <a:off x="2174" y="2820"/>
              <a:ext cx="25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stealth" w="med" len="lg"/>
              <a:tailEnd type="none" w="med" len="lg"/>
            </a:ln>
          </p:spPr>
        </p:sp>
        <p:sp>
          <p:nvSpPr>
            <p:cNvPr id="107559" name="直接连接符 744486"/>
            <p:cNvSpPr/>
            <p:nvPr/>
          </p:nvSpPr>
          <p:spPr>
            <a:xfrm flipV="1">
              <a:off x="2642" y="1465"/>
              <a:ext cx="128" cy="28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stealth" w="med" len="lg"/>
              <a:tailEnd type="none" w="med" len="lg"/>
            </a:ln>
          </p:spPr>
        </p:sp>
        <p:sp>
          <p:nvSpPr>
            <p:cNvPr id="107560" name="直接连接符 744487"/>
            <p:cNvSpPr/>
            <p:nvPr/>
          </p:nvSpPr>
          <p:spPr>
            <a:xfrm flipV="1">
              <a:off x="2429" y="2040"/>
              <a:ext cx="128" cy="28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</p:spPr>
        </p:sp>
        <p:graphicFrame>
          <p:nvGraphicFramePr>
            <p:cNvPr id="107561" name="对象 744488"/>
            <p:cNvGraphicFramePr/>
            <p:nvPr/>
          </p:nvGraphicFramePr>
          <p:xfrm>
            <a:off x="2557" y="1752"/>
            <a:ext cx="127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21" r:id="rId5" imgW="267335" imgH="345440" progId="Equation.3">
                    <p:embed/>
                  </p:oleObj>
                </mc:Choice>
                <mc:Fallback>
                  <p:oleObj r:id="rId5" imgW="267335" imgH="345440" progId="Equation.3">
                    <p:embed/>
                    <p:pic>
                      <p:nvPicPr>
                        <p:cNvPr id="0" name="图片 3326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557" y="1752"/>
                          <a:ext cx="127" cy="1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7562" name="对象 744489"/>
            <p:cNvGraphicFramePr/>
            <p:nvPr/>
          </p:nvGraphicFramePr>
          <p:xfrm>
            <a:off x="2496" y="1923"/>
            <a:ext cx="127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22" r:id="rId7" imgW="267335" imgH="345440" progId="Equation.3">
                    <p:embed/>
                  </p:oleObj>
                </mc:Choice>
                <mc:Fallback>
                  <p:oleObj r:id="rId7" imgW="267335" imgH="345440" progId="Equation.3">
                    <p:embed/>
                    <p:pic>
                      <p:nvPicPr>
                        <p:cNvPr id="0" name="图片 3329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96" y="1923"/>
                          <a:ext cx="127" cy="1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7563" name="对象 744490"/>
            <p:cNvGraphicFramePr/>
            <p:nvPr/>
          </p:nvGraphicFramePr>
          <p:xfrm>
            <a:off x="2045" y="2903"/>
            <a:ext cx="129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23" r:id="rId9" imgW="267335" imgH="345440" progId="Equation.3">
                    <p:embed/>
                  </p:oleObj>
                </mc:Choice>
                <mc:Fallback>
                  <p:oleObj r:id="rId9" imgW="267335" imgH="345440" progId="Equation.3">
                    <p:embed/>
                    <p:pic>
                      <p:nvPicPr>
                        <p:cNvPr id="0" name="图片 3330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45" y="2903"/>
                          <a:ext cx="129" cy="1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7564" name="对象 744491"/>
            <p:cNvGraphicFramePr/>
            <p:nvPr/>
          </p:nvGraphicFramePr>
          <p:xfrm>
            <a:off x="1392" y="2371"/>
            <a:ext cx="157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24" r:id="rId11" imgW="323215" imgH="323215" progId="Equation.3">
                    <p:embed/>
                  </p:oleObj>
                </mc:Choice>
                <mc:Fallback>
                  <p:oleObj r:id="rId11" imgW="323215" imgH="323215" progId="Equation.3">
                    <p:embed/>
                    <p:pic>
                      <p:nvPicPr>
                        <p:cNvPr id="0" name="图片 3327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92" y="2371"/>
                          <a:ext cx="157" cy="1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565" name="直接连接符 744492"/>
            <p:cNvSpPr/>
            <p:nvPr/>
          </p:nvSpPr>
          <p:spPr>
            <a:xfrm flipV="1">
              <a:off x="1620" y="2081"/>
              <a:ext cx="84" cy="12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</p:spPr>
        </p:sp>
        <p:sp>
          <p:nvSpPr>
            <p:cNvPr id="107566" name="椭圆 744493"/>
            <p:cNvSpPr/>
            <p:nvPr/>
          </p:nvSpPr>
          <p:spPr>
            <a:xfrm>
              <a:off x="1961" y="1670"/>
              <a:ext cx="170" cy="165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07567" name="椭圆 744494"/>
            <p:cNvSpPr/>
            <p:nvPr/>
          </p:nvSpPr>
          <p:spPr>
            <a:xfrm>
              <a:off x="3536" y="2122"/>
              <a:ext cx="171" cy="164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07568" name="直接连接符 744495"/>
            <p:cNvSpPr/>
            <p:nvPr/>
          </p:nvSpPr>
          <p:spPr>
            <a:xfrm flipV="1">
              <a:off x="3931" y="1269"/>
              <a:ext cx="73" cy="1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</p:spPr>
        </p:sp>
        <p:sp>
          <p:nvSpPr>
            <p:cNvPr id="107569" name="椭圆 744496"/>
            <p:cNvSpPr/>
            <p:nvPr/>
          </p:nvSpPr>
          <p:spPr>
            <a:xfrm>
              <a:off x="1917" y="1465"/>
              <a:ext cx="171" cy="164"/>
            </a:xfrm>
            <a:prstGeom prst="ellipse">
              <a:avLst/>
            </a:prstGeom>
            <a:gradFill rotWithShape="1">
              <a:gsLst>
                <a:gs pos="0">
                  <a:srgbClr val="66FFFF"/>
                </a:gs>
                <a:gs pos="100000">
                  <a:srgbClr val="2F7676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07570" name="椭圆 744497"/>
            <p:cNvSpPr/>
            <p:nvPr/>
          </p:nvSpPr>
          <p:spPr>
            <a:xfrm>
              <a:off x="1492" y="2163"/>
              <a:ext cx="170" cy="164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sp>
        <p:nvSpPr>
          <p:cNvPr id="744499" name="文本框 744498"/>
          <p:cNvSpPr txBox="1"/>
          <p:nvPr/>
        </p:nvSpPr>
        <p:spPr>
          <a:xfrm>
            <a:off x="179388" y="3560763"/>
            <a:ext cx="36449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marR="0" indent="-360680" defTabSz="914400">
              <a:lnSpc>
                <a:spcPct val="125000"/>
              </a:lnSpc>
              <a:buClr>
                <a:srgbClr val="66CCFF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单位时间内与分子 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A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发生碰撞的分子数为 </a:t>
            </a:r>
          </a:p>
        </p:txBody>
      </p:sp>
      <p:graphicFrame>
        <p:nvGraphicFramePr>
          <p:cNvPr id="744500" name="对象 744499"/>
          <p:cNvGraphicFramePr/>
          <p:nvPr/>
        </p:nvGraphicFramePr>
        <p:xfrm>
          <a:off x="3482975" y="4075113"/>
          <a:ext cx="324485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25" r:id="rId13" imgW="1511300" imgH="228600" progId="Equation.3">
                  <p:embed/>
                </p:oleObj>
              </mc:Choice>
              <mc:Fallback>
                <p:oleObj r:id="rId13" imgW="1511300" imgH="228600" progId="Equation.3">
                  <p:embed/>
                  <p:pic>
                    <p:nvPicPr>
                      <p:cNvPr id="0" name="图片 333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82975" y="4075113"/>
                        <a:ext cx="3244850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4501" name="矩形 744500"/>
          <p:cNvSpPr/>
          <p:nvPr/>
        </p:nvSpPr>
        <p:spPr>
          <a:xfrm>
            <a:off x="466725" y="1077913"/>
            <a:ext cx="3094038" cy="530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理想气体  在平衡态下</a:t>
            </a:r>
          </a:p>
        </p:txBody>
      </p:sp>
      <p:sp>
        <p:nvSpPr>
          <p:cNvPr id="744502" name="文本框 744501"/>
          <p:cNvSpPr txBox="1"/>
          <p:nvPr/>
        </p:nvSpPr>
        <p:spPr>
          <a:xfrm>
            <a:off x="179388" y="4652963"/>
            <a:ext cx="32607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>
                <a:srgbClr val="66CCFF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平均碰撞频率为</a:t>
            </a:r>
          </a:p>
        </p:txBody>
      </p:sp>
      <p:sp>
        <p:nvSpPr>
          <p:cNvPr id="744503" name="文本框 744502"/>
          <p:cNvSpPr txBox="1"/>
          <p:nvPr/>
        </p:nvSpPr>
        <p:spPr>
          <a:xfrm>
            <a:off x="204788" y="5157788"/>
            <a:ext cx="5080000" cy="5492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lnSpc>
                <a:spcPct val="125000"/>
              </a:lnSpc>
              <a:buClr>
                <a:srgbClr val="66CCFF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考虑到所有分子实际上都在运动，</a:t>
            </a:r>
          </a:p>
        </p:txBody>
      </p:sp>
      <p:grpSp>
        <p:nvGrpSpPr>
          <p:cNvPr id="4" name="组合 744503"/>
          <p:cNvGrpSpPr/>
          <p:nvPr/>
        </p:nvGrpSpPr>
        <p:grpSpPr>
          <a:xfrm>
            <a:off x="7248525" y="4613275"/>
            <a:ext cx="1895475" cy="1504950"/>
            <a:chOff x="384" y="3072"/>
            <a:chExt cx="1194" cy="948"/>
          </a:xfrm>
        </p:grpSpPr>
        <p:graphicFrame>
          <p:nvGraphicFramePr>
            <p:cNvPr id="107577" name="对象 744504"/>
            <p:cNvGraphicFramePr/>
            <p:nvPr/>
          </p:nvGraphicFramePr>
          <p:xfrm>
            <a:off x="852" y="3728"/>
            <a:ext cx="249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26" r:id="rId15" imgW="167005" imgH="189865" progId="Equation.3">
                    <p:embed/>
                  </p:oleObj>
                </mc:Choice>
                <mc:Fallback>
                  <p:oleObj r:id="rId15" imgW="167005" imgH="189865" progId="Equation.3">
                    <p:embed/>
                    <p:pic>
                      <p:nvPicPr>
                        <p:cNvPr id="0" name="图片 3333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52" y="3728"/>
                          <a:ext cx="249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7578" name="对象 744505"/>
            <p:cNvGraphicFramePr/>
            <p:nvPr/>
          </p:nvGraphicFramePr>
          <p:xfrm>
            <a:off x="1332" y="3144"/>
            <a:ext cx="24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27" r:id="rId17" imgW="152400" imgH="177800" progId="Equation.3">
                    <p:embed/>
                  </p:oleObj>
                </mc:Choice>
                <mc:Fallback>
                  <p:oleObj r:id="rId17" imgW="152400" imgH="177800" progId="Equation.3">
                    <p:embed/>
                    <p:pic>
                      <p:nvPicPr>
                        <p:cNvPr id="0" name="图片 3339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332" y="3144"/>
                          <a:ext cx="246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7579" name="对象 744506"/>
            <p:cNvGraphicFramePr/>
            <p:nvPr/>
          </p:nvGraphicFramePr>
          <p:xfrm>
            <a:off x="474" y="3120"/>
            <a:ext cx="24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28" r:id="rId19" imgW="152400" imgH="177800" progId="Equation.3">
                    <p:embed/>
                  </p:oleObj>
                </mc:Choice>
                <mc:Fallback>
                  <p:oleObj r:id="rId19" imgW="152400" imgH="177800" progId="Equation.3">
                    <p:embed/>
                    <p:pic>
                      <p:nvPicPr>
                        <p:cNvPr id="0" name="图片 3337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74" y="3120"/>
                          <a:ext cx="246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7580" name="对象 744507"/>
            <p:cNvGraphicFramePr/>
            <p:nvPr/>
          </p:nvGraphicFramePr>
          <p:xfrm>
            <a:off x="888" y="3264"/>
            <a:ext cx="21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29" r:id="rId20" imgW="152400" imgH="203200" progId="Equation.3">
                    <p:embed/>
                  </p:oleObj>
                </mc:Choice>
                <mc:Fallback>
                  <p:oleObj r:id="rId20" imgW="152400" imgH="203200" progId="Equation.3">
                    <p:embed/>
                    <p:pic>
                      <p:nvPicPr>
                        <p:cNvPr id="0" name="图片 3334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888" y="3264"/>
                          <a:ext cx="216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7581" name="组合 744508"/>
            <p:cNvGrpSpPr/>
            <p:nvPr/>
          </p:nvGrpSpPr>
          <p:grpSpPr>
            <a:xfrm>
              <a:off x="384" y="3072"/>
              <a:ext cx="1152" cy="624"/>
              <a:chOff x="540" y="3480"/>
              <a:chExt cx="1152" cy="624"/>
            </a:xfrm>
          </p:grpSpPr>
          <p:sp>
            <p:nvSpPr>
              <p:cNvPr id="107582" name="直接连接符 744509"/>
              <p:cNvSpPr/>
              <p:nvPr/>
            </p:nvSpPr>
            <p:spPr>
              <a:xfrm flipV="1">
                <a:off x="540" y="3480"/>
                <a:ext cx="621" cy="621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arrow" w="med" len="lg"/>
              </a:ln>
            </p:spPr>
          </p:sp>
          <p:sp>
            <p:nvSpPr>
              <p:cNvPr id="107583" name="直接连接符 744510"/>
              <p:cNvSpPr/>
              <p:nvPr/>
            </p:nvSpPr>
            <p:spPr>
              <a:xfrm>
                <a:off x="1150" y="3480"/>
                <a:ext cx="542" cy="61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round/>
                <a:headEnd type="arrow" w="med" len="lg"/>
                <a:tailEnd type="none" w="med" len="med"/>
              </a:ln>
            </p:spPr>
          </p:sp>
          <p:sp>
            <p:nvSpPr>
              <p:cNvPr id="107584" name="直接连接符 744511"/>
              <p:cNvSpPr/>
              <p:nvPr/>
            </p:nvSpPr>
            <p:spPr>
              <a:xfrm>
                <a:off x="540" y="4104"/>
                <a:ext cx="1152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arrow" w="med" len="lg"/>
              </a:ln>
            </p:spPr>
          </p:sp>
          <p:sp>
            <p:nvSpPr>
              <p:cNvPr id="107585" name="直接连接符 744512"/>
              <p:cNvSpPr/>
              <p:nvPr/>
            </p:nvSpPr>
            <p:spPr>
              <a:xfrm flipV="1">
                <a:off x="1152" y="3588"/>
                <a:ext cx="96" cy="96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586" name="直接连接符 744513"/>
              <p:cNvSpPr/>
              <p:nvPr/>
            </p:nvSpPr>
            <p:spPr>
              <a:xfrm rot="5400000" flipV="1">
                <a:off x="1056" y="3600"/>
                <a:ext cx="96" cy="96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744515" name="文本框 744514"/>
          <p:cNvSpPr txBox="1"/>
          <p:nvPr/>
        </p:nvSpPr>
        <p:spPr>
          <a:xfrm>
            <a:off x="539750" y="5734050"/>
            <a:ext cx="60579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碰撞夹角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  <a:sym typeface="Symbol" panose="05050102010706020507" pitchFamily="18" charset="2"/>
              </a:rPr>
              <a:t>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有各种可能（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0 — 180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  <a:sym typeface="Symbol" panose="05050102010706020507" pitchFamily="18" charset="2"/>
              </a:rPr>
              <a:t>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  <a:sym typeface="Symbol" panose="05050102010706020507" pitchFamily="18" charset="2"/>
              </a:rPr>
              <a:t>）</a:t>
            </a:r>
            <a:endParaRPr kumimoji="0" lang="zh-CN" altLang="en-US" sz="2400" b="0" kern="120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仿宋_GB2312" panose="02010609030101010101" pitchFamily="49" charset="-122"/>
              <a:cs typeface="+mn-cs"/>
            </a:endParaRPr>
          </a:p>
        </p:txBody>
      </p:sp>
      <p:graphicFrame>
        <p:nvGraphicFramePr>
          <p:cNvPr id="744516" name="对象 744515"/>
          <p:cNvGraphicFramePr/>
          <p:nvPr/>
        </p:nvGraphicFramePr>
        <p:xfrm>
          <a:off x="900113" y="6256338"/>
          <a:ext cx="1258887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30" r:id="rId22" imgW="520065" imgH="203200" progId="Equation.3">
                  <p:embed/>
                </p:oleObj>
              </mc:Choice>
              <mc:Fallback>
                <p:oleObj r:id="rId22" imgW="520065" imgH="203200" progId="Equation.3">
                  <p:embed/>
                  <p:pic>
                    <p:nvPicPr>
                      <p:cNvPr id="0" name="图片 3335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900113" y="6256338"/>
                        <a:ext cx="1258887" cy="485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4517" name="对象 744516"/>
          <p:cNvGraphicFramePr/>
          <p:nvPr/>
        </p:nvGraphicFramePr>
        <p:xfrm>
          <a:off x="2124075" y="6183313"/>
          <a:ext cx="1843088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31" r:id="rId24" imgW="773430" imgH="215900" progId="Equation.3">
                  <p:embed/>
                </p:oleObj>
              </mc:Choice>
              <mc:Fallback>
                <p:oleObj r:id="rId24" imgW="773430" imgH="215900" progId="Equation.3">
                  <p:embed/>
                  <p:pic>
                    <p:nvPicPr>
                      <p:cNvPr id="0" name="图片 3331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124075" y="6183313"/>
                        <a:ext cx="1843088" cy="51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4518" name="对象 744517"/>
          <p:cNvGraphicFramePr/>
          <p:nvPr/>
        </p:nvGraphicFramePr>
        <p:xfrm>
          <a:off x="4787900" y="6165850"/>
          <a:ext cx="2414588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32" r:id="rId26" imgW="1115060" imgH="256540" progId="Equation.3">
                  <p:embed/>
                </p:oleObj>
              </mc:Choice>
              <mc:Fallback>
                <p:oleObj r:id="rId26" imgW="1115060" imgH="256540" progId="Equation.3">
                  <p:embed/>
                  <p:pic>
                    <p:nvPicPr>
                      <p:cNvPr id="0" name="图片 3340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787900" y="6165850"/>
                        <a:ext cx="2414588" cy="620713"/>
                      </a:xfrm>
                      <a:prstGeom prst="rect">
                        <a:avLst/>
                      </a:prstGeom>
                      <a:noFill/>
                      <a:ln w="19050" cap="flat" cmpd="sng">
                        <a:solidFill>
                          <a:srgbClr val="0000FF"/>
                        </a:solidFill>
                        <a:prstDash val="dash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4519" name="对象 744518"/>
          <p:cNvGraphicFramePr/>
          <p:nvPr/>
        </p:nvGraphicFramePr>
        <p:xfrm>
          <a:off x="2771775" y="4605338"/>
          <a:ext cx="338455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33" r:id="rId28" imgW="1205230" imgH="203200" progId="Equation.3">
                  <p:embed/>
                </p:oleObj>
              </mc:Choice>
              <mc:Fallback>
                <p:oleObj r:id="rId28" imgW="1205230" imgH="203200" progId="Equation.3">
                  <p:embed/>
                  <p:pic>
                    <p:nvPicPr>
                      <p:cNvPr id="0" name="图片 3338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771775" y="4605338"/>
                        <a:ext cx="3384550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4520" name="文本框 744519"/>
          <p:cNvSpPr txBox="1"/>
          <p:nvPr/>
        </p:nvSpPr>
        <p:spPr>
          <a:xfrm>
            <a:off x="2266950" y="3046413"/>
            <a:ext cx="19970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algn="just" defTabSz="914400">
              <a:buClrTx/>
              <a:buSzTx/>
              <a:buFont typeface="Symbol" panose="05050102010706020507" pitchFamily="18" charset="2"/>
              <a:buChar char="s"/>
              <a:defRPr/>
            </a:pPr>
            <a:r>
              <a:rPr kumimoji="0" lang="en-US" altLang="zh-CN" sz="2400" i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  <a:sym typeface="Symbol" panose="05050102010706020507" pitchFamily="18" charset="2"/>
              </a:rPr>
              <a:t>— </a:t>
            </a:r>
            <a:r>
              <a:rPr kumimoji="0" lang="zh-CN" altLang="en-US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碰撞截面</a:t>
            </a:r>
            <a:r>
              <a:rPr kumimoji="0" lang="zh-CN" altLang="en-US" sz="2400" b="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 </a:t>
            </a:r>
          </a:p>
        </p:txBody>
      </p:sp>
      <p:graphicFrame>
        <p:nvGraphicFramePr>
          <p:cNvPr id="744521" name="对象 744520"/>
          <p:cNvGraphicFramePr/>
          <p:nvPr/>
        </p:nvGraphicFramePr>
        <p:xfrm>
          <a:off x="690563" y="2995613"/>
          <a:ext cx="136048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34" r:id="rId30" imgW="635635" imgH="234315" progId="Equation.3">
                  <p:embed/>
                </p:oleObj>
              </mc:Choice>
              <mc:Fallback>
                <p:oleObj r:id="rId30" imgW="635635" imgH="234315" progId="Equation.3">
                  <p:embed/>
                  <p:pic>
                    <p:nvPicPr>
                      <p:cNvPr id="0" name="图片 3332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690563" y="2995613"/>
                        <a:ext cx="1360487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44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4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4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4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74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4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44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44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4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4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4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4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4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4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74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4450" grpId="0"/>
      <p:bldP spid="744454" grpId="0"/>
      <p:bldP spid="744455" grpId="0" build="p"/>
      <p:bldP spid="744499" grpId="0"/>
      <p:bldP spid="744501" grpId="0"/>
      <p:bldP spid="744502" grpId="0"/>
      <p:bldP spid="744503" grpId="0"/>
      <p:bldP spid="744515" grpId="0"/>
      <p:bldP spid="74452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63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745474" name="文本框 745473"/>
          <p:cNvSpPr txBox="1"/>
          <p:nvPr/>
        </p:nvSpPr>
        <p:spPr>
          <a:xfrm>
            <a:off x="323850" y="115888"/>
            <a:ext cx="79629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二、平均自由程与压强</a:t>
            </a:r>
            <a:r>
              <a:rPr kumimoji="0" lang="zh-CN" altLang="en-US" sz="2800" b="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</a:t>
            </a:r>
            <a:r>
              <a:rPr kumimoji="0" lang="zh-CN" altLang="en-US" sz="2800" b="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温度的关系</a:t>
            </a:r>
          </a:p>
        </p:txBody>
      </p:sp>
      <p:graphicFrame>
        <p:nvGraphicFramePr>
          <p:cNvPr id="745475" name="对象 745474"/>
          <p:cNvGraphicFramePr/>
          <p:nvPr/>
        </p:nvGraphicFramePr>
        <p:xfrm>
          <a:off x="781050" y="692150"/>
          <a:ext cx="285432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6" r:id="rId3" imgW="1129665" imgH="431800" progId="Equation.3">
                  <p:embed/>
                </p:oleObj>
              </mc:Choice>
              <mc:Fallback>
                <p:oleObj r:id="rId3" imgW="1129665" imgH="431800" progId="Equation.3">
                  <p:embed/>
                  <p:pic>
                    <p:nvPicPr>
                      <p:cNvPr id="0" name="图片 33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1050" y="692150"/>
                        <a:ext cx="2854325" cy="99060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accent2"/>
                        </a:solidFill>
                        <a:prstDash val="dash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5476" name="对象 745475"/>
          <p:cNvGraphicFramePr/>
          <p:nvPr/>
        </p:nvGraphicFramePr>
        <p:xfrm>
          <a:off x="7019925" y="1085850"/>
          <a:ext cx="842963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7" r:id="rId5" imgW="368300" imgH="501650" progId="Equation.3">
                  <p:embed/>
                </p:oleObj>
              </mc:Choice>
              <mc:Fallback>
                <p:oleObj r:id="rId5" imgW="368300" imgH="501650" progId="Equation.3">
                  <p:embed/>
                  <p:pic>
                    <p:nvPicPr>
                      <p:cNvPr id="0" name="图片 332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19925" y="1085850"/>
                        <a:ext cx="842963" cy="1046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5477" name="对象 745476"/>
          <p:cNvGraphicFramePr/>
          <p:nvPr/>
        </p:nvGraphicFramePr>
        <p:xfrm>
          <a:off x="4211638" y="1090613"/>
          <a:ext cx="2776537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8" r:id="rId7" imgW="1215390" imgH="523875" progId="Equation.3">
                  <p:embed/>
                </p:oleObj>
              </mc:Choice>
              <mc:Fallback>
                <p:oleObj r:id="rId7" imgW="1215390" imgH="523875" progId="Equation.3">
                  <p:embed/>
                  <p:pic>
                    <p:nvPicPr>
                      <p:cNvPr id="0" name="图片 335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11638" y="1090613"/>
                        <a:ext cx="2776537" cy="1076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5478" name="对象 745477"/>
          <p:cNvGraphicFramePr/>
          <p:nvPr/>
        </p:nvGraphicFramePr>
        <p:xfrm>
          <a:off x="1695450" y="1878013"/>
          <a:ext cx="146685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9" r:id="rId9" imgW="583565" imgH="203200" progId="Equation.3">
                  <p:embed/>
                </p:oleObj>
              </mc:Choice>
              <mc:Fallback>
                <p:oleObj r:id="rId9" imgW="583565" imgH="203200" progId="Equation.3">
                  <p:embed/>
                  <p:pic>
                    <p:nvPicPr>
                      <p:cNvPr id="0" name="图片 334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95450" y="1878013"/>
                        <a:ext cx="1466850" cy="509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5479" name="右大括号 745478"/>
          <p:cNvSpPr/>
          <p:nvPr/>
        </p:nvSpPr>
        <p:spPr>
          <a:xfrm>
            <a:off x="3779838" y="1063625"/>
            <a:ext cx="176212" cy="1103313"/>
          </a:xfrm>
          <a:prstGeom prst="rightBrace">
            <a:avLst>
              <a:gd name="adj1" fmla="val 51684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745480" name="文本框 745479"/>
          <p:cNvSpPr txBox="1"/>
          <p:nvPr/>
        </p:nvSpPr>
        <p:spPr>
          <a:xfrm>
            <a:off x="2638425" y="3502025"/>
            <a:ext cx="6686550" cy="1625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14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                          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～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7×10</a:t>
            </a:r>
            <a:r>
              <a:rPr kumimoji="0" lang="en-US" altLang="zh-CN" sz="2400" kern="1200" cap="none" spc="0" normalizeH="0" baseline="30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-8</a:t>
            </a:r>
          </a:p>
          <a:p>
            <a:pPr marR="0" algn="just" defTabSz="914400">
              <a:lnSpc>
                <a:spcPct val="14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</a:t>
            </a:r>
            <a:r>
              <a:rPr kumimoji="0" lang="en-US" altLang="zh-CN" sz="2400" kern="1200" cap="none" spc="0" normalizeH="0" baseline="30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-7     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～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0.7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（灯泡内）</a:t>
            </a:r>
          </a:p>
          <a:p>
            <a:pPr marR="0" algn="just" defTabSz="914400">
              <a:lnSpc>
                <a:spcPct val="14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</a:t>
            </a:r>
            <a:r>
              <a:rPr kumimoji="0" lang="en-US" altLang="zh-CN" sz="2400" kern="1200" cap="none" spc="0" normalizeH="0" baseline="30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-11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～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7×10</a:t>
            </a:r>
            <a:r>
              <a:rPr kumimoji="0" lang="en-US" altLang="zh-CN" sz="2400" kern="1200" cap="none" spc="0" normalizeH="0" baseline="30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（几百千米的高空）</a:t>
            </a:r>
            <a:endParaRPr kumimoji="0" lang="zh-CN" altLang="en-US" sz="2400" b="0" kern="120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5481" name="矩形 745480"/>
          <p:cNvSpPr/>
          <p:nvPr/>
        </p:nvSpPr>
        <p:spPr>
          <a:xfrm>
            <a:off x="687388" y="3063875"/>
            <a:ext cx="35242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273K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</a:p>
        </p:txBody>
      </p:sp>
      <p:grpSp>
        <p:nvGrpSpPr>
          <p:cNvPr id="2" name="组合 745481"/>
          <p:cNvGrpSpPr/>
          <p:nvPr/>
        </p:nvGrpSpPr>
        <p:grpSpPr>
          <a:xfrm>
            <a:off x="2495550" y="2997200"/>
            <a:ext cx="3806825" cy="533400"/>
            <a:chOff x="1572" y="2160"/>
            <a:chExt cx="2398" cy="336"/>
          </a:xfrm>
        </p:grpSpPr>
        <p:sp>
          <p:nvSpPr>
            <p:cNvPr id="745483" name="矩形 745482"/>
            <p:cNvSpPr/>
            <p:nvPr/>
          </p:nvSpPr>
          <p:spPr>
            <a:xfrm>
              <a:off x="1572" y="2186"/>
              <a:ext cx="6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</a:t>
              </a: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(atm)</a:t>
              </a:r>
            </a:p>
          </p:txBody>
        </p:sp>
        <p:grpSp>
          <p:nvGrpSpPr>
            <p:cNvPr id="108556" name="组合 745483"/>
            <p:cNvGrpSpPr/>
            <p:nvPr/>
          </p:nvGrpSpPr>
          <p:grpSpPr>
            <a:xfrm>
              <a:off x="3384" y="2160"/>
              <a:ext cx="586" cy="336"/>
              <a:chOff x="240" y="1176"/>
              <a:chExt cx="586" cy="336"/>
            </a:xfrm>
          </p:grpSpPr>
          <p:graphicFrame>
            <p:nvGraphicFramePr>
              <p:cNvPr id="108557" name="对象 745484"/>
              <p:cNvGraphicFramePr/>
              <p:nvPr/>
            </p:nvGraphicFramePr>
            <p:xfrm>
              <a:off x="240" y="1176"/>
              <a:ext cx="273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370" r:id="rId11" imgW="189865" imgH="234315" progId="Equation.3">
                      <p:embed/>
                    </p:oleObj>
                  </mc:Choice>
                  <mc:Fallback>
                    <p:oleObj r:id="rId11" imgW="189865" imgH="234315" progId="Equation.3">
                      <p:embed/>
                      <p:pic>
                        <p:nvPicPr>
                          <p:cNvPr id="0" name="图片 3406"/>
                          <p:cNvPicPr/>
                          <p:nvPr/>
                        </p:nvPicPr>
                        <p:blipFill>
                          <a:blip r:embed="rId12">
                            <a:clrChange>
                              <a:clrFrom>
                                <a:srgbClr val="000000"/>
                              </a:clrFrom>
                              <a:clrTo>
                                <a:srgbClr val="CC33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40" y="1176"/>
                            <a:ext cx="273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45486" name="矩形 745485"/>
              <p:cNvSpPr/>
              <p:nvPr/>
            </p:nvSpPr>
            <p:spPr>
              <a:xfrm>
                <a:off x="422" y="1202"/>
                <a:ext cx="40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1">
                    <a:ln>
                      <a:noFill/>
                    </a:ln>
                    <a:solidFill>
                      <a:srgbClr val="CC33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(m)</a:t>
                </a:r>
              </a:p>
            </p:txBody>
          </p:sp>
        </p:grpSp>
      </p:grpSp>
      <p:sp>
        <p:nvSpPr>
          <p:cNvPr id="745487" name="文本框 745486"/>
          <p:cNvSpPr txBox="1"/>
          <p:nvPr/>
        </p:nvSpPr>
        <p:spPr>
          <a:xfrm>
            <a:off x="684213" y="2454275"/>
            <a:ext cx="74882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>
                <a:srgbClr val="66CCFF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当温度一定时</a:t>
            </a: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,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压强越小</a:t>
            </a:r>
            <a:r>
              <a:rPr kumimoji="0" lang="en-US" altLang="zh-CN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,</a:t>
            </a:r>
            <a:r>
              <a: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平均自由程越大。</a:t>
            </a:r>
          </a:p>
        </p:txBody>
      </p:sp>
      <p:sp>
        <p:nvSpPr>
          <p:cNvPr id="745488" name="文本框 745487"/>
          <p:cNvSpPr txBox="1"/>
          <p:nvPr/>
        </p:nvSpPr>
        <p:spPr>
          <a:xfrm>
            <a:off x="1187450" y="6034088"/>
            <a:ext cx="34020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在这种情况下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,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可以认为</a:t>
            </a:r>
          </a:p>
        </p:txBody>
      </p:sp>
      <p:graphicFrame>
        <p:nvGraphicFramePr>
          <p:cNvPr id="745489" name="对象 745488"/>
          <p:cNvGraphicFramePr/>
          <p:nvPr/>
        </p:nvGraphicFramePr>
        <p:xfrm>
          <a:off x="4570413" y="5973763"/>
          <a:ext cx="865187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71" r:id="rId13" imgW="354965" imgH="215900" progId="Equation.3">
                  <p:embed/>
                </p:oleObj>
              </mc:Choice>
              <mc:Fallback>
                <p:oleObj r:id="rId13" imgW="354965" imgH="215900" progId="Equation.3">
                  <p:embed/>
                  <p:pic>
                    <p:nvPicPr>
                      <p:cNvPr id="0" name="图片 340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70413" y="5973763"/>
                        <a:ext cx="865187" cy="522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745489"/>
          <p:cNvGrpSpPr/>
          <p:nvPr/>
        </p:nvGrpSpPr>
        <p:grpSpPr>
          <a:xfrm>
            <a:off x="827088" y="5373688"/>
            <a:ext cx="5348287" cy="468312"/>
            <a:chOff x="521" y="3385"/>
            <a:chExt cx="3369" cy="295"/>
          </a:xfrm>
        </p:grpSpPr>
        <p:sp>
          <p:nvSpPr>
            <p:cNvPr id="745491" name="文本框 745490"/>
            <p:cNvSpPr txBox="1"/>
            <p:nvPr/>
          </p:nvSpPr>
          <p:spPr>
            <a:xfrm>
              <a:off x="521" y="3390"/>
              <a:ext cx="336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R="0" defTabSz="914400">
                <a:buClr>
                  <a:srgbClr val="66CCFF"/>
                </a:buClr>
                <a:buSzTx/>
                <a:buFont typeface="Wingdings" panose="05000000000000000000" pitchFamily="2" charset="2"/>
                <a:buChar char="u"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若超过了容器的线度 </a:t>
              </a:r>
              <a:r>
                <a:rPr kumimoji="0" lang="en-US" altLang="zh-CN" sz="2400" i="1" kern="1200" cap="none" spc="0" normalizeH="0" baseline="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  <a:sym typeface="MT Extra" panose="05050102010205020202" pitchFamily="18" charset="2"/>
                </a:rPr>
                <a:t>l</a:t>
              </a:r>
              <a:r>
                <a:rPr kumimoji="0" lang="en-US" altLang="zh-CN" sz="2400" kern="1200" cap="none" spc="0" normalizeH="0" baseline="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,  </a:t>
              </a:r>
              <a:r>
                <a:rPr kumimoji="0" lang="zh-CN" altLang="en-US" sz="2400" kern="1200" cap="none" spc="0" normalizeH="0" baseline="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即        </a:t>
              </a:r>
              <a:r>
                <a:rPr kumimoji="0" lang="en-US" altLang="zh-CN" sz="2400" kern="1200" cap="none" spc="0" normalizeH="0" baseline="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&gt;&gt;      </a:t>
              </a:r>
              <a:endParaRPr kumimoji="0" lang="zh-CN" altLang="en-US" sz="24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endParaRPr>
            </a:p>
          </p:txBody>
        </p:sp>
        <p:graphicFrame>
          <p:nvGraphicFramePr>
            <p:cNvPr id="108564" name="对象 745491"/>
            <p:cNvGraphicFramePr/>
            <p:nvPr/>
          </p:nvGraphicFramePr>
          <p:xfrm>
            <a:off x="3588" y="3385"/>
            <a:ext cx="15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72" r:id="rId15" imgW="101600" imgH="177800" progId="Equation.3">
                    <p:embed/>
                  </p:oleObj>
                </mc:Choice>
                <mc:Fallback>
                  <p:oleObj r:id="rId15" imgW="101600" imgH="177800" progId="Equation.3">
                    <p:embed/>
                    <p:pic>
                      <p:nvPicPr>
                        <p:cNvPr id="0" name="图片 3405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588" y="3385"/>
                          <a:ext cx="154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8565" name="对象 745492"/>
            <p:cNvGraphicFramePr/>
            <p:nvPr/>
          </p:nvGraphicFramePr>
          <p:xfrm>
            <a:off x="3070" y="3385"/>
            <a:ext cx="173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73" r:id="rId17" imgW="139700" imgH="215900" progId="Equation.3">
                    <p:embed/>
                  </p:oleObj>
                </mc:Choice>
                <mc:Fallback>
                  <p:oleObj r:id="rId17" imgW="139700" imgH="215900" progId="Equation.3">
                    <p:embed/>
                    <p:pic>
                      <p:nvPicPr>
                        <p:cNvPr id="0" name="图片 3403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070" y="3385"/>
                          <a:ext cx="173" cy="2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8566" name="对象 745493"/>
          <p:cNvGraphicFramePr/>
          <p:nvPr/>
        </p:nvGraphicFramePr>
        <p:xfrm>
          <a:off x="6621463" y="74613"/>
          <a:ext cx="241458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74" r:id="rId19" imgW="1115060" imgH="256540" progId="Equation.3">
                  <p:embed/>
                </p:oleObj>
              </mc:Choice>
              <mc:Fallback>
                <p:oleObj r:id="rId19" imgW="1115060" imgH="256540" progId="Equation.3">
                  <p:embed/>
                  <p:pic>
                    <p:nvPicPr>
                      <p:cNvPr id="0" name="图片 3404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CC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621463" y="74613"/>
                        <a:ext cx="2414587" cy="546100"/>
                      </a:xfrm>
                      <a:prstGeom prst="rect">
                        <a:avLst/>
                      </a:prstGeom>
                      <a:noFill/>
                      <a:ln w="19050" cap="flat" cmpd="sng">
                        <a:solidFill>
                          <a:srgbClr val="0000FF"/>
                        </a:solidFill>
                        <a:prstDash val="dash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5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5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4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4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4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45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45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454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454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454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745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745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5474" grpId="0"/>
      <p:bldP spid="745480" grpId="0" build="p"/>
      <p:bldP spid="745481" grpId="0"/>
      <p:bldP spid="745487" grpId="0"/>
      <p:bldP spid="745488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 eaLnBrk="0" hangingPunct="0">
              <a:spcBef>
                <a:spcPct val="50000"/>
              </a:spcBef>
            </a:pPr>
            <a:fld id="{9A0DB2DC-4C9A-4742-B13C-FB6460FD3503}" type="slidenum">
              <a:rPr lang="" altLang="en-US" sz="1400" b="0" dirty="0">
                <a:ea typeface="宋体" panose="02010600030101010101" pitchFamily="2" charset="-122"/>
              </a:rPr>
              <a:t>64</a:t>
            </a:fld>
            <a:endParaRPr lang="" altLang="en-US" sz="1400" b="0" dirty="0">
              <a:ea typeface="宋体" panose="02010600030101010101" pitchFamily="2" charset="-122"/>
            </a:endParaRPr>
          </a:p>
        </p:txBody>
      </p:sp>
      <p:grpSp>
        <p:nvGrpSpPr>
          <p:cNvPr id="109570" name="组合 791567"/>
          <p:cNvGrpSpPr/>
          <p:nvPr/>
        </p:nvGrpSpPr>
        <p:grpSpPr>
          <a:xfrm>
            <a:off x="301625" y="257175"/>
            <a:ext cx="8548688" cy="1814513"/>
            <a:chOff x="190" y="162"/>
            <a:chExt cx="5385" cy="1143"/>
          </a:xfrm>
        </p:grpSpPr>
        <p:sp>
          <p:nvSpPr>
            <p:cNvPr id="109571" name="文本框 791554"/>
            <p:cNvSpPr txBox="1"/>
            <p:nvPr/>
          </p:nvSpPr>
          <p:spPr>
            <a:xfrm>
              <a:off x="190" y="162"/>
              <a:ext cx="5385" cy="114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</a:t>
              </a:r>
              <a:r>
                <a:rPr lang="zh-CN" altLang="en-US" sz="280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例</a:t>
              </a: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氧气分子</a:t>
              </a:r>
              <a:r>
                <a: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的有效直径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d=2.6×10</a:t>
              </a:r>
              <a:r>
                <a:rPr lang="en-US" altLang="zh-CN" sz="2800" baseline="30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-10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m, 27C°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时的平均自由程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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=2.6 ×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r>
                <a:rPr lang="en-US" altLang="zh-CN" sz="2800" baseline="30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-8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m, 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求：</a:t>
              </a:r>
            </a:p>
            <a:p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(1)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压强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p=? </a:t>
              </a:r>
            </a:p>
            <a:p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(2)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氧分子单位时间内与其它分子的平均碰撞次数。</a:t>
              </a:r>
            </a:p>
          </p:txBody>
        </p:sp>
        <p:sp>
          <p:nvSpPr>
            <p:cNvPr id="109572" name="直接连接符 791555"/>
            <p:cNvSpPr/>
            <p:nvPr/>
          </p:nvSpPr>
          <p:spPr>
            <a:xfrm flipV="1">
              <a:off x="1884" y="495"/>
              <a:ext cx="133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791557" name="文本框 791556"/>
          <p:cNvSpPr txBox="1"/>
          <p:nvPr/>
        </p:nvSpPr>
        <p:spPr>
          <a:xfrm>
            <a:off x="839788" y="2252663"/>
            <a:ext cx="13589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  <a:endParaRPr lang="en-US" altLang="zh-CN" sz="2400" b="0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91558" name="对象 791557"/>
          <p:cNvGraphicFramePr/>
          <p:nvPr/>
        </p:nvGraphicFramePr>
        <p:xfrm>
          <a:off x="2087563" y="3251200"/>
          <a:ext cx="2322512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25" r:id="rId3" imgW="1070610" imgH="457200" progId="Equation.3">
                  <p:embed/>
                </p:oleObj>
              </mc:Choice>
              <mc:Fallback>
                <p:oleObj r:id="rId3" imgW="1070610" imgH="457200" progId="Equation.3">
                  <p:embed/>
                  <p:pic>
                    <p:nvPicPr>
                      <p:cNvPr id="0" name="图片 340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87563" y="3251200"/>
                        <a:ext cx="2322512" cy="1000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1559" name="对象 791558"/>
          <p:cNvGraphicFramePr/>
          <p:nvPr/>
        </p:nvGraphicFramePr>
        <p:xfrm>
          <a:off x="2044700" y="2109788"/>
          <a:ext cx="2346325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26" r:id="rId5" imgW="1059180" imgH="490855" progId="Equation.3">
                  <p:embed/>
                </p:oleObj>
              </mc:Choice>
              <mc:Fallback>
                <p:oleObj r:id="rId5" imgW="1059180" imgH="490855" progId="Equation.3">
                  <p:embed/>
                  <p:pic>
                    <p:nvPicPr>
                      <p:cNvPr id="0" name="图片 340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44700" y="2109788"/>
                        <a:ext cx="2346325" cy="1089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1560" name="文本框 791559"/>
          <p:cNvSpPr txBox="1"/>
          <p:nvPr/>
        </p:nvSpPr>
        <p:spPr>
          <a:xfrm>
            <a:off x="4333875" y="3455988"/>
            <a:ext cx="1976438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=5×10</a:t>
            </a:r>
            <a:r>
              <a:rPr lang="en-US" altLang="zh-CN" sz="2800" b="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</a:t>
            </a:r>
          </a:p>
        </p:txBody>
      </p:sp>
      <p:sp>
        <p:nvSpPr>
          <p:cNvPr id="791561" name="文本框 791560"/>
          <p:cNvSpPr txBox="1"/>
          <p:nvPr/>
        </p:nvSpPr>
        <p:spPr>
          <a:xfrm>
            <a:off x="1454150" y="4684713"/>
            <a:ext cx="938213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</a:p>
        </p:txBody>
      </p:sp>
      <p:graphicFrame>
        <p:nvGraphicFramePr>
          <p:cNvPr id="791562" name="对象 791561"/>
          <p:cNvGraphicFramePr/>
          <p:nvPr/>
        </p:nvGraphicFramePr>
        <p:xfrm>
          <a:off x="2270125" y="4448175"/>
          <a:ext cx="1778000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27" r:id="rId7" imgW="711200" imgH="444500" progId="Equation.3">
                  <p:embed/>
                </p:oleObj>
              </mc:Choice>
              <mc:Fallback>
                <p:oleObj r:id="rId7" imgW="711200" imgH="444500" progId="Equation.3">
                  <p:embed/>
                  <p:pic>
                    <p:nvPicPr>
                      <p:cNvPr id="0" name="图片 34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70125" y="4448175"/>
                        <a:ext cx="1778000" cy="1109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1563" name="文本框 791562"/>
          <p:cNvSpPr txBox="1"/>
          <p:nvPr/>
        </p:nvSpPr>
        <p:spPr>
          <a:xfrm>
            <a:off x="4008438" y="4732338"/>
            <a:ext cx="207645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=445m/s</a:t>
            </a:r>
          </a:p>
        </p:txBody>
      </p:sp>
      <p:graphicFrame>
        <p:nvGraphicFramePr>
          <p:cNvPr id="791564" name="对象 791563"/>
          <p:cNvGraphicFramePr/>
          <p:nvPr/>
        </p:nvGraphicFramePr>
        <p:xfrm>
          <a:off x="2160588" y="5605463"/>
          <a:ext cx="1116012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28" r:id="rId9" imgW="501650" imgH="434975" progId="Equation.3">
                  <p:embed/>
                </p:oleObj>
              </mc:Choice>
              <mc:Fallback>
                <p:oleObj r:id="rId9" imgW="501650" imgH="434975" progId="Equation.3">
                  <p:embed/>
                  <p:pic>
                    <p:nvPicPr>
                      <p:cNvPr id="0" name="图片 340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60588" y="5605463"/>
                        <a:ext cx="1116012" cy="950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1565" name="文本框 791564"/>
          <p:cNvSpPr txBox="1"/>
          <p:nvPr/>
        </p:nvSpPr>
        <p:spPr>
          <a:xfrm>
            <a:off x="3175000" y="5838825"/>
            <a:ext cx="298132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=170×10</a:t>
            </a:r>
            <a:r>
              <a:rPr lang="en-US" altLang="zh-CN" sz="2800" b="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次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秒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791566" name="文本框 791565"/>
          <p:cNvSpPr txBox="1"/>
          <p:nvPr/>
        </p:nvSpPr>
        <p:spPr>
          <a:xfrm>
            <a:off x="5907088" y="5842000"/>
            <a:ext cx="2768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每秒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170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亿次！</a:t>
            </a:r>
            <a:endParaRPr lang="zh-CN" altLang="en-US" sz="2400" b="0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9583" name="直接连接符 791566"/>
          <p:cNvSpPr/>
          <p:nvPr/>
        </p:nvSpPr>
        <p:spPr>
          <a:xfrm>
            <a:off x="2654300" y="785813"/>
            <a:ext cx="13017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1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9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79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9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91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9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79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91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79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1557" grpId="0" build="p"/>
      <p:bldP spid="791560" grpId="0"/>
      <p:bldP spid="791561" grpId="0"/>
      <p:bldP spid="791563" grpId="0"/>
      <p:bldP spid="791565" grpId="0"/>
      <p:bldP spid="79156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2"/>
          <p:cNvSpPr txBox="1"/>
          <p:nvPr/>
        </p:nvSpPr>
        <p:spPr>
          <a:xfrm>
            <a:off x="333375" y="2060575"/>
            <a:ext cx="901700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FF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解：</a:t>
            </a:r>
          </a:p>
        </p:txBody>
      </p:sp>
      <p:graphicFrame>
        <p:nvGraphicFramePr>
          <p:cNvPr id="15" name="Object 3"/>
          <p:cNvGraphicFramePr>
            <a:graphicFrameLocks noChangeAspect="1"/>
          </p:cNvGraphicFramePr>
          <p:nvPr/>
        </p:nvGraphicFramePr>
        <p:xfrm>
          <a:off x="1363663" y="1989138"/>
          <a:ext cx="1944687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75" r:id="rId3" imgW="34747200" imgH="16459200" progId="Equation.3">
                  <p:embed/>
                </p:oleObj>
              </mc:Choice>
              <mc:Fallback>
                <p:oleObj r:id="rId3" imgW="34747200" imgH="16459200" progId="Equation.3">
                  <p:embed/>
                  <p:pic>
                    <p:nvPicPr>
                      <p:cNvPr id="0" name="图片 34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63663" y="1989138"/>
                        <a:ext cx="1944687" cy="915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"/>
          <p:cNvGraphicFramePr>
            <a:graphicFrameLocks noChangeAspect="1"/>
          </p:cNvGraphicFramePr>
          <p:nvPr/>
        </p:nvGraphicFramePr>
        <p:xfrm>
          <a:off x="1258888" y="3284538"/>
          <a:ext cx="7634287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76" r:id="rId5" imgW="159410400" imgH="19812000" progId="Equation.3">
                  <p:embed/>
                </p:oleObj>
              </mc:Choice>
              <mc:Fallback>
                <p:oleObj r:id="rId5" imgW="159410400" imgH="19812000" progId="Equation.3">
                  <p:embed/>
                  <p:pic>
                    <p:nvPicPr>
                      <p:cNvPr id="0" name="图片 341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58888" y="3284538"/>
                        <a:ext cx="7634287" cy="895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5"/>
          <p:cNvGraphicFramePr>
            <a:graphicFrameLocks noChangeAspect="1"/>
          </p:cNvGraphicFramePr>
          <p:nvPr/>
        </p:nvGraphicFramePr>
        <p:xfrm>
          <a:off x="1328738" y="4797425"/>
          <a:ext cx="748982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77" r:id="rId7" imgW="145694400" imgH="19812000" progId="Equation.DSMT4">
                  <p:embed/>
                </p:oleObj>
              </mc:Choice>
              <mc:Fallback>
                <p:oleObj r:id="rId7" imgW="145694400" imgH="19812000" progId="Equation.DSMT4">
                  <p:embed/>
                  <p:pic>
                    <p:nvPicPr>
                      <p:cNvPr id="0" name="图片 341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28738" y="4797425"/>
                        <a:ext cx="7489825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0597" name="Group 14"/>
          <p:cNvGrpSpPr/>
          <p:nvPr/>
        </p:nvGrpSpPr>
        <p:grpSpPr>
          <a:xfrm>
            <a:off x="250825" y="115888"/>
            <a:ext cx="8382000" cy="1543050"/>
            <a:chOff x="288" y="73"/>
            <a:chExt cx="5280" cy="972"/>
          </a:xfrm>
        </p:grpSpPr>
        <p:sp>
          <p:nvSpPr>
            <p:cNvPr id="110598" name="Text Box 7"/>
            <p:cNvSpPr txBox="1"/>
            <p:nvPr/>
          </p:nvSpPr>
          <p:spPr>
            <a:xfrm>
              <a:off x="288" y="73"/>
              <a:ext cx="5280" cy="61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FF0066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例</a:t>
              </a:r>
              <a:r>
                <a:rPr lang="en-US" altLang="zh-CN" sz="2400" dirty="0">
                  <a:solidFill>
                    <a:srgbClr val="FF0066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2</a:t>
              </a:r>
              <a:r>
                <a:rPr lang="en-US" altLang="zh-CN" sz="2400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   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试估计下列两种情况下空气分子的平均自由程 </a:t>
              </a: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: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（</a:t>
              </a:r>
              <a:r>
                <a:rPr lang="en-US" altLang="zh-CN" sz="24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1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）</a:t>
              </a: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273 K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、</a:t>
              </a: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1.013                 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时 </a:t>
              </a: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; ( </a:t>
              </a:r>
              <a:r>
                <a:rPr lang="en-US" altLang="zh-CN" sz="24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2</a:t>
              </a: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 ) 273 K 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、</a:t>
              </a: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1.333                  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时。 </a:t>
              </a:r>
            </a:p>
          </p:txBody>
        </p:sp>
        <p:graphicFrame>
          <p:nvGraphicFramePr>
            <p:cNvPr id="110599" name="Object 8"/>
            <p:cNvGraphicFramePr>
              <a:graphicFrameLocks noChangeAspect="1"/>
            </p:cNvGraphicFramePr>
            <p:nvPr/>
          </p:nvGraphicFramePr>
          <p:xfrm>
            <a:off x="1468" y="365"/>
            <a:ext cx="726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78" r:id="rId9" imgW="12192000" imgH="4876800" progId="Equation.3">
                    <p:embed/>
                  </p:oleObj>
                </mc:Choice>
                <mc:Fallback>
                  <p:oleObj r:id="rId9" imgW="12192000" imgH="4876800" progId="Equation.3">
                    <p:embed/>
                    <p:pic>
                      <p:nvPicPr>
                        <p:cNvPr id="0" name="图片 341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468" y="365"/>
                          <a:ext cx="726" cy="2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0600" name="Object 9"/>
            <p:cNvGraphicFramePr>
              <a:graphicFrameLocks noChangeAspect="1"/>
            </p:cNvGraphicFramePr>
            <p:nvPr/>
          </p:nvGraphicFramePr>
          <p:xfrm>
            <a:off x="4177" y="356"/>
            <a:ext cx="790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79" r:id="rId11" imgW="13411200" imgH="4876800" progId="Equation.3">
                    <p:embed/>
                  </p:oleObj>
                </mc:Choice>
                <mc:Fallback>
                  <p:oleObj r:id="rId11" imgW="13411200" imgH="4876800" progId="Equation.3">
                    <p:embed/>
                    <p:pic>
                      <p:nvPicPr>
                        <p:cNvPr id="0" name="图片 341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177" y="356"/>
                          <a:ext cx="790" cy="2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0601" name="Text Box 11"/>
            <p:cNvSpPr txBox="1"/>
            <p:nvPr/>
          </p:nvSpPr>
          <p:spPr>
            <a:xfrm>
              <a:off x="340" y="754"/>
              <a:ext cx="4627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（ 空气分子有效直径 ：</a:t>
              </a:r>
              <a:r>
                <a:rPr lang="zh-CN" altLang="en-US" sz="2400" dirty="0">
                  <a:solidFill>
                    <a:srgbClr val="1C1C1C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                               ）</a:t>
              </a:r>
            </a:p>
          </p:txBody>
        </p:sp>
        <p:graphicFrame>
          <p:nvGraphicFramePr>
            <p:cNvPr id="110602" name="Object 12"/>
            <p:cNvGraphicFramePr>
              <a:graphicFrameLocks noChangeAspect="1"/>
            </p:cNvGraphicFramePr>
            <p:nvPr/>
          </p:nvGraphicFramePr>
          <p:xfrm>
            <a:off x="2330" y="754"/>
            <a:ext cx="1406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80" r:id="rId13" imgW="26212800" imgH="4876800" progId="Equation.3">
                    <p:embed/>
                  </p:oleObj>
                </mc:Choice>
                <mc:Fallback>
                  <p:oleObj r:id="rId13" imgW="26212800" imgH="4876800" progId="Equation.3">
                    <p:embed/>
                    <p:pic>
                      <p:nvPicPr>
                        <p:cNvPr id="0" name="图片 341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330" y="754"/>
                          <a:ext cx="1406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Text Box 2"/>
          <p:cNvSpPr txBox="1"/>
          <p:nvPr/>
        </p:nvSpPr>
        <p:spPr>
          <a:xfrm>
            <a:off x="468313" y="333375"/>
            <a:ext cx="8424862" cy="14208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FF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例</a:t>
            </a:r>
            <a:r>
              <a:rPr lang="en-US" altLang="zh-CN" sz="2400" dirty="0">
                <a:solidFill>
                  <a:srgbClr val="FF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2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气缸内盛有一定量的氢气（可视作理想气体），当</a:t>
            </a:r>
            <a:r>
              <a:rPr lang="zh-CN" altLang="en-US" sz="2400" dirty="0">
                <a:solidFill>
                  <a:srgbClr val="FF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温度不变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而</a:t>
            </a:r>
            <a:r>
              <a:rPr lang="zh-CN" altLang="en-US" sz="2400" dirty="0">
                <a:solidFill>
                  <a:srgbClr val="FF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压强增大一倍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时，氢气分子的</a:t>
            </a:r>
            <a:r>
              <a:rPr lang="zh-CN" altLang="en-US" sz="2400" dirty="0">
                <a:solidFill>
                  <a:srgbClr val="FF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平均碰撞频率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和</a:t>
            </a:r>
            <a:r>
              <a:rPr lang="zh-CN" altLang="en-US" sz="2400" dirty="0">
                <a:solidFill>
                  <a:srgbClr val="FF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平均自由程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的变化情况如何？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</a:t>
            </a:r>
          </a:p>
        </p:txBody>
      </p:sp>
      <p:grpSp>
        <p:nvGrpSpPr>
          <p:cNvPr id="2" name="Group 13"/>
          <p:cNvGrpSpPr/>
          <p:nvPr/>
        </p:nvGrpSpPr>
        <p:grpSpPr>
          <a:xfrm>
            <a:off x="1333500" y="4479925"/>
            <a:ext cx="6262688" cy="461963"/>
            <a:chOff x="818" y="2652"/>
            <a:chExt cx="3945" cy="291"/>
          </a:xfrm>
        </p:grpSpPr>
        <p:graphicFrame>
          <p:nvGraphicFramePr>
            <p:cNvPr id="111619" name="Object 6"/>
            <p:cNvGraphicFramePr>
              <a:graphicFrameLocks noChangeAspect="1"/>
            </p:cNvGraphicFramePr>
            <p:nvPr/>
          </p:nvGraphicFramePr>
          <p:xfrm>
            <a:off x="1111" y="2652"/>
            <a:ext cx="195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412" r:id="rId3" imgW="254000" imgH="342900" progId="Equation.3">
                    <p:embed/>
                  </p:oleObj>
                </mc:Choice>
                <mc:Fallback>
                  <p:oleObj r:id="rId3" imgW="254000" imgH="342900" progId="Equation.3">
                    <p:embed/>
                    <p:pic>
                      <p:nvPicPr>
                        <p:cNvPr id="0" name="图片 340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11" y="2652"/>
                          <a:ext cx="195" cy="26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1620" name="Object 7"/>
            <p:cNvGraphicFramePr>
              <a:graphicFrameLocks noChangeAspect="1"/>
            </p:cNvGraphicFramePr>
            <p:nvPr/>
          </p:nvGraphicFramePr>
          <p:xfrm>
            <a:off x="2497" y="2671"/>
            <a:ext cx="17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413" r:id="rId5" imgW="228600" imgH="355600" progId="Equation.3">
                    <p:embed/>
                  </p:oleObj>
                </mc:Choice>
                <mc:Fallback>
                  <p:oleObj r:id="rId5" imgW="228600" imgH="355600" progId="Equation.3">
                    <p:embed/>
                    <p:pic>
                      <p:nvPicPr>
                        <p:cNvPr id="0" name="图片 340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497" y="2671"/>
                          <a:ext cx="177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1621" name="Text Box 8"/>
            <p:cNvSpPr txBox="1"/>
            <p:nvPr/>
          </p:nvSpPr>
          <p:spPr>
            <a:xfrm>
              <a:off x="818" y="2652"/>
              <a:ext cx="3945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400" dirty="0">
                  <a:solidFill>
                    <a:srgbClr val="990033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故      增大一倍，而     减为原来的一半。</a:t>
              </a:r>
            </a:p>
          </p:txBody>
        </p:sp>
      </p:grpSp>
      <p:sp>
        <p:nvSpPr>
          <p:cNvPr id="26" name="Text Box 9"/>
          <p:cNvSpPr txBox="1"/>
          <p:nvPr/>
        </p:nvSpPr>
        <p:spPr>
          <a:xfrm>
            <a:off x="557213" y="2249488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解：</a:t>
            </a:r>
          </a:p>
        </p:txBody>
      </p:sp>
      <p:graphicFrame>
        <p:nvGraphicFramePr>
          <p:cNvPr id="27" name="Object 10"/>
          <p:cNvGraphicFramePr>
            <a:graphicFrameLocks noChangeAspect="1"/>
          </p:cNvGraphicFramePr>
          <p:nvPr/>
        </p:nvGraphicFramePr>
        <p:xfrm>
          <a:off x="1331913" y="2328863"/>
          <a:ext cx="1951037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4" r:id="rId7" imgW="1460500" imgH="355600" progId="Equation.DSMT4">
                  <p:embed/>
                </p:oleObj>
              </mc:Choice>
              <mc:Fallback>
                <p:oleObj r:id="rId7" imgW="1460500" imgH="355600" progId="Equation.DSMT4">
                  <p:embed/>
                  <p:pic>
                    <p:nvPicPr>
                      <p:cNvPr id="0" name="图片 342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31913" y="2328863"/>
                        <a:ext cx="1951037" cy="481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1"/>
          <p:cNvGraphicFramePr>
            <a:graphicFrameLocks noChangeAspect="1"/>
          </p:cNvGraphicFramePr>
          <p:nvPr/>
        </p:nvGraphicFramePr>
        <p:xfrm>
          <a:off x="1316038" y="3470275"/>
          <a:ext cx="467995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5" r:id="rId9" imgW="51816000" imgH="5486400" progId="Equation.DSMT4">
                  <p:embed/>
                </p:oleObj>
              </mc:Choice>
              <mc:Fallback>
                <p:oleObj r:id="rId9" imgW="51816000" imgH="5486400" progId="Equation.DSMT4">
                  <p:embed/>
                  <p:pic>
                    <p:nvPicPr>
                      <p:cNvPr id="0" name="图片 341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16038" y="3470275"/>
                        <a:ext cx="4679950" cy="496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2"/>
          <p:cNvGraphicFramePr>
            <a:graphicFrameLocks noChangeAspect="1"/>
          </p:cNvGraphicFramePr>
          <p:nvPr/>
        </p:nvGraphicFramePr>
        <p:xfrm>
          <a:off x="4105275" y="2112963"/>
          <a:ext cx="2411413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6" r:id="rId11" imgW="26517600" imgH="10668000" progId="Equation.DSMT4">
                  <p:embed/>
                </p:oleObj>
              </mc:Choice>
              <mc:Fallback>
                <p:oleObj r:id="rId11" imgW="26517600" imgH="10668000" progId="Equation.DSMT4">
                  <p:embed/>
                  <p:pic>
                    <p:nvPicPr>
                      <p:cNvPr id="0" name="图片 341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05275" y="2112963"/>
                        <a:ext cx="2411413" cy="969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6" name="Object 612"/>
          <p:cNvGraphicFramePr>
            <a:graphicFrameLocks noChangeAspect="1"/>
          </p:cNvGraphicFramePr>
          <p:nvPr/>
        </p:nvGraphicFramePr>
        <p:xfrm>
          <a:off x="1384300" y="5454650"/>
          <a:ext cx="28956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7" r:id="rId13" imgW="1447800" imgH="685800" progId="Equation.DSMT4">
                  <p:embed/>
                </p:oleObj>
              </mc:Choice>
              <mc:Fallback>
                <p:oleObj r:id="rId13" imgW="1447800" imgH="685800" progId="Equation.DSMT4">
                  <p:embed/>
                  <p:pic>
                    <p:nvPicPr>
                      <p:cNvPr id="0" name="图片 341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84300" y="5454650"/>
                        <a:ext cx="2895600" cy="1104900"/>
                      </a:xfrm>
                      <a:prstGeom prst="rect">
                        <a:avLst/>
                      </a:prstGeom>
                      <a:solidFill>
                        <a:srgbClr val="FFCCFF">
                          <a:alpha val="50195"/>
                        </a:srgb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7" name="Object 613"/>
          <p:cNvGraphicFramePr>
            <a:graphicFrameLocks noChangeAspect="1"/>
          </p:cNvGraphicFramePr>
          <p:nvPr/>
        </p:nvGraphicFramePr>
        <p:xfrm>
          <a:off x="5056188" y="5526088"/>
          <a:ext cx="2362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8" r:id="rId15" imgW="1129665" imgH="444500" progId="Equation.DSMT4">
                  <p:embed/>
                </p:oleObj>
              </mc:Choice>
              <mc:Fallback>
                <p:oleObj r:id="rId15" imgW="1129665" imgH="444500" progId="Equation.DSMT4">
                  <p:embed/>
                  <p:pic>
                    <p:nvPicPr>
                      <p:cNvPr id="0" name="图片 342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056188" y="5526088"/>
                        <a:ext cx="2362200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9"/>
          <p:cNvSpPr txBox="1"/>
          <p:nvPr/>
        </p:nvSpPr>
        <p:spPr>
          <a:xfrm>
            <a:off x="385763" y="4895850"/>
            <a:ext cx="110172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另解：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AwMWQ4ZTZkY2M1MGE1NGJkMGQ0ZDYzMzExMmY4MWMifQ=="/>
</p:tagLst>
</file>

<file path=ppt/theme/theme1.xml><?xml version="1.0" encoding="utf-8"?>
<a:theme xmlns:a="http://schemas.openxmlformats.org/drawingml/2006/main" name="第六章 热力学基础（三）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第六章 热力学基础（三）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第六章 热力学基础（三）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第六章 热力学基础（三）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第六章 热力学基础（三）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第六章 热力学基础（三）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第六章 热力学基础（三）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第六章 热力学基础（三）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第六章 热力学基础（三）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第六章 热力学基础（三）</Template>
  <TotalTime>715</TotalTime>
  <Words>4172</Words>
  <Application>Microsoft Office PowerPoint</Application>
  <PresentationFormat>全屏显示(4:3)</PresentationFormat>
  <Paragraphs>682</Paragraphs>
  <Slides>66</Slides>
  <Notes>1</Notes>
  <HiddenSlides>4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66</vt:i4>
      </vt:variant>
    </vt:vector>
  </HeadingPairs>
  <TitlesOfParts>
    <vt:vector size="90" baseType="lpstr">
      <vt:lpstr>ˎ̥</vt:lpstr>
      <vt:lpstr>Monotype Sorts</vt:lpstr>
      <vt:lpstr>仿宋_GB2312</vt:lpstr>
      <vt:lpstr>黑体</vt:lpstr>
      <vt:lpstr>华文楷体</vt:lpstr>
      <vt:lpstr>华文新魏</vt:lpstr>
      <vt:lpstr>楷体_GB2312</vt:lpstr>
      <vt:lpstr>隶书</vt:lpstr>
      <vt:lpstr>宋体</vt:lpstr>
      <vt:lpstr>幼圆</vt:lpstr>
      <vt:lpstr>Arial</vt:lpstr>
      <vt:lpstr>Book Antiqua</vt:lpstr>
      <vt:lpstr>Bookman Old Style</vt:lpstr>
      <vt:lpstr>MT Extra</vt:lpstr>
      <vt:lpstr>Symbol</vt:lpstr>
      <vt:lpstr>Tahoma</vt:lpstr>
      <vt:lpstr>Times New Roman</vt:lpstr>
      <vt:lpstr>Wingdings</vt:lpstr>
      <vt:lpstr>第六章 热力学基础（三）</vt:lpstr>
      <vt:lpstr>1_第六章 热力学基础（三）</vt:lpstr>
      <vt:lpstr>2_第六章 热力学基础（三）</vt:lpstr>
      <vt:lpstr>Microsoft Equation 3.0</vt:lpstr>
      <vt:lpstr>MathType 6.0 Equation</vt:lpstr>
      <vt:lpstr>MS_ClipArt_Gallery.2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zf</dc:creator>
  <cp:lastModifiedBy>Administrator</cp:lastModifiedBy>
  <cp:revision>559</cp:revision>
  <dcterms:created xsi:type="dcterms:W3CDTF">2007-08-02T09:30:00Z</dcterms:created>
  <dcterms:modified xsi:type="dcterms:W3CDTF">2024-10-23T03:50:01Z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0AA9598F455B4A5E963CEEF65A711688_13</vt:lpwstr>
  </property>
</Properties>
</file>