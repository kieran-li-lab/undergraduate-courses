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846" r:id="rId2"/>
    <p:sldId id="847" r:id="rId3"/>
    <p:sldId id="903" r:id="rId4"/>
    <p:sldId id="904" r:id="rId5"/>
    <p:sldId id="905" r:id="rId6"/>
    <p:sldId id="906" r:id="rId7"/>
    <p:sldId id="907" r:id="rId8"/>
    <p:sldId id="908" r:id="rId9"/>
    <p:sldId id="909" r:id="rId10"/>
    <p:sldId id="910" r:id="rId11"/>
    <p:sldId id="911" r:id="rId12"/>
    <p:sldId id="912" r:id="rId13"/>
    <p:sldId id="913" r:id="rId14"/>
    <p:sldId id="914" r:id="rId15"/>
    <p:sldId id="915" r:id="rId16"/>
    <p:sldId id="920" r:id="rId17"/>
    <p:sldId id="862" r:id="rId18"/>
    <p:sldId id="863" r:id="rId19"/>
    <p:sldId id="916" r:id="rId20"/>
    <p:sldId id="917" r:id="rId21"/>
    <p:sldId id="918" r:id="rId22"/>
    <p:sldId id="919" r:id="rId23"/>
  </p:sldIdLst>
  <p:sldSz cx="9144000" cy="6858000" type="screen4x3"/>
  <p:notesSz cx="6858000" cy="9144000"/>
  <p:custDataLst>
    <p:tags r:id="rId26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2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BCB8"/>
    <a:srgbClr val="99CCFF"/>
    <a:srgbClr val="FF5050"/>
    <a:srgbClr val="000066"/>
    <a:srgbClr val="FFFF00"/>
    <a:srgbClr val="CC0000"/>
    <a:srgbClr val="333399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60" autoAdjust="0"/>
  </p:normalViewPr>
  <p:slideViewPr>
    <p:cSldViewPr showGuides="1">
      <p:cViewPr varScale="1">
        <p:scale>
          <a:sx n="114" d="100"/>
          <a:sy n="114" d="100"/>
        </p:scale>
        <p:origin x="1524" y="102"/>
      </p:cViewPr>
      <p:guideLst>
        <p:guide orient="horz" pos="2115"/>
        <p:guide pos="28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7" Type="http://schemas.openxmlformats.org/officeDocument/2006/relationships/image" Target="../media/image12.emf"/><Relationship Id="rId2" Type="http://schemas.openxmlformats.org/officeDocument/2006/relationships/image" Target="../media/image7.emf"/><Relationship Id="rId1" Type="http://schemas.openxmlformats.org/officeDocument/2006/relationships/image" Target="../media/image6.emf"/><Relationship Id="rId6" Type="http://schemas.openxmlformats.org/officeDocument/2006/relationships/image" Target="../media/image11.emf"/><Relationship Id="rId5" Type="http://schemas.openxmlformats.org/officeDocument/2006/relationships/image" Target="../media/image10.wmf"/><Relationship Id="rId4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image" Target="../media/image19.emf"/><Relationship Id="rId4" Type="http://schemas.openxmlformats.org/officeDocument/2006/relationships/image" Target="../media/image22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image" Target="../media/image23.wmf"/><Relationship Id="rId6" Type="http://schemas.openxmlformats.org/officeDocument/2006/relationships/image" Target="../media/image28.emf"/><Relationship Id="rId5" Type="http://schemas.openxmlformats.org/officeDocument/2006/relationships/image" Target="../media/image27.wmf"/><Relationship Id="rId4" Type="http://schemas.openxmlformats.org/officeDocument/2006/relationships/image" Target="../media/image26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image" Target="../media/image31.emf"/><Relationship Id="rId7" Type="http://schemas.openxmlformats.org/officeDocument/2006/relationships/image" Target="../media/image35.wmf"/><Relationship Id="rId2" Type="http://schemas.openxmlformats.org/officeDocument/2006/relationships/image" Target="../media/image30.emf"/><Relationship Id="rId1" Type="http://schemas.openxmlformats.org/officeDocument/2006/relationships/image" Target="../media/image29.e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emf"/><Relationship Id="rId9" Type="http://schemas.openxmlformats.org/officeDocument/2006/relationships/image" Target="../media/image37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image" Target="../media/image38.emf"/><Relationship Id="rId6" Type="http://schemas.openxmlformats.org/officeDocument/2006/relationships/image" Target="../media/image43.emf"/><Relationship Id="rId5" Type="http://schemas.openxmlformats.org/officeDocument/2006/relationships/image" Target="../media/image42.emf"/><Relationship Id="rId4" Type="http://schemas.openxmlformats.org/officeDocument/2006/relationships/image" Target="../media/image41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46.wmf"/><Relationship Id="rId7" Type="http://schemas.openxmlformats.org/officeDocument/2006/relationships/image" Target="../media/image50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Relationship Id="rId9" Type="http://schemas.openxmlformats.org/officeDocument/2006/relationships/image" Target="../media/image5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image" Target="../media/image56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5" Type="http://schemas.openxmlformats.org/officeDocument/2006/relationships/image" Target="../media/image64.emf"/><Relationship Id="rId4" Type="http://schemas.openxmlformats.org/officeDocument/2006/relationships/image" Target="../media/image63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image" Target="../media/image66.emf"/><Relationship Id="rId1" Type="http://schemas.openxmlformats.org/officeDocument/2006/relationships/image" Target="../media/image65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image" Target="../media/image69.emf"/><Relationship Id="rId1" Type="http://schemas.openxmlformats.org/officeDocument/2006/relationships/image" Target="../media/image68.emf"/><Relationship Id="rId4" Type="http://schemas.openxmlformats.org/officeDocument/2006/relationships/image" Target="../media/image7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defRPr kumimoji="1"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18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kumimoji="1"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18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defRPr kumimoji="1"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18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defRPr sz="1200" b="0" noProof="1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550EFD1-9473-47C2-B348-BC1CDC6F2B08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defRPr kumimoji="1"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kumimoji="1"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defRPr kumimoji="1"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defRPr sz="1200" b="0" noProof="1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4128E46-45D9-4B07-BB9A-ECC08EE8EC51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E74F3A-82AF-48D1-9DB9-D46A858EB2E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D44C80-236A-4E6C-8F66-D31E8FB6955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173735-251B-4706-A4C2-608B2D845D1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6FF449-BBDD-4C3F-9B63-3AB70F07D62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CD1EE3-3F1E-4262-AFAB-8A459182830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1D9F88-2298-48C6-A59C-413406AF5AD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C43F6E-0900-422B-B1C6-278B6AF4809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9A97CD-EBC0-47C7-A537-153FB3A9AF5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BE37F6-F1A2-4B6B-A7B9-56AB2FD832D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54622E-C890-4F55-950A-82691233D2E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36E148-B9B1-43C8-9360-31ECA79DFF7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DDC422-99A4-4393-9A8B-7FBD137D217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70AF3E-6729-4955-ACEF-0B7569F7CA6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defRPr kumimoji="1" sz="1400" b="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defRPr kumimoji="1" sz="1400" b="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400" b="0" noProof="1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C921D46-01FB-49EE-88B7-9031CC7700FD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13" Type="http://schemas.openxmlformats.org/officeDocument/2006/relationships/oleObject" Target="../embeddings/oleObject9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0.wmf"/><Relationship Id="rId17" Type="http://schemas.openxmlformats.org/officeDocument/2006/relationships/image" Target="../media/image12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1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e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5" Type="http://schemas.openxmlformats.org/officeDocument/2006/relationships/image" Target="../media/image11.emf"/><Relationship Id="rId10" Type="http://schemas.openxmlformats.org/officeDocument/2006/relationships/image" Target="../media/image9.emf"/><Relationship Id="rId4" Type="http://schemas.openxmlformats.org/officeDocument/2006/relationships/image" Target="../media/image6.emf"/><Relationship Id="rId9" Type="http://schemas.openxmlformats.org/officeDocument/2006/relationships/oleObject" Target="../embeddings/oleObject7.bin"/><Relationship Id="rId14" Type="http://schemas.openxmlformats.org/officeDocument/2006/relationships/oleObject" Target="../embeddings/oleObject10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3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8.jpeg"/><Relationship Id="rId4" Type="http://schemas.openxmlformats.org/officeDocument/2006/relationships/image" Target="../media/image17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oleObject" Target="../embeddings/oleObject16.bin"/><Relationship Id="rId7" Type="http://schemas.openxmlformats.org/officeDocument/2006/relationships/image" Target="../media/image2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22.emf"/><Relationship Id="rId5" Type="http://schemas.openxmlformats.org/officeDocument/2006/relationships/image" Target="../media/image18.jpeg"/><Relationship Id="rId10" Type="http://schemas.openxmlformats.org/officeDocument/2006/relationships/oleObject" Target="../embeddings/oleObject19.bin"/><Relationship Id="rId4" Type="http://schemas.openxmlformats.org/officeDocument/2006/relationships/image" Target="../media/image19.emf"/><Relationship Id="rId9" Type="http://schemas.openxmlformats.org/officeDocument/2006/relationships/image" Target="../media/image21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13" Type="http://schemas.openxmlformats.org/officeDocument/2006/relationships/oleObject" Target="../embeddings/oleObject25.bin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7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4.e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26.e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28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13" Type="http://schemas.openxmlformats.org/officeDocument/2006/relationships/oleObject" Target="../embeddings/oleObject31.bin"/><Relationship Id="rId18" Type="http://schemas.openxmlformats.org/officeDocument/2006/relationships/image" Target="../media/image36.e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33.wmf"/><Relationship Id="rId17" Type="http://schemas.openxmlformats.org/officeDocument/2006/relationships/oleObject" Target="../embeddings/oleObject33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5.wmf"/><Relationship Id="rId20" Type="http://schemas.openxmlformats.org/officeDocument/2006/relationships/image" Target="../media/image37.e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30.emf"/><Relationship Id="rId11" Type="http://schemas.openxmlformats.org/officeDocument/2006/relationships/oleObject" Target="../embeddings/oleObject30.bin"/><Relationship Id="rId5" Type="http://schemas.openxmlformats.org/officeDocument/2006/relationships/oleObject" Target="../embeddings/oleObject27.bin"/><Relationship Id="rId15" Type="http://schemas.openxmlformats.org/officeDocument/2006/relationships/oleObject" Target="../embeddings/oleObject32.bin"/><Relationship Id="rId10" Type="http://schemas.openxmlformats.org/officeDocument/2006/relationships/image" Target="../media/image32.emf"/><Relationship Id="rId19" Type="http://schemas.openxmlformats.org/officeDocument/2006/relationships/oleObject" Target="../embeddings/oleObject34.bin"/><Relationship Id="rId4" Type="http://schemas.openxmlformats.org/officeDocument/2006/relationships/image" Target="../media/image29.emf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34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13" Type="http://schemas.openxmlformats.org/officeDocument/2006/relationships/oleObject" Target="../embeddings/oleObject40.bin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42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9.e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41.emf"/><Relationship Id="rId4" Type="http://schemas.openxmlformats.org/officeDocument/2006/relationships/image" Target="../media/image38.emf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43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13" Type="http://schemas.openxmlformats.org/officeDocument/2006/relationships/oleObject" Target="../embeddings/oleObject46.bin"/><Relationship Id="rId18" Type="http://schemas.openxmlformats.org/officeDocument/2006/relationships/image" Target="../media/image17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48.wmf"/><Relationship Id="rId17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0.wmf"/><Relationship Id="rId20" Type="http://schemas.openxmlformats.org/officeDocument/2006/relationships/image" Target="../media/image51.e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5" Type="http://schemas.openxmlformats.org/officeDocument/2006/relationships/oleObject" Target="../embeddings/oleObject47.bin"/><Relationship Id="rId10" Type="http://schemas.openxmlformats.org/officeDocument/2006/relationships/image" Target="../media/image47.wmf"/><Relationship Id="rId19" Type="http://schemas.openxmlformats.org/officeDocument/2006/relationships/oleObject" Target="../embeddings/oleObject49.bin"/><Relationship Id="rId4" Type="http://schemas.openxmlformats.org/officeDocument/2006/relationships/image" Target="../media/image44.w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49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52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7" Type="http://schemas.openxmlformats.org/officeDocument/2006/relationships/image" Target="../media/image5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52.bin"/><Relationship Id="rId5" Type="http://schemas.openxmlformats.org/officeDocument/2006/relationships/image" Target="../media/image57.wmf"/><Relationship Id="rId4" Type="http://schemas.openxmlformats.org/officeDocument/2006/relationships/image" Target="../media/image55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emf"/><Relationship Id="rId3" Type="http://schemas.openxmlformats.org/officeDocument/2006/relationships/image" Target="../media/image57.wmf"/><Relationship Id="rId7" Type="http://schemas.openxmlformats.org/officeDocument/2006/relationships/oleObject" Target="../embeddings/oleObject5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9.wmf"/><Relationship Id="rId5" Type="http://schemas.openxmlformats.org/officeDocument/2006/relationships/image" Target="../media/image56.wmf"/><Relationship Id="rId4" Type="http://schemas.openxmlformats.org/officeDocument/2006/relationships/oleObject" Target="../embeddings/oleObject53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6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59.bin"/><Relationship Id="rId5" Type="http://schemas.openxmlformats.org/officeDocument/2006/relationships/oleObject" Target="../embeddings/oleObject56.bin"/><Relationship Id="rId10" Type="http://schemas.openxmlformats.org/officeDocument/2006/relationships/image" Target="../media/image63.wmf"/><Relationship Id="rId4" Type="http://schemas.openxmlformats.org/officeDocument/2006/relationships/image" Target="../media/image60.wmf"/><Relationship Id="rId9" Type="http://schemas.openxmlformats.org/officeDocument/2006/relationships/oleObject" Target="../embeddings/oleObject58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emf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6.e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65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emf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9.emf"/><Relationship Id="rId5" Type="http://schemas.openxmlformats.org/officeDocument/2006/relationships/oleObject" Target="../embeddings/oleObject64.bin"/><Relationship Id="rId10" Type="http://schemas.openxmlformats.org/officeDocument/2006/relationships/image" Target="../media/image71.emf"/><Relationship Id="rId4" Type="http://schemas.openxmlformats.org/officeDocument/2006/relationships/image" Target="../media/image68.emf"/><Relationship Id="rId9" Type="http://schemas.openxmlformats.org/officeDocument/2006/relationships/oleObject" Target="../embeddings/oleObject6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0E49ED0-BC43-4884-B1E0-24AF41EDF8AB}" type="slidenum">
              <a:rPr altLang="zh-CN" sz="1400" smtClean="0"/>
              <a:t>1</a:t>
            </a:fld>
            <a:endParaRPr lang="zh-CN" altLang="zh-CN" sz="1400"/>
          </a:p>
        </p:txBody>
      </p:sp>
      <p:sp>
        <p:nvSpPr>
          <p:cNvPr id="1016834" name="Rectangle 2"/>
          <p:cNvSpPr>
            <a:spLocks noChangeArrowheads="1"/>
          </p:cNvSpPr>
          <p:nvPr/>
        </p:nvSpPr>
        <p:spPr bwMode="auto">
          <a:xfrm>
            <a:off x="2916238" y="3365500"/>
            <a:ext cx="3581400" cy="515938"/>
          </a:xfrm>
          <a:prstGeom prst="rect">
            <a:avLst/>
          </a:prstGeom>
          <a:gradFill rotWithShape="1">
            <a:gsLst>
              <a:gs pos="0">
                <a:srgbClr val="4D4D4D"/>
              </a:gs>
              <a:gs pos="50000">
                <a:schemeClr val="bg1"/>
              </a:gs>
              <a:gs pos="100000">
                <a:srgbClr val="4D4D4D"/>
              </a:gs>
            </a:gsLst>
            <a:lin ang="0" scaled="1"/>
          </a:gradFill>
          <a:ln w="9525" algn="ctr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  <a:defRPr/>
            </a:pPr>
            <a:endParaRPr kumimoji="1" lang="zh-CN" altLang="en-US"/>
          </a:p>
        </p:txBody>
      </p:sp>
      <p:grpSp>
        <p:nvGrpSpPr>
          <p:cNvPr id="2" name="Group 3"/>
          <p:cNvGrpSpPr/>
          <p:nvPr/>
        </p:nvGrpSpPr>
        <p:grpSpPr bwMode="auto">
          <a:xfrm>
            <a:off x="2916238" y="5132388"/>
            <a:ext cx="3581400" cy="515937"/>
            <a:chOff x="1798" y="3544"/>
            <a:chExt cx="1845" cy="325"/>
          </a:xfrm>
        </p:grpSpPr>
        <p:sp>
          <p:nvSpPr>
            <p:cNvPr id="4129" name="Rectangle 4"/>
            <p:cNvSpPr>
              <a:spLocks noChangeArrowheads="1"/>
            </p:cNvSpPr>
            <p:nvPr/>
          </p:nvSpPr>
          <p:spPr bwMode="auto">
            <a:xfrm>
              <a:off x="1798" y="3544"/>
              <a:ext cx="1845" cy="325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4130" name="Line 5"/>
            <p:cNvSpPr>
              <a:spLocks noChangeShapeType="1"/>
            </p:cNvSpPr>
            <p:nvPr/>
          </p:nvSpPr>
          <p:spPr bwMode="auto">
            <a:xfrm>
              <a:off x="2001" y="3550"/>
              <a:ext cx="0" cy="313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1" name="Line 6"/>
            <p:cNvSpPr>
              <a:spLocks noChangeShapeType="1"/>
            </p:cNvSpPr>
            <p:nvPr/>
          </p:nvSpPr>
          <p:spPr bwMode="auto">
            <a:xfrm>
              <a:off x="2542" y="3550"/>
              <a:ext cx="0" cy="313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2" name="Line 7"/>
            <p:cNvSpPr>
              <a:spLocks noChangeShapeType="1"/>
            </p:cNvSpPr>
            <p:nvPr/>
          </p:nvSpPr>
          <p:spPr bwMode="auto">
            <a:xfrm>
              <a:off x="2896" y="3550"/>
              <a:ext cx="0" cy="313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3" name="Line 8"/>
            <p:cNvSpPr>
              <a:spLocks noChangeShapeType="1"/>
            </p:cNvSpPr>
            <p:nvPr/>
          </p:nvSpPr>
          <p:spPr bwMode="auto">
            <a:xfrm>
              <a:off x="3068" y="3550"/>
              <a:ext cx="0" cy="313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4" name="Line 9"/>
            <p:cNvSpPr>
              <a:spLocks noChangeShapeType="1"/>
            </p:cNvSpPr>
            <p:nvPr/>
          </p:nvSpPr>
          <p:spPr bwMode="auto">
            <a:xfrm>
              <a:off x="3167" y="3550"/>
              <a:ext cx="0" cy="313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16842" name="Text Box 10"/>
          <p:cNvSpPr txBox="1">
            <a:spLocks noChangeArrowheads="1"/>
          </p:cNvSpPr>
          <p:nvPr/>
        </p:nvSpPr>
        <p:spPr bwMode="auto">
          <a:xfrm>
            <a:off x="1471613" y="3386138"/>
            <a:ext cx="1430337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连续光谱</a:t>
            </a:r>
          </a:p>
        </p:txBody>
      </p:sp>
      <p:sp>
        <p:nvSpPr>
          <p:cNvPr id="1016843" name="Text Box 11"/>
          <p:cNvSpPr txBox="1">
            <a:spLocks noChangeArrowheads="1"/>
          </p:cNvSpPr>
          <p:nvPr/>
        </p:nvSpPr>
        <p:spPr bwMode="auto">
          <a:xfrm>
            <a:off x="1495425" y="5133975"/>
            <a:ext cx="190976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线状光谱</a:t>
            </a:r>
          </a:p>
        </p:txBody>
      </p:sp>
      <p:sp>
        <p:nvSpPr>
          <p:cNvPr id="1016844" name="Text Box 12"/>
          <p:cNvSpPr txBox="1">
            <a:spLocks noChangeArrowheads="1"/>
          </p:cNvSpPr>
          <p:nvPr/>
        </p:nvSpPr>
        <p:spPr bwMode="auto">
          <a:xfrm>
            <a:off x="6659563" y="3357563"/>
            <a:ext cx="1773237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固体热辐射</a:t>
            </a:r>
          </a:p>
        </p:txBody>
      </p:sp>
      <p:sp>
        <p:nvSpPr>
          <p:cNvPr id="1016845" name="Text Box 13"/>
          <p:cNvSpPr txBox="1">
            <a:spLocks noChangeArrowheads="1"/>
          </p:cNvSpPr>
          <p:nvPr/>
        </p:nvSpPr>
        <p:spPr bwMode="auto">
          <a:xfrm>
            <a:off x="6659563" y="5203825"/>
            <a:ext cx="154940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原子发光</a:t>
            </a:r>
          </a:p>
        </p:txBody>
      </p:sp>
      <p:sp>
        <p:nvSpPr>
          <p:cNvPr id="1016846" name="Text Box 14"/>
          <p:cNvSpPr txBox="1">
            <a:spLocks noChangeArrowheads="1"/>
          </p:cNvSpPr>
          <p:nvPr/>
        </p:nvSpPr>
        <p:spPr bwMode="auto">
          <a:xfrm>
            <a:off x="1495425" y="4268788"/>
            <a:ext cx="184785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带状光谱</a:t>
            </a:r>
          </a:p>
        </p:txBody>
      </p:sp>
      <p:sp>
        <p:nvSpPr>
          <p:cNvPr id="1016847" name="Text Box 15"/>
          <p:cNvSpPr txBox="1">
            <a:spLocks noChangeArrowheads="1"/>
          </p:cNvSpPr>
          <p:nvPr/>
        </p:nvSpPr>
        <p:spPr bwMode="auto">
          <a:xfrm>
            <a:off x="6659563" y="4340225"/>
            <a:ext cx="1455737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分子发光</a:t>
            </a:r>
          </a:p>
        </p:txBody>
      </p:sp>
      <p:grpSp>
        <p:nvGrpSpPr>
          <p:cNvPr id="3" name="Group 16"/>
          <p:cNvGrpSpPr>
            <a:grpSpLocks noChangeAspect="1"/>
          </p:cNvGrpSpPr>
          <p:nvPr/>
        </p:nvGrpSpPr>
        <p:grpSpPr bwMode="auto">
          <a:xfrm>
            <a:off x="2916238" y="4281488"/>
            <a:ext cx="3581400" cy="515937"/>
            <a:chOff x="1507" y="1757"/>
            <a:chExt cx="1845" cy="325"/>
          </a:xfrm>
        </p:grpSpPr>
        <p:sp>
          <p:nvSpPr>
            <p:cNvPr id="4113" name="Rectangle 17"/>
            <p:cNvSpPr>
              <a:spLocks noChangeAspect="1" noChangeArrowheads="1"/>
            </p:cNvSpPr>
            <p:nvPr/>
          </p:nvSpPr>
          <p:spPr bwMode="auto">
            <a:xfrm>
              <a:off x="1507" y="1757"/>
              <a:ext cx="1845" cy="325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4114" name="Line 18"/>
            <p:cNvSpPr>
              <a:spLocks noChangeAspect="1" noChangeShapeType="1"/>
            </p:cNvSpPr>
            <p:nvPr/>
          </p:nvSpPr>
          <p:spPr bwMode="auto">
            <a:xfrm>
              <a:off x="1694" y="1763"/>
              <a:ext cx="0" cy="313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5" name="Line 19"/>
            <p:cNvSpPr>
              <a:spLocks noChangeAspect="1" noChangeShapeType="1"/>
            </p:cNvSpPr>
            <p:nvPr/>
          </p:nvSpPr>
          <p:spPr bwMode="auto">
            <a:xfrm>
              <a:off x="1733" y="1763"/>
              <a:ext cx="0" cy="313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6" name="Line 20"/>
            <p:cNvSpPr>
              <a:spLocks noChangeAspect="1" noChangeShapeType="1"/>
            </p:cNvSpPr>
            <p:nvPr/>
          </p:nvSpPr>
          <p:spPr bwMode="auto">
            <a:xfrm>
              <a:off x="1772" y="1763"/>
              <a:ext cx="0" cy="313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7" name="Line 21"/>
            <p:cNvSpPr>
              <a:spLocks noChangeAspect="1" noChangeShapeType="1"/>
            </p:cNvSpPr>
            <p:nvPr/>
          </p:nvSpPr>
          <p:spPr bwMode="auto">
            <a:xfrm>
              <a:off x="1802" y="1763"/>
              <a:ext cx="0" cy="313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8" name="Line 22"/>
            <p:cNvSpPr>
              <a:spLocks noChangeAspect="1" noChangeShapeType="1"/>
            </p:cNvSpPr>
            <p:nvPr/>
          </p:nvSpPr>
          <p:spPr bwMode="auto">
            <a:xfrm>
              <a:off x="1850" y="1763"/>
              <a:ext cx="0" cy="313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9" name="Line 23"/>
            <p:cNvSpPr>
              <a:spLocks noChangeAspect="1" noChangeShapeType="1"/>
            </p:cNvSpPr>
            <p:nvPr/>
          </p:nvSpPr>
          <p:spPr bwMode="auto">
            <a:xfrm>
              <a:off x="2153" y="1763"/>
              <a:ext cx="0" cy="313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0" name="Line 24"/>
            <p:cNvSpPr>
              <a:spLocks noChangeAspect="1" noChangeShapeType="1"/>
            </p:cNvSpPr>
            <p:nvPr/>
          </p:nvSpPr>
          <p:spPr bwMode="auto">
            <a:xfrm>
              <a:off x="2192" y="1763"/>
              <a:ext cx="0" cy="313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1" name="Line 25"/>
            <p:cNvSpPr>
              <a:spLocks noChangeAspect="1" noChangeShapeType="1"/>
            </p:cNvSpPr>
            <p:nvPr/>
          </p:nvSpPr>
          <p:spPr bwMode="auto">
            <a:xfrm>
              <a:off x="2231" y="1764"/>
              <a:ext cx="0" cy="313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2" name="Line 26"/>
            <p:cNvSpPr>
              <a:spLocks noChangeAspect="1" noChangeShapeType="1"/>
            </p:cNvSpPr>
            <p:nvPr/>
          </p:nvSpPr>
          <p:spPr bwMode="auto">
            <a:xfrm>
              <a:off x="2261" y="1763"/>
              <a:ext cx="0" cy="313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3" name="Line 27"/>
            <p:cNvSpPr>
              <a:spLocks noChangeAspect="1" noChangeShapeType="1"/>
            </p:cNvSpPr>
            <p:nvPr/>
          </p:nvSpPr>
          <p:spPr bwMode="auto">
            <a:xfrm>
              <a:off x="2309" y="1763"/>
              <a:ext cx="0" cy="313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4" name="Line 28"/>
            <p:cNvSpPr>
              <a:spLocks noChangeAspect="1" noChangeShapeType="1"/>
            </p:cNvSpPr>
            <p:nvPr/>
          </p:nvSpPr>
          <p:spPr bwMode="auto">
            <a:xfrm>
              <a:off x="2458" y="1764"/>
              <a:ext cx="0" cy="313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5" name="Line 29"/>
            <p:cNvSpPr>
              <a:spLocks noChangeAspect="1" noChangeShapeType="1"/>
            </p:cNvSpPr>
            <p:nvPr/>
          </p:nvSpPr>
          <p:spPr bwMode="auto">
            <a:xfrm>
              <a:off x="2497" y="1764"/>
              <a:ext cx="0" cy="313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6" name="Line 30"/>
            <p:cNvSpPr>
              <a:spLocks noChangeAspect="1" noChangeShapeType="1"/>
            </p:cNvSpPr>
            <p:nvPr/>
          </p:nvSpPr>
          <p:spPr bwMode="auto">
            <a:xfrm>
              <a:off x="2536" y="1764"/>
              <a:ext cx="0" cy="313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7" name="Line 31"/>
            <p:cNvSpPr>
              <a:spLocks noChangeAspect="1" noChangeShapeType="1"/>
            </p:cNvSpPr>
            <p:nvPr/>
          </p:nvSpPr>
          <p:spPr bwMode="auto">
            <a:xfrm>
              <a:off x="2566" y="1764"/>
              <a:ext cx="0" cy="313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8" name="Line 32"/>
            <p:cNvSpPr>
              <a:spLocks noChangeAspect="1" noChangeShapeType="1"/>
            </p:cNvSpPr>
            <p:nvPr/>
          </p:nvSpPr>
          <p:spPr bwMode="auto">
            <a:xfrm>
              <a:off x="2614" y="1764"/>
              <a:ext cx="0" cy="313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16865" name="Rectangle 33"/>
          <p:cNvSpPr>
            <a:spLocks noChangeArrowheads="1"/>
          </p:cNvSpPr>
          <p:nvPr/>
        </p:nvSpPr>
        <p:spPr bwMode="auto">
          <a:xfrm>
            <a:off x="468313" y="3214688"/>
            <a:ext cx="574675" cy="2519362"/>
          </a:xfrm>
          <a:prstGeom prst="rect">
            <a:avLst/>
          </a:prstGeom>
          <a:solidFill>
            <a:srgbClr val="CCFFFF"/>
          </a:solidFill>
          <a:ln w="9525">
            <a:solidFill>
              <a:schemeClr val="accent2"/>
            </a:solidFill>
            <a:miter lim="800000"/>
          </a:ln>
          <a:effectLst>
            <a:outerShdw dist="107763" dir="81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sz="2800">
                <a:solidFill>
                  <a:srgbClr val="99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光谱分类</a:t>
            </a:r>
          </a:p>
        </p:txBody>
      </p:sp>
      <p:sp>
        <p:nvSpPr>
          <p:cNvPr id="1016866" name="Rectangle 34"/>
          <p:cNvSpPr>
            <a:spLocks noChangeArrowheads="1"/>
          </p:cNvSpPr>
          <p:nvPr/>
        </p:nvSpPr>
        <p:spPr bwMode="auto">
          <a:xfrm>
            <a:off x="487363" y="925513"/>
            <a:ext cx="4943475" cy="49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kumimoji="1"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研究原子结构的两条途径：</a:t>
            </a:r>
          </a:p>
        </p:txBody>
      </p:sp>
      <p:sp>
        <p:nvSpPr>
          <p:cNvPr id="1016867" name="Rectangle 35"/>
          <p:cNvSpPr>
            <a:spLocks noChangeArrowheads="1"/>
          </p:cNvSpPr>
          <p:nvPr/>
        </p:nvSpPr>
        <p:spPr bwMode="auto">
          <a:xfrm>
            <a:off x="484188" y="1624013"/>
            <a:ext cx="8480425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marL="577850" indent="-577850">
              <a:defRPr/>
            </a:pP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1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、利用高能粒子轰击原子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----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轰击出未知粒子来研究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(</a:t>
            </a:r>
            <a:r>
              <a:rPr kumimoji="1" lang="zh-CN" altLang="en-US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高能物理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1016868" name="Rectangle 36"/>
          <p:cNvSpPr>
            <a:spLocks noChangeArrowheads="1"/>
          </p:cNvSpPr>
          <p:nvPr/>
        </p:nvSpPr>
        <p:spPr bwMode="auto">
          <a:xfrm>
            <a:off x="417513" y="2200275"/>
            <a:ext cx="8812212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marL="577850" indent="-577850">
              <a:defRPr/>
            </a:pP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2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、通过外界激发，对原子的发射光谱进行研究（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光谱分析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1016869" name="Rectangle 37"/>
          <p:cNvSpPr>
            <a:spLocks noChangeArrowheads="1"/>
          </p:cNvSpPr>
          <p:nvPr/>
        </p:nvSpPr>
        <p:spPr bwMode="auto">
          <a:xfrm>
            <a:off x="323850" y="-26988"/>
            <a:ext cx="7485063" cy="6985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algn="ctr" eaLnBrk="1" hangingPunct="1">
              <a:defRPr/>
            </a:pPr>
            <a:r>
              <a:rPr kumimoji="1" lang="en-US" altLang="zh-CN" sz="3600" b="0" dirty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15-4 </a:t>
            </a:r>
            <a:r>
              <a:rPr kumimoji="1" lang="zh-CN" altLang="en-US" sz="3600" b="0" dirty="0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玻尔的氢原子理论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1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1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1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16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016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016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016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6834" grpId="0" animBg="1"/>
      <p:bldP spid="1016842" grpId="0"/>
      <p:bldP spid="1016845" grpId="0"/>
      <p:bldP spid="1016847" grpId="0"/>
      <p:bldP spid="1016865" grpId="0" animBg="1"/>
      <p:bldP spid="1016866" grpId="0"/>
      <p:bldP spid="1016867" grpId="0"/>
      <p:bldP spid="101686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A0847A1-8CAB-4B70-86D7-3DABB2074DAE}" type="slidenum">
              <a:rPr altLang="zh-CN" sz="1400" smtClean="0"/>
              <a:t>2</a:t>
            </a:fld>
            <a:endParaRPr lang="zh-CN" altLang="zh-CN" sz="1400"/>
          </a:p>
        </p:txBody>
      </p:sp>
      <p:pic>
        <p:nvPicPr>
          <p:cNvPr id="5123" name="Picture 2" descr="光谱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260350"/>
            <a:ext cx="9029700" cy="648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75463" y="64008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49F3DE4-B693-4F8C-9E11-0E725F519A39}" type="slidenum">
              <a:rPr altLang="zh-CN" sz="1400" smtClean="0"/>
              <a:t>3</a:t>
            </a:fld>
            <a:endParaRPr lang="zh-CN" altLang="zh-CN" sz="1400"/>
          </a:p>
        </p:txBody>
      </p:sp>
      <p:grpSp>
        <p:nvGrpSpPr>
          <p:cNvPr id="2" name="Group 2"/>
          <p:cNvGrpSpPr/>
          <p:nvPr/>
        </p:nvGrpSpPr>
        <p:grpSpPr bwMode="auto">
          <a:xfrm>
            <a:off x="4125913" y="4794250"/>
            <a:ext cx="3206750" cy="796925"/>
            <a:chOff x="3744" y="3432"/>
            <a:chExt cx="1824" cy="502"/>
          </a:xfrm>
        </p:grpSpPr>
        <p:sp>
          <p:nvSpPr>
            <p:cNvPr id="6165" name="Text Box 3"/>
            <p:cNvSpPr txBox="1">
              <a:spLocks noChangeArrowheads="1"/>
            </p:cNvSpPr>
            <p:nvPr/>
          </p:nvSpPr>
          <p:spPr bwMode="auto">
            <a:xfrm>
              <a:off x="3744" y="3600"/>
              <a:ext cx="1824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solidFill>
                    <a:srgbClr val="FF3300"/>
                  </a:solidFill>
                  <a:ea typeface="黑体" panose="02010609060101010101" pitchFamily="49" charset="-122"/>
                </a:rPr>
                <a:t>A</a:t>
              </a:r>
              <a:r>
                <a:rPr lang="zh-CN" altLang="en-US" sz="2400" b="0">
                  <a:ea typeface="黑体" panose="02010609060101010101" pitchFamily="49" charset="-122"/>
                </a:rPr>
                <a:t>即由此得来。</a:t>
              </a:r>
            </a:p>
          </p:txBody>
        </p:sp>
        <p:sp>
          <p:nvSpPr>
            <p:cNvPr id="6166" name="Text Box 4"/>
            <p:cNvSpPr txBox="1">
              <a:spLocks noChangeArrowheads="1"/>
            </p:cNvSpPr>
            <p:nvPr/>
          </p:nvSpPr>
          <p:spPr bwMode="auto">
            <a:xfrm>
              <a:off x="3768" y="343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0">
                  <a:solidFill>
                    <a:srgbClr val="FF3300"/>
                  </a:solidFill>
                  <a:ea typeface="黑体" panose="02010609060101010101" pitchFamily="49" charset="-122"/>
                </a:rPr>
                <a:t>。</a:t>
              </a:r>
            </a:p>
          </p:txBody>
        </p:sp>
      </p:grpSp>
      <p:grpSp>
        <p:nvGrpSpPr>
          <p:cNvPr id="3" name="Group 5"/>
          <p:cNvGrpSpPr/>
          <p:nvPr/>
        </p:nvGrpSpPr>
        <p:grpSpPr bwMode="auto">
          <a:xfrm>
            <a:off x="1000125" y="2197100"/>
            <a:ext cx="6616700" cy="2170113"/>
            <a:chOff x="816" y="1594"/>
            <a:chExt cx="4168" cy="1367"/>
          </a:xfrm>
        </p:grpSpPr>
        <p:pic>
          <p:nvPicPr>
            <p:cNvPr id="6158" name="Picture 6" descr="氢光谱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5" y="1594"/>
              <a:ext cx="3840" cy="7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59" name="Text Box 7"/>
            <p:cNvSpPr txBox="1">
              <a:spLocks noChangeArrowheads="1"/>
            </p:cNvSpPr>
            <p:nvPr/>
          </p:nvSpPr>
          <p:spPr bwMode="auto">
            <a:xfrm>
              <a:off x="1024" y="2649"/>
              <a:ext cx="4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/>
                <a:t>红</a:t>
              </a:r>
              <a:endParaRPr lang="zh-CN" altLang="en-US" sz="2400" b="0"/>
            </a:p>
          </p:txBody>
        </p:sp>
        <p:sp>
          <p:nvSpPr>
            <p:cNvPr id="6160" name="Text Box 8"/>
            <p:cNvSpPr txBox="1">
              <a:spLocks noChangeArrowheads="1"/>
            </p:cNvSpPr>
            <p:nvPr/>
          </p:nvSpPr>
          <p:spPr bwMode="auto">
            <a:xfrm>
              <a:off x="3052" y="2673"/>
              <a:ext cx="49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/>
                <a:t>蓝</a:t>
              </a:r>
              <a:endParaRPr lang="zh-CN" altLang="en-US" sz="2400" b="0"/>
            </a:p>
          </p:txBody>
        </p:sp>
        <p:sp>
          <p:nvSpPr>
            <p:cNvPr id="6161" name="Text Box 9"/>
            <p:cNvSpPr txBox="1">
              <a:spLocks noChangeArrowheads="1"/>
            </p:cNvSpPr>
            <p:nvPr/>
          </p:nvSpPr>
          <p:spPr bwMode="auto">
            <a:xfrm>
              <a:off x="4264" y="2637"/>
              <a:ext cx="5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/>
                <a:t>紫</a:t>
              </a:r>
              <a:endParaRPr lang="zh-CN" altLang="en-US" sz="2400" b="0"/>
            </a:p>
          </p:txBody>
        </p:sp>
        <p:sp>
          <p:nvSpPr>
            <p:cNvPr id="6162" name="Text Box 10"/>
            <p:cNvSpPr txBox="1">
              <a:spLocks noChangeArrowheads="1"/>
            </p:cNvSpPr>
            <p:nvPr/>
          </p:nvSpPr>
          <p:spPr bwMode="auto">
            <a:xfrm>
              <a:off x="816" y="2435"/>
              <a:ext cx="11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/>
                <a:t>6562.8Å</a:t>
              </a:r>
            </a:p>
          </p:txBody>
        </p:sp>
        <p:sp>
          <p:nvSpPr>
            <p:cNvPr id="6163" name="Text Box 11"/>
            <p:cNvSpPr txBox="1">
              <a:spLocks noChangeArrowheads="1"/>
            </p:cNvSpPr>
            <p:nvPr/>
          </p:nvSpPr>
          <p:spPr bwMode="auto">
            <a:xfrm>
              <a:off x="4064" y="2416"/>
              <a:ext cx="9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/>
                <a:t>4340.5Å</a:t>
              </a:r>
            </a:p>
          </p:txBody>
        </p:sp>
        <p:sp>
          <p:nvSpPr>
            <p:cNvPr id="6164" name="Text Box 12"/>
            <p:cNvSpPr txBox="1">
              <a:spLocks noChangeArrowheads="1"/>
            </p:cNvSpPr>
            <p:nvPr/>
          </p:nvSpPr>
          <p:spPr bwMode="auto">
            <a:xfrm>
              <a:off x="2818" y="2438"/>
              <a:ext cx="11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/>
                <a:t>4861.3Å</a:t>
              </a:r>
            </a:p>
          </p:txBody>
        </p:sp>
      </p:grpSp>
      <p:sp>
        <p:nvSpPr>
          <p:cNvPr id="1059853" name="Rectangle 13"/>
          <p:cNvSpPr>
            <a:spLocks noChangeArrowheads="1"/>
          </p:cNvSpPr>
          <p:nvPr/>
        </p:nvSpPr>
        <p:spPr bwMode="auto">
          <a:xfrm>
            <a:off x="638175" y="1557338"/>
            <a:ext cx="3232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0">
                <a:ea typeface="黑体" panose="02010609060101010101" pitchFamily="49" charset="-122"/>
              </a:rPr>
              <a:t>氢原子的可见光光谱：</a:t>
            </a:r>
          </a:p>
        </p:txBody>
      </p:sp>
      <p:grpSp>
        <p:nvGrpSpPr>
          <p:cNvPr id="4" name="Group 14"/>
          <p:cNvGrpSpPr/>
          <p:nvPr/>
        </p:nvGrpSpPr>
        <p:grpSpPr bwMode="auto">
          <a:xfrm>
            <a:off x="623888" y="4206875"/>
            <a:ext cx="5857875" cy="735013"/>
            <a:chOff x="516" y="2875"/>
            <a:chExt cx="3690" cy="463"/>
          </a:xfrm>
        </p:grpSpPr>
        <p:sp>
          <p:nvSpPr>
            <p:cNvPr id="6154" name="Text Box 15"/>
            <p:cNvSpPr txBox="1">
              <a:spLocks noChangeArrowheads="1"/>
            </p:cNvSpPr>
            <p:nvPr/>
          </p:nvSpPr>
          <p:spPr bwMode="auto">
            <a:xfrm>
              <a:off x="3153" y="2875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0">
                  <a:solidFill>
                    <a:srgbClr val="FF3300"/>
                  </a:solidFill>
                  <a:ea typeface="黑体" panose="02010609060101010101" pitchFamily="49" charset="-122"/>
                </a:rPr>
                <a:t>。</a:t>
              </a:r>
            </a:p>
          </p:txBody>
        </p:sp>
        <p:grpSp>
          <p:nvGrpSpPr>
            <p:cNvPr id="6155" name="Group 16"/>
            <p:cNvGrpSpPr/>
            <p:nvPr/>
          </p:nvGrpSpPr>
          <p:grpSpPr bwMode="auto">
            <a:xfrm>
              <a:off x="516" y="2949"/>
              <a:ext cx="3690" cy="389"/>
              <a:chOff x="516" y="2949"/>
              <a:chExt cx="3690" cy="389"/>
            </a:xfrm>
          </p:grpSpPr>
          <p:sp>
            <p:nvSpPr>
              <p:cNvPr id="6156" name="Text Box 17"/>
              <p:cNvSpPr txBox="1">
                <a:spLocks noChangeArrowheads="1"/>
              </p:cNvSpPr>
              <p:nvPr/>
            </p:nvSpPr>
            <p:spPr bwMode="auto">
              <a:xfrm>
                <a:off x="3609" y="2949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>
                    <a:solidFill>
                      <a:srgbClr val="FF3300"/>
                    </a:solidFill>
                    <a:ea typeface="黑体" panose="02010609060101010101" pitchFamily="49" charset="-122"/>
                  </a:rPr>
                  <a:t>‥</a:t>
                </a:r>
              </a:p>
            </p:txBody>
          </p:sp>
          <p:sp>
            <p:nvSpPr>
              <p:cNvPr id="6157" name="Rectangle 18"/>
              <p:cNvSpPr>
                <a:spLocks noChangeArrowheads="1"/>
              </p:cNvSpPr>
              <p:nvPr/>
            </p:nvSpPr>
            <p:spPr bwMode="auto">
              <a:xfrm>
                <a:off x="516" y="3050"/>
                <a:ext cx="369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0">
                    <a:solidFill>
                      <a:srgbClr val="FF3300"/>
                    </a:solidFill>
                    <a:ea typeface="黑体" panose="02010609060101010101" pitchFamily="49" charset="-122"/>
                  </a:rPr>
                  <a:t>1853</a:t>
                </a:r>
                <a:r>
                  <a:rPr lang="zh-CN" altLang="en-US" sz="2400" b="0">
                    <a:ea typeface="黑体" panose="02010609060101010101" pitchFamily="49" charset="-122"/>
                  </a:rPr>
                  <a:t>年瑞典人</a:t>
                </a:r>
                <a:r>
                  <a:rPr lang="zh-CN" altLang="en-US" sz="2400" b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埃格斯特朗</a:t>
                </a:r>
                <a:r>
                  <a:rPr lang="zh-CN" altLang="en-US" sz="2400" b="0">
                    <a:solidFill>
                      <a:srgbClr val="FF3300"/>
                    </a:solidFill>
                    <a:ea typeface="黑体" panose="02010609060101010101" pitchFamily="49" charset="-122"/>
                  </a:rPr>
                  <a:t>（</a:t>
                </a:r>
                <a:r>
                  <a:rPr lang="en-US" altLang="zh-CN" sz="2400" b="0">
                    <a:solidFill>
                      <a:srgbClr val="FF3300"/>
                    </a:solidFill>
                    <a:ea typeface="黑体" panose="02010609060101010101" pitchFamily="49" charset="-122"/>
                  </a:rPr>
                  <a:t>A.J.Angstrom</a:t>
                </a:r>
                <a:r>
                  <a:rPr lang="zh-CN" altLang="en-US" sz="2400" b="0">
                    <a:solidFill>
                      <a:srgbClr val="FF3300"/>
                    </a:solidFill>
                    <a:ea typeface="黑体" panose="02010609060101010101" pitchFamily="49" charset="-122"/>
                  </a:rPr>
                  <a:t>）</a:t>
                </a:r>
              </a:p>
            </p:txBody>
          </p:sp>
        </p:grpSp>
      </p:grpSp>
      <p:sp>
        <p:nvSpPr>
          <p:cNvPr id="1059859" name="Rectangle 19"/>
          <p:cNvSpPr>
            <a:spLocks noChangeArrowheads="1"/>
          </p:cNvSpPr>
          <p:nvPr/>
        </p:nvSpPr>
        <p:spPr bwMode="auto">
          <a:xfrm>
            <a:off x="630238" y="5103813"/>
            <a:ext cx="5775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0">
                <a:ea typeface="黑体" panose="02010609060101010101" pitchFamily="49" charset="-122"/>
              </a:rPr>
              <a:t>测得氢可见光光谱的红线，</a:t>
            </a:r>
          </a:p>
        </p:txBody>
      </p:sp>
      <p:sp>
        <p:nvSpPr>
          <p:cNvPr id="1059860" name="Text Box 20"/>
          <p:cNvSpPr txBox="1">
            <a:spLocks noChangeArrowheads="1"/>
          </p:cNvSpPr>
          <p:nvPr/>
        </p:nvSpPr>
        <p:spPr bwMode="auto">
          <a:xfrm>
            <a:off x="250825" y="5734050"/>
            <a:ext cx="6994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0">
                <a:ea typeface="黑体" panose="02010609060101010101" pitchFamily="49" charset="-122"/>
              </a:rPr>
              <a:t>     </a:t>
            </a:r>
            <a:r>
              <a:rPr lang="zh-CN" altLang="en-US" sz="2400" b="0">
                <a:ea typeface="黑体" panose="02010609060101010101" pitchFamily="49" charset="-122"/>
              </a:rPr>
              <a:t>到</a:t>
            </a:r>
            <a:r>
              <a:rPr lang="en-US" altLang="zh-CN" sz="2400" b="0">
                <a:ea typeface="黑体" panose="02010609060101010101" pitchFamily="49" charset="-122"/>
              </a:rPr>
              <a:t>1885</a:t>
            </a:r>
            <a:r>
              <a:rPr lang="zh-CN" altLang="en-US" sz="2400" b="0">
                <a:ea typeface="黑体" panose="02010609060101010101" pitchFamily="49" charset="-122"/>
              </a:rPr>
              <a:t>年，观测到的氢原子光谱线已有</a:t>
            </a:r>
            <a:r>
              <a:rPr lang="en-US" altLang="zh-CN" sz="2400" b="0">
                <a:ea typeface="黑体" panose="02010609060101010101" pitchFamily="49" charset="-122"/>
              </a:rPr>
              <a:t>14</a:t>
            </a:r>
            <a:r>
              <a:rPr lang="zh-CN" altLang="en-US" sz="2400" b="0">
                <a:ea typeface="黑体" panose="02010609060101010101" pitchFamily="49" charset="-122"/>
              </a:rPr>
              <a:t>条。</a:t>
            </a:r>
          </a:p>
        </p:txBody>
      </p:sp>
      <p:sp>
        <p:nvSpPr>
          <p:cNvPr id="6153" name="Text Box 21"/>
          <p:cNvSpPr txBox="1">
            <a:spLocks noChangeArrowheads="1"/>
          </p:cNvSpPr>
          <p:nvPr/>
        </p:nvSpPr>
        <p:spPr bwMode="auto">
          <a:xfrm>
            <a:off x="323850" y="692150"/>
            <a:ext cx="76327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一、氢原子光谱的实验规律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9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059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59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9853" grpId="0"/>
      <p:bldP spid="1059859" grpId="0"/>
      <p:bldP spid="105986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38175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1FF2E57-E331-4C33-9668-208BD953AB96}" type="slidenum">
              <a:rPr altLang="zh-CN" sz="1400" smtClean="0"/>
              <a:t>4</a:t>
            </a:fld>
            <a:endParaRPr lang="zh-CN" altLang="zh-CN" sz="1400"/>
          </a:p>
        </p:txBody>
      </p:sp>
      <p:sp>
        <p:nvSpPr>
          <p:cNvPr id="1060889" name="Text Box 25"/>
          <p:cNvSpPr txBox="1">
            <a:spLocks noChangeArrowheads="1"/>
          </p:cNvSpPr>
          <p:nvPr/>
        </p:nvSpPr>
        <p:spPr bwMode="auto">
          <a:xfrm>
            <a:off x="1017588" y="4398963"/>
            <a:ext cx="2190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0">
                <a:solidFill>
                  <a:srgbClr val="CC3300"/>
                </a:solidFill>
                <a:ea typeface="黑体" panose="02010609060101010101" pitchFamily="49" charset="-122"/>
              </a:rPr>
              <a:t>波数</a:t>
            </a:r>
          </a:p>
        </p:txBody>
      </p:sp>
      <p:sp>
        <p:nvSpPr>
          <p:cNvPr id="1060890" name="Text Box 26"/>
          <p:cNvSpPr txBox="1">
            <a:spLocks noChangeArrowheads="1"/>
          </p:cNvSpPr>
          <p:nvPr/>
        </p:nvSpPr>
        <p:spPr bwMode="auto">
          <a:xfrm>
            <a:off x="4829175" y="3271838"/>
            <a:ext cx="3846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0" i="1">
                <a:ea typeface="黑体" panose="02010609060101010101" pitchFamily="49" charset="-122"/>
              </a:rPr>
              <a:t>B </a:t>
            </a:r>
            <a:r>
              <a:rPr lang="en-US" altLang="zh-CN" sz="2400" b="0">
                <a:ea typeface="黑体" panose="02010609060101010101" pitchFamily="49" charset="-122"/>
              </a:rPr>
              <a:t>= 3645.6Å</a:t>
            </a:r>
            <a:r>
              <a:rPr lang="zh-CN" altLang="en-US" sz="2400" b="0">
                <a:ea typeface="黑体" panose="02010609060101010101" pitchFamily="49" charset="-122"/>
              </a:rPr>
              <a:t>（经验常数）</a:t>
            </a:r>
          </a:p>
        </p:txBody>
      </p:sp>
      <p:graphicFrame>
        <p:nvGraphicFramePr>
          <p:cNvPr id="1060891" name="Object 27"/>
          <p:cNvGraphicFramePr/>
          <p:nvPr/>
        </p:nvGraphicFramePr>
        <p:xfrm>
          <a:off x="2474913" y="3186113"/>
          <a:ext cx="1673225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7" r:id="rId3" imgW="902970" imgH="468630" progId="Equation.DSMT4">
                  <p:embed/>
                </p:oleObj>
              </mc:Choice>
              <mc:Fallback>
                <p:oleObj r:id="rId3" imgW="902970" imgH="468630" progId="Equation.DSMT4">
                  <p:embed/>
                  <p:pic>
                    <p:nvPicPr>
                      <p:cNvPr id="0" name="Object 27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4913" y="3186113"/>
                        <a:ext cx="1673225" cy="890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0892" name="Text Box 28"/>
          <p:cNvSpPr txBox="1">
            <a:spLocks noChangeArrowheads="1"/>
          </p:cNvSpPr>
          <p:nvPr/>
        </p:nvSpPr>
        <p:spPr bwMode="auto">
          <a:xfrm>
            <a:off x="4832350" y="3671888"/>
            <a:ext cx="187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0" i="1">
                <a:ea typeface="黑体" panose="02010609060101010101" pitchFamily="49" charset="-122"/>
              </a:rPr>
              <a:t>n </a:t>
            </a:r>
            <a:r>
              <a:rPr lang="en-US" altLang="zh-CN" sz="2400" b="0">
                <a:ea typeface="黑体" panose="02010609060101010101" pitchFamily="49" charset="-122"/>
              </a:rPr>
              <a:t>=3</a:t>
            </a:r>
            <a:r>
              <a:rPr lang="zh-CN" altLang="en-US" sz="2400" b="0">
                <a:ea typeface="黑体" panose="02010609060101010101" pitchFamily="49" charset="-122"/>
              </a:rPr>
              <a:t>、</a:t>
            </a:r>
            <a:r>
              <a:rPr lang="en-US" altLang="zh-CN" sz="2400" b="0">
                <a:ea typeface="黑体" panose="02010609060101010101" pitchFamily="49" charset="-122"/>
              </a:rPr>
              <a:t>4</a:t>
            </a:r>
            <a:r>
              <a:rPr lang="zh-CN" altLang="en-US" sz="2400" b="0">
                <a:ea typeface="黑体" panose="02010609060101010101" pitchFamily="49" charset="-122"/>
              </a:rPr>
              <a:t>、</a:t>
            </a:r>
            <a:r>
              <a:rPr lang="en-US" altLang="zh-CN" sz="2400" b="0">
                <a:ea typeface="黑体" panose="02010609060101010101" pitchFamily="49" charset="-122"/>
              </a:rPr>
              <a:t>5...</a:t>
            </a:r>
          </a:p>
        </p:txBody>
      </p:sp>
      <p:graphicFrame>
        <p:nvGraphicFramePr>
          <p:cNvPr id="1060893" name="Object 29"/>
          <p:cNvGraphicFramePr/>
          <p:nvPr/>
        </p:nvGraphicFramePr>
        <p:xfrm>
          <a:off x="2533650" y="4243388"/>
          <a:ext cx="2665413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8" r:id="rId5" imgW="1438275" imgH="434975" progId="Equation.DSMT4">
                  <p:embed/>
                </p:oleObj>
              </mc:Choice>
              <mc:Fallback>
                <p:oleObj r:id="rId5" imgW="1438275" imgH="434975" progId="Equation.DSMT4">
                  <p:embed/>
                  <p:pic>
                    <p:nvPicPr>
                      <p:cNvPr id="0" name="Object 2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650" y="4243388"/>
                        <a:ext cx="2665413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0"/>
          <p:cNvGrpSpPr/>
          <p:nvPr/>
        </p:nvGrpSpPr>
        <p:grpSpPr bwMode="auto">
          <a:xfrm>
            <a:off x="2078038" y="5589588"/>
            <a:ext cx="6022975" cy="792162"/>
            <a:chOff x="641" y="3504"/>
            <a:chExt cx="4927" cy="647"/>
          </a:xfrm>
        </p:grpSpPr>
        <p:graphicFrame>
          <p:nvGraphicFramePr>
            <p:cNvPr id="7201" name="Object 31"/>
            <p:cNvGraphicFramePr/>
            <p:nvPr/>
          </p:nvGraphicFramePr>
          <p:xfrm>
            <a:off x="641" y="3504"/>
            <a:ext cx="2736" cy="6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19" r:id="rId7" imgW="1929130" imgH="434975" progId="Equation.DSMT4">
                    <p:embed/>
                  </p:oleObj>
                </mc:Choice>
                <mc:Fallback>
                  <p:oleObj r:id="rId7" imgW="1929130" imgH="434975" progId="Equation.DSMT4">
                    <p:embed/>
                    <p:pic>
                      <p:nvPicPr>
                        <p:cNvPr id="0" name="Object 3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1" y="3504"/>
                          <a:ext cx="2736" cy="6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02" name="Text Box 32"/>
            <p:cNvSpPr txBox="1">
              <a:spLocks noChangeArrowheads="1"/>
            </p:cNvSpPr>
            <p:nvPr/>
          </p:nvSpPr>
          <p:spPr bwMode="auto">
            <a:xfrm>
              <a:off x="3359" y="3671"/>
              <a:ext cx="2209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0">
                  <a:ea typeface="黑体" panose="02010609060101010101" pitchFamily="49" charset="-122"/>
                </a:rPr>
                <a:t>称为</a:t>
              </a:r>
              <a:r>
                <a:rPr lang="zh-CN" altLang="en-US" sz="2400" b="0">
                  <a:solidFill>
                    <a:schemeClr val="accent2"/>
                  </a:solidFill>
                  <a:ea typeface="黑体" panose="02010609060101010101" pitchFamily="49" charset="-122"/>
                </a:rPr>
                <a:t>里德伯常量</a:t>
              </a:r>
            </a:p>
          </p:txBody>
        </p:sp>
      </p:grpSp>
      <p:grpSp>
        <p:nvGrpSpPr>
          <p:cNvPr id="3" name="Group 37"/>
          <p:cNvGrpSpPr/>
          <p:nvPr/>
        </p:nvGrpSpPr>
        <p:grpSpPr bwMode="auto">
          <a:xfrm>
            <a:off x="827088" y="1484313"/>
            <a:ext cx="6880225" cy="720725"/>
            <a:chOff x="864" y="480"/>
            <a:chExt cx="4272" cy="528"/>
          </a:xfrm>
        </p:grpSpPr>
        <p:sp>
          <p:nvSpPr>
            <p:cNvPr id="7189" name="Rectangle 38"/>
            <p:cNvSpPr>
              <a:spLocks noChangeArrowheads="1"/>
            </p:cNvSpPr>
            <p:nvPr/>
          </p:nvSpPr>
          <p:spPr bwMode="auto">
            <a:xfrm>
              <a:off x="864" y="480"/>
              <a:ext cx="4272" cy="52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7190" name="Line 39"/>
            <p:cNvSpPr>
              <a:spLocks noChangeShapeType="1"/>
            </p:cNvSpPr>
            <p:nvPr/>
          </p:nvSpPr>
          <p:spPr bwMode="auto">
            <a:xfrm flipV="1">
              <a:off x="2703" y="480"/>
              <a:ext cx="0" cy="528"/>
            </a:xfrm>
            <a:prstGeom prst="line">
              <a:avLst/>
            </a:prstGeom>
            <a:noFill/>
            <a:ln w="57150">
              <a:solidFill>
                <a:srgbClr val="5CD9E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1" name="Line 40"/>
            <p:cNvSpPr>
              <a:spLocks noChangeShapeType="1"/>
            </p:cNvSpPr>
            <p:nvPr/>
          </p:nvSpPr>
          <p:spPr bwMode="auto">
            <a:xfrm flipV="1">
              <a:off x="3622" y="480"/>
              <a:ext cx="0" cy="528"/>
            </a:xfrm>
            <a:prstGeom prst="line">
              <a:avLst/>
            </a:prstGeom>
            <a:noFill/>
            <a:ln w="57150">
              <a:solidFill>
                <a:srgbClr val="BDAAE4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2" name="Line 41"/>
            <p:cNvSpPr>
              <a:spLocks noChangeShapeType="1"/>
            </p:cNvSpPr>
            <p:nvPr/>
          </p:nvSpPr>
          <p:spPr bwMode="auto">
            <a:xfrm flipV="1">
              <a:off x="4325" y="480"/>
              <a:ext cx="0" cy="528"/>
            </a:xfrm>
            <a:prstGeom prst="line">
              <a:avLst/>
            </a:prstGeom>
            <a:noFill/>
            <a:ln w="57150">
              <a:solidFill>
                <a:srgbClr val="6946B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3" name="Line 42"/>
            <p:cNvSpPr>
              <a:spLocks noChangeShapeType="1"/>
            </p:cNvSpPr>
            <p:nvPr/>
          </p:nvSpPr>
          <p:spPr bwMode="auto">
            <a:xfrm flipV="1">
              <a:off x="4595" y="480"/>
              <a:ext cx="0" cy="528"/>
            </a:xfrm>
            <a:prstGeom prst="line">
              <a:avLst/>
            </a:prstGeom>
            <a:noFill/>
            <a:ln w="38100">
              <a:solidFill>
                <a:srgbClr val="6942B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4" name="Line 43"/>
            <p:cNvSpPr>
              <a:spLocks noChangeShapeType="1"/>
            </p:cNvSpPr>
            <p:nvPr/>
          </p:nvSpPr>
          <p:spPr bwMode="auto">
            <a:xfrm flipV="1">
              <a:off x="4757" y="480"/>
              <a:ext cx="0" cy="528"/>
            </a:xfrm>
            <a:prstGeom prst="line">
              <a:avLst/>
            </a:prstGeom>
            <a:noFill/>
            <a:ln w="38100">
              <a:solidFill>
                <a:srgbClr val="6942B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5" name="Line 44"/>
            <p:cNvSpPr>
              <a:spLocks noChangeShapeType="1"/>
            </p:cNvSpPr>
            <p:nvPr/>
          </p:nvSpPr>
          <p:spPr bwMode="auto">
            <a:xfrm flipV="1">
              <a:off x="5028" y="480"/>
              <a:ext cx="0" cy="528"/>
            </a:xfrm>
            <a:prstGeom prst="line">
              <a:avLst/>
            </a:prstGeom>
            <a:noFill/>
            <a:ln w="38100">
              <a:solidFill>
                <a:srgbClr val="6942B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6" name="Line 45"/>
            <p:cNvSpPr>
              <a:spLocks noChangeShapeType="1"/>
            </p:cNvSpPr>
            <p:nvPr/>
          </p:nvSpPr>
          <p:spPr bwMode="auto">
            <a:xfrm flipV="1">
              <a:off x="1621" y="480"/>
              <a:ext cx="0" cy="528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7" name="Line 46"/>
            <p:cNvSpPr>
              <a:spLocks noChangeShapeType="1"/>
            </p:cNvSpPr>
            <p:nvPr/>
          </p:nvSpPr>
          <p:spPr bwMode="auto">
            <a:xfrm flipV="1">
              <a:off x="4848" y="480"/>
              <a:ext cx="0" cy="528"/>
            </a:xfrm>
            <a:prstGeom prst="line">
              <a:avLst/>
            </a:prstGeom>
            <a:noFill/>
            <a:ln w="38100">
              <a:solidFill>
                <a:srgbClr val="6942B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8" name="Line 47"/>
            <p:cNvSpPr>
              <a:spLocks noChangeShapeType="1"/>
            </p:cNvSpPr>
            <p:nvPr/>
          </p:nvSpPr>
          <p:spPr bwMode="auto">
            <a:xfrm flipV="1">
              <a:off x="4944" y="480"/>
              <a:ext cx="0" cy="528"/>
            </a:xfrm>
            <a:prstGeom prst="line">
              <a:avLst/>
            </a:prstGeom>
            <a:noFill/>
            <a:ln w="38100">
              <a:solidFill>
                <a:srgbClr val="6942B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9" name="Line 48"/>
            <p:cNvSpPr>
              <a:spLocks noChangeShapeType="1"/>
            </p:cNvSpPr>
            <p:nvPr/>
          </p:nvSpPr>
          <p:spPr bwMode="auto">
            <a:xfrm flipV="1">
              <a:off x="5088" y="480"/>
              <a:ext cx="0" cy="528"/>
            </a:xfrm>
            <a:prstGeom prst="line">
              <a:avLst/>
            </a:prstGeom>
            <a:noFill/>
            <a:ln w="38100">
              <a:solidFill>
                <a:srgbClr val="6942B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0" name="Line 49"/>
            <p:cNvSpPr>
              <a:spLocks noChangeShapeType="1"/>
            </p:cNvSpPr>
            <p:nvPr/>
          </p:nvSpPr>
          <p:spPr bwMode="auto">
            <a:xfrm flipV="1">
              <a:off x="4992" y="480"/>
              <a:ext cx="0" cy="528"/>
            </a:xfrm>
            <a:prstGeom prst="line">
              <a:avLst/>
            </a:prstGeom>
            <a:noFill/>
            <a:ln w="38100">
              <a:solidFill>
                <a:srgbClr val="6942B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50"/>
          <p:cNvGrpSpPr/>
          <p:nvPr/>
        </p:nvGrpSpPr>
        <p:grpSpPr bwMode="auto">
          <a:xfrm>
            <a:off x="1284288" y="2276475"/>
            <a:ext cx="5951537" cy="915988"/>
            <a:chOff x="1155" y="1128"/>
            <a:chExt cx="3697" cy="671"/>
          </a:xfrm>
        </p:grpSpPr>
        <p:sp>
          <p:nvSpPr>
            <p:cNvPr id="7181" name="Text Box 51"/>
            <p:cNvSpPr txBox="1">
              <a:spLocks noChangeArrowheads="1"/>
            </p:cNvSpPr>
            <p:nvPr/>
          </p:nvSpPr>
          <p:spPr bwMode="auto">
            <a:xfrm>
              <a:off x="1451" y="1128"/>
              <a:ext cx="331" cy="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0" i="1">
                  <a:ea typeface="黑体" panose="02010609060101010101" pitchFamily="49" charset="-122"/>
                </a:rPr>
                <a:t>H</a:t>
              </a:r>
              <a:r>
                <a:rPr lang="en-US" altLang="zh-CN" sz="2400" b="0" i="1" baseline="-25000">
                  <a:ea typeface="黑体" panose="02010609060101010101" pitchFamily="49" charset="-122"/>
                  <a:sym typeface="Symbol" panose="05050102010706020507" pitchFamily="18" charset="2"/>
                </a:rPr>
                <a:t></a:t>
              </a:r>
              <a:endParaRPr lang="en-US" altLang="zh-CN" sz="2400" b="0" i="1">
                <a:ea typeface="黑体" panose="02010609060101010101" pitchFamily="49" charset="-122"/>
              </a:endParaRPr>
            </a:p>
          </p:txBody>
        </p:sp>
        <p:sp>
          <p:nvSpPr>
            <p:cNvPr id="7182" name="Text Box 52"/>
            <p:cNvSpPr txBox="1">
              <a:spLocks noChangeArrowheads="1"/>
            </p:cNvSpPr>
            <p:nvPr/>
          </p:nvSpPr>
          <p:spPr bwMode="auto">
            <a:xfrm>
              <a:off x="2521" y="1148"/>
              <a:ext cx="320" cy="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0" i="1">
                  <a:ea typeface="黑体" panose="02010609060101010101" pitchFamily="49" charset="-122"/>
                </a:rPr>
                <a:t>H</a:t>
              </a:r>
              <a:r>
                <a:rPr lang="en-US" altLang="zh-CN" sz="2400" b="0" i="1" baseline="-25000">
                  <a:ea typeface="黑体" panose="02010609060101010101" pitchFamily="49" charset="-122"/>
                  <a:sym typeface="Symbol" panose="05050102010706020507" pitchFamily="18" charset="2"/>
                </a:rPr>
                <a:t></a:t>
              </a:r>
              <a:endParaRPr lang="en-US" altLang="zh-CN" sz="2400" b="0" i="1">
                <a:ea typeface="黑体" panose="02010609060101010101" pitchFamily="49" charset="-122"/>
              </a:endParaRPr>
            </a:p>
          </p:txBody>
        </p:sp>
        <p:sp>
          <p:nvSpPr>
            <p:cNvPr id="7183" name="Text Box 53"/>
            <p:cNvSpPr txBox="1">
              <a:spLocks noChangeArrowheads="1"/>
            </p:cNvSpPr>
            <p:nvPr/>
          </p:nvSpPr>
          <p:spPr bwMode="auto">
            <a:xfrm>
              <a:off x="3456" y="1128"/>
              <a:ext cx="304" cy="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0" i="1">
                  <a:ea typeface="黑体" panose="02010609060101010101" pitchFamily="49" charset="-122"/>
                </a:rPr>
                <a:t>H</a:t>
              </a:r>
              <a:r>
                <a:rPr lang="en-US" altLang="zh-CN" sz="2400" b="0" i="1" baseline="-25000">
                  <a:ea typeface="黑体" panose="02010609060101010101" pitchFamily="49" charset="-122"/>
                  <a:sym typeface="Symbol" panose="05050102010706020507" pitchFamily="18" charset="2"/>
                </a:rPr>
                <a:t></a:t>
              </a:r>
              <a:endParaRPr lang="en-US" altLang="zh-CN" sz="2400" b="0" i="1">
                <a:ea typeface="黑体" panose="02010609060101010101" pitchFamily="49" charset="-122"/>
              </a:endParaRPr>
            </a:p>
          </p:txBody>
        </p:sp>
        <p:sp>
          <p:nvSpPr>
            <p:cNvPr id="7184" name="Text Box 54"/>
            <p:cNvSpPr txBox="1">
              <a:spLocks noChangeArrowheads="1"/>
            </p:cNvSpPr>
            <p:nvPr/>
          </p:nvSpPr>
          <p:spPr bwMode="auto">
            <a:xfrm>
              <a:off x="4162" y="1148"/>
              <a:ext cx="314" cy="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0" i="1">
                  <a:ea typeface="黑体" panose="02010609060101010101" pitchFamily="49" charset="-122"/>
                </a:rPr>
                <a:t>H</a:t>
              </a:r>
              <a:r>
                <a:rPr lang="en-US" altLang="zh-CN" sz="2400" b="0" i="1" baseline="-25000">
                  <a:ea typeface="黑体" panose="02010609060101010101" pitchFamily="49" charset="-122"/>
                  <a:sym typeface="Symbol" panose="05050102010706020507" pitchFamily="18" charset="2"/>
                </a:rPr>
                <a:t></a:t>
              </a:r>
              <a:endParaRPr lang="en-US" altLang="zh-CN" sz="2400" b="0" i="1">
                <a:ea typeface="黑体" panose="02010609060101010101" pitchFamily="49" charset="-122"/>
              </a:endParaRPr>
            </a:p>
          </p:txBody>
        </p:sp>
        <p:sp>
          <p:nvSpPr>
            <p:cNvPr id="7185" name="Text Box 55"/>
            <p:cNvSpPr txBox="1">
              <a:spLocks noChangeArrowheads="1"/>
            </p:cNvSpPr>
            <p:nvPr/>
          </p:nvSpPr>
          <p:spPr bwMode="auto">
            <a:xfrm>
              <a:off x="1155" y="1435"/>
              <a:ext cx="772" cy="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0">
                  <a:ea typeface="黑体" panose="02010609060101010101" pitchFamily="49" charset="-122"/>
                </a:rPr>
                <a:t>6562.8Å</a:t>
              </a:r>
            </a:p>
          </p:txBody>
        </p:sp>
        <p:sp>
          <p:nvSpPr>
            <p:cNvPr id="7186" name="Text Box 56"/>
            <p:cNvSpPr txBox="1">
              <a:spLocks noChangeArrowheads="1"/>
            </p:cNvSpPr>
            <p:nvPr/>
          </p:nvSpPr>
          <p:spPr bwMode="auto">
            <a:xfrm>
              <a:off x="2112" y="1464"/>
              <a:ext cx="773" cy="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0">
                  <a:ea typeface="黑体" panose="02010609060101010101" pitchFamily="49" charset="-122"/>
                </a:rPr>
                <a:t>4861.3Å</a:t>
              </a:r>
            </a:p>
          </p:txBody>
        </p:sp>
        <p:sp>
          <p:nvSpPr>
            <p:cNvPr id="7187" name="Text Box 57"/>
            <p:cNvSpPr txBox="1">
              <a:spLocks noChangeArrowheads="1"/>
            </p:cNvSpPr>
            <p:nvPr/>
          </p:nvSpPr>
          <p:spPr bwMode="auto">
            <a:xfrm>
              <a:off x="3072" y="1464"/>
              <a:ext cx="772" cy="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0">
                  <a:ea typeface="黑体" panose="02010609060101010101" pitchFamily="49" charset="-122"/>
                </a:rPr>
                <a:t>4340.5Å</a:t>
              </a:r>
            </a:p>
          </p:txBody>
        </p:sp>
        <p:sp>
          <p:nvSpPr>
            <p:cNvPr id="7188" name="Text Box 58"/>
            <p:cNvSpPr txBox="1">
              <a:spLocks noChangeArrowheads="1"/>
            </p:cNvSpPr>
            <p:nvPr/>
          </p:nvSpPr>
          <p:spPr bwMode="auto">
            <a:xfrm>
              <a:off x="4080" y="1464"/>
              <a:ext cx="772" cy="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0">
                  <a:ea typeface="黑体" panose="02010609060101010101" pitchFamily="49" charset="-122"/>
                </a:rPr>
                <a:t>4101.7Å</a:t>
              </a:r>
            </a:p>
          </p:txBody>
        </p:sp>
      </p:grpSp>
      <p:sp>
        <p:nvSpPr>
          <p:cNvPr id="1060923" name="Rectangle 59"/>
          <p:cNvSpPr>
            <a:spLocks noChangeArrowheads="1"/>
          </p:cNvSpPr>
          <p:nvPr/>
        </p:nvSpPr>
        <p:spPr bwMode="auto">
          <a:xfrm>
            <a:off x="3492500" y="5013325"/>
            <a:ext cx="4519613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en-US" altLang="zh-CN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----</a:t>
            </a:r>
            <a:r>
              <a:rPr kumimoji="1" lang="zh-CN" altLang="en-US" sz="28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巴尔末公式（可见光区）</a:t>
            </a:r>
          </a:p>
        </p:txBody>
      </p:sp>
      <p:sp>
        <p:nvSpPr>
          <p:cNvPr id="7180" name="Text Box 22"/>
          <p:cNvSpPr txBox="1">
            <a:spLocks noChangeArrowheads="1"/>
          </p:cNvSpPr>
          <p:nvPr/>
        </p:nvSpPr>
        <p:spPr bwMode="auto">
          <a:xfrm>
            <a:off x="639763" y="476250"/>
            <a:ext cx="75517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0">
                <a:solidFill>
                  <a:srgbClr val="333399"/>
                </a:solidFill>
                <a:ea typeface="黑体" panose="02010609060101010101" pitchFamily="49" charset="-122"/>
              </a:rPr>
              <a:t>1885</a:t>
            </a:r>
            <a:r>
              <a:rPr lang="zh-CN" altLang="en-US" sz="2400" b="0">
                <a:solidFill>
                  <a:srgbClr val="333399"/>
                </a:solidFill>
                <a:ea typeface="黑体" panose="02010609060101010101" pitchFamily="49" charset="-122"/>
              </a:rPr>
              <a:t>年巴尔末（</a:t>
            </a:r>
            <a:r>
              <a:rPr lang="en-US" altLang="zh-CN" sz="2400" b="0">
                <a:solidFill>
                  <a:srgbClr val="333399"/>
                </a:solidFill>
                <a:ea typeface="黑体" panose="02010609060101010101" pitchFamily="49" charset="-122"/>
              </a:rPr>
              <a:t>Balmer</a:t>
            </a:r>
            <a:r>
              <a:rPr lang="zh-CN" altLang="en-US" sz="2400" b="0">
                <a:solidFill>
                  <a:srgbClr val="333399"/>
                </a:solidFill>
                <a:ea typeface="黑体" panose="02010609060101010101" pitchFamily="49" charset="-122"/>
              </a:rPr>
              <a:t>）（</a:t>
            </a:r>
            <a:r>
              <a:rPr lang="zh-CN" altLang="en-US" sz="2400" b="0">
                <a:solidFill>
                  <a:srgbClr val="333399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瑞士中学教师）</a:t>
            </a:r>
            <a:r>
              <a:rPr lang="zh-CN" altLang="en-US" sz="2400" b="0">
                <a:solidFill>
                  <a:srgbClr val="333399"/>
                </a:solidFill>
                <a:ea typeface="黑体" panose="02010609060101010101" pitchFamily="49" charset="-122"/>
              </a:rPr>
              <a:t>找到了一个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0">
                <a:solidFill>
                  <a:srgbClr val="CC3300"/>
                </a:solidFill>
                <a:ea typeface="黑体" panose="02010609060101010101" pitchFamily="49" charset="-122"/>
              </a:rPr>
              <a:t>经验公式</a:t>
            </a:r>
            <a:r>
              <a:rPr lang="zh-CN" altLang="en-US" sz="2400" b="0">
                <a:solidFill>
                  <a:schemeClr val="bg2"/>
                </a:solidFill>
                <a:ea typeface="黑体" panose="02010609060101010101" pitchFamily="49" charset="-122"/>
              </a:rPr>
              <a:t>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60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60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60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60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060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060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0889" grpId="0"/>
      <p:bldP spid="1060890" grpId="0"/>
      <p:bldP spid="1060892" grpId="0"/>
      <p:bldP spid="10609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954" name="Rectangle 2"/>
          <p:cNvSpPr>
            <a:spLocks noChangeArrowheads="1"/>
          </p:cNvSpPr>
          <p:nvPr/>
        </p:nvSpPr>
        <p:spPr bwMode="auto">
          <a:xfrm>
            <a:off x="7373938" y="1928813"/>
            <a:ext cx="2668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 b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可见光</a:t>
            </a:r>
            <a:r>
              <a:rPr lang="zh-CN" altLang="en-US" sz="2400" b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区</a:t>
            </a:r>
          </a:p>
        </p:txBody>
      </p:sp>
      <p:sp>
        <p:nvSpPr>
          <p:cNvPr id="1021955" name="Rectangle 3"/>
          <p:cNvSpPr>
            <a:spLocks noChangeArrowheads="1"/>
          </p:cNvSpPr>
          <p:nvPr/>
        </p:nvSpPr>
        <p:spPr bwMode="auto">
          <a:xfrm>
            <a:off x="7478713" y="4164013"/>
            <a:ext cx="1497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红外区</a:t>
            </a:r>
          </a:p>
        </p:txBody>
      </p:sp>
      <p:graphicFrame>
        <p:nvGraphicFramePr>
          <p:cNvPr id="1021956" name="Object 4"/>
          <p:cNvGraphicFramePr/>
          <p:nvPr/>
        </p:nvGraphicFramePr>
        <p:xfrm>
          <a:off x="2532063" y="1717675"/>
          <a:ext cx="2036762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4" r:id="rId3" imgW="1181735" imgH="479425" progId="Equation.3">
                  <p:embed/>
                </p:oleObj>
              </mc:Choice>
              <mc:Fallback>
                <p:oleObj r:id="rId3" imgW="1181735" imgH="479425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2063" y="1717675"/>
                        <a:ext cx="2036762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1957" name="Object 5"/>
          <p:cNvGraphicFramePr/>
          <p:nvPr/>
        </p:nvGraphicFramePr>
        <p:xfrm>
          <a:off x="2576513" y="2765425"/>
          <a:ext cx="211137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5" r:id="rId5" imgW="1170940" imgH="479425" progId="Equation.3">
                  <p:embed/>
                </p:oleObj>
              </mc:Choice>
              <mc:Fallback>
                <p:oleObj r:id="rId5" imgW="1170940" imgH="479425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6513" y="2765425"/>
                        <a:ext cx="211137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1958" name="Object 6"/>
          <p:cNvGraphicFramePr/>
          <p:nvPr/>
        </p:nvGraphicFramePr>
        <p:xfrm>
          <a:off x="2533650" y="3851275"/>
          <a:ext cx="2111375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6" r:id="rId7" imgW="1181735" imgH="479425" progId="Equation.3">
                  <p:embed/>
                </p:oleObj>
              </mc:Choice>
              <mc:Fallback>
                <p:oleObj r:id="rId7" imgW="1181735" imgH="479425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650" y="3851275"/>
                        <a:ext cx="2111375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1959" name="Object 7"/>
          <p:cNvGraphicFramePr/>
          <p:nvPr/>
        </p:nvGraphicFramePr>
        <p:xfrm>
          <a:off x="2566988" y="4937125"/>
          <a:ext cx="218757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7" r:id="rId9" imgW="1170940" imgH="479425" progId="Equation.3">
                  <p:embed/>
                </p:oleObj>
              </mc:Choice>
              <mc:Fallback>
                <p:oleObj r:id="rId9" imgW="1170940" imgH="479425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4937125"/>
                        <a:ext cx="2187575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0" name="Object 8"/>
          <p:cNvGraphicFramePr/>
          <p:nvPr/>
        </p:nvGraphicFramePr>
        <p:xfrm>
          <a:off x="1631950" y="4241800"/>
          <a:ext cx="111125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8" r:id="rId11" imgW="114300" imgH="215265" progId="Equation.3">
                  <p:embed/>
                </p:oleObj>
              </mc:Choice>
              <mc:Fallback>
                <p:oleObj r:id="rId11" imgW="114300" imgH="215265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950" y="4241800"/>
                        <a:ext cx="111125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1961" name="AutoShape 9"/>
          <p:cNvSpPr/>
          <p:nvPr/>
        </p:nvSpPr>
        <p:spPr bwMode="auto">
          <a:xfrm>
            <a:off x="6881813" y="3019425"/>
            <a:ext cx="569912" cy="2736850"/>
          </a:xfrm>
          <a:prstGeom prst="rightBrace">
            <a:avLst>
              <a:gd name="adj1" fmla="val 39952"/>
              <a:gd name="adj2" fmla="val 50000"/>
            </a:avLst>
          </a:prstGeom>
          <a:noFill/>
          <a:ln w="28575">
            <a:solidFill>
              <a:srgbClr val="CC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graphicFrame>
        <p:nvGraphicFramePr>
          <p:cNvPr id="8202" name="Object 10"/>
          <p:cNvGraphicFramePr/>
          <p:nvPr/>
        </p:nvGraphicFramePr>
        <p:xfrm>
          <a:off x="1631950" y="4241800"/>
          <a:ext cx="111125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9" r:id="rId13" imgW="114300" imgH="215265" progId="Equation.3">
                  <p:embed/>
                </p:oleObj>
              </mc:Choice>
              <mc:Fallback>
                <p:oleObj r:id="rId13" imgW="114300" imgH="215265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950" y="4241800"/>
                        <a:ext cx="111125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1963" name="Object 11"/>
          <p:cNvGraphicFramePr/>
          <p:nvPr/>
        </p:nvGraphicFramePr>
        <p:xfrm>
          <a:off x="2628900" y="836613"/>
          <a:ext cx="1984375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0" r:id="rId14" imgW="1148715" imgH="479425" progId="Equation.3">
                  <p:embed/>
                </p:oleObj>
              </mc:Choice>
              <mc:Fallback>
                <p:oleObj r:id="rId14" imgW="1148715" imgH="479425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900" y="836613"/>
                        <a:ext cx="1984375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1964" name="Text Box 12"/>
          <p:cNvSpPr txBox="1">
            <a:spLocks noChangeArrowheads="1"/>
          </p:cNvSpPr>
          <p:nvPr/>
        </p:nvSpPr>
        <p:spPr bwMode="auto">
          <a:xfrm>
            <a:off x="7391400" y="1017588"/>
            <a:ext cx="1898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紫外区</a:t>
            </a:r>
          </a:p>
        </p:txBody>
      </p:sp>
      <p:sp>
        <p:nvSpPr>
          <p:cNvPr id="1021965" name="Rectangle 13"/>
          <p:cNvSpPr>
            <a:spLocks noChangeArrowheads="1"/>
          </p:cNvSpPr>
          <p:nvPr/>
        </p:nvSpPr>
        <p:spPr bwMode="auto">
          <a:xfrm>
            <a:off x="246063" y="1874838"/>
            <a:ext cx="8897937" cy="434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0">
                <a:solidFill>
                  <a:schemeClr val="accent2"/>
                </a:solidFill>
                <a:ea typeface="黑体" panose="02010609060101010101" pitchFamily="49" charset="-122"/>
              </a:rPr>
              <a:t>巴尔末系</a:t>
            </a:r>
            <a:r>
              <a:rPr lang="en-US" altLang="zh-CN" sz="2400" b="0">
                <a:solidFill>
                  <a:schemeClr val="accent2"/>
                </a:solidFill>
                <a:ea typeface="黑体" panose="02010609060101010101" pitchFamily="49" charset="-122"/>
              </a:rPr>
              <a:t>                                            (n=3</a:t>
            </a:r>
            <a:r>
              <a:rPr lang="zh-CN" altLang="en-US" sz="2400" b="0">
                <a:solidFill>
                  <a:schemeClr val="accent2"/>
                </a:solidFill>
                <a:ea typeface="黑体" panose="02010609060101010101" pitchFamily="49" charset="-122"/>
              </a:rPr>
              <a:t>，</a:t>
            </a:r>
            <a:r>
              <a:rPr lang="en-US" altLang="zh-CN" sz="2400" b="0">
                <a:solidFill>
                  <a:schemeClr val="accent2"/>
                </a:solidFill>
                <a:ea typeface="黑体" panose="02010609060101010101" pitchFamily="49" charset="-122"/>
              </a:rPr>
              <a:t>4</a:t>
            </a:r>
            <a:r>
              <a:rPr lang="zh-CN" altLang="en-US" sz="2400" b="0">
                <a:solidFill>
                  <a:schemeClr val="accent2"/>
                </a:solidFill>
                <a:ea typeface="黑体" panose="02010609060101010101" pitchFamily="49" charset="-122"/>
              </a:rPr>
              <a:t>，</a:t>
            </a:r>
            <a:r>
              <a:rPr lang="en-US" altLang="zh-CN" sz="2400" b="0">
                <a:solidFill>
                  <a:schemeClr val="accent2"/>
                </a:solidFill>
                <a:ea typeface="黑体" panose="02010609060101010101" pitchFamily="49" charset="-122"/>
              </a:rPr>
              <a:t>5 ... )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CN" sz="2400" b="0">
              <a:solidFill>
                <a:schemeClr val="accent2"/>
              </a:solidFill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0">
                <a:solidFill>
                  <a:schemeClr val="accent2"/>
                </a:solidFill>
                <a:ea typeface="黑体" panose="02010609060101010101" pitchFamily="49" charset="-122"/>
              </a:rPr>
              <a:t>帕邢系   </a:t>
            </a:r>
            <a:r>
              <a:rPr lang="en-US" altLang="zh-CN" sz="2400" b="0">
                <a:solidFill>
                  <a:schemeClr val="accent2"/>
                </a:solidFill>
                <a:ea typeface="黑体" panose="02010609060101010101" pitchFamily="49" charset="-122"/>
              </a:rPr>
              <a:t>                                             (n=4</a:t>
            </a:r>
            <a:r>
              <a:rPr lang="zh-CN" altLang="en-US" sz="2400" b="0">
                <a:solidFill>
                  <a:schemeClr val="accent2"/>
                </a:solidFill>
                <a:ea typeface="黑体" panose="02010609060101010101" pitchFamily="49" charset="-122"/>
              </a:rPr>
              <a:t>，</a:t>
            </a:r>
            <a:r>
              <a:rPr lang="en-US" altLang="zh-CN" sz="2400" b="0">
                <a:solidFill>
                  <a:schemeClr val="accent2"/>
                </a:solidFill>
                <a:ea typeface="黑体" panose="02010609060101010101" pitchFamily="49" charset="-122"/>
              </a:rPr>
              <a:t>5</a:t>
            </a:r>
            <a:r>
              <a:rPr lang="zh-CN" altLang="en-US" sz="2400" b="0">
                <a:solidFill>
                  <a:schemeClr val="accent2"/>
                </a:solidFill>
                <a:ea typeface="黑体" panose="02010609060101010101" pitchFamily="49" charset="-122"/>
              </a:rPr>
              <a:t>，</a:t>
            </a:r>
            <a:r>
              <a:rPr lang="en-US" altLang="zh-CN" sz="2400" b="0">
                <a:solidFill>
                  <a:schemeClr val="accent2"/>
                </a:solidFill>
                <a:ea typeface="黑体" panose="02010609060101010101" pitchFamily="49" charset="-122"/>
              </a:rPr>
              <a:t>6… 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0">
                <a:solidFill>
                  <a:schemeClr val="accent2"/>
                </a:solidFill>
                <a:ea typeface="黑体" panose="02010609060101010101" pitchFamily="49" charset="-122"/>
              </a:rPr>
              <a:t>  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0">
                <a:solidFill>
                  <a:schemeClr val="accent2"/>
                </a:solidFill>
                <a:ea typeface="黑体" panose="02010609060101010101" pitchFamily="49" charset="-122"/>
              </a:rPr>
              <a:t>布喇开系</a:t>
            </a:r>
            <a:r>
              <a:rPr lang="en-US" altLang="zh-CN" sz="2400" b="0">
                <a:solidFill>
                  <a:schemeClr val="accent2"/>
                </a:solidFill>
                <a:ea typeface="黑体" panose="02010609060101010101" pitchFamily="49" charset="-122"/>
              </a:rPr>
              <a:t>                                            (n=5</a:t>
            </a:r>
            <a:r>
              <a:rPr lang="zh-CN" altLang="en-US" sz="2400" b="0">
                <a:solidFill>
                  <a:schemeClr val="accent2"/>
                </a:solidFill>
                <a:ea typeface="黑体" panose="02010609060101010101" pitchFamily="49" charset="-122"/>
              </a:rPr>
              <a:t>，</a:t>
            </a:r>
            <a:r>
              <a:rPr lang="en-US" altLang="zh-CN" sz="2400" b="0">
                <a:solidFill>
                  <a:schemeClr val="accent2"/>
                </a:solidFill>
                <a:ea typeface="黑体" panose="02010609060101010101" pitchFamily="49" charset="-122"/>
              </a:rPr>
              <a:t>6</a:t>
            </a:r>
            <a:r>
              <a:rPr lang="zh-CN" altLang="en-US" sz="2400" b="0">
                <a:solidFill>
                  <a:schemeClr val="accent2"/>
                </a:solidFill>
                <a:ea typeface="黑体" panose="02010609060101010101" pitchFamily="49" charset="-122"/>
              </a:rPr>
              <a:t>，</a:t>
            </a:r>
            <a:r>
              <a:rPr lang="en-US" altLang="zh-CN" sz="2400" b="0">
                <a:solidFill>
                  <a:schemeClr val="accent2"/>
                </a:solidFill>
                <a:ea typeface="黑体" panose="02010609060101010101" pitchFamily="49" charset="-122"/>
              </a:rPr>
              <a:t>7 … 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0">
                <a:solidFill>
                  <a:schemeClr val="accent2"/>
                </a:solidFill>
                <a:ea typeface="黑体" panose="02010609060101010101" pitchFamily="49" charset="-122"/>
              </a:rPr>
              <a:t>   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0">
                <a:solidFill>
                  <a:schemeClr val="accent2"/>
                </a:solidFill>
                <a:ea typeface="黑体" panose="02010609060101010101" pitchFamily="49" charset="-122"/>
              </a:rPr>
              <a:t>普丰德系</a:t>
            </a:r>
            <a:r>
              <a:rPr lang="en-US" altLang="zh-CN" sz="2400" b="0">
                <a:solidFill>
                  <a:schemeClr val="accent2"/>
                </a:solidFill>
                <a:ea typeface="黑体" panose="02010609060101010101" pitchFamily="49" charset="-122"/>
              </a:rPr>
              <a:t>                                            (n=6</a:t>
            </a:r>
            <a:r>
              <a:rPr lang="zh-CN" altLang="en-US" sz="2400" b="0">
                <a:solidFill>
                  <a:schemeClr val="accent2"/>
                </a:solidFill>
                <a:ea typeface="黑体" panose="02010609060101010101" pitchFamily="49" charset="-122"/>
              </a:rPr>
              <a:t>，</a:t>
            </a:r>
            <a:r>
              <a:rPr lang="en-US" altLang="zh-CN" sz="2400" b="0">
                <a:solidFill>
                  <a:schemeClr val="accent2"/>
                </a:solidFill>
                <a:ea typeface="黑体" panose="02010609060101010101" pitchFamily="49" charset="-122"/>
              </a:rPr>
              <a:t>7</a:t>
            </a:r>
            <a:r>
              <a:rPr lang="zh-CN" altLang="en-US" sz="2400" b="0">
                <a:solidFill>
                  <a:schemeClr val="accent2"/>
                </a:solidFill>
                <a:ea typeface="黑体" panose="02010609060101010101" pitchFamily="49" charset="-122"/>
              </a:rPr>
              <a:t>，</a:t>
            </a:r>
            <a:r>
              <a:rPr lang="en-US" altLang="zh-CN" sz="2400" b="0">
                <a:solidFill>
                  <a:schemeClr val="accent2"/>
                </a:solidFill>
                <a:ea typeface="黑体" panose="02010609060101010101" pitchFamily="49" charset="-122"/>
              </a:rPr>
              <a:t>8… )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0">
                <a:solidFill>
                  <a:schemeClr val="accent2"/>
                </a:solidFill>
                <a:ea typeface="黑体" panose="02010609060101010101" pitchFamily="49" charset="-122"/>
              </a:rPr>
              <a:t>  </a:t>
            </a:r>
          </a:p>
        </p:txBody>
      </p:sp>
      <p:sp>
        <p:nvSpPr>
          <p:cNvPr id="1021966" name="Rectangle 14"/>
          <p:cNvSpPr>
            <a:spLocks noChangeArrowheads="1"/>
          </p:cNvSpPr>
          <p:nvPr/>
        </p:nvSpPr>
        <p:spPr bwMode="auto">
          <a:xfrm>
            <a:off x="260350" y="985838"/>
            <a:ext cx="8883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0">
                <a:solidFill>
                  <a:schemeClr val="accent2"/>
                </a:solidFill>
                <a:ea typeface="黑体" panose="02010609060101010101" pitchFamily="49" charset="-122"/>
              </a:rPr>
              <a:t>赖曼系</a:t>
            </a:r>
            <a:r>
              <a:rPr lang="en-US" altLang="zh-CN" sz="2400" b="0">
                <a:solidFill>
                  <a:schemeClr val="accent2"/>
                </a:solidFill>
                <a:ea typeface="黑体" panose="02010609060101010101" pitchFamily="49" charset="-122"/>
              </a:rPr>
              <a:t>                                                (n=2</a:t>
            </a:r>
            <a:r>
              <a:rPr lang="zh-CN" altLang="en-US" sz="2400" b="0">
                <a:solidFill>
                  <a:schemeClr val="accent2"/>
                </a:solidFill>
                <a:ea typeface="黑体" panose="02010609060101010101" pitchFamily="49" charset="-122"/>
              </a:rPr>
              <a:t>， </a:t>
            </a:r>
            <a:r>
              <a:rPr lang="en-US" altLang="zh-CN" sz="2400" b="0">
                <a:solidFill>
                  <a:schemeClr val="accent2"/>
                </a:solidFill>
                <a:ea typeface="黑体" panose="02010609060101010101" pitchFamily="49" charset="-122"/>
              </a:rPr>
              <a:t>3</a:t>
            </a:r>
            <a:r>
              <a:rPr lang="zh-CN" altLang="en-US" sz="2400" b="0">
                <a:solidFill>
                  <a:schemeClr val="accent2"/>
                </a:solidFill>
                <a:ea typeface="黑体" panose="02010609060101010101" pitchFamily="49" charset="-122"/>
              </a:rPr>
              <a:t>， </a:t>
            </a:r>
            <a:r>
              <a:rPr lang="en-US" altLang="zh-CN" sz="2400" b="0">
                <a:solidFill>
                  <a:schemeClr val="accent2"/>
                </a:solidFill>
                <a:ea typeface="黑体" panose="02010609060101010101" pitchFamily="49" charset="-122"/>
              </a:rPr>
              <a:t>4</a:t>
            </a:r>
            <a:r>
              <a:rPr lang="en-US" altLang="zh-CN" sz="2400" b="0">
                <a:solidFill>
                  <a:schemeClr val="accent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)</a:t>
            </a:r>
          </a:p>
        </p:txBody>
      </p:sp>
      <p:sp>
        <p:nvSpPr>
          <p:cNvPr id="8207" name="Rectangle 15"/>
          <p:cNvSpPr>
            <a:spLocks noChangeArrowheads="1"/>
          </p:cNvSpPr>
          <p:nvPr/>
        </p:nvSpPr>
        <p:spPr bwMode="auto">
          <a:xfrm>
            <a:off x="188913" y="909638"/>
            <a:ext cx="8737600" cy="5022850"/>
          </a:xfrm>
          <a:prstGeom prst="rect">
            <a:avLst/>
          </a:prstGeom>
          <a:noFill/>
          <a:ln w="76200" cmpd="tri">
            <a:solidFill>
              <a:srgbClr val="009999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graphicFrame>
        <p:nvGraphicFramePr>
          <p:cNvPr id="1021968" name="Object 16"/>
          <p:cNvGraphicFramePr/>
          <p:nvPr/>
        </p:nvGraphicFramePr>
        <p:xfrm>
          <a:off x="6276975" y="5949950"/>
          <a:ext cx="225425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1" r:id="rId16" imgW="1181735" imgH="212090" progId="Equation.3">
                  <p:embed/>
                </p:oleObj>
              </mc:Choice>
              <mc:Fallback>
                <p:oleObj r:id="rId16" imgW="1181735" imgH="212090" progId="Equation.3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6975" y="5949950"/>
                        <a:ext cx="2254250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1972" name="Rectangle 20"/>
          <p:cNvSpPr>
            <a:spLocks noChangeArrowheads="1"/>
          </p:cNvSpPr>
          <p:nvPr/>
        </p:nvSpPr>
        <p:spPr bwMode="auto">
          <a:xfrm>
            <a:off x="34925" y="5949950"/>
            <a:ext cx="63357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任一条谱线都可表示为二个光谱项之差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19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1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21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21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21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21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021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021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0219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10219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10219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10219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0219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10219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1021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1021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1021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102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500"/>
                                        <p:tgtEl>
                                          <p:spTgt spid="1021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1954" grpId="0"/>
      <p:bldP spid="1021955" grpId="0"/>
      <p:bldP spid="1021961" grpId="0" animBg="1"/>
      <p:bldP spid="1021964" grpId="0"/>
      <p:bldP spid="102196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615CB37-CADD-47C8-AC8B-A5E092E1E570}" type="slidenum">
              <a:rPr altLang="zh-CN" sz="1400" smtClean="0"/>
              <a:t>6</a:t>
            </a:fld>
            <a:endParaRPr lang="zh-CN" altLang="zh-CN" sz="1400"/>
          </a:p>
        </p:txBody>
      </p:sp>
      <p:sp>
        <p:nvSpPr>
          <p:cNvPr id="1020930" name="Rectangle 2"/>
          <p:cNvSpPr>
            <a:spLocks noChangeArrowheads="1"/>
          </p:cNvSpPr>
          <p:nvPr/>
        </p:nvSpPr>
        <p:spPr bwMode="auto">
          <a:xfrm>
            <a:off x="4799013" y="1304925"/>
            <a:ext cx="394335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2800" b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黑体" panose="02010609060101010101" pitchFamily="49" charset="-122"/>
              </a:rPr>
              <a:t>——</a:t>
            </a:r>
            <a:r>
              <a:rPr kumimoji="1" lang="en-US" altLang="zh-CN" sz="2800" b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里德伯方程</a:t>
            </a:r>
          </a:p>
        </p:txBody>
      </p:sp>
      <p:sp>
        <p:nvSpPr>
          <p:cNvPr id="1020931" name="Rectangle 3"/>
          <p:cNvSpPr>
            <a:spLocks noChangeArrowheads="1"/>
          </p:cNvSpPr>
          <p:nvPr/>
        </p:nvSpPr>
        <p:spPr bwMode="auto">
          <a:xfrm>
            <a:off x="250825" y="188913"/>
            <a:ext cx="682783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1889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年，</a:t>
            </a:r>
            <a:r>
              <a:rPr kumimoji="1" lang="zh-CN" altLang="en-US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里德伯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kumimoji="1" lang="en-US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J.R.Rydberg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kumimoji="1" lang="zh-CN" altLang="en-US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提出普遍方程：</a:t>
            </a:r>
          </a:p>
        </p:txBody>
      </p:sp>
      <p:sp>
        <p:nvSpPr>
          <p:cNvPr id="1020932" name="Text Box 4"/>
          <p:cNvSpPr txBox="1">
            <a:spLocks noChangeArrowheads="1"/>
          </p:cNvSpPr>
          <p:nvPr/>
        </p:nvSpPr>
        <p:spPr bwMode="blackWhite">
          <a:xfrm>
            <a:off x="1403350" y="2276475"/>
            <a:ext cx="5329238" cy="579438"/>
          </a:xfrm>
          <a:prstGeom prst="rect">
            <a:avLst/>
          </a:prstGeom>
          <a:noFill/>
          <a:ln w="2857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(</a:t>
            </a:r>
            <a:r>
              <a:rPr kumimoji="1"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氢原子光谱经验公式</a:t>
            </a:r>
            <a:r>
              <a:rPr kumimoji="1"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)</a:t>
            </a:r>
          </a:p>
        </p:txBody>
      </p:sp>
      <p:graphicFrame>
        <p:nvGraphicFramePr>
          <p:cNvPr id="9222" name="Object 2"/>
          <p:cNvGraphicFramePr/>
          <p:nvPr/>
        </p:nvGraphicFramePr>
        <p:xfrm>
          <a:off x="1619250" y="1052513"/>
          <a:ext cx="3036888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2" r:id="rId3" imgW="1538605" imgH="479425" progId="Equation.3">
                  <p:embed/>
                </p:oleObj>
              </mc:Choice>
              <mc:Fallback>
                <p:oleObj r:id="rId3" imgW="1538605" imgH="479425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052513"/>
                        <a:ext cx="3036888" cy="98266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99FF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AutoShape 6"/>
          <p:cNvSpPr>
            <a:spLocks noChangeArrowheads="1"/>
          </p:cNvSpPr>
          <p:nvPr/>
        </p:nvSpPr>
        <p:spPr bwMode="auto">
          <a:xfrm>
            <a:off x="6804025" y="547688"/>
            <a:ext cx="2117725" cy="649287"/>
          </a:xfrm>
          <a:prstGeom prst="cloudCallout">
            <a:avLst>
              <a:gd name="adj1" fmla="val -144903"/>
              <a:gd name="adj2" fmla="val 55625"/>
            </a:avLst>
          </a:prstGeom>
          <a:gradFill rotWithShape="1">
            <a:gsLst>
              <a:gs pos="0">
                <a:srgbClr val="FFFFFF"/>
              </a:gs>
              <a:gs pos="100000">
                <a:srgbClr val="CCFFFF"/>
              </a:gs>
            </a:gsLst>
            <a:lin ang="18900000" scaled="1"/>
          </a:gradFill>
          <a:ln w="12700">
            <a:solidFill>
              <a:schemeClr val="accent2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/>
              <a:t>广义巴尔末公式</a:t>
            </a:r>
            <a:endParaRPr lang="zh-CN" altLang="en-US" sz="2800"/>
          </a:p>
        </p:txBody>
      </p:sp>
      <p:sp>
        <p:nvSpPr>
          <p:cNvPr id="1020935" name="Text Box 7"/>
          <p:cNvSpPr txBox="1">
            <a:spLocks noChangeArrowheads="1"/>
          </p:cNvSpPr>
          <p:nvPr/>
        </p:nvSpPr>
        <p:spPr bwMode="auto">
          <a:xfrm>
            <a:off x="1476375" y="3644900"/>
            <a:ext cx="5976938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ea typeface="华文楷体" panose="02010600040101010101" pitchFamily="2" charset="-122"/>
              </a:rPr>
              <a:t>m=1</a:t>
            </a:r>
            <a:r>
              <a:rPr lang="zh-CN" altLang="en-US" sz="2400">
                <a:ea typeface="华文楷体" panose="02010600040101010101" pitchFamily="2" charset="-122"/>
              </a:rPr>
              <a:t>， </a:t>
            </a:r>
            <a:r>
              <a:rPr lang="en-US" altLang="zh-CN" sz="2400">
                <a:ea typeface="华文楷体" panose="02010600040101010101" pitchFamily="2" charset="-122"/>
              </a:rPr>
              <a:t>2</a:t>
            </a:r>
            <a:r>
              <a:rPr lang="zh-CN" altLang="en-US" sz="2400">
                <a:ea typeface="华文楷体" panose="02010600040101010101" pitchFamily="2" charset="-122"/>
              </a:rPr>
              <a:t>， </a:t>
            </a:r>
            <a:r>
              <a:rPr lang="en-US" altLang="zh-CN" sz="2400">
                <a:ea typeface="华文楷体" panose="02010600040101010101" pitchFamily="2" charset="-122"/>
              </a:rPr>
              <a:t>3</a:t>
            </a:r>
            <a:r>
              <a:rPr lang="zh-CN" altLang="en-US" sz="2400">
                <a:ea typeface="华文楷体" panose="02010600040101010101" pitchFamily="2" charset="-122"/>
              </a:rPr>
              <a:t>， </a:t>
            </a:r>
            <a:r>
              <a:rPr lang="en-US" altLang="zh-CN" sz="2400">
                <a:ea typeface="华文楷体" panose="02010600040101010101" pitchFamily="2" charset="-122"/>
              </a:rPr>
              <a:t>4</a:t>
            </a:r>
            <a:r>
              <a:rPr lang="zh-CN" altLang="en-US" sz="2400">
                <a:ea typeface="华文楷体" panose="02010600040101010101" pitchFamily="2" charset="-122"/>
              </a:rPr>
              <a:t>，</a:t>
            </a:r>
            <a:r>
              <a:rPr lang="zh-CN" altLang="en-US" sz="2400">
                <a:ea typeface="华文楷体" panose="02010600040101010101" pitchFamily="2" charset="-122"/>
                <a:sym typeface="Symbol" panose="05050102010706020507" pitchFamily="18" charset="2"/>
              </a:rPr>
              <a:t></a:t>
            </a:r>
            <a:endParaRPr lang="zh-CN" altLang="en-US" sz="240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ea typeface="华文楷体" panose="02010600040101010101" pitchFamily="2" charset="-122"/>
              </a:rPr>
              <a:t>n=m+1</a:t>
            </a:r>
            <a:r>
              <a:rPr lang="zh-CN" altLang="en-US" sz="2400">
                <a:ea typeface="华文楷体" panose="02010600040101010101" pitchFamily="2" charset="-122"/>
              </a:rPr>
              <a:t>， </a:t>
            </a:r>
            <a:r>
              <a:rPr lang="en-US" altLang="zh-CN" sz="2400">
                <a:ea typeface="华文楷体" panose="02010600040101010101" pitchFamily="2" charset="-122"/>
              </a:rPr>
              <a:t>m+2</a:t>
            </a:r>
            <a:r>
              <a:rPr lang="zh-CN" altLang="en-US" sz="2400">
                <a:ea typeface="华文楷体" panose="02010600040101010101" pitchFamily="2" charset="-122"/>
              </a:rPr>
              <a:t>， </a:t>
            </a:r>
            <a:r>
              <a:rPr lang="en-US" altLang="zh-CN" sz="2400">
                <a:ea typeface="华文楷体" panose="02010600040101010101" pitchFamily="2" charset="-122"/>
              </a:rPr>
              <a:t>m+3</a:t>
            </a:r>
            <a:r>
              <a:rPr lang="zh-CN" altLang="en-US" sz="2400">
                <a:ea typeface="华文楷体" panose="02010600040101010101" pitchFamily="2" charset="-122"/>
              </a:rPr>
              <a:t>，</a:t>
            </a:r>
            <a:r>
              <a:rPr lang="zh-CN" altLang="en-US" sz="2400">
                <a:ea typeface="华文楷体" panose="02010600040101010101" pitchFamily="2" charset="-122"/>
                <a:sym typeface="Symbol" panose="05050102010706020507" pitchFamily="18" charset="2"/>
              </a:rPr>
              <a:t></a:t>
            </a:r>
            <a:r>
              <a:rPr lang="zh-CN" altLang="en-US" sz="2400">
                <a:ea typeface="华文楷体" panose="02010600040101010101" pitchFamily="2" charset="-122"/>
              </a:rPr>
              <a:t>                         </a:t>
            </a:r>
          </a:p>
        </p:txBody>
      </p:sp>
      <p:sp>
        <p:nvSpPr>
          <p:cNvPr id="1020936" name="Rectangle 8"/>
          <p:cNvSpPr>
            <a:spLocks noChangeArrowheads="1"/>
          </p:cNvSpPr>
          <p:nvPr/>
        </p:nvSpPr>
        <p:spPr bwMode="auto">
          <a:xfrm>
            <a:off x="1476375" y="3068638"/>
            <a:ext cx="898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ea typeface="黑体" panose="02010609060101010101" pitchFamily="49" charset="-122"/>
              </a:rPr>
              <a:t>式中</a:t>
            </a:r>
            <a:r>
              <a:rPr lang="en-US" altLang="zh-CN" sz="2400">
                <a:ea typeface="黑体" panose="02010609060101010101" pitchFamily="49" charset="-122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0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0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0209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10209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0932" grpId="0"/>
      <p:bldP spid="1020935" grpId="0" build="p"/>
      <p:bldP spid="10209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96CF9C2-CFD0-481A-BC38-3285750D6FD5}" type="slidenum">
              <a:rPr altLang="zh-CN" sz="1400" smtClean="0"/>
              <a:t>7</a:t>
            </a:fld>
            <a:endParaRPr lang="zh-CN" altLang="zh-CN" sz="1400"/>
          </a:p>
        </p:txBody>
      </p:sp>
      <p:sp>
        <p:nvSpPr>
          <p:cNvPr id="1022978" name="Text Box 2"/>
          <p:cNvSpPr txBox="1">
            <a:spLocks noChangeArrowheads="1"/>
          </p:cNvSpPr>
          <p:nvPr/>
        </p:nvSpPr>
        <p:spPr bwMode="auto">
          <a:xfrm>
            <a:off x="323850" y="1989138"/>
            <a:ext cx="396081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>
                <a:ea typeface="楷体_GB2312" panose="02010609030101010101" pitchFamily="49" charset="-122"/>
              </a:rPr>
              <a:t>经典理论所遇到的困难</a:t>
            </a:r>
            <a:endParaRPr lang="zh-CN" altLang="en-US" sz="2400"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22979" name="Text Box 3"/>
          <p:cNvSpPr txBox="1">
            <a:spLocks noChangeArrowheads="1"/>
          </p:cNvSpPr>
          <p:nvPr/>
        </p:nvSpPr>
        <p:spPr bwMode="blackWhite">
          <a:xfrm>
            <a:off x="539750" y="895350"/>
            <a:ext cx="8407400" cy="8302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1911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年卢瑟福提出原子的有核模型</a:t>
            </a:r>
          </a:p>
          <a:p>
            <a:pPr eaLnBrk="1" hangingPunct="1"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 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----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电子绕原子核（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10</a:t>
            </a:r>
            <a:r>
              <a:rPr kumimoji="1" lang="en-US" altLang="zh-CN" baseline="30000" dirty="0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-12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m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）高速旋转</a:t>
            </a:r>
          </a:p>
        </p:txBody>
      </p:sp>
      <p:sp>
        <p:nvSpPr>
          <p:cNvPr id="1022981" name="Text Box 5"/>
          <p:cNvSpPr txBox="1">
            <a:spLocks noChangeArrowheads="1"/>
          </p:cNvSpPr>
          <p:nvPr/>
        </p:nvSpPr>
        <p:spPr bwMode="blackWhite">
          <a:xfrm>
            <a:off x="395288" y="2820988"/>
            <a:ext cx="27876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1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）原子是不稳定的</a:t>
            </a:r>
          </a:p>
        </p:txBody>
      </p:sp>
      <p:sp>
        <p:nvSpPr>
          <p:cNvPr id="1022982" name="Text Box 6"/>
          <p:cNvSpPr txBox="1">
            <a:spLocks noChangeArrowheads="1"/>
          </p:cNvSpPr>
          <p:nvPr/>
        </p:nvSpPr>
        <p:spPr bwMode="blackWhite">
          <a:xfrm>
            <a:off x="474663" y="3252788"/>
            <a:ext cx="5743575" cy="13541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15000"/>
              </a:lnSpc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电子绕核运动是加速运动</a:t>
            </a:r>
          </a:p>
          <a:p>
            <a:pPr eaLnBrk="1" hangingPunct="1">
              <a:lnSpc>
                <a:spcPct val="115000"/>
              </a:lnSpc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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辐射能量</a:t>
            </a:r>
            <a:r>
              <a:rPr kumimoji="1" lang="zh-CN" altLang="en-US" sz="1800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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电子轨道半径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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，直到掉到原子核与正电荷中和。</a:t>
            </a:r>
          </a:p>
        </p:txBody>
      </p:sp>
      <p:sp>
        <p:nvSpPr>
          <p:cNvPr id="1022983" name="Text Box 7"/>
          <p:cNvSpPr txBox="1">
            <a:spLocks noChangeArrowheads="1"/>
          </p:cNvSpPr>
          <p:nvPr/>
        </p:nvSpPr>
        <p:spPr bwMode="blackWhite">
          <a:xfrm>
            <a:off x="395288" y="4692650"/>
            <a:ext cx="34004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2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）原子光谱是连续光谱</a:t>
            </a:r>
          </a:p>
        </p:txBody>
      </p:sp>
      <p:pic>
        <p:nvPicPr>
          <p:cNvPr id="1022985" name="Picture 9" descr="ruthboh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663" y="638175"/>
            <a:ext cx="2259012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2986" name="Text Box 10"/>
          <p:cNvSpPr txBox="1">
            <a:spLocks noChangeArrowheads="1"/>
          </p:cNvSpPr>
          <p:nvPr/>
        </p:nvSpPr>
        <p:spPr bwMode="auto">
          <a:xfrm>
            <a:off x="492125" y="5197475"/>
            <a:ext cx="4224338" cy="968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电子辐射电磁波频率</a:t>
            </a:r>
            <a:r>
              <a:rPr kumimoji="1" lang="zh-CN" altLang="en-US" i="1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 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 </a:t>
            </a:r>
            <a:r>
              <a:rPr kumimoji="1" lang="en-US" altLang="zh-CN" i="1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r</a:t>
            </a:r>
            <a:r>
              <a:rPr kumimoji="1" lang="en-US" altLang="zh-CN" baseline="30000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-3/2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，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kumimoji="1" lang="en-US" altLang="zh-CN" i="1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r 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连续变化连续光谱。</a:t>
            </a:r>
            <a:endParaRPr kumimoji="1" lang="zh-CN" altLang="en-US">
              <a:solidFill>
                <a:srgbClr val="99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仿宋_GB2312" pitchFamily="49" charset="-122"/>
            </a:endParaRPr>
          </a:p>
        </p:txBody>
      </p:sp>
      <p:grpSp>
        <p:nvGrpSpPr>
          <p:cNvPr id="2" name="Group 11"/>
          <p:cNvGrpSpPr/>
          <p:nvPr/>
        </p:nvGrpSpPr>
        <p:grpSpPr bwMode="auto">
          <a:xfrm>
            <a:off x="6011863" y="3741738"/>
            <a:ext cx="3097212" cy="2566987"/>
            <a:chOff x="3696" y="2544"/>
            <a:chExt cx="1872" cy="1536"/>
          </a:xfrm>
        </p:grpSpPr>
        <p:sp>
          <p:nvSpPr>
            <p:cNvPr id="10252" name="Rectangle 12"/>
            <p:cNvSpPr>
              <a:spLocks noChangeArrowheads="1"/>
            </p:cNvSpPr>
            <p:nvPr/>
          </p:nvSpPr>
          <p:spPr bwMode="auto">
            <a:xfrm>
              <a:off x="3696" y="2544"/>
              <a:ext cx="1872" cy="15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tailEnd type="none" w="sm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sp>
          <p:nvSpPr>
            <p:cNvPr id="10253" name="Freeform 13"/>
            <p:cNvSpPr>
              <a:spLocks noChangeArrowheads="1"/>
            </p:cNvSpPr>
            <p:nvPr/>
          </p:nvSpPr>
          <p:spPr bwMode="auto">
            <a:xfrm>
              <a:off x="3936" y="2981"/>
              <a:ext cx="1399" cy="905"/>
            </a:xfrm>
            <a:custGeom>
              <a:avLst/>
              <a:gdLst>
                <a:gd name="T0" fmla="*/ 0 w 1399"/>
                <a:gd name="T1" fmla="*/ 4 h 905"/>
                <a:gd name="T2" fmla="*/ 66 w 1399"/>
                <a:gd name="T3" fmla="*/ 277 h 905"/>
                <a:gd name="T4" fmla="*/ 198 w 1399"/>
                <a:gd name="T5" fmla="*/ 559 h 905"/>
                <a:gd name="T6" fmla="*/ 504 w 1399"/>
                <a:gd name="T7" fmla="*/ 817 h 905"/>
                <a:gd name="T8" fmla="*/ 972 w 1399"/>
                <a:gd name="T9" fmla="*/ 883 h 905"/>
                <a:gd name="T10" fmla="*/ 1314 w 1399"/>
                <a:gd name="T11" fmla="*/ 685 h 905"/>
                <a:gd name="T12" fmla="*/ 1398 w 1399"/>
                <a:gd name="T13" fmla="*/ 403 h 905"/>
                <a:gd name="T14" fmla="*/ 1308 w 1399"/>
                <a:gd name="T15" fmla="*/ 127 h 905"/>
                <a:gd name="T16" fmla="*/ 1134 w 1399"/>
                <a:gd name="T17" fmla="*/ 19 h 905"/>
                <a:gd name="T18" fmla="*/ 954 w 1399"/>
                <a:gd name="T19" fmla="*/ 13 h 905"/>
                <a:gd name="T20" fmla="*/ 828 w 1399"/>
                <a:gd name="T21" fmla="*/ 91 h 905"/>
                <a:gd name="T22" fmla="*/ 774 w 1399"/>
                <a:gd name="T23" fmla="*/ 199 h 905"/>
                <a:gd name="T24" fmla="*/ 774 w 1399"/>
                <a:gd name="T25" fmla="*/ 319 h 905"/>
                <a:gd name="T26" fmla="*/ 821 w 1399"/>
                <a:gd name="T27" fmla="*/ 475 h 9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399" h="905">
                  <a:moveTo>
                    <a:pt x="0" y="4"/>
                  </a:moveTo>
                  <a:cubicBezTo>
                    <a:pt x="11" y="49"/>
                    <a:pt x="33" y="185"/>
                    <a:pt x="66" y="277"/>
                  </a:cubicBezTo>
                  <a:cubicBezTo>
                    <a:pt x="99" y="369"/>
                    <a:pt x="125" y="469"/>
                    <a:pt x="198" y="559"/>
                  </a:cubicBezTo>
                  <a:cubicBezTo>
                    <a:pt x="271" y="649"/>
                    <a:pt x="375" y="763"/>
                    <a:pt x="504" y="817"/>
                  </a:cubicBezTo>
                  <a:cubicBezTo>
                    <a:pt x="633" y="871"/>
                    <a:pt x="837" y="905"/>
                    <a:pt x="972" y="883"/>
                  </a:cubicBezTo>
                  <a:cubicBezTo>
                    <a:pt x="1107" y="861"/>
                    <a:pt x="1243" y="765"/>
                    <a:pt x="1314" y="685"/>
                  </a:cubicBezTo>
                  <a:cubicBezTo>
                    <a:pt x="1385" y="605"/>
                    <a:pt x="1399" y="496"/>
                    <a:pt x="1398" y="403"/>
                  </a:cubicBezTo>
                  <a:cubicBezTo>
                    <a:pt x="1397" y="310"/>
                    <a:pt x="1352" y="191"/>
                    <a:pt x="1308" y="127"/>
                  </a:cubicBezTo>
                  <a:cubicBezTo>
                    <a:pt x="1264" y="63"/>
                    <a:pt x="1193" y="38"/>
                    <a:pt x="1134" y="19"/>
                  </a:cubicBezTo>
                  <a:cubicBezTo>
                    <a:pt x="1075" y="0"/>
                    <a:pt x="1005" y="1"/>
                    <a:pt x="954" y="13"/>
                  </a:cubicBezTo>
                  <a:cubicBezTo>
                    <a:pt x="903" y="25"/>
                    <a:pt x="858" y="60"/>
                    <a:pt x="828" y="91"/>
                  </a:cubicBezTo>
                  <a:cubicBezTo>
                    <a:pt x="798" y="122"/>
                    <a:pt x="783" y="161"/>
                    <a:pt x="774" y="199"/>
                  </a:cubicBezTo>
                  <a:cubicBezTo>
                    <a:pt x="765" y="237"/>
                    <a:pt x="766" y="273"/>
                    <a:pt x="774" y="319"/>
                  </a:cubicBezTo>
                  <a:cubicBezTo>
                    <a:pt x="782" y="365"/>
                    <a:pt x="811" y="443"/>
                    <a:pt x="821" y="47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254" name="Object 14"/>
            <p:cNvGraphicFramePr/>
            <p:nvPr/>
          </p:nvGraphicFramePr>
          <p:xfrm>
            <a:off x="3926" y="2709"/>
            <a:ext cx="152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0" r:id="rId4" imgW="114300" imgH="139700" progId="Equation.DSMT4">
                    <p:embed/>
                  </p:oleObj>
                </mc:Choice>
                <mc:Fallback>
                  <p:oleObj r:id="rId4" imgW="114300" imgH="139700" progId="Equation.DSMT4">
                    <p:embed/>
                    <p:pic>
                      <p:nvPicPr>
                        <p:cNvPr id="0" name="Object 1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6" y="2709"/>
                          <a:ext cx="152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255" name="Group 15"/>
            <p:cNvGrpSpPr/>
            <p:nvPr/>
          </p:nvGrpSpPr>
          <p:grpSpPr bwMode="auto">
            <a:xfrm>
              <a:off x="4671" y="3408"/>
              <a:ext cx="216" cy="274"/>
              <a:chOff x="4416" y="1536"/>
              <a:chExt cx="216" cy="274"/>
            </a:xfrm>
          </p:grpSpPr>
          <p:sp>
            <p:nvSpPr>
              <p:cNvPr id="10258" name="Oval 16"/>
              <p:cNvSpPr>
                <a:spLocks noChangeArrowheads="1"/>
              </p:cNvSpPr>
              <p:nvPr/>
            </p:nvSpPr>
            <p:spPr bwMode="auto">
              <a:xfrm>
                <a:off x="4423" y="1584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FF9999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zh-CN" altLang="en-US" sz="2400">
                  <a:solidFill>
                    <a:schemeClr val="accent2"/>
                  </a:solidFill>
                  <a:ea typeface="楷体_GB2312" panose="02010609030101010101" pitchFamily="49" charset="-122"/>
                </a:endParaRPr>
              </a:p>
            </p:txBody>
          </p:sp>
          <p:sp>
            <p:nvSpPr>
              <p:cNvPr id="10259" name="Text Box 17"/>
              <p:cNvSpPr txBox="1">
                <a:spLocks noChangeArrowheads="1"/>
              </p:cNvSpPr>
              <p:nvPr/>
            </p:nvSpPr>
            <p:spPr bwMode="auto">
              <a:xfrm>
                <a:off x="4416" y="1536"/>
                <a:ext cx="216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/>
                  <a:t>+</a:t>
                </a:r>
              </a:p>
            </p:txBody>
          </p:sp>
        </p:grpSp>
        <p:sp>
          <p:nvSpPr>
            <p:cNvPr id="10256" name="Oval 18"/>
            <p:cNvSpPr>
              <a:spLocks noChangeArrowheads="1"/>
            </p:cNvSpPr>
            <p:nvPr/>
          </p:nvSpPr>
          <p:spPr bwMode="auto">
            <a:xfrm>
              <a:off x="3888" y="2928"/>
              <a:ext cx="96" cy="9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CCECFF"/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0000FF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  <p:graphicFrame>
          <p:nvGraphicFramePr>
            <p:cNvPr id="10257" name="Object 19"/>
            <p:cNvGraphicFramePr/>
            <p:nvPr/>
          </p:nvGraphicFramePr>
          <p:xfrm>
            <a:off x="4370" y="3352"/>
            <a:ext cx="147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1" r:id="rId6" imgW="114300" imgH="139700" progId="Equation.DSMT4">
                    <p:embed/>
                  </p:oleObj>
                </mc:Choice>
                <mc:Fallback>
                  <p:oleObj r:id="rId6" imgW="114300" imgH="139700" progId="Equation.DSMT4">
                    <p:embed/>
                    <p:pic>
                      <p:nvPicPr>
                        <p:cNvPr id="0" name="Object 1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0" y="3352"/>
                          <a:ext cx="147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251" name="Rectangle 22"/>
          <p:cNvSpPr>
            <a:spLocks noChangeArrowheads="1"/>
          </p:cNvSpPr>
          <p:nvPr/>
        </p:nvSpPr>
        <p:spPr bwMode="auto">
          <a:xfrm>
            <a:off x="517525" y="44450"/>
            <a:ext cx="76549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>
                <a:ea typeface="楷体_GB2312" panose="02010609030101010101" pitchFamily="49" charset="-122"/>
              </a:rPr>
              <a:t>如何解释氢原子光谱线的不连续性？</a:t>
            </a:r>
            <a:endParaRPr lang="zh-CN" altLang="en-US" sz="2400"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2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022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022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022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022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022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022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2978" grpId="0"/>
      <p:bldP spid="1022979" grpId="0" bldLvl="0" animBg="1"/>
      <p:bldP spid="1022981" grpId="0"/>
      <p:bldP spid="1022982" grpId="0"/>
      <p:bldP spid="1022983" grpId="0"/>
      <p:bldP spid="102298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blackWhite">
          <a:xfrm>
            <a:off x="-252413" y="404813"/>
            <a:ext cx="6553201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chemeClr val="accent2"/>
                </a:solidFill>
                <a:latin typeface="宋体" panose="02010600030101010101" pitchFamily="2" charset="-122"/>
              </a:rPr>
              <a:t>二</a:t>
            </a:r>
            <a:r>
              <a:rPr kumimoji="1" lang="en-US" altLang="zh-CN" sz="2800">
                <a:solidFill>
                  <a:schemeClr val="accent2"/>
                </a:solidFill>
                <a:latin typeface="宋体" panose="02010600030101010101" pitchFamily="2" charset="-122"/>
              </a:rPr>
              <a:t>. </a:t>
            </a:r>
            <a:r>
              <a:rPr kumimoji="1" lang="zh-CN" altLang="en-US" sz="2800">
                <a:solidFill>
                  <a:schemeClr val="accent2"/>
                </a:solidFill>
                <a:latin typeface="宋体" panose="02010600030101010101" pitchFamily="2" charset="-122"/>
              </a:rPr>
              <a:t>玻尔的氢原子理论（</a:t>
            </a:r>
            <a:r>
              <a:rPr kumimoji="1" lang="en-US" altLang="zh-CN" sz="2800">
                <a:solidFill>
                  <a:schemeClr val="accent2"/>
                </a:solidFill>
                <a:latin typeface="宋体" panose="02010600030101010101" pitchFamily="2" charset="-122"/>
              </a:rPr>
              <a:t>1913</a:t>
            </a:r>
            <a:r>
              <a:rPr kumimoji="1" lang="zh-CN" altLang="en-US" sz="2800">
                <a:solidFill>
                  <a:schemeClr val="accent2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1024003" name="Rectangle 3"/>
          <p:cNvSpPr>
            <a:spLocks noChangeArrowheads="1"/>
          </p:cNvSpPr>
          <p:nvPr/>
        </p:nvSpPr>
        <p:spPr bwMode="blackWhite">
          <a:xfrm>
            <a:off x="250825" y="1773238"/>
            <a:ext cx="18605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kumimoji="1" lang="en-US" altLang="zh-CN" b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1</a:t>
            </a:r>
            <a:r>
              <a:rPr kumimoji="1" lang="zh-CN" altLang="en-US" b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）定态假设</a:t>
            </a:r>
          </a:p>
        </p:txBody>
      </p:sp>
      <p:sp>
        <p:nvSpPr>
          <p:cNvPr id="1024004" name="Text Box 4"/>
          <p:cNvSpPr txBox="1">
            <a:spLocks noChangeArrowheads="1"/>
          </p:cNvSpPr>
          <p:nvPr/>
        </p:nvSpPr>
        <p:spPr bwMode="blackWhite">
          <a:xfrm>
            <a:off x="144463" y="2276475"/>
            <a:ext cx="8999537" cy="1365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15000"/>
              </a:lnSpc>
              <a:defRPr/>
            </a:pP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      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原子能够且只能够处于一系列离散的能量</a:t>
            </a:r>
            <a:r>
              <a:rPr kumimoji="1" lang="en-US" altLang="zh-CN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E</a:t>
            </a:r>
            <a:r>
              <a:rPr kumimoji="1" lang="en-US" altLang="zh-CN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1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, </a:t>
            </a:r>
            <a:r>
              <a:rPr kumimoji="1" lang="en-US" altLang="zh-CN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E</a:t>
            </a:r>
            <a:r>
              <a:rPr kumimoji="1" lang="en-US" altLang="zh-CN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2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…(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能级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)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状态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.</a:t>
            </a:r>
          </a:p>
          <a:p>
            <a:pPr eaLnBrk="1" hangingPunct="1">
              <a:lnSpc>
                <a:spcPct val="115000"/>
              </a:lnSpc>
              <a:defRPr/>
            </a:pP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在这些状态上，</a:t>
            </a:r>
            <a:r>
              <a:rPr kumimoji="1" lang="zh-CN" altLang="en-US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电子虽作加速运动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，但</a:t>
            </a:r>
            <a:r>
              <a:rPr kumimoji="1" lang="zh-CN" altLang="en-US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不辐射能量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。这些状态称为原子的稳定状态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(</a:t>
            </a:r>
            <a:r>
              <a:rPr kumimoji="1" lang="zh-CN" altLang="en-US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定态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)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。</a:t>
            </a:r>
            <a:endParaRPr kumimoji="1" lang="en-US" altLang="zh-CN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仿宋_GB2312" pitchFamily="49" charset="-122"/>
            </a:endParaRPr>
          </a:p>
        </p:txBody>
      </p:sp>
      <p:sp>
        <p:nvSpPr>
          <p:cNvPr id="1024005" name="Rectangle 5"/>
          <p:cNvSpPr>
            <a:spLocks noChangeArrowheads="1"/>
          </p:cNvSpPr>
          <p:nvPr/>
        </p:nvSpPr>
        <p:spPr bwMode="blackWhite">
          <a:xfrm>
            <a:off x="265113" y="3789363"/>
            <a:ext cx="36893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kumimoji="1" lang="en-US" altLang="zh-CN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2</a:t>
            </a:r>
            <a:r>
              <a:rPr kumimoji="1" lang="zh-CN" altLang="en-US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）跃迁假设（频率条件）</a:t>
            </a:r>
          </a:p>
        </p:txBody>
      </p:sp>
      <p:sp>
        <p:nvSpPr>
          <p:cNvPr id="1024006" name="Text Box 6"/>
          <p:cNvSpPr txBox="1">
            <a:spLocks noChangeArrowheads="1"/>
          </p:cNvSpPr>
          <p:nvPr/>
        </p:nvSpPr>
        <p:spPr bwMode="blackWhite">
          <a:xfrm>
            <a:off x="179388" y="4305300"/>
            <a:ext cx="5113337" cy="14204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indent="457200">
              <a:lnSpc>
                <a:spcPct val="120000"/>
              </a:lnSpc>
              <a:spcBef>
                <a:spcPct val="15000"/>
              </a:spcBef>
              <a:defRPr/>
            </a:pP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当原子在两个定态之间跃迁时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,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就会发射或吸收电磁辐射。其频率 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( </a:t>
            </a:r>
            <a:r>
              <a:rPr kumimoji="1" lang="en-US" altLang="zh-CN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E</a:t>
            </a:r>
            <a:r>
              <a:rPr kumimoji="1" lang="en-US" altLang="zh-CN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n 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&gt; </a:t>
            </a:r>
            <a:r>
              <a:rPr kumimoji="1" lang="en-US" altLang="zh-CN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E</a:t>
            </a:r>
            <a:r>
              <a:rPr kumimoji="1" lang="en-US" altLang="zh-CN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m</a:t>
            </a:r>
            <a:r>
              <a:rPr kumimoji="1" lang="en-US" altLang="zh-CN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)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为</a:t>
            </a:r>
          </a:p>
        </p:txBody>
      </p:sp>
      <p:graphicFrame>
        <p:nvGraphicFramePr>
          <p:cNvPr id="5122" name="Object 7"/>
          <p:cNvGraphicFramePr/>
          <p:nvPr/>
        </p:nvGraphicFramePr>
        <p:xfrm>
          <a:off x="2195513" y="5805488"/>
          <a:ext cx="1781175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0" r:id="rId3" imgW="824865" imgH="393700" progId="Equation.DSMT4">
                  <p:embed/>
                </p:oleObj>
              </mc:Choice>
              <mc:Fallback>
                <p:oleObj r:id="rId3" imgW="824865" imgH="393700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5805488"/>
                        <a:ext cx="1781175" cy="852487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5E7676"/>
                          </a:gs>
                          <a:gs pos="50000">
                            <a:srgbClr val="CCFFFF"/>
                          </a:gs>
                          <a:gs pos="100000">
                            <a:srgbClr val="5E7676"/>
                          </a:gs>
                        </a:gsLst>
                        <a:lin ang="5400000" scaled="1"/>
                      </a:gradFill>
                      <a:ln w="1905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4008" name="Picture 8" descr="model-bohr-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838" y="3716338"/>
            <a:ext cx="3805237" cy="306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323850" y="908050"/>
            <a:ext cx="8569325" cy="8302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  <a:defRPr/>
            </a:pP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        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尼尔斯 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玻尔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(Niles Bohr)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，丹麦人，二十世纪世界最伟大的物理学家之一，量子理论的主要奠基人。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4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24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24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24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240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03" grpId="0"/>
      <p:bldP spid="1024004" grpId="0" bldLvl="0" animBg="1"/>
      <p:bldP spid="1024005" grpId="0"/>
      <p:bldP spid="1024006" grpId="0" build="p"/>
      <p:bldP spid="14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32DF4D1-08B7-4485-9F4C-30CDD3CCA4A8}" type="slidenum">
              <a:rPr altLang="zh-CN" sz="1400" smtClean="0"/>
              <a:t>9</a:t>
            </a:fld>
            <a:endParaRPr lang="zh-CN" altLang="zh-CN" sz="1400"/>
          </a:p>
        </p:txBody>
      </p:sp>
      <p:sp>
        <p:nvSpPr>
          <p:cNvPr id="1058818" name="Rectangle 2"/>
          <p:cNvSpPr>
            <a:spLocks noChangeArrowheads="1"/>
          </p:cNvSpPr>
          <p:nvPr/>
        </p:nvSpPr>
        <p:spPr bwMode="blackWhite">
          <a:xfrm>
            <a:off x="442913" y="115888"/>
            <a:ext cx="8521700" cy="15001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  <a:spcBef>
                <a:spcPct val="20000"/>
              </a:spcBef>
              <a:defRPr/>
            </a:pPr>
            <a:r>
              <a:rPr kumimoji="1" lang="zh-CN" altLang="zh-CN" b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3）轨道角动量量子化假设</a:t>
            </a:r>
          </a:p>
          <a:p>
            <a:pPr>
              <a:lnSpc>
                <a:spcPct val="115000"/>
              </a:lnSpc>
              <a:spcBef>
                <a:spcPct val="20000"/>
              </a:spcBef>
              <a:defRPr/>
            </a:pPr>
            <a:r>
              <a:rPr kumimoji="1" lang="zh-CN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     </a:t>
            </a:r>
            <a:r>
              <a:rPr kumimoji="1" lang="zh-CN" altLang="zh-CN" b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</a:t>
            </a:r>
            <a:r>
              <a:rPr kumimoji="1" lang="zh-CN" altLang="zh-CN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定态</a:t>
            </a:r>
            <a:r>
              <a:rPr kumimoji="1" lang="zh-CN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与电子绕核运动的一系列</a:t>
            </a:r>
            <a:r>
              <a:rPr kumimoji="1" lang="zh-CN" altLang="zh-CN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分立圆周轨道</a:t>
            </a:r>
            <a:r>
              <a:rPr kumimoji="1" lang="zh-CN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相对应，</a:t>
            </a:r>
            <a:endParaRPr kumimoji="1" lang="zh-CN" altLang="en-US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仿宋_GB2312" pitchFamily="49" charset="-122"/>
            </a:endParaRPr>
          </a:p>
          <a:p>
            <a:pPr>
              <a:lnSpc>
                <a:spcPct val="115000"/>
              </a:lnSpc>
              <a:spcBef>
                <a:spcPct val="20000"/>
              </a:spcBef>
              <a:defRPr/>
            </a:pPr>
            <a:r>
              <a:rPr kumimoji="1" lang="zh-CN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电子轨道角动量只能是（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h/2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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  <a:sym typeface="Symbol" panose="05050102010706020507" pitchFamily="18" charset="2"/>
              </a:rPr>
              <a:t>）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</a:t>
            </a:r>
            <a:r>
              <a:rPr kumimoji="1" lang="zh-CN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的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整数倍，即</a:t>
            </a:r>
          </a:p>
        </p:txBody>
      </p:sp>
      <p:graphicFrame>
        <p:nvGraphicFramePr>
          <p:cNvPr id="1058819" name="Object 3"/>
          <p:cNvGraphicFramePr/>
          <p:nvPr/>
        </p:nvGraphicFramePr>
        <p:xfrm>
          <a:off x="1443038" y="1628775"/>
          <a:ext cx="2808287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3" r:id="rId3" imgW="1505585" imgH="434975" progId="Equation.DSMT4">
                  <p:embed/>
                </p:oleObj>
              </mc:Choice>
              <mc:Fallback>
                <p:oleObj r:id="rId3" imgW="1505585" imgH="434975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038" y="1628775"/>
                        <a:ext cx="2808287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8820" name="Text Box 4"/>
          <p:cNvSpPr txBox="1">
            <a:spLocks noChangeArrowheads="1"/>
          </p:cNvSpPr>
          <p:nvPr/>
        </p:nvSpPr>
        <p:spPr bwMode="blackWhite">
          <a:xfrm>
            <a:off x="4787900" y="1773238"/>
            <a:ext cx="38163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b="0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n </a:t>
            </a:r>
            <a:r>
              <a:rPr kumimoji="1"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= 1, 2, 3, </a:t>
            </a:r>
            <a:r>
              <a:rPr kumimoji="1"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</a:t>
            </a:r>
            <a:endParaRPr kumimoji="1" lang="en-US" altLang="zh-CN" b="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1058830" name="Rectangle 14"/>
          <p:cNvSpPr>
            <a:spLocks noChangeArrowheads="1"/>
          </p:cNvSpPr>
          <p:nvPr/>
        </p:nvSpPr>
        <p:spPr bwMode="auto">
          <a:xfrm>
            <a:off x="395288" y="5170488"/>
            <a:ext cx="8280400" cy="13541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zh-CN" altLang="en-US" dirty="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卢瑟福模型</a:t>
            </a:r>
            <a:r>
              <a:rPr lang="en-US" altLang="zh-CN" dirty="0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+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量子化思想</a:t>
            </a:r>
            <a:endParaRPr lang="zh-CN" altLang="en-US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仿宋_GB2312" pitchFamily="49" charset="-122"/>
              <a:ea typeface="仿宋_GB2312" pitchFamily="49" charset="-122"/>
            </a:endParaRPr>
          </a:p>
          <a:p>
            <a:pPr>
              <a:lnSpc>
                <a:spcPct val="115000"/>
              </a:lnSpc>
              <a:defRPr/>
            </a:pP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解释了近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30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年的</a:t>
            </a:r>
            <a:r>
              <a:rPr lang="zh-CN" altLang="en-US" u="sng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巴尔末公式之谜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，</a:t>
            </a:r>
          </a:p>
          <a:p>
            <a:pPr>
              <a:lnSpc>
                <a:spcPct val="115000"/>
              </a:lnSpc>
              <a:defRPr/>
            </a:pP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并</a:t>
            </a:r>
            <a:r>
              <a:rPr lang="zh-CN" altLang="en-US" u="sng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首次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算出里德伯常量。</a:t>
            </a:r>
          </a:p>
        </p:txBody>
      </p:sp>
      <p:pic>
        <p:nvPicPr>
          <p:cNvPr id="16" name="Picture 8" descr="model-bohr-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4113213"/>
            <a:ext cx="3313112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5"/>
          <p:cNvGrpSpPr/>
          <p:nvPr/>
        </p:nvGrpSpPr>
        <p:grpSpPr bwMode="auto">
          <a:xfrm>
            <a:off x="179388" y="2636838"/>
            <a:ext cx="5811837" cy="2160587"/>
            <a:chOff x="748" y="1525"/>
            <a:chExt cx="3661" cy="1361"/>
          </a:xfrm>
        </p:grpSpPr>
        <p:grpSp>
          <p:nvGrpSpPr>
            <p:cNvPr id="12297" name="Group 6"/>
            <p:cNvGrpSpPr/>
            <p:nvPr/>
          </p:nvGrpSpPr>
          <p:grpSpPr bwMode="auto">
            <a:xfrm>
              <a:off x="836" y="1579"/>
              <a:ext cx="3133" cy="1179"/>
              <a:chOff x="836" y="1579"/>
              <a:chExt cx="3133" cy="1179"/>
            </a:xfrm>
          </p:grpSpPr>
          <p:sp>
            <p:nvSpPr>
              <p:cNvPr id="12299" name="Text Box 7"/>
              <p:cNvSpPr txBox="1">
                <a:spLocks noChangeArrowheads="1"/>
              </p:cNvSpPr>
              <p:nvPr/>
            </p:nvSpPr>
            <p:spPr bwMode="auto">
              <a:xfrm>
                <a:off x="836" y="1579"/>
                <a:ext cx="155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CC3300"/>
                    </a:solidFill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 </a:t>
                </a:r>
                <a:r>
                  <a:rPr lang="zh-CN" altLang="en-US" sz="2800">
                    <a:solidFill>
                      <a:srgbClr val="CC3300"/>
                    </a:solidFill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定态假设</a:t>
                </a:r>
              </a:p>
            </p:txBody>
          </p:sp>
          <p:sp>
            <p:nvSpPr>
              <p:cNvPr id="12300" name="Text Box 8"/>
              <p:cNvSpPr txBox="1">
                <a:spLocks noChangeArrowheads="1"/>
              </p:cNvSpPr>
              <p:nvPr/>
            </p:nvSpPr>
            <p:spPr bwMode="auto">
              <a:xfrm>
                <a:off x="973" y="2024"/>
                <a:ext cx="1457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>
                    <a:solidFill>
                      <a:srgbClr val="CC3300"/>
                    </a:solidFill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跃迁假设</a:t>
                </a:r>
              </a:p>
            </p:txBody>
          </p:sp>
          <p:sp>
            <p:nvSpPr>
              <p:cNvPr id="12301" name="Text Box 9"/>
              <p:cNvSpPr txBox="1">
                <a:spLocks noChangeArrowheads="1"/>
              </p:cNvSpPr>
              <p:nvPr/>
            </p:nvSpPr>
            <p:spPr bwMode="auto">
              <a:xfrm>
                <a:off x="973" y="2432"/>
                <a:ext cx="2686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>
                    <a:solidFill>
                      <a:srgbClr val="CC3300"/>
                    </a:solidFill>
                    <a:latin typeface="楷体_GB2312" panose="02010609030101010101" pitchFamily="49" charset="-122"/>
                    <a:ea typeface="楷体_GB2312" panose="02010609030101010101" pitchFamily="49" charset="-122"/>
                  </a:rPr>
                  <a:t>角动量量子化假设</a:t>
                </a:r>
              </a:p>
            </p:txBody>
          </p:sp>
          <p:graphicFrame>
            <p:nvGraphicFramePr>
              <p:cNvPr id="12302" name="Object 10"/>
              <p:cNvGraphicFramePr/>
              <p:nvPr/>
            </p:nvGraphicFramePr>
            <p:xfrm>
              <a:off x="2111" y="1623"/>
              <a:ext cx="982" cy="2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24" r:id="rId6" imgW="1583690" imgH="468630" progId="Equation.3">
                      <p:embed/>
                    </p:oleObj>
                  </mc:Choice>
                  <mc:Fallback>
                    <p:oleObj r:id="rId6" imgW="1583690" imgH="468630" progId="Equation.3">
                      <p:embed/>
                      <p:pic>
                        <p:nvPicPr>
                          <p:cNvPr id="0" name="Object 10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11" y="1623"/>
                            <a:ext cx="982" cy="2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03" name="Object 11"/>
              <p:cNvGraphicFramePr/>
              <p:nvPr/>
            </p:nvGraphicFramePr>
            <p:xfrm>
              <a:off x="2111" y="2068"/>
              <a:ext cx="1502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25" r:id="rId8" imgW="2374900" imgH="479425" progId="Equation.3">
                      <p:embed/>
                    </p:oleObj>
                  </mc:Choice>
                  <mc:Fallback>
                    <p:oleObj r:id="rId8" imgW="2374900" imgH="479425" progId="Equation.3">
                      <p:embed/>
                      <p:pic>
                        <p:nvPicPr>
                          <p:cNvPr id="0" name="Object 11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11" y="2068"/>
                            <a:ext cx="1502" cy="30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04" name="Object 12"/>
              <p:cNvGraphicFramePr/>
              <p:nvPr/>
            </p:nvGraphicFramePr>
            <p:xfrm>
              <a:off x="3158" y="2493"/>
              <a:ext cx="811" cy="2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26" r:id="rId10" imgW="1181735" imgH="345440" progId="Equation.3">
                      <p:embed/>
                    </p:oleObj>
                  </mc:Choice>
                  <mc:Fallback>
                    <p:oleObj r:id="rId10" imgW="1181735" imgH="345440" progId="Equation.3">
                      <p:embed/>
                      <p:pic>
                        <p:nvPicPr>
                          <p:cNvPr id="0" name="Object 12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58" y="2493"/>
                            <a:ext cx="811" cy="2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2298" name="Rectangle 13"/>
            <p:cNvSpPr>
              <a:spLocks noChangeArrowheads="1"/>
            </p:cNvSpPr>
            <p:nvPr/>
          </p:nvSpPr>
          <p:spPr bwMode="auto">
            <a:xfrm>
              <a:off x="748" y="1525"/>
              <a:ext cx="3661" cy="1361"/>
            </a:xfrm>
            <a:prstGeom prst="rect">
              <a:avLst/>
            </a:prstGeom>
            <a:noFill/>
            <a:ln w="19050">
              <a:solidFill>
                <a:srgbClr val="CC3300"/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58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058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058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058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058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8820" grpId="0"/>
      <p:bldP spid="10588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050" name="Object 2"/>
          <p:cNvGraphicFramePr>
            <a:graphicFrameLocks noGrp="1"/>
          </p:cNvGraphicFramePr>
          <p:nvPr>
            <p:ph sz="half" idx="1"/>
          </p:nvPr>
        </p:nvGraphicFramePr>
        <p:xfrm>
          <a:off x="7337425" y="2828925"/>
          <a:ext cx="144462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5" r:id="rId3" imgW="596900" imgH="241300" progId="Equation.3">
                  <p:embed/>
                </p:oleObj>
              </mc:Choice>
              <mc:Fallback>
                <p:oleObj r:id="rId3" imgW="596900" imgH="241300" progId="Equation.3">
                  <p:embed/>
                  <p:pic>
                    <p:nvPicPr>
                      <p:cNvPr id="0" name="Object 2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7425" y="2828925"/>
                        <a:ext cx="1444625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051" name="Object 3"/>
          <p:cNvGraphicFramePr>
            <a:graphicFrameLocks noGrp="1"/>
          </p:cNvGraphicFramePr>
          <p:nvPr>
            <p:ph sz="quarter" idx="2"/>
          </p:nvPr>
        </p:nvGraphicFramePr>
        <p:xfrm>
          <a:off x="4659313" y="2613025"/>
          <a:ext cx="1944687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6" r:id="rId5" imgW="1081405" imgH="513080" progId="Equation.DSMT4">
                  <p:embed/>
                </p:oleObj>
              </mc:Choice>
              <mc:Fallback>
                <p:oleObj r:id="rId5" imgW="1081405" imgH="513080" progId="Equation.DSMT4">
                  <p:embed/>
                  <p:pic>
                    <p:nvPicPr>
                      <p:cNvPr id="0" name="Object 3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9313" y="2613025"/>
                        <a:ext cx="1944687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052" name="Rectangle 4"/>
          <p:cNvSpPr>
            <a:spLocks noChangeArrowheads="1"/>
          </p:cNvSpPr>
          <p:nvPr/>
        </p:nvSpPr>
        <p:spPr bwMode="auto">
          <a:xfrm>
            <a:off x="228600" y="109538"/>
            <a:ext cx="4848225" cy="652462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</a:ln>
          <a:effectLst>
            <a:outerShdw dist="107763" dir="8100000" algn="ctr" rotWithShape="0">
              <a:schemeClr val="bg2">
                <a:alpha val="50000"/>
              </a:schemeClr>
            </a:outerShdw>
          </a:effectLst>
        </p:spPr>
        <p:txBody>
          <a:bodyPr lIns="92075" tIns="46038" rIns="92075" bIns="46038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kumimoji="1"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华文行楷" panose="02010800040101010101" pitchFamily="2" charset="-122"/>
              </a:rPr>
              <a:t>三、基本假设应用于氢原子：</a:t>
            </a:r>
          </a:p>
        </p:txBody>
      </p:sp>
      <p:sp>
        <p:nvSpPr>
          <p:cNvPr id="1026053" name="Rectangle 5"/>
          <p:cNvSpPr>
            <a:spLocks noChangeArrowheads="1"/>
          </p:cNvSpPr>
          <p:nvPr/>
        </p:nvSpPr>
        <p:spPr bwMode="auto">
          <a:xfrm>
            <a:off x="304800" y="795338"/>
            <a:ext cx="3657600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2400" b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400" b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轨道半径量子化</a:t>
            </a:r>
          </a:p>
        </p:txBody>
      </p:sp>
      <p:graphicFrame>
        <p:nvGraphicFramePr>
          <p:cNvPr id="1026054" name="Object 6"/>
          <p:cNvGraphicFramePr/>
          <p:nvPr/>
        </p:nvGraphicFramePr>
        <p:xfrm>
          <a:off x="827088" y="1341438"/>
          <a:ext cx="2743200" cy="112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7" r:id="rId7" imgW="1282700" imgH="513080" progId="Equation.DSMT4">
                  <p:embed/>
                </p:oleObj>
              </mc:Choice>
              <mc:Fallback>
                <p:oleObj r:id="rId7" imgW="1282700" imgH="513080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341438"/>
                        <a:ext cx="2743200" cy="1125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055" name="Object 7"/>
          <p:cNvGraphicFramePr/>
          <p:nvPr/>
        </p:nvGraphicFramePr>
        <p:xfrm>
          <a:off x="969963" y="2636838"/>
          <a:ext cx="2625725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8" r:id="rId9" imgW="1304925" imgH="434975" progId="Equation.DSMT4">
                  <p:embed/>
                </p:oleObj>
              </mc:Choice>
              <mc:Fallback>
                <p:oleObj r:id="rId9" imgW="1304925" imgH="434975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963" y="2636838"/>
                        <a:ext cx="2625725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056" name="Object 8"/>
          <p:cNvGraphicFramePr/>
          <p:nvPr/>
        </p:nvGraphicFramePr>
        <p:xfrm>
          <a:off x="941388" y="3817938"/>
          <a:ext cx="4037012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9" r:id="rId11" imgW="1752600" imgH="457200" progId="Equation.DSMT4">
                  <p:embed/>
                </p:oleObj>
              </mc:Choice>
              <mc:Fallback>
                <p:oleObj r:id="rId11" imgW="1752600" imgH="457200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1388" y="3817938"/>
                        <a:ext cx="4037012" cy="1049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/>
          <p:nvPr/>
        </p:nvGrpSpPr>
        <p:grpSpPr bwMode="auto">
          <a:xfrm>
            <a:off x="557213" y="4883150"/>
            <a:ext cx="5180012" cy="396875"/>
            <a:chOff x="1939" y="2596"/>
            <a:chExt cx="2166" cy="250"/>
          </a:xfrm>
        </p:grpSpPr>
        <p:sp>
          <p:nvSpPr>
            <p:cNvPr id="1026058" name="Text Box 10"/>
            <p:cNvSpPr txBox="1">
              <a:spLocks noChangeArrowheads="1"/>
            </p:cNvSpPr>
            <p:nvPr/>
          </p:nvSpPr>
          <p:spPr bwMode="auto">
            <a:xfrm>
              <a:off x="1939" y="2596"/>
              <a:ext cx="2166" cy="2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altLang="zh-CN" sz="200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        </a:t>
              </a:r>
              <a:r>
                <a:rPr kumimoji="1" lang="zh-CN" altLang="en-US" sz="200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玻尔半径</a:t>
              </a:r>
            </a:p>
          </p:txBody>
        </p:sp>
        <p:sp>
          <p:nvSpPr>
            <p:cNvPr id="13348" name="Line 11"/>
            <p:cNvSpPr>
              <a:spLocks noChangeShapeType="1"/>
            </p:cNvSpPr>
            <p:nvPr/>
          </p:nvSpPr>
          <p:spPr bwMode="auto">
            <a:xfrm>
              <a:off x="2200" y="2625"/>
              <a:ext cx="52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2"/>
          <p:cNvGrpSpPr/>
          <p:nvPr/>
        </p:nvGrpSpPr>
        <p:grpSpPr bwMode="auto">
          <a:xfrm>
            <a:off x="6240463" y="4525963"/>
            <a:ext cx="2903537" cy="2332037"/>
            <a:chOff x="3958" y="1319"/>
            <a:chExt cx="1829" cy="1469"/>
          </a:xfrm>
        </p:grpSpPr>
        <p:sp>
          <p:nvSpPr>
            <p:cNvPr id="13327" name="Line 13"/>
            <p:cNvSpPr>
              <a:spLocks noChangeShapeType="1"/>
            </p:cNvSpPr>
            <p:nvPr/>
          </p:nvSpPr>
          <p:spPr bwMode="auto">
            <a:xfrm flipH="1" flipV="1">
              <a:off x="5382" y="1671"/>
              <a:ext cx="14" cy="323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8" name="Text Box 14"/>
            <p:cNvSpPr txBox="1">
              <a:spLocks noChangeArrowheads="1"/>
            </p:cNvSpPr>
            <p:nvPr/>
          </p:nvSpPr>
          <p:spPr bwMode="auto">
            <a:xfrm>
              <a:off x="5176" y="1340"/>
              <a:ext cx="4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latin typeface="Bookman Old Style" panose="02050604050505020204" pitchFamily="18" charset="0"/>
                </a:rPr>
                <a:t>v</a:t>
              </a:r>
              <a:r>
                <a:rPr lang="en-US" altLang="zh-CN" sz="2800" i="1" baseline="-25000"/>
                <a:t>n</a:t>
              </a:r>
              <a:endParaRPr lang="en-US" altLang="zh-CN" sz="2800" i="1"/>
            </a:p>
          </p:txBody>
        </p:sp>
        <p:grpSp>
          <p:nvGrpSpPr>
            <p:cNvPr id="13329" name="Group 15"/>
            <p:cNvGrpSpPr/>
            <p:nvPr/>
          </p:nvGrpSpPr>
          <p:grpSpPr bwMode="auto">
            <a:xfrm>
              <a:off x="3958" y="1319"/>
              <a:ext cx="1829" cy="1469"/>
              <a:chOff x="4070" y="586"/>
              <a:chExt cx="1829" cy="1469"/>
            </a:xfrm>
          </p:grpSpPr>
          <p:sp>
            <p:nvSpPr>
              <p:cNvPr id="13330" name="Text Box 16"/>
              <p:cNvSpPr txBox="1">
                <a:spLocks noChangeArrowheads="1"/>
              </p:cNvSpPr>
              <p:nvPr/>
            </p:nvSpPr>
            <p:spPr bwMode="auto">
              <a:xfrm>
                <a:off x="5477" y="1295"/>
                <a:ext cx="42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/>
                  <a:t>-</a:t>
                </a:r>
                <a:r>
                  <a:rPr lang="en-US" altLang="zh-CN" sz="2800" i="1"/>
                  <a:t>e</a:t>
                </a:r>
                <a:endParaRPr lang="en-US" altLang="zh-CN" sz="2800"/>
              </a:p>
            </p:txBody>
          </p:sp>
          <p:sp>
            <p:nvSpPr>
              <p:cNvPr id="13331" name="Text Box 17"/>
              <p:cNvSpPr txBox="1">
                <a:spLocks noChangeArrowheads="1"/>
              </p:cNvSpPr>
              <p:nvPr/>
            </p:nvSpPr>
            <p:spPr bwMode="auto">
              <a:xfrm>
                <a:off x="5360" y="1687"/>
                <a:ext cx="40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 i="1">
                    <a:solidFill>
                      <a:srgbClr val="CC3300"/>
                    </a:solidFill>
                  </a:rPr>
                  <a:t>E</a:t>
                </a:r>
                <a:r>
                  <a:rPr lang="en-US" altLang="zh-CN" sz="2800" i="1" baseline="-25000">
                    <a:solidFill>
                      <a:srgbClr val="CC3300"/>
                    </a:solidFill>
                  </a:rPr>
                  <a:t>n</a:t>
                </a:r>
                <a:endParaRPr lang="en-US" altLang="zh-CN" sz="2800" i="1">
                  <a:solidFill>
                    <a:srgbClr val="CC3300"/>
                  </a:solidFill>
                </a:endParaRPr>
              </a:p>
            </p:txBody>
          </p:sp>
          <p:grpSp>
            <p:nvGrpSpPr>
              <p:cNvPr id="13332" name="Group 18"/>
              <p:cNvGrpSpPr/>
              <p:nvPr/>
            </p:nvGrpSpPr>
            <p:grpSpPr bwMode="auto">
              <a:xfrm>
                <a:off x="4070" y="586"/>
                <a:ext cx="1513" cy="1469"/>
                <a:chOff x="3959" y="144"/>
                <a:chExt cx="1657" cy="1613"/>
              </a:xfrm>
            </p:grpSpPr>
            <p:sp>
              <p:nvSpPr>
                <p:cNvPr id="13333" name="Arc 19"/>
                <p:cNvSpPr>
                  <a:spLocks noChangeArrowheads="1"/>
                </p:cNvSpPr>
                <p:nvPr/>
              </p:nvSpPr>
              <p:spPr bwMode="auto">
                <a:xfrm>
                  <a:off x="4788" y="231"/>
                  <a:ext cx="741" cy="741"/>
                </a:xfrm>
                <a:custGeom>
                  <a:avLst/>
                  <a:gdLst>
                    <a:gd name="T0" fmla="*/ 0 w 21600"/>
                    <a:gd name="T1" fmla="*/ 0 h 21600"/>
                    <a:gd name="T2" fmla="*/ 25 w 21600"/>
                    <a:gd name="T3" fmla="*/ 25 h 21600"/>
                    <a:gd name="T4" fmla="*/ 0 w 21600"/>
                    <a:gd name="T5" fmla="*/ 0 h 21600"/>
                    <a:gd name="T6" fmla="*/ 25 w 21600"/>
                    <a:gd name="T7" fmla="*/ 25 h 21600"/>
                    <a:gd name="T8" fmla="*/ 0 w 21600"/>
                    <a:gd name="T9" fmla="*/ 25 h 216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34" name="Oval 20"/>
                <p:cNvSpPr>
                  <a:spLocks noChangeArrowheads="1"/>
                </p:cNvSpPr>
                <p:nvPr/>
              </p:nvSpPr>
              <p:spPr bwMode="auto">
                <a:xfrm>
                  <a:off x="4613" y="798"/>
                  <a:ext cx="349" cy="349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3300"/>
                    </a:gs>
                    <a:gs pos="100000">
                      <a:srgbClr val="C22700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400"/>
                    <a:t>+</a:t>
                  </a:r>
                </a:p>
              </p:txBody>
            </p:sp>
            <p:sp>
              <p:nvSpPr>
                <p:cNvPr id="13335" name="Oval 21"/>
                <p:cNvSpPr>
                  <a:spLocks noChangeArrowheads="1"/>
                </p:cNvSpPr>
                <p:nvPr/>
              </p:nvSpPr>
              <p:spPr bwMode="auto">
                <a:xfrm>
                  <a:off x="5442" y="885"/>
                  <a:ext cx="174" cy="175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66FF33"/>
                    </a:gs>
                    <a:gs pos="100000">
                      <a:srgbClr val="43A822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endParaRPr lang="zh-CN" altLang="en-US" sz="240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3336" name="Arc 22"/>
                <p:cNvSpPr>
                  <a:spLocks noChangeArrowheads="1"/>
                </p:cNvSpPr>
                <p:nvPr/>
              </p:nvSpPr>
              <p:spPr bwMode="auto">
                <a:xfrm flipH="1">
                  <a:off x="4046" y="231"/>
                  <a:ext cx="742" cy="741"/>
                </a:xfrm>
                <a:custGeom>
                  <a:avLst/>
                  <a:gdLst>
                    <a:gd name="T0" fmla="*/ 0 w 21600"/>
                    <a:gd name="T1" fmla="*/ 0 h 21600"/>
                    <a:gd name="T2" fmla="*/ 25 w 21600"/>
                    <a:gd name="T3" fmla="*/ 25 h 21600"/>
                    <a:gd name="T4" fmla="*/ 0 w 21600"/>
                    <a:gd name="T5" fmla="*/ 0 h 21600"/>
                    <a:gd name="T6" fmla="*/ 25 w 21600"/>
                    <a:gd name="T7" fmla="*/ 25 h 21600"/>
                    <a:gd name="T8" fmla="*/ 0 w 21600"/>
                    <a:gd name="T9" fmla="*/ 25 h 216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37" name="Oval 23"/>
                <p:cNvSpPr>
                  <a:spLocks noChangeArrowheads="1"/>
                </p:cNvSpPr>
                <p:nvPr/>
              </p:nvSpPr>
              <p:spPr bwMode="auto">
                <a:xfrm>
                  <a:off x="3959" y="885"/>
                  <a:ext cx="174" cy="175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66FF33"/>
                    </a:gs>
                    <a:gs pos="100000">
                      <a:srgbClr val="44A922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endParaRPr lang="zh-CN" altLang="en-US" sz="240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3338" name="Arc 24"/>
                <p:cNvSpPr>
                  <a:spLocks noChangeArrowheads="1"/>
                </p:cNvSpPr>
                <p:nvPr/>
              </p:nvSpPr>
              <p:spPr bwMode="auto">
                <a:xfrm flipH="1" flipV="1">
                  <a:off x="4046" y="929"/>
                  <a:ext cx="742" cy="741"/>
                </a:xfrm>
                <a:custGeom>
                  <a:avLst/>
                  <a:gdLst>
                    <a:gd name="T0" fmla="*/ 0 w 21600"/>
                    <a:gd name="T1" fmla="*/ 0 h 21600"/>
                    <a:gd name="T2" fmla="*/ 25 w 21600"/>
                    <a:gd name="T3" fmla="*/ 25 h 21600"/>
                    <a:gd name="T4" fmla="*/ 0 w 21600"/>
                    <a:gd name="T5" fmla="*/ 0 h 21600"/>
                    <a:gd name="T6" fmla="*/ 25 w 21600"/>
                    <a:gd name="T7" fmla="*/ 25 h 21600"/>
                    <a:gd name="T8" fmla="*/ 0 w 21600"/>
                    <a:gd name="T9" fmla="*/ 25 h 216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39" name="Oval 25"/>
                <p:cNvSpPr>
                  <a:spLocks noChangeArrowheads="1"/>
                </p:cNvSpPr>
                <p:nvPr/>
              </p:nvSpPr>
              <p:spPr bwMode="auto">
                <a:xfrm>
                  <a:off x="4657" y="1583"/>
                  <a:ext cx="174" cy="174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66FF33"/>
                    </a:gs>
                    <a:gs pos="100000">
                      <a:srgbClr val="44A922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endParaRPr lang="zh-CN" altLang="en-US" sz="240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3340" name="Oval 26"/>
                <p:cNvSpPr>
                  <a:spLocks noChangeArrowheads="1"/>
                </p:cNvSpPr>
                <p:nvPr/>
              </p:nvSpPr>
              <p:spPr bwMode="auto">
                <a:xfrm>
                  <a:off x="5442" y="885"/>
                  <a:ext cx="174" cy="175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66FF33"/>
                    </a:gs>
                    <a:gs pos="100000">
                      <a:srgbClr val="44A922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endParaRPr lang="zh-CN" altLang="en-US" sz="240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  <p:sp>
              <p:nvSpPr>
                <p:cNvPr id="13341" name="Line 27"/>
                <p:cNvSpPr>
                  <a:spLocks noChangeShapeType="1"/>
                </p:cNvSpPr>
                <p:nvPr/>
              </p:nvSpPr>
              <p:spPr bwMode="auto">
                <a:xfrm>
                  <a:off x="4848" y="949"/>
                  <a:ext cx="698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42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4988" y="672"/>
                  <a:ext cx="298" cy="3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400"/>
                    <a:t>r</a:t>
                  </a:r>
                  <a:r>
                    <a:rPr lang="en-US" altLang="zh-CN" sz="2400" baseline="-25000"/>
                    <a:t>n</a:t>
                  </a:r>
                  <a:endParaRPr lang="en-US" altLang="zh-CN" sz="2400"/>
                </a:p>
              </p:txBody>
            </p:sp>
            <p:sp>
              <p:nvSpPr>
                <p:cNvPr id="13343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4560" y="566"/>
                  <a:ext cx="326" cy="3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400"/>
                    <a:t>M</a:t>
                  </a:r>
                </a:p>
              </p:txBody>
            </p:sp>
            <p:sp>
              <p:nvSpPr>
                <p:cNvPr id="13344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5143" y="1034"/>
                  <a:ext cx="365" cy="3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400"/>
                    <a:t>m</a:t>
                  </a:r>
                  <a:r>
                    <a:rPr lang="en-US" altLang="zh-CN" sz="2400" baseline="-25000"/>
                    <a:t>e</a:t>
                  </a:r>
                </a:p>
              </p:txBody>
            </p:sp>
            <p:sp>
              <p:nvSpPr>
                <p:cNvPr id="13345" name="Arc 31"/>
                <p:cNvSpPr>
                  <a:spLocks noChangeArrowheads="1"/>
                </p:cNvSpPr>
                <p:nvPr/>
              </p:nvSpPr>
              <p:spPr bwMode="auto">
                <a:xfrm flipV="1">
                  <a:off x="4788" y="929"/>
                  <a:ext cx="741" cy="741"/>
                </a:xfrm>
                <a:custGeom>
                  <a:avLst/>
                  <a:gdLst>
                    <a:gd name="T0" fmla="*/ 0 w 21600"/>
                    <a:gd name="T1" fmla="*/ 0 h 21600"/>
                    <a:gd name="T2" fmla="*/ 25 w 21600"/>
                    <a:gd name="T3" fmla="*/ 25 h 21600"/>
                    <a:gd name="T4" fmla="*/ 0 w 21600"/>
                    <a:gd name="T5" fmla="*/ 0 h 21600"/>
                    <a:gd name="T6" fmla="*/ 25 w 21600"/>
                    <a:gd name="T7" fmla="*/ 25 h 21600"/>
                    <a:gd name="T8" fmla="*/ 0 w 21600"/>
                    <a:gd name="T9" fmla="*/ 25 h 216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1600" h="21600" fill="none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46" name="Oval 32"/>
                <p:cNvSpPr>
                  <a:spLocks noChangeArrowheads="1"/>
                </p:cNvSpPr>
                <p:nvPr/>
              </p:nvSpPr>
              <p:spPr bwMode="auto">
                <a:xfrm>
                  <a:off x="4657" y="144"/>
                  <a:ext cx="174" cy="174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66FF33"/>
                    </a:gs>
                    <a:gs pos="100000">
                      <a:srgbClr val="43A822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endParaRPr lang="zh-CN" altLang="en-US" sz="2400">
                    <a:solidFill>
                      <a:schemeClr val="accent2"/>
                    </a:solidFill>
                    <a:ea typeface="楷体_GB2312" panose="02010609030101010101" pitchFamily="49" charset="-122"/>
                  </a:endParaRPr>
                </a:p>
              </p:txBody>
            </p:sp>
          </p:grpSp>
        </p:grpSp>
      </p:grpSp>
      <p:graphicFrame>
        <p:nvGraphicFramePr>
          <p:cNvPr id="1026082" name="Object 34"/>
          <p:cNvGraphicFramePr>
            <a:graphicFrameLocks noGrp="1"/>
          </p:cNvGraphicFramePr>
          <p:nvPr>
            <p:ph sz="quarter" idx="3"/>
          </p:nvPr>
        </p:nvGraphicFramePr>
        <p:xfrm>
          <a:off x="4602163" y="1314450"/>
          <a:ext cx="4548187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0" r:id="rId13" imgW="2174240" imgH="513080" progId="Equation.DSMT4">
                  <p:embed/>
                </p:oleObj>
              </mc:Choice>
              <mc:Fallback>
                <p:oleObj r:id="rId13" imgW="2174240" imgH="513080" progId="Equation.DSMT4">
                  <p:embed/>
                  <p:pic>
                    <p:nvPicPr>
                      <p:cNvPr id="0" name="Object 34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2163" y="1314450"/>
                        <a:ext cx="4548187" cy="110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083" name="AutoShape 35"/>
          <p:cNvSpPr/>
          <p:nvPr/>
        </p:nvSpPr>
        <p:spPr bwMode="auto">
          <a:xfrm>
            <a:off x="539750" y="1628775"/>
            <a:ext cx="287338" cy="1706563"/>
          </a:xfrm>
          <a:prstGeom prst="leftBrace">
            <a:avLst>
              <a:gd name="adj1" fmla="val 49411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1026084" name="AutoShape 36"/>
          <p:cNvSpPr>
            <a:spLocks noChangeArrowheads="1"/>
          </p:cNvSpPr>
          <p:nvPr/>
        </p:nvSpPr>
        <p:spPr bwMode="auto">
          <a:xfrm>
            <a:off x="3563938" y="2276475"/>
            <a:ext cx="647700" cy="485775"/>
          </a:xfrm>
          <a:prstGeom prst="rightArrow">
            <a:avLst>
              <a:gd name="adj1" fmla="val 50000"/>
              <a:gd name="adj2" fmla="val 33315"/>
            </a:avLst>
          </a:prstGeom>
          <a:solidFill>
            <a:srgbClr val="93F1CB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1026085" name="AutoShape 37"/>
          <p:cNvSpPr/>
          <p:nvPr/>
        </p:nvSpPr>
        <p:spPr bwMode="auto">
          <a:xfrm>
            <a:off x="4284663" y="1627188"/>
            <a:ext cx="287337" cy="1706562"/>
          </a:xfrm>
          <a:prstGeom prst="leftBrace">
            <a:avLst>
              <a:gd name="adj1" fmla="val 49411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6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6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2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02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2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2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26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2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2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053" grpId="0"/>
      <p:bldP spid="1026083" grpId="0" animBg="1"/>
      <p:bldP spid="1026084" grpId="0" animBg="1"/>
      <p:bldP spid="102608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B94259F-D690-4E7D-A702-256314FED7FE}" type="slidenum">
              <a:rPr altLang="zh-CN" sz="1400" smtClean="0"/>
              <a:t>11</a:t>
            </a:fld>
            <a:endParaRPr lang="zh-CN" altLang="zh-CN" sz="1400"/>
          </a:p>
        </p:txBody>
      </p:sp>
      <p:sp>
        <p:nvSpPr>
          <p:cNvPr id="14339" name="Rectangle 2"/>
          <p:cNvSpPr>
            <a:spLocks noChangeArrowheads="1"/>
          </p:cNvSpPr>
          <p:nvPr/>
        </p:nvSpPr>
        <p:spPr bwMode="auto">
          <a:xfrm>
            <a:off x="304800" y="17463"/>
            <a:ext cx="4724400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2400" b="0">
                <a:solidFill>
                  <a:srgbClr val="CC3300"/>
                </a:solidFill>
                <a:ea typeface="黑体" panose="02010609060101010101" pitchFamily="49" charset="-122"/>
              </a:rPr>
              <a:t>(2) </a:t>
            </a:r>
            <a:r>
              <a:rPr lang="zh-CN" altLang="en-US" sz="2400" b="0">
                <a:solidFill>
                  <a:srgbClr val="CC3300"/>
                </a:solidFill>
                <a:ea typeface="黑体" panose="02010609060101010101" pitchFamily="49" charset="-122"/>
              </a:rPr>
              <a:t>能量量子化和原子能级</a:t>
            </a:r>
          </a:p>
        </p:txBody>
      </p:sp>
      <p:graphicFrame>
        <p:nvGraphicFramePr>
          <p:cNvPr id="1027075" name="Object 3"/>
          <p:cNvGraphicFramePr/>
          <p:nvPr/>
        </p:nvGraphicFramePr>
        <p:xfrm>
          <a:off x="771525" y="479425"/>
          <a:ext cx="3587750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7" r:id="rId3" imgW="1895475" imgH="513080" progId="Equation.DSMT4">
                  <p:embed/>
                </p:oleObj>
              </mc:Choice>
              <mc:Fallback>
                <p:oleObj r:id="rId3" imgW="1895475" imgH="513080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" y="479425"/>
                        <a:ext cx="3587750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076" name="Object 4"/>
          <p:cNvGraphicFramePr/>
          <p:nvPr/>
        </p:nvGraphicFramePr>
        <p:xfrm>
          <a:off x="857250" y="1728788"/>
          <a:ext cx="5370513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8" r:id="rId5" imgW="3155950" imgH="513080" progId="Equation.DSMT4">
                  <p:embed/>
                </p:oleObj>
              </mc:Choice>
              <mc:Fallback>
                <p:oleObj r:id="rId5" imgW="3155950" imgH="513080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1728788"/>
                        <a:ext cx="5370513" cy="97948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077" name="Rectangle 5"/>
          <p:cNvSpPr>
            <a:spLocks noChangeArrowheads="1"/>
          </p:cNvSpPr>
          <p:nvPr/>
        </p:nvSpPr>
        <p:spPr bwMode="auto">
          <a:xfrm>
            <a:off x="611188" y="2717800"/>
            <a:ext cx="365760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400" b="0">
                <a:latin typeface="黑体" panose="02010609060101010101" pitchFamily="49" charset="-122"/>
                <a:ea typeface="黑体" panose="02010609060101010101" pitchFamily="49" charset="-122"/>
              </a:rPr>
              <a:t>基态能级</a:t>
            </a:r>
          </a:p>
        </p:txBody>
      </p:sp>
      <p:graphicFrame>
        <p:nvGraphicFramePr>
          <p:cNvPr id="1027078" name="Object 6"/>
          <p:cNvGraphicFramePr/>
          <p:nvPr/>
        </p:nvGraphicFramePr>
        <p:xfrm>
          <a:off x="2922588" y="2882900"/>
          <a:ext cx="19208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9" r:id="rId7" imgW="1059180" imgH="245110" progId="Equation.DSMT4">
                  <p:embed/>
                </p:oleObj>
              </mc:Choice>
              <mc:Fallback>
                <p:oleObj r:id="rId7" imgW="1059180" imgH="245110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2588" y="2882900"/>
                        <a:ext cx="192087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079" name="Rectangle 7"/>
          <p:cNvSpPr>
            <a:spLocks noChangeArrowheads="1"/>
          </p:cNvSpPr>
          <p:nvPr/>
        </p:nvSpPr>
        <p:spPr bwMode="auto">
          <a:xfrm>
            <a:off x="611188" y="3481388"/>
            <a:ext cx="3657600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400" b="0">
                <a:latin typeface="黑体" panose="02010609060101010101" pitchFamily="49" charset="-122"/>
                <a:ea typeface="黑体" panose="02010609060101010101" pitchFamily="49" charset="-122"/>
              </a:rPr>
              <a:t>激发态能级</a:t>
            </a:r>
          </a:p>
        </p:txBody>
      </p:sp>
      <p:graphicFrame>
        <p:nvGraphicFramePr>
          <p:cNvPr id="8197" name="Object 8"/>
          <p:cNvGraphicFramePr/>
          <p:nvPr/>
        </p:nvGraphicFramePr>
        <p:xfrm>
          <a:off x="2876550" y="3419475"/>
          <a:ext cx="2632075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0" r:id="rId9" imgW="1505585" imgH="434975" progId="Equation.DSMT4">
                  <p:embed/>
                </p:oleObj>
              </mc:Choice>
              <mc:Fallback>
                <p:oleObj r:id="rId9" imgW="1505585" imgH="434975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6550" y="3419475"/>
                        <a:ext cx="2632075" cy="788988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15CBCF"/>
                          </a:gs>
                          <a:gs pos="50000">
                            <a:srgbClr val="0A5E60"/>
                          </a:gs>
                          <a:gs pos="100000">
                            <a:srgbClr val="15CBCF"/>
                          </a:gs>
                        </a:gsLst>
                        <a:lin ang="5400000" scaled="1"/>
                      </a:gradFill>
                      <a:ln w="9525">
                        <a:solidFill>
                          <a:srgbClr val="66CC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/>
          <p:nvPr/>
        </p:nvGrpSpPr>
        <p:grpSpPr bwMode="auto">
          <a:xfrm>
            <a:off x="611188" y="4494213"/>
            <a:ext cx="2736850" cy="519112"/>
            <a:chOff x="430" y="2568"/>
            <a:chExt cx="1724" cy="327"/>
          </a:xfrm>
        </p:grpSpPr>
        <p:sp>
          <p:nvSpPr>
            <p:cNvPr id="14357" name="Text Box 10"/>
            <p:cNvSpPr txBox="1">
              <a:spLocks noChangeArrowheads="1"/>
            </p:cNvSpPr>
            <p:nvPr/>
          </p:nvSpPr>
          <p:spPr bwMode="auto">
            <a:xfrm>
              <a:off x="430" y="2568"/>
              <a:ext cx="17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0">
                  <a:ea typeface="黑体" panose="02010609060101010101" pitchFamily="49" charset="-122"/>
                </a:rPr>
                <a:t>当</a:t>
              </a:r>
              <a:r>
                <a:rPr lang="zh-CN" altLang="en-US" sz="2800" b="0">
                  <a:ea typeface="黑体" panose="02010609060101010101" pitchFamily="49" charset="-122"/>
                </a:rPr>
                <a:t>                  </a:t>
              </a:r>
              <a:r>
                <a:rPr lang="zh-CN" altLang="en-US" sz="2400" b="0">
                  <a:ea typeface="黑体" panose="02010609060101010101" pitchFamily="49" charset="-122"/>
                </a:rPr>
                <a:t>时，</a:t>
              </a:r>
            </a:p>
          </p:txBody>
        </p:sp>
        <p:graphicFrame>
          <p:nvGraphicFramePr>
            <p:cNvPr id="14358" name="Object 11"/>
            <p:cNvGraphicFramePr/>
            <p:nvPr/>
          </p:nvGraphicFramePr>
          <p:xfrm>
            <a:off x="737" y="2677"/>
            <a:ext cx="918" cy="1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01" r:id="rId11" imgW="1294765" imgH="292100" progId="Equation.3">
                    <p:embed/>
                  </p:oleObj>
                </mc:Choice>
                <mc:Fallback>
                  <p:oleObj r:id="rId11" imgW="1294765" imgH="292100" progId="Equation.3">
                    <p:embed/>
                    <p:pic>
                      <p:nvPicPr>
                        <p:cNvPr id="0" name="Object 1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7" y="2677"/>
                          <a:ext cx="918" cy="1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27084" name="Text Box 12"/>
          <p:cNvSpPr txBox="1">
            <a:spLocks noChangeArrowheads="1"/>
          </p:cNvSpPr>
          <p:nvPr/>
        </p:nvSpPr>
        <p:spPr bwMode="auto">
          <a:xfrm>
            <a:off x="3348038" y="4494213"/>
            <a:ext cx="2428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0">
                <a:ea typeface="黑体" panose="02010609060101010101" pitchFamily="49" charset="-122"/>
              </a:rPr>
              <a:t>原子被电离。</a:t>
            </a:r>
          </a:p>
        </p:txBody>
      </p:sp>
      <p:sp>
        <p:nvSpPr>
          <p:cNvPr id="1027086" name="AutoShape 14"/>
          <p:cNvSpPr/>
          <p:nvPr/>
        </p:nvSpPr>
        <p:spPr bwMode="auto">
          <a:xfrm>
            <a:off x="5180013" y="254000"/>
            <a:ext cx="287337" cy="1341438"/>
          </a:xfrm>
          <a:prstGeom prst="leftBrace">
            <a:avLst>
              <a:gd name="adj1" fmla="val 38839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1027087" name="AutoShape 15"/>
          <p:cNvSpPr>
            <a:spLocks noChangeArrowheads="1"/>
          </p:cNvSpPr>
          <p:nvPr/>
        </p:nvSpPr>
        <p:spPr bwMode="auto">
          <a:xfrm>
            <a:off x="4530725" y="692150"/>
            <a:ext cx="542925" cy="485775"/>
          </a:xfrm>
          <a:prstGeom prst="leftArrow">
            <a:avLst>
              <a:gd name="adj1" fmla="val 50000"/>
              <a:gd name="adj2" fmla="val 27926"/>
            </a:avLst>
          </a:prstGeom>
          <a:solidFill>
            <a:srgbClr val="93F1CB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grpSp>
        <p:nvGrpSpPr>
          <p:cNvPr id="3" name="Group 16"/>
          <p:cNvGrpSpPr/>
          <p:nvPr/>
        </p:nvGrpSpPr>
        <p:grpSpPr bwMode="auto">
          <a:xfrm>
            <a:off x="611188" y="5157788"/>
            <a:ext cx="8534400" cy="982662"/>
            <a:chOff x="288" y="3120"/>
            <a:chExt cx="5376" cy="619"/>
          </a:xfrm>
        </p:grpSpPr>
        <p:sp>
          <p:nvSpPr>
            <p:cNvPr id="14354" name="Text Box 17"/>
            <p:cNvSpPr txBox="1">
              <a:spLocks noChangeArrowheads="1"/>
            </p:cNvSpPr>
            <p:nvPr/>
          </p:nvSpPr>
          <p:spPr bwMode="auto">
            <a:xfrm>
              <a:off x="288" y="3120"/>
              <a:ext cx="53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0">
                  <a:solidFill>
                    <a:srgbClr val="FF3300"/>
                  </a:solidFill>
                  <a:latin typeface="Century Schoolbook" panose="02040604050505020304" pitchFamily="18" charset="0"/>
                  <a:ea typeface="黑体" panose="02010609060101010101" pitchFamily="49" charset="-122"/>
                </a:rPr>
                <a:t>电离能：</a:t>
              </a:r>
              <a:r>
                <a:rPr lang="zh-CN" altLang="en-US" sz="2400" b="0">
                  <a:latin typeface="Century Schoolbook" panose="02040604050505020304" pitchFamily="18" charset="0"/>
                  <a:ea typeface="黑体" panose="02010609060101010101" pitchFamily="49" charset="-122"/>
                </a:rPr>
                <a:t>把电子从氢原子玻尔轨道移到无穷远所需能量。</a:t>
              </a:r>
            </a:p>
          </p:txBody>
        </p:sp>
        <p:graphicFrame>
          <p:nvGraphicFramePr>
            <p:cNvPr id="14355" name="Object 18"/>
            <p:cNvGraphicFramePr/>
            <p:nvPr/>
          </p:nvGraphicFramePr>
          <p:xfrm>
            <a:off x="1248" y="3504"/>
            <a:ext cx="1152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02" r:id="rId13" imgW="2614930" imgH="533400" progId="Equation.3">
                    <p:embed/>
                  </p:oleObj>
                </mc:Choice>
                <mc:Fallback>
                  <p:oleObj r:id="rId13" imgW="2614930" imgH="533400" progId="Equation.3">
                    <p:embed/>
                    <p:pic>
                      <p:nvPicPr>
                        <p:cNvPr id="0" name="Object 1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3504"/>
                          <a:ext cx="1152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6" name="Object 19"/>
            <p:cNvGraphicFramePr/>
            <p:nvPr/>
          </p:nvGraphicFramePr>
          <p:xfrm>
            <a:off x="2448" y="3504"/>
            <a:ext cx="816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03" r:id="rId15" imgW="1828165" imgH="393700" progId="Equation.3">
                    <p:embed/>
                  </p:oleObj>
                </mc:Choice>
                <mc:Fallback>
                  <p:oleObj r:id="rId15" imgW="1828165" imgH="393700" progId="Equation.3">
                    <p:embed/>
                    <p:pic>
                      <p:nvPicPr>
                        <p:cNvPr id="0" name="Object 1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3504"/>
                          <a:ext cx="816" cy="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27092" name="Object 20"/>
          <p:cNvGraphicFramePr/>
          <p:nvPr/>
        </p:nvGraphicFramePr>
        <p:xfrm>
          <a:off x="5395913" y="908050"/>
          <a:ext cx="1944687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4" r:id="rId17" imgW="1081405" imgH="513080" progId="Equation.DSMT4">
                  <p:embed/>
                </p:oleObj>
              </mc:Choice>
              <mc:Fallback>
                <p:oleObj r:id="rId17" imgW="1081405" imgH="513080" progId="Equation.DSMT4">
                  <p:embed/>
                  <p:pic>
                    <p:nvPicPr>
                      <p:cNvPr id="0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913" y="908050"/>
                        <a:ext cx="1944687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093" name="Object 21"/>
          <p:cNvGraphicFramePr/>
          <p:nvPr/>
        </p:nvGraphicFramePr>
        <p:xfrm>
          <a:off x="5395913" y="-100013"/>
          <a:ext cx="3810000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5" r:id="rId19" imgW="1817370" imgH="513080" progId="Equation.DSMT4">
                  <p:embed/>
                </p:oleObj>
              </mc:Choice>
              <mc:Fallback>
                <p:oleObj r:id="rId19" imgW="1817370" imgH="513080" progId="Equation.DSMT4">
                  <p:embed/>
                  <p:pic>
                    <p:nvPicPr>
                      <p:cNvPr id="0" name="Object 21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913" y="-100013"/>
                        <a:ext cx="3810000" cy="110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6084888" y="3357563"/>
            <a:ext cx="2663825" cy="105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2400" b="0" i="1">
                <a:ea typeface="黑体" panose="02010609060101010101" pitchFamily="49" charset="-122"/>
              </a:rPr>
              <a:t>n</a:t>
            </a:r>
            <a:r>
              <a:rPr lang="en-US" altLang="zh-CN" sz="2400" b="0">
                <a:ea typeface="黑体" panose="02010609060101010101" pitchFamily="49" charset="-122"/>
              </a:rPr>
              <a:t>=2</a:t>
            </a:r>
            <a:r>
              <a:rPr lang="zh-CN" altLang="en-US" sz="2400" b="0">
                <a:ea typeface="黑体" panose="02010609060101010101" pitchFamily="49" charset="-122"/>
              </a:rPr>
              <a:t>，第一激发态</a:t>
            </a:r>
            <a:endParaRPr lang="en-US" altLang="zh-CN" sz="2400" b="0"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2400" b="0" i="1">
                <a:ea typeface="黑体" panose="02010609060101010101" pitchFamily="49" charset="-122"/>
              </a:rPr>
              <a:t>n</a:t>
            </a:r>
            <a:r>
              <a:rPr lang="en-US" altLang="zh-CN" sz="2400" b="0">
                <a:ea typeface="黑体" panose="02010609060101010101" pitchFamily="49" charset="-122"/>
              </a:rPr>
              <a:t>=3</a:t>
            </a:r>
            <a:r>
              <a:rPr lang="zh-CN" altLang="en-US" sz="2400" b="0">
                <a:ea typeface="黑体" panose="02010609060101010101" pitchFamily="49" charset="-122"/>
              </a:rPr>
              <a:t>，第二激发态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7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7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027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27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27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27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27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27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27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1027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077" grpId="0"/>
      <p:bldP spid="1027079" grpId="0"/>
      <p:bldP spid="1027084" grpId="0"/>
      <p:bldP spid="1027086" grpId="0" animBg="1"/>
      <p:bldP spid="1027087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222D58E-B29B-4932-BCD3-B932BCADEBD0}" type="slidenum">
              <a:rPr altLang="zh-CN" sz="1400" smtClean="0"/>
              <a:t>12</a:t>
            </a:fld>
            <a:endParaRPr lang="zh-CN" altLang="zh-CN" sz="1400"/>
          </a:p>
        </p:txBody>
      </p:sp>
      <p:graphicFrame>
        <p:nvGraphicFramePr>
          <p:cNvPr id="1028098" name="Object 2"/>
          <p:cNvGraphicFramePr>
            <a:graphicFrameLocks noGrp="1"/>
          </p:cNvGraphicFramePr>
          <p:nvPr>
            <p:ph sz="half" idx="1"/>
          </p:nvPr>
        </p:nvGraphicFramePr>
        <p:xfrm>
          <a:off x="968375" y="4824413"/>
          <a:ext cx="30988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6" r:id="rId3" imgW="1572260" imgH="479425" progId="Equation.3">
                  <p:embed/>
                </p:oleObj>
              </mc:Choice>
              <mc:Fallback>
                <p:oleObj r:id="rId3" imgW="1572260" imgH="479425" progId="Equation.3">
                  <p:embed/>
                  <p:pic>
                    <p:nvPicPr>
                      <p:cNvPr id="0" name="Object 2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375" y="4824413"/>
                        <a:ext cx="3098800" cy="9842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228600" y="903288"/>
            <a:ext cx="4724400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2400" b="0">
                <a:solidFill>
                  <a:srgbClr val="CC3300"/>
                </a:solidFill>
                <a:ea typeface="黑体" panose="02010609060101010101" pitchFamily="49" charset="-122"/>
              </a:rPr>
              <a:t>(3)  </a:t>
            </a:r>
            <a:r>
              <a:rPr lang="zh-CN" altLang="en-US" sz="2400" b="0">
                <a:solidFill>
                  <a:srgbClr val="CC3300"/>
                </a:solidFill>
                <a:ea typeface="黑体" panose="02010609060101010101" pitchFamily="49" charset="-122"/>
              </a:rPr>
              <a:t>氢原子光谱</a:t>
            </a:r>
          </a:p>
        </p:txBody>
      </p:sp>
      <p:graphicFrame>
        <p:nvGraphicFramePr>
          <p:cNvPr id="1028100" name="Object 4"/>
          <p:cNvGraphicFramePr/>
          <p:nvPr/>
        </p:nvGraphicFramePr>
        <p:xfrm>
          <a:off x="900113" y="1989138"/>
          <a:ext cx="1935162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7" r:id="rId5" imgW="948055" imgH="434975" progId="Equation.DSMT4">
                  <p:embed/>
                </p:oleObj>
              </mc:Choice>
              <mc:Fallback>
                <p:oleObj r:id="rId5" imgW="948055" imgH="434975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989138"/>
                        <a:ext cx="1935162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101" name="Object 5"/>
          <p:cNvGraphicFramePr/>
          <p:nvPr/>
        </p:nvGraphicFramePr>
        <p:xfrm>
          <a:off x="950913" y="3046413"/>
          <a:ext cx="1676400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8" r:id="rId7" imgW="780415" imgH="434975" progId="Equation.DSMT4">
                  <p:embed/>
                </p:oleObj>
              </mc:Choice>
              <mc:Fallback>
                <p:oleObj r:id="rId7" imgW="780415" imgH="434975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0913" y="3046413"/>
                        <a:ext cx="1676400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102" name="Rectangle 6"/>
          <p:cNvSpPr>
            <a:spLocks noChangeArrowheads="1"/>
          </p:cNvSpPr>
          <p:nvPr/>
        </p:nvSpPr>
        <p:spPr bwMode="auto">
          <a:xfrm>
            <a:off x="754063" y="1412875"/>
            <a:ext cx="5791200" cy="5667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原子发光机制是能级间的跃迁</a:t>
            </a:r>
          </a:p>
        </p:txBody>
      </p:sp>
      <p:graphicFrame>
        <p:nvGraphicFramePr>
          <p:cNvPr id="1028103" name="Object 7"/>
          <p:cNvGraphicFramePr/>
          <p:nvPr/>
        </p:nvGraphicFramePr>
        <p:xfrm>
          <a:off x="4237038" y="2973388"/>
          <a:ext cx="3108325" cy="110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9" r:id="rId9" imgW="1483360" imgH="513080" progId="Equation.DSMT4">
                  <p:embed/>
                </p:oleObj>
              </mc:Choice>
              <mc:Fallback>
                <p:oleObj r:id="rId9" imgW="1483360" imgH="513080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7038" y="2973388"/>
                        <a:ext cx="3108325" cy="1109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104" name="Object 8"/>
          <p:cNvGraphicFramePr/>
          <p:nvPr/>
        </p:nvGraphicFramePr>
        <p:xfrm>
          <a:off x="2555875" y="3068638"/>
          <a:ext cx="162877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0" r:id="rId11" imgW="814070" imgH="434975" progId="Equation.DSMT4">
                  <p:embed/>
                </p:oleObj>
              </mc:Choice>
              <mc:Fallback>
                <p:oleObj r:id="rId11" imgW="814070" imgH="434975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3068638"/>
                        <a:ext cx="162877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/>
          <p:nvPr/>
        </p:nvGrpSpPr>
        <p:grpSpPr bwMode="auto">
          <a:xfrm>
            <a:off x="4427538" y="4114800"/>
            <a:ext cx="3276600" cy="609600"/>
            <a:chOff x="2976" y="2496"/>
            <a:chExt cx="2064" cy="384"/>
          </a:xfrm>
        </p:grpSpPr>
        <p:sp>
          <p:nvSpPr>
            <p:cNvPr id="15378" name="Line 10"/>
            <p:cNvSpPr>
              <a:spLocks noChangeShapeType="1"/>
            </p:cNvSpPr>
            <p:nvPr/>
          </p:nvSpPr>
          <p:spPr bwMode="auto">
            <a:xfrm>
              <a:off x="2976" y="2496"/>
              <a:ext cx="864" cy="0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8107" name="Text Box 11"/>
            <p:cNvSpPr txBox="1">
              <a:spLocks noChangeArrowheads="1"/>
            </p:cNvSpPr>
            <p:nvPr/>
          </p:nvSpPr>
          <p:spPr bwMode="auto">
            <a:xfrm>
              <a:off x="2976" y="2592"/>
              <a:ext cx="206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1" lang="en-US" altLang="zh-CN" i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</a:rPr>
                <a:t>R</a:t>
              </a:r>
              <a:r>
                <a:rPr kumimoji="1" lang="zh-CN" altLang="en-US" baseline="-2500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理论</a:t>
              </a:r>
              <a:r>
                <a:rPr kumimoji="1" lang="en-US" altLang="zh-CN" i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=</a:t>
              </a:r>
              <a:r>
                <a:rPr kumimoji="1" lang="en-US" altLang="zh-CN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</a:rPr>
                <a:t>1.097373×10</a:t>
              </a:r>
              <a:r>
                <a:rPr kumimoji="1" lang="en-US" altLang="zh-CN" baseline="3000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</a:rPr>
                <a:t>7</a:t>
              </a:r>
              <a:r>
                <a:rPr kumimoji="1" lang="en-US" altLang="zh-CN" i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</a:rPr>
                <a:t>m</a:t>
              </a:r>
              <a:r>
                <a:rPr kumimoji="1" lang="en-US" altLang="zh-CN" baseline="3000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anose="02010609060101010101" pitchFamily="49" charset="-122"/>
                </a:rPr>
                <a:t>-1</a:t>
              </a:r>
              <a:endPara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endParaRPr>
            </a:p>
          </p:txBody>
        </p:sp>
      </p:grpSp>
      <p:sp>
        <p:nvSpPr>
          <p:cNvPr id="1028108" name="Text Box 12"/>
          <p:cNvSpPr txBox="1">
            <a:spLocks noChangeArrowheads="1"/>
          </p:cNvSpPr>
          <p:nvPr/>
        </p:nvSpPr>
        <p:spPr bwMode="auto">
          <a:xfrm>
            <a:off x="4427538" y="4797425"/>
            <a:ext cx="4114800" cy="493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defRPr/>
            </a:pPr>
            <a:r>
              <a:rPr kumimoji="1" lang="en-US" altLang="zh-CN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R</a:t>
            </a:r>
            <a:r>
              <a:rPr kumimoji="1" lang="zh-CN" altLang="en-US" baseline="-25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实验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=1.096776×10</a:t>
            </a:r>
            <a:r>
              <a:rPr kumimoji="1" lang="en-US" altLang="zh-CN" baseline="30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7</a:t>
            </a:r>
            <a:r>
              <a:rPr kumimoji="1" lang="en-US" altLang="zh-CN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m</a:t>
            </a:r>
            <a:r>
              <a:rPr kumimoji="1" lang="en-US" altLang="zh-CN" baseline="30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-1</a:t>
            </a:r>
            <a:endParaRPr kumimoji="1" lang="en-US" altLang="zh-CN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1028109" name="Text Box 13"/>
          <p:cNvSpPr txBox="1">
            <a:spLocks noChangeArrowheads="1"/>
          </p:cNvSpPr>
          <p:nvPr/>
        </p:nvSpPr>
        <p:spPr bwMode="auto">
          <a:xfrm>
            <a:off x="7956550" y="4508500"/>
            <a:ext cx="27289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相一致</a:t>
            </a:r>
          </a:p>
        </p:txBody>
      </p:sp>
      <p:sp>
        <p:nvSpPr>
          <p:cNvPr id="1028110" name="Text Box 14"/>
          <p:cNvSpPr txBox="1">
            <a:spLocks noChangeArrowheads="1"/>
          </p:cNvSpPr>
          <p:nvPr/>
        </p:nvSpPr>
        <p:spPr bwMode="blackWhite">
          <a:xfrm>
            <a:off x="738188" y="4321175"/>
            <a:ext cx="29273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kumimoji="1" lang="zh-CN" altLang="en-US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与里得伯方程比较：</a:t>
            </a:r>
          </a:p>
        </p:txBody>
      </p:sp>
      <p:sp>
        <p:nvSpPr>
          <p:cNvPr id="1028111" name="Text Box 15"/>
          <p:cNvSpPr txBox="1">
            <a:spLocks noChangeArrowheads="1"/>
          </p:cNvSpPr>
          <p:nvPr/>
        </p:nvSpPr>
        <p:spPr bwMode="auto">
          <a:xfrm>
            <a:off x="614363" y="5859463"/>
            <a:ext cx="5829300" cy="10429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defRPr/>
            </a:pPr>
            <a:r>
              <a:rPr kumimoji="1" lang="en-US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   “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我一看到巴尔末公式，整个问题对我来说就全部清楚了。” </a:t>
            </a:r>
            <a:r>
              <a:rPr kumimoji="1"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----</a:t>
            </a:r>
            <a:r>
              <a:rPr kumimoji="1"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玻尔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</a:p>
        </p:txBody>
      </p:sp>
      <p:sp>
        <p:nvSpPr>
          <p:cNvPr id="1028112" name="AutoShape 16"/>
          <p:cNvSpPr>
            <a:spLocks noChangeArrowheads="1"/>
          </p:cNvSpPr>
          <p:nvPr/>
        </p:nvSpPr>
        <p:spPr bwMode="auto">
          <a:xfrm>
            <a:off x="7026275" y="1484313"/>
            <a:ext cx="2117725" cy="649287"/>
          </a:xfrm>
          <a:prstGeom prst="cloudCallout">
            <a:avLst>
              <a:gd name="adj1" fmla="val -141528"/>
              <a:gd name="adj2" fmla="val 192542"/>
            </a:avLst>
          </a:prstGeom>
          <a:solidFill>
            <a:srgbClr val="FFCCFF"/>
          </a:solidFill>
          <a:ln w="19050">
            <a:solidFill>
              <a:schemeClr val="tx2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0">
                <a:ea typeface="楷体_GB2312" panose="02010609030101010101" pitchFamily="49" charset="-122"/>
              </a:rPr>
              <a:t>里得伯常量</a:t>
            </a:r>
          </a:p>
        </p:txBody>
      </p:sp>
      <p:sp>
        <p:nvSpPr>
          <p:cNvPr id="1028113" name="AutoShape 17"/>
          <p:cNvSpPr/>
          <p:nvPr/>
        </p:nvSpPr>
        <p:spPr bwMode="auto">
          <a:xfrm>
            <a:off x="7812088" y="4292600"/>
            <a:ext cx="71437" cy="914400"/>
          </a:xfrm>
          <a:prstGeom prst="rightBrace">
            <a:avLst>
              <a:gd name="adj1" fmla="val 106490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graphicFrame>
        <p:nvGraphicFramePr>
          <p:cNvPr id="15377" name="Object 20"/>
          <p:cNvGraphicFramePr>
            <a:graphicFrameLocks noGrp="1"/>
          </p:cNvGraphicFramePr>
          <p:nvPr>
            <p:ph sz="half" idx="2"/>
          </p:nvPr>
        </p:nvGraphicFramePr>
        <p:xfrm>
          <a:off x="3162300" y="44450"/>
          <a:ext cx="54102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1" r:id="rId13" imgW="2754630" imgH="513080" progId="Equation.DSMT4">
                  <p:embed/>
                </p:oleObj>
              </mc:Choice>
              <mc:Fallback>
                <p:oleObj r:id="rId13" imgW="2754630" imgH="513080" progId="Equation.DSMT4">
                  <p:embed/>
                  <p:pic>
                    <p:nvPicPr>
                      <p:cNvPr id="0" name="Object 20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0" y="44450"/>
                        <a:ext cx="5410200" cy="1041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8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8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28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028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28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028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028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28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028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28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1028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1028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8102" grpId="0"/>
      <p:bldP spid="1028108" grpId="0"/>
      <p:bldP spid="1028109" grpId="0"/>
      <p:bldP spid="1028110" grpId="0"/>
      <p:bldP spid="1028111" grpId="0"/>
      <p:bldP spid="1028112" grpId="0" animBg="1"/>
      <p:bldP spid="10281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FE9E19-4611-4830-8798-7CB61EE7DB2B}" type="slidenum">
              <a:rPr altLang="zh-CN" sz="1400" smtClean="0"/>
              <a:t>13</a:t>
            </a:fld>
            <a:endParaRPr lang="zh-CN" altLang="zh-CN" sz="1400"/>
          </a:p>
        </p:txBody>
      </p:sp>
      <p:grpSp>
        <p:nvGrpSpPr>
          <p:cNvPr id="2" name="Group 2"/>
          <p:cNvGrpSpPr/>
          <p:nvPr/>
        </p:nvGrpSpPr>
        <p:grpSpPr bwMode="auto">
          <a:xfrm>
            <a:off x="1849438" y="1628775"/>
            <a:ext cx="590550" cy="4495800"/>
            <a:chOff x="1332" y="1152"/>
            <a:chExt cx="372" cy="2832"/>
          </a:xfrm>
        </p:grpSpPr>
        <p:sp>
          <p:nvSpPr>
            <p:cNvPr id="16460" name="Line 3"/>
            <p:cNvSpPr>
              <a:spLocks noChangeShapeType="1"/>
            </p:cNvSpPr>
            <p:nvPr/>
          </p:nvSpPr>
          <p:spPr bwMode="auto">
            <a:xfrm>
              <a:off x="1616" y="1239"/>
              <a:ext cx="0" cy="2736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1" name="Line 4"/>
            <p:cNvSpPr>
              <a:spLocks noChangeShapeType="1"/>
            </p:cNvSpPr>
            <p:nvPr/>
          </p:nvSpPr>
          <p:spPr bwMode="auto">
            <a:xfrm>
              <a:off x="1425" y="1856"/>
              <a:ext cx="0" cy="2126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2" name="Line 5"/>
            <p:cNvSpPr>
              <a:spLocks noChangeShapeType="1"/>
            </p:cNvSpPr>
            <p:nvPr/>
          </p:nvSpPr>
          <p:spPr bwMode="auto">
            <a:xfrm>
              <a:off x="1332" y="2508"/>
              <a:ext cx="0" cy="146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3" name="Line 6"/>
            <p:cNvSpPr>
              <a:spLocks noChangeShapeType="1"/>
            </p:cNvSpPr>
            <p:nvPr/>
          </p:nvSpPr>
          <p:spPr bwMode="auto">
            <a:xfrm>
              <a:off x="1520" y="1475"/>
              <a:ext cx="0" cy="2489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4" name="Line 7"/>
            <p:cNvSpPr>
              <a:spLocks noChangeShapeType="1"/>
            </p:cNvSpPr>
            <p:nvPr/>
          </p:nvSpPr>
          <p:spPr bwMode="auto">
            <a:xfrm>
              <a:off x="1704" y="1152"/>
              <a:ext cx="0" cy="2832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8"/>
          <p:cNvGrpSpPr/>
          <p:nvPr/>
        </p:nvGrpSpPr>
        <p:grpSpPr bwMode="auto">
          <a:xfrm>
            <a:off x="2697163" y="1628775"/>
            <a:ext cx="466725" cy="2133600"/>
            <a:chOff x="2058" y="1152"/>
            <a:chExt cx="294" cy="1344"/>
          </a:xfrm>
        </p:grpSpPr>
        <p:sp>
          <p:nvSpPr>
            <p:cNvPr id="16456" name="Line 9"/>
            <p:cNvSpPr>
              <a:spLocks noChangeShapeType="1"/>
            </p:cNvSpPr>
            <p:nvPr/>
          </p:nvSpPr>
          <p:spPr bwMode="auto">
            <a:xfrm>
              <a:off x="2242" y="1226"/>
              <a:ext cx="0" cy="124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7" name="Line 10"/>
            <p:cNvSpPr>
              <a:spLocks noChangeShapeType="1"/>
            </p:cNvSpPr>
            <p:nvPr/>
          </p:nvSpPr>
          <p:spPr bwMode="auto">
            <a:xfrm>
              <a:off x="2150" y="1469"/>
              <a:ext cx="0" cy="1009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8" name="Line 11"/>
            <p:cNvSpPr>
              <a:spLocks noChangeShapeType="1"/>
            </p:cNvSpPr>
            <p:nvPr/>
          </p:nvSpPr>
          <p:spPr bwMode="auto">
            <a:xfrm>
              <a:off x="2058" y="1855"/>
              <a:ext cx="0" cy="63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9" name="Line 12"/>
            <p:cNvSpPr>
              <a:spLocks noChangeShapeType="1"/>
            </p:cNvSpPr>
            <p:nvPr/>
          </p:nvSpPr>
          <p:spPr bwMode="auto">
            <a:xfrm>
              <a:off x="2340" y="1152"/>
              <a:ext cx="12" cy="134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3"/>
          <p:cNvGrpSpPr/>
          <p:nvPr/>
        </p:nvGrpSpPr>
        <p:grpSpPr bwMode="auto">
          <a:xfrm>
            <a:off x="3503613" y="1595438"/>
            <a:ext cx="276225" cy="1144587"/>
            <a:chOff x="2448" y="721"/>
            <a:chExt cx="174" cy="721"/>
          </a:xfrm>
        </p:grpSpPr>
        <p:sp>
          <p:nvSpPr>
            <p:cNvPr id="16453" name="Line 14"/>
            <p:cNvSpPr>
              <a:spLocks noChangeShapeType="1"/>
            </p:cNvSpPr>
            <p:nvPr/>
          </p:nvSpPr>
          <p:spPr bwMode="auto">
            <a:xfrm>
              <a:off x="2536" y="816"/>
              <a:ext cx="0" cy="624"/>
            </a:xfrm>
            <a:prstGeom prst="line">
              <a:avLst/>
            </a:prstGeom>
            <a:noFill/>
            <a:ln w="19050">
              <a:solidFill>
                <a:srgbClr val="993300"/>
              </a:solidFill>
              <a:rou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4" name="Line 15"/>
            <p:cNvSpPr>
              <a:spLocks noChangeShapeType="1"/>
            </p:cNvSpPr>
            <p:nvPr/>
          </p:nvSpPr>
          <p:spPr bwMode="auto">
            <a:xfrm>
              <a:off x="2448" y="1075"/>
              <a:ext cx="0" cy="358"/>
            </a:xfrm>
            <a:prstGeom prst="line">
              <a:avLst/>
            </a:prstGeom>
            <a:noFill/>
            <a:ln w="19050">
              <a:solidFill>
                <a:srgbClr val="993300"/>
              </a:solidFill>
              <a:rou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5" name="Line 16"/>
            <p:cNvSpPr>
              <a:spLocks noChangeShapeType="1"/>
            </p:cNvSpPr>
            <p:nvPr/>
          </p:nvSpPr>
          <p:spPr bwMode="auto">
            <a:xfrm>
              <a:off x="2622" y="721"/>
              <a:ext cx="0" cy="721"/>
            </a:xfrm>
            <a:prstGeom prst="line">
              <a:avLst/>
            </a:prstGeom>
            <a:noFill/>
            <a:ln w="19050">
              <a:solidFill>
                <a:srgbClr val="993300"/>
              </a:solidFill>
              <a:rou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17"/>
          <p:cNvGrpSpPr/>
          <p:nvPr/>
        </p:nvGrpSpPr>
        <p:grpSpPr bwMode="auto">
          <a:xfrm>
            <a:off x="4192588" y="1590675"/>
            <a:ext cx="171450" cy="557213"/>
            <a:chOff x="3048" y="1128"/>
            <a:chExt cx="108" cy="351"/>
          </a:xfrm>
        </p:grpSpPr>
        <p:sp>
          <p:nvSpPr>
            <p:cNvPr id="16451" name="Line 18"/>
            <p:cNvSpPr>
              <a:spLocks noChangeShapeType="1"/>
            </p:cNvSpPr>
            <p:nvPr/>
          </p:nvSpPr>
          <p:spPr bwMode="auto">
            <a:xfrm>
              <a:off x="3048" y="1239"/>
              <a:ext cx="0" cy="240"/>
            </a:xfrm>
            <a:prstGeom prst="line">
              <a:avLst/>
            </a:prstGeom>
            <a:noFill/>
            <a:ln w="19050">
              <a:solidFill>
                <a:srgbClr val="333300"/>
              </a:solidFill>
              <a:rou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2" name="Line 19"/>
            <p:cNvSpPr>
              <a:spLocks noChangeShapeType="1"/>
            </p:cNvSpPr>
            <p:nvPr/>
          </p:nvSpPr>
          <p:spPr bwMode="auto">
            <a:xfrm>
              <a:off x="3156" y="1128"/>
              <a:ext cx="0" cy="336"/>
            </a:xfrm>
            <a:prstGeom prst="line">
              <a:avLst/>
            </a:prstGeom>
            <a:noFill/>
            <a:ln w="19050">
              <a:solidFill>
                <a:srgbClr val="333300"/>
              </a:solidFill>
              <a:rou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4196" name="Text Box 20"/>
          <p:cNvSpPr txBox="1">
            <a:spLocks noChangeArrowheads="1"/>
          </p:cNvSpPr>
          <p:nvPr/>
        </p:nvSpPr>
        <p:spPr bwMode="auto">
          <a:xfrm>
            <a:off x="2570163" y="4537075"/>
            <a:ext cx="2917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3333FF"/>
                </a:solidFill>
              </a:rPr>
              <a:t>赖曼系</a:t>
            </a:r>
            <a:r>
              <a:rPr lang="zh-CN" altLang="en-US" sz="2000">
                <a:latin typeface="宋体" panose="02010600030101010101" pitchFamily="2" charset="-122"/>
              </a:rPr>
              <a:t>（紫外区）</a:t>
            </a:r>
          </a:p>
        </p:txBody>
      </p:sp>
      <p:sp>
        <p:nvSpPr>
          <p:cNvPr id="1074197" name="Text Box 21"/>
          <p:cNvSpPr txBox="1">
            <a:spLocks noChangeArrowheads="1"/>
          </p:cNvSpPr>
          <p:nvPr/>
        </p:nvSpPr>
        <p:spPr bwMode="auto">
          <a:xfrm>
            <a:off x="3160713" y="3051175"/>
            <a:ext cx="2230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FF0066"/>
                </a:solidFill>
              </a:rPr>
              <a:t>巴耳末系</a:t>
            </a:r>
            <a:r>
              <a:rPr lang="en-US" altLang="zh-CN" sz="2000">
                <a:latin typeface="宋体" panose="02010600030101010101" pitchFamily="2" charset="-122"/>
              </a:rPr>
              <a:t>(</a:t>
            </a:r>
            <a:r>
              <a:rPr lang="zh-CN" altLang="en-US" sz="2000">
                <a:latin typeface="宋体" panose="02010600030101010101" pitchFamily="2" charset="-122"/>
              </a:rPr>
              <a:t>可见区</a:t>
            </a:r>
            <a:r>
              <a:rPr lang="en-US" altLang="zh-CN" sz="200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1074198" name="Text Box 22"/>
          <p:cNvSpPr txBox="1">
            <a:spLocks noChangeArrowheads="1"/>
          </p:cNvSpPr>
          <p:nvPr/>
        </p:nvSpPr>
        <p:spPr bwMode="auto">
          <a:xfrm>
            <a:off x="4284663" y="1684338"/>
            <a:ext cx="23828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8000"/>
                </a:solidFill>
              </a:rPr>
              <a:t>布喇开系（红外）</a:t>
            </a:r>
            <a:endParaRPr lang="zh-CN" altLang="en-US" sz="2000" b="0">
              <a:solidFill>
                <a:srgbClr val="008000"/>
              </a:solidFill>
            </a:endParaRPr>
          </a:p>
        </p:txBody>
      </p:sp>
      <p:grpSp>
        <p:nvGrpSpPr>
          <p:cNvPr id="6" name="Group 23"/>
          <p:cNvGrpSpPr/>
          <p:nvPr/>
        </p:nvGrpSpPr>
        <p:grpSpPr bwMode="auto">
          <a:xfrm>
            <a:off x="-36513" y="889000"/>
            <a:ext cx="2057401" cy="5376863"/>
            <a:chOff x="144" y="662"/>
            <a:chExt cx="1296" cy="3387"/>
          </a:xfrm>
        </p:grpSpPr>
        <p:sp>
          <p:nvSpPr>
            <p:cNvPr id="1074200" name="Text Box 24"/>
            <p:cNvSpPr txBox="1">
              <a:spLocks noChangeArrowheads="1"/>
            </p:cNvSpPr>
            <p:nvPr/>
          </p:nvSpPr>
          <p:spPr bwMode="auto">
            <a:xfrm>
              <a:off x="218" y="3799"/>
              <a:ext cx="636" cy="2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2000">
                  <a:solidFill>
                    <a:srgbClr val="CC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-13.6eV</a:t>
              </a:r>
              <a:endParaRPr kumimoji="1" lang="en-US" altLang="zh-CN" sz="2000" b="0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endParaRPr>
            </a:p>
          </p:txBody>
        </p:sp>
        <p:sp>
          <p:nvSpPr>
            <p:cNvPr id="1074201" name="Text Box 25"/>
            <p:cNvSpPr txBox="1">
              <a:spLocks noChangeArrowheads="1"/>
            </p:cNvSpPr>
            <p:nvPr/>
          </p:nvSpPr>
          <p:spPr bwMode="auto">
            <a:xfrm>
              <a:off x="179" y="2334"/>
              <a:ext cx="636" cy="2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2000">
                  <a:solidFill>
                    <a:srgbClr val="CC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-3.39eV</a:t>
              </a:r>
              <a:endParaRPr kumimoji="1" lang="en-US" altLang="zh-CN" sz="2000" b="0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endParaRPr>
            </a:p>
          </p:txBody>
        </p:sp>
        <p:sp>
          <p:nvSpPr>
            <p:cNvPr id="1074202" name="Text Box 26"/>
            <p:cNvSpPr txBox="1">
              <a:spLocks noChangeArrowheads="1"/>
            </p:cNvSpPr>
            <p:nvPr/>
          </p:nvSpPr>
          <p:spPr bwMode="auto">
            <a:xfrm>
              <a:off x="144" y="1754"/>
              <a:ext cx="636" cy="2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2000">
                  <a:solidFill>
                    <a:srgbClr val="CC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-1.81eV</a:t>
              </a:r>
              <a:endParaRPr kumimoji="1" lang="en-US" altLang="zh-CN" sz="2000" b="0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endParaRPr>
            </a:p>
          </p:txBody>
        </p:sp>
        <p:sp>
          <p:nvSpPr>
            <p:cNvPr id="1074203" name="Text Box 27"/>
            <p:cNvSpPr txBox="1">
              <a:spLocks noChangeArrowheads="1"/>
            </p:cNvSpPr>
            <p:nvPr/>
          </p:nvSpPr>
          <p:spPr bwMode="auto">
            <a:xfrm>
              <a:off x="144" y="1322"/>
              <a:ext cx="636" cy="2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2000">
                  <a:solidFill>
                    <a:srgbClr val="CC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-0.85eV</a:t>
              </a:r>
              <a:endParaRPr kumimoji="1" lang="en-US" altLang="zh-CN" sz="2000" b="0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endParaRPr>
            </a:p>
          </p:txBody>
        </p:sp>
        <p:sp>
          <p:nvSpPr>
            <p:cNvPr id="1074204" name="Text Box 28"/>
            <p:cNvSpPr txBox="1">
              <a:spLocks noChangeArrowheads="1"/>
            </p:cNvSpPr>
            <p:nvPr/>
          </p:nvSpPr>
          <p:spPr bwMode="auto">
            <a:xfrm>
              <a:off x="252" y="662"/>
              <a:ext cx="420" cy="2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2000" i="1">
                  <a:solidFill>
                    <a:srgbClr val="CC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E</a:t>
              </a:r>
              <a:r>
                <a:rPr kumimoji="1" lang="en-US" altLang="zh-CN" sz="2000" i="1" baseline="-25000">
                  <a:solidFill>
                    <a:srgbClr val="CC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n</a:t>
              </a:r>
              <a:endParaRPr kumimoji="1" lang="en-US" altLang="zh-CN" sz="2000" b="0" i="1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endParaRPr>
            </a:p>
          </p:txBody>
        </p:sp>
        <p:sp>
          <p:nvSpPr>
            <p:cNvPr id="1074205" name="Text Box 29"/>
            <p:cNvSpPr txBox="1">
              <a:spLocks noChangeArrowheads="1"/>
            </p:cNvSpPr>
            <p:nvPr/>
          </p:nvSpPr>
          <p:spPr bwMode="auto">
            <a:xfrm>
              <a:off x="866" y="664"/>
              <a:ext cx="574" cy="2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kumimoji="1" lang="en-US" altLang="zh-CN" sz="2000">
                  <a:solidFill>
                    <a:srgbClr val="CC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 </a:t>
              </a:r>
              <a:r>
                <a:rPr kumimoji="1" lang="en-US" altLang="zh-CN" sz="2000" i="1">
                  <a:solidFill>
                    <a:srgbClr val="CC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n</a:t>
              </a:r>
              <a:endParaRPr kumimoji="1" lang="en-US" altLang="zh-CN" sz="2000" b="0" i="1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endParaRPr>
            </a:p>
          </p:txBody>
        </p:sp>
      </p:grpSp>
      <p:grpSp>
        <p:nvGrpSpPr>
          <p:cNvPr id="7" name="Group 30"/>
          <p:cNvGrpSpPr/>
          <p:nvPr/>
        </p:nvGrpSpPr>
        <p:grpSpPr bwMode="auto">
          <a:xfrm>
            <a:off x="1274763" y="5888038"/>
            <a:ext cx="4038600" cy="396875"/>
            <a:chOff x="864" y="3413"/>
            <a:chExt cx="2544" cy="250"/>
          </a:xfrm>
        </p:grpSpPr>
        <p:sp>
          <p:nvSpPr>
            <p:cNvPr id="16443" name="Line 31"/>
            <p:cNvSpPr>
              <a:spLocks noChangeShapeType="1"/>
            </p:cNvSpPr>
            <p:nvPr/>
          </p:nvSpPr>
          <p:spPr bwMode="auto">
            <a:xfrm>
              <a:off x="1104" y="3552"/>
              <a:ext cx="2304" cy="0"/>
            </a:xfrm>
            <a:prstGeom prst="line">
              <a:avLst/>
            </a:prstGeom>
            <a:noFill/>
            <a:ln w="539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4" name="Text Box 32"/>
            <p:cNvSpPr txBox="1">
              <a:spLocks noChangeArrowheads="1"/>
            </p:cNvSpPr>
            <p:nvPr/>
          </p:nvSpPr>
          <p:spPr bwMode="auto">
            <a:xfrm>
              <a:off x="864" y="3413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1</a:t>
              </a:r>
              <a:endParaRPr lang="en-US" altLang="zh-CN" sz="2000" b="0"/>
            </a:p>
          </p:txBody>
        </p:sp>
      </p:grpSp>
      <p:grpSp>
        <p:nvGrpSpPr>
          <p:cNvPr id="8" name="Group 33"/>
          <p:cNvGrpSpPr/>
          <p:nvPr/>
        </p:nvGrpSpPr>
        <p:grpSpPr bwMode="auto">
          <a:xfrm>
            <a:off x="1298575" y="3556000"/>
            <a:ext cx="4052888" cy="396875"/>
            <a:chOff x="807" y="1944"/>
            <a:chExt cx="2553" cy="250"/>
          </a:xfrm>
        </p:grpSpPr>
        <p:sp>
          <p:nvSpPr>
            <p:cNvPr id="16441" name="Line 34"/>
            <p:cNvSpPr>
              <a:spLocks noChangeShapeType="1"/>
            </p:cNvSpPr>
            <p:nvPr/>
          </p:nvSpPr>
          <p:spPr bwMode="auto">
            <a:xfrm>
              <a:off x="1056" y="2064"/>
              <a:ext cx="2304" cy="0"/>
            </a:xfrm>
            <a:prstGeom prst="line">
              <a:avLst/>
            </a:prstGeom>
            <a:noFill/>
            <a:ln w="539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2" name="Text Box 35"/>
            <p:cNvSpPr txBox="1">
              <a:spLocks noChangeArrowheads="1"/>
            </p:cNvSpPr>
            <p:nvPr/>
          </p:nvSpPr>
          <p:spPr bwMode="auto">
            <a:xfrm>
              <a:off x="807" y="1944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2</a:t>
              </a:r>
              <a:endParaRPr lang="en-US" altLang="zh-CN" sz="2000" b="0"/>
            </a:p>
          </p:txBody>
        </p:sp>
      </p:grpSp>
      <p:grpSp>
        <p:nvGrpSpPr>
          <p:cNvPr id="9" name="Group 36"/>
          <p:cNvGrpSpPr/>
          <p:nvPr/>
        </p:nvGrpSpPr>
        <p:grpSpPr bwMode="auto">
          <a:xfrm>
            <a:off x="1236663" y="1236663"/>
            <a:ext cx="4038600" cy="792162"/>
            <a:chOff x="768" y="495"/>
            <a:chExt cx="2544" cy="499"/>
          </a:xfrm>
        </p:grpSpPr>
        <p:sp>
          <p:nvSpPr>
            <p:cNvPr id="16435" name="Line 37"/>
            <p:cNvSpPr>
              <a:spLocks noChangeShapeType="1"/>
            </p:cNvSpPr>
            <p:nvPr/>
          </p:nvSpPr>
          <p:spPr bwMode="auto">
            <a:xfrm>
              <a:off x="1008" y="672"/>
              <a:ext cx="2304" cy="0"/>
            </a:xfrm>
            <a:prstGeom prst="line">
              <a:avLst/>
            </a:prstGeom>
            <a:noFill/>
            <a:ln w="539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6" name="Line 38"/>
            <p:cNvSpPr>
              <a:spLocks noChangeShapeType="1"/>
            </p:cNvSpPr>
            <p:nvPr/>
          </p:nvSpPr>
          <p:spPr bwMode="auto">
            <a:xfrm>
              <a:off x="1008" y="816"/>
              <a:ext cx="2304" cy="0"/>
            </a:xfrm>
            <a:prstGeom prst="line">
              <a:avLst/>
            </a:prstGeom>
            <a:noFill/>
            <a:ln w="539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7" name="Text Box 39"/>
            <p:cNvSpPr txBox="1">
              <a:spLocks noChangeArrowheads="1"/>
            </p:cNvSpPr>
            <p:nvPr/>
          </p:nvSpPr>
          <p:spPr bwMode="auto">
            <a:xfrm>
              <a:off x="776" y="600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6</a:t>
              </a:r>
              <a:endParaRPr lang="en-US" altLang="zh-CN" sz="2000" b="0"/>
            </a:p>
          </p:txBody>
        </p:sp>
        <p:sp>
          <p:nvSpPr>
            <p:cNvPr id="16438" name="Text Box 40"/>
            <p:cNvSpPr txBox="1">
              <a:spLocks noChangeArrowheads="1"/>
            </p:cNvSpPr>
            <p:nvPr/>
          </p:nvSpPr>
          <p:spPr bwMode="auto">
            <a:xfrm>
              <a:off x="768" y="495"/>
              <a:ext cx="2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ym typeface="Symbol Set SWA" pitchFamily="18" charset="2"/>
                </a:rPr>
                <a:t></a:t>
              </a:r>
              <a:endParaRPr lang="en-US" altLang="zh-CN" sz="2000" b="0"/>
            </a:p>
          </p:txBody>
        </p:sp>
        <p:sp>
          <p:nvSpPr>
            <p:cNvPr id="16439" name="Line 41"/>
            <p:cNvSpPr>
              <a:spLocks noChangeShapeType="1"/>
            </p:cNvSpPr>
            <p:nvPr/>
          </p:nvSpPr>
          <p:spPr bwMode="auto">
            <a:xfrm>
              <a:off x="1008" y="720"/>
              <a:ext cx="2304" cy="0"/>
            </a:xfrm>
            <a:prstGeom prst="line">
              <a:avLst/>
            </a:prstGeom>
            <a:noFill/>
            <a:ln w="539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0" name="Text Box 42"/>
            <p:cNvSpPr txBox="1">
              <a:spLocks noChangeArrowheads="1"/>
            </p:cNvSpPr>
            <p:nvPr/>
          </p:nvSpPr>
          <p:spPr bwMode="auto">
            <a:xfrm>
              <a:off x="780" y="744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5</a:t>
              </a:r>
              <a:endParaRPr lang="en-US" altLang="zh-CN" sz="2000" b="0"/>
            </a:p>
          </p:txBody>
        </p:sp>
      </p:grpSp>
      <p:grpSp>
        <p:nvGrpSpPr>
          <p:cNvPr id="10" name="Group 43"/>
          <p:cNvGrpSpPr/>
          <p:nvPr/>
        </p:nvGrpSpPr>
        <p:grpSpPr bwMode="auto">
          <a:xfrm>
            <a:off x="1270000" y="2601913"/>
            <a:ext cx="4005263" cy="396875"/>
            <a:chOff x="789" y="1355"/>
            <a:chExt cx="2523" cy="250"/>
          </a:xfrm>
        </p:grpSpPr>
        <p:sp>
          <p:nvSpPr>
            <p:cNvPr id="16433" name="Line 44"/>
            <p:cNvSpPr>
              <a:spLocks noChangeShapeType="1"/>
            </p:cNvSpPr>
            <p:nvPr/>
          </p:nvSpPr>
          <p:spPr bwMode="auto">
            <a:xfrm>
              <a:off x="1008" y="1440"/>
              <a:ext cx="2304" cy="0"/>
            </a:xfrm>
            <a:prstGeom prst="line">
              <a:avLst/>
            </a:prstGeom>
            <a:noFill/>
            <a:ln w="539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4" name="Text Box 45"/>
            <p:cNvSpPr txBox="1">
              <a:spLocks noChangeArrowheads="1"/>
            </p:cNvSpPr>
            <p:nvPr/>
          </p:nvSpPr>
          <p:spPr bwMode="auto">
            <a:xfrm>
              <a:off x="789" y="1355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3</a:t>
              </a:r>
              <a:endParaRPr lang="en-US" altLang="zh-CN" sz="2000" b="0"/>
            </a:p>
          </p:txBody>
        </p:sp>
      </p:grpSp>
      <p:grpSp>
        <p:nvGrpSpPr>
          <p:cNvPr id="11" name="Group 46"/>
          <p:cNvGrpSpPr/>
          <p:nvPr/>
        </p:nvGrpSpPr>
        <p:grpSpPr bwMode="auto">
          <a:xfrm>
            <a:off x="1236663" y="1936750"/>
            <a:ext cx="4038600" cy="396875"/>
            <a:chOff x="768" y="936"/>
            <a:chExt cx="2544" cy="250"/>
          </a:xfrm>
        </p:grpSpPr>
        <p:sp>
          <p:nvSpPr>
            <p:cNvPr id="16431" name="Line 47"/>
            <p:cNvSpPr>
              <a:spLocks noChangeShapeType="1"/>
            </p:cNvSpPr>
            <p:nvPr/>
          </p:nvSpPr>
          <p:spPr bwMode="auto">
            <a:xfrm>
              <a:off x="1008" y="1056"/>
              <a:ext cx="2304" cy="0"/>
            </a:xfrm>
            <a:prstGeom prst="line">
              <a:avLst/>
            </a:prstGeom>
            <a:noFill/>
            <a:ln w="539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2" name="Text Box 48"/>
            <p:cNvSpPr txBox="1">
              <a:spLocks noChangeArrowheads="1"/>
            </p:cNvSpPr>
            <p:nvPr/>
          </p:nvSpPr>
          <p:spPr bwMode="auto">
            <a:xfrm>
              <a:off x="768" y="936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4</a:t>
              </a:r>
              <a:endParaRPr lang="en-US" altLang="zh-CN" sz="2000" b="0"/>
            </a:p>
          </p:txBody>
        </p:sp>
      </p:grpSp>
      <p:grpSp>
        <p:nvGrpSpPr>
          <p:cNvPr id="12" name="Group 49"/>
          <p:cNvGrpSpPr/>
          <p:nvPr/>
        </p:nvGrpSpPr>
        <p:grpSpPr bwMode="auto">
          <a:xfrm>
            <a:off x="5434013" y="3716338"/>
            <a:ext cx="2735262" cy="2659062"/>
            <a:chOff x="370" y="1612"/>
            <a:chExt cx="1723" cy="1675"/>
          </a:xfrm>
        </p:grpSpPr>
        <p:grpSp>
          <p:nvGrpSpPr>
            <p:cNvPr id="16421" name="Group 50"/>
            <p:cNvGrpSpPr/>
            <p:nvPr/>
          </p:nvGrpSpPr>
          <p:grpSpPr bwMode="auto">
            <a:xfrm>
              <a:off x="581" y="1612"/>
              <a:ext cx="1473" cy="1473"/>
              <a:chOff x="795" y="1612"/>
              <a:chExt cx="1473" cy="1473"/>
            </a:xfrm>
          </p:grpSpPr>
          <p:sp>
            <p:nvSpPr>
              <p:cNvPr id="16427" name="Arc 51"/>
              <p:cNvSpPr>
                <a:spLocks noChangeAspect="1" noChangeArrowheads="1"/>
              </p:cNvSpPr>
              <p:nvPr/>
            </p:nvSpPr>
            <p:spPr bwMode="auto">
              <a:xfrm>
                <a:off x="795" y="1612"/>
                <a:ext cx="1473" cy="1473"/>
              </a:xfrm>
              <a:custGeom>
                <a:avLst/>
                <a:gdLst>
                  <a:gd name="T0" fmla="*/ 0 w 21600"/>
                  <a:gd name="T1" fmla="*/ 0 h 21600"/>
                  <a:gd name="T2" fmla="*/ 100 w 21600"/>
                  <a:gd name="T3" fmla="*/ 100 h 21600"/>
                  <a:gd name="T4" fmla="*/ 0 w 21600"/>
                  <a:gd name="T5" fmla="*/ 0 h 21600"/>
                  <a:gd name="T6" fmla="*/ 100 w 21600"/>
                  <a:gd name="T7" fmla="*/ 100 h 21600"/>
                  <a:gd name="T8" fmla="*/ 0 w 21600"/>
                  <a:gd name="T9" fmla="*/ 10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21600" fill="none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9050">
                <a:solidFill>
                  <a:srgbClr val="15CBC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28" name="Arc 52"/>
              <p:cNvSpPr>
                <a:spLocks noChangeAspect="1" noChangeArrowheads="1"/>
              </p:cNvSpPr>
              <p:nvPr/>
            </p:nvSpPr>
            <p:spPr bwMode="auto">
              <a:xfrm>
                <a:off x="795" y="2254"/>
                <a:ext cx="831" cy="831"/>
              </a:xfrm>
              <a:custGeom>
                <a:avLst/>
                <a:gdLst>
                  <a:gd name="T0" fmla="*/ 0 w 21600"/>
                  <a:gd name="T1" fmla="*/ 0 h 21600"/>
                  <a:gd name="T2" fmla="*/ 32 w 21600"/>
                  <a:gd name="T3" fmla="*/ 32 h 21600"/>
                  <a:gd name="T4" fmla="*/ 0 w 21600"/>
                  <a:gd name="T5" fmla="*/ 0 h 21600"/>
                  <a:gd name="T6" fmla="*/ 32 w 21600"/>
                  <a:gd name="T7" fmla="*/ 32 h 21600"/>
                  <a:gd name="T8" fmla="*/ 0 w 21600"/>
                  <a:gd name="T9" fmla="*/ 32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21600" fill="none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9050">
                <a:solidFill>
                  <a:srgbClr val="15CBC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29" name="Arc 53"/>
              <p:cNvSpPr>
                <a:spLocks noChangeAspect="1" noChangeArrowheads="1"/>
              </p:cNvSpPr>
              <p:nvPr/>
            </p:nvSpPr>
            <p:spPr bwMode="auto">
              <a:xfrm>
                <a:off x="795" y="2715"/>
                <a:ext cx="370" cy="370"/>
              </a:xfrm>
              <a:custGeom>
                <a:avLst/>
                <a:gdLst>
                  <a:gd name="T0" fmla="*/ 0 w 21600"/>
                  <a:gd name="T1" fmla="*/ 0 h 21600"/>
                  <a:gd name="T2" fmla="*/ 6 w 21600"/>
                  <a:gd name="T3" fmla="*/ 6 h 21600"/>
                  <a:gd name="T4" fmla="*/ 0 w 21600"/>
                  <a:gd name="T5" fmla="*/ 0 h 21600"/>
                  <a:gd name="T6" fmla="*/ 6 w 21600"/>
                  <a:gd name="T7" fmla="*/ 6 h 21600"/>
                  <a:gd name="T8" fmla="*/ 0 w 21600"/>
                  <a:gd name="T9" fmla="*/ 6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21600" fill="none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9050">
                <a:solidFill>
                  <a:srgbClr val="15CBC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30" name="Arc 54"/>
              <p:cNvSpPr>
                <a:spLocks noChangeAspect="1" noChangeArrowheads="1"/>
              </p:cNvSpPr>
              <p:nvPr/>
            </p:nvSpPr>
            <p:spPr bwMode="auto">
              <a:xfrm>
                <a:off x="795" y="2979"/>
                <a:ext cx="106" cy="106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1 h 21600"/>
                  <a:gd name="T4" fmla="*/ 0 w 21600"/>
                  <a:gd name="T5" fmla="*/ 0 h 21600"/>
                  <a:gd name="T6" fmla="*/ 1 w 21600"/>
                  <a:gd name="T7" fmla="*/ 1 h 21600"/>
                  <a:gd name="T8" fmla="*/ 0 w 21600"/>
                  <a:gd name="T9" fmla="*/ 1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21600" fill="none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9050">
                <a:solidFill>
                  <a:srgbClr val="15CBC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16422" name="Object 55"/>
            <p:cNvGraphicFramePr/>
            <p:nvPr/>
          </p:nvGraphicFramePr>
          <p:xfrm>
            <a:off x="370" y="3167"/>
            <a:ext cx="112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03" r:id="rId3" imgW="177800" imgH="189865" progId="Equation.DSMT4">
                    <p:embed/>
                  </p:oleObj>
                </mc:Choice>
                <mc:Fallback>
                  <p:oleObj r:id="rId3" imgW="177800" imgH="189865" progId="Equation.DSMT4">
                    <p:embed/>
                    <p:pic>
                      <p:nvPicPr>
                        <p:cNvPr id="0" name="Object 5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" y="3167"/>
                          <a:ext cx="112" cy="12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15CBCF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23" name="Object 56"/>
            <p:cNvGraphicFramePr/>
            <p:nvPr/>
          </p:nvGraphicFramePr>
          <p:xfrm>
            <a:off x="645" y="3143"/>
            <a:ext cx="72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04" r:id="rId5" imgW="114300" imgH="227965" progId="Equation.DSMT4">
                    <p:embed/>
                  </p:oleObj>
                </mc:Choice>
                <mc:Fallback>
                  <p:oleObj r:id="rId5" imgW="114300" imgH="227965" progId="Equation.DSMT4">
                    <p:embed/>
                    <p:pic>
                      <p:nvPicPr>
                        <p:cNvPr id="0" name="Object 5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5" y="3143"/>
                          <a:ext cx="72" cy="144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15CBCF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24" name="Object 57"/>
            <p:cNvGraphicFramePr/>
            <p:nvPr/>
          </p:nvGraphicFramePr>
          <p:xfrm>
            <a:off x="892" y="3143"/>
            <a:ext cx="10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05" r:id="rId7" imgW="165100" imgH="228600" progId="Equation.DSMT4">
                    <p:embed/>
                  </p:oleObj>
                </mc:Choice>
                <mc:Fallback>
                  <p:oleObj r:id="rId7" imgW="165100" imgH="228600" progId="Equation.DSMT4">
                    <p:embed/>
                    <p:pic>
                      <p:nvPicPr>
                        <p:cNvPr id="0" name="Object 5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2" y="3143"/>
                          <a:ext cx="104" cy="144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15CBCF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25" name="Object 58"/>
            <p:cNvGraphicFramePr/>
            <p:nvPr/>
          </p:nvGraphicFramePr>
          <p:xfrm>
            <a:off x="1357" y="3135"/>
            <a:ext cx="9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06" r:id="rId9" imgW="152400" imgH="241300" progId="Equation.DSMT4">
                    <p:embed/>
                  </p:oleObj>
                </mc:Choice>
                <mc:Fallback>
                  <p:oleObj r:id="rId9" imgW="152400" imgH="241300" progId="Equation.DSMT4">
                    <p:embed/>
                    <p:pic>
                      <p:nvPicPr>
                        <p:cNvPr id="0" name="Object 5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7" y="3135"/>
                          <a:ext cx="96" cy="15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15CBCF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26" name="Object 59"/>
            <p:cNvGraphicFramePr/>
            <p:nvPr/>
          </p:nvGraphicFramePr>
          <p:xfrm>
            <a:off x="1989" y="3143"/>
            <a:ext cx="10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07" r:id="rId11" imgW="165100" imgH="228600" progId="Equation.DSMT4">
                    <p:embed/>
                  </p:oleObj>
                </mc:Choice>
                <mc:Fallback>
                  <p:oleObj r:id="rId11" imgW="165100" imgH="228600" progId="Equation.DSMT4">
                    <p:embed/>
                    <p:pic>
                      <p:nvPicPr>
                        <p:cNvPr id="0" name="Object 5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9" y="3143"/>
                          <a:ext cx="104" cy="144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15CBCF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Group 60"/>
          <p:cNvGrpSpPr/>
          <p:nvPr/>
        </p:nvGrpSpPr>
        <p:grpSpPr bwMode="auto">
          <a:xfrm>
            <a:off x="5800725" y="3808413"/>
            <a:ext cx="625475" cy="2090737"/>
            <a:chOff x="1069" y="1540"/>
            <a:chExt cx="394" cy="1317"/>
          </a:xfrm>
        </p:grpSpPr>
        <p:sp>
          <p:nvSpPr>
            <p:cNvPr id="16418" name="Line 61"/>
            <p:cNvSpPr>
              <a:spLocks noChangeShapeType="1"/>
            </p:cNvSpPr>
            <p:nvPr/>
          </p:nvSpPr>
          <p:spPr bwMode="auto">
            <a:xfrm flipH="1">
              <a:off x="1069" y="2585"/>
              <a:ext cx="16" cy="272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9" name="Line 62"/>
            <p:cNvSpPr>
              <a:spLocks noChangeShapeType="1"/>
            </p:cNvSpPr>
            <p:nvPr/>
          </p:nvSpPr>
          <p:spPr bwMode="auto">
            <a:xfrm flipH="1">
              <a:off x="1085" y="2132"/>
              <a:ext cx="125" cy="717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0" name="Line 63"/>
            <p:cNvSpPr>
              <a:spLocks noChangeShapeType="1"/>
            </p:cNvSpPr>
            <p:nvPr/>
          </p:nvSpPr>
          <p:spPr bwMode="auto">
            <a:xfrm flipH="1">
              <a:off x="1093" y="1540"/>
              <a:ext cx="370" cy="1317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64"/>
          <p:cNvGrpSpPr/>
          <p:nvPr/>
        </p:nvGrpSpPr>
        <p:grpSpPr bwMode="auto">
          <a:xfrm>
            <a:off x="6127750" y="4448175"/>
            <a:ext cx="1358900" cy="1203325"/>
            <a:chOff x="1275" y="1943"/>
            <a:chExt cx="856" cy="758"/>
          </a:xfrm>
        </p:grpSpPr>
        <p:sp>
          <p:nvSpPr>
            <p:cNvPr id="16416" name="Line 65"/>
            <p:cNvSpPr>
              <a:spLocks noChangeShapeType="1"/>
            </p:cNvSpPr>
            <p:nvPr/>
          </p:nvSpPr>
          <p:spPr bwMode="auto">
            <a:xfrm flipH="1">
              <a:off x="1275" y="2314"/>
              <a:ext cx="287" cy="362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7" name="Line 66"/>
            <p:cNvSpPr>
              <a:spLocks noChangeShapeType="1"/>
            </p:cNvSpPr>
            <p:nvPr/>
          </p:nvSpPr>
          <p:spPr bwMode="auto">
            <a:xfrm flipH="1">
              <a:off x="1299" y="1943"/>
              <a:ext cx="832" cy="758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Group 67"/>
          <p:cNvGrpSpPr/>
          <p:nvPr/>
        </p:nvGrpSpPr>
        <p:grpSpPr bwMode="auto">
          <a:xfrm>
            <a:off x="7054850" y="5507038"/>
            <a:ext cx="1527175" cy="327025"/>
            <a:chOff x="1859" y="2610"/>
            <a:chExt cx="962" cy="206"/>
          </a:xfrm>
        </p:grpSpPr>
        <p:sp>
          <p:nvSpPr>
            <p:cNvPr id="16414" name="Line 68"/>
            <p:cNvSpPr>
              <a:spLocks noChangeShapeType="1"/>
            </p:cNvSpPr>
            <p:nvPr/>
          </p:nvSpPr>
          <p:spPr bwMode="auto">
            <a:xfrm flipH="1">
              <a:off x="1859" y="2610"/>
              <a:ext cx="617" cy="18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5" name="Line 69"/>
            <p:cNvSpPr>
              <a:spLocks noChangeShapeType="1"/>
            </p:cNvSpPr>
            <p:nvPr/>
          </p:nvSpPr>
          <p:spPr bwMode="auto">
            <a:xfrm flipH="1">
              <a:off x="1867" y="2627"/>
              <a:ext cx="954" cy="189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4246" name="Text Box 70"/>
          <p:cNvSpPr txBox="1">
            <a:spLocks noChangeArrowheads="1"/>
          </p:cNvSpPr>
          <p:nvPr/>
        </p:nvSpPr>
        <p:spPr bwMode="auto">
          <a:xfrm>
            <a:off x="5219700" y="4090988"/>
            <a:ext cx="1216025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1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赖曼系</a:t>
            </a:r>
          </a:p>
          <a:p>
            <a:pPr eaLnBrk="1" hangingPunct="1">
              <a:defRPr/>
            </a:pPr>
            <a:r>
              <a:rPr lang="zh-CN" altLang="en-US" sz="1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（紫外）</a:t>
            </a:r>
          </a:p>
        </p:txBody>
      </p:sp>
      <p:sp>
        <p:nvSpPr>
          <p:cNvPr id="1074247" name="Text Box 71"/>
          <p:cNvSpPr txBox="1">
            <a:spLocks noChangeArrowheads="1"/>
          </p:cNvSpPr>
          <p:nvPr/>
        </p:nvSpPr>
        <p:spPr bwMode="auto">
          <a:xfrm>
            <a:off x="7524750" y="4090988"/>
            <a:ext cx="1527175" cy="6413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1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巴耳末系</a:t>
            </a:r>
          </a:p>
          <a:p>
            <a:pPr eaLnBrk="1" hangingPunct="1">
              <a:defRPr/>
            </a:pPr>
            <a:r>
              <a:rPr lang="zh-CN" altLang="en-US" sz="1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（可见光）</a:t>
            </a:r>
          </a:p>
        </p:txBody>
      </p:sp>
      <p:sp>
        <p:nvSpPr>
          <p:cNvPr id="1074248" name="Text Box 72"/>
          <p:cNvSpPr txBox="1">
            <a:spLocks noChangeArrowheads="1"/>
          </p:cNvSpPr>
          <p:nvPr/>
        </p:nvSpPr>
        <p:spPr bwMode="auto">
          <a:xfrm>
            <a:off x="8134350" y="5045075"/>
            <a:ext cx="1263650" cy="6715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1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帕邢系</a:t>
            </a:r>
          </a:p>
          <a:p>
            <a:pPr eaLnBrk="1" hangingPunct="1">
              <a:defRPr/>
            </a:pPr>
            <a:r>
              <a:rPr lang="zh-CN" altLang="en-US" sz="1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（红外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1074249" name="Text Box 73"/>
          <p:cNvSpPr txBox="1">
            <a:spLocks noChangeArrowheads="1"/>
          </p:cNvSpPr>
          <p:nvPr/>
        </p:nvSpPr>
        <p:spPr bwMode="auto">
          <a:xfrm>
            <a:off x="3819525" y="2349500"/>
            <a:ext cx="2243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8000"/>
                </a:solidFill>
              </a:rPr>
              <a:t>帕邢系（红外）</a:t>
            </a:r>
            <a:endParaRPr lang="zh-CN" altLang="en-US" sz="2000" b="0">
              <a:solidFill>
                <a:srgbClr val="008000"/>
              </a:solidFill>
            </a:endParaRPr>
          </a:p>
        </p:txBody>
      </p:sp>
      <p:sp>
        <p:nvSpPr>
          <p:cNvPr id="1074250" name="Text Box 74"/>
          <p:cNvSpPr txBox="1">
            <a:spLocks noChangeArrowheads="1"/>
          </p:cNvSpPr>
          <p:nvPr/>
        </p:nvSpPr>
        <p:spPr bwMode="auto">
          <a:xfrm>
            <a:off x="107950" y="44450"/>
            <a:ext cx="5040313" cy="579438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3200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氢原子能级和能级跃迁图</a:t>
            </a:r>
            <a:endParaRPr kumimoji="1" lang="zh-CN" altLang="en-US" sz="3200" b="0">
              <a:solidFill>
                <a:srgbClr val="CC66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aphicFrame>
        <p:nvGraphicFramePr>
          <p:cNvPr id="1074251" name="Object 75"/>
          <p:cNvGraphicFramePr/>
          <p:nvPr/>
        </p:nvGraphicFramePr>
        <p:xfrm>
          <a:off x="5940425" y="290513"/>
          <a:ext cx="1512888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8" r:id="rId13" imgW="735965" imgH="405765" progId="Equation.3">
                  <p:embed/>
                </p:oleObj>
              </mc:Choice>
              <mc:Fallback>
                <p:oleObj r:id="rId13" imgW="735965" imgH="405765" progId="Equation.3">
                  <p:embed/>
                  <p:pic>
                    <p:nvPicPr>
                      <p:cNvPr id="0" name="Object 75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290513"/>
                        <a:ext cx="1512888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4252" name="Object 76"/>
          <p:cNvGraphicFramePr/>
          <p:nvPr/>
        </p:nvGraphicFramePr>
        <p:xfrm>
          <a:off x="7524750" y="333375"/>
          <a:ext cx="1439863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9" r:id="rId15" imgW="761365" imgH="419100" progId="Equation.3">
                  <p:embed/>
                </p:oleObj>
              </mc:Choice>
              <mc:Fallback>
                <p:oleObj r:id="rId15" imgW="761365" imgH="419100" progId="Equation.3">
                  <p:embed/>
                  <p:pic>
                    <p:nvPicPr>
                      <p:cNvPr id="0" name="Object 76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333375"/>
                        <a:ext cx="1439863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4254" name="Object 78"/>
          <p:cNvGraphicFramePr/>
          <p:nvPr/>
        </p:nvGraphicFramePr>
        <p:xfrm>
          <a:off x="6443663" y="1341438"/>
          <a:ext cx="1944687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0" r:id="rId17" imgW="824865" imgH="393700" progId="Equation.DSMT4">
                  <p:embed/>
                </p:oleObj>
              </mc:Choice>
              <mc:Fallback>
                <p:oleObj r:id="rId17" imgW="824865" imgH="393700" progId="Equation.DSMT4">
                  <p:embed/>
                  <p:pic>
                    <p:nvPicPr>
                      <p:cNvPr id="0" name="Object 78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1341438"/>
                        <a:ext cx="1944687" cy="9271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00FF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4255" name="Text Box 79"/>
          <p:cNvSpPr txBox="1">
            <a:spLocks noChangeArrowheads="1"/>
          </p:cNvSpPr>
          <p:nvPr/>
        </p:nvSpPr>
        <p:spPr bwMode="auto">
          <a:xfrm>
            <a:off x="5272088" y="5948363"/>
            <a:ext cx="1841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endParaRPr kumimoji="1" lang="zh-CN" altLang="zh-CN" b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  <p:graphicFrame>
        <p:nvGraphicFramePr>
          <p:cNvPr id="1028098" name="Object 2"/>
          <p:cNvGraphicFramePr/>
          <p:nvPr/>
        </p:nvGraphicFramePr>
        <p:xfrm>
          <a:off x="5867400" y="2492375"/>
          <a:ext cx="30988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1" r:id="rId19" imgW="1572260" imgH="479425" progId="Equation.3">
                  <p:embed/>
                </p:oleObj>
              </mc:Choice>
              <mc:Fallback>
                <p:oleObj r:id="rId19" imgW="1572260" imgH="479425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492375"/>
                        <a:ext cx="3098800" cy="9842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074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074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74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028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074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074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107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1074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1074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1074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074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4196" grpId="0"/>
      <p:bldP spid="1074197" grpId="0"/>
      <p:bldP spid="1074198" grpId="0"/>
      <p:bldP spid="1074246" grpId="0"/>
      <p:bldP spid="1074247" grpId="0"/>
      <p:bldP spid="1074248" grpId="0"/>
      <p:bldP spid="107424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230E9D9-ADFD-4982-A9E7-D772B38D9406}" type="slidenum">
              <a:rPr altLang="zh-CN" sz="1400" smtClean="0"/>
              <a:t>14</a:t>
            </a:fld>
            <a:endParaRPr lang="zh-CN" altLang="zh-CN" sz="1400"/>
          </a:p>
        </p:txBody>
      </p:sp>
      <p:sp>
        <p:nvSpPr>
          <p:cNvPr id="1072130" name="Text Box 2"/>
          <p:cNvSpPr txBox="1">
            <a:spLocks noChangeArrowheads="1"/>
          </p:cNvSpPr>
          <p:nvPr/>
        </p:nvSpPr>
        <p:spPr bwMode="blackWhite">
          <a:xfrm>
            <a:off x="288925" y="82550"/>
            <a:ext cx="5543550" cy="6524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kumimoji="1"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华文行楷" panose="02010800040101010101" pitchFamily="2" charset="-122"/>
              </a:rPr>
              <a:t>四</a:t>
            </a:r>
            <a:r>
              <a:rPr kumimoji="1"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华文行楷" panose="02010800040101010101" pitchFamily="2" charset="-122"/>
              </a:rPr>
              <a:t>.</a:t>
            </a:r>
            <a:r>
              <a:rPr kumimoji="1"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华文行楷" panose="02010800040101010101" pitchFamily="2" charset="-122"/>
              </a:rPr>
              <a:t>玻尔理论的成功与局限</a:t>
            </a:r>
          </a:p>
        </p:txBody>
      </p:sp>
      <p:sp>
        <p:nvSpPr>
          <p:cNvPr id="1072131" name="Text Box 3"/>
          <p:cNvSpPr txBox="1">
            <a:spLocks noChangeArrowheads="1"/>
          </p:cNvSpPr>
          <p:nvPr/>
        </p:nvSpPr>
        <p:spPr bwMode="auto">
          <a:xfrm>
            <a:off x="1033463" y="620713"/>
            <a:ext cx="74993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b="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玻尔理论很好地解释了</a:t>
            </a:r>
            <a:r>
              <a:rPr kumimoji="1" lang="zh-CN" altLang="en-US" b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氢原子</a:t>
            </a:r>
            <a:r>
              <a:rPr kumimoji="1" lang="zh-CN" altLang="en-US" b="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和</a:t>
            </a:r>
            <a:r>
              <a:rPr kumimoji="1" lang="zh-CN" altLang="en-US" b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类氢原子</a:t>
            </a:r>
            <a:r>
              <a:rPr kumimoji="1" lang="zh-CN" altLang="en-US" b="0" dirty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的光谱规律</a:t>
            </a:r>
            <a:r>
              <a:rPr kumimoji="1" lang="zh-CN" altLang="en-US" b="0" dirty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1072132" name="Text Box 4"/>
          <p:cNvSpPr txBox="1">
            <a:spLocks noChangeArrowheads="1"/>
          </p:cNvSpPr>
          <p:nvPr/>
        </p:nvSpPr>
        <p:spPr bwMode="auto">
          <a:xfrm>
            <a:off x="1042988" y="1125538"/>
            <a:ext cx="6940550" cy="530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b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但不能说明较复杂原子的光谱（即使</a:t>
            </a:r>
            <a:r>
              <a:rPr kumimoji="1" lang="en-US" altLang="zh-CN" b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He</a:t>
            </a:r>
            <a:r>
              <a:rPr kumimoji="1" lang="zh-CN" altLang="en-US" b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）。      </a:t>
            </a:r>
          </a:p>
        </p:txBody>
      </p:sp>
      <p:sp>
        <p:nvSpPr>
          <p:cNvPr id="1072133" name="Text Box 5"/>
          <p:cNvSpPr txBox="1">
            <a:spLocks noChangeArrowheads="1"/>
          </p:cNvSpPr>
          <p:nvPr/>
        </p:nvSpPr>
        <p:spPr bwMode="auto">
          <a:xfrm>
            <a:off x="900113" y="1773238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0">
                <a:solidFill>
                  <a:srgbClr val="CC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理论本身存在困难：</a:t>
            </a:r>
          </a:p>
        </p:txBody>
      </p:sp>
      <p:sp>
        <p:nvSpPr>
          <p:cNvPr id="1072134" name="Text Box 6"/>
          <p:cNvSpPr txBox="1">
            <a:spLocks noChangeArrowheads="1"/>
          </p:cNvSpPr>
          <p:nvPr/>
        </p:nvSpPr>
        <p:spPr bwMode="auto">
          <a:xfrm>
            <a:off x="990600" y="2422525"/>
            <a:ext cx="7829550" cy="12969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）承认经典理论，认为氢原子中电子作圆轨道运动，受到的向心力就是库仑力</a:t>
            </a:r>
            <a:r>
              <a:rPr kumimoji="1" lang="zh-CN" altLang="en-US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但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宋体" panose="02010600030101010101" pitchFamily="2" charset="-122"/>
              </a:rPr>
              <a:t>“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有向心加速度而不辐射能量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宋体" panose="02010600030101010101" pitchFamily="2" charset="-122"/>
              </a:rPr>
              <a:t>”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（轨道是稳定的），又不符合经典电磁理论。</a:t>
            </a:r>
          </a:p>
        </p:txBody>
      </p:sp>
      <p:sp>
        <p:nvSpPr>
          <p:cNvPr id="1072135" name="Text Box 7"/>
          <p:cNvSpPr txBox="1">
            <a:spLocks noChangeArrowheads="1"/>
          </p:cNvSpPr>
          <p:nvPr/>
        </p:nvSpPr>
        <p:spPr bwMode="auto">
          <a:xfrm>
            <a:off x="990600" y="3902075"/>
            <a:ext cx="6772275" cy="895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）承认电子在有心力场中运动，角动量守恒。</a:t>
            </a:r>
            <a:endParaRPr kumimoji="1" lang="zh-CN" altLang="en-US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但是玻尔</a:t>
            </a:r>
            <a:r>
              <a:rPr kumimoji="1" lang="zh-CN" altLang="en-US" u="sng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硬加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了一个角动量量子化条件。</a:t>
            </a:r>
          </a:p>
        </p:txBody>
      </p:sp>
      <p:graphicFrame>
        <p:nvGraphicFramePr>
          <p:cNvPr id="1072136" name="Object 8"/>
          <p:cNvGraphicFramePr/>
          <p:nvPr/>
        </p:nvGraphicFramePr>
        <p:xfrm>
          <a:off x="2284413" y="5222875"/>
          <a:ext cx="373538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5" r:id="rId3" imgW="1717040" imgH="212090" progId="Equation.DSMT4">
                  <p:embed/>
                </p:oleObj>
              </mc:Choice>
              <mc:Fallback>
                <p:oleObj r:id="rId3" imgW="1717040" imgH="212090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4413" y="5222875"/>
                        <a:ext cx="3735387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2137" name="Text Box 9"/>
          <p:cNvSpPr txBox="1">
            <a:spLocks noChangeArrowheads="1"/>
          </p:cNvSpPr>
          <p:nvPr/>
        </p:nvSpPr>
        <p:spPr bwMode="auto">
          <a:xfrm>
            <a:off x="990600" y="5997575"/>
            <a:ext cx="6005513" cy="384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kumimoji="1" lang="zh-CN" altLang="en-US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只有满足这条件的轨道才能存在，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为什么？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2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72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72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72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72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72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72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2131" grpId="0"/>
      <p:bldP spid="1072132" grpId="0"/>
      <p:bldP spid="1072133" grpId="0"/>
      <p:bldP spid="1072134" grpId="0"/>
      <p:bldP spid="107213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FD3E7D8-6BDF-49BA-B7B3-241E2814E3B6}" type="slidenum">
              <a:rPr altLang="zh-CN" sz="1400" smtClean="0"/>
              <a:t>15</a:t>
            </a:fld>
            <a:endParaRPr lang="zh-CN" altLang="zh-CN" sz="1400"/>
          </a:p>
        </p:txBody>
      </p:sp>
      <p:sp>
        <p:nvSpPr>
          <p:cNvPr id="1080322" name="Rectangle 2"/>
          <p:cNvSpPr>
            <a:spLocks noChangeArrowheads="1"/>
          </p:cNvSpPr>
          <p:nvPr/>
        </p:nvSpPr>
        <p:spPr bwMode="auto">
          <a:xfrm>
            <a:off x="250825" y="620713"/>
            <a:ext cx="6011863" cy="1655762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kumimoji="1"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pic>
        <p:nvPicPr>
          <p:cNvPr id="1080323" name="Picture 3" descr="WLBOER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2492375"/>
            <a:ext cx="1895475" cy="2751138"/>
          </a:xfrm>
          <a:prstGeom prst="rect">
            <a:avLst/>
          </a:prstGeom>
          <a:noFill/>
          <a:ln w="57150">
            <a:solidFill>
              <a:srgbClr val="66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0324" name="Text Box 4"/>
          <p:cNvSpPr txBox="1">
            <a:spLocks noChangeArrowheads="1"/>
          </p:cNvSpPr>
          <p:nvPr/>
        </p:nvSpPr>
        <p:spPr bwMode="auto">
          <a:xfrm>
            <a:off x="379413" y="44450"/>
            <a:ext cx="7107237" cy="2162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 sz="2800" b="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尽管存在缺陷，但玻尔理论中</a:t>
            </a:r>
            <a:r>
              <a:rPr kumimoji="1" lang="zh-CN" altLang="en-US" sz="2800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</a:p>
          <a:p>
            <a:pPr>
              <a:spcBef>
                <a:spcPct val="50000"/>
              </a:spcBef>
              <a:defRPr/>
            </a:pPr>
            <a:r>
              <a:rPr kumimoji="1" lang="zh-CN" altLang="en-US" b="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关于</a:t>
            </a:r>
            <a:r>
              <a:rPr kumimoji="1" lang="zh-CN" altLang="en-US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原子能量量子化</a:t>
            </a:r>
            <a:r>
              <a:rPr kumimoji="1"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zh-CN" altLang="en-US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定态能级）</a:t>
            </a:r>
          </a:p>
          <a:p>
            <a:pPr>
              <a:spcBef>
                <a:spcPct val="50000"/>
              </a:spcBef>
              <a:defRPr/>
            </a:pPr>
            <a:r>
              <a:rPr kumimoji="1" lang="zh-CN" altLang="en-US" b="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关于</a:t>
            </a:r>
            <a:r>
              <a:rPr kumimoji="1" lang="zh-CN" altLang="en-US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轨道角动量量子化</a:t>
            </a:r>
          </a:p>
          <a:p>
            <a:pPr>
              <a:spcBef>
                <a:spcPct val="50000"/>
              </a:spcBef>
              <a:defRPr/>
            </a:pPr>
            <a:r>
              <a:rPr kumimoji="1" lang="zh-CN" altLang="en-US" b="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关于</a:t>
            </a:r>
            <a:r>
              <a:rPr kumimoji="1" lang="zh-CN" altLang="en-US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原子发光的机制</a:t>
            </a:r>
            <a:r>
              <a:rPr kumimoji="1"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----</a:t>
            </a:r>
            <a:r>
              <a:rPr kumimoji="1" lang="zh-CN" altLang="en-US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能级跃迁</a:t>
            </a:r>
            <a:r>
              <a:rPr kumimoji="1" lang="zh-CN" altLang="en-US" b="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等概念</a:t>
            </a:r>
          </a:p>
        </p:txBody>
      </p:sp>
      <p:sp>
        <p:nvSpPr>
          <p:cNvPr id="1080326" name="Rectangle 6"/>
          <p:cNvSpPr>
            <a:spLocks noChangeArrowheads="1"/>
          </p:cNvSpPr>
          <p:nvPr/>
        </p:nvSpPr>
        <p:spPr bwMode="auto">
          <a:xfrm>
            <a:off x="6443663" y="947738"/>
            <a:ext cx="2700337" cy="968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在现代量子理论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中仍然是正确的</a:t>
            </a:r>
          </a:p>
        </p:txBody>
      </p:sp>
      <p:sp>
        <p:nvSpPr>
          <p:cNvPr id="1080327" name="Rectangle 7"/>
          <p:cNvSpPr>
            <a:spLocks noChangeArrowheads="1"/>
          </p:cNvSpPr>
          <p:nvPr/>
        </p:nvSpPr>
        <p:spPr bwMode="auto">
          <a:xfrm>
            <a:off x="-22225" y="3068638"/>
            <a:ext cx="8482013" cy="1373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玻尔理论在人们认识原子结构的进程中</a:t>
            </a:r>
          </a:p>
          <a:p>
            <a:pPr eaLnBrk="1" hangingPunct="1">
              <a:defRPr/>
            </a:pPr>
            <a:r>
              <a:rPr kumimoji="1" lang="zh-CN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       做出了极大的贡献</a:t>
            </a:r>
          </a:p>
          <a:p>
            <a:pPr eaLnBrk="1" hangingPunct="1">
              <a:defRPr/>
            </a:pPr>
            <a:r>
              <a:rPr kumimoji="1" lang="zh-CN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            </a:t>
            </a:r>
            <a:r>
              <a:rPr kumimoji="1" lang="en-US" altLang="zh-CN" sz="28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--- 1922</a:t>
            </a:r>
            <a:r>
              <a:rPr kumimoji="1" lang="zh-CN" altLang="en-US" sz="28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年玻尔获诺贝尔物理学奖。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80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80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80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080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0322" grpId="0" animBg="1"/>
      <p:bldP spid="1080326" grpId="0"/>
      <p:bldP spid="108032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3482674-5312-4167-8407-D12D023A4AC4}" type="slidenum">
              <a:rPr altLang="zh-CN" sz="1400" smtClean="0"/>
              <a:t>16</a:t>
            </a:fld>
            <a:endParaRPr lang="zh-CN" altLang="zh-CN" sz="1400"/>
          </a:p>
        </p:txBody>
      </p:sp>
      <p:grpSp>
        <p:nvGrpSpPr>
          <p:cNvPr id="2" name="Group 2"/>
          <p:cNvGrpSpPr/>
          <p:nvPr/>
        </p:nvGrpSpPr>
        <p:grpSpPr bwMode="auto">
          <a:xfrm>
            <a:off x="903288" y="692150"/>
            <a:ext cx="7086600" cy="4632325"/>
            <a:chOff x="336" y="175"/>
            <a:chExt cx="5004" cy="3271"/>
          </a:xfrm>
        </p:grpSpPr>
        <p:pic>
          <p:nvPicPr>
            <p:cNvPr id="19461" name="Picture 3" descr="e26（玻尔与五子）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8" y="175"/>
              <a:ext cx="4512" cy="3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62" name="Text Box 4"/>
            <p:cNvSpPr txBox="1">
              <a:spLocks noChangeArrowheads="1"/>
            </p:cNvSpPr>
            <p:nvPr/>
          </p:nvSpPr>
          <p:spPr bwMode="auto">
            <a:xfrm>
              <a:off x="336" y="480"/>
              <a:ext cx="528" cy="2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solidFill>
                    <a:srgbClr val="0000FF"/>
                  </a:solidFill>
                </a:rPr>
                <a:t>玻尔和他的孩子们</a:t>
              </a:r>
            </a:p>
          </p:txBody>
        </p:sp>
      </p:grpSp>
      <p:sp>
        <p:nvSpPr>
          <p:cNvPr id="1085445" name="Text Box 5"/>
          <p:cNvSpPr txBox="1">
            <a:spLocks noChangeArrowheads="1"/>
          </p:cNvSpPr>
          <p:nvPr/>
        </p:nvSpPr>
        <p:spPr bwMode="auto">
          <a:xfrm>
            <a:off x="750888" y="5484813"/>
            <a:ext cx="817245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400"/>
              <a:t>照片中右面第一个孩子</a:t>
            </a:r>
            <a:r>
              <a:rPr lang="en-US" altLang="zh-CN" sz="2400">
                <a:solidFill>
                  <a:srgbClr val="CC3300"/>
                </a:solidFill>
              </a:rPr>
              <a:t>—Aage.Bohe</a:t>
            </a:r>
            <a:r>
              <a:rPr lang="zh-CN" altLang="en-US" sz="2400">
                <a:solidFill>
                  <a:srgbClr val="CC3300"/>
                </a:solidFill>
              </a:rPr>
              <a:t>后来从事核物理的研究，因对原子核理论的杰出贡献，于</a:t>
            </a:r>
            <a:r>
              <a:rPr lang="en-US" altLang="zh-CN" sz="2400">
                <a:solidFill>
                  <a:srgbClr val="CC3300"/>
                </a:solidFill>
              </a:rPr>
              <a:t>1975</a:t>
            </a:r>
            <a:r>
              <a:rPr lang="zh-CN" altLang="en-US" sz="2400">
                <a:solidFill>
                  <a:srgbClr val="CC3300"/>
                </a:solidFill>
              </a:rPr>
              <a:t>年获诺贝尔奖。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5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4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549B05-CE63-4B1A-BBB9-9B9B87156559}" type="slidenum">
              <a:rPr altLang="zh-CN" sz="1400" smtClean="0"/>
              <a:t>17</a:t>
            </a:fld>
            <a:endParaRPr lang="zh-CN" altLang="zh-CN" sz="1400"/>
          </a:p>
        </p:txBody>
      </p:sp>
      <p:sp>
        <p:nvSpPr>
          <p:cNvPr id="1033218" name="Text Box 2"/>
          <p:cNvSpPr txBox="1">
            <a:spLocks noChangeArrowheads="1"/>
          </p:cNvSpPr>
          <p:nvPr/>
        </p:nvSpPr>
        <p:spPr bwMode="auto">
          <a:xfrm>
            <a:off x="260350" y="188913"/>
            <a:ext cx="6759575" cy="1045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Tx/>
              <a:buNone/>
            </a:pPr>
            <a:r>
              <a:rPr lang="zh-CN" altLang="en-US" sz="2800" dirty="0">
                <a:ea typeface="华文新魏" panose="02010800040101010101" pitchFamily="2" charset="-122"/>
              </a:rPr>
              <a:t>五</a:t>
            </a:r>
            <a:r>
              <a:rPr lang="en-US" altLang="zh-CN" sz="2800" dirty="0">
                <a:ea typeface="华文新魏" panose="02010800040101010101" pitchFamily="2" charset="-122"/>
              </a:rPr>
              <a:t>.</a:t>
            </a:r>
            <a:r>
              <a:rPr lang="zh-CN" altLang="en-US" sz="2800" dirty="0">
                <a:ea typeface="华文新魏" panose="02010800040101010101" pitchFamily="2" charset="-122"/>
              </a:rPr>
              <a:t>弗兰克</a:t>
            </a:r>
            <a:r>
              <a:rPr lang="en-US" altLang="zh-CN" sz="2800" dirty="0">
                <a:ea typeface="华文新魏" panose="02010800040101010101" pitchFamily="2" charset="-122"/>
              </a:rPr>
              <a:t>---</a:t>
            </a:r>
            <a:r>
              <a:rPr lang="zh-CN" altLang="en-US" sz="2800" dirty="0">
                <a:ea typeface="华文新魏" panose="02010800040101010101" pitchFamily="2" charset="-122"/>
              </a:rPr>
              <a:t>赫兹实验（</a:t>
            </a:r>
            <a:r>
              <a:rPr lang="en-US" altLang="zh-CN" sz="2800" dirty="0">
                <a:ea typeface="华文新魏" panose="02010800040101010101" pitchFamily="2" charset="-122"/>
              </a:rPr>
              <a:t>1914</a:t>
            </a:r>
            <a:r>
              <a:rPr lang="zh-CN" altLang="en-US" sz="2800" dirty="0">
                <a:ea typeface="华文新魏" panose="02010800040101010101" pitchFamily="2" charset="-122"/>
              </a:rPr>
              <a:t>）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chemeClr val="accent2"/>
                </a:solidFill>
                <a:ea typeface="华文新魏" panose="02010800040101010101" pitchFamily="2" charset="-122"/>
              </a:rPr>
              <a:t>-----</a:t>
            </a:r>
            <a:r>
              <a:rPr lang="zh-CN" altLang="en-US" sz="2800" dirty="0">
                <a:solidFill>
                  <a:schemeClr val="accent2"/>
                </a:solidFill>
                <a:ea typeface="华文新魏" panose="02010800040101010101" pitchFamily="2" charset="-122"/>
              </a:rPr>
              <a:t>能级分立的实验验证 </a:t>
            </a:r>
          </a:p>
        </p:txBody>
      </p:sp>
      <p:sp>
        <p:nvSpPr>
          <p:cNvPr id="1033219" name="Text Box 3"/>
          <p:cNvSpPr txBox="1">
            <a:spLocks noChangeArrowheads="1"/>
          </p:cNvSpPr>
          <p:nvPr/>
        </p:nvSpPr>
        <p:spPr bwMode="blackWhite">
          <a:xfrm>
            <a:off x="468313" y="1268413"/>
            <a:ext cx="5724525" cy="26479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玻璃管抽真空后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注入汞 蒸汽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K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－阴极　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P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－接收极　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G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－加速栅极</a:t>
            </a:r>
          </a:p>
        </p:txBody>
      </p:sp>
      <p:sp>
        <p:nvSpPr>
          <p:cNvPr id="1033220" name="Text Box 4"/>
          <p:cNvSpPr txBox="1">
            <a:spLocks noChangeArrowheads="1"/>
          </p:cNvSpPr>
          <p:nvPr/>
        </p:nvSpPr>
        <p:spPr bwMode="auto">
          <a:xfrm>
            <a:off x="228600" y="4352925"/>
            <a:ext cx="8915400" cy="21002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  <a:defRPr/>
            </a:pPr>
            <a:r>
              <a:rPr kumimoji="1" lang="en-US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Monotype Sorts"/>
              </a:rPr>
              <a:t>1) 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Monotype Sorts"/>
              </a:rPr>
              <a:t>原理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Monotype Sorts"/>
              </a:rPr>
              <a:t>   </a:t>
            </a:r>
          </a:p>
          <a:p>
            <a:pPr marL="457200" indent="-457200">
              <a:spcBef>
                <a:spcPct val="50000"/>
              </a:spcBef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Monotype Sorts"/>
              </a:rPr>
              <a:t>     利用电子碰撞基态汞原子</a:t>
            </a:r>
          </a:p>
          <a:p>
            <a:pPr marL="457200" indent="-457200">
              <a:spcBef>
                <a:spcPct val="50000"/>
              </a:spcBef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Monotype Sorts"/>
              </a:rPr>
              <a:t>     若原子能级是分立的 </a:t>
            </a:r>
          </a:p>
          <a:p>
            <a:pPr marL="457200" indent="-457200">
              <a:spcBef>
                <a:spcPct val="50000"/>
              </a:spcBef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Monotype Sorts"/>
              </a:rPr>
              <a:t>     则电子损失能量也是一份一份的</a:t>
            </a:r>
            <a:endParaRPr kumimoji="1" lang="zh-CN" altLang="en-US"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 bwMode="auto">
          <a:xfrm>
            <a:off x="6227763" y="5360988"/>
            <a:ext cx="2916237" cy="1381125"/>
            <a:chOff x="3923" y="3185"/>
            <a:chExt cx="1837" cy="870"/>
          </a:xfrm>
        </p:grpSpPr>
        <p:grpSp>
          <p:nvGrpSpPr>
            <p:cNvPr id="20490" name="Group 6"/>
            <p:cNvGrpSpPr/>
            <p:nvPr/>
          </p:nvGrpSpPr>
          <p:grpSpPr bwMode="auto">
            <a:xfrm>
              <a:off x="3923" y="3287"/>
              <a:ext cx="1000" cy="768"/>
              <a:chOff x="3888" y="1632"/>
              <a:chExt cx="1000" cy="768"/>
            </a:xfrm>
          </p:grpSpPr>
          <p:grpSp>
            <p:nvGrpSpPr>
              <p:cNvPr id="20492" name="Group 7"/>
              <p:cNvGrpSpPr/>
              <p:nvPr/>
            </p:nvGrpSpPr>
            <p:grpSpPr bwMode="auto">
              <a:xfrm>
                <a:off x="3888" y="1728"/>
                <a:ext cx="720" cy="576"/>
                <a:chOff x="3312" y="1680"/>
                <a:chExt cx="864" cy="624"/>
              </a:xfrm>
            </p:grpSpPr>
            <p:sp>
              <p:nvSpPr>
                <p:cNvPr id="20494" name="Line 8"/>
                <p:cNvSpPr>
                  <a:spLocks noChangeShapeType="1"/>
                </p:cNvSpPr>
                <p:nvPr/>
              </p:nvSpPr>
              <p:spPr bwMode="auto">
                <a:xfrm>
                  <a:off x="3312" y="1680"/>
                  <a:ext cx="86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495" name="Line 9"/>
                <p:cNvSpPr>
                  <a:spLocks noChangeShapeType="1"/>
                </p:cNvSpPr>
                <p:nvPr/>
              </p:nvSpPr>
              <p:spPr bwMode="auto">
                <a:xfrm>
                  <a:off x="3312" y="2304"/>
                  <a:ext cx="86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20493" name="Object 10"/>
              <p:cNvGraphicFramePr/>
              <p:nvPr/>
            </p:nvGraphicFramePr>
            <p:xfrm>
              <a:off x="4608" y="1632"/>
              <a:ext cx="280" cy="7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06" r:id="rId3" imgW="190500" imgH="457200" progId="Equation.3">
                      <p:embed/>
                    </p:oleObj>
                  </mc:Choice>
                  <mc:Fallback>
                    <p:oleObj r:id="rId3" imgW="190500" imgH="457200" progId="Equation.3">
                      <p:embed/>
                      <p:pic>
                        <p:nvPicPr>
                          <p:cNvPr id="0" name="Object 10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08" y="1632"/>
                            <a:ext cx="280" cy="7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0491" name="Text Box 11"/>
            <p:cNvSpPr txBox="1">
              <a:spLocks noChangeArrowheads="1"/>
            </p:cNvSpPr>
            <p:nvPr/>
          </p:nvSpPr>
          <p:spPr bwMode="auto">
            <a:xfrm>
              <a:off x="4944" y="3185"/>
              <a:ext cx="816" cy="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  <a:latin typeface="宋体" panose="02010600030101010101" pitchFamily="2" charset="-122"/>
                </a:rPr>
                <a:t>激发态</a:t>
              </a:r>
            </a:p>
            <a:p>
              <a:pPr>
                <a:lnSpc>
                  <a:spcPct val="15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400">
                  <a:solidFill>
                    <a:schemeClr val="accent2"/>
                  </a:solidFill>
                  <a:latin typeface="宋体" panose="02010600030101010101" pitchFamily="2" charset="-122"/>
                </a:rPr>
                <a:t>基态</a:t>
              </a:r>
            </a:p>
          </p:txBody>
        </p:sp>
      </p:grpSp>
      <p:grpSp>
        <p:nvGrpSpPr>
          <p:cNvPr id="5" name="Group 12"/>
          <p:cNvGrpSpPr/>
          <p:nvPr/>
        </p:nvGrpSpPr>
        <p:grpSpPr bwMode="auto">
          <a:xfrm>
            <a:off x="4211638" y="1052513"/>
            <a:ext cx="4932362" cy="4248150"/>
            <a:chOff x="2154" y="1362"/>
            <a:chExt cx="3606" cy="2975"/>
          </a:xfrm>
        </p:grpSpPr>
        <p:pic>
          <p:nvPicPr>
            <p:cNvPr id="20488" name="Picture 13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54" y="1362"/>
              <a:ext cx="3606" cy="295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folHlink"/>
              </a:solidFill>
              <a:miter lim="800000"/>
              <a:headEnd/>
              <a:tailEnd/>
            </a:ln>
          </p:spPr>
        </p:pic>
        <p:graphicFrame>
          <p:nvGraphicFramePr>
            <p:cNvPr id="20489" name="Object 14"/>
            <p:cNvGraphicFramePr/>
            <p:nvPr/>
          </p:nvGraphicFramePr>
          <p:xfrm>
            <a:off x="5148" y="4126"/>
            <a:ext cx="408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07" r:id="rId6" imgW="342265" imgH="177800" progId="Equation.3">
                    <p:embed/>
                  </p:oleObj>
                </mc:Choice>
                <mc:Fallback>
                  <p:oleObj r:id="rId6" imgW="342265" imgH="177800" progId="Equation.3">
                    <p:embed/>
                    <p:pic>
                      <p:nvPicPr>
                        <p:cNvPr id="0" name="Object 1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8" y="4126"/>
                          <a:ext cx="408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33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33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033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033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033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033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3218" grpId="0" build="p"/>
      <p:bldP spid="1033219" grpId="0"/>
      <p:bldP spid="1033220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E602EE8-28D8-49DB-A1BD-2D0ED8743CF4}" type="slidenum">
              <a:rPr altLang="zh-CN" sz="1400" smtClean="0"/>
              <a:t>18</a:t>
            </a:fld>
            <a:endParaRPr lang="zh-CN" altLang="zh-CN" sz="1400"/>
          </a:p>
        </p:txBody>
      </p:sp>
      <p:sp>
        <p:nvSpPr>
          <p:cNvPr id="1034242" name="Text Box 2"/>
          <p:cNvSpPr txBox="1">
            <a:spLocks noChangeArrowheads="1"/>
          </p:cNvSpPr>
          <p:nvPr/>
        </p:nvSpPr>
        <p:spPr bwMode="auto">
          <a:xfrm>
            <a:off x="4356100" y="188913"/>
            <a:ext cx="2663825" cy="457200"/>
          </a:xfrm>
          <a:prstGeom prst="rect">
            <a:avLst/>
          </a:prstGeom>
          <a:noFill/>
          <a:ln w="2857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2)  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实验曲线：</a:t>
            </a:r>
          </a:p>
        </p:txBody>
      </p:sp>
      <p:sp>
        <p:nvSpPr>
          <p:cNvPr id="1034243" name="Text Box 3"/>
          <p:cNvSpPr txBox="1">
            <a:spLocks noChangeArrowheads="1"/>
          </p:cNvSpPr>
          <p:nvPr/>
        </p:nvSpPr>
        <p:spPr bwMode="auto">
          <a:xfrm>
            <a:off x="3779838" y="901700"/>
            <a:ext cx="5688012" cy="1114425"/>
          </a:xfrm>
          <a:prstGeom prst="rect">
            <a:avLst/>
          </a:prstGeom>
          <a:noFill/>
          <a:ln w="2857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　加速电压每增加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4.9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伏时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, 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重复一个峰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,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　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汞原子吸收电子的能量是不连续的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.</a:t>
            </a:r>
          </a:p>
        </p:txBody>
      </p:sp>
      <p:grpSp>
        <p:nvGrpSpPr>
          <p:cNvPr id="21509" name="Group 4"/>
          <p:cNvGrpSpPr/>
          <p:nvPr/>
        </p:nvGrpSpPr>
        <p:grpSpPr bwMode="auto">
          <a:xfrm>
            <a:off x="3740150" y="2181225"/>
            <a:ext cx="5403850" cy="4338638"/>
            <a:chOff x="2154" y="1362"/>
            <a:chExt cx="3606" cy="2975"/>
          </a:xfrm>
        </p:grpSpPr>
        <p:pic>
          <p:nvPicPr>
            <p:cNvPr id="21515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54" y="1362"/>
              <a:ext cx="3606" cy="295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folHlink"/>
              </a:solidFill>
              <a:miter lim="800000"/>
              <a:headEnd/>
              <a:tailEnd/>
            </a:ln>
          </p:spPr>
        </p:pic>
        <p:graphicFrame>
          <p:nvGraphicFramePr>
            <p:cNvPr id="21516" name="Object 6"/>
            <p:cNvGraphicFramePr/>
            <p:nvPr/>
          </p:nvGraphicFramePr>
          <p:xfrm>
            <a:off x="5148" y="4126"/>
            <a:ext cx="408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27" r:id="rId4" imgW="342265" imgH="177800" progId="Equation.3">
                    <p:embed/>
                  </p:oleObj>
                </mc:Choice>
                <mc:Fallback>
                  <p:oleObj r:id="rId4" imgW="342265" imgH="177800" progId="Equation.3">
                    <p:embed/>
                    <p:pic>
                      <p:nvPicPr>
                        <p:cNvPr id="0" name="Object 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8" y="4126"/>
                          <a:ext cx="408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034247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38" y="71438"/>
            <a:ext cx="3886200" cy="2994025"/>
          </a:xfrm>
          <a:prstGeom prst="rect">
            <a:avLst/>
          </a:prstGeom>
          <a:solidFill>
            <a:schemeClr val="bg1"/>
          </a:solidFill>
          <a:ln w="19050">
            <a:solidFill>
              <a:schemeClr val="folHlink"/>
            </a:solidFill>
            <a:miter lim="800000"/>
            <a:headEnd/>
            <a:tailEnd/>
          </a:ln>
        </p:spPr>
      </p:pic>
      <p:sp>
        <p:nvSpPr>
          <p:cNvPr id="1034248" name="Rectangle 8"/>
          <p:cNvSpPr>
            <a:spLocks noChangeArrowheads="1"/>
          </p:cNvSpPr>
          <p:nvPr/>
        </p:nvSpPr>
        <p:spPr bwMode="auto">
          <a:xfrm>
            <a:off x="-252413" y="5746750"/>
            <a:ext cx="4105276" cy="9461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kumimoji="1" lang="zh-CN" altLang="en-US" sz="2800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弗兰克和赫兹因此</a:t>
            </a:r>
          </a:p>
          <a:p>
            <a:pPr algn="ctr">
              <a:defRPr/>
            </a:pPr>
            <a:r>
              <a:rPr kumimoji="1" lang="zh-CN" altLang="en-US" sz="2800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获</a:t>
            </a:r>
            <a:r>
              <a:rPr kumimoji="1" lang="en-US" altLang="zh-CN" sz="2800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1925</a:t>
            </a:r>
            <a:r>
              <a:rPr kumimoji="1" lang="zh-CN" altLang="en-US" sz="2800" b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年诺贝尔奖</a:t>
            </a:r>
          </a:p>
        </p:txBody>
      </p:sp>
      <p:sp>
        <p:nvSpPr>
          <p:cNvPr id="1034249" name="Text Box 9"/>
          <p:cNvSpPr txBox="1">
            <a:spLocks noChangeArrowheads="1"/>
          </p:cNvSpPr>
          <p:nvPr/>
        </p:nvSpPr>
        <p:spPr bwMode="auto">
          <a:xfrm>
            <a:off x="19050" y="3357563"/>
            <a:ext cx="8153400" cy="1004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Monotype Sorts"/>
              </a:rPr>
              <a:t>汞原子的基态</a:t>
            </a:r>
          </a:p>
          <a:p>
            <a:pPr>
              <a:spcBef>
                <a:spcPct val="50000"/>
              </a:spcBef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Monotype Sorts"/>
              </a:rPr>
              <a:t>和第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Monotype Sorts"/>
              </a:rPr>
              <a:t>1</a:t>
            </a: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Monotype Sorts"/>
              </a:rPr>
              <a:t>激发态的能量差是</a:t>
            </a:r>
          </a:p>
        </p:txBody>
      </p:sp>
      <p:graphicFrame>
        <p:nvGraphicFramePr>
          <p:cNvPr id="1034250" name="Object 10"/>
          <p:cNvGraphicFramePr/>
          <p:nvPr/>
        </p:nvGraphicFramePr>
        <p:xfrm>
          <a:off x="323850" y="4402138"/>
          <a:ext cx="230346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8" r:id="rId7" imgW="1170940" imgH="234315" progId="Equation.3">
                  <p:embed/>
                </p:oleObj>
              </mc:Choice>
              <mc:Fallback>
                <p:oleObj r:id="rId7" imgW="1170940" imgH="234315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402138"/>
                        <a:ext cx="2303463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251" name="Text Box 11"/>
          <p:cNvSpPr txBox="1">
            <a:spLocks noChangeArrowheads="1"/>
          </p:cNvSpPr>
          <p:nvPr/>
        </p:nvSpPr>
        <p:spPr bwMode="auto">
          <a:xfrm>
            <a:off x="0" y="5013325"/>
            <a:ext cx="4572000" cy="457200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从而证明了能级分立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034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34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034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1034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034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0342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34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34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034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42" grpId="0" build="p"/>
      <p:bldP spid="1034243" grpId="0" build="p"/>
      <p:bldP spid="1034248" grpId="0"/>
      <p:bldP spid="1034249" grpId="0" build="p"/>
      <p:bldP spid="103425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2D32C7-D26D-42A7-A945-3937C5B8D243}" type="slidenum">
              <a:rPr altLang="zh-CN" sz="1400" smtClean="0"/>
              <a:t>19</a:t>
            </a:fld>
            <a:endParaRPr lang="zh-CN" altLang="zh-CN" sz="1400"/>
          </a:p>
        </p:txBody>
      </p:sp>
      <p:sp>
        <p:nvSpPr>
          <p:cNvPr id="1054722" name="Text Box 2"/>
          <p:cNvSpPr txBox="1">
            <a:spLocks noChangeArrowheads="1"/>
          </p:cNvSpPr>
          <p:nvPr/>
        </p:nvSpPr>
        <p:spPr bwMode="auto">
          <a:xfrm>
            <a:off x="107950" y="188913"/>
            <a:ext cx="8785225" cy="9461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例</a:t>
            </a:r>
            <a:r>
              <a:rPr kumimoji="1" lang="en-US" altLang="zh-CN" sz="28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1.</a:t>
            </a:r>
            <a:r>
              <a:rPr kumimoji="1"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大量氢原子处于第</a:t>
            </a:r>
            <a:r>
              <a:rPr kumimoji="1"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3</a:t>
            </a:r>
            <a:r>
              <a:rPr kumimoji="1"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激发态，跃迁过程中能发出几条谱线？各属于哪个线系？</a:t>
            </a:r>
          </a:p>
        </p:txBody>
      </p:sp>
      <p:sp>
        <p:nvSpPr>
          <p:cNvPr id="1054723" name="Text Box 3"/>
          <p:cNvSpPr txBox="1">
            <a:spLocks noChangeArrowheads="1"/>
          </p:cNvSpPr>
          <p:nvPr/>
        </p:nvSpPr>
        <p:spPr bwMode="auto">
          <a:xfrm>
            <a:off x="250825" y="1268413"/>
            <a:ext cx="8893175" cy="1373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8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kumimoji="1" lang="zh-CN" altLang="en-US" sz="28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解</a:t>
            </a:r>
            <a:r>
              <a:rPr kumimoji="1" lang="en-US" altLang="zh-CN" sz="28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:</a:t>
            </a:r>
            <a:r>
              <a:rPr kumimoji="1"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 </a:t>
            </a:r>
            <a:r>
              <a:rPr kumimoji="1"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实验证明</a:t>
            </a:r>
            <a:r>
              <a:rPr kumimoji="1"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,</a:t>
            </a:r>
            <a:r>
              <a:rPr kumimoji="1"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基态是稳定的。处于激发态上的原子会自发的向低能态跃迁。</a:t>
            </a:r>
          </a:p>
          <a:p>
            <a:pPr eaLnBrk="1" hangingPunct="1">
              <a:defRPr/>
            </a:pPr>
            <a:r>
              <a:rPr kumimoji="1"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       </a:t>
            </a:r>
          </a:p>
        </p:txBody>
      </p:sp>
      <p:grpSp>
        <p:nvGrpSpPr>
          <p:cNvPr id="2" name="Group 4"/>
          <p:cNvGrpSpPr/>
          <p:nvPr/>
        </p:nvGrpSpPr>
        <p:grpSpPr bwMode="auto">
          <a:xfrm>
            <a:off x="5592763" y="2676525"/>
            <a:ext cx="3238500" cy="3489325"/>
            <a:chOff x="3633" y="1222"/>
            <a:chExt cx="2040" cy="2198"/>
          </a:xfrm>
        </p:grpSpPr>
        <p:grpSp>
          <p:nvGrpSpPr>
            <p:cNvPr id="22545" name="Group 5"/>
            <p:cNvGrpSpPr/>
            <p:nvPr/>
          </p:nvGrpSpPr>
          <p:grpSpPr bwMode="auto">
            <a:xfrm>
              <a:off x="3633" y="1222"/>
              <a:ext cx="2040" cy="2198"/>
              <a:chOff x="3633" y="1222"/>
              <a:chExt cx="2040" cy="2198"/>
            </a:xfrm>
          </p:grpSpPr>
          <p:grpSp>
            <p:nvGrpSpPr>
              <p:cNvPr id="22547" name="Group 6"/>
              <p:cNvGrpSpPr/>
              <p:nvPr/>
            </p:nvGrpSpPr>
            <p:grpSpPr bwMode="auto">
              <a:xfrm>
                <a:off x="4125" y="1416"/>
                <a:ext cx="1404" cy="1631"/>
                <a:chOff x="4356" y="2299"/>
                <a:chExt cx="1234" cy="1145"/>
              </a:xfrm>
            </p:grpSpPr>
            <p:sp>
              <p:nvSpPr>
                <p:cNvPr id="22559" name="Line 7"/>
                <p:cNvSpPr>
                  <a:spLocks noChangeShapeType="1"/>
                </p:cNvSpPr>
                <p:nvPr/>
              </p:nvSpPr>
              <p:spPr bwMode="auto">
                <a:xfrm>
                  <a:off x="4401" y="3444"/>
                  <a:ext cx="1189" cy="0"/>
                </a:xfrm>
                <a:prstGeom prst="line">
                  <a:avLst/>
                </a:prstGeom>
                <a:noFill/>
                <a:ln w="28575">
                  <a:solidFill>
                    <a:srgbClr val="0033CC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60" name="Line 8"/>
                <p:cNvSpPr>
                  <a:spLocks noChangeShapeType="1"/>
                </p:cNvSpPr>
                <p:nvPr/>
              </p:nvSpPr>
              <p:spPr bwMode="auto">
                <a:xfrm>
                  <a:off x="4363" y="2785"/>
                  <a:ext cx="1189" cy="0"/>
                </a:xfrm>
                <a:prstGeom prst="line">
                  <a:avLst/>
                </a:prstGeom>
                <a:noFill/>
                <a:ln w="28575">
                  <a:solidFill>
                    <a:srgbClr val="0033CC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61" name="Line 9"/>
                <p:cNvSpPr>
                  <a:spLocks noChangeShapeType="1"/>
                </p:cNvSpPr>
                <p:nvPr/>
              </p:nvSpPr>
              <p:spPr bwMode="auto">
                <a:xfrm>
                  <a:off x="4359" y="2458"/>
                  <a:ext cx="1189" cy="0"/>
                </a:xfrm>
                <a:prstGeom prst="line">
                  <a:avLst/>
                </a:prstGeom>
                <a:noFill/>
                <a:ln w="28575">
                  <a:solidFill>
                    <a:srgbClr val="0033CC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62" name="Line 10"/>
                <p:cNvSpPr>
                  <a:spLocks noChangeShapeType="1"/>
                </p:cNvSpPr>
                <p:nvPr/>
              </p:nvSpPr>
              <p:spPr bwMode="auto">
                <a:xfrm>
                  <a:off x="4356" y="2299"/>
                  <a:ext cx="1189" cy="0"/>
                </a:xfrm>
                <a:prstGeom prst="line">
                  <a:avLst/>
                </a:prstGeom>
                <a:noFill/>
                <a:ln w="28575">
                  <a:solidFill>
                    <a:srgbClr val="0033CC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548" name="Group 11"/>
              <p:cNvGrpSpPr/>
              <p:nvPr/>
            </p:nvGrpSpPr>
            <p:grpSpPr bwMode="auto">
              <a:xfrm>
                <a:off x="3633" y="1236"/>
                <a:ext cx="614" cy="1905"/>
                <a:chOff x="3798" y="1999"/>
                <a:chExt cx="614" cy="1520"/>
              </a:xfrm>
            </p:grpSpPr>
            <p:sp>
              <p:nvSpPr>
                <p:cNvPr id="22555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3867" y="3289"/>
                  <a:ext cx="545" cy="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400" i="1"/>
                    <a:t>-13.6</a:t>
                  </a:r>
                </a:p>
              </p:txBody>
            </p:sp>
            <p:sp>
              <p:nvSpPr>
                <p:cNvPr id="22556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3918" y="2541"/>
                  <a:ext cx="478" cy="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400" i="1"/>
                    <a:t>-3.4</a:t>
                  </a:r>
                </a:p>
              </p:txBody>
            </p:sp>
            <p:sp>
              <p:nvSpPr>
                <p:cNvPr id="22557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3814" y="2159"/>
                  <a:ext cx="533" cy="2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400" i="1"/>
                    <a:t>-1.51</a:t>
                  </a:r>
                </a:p>
              </p:txBody>
            </p:sp>
            <p:sp>
              <p:nvSpPr>
                <p:cNvPr id="22558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3798" y="1999"/>
                  <a:ext cx="533" cy="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400" i="1"/>
                    <a:t>-0.85</a:t>
                  </a:r>
                </a:p>
              </p:txBody>
            </p:sp>
          </p:grpSp>
          <p:grpSp>
            <p:nvGrpSpPr>
              <p:cNvPr id="22549" name="Group 16"/>
              <p:cNvGrpSpPr/>
              <p:nvPr/>
            </p:nvGrpSpPr>
            <p:grpSpPr bwMode="auto">
              <a:xfrm>
                <a:off x="5453" y="1222"/>
                <a:ext cx="220" cy="1917"/>
                <a:chOff x="5376" y="1988"/>
                <a:chExt cx="220" cy="1530"/>
              </a:xfrm>
            </p:grpSpPr>
            <p:sp>
              <p:nvSpPr>
                <p:cNvPr id="22551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5421" y="3289"/>
                  <a:ext cx="175" cy="2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400"/>
                    <a:t>1</a:t>
                  </a:r>
                  <a:endParaRPr lang="en-US" altLang="zh-CN" sz="2400" i="1"/>
                </a:p>
              </p:txBody>
            </p:sp>
            <p:sp>
              <p:nvSpPr>
                <p:cNvPr id="22552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5395" y="2541"/>
                  <a:ext cx="175" cy="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400"/>
                    <a:t>2</a:t>
                  </a:r>
                  <a:endParaRPr lang="en-US" altLang="zh-CN" sz="2400" i="1"/>
                </a:p>
              </p:txBody>
            </p:sp>
            <p:sp>
              <p:nvSpPr>
                <p:cNvPr id="22553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5380" y="2159"/>
                  <a:ext cx="194" cy="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400"/>
                    <a:t>3</a:t>
                  </a:r>
                  <a:endParaRPr lang="en-US" altLang="zh-CN" sz="2400" i="1"/>
                </a:p>
              </p:txBody>
            </p:sp>
            <p:sp>
              <p:nvSpPr>
                <p:cNvPr id="22554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5376" y="1988"/>
                  <a:ext cx="194" cy="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400"/>
                    <a:t>4</a:t>
                  </a:r>
                  <a:endParaRPr lang="en-US" altLang="zh-CN" sz="2400" i="1"/>
                </a:p>
              </p:txBody>
            </p:sp>
          </p:grpSp>
          <p:sp>
            <p:nvSpPr>
              <p:cNvPr id="22550" name="Text Box 21"/>
              <p:cNvSpPr txBox="1">
                <a:spLocks noChangeArrowheads="1"/>
              </p:cNvSpPr>
              <p:nvPr/>
            </p:nvSpPr>
            <p:spPr bwMode="auto">
              <a:xfrm>
                <a:off x="4443" y="3132"/>
                <a:ext cx="77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zh-CN" sz="2400" b="0" i="1"/>
              </a:p>
            </p:txBody>
          </p:sp>
        </p:grpSp>
        <p:sp>
          <p:nvSpPr>
            <p:cNvPr id="22546" name="Oval 22"/>
            <p:cNvSpPr>
              <a:spLocks noChangeArrowheads="1"/>
            </p:cNvSpPr>
            <p:nvPr/>
          </p:nvSpPr>
          <p:spPr bwMode="auto">
            <a:xfrm>
              <a:off x="4667" y="1223"/>
              <a:ext cx="154" cy="164"/>
            </a:xfrm>
            <a:prstGeom prst="ellipse">
              <a:avLst/>
            </a:prstGeom>
            <a:solidFill>
              <a:srgbClr val="CCFFFF"/>
            </a:solidFill>
            <a:ln w="28575">
              <a:solidFill>
                <a:schemeClr val="tx2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accent2"/>
                </a:solidFill>
                <a:ea typeface="楷体_GB2312" panose="02010609030101010101" pitchFamily="49" charset="-122"/>
              </a:endParaRPr>
            </a:p>
          </p:txBody>
        </p:sp>
      </p:grpSp>
      <p:sp>
        <p:nvSpPr>
          <p:cNvPr id="1054743" name="Line 23"/>
          <p:cNvSpPr>
            <a:spLocks noChangeShapeType="1"/>
          </p:cNvSpPr>
          <p:nvPr/>
        </p:nvSpPr>
        <p:spPr bwMode="auto">
          <a:xfrm>
            <a:off x="6599238" y="4092575"/>
            <a:ext cx="0" cy="1481138"/>
          </a:xfrm>
          <a:prstGeom prst="line">
            <a:avLst/>
          </a:prstGeom>
          <a:noFill/>
          <a:ln w="38100">
            <a:solidFill>
              <a:srgbClr val="990099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744" name="Line 24"/>
          <p:cNvSpPr>
            <a:spLocks noChangeShapeType="1"/>
          </p:cNvSpPr>
          <p:nvPr/>
        </p:nvSpPr>
        <p:spPr bwMode="auto">
          <a:xfrm>
            <a:off x="6734175" y="3344863"/>
            <a:ext cx="0" cy="2205037"/>
          </a:xfrm>
          <a:prstGeom prst="line">
            <a:avLst/>
          </a:prstGeom>
          <a:noFill/>
          <a:ln w="38100">
            <a:solidFill>
              <a:srgbClr val="990099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745" name="Line 25"/>
          <p:cNvSpPr>
            <a:spLocks noChangeShapeType="1"/>
          </p:cNvSpPr>
          <p:nvPr/>
        </p:nvSpPr>
        <p:spPr bwMode="auto">
          <a:xfrm>
            <a:off x="6886575" y="2986088"/>
            <a:ext cx="0" cy="2576512"/>
          </a:xfrm>
          <a:prstGeom prst="line">
            <a:avLst/>
          </a:prstGeom>
          <a:noFill/>
          <a:ln w="38100">
            <a:solidFill>
              <a:srgbClr val="990099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746" name="Line 26"/>
          <p:cNvSpPr>
            <a:spLocks noChangeShapeType="1"/>
          </p:cNvSpPr>
          <p:nvPr/>
        </p:nvSpPr>
        <p:spPr bwMode="auto">
          <a:xfrm>
            <a:off x="7493000" y="2990850"/>
            <a:ext cx="0" cy="1095375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747" name="Line 27"/>
          <p:cNvSpPr>
            <a:spLocks noChangeShapeType="1"/>
          </p:cNvSpPr>
          <p:nvPr/>
        </p:nvSpPr>
        <p:spPr bwMode="auto">
          <a:xfrm>
            <a:off x="7364413" y="3340100"/>
            <a:ext cx="0" cy="741363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748" name="Line 28"/>
          <p:cNvSpPr>
            <a:spLocks noChangeShapeType="1"/>
          </p:cNvSpPr>
          <p:nvPr/>
        </p:nvSpPr>
        <p:spPr bwMode="auto">
          <a:xfrm>
            <a:off x="8115300" y="2978150"/>
            <a:ext cx="0" cy="37465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749" name="Text Box 29"/>
          <p:cNvSpPr txBox="1">
            <a:spLocks noChangeArrowheads="1"/>
          </p:cNvSpPr>
          <p:nvPr/>
        </p:nvSpPr>
        <p:spPr bwMode="auto">
          <a:xfrm>
            <a:off x="650875" y="3811588"/>
            <a:ext cx="1860550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六条谱线</a:t>
            </a:r>
          </a:p>
        </p:txBody>
      </p:sp>
      <p:sp>
        <p:nvSpPr>
          <p:cNvPr id="1054750" name="AutoShape 30"/>
          <p:cNvSpPr/>
          <p:nvPr/>
        </p:nvSpPr>
        <p:spPr bwMode="auto">
          <a:xfrm>
            <a:off x="2173288" y="2592388"/>
            <a:ext cx="492125" cy="3048000"/>
          </a:xfrm>
          <a:prstGeom prst="leftBrace">
            <a:avLst>
              <a:gd name="adj1" fmla="val 51527"/>
              <a:gd name="adj2" fmla="val 50000"/>
            </a:avLst>
          </a:prstGeom>
          <a:noFill/>
          <a:ln w="28575">
            <a:solidFill>
              <a:srgbClr val="99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400">
              <a:solidFill>
                <a:schemeClr val="accent2"/>
              </a:solidFill>
              <a:ea typeface="楷体_GB2312" panose="02010609030101010101" pitchFamily="49" charset="-122"/>
            </a:endParaRPr>
          </a:p>
        </p:txBody>
      </p:sp>
      <p:sp>
        <p:nvSpPr>
          <p:cNvPr id="1054751" name="Text Box 31"/>
          <p:cNvSpPr txBox="1">
            <a:spLocks noChangeArrowheads="1"/>
          </p:cNvSpPr>
          <p:nvPr/>
        </p:nvSpPr>
        <p:spPr bwMode="auto">
          <a:xfrm>
            <a:off x="2555875" y="2592388"/>
            <a:ext cx="2447925" cy="9890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sz="280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喇曼系</a:t>
            </a:r>
            <a:r>
              <a:rPr kumimoji="1" lang="en-US" altLang="zh-CN" sz="280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3</a:t>
            </a:r>
            <a:r>
              <a:rPr kumimoji="1" lang="zh-CN" altLang="en-US" sz="280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条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sz="280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——</a:t>
            </a:r>
            <a:r>
              <a:rPr kumimoji="1" lang="zh-CN" altLang="en-US" sz="280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紫外线</a:t>
            </a:r>
          </a:p>
        </p:txBody>
      </p:sp>
      <p:sp>
        <p:nvSpPr>
          <p:cNvPr id="1054752" name="Text Box 32"/>
          <p:cNvSpPr txBox="1">
            <a:spLocks noChangeArrowheads="1"/>
          </p:cNvSpPr>
          <p:nvPr/>
        </p:nvSpPr>
        <p:spPr bwMode="auto">
          <a:xfrm>
            <a:off x="2555875" y="3644900"/>
            <a:ext cx="2447925" cy="989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sz="2800">
                <a:solidFill>
                  <a:srgbClr val="33CC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巴耳末系</a:t>
            </a:r>
            <a:r>
              <a:rPr kumimoji="1" lang="en-US" altLang="zh-CN" sz="2800">
                <a:solidFill>
                  <a:srgbClr val="33CC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2</a:t>
            </a:r>
            <a:r>
              <a:rPr kumimoji="1" lang="zh-CN" altLang="en-US" sz="2800">
                <a:solidFill>
                  <a:srgbClr val="33CC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条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sz="2800">
                <a:solidFill>
                  <a:srgbClr val="33CC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——</a:t>
            </a:r>
            <a:r>
              <a:rPr kumimoji="1" lang="zh-CN" altLang="en-US" sz="2800">
                <a:solidFill>
                  <a:srgbClr val="33CC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可见光</a:t>
            </a:r>
          </a:p>
        </p:txBody>
      </p:sp>
      <p:sp>
        <p:nvSpPr>
          <p:cNvPr id="1054753" name="Text Box 33"/>
          <p:cNvSpPr txBox="1">
            <a:spLocks noChangeArrowheads="1"/>
          </p:cNvSpPr>
          <p:nvPr/>
        </p:nvSpPr>
        <p:spPr bwMode="auto">
          <a:xfrm>
            <a:off x="2555875" y="4802188"/>
            <a:ext cx="2447925" cy="9890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帕邢系</a:t>
            </a:r>
            <a:r>
              <a:rPr kumimoji="1" lang="en-US" altLang="zh-CN" sz="2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1</a:t>
            </a:r>
            <a:r>
              <a:rPr kumimoji="1" lang="zh-CN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条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en-US" altLang="zh-CN" sz="2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——</a:t>
            </a:r>
            <a:r>
              <a:rPr kumimoji="1" lang="zh-CN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红外线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4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54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54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54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54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54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54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54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54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7" dur="500"/>
                                        <p:tgtEl>
                                          <p:spTgt spid="1054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1054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1054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1054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23" grpId="0" build="p"/>
      <p:bldP spid="1054749" grpId="0"/>
      <p:bldP spid="1054750" grpId="0" animBg="1"/>
      <p:bldP spid="1054751" grpId="0"/>
      <p:bldP spid="1054752" grpId="0"/>
      <p:bldP spid="105475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A2C8D8-BBD9-4733-8A33-2173E74226C2}" type="slidenum">
              <a:rPr altLang="zh-CN" sz="1400" smtClean="0"/>
              <a:t>20</a:t>
            </a:fld>
            <a:endParaRPr lang="zh-CN" altLang="zh-CN" sz="1400"/>
          </a:p>
        </p:txBody>
      </p:sp>
      <p:sp>
        <p:nvSpPr>
          <p:cNvPr id="1064962" name="Text Box 2"/>
          <p:cNvSpPr txBox="1">
            <a:spLocks noChangeArrowheads="1"/>
          </p:cNvSpPr>
          <p:nvPr/>
        </p:nvSpPr>
        <p:spPr bwMode="auto">
          <a:xfrm>
            <a:off x="468313" y="188913"/>
            <a:ext cx="7559675" cy="9461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952500" indent="-952500" defTabSz="1046480" eaLnBrk="1" hangingPunct="1">
              <a:spcBef>
                <a:spcPct val="50000"/>
              </a:spcBef>
              <a:defRPr/>
            </a:pPr>
            <a:r>
              <a:rPr kumimoji="1" lang="zh-CN" altLang="en-US" sz="28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例</a:t>
            </a:r>
            <a:r>
              <a:rPr kumimoji="1" lang="en-US" altLang="zh-CN" sz="28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2.</a:t>
            </a:r>
            <a:r>
              <a:rPr kumimoji="1"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氢原子光谱的</a:t>
            </a:r>
            <a:r>
              <a:rPr kumimoji="1" lang="zh-CN" altLang="en-US" sz="2800" dirty="0">
                <a:solidFill>
                  <a:srgbClr val="00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巴耳末</a:t>
            </a:r>
            <a:r>
              <a:rPr kumimoji="1"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系中波长最大的  谱线 </a:t>
            </a:r>
            <a:r>
              <a:rPr kumimoji="1"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kumimoji="1"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，其次为 </a:t>
            </a:r>
            <a:r>
              <a:rPr kumimoji="1" lang="en-US" altLang="zh-CN" sz="2800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kumimoji="1"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，求比值 </a:t>
            </a:r>
            <a:r>
              <a:rPr kumimoji="1" lang="en-US" altLang="zh-CN" sz="2800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kumimoji="1"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/ </a:t>
            </a:r>
            <a:r>
              <a:rPr kumimoji="1" lang="en-US" altLang="zh-CN" sz="2800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2  </a:t>
            </a:r>
            <a:r>
              <a:rPr kumimoji="1"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064963" name="Text Box 3"/>
          <p:cNvSpPr txBox="1">
            <a:spLocks noChangeArrowheads="1"/>
          </p:cNvSpPr>
          <p:nvPr/>
        </p:nvSpPr>
        <p:spPr bwMode="auto">
          <a:xfrm>
            <a:off x="533400" y="1662113"/>
            <a:ext cx="1014413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解：</a:t>
            </a:r>
          </a:p>
        </p:txBody>
      </p:sp>
      <p:grpSp>
        <p:nvGrpSpPr>
          <p:cNvPr id="2" name="Group 4"/>
          <p:cNvGrpSpPr/>
          <p:nvPr/>
        </p:nvGrpSpPr>
        <p:grpSpPr bwMode="auto">
          <a:xfrm>
            <a:off x="1292225" y="1600200"/>
            <a:ext cx="3051175" cy="2649538"/>
            <a:chOff x="814" y="1248"/>
            <a:chExt cx="1922" cy="1669"/>
          </a:xfrm>
        </p:grpSpPr>
        <p:grpSp>
          <p:nvGrpSpPr>
            <p:cNvPr id="23572" name="Group 5"/>
            <p:cNvGrpSpPr/>
            <p:nvPr/>
          </p:nvGrpSpPr>
          <p:grpSpPr bwMode="auto">
            <a:xfrm>
              <a:off x="814" y="1248"/>
              <a:ext cx="1922" cy="1669"/>
              <a:chOff x="48" y="1243"/>
              <a:chExt cx="1872" cy="1678"/>
            </a:xfrm>
          </p:grpSpPr>
          <p:sp>
            <p:nvSpPr>
              <p:cNvPr id="23575" name="Text Box 6"/>
              <p:cNvSpPr txBox="1">
                <a:spLocks noChangeArrowheads="1"/>
              </p:cNvSpPr>
              <p:nvPr/>
            </p:nvSpPr>
            <p:spPr bwMode="auto">
              <a:xfrm>
                <a:off x="206" y="1243"/>
                <a:ext cx="466" cy="2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zh-CN" sz="2400" b="0"/>
              </a:p>
            </p:txBody>
          </p:sp>
          <p:sp>
            <p:nvSpPr>
              <p:cNvPr id="23576" name="Line 7"/>
              <p:cNvSpPr>
                <a:spLocks noChangeShapeType="1"/>
              </p:cNvSpPr>
              <p:nvPr/>
            </p:nvSpPr>
            <p:spPr bwMode="auto">
              <a:xfrm>
                <a:off x="864" y="1488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77" name="Line 8"/>
              <p:cNvSpPr>
                <a:spLocks noChangeShapeType="1"/>
              </p:cNvSpPr>
              <p:nvPr/>
            </p:nvSpPr>
            <p:spPr bwMode="auto">
              <a:xfrm>
                <a:off x="864" y="1968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78" name="Line 9"/>
              <p:cNvSpPr>
                <a:spLocks noChangeShapeType="1"/>
              </p:cNvSpPr>
              <p:nvPr/>
            </p:nvSpPr>
            <p:spPr bwMode="auto">
              <a:xfrm>
                <a:off x="816" y="2784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79" name="Text Box 10"/>
              <p:cNvSpPr txBox="1">
                <a:spLocks noChangeArrowheads="1"/>
              </p:cNvSpPr>
              <p:nvPr/>
            </p:nvSpPr>
            <p:spPr bwMode="auto">
              <a:xfrm>
                <a:off x="48" y="2592"/>
                <a:ext cx="960" cy="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/>
                  <a:t>   </a:t>
                </a:r>
                <a:r>
                  <a:rPr lang="en-US" altLang="zh-CN" sz="2800">
                    <a:solidFill>
                      <a:srgbClr val="003300"/>
                    </a:solidFill>
                  </a:rPr>
                  <a:t>n =2</a:t>
                </a:r>
              </a:p>
            </p:txBody>
          </p:sp>
        </p:grpSp>
        <p:sp>
          <p:nvSpPr>
            <p:cNvPr id="23573" name="Text Box 11"/>
            <p:cNvSpPr txBox="1">
              <a:spLocks noChangeArrowheads="1"/>
            </p:cNvSpPr>
            <p:nvPr/>
          </p:nvSpPr>
          <p:spPr bwMode="auto">
            <a:xfrm>
              <a:off x="912" y="1776"/>
              <a:ext cx="7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/>
                <a:t> </a:t>
              </a:r>
              <a:r>
                <a:rPr lang="en-US" altLang="zh-CN" sz="2800">
                  <a:solidFill>
                    <a:srgbClr val="003300"/>
                  </a:solidFill>
                </a:rPr>
                <a:t>n =3</a:t>
              </a:r>
            </a:p>
          </p:txBody>
        </p:sp>
        <p:sp>
          <p:nvSpPr>
            <p:cNvPr id="23574" name="Text Box 12"/>
            <p:cNvSpPr txBox="1">
              <a:spLocks noChangeArrowheads="1"/>
            </p:cNvSpPr>
            <p:nvPr/>
          </p:nvSpPr>
          <p:spPr bwMode="auto">
            <a:xfrm>
              <a:off x="912" y="1305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/>
                <a:t> </a:t>
              </a:r>
              <a:r>
                <a:rPr lang="en-US" altLang="zh-CN" sz="2800">
                  <a:solidFill>
                    <a:srgbClr val="003300"/>
                  </a:solidFill>
                </a:rPr>
                <a:t>n =4</a:t>
              </a:r>
            </a:p>
          </p:txBody>
        </p:sp>
      </p:grpSp>
      <p:grpSp>
        <p:nvGrpSpPr>
          <p:cNvPr id="4" name="Group 13"/>
          <p:cNvGrpSpPr/>
          <p:nvPr/>
        </p:nvGrpSpPr>
        <p:grpSpPr bwMode="auto">
          <a:xfrm>
            <a:off x="2895600" y="3429000"/>
            <a:ext cx="1981200" cy="457200"/>
            <a:chOff x="1104" y="2304"/>
            <a:chExt cx="1248" cy="288"/>
          </a:xfrm>
        </p:grpSpPr>
        <p:sp>
          <p:nvSpPr>
            <p:cNvPr id="23570" name="Freeform 14"/>
            <p:cNvSpPr>
              <a:spLocks noChangeArrowheads="1"/>
            </p:cNvSpPr>
            <p:nvPr/>
          </p:nvSpPr>
          <p:spPr bwMode="auto">
            <a:xfrm>
              <a:off x="1104" y="2304"/>
              <a:ext cx="816" cy="144"/>
            </a:xfrm>
            <a:custGeom>
              <a:avLst/>
              <a:gdLst>
                <a:gd name="T0" fmla="*/ 0 w 1024"/>
                <a:gd name="T1" fmla="*/ 56 h 330"/>
                <a:gd name="T2" fmla="*/ 65 w 1024"/>
                <a:gd name="T3" fmla="*/ 54 h 330"/>
                <a:gd name="T4" fmla="*/ 120 w 1024"/>
                <a:gd name="T5" fmla="*/ 1 h 330"/>
                <a:gd name="T6" fmla="*/ 201 w 1024"/>
                <a:gd name="T7" fmla="*/ 58 h 330"/>
                <a:gd name="T8" fmla="*/ 281 w 1024"/>
                <a:gd name="T9" fmla="*/ 1 h 330"/>
                <a:gd name="T10" fmla="*/ 346 w 1024"/>
                <a:gd name="T11" fmla="*/ 61 h 330"/>
                <a:gd name="T12" fmla="*/ 434 w 1024"/>
                <a:gd name="T13" fmla="*/ 3 h 330"/>
                <a:gd name="T14" fmla="*/ 481 w 1024"/>
                <a:gd name="T15" fmla="*/ 56 h 330"/>
                <a:gd name="T16" fmla="*/ 521 w 1024"/>
                <a:gd name="T17" fmla="*/ 30 h 330"/>
                <a:gd name="T18" fmla="*/ 650 w 1024"/>
                <a:gd name="T19" fmla="*/ 27 h 3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24" h="330">
                  <a:moveTo>
                    <a:pt x="0" y="294"/>
                  </a:moveTo>
                  <a:cubicBezTo>
                    <a:pt x="35" y="312"/>
                    <a:pt x="70" y="330"/>
                    <a:pt x="102" y="282"/>
                  </a:cubicBezTo>
                  <a:cubicBezTo>
                    <a:pt x="134" y="234"/>
                    <a:pt x="154" y="0"/>
                    <a:pt x="190" y="4"/>
                  </a:cubicBezTo>
                  <a:cubicBezTo>
                    <a:pt x="226" y="8"/>
                    <a:pt x="274" y="307"/>
                    <a:pt x="316" y="307"/>
                  </a:cubicBezTo>
                  <a:cubicBezTo>
                    <a:pt x="358" y="307"/>
                    <a:pt x="405" y="2"/>
                    <a:pt x="443" y="4"/>
                  </a:cubicBezTo>
                  <a:cubicBezTo>
                    <a:pt x="481" y="6"/>
                    <a:pt x="504" y="317"/>
                    <a:pt x="544" y="319"/>
                  </a:cubicBezTo>
                  <a:cubicBezTo>
                    <a:pt x="584" y="321"/>
                    <a:pt x="647" y="20"/>
                    <a:pt x="683" y="16"/>
                  </a:cubicBezTo>
                  <a:cubicBezTo>
                    <a:pt x="719" y="12"/>
                    <a:pt x="735" y="271"/>
                    <a:pt x="758" y="294"/>
                  </a:cubicBezTo>
                  <a:cubicBezTo>
                    <a:pt x="781" y="317"/>
                    <a:pt x="777" y="180"/>
                    <a:pt x="821" y="155"/>
                  </a:cubicBezTo>
                  <a:cubicBezTo>
                    <a:pt x="865" y="130"/>
                    <a:pt x="990" y="143"/>
                    <a:pt x="1024" y="143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1" name="Text Box 15"/>
            <p:cNvSpPr txBox="1">
              <a:spLocks noChangeArrowheads="1"/>
            </p:cNvSpPr>
            <p:nvPr/>
          </p:nvSpPr>
          <p:spPr bwMode="auto">
            <a:xfrm>
              <a:off x="1920" y="2304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sym typeface="Symbol" panose="05050102010706020507" pitchFamily="18" charset="2"/>
                </a:rPr>
                <a:t></a:t>
              </a:r>
              <a:r>
                <a:rPr lang="en-US" altLang="zh-CN" sz="2400" baseline="-25000">
                  <a:solidFill>
                    <a:srgbClr val="FF0000"/>
                  </a:solidFill>
                  <a:sym typeface="Symbol" panose="05050102010706020507" pitchFamily="18" charset="2"/>
                </a:rPr>
                <a:t>1</a:t>
              </a:r>
            </a:p>
          </p:txBody>
        </p:sp>
      </p:grpSp>
      <p:grpSp>
        <p:nvGrpSpPr>
          <p:cNvPr id="5" name="Group 16"/>
          <p:cNvGrpSpPr/>
          <p:nvPr/>
        </p:nvGrpSpPr>
        <p:grpSpPr bwMode="auto">
          <a:xfrm>
            <a:off x="3508375" y="2438400"/>
            <a:ext cx="1597025" cy="457200"/>
            <a:chOff x="1440" y="1776"/>
            <a:chExt cx="1006" cy="288"/>
          </a:xfrm>
        </p:grpSpPr>
        <p:sp>
          <p:nvSpPr>
            <p:cNvPr id="23568" name="Freeform 17"/>
            <p:cNvSpPr>
              <a:spLocks noChangeArrowheads="1"/>
            </p:cNvSpPr>
            <p:nvPr/>
          </p:nvSpPr>
          <p:spPr bwMode="auto">
            <a:xfrm>
              <a:off x="1440" y="1872"/>
              <a:ext cx="672" cy="192"/>
            </a:xfrm>
            <a:custGeom>
              <a:avLst/>
              <a:gdLst>
                <a:gd name="T0" fmla="*/ 0 w 1024"/>
                <a:gd name="T1" fmla="*/ 99 h 330"/>
                <a:gd name="T2" fmla="*/ 44 w 1024"/>
                <a:gd name="T3" fmla="*/ 95 h 330"/>
                <a:gd name="T4" fmla="*/ 82 w 1024"/>
                <a:gd name="T5" fmla="*/ 1 h 330"/>
                <a:gd name="T6" fmla="*/ 136 w 1024"/>
                <a:gd name="T7" fmla="*/ 104 h 330"/>
                <a:gd name="T8" fmla="*/ 191 w 1024"/>
                <a:gd name="T9" fmla="*/ 1 h 330"/>
                <a:gd name="T10" fmla="*/ 234 w 1024"/>
                <a:gd name="T11" fmla="*/ 108 h 330"/>
                <a:gd name="T12" fmla="*/ 294 w 1024"/>
                <a:gd name="T13" fmla="*/ 5 h 330"/>
                <a:gd name="T14" fmla="*/ 326 w 1024"/>
                <a:gd name="T15" fmla="*/ 99 h 330"/>
                <a:gd name="T16" fmla="*/ 354 w 1024"/>
                <a:gd name="T17" fmla="*/ 52 h 330"/>
                <a:gd name="T18" fmla="*/ 441 w 1024"/>
                <a:gd name="T19" fmla="*/ 48 h 3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24" h="330">
                  <a:moveTo>
                    <a:pt x="0" y="294"/>
                  </a:moveTo>
                  <a:cubicBezTo>
                    <a:pt x="35" y="312"/>
                    <a:pt x="70" y="330"/>
                    <a:pt x="102" y="282"/>
                  </a:cubicBezTo>
                  <a:cubicBezTo>
                    <a:pt x="134" y="234"/>
                    <a:pt x="154" y="0"/>
                    <a:pt x="190" y="4"/>
                  </a:cubicBezTo>
                  <a:cubicBezTo>
                    <a:pt x="226" y="8"/>
                    <a:pt x="274" y="307"/>
                    <a:pt x="316" y="307"/>
                  </a:cubicBezTo>
                  <a:cubicBezTo>
                    <a:pt x="358" y="307"/>
                    <a:pt x="405" y="2"/>
                    <a:pt x="443" y="4"/>
                  </a:cubicBezTo>
                  <a:cubicBezTo>
                    <a:pt x="481" y="6"/>
                    <a:pt x="504" y="317"/>
                    <a:pt x="544" y="319"/>
                  </a:cubicBezTo>
                  <a:cubicBezTo>
                    <a:pt x="584" y="321"/>
                    <a:pt x="647" y="20"/>
                    <a:pt x="683" y="16"/>
                  </a:cubicBezTo>
                  <a:cubicBezTo>
                    <a:pt x="719" y="12"/>
                    <a:pt x="735" y="271"/>
                    <a:pt x="758" y="294"/>
                  </a:cubicBezTo>
                  <a:cubicBezTo>
                    <a:pt x="781" y="317"/>
                    <a:pt x="777" y="180"/>
                    <a:pt x="821" y="155"/>
                  </a:cubicBezTo>
                  <a:cubicBezTo>
                    <a:pt x="865" y="130"/>
                    <a:pt x="990" y="143"/>
                    <a:pt x="1024" y="143"/>
                  </a:cubicBezTo>
                </a:path>
              </a:pathLst>
            </a:custGeom>
            <a:noFill/>
            <a:ln w="38100">
              <a:solidFill>
                <a:srgbClr val="6600CC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9" name="Rectangle 18"/>
            <p:cNvSpPr>
              <a:spLocks noChangeArrowheads="1"/>
            </p:cNvSpPr>
            <p:nvPr/>
          </p:nvSpPr>
          <p:spPr bwMode="auto">
            <a:xfrm>
              <a:off x="2160" y="1776"/>
              <a:ext cx="28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6600CC"/>
                  </a:solidFill>
                  <a:sym typeface="Symbol" panose="05050102010706020507" pitchFamily="18" charset="2"/>
                </a:rPr>
                <a:t></a:t>
              </a:r>
              <a:r>
                <a:rPr lang="en-US" altLang="zh-CN" sz="2400" baseline="-25000">
                  <a:solidFill>
                    <a:srgbClr val="6600CC"/>
                  </a:solidFill>
                  <a:sym typeface="Symbol" panose="05050102010706020507" pitchFamily="18" charset="2"/>
                </a:rPr>
                <a:t>2</a:t>
              </a:r>
            </a:p>
          </p:txBody>
        </p:sp>
      </p:grpSp>
      <p:graphicFrame>
        <p:nvGraphicFramePr>
          <p:cNvPr id="1064979" name="Object 19"/>
          <p:cNvGraphicFramePr/>
          <p:nvPr/>
        </p:nvGraphicFramePr>
        <p:xfrm>
          <a:off x="5651500" y="2595563"/>
          <a:ext cx="29527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2" r:id="rId3" imgW="1116965" imgH="444500" progId="Equation.3">
                  <p:embed/>
                </p:oleObj>
              </mc:Choice>
              <mc:Fallback>
                <p:oleObj r:id="rId3" imgW="1116965" imgH="444500" progId="Equation.3">
                  <p:embed/>
                  <p:pic>
                    <p:nvPicPr>
                      <p:cNvPr id="0" name="Object 19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2595563"/>
                        <a:ext cx="295275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4980" name="Object 20"/>
          <p:cNvGraphicFramePr/>
          <p:nvPr/>
        </p:nvGraphicFramePr>
        <p:xfrm>
          <a:off x="5618163" y="3586163"/>
          <a:ext cx="2954337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3" r:id="rId5" imgW="1116965" imgH="444500" progId="Equation.3">
                  <p:embed/>
                </p:oleObj>
              </mc:Choice>
              <mc:Fallback>
                <p:oleObj r:id="rId5" imgW="1116965" imgH="444500" progId="Equation.3">
                  <p:embed/>
                  <p:pic>
                    <p:nvPicPr>
                      <p:cNvPr id="0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8163" y="3586163"/>
                        <a:ext cx="2954337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4981" name="Line 21"/>
          <p:cNvSpPr>
            <a:spLocks noChangeShapeType="1"/>
          </p:cNvSpPr>
          <p:nvPr/>
        </p:nvSpPr>
        <p:spPr bwMode="auto">
          <a:xfrm>
            <a:off x="5243513" y="3662363"/>
            <a:ext cx="3505200" cy="0"/>
          </a:xfrm>
          <a:prstGeom prst="line">
            <a:avLst/>
          </a:prstGeom>
          <a:noFill/>
          <a:ln w="38100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64982" name="Object 22"/>
          <p:cNvGraphicFramePr/>
          <p:nvPr/>
        </p:nvGraphicFramePr>
        <p:xfrm>
          <a:off x="1954213" y="4700588"/>
          <a:ext cx="3514725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4" r:id="rId7" imgW="838200" imgH="787400" progId="Equation.3">
                  <p:embed/>
                </p:oleObj>
              </mc:Choice>
              <mc:Fallback>
                <p:oleObj r:id="rId7" imgW="838200" imgH="787400" progId="Equation.3">
                  <p:embed/>
                  <p:pic>
                    <p:nvPicPr>
                      <p:cNvPr id="0" name="Object 22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4213" y="4700588"/>
                        <a:ext cx="3514725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4983" name="Object 23"/>
          <p:cNvGraphicFramePr/>
          <p:nvPr/>
        </p:nvGraphicFramePr>
        <p:xfrm>
          <a:off x="5562600" y="5081588"/>
          <a:ext cx="14224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5" r:id="rId9" imgW="355600" imgH="405765" progId="Equation.3">
                  <p:embed/>
                </p:oleObj>
              </mc:Choice>
              <mc:Fallback>
                <p:oleObj r:id="rId9" imgW="355600" imgH="405765" progId="Equation.3">
                  <p:embed/>
                  <p:pic>
                    <p:nvPicPr>
                      <p:cNvPr id="0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5081588"/>
                        <a:ext cx="14224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4984" name="Line 24"/>
          <p:cNvSpPr>
            <a:spLocks noChangeShapeType="1"/>
          </p:cNvSpPr>
          <p:nvPr/>
        </p:nvSpPr>
        <p:spPr bwMode="auto">
          <a:xfrm>
            <a:off x="3505200" y="1981200"/>
            <a:ext cx="0" cy="2057400"/>
          </a:xfrm>
          <a:prstGeom prst="line">
            <a:avLst/>
          </a:prstGeom>
          <a:noFill/>
          <a:ln w="28575">
            <a:solidFill>
              <a:srgbClr val="6600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4985" name="Line 25"/>
          <p:cNvSpPr>
            <a:spLocks noChangeShapeType="1"/>
          </p:cNvSpPr>
          <p:nvPr/>
        </p:nvSpPr>
        <p:spPr bwMode="auto">
          <a:xfrm>
            <a:off x="2895600" y="2743200"/>
            <a:ext cx="0" cy="1295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64986" name="Object 26"/>
          <p:cNvGraphicFramePr/>
          <p:nvPr/>
        </p:nvGraphicFramePr>
        <p:xfrm>
          <a:off x="5651500" y="1412875"/>
          <a:ext cx="3036888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6" r:id="rId11" imgW="1538605" imgH="479425" progId="Equation.3">
                  <p:embed/>
                </p:oleObj>
              </mc:Choice>
              <mc:Fallback>
                <p:oleObj r:id="rId11" imgW="1538605" imgH="479425" progId="Equation.3">
                  <p:embed/>
                  <p:pic>
                    <p:nvPicPr>
                      <p:cNvPr id="0" name="Object 26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1412875"/>
                        <a:ext cx="3036888" cy="982663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99FF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64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64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64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64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64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064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64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64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649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649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6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21FBF94-F0A9-45DE-A1C6-13207C71E719}" type="slidenum">
              <a:rPr altLang="zh-CN" sz="1400" smtClean="0"/>
              <a:t>21</a:t>
            </a:fld>
            <a:endParaRPr lang="zh-CN" altLang="zh-CN" sz="1400"/>
          </a:p>
        </p:txBody>
      </p:sp>
      <p:sp>
        <p:nvSpPr>
          <p:cNvPr id="1070082" name="Text Box 2"/>
          <p:cNvSpPr txBox="1">
            <a:spLocks noChangeArrowheads="1"/>
          </p:cNvSpPr>
          <p:nvPr/>
        </p:nvSpPr>
        <p:spPr bwMode="blackWhite">
          <a:xfrm>
            <a:off x="250825" y="44450"/>
            <a:ext cx="8534400" cy="8302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例</a:t>
            </a:r>
            <a:r>
              <a:rPr kumimoji="1" lang="en-US" altLang="zh-CN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3.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kumimoji="1"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以动能为</a:t>
            </a:r>
            <a:r>
              <a:rPr kumimoji="1"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12.5eV</a:t>
            </a:r>
            <a:r>
              <a:rPr kumimoji="1" lang="zh-CN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的电子碰撞基态氢原子，使其激发，问最高激发到哪一级？当发生能级跃迁时能产生哪些谱线？</a:t>
            </a:r>
          </a:p>
        </p:txBody>
      </p:sp>
      <p:sp>
        <p:nvSpPr>
          <p:cNvPr id="1070083" name="Rectangle 3"/>
          <p:cNvSpPr>
            <a:spLocks noChangeArrowheads="1"/>
          </p:cNvSpPr>
          <p:nvPr/>
        </p:nvSpPr>
        <p:spPr bwMode="blackWhite">
          <a:xfrm>
            <a:off x="304800" y="1008063"/>
            <a:ext cx="5638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解：</a:t>
            </a:r>
            <a:r>
              <a:rPr kumimoji="1" lang="zh-CN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设氢原子可以被激发到第</a:t>
            </a:r>
            <a:r>
              <a:rPr kumimoji="1"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n</a:t>
            </a:r>
            <a:r>
              <a:rPr kumimoji="1" lang="zh-CN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能级，则 </a:t>
            </a:r>
            <a:endParaRPr kumimoji="1" lang="zh-CN" altLang="en-US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graphicFrame>
        <p:nvGraphicFramePr>
          <p:cNvPr id="1070084" name="Object 4"/>
          <p:cNvGraphicFramePr/>
          <p:nvPr/>
        </p:nvGraphicFramePr>
        <p:xfrm>
          <a:off x="1763713" y="1484313"/>
          <a:ext cx="3816350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4" r:id="rId3" imgW="2029460" imgH="479425" progId="Equation.3">
                  <p:embed/>
                </p:oleObj>
              </mc:Choice>
              <mc:Fallback>
                <p:oleObj r:id="rId3" imgW="2029460" imgH="479425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484313"/>
                        <a:ext cx="3816350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0085" name="Object 5"/>
          <p:cNvGraphicFramePr/>
          <p:nvPr/>
        </p:nvGraphicFramePr>
        <p:xfrm>
          <a:off x="1763713" y="2781300"/>
          <a:ext cx="2376487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5" r:id="rId5" imgW="1226820" imgH="245110" progId="Equation.3">
                  <p:embed/>
                </p:oleObj>
              </mc:Choice>
              <mc:Fallback>
                <p:oleObj r:id="rId5" imgW="1226820" imgH="245110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781300"/>
                        <a:ext cx="2376487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0086" name="Rectangle 6"/>
          <p:cNvSpPr>
            <a:spLocks noChangeArrowheads="1"/>
          </p:cNvSpPr>
          <p:nvPr/>
        </p:nvSpPr>
        <p:spPr bwMode="blackWhite">
          <a:xfrm>
            <a:off x="971550" y="3575050"/>
            <a:ext cx="7969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解得</a:t>
            </a:r>
          </a:p>
        </p:txBody>
      </p:sp>
      <p:graphicFrame>
        <p:nvGraphicFramePr>
          <p:cNvPr id="1070087" name="Object 7"/>
          <p:cNvGraphicFramePr/>
          <p:nvPr/>
        </p:nvGraphicFramePr>
        <p:xfrm>
          <a:off x="3059113" y="3600450"/>
          <a:ext cx="1081087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6" r:id="rId7" imgW="513080" imgH="189865" progId="Equation.3">
                  <p:embed/>
                </p:oleObj>
              </mc:Choice>
              <mc:Fallback>
                <p:oleObj r:id="rId7" imgW="513080" imgH="189865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3600450"/>
                        <a:ext cx="1081087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0088" name="Rectangle 8"/>
          <p:cNvSpPr>
            <a:spLocks noChangeArrowheads="1"/>
          </p:cNvSpPr>
          <p:nvPr/>
        </p:nvSpPr>
        <p:spPr bwMode="blackWhite">
          <a:xfrm>
            <a:off x="971550" y="4076700"/>
            <a:ext cx="3989388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n</a:t>
            </a:r>
            <a:r>
              <a:rPr kumimoji="1" lang="zh-CN" altLang="zh-CN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取整数，最高激发到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n=3</a:t>
            </a:r>
            <a:r>
              <a:rPr kumimoji="1" lang="zh-CN" altLang="zh-CN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级</a:t>
            </a:r>
            <a:endParaRPr kumimoji="1" lang="zh-CN" altLang="en-US"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1070089" name="Rectangle 9"/>
          <p:cNvSpPr>
            <a:spLocks noChangeArrowheads="1"/>
          </p:cNvSpPr>
          <p:nvPr/>
        </p:nvSpPr>
        <p:spPr bwMode="blackWhite">
          <a:xfrm>
            <a:off x="971550" y="5924550"/>
            <a:ext cx="8382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可以产生3条谱线，并可由里德伯公式求得</a:t>
            </a:r>
            <a:endParaRPr kumimoji="1" lang="zh-CN" altLang="en-US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grpSp>
        <p:nvGrpSpPr>
          <p:cNvPr id="2" name="Group 10"/>
          <p:cNvGrpSpPr/>
          <p:nvPr/>
        </p:nvGrpSpPr>
        <p:grpSpPr bwMode="auto">
          <a:xfrm>
            <a:off x="1763713" y="5229225"/>
            <a:ext cx="4529137" cy="519113"/>
            <a:chOff x="1111" y="3294"/>
            <a:chExt cx="2853" cy="327"/>
          </a:xfrm>
        </p:grpSpPr>
        <p:sp>
          <p:nvSpPr>
            <p:cNvPr id="1070091" name="Text Box 11"/>
            <p:cNvSpPr txBox="1">
              <a:spLocks noChangeArrowheads="1"/>
            </p:cNvSpPr>
            <p:nvPr/>
          </p:nvSpPr>
          <p:spPr bwMode="auto">
            <a:xfrm>
              <a:off x="2681" y="3294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dist" eaLnBrk="1" hangingPunct="1">
                <a:defRPr/>
              </a:pPr>
              <a:r>
                <a:rPr lang="en-US" altLang="zh-CN" sz="2800" b="0" noProof="1">
                  <a:solidFill>
                    <a:srgbClr val="0000FF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070092" name="Text Box 12"/>
            <p:cNvSpPr txBox="1">
              <a:spLocks noChangeArrowheads="1"/>
            </p:cNvSpPr>
            <p:nvPr/>
          </p:nvSpPr>
          <p:spPr bwMode="auto">
            <a:xfrm>
              <a:off x="2154" y="3294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dist" eaLnBrk="1" hangingPunct="1">
                <a:defRPr/>
              </a:pPr>
              <a:r>
                <a:rPr lang="en-US" altLang="zh-CN" sz="2800" b="0" noProof="1">
                  <a:solidFill>
                    <a:srgbClr val="0000FF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4603" name="Line 13"/>
            <p:cNvSpPr>
              <a:spLocks noChangeShapeType="1"/>
            </p:cNvSpPr>
            <p:nvPr/>
          </p:nvSpPr>
          <p:spPr bwMode="auto">
            <a:xfrm>
              <a:off x="2394" y="3475"/>
              <a:ext cx="28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0094" name="Text Box 14"/>
            <p:cNvSpPr txBox="1">
              <a:spLocks noChangeArrowheads="1"/>
            </p:cNvSpPr>
            <p:nvPr/>
          </p:nvSpPr>
          <p:spPr bwMode="auto">
            <a:xfrm>
              <a:off x="1604" y="3294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dist" eaLnBrk="1" hangingPunct="1">
                <a:defRPr/>
              </a:pPr>
              <a:r>
                <a:rPr lang="en-US" altLang="zh-CN" sz="2800" b="0" noProof="1">
                  <a:solidFill>
                    <a:srgbClr val="0000FF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070095" name="Text Box 15"/>
            <p:cNvSpPr txBox="1">
              <a:spLocks noChangeArrowheads="1"/>
            </p:cNvSpPr>
            <p:nvPr/>
          </p:nvSpPr>
          <p:spPr bwMode="auto">
            <a:xfrm>
              <a:off x="1111" y="3294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dist" eaLnBrk="1" hangingPunct="1">
                <a:defRPr/>
              </a:pPr>
              <a:r>
                <a:rPr lang="en-US" altLang="zh-CN" sz="2800" b="0" noProof="1">
                  <a:solidFill>
                    <a:srgbClr val="0000FF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4606" name="Line 16"/>
            <p:cNvSpPr>
              <a:spLocks noChangeShapeType="1"/>
            </p:cNvSpPr>
            <p:nvPr/>
          </p:nvSpPr>
          <p:spPr bwMode="auto">
            <a:xfrm>
              <a:off x="1351" y="3475"/>
              <a:ext cx="28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0097" name="Text Box 17"/>
            <p:cNvSpPr txBox="1">
              <a:spLocks noChangeArrowheads="1"/>
            </p:cNvSpPr>
            <p:nvPr/>
          </p:nvSpPr>
          <p:spPr bwMode="auto">
            <a:xfrm>
              <a:off x="3736" y="3294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dist" eaLnBrk="1" hangingPunct="1">
                <a:defRPr/>
              </a:pPr>
              <a:r>
                <a:rPr lang="en-US" altLang="zh-CN" sz="2800" b="0" noProof="1">
                  <a:solidFill>
                    <a:srgbClr val="0000FF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070098" name="Text Box 18"/>
            <p:cNvSpPr txBox="1">
              <a:spLocks noChangeArrowheads="1"/>
            </p:cNvSpPr>
            <p:nvPr/>
          </p:nvSpPr>
          <p:spPr bwMode="auto">
            <a:xfrm>
              <a:off x="3243" y="3294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dist" eaLnBrk="1" hangingPunct="1">
                <a:defRPr/>
              </a:pPr>
              <a:r>
                <a:rPr lang="en-US" altLang="zh-CN" sz="2800" b="0" noProof="1">
                  <a:solidFill>
                    <a:srgbClr val="0000FF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4609" name="Line 19"/>
            <p:cNvSpPr>
              <a:spLocks noChangeShapeType="1"/>
            </p:cNvSpPr>
            <p:nvPr/>
          </p:nvSpPr>
          <p:spPr bwMode="auto">
            <a:xfrm>
              <a:off x="3483" y="3475"/>
              <a:ext cx="28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0100" name="Text Box 20"/>
          <p:cNvSpPr txBox="1">
            <a:spLocks noChangeArrowheads="1"/>
          </p:cNvSpPr>
          <p:nvPr/>
        </p:nvSpPr>
        <p:spPr bwMode="auto">
          <a:xfrm>
            <a:off x="971550" y="4627563"/>
            <a:ext cx="294163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dist" eaLnBrk="1" hangingPunct="1">
              <a:defRPr/>
            </a:pPr>
            <a:r>
              <a:rPr kumimoji="1"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anose="02050604050505020204" pitchFamily="18" charset="0"/>
                <a:ea typeface="宋体" panose="02010600030101010101" pitchFamily="2" charset="-122"/>
              </a:rPr>
              <a:t>可能出现的跃迁为：</a:t>
            </a:r>
          </a:p>
        </p:txBody>
      </p:sp>
      <p:grpSp>
        <p:nvGrpSpPr>
          <p:cNvPr id="3" name="Group 21"/>
          <p:cNvGrpSpPr/>
          <p:nvPr/>
        </p:nvGrpSpPr>
        <p:grpSpPr bwMode="auto">
          <a:xfrm>
            <a:off x="5508625" y="2219325"/>
            <a:ext cx="3051175" cy="2649538"/>
            <a:chOff x="814" y="1248"/>
            <a:chExt cx="1922" cy="1669"/>
          </a:xfrm>
        </p:grpSpPr>
        <p:grpSp>
          <p:nvGrpSpPr>
            <p:cNvPr id="24593" name="Group 22"/>
            <p:cNvGrpSpPr/>
            <p:nvPr/>
          </p:nvGrpSpPr>
          <p:grpSpPr bwMode="auto">
            <a:xfrm>
              <a:off x="814" y="1248"/>
              <a:ext cx="1922" cy="1669"/>
              <a:chOff x="48" y="1243"/>
              <a:chExt cx="1872" cy="1678"/>
            </a:xfrm>
          </p:grpSpPr>
          <p:sp>
            <p:nvSpPr>
              <p:cNvPr id="24596" name="Text Box 23"/>
              <p:cNvSpPr txBox="1">
                <a:spLocks noChangeArrowheads="1"/>
              </p:cNvSpPr>
              <p:nvPr/>
            </p:nvSpPr>
            <p:spPr bwMode="auto">
              <a:xfrm>
                <a:off x="206" y="1243"/>
                <a:ext cx="466" cy="2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zh-CN" sz="2400" b="0"/>
              </a:p>
            </p:txBody>
          </p:sp>
          <p:sp>
            <p:nvSpPr>
              <p:cNvPr id="24597" name="Line 24"/>
              <p:cNvSpPr>
                <a:spLocks noChangeShapeType="1"/>
              </p:cNvSpPr>
              <p:nvPr/>
            </p:nvSpPr>
            <p:spPr bwMode="auto">
              <a:xfrm>
                <a:off x="864" y="1488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98" name="Line 25"/>
              <p:cNvSpPr>
                <a:spLocks noChangeShapeType="1"/>
              </p:cNvSpPr>
              <p:nvPr/>
            </p:nvSpPr>
            <p:spPr bwMode="auto">
              <a:xfrm>
                <a:off x="864" y="1968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99" name="Line 26"/>
              <p:cNvSpPr>
                <a:spLocks noChangeShapeType="1"/>
              </p:cNvSpPr>
              <p:nvPr/>
            </p:nvSpPr>
            <p:spPr bwMode="auto">
              <a:xfrm>
                <a:off x="816" y="2784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00" name="Text Box 27"/>
              <p:cNvSpPr txBox="1">
                <a:spLocks noChangeArrowheads="1"/>
              </p:cNvSpPr>
              <p:nvPr/>
            </p:nvSpPr>
            <p:spPr bwMode="auto">
              <a:xfrm>
                <a:off x="48" y="2592"/>
                <a:ext cx="960" cy="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>
                    <a:solidFill>
                      <a:schemeClr val="accent2"/>
                    </a:solidFill>
                  </a:rPr>
                  <a:t>   </a:t>
                </a:r>
                <a:r>
                  <a:rPr lang="en-US" altLang="zh-CN" sz="2800">
                    <a:solidFill>
                      <a:schemeClr val="accent2"/>
                    </a:solidFill>
                  </a:rPr>
                  <a:t>n =1</a:t>
                </a:r>
              </a:p>
            </p:txBody>
          </p:sp>
        </p:grpSp>
        <p:sp>
          <p:nvSpPr>
            <p:cNvPr id="24594" name="Text Box 28"/>
            <p:cNvSpPr txBox="1">
              <a:spLocks noChangeArrowheads="1"/>
            </p:cNvSpPr>
            <p:nvPr/>
          </p:nvSpPr>
          <p:spPr bwMode="auto">
            <a:xfrm>
              <a:off x="912" y="1776"/>
              <a:ext cx="7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solidFill>
                    <a:schemeClr val="accent2"/>
                  </a:solidFill>
                </a:rPr>
                <a:t> </a:t>
              </a:r>
              <a:r>
                <a:rPr lang="en-US" altLang="zh-CN" sz="2800">
                  <a:solidFill>
                    <a:schemeClr val="accent2"/>
                  </a:solidFill>
                </a:rPr>
                <a:t>n =2</a:t>
              </a:r>
            </a:p>
          </p:txBody>
        </p:sp>
        <p:sp>
          <p:nvSpPr>
            <p:cNvPr id="24595" name="Text Box 29"/>
            <p:cNvSpPr txBox="1">
              <a:spLocks noChangeArrowheads="1"/>
            </p:cNvSpPr>
            <p:nvPr/>
          </p:nvSpPr>
          <p:spPr bwMode="auto">
            <a:xfrm>
              <a:off x="912" y="1305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b="0">
                  <a:solidFill>
                    <a:schemeClr val="accent2"/>
                  </a:solidFill>
                </a:rPr>
                <a:t> </a:t>
              </a:r>
              <a:r>
                <a:rPr lang="en-US" altLang="zh-CN" sz="2800">
                  <a:solidFill>
                    <a:schemeClr val="accent2"/>
                  </a:solidFill>
                </a:rPr>
                <a:t>n =3</a:t>
              </a:r>
            </a:p>
          </p:txBody>
        </p:sp>
      </p:grpSp>
      <p:sp>
        <p:nvSpPr>
          <p:cNvPr id="1070110" name="Line 30"/>
          <p:cNvSpPr>
            <a:spLocks noChangeShapeType="1"/>
          </p:cNvSpPr>
          <p:nvPr/>
        </p:nvSpPr>
        <p:spPr bwMode="auto">
          <a:xfrm>
            <a:off x="7235825" y="2636838"/>
            <a:ext cx="0" cy="2057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0111" name="Line 31"/>
          <p:cNvSpPr>
            <a:spLocks noChangeShapeType="1"/>
          </p:cNvSpPr>
          <p:nvPr/>
        </p:nvSpPr>
        <p:spPr bwMode="auto">
          <a:xfrm>
            <a:off x="7451725" y="3386138"/>
            <a:ext cx="0" cy="1295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0112" name="Line 32"/>
          <p:cNvSpPr>
            <a:spLocks noChangeShapeType="1"/>
          </p:cNvSpPr>
          <p:nvPr/>
        </p:nvSpPr>
        <p:spPr bwMode="auto">
          <a:xfrm>
            <a:off x="7885113" y="2608263"/>
            <a:ext cx="0" cy="792162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70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70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70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70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70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70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70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70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070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070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070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0083" grpId="0"/>
      <p:bldP spid="1070086" grpId="0"/>
      <p:bldP spid="1070088" grpId="0"/>
      <p:bldP spid="1070089" grpId="0"/>
      <p:bldP spid="1070100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1281B5B-A9AD-4CA6-9DF3-8D9141F11C6D}" type="slidenum">
              <a:rPr altLang="zh-CN" sz="1400" smtClean="0"/>
              <a:t>22</a:t>
            </a:fld>
            <a:endParaRPr lang="zh-CN" altLang="zh-CN" sz="1400"/>
          </a:p>
        </p:txBody>
      </p:sp>
      <p:graphicFrame>
        <p:nvGraphicFramePr>
          <p:cNvPr id="1071106" name="Object 2"/>
          <p:cNvGraphicFramePr/>
          <p:nvPr/>
        </p:nvGraphicFramePr>
        <p:xfrm>
          <a:off x="2138363" y="744538"/>
          <a:ext cx="4503737" cy="174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1" r:id="rId3" imgW="2564765" imgH="992505" progId="Equation.3">
                  <p:embed/>
                </p:oleObj>
              </mc:Choice>
              <mc:Fallback>
                <p:oleObj r:id="rId3" imgW="2564765" imgH="992505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8363" y="744538"/>
                        <a:ext cx="4503737" cy="174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1107" name="Rectangle 3"/>
          <p:cNvSpPr>
            <a:spLocks noChangeArrowheads="1"/>
          </p:cNvSpPr>
          <p:nvPr/>
        </p:nvSpPr>
        <p:spPr bwMode="blackWhite">
          <a:xfrm>
            <a:off x="250825" y="955675"/>
            <a:ext cx="165576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n</a:t>
            </a:r>
            <a:r>
              <a:rPr kumimoji="1" lang="zh-CN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从3 </a:t>
            </a:r>
            <a:r>
              <a:rPr kumimoji="1" lang="zh-CN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1</a:t>
            </a:r>
            <a:endParaRPr kumimoji="1" lang="en-US" altLang="zh-CN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graphicFrame>
        <p:nvGraphicFramePr>
          <p:cNvPr id="1071108" name="Object 4"/>
          <p:cNvGraphicFramePr/>
          <p:nvPr/>
        </p:nvGraphicFramePr>
        <p:xfrm>
          <a:off x="2139950" y="2781300"/>
          <a:ext cx="4789488" cy="184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2" r:id="rId5" imgW="2576195" imgH="992505" progId="Equation.3">
                  <p:embed/>
                </p:oleObj>
              </mc:Choice>
              <mc:Fallback>
                <p:oleObj r:id="rId5" imgW="2576195" imgH="992505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50" y="2781300"/>
                        <a:ext cx="4789488" cy="184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1109" name="Rectangle 5"/>
          <p:cNvSpPr>
            <a:spLocks noChangeArrowheads="1"/>
          </p:cNvSpPr>
          <p:nvPr/>
        </p:nvSpPr>
        <p:spPr bwMode="blackWhite">
          <a:xfrm>
            <a:off x="179388" y="2971800"/>
            <a:ext cx="1655762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n</a:t>
            </a:r>
            <a:r>
              <a:rPr kumimoji="1" lang="zh-CN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从2 </a:t>
            </a:r>
            <a:r>
              <a:rPr kumimoji="1" lang="zh-CN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1</a:t>
            </a:r>
            <a:endParaRPr kumimoji="1" lang="en-US" altLang="zh-CN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graphicFrame>
        <p:nvGraphicFramePr>
          <p:cNvPr id="1071110" name="Object 6"/>
          <p:cNvGraphicFramePr/>
          <p:nvPr/>
        </p:nvGraphicFramePr>
        <p:xfrm>
          <a:off x="2185988" y="4959350"/>
          <a:ext cx="4643437" cy="178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3" r:id="rId7" imgW="2598420" imgH="992505" progId="Equation.3">
                  <p:embed/>
                </p:oleObj>
              </mc:Choice>
              <mc:Fallback>
                <p:oleObj r:id="rId7" imgW="2598420" imgH="992505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988" y="4959350"/>
                        <a:ext cx="4643437" cy="178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1111" name="Rectangle 7"/>
          <p:cNvSpPr>
            <a:spLocks noChangeArrowheads="1"/>
          </p:cNvSpPr>
          <p:nvPr/>
        </p:nvSpPr>
        <p:spPr bwMode="blackWhite">
          <a:xfrm>
            <a:off x="233363" y="5084763"/>
            <a:ext cx="1655762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n</a:t>
            </a:r>
            <a:r>
              <a:rPr kumimoji="1" lang="zh-CN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从3 </a:t>
            </a:r>
            <a:r>
              <a:rPr kumimoji="1" lang="zh-CN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2</a:t>
            </a:r>
            <a:endParaRPr kumimoji="1" lang="en-US" altLang="zh-CN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grpSp>
        <p:nvGrpSpPr>
          <p:cNvPr id="25609" name="Group 8"/>
          <p:cNvGrpSpPr/>
          <p:nvPr/>
        </p:nvGrpSpPr>
        <p:grpSpPr bwMode="auto">
          <a:xfrm>
            <a:off x="6416675" y="2349500"/>
            <a:ext cx="3051175" cy="2649538"/>
            <a:chOff x="3606" y="1534"/>
            <a:chExt cx="1922" cy="1669"/>
          </a:xfrm>
        </p:grpSpPr>
        <p:grpSp>
          <p:nvGrpSpPr>
            <p:cNvPr id="25611" name="Group 9"/>
            <p:cNvGrpSpPr/>
            <p:nvPr/>
          </p:nvGrpSpPr>
          <p:grpSpPr bwMode="auto">
            <a:xfrm>
              <a:off x="3606" y="1534"/>
              <a:ext cx="1922" cy="1669"/>
              <a:chOff x="814" y="1248"/>
              <a:chExt cx="1922" cy="1669"/>
            </a:xfrm>
          </p:grpSpPr>
          <p:grpSp>
            <p:nvGrpSpPr>
              <p:cNvPr id="25615" name="Group 10"/>
              <p:cNvGrpSpPr/>
              <p:nvPr/>
            </p:nvGrpSpPr>
            <p:grpSpPr bwMode="auto">
              <a:xfrm>
                <a:off x="814" y="1248"/>
                <a:ext cx="1922" cy="1669"/>
                <a:chOff x="48" y="1243"/>
                <a:chExt cx="1872" cy="1678"/>
              </a:xfrm>
            </p:grpSpPr>
            <p:sp>
              <p:nvSpPr>
                <p:cNvPr id="25618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06" y="1243"/>
                  <a:ext cx="466" cy="2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zh-CN" altLang="zh-CN" sz="2400" b="0"/>
                </a:p>
              </p:txBody>
            </p:sp>
            <p:sp>
              <p:nvSpPr>
                <p:cNvPr id="25619" name="Line 12"/>
                <p:cNvSpPr>
                  <a:spLocks noChangeShapeType="1"/>
                </p:cNvSpPr>
                <p:nvPr/>
              </p:nvSpPr>
              <p:spPr bwMode="auto">
                <a:xfrm>
                  <a:off x="864" y="1488"/>
                  <a:ext cx="1056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20" name="Line 13"/>
                <p:cNvSpPr>
                  <a:spLocks noChangeShapeType="1"/>
                </p:cNvSpPr>
                <p:nvPr/>
              </p:nvSpPr>
              <p:spPr bwMode="auto">
                <a:xfrm>
                  <a:off x="864" y="1968"/>
                  <a:ext cx="105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21" name="Line 14"/>
                <p:cNvSpPr>
                  <a:spLocks noChangeShapeType="1"/>
                </p:cNvSpPr>
                <p:nvPr/>
              </p:nvSpPr>
              <p:spPr bwMode="auto">
                <a:xfrm>
                  <a:off x="816" y="2784"/>
                  <a:ext cx="1056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622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48" y="2592"/>
                  <a:ext cx="960" cy="3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400" b="0">
                      <a:solidFill>
                        <a:schemeClr val="accent2"/>
                      </a:solidFill>
                    </a:rPr>
                    <a:t>   </a:t>
                  </a:r>
                  <a:r>
                    <a:rPr lang="en-US" altLang="zh-CN" sz="2800">
                      <a:solidFill>
                        <a:schemeClr val="accent2"/>
                      </a:solidFill>
                    </a:rPr>
                    <a:t>n =1</a:t>
                  </a:r>
                </a:p>
              </p:txBody>
            </p:sp>
          </p:grpSp>
          <p:sp>
            <p:nvSpPr>
              <p:cNvPr id="25616" name="Text Box 16"/>
              <p:cNvSpPr txBox="1">
                <a:spLocks noChangeArrowheads="1"/>
              </p:cNvSpPr>
              <p:nvPr/>
            </p:nvSpPr>
            <p:spPr bwMode="auto">
              <a:xfrm>
                <a:off x="912" y="1776"/>
                <a:ext cx="76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>
                    <a:solidFill>
                      <a:schemeClr val="accent2"/>
                    </a:solidFill>
                  </a:rPr>
                  <a:t> </a:t>
                </a:r>
                <a:r>
                  <a:rPr lang="en-US" altLang="zh-CN" sz="2800">
                    <a:solidFill>
                      <a:schemeClr val="accent2"/>
                    </a:solidFill>
                  </a:rPr>
                  <a:t>n =2</a:t>
                </a:r>
              </a:p>
            </p:txBody>
          </p:sp>
          <p:sp>
            <p:nvSpPr>
              <p:cNvPr id="25617" name="Text Box 17"/>
              <p:cNvSpPr txBox="1">
                <a:spLocks noChangeArrowheads="1"/>
              </p:cNvSpPr>
              <p:nvPr/>
            </p:nvSpPr>
            <p:spPr bwMode="auto">
              <a:xfrm>
                <a:off x="912" y="1305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b="0">
                    <a:solidFill>
                      <a:schemeClr val="accent2"/>
                    </a:solidFill>
                  </a:rPr>
                  <a:t> </a:t>
                </a:r>
                <a:r>
                  <a:rPr lang="en-US" altLang="zh-CN" sz="2800">
                    <a:solidFill>
                      <a:schemeClr val="accent2"/>
                    </a:solidFill>
                  </a:rPr>
                  <a:t>n =3</a:t>
                </a:r>
              </a:p>
            </p:txBody>
          </p:sp>
        </p:grpSp>
        <p:sp>
          <p:nvSpPr>
            <p:cNvPr id="25612" name="Line 18"/>
            <p:cNvSpPr>
              <a:spLocks noChangeShapeType="1"/>
            </p:cNvSpPr>
            <p:nvPr/>
          </p:nvSpPr>
          <p:spPr bwMode="auto">
            <a:xfrm>
              <a:off x="4694" y="1797"/>
              <a:ext cx="0" cy="129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3" name="Line 19"/>
            <p:cNvSpPr>
              <a:spLocks noChangeShapeType="1"/>
            </p:cNvSpPr>
            <p:nvPr/>
          </p:nvSpPr>
          <p:spPr bwMode="auto">
            <a:xfrm>
              <a:off x="4830" y="2269"/>
              <a:ext cx="0" cy="81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4" name="Line 20"/>
            <p:cNvSpPr>
              <a:spLocks noChangeShapeType="1"/>
            </p:cNvSpPr>
            <p:nvPr/>
          </p:nvSpPr>
          <p:spPr bwMode="auto">
            <a:xfrm>
              <a:off x="5103" y="1779"/>
              <a:ext cx="0" cy="499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5610" name="Object 21"/>
          <p:cNvGraphicFramePr/>
          <p:nvPr/>
        </p:nvGraphicFramePr>
        <p:xfrm>
          <a:off x="6084888" y="188913"/>
          <a:ext cx="2808287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4" r:id="rId9" imgW="1538605" imgH="479425" progId="Equation.3">
                  <p:embed/>
                </p:oleObj>
              </mc:Choice>
              <mc:Fallback>
                <p:oleObj r:id="rId9" imgW="1538605" imgH="479425" progId="Equation.3">
                  <p:embed/>
                  <p:pic>
                    <p:nvPicPr>
                      <p:cNvPr id="0" name="Object 21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188913"/>
                        <a:ext cx="2808287" cy="90805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99FF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71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7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71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71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7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1109" grpId="0"/>
      <p:bldP spid="107111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GU0NjBmNDc3YmY3ODNkZjQ5MmJlMjNhNWNhMDZlNzMifQ=="/>
</p:tagLst>
</file>

<file path=ppt/theme/theme1.xml><?xml version="1.0" encoding="utf-8"?>
<a:theme xmlns:a="http://schemas.openxmlformats.org/drawingml/2006/main" name="第六章 热力学基础（三）">
  <a:themeElements>
    <a:clrScheme name="第六章 热力学基础（三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第六章 热力学基础（三）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anose="02020603050405020304" pitchFamily="18" charset="0"/>
            <a:ea typeface="楷体_GB2312" panose="0201060903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anose="02020603050405020304" pitchFamily="18" charset="0"/>
            <a:ea typeface="楷体_GB2312" panose="02010609030101010101" pitchFamily="49" charset="-122"/>
          </a:defRPr>
        </a:defPPr>
      </a:lstStyle>
    </a:lnDef>
  </a:objectDefaults>
  <a:extraClrSchemeLst>
    <a:extraClrScheme>
      <a:clrScheme name="第六章 热力学基础（三）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第六章 热力学基础（三）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第六章 热力学基础（三）</Template>
  <TotalTime>66</TotalTime>
  <Words>1360</Words>
  <Application>Microsoft Office PowerPoint</Application>
  <PresentationFormat>全屏显示(4:3)</PresentationFormat>
  <Paragraphs>244</Paragraphs>
  <Slides>22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42" baseType="lpstr">
      <vt:lpstr>Monotype Sorts</vt:lpstr>
      <vt:lpstr>Symbol Set SWA</vt:lpstr>
      <vt:lpstr>仿宋_GB2312</vt:lpstr>
      <vt:lpstr>黑体</vt:lpstr>
      <vt:lpstr>华文楷体</vt:lpstr>
      <vt:lpstr>华文新魏</vt:lpstr>
      <vt:lpstr>华文行楷</vt:lpstr>
      <vt:lpstr>楷体_GB2312</vt:lpstr>
      <vt:lpstr>隶书</vt:lpstr>
      <vt:lpstr>宋体</vt:lpstr>
      <vt:lpstr>Arial</vt:lpstr>
      <vt:lpstr>Bookman Old Style</vt:lpstr>
      <vt:lpstr>Century Schoolbook</vt:lpstr>
      <vt:lpstr>Symbol</vt:lpstr>
      <vt:lpstr>Tahoma</vt:lpstr>
      <vt:lpstr>Times New Roman</vt:lpstr>
      <vt:lpstr>Wingdings</vt:lpstr>
      <vt:lpstr>第六章 热力学基础（三）</vt:lpstr>
      <vt:lpstr>MathType 6.0 Equation</vt:lpstr>
      <vt:lpstr>Microsoft Equation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901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zf</dc:creator>
  <cp:lastModifiedBy>Administrator</cp:lastModifiedBy>
  <cp:revision>596</cp:revision>
  <dcterms:created xsi:type="dcterms:W3CDTF">2007-08-02T09:30:00Z</dcterms:created>
  <dcterms:modified xsi:type="dcterms:W3CDTF">2024-11-21T09:06:02Z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5395617F260F496D9957CA8E87DF577D</vt:lpwstr>
  </property>
  <property fmtid="{D5CDD505-2E9C-101B-9397-08002B2CF9AE}" pid="3" name="KSOProductBuildVer">
    <vt:lpwstr>2052-12.1.0.15712</vt:lpwstr>
  </property>
</Properties>
</file>