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handoutMasterIdLst>
    <p:handoutMasterId r:id="rId83"/>
  </p:handoutMasterIdLst>
  <p:sldIdLst>
    <p:sldId id="532" r:id="rId2"/>
    <p:sldId id="751" r:id="rId3"/>
    <p:sldId id="752" r:id="rId4"/>
    <p:sldId id="753" r:id="rId5"/>
    <p:sldId id="754" r:id="rId6"/>
    <p:sldId id="755" r:id="rId7"/>
    <p:sldId id="756" r:id="rId8"/>
    <p:sldId id="757" r:id="rId9"/>
    <p:sldId id="758" r:id="rId10"/>
    <p:sldId id="760" r:id="rId11"/>
    <p:sldId id="761" r:id="rId12"/>
    <p:sldId id="640" r:id="rId13"/>
    <p:sldId id="526" r:id="rId14"/>
    <p:sldId id="644" r:id="rId15"/>
    <p:sldId id="645" r:id="rId16"/>
    <p:sldId id="646" r:id="rId17"/>
    <p:sldId id="497" r:id="rId18"/>
    <p:sldId id="529" r:id="rId19"/>
    <p:sldId id="499" r:id="rId20"/>
    <p:sldId id="500" r:id="rId21"/>
    <p:sldId id="551" r:id="rId22"/>
    <p:sldId id="530" r:id="rId23"/>
    <p:sldId id="649" r:id="rId24"/>
    <p:sldId id="658" r:id="rId25"/>
    <p:sldId id="535" r:id="rId26"/>
    <p:sldId id="536" r:id="rId27"/>
    <p:sldId id="537" r:id="rId28"/>
    <p:sldId id="635" r:id="rId29"/>
    <p:sldId id="540" r:id="rId30"/>
    <p:sldId id="541" r:id="rId31"/>
    <p:sldId id="630" r:id="rId32"/>
    <p:sldId id="542" r:id="rId33"/>
    <p:sldId id="639" r:id="rId34"/>
    <p:sldId id="543" r:id="rId35"/>
    <p:sldId id="488" r:id="rId36"/>
    <p:sldId id="489" r:id="rId37"/>
    <p:sldId id="641" r:id="rId38"/>
    <p:sldId id="642" r:id="rId39"/>
    <p:sldId id="470" r:id="rId40"/>
    <p:sldId id="385" r:id="rId41"/>
    <p:sldId id="386" r:id="rId42"/>
    <p:sldId id="389" r:id="rId43"/>
    <p:sldId id="390" r:id="rId44"/>
    <p:sldId id="391" r:id="rId45"/>
    <p:sldId id="544" r:id="rId46"/>
    <p:sldId id="546" r:id="rId47"/>
    <p:sldId id="547" r:id="rId48"/>
    <p:sldId id="548" r:id="rId49"/>
    <p:sldId id="637" r:id="rId50"/>
    <p:sldId id="638" r:id="rId51"/>
    <p:sldId id="882" r:id="rId52"/>
    <p:sldId id="570" r:id="rId53"/>
    <p:sldId id="571" r:id="rId54"/>
    <p:sldId id="572" r:id="rId55"/>
    <p:sldId id="573" r:id="rId56"/>
    <p:sldId id="574" r:id="rId57"/>
    <p:sldId id="575" r:id="rId58"/>
    <p:sldId id="577" r:id="rId59"/>
    <p:sldId id="578" r:id="rId60"/>
    <p:sldId id="579" r:id="rId61"/>
    <p:sldId id="853" r:id="rId62"/>
    <p:sldId id="854" r:id="rId63"/>
    <p:sldId id="855" r:id="rId64"/>
    <p:sldId id="585" r:id="rId65"/>
    <p:sldId id="856" r:id="rId66"/>
    <p:sldId id="857" r:id="rId67"/>
    <p:sldId id="858" r:id="rId68"/>
    <p:sldId id="650" r:id="rId69"/>
    <p:sldId id="591" r:id="rId70"/>
    <p:sldId id="592" r:id="rId71"/>
    <p:sldId id="593" r:id="rId72"/>
    <p:sldId id="594" r:id="rId73"/>
    <p:sldId id="595" r:id="rId74"/>
    <p:sldId id="596" r:id="rId75"/>
    <p:sldId id="597" r:id="rId76"/>
    <p:sldId id="598" r:id="rId77"/>
    <p:sldId id="599" r:id="rId78"/>
    <p:sldId id="600" r:id="rId79"/>
    <p:sldId id="601" r:id="rId80"/>
    <p:sldId id="602" r:id="rId81"/>
  </p:sldIdLst>
  <p:sldSz cx="9144000" cy="6858000" type="screen4x3"/>
  <p:notesSz cx="6808788" cy="9823450"/>
  <p:custDataLst>
    <p:tags r:id="rId8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 baseline="300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 baseline="300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 baseline="300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 baseline="300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 baseline="300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kern="1200" baseline="300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kern="1200" baseline="300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kern="1200" baseline="300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kern="1200" baseline="300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4" userDrawn="1">
          <p15:clr>
            <a:srgbClr val="A4A3A4"/>
          </p15:clr>
        </p15:guide>
        <p15:guide id="2" pos="21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FF6600"/>
    <a:srgbClr val="CCFFCC"/>
    <a:srgbClr val="CC6600"/>
    <a:srgbClr val="CC3300"/>
    <a:srgbClr val="000066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11" autoAdjust="0"/>
    <p:restoredTop sz="99550" autoAdjust="0"/>
  </p:normalViewPr>
  <p:slideViewPr>
    <p:cSldViewPr showGuides="1">
      <p:cViewPr varScale="1">
        <p:scale>
          <a:sx n="114" d="100"/>
          <a:sy n="114" d="100"/>
        </p:scale>
        <p:origin x="1860" y="102"/>
      </p:cViewPr>
      <p:guideLst>
        <p:guide orient="horz" pos="2794"/>
        <p:guide pos="21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6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gs" Target="tags/tag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7" Type="http://schemas.openxmlformats.org/officeDocument/2006/relationships/image" Target="../media/image36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image" Target="../media/image38.wmf"/><Relationship Id="rId1" Type="http://schemas.openxmlformats.org/officeDocument/2006/relationships/image" Target="../media/image37.emf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10" Type="http://schemas.openxmlformats.org/officeDocument/2006/relationships/image" Target="../media/image46.emf"/><Relationship Id="rId4" Type="http://schemas.openxmlformats.org/officeDocument/2006/relationships/image" Target="../media/image40.emf"/><Relationship Id="rId9" Type="http://schemas.openxmlformats.org/officeDocument/2006/relationships/image" Target="../media/image45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2.emf"/><Relationship Id="rId2" Type="http://schemas.openxmlformats.org/officeDocument/2006/relationships/image" Target="../media/image38.wmf"/><Relationship Id="rId1" Type="http://schemas.openxmlformats.org/officeDocument/2006/relationships/image" Target="../media/image47.emf"/><Relationship Id="rId6" Type="http://schemas.openxmlformats.org/officeDocument/2006/relationships/image" Target="../media/image51.w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28.wmf"/><Relationship Id="rId1" Type="http://schemas.openxmlformats.org/officeDocument/2006/relationships/image" Target="../media/image53.emf"/><Relationship Id="rId4" Type="http://schemas.openxmlformats.org/officeDocument/2006/relationships/image" Target="../media/image5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Relationship Id="rId5" Type="http://schemas.openxmlformats.org/officeDocument/2006/relationships/image" Target="../media/image27.wmf"/><Relationship Id="rId4" Type="http://schemas.openxmlformats.org/officeDocument/2006/relationships/image" Target="../media/image62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5" Type="http://schemas.openxmlformats.org/officeDocument/2006/relationships/image" Target="../media/image27.wmf"/><Relationship Id="rId4" Type="http://schemas.openxmlformats.org/officeDocument/2006/relationships/image" Target="../media/image66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emf"/><Relationship Id="rId4" Type="http://schemas.openxmlformats.org/officeDocument/2006/relationships/image" Target="../media/image7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6" Type="http://schemas.openxmlformats.org/officeDocument/2006/relationships/image" Target="../media/image77.wmf"/><Relationship Id="rId5" Type="http://schemas.openxmlformats.org/officeDocument/2006/relationships/image" Target="../media/image76.emf"/><Relationship Id="rId4" Type="http://schemas.openxmlformats.org/officeDocument/2006/relationships/image" Target="../media/image75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Relationship Id="rId5" Type="http://schemas.openxmlformats.org/officeDocument/2006/relationships/image" Target="../media/image88.emf"/><Relationship Id="rId4" Type="http://schemas.openxmlformats.org/officeDocument/2006/relationships/image" Target="../media/image87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3" Type="http://schemas.openxmlformats.org/officeDocument/2006/relationships/image" Target="../media/image91.emf"/><Relationship Id="rId7" Type="http://schemas.openxmlformats.org/officeDocument/2006/relationships/image" Target="../media/image95.e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6" Type="http://schemas.openxmlformats.org/officeDocument/2006/relationships/image" Target="../media/image94.emf"/><Relationship Id="rId5" Type="http://schemas.openxmlformats.org/officeDocument/2006/relationships/image" Target="../media/image93.emf"/><Relationship Id="rId10" Type="http://schemas.openxmlformats.org/officeDocument/2006/relationships/image" Target="../media/image98.wmf"/><Relationship Id="rId4" Type="http://schemas.openxmlformats.org/officeDocument/2006/relationships/image" Target="../media/image92.emf"/><Relationship Id="rId9" Type="http://schemas.openxmlformats.org/officeDocument/2006/relationships/image" Target="../media/image9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image" Target="../media/image101.emf"/><Relationship Id="rId7" Type="http://schemas.openxmlformats.org/officeDocument/2006/relationships/image" Target="../media/image105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Relationship Id="rId6" Type="http://schemas.openxmlformats.org/officeDocument/2006/relationships/image" Target="../media/image104.emf"/><Relationship Id="rId5" Type="http://schemas.openxmlformats.org/officeDocument/2006/relationships/image" Target="../media/image103.emf"/><Relationship Id="rId4" Type="http://schemas.openxmlformats.org/officeDocument/2006/relationships/image" Target="../media/image102.emf"/><Relationship Id="rId9" Type="http://schemas.openxmlformats.org/officeDocument/2006/relationships/image" Target="../media/image106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" Type="http://schemas.openxmlformats.org/officeDocument/2006/relationships/image" Target="../media/image108.emf"/><Relationship Id="rId6" Type="http://schemas.openxmlformats.org/officeDocument/2006/relationships/image" Target="../media/image113.emf"/><Relationship Id="rId5" Type="http://schemas.openxmlformats.org/officeDocument/2006/relationships/image" Target="../media/image112.emf"/><Relationship Id="rId4" Type="http://schemas.openxmlformats.org/officeDocument/2006/relationships/image" Target="../media/image11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image" Target="../media/image114.emf"/><Relationship Id="rId6" Type="http://schemas.openxmlformats.org/officeDocument/2006/relationships/image" Target="../media/image119.emf"/><Relationship Id="rId5" Type="http://schemas.openxmlformats.org/officeDocument/2006/relationships/image" Target="../media/image118.emf"/><Relationship Id="rId4" Type="http://schemas.openxmlformats.org/officeDocument/2006/relationships/image" Target="../media/image11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wmf"/><Relationship Id="rId1" Type="http://schemas.openxmlformats.org/officeDocument/2006/relationships/image" Target="../media/image120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emf"/><Relationship Id="rId1" Type="http://schemas.openxmlformats.org/officeDocument/2006/relationships/image" Target="../media/image122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image" Target="../media/image126.emf"/><Relationship Id="rId1" Type="http://schemas.openxmlformats.org/officeDocument/2006/relationships/image" Target="../media/image125.emf"/><Relationship Id="rId5" Type="http://schemas.openxmlformats.org/officeDocument/2006/relationships/image" Target="../media/image129.emf"/><Relationship Id="rId4" Type="http://schemas.openxmlformats.org/officeDocument/2006/relationships/image" Target="../media/image128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emf"/><Relationship Id="rId1" Type="http://schemas.openxmlformats.org/officeDocument/2006/relationships/image" Target="../media/image130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emf"/><Relationship Id="rId2" Type="http://schemas.openxmlformats.org/officeDocument/2006/relationships/image" Target="../media/image133.emf"/><Relationship Id="rId1" Type="http://schemas.openxmlformats.org/officeDocument/2006/relationships/image" Target="../media/image132.emf"/><Relationship Id="rId4" Type="http://schemas.openxmlformats.org/officeDocument/2006/relationships/image" Target="../media/image135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emf"/><Relationship Id="rId1" Type="http://schemas.openxmlformats.org/officeDocument/2006/relationships/image" Target="../media/image137.emf"/><Relationship Id="rId6" Type="http://schemas.openxmlformats.org/officeDocument/2006/relationships/image" Target="../media/image142.wmf"/><Relationship Id="rId5" Type="http://schemas.openxmlformats.org/officeDocument/2006/relationships/image" Target="../media/image141.emf"/><Relationship Id="rId4" Type="http://schemas.openxmlformats.org/officeDocument/2006/relationships/image" Target="../media/image140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emf"/><Relationship Id="rId1" Type="http://schemas.openxmlformats.org/officeDocument/2006/relationships/image" Target="../media/image143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e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image" Target="../media/image151.emf"/><Relationship Id="rId7" Type="http://schemas.openxmlformats.org/officeDocument/2006/relationships/image" Target="../media/image155.w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Relationship Id="rId6" Type="http://schemas.openxmlformats.org/officeDocument/2006/relationships/image" Target="../media/image154.wmf"/><Relationship Id="rId5" Type="http://schemas.openxmlformats.org/officeDocument/2006/relationships/image" Target="../media/image153.emf"/><Relationship Id="rId4" Type="http://schemas.openxmlformats.org/officeDocument/2006/relationships/image" Target="../media/image152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7" Type="http://schemas.openxmlformats.org/officeDocument/2006/relationships/image" Target="../media/image160.emf"/><Relationship Id="rId2" Type="http://schemas.openxmlformats.org/officeDocument/2006/relationships/image" Target="../media/image158.emf"/><Relationship Id="rId1" Type="http://schemas.openxmlformats.org/officeDocument/2006/relationships/image" Target="../media/image157.e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7" Type="http://schemas.openxmlformats.org/officeDocument/2006/relationships/image" Target="../media/image164.wmf"/><Relationship Id="rId2" Type="http://schemas.openxmlformats.org/officeDocument/2006/relationships/image" Target="../media/image162.emf"/><Relationship Id="rId1" Type="http://schemas.openxmlformats.org/officeDocument/2006/relationships/image" Target="../media/image161.emf"/><Relationship Id="rId6" Type="http://schemas.openxmlformats.org/officeDocument/2006/relationships/image" Target="../media/image163.e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emf"/><Relationship Id="rId2" Type="http://schemas.openxmlformats.org/officeDocument/2006/relationships/image" Target="../media/image166.emf"/><Relationship Id="rId1" Type="http://schemas.openxmlformats.org/officeDocument/2006/relationships/image" Target="../media/image165.e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emf"/><Relationship Id="rId2" Type="http://schemas.openxmlformats.org/officeDocument/2006/relationships/image" Target="../media/image172.emf"/><Relationship Id="rId1" Type="http://schemas.openxmlformats.org/officeDocument/2006/relationships/image" Target="../media/image171.emf"/><Relationship Id="rId6" Type="http://schemas.openxmlformats.org/officeDocument/2006/relationships/image" Target="../media/image176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emf"/><Relationship Id="rId2" Type="http://schemas.openxmlformats.org/officeDocument/2006/relationships/image" Target="../media/image178.emf"/><Relationship Id="rId1" Type="http://schemas.openxmlformats.org/officeDocument/2006/relationships/image" Target="../media/image177.wmf"/><Relationship Id="rId5" Type="http://schemas.openxmlformats.org/officeDocument/2006/relationships/image" Target="../media/image181.wmf"/><Relationship Id="rId4" Type="http://schemas.openxmlformats.org/officeDocument/2006/relationships/image" Target="../media/image180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emf"/><Relationship Id="rId7" Type="http://schemas.openxmlformats.org/officeDocument/2006/relationships/image" Target="../media/image188.emf"/><Relationship Id="rId2" Type="http://schemas.openxmlformats.org/officeDocument/2006/relationships/image" Target="../media/image183.emf"/><Relationship Id="rId1" Type="http://schemas.openxmlformats.org/officeDocument/2006/relationships/image" Target="../media/image182.emf"/><Relationship Id="rId6" Type="http://schemas.openxmlformats.org/officeDocument/2006/relationships/image" Target="../media/image187.emf"/><Relationship Id="rId5" Type="http://schemas.openxmlformats.org/officeDocument/2006/relationships/image" Target="../media/image186.emf"/><Relationship Id="rId4" Type="http://schemas.openxmlformats.org/officeDocument/2006/relationships/image" Target="../media/image185.e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emf"/><Relationship Id="rId3" Type="http://schemas.openxmlformats.org/officeDocument/2006/relationships/image" Target="../media/image191.emf"/><Relationship Id="rId7" Type="http://schemas.openxmlformats.org/officeDocument/2006/relationships/image" Target="../media/image195.emf"/><Relationship Id="rId2" Type="http://schemas.openxmlformats.org/officeDocument/2006/relationships/image" Target="../media/image190.emf"/><Relationship Id="rId1" Type="http://schemas.openxmlformats.org/officeDocument/2006/relationships/image" Target="../media/image189.emf"/><Relationship Id="rId6" Type="http://schemas.openxmlformats.org/officeDocument/2006/relationships/image" Target="../media/image194.emf"/><Relationship Id="rId5" Type="http://schemas.openxmlformats.org/officeDocument/2006/relationships/image" Target="../media/image193.emf"/><Relationship Id="rId4" Type="http://schemas.openxmlformats.org/officeDocument/2006/relationships/image" Target="../media/image192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emf"/><Relationship Id="rId2" Type="http://schemas.openxmlformats.org/officeDocument/2006/relationships/image" Target="../media/image198.emf"/><Relationship Id="rId1" Type="http://schemas.openxmlformats.org/officeDocument/2006/relationships/image" Target="../media/image197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emf"/><Relationship Id="rId2" Type="http://schemas.openxmlformats.org/officeDocument/2006/relationships/image" Target="../media/image201.wmf"/><Relationship Id="rId1" Type="http://schemas.openxmlformats.org/officeDocument/2006/relationships/image" Target="../media/image200.emf"/><Relationship Id="rId5" Type="http://schemas.openxmlformats.org/officeDocument/2006/relationships/image" Target="../media/image204.emf"/><Relationship Id="rId4" Type="http://schemas.openxmlformats.org/officeDocument/2006/relationships/image" Target="../media/image203.e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emf"/><Relationship Id="rId1" Type="http://schemas.openxmlformats.org/officeDocument/2006/relationships/image" Target="../media/image205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wmf"/><Relationship Id="rId2" Type="http://schemas.openxmlformats.org/officeDocument/2006/relationships/image" Target="../media/image208.emf"/><Relationship Id="rId1" Type="http://schemas.openxmlformats.org/officeDocument/2006/relationships/image" Target="../media/image207.e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3" Type="http://schemas.openxmlformats.org/officeDocument/2006/relationships/image" Target="../media/image213.emf"/><Relationship Id="rId7" Type="http://schemas.openxmlformats.org/officeDocument/2006/relationships/image" Target="../media/image217.emf"/><Relationship Id="rId2" Type="http://schemas.openxmlformats.org/officeDocument/2006/relationships/image" Target="../media/image212.emf"/><Relationship Id="rId1" Type="http://schemas.openxmlformats.org/officeDocument/2006/relationships/image" Target="../media/image211.emf"/><Relationship Id="rId6" Type="http://schemas.openxmlformats.org/officeDocument/2006/relationships/image" Target="../media/image216.emf"/><Relationship Id="rId5" Type="http://schemas.openxmlformats.org/officeDocument/2006/relationships/image" Target="../media/image215.emf"/><Relationship Id="rId4" Type="http://schemas.openxmlformats.org/officeDocument/2006/relationships/image" Target="../media/image214.emf"/><Relationship Id="rId9" Type="http://schemas.openxmlformats.org/officeDocument/2006/relationships/image" Target="../media/image219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emf"/><Relationship Id="rId3" Type="http://schemas.openxmlformats.org/officeDocument/2006/relationships/image" Target="../media/image222.emf"/><Relationship Id="rId7" Type="http://schemas.openxmlformats.org/officeDocument/2006/relationships/image" Target="../media/image226.emf"/><Relationship Id="rId2" Type="http://schemas.openxmlformats.org/officeDocument/2006/relationships/image" Target="../media/image221.emf"/><Relationship Id="rId1" Type="http://schemas.openxmlformats.org/officeDocument/2006/relationships/image" Target="../media/image220.emf"/><Relationship Id="rId6" Type="http://schemas.openxmlformats.org/officeDocument/2006/relationships/image" Target="../media/image225.emf"/><Relationship Id="rId5" Type="http://schemas.openxmlformats.org/officeDocument/2006/relationships/image" Target="../media/image224.emf"/><Relationship Id="rId10" Type="http://schemas.openxmlformats.org/officeDocument/2006/relationships/image" Target="../media/image229.emf"/><Relationship Id="rId4" Type="http://schemas.openxmlformats.org/officeDocument/2006/relationships/image" Target="../media/image223.emf"/><Relationship Id="rId9" Type="http://schemas.openxmlformats.org/officeDocument/2006/relationships/image" Target="../media/image228.e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emf"/><Relationship Id="rId3" Type="http://schemas.openxmlformats.org/officeDocument/2006/relationships/image" Target="../media/image232.emf"/><Relationship Id="rId7" Type="http://schemas.openxmlformats.org/officeDocument/2006/relationships/image" Target="../media/image236.wmf"/><Relationship Id="rId12" Type="http://schemas.openxmlformats.org/officeDocument/2006/relationships/image" Target="../media/image241.wmf"/><Relationship Id="rId2" Type="http://schemas.openxmlformats.org/officeDocument/2006/relationships/image" Target="../media/image231.emf"/><Relationship Id="rId1" Type="http://schemas.openxmlformats.org/officeDocument/2006/relationships/image" Target="../media/image230.emf"/><Relationship Id="rId6" Type="http://schemas.openxmlformats.org/officeDocument/2006/relationships/image" Target="../media/image235.emf"/><Relationship Id="rId11" Type="http://schemas.openxmlformats.org/officeDocument/2006/relationships/image" Target="../media/image240.emf"/><Relationship Id="rId5" Type="http://schemas.openxmlformats.org/officeDocument/2006/relationships/image" Target="../media/image234.emf"/><Relationship Id="rId10" Type="http://schemas.openxmlformats.org/officeDocument/2006/relationships/image" Target="../media/image239.emf"/><Relationship Id="rId4" Type="http://schemas.openxmlformats.org/officeDocument/2006/relationships/image" Target="../media/image233.emf"/><Relationship Id="rId9" Type="http://schemas.openxmlformats.org/officeDocument/2006/relationships/image" Target="../media/image238.e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emf"/><Relationship Id="rId3" Type="http://schemas.openxmlformats.org/officeDocument/2006/relationships/image" Target="../media/image244.emf"/><Relationship Id="rId7" Type="http://schemas.openxmlformats.org/officeDocument/2006/relationships/image" Target="../media/image248.emf"/><Relationship Id="rId2" Type="http://schemas.openxmlformats.org/officeDocument/2006/relationships/image" Target="../media/image243.emf"/><Relationship Id="rId1" Type="http://schemas.openxmlformats.org/officeDocument/2006/relationships/image" Target="../media/image242.emf"/><Relationship Id="rId6" Type="http://schemas.openxmlformats.org/officeDocument/2006/relationships/image" Target="../media/image247.emf"/><Relationship Id="rId5" Type="http://schemas.openxmlformats.org/officeDocument/2006/relationships/image" Target="../media/image246.emf"/><Relationship Id="rId4" Type="http://schemas.openxmlformats.org/officeDocument/2006/relationships/image" Target="../media/image245.emf"/><Relationship Id="rId9" Type="http://schemas.openxmlformats.org/officeDocument/2006/relationships/image" Target="../media/image241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emf"/><Relationship Id="rId7" Type="http://schemas.openxmlformats.org/officeDocument/2006/relationships/image" Target="../media/image256.emf"/><Relationship Id="rId2" Type="http://schemas.openxmlformats.org/officeDocument/2006/relationships/image" Target="../media/image251.emf"/><Relationship Id="rId1" Type="http://schemas.openxmlformats.org/officeDocument/2006/relationships/image" Target="../media/image250.emf"/><Relationship Id="rId6" Type="http://schemas.openxmlformats.org/officeDocument/2006/relationships/image" Target="../media/image255.emf"/><Relationship Id="rId5" Type="http://schemas.openxmlformats.org/officeDocument/2006/relationships/image" Target="../media/image254.emf"/><Relationship Id="rId4" Type="http://schemas.openxmlformats.org/officeDocument/2006/relationships/image" Target="../media/image253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emf"/><Relationship Id="rId7" Type="http://schemas.openxmlformats.org/officeDocument/2006/relationships/image" Target="../media/image263.emf"/><Relationship Id="rId2" Type="http://schemas.openxmlformats.org/officeDocument/2006/relationships/image" Target="../media/image258.wmf"/><Relationship Id="rId1" Type="http://schemas.openxmlformats.org/officeDocument/2006/relationships/image" Target="../media/image257.emf"/><Relationship Id="rId6" Type="http://schemas.openxmlformats.org/officeDocument/2006/relationships/image" Target="../media/image262.emf"/><Relationship Id="rId5" Type="http://schemas.openxmlformats.org/officeDocument/2006/relationships/image" Target="../media/image261.emf"/><Relationship Id="rId4" Type="http://schemas.openxmlformats.org/officeDocument/2006/relationships/image" Target="../media/image260.e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emf"/><Relationship Id="rId2" Type="http://schemas.openxmlformats.org/officeDocument/2006/relationships/image" Target="../media/image265.emf"/><Relationship Id="rId1" Type="http://schemas.openxmlformats.org/officeDocument/2006/relationships/image" Target="../media/image264.emf"/><Relationship Id="rId4" Type="http://schemas.openxmlformats.org/officeDocument/2006/relationships/image" Target="../media/image267.e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emf"/><Relationship Id="rId3" Type="http://schemas.openxmlformats.org/officeDocument/2006/relationships/image" Target="../media/image270.emf"/><Relationship Id="rId7" Type="http://schemas.openxmlformats.org/officeDocument/2006/relationships/image" Target="../media/image273.wmf"/><Relationship Id="rId2" Type="http://schemas.openxmlformats.org/officeDocument/2006/relationships/image" Target="../media/image269.emf"/><Relationship Id="rId1" Type="http://schemas.openxmlformats.org/officeDocument/2006/relationships/image" Target="../media/image268.emf"/><Relationship Id="rId6" Type="http://schemas.openxmlformats.org/officeDocument/2006/relationships/image" Target="../media/image258.wmf"/><Relationship Id="rId5" Type="http://schemas.openxmlformats.org/officeDocument/2006/relationships/image" Target="../media/image272.wmf"/><Relationship Id="rId4" Type="http://schemas.openxmlformats.org/officeDocument/2006/relationships/image" Target="../media/image271.emf"/><Relationship Id="rId9" Type="http://schemas.openxmlformats.org/officeDocument/2006/relationships/image" Target="../media/image275.e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wmf"/><Relationship Id="rId1" Type="http://schemas.openxmlformats.org/officeDocument/2006/relationships/image" Target="../media/image276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emf"/><Relationship Id="rId2" Type="http://schemas.openxmlformats.org/officeDocument/2006/relationships/image" Target="../media/image279.wmf"/><Relationship Id="rId1" Type="http://schemas.openxmlformats.org/officeDocument/2006/relationships/image" Target="../media/image278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wmf"/><Relationship Id="rId2" Type="http://schemas.openxmlformats.org/officeDocument/2006/relationships/image" Target="../media/image282.emf"/><Relationship Id="rId1" Type="http://schemas.openxmlformats.org/officeDocument/2006/relationships/image" Target="../media/image281.emf"/><Relationship Id="rId6" Type="http://schemas.openxmlformats.org/officeDocument/2006/relationships/image" Target="../media/image286.emf"/><Relationship Id="rId5" Type="http://schemas.openxmlformats.org/officeDocument/2006/relationships/image" Target="../media/image285.emf"/><Relationship Id="rId4" Type="http://schemas.openxmlformats.org/officeDocument/2006/relationships/image" Target="../media/image284.w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emf"/><Relationship Id="rId3" Type="http://schemas.openxmlformats.org/officeDocument/2006/relationships/image" Target="../media/image290.emf"/><Relationship Id="rId7" Type="http://schemas.openxmlformats.org/officeDocument/2006/relationships/image" Target="../media/image294.emf"/><Relationship Id="rId2" Type="http://schemas.openxmlformats.org/officeDocument/2006/relationships/image" Target="../media/image289.emf"/><Relationship Id="rId1" Type="http://schemas.openxmlformats.org/officeDocument/2006/relationships/image" Target="../media/image288.emf"/><Relationship Id="rId6" Type="http://schemas.openxmlformats.org/officeDocument/2006/relationships/image" Target="../media/image293.emf"/><Relationship Id="rId5" Type="http://schemas.openxmlformats.org/officeDocument/2006/relationships/image" Target="../media/image292.wmf"/><Relationship Id="rId10" Type="http://schemas.openxmlformats.org/officeDocument/2006/relationships/image" Target="../media/image297.emf"/><Relationship Id="rId4" Type="http://schemas.openxmlformats.org/officeDocument/2006/relationships/image" Target="../media/image291.wmf"/><Relationship Id="rId9" Type="http://schemas.openxmlformats.org/officeDocument/2006/relationships/image" Target="../media/image296.e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13" Type="http://schemas.openxmlformats.org/officeDocument/2006/relationships/image" Target="../media/image310.wmf"/><Relationship Id="rId3" Type="http://schemas.openxmlformats.org/officeDocument/2006/relationships/image" Target="../media/image300.emf"/><Relationship Id="rId7" Type="http://schemas.openxmlformats.org/officeDocument/2006/relationships/image" Target="../media/image304.wmf"/><Relationship Id="rId12" Type="http://schemas.openxmlformats.org/officeDocument/2006/relationships/image" Target="../media/image309.emf"/><Relationship Id="rId2" Type="http://schemas.openxmlformats.org/officeDocument/2006/relationships/image" Target="../media/image299.emf"/><Relationship Id="rId1" Type="http://schemas.openxmlformats.org/officeDocument/2006/relationships/image" Target="../media/image298.emf"/><Relationship Id="rId6" Type="http://schemas.openxmlformats.org/officeDocument/2006/relationships/image" Target="../media/image303.emf"/><Relationship Id="rId11" Type="http://schemas.openxmlformats.org/officeDocument/2006/relationships/image" Target="../media/image308.emf"/><Relationship Id="rId5" Type="http://schemas.openxmlformats.org/officeDocument/2006/relationships/image" Target="../media/image302.emf"/><Relationship Id="rId10" Type="http://schemas.openxmlformats.org/officeDocument/2006/relationships/image" Target="../media/image307.emf"/><Relationship Id="rId4" Type="http://schemas.openxmlformats.org/officeDocument/2006/relationships/image" Target="../media/image301.emf"/><Relationship Id="rId9" Type="http://schemas.openxmlformats.org/officeDocument/2006/relationships/image" Target="../media/image306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wmf"/><Relationship Id="rId2" Type="http://schemas.openxmlformats.org/officeDocument/2006/relationships/image" Target="../media/image313.wmf"/><Relationship Id="rId1" Type="http://schemas.openxmlformats.org/officeDocument/2006/relationships/image" Target="../media/image312.wmf"/><Relationship Id="rId4" Type="http://schemas.openxmlformats.org/officeDocument/2006/relationships/image" Target="../media/image315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wmf"/><Relationship Id="rId2" Type="http://schemas.openxmlformats.org/officeDocument/2006/relationships/image" Target="../media/image317.wmf"/><Relationship Id="rId1" Type="http://schemas.openxmlformats.org/officeDocument/2006/relationships/image" Target="../media/image316.w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3.wmf"/><Relationship Id="rId1" Type="http://schemas.openxmlformats.org/officeDocument/2006/relationships/image" Target="../media/image322.w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8.emf"/><Relationship Id="rId1" Type="http://schemas.openxmlformats.org/officeDocument/2006/relationships/image" Target="../media/image327.e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wmf"/><Relationship Id="rId2" Type="http://schemas.openxmlformats.org/officeDocument/2006/relationships/image" Target="../media/image330.emf"/><Relationship Id="rId1" Type="http://schemas.openxmlformats.org/officeDocument/2006/relationships/image" Target="../media/image329.emf"/><Relationship Id="rId5" Type="http://schemas.openxmlformats.org/officeDocument/2006/relationships/image" Target="../media/image333.wmf"/><Relationship Id="rId4" Type="http://schemas.openxmlformats.org/officeDocument/2006/relationships/image" Target="../media/image332.e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emf"/><Relationship Id="rId2" Type="http://schemas.openxmlformats.org/officeDocument/2006/relationships/image" Target="../media/image335.emf"/><Relationship Id="rId1" Type="http://schemas.openxmlformats.org/officeDocument/2006/relationships/image" Target="../media/image334.emf"/><Relationship Id="rId5" Type="http://schemas.openxmlformats.org/officeDocument/2006/relationships/image" Target="../media/image331.wmf"/><Relationship Id="rId4" Type="http://schemas.openxmlformats.org/officeDocument/2006/relationships/image" Target="../media/image337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wmf"/><Relationship Id="rId7" Type="http://schemas.openxmlformats.org/officeDocument/2006/relationships/image" Target="../media/image344.wmf"/><Relationship Id="rId2" Type="http://schemas.openxmlformats.org/officeDocument/2006/relationships/image" Target="../media/image339.emf"/><Relationship Id="rId1" Type="http://schemas.openxmlformats.org/officeDocument/2006/relationships/image" Target="../media/image338.emf"/><Relationship Id="rId6" Type="http://schemas.openxmlformats.org/officeDocument/2006/relationships/image" Target="../media/image343.wmf"/><Relationship Id="rId5" Type="http://schemas.openxmlformats.org/officeDocument/2006/relationships/image" Target="../media/image342.wmf"/><Relationship Id="rId4" Type="http://schemas.openxmlformats.org/officeDocument/2006/relationships/image" Target="../media/image341.e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emf"/><Relationship Id="rId13" Type="http://schemas.openxmlformats.org/officeDocument/2006/relationships/image" Target="../media/image357.emf"/><Relationship Id="rId18" Type="http://schemas.openxmlformats.org/officeDocument/2006/relationships/image" Target="../media/image362.emf"/><Relationship Id="rId3" Type="http://schemas.openxmlformats.org/officeDocument/2006/relationships/image" Target="../media/image347.emf"/><Relationship Id="rId7" Type="http://schemas.openxmlformats.org/officeDocument/2006/relationships/image" Target="../media/image351.emf"/><Relationship Id="rId12" Type="http://schemas.openxmlformats.org/officeDocument/2006/relationships/image" Target="../media/image356.emf"/><Relationship Id="rId17" Type="http://schemas.openxmlformats.org/officeDocument/2006/relationships/image" Target="../media/image361.emf"/><Relationship Id="rId2" Type="http://schemas.openxmlformats.org/officeDocument/2006/relationships/image" Target="../media/image346.emf"/><Relationship Id="rId16" Type="http://schemas.openxmlformats.org/officeDocument/2006/relationships/image" Target="../media/image360.emf"/><Relationship Id="rId1" Type="http://schemas.openxmlformats.org/officeDocument/2006/relationships/image" Target="../media/image345.emf"/><Relationship Id="rId6" Type="http://schemas.openxmlformats.org/officeDocument/2006/relationships/image" Target="../media/image350.wmf"/><Relationship Id="rId11" Type="http://schemas.openxmlformats.org/officeDocument/2006/relationships/image" Target="../media/image355.emf"/><Relationship Id="rId5" Type="http://schemas.openxmlformats.org/officeDocument/2006/relationships/image" Target="../media/image349.emf"/><Relationship Id="rId15" Type="http://schemas.openxmlformats.org/officeDocument/2006/relationships/image" Target="../media/image359.emf"/><Relationship Id="rId10" Type="http://schemas.openxmlformats.org/officeDocument/2006/relationships/image" Target="../media/image354.emf"/><Relationship Id="rId4" Type="http://schemas.openxmlformats.org/officeDocument/2006/relationships/image" Target="../media/image348.emf"/><Relationship Id="rId9" Type="http://schemas.openxmlformats.org/officeDocument/2006/relationships/image" Target="../media/image353.emf"/><Relationship Id="rId14" Type="http://schemas.openxmlformats.org/officeDocument/2006/relationships/image" Target="../media/image358.e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5.emf"/><Relationship Id="rId7" Type="http://schemas.openxmlformats.org/officeDocument/2006/relationships/image" Target="../media/image369.wmf"/><Relationship Id="rId2" Type="http://schemas.openxmlformats.org/officeDocument/2006/relationships/image" Target="../media/image364.emf"/><Relationship Id="rId1" Type="http://schemas.openxmlformats.org/officeDocument/2006/relationships/image" Target="../media/image363.emf"/><Relationship Id="rId6" Type="http://schemas.openxmlformats.org/officeDocument/2006/relationships/image" Target="../media/image368.wmf"/><Relationship Id="rId5" Type="http://schemas.openxmlformats.org/officeDocument/2006/relationships/image" Target="../media/image367.wmf"/><Relationship Id="rId4" Type="http://schemas.openxmlformats.org/officeDocument/2006/relationships/image" Target="../media/image366.e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2.emf"/><Relationship Id="rId2" Type="http://schemas.openxmlformats.org/officeDocument/2006/relationships/image" Target="../media/image371.emf"/><Relationship Id="rId1" Type="http://schemas.openxmlformats.org/officeDocument/2006/relationships/image" Target="../media/image370.emf"/><Relationship Id="rId4" Type="http://schemas.openxmlformats.org/officeDocument/2006/relationships/image" Target="../media/image37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0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日期占位符 3074"/>
          <p:cNvSpPr>
            <a:spLocks noGrp="1"/>
          </p:cNvSpPr>
          <p:nvPr>
            <p:ph type="dt" sz="quarter" idx="1"/>
          </p:nvPr>
        </p:nvSpPr>
        <p:spPr>
          <a:xfrm>
            <a:off x="3857625" y="0"/>
            <a:ext cx="2951163" cy="490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6" name="页脚占位符 3075"/>
          <p:cNvSpPr>
            <a:spLocks noGrp="1"/>
          </p:cNvSpPr>
          <p:nvPr>
            <p:ph type="ftr" sz="quarter" idx="2"/>
          </p:nvPr>
        </p:nvSpPr>
        <p:spPr>
          <a:xfrm>
            <a:off x="0" y="9332913"/>
            <a:ext cx="2951163" cy="49053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7" name="灯片编号占位符 3076"/>
          <p:cNvSpPr>
            <a:spLocks noGrp="1"/>
          </p:cNvSpPr>
          <p:nvPr>
            <p:ph type="sldNum" sz="quarter" idx="3"/>
          </p:nvPr>
        </p:nvSpPr>
        <p:spPr>
          <a:xfrm>
            <a:off x="3857625" y="9332913"/>
            <a:ext cx="2951163" cy="49053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defRPr sz="1200" noProof="1"/>
            </a:lvl1pPr>
          </a:lstStyle>
          <a:p>
            <a:pPr>
              <a:defRPr/>
            </a:pPr>
            <a:fld id="{6348B8D5-2E52-499E-B04C-900696B60C3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0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050"/>
          <p:cNvSpPr>
            <a:spLocks noGrp="1"/>
          </p:cNvSpPr>
          <p:nvPr>
            <p:ph type="dt" idx="1"/>
          </p:nvPr>
        </p:nvSpPr>
        <p:spPr>
          <a:xfrm>
            <a:off x="3857625" y="0"/>
            <a:ext cx="2951163" cy="490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6" name="幻灯片图像占位符 2051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947738" y="736600"/>
            <a:ext cx="4913312" cy="36845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文本占位符 2052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08050" y="4665663"/>
            <a:ext cx="4992688" cy="442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9332913"/>
            <a:ext cx="2951163" cy="49053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3857625" y="9332913"/>
            <a:ext cx="2951163" cy="49053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defRPr sz="1200" noProof="1"/>
            </a:lvl1pPr>
          </a:lstStyle>
          <a:p>
            <a:pPr>
              <a:defRPr/>
            </a:pPr>
            <a:fld id="{35769F67-2D7B-4B49-8484-9764E567228B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>
            <a:lvl1pPr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11954AD3-3ADE-4088-8F18-757F0698C103}" type="slidenum">
              <a:rPr altLang="en-US" sz="1200" smtClean="0"/>
              <a:t>32</a:t>
            </a:fld>
            <a:endParaRPr lang="zh-CN" altLang="en-US" sz="1200"/>
          </a:p>
        </p:txBody>
      </p:sp>
      <p:sp>
        <p:nvSpPr>
          <p:cNvPr id="53251" name="幻灯片图像占位符 545793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3252" name="文本占位符 545794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>
            <a:lvl1pPr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BAFC38A3-5675-442C-BABE-DE7EED237209}" type="slidenum">
              <a:rPr altLang="en-US" sz="1200" baseline="0" smtClean="0"/>
              <a:t>51</a:t>
            </a:fld>
            <a:endParaRPr lang="zh-CN" altLang="en-US" sz="1200" baseline="0"/>
          </a:p>
        </p:txBody>
      </p:sp>
      <p:sp>
        <p:nvSpPr>
          <p:cNvPr id="73731" name="幻灯片图像占位符 584705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9638" y="715963"/>
            <a:ext cx="4991100" cy="3743325"/>
          </a:xfrm>
        </p:spPr>
      </p:sp>
      <p:sp>
        <p:nvSpPr>
          <p:cNvPr id="73732" name="文本占位符 584706"/>
          <p:cNvSpPr>
            <a:spLocks noGrp="1" noChangeArrowheads="1"/>
          </p:cNvSpPr>
          <p:nvPr>
            <p:ph type="body" idx="4294967295"/>
          </p:nvPr>
        </p:nvSpPr>
        <p:spPr>
          <a:xfrm>
            <a:off x="898525" y="4699000"/>
            <a:ext cx="5011738" cy="4381500"/>
          </a:xfrm>
        </p:spPr>
        <p:txBody>
          <a:bodyPr lIns="89584" tIns="44792" rIns="89584" bIns="44792"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395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410AA-C0CF-4C46-870E-627F449C22B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34A88-8089-4323-94B5-C7783A039AF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C8075-CAF8-4B8F-8FC2-14C3BD34A54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D3E3B-07D1-47F4-BDAD-E9E7401C243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54819-C2CA-491E-9E01-DD378814FAC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60DB2-357B-4C29-9D7F-4DCE618F93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6832C-9C79-41C4-878F-C4B5D2E82942}" type="datetime1">
              <a:rPr lang="zh-CN" altLang="en-US"/>
              <a:t>2024.11.24</a:t>
            </a:fld>
            <a:endParaRPr lang="zh-CN" altLang="en-US"/>
          </a:p>
        </p:txBody>
      </p:sp>
      <p:sp>
        <p:nvSpPr>
          <p:cNvPr id="3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E9D05-C905-4FDC-8601-BC43C66159A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5DDD8-D4A5-46BF-BCE6-9D7F97F99E4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8FB01-814D-43F4-9B1C-B12FF48A9F9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F64EF-4957-47F5-86AD-ACB0908D8DF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63EB99-4F32-4E4E-9930-6C7D6E03296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8511F-6228-4222-A565-5800716ACBC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B7C05-E868-4EC6-95AA-777326814E0C}" type="datetime1">
              <a:rPr lang="zh-CN" altLang="en-US"/>
              <a:t>2024.11.24</a:t>
            </a:fld>
            <a:endParaRPr lang="zh-CN" altLang="en-US"/>
          </a:p>
        </p:txBody>
      </p:sp>
      <p:sp>
        <p:nvSpPr>
          <p:cNvPr id="7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E15C9-C549-4407-8810-B0E03E86557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86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74188-98B8-4D74-955C-225624A830A1}" type="datetime1">
              <a:rPr lang="zh-CN" altLang="en-US"/>
              <a:t>2024.11.24</a:t>
            </a:fld>
            <a:endParaRPr lang="zh-CN" altLang="en-US"/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AB91B-2AE5-44C5-BB4A-CDD7375C8A3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文本占位符 10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spcBef>
                <a:spcPct val="50000"/>
              </a:spcBef>
              <a:defRPr sz="14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C795F3E-0DED-4A56-93E4-2CA4CB959273}" type="datetime1">
              <a:rPr lang="zh-CN" altLang="en-US"/>
              <a:t>2024.11.24</a:t>
            </a:fld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spcBef>
                <a:spcPct val="50000"/>
              </a:spcBef>
              <a:defRPr sz="14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spcBef>
                <a:spcPct val="50000"/>
              </a:spcBef>
              <a:defRPr sz="14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46F8449-E7ED-4322-A838-39FD4386AB4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300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300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300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300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300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300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300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300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20.jpeg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8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4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6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33.emf"/><Relationship Id="rId4" Type="http://schemas.openxmlformats.org/officeDocument/2006/relationships/image" Target="../media/image30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5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44.emf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39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41.emf"/><Relationship Id="rId1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emf"/><Relationship Id="rId20" Type="http://schemas.openxmlformats.org/officeDocument/2006/relationships/image" Target="../media/image45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40.emf"/><Relationship Id="rId19" Type="http://schemas.openxmlformats.org/officeDocument/2006/relationships/oleObject" Target="../embeddings/oleObject38.bin"/><Relationship Id="rId4" Type="http://schemas.openxmlformats.org/officeDocument/2006/relationships/image" Target="../media/image37.e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42.emf"/><Relationship Id="rId22" Type="http://schemas.openxmlformats.org/officeDocument/2006/relationships/image" Target="../media/image46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13" Type="http://schemas.openxmlformats.org/officeDocument/2006/relationships/oleObject" Target="../embeddings/oleObject45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50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2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49.emf"/><Relationship Id="rId4" Type="http://schemas.openxmlformats.org/officeDocument/2006/relationships/image" Target="../media/image47.e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5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55.w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6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0.e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62.emf"/><Relationship Id="rId4" Type="http://schemas.openxmlformats.org/officeDocument/2006/relationships/image" Target="../media/image59.emf"/><Relationship Id="rId9" Type="http://schemas.openxmlformats.org/officeDocument/2006/relationships/oleObject" Target="../embeddings/oleObject5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4.e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6.emf"/><Relationship Id="rId4" Type="http://schemas.openxmlformats.org/officeDocument/2006/relationships/image" Target="../media/image63.emf"/><Relationship Id="rId9" Type="http://schemas.openxmlformats.org/officeDocument/2006/relationships/oleObject" Target="../embeddings/oleObject62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71.wmf"/><Relationship Id="rId4" Type="http://schemas.openxmlformats.org/officeDocument/2006/relationships/image" Target="../media/image68.emf"/><Relationship Id="rId9" Type="http://schemas.openxmlformats.org/officeDocument/2006/relationships/oleObject" Target="../embeddings/oleObject6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73.bin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7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5.e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7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oleObject" Target="../embeddings/oleObject79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8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81.e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83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5.e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87.emf"/><Relationship Id="rId4" Type="http://schemas.openxmlformats.org/officeDocument/2006/relationships/image" Target="../media/image84.emf"/><Relationship Id="rId9" Type="http://schemas.openxmlformats.org/officeDocument/2006/relationships/oleObject" Target="../embeddings/oleObject8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6.e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3.emf"/><Relationship Id="rId17" Type="http://schemas.openxmlformats.org/officeDocument/2006/relationships/oleObject" Target="../embeddings/oleObject9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95.emf"/><Relationship Id="rId20" Type="http://schemas.openxmlformats.org/officeDocument/2006/relationships/image" Target="../media/image97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0.e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92.emf"/><Relationship Id="rId19" Type="http://schemas.openxmlformats.org/officeDocument/2006/relationships/oleObject" Target="../embeddings/oleObject93.bin"/><Relationship Id="rId4" Type="http://schemas.openxmlformats.org/officeDocument/2006/relationships/image" Target="../media/image89.e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4.emf"/><Relationship Id="rId22" Type="http://schemas.openxmlformats.org/officeDocument/2006/relationships/image" Target="../media/image9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97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3.e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5.e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0.e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102.e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99.e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0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07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emf"/><Relationship Id="rId13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1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9.e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11.wmf"/><Relationship Id="rId4" Type="http://schemas.openxmlformats.org/officeDocument/2006/relationships/image" Target="../media/image108.e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13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13" Type="http://schemas.openxmlformats.org/officeDocument/2006/relationships/oleObject" Target="../embeddings/oleObject116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5.e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17.wmf"/><Relationship Id="rId4" Type="http://schemas.openxmlformats.org/officeDocument/2006/relationships/image" Target="../media/image114.e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20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20.bin"/><Relationship Id="rId11" Type="http://schemas.openxmlformats.org/officeDocument/2006/relationships/oleObject" Target="../embeddings/oleObject123.bin"/><Relationship Id="rId5" Type="http://schemas.openxmlformats.org/officeDocument/2006/relationships/image" Target="../media/image122.e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2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e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2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26.e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128.emf"/><Relationship Id="rId4" Type="http://schemas.openxmlformats.org/officeDocument/2006/relationships/image" Target="../media/image125.emf"/><Relationship Id="rId9" Type="http://schemas.openxmlformats.org/officeDocument/2006/relationships/oleObject" Target="../embeddings/oleObject127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31.e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0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33.emf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35.emf"/><Relationship Id="rId4" Type="http://schemas.openxmlformats.org/officeDocument/2006/relationships/image" Target="../media/image132.emf"/><Relationship Id="rId9" Type="http://schemas.openxmlformats.org/officeDocument/2006/relationships/oleObject" Target="../embeddings/oleObject134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40.bin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4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8.e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0" Type="http://schemas.openxmlformats.org/officeDocument/2006/relationships/image" Target="../media/image140.emf"/><Relationship Id="rId4" Type="http://schemas.openxmlformats.org/officeDocument/2006/relationships/image" Target="../media/image137.e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42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44.emf"/><Relationship Id="rId5" Type="http://schemas.openxmlformats.org/officeDocument/2006/relationships/oleObject" Target="../embeddings/oleObject142.bin"/><Relationship Id="rId4" Type="http://schemas.openxmlformats.org/officeDocument/2006/relationships/image" Target="../media/image143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45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13" Type="http://schemas.openxmlformats.org/officeDocument/2006/relationships/oleObject" Target="../embeddings/oleObject151.bin"/><Relationship Id="rId18" Type="http://schemas.openxmlformats.org/officeDocument/2006/relationships/image" Target="../media/image156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53.emf"/><Relationship Id="rId17" Type="http://schemas.openxmlformats.org/officeDocument/2006/relationships/oleObject" Target="../embeddings/oleObject153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55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50.e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5" Type="http://schemas.openxmlformats.org/officeDocument/2006/relationships/oleObject" Target="../embeddings/oleObject152.bin"/><Relationship Id="rId10" Type="http://schemas.openxmlformats.org/officeDocument/2006/relationships/image" Target="../media/image152.emf"/><Relationship Id="rId4" Type="http://schemas.openxmlformats.org/officeDocument/2006/relationships/image" Target="../media/image149.emf"/><Relationship Id="rId9" Type="http://schemas.openxmlformats.org/officeDocument/2006/relationships/oleObject" Target="../embeddings/oleObject149.bin"/><Relationship Id="rId14" Type="http://schemas.openxmlformats.org/officeDocument/2006/relationships/image" Target="../media/image154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emf"/><Relationship Id="rId13" Type="http://schemas.openxmlformats.org/officeDocument/2006/relationships/oleObject" Target="../embeddings/oleObject159.bin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5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0.e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58.e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10" Type="http://schemas.openxmlformats.org/officeDocument/2006/relationships/image" Target="../media/image154.wmf"/><Relationship Id="rId4" Type="http://schemas.openxmlformats.org/officeDocument/2006/relationships/image" Target="../media/image157.e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56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166.bin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5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4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62.emf"/><Relationship Id="rId11" Type="http://schemas.openxmlformats.org/officeDocument/2006/relationships/oleObject" Target="../embeddings/oleObject165.bin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10" Type="http://schemas.openxmlformats.org/officeDocument/2006/relationships/image" Target="../media/image155.wmf"/><Relationship Id="rId4" Type="http://schemas.openxmlformats.org/officeDocument/2006/relationships/image" Target="../media/image161.e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63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emf"/><Relationship Id="rId13" Type="http://schemas.openxmlformats.org/officeDocument/2006/relationships/oleObject" Target="../embeddings/oleObject173.bin"/><Relationship Id="rId3" Type="http://schemas.openxmlformats.org/officeDocument/2006/relationships/oleObject" Target="../embeddings/oleObject168.bin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16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66.emf"/><Relationship Id="rId11" Type="http://schemas.openxmlformats.org/officeDocument/2006/relationships/oleObject" Target="../embeddings/oleObject172.bin"/><Relationship Id="rId5" Type="http://schemas.openxmlformats.org/officeDocument/2006/relationships/oleObject" Target="../embeddings/oleObject169.bin"/><Relationship Id="rId10" Type="http://schemas.openxmlformats.org/officeDocument/2006/relationships/image" Target="../media/image168.emf"/><Relationship Id="rId4" Type="http://schemas.openxmlformats.org/officeDocument/2006/relationships/image" Target="../media/image165.emf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17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13" Type="http://schemas.openxmlformats.org/officeDocument/2006/relationships/oleObject" Target="../embeddings/oleObject179.bin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7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72.e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0" Type="http://schemas.openxmlformats.org/officeDocument/2006/relationships/image" Target="../media/image174.wmf"/><Relationship Id="rId4" Type="http://schemas.openxmlformats.org/officeDocument/2006/relationships/image" Target="../media/image171.e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76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e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8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78.emf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81.bin"/><Relationship Id="rId10" Type="http://schemas.openxmlformats.org/officeDocument/2006/relationships/image" Target="../media/image180.emf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83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emf"/><Relationship Id="rId13" Type="http://schemas.openxmlformats.org/officeDocument/2006/relationships/oleObject" Target="../embeddings/oleObject190.bin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186.e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88.e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83.emf"/><Relationship Id="rId11" Type="http://schemas.openxmlformats.org/officeDocument/2006/relationships/oleObject" Target="../embeddings/oleObject189.bin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10" Type="http://schemas.openxmlformats.org/officeDocument/2006/relationships/image" Target="../media/image185.emf"/><Relationship Id="rId4" Type="http://schemas.openxmlformats.org/officeDocument/2006/relationships/image" Target="../media/image182.e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87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emf"/><Relationship Id="rId13" Type="http://schemas.openxmlformats.org/officeDocument/2006/relationships/oleObject" Target="../embeddings/oleObject197.bin"/><Relationship Id="rId18" Type="http://schemas.openxmlformats.org/officeDocument/2006/relationships/image" Target="../media/image196.emf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193.emf"/><Relationship Id="rId17" Type="http://schemas.openxmlformats.org/officeDocument/2006/relationships/oleObject" Target="../embeddings/oleObject19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5.e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90.emf"/><Relationship Id="rId11" Type="http://schemas.openxmlformats.org/officeDocument/2006/relationships/oleObject" Target="../embeddings/oleObject196.bin"/><Relationship Id="rId5" Type="http://schemas.openxmlformats.org/officeDocument/2006/relationships/oleObject" Target="../embeddings/oleObject193.bin"/><Relationship Id="rId15" Type="http://schemas.openxmlformats.org/officeDocument/2006/relationships/oleObject" Target="../embeddings/oleObject198.bin"/><Relationship Id="rId10" Type="http://schemas.openxmlformats.org/officeDocument/2006/relationships/image" Target="../media/image192.emf"/><Relationship Id="rId4" Type="http://schemas.openxmlformats.org/officeDocument/2006/relationships/image" Target="../media/image189.emf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194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emf"/><Relationship Id="rId3" Type="http://schemas.openxmlformats.org/officeDocument/2006/relationships/oleObject" Target="../embeddings/oleObject200.bin"/><Relationship Id="rId7" Type="http://schemas.openxmlformats.org/officeDocument/2006/relationships/oleObject" Target="../embeddings/oleObject2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98.e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197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emf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204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4.bin"/><Relationship Id="rId10" Type="http://schemas.openxmlformats.org/officeDocument/2006/relationships/image" Target="../media/image203.emf"/><Relationship Id="rId4" Type="http://schemas.openxmlformats.org/officeDocument/2006/relationships/image" Target="../media/image200.emf"/><Relationship Id="rId9" Type="http://schemas.openxmlformats.org/officeDocument/2006/relationships/oleObject" Target="../embeddings/oleObject206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06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209.bin"/><Relationship Id="rId5" Type="http://schemas.openxmlformats.org/officeDocument/2006/relationships/image" Target="../media/image205.emf"/><Relationship Id="rId4" Type="http://schemas.openxmlformats.org/officeDocument/2006/relationships/oleObject" Target="../embeddings/oleObject208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2.bin"/><Relationship Id="rId3" Type="http://schemas.openxmlformats.org/officeDocument/2006/relationships/oleObject" Target="../embeddings/oleObject210.bin"/><Relationship Id="rId7" Type="http://schemas.openxmlformats.org/officeDocument/2006/relationships/image" Target="../media/image2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08.emf"/><Relationship Id="rId5" Type="http://schemas.openxmlformats.org/officeDocument/2006/relationships/oleObject" Target="../embeddings/oleObject211.bin"/><Relationship Id="rId10" Type="http://schemas.openxmlformats.org/officeDocument/2006/relationships/oleObject" Target="../embeddings/oleObject213.bin"/><Relationship Id="rId4" Type="http://schemas.openxmlformats.org/officeDocument/2006/relationships/image" Target="../media/image207.emf"/><Relationship Id="rId9" Type="http://schemas.openxmlformats.org/officeDocument/2006/relationships/image" Target="../media/image209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emf"/><Relationship Id="rId13" Type="http://schemas.openxmlformats.org/officeDocument/2006/relationships/oleObject" Target="../embeddings/oleObject219.bin"/><Relationship Id="rId18" Type="http://schemas.openxmlformats.org/officeDocument/2006/relationships/image" Target="../media/image218.emf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215.emf"/><Relationship Id="rId17" Type="http://schemas.openxmlformats.org/officeDocument/2006/relationships/oleObject" Target="../embeddings/oleObject221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17.emf"/><Relationship Id="rId20" Type="http://schemas.openxmlformats.org/officeDocument/2006/relationships/image" Target="../media/image219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12.emf"/><Relationship Id="rId11" Type="http://schemas.openxmlformats.org/officeDocument/2006/relationships/oleObject" Target="../embeddings/oleObject218.bin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20.bin"/><Relationship Id="rId10" Type="http://schemas.openxmlformats.org/officeDocument/2006/relationships/image" Target="../media/image214.emf"/><Relationship Id="rId19" Type="http://schemas.openxmlformats.org/officeDocument/2006/relationships/oleObject" Target="../embeddings/oleObject222.bin"/><Relationship Id="rId4" Type="http://schemas.openxmlformats.org/officeDocument/2006/relationships/image" Target="../media/image211.emf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216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emf"/><Relationship Id="rId13" Type="http://schemas.openxmlformats.org/officeDocument/2006/relationships/oleObject" Target="../embeddings/oleObject228.bin"/><Relationship Id="rId18" Type="http://schemas.openxmlformats.org/officeDocument/2006/relationships/image" Target="../media/image227.emf"/><Relationship Id="rId3" Type="http://schemas.openxmlformats.org/officeDocument/2006/relationships/oleObject" Target="../embeddings/oleObject223.bin"/><Relationship Id="rId21" Type="http://schemas.openxmlformats.org/officeDocument/2006/relationships/oleObject" Target="../embeddings/oleObject232.bin"/><Relationship Id="rId7" Type="http://schemas.openxmlformats.org/officeDocument/2006/relationships/oleObject" Target="../embeddings/oleObject225.bin"/><Relationship Id="rId12" Type="http://schemas.openxmlformats.org/officeDocument/2006/relationships/image" Target="../media/image224.emf"/><Relationship Id="rId17" Type="http://schemas.openxmlformats.org/officeDocument/2006/relationships/oleObject" Target="../embeddings/oleObject2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6.emf"/><Relationship Id="rId20" Type="http://schemas.openxmlformats.org/officeDocument/2006/relationships/image" Target="../media/image228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21.emf"/><Relationship Id="rId11" Type="http://schemas.openxmlformats.org/officeDocument/2006/relationships/oleObject" Target="../embeddings/oleObject227.bin"/><Relationship Id="rId5" Type="http://schemas.openxmlformats.org/officeDocument/2006/relationships/oleObject" Target="../embeddings/oleObject224.bin"/><Relationship Id="rId15" Type="http://schemas.openxmlformats.org/officeDocument/2006/relationships/oleObject" Target="../embeddings/oleObject229.bin"/><Relationship Id="rId10" Type="http://schemas.openxmlformats.org/officeDocument/2006/relationships/image" Target="../media/image223.emf"/><Relationship Id="rId19" Type="http://schemas.openxmlformats.org/officeDocument/2006/relationships/oleObject" Target="../embeddings/oleObject231.bin"/><Relationship Id="rId4" Type="http://schemas.openxmlformats.org/officeDocument/2006/relationships/image" Target="../media/image220.emf"/><Relationship Id="rId9" Type="http://schemas.openxmlformats.org/officeDocument/2006/relationships/oleObject" Target="../embeddings/oleObject226.bin"/><Relationship Id="rId14" Type="http://schemas.openxmlformats.org/officeDocument/2006/relationships/image" Target="../media/image225.emf"/><Relationship Id="rId22" Type="http://schemas.openxmlformats.org/officeDocument/2006/relationships/image" Target="../media/image229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emf"/><Relationship Id="rId13" Type="http://schemas.openxmlformats.org/officeDocument/2006/relationships/oleObject" Target="../embeddings/oleObject238.bin"/><Relationship Id="rId18" Type="http://schemas.openxmlformats.org/officeDocument/2006/relationships/image" Target="../media/image237.emf"/><Relationship Id="rId26" Type="http://schemas.openxmlformats.org/officeDocument/2006/relationships/image" Target="../media/image241.wmf"/><Relationship Id="rId3" Type="http://schemas.openxmlformats.org/officeDocument/2006/relationships/oleObject" Target="../embeddings/oleObject233.bin"/><Relationship Id="rId21" Type="http://schemas.openxmlformats.org/officeDocument/2006/relationships/oleObject" Target="../embeddings/oleObject242.bin"/><Relationship Id="rId7" Type="http://schemas.openxmlformats.org/officeDocument/2006/relationships/oleObject" Target="../embeddings/oleObject235.bin"/><Relationship Id="rId12" Type="http://schemas.openxmlformats.org/officeDocument/2006/relationships/image" Target="../media/image234.emf"/><Relationship Id="rId17" Type="http://schemas.openxmlformats.org/officeDocument/2006/relationships/oleObject" Target="../embeddings/oleObject240.bin"/><Relationship Id="rId25" Type="http://schemas.openxmlformats.org/officeDocument/2006/relationships/oleObject" Target="../embeddings/oleObject24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36.wmf"/><Relationship Id="rId20" Type="http://schemas.openxmlformats.org/officeDocument/2006/relationships/image" Target="../media/image238.e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31.emf"/><Relationship Id="rId11" Type="http://schemas.openxmlformats.org/officeDocument/2006/relationships/oleObject" Target="../embeddings/oleObject237.bin"/><Relationship Id="rId24" Type="http://schemas.openxmlformats.org/officeDocument/2006/relationships/image" Target="../media/image240.emf"/><Relationship Id="rId5" Type="http://schemas.openxmlformats.org/officeDocument/2006/relationships/oleObject" Target="../embeddings/oleObject234.bin"/><Relationship Id="rId15" Type="http://schemas.openxmlformats.org/officeDocument/2006/relationships/oleObject" Target="../embeddings/oleObject239.bin"/><Relationship Id="rId23" Type="http://schemas.openxmlformats.org/officeDocument/2006/relationships/oleObject" Target="../embeddings/oleObject243.bin"/><Relationship Id="rId10" Type="http://schemas.openxmlformats.org/officeDocument/2006/relationships/image" Target="../media/image233.emf"/><Relationship Id="rId19" Type="http://schemas.openxmlformats.org/officeDocument/2006/relationships/oleObject" Target="../embeddings/oleObject241.bin"/><Relationship Id="rId4" Type="http://schemas.openxmlformats.org/officeDocument/2006/relationships/image" Target="../media/image230.emf"/><Relationship Id="rId9" Type="http://schemas.openxmlformats.org/officeDocument/2006/relationships/oleObject" Target="../embeddings/oleObject236.bin"/><Relationship Id="rId14" Type="http://schemas.openxmlformats.org/officeDocument/2006/relationships/image" Target="../media/image235.emf"/><Relationship Id="rId22" Type="http://schemas.openxmlformats.org/officeDocument/2006/relationships/image" Target="../media/image239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emf"/><Relationship Id="rId13" Type="http://schemas.openxmlformats.org/officeDocument/2006/relationships/oleObject" Target="../embeddings/oleObject250.bin"/><Relationship Id="rId18" Type="http://schemas.openxmlformats.org/officeDocument/2006/relationships/image" Target="../media/image249.emf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46.emf"/><Relationship Id="rId17" Type="http://schemas.openxmlformats.org/officeDocument/2006/relationships/oleObject" Target="../embeddings/oleObject25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48.emf"/><Relationship Id="rId20" Type="http://schemas.openxmlformats.org/officeDocument/2006/relationships/image" Target="../media/image241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43.emf"/><Relationship Id="rId11" Type="http://schemas.openxmlformats.org/officeDocument/2006/relationships/oleObject" Target="../embeddings/oleObject249.bin"/><Relationship Id="rId5" Type="http://schemas.openxmlformats.org/officeDocument/2006/relationships/oleObject" Target="../embeddings/oleObject246.bin"/><Relationship Id="rId15" Type="http://schemas.openxmlformats.org/officeDocument/2006/relationships/oleObject" Target="../embeddings/oleObject251.bin"/><Relationship Id="rId10" Type="http://schemas.openxmlformats.org/officeDocument/2006/relationships/image" Target="../media/image245.emf"/><Relationship Id="rId19" Type="http://schemas.openxmlformats.org/officeDocument/2006/relationships/oleObject" Target="../embeddings/oleObject253.bin"/><Relationship Id="rId4" Type="http://schemas.openxmlformats.org/officeDocument/2006/relationships/image" Target="../media/image242.e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247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emf"/><Relationship Id="rId13" Type="http://schemas.openxmlformats.org/officeDocument/2006/relationships/oleObject" Target="../embeddings/oleObject259.bin"/><Relationship Id="rId3" Type="http://schemas.openxmlformats.org/officeDocument/2006/relationships/oleObject" Target="../embeddings/oleObject254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54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6.e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51.emf"/><Relationship Id="rId11" Type="http://schemas.openxmlformats.org/officeDocument/2006/relationships/oleObject" Target="../embeddings/oleObject258.bin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0.bin"/><Relationship Id="rId10" Type="http://schemas.openxmlformats.org/officeDocument/2006/relationships/image" Target="../media/image253.emf"/><Relationship Id="rId4" Type="http://schemas.openxmlformats.org/officeDocument/2006/relationships/image" Target="../media/image250.e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55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emf"/><Relationship Id="rId13" Type="http://schemas.openxmlformats.org/officeDocument/2006/relationships/oleObject" Target="../embeddings/oleObject266.bin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61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3.e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58.wmf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62.bin"/><Relationship Id="rId15" Type="http://schemas.openxmlformats.org/officeDocument/2006/relationships/oleObject" Target="../embeddings/oleObject267.bin"/><Relationship Id="rId10" Type="http://schemas.openxmlformats.org/officeDocument/2006/relationships/image" Target="../media/image260.emf"/><Relationship Id="rId4" Type="http://schemas.openxmlformats.org/officeDocument/2006/relationships/image" Target="../media/image257.e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262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emf"/><Relationship Id="rId3" Type="http://schemas.openxmlformats.org/officeDocument/2006/relationships/oleObject" Target="../embeddings/oleObject268.bin"/><Relationship Id="rId7" Type="http://schemas.openxmlformats.org/officeDocument/2006/relationships/oleObject" Target="../embeddings/oleObject27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65.emf"/><Relationship Id="rId5" Type="http://schemas.openxmlformats.org/officeDocument/2006/relationships/oleObject" Target="../embeddings/oleObject269.bin"/><Relationship Id="rId10" Type="http://schemas.openxmlformats.org/officeDocument/2006/relationships/image" Target="../media/image267.emf"/><Relationship Id="rId4" Type="http://schemas.openxmlformats.org/officeDocument/2006/relationships/image" Target="../media/image264.emf"/><Relationship Id="rId9" Type="http://schemas.openxmlformats.org/officeDocument/2006/relationships/oleObject" Target="../embeddings/oleObject271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emf"/><Relationship Id="rId13" Type="http://schemas.openxmlformats.org/officeDocument/2006/relationships/oleObject" Target="../embeddings/oleObject277.bin"/><Relationship Id="rId18" Type="http://schemas.openxmlformats.org/officeDocument/2006/relationships/image" Target="../media/image274.emf"/><Relationship Id="rId3" Type="http://schemas.openxmlformats.org/officeDocument/2006/relationships/oleObject" Target="../embeddings/oleObject272.bin"/><Relationship Id="rId7" Type="http://schemas.openxmlformats.org/officeDocument/2006/relationships/oleObject" Target="../embeddings/oleObject274.bin"/><Relationship Id="rId12" Type="http://schemas.openxmlformats.org/officeDocument/2006/relationships/image" Target="../media/image272.wmf"/><Relationship Id="rId17" Type="http://schemas.openxmlformats.org/officeDocument/2006/relationships/oleObject" Target="../embeddings/oleObject279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73.wmf"/><Relationship Id="rId20" Type="http://schemas.openxmlformats.org/officeDocument/2006/relationships/image" Target="../media/image275.e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69.emf"/><Relationship Id="rId11" Type="http://schemas.openxmlformats.org/officeDocument/2006/relationships/oleObject" Target="../embeddings/oleObject276.bin"/><Relationship Id="rId5" Type="http://schemas.openxmlformats.org/officeDocument/2006/relationships/oleObject" Target="../embeddings/oleObject273.bin"/><Relationship Id="rId15" Type="http://schemas.openxmlformats.org/officeDocument/2006/relationships/oleObject" Target="../embeddings/oleObject278.bin"/><Relationship Id="rId10" Type="http://schemas.openxmlformats.org/officeDocument/2006/relationships/image" Target="../media/image271.emf"/><Relationship Id="rId19" Type="http://schemas.openxmlformats.org/officeDocument/2006/relationships/oleObject" Target="../embeddings/oleObject280.bin"/><Relationship Id="rId4" Type="http://schemas.openxmlformats.org/officeDocument/2006/relationships/image" Target="../media/image268.emf"/><Relationship Id="rId9" Type="http://schemas.openxmlformats.org/officeDocument/2006/relationships/oleObject" Target="../embeddings/oleObject275.bin"/><Relationship Id="rId14" Type="http://schemas.openxmlformats.org/officeDocument/2006/relationships/image" Target="../media/image258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282.bin"/><Relationship Id="rId4" Type="http://schemas.openxmlformats.org/officeDocument/2006/relationships/image" Target="../media/image276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emf"/><Relationship Id="rId3" Type="http://schemas.openxmlformats.org/officeDocument/2006/relationships/oleObject" Target="../embeddings/oleObject283.bin"/><Relationship Id="rId7" Type="http://schemas.openxmlformats.org/officeDocument/2006/relationships/oleObject" Target="../embeddings/oleObject28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79.wmf"/><Relationship Id="rId5" Type="http://schemas.openxmlformats.org/officeDocument/2006/relationships/oleObject" Target="../embeddings/oleObject284.bin"/><Relationship Id="rId4" Type="http://schemas.openxmlformats.org/officeDocument/2006/relationships/image" Target="../media/image278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13" Type="http://schemas.openxmlformats.org/officeDocument/2006/relationships/oleObject" Target="../embeddings/oleObject291.bin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88.bin"/><Relationship Id="rId12" Type="http://schemas.openxmlformats.org/officeDocument/2006/relationships/image" Target="../media/image28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82.emf"/><Relationship Id="rId11" Type="http://schemas.openxmlformats.org/officeDocument/2006/relationships/oleObject" Target="../embeddings/oleObject290.bin"/><Relationship Id="rId5" Type="http://schemas.openxmlformats.org/officeDocument/2006/relationships/oleObject" Target="../embeddings/oleObject287.bin"/><Relationship Id="rId15" Type="http://schemas.openxmlformats.org/officeDocument/2006/relationships/image" Target="../media/image287.png"/><Relationship Id="rId10" Type="http://schemas.openxmlformats.org/officeDocument/2006/relationships/image" Target="../media/image284.wmf"/><Relationship Id="rId4" Type="http://schemas.openxmlformats.org/officeDocument/2006/relationships/image" Target="../media/image281.emf"/><Relationship Id="rId9" Type="http://schemas.openxmlformats.org/officeDocument/2006/relationships/oleObject" Target="../embeddings/oleObject289.bin"/><Relationship Id="rId14" Type="http://schemas.openxmlformats.org/officeDocument/2006/relationships/image" Target="../media/image286.e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emf"/><Relationship Id="rId13" Type="http://schemas.openxmlformats.org/officeDocument/2006/relationships/oleObject" Target="../embeddings/oleObject297.bin"/><Relationship Id="rId18" Type="http://schemas.openxmlformats.org/officeDocument/2006/relationships/image" Target="../media/image295.emf"/><Relationship Id="rId3" Type="http://schemas.openxmlformats.org/officeDocument/2006/relationships/oleObject" Target="../embeddings/oleObject292.bin"/><Relationship Id="rId21" Type="http://schemas.openxmlformats.org/officeDocument/2006/relationships/oleObject" Target="../embeddings/oleObject301.bin"/><Relationship Id="rId7" Type="http://schemas.openxmlformats.org/officeDocument/2006/relationships/oleObject" Target="../embeddings/oleObject294.bin"/><Relationship Id="rId12" Type="http://schemas.openxmlformats.org/officeDocument/2006/relationships/image" Target="../media/image292.wmf"/><Relationship Id="rId17" Type="http://schemas.openxmlformats.org/officeDocument/2006/relationships/oleObject" Target="../embeddings/oleObject299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94.emf"/><Relationship Id="rId20" Type="http://schemas.openxmlformats.org/officeDocument/2006/relationships/image" Target="../media/image296.e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289.emf"/><Relationship Id="rId11" Type="http://schemas.openxmlformats.org/officeDocument/2006/relationships/oleObject" Target="../embeddings/oleObject296.bin"/><Relationship Id="rId5" Type="http://schemas.openxmlformats.org/officeDocument/2006/relationships/oleObject" Target="../embeddings/oleObject293.bin"/><Relationship Id="rId15" Type="http://schemas.openxmlformats.org/officeDocument/2006/relationships/oleObject" Target="../embeddings/oleObject298.bin"/><Relationship Id="rId10" Type="http://schemas.openxmlformats.org/officeDocument/2006/relationships/image" Target="../media/image291.wmf"/><Relationship Id="rId19" Type="http://schemas.openxmlformats.org/officeDocument/2006/relationships/oleObject" Target="../embeddings/oleObject300.bin"/><Relationship Id="rId4" Type="http://schemas.openxmlformats.org/officeDocument/2006/relationships/image" Target="../media/image288.emf"/><Relationship Id="rId9" Type="http://schemas.openxmlformats.org/officeDocument/2006/relationships/oleObject" Target="../embeddings/oleObject295.bin"/><Relationship Id="rId14" Type="http://schemas.openxmlformats.org/officeDocument/2006/relationships/image" Target="../media/image293.emf"/><Relationship Id="rId22" Type="http://schemas.openxmlformats.org/officeDocument/2006/relationships/image" Target="../media/image297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emf"/><Relationship Id="rId13" Type="http://schemas.openxmlformats.org/officeDocument/2006/relationships/oleObject" Target="../embeddings/oleObject307.bin"/><Relationship Id="rId18" Type="http://schemas.openxmlformats.org/officeDocument/2006/relationships/image" Target="../media/image305.wmf"/><Relationship Id="rId26" Type="http://schemas.openxmlformats.org/officeDocument/2006/relationships/image" Target="../media/image309.emf"/><Relationship Id="rId3" Type="http://schemas.openxmlformats.org/officeDocument/2006/relationships/oleObject" Target="../embeddings/oleObject302.bin"/><Relationship Id="rId21" Type="http://schemas.openxmlformats.org/officeDocument/2006/relationships/oleObject" Target="../embeddings/oleObject311.bin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302.emf"/><Relationship Id="rId17" Type="http://schemas.openxmlformats.org/officeDocument/2006/relationships/oleObject" Target="../embeddings/oleObject309.bin"/><Relationship Id="rId25" Type="http://schemas.openxmlformats.org/officeDocument/2006/relationships/oleObject" Target="../embeddings/oleObject313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04.wmf"/><Relationship Id="rId20" Type="http://schemas.openxmlformats.org/officeDocument/2006/relationships/image" Target="../media/image306.wmf"/><Relationship Id="rId29" Type="http://schemas.openxmlformats.org/officeDocument/2006/relationships/image" Target="../media/image310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299.emf"/><Relationship Id="rId11" Type="http://schemas.openxmlformats.org/officeDocument/2006/relationships/oleObject" Target="../embeddings/oleObject306.bin"/><Relationship Id="rId24" Type="http://schemas.openxmlformats.org/officeDocument/2006/relationships/image" Target="../media/image308.emf"/><Relationship Id="rId5" Type="http://schemas.openxmlformats.org/officeDocument/2006/relationships/oleObject" Target="../embeddings/oleObject303.bin"/><Relationship Id="rId15" Type="http://schemas.openxmlformats.org/officeDocument/2006/relationships/oleObject" Target="../embeddings/oleObject308.bin"/><Relationship Id="rId23" Type="http://schemas.openxmlformats.org/officeDocument/2006/relationships/oleObject" Target="../embeddings/oleObject312.bin"/><Relationship Id="rId28" Type="http://schemas.openxmlformats.org/officeDocument/2006/relationships/oleObject" Target="../embeddings/oleObject314.bin"/><Relationship Id="rId10" Type="http://schemas.openxmlformats.org/officeDocument/2006/relationships/image" Target="../media/image301.emf"/><Relationship Id="rId19" Type="http://schemas.openxmlformats.org/officeDocument/2006/relationships/oleObject" Target="../embeddings/oleObject310.bin"/><Relationship Id="rId4" Type="http://schemas.openxmlformats.org/officeDocument/2006/relationships/image" Target="../media/image298.e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303.emf"/><Relationship Id="rId22" Type="http://schemas.openxmlformats.org/officeDocument/2006/relationships/image" Target="../media/image307.emf"/><Relationship Id="rId27" Type="http://schemas.openxmlformats.org/officeDocument/2006/relationships/image" Target="../media/image31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3" Type="http://schemas.openxmlformats.org/officeDocument/2006/relationships/oleObject" Target="../embeddings/oleObject315.bin"/><Relationship Id="rId7" Type="http://schemas.openxmlformats.org/officeDocument/2006/relationships/oleObject" Target="../embeddings/oleObject31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13.wmf"/><Relationship Id="rId5" Type="http://schemas.openxmlformats.org/officeDocument/2006/relationships/oleObject" Target="../embeddings/oleObject316.bin"/><Relationship Id="rId10" Type="http://schemas.openxmlformats.org/officeDocument/2006/relationships/image" Target="../media/image315.wmf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318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2.bin"/><Relationship Id="rId3" Type="http://schemas.openxmlformats.org/officeDocument/2006/relationships/oleObject" Target="../embeddings/oleObject319.bin"/><Relationship Id="rId7" Type="http://schemas.openxmlformats.org/officeDocument/2006/relationships/oleObject" Target="../embeddings/oleObject32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17.wmf"/><Relationship Id="rId5" Type="http://schemas.openxmlformats.org/officeDocument/2006/relationships/oleObject" Target="../embeddings/oleObject320.bin"/><Relationship Id="rId4" Type="http://schemas.openxmlformats.org/officeDocument/2006/relationships/image" Target="../media/image316.wmf"/><Relationship Id="rId9" Type="http://schemas.openxmlformats.org/officeDocument/2006/relationships/image" Target="../media/image318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323.wmf"/><Relationship Id="rId5" Type="http://schemas.openxmlformats.org/officeDocument/2006/relationships/oleObject" Target="../embeddings/oleObject324.bin"/><Relationship Id="rId4" Type="http://schemas.openxmlformats.org/officeDocument/2006/relationships/image" Target="../media/image322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jpeg"/><Relationship Id="rId2" Type="http://schemas.openxmlformats.org/officeDocument/2006/relationships/image" Target="../media/image324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6.jpe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328.emf"/><Relationship Id="rId5" Type="http://schemas.openxmlformats.org/officeDocument/2006/relationships/oleObject" Target="../embeddings/oleObject326.bin"/><Relationship Id="rId4" Type="http://schemas.openxmlformats.org/officeDocument/2006/relationships/image" Target="../media/image327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3" Type="http://schemas.openxmlformats.org/officeDocument/2006/relationships/oleObject" Target="../embeddings/oleObject327.bin"/><Relationship Id="rId7" Type="http://schemas.openxmlformats.org/officeDocument/2006/relationships/oleObject" Target="../embeddings/oleObject329.bin"/><Relationship Id="rId12" Type="http://schemas.openxmlformats.org/officeDocument/2006/relationships/image" Target="../media/image33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330.emf"/><Relationship Id="rId11" Type="http://schemas.openxmlformats.org/officeDocument/2006/relationships/oleObject" Target="../embeddings/oleObject331.bin"/><Relationship Id="rId5" Type="http://schemas.openxmlformats.org/officeDocument/2006/relationships/oleObject" Target="../embeddings/oleObject328.bin"/><Relationship Id="rId10" Type="http://schemas.openxmlformats.org/officeDocument/2006/relationships/image" Target="../media/image332.emf"/><Relationship Id="rId4" Type="http://schemas.openxmlformats.org/officeDocument/2006/relationships/image" Target="../media/image329.emf"/><Relationship Id="rId9" Type="http://schemas.openxmlformats.org/officeDocument/2006/relationships/oleObject" Target="../embeddings/oleObject330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emf"/><Relationship Id="rId3" Type="http://schemas.openxmlformats.org/officeDocument/2006/relationships/oleObject" Target="../embeddings/oleObject332.bin"/><Relationship Id="rId7" Type="http://schemas.openxmlformats.org/officeDocument/2006/relationships/oleObject" Target="../embeddings/oleObject334.bin"/><Relationship Id="rId12" Type="http://schemas.openxmlformats.org/officeDocument/2006/relationships/image" Target="../media/image3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335.emf"/><Relationship Id="rId11" Type="http://schemas.openxmlformats.org/officeDocument/2006/relationships/oleObject" Target="../embeddings/oleObject336.bin"/><Relationship Id="rId5" Type="http://schemas.openxmlformats.org/officeDocument/2006/relationships/oleObject" Target="../embeddings/oleObject333.bin"/><Relationship Id="rId10" Type="http://schemas.openxmlformats.org/officeDocument/2006/relationships/image" Target="../media/image337.wmf"/><Relationship Id="rId4" Type="http://schemas.openxmlformats.org/officeDocument/2006/relationships/image" Target="../media/image334.emf"/><Relationship Id="rId9" Type="http://schemas.openxmlformats.org/officeDocument/2006/relationships/oleObject" Target="../embeddings/oleObject335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13" Type="http://schemas.openxmlformats.org/officeDocument/2006/relationships/oleObject" Target="../embeddings/oleObject342.bin"/><Relationship Id="rId3" Type="http://schemas.openxmlformats.org/officeDocument/2006/relationships/oleObject" Target="../embeddings/oleObject337.bin"/><Relationship Id="rId7" Type="http://schemas.openxmlformats.org/officeDocument/2006/relationships/oleObject" Target="../embeddings/oleObject339.bin"/><Relationship Id="rId12" Type="http://schemas.openxmlformats.org/officeDocument/2006/relationships/image" Target="../media/image34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44.wmf"/><Relationship Id="rId1" Type="http://schemas.openxmlformats.org/officeDocument/2006/relationships/vmlDrawing" Target="../drawings/vmlDrawing62.vml"/><Relationship Id="rId6" Type="http://schemas.openxmlformats.org/officeDocument/2006/relationships/image" Target="../media/image339.emf"/><Relationship Id="rId11" Type="http://schemas.openxmlformats.org/officeDocument/2006/relationships/oleObject" Target="../embeddings/oleObject341.bin"/><Relationship Id="rId5" Type="http://schemas.openxmlformats.org/officeDocument/2006/relationships/oleObject" Target="../embeddings/oleObject338.bin"/><Relationship Id="rId15" Type="http://schemas.openxmlformats.org/officeDocument/2006/relationships/oleObject" Target="../embeddings/oleObject343.bin"/><Relationship Id="rId10" Type="http://schemas.openxmlformats.org/officeDocument/2006/relationships/image" Target="../media/image341.emf"/><Relationship Id="rId4" Type="http://schemas.openxmlformats.org/officeDocument/2006/relationships/image" Target="../media/image338.emf"/><Relationship Id="rId9" Type="http://schemas.openxmlformats.org/officeDocument/2006/relationships/oleObject" Target="../embeddings/oleObject340.bin"/><Relationship Id="rId14" Type="http://schemas.openxmlformats.org/officeDocument/2006/relationships/image" Target="../media/image343.wmf"/></Relationships>
</file>

<file path=ppt/slides/_rels/slide7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49.bin"/><Relationship Id="rId18" Type="http://schemas.openxmlformats.org/officeDocument/2006/relationships/image" Target="../media/image352.emf"/><Relationship Id="rId26" Type="http://schemas.openxmlformats.org/officeDocument/2006/relationships/image" Target="../media/image356.emf"/><Relationship Id="rId21" Type="http://schemas.openxmlformats.org/officeDocument/2006/relationships/oleObject" Target="../embeddings/oleObject353.bin"/><Relationship Id="rId34" Type="http://schemas.openxmlformats.org/officeDocument/2006/relationships/image" Target="../media/image360.emf"/><Relationship Id="rId7" Type="http://schemas.openxmlformats.org/officeDocument/2006/relationships/oleObject" Target="../embeddings/oleObject346.bin"/><Relationship Id="rId12" Type="http://schemas.openxmlformats.org/officeDocument/2006/relationships/image" Target="../media/image349.emf"/><Relationship Id="rId17" Type="http://schemas.openxmlformats.org/officeDocument/2006/relationships/oleObject" Target="../embeddings/oleObject351.bin"/><Relationship Id="rId25" Type="http://schemas.openxmlformats.org/officeDocument/2006/relationships/oleObject" Target="../embeddings/oleObject355.bin"/><Relationship Id="rId33" Type="http://schemas.openxmlformats.org/officeDocument/2006/relationships/oleObject" Target="../embeddings/oleObject359.bin"/><Relationship Id="rId38" Type="http://schemas.openxmlformats.org/officeDocument/2006/relationships/image" Target="../media/image362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51.emf"/><Relationship Id="rId20" Type="http://schemas.openxmlformats.org/officeDocument/2006/relationships/image" Target="../media/image353.emf"/><Relationship Id="rId29" Type="http://schemas.openxmlformats.org/officeDocument/2006/relationships/oleObject" Target="../embeddings/oleObject357.bin"/><Relationship Id="rId1" Type="http://schemas.openxmlformats.org/officeDocument/2006/relationships/vmlDrawing" Target="../drawings/vmlDrawing63.vml"/><Relationship Id="rId6" Type="http://schemas.openxmlformats.org/officeDocument/2006/relationships/image" Target="../media/image346.emf"/><Relationship Id="rId11" Type="http://schemas.openxmlformats.org/officeDocument/2006/relationships/oleObject" Target="../embeddings/oleObject348.bin"/><Relationship Id="rId24" Type="http://schemas.openxmlformats.org/officeDocument/2006/relationships/image" Target="../media/image355.emf"/><Relationship Id="rId32" Type="http://schemas.openxmlformats.org/officeDocument/2006/relationships/image" Target="../media/image359.emf"/><Relationship Id="rId37" Type="http://schemas.openxmlformats.org/officeDocument/2006/relationships/oleObject" Target="../embeddings/oleObject361.bin"/><Relationship Id="rId5" Type="http://schemas.openxmlformats.org/officeDocument/2006/relationships/oleObject" Target="../embeddings/oleObject345.bin"/><Relationship Id="rId15" Type="http://schemas.openxmlformats.org/officeDocument/2006/relationships/oleObject" Target="../embeddings/oleObject350.bin"/><Relationship Id="rId23" Type="http://schemas.openxmlformats.org/officeDocument/2006/relationships/oleObject" Target="../embeddings/oleObject354.bin"/><Relationship Id="rId28" Type="http://schemas.openxmlformats.org/officeDocument/2006/relationships/image" Target="../media/image357.emf"/><Relationship Id="rId36" Type="http://schemas.openxmlformats.org/officeDocument/2006/relationships/image" Target="../media/image361.emf"/><Relationship Id="rId10" Type="http://schemas.openxmlformats.org/officeDocument/2006/relationships/image" Target="../media/image348.emf"/><Relationship Id="rId19" Type="http://schemas.openxmlformats.org/officeDocument/2006/relationships/oleObject" Target="../embeddings/oleObject352.bin"/><Relationship Id="rId31" Type="http://schemas.openxmlformats.org/officeDocument/2006/relationships/oleObject" Target="../embeddings/oleObject358.bin"/><Relationship Id="rId4" Type="http://schemas.openxmlformats.org/officeDocument/2006/relationships/image" Target="../media/image345.emf"/><Relationship Id="rId9" Type="http://schemas.openxmlformats.org/officeDocument/2006/relationships/oleObject" Target="../embeddings/oleObject347.bin"/><Relationship Id="rId14" Type="http://schemas.openxmlformats.org/officeDocument/2006/relationships/image" Target="../media/image350.wmf"/><Relationship Id="rId22" Type="http://schemas.openxmlformats.org/officeDocument/2006/relationships/image" Target="../media/image354.emf"/><Relationship Id="rId27" Type="http://schemas.openxmlformats.org/officeDocument/2006/relationships/oleObject" Target="../embeddings/oleObject356.bin"/><Relationship Id="rId30" Type="http://schemas.openxmlformats.org/officeDocument/2006/relationships/image" Target="../media/image358.emf"/><Relationship Id="rId35" Type="http://schemas.openxmlformats.org/officeDocument/2006/relationships/oleObject" Target="../embeddings/oleObject360.bin"/><Relationship Id="rId8" Type="http://schemas.openxmlformats.org/officeDocument/2006/relationships/image" Target="../media/image347.emf"/><Relationship Id="rId3" Type="http://schemas.openxmlformats.org/officeDocument/2006/relationships/oleObject" Target="../embeddings/oleObject344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emf"/><Relationship Id="rId13" Type="http://schemas.openxmlformats.org/officeDocument/2006/relationships/oleObject" Target="../embeddings/oleObject367.bin"/><Relationship Id="rId3" Type="http://schemas.openxmlformats.org/officeDocument/2006/relationships/oleObject" Target="../embeddings/oleObject362.bin"/><Relationship Id="rId7" Type="http://schemas.openxmlformats.org/officeDocument/2006/relationships/oleObject" Target="../embeddings/oleObject364.bin"/><Relationship Id="rId12" Type="http://schemas.openxmlformats.org/officeDocument/2006/relationships/image" Target="../media/image36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9.wmf"/><Relationship Id="rId1" Type="http://schemas.openxmlformats.org/officeDocument/2006/relationships/vmlDrawing" Target="../drawings/vmlDrawing64.vml"/><Relationship Id="rId6" Type="http://schemas.openxmlformats.org/officeDocument/2006/relationships/image" Target="../media/image364.emf"/><Relationship Id="rId11" Type="http://schemas.openxmlformats.org/officeDocument/2006/relationships/oleObject" Target="../embeddings/oleObject366.bin"/><Relationship Id="rId5" Type="http://schemas.openxmlformats.org/officeDocument/2006/relationships/oleObject" Target="../embeddings/oleObject363.bin"/><Relationship Id="rId15" Type="http://schemas.openxmlformats.org/officeDocument/2006/relationships/oleObject" Target="../embeddings/oleObject368.bin"/><Relationship Id="rId10" Type="http://schemas.openxmlformats.org/officeDocument/2006/relationships/image" Target="../media/image366.emf"/><Relationship Id="rId4" Type="http://schemas.openxmlformats.org/officeDocument/2006/relationships/image" Target="../media/image363.emf"/><Relationship Id="rId9" Type="http://schemas.openxmlformats.org/officeDocument/2006/relationships/oleObject" Target="../embeddings/oleObject365.bin"/><Relationship Id="rId14" Type="http://schemas.openxmlformats.org/officeDocument/2006/relationships/image" Target="../media/image368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emf"/><Relationship Id="rId3" Type="http://schemas.openxmlformats.org/officeDocument/2006/relationships/oleObject" Target="../embeddings/oleObject369.bin"/><Relationship Id="rId7" Type="http://schemas.openxmlformats.org/officeDocument/2006/relationships/oleObject" Target="../embeddings/oleObject37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371.emf"/><Relationship Id="rId5" Type="http://schemas.openxmlformats.org/officeDocument/2006/relationships/oleObject" Target="../embeddings/oleObject370.bin"/><Relationship Id="rId10" Type="http://schemas.openxmlformats.org/officeDocument/2006/relationships/image" Target="../media/image373.emf"/><Relationship Id="rId4" Type="http://schemas.openxmlformats.org/officeDocument/2006/relationships/image" Target="../media/image370.emf"/><Relationship Id="rId9" Type="http://schemas.openxmlformats.org/officeDocument/2006/relationships/oleObject" Target="../embeddings/oleObject37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矩形 534529"/>
          <p:cNvSpPr>
            <a:spLocks noChangeArrowheads="1" noChangeShapeType="1" noTextEdit="1"/>
          </p:cNvSpPr>
          <p:nvPr/>
        </p:nvSpPr>
        <p:spPr bwMode="auto">
          <a:xfrm>
            <a:off x="2267744" y="1192550"/>
            <a:ext cx="3362325" cy="704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1" hangingPunct="1">
              <a:defRPr/>
            </a:pPr>
            <a:r>
              <a:rPr lang="zh-CN" altLang="en-US" sz="2800" kern="10" normalizeH="1" dirty="0">
                <a:ln w="12700">
                  <a:solidFill>
                    <a:schemeClr val="accent2"/>
                  </a:solidFill>
                  <a:round/>
                </a:ln>
                <a:gradFill rotWithShape="0">
                  <a:gsLst>
                    <a:gs pos="0">
                      <a:srgbClr val="A603AB">
                        <a:alpha val="59000"/>
                      </a:srgbClr>
                    </a:gs>
                    <a:gs pos="12000">
                      <a:srgbClr val="E81766">
                        <a:alpha val="63920"/>
                      </a:srgbClr>
                    </a:gs>
                    <a:gs pos="27000">
                      <a:srgbClr val="EE3F17">
                        <a:alpha val="70070"/>
                      </a:srgbClr>
                    </a:gs>
                    <a:gs pos="48000">
                      <a:srgbClr val="FFFF00">
                        <a:alpha val="78680"/>
                      </a:srgbClr>
                    </a:gs>
                    <a:gs pos="64999">
                      <a:srgbClr val="1A8D48">
                        <a:alpha val="85649"/>
                      </a:srgbClr>
                    </a:gs>
                    <a:gs pos="78999">
                      <a:srgbClr val="0819FB">
                        <a:alpha val="91390"/>
                      </a:srgbClr>
                    </a:gs>
                    <a:gs pos="100000">
                      <a:srgbClr val="A603AB"/>
                    </a:gs>
                  </a:gsLst>
                  <a:lin ang="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（二）量子力学初步</a:t>
            </a:r>
          </a:p>
        </p:txBody>
      </p:sp>
      <p:sp>
        <p:nvSpPr>
          <p:cNvPr id="534531" name="文本框 534530"/>
          <p:cNvSpPr txBox="1"/>
          <p:nvPr/>
        </p:nvSpPr>
        <p:spPr>
          <a:xfrm>
            <a:off x="1550640" y="2096713"/>
            <a:ext cx="6251575" cy="322434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sz="320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15-5  </a:t>
            </a:r>
            <a:r>
              <a:rPr lang="zh-CN" altLang="en-US" sz="320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微观粒子的波粒二象性</a:t>
            </a:r>
            <a:endParaRPr lang="en-US" altLang="zh-CN" sz="3200" baseline="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320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15-6  </a:t>
            </a:r>
            <a:r>
              <a:rPr lang="zh-CN" altLang="en-US" sz="320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不确定关系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320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15-7  </a:t>
            </a:r>
            <a:r>
              <a:rPr lang="zh-CN" altLang="en-US" sz="320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波函数及其统计诠释</a:t>
            </a:r>
            <a:endParaRPr lang="zh-CN" altLang="en-US" sz="3200" baseline="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320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15-8   </a:t>
            </a:r>
            <a:r>
              <a:rPr lang="zh-CN" altLang="en-US" sz="320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薛定谔方程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320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15-9  </a:t>
            </a:r>
            <a:r>
              <a:rPr lang="zh-CN" altLang="en-US" sz="320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一维定态问题</a:t>
            </a:r>
          </a:p>
        </p:txBody>
      </p:sp>
      <p:sp>
        <p:nvSpPr>
          <p:cNvPr id="4" name="Text Box 33"/>
          <p:cNvSpPr txBox="1">
            <a:spLocks noChangeArrowheads="1"/>
          </p:cNvSpPr>
          <p:nvPr/>
        </p:nvSpPr>
        <p:spPr bwMode="auto">
          <a:xfrm>
            <a:off x="2123728" y="332656"/>
            <a:ext cx="5105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6000" b="0" dirty="0">
                <a:solidFill>
                  <a:schemeClr val="accent2"/>
                </a:solidFill>
                <a:ea typeface="黑体" panose="02010609060101010101" pitchFamily="49" charset="-122"/>
              </a:rPr>
              <a:t>第</a:t>
            </a:r>
            <a:r>
              <a:rPr lang="en-US" altLang="zh-CN" sz="6000" b="0" dirty="0">
                <a:solidFill>
                  <a:schemeClr val="accent2"/>
                </a:solidFill>
                <a:ea typeface="黑体" panose="02010609060101010101" pitchFamily="49" charset="-122"/>
              </a:rPr>
              <a:t>15</a:t>
            </a:r>
            <a:r>
              <a:rPr lang="zh-CN" altLang="en-US" sz="6000" b="0" dirty="0">
                <a:solidFill>
                  <a:schemeClr val="accent2"/>
                </a:solidFill>
                <a:ea typeface="黑体" panose="02010609060101010101" pitchFamily="49" charset="-122"/>
              </a:rPr>
              <a:t>章  量子物理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093610-3BA9-4545-BC0D-D0D4E204C7D5}" type="slidenum">
              <a:rPr altLang="zh-CN" sz="1400" baseline="0" smtClean="0"/>
              <a:t>2</a:t>
            </a:fld>
            <a:endParaRPr lang="zh-CN" altLang="zh-CN" sz="1400" baseline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187450" y="2349500"/>
            <a:ext cx="7056438" cy="1655763"/>
          </a:xfrm>
          <a:prstGeom prst="rect">
            <a:avLst/>
          </a:prstGeom>
          <a:noFill/>
          <a:ln w="57150">
            <a:pattFill prst="plaid">
              <a:fgClr>
                <a:srgbClr val="15CBCF"/>
              </a:fgClr>
              <a:bgClr>
                <a:srgbClr val="FFFFFF"/>
              </a:bgClr>
            </a:patt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楷体_GB2312" pitchFamily="49" charset="-122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7772400" cy="639762"/>
          </a:xfrm>
        </p:spPr>
        <p:txBody>
          <a:bodyPr anchor="b"/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CC3300"/>
                </a:solidFill>
                <a:ea typeface="黑体" panose="02010609060101010101" pitchFamily="49" charset="-122"/>
              </a:rPr>
              <a:t>15-5 </a:t>
            </a:r>
            <a:r>
              <a:rPr lang="zh-CN" altLang="en-US" sz="3600" dirty="0">
                <a:solidFill>
                  <a:srgbClr val="CC3300"/>
                </a:solidFill>
                <a:ea typeface="黑体" panose="02010609060101010101" pitchFamily="49" charset="-122"/>
              </a:rPr>
              <a:t>微观粒子的波粒二象性</a:t>
            </a:r>
          </a:p>
        </p:txBody>
      </p:sp>
      <p:sp>
        <p:nvSpPr>
          <p:cNvPr id="1081348" name="Text Box 4"/>
          <p:cNvSpPr txBox="1">
            <a:spLocks noChangeArrowheads="1"/>
          </p:cNvSpPr>
          <p:nvPr/>
        </p:nvSpPr>
        <p:spPr bwMode="auto">
          <a:xfrm>
            <a:off x="1203325" y="776288"/>
            <a:ext cx="12493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引言：</a:t>
            </a:r>
          </a:p>
        </p:txBody>
      </p:sp>
      <p:sp>
        <p:nvSpPr>
          <p:cNvPr id="1081349" name="Text Box 5"/>
          <p:cNvSpPr txBox="1">
            <a:spLocks noChangeArrowheads="1"/>
          </p:cNvSpPr>
          <p:nvPr/>
        </p:nvSpPr>
        <p:spPr bwMode="auto">
          <a:xfrm>
            <a:off x="1182688" y="1335088"/>
            <a:ext cx="232886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在经典力学中，</a:t>
            </a:r>
          </a:p>
        </p:txBody>
      </p:sp>
      <p:sp>
        <p:nvSpPr>
          <p:cNvPr id="1081350" name="Text Box 6"/>
          <p:cNvSpPr txBox="1">
            <a:spLocks noChangeArrowheads="1"/>
          </p:cNvSpPr>
          <p:nvPr/>
        </p:nvSpPr>
        <p:spPr bwMode="auto">
          <a:xfrm>
            <a:off x="1182688" y="1811338"/>
            <a:ext cx="5086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研究对象被明确地区分为粒子和波。</a:t>
            </a:r>
          </a:p>
        </p:txBody>
      </p:sp>
      <p:sp>
        <p:nvSpPr>
          <p:cNvPr id="1081351" name="Text Box 7"/>
          <p:cNvSpPr txBox="1">
            <a:spLocks noChangeArrowheads="1"/>
          </p:cNvSpPr>
          <p:nvPr/>
        </p:nvSpPr>
        <p:spPr bwMode="auto">
          <a:xfrm>
            <a:off x="1198563" y="2432050"/>
            <a:ext cx="582136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经典粒子：</a:t>
            </a:r>
            <a:r>
              <a:rPr lang="zh-CN" altLang="en-US" baseline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有一定的体积、质量和电量，</a:t>
            </a:r>
          </a:p>
        </p:txBody>
      </p:sp>
      <p:sp>
        <p:nvSpPr>
          <p:cNvPr id="1081352" name="Text Box 8"/>
          <p:cNvSpPr txBox="1">
            <a:spLocks noChangeArrowheads="1"/>
          </p:cNvSpPr>
          <p:nvPr/>
        </p:nvSpPr>
        <p:spPr bwMode="auto">
          <a:xfrm>
            <a:off x="2732088" y="2913063"/>
            <a:ext cx="29416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aseline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运动遵循牛顿定律。</a:t>
            </a:r>
          </a:p>
        </p:txBody>
      </p:sp>
      <p:sp>
        <p:nvSpPr>
          <p:cNvPr id="1081353" name="Text Box 9"/>
          <p:cNvSpPr txBox="1">
            <a:spLocks noChangeArrowheads="1"/>
          </p:cNvSpPr>
          <p:nvPr/>
        </p:nvSpPr>
        <p:spPr bwMode="auto">
          <a:xfrm>
            <a:off x="2741613" y="3394075"/>
            <a:ext cx="5086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aseline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能够集中、整体地交换能量和动量。</a:t>
            </a:r>
          </a:p>
        </p:txBody>
      </p:sp>
      <p:sp>
        <p:nvSpPr>
          <p:cNvPr id="1081354" name="Text Box 10"/>
          <p:cNvSpPr txBox="1">
            <a:spLocks noChangeArrowheads="1"/>
          </p:cNvSpPr>
          <p:nvPr/>
        </p:nvSpPr>
        <p:spPr bwMode="auto">
          <a:xfrm>
            <a:off x="1233488" y="4175125"/>
            <a:ext cx="171608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经典波动：</a:t>
            </a:r>
          </a:p>
        </p:txBody>
      </p:sp>
      <p:sp>
        <p:nvSpPr>
          <p:cNvPr id="1081355" name="Text Box 11"/>
          <p:cNvSpPr txBox="1">
            <a:spLocks noChangeArrowheads="1"/>
          </p:cNvSpPr>
          <p:nvPr/>
        </p:nvSpPr>
        <p:spPr bwMode="auto">
          <a:xfrm>
            <a:off x="2817813" y="4189413"/>
            <a:ext cx="36988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aseline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弥散于整个空间的扰动，</a:t>
            </a:r>
          </a:p>
        </p:txBody>
      </p:sp>
      <p:sp>
        <p:nvSpPr>
          <p:cNvPr id="1081356" name="Text Box 12"/>
          <p:cNvSpPr txBox="1">
            <a:spLocks noChangeArrowheads="1"/>
          </p:cNvSpPr>
          <p:nvPr/>
        </p:nvSpPr>
        <p:spPr bwMode="auto">
          <a:xfrm>
            <a:off x="2797175" y="4598988"/>
            <a:ext cx="5529263" cy="968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baseline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其运动服从叠加原理，具有波动所特有的干涉、衍射等效应。</a:t>
            </a:r>
          </a:p>
        </p:txBody>
      </p:sp>
      <p:sp>
        <p:nvSpPr>
          <p:cNvPr id="1081357" name="Text Box 13"/>
          <p:cNvSpPr txBox="1">
            <a:spLocks noChangeArrowheads="1"/>
          </p:cNvSpPr>
          <p:nvPr/>
        </p:nvSpPr>
        <p:spPr bwMode="auto">
          <a:xfrm>
            <a:off x="2792413" y="5551488"/>
            <a:ext cx="5086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aseline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能够广延、连续地交换能量和动量。</a:t>
            </a:r>
          </a:p>
        </p:txBody>
      </p:sp>
      <p:sp>
        <p:nvSpPr>
          <p:cNvPr id="1081358" name="Text Box 14"/>
          <p:cNvSpPr txBox="1">
            <a:spLocks noChangeArrowheads="1"/>
          </p:cNvSpPr>
          <p:nvPr/>
        </p:nvSpPr>
        <p:spPr bwMode="auto">
          <a:xfrm>
            <a:off x="814388" y="6211888"/>
            <a:ext cx="78041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i="1" baseline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在经典力学的框架下，波和粒子很难统一到同一客体上。</a:t>
            </a:r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1187450" y="4149725"/>
            <a:ext cx="7056438" cy="2016125"/>
          </a:xfrm>
          <a:prstGeom prst="rect">
            <a:avLst/>
          </a:prstGeom>
          <a:noFill/>
          <a:ln w="57150">
            <a:pattFill prst="plaid">
              <a:fgClr>
                <a:srgbClr val="15CBCF"/>
              </a:fgClr>
              <a:bgClr>
                <a:srgbClr val="FFFFFF"/>
              </a:bgClr>
            </a:patt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8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8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8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8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8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8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08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8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8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8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081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081348" grpId="0"/>
      <p:bldP spid="1081349" grpId="0" bldLvl="0" animBg="1"/>
      <p:bldP spid="1081350" grpId="0" bldLvl="0" animBg="1"/>
      <p:bldP spid="1081351" grpId="0" bldLvl="0" animBg="1"/>
      <p:bldP spid="1081352" grpId="0" bldLvl="0" animBg="1"/>
      <p:bldP spid="1081353" grpId="0" bldLvl="0" animBg="1"/>
      <p:bldP spid="1081354" grpId="0" bldLvl="0" animBg="1"/>
      <p:bldP spid="1081355" grpId="0" bldLvl="0" animBg="1"/>
      <p:bldP spid="1081356" grpId="0" bldLvl="0" animBg="1"/>
      <p:bldP spid="1081357" grpId="0" bldLvl="0" animBg="1"/>
      <p:bldP spid="1081358" grpId="0" bldLvl="0" animBg="1"/>
      <p:bldP spid="1844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/>
          <p:nvPr/>
        </p:nvSpPr>
        <p:spPr>
          <a:xfrm>
            <a:off x="128588" y="863600"/>
            <a:ext cx="4191000" cy="1727200"/>
          </a:xfrm>
          <a:prstGeom prst="rect">
            <a:avLst/>
          </a:prstGeom>
          <a:noFill/>
          <a:ln w="57150" cap="flat" cmpd="sng">
            <a:pattFill prst="lgCheck">
              <a:fgClr>
                <a:schemeClr val="tx2"/>
              </a:fgClr>
              <a:bgClr>
                <a:srgbClr val="66FF33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zh-CN" altLang="en-US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光是一种电磁波已被干涉、衍射、偏振等实验和麦克斯韦理论完全证明。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zh-CN" altLang="en-US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b="1" baseline="0" noProof="1">
                <a:solidFill>
                  <a:srgbClr val="FF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光在传播时显示波动性。</a:t>
            </a:r>
          </a:p>
        </p:txBody>
      </p:sp>
      <p:sp>
        <p:nvSpPr>
          <p:cNvPr id="1063939" name="Text Box 3"/>
          <p:cNvSpPr txBox="1">
            <a:spLocks noChangeArrowheads="1"/>
          </p:cNvSpPr>
          <p:nvPr/>
        </p:nvSpPr>
        <p:spPr bwMode="auto">
          <a:xfrm>
            <a:off x="1066800" y="268288"/>
            <a:ext cx="2133600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aseline="0">
                <a:solidFill>
                  <a:srgbClr val="669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光的波动性</a:t>
            </a:r>
            <a:r>
              <a:rPr kumimoji="1" lang="en-US" altLang="zh-CN" sz="2800" baseline="0">
                <a:solidFill>
                  <a:srgbClr val="669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063940" name="Text Box 4"/>
          <p:cNvSpPr txBox="1">
            <a:spLocks noChangeArrowheads="1"/>
          </p:cNvSpPr>
          <p:nvPr/>
        </p:nvSpPr>
        <p:spPr bwMode="auto">
          <a:xfrm>
            <a:off x="971550" y="3429000"/>
            <a:ext cx="2444750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aseline="0">
                <a:solidFill>
                  <a:srgbClr val="669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光的粒子性</a:t>
            </a:r>
            <a:r>
              <a:rPr kumimoji="1" lang="zh-CN" altLang="en-US" sz="3200" baseline="0">
                <a:solidFill>
                  <a:srgbClr val="669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19460" name="Text Box 5"/>
          <p:cNvSpPr/>
          <p:nvPr/>
        </p:nvSpPr>
        <p:spPr>
          <a:xfrm>
            <a:off x="107950" y="4076700"/>
            <a:ext cx="4464050" cy="1733550"/>
          </a:xfrm>
          <a:prstGeom prst="rect">
            <a:avLst/>
          </a:prstGeom>
          <a:noFill/>
          <a:ln w="57150" cap="flat" cmpd="sng">
            <a:pattFill prst="lgCheck">
              <a:fgClr>
                <a:schemeClr val="tx2"/>
              </a:fgClr>
              <a:bgClr>
                <a:srgbClr val="66FF33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zh-CN" altLang="en-US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光电效应和康普顿效应等证明了光的粒子性。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zh-CN" altLang="en-US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b="1" baseline="0" noProof="1">
                <a:solidFill>
                  <a:srgbClr val="FF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光与物质作用、转移能量时显示出粒子性</a:t>
            </a:r>
          </a:p>
        </p:txBody>
      </p:sp>
      <p:grpSp>
        <p:nvGrpSpPr>
          <p:cNvPr id="2" name="Group 8"/>
          <p:cNvGrpSpPr/>
          <p:nvPr/>
        </p:nvGrpSpPr>
        <p:grpSpPr bwMode="auto">
          <a:xfrm>
            <a:off x="5075238" y="3284538"/>
            <a:ext cx="3887787" cy="2987675"/>
            <a:chOff x="3600" y="144"/>
            <a:chExt cx="1728" cy="1480"/>
          </a:xfrm>
        </p:grpSpPr>
        <p:pic>
          <p:nvPicPr>
            <p:cNvPr id="19464" name="Picture 9" descr="ys1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" y="144"/>
              <a:ext cx="1728" cy="1480"/>
            </a:xfrm>
            <a:prstGeom prst="rect">
              <a:avLst/>
            </a:prstGeom>
            <a:noFill/>
            <a:ln w="76200" cmpd="tri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465" name="Rectangle 10"/>
            <p:cNvSpPr>
              <a:spLocks noChangeArrowheads="1"/>
            </p:cNvSpPr>
            <p:nvPr/>
          </p:nvSpPr>
          <p:spPr bwMode="auto">
            <a:xfrm>
              <a:off x="3816" y="1516"/>
              <a:ext cx="1188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9466" name="Text Box 11"/>
            <p:cNvSpPr txBox="1">
              <a:spLocks noChangeArrowheads="1"/>
            </p:cNvSpPr>
            <p:nvPr/>
          </p:nvSpPr>
          <p:spPr bwMode="auto">
            <a:xfrm>
              <a:off x="3924" y="1392"/>
              <a:ext cx="102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rgbClr val="FF0000"/>
                  </a:solidFill>
                </a:rPr>
                <a:t>德布罗意</a:t>
              </a:r>
              <a:endParaRPr lang="zh-CN" altLang="en-US" sz="2800">
                <a:ea typeface="仿宋_GB2312" pitchFamily="49" charset="-122"/>
              </a:endParaRPr>
            </a:p>
          </p:txBody>
        </p:sp>
      </p:grpSp>
      <p:sp>
        <p:nvSpPr>
          <p:cNvPr id="1081347" name="Rectangle 3"/>
          <p:cNvSpPr>
            <a:spLocks noGrp="1" noChangeArrowheads="1"/>
          </p:cNvSpPr>
          <p:nvPr/>
        </p:nvSpPr>
        <p:spPr bwMode="auto">
          <a:xfrm>
            <a:off x="4714875" y="1484313"/>
            <a:ext cx="39751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zh-CN" sz="3600" baseline="0">
                <a:solidFill>
                  <a:srgbClr val="CC3300"/>
                </a:solidFill>
                <a:ea typeface="黑体" panose="02010609060101010101" pitchFamily="49" charset="-122"/>
              </a:rPr>
              <a:t>光具有波粒二象性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6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8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3940" grpId="0" bldLvl="0" animBg="1"/>
      <p:bldP spid="19460" grpId="0" bldLvl="0" animBg="1"/>
      <p:bldP spid="10813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479C65-24F8-453E-983B-89F395E56E64}" type="slidenum">
              <a:rPr altLang="zh-CN" sz="1400" baseline="0" smtClean="0"/>
              <a:t>4</a:t>
            </a:fld>
            <a:endParaRPr lang="zh-CN" altLang="zh-CN" sz="1400" baseline="0"/>
          </a:p>
        </p:txBody>
      </p:sp>
      <p:sp>
        <p:nvSpPr>
          <p:cNvPr id="1084418" name="Text Box 2"/>
          <p:cNvSpPr txBox="1">
            <a:spLocks noChangeArrowheads="1"/>
          </p:cNvSpPr>
          <p:nvPr/>
        </p:nvSpPr>
        <p:spPr bwMode="auto">
          <a:xfrm>
            <a:off x="179388" y="173038"/>
            <a:ext cx="4038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一. 德布罗意假设</a:t>
            </a:r>
          </a:p>
        </p:txBody>
      </p:sp>
      <p:sp>
        <p:nvSpPr>
          <p:cNvPr id="20484" name="Text Box 3"/>
          <p:cNvSpPr txBox="1">
            <a:spLocks noChangeArrowheads="1"/>
          </p:cNvSpPr>
          <p:nvPr/>
        </p:nvSpPr>
        <p:spPr bwMode="auto">
          <a:xfrm>
            <a:off x="900113" y="981075"/>
            <a:ext cx="39624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baseline="0">
                <a:ea typeface="黑体" panose="02010609060101010101" pitchFamily="49" charset="-122"/>
              </a:rPr>
              <a:t>L.V. de Broglie </a:t>
            </a:r>
          </a:p>
          <a:p>
            <a:pPr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baseline="0">
                <a:ea typeface="黑体" panose="02010609060101010101" pitchFamily="49" charset="-122"/>
              </a:rPr>
              <a:t>（法，1892-1986）</a:t>
            </a:r>
          </a:p>
        </p:txBody>
      </p:sp>
      <p:sp>
        <p:nvSpPr>
          <p:cNvPr id="1084420" name="Text Box 4"/>
          <p:cNvSpPr txBox="1">
            <a:spLocks noChangeArrowheads="1"/>
          </p:cNvSpPr>
          <p:nvPr/>
        </p:nvSpPr>
        <p:spPr bwMode="auto">
          <a:xfrm>
            <a:off x="3421063" y="2741613"/>
            <a:ext cx="3505200" cy="830262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aseline="0">
                <a:latin typeface="黑体" panose="02010609060101010101" pitchFamily="49" charset="-122"/>
                <a:ea typeface="黑体" panose="02010609060101010101" pitchFamily="49" charset="-122"/>
              </a:rPr>
              <a:t>那么</a:t>
            </a:r>
            <a:r>
              <a:rPr lang="zh-CN" altLang="en-US" sz="24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实物粒子</a:t>
            </a:r>
            <a:r>
              <a:rPr lang="zh-CN" altLang="en-US" sz="2400" baseline="0">
                <a:latin typeface="黑体" panose="02010609060101010101" pitchFamily="49" charset="-122"/>
                <a:ea typeface="黑体" panose="02010609060101010101" pitchFamily="49" charset="-122"/>
              </a:rPr>
              <a:t>也应具有</a:t>
            </a:r>
            <a:r>
              <a:rPr lang="zh-CN" altLang="en-US" sz="24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波动性</a:t>
            </a:r>
            <a:endParaRPr lang="zh-CN" altLang="en-US" sz="2400" baseline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84421" name="Rectangle 5"/>
          <p:cNvSpPr>
            <a:spLocks noChangeArrowheads="1"/>
          </p:cNvSpPr>
          <p:nvPr/>
        </p:nvSpPr>
        <p:spPr bwMode="auto">
          <a:xfrm>
            <a:off x="684213" y="2055813"/>
            <a:ext cx="4114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从自然界的对称性出发  认为:</a:t>
            </a:r>
          </a:p>
        </p:txBody>
      </p:sp>
      <p:sp>
        <p:nvSpPr>
          <p:cNvPr id="1084422" name="Text Box 6"/>
          <p:cNvSpPr txBox="1">
            <a:spLocks noChangeArrowheads="1"/>
          </p:cNvSpPr>
          <p:nvPr/>
        </p:nvSpPr>
        <p:spPr bwMode="auto">
          <a:xfrm>
            <a:off x="684213" y="2741613"/>
            <a:ext cx="2438400" cy="830262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aseline="0">
                <a:latin typeface="黑体" panose="02010609060101010101" pitchFamily="49" charset="-122"/>
                <a:ea typeface="黑体" panose="02010609060101010101" pitchFamily="49" charset="-122"/>
              </a:rPr>
              <a:t>既然</a:t>
            </a:r>
            <a:r>
              <a:rPr lang="zh-CN" altLang="en-US" sz="24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光(波)</a:t>
            </a:r>
            <a:r>
              <a:rPr lang="zh-CN" altLang="en-US" sz="2400" baseline="0">
                <a:latin typeface="黑体" panose="02010609060101010101" pitchFamily="49" charset="-122"/>
                <a:ea typeface="黑体" panose="02010609060101010101" pitchFamily="49" charset="-122"/>
              </a:rPr>
              <a:t>具有</a:t>
            </a:r>
            <a:r>
              <a:rPr lang="zh-CN" altLang="en-US" sz="24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粒子性</a:t>
            </a:r>
          </a:p>
        </p:txBody>
      </p:sp>
      <p:sp>
        <p:nvSpPr>
          <p:cNvPr id="1084423" name="Rectangle 7"/>
          <p:cNvSpPr>
            <a:spLocks noChangeArrowheads="1"/>
          </p:cNvSpPr>
          <p:nvPr/>
        </p:nvSpPr>
        <p:spPr bwMode="auto">
          <a:xfrm>
            <a:off x="684213" y="3606800"/>
            <a:ext cx="8302625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sz="2400" baseline="0">
                <a:ea typeface="黑体" panose="02010609060101010101" pitchFamily="49" charset="-122"/>
              </a:rPr>
              <a:t>1924.11.29 德布罗意把</a:t>
            </a:r>
          </a:p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sz="2400" baseline="0">
                <a:ea typeface="黑体" panose="02010609060101010101" pitchFamily="49" charset="-122"/>
              </a:rPr>
              <a:t>题为“量子理论的研究”的博士论文</a:t>
            </a:r>
          </a:p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sz="2400" baseline="0">
                <a:ea typeface="黑体" panose="02010609060101010101" pitchFamily="49" charset="-122"/>
              </a:rPr>
              <a:t>提交巴黎大学</a:t>
            </a:r>
          </a:p>
        </p:txBody>
      </p:sp>
      <p:sp>
        <p:nvSpPr>
          <p:cNvPr id="1084424" name="Rectangle 8"/>
          <p:cNvSpPr>
            <a:spLocks noChangeArrowheads="1"/>
          </p:cNvSpPr>
          <p:nvPr/>
        </p:nvSpPr>
        <p:spPr bwMode="auto">
          <a:xfrm>
            <a:off x="611188" y="4983163"/>
            <a:ext cx="73914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sz="2400" baseline="0">
                <a:ea typeface="黑体" panose="02010609060101010101" pitchFamily="49" charset="-122"/>
              </a:rPr>
              <a:t>把波粒共存的观念 推广到所有的物质</a:t>
            </a:r>
          </a:p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sz="2400" baseline="0">
                <a:ea typeface="黑体" panose="02010609060101010101" pitchFamily="49" charset="-122"/>
              </a:rPr>
              <a:t>粒子</a:t>
            </a:r>
          </a:p>
        </p:txBody>
      </p:sp>
      <p:sp>
        <p:nvSpPr>
          <p:cNvPr id="1084425" name="Text Box 9"/>
          <p:cNvSpPr txBox="1">
            <a:spLocks noChangeArrowheads="1"/>
          </p:cNvSpPr>
          <p:nvPr/>
        </p:nvSpPr>
        <p:spPr bwMode="auto">
          <a:xfrm>
            <a:off x="152400" y="5934075"/>
            <a:ext cx="8782050" cy="829945"/>
          </a:xfrm>
          <a:prstGeom prst="rect">
            <a:avLst/>
          </a:prstGeom>
          <a:gradFill rotWithShape="1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</a:gradFill>
          <a:ln w="57150" cmpd="thinThick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i="1" baseline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</a:rPr>
              <a:t>不仅光具有波粒二象性，一切实物粒子</a:t>
            </a:r>
            <a:r>
              <a:rPr kumimoji="1" lang="en-US" altLang="zh-CN" i="1" baseline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</a:rPr>
              <a:t>(</a:t>
            </a:r>
            <a:r>
              <a:rPr kumimoji="1" lang="zh-CN" altLang="en-US" i="1" baseline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</a:rPr>
              <a:t>静止质量</a:t>
            </a:r>
            <a:r>
              <a:rPr kumimoji="1" lang="en-US" altLang="zh-CN" i="1" baseline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</a:rPr>
              <a:t>m</a:t>
            </a:r>
            <a:r>
              <a:rPr kumimoji="1" lang="en-US" altLang="zh-CN" i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</a:rPr>
              <a:t>0</a:t>
            </a:r>
            <a:r>
              <a:rPr kumimoji="1" lang="en-US" altLang="zh-CN" i="1" baseline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</a:rPr>
              <a:t>≠0</a:t>
            </a:r>
            <a:r>
              <a:rPr kumimoji="1" lang="zh-CN" altLang="en-US" i="1" baseline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</a:rPr>
              <a:t>的粒子）也具有波粒二象性。</a:t>
            </a:r>
          </a:p>
        </p:txBody>
      </p:sp>
      <p:pic>
        <p:nvPicPr>
          <p:cNvPr id="20491" name="Picture 10" descr="德布罗意"/>
          <p:cNvPicPr>
            <a:picLocks noChangeAspect="1" noChangeArrowheads="1"/>
          </p:cNvPicPr>
          <p:nvPr/>
        </p:nvPicPr>
        <p:blipFill>
          <a:blip r:embed="rId2">
            <a:grayscl/>
            <a:lum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0" y="3789363"/>
            <a:ext cx="29527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4427" name="AutoShape 11"/>
          <p:cNvSpPr>
            <a:spLocks noChangeArrowheads="1"/>
          </p:cNvSpPr>
          <p:nvPr/>
        </p:nvSpPr>
        <p:spPr bwMode="auto">
          <a:xfrm>
            <a:off x="4572000" y="0"/>
            <a:ext cx="4248150" cy="2779713"/>
          </a:xfrm>
          <a:prstGeom prst="cloudCallout">
            <a:avLst>
              <a:gd name="adj1" fmla="val 21750"/>
              <a:gd name="adj2" fmla="val 7826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1800" b="1" baseline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/>
                <a:ea typeface="楷体_GB2312" pitchFamily="49" charset="-122"/>
              </a:rPr>
              <a:t>“</a:t>
            </a:r>
            <a:r>
              <a:rPr kumimoji="1" lang="zh-CN" altLang="en-US" sz="1800" b="1" baseline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整个世纪来，在光学上，比起波动的研究方法，是否忽略了粒子的研究方法；在实物理论上，是否发生了相反的错误？是不是把粒子的图象想得太多而过于忽略了波的图象？</a:t>
            </a:r>
            <a:r>
              <a:rPr lang="zh-CN" altLang="en-US" sz="1800" b="1" baseline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/>
                <a:ea typeface="楷体_GB2312" pitchFamily="49" charset="-122"/>
              </a:rPr>
              <a:t>”</a:t>
            </a:r>
            <a:endParaRPr lang="zh-CN" altLang="en-US" sz="1800" b="1" baseline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8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8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8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8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8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8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84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4418" grpId="0"/>
      <p:bldP spid="1084420" grpId="0" bldLvl="0" animBg="1"/>
      <p:bldP spid="1084421" grpId="0"/>
      <p:bldP spid="1084422" grpId="0" bldLvl="0" animBg="1"/>
      <p:bldP spid="1084423" grpId="0"/>
      <p:bldP spid="1084424" grpId="0"/>
      <p:bldP spid="1084425" grpId="0" bldLvl="0" animBg="1"/>
      <p:bldP spid="108442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74FE12-347D-4129-9B23-A5BDD6D0B757}" type="slidenum">
              <a:rPr altLang="zh-CN" sz="1400" baseline="0" smtClean="0"/>
              <a:t>5</a:t>
            </a:fld>
            <a:endParaRPr lang="zh-CN" altLang="zh-CN" sz="1400" baseline="0"/>
          </a:p>
        </p:txBody>
      </p:sp>
      <p:sp>
        <p:nvSpPr>
          <p:cNvPr id="1040386" name="Text Box 2"/>
          <p:cNvSpPr txBox="1">
            <a:spLocks noChangeArrowheads="1"/>
          </p:cNvSpPr>
          <p:nvPr/>
        </p:nvSpPr>
        <p:spPr bwMode="blackWhite">
          <a:xfrm>
            <a:off x="3059113" y="928688"/>
            <a:ext cx="2673350" cy="51911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2800" baseline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德布罗意关系式</a:t>
            </a:r>
          </a:p>
        </p:txBody>
      </p:sp>
      <p:graphicFrame>
        <p:nvGraphicFramePr>
          <p:cNvPr id="1040387" name="Object 3"/>
          <p:cNvGraphicFramePr/>
          <p:nvPr/>
        </p:nvGraphicFramePr>
        <p:xfrm>
          <a:off x="1909763" y="1590675"/>
          <a:ext cx="19605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6" r:id="rId3" imgW="799465" imgH="419100" progId="Equation.3">
                  <p:embed/>
                </p:oleObj>
              </mc:Choice>
              <mc:Fallback>
                <p:oleObj r:id="rId3" imgW="799465" imgH="4191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1590675"/>
                        <a:ext cx="1960562" cy="965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388" name="Object 4"/>
          <p:cNvGraphicFramePr/>
          <p:nvPr/>
        </p:nvGraphicFramePr>
        <p:xfrm>
          <a:off x="4767263" y="1557338"/>
          <a:ext cx="22431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7" r:id="rId5" imgW="876300" imgH="419100" progId="Equation.3">
                  <p:embed/>
                </p:oleObj>
              </mc:Choice>
              <mc:Fallback>
                <p:oleObj r:id="rId5" imgW="876300" imgH="4191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263" y="1557338"/>
                        <a:ext cx="2243137" cy="9493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 bwMode="auto">
          <a:xfrm>
            <a:off x="1295400" y="3573463"/>
            <a:ext cx="6430963" cy="1254125"/>
            <a:chOff x="816" y="2341"/>
            <a:chExt cx="4051" cy="790"/>
          </a:xfrm>
        </p:grpSpPr>
        <p:graphicFrame>
          <p:nvGraphicFramePr>
            <p:cNvPr id="21516" name="Object 6"/>
            <p:cNvGraphicFramePr/>
            <p:nvPr/>
          </p:nvGraphicFramePr>
          <p:xfrm>
            <a:off x="1824" y="2341"/>
            <a:ext cx="259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18" r:id="rId7" imgW="152400" imgH="165100" progId="Equation.3">
                    <p:embed/>
                  </p:oleObj>
                </mc:Choice>
                <mc:Fallback>
                  <p:oleObj r:id="rId7" imgW="152400" imgH="165100" progId="Equation.3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341"/>
                          <a:ext cx="259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7" name="Object 7"/>
            <p:cNvGraphicFramePr/>
            <p:nvPr/>
          </p:nvGraphicFramePr>
          <p:xfrm>
            <a:off x="3592" y="2341"/>
            <a:ext cx="259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19" r:id="rId9" imgW="139700" imgH="177800" progId="Equation.3">
                    <p:embed/>
                  </p:oleObj>
                </mc:Choice>
                <mc:Fallback>
                  <p:oleObj r:id="rId9" imgW="139700" imgH="177800" progId="Equation.3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2" y="2341"/>
                          <a:ext cx="259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8" name="Object 8"/>
            <p:cNvGraphicFramePr/>
            <p:nvPr/>
          </p:nvGraphicFramePr>
          <p:xfrm>
            <a:off x="1824" y="2781"/>
            <a:ext cx="281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20" r:id="rId11" imgW="152400" imgH="165100" progId="Equation.3">
                    <p:embed/>
                  </p:oleObj>
                </mc:Choice>
                <mc:Fallback>
                  <p:oleObj r:id="rId11" imgW="152400" imgH="165100" progId="Equation.3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781"/>
                          <a:ext cx="281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9" name="Object 9"/>
            <p:cNvGraphicFramePr/>
            <p:nvPr/>
          </p:nvGraphicFramePr>
          <p:xfrm>
            <a:off x="3591" y="2757"/>
            <a:ext cx="26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21" r:id="rId13" imgW="127000" imgH="139700" progId="Equation.3">
                    <p:embed/>
                  </p:oleObj>
                </mc:Choice>
                <mc:Fallback>
                  <p:oleObj r:id="rId13" imgW="127000" imgH="139700" progId="Equation.3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1" y="2757"/>
                          <a:ext cx="26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20" name="Group 10"/>
            <p:cNvGrpSpPr/>
            <p:nvPr/>
          </p:nvGrpSpPr>
          <p:grpSpPr bwMode="auto">
            <a:xfrm>
              <a:off x="2166" y="2495"/>
              <a:ext cx="1392" cy="636"/>
              <a:chOff x="2112" y="1584"/>
              <a:chExt cx="1392" cy="636"/>
            </a:xfrm>
          </p:grpSpPr>
          <p:sp>
            <p:nvSpPr>
              <p:cNvPr id="21523" name="Text Box 11"/>
              <p:cNvSpPr txBox="1">
                <a:spLocks noChangeArrowheads="1"/>
              </p:cNvSpPr>
              <p:nvPr/>
            </p:nvSpPr>
            <p:spPr bwMode="auto">
              <a:xfrm>
                <a:off x="2670" y="1608"/>
                <a:ext cx="287" cy="6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6600" i="1">
                    <a:ea typeface="黑体" panose="02010609060101010101" pitchFamily="49" charset="-122"/>
                  </a:rPr>
                  <a:t>h</a:t>
                </a:r>
              </a:p>
            </p:txBody>
          </p:sp>
          <p:sp>
            <p:nvSpPr>
              <p:cNvPr id="21524" name="Line 12"/>
              <p:cNvSpPr>
                <a:spLocks noChangeShapeType="1"/>
              </p:cNvSpPr>
              <p:nvPr/>
            </p:nvSpPr>
            <p:spPr bwMode="auto">
              <a:xfrm flipV="1">
                <a:off x="2928" y="1584"/>
                <a:ext cx="576" cy="144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5" name="Line 13"/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576" cy="144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6" name="Line 14"/>
              <p:cNvSpPr>
                <a:spLocks noChangeShapeType="1"/>
              </p:cNvSpPr>
              <p:nvPr/>
            </p:nvSpPr>
            <p:spPr bwMode="auto">
              <a:xfrm flipH="1" flipV="1">
                <a:off x="2112" y="1584"/>
                <a:ext cx="576" cy="144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7" name="Line 15"/>
              <p:cNvSpPr>
                <a:spLocks noChangeShapeType="1"/>
              </p:cNvSpPr>
              <p:nvPr/>
            </p:nvSpPr>
            <p:spPr bwMode="auto">
              <a:xfrm flipH="1">
                <a:off x="2112" y="1824"/>
                <a:ext cx="576" cy="144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521" name="Text Box 16"/>
            <p:cNvSpPr txBox="1">
              <a:spLocks noChangeArrowheads="1"/>
            </p:cNvSpPr>
            <p:nvPr/>
          </p:nvSpPr>
          <p:spPr bwMode="auto">
            <a:xfrm>
              <a:off x="816" y="2518"/>
              <a:ext cx="787" cy="329"/>
            </a:xfrm>
            <a:prstGeom prst="rect">
              <a:avLst/>
            </a:prstGeom>
            <a:gradFill rotWithShape="1">
              <a:gsLst>
                <a:gs pos="0">
                  <a:srgbClr val="5E7676"/>
                </a:gs>
                <a:gs pos="50000">
                  <a:srgbClr val="CCFFFF"/>
                </a:gs>
                <a:gs pos="100000">
                  <a:srgbClr val="5E767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aseline="0">
                  <a:latin typeface="黑体" panose="02010609060101010101" pitchFamily="49" charset="-122"/>
                  <a:ea typeface="黑体" panose="02010609060101010101" pitchFamily="49" charset="-122"/>
                </a:rPr>
                <a:t>粒子性</a:t>
              </a:r>
            </a:p>
          </p:txBody>
        </p:sp>
        <p:sp>
          <p:nvSpPr>
            <p:cNvPr id="21522" name="Text Box 17"/>
            <p:cNvSpPr txBox="1">
              <a:spLocks noChangeArrowheads="1"/>
            </p:cNvSpPr>
            <p:nvPr/>
          </p:nvSpPr>
          <p:spPr bwMode="auto">
            <a:xfrm>
              <a:off x="4080" y="2488"/>
              <a:ext cx="787" cy="329"/>
            </a:xfrm>
            <a:prstGeom prst="rect">
              <a:avLst/>
            </a:prstGeom>
            <a:gradFill rotWithShape="1">
              <a:gsLst>
                <a:gs pos="0">
                  <a:srgbClr val="5E7676"/>
                </a:gs>
                <a:gs pos="50000">
                  <a:srgbClr val="CCFFFF"/>
                </a:gs>
                <a:gs pos="100000">
                  <a:srgbClr val="5E767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aseline="0">
                  <a:latin typeface="黑体" panose="02010609060101010101" pitchFamily="49" charset="-122"/>
                  <a:ea typeface="黑体" panose="02010609060101010101" pitchFamily="49" charset="-122"/>
                </a:rPr>
                <a:t>波动性</a:t>
              </a:r>
            </a:p>
          </p:txBody>
        </p:sp>
      </p:grpSp>
      <p:sp>
        <p:nvSpPr>
          <p:cNvPr id="1040402" name="Text Box 18"/>
          <p:cNvSpPr txBox="1">
            <a:spLocks noChangeArrowheads="1"/>
          </p:cNvSpPr>
          <p:nvPr/>
        </p:nvSpPr>
        <p:spPr bwMode="auto">
          <a:xfrm>
            <a:off x="762000" y="2636838"/>
            <a:ext cx="4806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aseline="0">
                <a:latin typeface="黑体" panose="02010609060101010101" pitchFamily="49" charset="-122"/>
                <a:ea typeface="黑体" panose="02010609060101010101" pitchFamily="49" charset="-122"/>
              </a:rPr>
              <a:t>与实物粒子相联系的波称为</a:t>
            </a:r>
            <a:r>
              <a:rPr lang="zh-CN" altLang="en-US" sz="24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物质波</a:t>
            </a:r>
          </a:p>
        </p:txBody>
      </p:sp>
      <p:sp>
        <p:nvSpPr>
          <p:cNvPr id="1040403" name="Text Box 19"/>
          <p:cNvSpPr txBox="1">
            <a:spLocks noChangeArrowheads="1"/>
          </p:cNvSpPr>
          <p:nvPr/>
        </p:nvSpPr>
        <p:spPr bwMode="auto">
          <a:xfrm>
            <a:off x="5767388" y="2636838"/>
            <a:ext cx="3276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或德布罗意波</a:t>
            </a:r>
          </a:p>
        </p:txBody>
      </p:sp>
      <p:sp>
        <p:nvSpPr>
          <p:cNvPr id="1040404" name="Rectangle 20"/>
          <p:cNvSpPr>
            <a:spLocks noChangeArrowheads="1"/>
          </p:cNvSpPr>
          <p:nvPr/>
        </p:nvSpPr>
        <p:spPr bwMode="auto">
          <a:xfrm>
            <a:off x="4427538" y="3140075"/>
            <a:ext cx="4343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 -- </a:t>
            </a:r>
            <a:r>
              <a:rPr lang="en-US" altLang="zh-CN" sz="2400" b="1" i="1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德布罗意波长</a:t>
            </a:r>
          </a:p>
        </p:txBody>
      </p:sp>
      <p:sp>
        <p:nvSpPr>
          <p:cNvPr id="21514" name="Text Box 21"/>
          <p:cNvSpPr txBox="1">
            <a:spLocks noChangeArrowheads="1"/>
          </p:cNvSpPr>
          <p:nvPr/>
        </p:nvSpPr>
        <p:spPr bwMode="auto">
          <a:xfrm>
            <a:off x="947738" y="101600"/>
            <a:ext cx="76342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aseline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一个总能量为E（包括静能在内）,动量为P 的实物粒子同时具有波动性, 且满足</a:t>
            </a:r>
          </a:p>
        </p:txBody>
      </p:sp>
      <p:sp>
        <p:nvSpPr>
          <p:cNvPr id="1040407" name="Rectangle 23"/>
          <p:cNvSpPr>
            <a:spLocks noChangeArrowheads="1"/>
          </p:cNvSpPr>
          <p:nvPr/>
        </p:nvSpPr>
        <p:spPr bwMode="auto">
          <a:xfrm>
            <a:off x="900113" y="5229225"/>
            <a:ext cx="6408737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i="1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h</a:t>
            </a:r>
            <a:r>
              <a:rPr lang="zh-CN" altLang="en-US" sz="2800" b="1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的意义：</a:t>
            </a:r>
            <a:r>
              <a:rPr lang="zh-CN" altLang="en-US" sz="28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量子化的量度，是    </a:t>
            </a:r>
          </a:p>
          <a:p>
            <a:pPr eaLnBrk="1" hangingPunct="1">
              <a:defRPr/>
            </a:pPr>
            <a:r>
              <a:rPr lang="zh-CN" altLang="en-US" sz="28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                   不连续程度的量度单位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4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4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4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4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04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4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0386" grpId="0" bldLvl="0" animBg="1"/>
      <p:bldP spid="1040402" grpId="0"/>
      <p:bldP spid="1040403" grpId="0"/>
      <p:bldP spid="1040404" grpId="0"/>
      <p:bldP spid="104040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42678A-7A9D-42F2-9171-42C3E4A71AF7}" type="slidenum">
              <a:rPr altLang="zh-CN" sz="1400" baseline="0" smtClean="0"/>
              <a:t>6</a:t>
            </a:fld>
            <a:endParaRPr lang="zh-CN" altLang="zh-CN" sz="1400" baseline="0"/>
          </a:p>
        </p:txBody>
      </p:sp>
      <p:sp>
        <p:nvSpPr>
          <p:cNvPr id="2" name="Text Box 2"/>
          <p:cNvSpPr txBox="1"/>
          <p:nvPr/>
        </p:nvSpPr>
        <p:spPr>
          <a:xfrm>
            <a:off x="1001713" y="2287588"/>
            <a:ext cx="533400" cy="830262"/>
          </a:xfrm>
          <a:prstGeom prst="rect">
            <a:avLst/>
          </a:prstGeom>
          <a:noFill/>
          <a:ln w="38100" cap="sq" cmpd="sng">
            <a:pattFill prst="trellis">
              <a:fgClr>
                <a:srgbClr val="FF3300"/>
              </a:fgClr>
              <a:bgClr>
                <a:srgbClr val="FFFFFF"/>
              </a:bgClr>
            </a:patt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目的</a:t>
            </a:r>
          </a:p>
        </p:txBody>
      </p:sp>
      <p:sp>
        <p:nvSpPr>
          <p:cNvPr id="1041411" name="Rectangle 3"/>
          <p:cNvSpPr>
            <a:spLocks noChangeArrowheads="1"/>
          </p:cNvSpPr>
          <p:nvPr/>
        </p:nvSpPr>
        <p:spPr bwMode="auto">
          <a:xfrm>
            <a:off x="1763713" y="2393950"/>
            <a:ext cx="36576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b"/>
          <a:lstStyle/>
          <a:p>
            <a:pPr eaLnBrk="1" hangingPunct="1">
              <a:defRPr/>
            </a:pPr>
            <a:r>
              <a:rPr kumimoji="1" lang="zh-CN" altLang="en-US" b="1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证明电子具有波动性</a:t>
            </a:r>
            <a:r>
              <a:rPr kumimoji="1"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1" lang="zh-CN" altLang="en-US" sz="2800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1" lang="zh-CN" altLang="en-US" sz="2800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                </a:t>
            </a:r>
          </a:p>
        </p:txBody>
      </p:sp>
      <p:sp>
        <p:nvSpPr>
          <p:cNvPr id="22532" name="Text Box 4"/>
          <p:cNvSpPr txBox="1"/>
          <p:nvPr/>
        </p:nvSpPr>
        <p:spPr>
          <a:xfrm>
            <a:off x="1014413" y="3224213"/>
            <a:ext cx="533400" cy="830262"/>
          </a:xfrm>
          <a:prstGeom prst="rect">
            <a:avLst/>
          </a:prstGeom>
          <a:noFill/>
          <a:ln w="38100" cap="sq" cmpd="sng">
            <a:pattFill prst="trellis">
              <a:fgClr>
                <a:srgbClr val="FF3300"/>
              </a:fgClr>
              <a:bgClr>
                <a:srgbClr val="FFFFFF"/>
              </a:bgClr>
            </a:patt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原理</a:t>
            </a:r>
          </a:p>
        </p:txBody>
      </p:sp>
      <p:graphicFrame>
        <p:nvGraphicFramePr>
          <p:cNvPr id="18434" name="Object 5"/>
          <p:cNvGraphicFramePr/>
          <p:nvPr/>
        </p:nvGraphicFramePr>
        <p:xfrm>
          <a:off x="2051050" y="5735638"/>
          <a:ext cx="211613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24" r:id="rId3" imgW="812165" imgH="419100" progId="Equation.3">
                  <p:embed/>
                </p:oleObj>
              </mc:Choice>
              <mc:Fallback>
                <p:oleObj r:id="rId3" imgW="812165" imgH="4191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735638"/>
                        <a:ext cx="2116138" cy="7651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005E47"/>
                          </a:gs>
                          <a:gs pos="50000">
                            <a:schemeClr val="accent1"/>
                          </a:gs>
                          <a:gs pos="100000">
                            <a:srgbClr val="005E47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414" name="Text Box 6"/>
          <p:cNvSpPr txBox="1">
            <a:spLocks noChangeArrowheads="1"/>
          </p:cNvSpPr>
          <p:nvPr/>
        </p:nvSpPr>
        <p:spPr bwMode="blackWhite">
          <a:xfrm>
            <a:off x="468313" y="1628775"/>
            <a:ext cx="56959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二</a:t>
            </a:r>
            <a:r>
              <a:rPr kumimoji="1" lang="en-US" altLang="zh-CN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.</a:t>
            </a:r>
            <a:r>
              <a:rPr kumimoji="1" lang="zh-CN" altLang="en-US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物质波的实验验证</a:t>
            </a:r>
            <a:r>
              <a:rPr kumimoji="1" lang="en-US" altLang="zh-CN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——</a:t>
            </a:r>
            <a:r>
              <a:rPr kumimoji="1" lang="zh-CN" altLang="en-US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电子衍射</a:t>
            </a:r>
          </a:p>
        </p:txBody>
      </p:sp>
      <p:graphicFrame>
        <p:nvGraphicFramePr>
          <p:cNvPr id="1041415" name="Object 7"/>
          <p:cNvGraphicFramePr/>
          <p:nvPr/>
        </p:nvGraphicFramePr>
        <p:xfrm>
          <a:off x="3614738" y="3332163"/>
          <a:ext cx="871537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25" r:id="rId5" imgW="419100" imgH="419100" progId="Equation.3">
                  <p:embed/>
                </p:oleObj>
              </mc:Choice>
              <mc:Fallback>
                <p:oleObj r:id="rId5" imgW="419100" imgH="4191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738" y="3332163"/>
                        <a:ext cx="871537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416" name="Object 8"/>
          <p:cNvGraphicFramePr/>
          <p:nvPr/>
        </p:nvGraphicFramePr>
        <p:xfrm>
          <a:off x="4435475" y="4568825"/>
          <a:ext cx="229552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26" r:id="rId7" imgW="1104900" imgH="419100" progId="Equation.3">
                  <p:embed/>
                </p:oleObj>
              </mc:Choice>
              <mc:Fallback>
                <p:oleObj r:id="rId7" imgW="1104900" imgH="4191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5" y="4568825"/>
                        <a:ext cx="2295525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417" name="Text Box 9"/>
          <p:cNvSpPr txBox="1">
            <a:spLocks noChangeArrowheads="1"/>
          </p:cNvSpPr>
          <p:nvPr/>
        </p:nvSpPr>
        <p:spPr bwMode="blackWhite">
          <a:xfrm>
            <a:off x="1763713" y="3444875"/>
            <a:ext cx="401796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电子的波长：</a:t>
            </a:r>
          </a:p>
        </p:txBody>
      </p:sp>
      <p:sp>
        <p:nvSpPr>
          <p:cNvPr id="1041418" name="Text Box 10"/>
          <p:cNvSpPr txBox="1">
            <a:spLocks noChangeArrowheads="1"/>
          </p:cNvSpPr>
          <p:nvPr/>
        </p:nvSpPr>
        <p:spPr bwMode="blackWhite">
          <a:xfrm>
            <a:off x="1835150" y="4445000"/>
            <a:ext cx="2819400" cy="9318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  <a:defRPr/>
            </a:pP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设加速电压为</a:t>
            </a:r>
            <a:r>
              <a:rPr kumimoji="1" lang="en-US" altLang="zh-CN" i="1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defRPr/>
            </a:pP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（单位为伏特）</a:t>
            </a:r>
          </a:p>
        </p:txBody>
      </p:sp>
      <p:sp>
        <p:nvSpPr>
          <p:cNvPr id="1041419" name="Text Box 11"/>
          <p:cNvSpPr txBox="1">
            <a:spLocks noChangeArrowheads="1"/>
          </p:cNvSpPr>
          <p:nvPr/>
        </p:nvSpPr>
        <p:spPr bwMode="blackWhite">
          <a:xfrm>
            <a:off x="5940425" y="3575050"/>
            <a:ext cx="29813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（电子 </a:t>
            </a:r>
            <a:r>
              <a:rPr kumimoji="1" lang="en-US" altLang="zh-CN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&lt;&lt; </a:t>
            </a:r>
            <a:r>
              <a:rPr kumimoji="1" lang="en-US" altLang="zh-CN" i="1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）</a:t>
            </a:r>
          </a:p>
        </p:txBody>
      </p:sp>
      <p:graphicFrame>
        <p:nvGraphicFramePr>
          <p:cNvPr id="1041420" name="Object 12"/>
          <p:cNvGraphicFramePr/>
          <p:nvPr/>
        </p:nvGraphicFramePr>
        <p:xfrm>
          <a:off x="4572000" y="3292475"/>
          <a:ext cx="147478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27" r:id="rId9" imgW="685800" imgH="457200" progId="Equation.3">
                  <p:embed/>
                </p:oleObj>
              </mc:Choice>
              <mc:Fallback>
                <p:oleObj r:id="rId9" imgW="685800" imgH="45720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92475"/>
                        <a:ext cx="1474788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421" name="Text Box 13"/>
          <p:cNvSpPr txBox="1">
            <a:spLocks noChangeArrowheads="1"/>
          </p:cNvSpPr>
          <p:nvPr/>
        </p:nvSpPr>
        <p:spPr bwMode="blackWhite">
          <a:xfrm>
            <a:off x="611188" y="588963"/>
            <a:ext cx="7969250" cy="895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德布罗意指出</a:t>
            </a:r>
            <a:r>
              <a:rPr kumimoji="1"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: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kumimoji="1" lang="en-US" altLang="zh-CN" baseline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   </a:t>
            </a:r>
            <a:r>
              <a:rPr kumimoji="1" lang="zh-CN" altLang="en-US" baseline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用电子在晶体上的衍射实验 可以证明物质波的存在</a:t>
            </a:r>
          </a:p>
        </p:txBody>
      </p:sp>
      <p:sp>
        <p:nvSpPr>
          <p:cNvPr id="1041422" name="Text Box 14"/>
          <p:cNvSpPr txBox="1">
            <a:spLocks noChangeArrowheads="1"/>
          </p:cNvSpPr>
          <p:nvPr/>
        </p:nvSpPr>
        <p:spPr bwMode="blackWhite">
          <a:xfrm>
            <a:off x="4403725" y="5678488"/>
            <a:ext cx="5334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i="1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kumimoji="1" lang="en-US" altLang="zh-CN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=100</a:t>
            </a:r>
            <a:r>
              <a:rPr kumimoji="1" lang="en-US" altLang="zh-CN" i="1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kumimoji="1" lang="en-US" altLang="zh-CN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zh-CN" altLang="zh-CN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时，</a:t>
            </a:r>
            <a:r>
              <a:rPr kumimoji="1" lang="zh-CN" altLang="zh-CN" i="1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 </a:t>
            </a:r>
            <a:r>
              <a:rPr kumimoji="1" lang="zh-CN" altLang="zh-CN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=</a:t>
            </a:r>
            <a:r>
              <a:rPr kumimoji="1" lang="en-US" altLang="zh-CN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</a:t>
            </a:r>
            <a:r>
              <a:rPr kumimoji="1" lang="zh-CN" altLang="zh-CN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0</a:t>
            </a:r>
            <a:r>
              <a:rPr kumimoji="1" lang="en-US" altLang="zh-CN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.12</a:t>
            </a:r>
            <a:r>
              <a:rPr kumimoji="1" lang="zh-CN" altLang="zh-CN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3nm</a:t>
            </a:r>
            <a:endParaRPr kumimoji="1" lang="en-US" altLang="zh-CN" baseline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41423" name="Rectangle 15"/>
          <p:cNvSpPr>
            <a:spLocks noChangeArrowheads="1"/>
          </p:cNvSpPr>
          <p:nvPr/>
        </p:nvSpPr>
        <p:spPr bwMode="blackWhite">
          <a:xfrm>
            <a:off x="4356100" y="6211888"/>
            <a:ext cx="5410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电子波波长与</a:t>
            </a:r>
            <a:r>
              <a:rPr kumimoji="1" lang="zh-CN" altLang="en-US" i="1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en-US" altLang="zh-CN" b="1" i="1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kumimoji="1" lang="en-US" altLang="zh-CN" b="1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 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射线波长相当</a:t>
            </a:r>
          </a:p>
        </p:txBody>
      </p:sp>
      <p:sp>
        <p:nvSpPr>
          <p:cNvPr id="1041424" name="Text Box 16"/>
          <p:cNvSpPr txBox="1">
            <a:spLocks noChangeArrowheads="1"/>
          </p:cNvSpPr>
          <p:nvPr/>
        </p:nvSpPr>
        <p:spPr bwMode="auto">
          <a:xfrm>
            <a:off x="539750" y="-42863"/>
            <a:ext cx="40957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如何证明物质波理论呢？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414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41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41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4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4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4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4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4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4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4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04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041411" grpId="0" bldLvl="0" animBg="1"/>
      <p:bldP spid="22532" grpId="0" bldLvl="0" animBg="1"/>
      <p:bldP spid="1041414" grpId="0" bldLvl="0" animBg="1"/>
      <p:bldP spid="1041417" grpId="0" bldLvl="0" animBg="1"/>
      <p:bldP spid="1041418" grpId="0" bldLvl="0" animBg="1"/>
      <p:bldP spid="1041419" grpId="0" bldLvl="0" animBg="1"/>
      <p:bldP spid="1041421" grpId="0" build="p"/>
      <p:bldP spid="1041422" grpId="0"/>
      <p:bldP spid="10414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1E3493-EEF7-4EAF-AACB-3C2BB58CBAC9}" type="slidenum">
              <a:rPr altLang="zh-CN" sz="1400" baseline="0" smtClean="0"/>
              <a:t>7</a:t>
            </a:fld>
            <a:endParaRPr lang="zh-CN" altLang="zh-CN" sz="1400" baseline="0"/>
          </a:p>
        </p:txBody>
      </p:sp>
      <p:sp>
        <p:nvSpPr>
          <p:cNvPr id="1042434" name="Rectangle 2"/>
          <p:cNvSpPr>
            <a:spLocks noChangeArrowheads="1"/>
          </p:cNvSpPr>
          <p:nvPr/>
        </p:nvSpPr>
        <p:spPr bwMode="blackWhite">
          <a:xfrm>
            <a:off x="4716463" y="3429000"/>
            <a:ext cx="3787775" cy="603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50000"/>
              </a:spcBef>
              <a:defRPr/>
            </a:pPr>
            <a:r>
              <a:rPr kumimoji="1" lang="zh-CN" altLang="en-US" b="1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可观察到 </a:t>
            </a:r>
            <a:r>
              <a:rPr kumimoji="1" lang="en-US" altLang="zh-CN" b="1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kumimoji="1" lang="zh-CN" altLang="en-US" b="1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的极大。</a:t>
            </a:r>
          </a:p>
        </p:txBody>
      </p:sp>
      <p:grpSp>
        <p:nvGrpSpPr>
          <p:cNvPr id="2" name="Group 3"/>
          <p:cNvGrpSpPr/>
          <p:nvPr/>
        </p:nvGrpSpPr>
        <p:grpSpPr bwMode="auto">
          <a:xfrm>
            <a:off x="395288" y="1552575"/>
            <a:ext cx="4167187" cy="2381250"/>
            <a:chOff x="251" y="852"/>
            <a:chExt cx="2853" cy="1630"/>
          </a:xfrm>
        </p:grpSpPr>
        <p:sp>
          <p:nvSpPr>
            <p:cNvPr id="23593" name="Line 4"/>
            <p:cNvSpPr>
              <a:spLocks noChangeShapeType="1"/>
            </p:cNvSpPr>
            <p:nvPr/>
          </p:nvSpPr>
          <p:spPr bwMode="auto">
            <a:xfrm>
              <a:off x="398" y="1785"/>
              <a:ext cx="37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4" name="Freeform 5"/>
            <p:cNvSpPr>
              <a:spLocks noChangeArrowheads="1"/>
            </p:cNvSpPr>
            <p:nvPr/>
          </p:nvSpPr>
          <p:spPr bwMode="auto">
            <a:xfrm>
              <a:off x="760" y="1608"/>
              <a:ext cx="148" cy="177"/>
            </a:xfrm>
            <a:custGeom>
              <a:avLst/>
              <a:gdLst>
                <a:gd name="T0" fmla="*/ 0 w 258"/>
                <a:gd name="T1" fmla="*/ 0 h 315"/>
                <a:gd name="T2" fmla="*/ 42 w 258"/>
                <a:gd name="T3" fmla="*/ 11 h 315"/>
                <a:gd name="T4" fmla="*/ 40 w 258"/>
                <a:gd name="T5" fmla="*/ 26 h 315"/>
                <a:gd name="T6" fmla="*/ 23 w 258"/>
                <a:gd name="T7" fmla="*/ 32 h 315"/>
                <a:gd name="T8" fmla="*/ 3 w 258"/>
                <a:gd name="T9" fmla="*/ 29 h 315"/>
                <a:gd name="T10" fmla="*/ 20 w 258"/>
                <a:gd name="T11" fmla="*/ 24 h 315"/>
                <a:gd name="T12" fmla="*/ 42 w 258"/>
                <a:gd name="T13" fmla="*/ 26 h 315"/>
                <a:gd name="T14" fmla="*/ 42 w 258"/>
                <a:gd name="T15" fmla="*/ 43 h 315"/>
                <a:gd name="T16" fmla="*/ 34 w 258"/>
                <a:gd name="T17" fmla="*/ 45 h 315"/>
                <a:gd name="T18" fmla="*/ 3 w 258"/>
                <a:gd name="T19" fmla="*/ 56 h 3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8" h="315">
                  <a:moveTo>
                    <a:pt x="0" y="0"/>
                  </a:moveTo>
                  <a:cubicBezTo>
                    <a:pt x="75" y="19"/>
                    <a:pt x="152" y="36"/>
                    <a:pt x="225" y="60"/>
                  </a:cubicBezTo>
                  <a:cubicBezTo>
                    <a:pt x="237" y="97"/>
                    <a:pt x="258" y="120"/>
                    <a:pt x="210" y="150"/>
                  </a:cubicBezTo>
                  <a:cubicBezTo>
                    <a:pt x="183" y="167"/>
                    <a:pt x="120" y="180"/>
                    <a:pt x="120" y="180"/>
                  </a:cubicBezTo>
                  <a:cubicBezTo>
                    <a:pt x="85" y="175"/>
                    <a:pt x="26" y="199"/>
                    <a:pt x="15" y="165"/>
                  </a:cubicBezTo>
                  <a:cubicBezTo>
                    <a:pt x="5" y="135"/>
                    <a:pt x="105" y="135"/>
                    <a:pt x="105" y="135"/>
                  </a:cubicBezTo>
                  <a:cubicBezTo>
                    <a:pt x="145" y="140"/>
                    <a:pt x="188" y="134"/>
                    <a:pt x="225" y="150"/>
                  </a:cubicBezTo>
                  <a:cubicBezTo>
                    <a:pt x="253" y="162"/>
                    <a:pt x="237" y="228"/>
                    <a:pt x="225" y="240"/>
                  </a:cubicBezTo>
                  <a:cubicBezTo>
                    <a:pt x="214" y="251"/>
                    <a:pt x="194" y="248"/>
                    <a:pt x="180" y="255"/>
                  </a:cubicBezTo>
                  <a:cubicBezTo>
                    <a:pt x="125" y="283"/>
                    <a:pt x="81" y="315"/>
                    <a:pt x="15" y="315"/>
                  </a:cubicBezTo>
                </a:path>
              </a:pathLst>
            </a:cu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5" name="Line 6"/>
            <p:cNvSpPr>
              <a:spLocks noChangeShapeType="1"/>
            </p:cNvSpPr>
            <p:nvPr/>
          </p:nvSpPr>
          <p:spPr bwMode="auto">
            <a:xfrm>
              <a:off x="924" y="1692"/>
              <a:ext cx="1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6" name="Line 7"/>
            <p:cNvSpPr>
              <a:spLocks noChangeShapeType="1"/>
            </p:cNvSpPr>
            <p:nvPr/>
          </p:nvSpPr>
          <p:spPr bwMode="auto">
            <a:xfrm>
              <a:off x="1260" y="1528"/>
              <a:ext cx="0" cy="12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7" name="Line 8"/>
            <p:cNvSpPr>
              <a:spLocks noChangeShapeType="1"/>
            </p:cNvSpPr>
            <p:nvPr/>
          </p:nvSpPr>
          <p:spPr bwMode="auto">
            <a:xfrm>
              <a:off x="1260" y="1747"/>
              <a:ext cx="0" cy="12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8" name="Line 9"/>
            <p:cNvSpPr>
              <a:spLocks noChangeShapeType="1"/>
            </p:cNvSpPr>
            <p:nvPr/>
          </p:nvSpPr>
          <p:spPr bwMode="auto">
            <a:xfrm>
              <a:off x="398" y="1617"/>
              <a:ext cx="37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9" name="Rectangle 10"/>
            <p:cNvSpPr>
              <a:spLocks noChangeArrowheads="1"/>
            </p:cNvSpPr>
            <p:nvPr/>
          </p:nvSpPr>
          <p:spPr bwMode="auto">
            <a:xfrm rot="-1530064">
              <a:off x="1657" y="1678"/>
              <a:ext cx="595" cy="76"/>
            </a:xfrm>
            <a:prstGeom prst="rect">
              <a:avLst/>
            </a:prstGeom>
            <a:solidFill>
              <a:srgbClr val="FFCC00"/>
            </a:solidFill>
            <a:ln w="2857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3600" name="Line 11"/>
            <p:cNvSpPr>
              <a:spLocks noChangeShapeType="1"/>
            </p:cNvSpPr>
            <p:nvPr/>
          </p:nvSpPr>
          <p:spPr bwMode="auto">
            <a:xfrm flipV="1">
              <a:off x="1915" y="1331"/>
              <a:ext cx="371" cy="361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1" name="Line 12"/>
            <p:cNvSpPr>
              <a:spLocks noChangeShapeType="1"/>
            </p:cNvSpPr>
            <p:nvPr/>
          </p:nvSpPr>
          <p:spPr bwMode="auto">
            <a:xfrm flipV="1">
              <a:off x="2225" y="1129"/>
              <a:ext cx="156" cy="152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2" name="Line 13"/>
            <p:cNvSpPr>
              <a:spLocks noChangeShapeType="1"/>
            </p:cNvSpPr>
            <p:nvPr/>
          </p:nvSpPr>
          <p:spPr bwMode="auto">
            <a:xfrm flipV="1">
              <a:off x="2337" y="1235"/>
              <a:ext cx="156" cy="151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3" name="Line 14"/>
            <p:cNvSpPr>
              <a:spLocks noChangeShapeType="1"/>
            </p:cNvSpPr>
            <p:nvPr/>
          </p:nvSpPr>
          <p:spPr bwMode="auto">
            <a:xfrm>
              <a:off x="2372" y="1129"/>
              <a:ext cx="112" cy="109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4" name="Line 15"/>
            <p:cNvSpPr>
              <a:spLocks noChangeShapeType="1"/>
            </p:cNvSpPr>
            <p:nvPr/>
          </p:nvSpPr>
          <p:spPr bwMode="auto">
            <a:xfrm>
              <a:off x="2225" y="1272"/>
              <a:ext cx="35" cy="3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5" name="Line 16"/>
            <p:cNvSpPr>
              <a:spLocks noChangeShapeType="1"/>
            </p:cNvSpPr>
            <p:nvPr/>
          </p:nvSpPr>
          <p:spPr bwMode="auto">
            <a:xfrm>
              <a:off x="2312" y="1356"/>
              <a:ext cx="34" cy="3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6" name="Line 17"/>
            <p:cNvSpPr>
              <a:spLocks noChangeShapeType="1"/>
            </p:cNvSpPr>
            <p:nvPr/>
          </p:nvSpPr>
          <p:spPr bwMode="auto">
            <a:xfrm flipV="1">
              <a:off x="2441" y="1037"/>
              <a:ext cx="155" cy="151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7" name="Line 18"/>
            <p:cNvSpPr>
              <a:spLocks noChangeShapeType="1"/>
            </p:cNvSpPr>
            <p:nvPr/>
          </p:nvSpPr>
          <p:spPr bwMode="auto">
            <a:xfrm>
              <a:off x="2605" y="1045"/>
              <a:ext cx="21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8" name="Line 19"/>
            <p:cNvSpPr>
              <a:spLocks noChangeShapeType="1"/>
            </p:cNvSpPr>
            <p:nvPr/>
          </p:nvSpPr>
          <p:spPr bwMode="auto">
            <a:xfrm>
              <a:off x="2820" y="1045"/>
              <a:ext cx="0" cy="521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9" name="Oval 20"/>
            <p:cNvSpPr>
              <a:spLocks noChangeArrowheads="1"/>
            </p:cNvSpPr>
            <p:nvPr/>
          </p:nvSpPr>
          <p:spPr bwMode="auto">
            <a:xfrm>
              <a:off x="2691" y="1566"/>
              <a:ext cx="250" cy="235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3610" name="Line 21"/>
            <p:cNvSpPr>
              <a:spLocks noChangeShapeType="1"/>
            </p:cNvSpPr>
            <p:nvPr/>
          </p:nvSpPr>
          <p:spPr bwMode="auto">
            <a:xfrm>
              <a:off x="2812" y="1801"/>
              <a:ext cx="0" cy="4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1" name="Line 22"/>
            <p:cNvSpPr>
              <a:spLocks noChangeShapeType="1"/>
            </p:cNvSpPr>
            <p:nvPr/>
          </p:nvSpPr>
          <p:spPr bwMode="auto">
            <a:xfrm>
              <a:off x="2717" y="2247"/>
              <a:ext cx="181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2" name="Line 23"/>
            <p:cNvSpPr>
              <a:spLocks noChangeShapeType="1"/>
            </p:cNvSpPr>
            <p:nvPr/>
          </p:nvSpPr>
          <p:spPr bwMode="auto">
            <a:xfrm>
              <a:off x="2748" y="2292"/>
              <a:ext cx="121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3" name="Text Box 24"/>
            <p:cNvSpPr txBox="1">
              <a:spLocks noChangeArrowheads="1"/>
            </p:cNvSpPr>
            <p:nvPr/>
          </p:nvSpPr>
          <p:spPr bwMode="auto">
            <a:xfrm>
              <a:off x="2680" y="1554"/>
              <a:ext cx="285" cy="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G</a:t>
              </a:r>
            </a:p>
          </p:txBody>
        </p:sp>
        <p:sp>
          <p:nvSpPr>
            <p:cNvPr id="23614" name="Freeform 25"/>
            <p:cNvSpPr>
              <a:spLocks noChangeArrowheads="1"/>
            </p:cNvSpPr>
            <p:nvPr/>
          </p:nvSpPr>
          <p:spPr bwMode="auto">
            <a:xfrm>
              <a:off x="1678" y="1692"/>
              <a:ext cx="30" cy="101"/>
            </a:xfrm>
            <a:custGeom>
              <a:avLst/>
              <a:gdLst>
                <a:gd name="T0" fmla="*/ 1 w 52"/>
                <a:gd name="T1" fmla="*/ 0 h 180"/>
                <a:gd name="T2" fmla="*/ 1 w 52"/>
                <a:gd name="T3" fmla="*/ 19 h 180"/>
                <a:gd name="T4" fmla="*/ 10 w 52"/>
                <a:gd name="T5" fmla="*/ 32 h 1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180">
                  <a:moveTo>
                    <a:pt x="7" y="0"/>
                  </a:moveTo>
                  <a:cubicBezTo>
                    <a:pt x="3" y="37"/>
                    <a:pt x="0" y="75"/>
                    <a:pt x="7" y="105"/>
                  </a:cubicBezTo>
                  <a:cubicBezTo>
                    <a:pt x="14" y="135"/>
                    <a:pt x="33" y="157"/>
                    <a:pt x="52" y="180"/>
                  </a:cubicBezTo>
                </a:path>
              </a:pathLst>
            </a:custGeom>
            <a:noFill/>
            <a:ln w="28575">
              <a:solidFill>
                <a:srgbClr val="A5002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5" name="Freeform 26"/>
            <p:cNvSpPr>
              <a:spLocks noChangeArrowheads="1"/>
            </p:cNvSpPr>
            <p:nvPr/>
          </p:nvSpPr>
          <p:spPr bwMode="auto">
            <a:xfrm>
              <a:off x="2113" y="1507"/>
              <a:ext cx="69" cy="68"/>
            </a:xfrm>
            <a:custGeom>
              <a:avLst/>
              <a:gdLst>
                <a:gd name="T0" fmla="*/ 0 w 105"/>
                <a:gd name="T1" fmla="*/ 0 h 165"/>
                <a:gd name="T2" fmla="*/ 21 w 105"/>
                <a:gd name="T3" fmla="*/ 5 h 165"/>
                <a:gd name="T4" fmla="*/ 30 w 105"/>
                <a:gd name="T5" fmla="*/ 12 h 1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" h="165">
                  <a:moveTo>
                    <a:pt x="0" y="0"/>
                  </a:moveTo>
                  <a:cubicBezTo>
                    <a:pt x="29" y="23"/>
                    <a:pt x="58" y="47"/>
                    <a:pt x="75" y="75"/>
                  </a:cubicBezTo>
                  <a:cubicBezTo>
                    <a:pt x="92" y="103"/>
                    <a:pt x="98" y="134"/>
                    <a:pt x="105" y="165"/>
                  </a:cubicBezTo>
                </a:path>
              </a:pathLst>
            </a:custGeom>
            <a:noFill/>
            <a:ln w="28575">
              <a:solidFill>
                <a:srgbClr val="A5002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6" name="Line 27"/>
            <p:cNvSpPr>
              <a:spLocks noChangeShapeType="1"/>
            </p:cNvSpPr>
            <p:nvPr/>
          </p:nvSpPr>
          <p:spPr bwMode="auto">
            <a:xfrm flipH="1">
              <a:off x="1718" y="1558"/>
              <a:ext cx="95" cy="19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7" name="Line 28"/>
            <p:cNvSpPr>
              <a:spLocks noChangeShapeType="1"/>
            </p:cNvSpPr>
            <p:nvPr/>
          </p:nvSpPr>
          <p:spPr bwMode="auto">
            <a:xfrm>
              <a:off x="1876" y="1502"/>
              <a:ext cx="267" cy="5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8" name="Text Box 29"/>
            <p:cNvSpPr txBox="1">
              <a:spLocks noChangeArrowheads="1"/>
            </p:cNvSpPr>
            <p:nvPr/>
          </p:nvSpPr>
          <p:spPr bwMode="auto">
            <a:xfrm>
              <a:off x="1683" y="1745"/>
              <a:ext cx="1000" cy="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i="1"/>
                <a:t>   </a:t>
              </a:r>
              <a:r>
                <a:rPr lang="en-US" altLang="zh-CN" sz="2000"/>
                <a:t>Ni</a:t>
              </a:r>
              <a:r>
                <a:rPr lang="zh-CN" altLang="en-US" sz="2000">
                  <a:latin typeface="Arial" panose="020B0604020202020204" pitchFamily="34" charset="0"/>
                </a:rPr>
                <a:t>单晶</a:t>
              </a:r>
              <a:r>
                <a:rPr lang="zh-CN" altLang="en-US" sz="2000"/>
                <a:t>片</a:t>
              </a: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23619" name="Text Box 30"/>
            <p:cNvSpPr txBox="1">
              <a:spLocks noChangeArrowheads="1"/>
            </p:cNvSpPr>
            <p:nvPr/>
          </p:nvSpPr>
          <p:spPr bwMode="auto">
            <a:xfrm>
              <a:off x="251" y="852"/>
              <a:ext cx="2380" cy="1630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sp>
          <p:nvSpPr>
            <p:cNvPr id="23620" name="Text Box 31"/>
            <p:cNvSpPr txBox="1">
              <a:spLocks noChangeArrowheads="1"/>
            </p:cNvSpPr>
            <p:nvPr/>
          </p:nvSpPr>
          <p:spPr bwMode="auto">
            <a:xfrm>
              <a:off x="872" y="1028"/>
              <a:ext cx="83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抽真空</a:t>
              </a:r>
            </a:p>
          </p:txBody>
        </p:sp>
        <p:sp>
          <p:nvSpPr>
            <p:cNvPr id="23621" name="Line 32"/>
            <p:cNvSpPr>
              <a:spLocks noChangeShapeType="1"/>
            </p:cNvSpPr>
            <p:nvPr/>
          </p:nvSpPr>
          <p:spPr bwMode="auto">
            <a:xfrm>
              <a:off x="777" y="1801"/>
              <a:ext cx="0" cy="58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2" name="Line 33"/>
            <p:cNvSpPr>
              <a:spLocks noChangeShapeType="1"/>
            </p:cNvSpPr>
            <p:nvPr/>
          </p:nvSpPr>
          <p:spPr bwMode="auto">
            <a:xfrm>
              <a:off x="1260" y="1919"/>
              <a:ext cx="0" cy="462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3" name="Line 34"/>
            <p:cNvSpPr>
              <a:spLocks noChangeShapeType="1"/>
            </p:cNvSpPr>
            <p:nvPr/>
          </p:nvSpPr>
          <p:spPr bwMode="auto">
            <a:xfrm>
              <a:off x="777" y="2306"/>
              <a:ext cx="491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4" name="Text Box 35"/>
            <p:cNvSpPr txBox="1">
              <a:spLocks noChangeArrowheads="1"/>
            </p:cNvSpPr>
            <p:nvPr/>
          </p:nvSpPr>
          <p:spPr bwMode="auto">
            <a:xfrm>
              <a:off x="891" y="2026"/>
              <a:ext cx="311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U</a:t>
              </a:r>
            </a:p>
          </p:txBody>
        </p:sp>
        <p:sp>
          <p:nvSpPr>
            <p:cNvPr id="23625" name="Text Box 36"/>
            <p:cNvSpPr txBox="1">
              <a:spLocks noChangeArrowheads="1"/>
            </p:cNvSpPr>
            <p:nvPr/>
          </p:nvSpPr>
          <p:spPr bwMode="auto">
            <a:xfrm>
              <a:off x="2830" y="1138"/>
              <a:ext cx="274" cy="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I</a:t>
              </a:r>
            </a:p>
          </p:txBody>
        </p:sp>
        <p:graphicFrame>
          <p:nvGraphicFramePr>
            <p:cNvPr id="23626" name="Object 37"/>
            <p:cNvGraphicFramePr/>
            <p:nvPr/>
          </p:nvGraphicFramePr>
          <p:xfrm>
            <a:off x="1743" y="1351"/>
            <a:ext cx="18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756" r:id="rId3" imgW="241300" imgH="279400" progId="Equation.3">
                    <p:embed/>
                  </p:oleObj>
                </mc:Choice>
                <mc:Fallback>
                  <p:oleObj r:id="rId3" imgW="241300" imgH="279400" progId="Equation.3">
                    <p:embed/>
                    <p:pic>
                      <p:nvPicPr>
                        <p:cNvPr id="0" name="Object 3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3" y="1351"/>
                          <a:ext cx="18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27" name="Line 38"/>
            <p:cNvSpPr>
              <a:spLocks noChangeShapeType="1"/>
            </p:cNvSpPr>
            <p:nvPr/>
          </p:nvSpPr>
          <p:spPr bwMode="auto">
            <a:xfrm>
              <a:off x="1452" y="1528"/>
              <a:ext cx="0" cy="12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8" name="Line 39"/>
            <p:cNvSpPr>
              <a:spLocks noChangeShapeType="1"/>
            </p:cNvSpPr>
            <p:nvPr/>
          </p:nvSpPr>
          <p:spPr bwMode="auto">
            <a:xfrm>
              <a:off x="1452" y="1747"/>
              <a:ext cx="0" cy="12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9" name="Line 40"/>
            <p:cNvSpPr>
              <a:spLocks noChangeShapeType="1"/>
            </p:cNvSpPr>
            <p:nvPr/>
          </p:nvSpPr>
          <p:spPr bwMode="auto">
            <a:xfrm>
              <a:off x="2784" y="2340"/>
              <a:ext cx="4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042473" name="Object 41"/>
          <p:cNvGraphicFramePr/>
          <p:nvPr/>
        </p:nvGraphicFramePr>
        <p:xfrm>
          <a:off x="4970463" y="1160463"/>
          <a:ext cx="23288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57" r:id="rId5" imgW="1104900" imgH="419100" progId="Equation.3">
                  <p:embed/>
                </p:oleObj>
              </mc:Choice>
              <mc:Fallback>
                <p:oleObj r:id="rId5" imgW="1104900" imgH="419100" progId="Equation.3">
                  <p:embed/>
                  <p:pic>
                    <p:nvPicPr>
                      <p:cNvPr id="0" name="Object 4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463" y="1160463"/>
                        <a:ext cx="232886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474" name="Text Box 42"/>
          <p:cNvSpPr txBox="1">
            <a:spLocks noChangeArrowheads="1"/>
          </p:cNvSpPr>
          <p:nvPr/>
        </p:nvSpPr>
        <p:spPr bwMode="blackWhite">
          <a:xfrm>
            <a:off x="-684213" y="606425"/>
            <a:ext cx="86756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2" eaLnBrk="1" hangingPunct="1">
              <a:buFont typeface="宋体" panose="02010600030101010101" pitchFamily="2" charset="-122"/>
              <a:buNone/>
              <a:defRPr/>
            </a:pPr>
            <a:r>
              <a:rPr kumimoji="1" lang="en-US" altLang="zh-CN" sz="2800" baseline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  </a:t>
            </a:r>
            <a:r>
              <a:rPr kumimoji="1" lang="zh-CN" altLang="en-US" sz="2800" baseline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戴维逊</a:t>
            </a:r>
            <a:r>
              <a:rPr kumimoji="1" lang="en-US" altLang="zh-CN" sz="2800" baseline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—</a:t>
            </a:r>
            <a:r>
              <a:rPr kumimoji="1" lang="zh-CN" altLang="en-US" sz="2800" baseline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革末实验（</a:t>
            </a:r>
            <a:r>
              <a:rPr kumimoji="1" lang="en-US" altLang="zh-CN" sz="2800" baseline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1927</a:t>
            </a:r>
            <a:r>
              <a:rPr kumimoji="1" lang="zh-CN" altLang="en-US" sz="2800" baseline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年）</a:t>
            </a:r>
          </a:p>
        </p:txBody>
      </p:sp>
      <p:sp>
        <p:nvSpPr>
          <p:cNvPr id="1042475" name="Text Box 43"/>
          <p:cNvSpPr txBox="1">
            <a:spLocks noChangeArrowheads="1"/>
          </p:cNvSpPr>
          <p:nvPr/>
        </p:nvSpPr>
        <p:spPr bwMode="blackWhite">
          <a:xfrm>
            <a:off x="5387975" y="658813"/>
            <a:ext cx="4800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假如电子具有波动性</a:t>
            </a:r>
          </a:p>
        </p:txBody>
      </p:sp>
      <p:grpSp>
        <p:nvGrpSpPr>
          <p:cNvPr id="3" name="Group 44"/>
          <p:cNvGrpSpPr/>
          <p:nvPr/>
        </p:nvGrpSpPr>
        <p:grpSpPr bwMode="auto">
          <a:xfrm>
            <a:off x="5624513" y="4292600"/>
            <a:ext cx="3328987" cy="2293938"/>
            <a:chOff x="3543" y="2835"/>
            <a:chExt cx="2097" cy="1445"/>
          </a:xfrm>
        </p:grpSpPr>
        <p:grpSp>
          <p:nvGrpSpPr>
            <p:cNvPr id="23570" name="Group 45"/>
            <p:cNvGrpSpPr/>
            <p:nvPr/>
          </p:nvGrpSpPr>
          <p:grpSpPr bwMode="auto">
            <a:xfrm>
              <a:off x="3604" y="3045"/>
              <a:ext cx="1393" cy="1235"/>
              <a:chOff x="3604" y="2721"/>
              <a:chExt cx="1393" cy="1235"/>
            </a:xfrm>
          </p:grpSpPr>
          <p:grpSp>
            <p:nvGrpSpPr>
              <p:cNvPr id="23577" name="Group 46"/>
              <p:cNvGrpSpPr/>
              <p:nvPr/>
            </p:nvGrpSpPr>
            <p:grpSpPr bwMode="auto">
              <a:xfrm>
                <a:off x="3888" y="3766"/>
                <a:ext cx="801" cy="190"/>
                <a:chOff x="3888" y="3937"/>
                <a:chExt cx="801" cy="190"/>
              </a:xfrm>
            </p:grpSpPr>
            <p:sp>
              <p:nvSpPr>
                <p:cNvPr id="23589" name="Line 47"/>
                <p:cNvSpPr>
                  <a:spLocks noChangeShapeType="1"/>
                </p:cNvSpPr>
                <p:nvPr/>
              </p:nvSpPr>
              <p:spPr bwMode="auto">
                <a:xfrm>
                  <a:off x="3888" y="3937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0" name="Line 48"/>
                <p:cNvSpPr>
                  <a:spLocks noChangeShapeType="1"/>
                </p:cNvSpPr>
                <p:nvPr/>
              </p:nvSpPr>
              <p:spPr bwMode="auto">
                <a:xfrm>
                  <a:off x="4147" y="3945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1" name="Line 49"/>
                <p:cNvSpPr>
                  <a:spLocks noChangeShapeType="1"/>
                </p:cNvSpPr>
                <p:nvPr/>
              </p:nvSpPr>
              <p:spPr bwMode="auto">
                <a:xfrm>
                  <a:off x="4430" y="3945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2" name="Line 50"/>
                <p:cNvSpPr>
                  <a:spLocks noChangeShapeType="1"/>
                </p:cNvSpPr>
                <p:nvPr/>
              </p:nvSpPr>
              <p:spPr bwMode="auto">
                <a:xfrm>
                  <a:off x="4689" y="3945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78" name="Group 51"/>
              <p:cNvGrpSpPr/>
              <p:nvPr/>
            </p:nvGrpSpPr>
            <p:grpSpPr bwMode="auto">
              <a:xfrm>
                <a:off x="3604" y="2721"/>
                <a:ext cx="1393" cy="1230"/>
                <a:chOff x="3604" y="3090"/>
                <a:chExt cx="1393" cy="1230"/>
              </a:xfrm>
            </p:grpSpPr>
            <p:sp>
              <p:nvSpPr>
                <p:cNvPr id="23579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4375" y="4055"/>
                  <a:ext cx="456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/>
                    <a:t>C</a:t>
                  </a:r>
                </a:p>
              </p:txBody>
            </p:sp>
            <p:sp>
              <p:nvSpPr>
                <p:cNvPr id="23580" name="Line 53"/>
                <p:cNvSpPr>
                  <a:spLocks noChangeShapeType="1"/>
                </p:cNvSpPr>
                <p:nvPr/>
              </p:nvSpPr>
              <p:spPr bwMode="auto">
                <a:xfrm>
                  <a:off x="3888" y="3090"/>
                  <a:ext cx="0" cy="114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81" name="Line 54"/>
                <p:cNvSpPr>
                  <a:spLocks noChangeShapeType="1"/>
                </p:cNvSpPr>
                <p:nvPr/>
              </p:nvSpPr>
              <p:spPr bwMode="auto">
                <a:xfrm>
                  <a:off x="4147" y="3313"/>
                  <a:ext cx="0" cy="9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82" name="Line 55"/>
                <p:cNvSpPr>
                  <a:spLocks noChangeShapeType="1"/>
                </p:cNvSpPr>
                <p:nvPr/>
              </p:nvSpPr>
              <p:spPr bwMode="auto">
                <a:xfrm>
                  <a:off x="4418" y="3471"/>
                  <a:ext cx="12" cy="7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83" name="Line 56"/>
                <p:cNvSpPr>
                  <a:spLocks noChangeShapeType="1"/>
                </p:cNvSpPr>
                <p:nvPr/>
              </p:nvSpPr>
              <p:spPr bwMode="auto">
                <a:xfrm>
                  <a:off x="4689" y="3628"/>
                  <a:ext cx="0" cy="6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584" name="Group 57"/>
                <p:cNvGrpSpPr/>
                <p:nvPr/>
              </p:nvGrpSpPr>
              <p:grpSpPr bwMode="auto">
                <a:xfrm>
                  <a:off x="3604" y="4055"/>
                  <a:ext cx="1393" cy="265"/>
                  <a:chOff x="3604" y="4055"/>
                  <a:chExt cx="1393" cy="265"/>
                </a:xfrm>
              </p:grpSpPr>
              <p:sp>
                <p:nvSpPr>
                  <p:cNvPr id="23585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51" y="4055"/>
                    <a:ext cx="456" cy="2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 i="1"/>
                      <a:t>C</a:t>
                    </a:r>
                  </a:p>
                </p:txBody>
              </p:sp>
              <p:sp>
                <p:nvSpPr>
                  <p:cNvPr id="23586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3604" y="4180"/>
                    <a:ext cx="2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7" name="Line 6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89" y="4200"/>
                    <a:ext cx="30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8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6" y="4055"/>
                    <a:ext cx="456" cy="2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 i="1"/>
                      <a:t>C</a:t>
                    </a:r>
                  </a:p>
                </p:txBody>
              </p:sp>
            </p:grpSp>
          </p:grpSp>
        </p:grpSp>
        <p:grpSp>
          <p:nvGrpSpPr>
            <p:cNvPr id="23571" name="Group 62"/>
            <p:cNvGrpSpPr/>
            <p:nvPr/>
          </p:nvGrpSpPr>
          <p:grpSpPr bwMode="auto">
            <a:xfrm>
              <a:off x="3543" y="2835"/>
              <a:ext cx="2097" cy="1205"/>
              <a:chOff x="3543" y="2862"/>
              <a:chExt cx="2097" cy="1205"/>
            </a:xfrm>
          </p:grpSpPr>
          <p:sp>
            <p:nvSpPr>
              <p:cNvPr id="23572" name="Line 63"/>
              <p:cNvSpPr>
                <a:spLocks noChangeShapeType="1"/>
              </p:cNvSpPr>
              <p:nvPr/>
            </p:nvSpPr>
            <p:spPr bwMode="auto">
              <a:xfrm flipV="1">
                <a:off x="3555" y="2965"/>
                <a:ext cx="0" cy="110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3" name="Line 64"/>
              <p:cNvSpPr>
                <a:spLocks noChangeShapeType="1"/>
              </p:cNvSpPr>
              <p:nvPr/>
            </p:nvSpPr>
            <p:spPr bwMode="auto">
              <a:xfrm flipV="1">
                <a:off x="3543" y="4065"/>
                <a:ext cx="2094" cy="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4" name="Freeform 65"/>
              <p:cNvSpPr>
                <a:spLocks noChangeArrowheads="1"/>
              </p:cNvSpPr>
              <p:nvPr/>
            </p:nvSpPr>
            <p:spPr bwMode="auto">
              <a:xfrm>
                <a:off x="3814" y="3002"/>
                <a:ext cx="1084" cy="919"/>
              </a:xfrm>
              <a:custGeom>
                <a:avLst/>
                <a:gdLst>
                  <a:gd name="T0" fmla="*/ 0 w 1320"/>
                  <a:gd name="T1" fmla="*/ 163 h 1662"/>
                  <a:gd name="T2" fmla="*/ 58 w 1320"/>
                  <a:gd name="T3" fmla="*/ 18 h 1662"/>
                  <a:gd name="T4" fmla="*/ 141 w 1320"/>
                  <a:gd name="T5" fmla="*/ 269 h 1662"/>
                  <a:gd name="T6" fmla="*/ 224 w 1320"/>
                  <a:gd name="T7" fmla="*/ 91 h 1662"/>
                  <a:gd name="T8" fmla="*/ 333 w 1320"/>
                  <a:gd name="T9" fmla="*/ 269 h 1662"/>
                  <a:gd name="T10" fmla="*/ 407 w 1320"/>
                  <a:gd name="T11" fmla="*/ 139 h 1662"/>
                  <a:gd name="T12" fmla="*/ 498 w 1320"/>
                  <a:gd name="T13" fmla="*/ 269 h 1662"/>
                  <a:gd name="T14" fmla="*/ 590 w 1320"/>
                  <a:gd name="T15" fmla="*/ 188 h 1662"/>
                  <a:gd name="T16" fmla="*/ 673 w 1320"/>
                  <a:gd name="T17" fmla="*/ 269 h 1662"/>
                  <a:gd name="T18" fmla="*/ 731 w 1320"/>
                  <a:gd name="T19" fmla="*/ 231 h 166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320" h="1662">
                    <a:moveTo>
                      <a:pt x="0" y="960"/>
                    </a:moveTo>
                    <a:cubicBezTo>
                      <a:pt x="31" y="480"/>
                      <a:pt x="63" y="0"/>
                      <a:pt x="105" y="105"/>
                    </a:cubicBezTo>
                    <a:cubicBezTo>
                      <a:pt x="147" y="210"/>
                      <a:pt x="205" y="1518"/>
                      <a:pt x="255" y="1590"/>
                    </a:cubicBezTo>
                    <a:cubicBezTo>
                      <a:pt x="305" y="1662"/>
                      <a:pt x="348" y="540"/>
                      <a:pt x="405" y="540"/>
                    </a:cubicBezTo>
                    <a:cubicBezTo>
                      <a:pt x="462" y="540"/>
                      <a:pt x="545" y="1543"/>
                      <a:pt x="600" y="1590"/>
                    </a:cubicBezTo>
                    <a:cubicBezTo>
                      <a:pt x="655" y="1637"/>
                      <a:pt x="685" y="825"/>
                      <a:pt x="735" y="825"/>
                    </a:cubicBezTo>
                    <a:cubicBezTo>
                      <a:pt x="785" y="825"/>
                      <a:pt x="845" y="1543"/>
                      <a:pt x="900" y="1590"/>
                    </a:cubicBezTo>
                    <a:cubicBezTo>
                      <a:pt x="955" y="1637"/>
                      <a:pt x="1013" y="1110"/>
                      <a:pt x="1065" y="1110"/>
                    </a:cubicBezTo>
                    <a:cubicBezTo>
                      <a:pt x="1117" y="1110"/>
                      <a:pt x="1173" y="1548"/>
                      <a:pt x="1215" y="1590"/>
                    </a:cubicBezTo>
                    <a:cubicBezTo>
                      <a:pt x="1257" y="1632"/>
                      <a:pt x="1288" y="1498"/>
                      <a:pt x="1320" y="1365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5" name="Text Box 66"/>
              <p:cNvSpPr txBox="1">
                <a:spLocks noChangeArrowheads="1"/>
              </p:cNvSpPr>
              <p:nvPr/>
            </p:nvSpPr>
            <p:spPr bwMode="auto">
              <a:xfrm>
                <a:off x="3572" y="2862"/>
                <a:ext cx="357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I</a:t>
                </a:r>
              </a:p>
            </p:txBody>
          </p:sp>
          <p:graphicFrame>
            <p:nvGraphicFramePr>
              <p:cNvPr id="23576" name="Object 67"/>
              <p:cNvGraphicFramePr/>
              <p:nvPr/>
            </p:nvGraphicFramePr>
            <p:xfrm>
              <a:off x="5311" y="3803"/>
              <a:ext cx="329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758" r:id="rId7" imgW="494665" imgH="355600" progId="Equation.3">
                      <p:embed/>
                    </p:oleObj>
                  </mc:Choice>
                  <mc:Fallback>
                    <p:oleObj r:id="rId7" imgW="494665" imgH="355600" progId="Equation.3">
                      <p:embed/>
                      <p:pic>
                        <p:nvPicPr>
                          <p:cNvPr id="0" name="Object 6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11" y="3803"/>
                            <a:ext cx="329" cy="2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042500" name="Object 68"/>
          <p:cNvGraphicFramePr/>
          <p:nvPr/>
        </p:nvGraphicFramePr>
        <p:xfrm>
          <a:off x="538163" y="4068763"/>
          <a:ext cx="398621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59" r:id="rId9" imgW="1764665" imgH="431800" progId="Equation.3">
                  <p:embed/>
                </p:oleObj>
              </mc:Choice>
              <mc:Fallback>
                <p:oleObj r:id="rId9" imgW="1764665" imgH="431800" progId="Equation.3">
                  <p:embed/>
                  <p:pic>
                    <p:nvPicPr>
                      <p:cNvPr id="0" name="Object 6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4068763"/>
                        <a:ext cx="3986212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69"/>
          <p:cNvGrpSpPr/>
          <p:nvPr/>
        </p:nvGrpSpPr>
        <p:grpSpPr bwMode="auto">
          <a:xfrm>
            <a:off x="388938" y="5130800"/>
            <a:ext cx="4640262" cy="533400"/>
            <a:chOff x="281" y="3470"/>
            <a:chExt cx="2923" cy="336"/>
          </a:xfrm>
        </p:grpSpPr>
        <p:sp>
          <p:nvSpPr>
            <p:cNvPr id="23568" name="Text Box 70"/>
            <p:cNvSpPr txBox="1">
              <a:spLocks noChangeArrowheads="1"/>
            </p:cNvSpPr>
            <p:nvPr/>
          </p:nvSpPr>
          <p:spPr bwMode="auto">
            <a:xfrm>
              <a:off x="281" y="3470"/>
              <a:ext cx="2923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 baseline="0"/>
                <a:t>当               ，2C,  3C…时，</a:t>
              </a:r>
            </a:p>
          </p:txBody>
        </p:sp>
        <p:graphicFrame>
          <p:nvGraphicFramePr>
            <p:cNvPr id="23569" name="Object 71"/>
            <p:cNvGraphicFramePr/>
            <p:nvPr/>
          </p:nvGraphicFramePr>
          <p:xfrm>
            <a:off x="538" y="3492"/>
            <a:ext cx="72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760" r:id="rId11" imgW="546100" imgH="228600" progId="Equation.3">
                    <p:embed/>
                  </p:oleObj>
                </mc:Choice>
                <mc:Fallback>
                  <p:oleObj r:id="rId11" imgW="546100" imgH="228600" progId="Equation.3">
                    <p:embed/>
                    <p:pic>
                      <p:nvPicPr>
                        <p:cNvPr id="0" name="Object 7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" y="3492"/>
                          <a:ext cx="720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2504" name="Rectangle 72"/>
          <p:cNvSpPr>
            <a:spLocks noChangeArrowheads="1"/>
          </p:cNvSpPr>
          <p:nvPr/>
        </p:nvSpPr>
        <p:spPr bwMode="auto">
          <a:xfrm>
            <a:off x="79375" y="5924550"/>
            <a:ext cx="68341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1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可观察到电流</a:t>
            </a:r>
            <a:r>
              <a:rPr kumimoji="1" lang="en-US" altLang="zh-CN" b="1" i="1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I </a:t>
            </a:r>
            <a:r>
              <a:rPr kumimoji="1" lang="zh-CN" altLang="en-US" b="1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的极大（即衍射极大）</a:t>
            </a:r>
          </a:p>
        </p:txBody>
      </p:sp>
      <p:sp>
        <p:nvSpPr>
          <p:cNvPr id="1042505" name="Text Box 73"/>
          <p:cNvSpPr txBox="1">
            <a:spLocks noChangeArrowheads="1"/>
          </p:cNvSpPr>
          <p:nvPr/>
        </p:nvSpPr>
        <p:spPr bwMode="auto">
          <a:xfrm>
            <a:off x="4643438" y="2205038"/>
            <a:ext cx="4800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当衍射波满足</a:t>
            </a:r>
          </a:p>
        </p:txBody>
      </p:sp>
      <p:sp>
        <p:nvSpPr>
          <p:cNvPr id="1042506" name="Text Box 74"/>
          <p:cNvSpPr txBox="1">
            <a:spLocks noChangeArrowheads="1"/>
          </p:cNvSpPr>
          <p:nvPr/>
        </p:nvSpPr>
        <p:spPr bwMode="auto">
          <a:xfrm>
            <a:off x="6659563" y="2205038"/>
            <a:ext cx="2233612" cy="522287"/>
          </a:xfrm>
          <a:prstGeom prst="rect">
            <a:avLst/>
          </a:prstGeom>
          <a:gradFill rotWithShape="1">
            <a:gsLst>
              <a:gs pos="0">
                <a:srgbClr val="005E47"/>
              </a:gs>
              <a:gs pos="50000">
                <a:srgbClr val="00CC99"/>
              </a:gs>
              <a:gs pos="100000">
                <a:srgbClr val="005E47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>
                <a:solidFill>
                  <a:schemeClr val="bg1"/>
                </a:solidFill>
              </a:rPr>
              <a:t>2</a:t>
            </a:r>
            <a:r>
              <a:rPr lang="en-US" altLang="zh-CN" sz="2800" b="1" i="1" baseline="0">
                <a:solidFill>
                  <a:schemeClr val="bg1"/>
                </a:solidFill>
              </a:rPr>
              <a:t>d</a:t>
            </a:r>
            <a:r>
              <a:rPr lang="en-US" altLang="zh-CN" sz="2800" b="1" baseline="0">
                <a:solidFill>
                  <a:schemeClr val="bg1"/>
                </a:solidFill>
              </a:rPr>
              <a:t> sin</a:t>
            </a:r>
            <a:r>
              <a:rPr lang="en-US" altLang="zh-CN" sz="2800" b="1" baseline="0">
                <a:solidFill>
                  <a:schemeClr val="bg1"/>
                </a:solidFill>
                <a:sym typeface="Symbol" panose="05050102010706020507" pitchFamily="18" charset="2"/>
              </a:rPr>
              <a:t> = </a:t>
            </a:r>
            <a:r>
              <a:rPr lang="en-US" altLang="zh-CN" sz="2800" b="1" i="1" baseline="0">
                <a:solidFill>
                  <a:schemeClr val="bg1"/>
                </a:solidFill>
                <a:sym typeface="Symbol" panose="05050102010706020507" pitchFamily="18" charset="2"/>
              </a:rPr>
              <a:t>k</a:t>
            </a:r>
            <a:r>
              <a:rPr lang="en-US" altLang="zh-CN" sz="2800" b="1" baseline="0">
                <a:solidFill>
                  <a:schemeClr val="bg1"/>
                </a:solidFill>
                <a:sym typeface="Symbol" panose="05050102010706020507" pitchFamily="18" charset="2"/>
              </a:rPr>
              <a:t> </a:t>
            </a:r>
          </a:p>
        </p:txBody>
      </p:sp>
      <p:sp>
        <p:nvSpPr>
          <p:cNvPr id="1042507" name="Rectangle 75"/>
          <p:cNvSpPr>
            <a:spLocks noChangeArrowheads="1"/>
          </p:cNvSpPr>
          <p:nvPr/>
        </p:nvSpPr>
        <p:spPr bwMode="blackWhite">
          <a:xfrm>
            <a:off x="4905375" y="2924175"/>
            <a:ext cx="41306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1" baseline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kumimoji="1" lang="en-US" altLang="zh-CN" b="1" i="1" baseline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k </a:t>
            </a:r>
            <a:r>
              <a:rPr kumimoji="1" lang="en-US" altLang="zh-CN" b="1" baseline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= 1</a:t>
            </a:r>
            <a:r>
              <a:rPr kumimoji="1" lang="zh-CN" altLang="en-US" b="1" baseline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kumimoji="1" lang="en-US" altLang="zh-CN" b="1" baseline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zh-CN" altLang="en-US" b="1" baseline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kumimoji="1" lang="en-US" altLang="zh-CN" b="1" baseline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3</a:t>
            </a:r>
            <a:r>
              <a:rPr kumimoji="1" lang="zh-CN" altLang="en-US" b="1" baseline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）时，</a:t>
            </a:r>
          </a:p>
        </p:txBody>
      </p:sp>
      <p:sp>
        <p:nvSpPr>
          <p:cNvPr id="1042508" name="Text Box 76"/>
          <p:cNvSpPr txBox="1">
            <a:spLocks noChangeArrowheads="1"/>
          </p:cNvSpPr>
          <p:nvPr/>
        </p:nvSpPr>
        <p:spPr bwMode="blackWhite">
          <a:xfrm>
            <a:off x="179388" y="30163"/>
            <a:ext cx="569595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二</a:t>
            </a:r>
            <a:r>
              <a:rPr kumimoji="1" lang="en-US" altLang="zh-CN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.</a:t>
            </a:r>
            <a:r>
              <a:rPr kumimoji="1" lang="zh-CN" altLang="en-US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物质波的实验验证</a:t>
            </a:r>
            <a:r>
              <a:rPr kumimoji="1" lang="en-US" altLang="zh-CN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——</a:t>
            </a:r>
            <a:r>
              <a:rPr kumimoji="1" lang="zh-CN" altLang="en-US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电子衍射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4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4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04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4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4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2434" grpId="0" bldLvl="0" animBg="1"/>
      <p:bldP spid="1042475" grpId="0" bldLvl="0" animBg="1"/>
      <p:bldP spid="1042504" grpId="0" bldLvl="0" animBg="1"/>
      <p:bldP spid="1042505" grpId="0" bldLvl="0" animBg="1"/>
      <p:bldP spid="1042506" grpId="0" bldLvl="0" animBg="1"/>
      <p:bldP spid="104250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BB6290-4B0B-4D37-B0D5-F6534EEBFCD8}" type="slidenum">
              <a:rPr altLang="zh-CN" sz="1400" baseline="0" smtClean="0"/>
              <a:t>8</a:t>
            </a:fld>
            <a:endParaRPr lang="zh-CN" altLang="zh-CN" sz="1400" baseline="0"/>
          </a:p>
        </p:txBody>
      </p:sp>
      <p:pic>
        <p:nvPicPr>
          <p:cNvPr id="24579" name="Picture 2" descr="ys1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196975"/>
            <a:ext cx="3200400" cy="3352800"/>
          </a:xfrm>
          <a:prstGeom prst="rect">
            <a:avLst/>
          </a:prstGeom>
          <a:noFill/>
          <a:ln w="57150">
            <a:pattFill prst="trellis">
              <a:fgClr>
                <a:srgbClr val="FF3300"/>
              </a:fgClr>
              <a:bgClr>
                <a:srgbClr val="FFFFFF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5800725" y="3892550"/>
            <a:ext cx="3124200" cy="5810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</a:rPr>
              <a:t>戴维逊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</a:rPr>
              <a:t>左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</a:rPr>
              <a:t>和革末在贝尔实验室，电子衍射在这里首次发现</a:t>
            </a:r>
          </a:p>
        </p:txBody>
      </p:sp>
      <p:sp>
        <p:nvSpPr>
          <p:cNvPr id="1043460" name="Text Box 4"/>
          <p:cNvSpPr txBox="1">
            <a:spLocks noChangeArrowheads="1"/>
          </p:cNvSpPr>
          <p:nvPr/>
        </p:nvSpPr>
        <p:spPr bwMode="auto">
          <a:xfrm>
            <a:off x="323850" y="101600"/>
            <a:ext cx="556101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 G.P.</a:t>
            </a:r>
            <a:r>
              <a:rPr kumimoji="1" lang="zh-CN" altLang="en-US" sz="2800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汤姆孙实验（</a:t>
            </a:r>
            <a:r>
              <a:rPr kumimoji="1" lang="en-US" altLang="zh-CN" sz="2800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1927</a:t>
            </a:r>
            <a:r>
              <a:rPr kumimoji="1" lang="zh-CN" altLang="en-US" sz="2800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年）</a:t>
            </a:r>
          </a:p>
        </p:txBody>
      </p:sp>
      <p:sp>
        <p:nvSpPr>
          <p:cNvPr id="1043461" name="Text Box 5"/>
          <p:cNvSpPr txBox="1">
            <a:spLocks noChangeArrowheads="1"/>
          </p:cNvSpPr>
          <p:nvPr/>
        </p:nvSpPr>
        <p:spPr bwMode="auto">
          <a:xfrm>
            <a:off x="466725" y="1484313"/>
            <a:ext cx="63373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电子通过金属多晶薄膜的衍射实验。</a:t>
            </a:r>
          </a:p>
        </p:txBody>
      </p:sp>
      <p:sp>
        <p:nvSpPr>
          <p:cNvPr id="1043462" name="Text Box 6"/>
          <p:cNvSpPr txBox="1">
            <a:spLocks noChangeArrowheads="1"/>
          </p:cNvSpPr>
          <p:nvPr/>
        </p:nvSpPr>
        <p:spPr bwMode="auto">
          <a:xfrm>
            <a:off x="468313" y="620713"/>
            <a:ext cx="7704137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G.P.</a:t>
            </a: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汤姆孙，</a:t>
            </a:r>
            <a:r>
              <a:rPr kumimoji="1"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J.J</a:t>
            </a: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汤姆孙</a:t>
            </a:r>
            <a:r>
              <a:rPr kumimoji="1"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电子的发现者，</a:t>
            </a:r>
            <a:r>
              <a:rPr kumimoji="1"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1906</a:t>
            </a: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年获诺贝尔物理学奖）之子</a:t>
            </a:r>
          </a:p>
        </p:txBody>
      </p:sp>
      <p:grpSp>
        <p:nvGrpSpPr>
          <p:cNvPr id="2" name="Group 7"/>
          <p:cNvGrpSpPr/>
          <p:nvPr/>
        </p:nvGrpSpPr>
        <p:grpSpPr bwMode="auto">
          <a:xfrm>
            <a:off x="468313" y="1773238"/>
            <a:ext cx="3365500" cy="2424112"/>
            <a:chOff x="1061" y="1229"/>
            <a:chExt cx="2120" cy="1527"/>
          </a:xfrm>
        </p:grpSpPr>
        <p:graphicFrame>
          <p:nvGraphicFramePr>
            <p:cNvPr id="24588" name="Object 8"/>
            <p:cNvGraphicFramePr/>
            <p:nvPr/>
          </p:nvGraphicFramePr>
          <p:xfrm>
            <a:off x="1061" y="1229"/>
            <a:ext cx="2120" cy="1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56" r:id="rId4" imgW="2242185" imgH="1802765" progId="Word.Document.8">
                    <p:embed/>
                  </p:oleObj>
                </mc:Choice>
                <mc:Fallback>
                  <p:oleObj r:id="rId4" imgW="2242185" imgH="1802765" progId="Word.Document.8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1" y="1229"/>
                          <a:ext cx="2120" cy="1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9" name="Line 9"/>
            <p:cNvSpPr>
              <a:spLocks noChangeShapeType="1"/>
            </p:cNvSpPr>
            <p:nvPr/>
          </p:nvSpPr>
          <p:spPr bwMode="auto">
            <a:xfrm flipH="1" flipV="1">
              <a:off x="2684" y="2511"/>
              <a:ext cx="196" cy="10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043466" name="Object 10"/>
          <p:cNvGraphicFramePr/>
          <p:nvPr/>
        </p:nvGraphicFramePr>
        <p:xfrm>
          <a:off x="323850" y="3841750"/>
          <a:ext cx="2243138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7" r:id="rId6" imgW="1562100" imgH="2001520" progId="Word.Document.8">
                  <p:embed/>
                </p:oleObj>
              </mc:Choice>
              <mc:Fallback>
                <p:oleObj r:id="rId6" imgW="1562100" imgH="2001520" progId="Word.Document.8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41750"/>
                        <a:ext cx="2243138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3467" name="Picture 11" descr="37gpthomso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75" y="3657600"/>
            <a:ext cx="224313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3468" name="Text Box 12"/>
          <p:cNvSpPr txBox="1">
            <a:spLocks noChangeArrowheads="1"/>
          </p:cNvSpPr>
          <p:nvPr/>
        </p:nvSpPr>
        <p:spPr bwMode="auto">
          <a:xfrm>
            <a:off x="5956300" y="5084763"/>
            <a:ext cx="20574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baseline="0">
                <a:solidFill>
                  <a:schemeClr val="accent2"/>
                </a:solidFill>
              </a:rPr>
              <a:t>G. P. Thomson (1892~1975)，英国物理学家，1937年诺贝尔物理奖得主。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4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4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4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4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4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4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60" grpId="0" bldLvl="0" animBg="1"/>
      <p:bldP spid="1043461" grpId="0" bldLvl="0" animBg="1"/>
      <p:bldP spid="1043462" grpId="0" bldLvl="0" animBg="1"/>
      <p:bldP spid="10434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5A87CA-ABB5-47F0-9898-7CBC1F34D74C}" type="slidenum">
              <a:rPr altLang="zh-CN" sz="1400" baseline="0" smtClean="0"/>
              <a:t>9</a:t>
            </a:fld>
            <a:endParaRPr lang="zh-CN" altLang="zh-CN" sz="1400" baseline="0"/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84213" y="115888"/>
            <a:ext cx="474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3. 琼森(Jonsson)实验（1961）</a:t>
            </a:r>
          </a:p>
        </p:txBody>
      </p:sp>
      <p:sp>
        <p:nvSpPr>
          <p:cNvPr id="1044486" name="Text Box 6"/>
          <p:cNvSpPr txBox="1">
            <a:spLocks noChangeArrowheads="1"/>
          </p:cNvSpPr>
          <p:nvPr/>
        </p:nvSpPr>
        <p:spPr bwMode="auto">
          <a:xfrm>
            <a:off x="1276350" y="836613"/>
            <a:ext cx="8234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aseline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大量电子的单、双、三、四缝衍射实验</a:t>
            </a:r>
          </a:p>
        </p:txBody>
      </p:sp>
      <p:sp>
        <p:nvSpPr>
          <p:cNvPr id="1044487" name="Text Box 7"/>
          <p:cNvSpPr txBox="1">
            <a:spLocks noChangeArrowheads="1"/>
          </p:cNvSpPr>
          <p:nvPr/>
        </p:nvSpPr>
        <p:spPr bwMode="auto">
          <a:xfrm>
            <a:off x="539433" y="4293235"/>
            <a:ext cx="8650287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后来实验又验证了：质子、中子和原子、分子 等实物粒子</a:t>
            </a:r>
          </a:p>
          <a:p>
            <a:pPr eaLnBrk="1" hangingPunct="1">
              <a:defRPr/>
            </a:pP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都具有波动性，并都满足 德布罗意关系。</a:t>
            </a:r>
          </a:p>
        </p:txBody>
      </p:sp>
      <p:grpSp>
        <p:nvGrpSpPr>
          <p:cNvPr id="3" name="Group 8"/>
          <p:cNvGrpSpPr/>
          <p:nvPr/>
        </p:nvGrpSpPr>
        <p:grpSpPr bwMode="auto">
          <a:xfrm>
            <a:off x="611188" y="1277938"/>
            <a:ext cx="7713662" cy="2625725"/>
            <a:chOff x="368" y="816"/>
            <a:chExt cx="4859" cy="1654"/>
          </a:xfrm>
        </p:grpSpPr>
        <p:sp>
          <p:nvSpPr>
            <p:cNvPr id="25608" name="Rectangle 9"/>
            <p:cNvSpPr>
              <a:spLocks noChangeArrowheads="1"/>
            </p:cNvSpPr>
            <p:nvPr/>
          </p:nvSpPr>
          <p:spPr bwMode="auto">
            <a:xfrm>
              <a:off x="368" y="2042"/>
              <a:ext cx="4859" cy="428"/>
            </a:xfrm>
            <a:prstGeom prst="rect">
              <a:avLst/>
            </a:prstGeom>
            <a:noFill/>
            <a:ln w="25400">
              <a:solidFill>
                <a:srgbClr val="FFFF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5609" name="Rectangle 10"/>
            <p:cNvSpPr>
              <a:spLocks noChangeArrowheads="1"/>
            </p:cNvSpPr>
            <p:nvPr/>
          </p:nvSpPr>
          <p:spPr bwMode="auto">
            <a:xfrm>
              <a:off x="444" y="2099"/>
              <a:ext cx="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/>
            </a:p>
          </p:txBody>
        </p:sp>
        <p:sp>
          <p:nvSpPr>
            <p:cNvPr id="25610" name="Rectangle 11"/>
            <p:cNvSpPr>
              <a:spLocks noChangeArrowheads="1"/>
            </p:cNvSpPr>
            <p:nvPr/>
          </p:nvSpPr>
          <p:spPr bwMode="auto">
            <a:xfrm>
              <a:off x="628" y="2120"/>
              <a:ext cx="25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baseline="0">
                  <a:solidFill>
                    <a:srgbClr val="FF0000"/>
                  </a:solidFill>
                </a:rPr>
                <a:t>单</a:t>
              </a:r>
            </a:p>
          </p:txBody>
        </p:sp>
        <p:sp>
          <p:nvSpPr>
            <p:cNvPr id="25611" name="Rectangle 12"/>
            <p:cNvSpPr>
              <a:spLocks noChangeArrowheads="1"/>
            </p:cNvSpPr>
            <p:nvPr/>
          </p:nvSpPr>
          <p:spPr bwMode="auto">
            <a:xfrm>
              <a:off x="995" y="2120"/>
              <a:ext cx="25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baseline="0">
                  <a:solidFill>
                    <a:srgbClr val="FF0000"/>
                  </a:solidFill>
                </a:rPr>
                <a:t>缝</a:t>
              </a:r>
            </a:p>
          </p:txBody>
        </p:sp>
        <p:sp>
          <p:nvSpPr>
            <p:cNvPr id="25612" name="Rectangle 13"/>
            <p:cNvSpPr>
              <a:spLocks noChangeArrowheads="1"/>
            </p:cNvSpPr>
            <p:nvPr/>
          </p:nvSpPr>
          <p:spPr bwMode="auto">
            <a:xfrm>
              <a:off x="1363" y="2099"/>
              <a:ext cx="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/>
            </a:p>
          </p:txBody>
        </p:sp>
        <p:sp>
          <p:nvSpPr>
            <p:cNvPr id="25613" name="Rectangle 14"/>
            <p:cNvSpPr>
              <a:spLocks noChangeArrowheads="1"/>
            </p:cNvSpPr>
            <p:nvPr/>
          </p:nvSpPr>
          <p:spPr bwMode="auto">
            <a:xfrm>
              <a:off x="1547" y="2099"/>
              <a:ext cx="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/>
            </a:p>
          </p:txBody>
        </p:sp>
        <p:sp>
          <p:nvSpPr>
            <p:cNvPr id="25614" name="Rectangle 15"/>
            <p:cNvSpPr>
              <a:spLocks noChangeArrowheads="1"/>
            </p:cNvSpPr>
            <p:nvPr/>
          </p:nvSpPr>
          <p:spPr bwMode="auto">
            <a:xfrm>
              <a:off x="1687" y="2099"/>
              <a:ext cx="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/>
            </a:p>
          </p:txBody>
        </p:sp>
        <p:sp>
          <p:nvSpPr>
            <p:cNvPr id="25615" name="Rectangle 16"/>
            <p:cNvSpPr>
              <a:spLocks noChangeArrowheads="1"/>
            </p:cNvSpPr>
            <p:nvPr/>
          </p:nvSpPr>
          <p:spPr bwMode="auto">
            <a:xfrm>
              <a:off x="1870" y="2099"/>
              <a:ext cx="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/>
            </a:p>
          </p:txBody>
        </p:sp>
        <p:sp>
          <p:nvSpPr>
            <p:cNvPr id="25616" name="Rectangle 17"/>
            <p:cNvSpPr>
              <a:spLocks noChangeArrowheads="1"/>
            </p:cNvSpPr>
            <p:nvPr/>
          </p:nvSpPr>
          <p:spPr bwMode="auto">
            <a:xfrm>
              <a:off x="2010" y="2120"/>
              <a:ext cx="25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baseline="0">
                  <a:solidFill>
                    <a:srgbClr val="FF0000"/>
                  </a:solidFill>
                </a:rPr>
                <a:t>双</a:t>
              </a:r>
            </a:p>
          </p:txBody>
        </p:sp>
        <p:sp>
          <p:nvSpPr>
            <p:cNvPr id="25617" name="Rectangle 18"/>
            <p:cNvSpPr>
              <a:spLocks noChangeArrowheads="1"/>
            </p:cNvSpPr>
            <p:nvPr/>
          </p:nvSpPr>
          <p:spPr bwMode="auto">
            <a:xfrm>
              <a:off x="2378" y="2120"/>
              <a:ext cx="25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baseline="0">
                  <a:solidFill>
                    <a:srgbClr val="FF0000"/>
                  </a:solidFill>
                </a:rPr>
                <a:t>缝</a:t>
              </a:r>
            </a:p>
          </p:txBody>
        </p:sp>
        <p:sp>
          <p:nvSpPr>
            <p:cNvPr id="25618" name="Rectangle 19"/>
            <p:cNvSpPr>
              <a:spLocks noChangeArrowheads="1"/>
            </p:cNvSpPr>
            <p:nvPr/>
          </p:nvSpPr>
          <p:spPr bwMode="auto">
            <a:xfrm>
              <a:off x="2790" y="2099"/>
              <a:ext cx="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/>
            </a:p>
          </p:txBody>
        </p:sp>
        <p:sp>
          <p:nvSpPr>
            <p:cNvPr id="25619" name="Rectangle 20"/>
            <p:cNvSpPr>
              <a:spLocks noChangeArrowheads="1"/>
            </p:cNvSpPr>
            <p:nvPr/>
          </p:nvSpPr>
          <p:spPr bwMode="auto">
            <a:xfrm>
              <a:off x="2973" y="2099"/>
              <a:ext cx="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/>
            </a:p>
          </p:txBody>
        </p:sp>
        <p:sp>
          <p:nvSpPr>
            <p:cNvPr id="25620" name="Rectangle 21"/>
            <p:cNvSpPr>
              <a:spLocks noChangeArrowheads="1"/>
            </p:cNvSpPr>
            <p:nvPr/>
          </p:nvSpPr>
          <p:spPr bwMode="auto">
            <a:xfrm>
              <a:off x="3157" y="2099"/>
              <a:ext cx="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/>
            </a:p>
          </p:txBody>
        </p:sp>
        <p:sp>
          <p:nvSpPr>
            <p:cNvPr id="25621" name="Rectangle 22"/>
            <p:cNvSpPr>
              <a:spLocks noChangeArrowheads="1"/>
            </p:cNvSpPr>
            <p:nvPr/>
          </p:nvSpPr>
          <p:spPr bwMode="auto">
            <a:xfrm>
              <a:off x="3374" y="2120"/>
              <a:ext cx="25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baseline="0">
                  <a:solidFill>
                    <a:srgbClr val="FF0000"/>
                  </a:solidFill>
                </a:rPr>
                <a:t>三</a:t>
              </a:r>
            </a:p>
          </p:txBody>
        </p:sp>
        <p:sp>
          <p:nvSpPr>
            <p:cNvPr id="25622" name="Rectangle 23"/>
            <p:cNvSpPr>
              <a:spLocks noChangeArrowheads="1"/>
            </p:cNvSpPr>
            <p:nvPr/>
          </p:nvSpPr>
          <p:spPr bwMode="auto">
            <a:xfrm>
              <a:off x="3742" y="2120"/>
              <a:ext cx="25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baseline="0">
                  <a:solidFill>
                    <a:srgbClr val="FF0000"/>
                  </a:solidFill>
                </a:rPr>
                <a:t>缝</a:t>
              </a:r>
            </a:p>
          </p:txBody>
        </p:sp>
        <p:sp>
          <p:nvSpPr>
            <p:cNvPr id="25623" name="Rectangle 24"/>
            <p:cNvSpPr>
              <a:spLocks noChangeArrowheads="1"/>
            </p:cNvSpPr>
            <p:nvPr/>
          </p:nvSpPr>
          <p:spPr bwMode="auto">
            <a:xfrm>
              <a:off x="4076" y="2099"/>
              <a:ext cx="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/>
            </a:p>
          </p:txBody>
        </p:sp>
        <p:sp>
          <p:nvSpPr>
            <p:cNvPr id="25624" name="Rectangle 25"/>
            <p:cNvSpPr>
              <a:spLocks noChangeArrowheads="1"/>
            </p:cNvSpPr>
            <p:nvPr/>
          </p:nvSpPr>
          <p:spPr bwMode="auto">
            <a:xfrm>
              <a:off x="4260" y="2099"/>
              <a:ext cx="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/>
            </a:p>
          </p:txBody>
        </p:sp>
        <p:sp>
          <p:nvSpPr>
            <p:cNvPr id="25625" name="Rectangle 26"/>
            <p:cNvSpPr>
              <a:spLocks noChangeArrowheads="1"/>
            </p:cNvSpPr>
            <p:nvPr/>
          </p:nvSpPr>
          <p:spPr bwMode="auto">
            <a:xfrm>
              <a:off x="4532" y="2120"/>
              <a:ext cx="25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baseline="0">
                  <a:solidFill>
                    <a:srgbClr val="FF0000"/>
                  </a:solidFill>
                </a:rPr>
                <a:t>四</a:t>
              </a:r>
            </a:p>
          </p:txBody>
        </p:sp>
        <p:sp>
          <p:nvSpPr>
            <p:cNvPr id="25626" name="Rectangle 27"/>
            <p:cNvSpPr>
              <a:spLocks noChangeArrowheads="1"/>
            </p:cNvSpPr>
            <p:nvPr/>
          </p:nvSpPr>
          <p:spPr bwMode="auto">
            <a:xfrm>
              <a:off x="4844" y="2120"/>
              <a:ext cx="25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baseline="0">
                  <a:solidFill>
                    <a:srgbClr val="FF0000"/>
                  </a:solidFill>
                </a:rPr>
                <a:t>缝</a:t>
              </a:r>
            </a:p>
          </p:txBody>
        </p:sp>
        <p:pic>
          <p:nvPicPr>
            <p:cNvPr id="25627" name="Picture 28" descr="电子多缝衍射图样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" y="816"/>
              <a:ext cx="4827" cy="1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30" name="Text Box 3"/>
          <p:cNvSpPr txBox="1">
            <a:spLocks noChangeArrowheads="1"/>
          </p:cNvSpPr>
          <p:nvPr/>
        </p:nvSpPr>
        <p:spPr bwMode="auto">
          <a:xfrm>
            <a:off x="611451" y="5373370"/>
            <a:ext cx="330375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baseline="0"/>
              <a:t>路易.德布罗意</a:t>
            </a:r>
          </a:p>
        </p:txBody>
      </p:sp>
      <p:sp>
        <p:nvSpPr>
          <p:cNvPr id="26635" name="Rectangle 8"/>
          <p:cNvSpPr>
            <a:spLocks noChangeArrowheads="1"/>
          </p:cNvSpPr>
          <p:nvPr/>
        </p:nvSpPr>
        <p:spPr bwMode="auto">
          <a:xfrm>
            <a:off x="3159760" y="5301615"/>
            <a:ext cx="515112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 baseline="0">
                <a:solidFill>
                  <a:srgbClr val="333399"/>
                </a:solidFill>
              </a:rPr>
              <a:t>1929年获诺贝尔物理奖</a:t>
            </a:r>
          </a:p>
        </p:txBody>
      </p:sp>
      <p:sp>
        <p:nvSpPr>
          <p:cNvPr id="1045513" name="Rectangle 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5948998"/>
            <a:ext cx="838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>
                <a:solidFill>
                  <a:srgbClr val="333399"/>
                </a:solidFill>
              </a:rPr>
              <a:t>1937年 戴维逊 与 G.P.汤姆逊共获诺贝尔物理奖。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45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486" grpId="0"/>
      <p:bldP spid="1044487" grpId="0" bldLvl="0" animBg="1"/>
      <p:bldP spid="26630" grpId="0"/>
      <p:bldP spid="26635" grpId="0"/>
      <p:bldP spid="10455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D61370-9114-4B7A-B8F3-9C0D3C423029}" type="slidenum">
              <a:rPr altLang="zh-CN" sz="1400" baseline="0" smtClean="0"/>
              <a:t>10</a:t>
            </a:fld>
            <a:endParaRPr lang="zh-CN" altLang="zh-CN" sz="1400" baseline="0"/>
          </a:p>
        </p:txBody>
      </p:sp>
      <p:sp>
        <p:nvSpPr>
          <p:cNvPr id="1046530" name="Text Box 2"/>
          <p:cNvSpPr txBox="1">
            <a:spLocks noChangeArrowheads="1"/>
          </p:cNvSpPr>
          <p:nvPr/>
        </p:nvSpPr>
        <p:spPr bwMode="auto">
          <a:xfrm>
            <a:off x="585788" y="692150"/>
            <a:ext cx="29670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1.</a:t>
            </a: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粒子性</a:t>
            </a:r>
          </a:p>
        </p:txBody>
      </p:sp>
      <p:sp>
        <p:nvSpPr>
          <p:cNvPr id="1046531" name="Text Box 3"/>
          <p:cNvSpPr txBox="1">
            <a:spLocks noChangeArrowheads="1"/>
          </p:cNvSpPr>
          <p:nvPr/>
        </p:nvSpPr>
        <p:spPr bwMode="auto">
          <a:xfrm>
            <a:off x="581025" y="1196975"/>
            <a:ext cx="891540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990099"/>
              </a:buClr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en-US" altLang="zh-CN" baseline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 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指具有确定的质量、电量，与物质相互作用时的</a:t>
            </a:r>
          </a:p>
          <a:p>
            <a:pPr eaLnBrk="1" hangingPunct="1">
              <a:buClr>
                <a:srgbClr val="990099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   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颗粒性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或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整体性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。</a:t>
            </a:r>
          </a:p>
        </p:txBody>
      </p:sp>
      <p:sp>
        <p:nvSpPr>
          <p:cNvPr id="1046532" name="Text Box 4"/>
          <p:cNvSpPr txBox="1">
            <a:spLocks noChangeArrowheads="1"/>
          </p:cNvSpPr>
          <p:nvPr/>
        </p:nvSpPr>
        <p:spPr bwMode="auto">
          <a:xfrm>
            <a:off x="581025" y="2041525"/>
            <a:ext cx="861060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990099"/>
              </a:buClr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en-US" altLang="zh-CN" baseline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 </a:t>
            </a:r>
            <a:r>
              <a:rPr kumimoji="1" lang="zh-CN" altLang="en-US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但不是经典的粒子！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在空间以概率出现。</a:t>
            </a:r>
          </a:p>
          <a:p>
            <a:pPr eaLnBrk="1" hangingPunct="1">
              <a:defRPr/>
            </a:pP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   没有确定的轨道</a:t>
            </a:r>
          </a:p>
        </p:txBody>
      </p:sp>
      <p:sp>
        <p:nvSpPr>
          <p:cNvPr id="1046533" name="Text Box 5"/>
          <p:cNvSpPr txBox="1">
            <a:spLocks noChangeArrowheads="1"/>
          </p:cNvSpPr>
          <p:nvPr/>
        </p:nvSpPr>
        <p:spPr bwMode="auto">
          <a:xfrm>
            <a:off x="3200400" y="2760663"/>
            <a:ext cx="4419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Char char=" "/>
              <a:defRPr/>
            </a:pPr>
            <a:r>
              <a:rPr kumimoji="1" lang="zh-CN" altLang="en-US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应摒弃</a:t>
            </a:r>
            <a:r>
              <a:rPr kumimoji="1" lang="zh-CN" altLang="en-US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kumimoji="1" lang="zh-CN" altLang="en-US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轨道</a:t>
            </a:r>
            <a:r>
              <a:rPr kumimoji="1" lang="zh-CN" altLang="en-US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kumimoji="1" lang="zh-CN" altLang="en-US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的概念！</a:t>
            </a:r>
          </a:p>
        </p:txBody>
      </p:sp>
      <p:sp>
        <p:nvSpPr>
          <p:cNvPr id="1046534" name="Text Box 6"/>
          <p:cNvSpPr txBox="1">
            <a:spLocks noChangeArrowheads="1"/>
          </p:cNvSpPr>
          <p:nvPr/>
        </p:nvSpPr>
        <p:spPr bwMode="auto">
          <a:xfrm>
            <a:off x="609600" y="3186113"/>
            <a:ext cx="26130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kumimoji="1" lang="zh-CN" altLang="en-US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波动性</a:t>
            </a:r>
          </a:p>
        </p:txBody>
      </p:sp>
      <p:sp>
        <p:nvSpPr>
          <p:cNvPr id="1046535" name="Text Box 7"/>
          <p:cNvSpPr txBox="1">
            <a:spLocks noChangeArrowheads="1"/>
          </p:cNvSpPr>
          <p:nvPr/>
        </p:nvSpPr>
        <p:spPr bwMode="auto">
          <a:xfrm>
            <a:off x="-333375" y="3762375"/>
            <a:ext cx="787400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2" eaLnBrk="1" hangingPunct="1">
              <a:buClr>
                <a:srgbClr val="990099"/>
              </a:buClr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en-US" altLang="zh-CN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 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指在空间传播有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可叠加性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，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    有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干涉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、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“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衍射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”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、等现象。</a:t>
            </a:r>
          </a:p>
        </p:txBody>
      </p:sp>
      <p:sp>
        <p:nvSpPr>
          <p:cNvPr id="1046536" name="Text Box 8"/>
          <p:cNvSpPr txBox="1">
            <a:spLocks noChangeArrowheads="1"/>
          </p:cNvSpPr>
          <p:nvPr/>
        </p:nvSpPr>
        <p:spPr bwMode="auto">
          <a:xfrm>
            <a:off x="-381000" y="4627563"/>
            <a:ext cx="998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2" eaLnBrk="1" hangingPunct="1">
              <a:buClr>
                <a:srgbClr val="990099"/>
              </a:buClr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en-US" altLang="zh-CN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 </a:t>
            </a:r>
            <a:r>
              <a:rPr kumimoji="1" lang="zh-CN" altLang="en-US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但不是经典的波！</a:t>
            </a:r>
            <a:r>
              <a:rPr kumimoji="1" lang="zh-CN" altLang="en-US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因为它不代表实在物理量的波动。</a:t>
            </a:r>
          </a:p>
        </p:txBody>
      </p:sp>
      <p:sp>
        <p:nvSpPr>
          <p:cNvPr id="1046537" name="Text Box 9"/>
          <p:cNvSpPr txBox="1">
            <a:spLocks noChangeArrowheads="1"/>
          </p:cNvSpPr>
          <p:nvPr/>
        </p:nvSpPr>
        <p:spPr bwMode="auto">
          <a:xfrm>
            <a:off x="304800" y="44450"/>
            <a:ext cx="70040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三</a:t>
            </a:r>
            <a:r>
              <a:rPr kumimoji="1" lang="en-US" altLang="zh-CN" sz="2800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.</a:t>
            </a:r>
            <a:r>
              <a:rPr kumimoji="1" lang="zh-CN" altLang="en-US" sz="2800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如何正确理解微观粒子的波粒二象性</a:t>
            </a:r>
          </a:p>
        </p:txBody>
      </p:sp>
      <p:sp>
        <p:nvSpPr>
          <p:cNvPr id="1046538" name="Text Box 10"/>
          <p:cNvSpPr txBox="1">
            <a:spLocks noChangeArrowheads="1"/>
          </p:cNvSpPr>
          <p:nvPr/>
        </p:nvSpPr>
        <p:spPr bwMode="auto">
          <a:xfrm>
            <a:off x="468313" y="5118100"/>
            <a:ext cx="8281987" cy="163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微观粒子在某些条件下表现出</a:t>
            </a:r>
            <a:r>
              <a:rPr kumimoji="1" lang="zh-CN" altLang="en-US" sz="2800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粒子性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            </a:t>
            </a:r>
            <a:r>
              <a:rPr kumimoji="1"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在另一些条件下表现出</a:t>
            </a:r>
            <a:r>
              <a:rPr kumimoji="1" lang="zh-CN" altLang="en-US" sz="2800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波动性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 baseline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      </a:t>
            </a:r>
            <a:r>
              <a:rPr kumimoji="1"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两种性质虽寓于同一客体中却</a:t>
            </a:r>
            <a:r>
              <a:rPr kumimoji="1" lang="zh-CN" altLang="en-US" sz="2800" baseline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不能同时表现出来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6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465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46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46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46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6530" grpId="0" bldLvl="0" animBg="1"/>
      <p:bldP spid="1046531" grpId="0" bldLvl="0" animBg="1"/>
      <p:bldP spid="1046532" grpId="0" bldLvl="0" animBg="1"/>
      <p:bldP spid="1046533" grpId="0" bldLvl="0" animBg="1"/>
      <p:bldP spid="1046534" grpId="0" bldLvl="0" animBg="1"/>
      <p:bldP spid="1046535" grpId="0" bldLvl="0" animBg="1"/>
      <p:bldP spid="1046536" grpId="0" bldLvl="0" animBg="1"/>
      <p:bldP spid="104653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C433B7-983A-4F81-B358-51BEE63CC35B}" type="slidenum">
              <a:rPr altLang="zh-CN" sz="1400" baseline="0" smtClean="0"/>
              <a:t>11</a:t>
            </a:fld>
            <a:endParaRPr lang="zh-CN" altLang="zh-CN" sz="1400" baseline="0"/>
          </a:p>
        </p:txBody>
      </p:sp>
      <p:grpSp>
        <p:nvGrpSpPr>
          <p:cNvPr id="28675" name="Group 2"/>
          <p:cNvGrpSpPr/>
          <p:nvPr/>
        </p:nvGrpSpPr>
        <p:grpSpPr bwMode="auto">
          <a:xfrm>
            <a:off x="0" y="0"/>
            <a:ext cx="4711700" cy="5759450"/>
            <a:chOff x="528" y="1056"/>
            <a:chExt cx="2496" cy="3264"/>
          </a:xfrm>
        </p:grpSpPr>
        <p:grpSp>
          <p:nvGrpSpPr>
            <p:cNvPr id="28681" name="Group 3"/>
            <p:cNvGrpSpPr/>
            <p:nvPr/>
          </p:nvGrpSpPr>
          <p:grpSpPr bwMode="auto">
            <a:xfrm>
              <a:off x="768" y="1248"/>
              <a:ext cx="2016" cy="3072"/>
              <a:chOff x="768" y="1248"/>
              <a:chExt cx="2016" cy="3072"/>
            </a:xfrm>
          </p:grpSpPr>
          <p:pic>
            <p:nvPicPr>
              <p:cNvPr id="28683" name="Picture 4" descr="tu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8" y="1248"/>
                <a:ext cx="2016" cy="3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84" name="Rectangle 5"/>
              <p:cNvSpPr>
                <a:spLocks noChangeArrowheads="1"/>
              </p:cNvSpPr>
              <p:nvPr/>
            </p:nvSpPr>
            <p:spPr bwMode="auto">
              <a:xfrm>
                <a:off x="768" y="3984"/>
                <a:ext cx="2016" cy="336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ea typeface="楷体_GB2312" pitchFamily="49" charset="-122"/>
                </a:endParaRPr>
              </a:p>
            </p:txBody>
          </p:sp>
        </p:grpSp>
        <p:graphicFrame>
          <p:nvGraphicFramePr>
            <p:cNvPr id="28682" name="Object 6"/>
            <p:cNvGraphicFramePr/>
            <p:nvPr/>
          </p:nvGraphicFramePr>
          <p:xfrm>
            <a:off x="528" y="1056"/>
            <a:ext cx="2496" cy="3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04" r:id="rId4" imgW="3104515" imgH="3021965" progId="">
                    <p:embed/>
                  </p:oleObj>
                </mc:Choice>
                <mc:Fallback>
                  <p:oleObj r:id="rId4" imgW="3104515" imgH="3021965" progId="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056"/>
                          <a:ext cx="2496" cy="3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7559" name="Text Box 7"/>
          <p:cNvSpPr txBox="1">
            <a:spLocks noChangeArrowheads="1"/>
          </p:cNvSpPr>
          <p:nvPr/>
        </p:nvSpPr>
        <p:spPr bwMode="auto">
          <a:xfrm>
            <a:off x="6570663" y="493713"/>
            <a:ext cx="1601787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aseline="0">
                <a:solidFill>
                  <a:srgbClr val="CC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女孩？</a:t>
            </a:r>
          </a:p>
        </p:txBody>
      </p:sp>
      <p:sp>
        <p:nvSpPr>
          <p:cNvPr id="1047560" name="Text Box 8"/>
          <p:cNvSpPr txBox="1">
            <a:spLocks noChangeArrowheads="1"/>
          </p:cNvSpPr>
          <p:nvPr/>
        </p:nvSpPr>
        <p:spPr bwMode="auto">
          <a:xfrm>
            <a:off x="6588125" y="1412875"/>
            <a:ext cx="160496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aseline="0">
                <a:solidFill>
                  <a:srgbClr val="CC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老妇？</a:t>
            </a:r>
          </a:p>
        </p:txBody>
      </p:sp>
      <p:graphicFrame>
        <p:nvGraphicFramePr>
          <p:cNvPr id="1047561" name="Object 9"/>
          <p:cNvGraphicFramePr/>
          <p:nvPr/>
        </p:nvGraphicFramePr>
        <p:xfrm>
          <a:off x="5299075" y="355600"/>
          <a:ext cx="825500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05" r:id="rId6" imgW="1857375" imgH="3996055" progId="MS_ClipArt_Gallery.2">
                  <p:embed/>
                </p:oleObj>
              </mc:Choice>
              <mc:Fallback>
                <p:oleObj r:id="rId6" imgW="1857375" imgH="3996055" progId="MS_ClipArt_Gallery.2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075" y="355600"/>
                        <a:ext cx="825500" cy="177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7562" name="Text Box 10"/>
          <p:cNvSpPr txBox="1">
            <a:spLocks noChangeArrowheads="1"/>
          </p:cNvSpPr>
          <p:nvPr/>
        </p:nvSpPr>
        <p:spPr bwMode="auto">
          <a:xfrm>
            <a:off x="4341813" y="4724400"/>
            <a:ext cx="4629150" cy="51911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800" baseline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/>
                <a:ea typeface="华文新魏" panose="02010800040101010101" pitchFamily="2" charset="-122"/>
              </a:rPr>
              <a:t>“</a:t>
            </a:r>
            <a:r>
              <a:rPr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比喻</a:t>
            </a:r>
            <a:r>
              <a:rPr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/>
                <a:ea typeface="华文新魏" panose="02010800040101010101" pitchFamily="2" charset="-122"/>
              </a:rPr>
              <a:t>”</a:t>
            </a:r>
            <a:r>
              <a:rPr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微观粒子的</a:t>
            </a:r>
            <a:r>
              <a:rPr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/>
                <a:ea typeface="华文新魏" panose="02010800040101010101" pitchFamily="2" charset="-122"/>
              </a:rPr>
              <a:t>“</a:t>
            </a:r>
            <a:r>
              <a:rPr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二象性</a:t>
            </a:r>
            <a:r>
              <a:rPr lang="zh-CN" altLang="en-US" sz="2800" baseline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/>
                <a:ea typeface="华文新魏" panose="02010800040101010101" pitchFamily="2" charset="-122"/>
              </a:rPr>
              <a:t>”</a:t>
            </a:r>
            <a:endParaRPr lang="zh-CN" altLang="en-US" sz="2800" baseline="0"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47563" name="Text Box 11"/>
          <p:cNvSpPr txBox="1">
            <a:spLocks noChangeArrowheads="1"/>
          </p:cNvSpPr>
          <p:nvPr/>
        </p:nvSpPr>
        <p:spPr bwMode="auto">
          <a:xfrm>
            <a:off x="5219700" y="2924175"/>
            <a:ext cx="32670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CC3300"/>
                </a:solidFill>
                <a:ea typeface="华文新魏" panose="02010800040101010101" pitchFamily="2" charset="-122"/>
              </a:rPr>
              <a:t>两种图像不会同时出现在你的视觉中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4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4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4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4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559" grpId="0" bldLvl="0" animBg="1"/>
      <p:bldP spid="1047560" grpId="0" bldLvl="0" animBg="1"/>
      <p:bldP spid="1047562" grpId="0" bldLvl="0" animBg="1"/>
      <p:bldP spid="10475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文本框 670721"/>
          <p:cNvSpPr txBox="1">
            <a:spLocks noChangeArrowheads="1"/>
          </p:cNvSpPr>
          <p:nvPr/>
        </p:nvSpPr>
        <p:spPr bwMode="auto">
          <a:xfrm>
            <a:off x="228600" y="836613"/>
            <a:ext cx="1501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引言：</a:t>
            </a:r>
          </a:p>
        </p:txBody>
      </p:sp>
      <p:sp>
        <p:nvSpPr>
          <p:cNvPr id="670723" name="文本框 670722"/>
          <p:cNvSpPr txBox="1"/>
          <p:nvPr/>
        </p:nvSpPr>
        <p:spPr>
          <a:xfrm>
            <a:off x="539750" y="2022475"/>
            <a:ext cx="7412038" cy="140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由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t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= 0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时 粒子坐标、动量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任意时刻 粒子坐标</a:t>
            </a:r>
            <a:r>
              <a:rPr lang="zh-CN" altLang="en-US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动量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       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粒子的轨迹                     </a:t>
            </a:r>
            <a:endParaRPr lang="zh-CN" altLang="en-US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70724" name="文本框 670723"/>
          <p:cNvSpPr txBox="1"/>
          <p:nvPr/>
        </p:nvSpPr>
        <p:spPr>
          <a:xfrm>
            <a:off x="561975" y="3557588"/>
            <a:ext cx="75565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量子物理：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微观粒子</a:t>
            </a:r>
            <a:endParaRPr lang="zh-CN" altLang="en-US" sz="2800" b="1" baseline="0" noProof="1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70725" name="文本框 670724"/>
          <p:cNvSpPr txBox="1"/>
          <p:nvPr/>
        </p:nvSpPr>
        <p:spPr>
          <a:xfrm>
            <a:off x="561975" y="4335463"/>
            <a:ext cx="753427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     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波动性使微观粒子的坐标和动量（或能量和时间）</a:t>
            </a:r>
          </a:p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不能同时取确定值。</a:t>
            </a:r>
            <a:endParaRPr lang="zh-CN" altLang="en-US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70726" name="文本框 670725"/>
          <p:cNvSpPr txBox="1"/>
          <p:nvPr/>
        </p:nvSpPr>
        <p:spPr>
          <a:xfrm>
            <a:off x="561975" y="5380038"/>
            <a:ext cx="894715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     </a:t>
            </a:r>
            <a:r>
              <a:rPr lang="zh-CN" altLang="en-US" sz="2800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海森伯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W. Heisenberg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  <a:r>
              <a:rPr lang="en-US" altLang="zh-CN" sz="2800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1927</a:t>
            </a:r>
            <a:r>
              <a:rPr lang="zh-CN" altLang="en-US" sz="2800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年由量子力学</a:t>
            </a:r>
          </a:p>
        </p:txBody>
      </p:sp>
      <p:sp>
        <p:nvSpPr>
          <p:cNvPr id="670727" name="矩形 670726"/>
          <p:cNvSpPr/>
          <p:nvPr/>
        </p:nvSpPr>
        <p:spPr>
          <a:xfrm>
            <a:off x="561975" y="5992813"/>
            <a:ext cx="3740150" cy="604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首先提出了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不确定关系</a:t>
            </a:r>
            <a:endParaRPr lang="zh-CN" altLang="en-US" sz="2800" b="1" baseline="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华文新魏" panose="02010800040101010101" pitchFamily="2" charset="-122"/>
            </a:endParaRPr>
          </a:p>
        </p:txBody>
      </p:sp>
      <p:sp>
        <p:nvSpPr>
          <p:cNvPr id="670728" name="矩形 670727"/>
          <p:cNvSpPr/>
          <p:nvPr/>
        </p:nvSpPr>
        <p:spPr>
          <a:xfrm>
            <a:off x="539750" y="1341438"/>
            <a:ext cx="35591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经典物理： 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宏观粒子</a:t>
            </a:r>
            <a:r>
              <a:rPr lang="zh-CN" altLang="en-US" sz="2800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sp>
        <p:nvSpPr>
          <p:cNvPr id="29705" name="矩形 670728"/>
          <p:cNvSpPr>
            <a:spLocks noChangeArrowheads="1"/>
          </p:cNvSpPr>
          <p:nvPr/>
        </p:nvSpPr>
        <p:spPr bwMode="auto">
          <a:xfrm>
            <a:off x="2700338" y="195263"/>
            <a:ext cx="3536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aseline="0" dirty="0">
                <a:solidFill>
                  <a:srgbClr val="CC3300"/>
                </a:solidFill>
                <a:ea typeface="黑体" panose="02010609060101010101" pitchFamily="49" charset="-122"/>
              </a:rPr>
              <a:t>15-6  </a:t>
            </a:r>
            <a:r>
              <a:rPr lang="zh-CN" altLang="en-US" sz="3600" baseline="0" dirty="0">
                <a:solidFill>
                  <a:srgbClr val="CC3300"/>
                </a:solidFill>
                <a:ea typeface="黑体" panose="02010609060101010101" pitchFamily="49" charset="-122"/>
              </a:rPr>
              <a:t>不确定关系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7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7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7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7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7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7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67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7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7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22" grpId="0"/>
      <p:bldP spid="670724" grpId="0"/>
      <p:bldP spid="670725" grpId="0"/>
      <p:bldP spid="670726" grpId="0"/>
      <p:bldP spid="670727" grpId="0"/>
      <p:bldP spid="6707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4298" name="对象 524297"/>
          <p:cNvGraphicFramePr/>
          <p:nvPr/>
        </p:nvGraphicFramePr>
        <p:xfrm>
          <a:off x="4113213" y="1198563"/>
          <a:ext cx="23876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9" r:id="rId3" imgW="786765" imgH="393700" progId="Equation.3">
                  <p:embed/>
                </p:oleObj>
              </mc:Choice>
              <mc:Fallback>
                <p:oleObj r:id="rId3" imgW="786765" imgH="393700" progId="Equation.3">
                  <p:embed/>
                  <p:pic>
                    <p:nvPicPr>
                      <p:cNvPr id="0" name="对象 52429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213" y="1198563"/>
                        <a:ext cx="2387600" cy="93821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chemeClr val="bg1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</a:grad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299" name="对象 524298"/>
          <p:cNvGraphicFramePr/>
          <p:nvPr/>
        </p:nvGraphicFramePr>
        <p:xfrm>
          <a:off x="4079875" y="3716338"/>
          <a:ext cx="2474913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0" r:id="rId5" imgW="748665" imgH="405765" progId="Equation.3">
                  <p:embed/>
                </p:oleObj>
              </mc:Choice>
              <mc:Fallback>
                <p:oleObj r:id="rId5" imgW="748665" imgH="405765" progId="Equation.3">
                  <p:embed/>
                  <p:pic>
                    <p:nvPicPr>
                      <p:cNvPr id="0" name="对象 52429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3716338"/>
                        <a:ext cx="2474913" cy="94138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chemeClr val="bg1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</a:grad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文本框 524299"/>
          <p:cNvSpPr txBox="1">
            <a:spLocks noChangeArrowheads="1"/>
          </p:cNvSpPr>
          <p:nvPr/>
        </p:nvSpPr>
        <p:spPr bwMode="auto">
          <a:xfrm>
            <a:off x="1557338" y="3946525"/>
            <a:ext cx="1973262" cy="576263"/>
          </a:xfrm>
          <a:prstGeom prst="rect">
            <a:avLst/>
          </a:prstGeom>
          <a:noFill/>
          <a:ln w="57150">
            <a:pattFill prst="plaid">
              <a:fgClr>
                <a:srgbClr val="0099CC"/>
              </a:fgClr>
              <a:bgClr>
                <a:schemeClr val="tx2"/>
              </a:bgClr>
            </a:patt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另有关系</a:t>
            </a:r>
          </a:p>
        </p:txBody>
      </p:sp>
      <p:sp>
        <p:nvSpPr>
          <p:cNvPr id="524301" name="矩形 524300"/>
          <p:cNvSpPr/>
          <p:nvPr/>
        </p:nvSpPr>
        <p:spPr>
          <a:xfrm>
            <a:off x="1403350" y="2390775"/>
            <a:ext cx="70231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式子说明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微观粒子的坐标 与该方向上的动量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不能同时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确定</a:t>
            </a:r>
          </a:p>
        </p:txBody>
      </p:sp>
      <p:sp>
        <p:nvSpPr>
          <p:cNvPr id="30725" name="矩形 524301"/>
          <p:cNvSpPr>
            <a:spLocks noChangeArrowheads="1"/>
          </p:cNvSpPr>
          <p:nvPr/>
        </p:nvSpPr>
        <p:spPr bwMode="auto">
          <a:xfrm>
            <a:off x="1549400" y="1346200"/>
            <a:ext cx="2019300" cy="576263"/>
          </a:xfrm>
          <a:prstGeom prst="rect">
            <a:avLst/>
          </a:prstGeom>
          <a:noFill/>
          <a:ln w="57150">
            <a:pattFill prst="plaid">
              <a:fgClr>
                <a:srgbClr val="0099CC"/>
              </a:fgClr>
              <a:bgClr>
                <a:schemeClr val="tx2"/>
              </a:bgClr>
            </a:patt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不确定关系</a:t>
            </a:r>
          </a:p>
        </p:txBody>
      </p:sp>
      <p:sp>
        <p:nvSpPr>
          <p:cNvPr id="524303" name="文本框 524302"/>
          <p:cNvSpPr txBox="1"/>
          <p:nvPr/>
        </p:nvSpPr>
        <p:spPr>
          <a:xfrm>
            <a:off x="395288" y="260350"/>
            <a:ext cx="54673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</a:rPr>
              <a:t>一、不确定关系的表述和含义</a:t>
            </a:r>
          </a:p>
        </p:txBody>
      </p:sp>
      <p:grpSp>
        <p:nvGrpSpPr>
          <p:cNvPr id="524306" name="组合 524305"/>
          <p:cNvGrpSpPr/>
          <p:nvPr/>
        </p:nvGrpSpPr>
        <p:grpSpPr bwMode="auto">
          <a:xfrm>
            <a:off x="1560513" y="5835650"/>
            <a:ext cx="6253162" cy="762000"/>
            <a:chOff x="568" y="3798"/>
            <a:chExt cx="3939" cy="480"/>
          </a:xfrm>
        </p:grpSpPr>
        <p:sp>
          <p:nvSpPr>
            <p:cNvPr id="30728" name="矩形 524306"/>
            <p:cNvSpPr>
              <a:spLocks noChangeArrowheads="1"/>
            </p:cNvSpPr>
            <p:nvPr/>
          </p:nvSpPr>
          <p:spPr bwMode="auto">
            <a:xfrm>
              <a:off x="568" y="3798"/>
              <a:ext cx="3939" cy="480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bg1"/>
                </a:gs>
                <a:gs pos="100000">
                  <a:srgbClr val="CCFFFF"/>
                </a:gs>
              </a:gsLst>
              <a:lin ang="5400000" scaled="1"/>
            </a:gradFill>
            <a:ln w="19050">
              <a:solidFill>
                <a:srgbClr val="0099CC"/>
              </a:solidFill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0731" name="文本框 524307"/>
            <p:cNvSpPr txBox="1">
              <a:spLocks noChangeArrowheads="1"/>
            </p:cNvSpPr>
            <p:nvPr/>
          </p:nvSpPr>
          <p:spPr bwMode="auto">
            <a:xfrm>
              <a:off x="649" y="3909"/>
              <a:ext cx="29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0">
                  <a:solidFill>
                    <a:schemeClr val="tx2"/>
                  </a:solidFill>
                  <a:latin typeface="华文楷体" panose="02010600040101010101" pitchFamily="2" charset="-122"/>
                  <a:ea typeface="黑体" panose="02010609060101010101" pitchFamily="49" charset="-122"/>
                </a:rPr>
                <a:t>一对共轭物理量的不确定量的乘积</a:t>
              </a:r>
            </a:p>
          </p:txBody>
        </p:sp>
        <p:graphicFrame>
          <p:nvGraphicFramePr>
            <p:cNvPr id="30732" name="对象 524308"/>
            <p:cNvGraphicFramePr/>
            <p:nvPr/>
          </p:nvGraphicFramePr>
          <p:xfrm>
            <a:off x="3667" y="3918"/>
            <a:ext cx="68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1" r:id="rId7" imgW="445770" imgH="178435" progId="Equation.3">
                    <p:embed/>
                  </p:oleObj>
                </mc:Choice>
                <mc:Fallback>
                  <p:oleObj r:id="rId7" imgW="445770" imgH="178435" progId="Equation.3">
                    <p:embed/>
                    <p:pic>
                      <p:nvPicPr>
                        <p:cNvPr id="0" name="对象 52430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7" y="3918"/>
                          <a:ext cx="685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4310" name="文本框 524309"/>
          <p:cNvSpPr txBox="1"/>
          <p:nvPr/>
        </p:nvSpPr>
        <p:spPr>
          <a:xfrm>
            <a:off x="1547813" y="5013325"/>
            <a:ext cx="845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存在不确定关系的一对物理量称为共轭物理量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2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2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2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nimBg="1"/>
      <p:bldP spid="524301" grpId="0"/>
      <p:bldP spid="30725" grpId="0" animBg="1"/>
      <p:bldP spid="5243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文本框 674817"/>
          <p:cNvSpPr txBox="1"/>
          <p:nvPr/>
        </p:nvSpPr>
        <p:spPr>
          <a:xfrm>
            <a:off x="350838" y="4437063"/>
            <a:ext cx="6978650" cy="140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方向的动量取值范围？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假设电子均打在中央亮区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电子进来往哪走？</a:t>
            </a:r>
          </a:p>
        </p:txBody>
      </p:sp>
      <p:grpSp>
        <p:nvGrpSpPr>
          <p:cNvPr id="674819" name="组合 674818"/>
          <p:cNvGrpSpPr/>
          <p:nvPr/>
        </p:nvGrpSpPr>
        <p:grpSpPr bwMode="auto">
          <a:xfrm>
            <a:off x="107950" y="1125538"/>
            <a:ext cx="4451350" cy="1173162"/>
            <a:chOff x="68" y="852"/>
            <a:chExt cx="2804" cy="739"/>
          </a:xfrm>
        </p:grpSpPr>
        <p:sp>
          <p:nvSpPr>
            <p:cNvPr id="674820" name="文本框 674819"/>
            <p:cNvSpPr txBox="1"/>
            <p:nvPr/>
          </p:nvSpPr>
          <p:spPr>
            <a:xfrm>
              <a:off x="2352" y="990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极大</a:t>
              </a:r>
            </a:p>
          </p:txBody>
        </p:sp>
        <p:sp>
          <p:nvSpPr>
            <p:cNvPr id="674821" name="文本框 674820"/>
            <p:cNvSpPr txBox="1"/>
            <p:nvPr/>
          </p:nvSpPr>
          <p:spPr>
            <a:xfrm>
              <a:off x="2370" y="1303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极小</a:t>
              </a:r>
            </a:p>
          </p:txBody>
        </p:sp>
        <p:graphicFrame>
          <p:nvGraphicFramePr>
            <p:cNvPr id="31795" name="对象 674821"/>
            <p:cNvGraphicFramePr/>
            <p:nvPr/>
          </p:nvGraphicFramePr>
          <p:xfrm>
            <a:off x="366" y="852"/>
            <a:ext cx="1888" cy="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7" r:id="rId3" imgW="1337945" imgH="423545" progId="Equation.3">
                    <p:embed/>
                  </p:oleObj>
                </mc:Choice>
                <mc:Fallback>
                  <p:oleObj r:id="rId3" imgW="1337945" imgH="423545" progId="Equation.3">
                    <p:embed/>
                    <p:pic>
                      <p:nvPicPr>
                        <p:cNvPr id="0" name="对象 6748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" y="852"/>
                          <a:ext cx="1888" cy="5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96" name="对象 674822"/>
            <p:cNvGraphicFramePr/>
            <p:nvPr/>
          </p:nvGraphicFramePr>
          <p:xfrm>
            <a:off x="366" y="1299"/>
            <a:ext cx="128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8" r:id="rId5" imgW="847725" imgH="178435" progId="Equation.3">
                    <p:embed/>
                  </p:oleObj>
                </mc:Choice>
                <mc:Fallback>
                  <p:oleObj r:id="rId5" imgW="847725" imgH="178435" progId="Equation.3">
                    <p:embed/>
                    <p:pic>
                      <p:nvPicPr>
                        <p:cNvPr id="0" name="对象 6748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" y="1299"/>
                          <a:ext cx="1289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7" name="文本框 674823"/>
            <p:cNvSpPr txBox="1">
              <a:spLocks noChangeArrowheads="1"/>
            </p:cNvSpPr>
            <p:nvPr/>
          </p:nvSpPr>
          <p:spPr bwMode="auto">
            <a:xfrm>
              <a:off x="68" y="951"/>
              <a:ext cx="286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6000" baseline="0">
                  <a:latin typeface="黑体" panose="02010609060101010101" pitchFamily="49" charset="-122"/>
                  <a:ea typeface="黑体" panose="02010609060101010101" pitchFamily="49" charset="-122"/>
                </a:rPr>
                <a:t>{</a:t>
              </a:r>
            </a:p>
          </p:txBody>
        </p:sp>
      </p:grpSp>
      <p:sp>
        <p:nvSpPr>
          <p:cNvPr id="674825" name="文本框 674824"/>
          <p:cNvSpPr txBox="1"/>
          <p:nvPr/>
        </p:nvSpPr>
        <p:spPr>
          <a:xfrm>
            <a:off x="336550" y="2349500"/>
            <a:ext cx="5976938" cy="140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电子在单缝的何处通过是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不确定的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!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只知是在宽为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a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的的缝中通过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674826" name="组合 674825"/>
          <p:cNvGrpSpPr/>
          <p:nvPr/>
        </p:nvGrpSpPr>
        <p:grpSpPr bwMode="auto">
          <a:xfrm>
            <a:off x="323850" y="3860800"/>
            <a:ext cx="5584825" cy="609600"/>
            <a:chOff x="198" y="3119"/>
            <a:chExt cx="3518" cy="384"/>
          </a:xfrm>
        </p:grpSpPr>
        <p:sp>
          <p:nvSpPr>
            <p:cNvPr id="31790" name="矩形 674826"/>
            <p:cNvSpPr>
              <a:spLocks noChangeArrowheads="1"/>
            </p:cNvSpPr>
            <p:nvPr/>
          </p:nvSpPr>
          <p:spPr bwMode="auto">
            <a:xfrm>
              <a:off x="198" y="3119"/>
              <a:ext cx="3518" cy="384"/>
            </a:xfrm>
            <a:prstGeom prst="rect">
              <a:avLst/>
            </a:prstGeom>
            <a:noFill/>
            <a:ln w="19050">
              <a:solidFill>
                <a:srgbClr val="0033CC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31791" name="文本框 674827"/>
            <p:cNvSpPr txBox="1">
              <a:spLocks noChangeArrowheads="1"/>
            </p:cNvSpPr>
            <p:nvPr/>
          </p:nvSpPr>
          <p:spPr bwMode="auto">
            <a:xfrm>
              <a:off x="198" y="3189"/>
              <a:ext cx="29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0">
                  <a:solidFill>
                    <a:srgbClr val="CC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电子在单缝处的 位置不确定量为</a:t>
              </a:r>
            </a:p>
          </p:txBody>
        </p:sp>
        <p:graphicFrame>
          <p:nvGraphicFramePr>
            <p:cNvPr id="31792" name="对象 674828"/>
            <p:cNvGraphicFramePr/>
            <p:nvPr/>
          </p:nvGraphicFramePr>
          <p:xfrm>
            <a:off x="3140" y="3194"/>
            <a:ext cx="475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9" r:id="rId7" imgW="490855" imgH="178435" progId="Equation.3">
                    <p:embed/>
                  </p:oleObj>
                </mc:Choice>
                <mc:Fallback>
                  <p:oleObj r:id="rId7" imgW="490855" imgH="178435" progId="Equation.3">
                    <p:embed/>
                    <p:pic>
                      <p:nvPicPr>
                        <p:cNvPr id="0" name="对象 6748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0" y="3194"/>
                          <a:ext cx="475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4830" name="文本框 674829"/>
          <p:cNvSpPr txBox="1"/>
          <p:nvPr/>
        </p:nvSpPr>
        <p:spPr>
          <a:xfrm>
            <a:off x="395288" y="-39688"/>
            <a:ext cx="7151687" cy="106680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</a:rPr>
              <a:t>二、坐标和动量不确定关系的简单推导</a:t>
            </a:r>
          </a:p>
          <a:p>
            <a:pPr eaLnBrk="1" hangingPunct="1">
              <a:defRPr/>
            </a:pPr>
            <a:r>
              <a:rPr lang="zh-CN" altLang="en-US" sz="32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</a:rPr>
              <a:t>      </a:t>
            </a:r>
            <a:r>
              <a:rPr lang="en-US" altLang="zh-CN" sz="28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</a:rPr>
              <a:t>----</a:t>
            </a:r>
            <a:r>
              <a:rPr lang="zh-CN" altLang="en-US" sz="28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</a:rPr>
              <a:t>电子的单缝衍射</a:t>
            </a:r>
            <a:endParaRPr lang="zh-CN" altLang="en-US" sz="2800" baseline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grpSp>
        <p:nvGrpSpPr>
          <p:cNvPr id="674831" name="组合 674830"/>
          <p:cNvGrpSpPr/>
          <p:nvPr/>
        </p:nvGrpSpPr>
        <p:grpSpPr bwMode="auto">
          <a:xfrm>
            <a:off x="4643438" y="620713"/>
            <a:ext cx="4935537" cy="3224212"/>
            <a:chOff x="2925" y="391"/>
            <a:chExt cx="3109" cy="2031"/>
          </a:xfrm>
        </p:grpSpPr>
        <p:sp>
          <p:nvSpPr>
            <p:cNvPr id="31757" name="矩形 674831"/>
            <p:cNvSpPr>
              <a:spLocks noChangeArrowheads="1"/>
            </p:cNvSpPr>
            <p:nvPr/>
          </p:nvSpPr>
          <p:spPr bwMode="auto">
            <a:xfrm>
              <a:off x="2965" y="406"/>
              <a:ext cx="2744" cy="1996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pSp>
          <p:nvGrpSpPr>
            <p:cNvPr id="31758" name="组合 674832"/>
            <p:cNvGrpSpPr/>
            <p:nvPr/>
          </p:nvGrpSpPr>
          <p:grpSpPr bwMode="auto">
            <a:xfrm>
              <a:off x="2925" y="391"/>
              <a:ext cx="3109" cy="2031"/>
              <a:chOff x="2976" y="1135"/>
              <a:chExt cx="3109" cy="2031"/>
            </a:xfrm>
          </p:grpSpPr>
          <p:sp>
            <p:nvSpPr>
              <p:cNvPr id="31759" name="文本框 674833"/>
              <p:cNvSpPr txBox="1">
                <a:spLocks noChangeArrowheads="1"/>
              </p:cNvSpPr>
              <p:nvPr/>
            </p:nvSpPr>
            <p:spPr bwMode="auto">
              <a:xfrm>
                <a:off x="2976" y="2167"/>
                <a:ext cx="1002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baseline="0">
                    <a:ea typeface="楷体_GB2312" pitchFamily="49" charset="-122"/>
                  </a:rPr>
                  <a:t>电子束</a:t>
                </a:r>
              </a:p>
            </p:txBody>
          </p:sp>
          <p:sp>
            <p:nvSpPr>
              <p:cNvPr id="31760" name="直接连接符 674834"/>
              <p:cNvSpPr>
                <a:spLocks noChangeShapeType="1"/>
              </p:cNvSpPr>
              <p:nvPr/>
            </p:nvSpPr>
            <p:spPr bwMode="auto">
              <a:xfrm>
                <a:off x="3642" y="1288"/>
                <a:ext cx="0" cy="66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1" name="直接连接符 674835"/>
              <p:cNvSpPr>
                <a:spLocks noChangeShapeType="1"/>
              </p:cNvSpPr>
              <p:nvPr/>
            </p:nvSpPr>
            <p:spPr bwMode="auto">
              <a:xfrm flipH="1">
                <a:off x="3642" y="2175"/>
                <a:ext cx="0" cy="7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2" name="直接连接符 674836"/>
              <p:cNvSpPr>
                <a:spLocks noChangeShapeType="1"/>
              </p:cNvSpPr>
              <p:nvPr/>
            </p:nvSpPr>
            <p:spPr bwMode="auto">
              <a:xfrm>
                <a:off x="3233" y="2159"/>
                <a:ext cx="37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3" name="直接连接符 674837"/>
              <p:cNvSpPr>
                <a:spLocks noChangeShapeType="1"/>
              </p:cNvSpPr>
              <p:nvPr/>
            </p:nvSpPr>
            <p:spPr bwMode="auto">
              <a:xfrm>
                <a:off x="3233" y="1943"/>
                <a:ext cx="37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4" name="直接连接符 674838"/>
              <p:cNvSpPr>
                <a:spLocks noChangeShapeType="1"/>
              </p:cNvSpPr>
              <p:nvPr/>
            </p:nvSpPr>
            <p:spPr bwMode="auto">
              <a:xfrm>
                <a:off x="3619" y="2062"/>
                <a:ext cx="86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5" name="直接连接符 674839"/>
              <p:cNvSpPr>
                <a:spLocks noChangeShapeType="1"/>
              </p:cNvSpPr>
              <p:nvPr/>
            </p:nvSpPr>
            <p:spPr bwMode="auto">
              <a:xfrm>
                <a:off x="4482" y="1288"/>
                <a:ext cx="0" cy="16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6" name="任意多边形 674840"/>
              <p:cNvSpPr>
                <a:spLocks noChangeArrowheads="1"/>
              </p:cNvSpPr>
              <p:nvPr/>
            </p:nvSpPr>
            <p:spPr bwMode="auto">
              <a:xfrm>
                <a:off x="4482" y="1750"/>
                <a:ext cx="588" cy="618"/>
              </a:xfrm>
              <a:custGeom>
                <a:avLst/>
                <a:gdLst>
                  <a:gd name="T0" fmla="*/ 0 w 1575"/>
                  <a:gd name="T1" fmla="*/ 0 h 1245"/>
                  <a:gd name="T2" fmla="*/ 82 w 1575"/>
                  <a:gd name="T3" fmla="*/ 77 h 1245"/>
                  <a:gd name="T4" fmla="*/ 0 w 1575"/>
                  <a:gd name="T5" fmla="*/ 152 h 12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75" h="1245">
                    <a:moveTo>
                      <a:pt x="0" y="0"/>
                    </a:moveTo>
                    <a:cubicBezTo>
                      <a:pt x="787" y="211"/>
                      <a:pt x="1575" y="423"/>
                      <a:pt x="1575" y="630"/>
                    </a:cubicBezTo>
                    <a:cubicBezTo>
                      <a:pt x="1575" y="837"/>
                      <a:pt x="262" y="1143"/>
                      <a:pt x="0" y="1245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7" name="任意多边形 674841"/>
              <p:cNvSpPr>
                <a:spLocks noChangeArrowheads="1"/>
              </p:cNvSpPr>
              <p:nvPr/>
            </p:nvSpPr>
            <p:spPr bwMode="auto">
              <a:xfrm>
                <a:off x="4476" y="1437"/>
                <a:ext cx="96" cy="305"/>
              </a:xfrm>
              <a:custGeom>
                <a:avLst/>
                <a:gdLst>
                  <a:gd name="T0" fmla="*/ 0 w 195"/>
                  <a:gd name="T1" fmla="*/ 0 h 615"/>
                  <a:gd name="T2" fmla="*/ 23 w 195"/>
                  <a:gd name="T3" fmla="*/ 40 h 615"/>
                  <a:gd name="T4" fmla="*/ 0 w 195"/>
                  <a:gd name="T5" fmla="*/ 75 h 6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5" h="615">
                    <a:moveTo>
                      <a:pt x="0" y="0"/>
                    </a:moveTo>
                    <a:cubicBezTo>
                      <a:pt x="97" y="114"/>
                      <a:pt x="195" y="228"/>
                      <a:pt x="195" y="330"/>
                    </a:cubicBezTo>
                    <a:cubicBezTo>
                      <a:pt x="195" y="432"/>
                      <a:pt x="33" y="568"/>
                      <a:pt x="0" y="615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8" name="任意多边形 674842"/>
              <p:cNvSpPr>
                <a:spLocks noChangeArrowheads="1"/>
              </p:cNvSpPr>
              <p:nvPr/>
            </p:nvSpPr>
            <p:spPr bwMode="auto">
              <a:xfrm>
                <a:off x="4481" y="2379"/>
                <a:ext cx="96" cy="305"/>
              </a:xfrm>
              <a:custGeom>
                <a:avLst/>
                <a:gdLst>
                  <a:gd name="T0" fmla="*/ 0 w 195"/>
                  <a:gd name="T1" fmla="*/ 0 h 615"/>
                  <a:gd name="T2" fmla="*/ 23 w 195"/>
                  <a:gd name="T3" fmla="*/ 40 h 615"/>
                  <a:gd name="T4" fmla="*/ 0 w 195"/>
                  <a:gd name="T5" fmla="*/ 75 h 6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5" h="615">
                    <a:moveTo>
                      <a:pt x="0" y="0"/>
                    </a:moveTo>
                    <a:cubicBezTo>
                      <a:pt x="97" y="114"/>
                      <a:pt x="195" y="228"/>
                      <a:pt x="195" y="330"/>
                    </a:cubicBezTo>
                    <a:cubicBezTo>
                      <a:pt x="195" y="432"/>
                      <a:pt x="33" y="568"/>
                      <a:pt x="0" y="615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9" name="直接连接符 674843"/>
              <p:cNvSpPr>
                <a:spLocks noChangeShapeType="1"/>
              </p:cNvSpPr>
              <p:nvPr/>
            </p:nvSpPr>
            <p:spPr bwMode="auto">
              <a:xfrm flipV="1">
                <a:off x="3636" y="1742"/>
                <a:ext cx="846" cy="30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0" name="直接连接符 674844"/>
              <p:cNvSpPr>
                <a:spLocks noChangeShapeType="1"/>
              </p:cNvSpPr>
              <p:nvPr/>
            </p:nvSpPr>
            <p:spPr bwMode="auto">
              <a:xfrm>
                <a:off x="4460" y="2062"/>
                <a:ext cx="90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1" name="任意多边形 674845"/>
              <p:cNvSpPr>
                <a:spLocks noChangeArrowheads="1"/>
              </p:cNvSpPr>
              <p:nvPr/>
            </p:nvSpPr>
            <p:spPr bwMode="auto">
              <a:xfrm>
                <a:off x="3987" y="1936"/>
                <a:ext cx="26" cy="134"/>
              </a:xfrm>
              <a:custGeom>
                <a:avLst/>
                <a:gdLst>
                  <a:gd name="T0" fmla="*/ 0 w 70"/>
                  <a:gd name="T1" fmla="*/ 0 h 270"/>
                  <a:gd name="T2" fmla="*/ 3 w 70"/>
                  <a:gd name="T3" fmla="*/ 16 h 270"/>
                  <a:gd name="T4" fmla="*/ 3 w 70"/>
                  <a:gd name="T5" fmla="*/ 33 h 2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0" h="270">
                    <a:moveTo>
                      <a:pt x="0" y="0"/>
                    </a:moveTo>
                    <a:cubicBezTo>
                      <a:pt x="25" y="45"/>
                      <a:pt x="50" y="90"/>
                      <a:pt x="60" y="135"/>
                    </a:cubicBezTo>
                    <a:cubicBezTo>
                      <a:pt x="70" y="180"/>
                      <a:pt x="65" y="225"/>
                      <a:pt x="60" y="270"/>
                    </a:cubicBezTo>
                  </a:path>
                </a:pathLst>
              </a:custGeom>
              <a:noFill/>
              <a:ln w="28575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2" name="文本框 674846"/>
              <p:cNvSpPr txBox="1">
                <a:spLocks noChangeArrowheads="1"/>
              </p:cNvSpPr>
              <p:nvPr/>
            </p:nvSpPr>
            <p:spPr bwMode="auto">
              <a:xfrm>
                <a:off x="4057" y="1789"/>
                <a:ext cx="726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>
                    <a:latin typeface="宋体" panose="02010600030101010101" pitchFamily="2" charset="-122"/>
                    <a:sym typeface="Symbol" panose="05050102010706020507" pitchFamily="18" charset="2"/>
                  </a:rPr>
                  <a:t></a:t>
                </a:r>
                <a:r>
                  <a:rPr lang="en-US" altLang="zh-CN" sz="2400" b="1" baseline="-25000">
                    <a:latin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sz="2400" b="1" i="1" baseline="0"/>
              </a:p>
            </p:txBody>
          </p:sp>
          <p:sp>
            <p:nvSpPr>
              <p:cNvPr id="31773" name="文本框 674847"/>
              <p:cNvSpPr txBox="1">
                <a:spLocks noChangeArrowheads="1"/>
              </p:cNvSpPr>
              <p:nvPr/>
            </p:nvSpPr>
            <p:spPr bwMode="auto">
              <a:xfrm>
                <a:off x="3711" y="2581"/>
                <a:ext cx="645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>
                    <a:latin typeface="宋体" panose="02010600030101010101" pitchFamily="2" charset="-122"/>
                    <a:sym typeface="Symbol" panose="05050102010706020507" pitchFamily="18" charset="2"/>
                  </a:rPr>
                  <a:t></a:t>
                </a:r>
                <a:r>
                  <a:rPr lang="en-US" altLang="zh-CN" sz="2400" b="1" baseline="-25000">
                    <a:latin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sz="2400" b="1" i="1" baseline="0"/>
              </a:p>
            </p:txBody>
          </p:sp>
          <p:sp>
            <p:nvSpPr>
              <p:cNvPr id="31774" name="直接连接符 674848"/>
              <p:cNvSpPr>
                <a:spLocks noChangeShapeType="1"/>
              </p:cNvSpPr>
              <p:nvPr/>
            </p:nvSpPr>
            <p:spPr bwMode="auto">
              <a:xfrm>
                <a:off x="3667" y="2633"/>
                <a:ext cx="46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5" name="直接连接符 674849"/>
              <p:cNvSpPr>
                <a:spLocks noChangeShapeType="1"/>
              </p:cNvSpPr>
              <p:nvPr/>
            </p:nvSpPr>
            <p:spPr bwMode="auto">
              <a:xfrm flipV="1">
                <a:off x="3650" y="2463"/>
                <a:ext cx="482" cy="17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6" name="直接连接符 674850"/>
              <p:cNvSpPr>
                <a:spLocks noChangeShapeType="1"/>
              </p:cNvSpPr>
              <p:nvPr/>
            </p:nvSpPr>
            <p:spPr bwMode="auto">
              <a:xfrm flipV="1">
                <a:off x="4132" y="2455"/>
                <a:ext cx="0" cy="17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7" name="任意多边形 674851"/>
              <p:cNvSpPr>
                <a:spLocks noChangeArrowheads="1"/>
              </p:cNvSpPr>
              <p:nvPr/>
            </p:nvSpPr>
            <p:spPr bwMode="auto">
              <a:xfrm>
                <a:off x="3880" y="2545"/>
                <a:ext cx="13" cy="88"/>
              </a:xfrm>
              <a:custGeom>
                <a:avLst/>
                <a:gdLst>
                  <a:gd name="T0" fmla="*/ 0 w 35"/>
                  <a:gd name="T1" fmla="*/ 0 h 180"/>
                  <a:gd name="T2" fmla="*/ 1 w 35"/>
                  <a:gd name="T3" fmla="*/ 11 h 180"/>
                  <a:gd name="T4" fmla="*/ 1 w 35"/>
                  <a:gd name="T5" fmla="*/ 21 h 1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180">
                    <a:moveTo>
                      <a:pt x="0" y="0"/>
                    </a:moveTo>
                    <a:cubicBezTo>
                      <a:pt x="12" y="30"/>
                      <a:pt x="25" y="60"/>
                      <a:pt x="30" y="90"/>
                    </a:cubicBezTo>
                    <a:cubicBezTo>
                      <a:pt x="35" y="120"/>
                      <a:pt x="32" y="150"/>
                      <a:pt x="30" y="180"/>
                    </a:cubicBezTo>
                  </a:path>
                </a:pathLst>
              </a:custGeom>
              <a:noFill/>
              <a:ln w="28575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8" name="文本框 674852"/>
              <p:cNvSpPr txBox="1">
                <a:spLocks noChangeArrowheads="1"/>
              </p:cNvSpPr>
              <p:nvPr/>
            </p:nvSpPr>
            <p:spPr bwMode="auto">
              <a:xfrm>
                <a:off x="3717" y="2309"/>
                <a:ext cx="280" cy="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>
                    <a:solidFill>
                      <a:srgbClr val="0000FF"/>
                    </a:solidFill>
                  </a:rPr>
                  <a:t>p</a:t>
                </a:r>
              </a:p>
            </p:txBody>
          </p:sp>
          <p:sp>
            <p:nvSpPr>
              <p:cNvPr id="31779" name="直接连接符 674853"/>
              <p:cNvSpPr>
                <a:spLocks noChangeShapeType="1"/>
              </p:cNvSpPr>
              <p:nvPr/>
            </p:nvSpPr>
            <p:spPr bwMode="auto">
              <a:xfrm>
                <a:off x="3763" y="2385"/>
                <a:ext cx="152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80" name="文本框 674854"/>
              <p:cNvSpPr txBox="1">
                <a:spLocks noChangeArrowheads="1"/>
              </p:cNvSpPr>
              <p:nvPr/>
            </p:nvSpPr>
            <p:spPr bwMode="auto">
              <a:xfrm>
                <a:off x="4157" y="2425"/>
                <a:ext cx="542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/>
                  <a:t>p</a:t>
                </a:r>
                <a:r>
                  <a:rPr lang="en-US" altLang="zh-CN" sz="2400" b="1" i="1" baseline="-25000"/>
                  <a:t>x</a:t>
                </a:r>
                <a:endParaRPr lang="en-US" altLang="zh-CN" sz="2400" b="1" baseline="0"/>
              </a:p>
            </p:txBody>
          </p:sp>
          <p:sp>
            <p:nvSpPr>
              <p:cNvPr id="31781" name="文本框 674855"/>
              <p:cNvSpPr txBox="1">
                <a:spLocks noChangeArrowheads="1"/>
              </p:cNvSpPr>
              <p:nvPr/>
            </p:nvSpPr>
            <p:spPr bwMode="auto">
              <a:xfrm>
                <a:off x="3631" y="1988"/>
                <a:ext cx="213" cy="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/>
                  <a:t>a</a:t>
                </a:r>
              </a:p>
            </p:txBody>
          </p:sp>
          <p:sp>
            <p:nvSpPr>
              <p:cNvPr id="31782" name="直接连接符 674856"/>
              <p:cNvSpPr>
                <a:spLocks noChangeShapeType="1"/>
              </p:cNvSpPr>
              <p:nvPr/>
            </p:nvSpPr>
            <p:spPr bwMode="auto">
              <a:xfrm flipV="1">
                <a:off x="3727" y="1264"/>
                <a:ext cx="0" cy="3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83" name="文本框 674857"/>
              <p:cNvSpPr txBox="1">
                <a:spLocks noChangeArrowheads="1"/>
              </p:cNvSpPr>
              <p:nvPr/>
            </p:nvSpPr>
            <p:spPr bwMode="auto">
              <a:xfrm>
                <a:off x="3776" y="1135"/>
                <a:ext cx="294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/>
                  <a:t>x</a:t>
                </a:r>
              </a:p>
            </p:txBody>
          </p:sp>
          <p:graphicFrame>
            <p:nvGraphicFramePr>
              <p:cNvPr id="31784" name="对象 674858"/>
              <p:cNvGraphicFramePr/>
              <p:nvPr/>
            </p:nvGraphicFramePr>
            <p:xfrm>
              <a:off x="3099" y="1427"/>
              <a:ext cx="492" cy="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10" r:id="rId9" imgW="869950" imgH="892175" progId="Equation.3">
                      <p:embed/>
                    </p:oleObj>
                  </mc:Choice>
                  <mc:Fallback>
                    <p:oleObj r:id="rId9" imgW="869950" imgH="892175" progId="Equation.3">
                      <p:embed/>
                      <p:pic>
                        <p:nvPicPr>
                          <p:cNvPr id="0" name="对象 67485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9" y="1427"/>
                            <a:ext cx="492" cy="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86" name="直接连接符 674860"/>
              <p:cNvSpPr>
                <a:spLocks noChangeShapeType="1"/>
              </p:cNvSpPr>
              <p:nvPr/>
            </p:nvSpPr>
            <p:spPr bwMode="auto">
              <a:xfrm>
                <a:off x="3233" y="2051"/>
                <a:ext cx="37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1787" name="组合 674861"/>
              <p:cNvGrpSpPr/>
              <p:nvPr/>
            </p:nvGrpSpPr>
            <p:grpSpPr bwMode="auto">
              <a:xfrm>
                <a:off x="3725" y="2867"/>
                <a:ext cx="2360" cy="299"/>
                <a:chOff x="2903" y="3453"/>
                <a:chExt cx="2360" cy="299"/>
              </a:xfrm>
            </p:grpSpPr>
            <p:graphicFrame>
              <p:nvGraphicFramePr>
                <p:cNvPr id="31788" name="对象 674862"/>
                <p:cNvGraphicFramePr/>
                <p:nvPr/>
              </p:nvGraphicFramePr>
              <p:xfrm>
                <a:off x="2903" y="3459"/>
                <a:ext cx="260" cy="29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911" r:id="rId11" imgW="144780" imgH="222885" progId="Equation.3">
                        <p:embed/>
                      </p:oleObj>
                    </mc:Choice>
                    <mc:Fallback>
                      <p:oleObj r:id="rId11" imgW="144780" imgH="222885" progId="Equation.3">
                        <p:embed/>
                        <p:pic>
                          <p:nvPicPr>
                            <p:cNvPr id="0" name="对象 674862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03" y="3459"/>
                              <a:ext cx="260" cy="29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1789" name="文本框 674863"/>
                <p:cNvSpPr txBox="1">
                  <a:spLocks noChangeArrowheads="1"/>
                </p:cNvSpPr>
                <p:nvPr/>
              </p:nvSpPr>
              <p:spPr bwMode="auto">
                <a:xfrm>
                  <a:off x="3101" y="3453"/>
                  <a:ext cx="216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 baseline="0">
                      <a:latin typeface="楷体_GB2312" pitchFamily="49" charset="-122"/>
                      <a:ea typeface="楷体_GB2312" pitchFamily="49" charset="-122"/>
                    </a:rPr>
                    <a:t>为一级暗纹的衍射角</a:t>
                  </a:r>
                </a:p>
              </p:txBody>
            </p:sp>
          </p:grpSp>
        </p:grpSp>
      </p:grpSp>
      <p:graphicFrame>
        <p:nvGraphicFramePr>
          <p:cNvPr id="674865" name="对象 674864"/>
          <p:cNvGraphicFramePr/>
          <p:nvPr/>
        </p:nvGraphicFramePr>
        <p:xfrm>
          <a:off x="2230438" y="5865813"/>
          <a:ext cx="118903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2" r:id="rId13" imgW="468630" imgH="234315" progId="Equation.3">
                  <p:embed/>
                </p:oleObj>
              </mc:Choice>
              <mc:Fallback>
                <p:oleObj r:id="rId13" imgW="468630" imgH="234315" progId="Equation.3">
                  <p:embed/>
                  <p:pic>
                    <p:nvPicPr>
                      <p:cNvPr id="0" name="对象 674864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5865813"/>
                        <a:ext cx="118903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66" name="文本框 674865"/>
          <p:cNvSpPr txBox="1"/>
          <p:nvPr/>
        </p:nvSpPr>
        <p:spPr>
          <a:xfrm>
            <a:off x="350838" y="5818188"/>
            <a:ext cx="243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粒子直着走</a:t>
            </a:r>
          </a:p>
        </p:txBody>
      </p:sp>
      <p:sp>
        <p:nvSpPr>
          <p:cNvPr id="674867" name="文本框 674866"/>
          <p:cNvSpPr txBox="1"/>
          <p:nvPr/>
        </p:nvSpPr>
        <p:spPr>
          <a:xfrm>
            <a:off x="350838" y="6338888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粒子往第一级极小处走</a:t>
            </a:r>
          </a:p>
        </p:txBody>
      </p:sp>
      <p:graphicFrame>
        <p:nvGraphicFramePr>
          <p:cNvPr id="674868" name="对象 674867"/>
          <p:cNvGraphicFramePr/>
          <p:nvPr/>
        </p:nvGraphicFramePr>
        <p:xfrm>
          <a:off x="3779838" y="6384925"/>
          <a:ext cx="16557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3" r:id="rId15" imgW="902970" imgH="234315" progId="Equation.3">
                  <p:embed/>
                </p:oleObj>
              </mc:Choice>
              <mc:Fallback>
                <p:oleObj r:id="rId15" imgW="902970" imgH="234315" progId="Equation.3">
                  <p:embed/>
                  <p:pic>
                    <p:nvPicPr>
                      <p:cNvPr id="0" name="对象 674867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6384925"/>
                        <a:ext cx="1655762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69" name="上下箭头 674868"/>
          <p:cNvSpPr>
            <a:spLocks noChangeArrowheads="1"/>
          </p:cNvSpPr>
          <p:nvPr/>
        </p:nvSpPr>
        <p:spPr bwMode="auto">
          <a:xfrm>
            <a:off x="6877050" y="1614488"/>
            <a:ext cx="215900" cy="936625"/>
          </a:xfrm>
          <a:prstGeom prst="upDownArrow">
            <a:avLst>
              <a:gd name="adj1" fmla="val 50000"/>
              <a:gd name="adj2" fmla="val 86564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74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7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7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7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7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7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7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7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7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67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674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7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67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18" grpId="0" build="p"/>
      <p:bldP spid="674825" grpId="0"/>
      <p:bldP spid="674866" grpId="0"/>
      <p:bldP spid="67486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675841"/>
          <p:cNvGrpSpPr/>
          <p:nvPr/>
        </p:nvGrpSpPr>
        <p:grpSpPr bwMode="auto">
          <a:xfrm>
            <a:off x="4041775" y="-66675"/>
            <a:ext cx="5138738" cy="3424238"/>
            <a:chOff x="2976" y="638"/>
            <a:chExt cx="2784" cy="2157"/>
          </a:xfrm>
        </p:grpSpPr>
        <p:sp>
          <p:nvSpPr>
            <p:cNvPr id="32786" name="矩形 675842"/>
            <p:cNvSpPr>
              <a:spLocks noChangeArrowheads="1"/>
            </p:cNvSpPr>
            <p:nvPr/>
          </p:nvSpPr>
          <p:spPr bwMode="auto">
            <a:xfrm>
              <a:off x="3061" y="709"/>
              <a:ext cx="2699" cy="2086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pSp>
          <p:nvGrpSpPr>
            <p:cNvPr id="32787" name="组合 675843"/>
            <p:cNvGrpSpPr/>
            <p:nvPr/>
          </p:nvGrpSpPr>
          <p:grpSpPr bwMode="auto">
            <a:xfrm>
              <a:off x="2976" y="638"/>
              <a:ext cx="2784" cy="1820"/>
              <a:chOff x="82" y="1267"/>
              <a:chExt cx="2784" cy="1820"/>
            </a:xfrm>
          </p:grpSpPr>
          <p:sp>
            <p:nvSpPr>
              <p:cNvPr id="675845" name="文本框 675844"/>
              <p:cNvSpPr txBox="1"/>
              <p:nvPr/>
            </p:nvSpPr>
            <p:spPr>
              <a:xfrm>
                <a:off x="82" y="2299"/>
                <a:ext cx="1002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 eaLnBrk="1" hangingPunct="1">
                  <a:defRPr/>
                </a:pPr>
                <a:r>
                  <a:rPr lang="zh-CN" altLang="en-US" b="1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</a:rPr>
                  <a:t>电子束</a:t>
                </a:r>
              </a:p>
            </p:txBody>
          </p:sp>
          <p:sp>
            <p:nvSpPr>
              <p:cNvPr id="32789" name="直接连接符 675845"/>
              <p:cNvSpPr>
                <a:spLocks noChangeShapeType="1"/>
              </p:cNvSpPr>
              <p:nvPr/>
            </p:nvSpPr>
            <p:spPr bwMode="auto">
              <a:xfrm>
                <a:off x="748" y="1420"/>
                <a:ext cx="0" cy="66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0" name="直接连接符 675846"/>
              <p:cNvSpPr>
                <a:spLocks noChangeShapeType="1"/>
              </p:cNvSpPr>
              <p:nvPr/>
            </p:nvSpPr>
            <p:spPr bwMode="auto">
              <a:xfrm flipH="1">
                <a:off x="748" y="2307"/>
                <a:ext cx="0" cy="7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1" name="直接连接符 675847"/>
              <p:cNvSpPr>
                <a:spLocks noChangeShapeType="1"/>
              </p:cNvSpPr>
              <p:nvPr/>
            </p:nvSpPr>
            <p:spPr bwMode="auto">
              <a:xfrm>
                <a:off x="339" y="2291"/>
                <a:ext cx="37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2" name="直接连接符 675848"/>
              <p:cNvSpPr>
                <a:spLocks noChangeShapeType="1"/>
              </p:cNvSpPr>
              <p:nvPr/>
            </p:nvSpPr>
            <p:spPr bwMode="auto">
              <a:xfrm>
                <a:off x="339" y="2075"/>
                <a:ext cx="37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3" name="直接连接符 675849"/>
              <p:cNvSpPr>
                <a:spLocks noChangeShapeType="1"/>
              </p:cNvSpPr>
              <p:nvPr/>
            </p:nvSpPr>
            <p:spPr bwMode="auto">
              <a:xfrm>
                <a:off x="725" y="2194"/>
                <a:ext cx="86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4" name="直接连接符 675850"/>
              <p:cNvSpPr>
                <a:spLocks noChangeShapeType="1"/>
              </p:cNvSpPr>
              <p:nvPr/>
            </p:nvSpPr>
            <p:spPr bwMode="auto">
              <a:xfrm>
                <a:off x="1588" y="1420"/>
                <a:ext cx="0" cy="16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任意多边形 675851"/>
              <p:cNvSpPr>
                <a:spLocks noChangeArrowheads="1"/>
              </p:cNvSpPr>
              <p:nvPr/>
            </p:nvSpPr>
            <p:spPr bwMode="auto">
              <a:xfrm>
                <a:off x="1588" y="1882"/>
                <a:ext cx="588" cy="618"/>
              </a:xfrm>
              <a:custGeom>
                <a:avLst/>
                <a:gdLst>
                  <a:gd name="T0" fmla="*/ 0 w 1575"/>
                  <a:gd name="T1" fmla="*/ 0 h 1245"/>
                  <a:gd name="T2" fmla="*/ 82 w 1575"/>
                  <a:gd name="T3" fmla="*/ 77 h 1245"/>
                  <a:gd name="T4" fmla="*/ 0 w 1575"/>
                  <a:gd name="T5" fmla="*/ 152 h 12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75" h="1245">
                    <a:moveTo>
                      <a:pt x="0" y="0"/>
                    </a:moveTo>
                    <a:cubicBezTo>
                      <a:pt x="787" y="211"/>
                      <a:pt x="1575" y="423"/>
                      <a:pt x="1575" y="630"/>
                    </a:cubicBezTo>
                    <a:cubicBezTo>
                      <a:pt x="1575" y="837"/>
                      <a:pt x="262" y="1143"/>
                      <a:pt x="0" y="1245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6" name="任意多边形 675852"/>
              <p:cNvSpPr>
                <a:spLocks noChangeArrowheads="1"/>
              </p:cNvSpPr>
              <p:nvPr/>
            </p:nvSpPr>
            <p:spPr bwMode="auto">
              <a:xfrm>
                <a:off x="1582" y="1569"/>
                <a:ext cx="96" cy="305"/>
              </a:xfrm>
              <a:custGeom>
                <a:avLst/>
                <a:gdLst>
                  <a:gd name="T0" fmla="*/ 0 w 195"/>
                  <a:gd name="T1" fmla="*/ 0 h 615"/>
                  <a:gd name="T2" fmla="*/ 23 w 195"/>
                  <a:gd name="T3" fmla="*/ 40 h 615"/>
                  <a:gd name="T4" fmla="*/ 0 w 195"/>
                  <a:gd name="T5" fmla="*/ 75 h 6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5" h="615">
                    <a:moveTo>
                      <a:pt x="0" y="0"/>
                    </a:moveTo>
                    <a:cubicBezTo>
                      <a:pt x="97" y="114"/>
                      <a:pt x="195" y="228"/>
                      <a:pt x="195" y="330"/>
                    </a:cubicBezTo>
                    <a:cubicBezTo>
                      <a:pt x="195" y="432"/>
                      <a:pt x="33" y="568"/>
                      <a:pt x="0" y="615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7" name="任意多边形 675853"/>
              <p:cNvSpPr>
                <a:spLocks noChangeArrowheads="1"/>
              </p:cNvSpPr>
              <p:nvPr/>
            </p:nvSpPr>
            <p:spPr bwMode="auto">
              <a:xfrm>
                <a:off x="1587" y="2511"/>
                <a:ext cx="96" cy="305"/>
              </a:xfrm>
              <a:custGeom>
                <a:avLst/>
                <a:gdLst>
                  <a:gd name="T0" fmla="*/ 0 w 195"/>
                  <a:gd name="T1" fmla="*/ 0 h 615"/>
                  <a:gd name="T2" fmla="*/ 23 w 195"/>
                  <a:gd name="T3" fmla="*/ 40 h 615"/>
                  <a:gd name="T4" fmla="*/ 0 w 195"/>
                  <a:gd name="T5" fmla="*/ 75 h 6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5" h="615">
                    <a:moveTo>
                      <a:pt x="0" y="0"/>
                    </a:moveTo>
                    <a:cubicBezTo>
                      <a:pt x="97" y="114"/>
                      <a:pt x="195" y="228"/>
                      <a:pt x="195" y="330"/>
                    </a:cubicBezTo>
                    <a:cubicBezTo>
                      <a:pt x="195" y="432"/>
                      <a:pt x="33" y="568"/>
                      <a:pt x="0" y="615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8" name="直接连接符 675854"/>
              <p:cNvSpPr>
                <a:spLocks noChangeShapeType="1"/>
              </p:cNvSpPr>
              <p:nvPr/>
            </p:nvSpPr>
            <p:spPr bwMode="auto">
              <a:xfrm flipV="1">
                <a:off x="742" y="1874"/>
                <a:ext cx="846" cy="30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9" name="直接连接符 675855"/>
              <p:cNvSpPr>
                <a:spLocks noChangeShapeType="1"/>
              </p:cNvSpPr>
              <p:nvPr/>
            </p:nvSpPr>
            <p:spPr bwMode="auto">
              <a:xfrm>
                <a:off x="1566" y="2194"/>
                <a:ext cx="90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0" name="任意多边形 675856"/>
              <p:cNvSpPr>
                <a:spLocks noChangeArrowheads="1"/>
              </p:cNvSpPr>
              <p:nvPr/>
            </p:nvSpPr>
            <p:spPr bwMode="auto">
              <a:xfrm>
                <a:off x="1093" y="2068"/>
                <a:ext cx="26" cy="134"/>
              </a:xfrm>
              <a:custGeom>
                <a:avLst/>
                <a:gdLst>
                  <a:gd name="T0" fmla="*/ 0 w 70"/>
                  <a:gd name="T1" fmla="*/ 0 h 270"/>
                  <a:gd name="T2" fmla="*/ 3 w 70"/>
                  <a:gd name="T3" fmla="*/ 16 h 270"/>
                  <a:gd name="T4" fmla="*/ 3 w 70"/>
                  <a:gd name="T5" fmla="*/ 33 h 2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0" h="270">
                    <a:moveTo>
                      <a:pt x="0" y="0"/>
                    </a:moveTo>
                    <a:cubicBezTo>
                      <a:pt x="25" y="45"/>
                      <a:pt x="50" y="90"/>
                      <a:pt x="60" y="135"/>
                    </a:cubicBezTo>
                    <a:cubicBezTo>
                      <a:pt x="70" y="180"/>
                      <a:pt x="65" y="225"/>
                      <a:pt x="60" y="270"/>
                    </a:cubicBezTo>
                  </a:path>
                </a:pathLst>
              </a:custGeom>
              <a:noFill/>
              <a:ln w="28575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5858" name="文本框 675857"/>
              <p:cNvSpPr txBox="1"/>
              <p:nvPr/>
            </p:nvSpPr>
            <p:spPr>
              <a:xfrm>
                <a:off x="1163" y="1921"/>
                <a:ext cx="72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 eaLnBrk="1" hangingPunct="1">
                  <a:defRPr/>
                </a:pPr>
                <a:r>
                  <a:rPr lang="en-US" altLang="zh-CN" b="1" i="1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  <a:sym typeface="Symbol" panose="05050102010706020507" pitchFamily="18" charset="2"/>
                  </a:rPr>
                  <a:t></a:t>
                </a:r>
                <a:r>
                  <a:rPr lang="en-US" altLang="zh-CN" b="1" baseline="-25000" noProof="1"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endParaRPr>
              </a:p>
            </p:txBody>
          </p:sp>
          <p:sp>
            <p:nvSpPr>
              <p:cNvPr id="675859" name="文本框 675858"/>
              <p:cNvSpPr txBox="1"/>
              <p:nvPr/>
            </p:nvSpPr>
            <p:spPr>
              <a:xfrm>
                <a:off x="817" y="2713"/>
                <a:ext cx="645" cy="3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 eaLnBrk="1" hangingPunct="1">
                  <a:defRPr/>
                </a:pPr>
                <a:r>
                  <a:rPr lang="en-US" altLang="zh-CN" b="1" i="1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  <a:sym typeface="Symbol" panose="05050102010706020507" pitchFamily="18" charset="2"/>
                  </a:rPr>
                  <a:t></a:t>
                </a:r>
                <a:r>
                  <a:rPr lang="en-US" altLang="zh-CN" b="1" baseline="-25000" noProof="1"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endParaRPr>
              </a:p>
            </p:txBody>
          </p:sp>
          <p:sp>
            <p:nvSpPr>
              <p:cNvPr id="32803" name="直接连接符 675859"/>
              <p:cNvSpPr>
                <a:spLocks noChangeShapeType="1"/>
              </p:cNvSpPr>
              <p:nvPr/>
            </p:nvSpPr>
            <p:spPr bwMode="auto">
              <a:xfrm>
                <a:off x="773" y="2765"/>
                <a:ext cx="46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4" name="直接连接符 675860"/>
              <p:cNvSpPr>
                <a:spLocks noChangeShapeType="1"/>
              </p:cNvSpPr>
              <p:nvPr/>
            </p:nvSpPr>
            <p:spPr bwMode="auto">
              <a:xfrm flipV="1">
                <a:off x="756" y="2595"/>
                <a:ext cx="482" cy="17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5" name="直接连接符 675861"/>
              <p:cNvSpPr>
                <a:spLocks noChangeShapeType="1"/>
              </p:cNvSpPr>
              <p:nvPr/>
            </p:nvSpPr>
            <p:spPr bwMode="auto">
              <a:xfrm flipV="1">
                <a:off x="1238" y="2587"/>
                <a:ext cx="0" cy="17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6" name="任意多边形 675862"/>
              <p:cNvSpPr>
                <a:spLocks noChangeArrowheads="1"/>
              </p:cNvSpPr>
              <p:nvPr/>
            </p:nvSpPr>
            <p:spPr bwMode="auto">
              <a:xfrm>
                <a:off x="986" y="2677"/>
                <a:ext cx="13" cy="88"/>
              </a:xfrm>
              <a:custGeom>
                <a:avLst/>
                <a:gdLst>
                  <a:gd name="T0" fmla="*/ 0 w 35"/>
                  <a:gd name="T1" fmla="*/ 0 h 180"/>
                  <a:gd name="T2" fmla="*/ 1 w 35"/>
                  <a:gd name="T3" fmla="*/ 11 h 180"/>
                  <a:gd name="T4" fmla="*/ 1 w 35"/>
                  <a:gd name="T5" fmla="*/ 21 h 1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180">
                    <a:moveTo>
                      <a:pt x="0" y="0"/>
                    </a:moveTo>
                    <a:cubicBezTo>
                      <a:pt x="12" y="30"/>
                      <a:pt x="25" y="60"/>
                      <a:pt x="30" y="90"/>
                    </a:cubicBezTo>
                    <a:cubicBezTo>
                      <a:pt x="35" y="120"/>
                      <a:pt x="32" y="150"/>
                      <a:pt x="30" y="180"/>
                    </a:cubicBezTo>
                  </a:path>
                </a:pathLst>
              </a:custGeom>
              <a:noFill/>
              <a:ln w="28575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5864" name="文本框 675863"/>
              <p:cNvSpPr txBox="1"/>
              <p:nvPr/>
            </p:nvSpPr>
            <p:spPr>
              <a:xfrm>
                <a:off x="823" y="2441"/>
                <a:ext cx="280" cy="3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n-US" altLang="zh-CN" b="1" i="1" baseline="0" noProof="1">
                    <a:solidFill>
                      <a:srgbClr val="0000FF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</a:rPr>
                  <a:t>p</a:t>
                </a:r>
              </a:p>
            </p:txBody>
          </p:sp>
          <p:sp>
            <p:nvSpPr>
              <p:cNvPr id="32808" name="直接连接符 675864"/>
              <p:cNvSpPr>
                <a:spLocks noChangeShapeType="1"/>
              </p:cNvSpPr>
              <p:nvPr/>
            </p:nvSpPr>
            <p:spPr bwMode="auto">
              <a:xfrm>
                <a:off x="869" y="2517"/>
                <a:ext cx="152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5866" name="文本框 675865"/>
              <p:cNvSpPr txBox="1"/>
              <p:nvPr/>
            </p:nvSpPr>
            <p:spPr>
              <a:xfrm>
                <a:off x="1263" y="2557"/>
                <a:ext cx="542" cy="3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 eaLnBrk="1" hangingPunct="1">
                  <a:defRPr/>
                </a:pPr>
                <a:r>
                  <a:rPr lang="en-US" altLang="zh-CN" b="1" i="1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</a:rPr>
                  <a:t>p</a:t>
                </a:r>
                <a:r>
                  <a:rPr lang="en-US" altLang="zh-CN" b="1" i="1" baseline="-25000" noProof="1"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</a:rPr>
                  <a:t>x</a:t>
                </a:r>
                <a:endParaRPr lang="en-US" altLang="zh-CN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endParaRPr>
              </a:p>
            </p:txBody>
          </p:sp>
          <p:sp>
            <p:nvSpPr>
              <p:cNvPr id="675867" name="文本框 675866"/>
              <p:cNvSpPr txBox="1"/>
              <p:nvPr/>
            </p:nvSpPr>
            <p:spPr>
              <a:xfrm>
                <a:off x="737" y="2120"/>
                <a:ext cx="212" cy="3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 eaLnBrk="1" hangingPunct="1">
                  <a:defRPr/>
                </a:pPr>
                <a:r>
                  <a:rPr lang="en-US" altLang="zh-CN" b="1" i="1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2811" name="直接连接符 675867"/>
              <p:cNvSpPr>
                <a:spLocks noChangeShapeType="1"/>
              </p:cNvSpPr>
              <p:nvPr/>
            </p:nvSpPr>
            <p:spPr bwMode="auto">
              <a:xfrm flipV="1">
                <a:off x="833" y="1396"/>
                <a:ext cx="0" cy="3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5869" name="文本框 675868"/>
              <p:cNvSpPr txBox="1"/>
              <p:nvPr/>
            </p:nvSpPr>
            <p:spPr>
              <a:xfrm>
                <a:off x="882" y="1267"/>
                <a:ext cx="294" cy="2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 eaLnBrk="1" hangingPunct="1">
                  <a:defRPr/>
                </a:pPr>
                <a:r>
                  <a:rPr lang="en-US" altLang="zh-CN" b="1" i="1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32813" name="文本框 675869"/>
              <p:cNvSpPr txBox="1">
                <a:spLocks noChangeArrowheads="1"/>
              </p:cNvSpPr>
              <p:nvPr/>
            </p:nvSpPr>
            <p:spPr bwMode="auto">
              <a:xfrm>
                <a:off x="1713" y="2433"/>
                <a:ext cx="1153" cy="563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accent1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baseline="0">
                    <a:solidFill>
                      <a:schemeClr val="accent2"/>
                    </a:solidFill>
                  </a:rPr>
                  <a:t>认为电子都落在中央明纹内</a:t>
                </a:r>
              </a:p>
            </p:txBody>
          </p:sp>
          <p:sp>
            <p:nvSpPr>
              <p:cNvPr id="32814" name="直接连接符 675870"/>
              <p:cNvSpPr>
                <a:spLocks noChangeShapeType="1"/>
              </p:cNvSpPr>
              <p:nvPr/>
            </p:nvSpPr>
            <p:spPr bwMode="auto">
              <a:xfrm>
                <a:off x="1674" y="2283"/>
                <a:ext cx="213" cy="22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2815" name="对象 675871"/>
              <p:cNvGraphicFramePr/>
              <p:nvPr/>
            </p:nvGraphicFramePr>
            <p:xfrm>
              <a:off x="205" y="1559"/>
              <a:ext cx="492" cy="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62" r:id="rId3" imgW="869950" imgH="892175" progId="Equation.3">
                      <p:embed/>
                    </p:oleObj>
                  </mc:Choice>
                  <mc:Fallback>
                    <p:oleObj r:id="rId3" imgW="869950" imgH="892175" progId="Equation.3">
                      <p:embed/>
                      <p:pic>
                        <p:nvPicPr>
                          <p:cNvPr id="0" name="对象 67587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5" y="1559"/>
                            <a:ext cx="492" cy="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16" name="对象 675872"/>
              <p:cNvGraphicFramePr/>
              <p:nvPr/>
            </p:nvGraphicFramePr>
            <p:xfrm>
              <a:off x="2145" y="1811"/>
              <a:ext cx="532" cy="3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63" r:id="rId5" imgW="317500" imgH="279400" progId="Equation.3">
                      <p:embed/>
                    </p:oleObj>
                  </mc:Choice>
                  <mc:Fallback>
                    <p:oleObj r:id="rId5" imgW="317500" imgH="279400" progId="Equation.3">
                      <p:embed/>
                      <p:pic>
                        <p:nvPicPr>
                          <p:cNvPr id="0" name="对象 67587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45" y="1811"/>
                            <a:ext cx="532" cy="3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17" name="直接连接符 675873"/>
              <p:cNvSpPr>
                <a:spLocks noChangeShapeType="1"/>
              </p:cNvSpPr>
              <p:nvPr/>
            </p:nvSpPr>
            <p:spPr bwMode="auto">
              <a:xfrm>
                <a:off x="339" y="2183"/>
                <a:ext cx="37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32771" name="对象 675874"/>
          <p:cNvGraphicFramePr/>
          <p:nvPr/>
        </p:nvGraphicFramePr>
        <p:xfrm>
          <a:off x="2230438" y="71438"/>
          <a:ext cx="12747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4" r:id="rId7" imgW="468630" imgH="234315" progId="Equation.3">
                  <p:embed/>
                </p:oleObj>
              </mc:Choice>
              <mc:Fallback>
                <p:oleObj r:id="rId7" imgW="468630" imgH="234315" progId="Equation.3">
                  <p:embed/>
                  <p:pic>
                    <p:nvPicPr>
                      <p:cNvPr id="0" name="对象 67587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71438"/>
                        <a:ext cx="12747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6" name="文本框 675875"/>
          <p:cNvSpPr txBox="1"/>
          <p:nvPr/>
        </p:nvSpPr>
        <p:spPr>
          <a:xfrm>
            <a:off x="228600" y="44450"/>
            <a:ext cx="243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粒子直着走</a:t>
            </a:r>
          </a:p>
        </p:txBody>
      </p:sp>
      <p:sp>
        <p:nvSpPr>
          <p:cNvPr id="675877" name="文本框 675876"/>
          <p:cNvSpPr txBox="1"/>
          <p:nvPr/>
        </p:nvSpPr>
        <p:spPr>
          <a:xfrm>
            <a:off x="230188" y="665163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粒子往第一级极小处走</a:t>
            </a:r>
          </a:p>
        </p:txBody>
      </p:sp>
      <p:graphicFrame>
        <p:nvGraphicFramePr>
          <p:cNvPr id="32774" name="对象 675877"/>
          <p:cNvGraphicFramePr/>
          <p:nvPr/>
        </p:nvGraphicFramePr>
        <p:xfrm>
          <a:off x="2120900" y="1212850"/>
          <a:ext cx="18780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5" r:id="rId9" imgW="902970" imgH="234315" progId="Equation.3">
                  <p:embed/>
                </p:oleObj>
              </mc:Choice>
              <mc:Fallback>
                <p:oleObj r:id="rId9" imgW="902970" imgH="234315" progId="Equation.3">
                  <p:embed/>
                  <p:pic>
                    <p:nvPicPr>
                      <p:cNvPr id="0" name="对象 67587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1212850"/>
                        <a:ext cx="1878013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79" name="对象 675878"/>
          <p:cNvGraphicFramePr/>
          <p:nvPr/>
        </p:nvGraphicFramePr>
        <p:xfrm>
          <a:off x="1692275" y="2655888"/>
          <a:ext cx="249713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6" r:id="rId11" imgW="1159510" imgH="234315" progId="Equation.3">
                  <p:embed/>
                </p:oleObj>
              </mc:Choice>
              <mc:Fallback>
                <p:oleObj r:id="rId11" imgW="1159510" imgH="234315" progId="Equation.3">
                  <p:embed/>
                  <p:pic>
                    <p:nvPicPr>
                      <p:cNvPr id="0" name="对象 67587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655888"/>
                        <a:ext cx="249713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0" name="矩形 675879"/>
          <p:cNvSpPr/>
          <p:nvPr/>
        </p:nvSpPr>
        <p:spPr>
          <a:xfrm>
            <a:off x="206375" y="1835150"/>
            <a:ext cx="340042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电子都落在中央明纹内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,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</a:p>
          <a:p>
            <a:pPr eaLnBrk="1" hangingPunct="1">
              <a:defRPr/>
            </a:pP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p</a:t>
            </a:r>
            <a:r>
              <a:rPr lang="en-US" altLang="zh-CN" b="1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数值范围：</a:t>
            </a:r>
          </a:p>
        </p:txBody>
      </p:sp>
      <p:graphicFrame>
        <p:nvGraphicFramePr>
          <p:cNvPr id="675881" name="对象 675880"/>
          <p:cNvGraphicFramePr/>
          <p:nvPr/>
        </p:nvGraphicFramePr>
        <p:xfrm>
          <a:off x="2698750" y="4483100"/>
          <a:ext cx="23780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7" r:id="rId13" imgW="1181735" imgH="222885" progId="Equation.3">
                  <p:embed/>
                </p:oleObj>
              </mc:Choice>
              <mc:Fallback>
                <p:oleObj r:id="rId13" imgW="1181735" imgH="222885" progId="Equation.3">
                  <p:embed/>
                  <p:pic>
                    <p:nvPicPr>
                      <p:cNvPr id="0" name="对象 675880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4483100"/>
                        <a:ext cx="23780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82" name="对象 675881"/>
          <p:cNvGraphicFramePr/>
          <p:nvPr/>
        </p:nvGraphicFramePr>
        <p:xfrm>
          <a:off x="3276600" y="5013325"/>
          <a:ext cx="162718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8" r:id="rId15" imgW="724535" imgH="423545" progId="Equation.3">
                  <p:embed/>
                </p:oleObj>
              </mc:Choice>
              <mc:Fallback>
                <p:oleObj r:id="rId15" imgW="724535" imgH="423545" progId="Equation.3">
                  <p:embed/>
                  <p:pic>
                    <p:nvPicPr>
                      <p:cNvPr id="0" name="对象 675881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13325"/>
                        <a:ext cx="162718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3" name="文本框 675882"/>
          <p:cNvSpPr txBox="1"/>
          <p:nvPr/>
        </p:nvSpPr>
        <p:spPr>
          <a:xfrm>
            <a:off x="238125" y="4484688"/>
            <a:ext cx="3028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由单缝</a:t>
            </a:r>
            <a:r>
              <a:rPr lang="zh-CN" altLang="en-US" b="1" u="sng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暗纹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条件：</a:t>
            </a:r>
          </a:p>
        </p:txBody>
      </p:sp>
      <p:grpSp>
        <p:nvGrpSpPr>
          <p:cNvPr id="32780" name="组合 675883"/>
          <p:cNvGrpSpPr/>
          <p:nvPr/>
        </p:nvGrpSpPr>
        <p:grpSpPr bwMode="auto">
          <a:xfrm>
            <a:off x="5148263" y="2852738"/>
            <a:ext cx="3746500" cy="474662"/>
            <a:chOff x="2903" y="3453"/>
            <a:chExt cx="2360" cy="299"/>
          </a:xfrm>
        </p:grpSpPr>
        <p:graphicFrame>
          <p:nvGraphicFramePr>
            <p:cNvPr id="32784" name="对象 675884"/>
            <p:cNvGraphicFramePr/>
            <p:nvPr/>
          </p:nvGraphicFramePr>
          <p:xfrm>
            <a:off x="2903" y="3459"/>
            <a:ext cx="26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69" r:id="rId17" imgW="144780" imgH="222885" progId="Equation.3">
                    <p:embed/>
                  </p:oleObj>
                </mc:Choice>
                <mc:Fallback>
                  <p:oleObj r:id="rId17" imgW="144780" imgH="222885" progId="Equation.3">
                    <p:embed/>
                    <p:pic>
                      <p:nvPicPr>
                        <p:cNvPr id="0" name="对象 67588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3" y="3459"/>
                          <a:ext cx="26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5886" name="文本框 675885"/>
            <p:cNvSpPr txBox="1"/>
            <p:nvPr/>
          </p:nvSpPr>
          <p:spPr>
            <a:xfrm>
              <a:off x="3101" y="3453"/>
              <a:ext cx="21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为一级暗纹的衍射角</a:t>
              </a:r>
            </a:p>
          </p:txBody>
        </p:sp>
      </p:grpSp>
      <p:sp>
        <p:nvSpPr>
          <p:cNvPr id="675887" name="文本框 675886"/>
          <p:cNvSpPr txBox="1"/>
          <p:nvPr/>
        </p:nvSpPr>
        <p:spPr>
          <a:xfrm>
            <a:off x="236538" y="3332163"/>
            <a:ext cx="5697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即电子在 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轴方向上的动量不确定量为：</a:t>
            </a:r>
          </a:p>
        </p:txBody>
      </p:sp>
      <p:graphicFrame>
        <p:nvGraphicFramePr>
          <p:cNvPr id="675888" name="对象 675887"/>
          <p:cNvGraphicFramePr/>
          <p:nvPr/>
        </p:nvGraphicFramePr>
        <p:xfrm>
          <a:off x="1692275" y="3827463"/>
          <a:ext cx="23352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0" r:id="rId19" imgW="992505" imgH="234315" progId="Equation.3">
                  <p:embed/>
                </p:oleObj>
              </mc:Choice>
              <mc:Fallback>
                <p:oleObj r:id="rId19" imgW="992505" imgH="234315" progId="Equation.3">
                  <p:embed/>
                  <p:pic>
                    <p:nvPicPr>
                      <p:cNvPr id="0" name="对象 675887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827463"/>
                        <a:ext cx="233521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89" name="对象 675888"/>
          <p:cNvGraphicFramePr/>
          <p:nvPr/>
        </p:nvGraphicFramePr>
        <p:xfrm>
          <a:off x="1366838" y="5859463"/>
          <a:ext cx="47545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1" r:id="rId21" imgW="1873250" imgH="423545" progId="Equation.DSMT4">
                  <p:embed/>
                </p:oleObj>
              </mc:Choice>
              <mc:Fallback>
                <p:oleObj r:id="rId21" imgW="1873250" imgH="423545" progId="Equation.DSMT4">
                  <p:embed/>
                  <p:pic>
                    <p:nvPicPr>
                      <p:cNvPr id="0" name="对象 675888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5859463"/>
                        <a:ext cx="475456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7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7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75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7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7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7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75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0" grpId="0"/>
      <p:bldP spid="675883" grpId="0"/>
      <p:bldP spid="67588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76865"/>
          <p:cNvGrpSpPr/>
          <p:nvPr/>
        </p:nvGrpSpPr>
        <p:grpSpPr bwMode="auto">
          <a:xfrm>
            <a:off x="4716463" y="-26988"/>
            <a:ext cx="4935537" cy="3224213"/>
            <a:chOff x="2925" y="391"/>
            <a:chExt cx="3109" cy="2031"/>
          </a:xfrm>
        </p:grpSpPr>
        <p:sp>
          <p:nvSpPr>
            <p:cNvPr id="33806" name="矩形 676866"/>
            <p:cNvSpPr>
              <a:spLocks noChangeArrowheads="1"/>
            </p:cNvSpPr>
            <p:nvPr/>
          </p:nvSpPr>
          <p:spPr bwMode="auto">
            <a:xfrm>
              <a:off x="2965" y="406"/>
              <a:ext cx="2744" cy="1996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pSp>
          <p:nvGrpSpPr>
            <p:cNvPr id="33807" name="组合 676867"/>
            <p:cNvGrpSpPr/>
            <p:nvPr/>
          </p:nvGrpSpPr>
          <p:grpSpPr bwMode="auto">
            <a:xfrm>
              <a:off x="2925" y="391"/>
              <a:ext cx="3109" cy="2031"/>
              <a:chOff x="2976" y="1135"/>
              <a:chExt cx="3109" cy="2031"/>
            </a:xfrm>
          </p:grpSpPr>
          <p:sp>
            <p:nvSpPr>
              <p:cNvPr id="33808" name="文本框 676868"/>
              <p:cNvSpPr txBox="1">
                <a:spLocks noChangeArrowheads="1"/>
              </p:cNvSpPr>
              <p:nvPr/>
            </p:nvSpPr>
            <p:spPr bwMode="auto">
              <a:xfrm>
                <a:off x="2976" y="2167"/>
                <a:ext cx="1002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baseline="0">
                    <a:ea typeface="楷体_GB2312" pitchFamily="49" charset="-122"/>
                  </a:rPr>
                  <a:t>电子束</a:t>
                </a:r>
              </a:p>
            </p:txBody>
          </p:sp>
          <p:sp>
            <p:nvSpPr>
              <p:cNvPr id="33809" name="直接连接符 676869"/>
              <p:cNvSpPr>
                <a:spLocks noChangeShapeType="1"/>
              </p:cNvSpPr>
              <p:nvPr/>
            </p:nvSpPr>
            <p:spPr bwMode="auto">
              <a:xfrm>
                <a:off x="3642" y="1288"/>
                <a:ext cx="0" cy="66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0" name="直接连接符 676870"/>
              <p:cNvSpPr>
                <a:spLocks noChangeShapeType="1"/>
              </p:cNvSpPr>
              <p:nvPr/>
            </p:nvSpPr>
            <p:spPr bwMode="auto">
              <a:xfrm flipH="1">
                <a:off x="3642" y="2175"/>
                <a:ext cx="0" cy="7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1" name="直接连接符 676871"/>
              <p:cNvSpPr>
                <a:spLocks noChangeShapeType="1"/>
              </p:cNvSpPr>
              <p:nvPr/>
            </p:nvSpPr>
            <p:spPr bwMode="auto">
              <a:xfrm>
                <a:off x="3233" y="2159"/>
                <a:ext cx="37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2" name="直接连接符 676872"/>
              <p:cNvSpPr>
                <a:spLocks noChangeShapeType="1"/>
              </p:cNvSpPr>
              <p:nvPr/>
            </p:nvSpPr>
            <p:spPr bwMode="auto">
              <a:xfrm>
                <a:off x="3233" y="1943"/>
                <a:ext cx="37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3" name="直接连接符 676873"/>
              <p:cNvSpPr>
                <a:spLocks noChangeShapeType="1"/>
              </p:cNvSpPr>
              <p:nvPr/>
            </p:nvSpPr>
            <p:spPr bwMode="auto">
              <a:xfrm>
                <a:off x="3619" y="2062"/>
                <a:ext cx="86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4" name="直接连接符 676874"/>
              <p:cNvSpPr>
                <a:spLocks noChangeShapeType="1"/>
              </p:cNvSpPr>
              <p:nvPr/>
            </p:nvSpPr>
            <p:spPr bwMode="auto">
              <a:xfrm>
                <a:off x="4482" y="1288"/>
                <a:ext cx="0" cy="16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5" name="任意多边形 676875"/>
              <p:cNvSpPr>
                <a:spLocks noChangeArrowheads="1"/>
              </p:cNvSpPr>
              <p:nvPr/>
            </p:nvSpPr>
            <p:spPr bwMode="auto">
              <a:xfrm>
                <a:off x="4482" y="1750"/>
                <a:ext cx="588" cy="618"/>
              </a:xfrm>
              <a:custGeom>
                <a:avLst/>
                <a:gdLst>
                  <a:gd name="T0" fmla="*/ 0 w 1575"/>
                  <a:gd name="T1" fmla="*/ 0 h 1245"/>
                  <a:gd name="T2" fmla="*/ 82 w 1575"/>
                  <a:gd name="T3" fmla="*/ 77 h 1245"/>
                  <a:gd name="T4" fmla="*/ 0 w 1575"/>
                  <a:gd name="T5" fmla="*/ 152 h 12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75" h="1245">
                    <a:moveTo>
                      <a:pt x="0" y="0"/>
                    </a:moveTo>
                    <a:cubicBezTo>
                      <a:pt x="787" y="211"/>
                      <a:pt x="1575" y="423"/>
                      <a:pt x="1575" y="630"/>
                    </a:cubicBezTo>
                    <a:cubicBezTo>
                      <a:pt x="1575" y="837"/>
                      <a:pt x="262" y="1143"/>
                      <a:pt x="0" y="1245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6" name="任意多边形 676876"/>
              <p:cNvSpPr>
                <a:spLocks noChangeArrowheads="1"/>
              </p:cNvSpPr>
              <p:nvPr/>
            </p:nvSpPr>
            <p:spPr bwMode="auto">
              <a:xfrm>
                <a:off x="4476" y="1437"/>
                <a:ext cx="96" cy="305"/>
              </a:xfrm>
              <a:custGeom>
                <a:avLst/>
                <a:gdLst>
                  <a:gd name="T0" fmla="*/ 0 w 195"/>
                  <a:gd name="T1" fmla="*/ 0 h 615"/>
                  <a:gd name="T2" fmla="*/ 23 w 195"/>
                  <a:gd name="T3" fmla="*/ 40 h 615"/>
                  <a:gd name="T4" fmla="*/ 0 w 195"/>
                  <a:gd name="T5" fmla="*/ 75 h 6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5" h="615">
                    <a:moveTo>
                      <a:pt x="0" y="0"/>
                    </a:moveTo>
                    <a:cubicBezTo>
                      <a:pt x="97" y="114"/>
                      <a:pt x="195" y="228"/>
                      <a:pt x="195" y="330"/>
                    </a:cubicBezTo>
                    <a:cubicBezTo>
                      <a:pt x="195" y="432"/>
                      <a:pt x="33" y="568"/>
                      <a:pt x="0" y="615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7" name="任意多边形 676877"/>
              <p:cNvSpPr>
                <a:spLocks noChangeArrowheads="1"/>
              </p:cNvSpPr>
              <p:nvPr/>
            </p:nvSpPr>
            <p:spPr bwMode="auto">
              <a:xfrm>
                <a:off x="4481" y="2379"/>
                <a:ext cx="96" cy="305"/>
              </a:xfrm>
              <a:custGeom>
                <a:avLst/>
                <a:gdLst>
                  <a:gd name="T0" fmla="*/ 0 w 195"/>
                  <a:gd name="T1" fmla="*/ 0 h 615"/>
                  <a:gd name="T2" fmla="*/ 23 w 195"/>
                  <a:gd name="T3" fmla="*/ 40 h 615"/>
                  <a:gd name="T4" fmla="*/ 0 w 195"/>
                  <a:gd name="T5" fmla="*/ 75 h 6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5" h="615">
                    <a:moveTo>
                      <a:pt x="0" y="0"/>
                    </a:moveTo>
                    <a:cubicBezTo>
                      <a:pt x="97" y="114"/>
                      <a:pt x="195" y="228"/>
                      <a:pt x="195" y="330"/>
                    </a:cubicBezTo>
                    <a:cubicBezTo>
                      <a:pt x="195" y="432"/>
                      <a:pt x="33" y="568"/>
                      <a:pt x="0" y="615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8" name="直接连接符 676878"/>
              <p:cNvSpPr>
                <a:spLocks noChangeShapeType="1"/>
              </p:cNvSpPr>
              <p:nvPr/>
            </p:nvSpPr>
            <p:spPr bwMode="auto">
              <a:xfrm flipV="1">
                <a:off x="3636" y="1742"/>
                <a:ext cx="846" cy="30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9" name="直接连接符 676879"/>
              <p:cNvSpPr>
                <a:spLocks noChangeShapeType="1"/>
              </p:cNvSpPr>
              <p:nvPr/>
            </p:nvSpPr>
            <p:spPr bwMode="auto">
              <a:xfrm>
                <a:off x="4460" y="2062"/>
                <a:ext cx="90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0" name="任意多边形 676880"/>
              <p:cNvSpPr>
                <a:spLocks noChangeArrowheads="1"/>
              </p:cNvSpPr>
              <p:nvPr/>
            </p:nvSpPr>
            <p:spPr bwMode="auto">
              <a:xfrm>
                <a:off x="3987" y="1936"/>
                <a:ext cx="26" cy="134"/>
              </a:xfrm>
              <a:custGeom>
                <a:avLst/>
                <a:gdLst>
                  <a:gd name="T0" fmla="*/ 0 w 70"/>
                  <a:gd name="T1" fmla="*/ 0 h 270"/>
                  <a:gd name="T2" fmla="*/ 3 w 70"/>
                  <a:gd name="T3" fmla="*/ 16 h 270"/>
                  <a:gd name="T4" fmla="*/ 3 w 70"/>
                  <a:gd name="T5" fmla="*/ 33 h 2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0" h="270">
                    <a:moveTo>
                      <a:pt x="0" y="0"/>
                    </a:moveTo>
                    <a:cubicBezTo>
                      <a:pt x="25" y="45"/>
                      <a:pt x="50" y="90"/>
                      <a:pt x="60" y="135"/>
                    </a:cubicBezTo>
                    <a:cubicBezTo>
                      <a:pt x="70" y="180"/>
                      <a:pt x="65" y="225"/>
                      <a:pt x="60" y="270"/>
                    </a:cubicBezTo>
                  </a:path>
                </a:pathLst>
              </a:custGeom>
              <a:noFill/>
              <a:ln w="28575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1" name="文本框 676881"/>
              <p:cNvSpPr txBox="1">
                <a:spLocks noChangeArrowheads="1"/>
              </p:cNvSpPr>
              <p:nvPr/>
            </p:nvSpPr>
            <p:spPr bwMode="auto">
              <a:xfrm>
                <a:off x="4057" y="1789"/>
                <a:ext cx="726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>
                    <a:latin typeface="宋体" panose="02010600030101010101" pitchFamily="2" charset="-122"/>
                    <a:sym typeface="Symbol" panose="05050102010706020507" pitchFamily="18" charset="2"/>
                  </a:rPr>
                  <a:t></a:t>
                </a:r>
                <a:r>
                  <a:rPr lang="en-US" altLang="zh-CN" sz="2400" b="1" baseline="-25000">
                    <a:latin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sz="2400" b="1" i="1" baseline="0"/>
              </a:p>
            </p:txBody>
          </p:sp>
          <p:sp>
            <p:nvSpPr>
              <p:cNvPr id="33822" name="文本框 676882"/>
              <p:cNvSpPr txBox="1">
                <a:spLocks noChangeArrowheads="1"/>
              </p:cNvSpPr>
              <p:nvPr/>
            </p:nvSpPr>
            <p:spPr bwMode="auto">
              <a:xfrm>
                <a:off x="3711" y="2581"/>
                <a:ext cx="645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>
                    <a:latin typeface="宋体" panose="02010600030101010101" pitchFamily="2" charset="-122"/>
                    <a:sym typeface="Symbol" panose="05050102010706020507" pitchFamily="18" charset="2"/>
                  </a:rPr>
                  <a:t></a:t>
                </a:r>
                <a:r>
                  <a:rPr lang="en-US" altLang="zh-CN" sz="2400" b="1" baseline="-25000">
                    <a:latin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sz="2400" b="1" i="1" baseline="0"/>
              </a:p>
            </p:txBody>
          </p:sp>
          <p:sp>
            <p:nvSpPr>
              <p:cNvPr id="33823" name="直接连接符 676883"/>
              <p:cNvSpPr>
                <a:spLocks noChangeShapeType="1"/>
              </p:cNvSpPr>
              <p:nvPr/>
            </p:nvSpPr>
            <p:spPr bwMode="auto">
              <a:xfrm>
                <a:off x="3667" y="2633"/>
                <a:ext cx="46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4" name="直接连接符 676884"/>
              <p:cNvSpPr>
                <a:spLocks noChangeShapeType="1"/>
              </p:cNvSpPr>
              <p:nvPr/>
            </p:nvSpPr>
            <p:spPr bwMode="auto">
              <a:xfrm flipV="1">
                <a:off x="3650" y="2463"/>
                <a:ext cx="482" cy="17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5" name="直接连接符 676885"/>
              <p:cNvSpPr>
                <a:spLocks noChangeShapeType="1"/>
              </p:cNvSpPr>
              <p:nvPr/>
            </p:nvSpPr>
            <p:spPr bwMode="auto">
              <a:xfrm flipV="1">
                <a:off x="4132" y="2455"/>
                <a:ext cx="0" cy="17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6" name="任意多边形 676886"/>
              <p:cNvSpPr>
                <a:spLocks noChangeArrowheads="1"/>
              </p:cNvSpPr>
              <p:nvPr/>
            </p:nvSpPr>
            <p:spPr bwMode="auto">
              <a:xfrm>
                <a:off x="3880" y="2545"/>
                <a:ext cx="13" cy="88"/>
              </a:xfrm>
              <a:custGeom>
                <a:avLst/>
                <a:gdLst>
                  <a:gd name="T0" fmla="*/ 0 w 35"/>
                  <a:gd name="T1" fmla="*/ 0 h 180"/>
                  <a:gd name="T2" fmla="*/ 1 w 35"/>
                  <a:gd name="T3" fmla="*/ 11 h 180"/>
                  <a:gd name="T4" fmla="*/ 1 w 35"/>
                  <a:gd name="T5" fmla="*/ 21 h 1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180">
                    <a:moveTo>
                      <a:pt x="0" y="0"/>
                    </a:moveTo>
                    <a:cubicBezTo>
                      <a:pt x="12" y="30"/>
                      <a:pt x="25" y="60"/>
                      <a:pt x="30" y="90"/>
                    </a:cubicBezTo>
                    <a:cubicBezTo>
                      <a:pt x="35" y="120"/>
                      <a:pt x="32" y="150"/>
                      <a:pt x="30" y="180"/>
                    </a:cubicBezTo>
                  </a:path>
                </a:pathLst>
              </a:custGeom>
              <a:noFill/>
              <a:ln w="28575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7" name="文本框 676887"/>
              <p:cNvSpPr txBox="1">
                <a:spLocks noChangeArrowheads="1"/>
              </p:cNvSpPr>
              <p:nvPr/>
            </p:nvSpPr>
            <p:spPr bwMode="auto">
              <a:xfrm>
                <a:off x="3717" y="2309"/>
                <a:ext cx="280" cy="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>
                    <a:solidFill>
                      <a:srgbClr val="0000FF"/>
                    </a:solidFill>
                  </a:rPr>
                  <a:t>p</a:t>
                </a:r>
              </a:p>
            </p:txBody>
          </p:sp>
          <p:sp>
            <p:nvSpPr>
              <p:cNvPr id="33828" name="直接连接符 676888"/>
              <p:cNvSpPr>
                <a:spLocks noChangeShapeType="1"/>
              </p:cNvSpPr>
              <p:nvPr/>
            </p:nvSpPr>
            <p:spPr bwMode="auto">
              <a:xfrm>
                <a:off x="3763" y="2385"/>
                <a:ext cx="152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9" name="文本框 676889"/>
              <p:cNvSpPr txBox="1">
                <a:spLocks noChangeArrowheads="1"/>
              </p:cNvSpPr>
              <p:nvPr/>
            </p:nvSpPr>
            <p:spPr bwMode="auto">
              <a:xfrm>
                <a:off x="4157" y="2425"/>
                <a:ext cx="542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/>
                  <a:t>p</a:t>
                </a:r>
                <a:r>
                  <a:rPr lang="en-US" altLang="zh-CN" sz="2400" b="1" i="1" baseline="-25000"/>
                  <a:t>x</a:t>
                </a:r>
                <a:endParaRPr lang="en-US" altLang="zh-CN" sz="2400" b="1" baseline="0"/>
              </a:p>
            </p:txBody>
          </p:sp>
          <p:sp>
            <p:nvSpPr>
              <p:cNvPr id="33830" name="文本框 676890"/>
              <p:cNvSpPr txBox="1">
                <a:spLocks noChangeArrowheads="1"/>
              </p:cNvSpPr>
              <p:nvPr/>
            </p:nvSpPr>
            <p:spPr bwMode="auto">
              <a:xfrm>
                <a:off x="3631" y="1988"/>
                <a:ext cx="213" cy="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/>
                  <a:t>a</a:t>
                </a:r>
              </a:p>
            </p:txBody>
          </p:sp>
          <p:sp>
            <p:nvSpPr>
              <p:cNvPr id="33831" name="直接连接符 676891"/>
              <p:cNvSpPr>
                <a:spLocks noChangeShapeType="1"/>
              </p:cNvSpPr>
              <p:nvPr/>
            </p:nvSpPr>
            <p:spPr bwMode="auto">
              <a:xfrm flipV="1">
                <a:off x="3727" y="1264"/>
                <a:ext cx="0" cy="3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" name="文本框 676892"/>
              <p:cNvSpPr txBox="1">
                <a:spLocks noChangeArrowheads="1"/>
              </p:cNvSpPr>
              <p:nvPr/>
            </p:nvSpPr>
            <p:spPr bwMode="auto">
              <a:xfrm>
                <a:off x="3776" y="1135"/>
                <a:ext cx="294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/>
                  <a:t>x</a:t>
                </a:r>
              </a:p>
            </p:txBody>
          </p:sp>
          <p:graphicFrame>
            <p:nvGraphicFramePr>
              <p:cNvPr id="33833" name="对象 676893"/>
              <p:cNvGraphicFramePr/>
              <p:nvPr/>
            </p:nvGraphicFramePr>
            <p:xfrm>
              <a:off x="3099" y="1427"/>
              <a:ext cx="492" cy="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953" r:id="rId3" imgW="869950" imgH="892175" progId="Equation.3">
                      <p:embed/>
                    </p:oleObj>
                  </mc:Choice>
                  <mc:Fallback>
                    <p:oleObj r:id="rId3" imgW="869950" imgH="892175" progId="Equation.3">
                      <p:embed/>
                      <p:pic>
                        <p:nvPicPr>
                          <p:cNvPr id="0" name="对象 67689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9" y="1427"/>
                            <a:ext cx="492" cy="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4" name="对象 676894"/>
              <p:cNvGraphicFramePr/>
              <p:nvPr/>
            </p:nvGraphicFramePr>
            <p:xfrm>
              <a:off x="5039" y="1679"/>
              <a:ext cx="532" cy="3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954" r:id="rId5" imgW="317500" imgH="279400" progId="Equation.3">
                      <p:embed/>
                    </p:oleObj>
                  </mc:Choice>
                  <mc:Fallback>
                    <p:oleObj r:id="rId5" imgW="317500" imgH="279400" progId="Equation.3">
                      <p:embed/>
                      <p:pic>
                        <p:nvPicPr>
                          <p:cNvPr id="0" name="对象 67689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39" y="1679"/>
                            <a:ext cx="532" cy="3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835" name="直接连接符 676895"/>
              <p:cNvSpPr>
                <a:spLocks noChangeShapeType="1"/>
              </p:cNvSpPr>
              <p:nvPr/>
            </p:nvSpPr>
            <p:spPr bwMode="auto">
              <a:xfrm>
                <a:off x="3233" y="2051"/>
                <a:ext cx="37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3836" name="组合 676896"/>
              <p:cNvGrpSpPr/>
              <p:nvPr/>
            </p:nvGrpSpPr>
            <p:grpSpPr bwMode="auto">
              <a:xfrm>
                <a:off x="3725" y="2867"/>
                <a:ext cx="2360" cy="299"/>
                <a:chOff x="2903" y="3453"/>
                <a:chExt cx="2360" cy="299"/>
              </a:xfrm>
            </p:grpSpPr>
            <p:graphicFrame>
              <p:nvGraphicFramePr>
                <p:cNvPr id="33837" name="对象 676897"/>
                <p:cNvGraphicFramePr/>
                <p:nvPr/>
              </p:nvGraphicFramePr>
              <p:xfrm>
                <a:off x="2903" y="3459"/>
                <a:ext cx="260" cy="29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955" r:id="rId7" imgW="144780" imgH="222885" progId="Equation.3">
                        <p:embed/>
                      </p:oleObj>
                    </mc:Choice>
                    <mc:Fallback>
                      <p:oleObj r:id="rId7" imgW="144780" imgH="222885" progId="Equation.3">
                        <p:embed/>
                        <p:pic>
                          <p:nvPicPr>
                            <p:cNvPr id="0" name="对象 676897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03" y="3459"/>
                              <a:ext cx="260" cy="29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3838" name="文本框 676898"/>
                <p:cNvSpPr txBox="1">
                  <a:spLocks noChangeArrowheads="1"/>
                </p:cNvSpPr>
                <p:nvPr/>
              </p:nvSpPr>
              <p:spPr bwMode="auto">
                <a:xfrm>
                  <a:off x="3101" y="3453"/>
                  <a:ext cx="216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 baseline="0">
                      <a:latin typeface="楷体_GB2312" pitchFamily="49" charset="-122"/>
                      <a:ea typeface="楷体_GB2312" pitchFamily="49" charset="-122"/>
                    </a:rPr>
                    <a:t>为一级暗纹的衍射角</a:t>
                  </a:r>
                </a:p>
              </p:txBody>
            </p:sp>
          </p:grpSp>
        </p:grpSp>
      </p:grpSp>
      <p:graphicFrame>
        <p:nvGraphicFramePr>
          <p:cNvPr id="676900" name="对象 676899"/>
          <p:cNvGraphicFramePr/>
          <p:nvPr/>
        </p:nvGraphicFramePr>
        <p:xfrm>
          <a:off x="612775" y="1125538"/>
          <a:ext cx="30972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6" r:id="rId9" imgW="1137285" imgH="234315" progId="Equation.DSMT4">
                  <p:embed/>
                </p:oleObj>
              </mc:Choice>
              <mc:Fallback>
                <p:oleObj r:id="rId9" imgW="1137285" imgH="234315" progId="Equation.DSMT4">
                  <p:embed/>
                  <p:pic>
                    <p:nvPicPr>
                      <p:cNvPr id="0" name="对象 67689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1125538"/>
                        <a:ext cx="309721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6901" name="组合 676900"/>
          <p:cNvGrpSpPr/>
          <p:nvPr/>
        </p:nvGrpSpPr>
        <p:grpSpPr bwMode="auto">
          <a:xfrm>
            <a:off x="707613" y="3114960"/>
            <a:ext cx="2592387" cy="576262"/>
            <a:chOff x="3360" y="3360"/>
            <a:chExt cx="1872" cy="480"/>
          </a:xfrm>
        </p:grpSpPr>
        <p:sp>
          <p:nvSpPr>
            <p:cNvPr id="33804" name="矩形 676901"/>
            <p:cNvSpPr>
              <a:spLocks noChangeArrowheads="1"/>
            </p:cNvSpPr>
            <p:nvPr/>
          </p:nvSpPr>
          <p:spPr bwMode="auto">
            <a:xfrm>
              <a:off x="3360" y="3360"/>
              <a:ext cx="1872" cy="480"/>
            </a:xfrm>
            <a:prstGeom prst="rect">
              <a:avLst/>
            </a:prstGeom>
            <a:gradFill rotWithShape="1">
              <a:gsLst>
                <a:gs pos="0">
                  <a:srgbClr val="5E7676"/>
                </a:gs>
                <a:gs pos="50000">
                  <a:srgbClr val="CCFFFF"/>
                </a:gs>
                <a:gs pos="100000">
                  <a:srgbClr val="5E7676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aphicFrame>
          <p:nvGraphicFramePr>
            <p:cNvPr id="33805" name="对象 676902"/>
            <p:cNvGraphicFramePr/>
            <p:nvPr>
              <p:extLst>
                <p:ext uri="{D42A27DB-BD31-4B8C-83A1-F6EECF244321}">
                  <p14:modId xmlns:p14="http://schemas.microsoft.com/office/powerpoint/2010/main" val="3271625702"/>
                </p:ext>
              </p:extLst>
            </p:nvPr>
          </p:nvGraphicFramePr>
          <p:xfrm>
            <a:off x="3542" y="3380"/>
            <a:ext cx="1589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57" r:id="rId11" imgW="780415" imgH="234315" progId="Equation.3">
                    <p:embed/>
                  </p:oleObj>
                </mc:Choice>
                <mc:Fallback>
                  <p:oleObj r:id="rId11" imgW="780415" imgH="234315" progId="Equation.3">
                    <p:embed/>
                    <p:pic>
                      <p:nvPicPr>
                        <p:cNvPr id="0" name="对象 67690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2" y="3380"/>
                          <a:ext cx="1589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6904" name="文本框 676903"/>
          <p:cNvSpPr txBox="1"/>
          <p:nvPr/>
        </p:nvSpPr>
        <p:spPr>
          <a:xfrm>
            <a:off x="3476625" y="3252787"/>
            <a:ext cx="3960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----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动量位置不确定量关系式</a:t>
            </a:r>
          </a:p>
        </p:txBody>
      </p:sp>
      <p:sp>
        <p:nvSpPr>
          <p:cNvPr id="33832" name="文本框 676904"/>
          <p:cNvSpPr txBox="1">
            <a:spLocks noChangeArrowheads="1"/>
          </p:cNvSpPr>
          <p:nvPr/>
        </p:nvSpPr>
        <p:spPr bwMode="auto">
          <a:xfrm>
            <a:off x="3995738" y="5445125"/>
            <a:ext cx="3441700" cy="576263"/>
          </a:xfrm>
          <a:prstGeom prst="rect">
            <a:avLst/>
          </a:prstGeom>
          <a:noFill/>
          <a:ln w="57150">
            <a:pattFill prst="sphere">
              <a:fgClr>
                <a:srgbClr val="6699FF"/>
              </a:fgClr>
              <a:bgClr>
                <a:schemeClr val="tx2"/>
              </a:bgClr>
            </a:patt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海森伯不确定关系式</a:t>
            </a:r>
          </a:p>
        </p:txBody>
      </p:sp>
      <p:sp>
        <p:nvSpPr>
          <p:cNvPr id="676906" name="文本框 676905"/>
          <p:cNvSpPr txBox="1"/>
          <p:nvPr/>
        </p:nvSpPr>
        <p:spPr>
          <a:xfrm>
            <a:off x="908050" y="4076700"/>
            <a:ext cx="678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严格的量子力学理论给出不确定关系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676907" name="内容占位符 676906"/>
          <p:cNvGraphicFramePr>
            <a:graphicFrameLocks noGrp="1"/>
          </p:cNvGraphicFramePr>
          <p:nvPr>
            <p:ph sz="half" idx="1"/>
          </p:nvPr>
        </p:nvGraphicFramePr>
        <p:xfrm>
          <a:off x="1116013" y="4638675"/>
          <a:ext cx="2303462" cy="215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8" r:id="rId13" imgW="787400" imgH="736600" progId="Equation.3">
                  <p:embed/>
                </p:oleObj>
              </mc:Choice>
              <mc:Fallback>
                <p:oleObj r:id="rId13" imgW="787400" imgH="736600" progId="Equation.3">
                  <p:embed/>
                  <p:pic>
                    <p:nvPicPr>
                      <p:cNvPr id="0" name="内容占位符 676906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638675"/>
                        <a:ext cx="2303462" cy="21542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ECFF"/>
                          </a:gs>
                          <a:gs pos="50000">
                            <a:schemeClr val="bg1"/>
                          </a:gs>
                          <a:gs pos="100000">
                            <a:srgbClr val="CCECFF"/>
                          </a:gs>
                        </a:gsLst>
                        <a:lin ang="5400000" scaled="1"/>
                      </a:gradFill>
                      <a:ln w="19050">
                        <a:solidFill>
                          <a:srgbClr val="0099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内容占位符 676907"/>
          <p:cNvGraphicFramePr>
            <a:graphicFrameLocks noGrp="1"/>
          </p:cNvGraphicFramePr>
          <p:nvPr>
            <p:ph sz="quarter" idx="2"/>
          </p:nvPr>
        </p:nvGraphicFramePr>
        <p:xfrm>
          <a:off x="612775" y="115888"/>
          <a:ext cx="3673475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9" r:id="rId15" imgW="1873250" imgH="423545" progId="Equation.DSMT4">
                  <p:embed/>
                </p:oleObj>
              </mc:Choice>
              <mc:Fallback>
                <p:oleObj r:id="rId15" imgW="1873250" imgH="423545" progId="Equation.DSMT4">
                  <p:embed/>
                  <p:pic>
                    <p:nvPicPr>
                      <p:cNvPr id="0" name="内容占位符 67690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115888"/>
                        <a:ext cx="3673475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909" name="文本框 676908"/>
          <p:cNvSpPr txBox="1"/>
          <p:nvPr/>
        </p:nvSpPr>
        <p:spPr>
          <a:xfrm>
            <a:off x="323850" y="1844675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_x000B__x000C_"/>
              </a:rPr>
              <a:t>考虑次极大的影响：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7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6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6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7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7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7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7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904" grpId="0"/>
      <p:bldP spid="33832" grpId="0" animBg="1"/>
      <p:bldP spid="676906" grpId="0"/>
      <p:bldP spid="67690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31" name="文本框 487430"/>
          <p:cNvSpPr txBox="1"/>
          <p:nvPr/>
        </p:nvSpPr>
        <p:spPr>
          <a:xfrm>
            <a:off x="395288" y="-26988"/>
            <a:ext cx="5181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aseline="0" noProof="1">
                <a:solidFill>
                  <a:schemeClr val="accent2"/>
                </a:solidFill>
                <a:latin typeface="黑体" panose="02010609060101010101" pitchFamily="49" charset="-122"/>
              </a:rPr>
              <a:t>三、</a:t>
            </a:r>
            <a:r>
              <a:rPr lang="zh-CN" altLang="en-US" sz="28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能级寿命和能级宽度的关系</a:t>
            </a:r>
          </a:p>
        </p:txBody>
      </p:sp>
      <p:sp>
        <p:nvSpPr>
          <p:cNvPr id="34818" name="文本框 487433"/>
          <p:cNvSpPr txBox="1">
            <a:spLocks noChangeArrowheads="1"/>
          </p:cNvSpPr>
          <p:nvPr/>
        </p:nvSpPr>
        <p:spPr bwMode="auto">
          <a:xfrm>
            <a:off x="3995738" y="939800"/>
            <a:ext cx="4303712" cy="576263"/>
          </a:xfrm>
          <a:prstGeom prst="rect">
            <a:avLst/>
          </a:prstGeom>
          <a:noFill/>
          <a:ln w="57150">
            <a:pattFill prst="lgCheck">
              <a:fgClr>
                <a:srgbClr val="6699FF"/>
              </a:fgClr>
              <a:bgClr>
                <a:schemeClr val="tx2"/>
              </a:bgClr>
            </a:patt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能量与时间不确定关系式</a:t>
            </a:r>
          </a:p>
        </p:txBody>
      </p:sp>
      <p:sp>
        <p:nvSpPr>
          <p:cNvPr id="487440" name="文本框 487439"/>
          <p:cNvSpPr txBox="1"/>
          <p:nvPr/>
        </p:nvSpPr>
        <p:spPr>
          <a:xfrm>
            <a:off x="1258888" y="1844675"/>
            <a:ext cx="82375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设原子处于某能级状态的寿命为 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 </a:t>
            </a:r>
            <a:r>
              <a:rPr lang="zh-CN" altLang="en-US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endParaRPr lang="zh-CN" altLang="en-US" b="1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487441" name="对象 487440"/>
          <p:cNvGraphicFramePr/>
          <p:nvPr/>
        </p:nvGraphicFramePr>
        <p:xfrm>
          <a:off x="1979613" y="2420938"/>
          <a:ext cx="12779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1" r:id="rId3" imgW="457200" imgH="178435" progId="Equation.3">
                  <p:embed/>
                </p:oleObj>
              </mc:Choice>
              <mc:Fallback>
                <p:oleObj r:id="rId3" imgW="457200" imgH="178435" progId="Equation.3">
                  <p:embed/>
                  <p:pic>
                    <p:nvPicPr>
                      <p:cNvPr id="0" name="对象 48744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420938"/>
                        <a:ext cx="12779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43" name="椭圆 487442"/>
          <p:cNvSpPr>
            <a:spLocks noChangeArrowheads="1"/>
          </p:cNvSpPr>
          <p:nvPr/>
        </p:nvSpPr>
        <p:spPr bwMode="auto">
          <a:xfrm>
            <a:off x="2797175" y="2451100"/>
            <a:ext cx="598488" cy="414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aphicFrame>
        <p:nvGraphicFramePr>
          <p:cNvPr id="487445" name="内容占位符 487444"/>
          <p:cNvGraphicFramePr>
            <a:graphicFrameLocks noGrp="1"/>
          </p:cNvGraphicFramePr>
          <p:nvPr>
            <p:ph sz="half" idx="1"/>
          </p:nvPr>
        </p:nvGraphicFramePr>
        <p:xfrm>
          <a:off x="1692275" y="692150"/>
          <a:ext cx="180022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2" r:id="rId5" imgW="748665" imgH="405765" progId="Equation.3">
                  <p:embed/>
                </p:oleObj>
              </mc:Choice>
              <mc:Fallback>
                <p:oleObj r:id="rId5" imgW="748665" imgH="405765" progId="Equation.3">
                  <p:embed/>
                  <p:pic>
                    <p:nvPicPr>
                      <p:cNvPr id="0" name="内容占位符 48744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692150"/>
                        <a:ext cx="1800225" cy="97631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ECFF"/>
                          </a:gs>
                          <a:gs pos="50000">
                            <a:schemeClr val="bg1"/>
                          </a:gs>
                          <a:gs pos="100000">
                            <a:srgbClr val="CCECFF"/>
                          </a:gs>
                        </a:gsLst>
                        <a:lin ang="5400000" scaled="1"/>
                      </a:gradFill>
                      <a:ln w="19050">
                        <a:solidFill>
                          <a:srgbClr val="33CC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47" name="文本框 487446"/>
          <p:cNvSpPr txBox="1"/>
          <p:nvPr/>
        </p:nvSpPr>
        <p:spPr>
          <a:xfrm>
            <a:off x="1476375" y="3068638"/>
            <a:ext cx="67579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800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  <a:r>
              <a:rPr lang="en-US" altLang="zh-CN" sz="2800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----</a:t>
            </a:r>
            <a:r>
              <a:rPr lang="zh-CN" altLang="en-US" sz="2800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称为该能级的</a:t>
            </a:r>
            <a:r>
              <a:rPr lang="zh-CN" altLang="en-US" sz="2800" b="1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自然）宽度</a:t>
            </a:r>
            <a:endParaRPr lang="zh-CN" altLang="en-US" sz="2800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87448" name="文本框 487447"/>
          <p:cNvSpPr txBox="1"/>
          <p:nvPr/>
        </p:nvSpPr>
        <p:spPr>
          <a:xfrm>
            <a:off x="1979613" y="3860800"/>
            <a:ext cx="2232025" cy="5286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800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sz="2800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≥ </a:t>
            </a: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MT Extra" panose="05050102010205020202" pitchFamily="18" charset="2"/>
              </a:rPr>
              <a:t></a:t>
            </a: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/2</a:t>
            </a:r>
          </a:p>
        </p:txBody>
      </p:sp>
      <p:sp>
        <p:nvSpPr>
          <p:cNvPr id="487449" name="文本框 487448"/>
          <p:cNvSpPr txBox="1">
            <a:spLocks noChangeArrowheads="1"/>
          </p:cNvSpPr>
          <p:nvPr/>
        </p:nvSpPr>
        <p:spPr bwMode="auto">
          <a:xfrm>
            <a:off x="4356100" y="3860800"/>
            <a:ext cx="5192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----</a:t>
            </a:r>
            <a:r>
              <a:rPr lang="zh-CN" altLang="en-US" sz="2800" b="1" baseline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能级寿命</a:t>
            </a:r>
            <a:r>
              <a:rPr lang="zh-CN" altLang="en-US" sz="2800" b="1" baseline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sz="2800" b="1" baseline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自然宽度</a:t>
            </a:r>
            <a:r>
              <a:rPr lang="zh-CN" altLang="en-US" sz="2800" b="1" baseline="0">
                <a:latin typeface="华文新魏" panose="02010800040101010101" pitchFamily="2" charset="-122"/>
                <a:ea typeface="华文新魏" panose="02010800040101010101" pitchFamily="2" charset="-122"/>
              </a:rPr>
              <a:t>关系</a:t>
            </a:r>
          </a:p>
        </p:txBody>
      </p:sp>
      <p:sp>
        <p:nvSpPr>
          <p:cNvPr id="487450" name="文本框 487449"/>
          <p:cNvSpPr txBox="1"/>
          <p:nvPr/>
        </p:nvSpPr>
        <p:spPr>
          <a:xfrm>
            <a:off x="360363" y="4713288"/>
            <a:ext cx="8820150" cy="896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 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当原子处在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基态时，是稳定的，寿命</a:t>
            </a:r>
            <a:r>
              <a:rPr lang="zh-CN" altLang="en-US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 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→∞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，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  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Δ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→0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，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基态能量有确定值。</a:t>
            </a:r>
          </a:p>
        </p:txBody>
      </p:sp>
      <p:graphicFrame>
        <p:nvGraphicFramePr>
          <p:cNvPr id="487451" name="对象 487450"/>
          <p:cNvGraphicFramePr/>
          <p:nvPr/>
        </p:nvGraphicFramePr>
        <p:xfrm>
          <a:off x="4962525" y="6119813"/>
          <a:ext cx="310991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3" r:id="rId7" imgW="1483360" imgH="234315" progId="Equation.3">
                  <p:embed/>
                </p:oleObj>
              </mc:Choice>
              <mc:Fallback>
                <p:oleObj r:id="rId7" imgW="1483360" imgH="234315" progId="Equation.3">
                  <p:embed/>
                  <p:pic>
                    <p:nvPicPr>
                      <p:cNvPr id="0" name="对象 48745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525" y="6119813"/>
                        <a:ext cx="310991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52" name="矩形 487451"/>
          <p:cNvSpPr/>
          <p:nvPr/>
        </p:nvSpPr>
        <p:spPr>
          <a:xfrm>
            <a:off x="1009650" y="5792788"/>
            <a:ext cx="8675688" cy="785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原子处于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激发态时， 平均寿命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 </a:t>
            </a:r>
            <a:r>
              <a:rPr lang="en-US" altLang="zh-CN" sz="1800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≈ 10</a:t>
            </a:r>
            <a:r>
              <a:rPr lang="en-US" altLang="zh-CN" b="1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-8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s,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激发态的能级宽度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87519" name="内容占位符 487518"/>
          <p:cNvGraphicFramePr>
            <a:graphicFrameLocks noGrp="1"/>
          </p:cNvGraphicFramePr>
          <p:nvPr>
            <p:ph sz="half" idx="2"/>
          </p:nvPr>
        </p:nvGraphicFramePr>
        <p:xfrm>
          <a:off x="4067175" y="2420938"/>
          <a:ext cx="11525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4" r:id="rId9" imgW="469265" imgH="177800" progId="Equation.3">
                  <p:embed/>
                </p:oleObj>
              </mc:Choice>
              <mc:Fallback>
                <p:oleObj r:id="rId9" imgW="469265" imgH="177800" progId="Equation.3">
                  <p:embed/>
                  <p:pic>
                    <p:nvPicPr>
                      <p:cNvPr id="0" name="内容占位符 48751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420938"/>
                        <a:ext cx="1152525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8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8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8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8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8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8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8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48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48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nimBg="1"/>
      <p:bldP spid="487440" grpId="0"/>
      <p:bldP spid="487447" grpId="0"/>
      <p:bldP spid="487448" grpId="0" animBg="1"/>
      <p:bldP spid="487449" grpId="0"/>
      <p:bldP spid="487450" grpId="0"/>
      <p:bldP spid="4874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对象 528387"/>
          <p:cNvGraphicFramePr/>
          <p:nvPr/>
        </p:nvGraphicFramePr>
        <p:xfrm>
          <a:off x="4203700" y="768350"/>
          <a:ext cx="310991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5" r:id="rId3" imgW="1483360" imgH="234315" progId="Equation.3">
                  <p:embed/>
                </p:oleObj>
              </mc:Choice>
              <mc:Fallback>
                <p:oleObj r:id="rId3" imgW="1483360" imgH="234315" progId="Equation.3">
                  <p:embed/>
                  <p:pic>
                    <p:nvPicPr>
                      <p:cNvPr id="0" name="对象 52838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768350"/>
                        <a:ext cx="310991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8389" name="矩形 528388"/>
          <p:cNvSpPr/>
          <p:nvPr/>
        </p:nvSpPr>
        <p:spPr>
          <a:xfrm>
            <a:off x="250825" y="441325"/>
            <a:ext cx="8675688" cy="785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原子处于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激发态时， 平均寿命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 </a:t>
            </a:r>
            <a:r>
              <a:rPr lang="en-US" altLang="zh-CN" sz="1800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≈ 10</a:t>
            </a:r>
            <a:r>
              <a:rPr lang="en-US" altLang="zh-CN" b="1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-8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s,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原子激发态的能级宽度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grpSp>
        <p:nvGrpSpPr>
          <p:cNvPr id="528390" name="组合 528389"/>
          <p:cNvGrpSpPr/>
          <p:nvPr/>
        </p:nvGrpSpPr>
        <p:grpSpPr bwMode="auto">
          <a:xfrm rot="-244384">
            <a:off x="4954588" y="2943225"/>
            <a:ext cx="2133600" cy="990600"/>
            <a:chOff x="3389" y="3120"/>
            <a:chExt cx="1411" cy="624"/>
          </a:xfrm>
        </p:grpSpPr>
        <p:grpSp>
          <p:nvGrpSpPr>
            <p:cNvPr id="35897" name="组合 528390"/>
            <p:cNvGrpSpPr/>
            <p:nvPr/>
          </p:nvGrpSpPr>
          <p:grpSpPr bwMode="auto">
            <a:xfrm rot="2259770">
              <a:off x="3389" y="3201"/>
              <a:ext cx="643" cy="543"/>
              <a:chOff x="576" y="392"/>
              <a:chExt cx="1920" cy="2432"/>
            </a:xfrm>
          </p:grpSpPr>
          <p:sp>
            <p:nvSpPr>
              <p:cNvPr id="35904" name="任意多边形 528391"/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5" name="任意多边形 528392"/>
              <p:cNvSpPr>
                <a:spLocks noChangeArrowheads="1"/>
              </p:cNvSpPr>
              <p:nvPr/>
            </p:nvSpPr>
            <p:spPr bwMode="auto">
              <a:xfrm rot="10800000">
                <a:off x="976" y="1864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6" name="任意多边形 528393"/>
              <p:cNvSpPr>
                <a:spLocks noChangeArrowheads="1"/>
              </p:cNvSpPr>
              <p:nvPr/>
            </p:nvSpPr>
            <p:spPr bwMode="auto">
              <a:xfrm>
                <a:off x="1344" y="1352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7" name="任意多边形 528394"/>
              <p:cNvSpPr>
                <a:spLocks noChangeArrowheads="1"/>
              </p:cNvSpPr>
              <p:nvPr/>
            </p:nvSpPr>
            <p:spPr bwMode="auto">
              <a:xfrm rot="10800000">
                <a:off x="1728" y="920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8" name="任意多边形 528395"/>
              <p:cNvSpPr>
                <a:spLocks noChangeArrowheads="1"/>
              </p:cNvSpPr>
              <p:nvPr/>
            </p:nvSpPr>
            <p:spPr bwMode="auto">
              <a:xfrm>
                <a:off x="2096" y="392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5898" name="组合 528396"/>
            <p:cNvGrpSpPr/>
            <p:nvPr/>
          </p:nvGrpSpPr>
          <p:grpSpPr bwMode="auto">
            <a:xfrm rot="2244370" flipH="1" flipV="1">
              <a:off x="4157" y="3120"/>
              <a:ext cx="643" cy="543"/>
              <a:chOff x="576" y="392"/>
              <a:chExt cx="1920" cy="2432"/>
            </a:xfrm>
          </p:grpSpPr>
          <p:sp>
            <p:nvSpPr>
              <p:cNvPr id="35899" name="任意多边形 528397"/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0" name="任意多边形 528398"/>
              <p:cNvSpPr>
                <a:spLocks noChangeArrowheads="1"/>
              </p:cNvSpPr>
              <p:nvPr/>
            </p:nvSpPr>
            <p:spPr bwMode="auto">
              <a:xfrm rot="10800000">
                <a:off x="976" y="1864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1" name="任意多边形 528399"/>
              <p:cNvSpPr>
                <a:spLocks noChangeArrowheads="1"/>
              </p:cNvSpPr>
              <p:nvPr/>
            </p:nvSpPr>
            <p:spPr bwMode="auto">
              <a:xfrm>
                <a:off x="1344" y="1352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2" name="任意多边形 528400"/>
              <p:cNvSpPr>
                <a:spLocks noChangeArrowheads="1"/>
              </p:cNvSpPr>
              <p:nvPr/>
            </p:nvSpPr>
            <p:spPr bwMode="auto">
              <a:xfrm rot="10800000">
                <a:off x="1728" y="920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3" name="任意多边形 528401"/>
              <p:cNvSpPr>
                <a:spLocks noChangeArrowheads="1"/>
              </p:cNvSpPr>
              <p:nvPr/>
            </p:nvSpPr>
            <p:spPr bwMode="auto">
              <a:xfrm>
                <a:off x="2096" y="392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28403" name="组合 528402"/>
          <p:cNvGrpSpPr/>
          <p:nvPr/>
        </p:nvGrpSpPr>
        <p:grpSpPr bwMode="auto">
          <a:xfrm rot="-924108">
            <a:off x="4913313" y="2024063"/>
            <a:ext cx="2209800" cy="973137"/>
            <a:chOff x="3389" y="3120"/>
            <a:chExt cx="1411" cy="624"/>
          </a:xfrm>
        </p:grpSpPr>
        <p:grpSp>
          <p:nvGrpSpPr>
            <p:cNvPr id="35885" name="组合 528403"/>
            <p:cNvGrpSpPr/>
            <p:nvPr/>
          </p:nvGrpSpPr>
          <p:grpSpPr bwMode="auto">
            <a:xfrm rot="2259770">
              <a:off x="3389" y="3201"/>
              <a:ext cx="643" cy="543"/>
              <a:chOff x="576" y="392"/>
              <a:chExt cx="1920" cy="2432"/>
            </a:xfrm>
          </p:grpSpPr>
          <p:sp>
            <p:nvSpPr>
              <p:cNvPr id="35892" name="任意多边形 528404"/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3" name="任意多边形 528405"/>
              <p:cNvSpPr>
                <a:spLocks noChangeArrowheads="1"/>
              </p:cNvSpPr>
              <p:nvPr/>
            </p:nvSpPr>
            <p:spPr bwMode="auto">
              <a:xfrm rot="10800000">
                <a:off x="976" y="1864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4" name="任意多边形 528406"/>
              <p:cNvSpPr>
                <a:spLocks noChangeArrowheads="1"/>
              </p:cNvSpPr>
              <p:nvPr/>
            </p:nvSpPr>
            <p:spPr bwMode="auto">
              <a:xfrm>
                <a:off x="1344" y="1352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5" name="任意多边形 528407"/>
              <p:cNvSpPr>
                <a:spLocks noChangeArrowheads="1"/>
              </p:cNvSpPr>
              <p:nvPr/>
            </p:nvSpPr>
            <p:spPr bwMode="auto">
              <a:xfrm rot="10800000">
                <a:off x="1728" y="920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6" name="任意多边形 528408"/>
              <p:cNvSpPr>
                <a:spLocks noChangeArrowheads="1"/>
              </p:cNvSpPr>
              <p:nvPr/>
            </p:nvSpPr>
            <p:spPr bwMode="auto">
              <a:xfrm>
                <a:off x="2096" y="392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5886" name="组合 528409"/>
            <p:cNvGrpSpPr/>
            <p:nvPr/>
          </p:nvGrpSpPr>
          <p:grpSpPr bwMode="auto">
            <a:xfrm rot="2244370" flipH="1" flipV="1">
              <a:off x="4157" y="3120"/>
              <a:ext cx="643" cy="543"/>
              <a:chOff x="576" y="392"/>
              <a:chExt cx="1920" cy="2432"/>
            </a:xfrm>
          </p:grpSpPr>
          <p:sp>
            <p:nvSpPr>
              <p:cNvPr id="35887" name="任意多边形 528410"/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8" name="任意多边形 528411"/>
              <p:cNvSpPr>
                <a:spLocks noChangeArrowheads="1"/>
              </p:cNvSpPr>
              <p:nvPr/>
            </p:nvSpPr>
            <p:spPr bwMode="auto">
              <a:xfrm rot="10800000">
                <a:off x="976" y="1864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9" name="任意多边形 528412"/>
              <p:cNvSpPr>
                <a:spLocks noChangeArrowheads="1"/>
              </p:cNvSpPr>
              <p:nvPr/>
            </p:nvSpPr>
            <p:spPr bwMode="auto">
              <a:xfrm>
                <a:off x="1344" y="1352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0" name="任意多边形 528413"/>
              <p:cNvSpPr>
                <a:spLocks noChangeArrowheads="1"/>
              </p:cNvSpPr>
              <p:nvPr/>
            </p:nvSpPr>
            <p:spPr bwMode="auto">
              <a:xfrm rot="10800000">
                <a:off x="1728" y="920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1" name="任意多边形 528414"/>
              <p:cNvSpPr>
                <a:spLocks noChangeArrowheads="1"/>
              </p:cNvSpPr>
              <p:nvPr/>
            </p:nvSpPr>
            <p:spPr bwMode="auto">
              <a:xfrm>
                <a:off x="2096" y="392"/>
                <a:ext cx="400" cy="568"/>
              </a:xfrm>
              <a:custGeom>
                <a:avLst/>
                <a:gdLst>
                  <a:gd name="T0" fmla="*/ 16 w 400"/>
                  <a:gd name="T1" fmla="*/ 568 h 568"/>
                  <a:gd name="T2" fmla="*/ 16 w 400"/>
                  <a:gd name="T3" fmla="*/ 280 h 568"/>
                  <a:gd name="T4" fmla="*/ 112 w 400"/>
                  <a:gd name="T5" fmla="*/ 40 h 568"/>
                  <a:gd name="T6" fmla="*/ 304 w 400"/>
                  <a:gd name="T7" fmla="*/ 40 h 568"/>
                  <a:gd name="T8" fmla="*/ 400 w 400"/>
                  <a:gd name="T9" fmla="*/ 88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568">
                    <a:moveTo>
                      <a:pt x="16" y="568"/>
                    </a:moveTo>
                    <a:cubicBezTo>
                      <a:pt x="8" y="468"/>
                      <a:pt x="0" y="368"/>
                      <a:pt x="16" y="280"/>
                    </a:cubicBezTo>
                    <a:cubicBezTo>
                      <a:pt x="32" y="192"/>
                      <a:pt x="64" y="80"/>
                      <a:pt x="112" y="40"/>
                    </a:cubicBezTo>
                    <a:cubicBezTo>
                      <a:pt x="160" y="0"/>
                      <a:pt x="256" y="32"/>
                      <a:pt x="304" y="40"/>
                    </a:cubicBezTo>
                    <a:cubicBezTo>
                      <a:pt x="352" y="48"/>
                      <a:pt x="384" y="80"/>
                      <a:pt x="400" y="88"/>
                    </a:cubicBezTo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28416" name="组合 528415"/>
          <p:cNvGrpSpPr/>
          <p:nvPr/>
        </p:nvGrpSpPr>
        <p:grpSpPr bwMode="auto">
          <a:xfrm>
            <a:off x="6184900" y="1514475"/>
            <a:ext cx="2133600" cy="1066800"/>
            <a:chOff x="4176" y="2784"/>
            <a:chExt cx="1344" cy="672"/>
          </a:xfrm>
        </p:grpSpPr>
        <p:sp>
          <p:nvSpPr>
            <p:cNvPr id="528417" name="矩形 528416"/>
            <p:cNvSpPr/>
            <p:nvPr/>
          </p:nvSpPr>
          <p:spPr>
            <a:xfrm>
              <a:off x="4176" y="2784"/>
              <a:ext cx="1344" cy="672"/>
            </a:xfrm>
            <a:prstGeom prst="rect">
              <a:avLst/>
            </a:prstGeom>
            <a:solidFill>
              <a:srgbClr val="CC3300"/>
            </a:solidFill>
            <a:ln w="57150">
              <a:noFill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baseline="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</a:endParaRPr>
            </a:p>
          </p:txBody>
        </p:sp>
        <p:graphicFrame>
          <p:nvGraphicFramePr>
            <p:cNvPr id="35884" name="对象 528417"/>
            <p:cNvGraphicFramePr/>
            <p:nvPr/>
          </p:nvGraphicFramePr>
          <p:xfrm>
            <a:off x="4224" y="2784"/>
            <a:ext cx="1248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56" r:id="rId5" imgW="847725" imgH="423545" progId="Equation.3">
                    <p:embed/>
                  </p:oleObj>
                </mc:Choice>
                <mc:Fallback>
                  <p:oleObj r:id="rId5" imgW="847725" imgH="423545" progId="Equation.3">
                    <p:embed/>
                    <p:pic>
                      <p:nvPicPr>
                        <p:cNvPr id="0" name="对象 5284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784"/>
                          <a:ext cx="1248" cy="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8419" name="组合 528418"/>
          <p:cNvGrpSpPr/>
          <p:nvPr/>
        </p:nvGrpSpPr>
        <p:grpSpPr bwMode="auto">
          <a:xfrm>
            <a:off x="5003800" y="4005263"/>
            <a:ext cx="3546475" cy="822325"/>
            <a:chOff x="3504" y="3748"/>
            <a:chExt cx="2234" cy="518"/>
          </a:xfrm>
        </p:grpSpPr>
        <p:sp>
          <p:nvSpPr>
            <p:cNvPr id="528420" name="文本框 528419"/>
            <p:cNvSpPr txBox="1"/>
            <p:nvPr/>
          </p:nvSpPr>
          <p:spPr>
            <a:xfrm>
              <a:off x="3504" y="3748"/>
              <a:ext cx="2234" cy="518"/>
            </a:xfrm>
            <a:prstGeom prst="rect">
              <a:avLst/>
            </a:prstGeom>
            <a:solidFill>
              <a:srgbClr val="CCECFF"/>
            </a:solidFill>
            <a:ln w="38100">
              <a:noFill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b="1" baseline="0" noProof="1">
                  <a:effectLst>
                    <a:outerShdw blurRad="38100" dist="38100" dir="2700000">
                      <a:srgbClr val="FFFFFF"/>
                    </a:outerShdw>
                  </a:effectLst>
                  <a:ea typeface="宋体" panose="02010600030101010101" pitchFamily="2" charset="-122"/>
                </a:rPr>
                <a:t>推论：原子发光有一定</a:t>
              </a:r>
            </a:p>
            <a:p>
              <a:pPr eaLnBrk="1" hangingPunct="1">
                <a:defRPr/>
              </a:pPr>
              <a:r>
                <a:rPr lang="zh-CN" altLang="en-US" b="1" baseline="0" noProof="1">
                  <a:effectLst>
                    <a:outerShdw blurRad="38100" dist="38100" dir="2700000">
                      <a:srgbClr val="FFFFFF"/>
                    </a:outerShdw>
                  </a:effectLst>
                  <a:ea typeface="宋体" panose="02010600030101010101" pitchFamily="2" charset="-122"/>
                </a:rPr>
                <a:t>的谱线宽度</a:t>
              </a:r>
            </a:p>
          </p:txBody>
        </p:sp>
        <p:graphicFrame>
          <p:nvGraphicFramePr>
            <p:cNvPr id="35882" name="对象 528420"/>
            <p:cNvGraphicFramePr/>
            <p:nvPr/>
          </p:nvGraphicFramePr>
          <p:xfrm>
            <a:off x="4558" y="4023"/>
            <a:ext cx="316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57" r:id="rId7" imgW="245110" imgH="178435" progId="Equation.3">
                    <p:embed/>
                  </p:oleObj>
                </mc:Choice>
                <mc:Fallback>
                  <p:oleObj r:id="rId7" imgW="245110" imgH="178435" progId="Equation.3">
                    <p:embed/>
                    <p:pic>
                      <p:nvPicPr>
                        <p:cNvPr id="0" name="对象 5284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4023"/>
                          <a:ext cx="316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8422" name="组合 528421"/>
          <p:cNvGrpSpPr/>
          <p:nvPr/>
        </p:nvGrpSpPr>
        <p:grpSpPr bwMode="auto">
          <a:xfrm>
            <a:off x="596900" y="1574800"/>
            <a:ext cx="4156075" cy="2022475"/>
            <a:chOff x="192" y="49"/>
            <a:chExt cx="2618" cy="1274"/>
          </a:xfrm>
        </p:grpSpPr>
        <p:sp>
          <p:nvSpPr>
            <p:cNvPr id="35872" name="直接连接符 528422"/>
            <p:cNvSpPr>
              <a:spLocks noChangeShapeType="1"/>
            </p:cNvSpPr>
            <p:nvPr/>
          </p:nvSpPr>
          <p:spPr bwMode="auto">
            <a:xfrm>
              <a:off x="432" y="1297"/>
              <a:ext cx="1968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3" name="直接连接符 528423"/>
            <p:cNvSpPr>
              <a:spLocks noChangeShapeType="1"/>
            </p:cNvSpPr>
            <p:nvPr/>
          </p:nvSpPr>
          <p:spPr bwMode="auto">
            <a:xfrm>
              <a:off x="432" y="289"/>
              <a:ext cx="1968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4" name="直接连接符 528424"/>
            <p:cNvSpPr>
              <a:spLocks noChangeShapeType="1"/>
            </p:cNvSpPr>
            <p:nvPr/>
          </p:nvSpPr>
          <p:spPr bwMode="auto">
            <a:xfrm>
              <a:off x="432" y="337"/>
              <a:ext cx="1968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5" name="直接连接符 528425"/>
            <p:cNvSpPr>
              <a:spLocks noChangeShapeType="1"/>
            </p:cNvSpPr>
            <p:nvPr/>
          </p:nvSpPr>
          <p:spPr bwMode="auto">
            <a:xfrm>
              <a:off x="432" y="385"/>
              <a:ext cx="1968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6" name="直接连接符 528426"/>
            <p:cNvSpPr>
              <a:spLocks noChangeShapeType="1"/>
            </p:cNvSpPr>
            <p:nvPr/>
          </p:nvSpPr>
          <p:spPr bwMode="auto">
            <a:xfrm>
              <a:off x="432" y="433"/>
              <a:ext cx="1968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428" name="文本框 528427"/>
            <p:cNvSpPr txBox="1"/>
            <p:nvPr/>
          </p:nvSpPr>
          <p:spPr>
            <a:xfrm>
              <a:off x="230" y="1035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b="1" baseline="0" noProof="1">
                  <a:solidFill>
                    <a:schemeClr val="bg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E</a:t>
              </a:r>
              <a:r>
                <a:rPr lang="en-US" altLang="zh-CN" b="1" baseline="-25000" noProof="1">
                  <a:solidFill>
                    <a:schemeClr val="bg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1</a:t>
              </a:r>
              <a:endParaRPr lang="en-US" altLang="zh-CN" b="1" baseline="0" noProof="1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528429" name="文本框 528428"/>
            <p:cNvSpPr txBox="1"/>
            <p:nvPr/>
          </p:nvSpPr>
          <p:spPr>
            <a:xfrm>
              <a:off x="192" y="255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b="1" baseline="0" noProof="1">
                  <a:solidFill>
                    <a:schemeClr val="bg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528430" name="文本框 528429"/>
            <p:cNvSpPr txBox="1"/>
            <p:nvPr/>
          </p:nvSpPr>
          <p:spPr>
            <a:xfrm>
              <a:off x="2448" y="251"/>
              <a:ext cx="3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b="1" baseline="0" noProof="1">
                  <a:solidFill>
                    <a:schemeClr val="bg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  <a:sym typeface="Symbol" panose="05050102010706020507" pitchFamily="18" charset="2"/>
                </a:rPr>
                <a:t></a:t>
              </a:r>
              <a:r>
                <a:rPr lang="en-US" altLang="zh-CN" b="1" baseline="0" noProof="1">
                  <a:solidFill>
                    <a:schemeClr val="bg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5880" name="椭圆 528430"/>
            <p:cNvSpPr>
              <a:spLocks noChangeArrowheads="1"/>
            </p:cNvSpPr>
            <p:nvPr/>
          </p:nvSpPr>
          <p:spPr bwMode="auto">
            <a:xfrm>
              <a:off x="1632" y="49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A92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66FF33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</p:grpSp>
      <p:sp>
        <p:nvSpPr>
          <p:cNvPr id="528432" name="椭圆 528431"/>
          <p:cNvSpPr>
            <a:spLocks noChangeArrowheads="1"/>
          </p:cNvSpPr>
          <p:nvPr/>
        </p:nvSpPr>
        <p:spPr bwMode="auto">
          <a:xfrm>
            <a:off x="3025775" y="3098800"/>
            <a:ext cx="457200" cy="4572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A922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pSp>
        <p:nvGrpSpPr>
          <p:cNvPr id="528433" name="组合 528432"/>
          <p:cNvGrpSpPr/>
          <p:nvPr/>
        </p:nvGrpSpPr>
        <p:grpSpPr bwMode="auto">
          <a:xfrm>
            <a:off x="3025775" y="2235200"/>
            <a:ext cx="457200" cy="1295400"/>
            <a:chOff x="3840" y="3024"/>
            <a:chExt cx="288" cy="816"/>
          </a:xfrm>
        </p:grpSpPr>
        <p:sp>
          <p:nvSpPr>
            <p:cNvPr id="35870" name="椭圆 528433"/>
            <p:cNvSpPr>
              <a:spLocks noChangeArrowheads="1"/>
            </p:cNvSpPr>
            <p:nvPr/>
          </p:nvSpPr>
          <p:spPr bwMode="auto">
            <a:xfrm>
              <a:off x="3840" y="3552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A92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35871" name="直接连接符 528434"/>
            <p:cNvSpPr>
              <a:spLocks noChangeShapeType="1"/>
            </p:cNvSpPr>
            <p:nvPr/>
          </p:nvSpPr>
          <p:spPr bwMode="auto">
            <a:xfrm>
              <a:off x="3984" y="3024"/>
              <a:ext cx="0" cy="528"/>
            </a:xfrm>
            <a:prstGeom prst="line">
              <a:avLst/>
            </a:prstGeom>
            <a:noFill/>
            <a:ln w="38100">
              <a:solidFill>
                <a:srgbClr val="99FF33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8436" name="椭圆 528435"/>
          <p:cNvSpPr>
            <a:spLocks noChangeArrowheads="1"/>
          </p:cNvSpPr>
          <p:nvPr/>
        </p:nvSpPr>
        <p:spPr bwMode="auto">
          <a:xfrm>
            <a:off x="3025775" y="2062163"/>
            <a:ext cx="457200" cy="4572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A922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66FF33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pSp>
        <p:nvGrpSpPr>
          <p:cNvPr id="528437" name="组合 528436"/>
          <p:cNvGrpSpPr/>
          <p:nvPr/>
        </p:nvGrpSpPr>
        <p:grpSpPr bwMode="auto">
          <a:xfrm>
            <a:off x="468313" y="1466850"/>
            <a:ext cx="4386262" cy="2133600"/>
            <a:chOff x="2868" y="2208"/>
            <a:chExt cx="2700" cy="1344"/>
          </a:xfrm>
        </p:grpSpPr>
        <p:sp>
          <p:nvSpPr>
            <p:cNvPr id="35858" name="矩形 528437"/>
            <p:cNvSpPr>
              <a:spLocks noChangeArrowheads="1"/>
            </p:cNvSpPr>
            <p:nvPr/>
          </p:nvSpPr>
          <p:spPr bwMode="auto">
            <a:xfrm>
              <a:off x="2928" y="2208"/>
              <a:ext cx="2640" cy="13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35859" name="矩形 528438"/>
            <p:cNvSpPr>
              <a:spLocks noChangeArrowheads="1"/>
            </p:cNvSpPr>
            <p:nvPr/>
          </p:nvSpPr>
          <p:spPr bwMode="auto">
            <a:xfrm>
              <a:off x="3408" y="3223"/>
              <a:ext cx="1488" cy="240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35860" name="直接连接符 528439"/>
            <p:cNvSpPr>
              <a:spLocks noChangeShapeType="1"/>
            </p:cNvSpPr>
            <p:nvPr/>
          </p:nvSpPr>
          <p:spPr bwMode="auto">
            <a:xfrm>
              <a:off x="3108" y="3511"/>
              <a:ext cx="1968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861" name="组合 528440"/>
            <p:cNvGrpSpPr/>
            <p:nvPr/>
          </p:nvGrpSpPr>
          <p:grpSpPr bwMode="auto">
            <a:xfrm>
              <a:off x="3108" y="2503"/>
              <a:ext cx="1968" cy="144"/>
              <a:chOff x="384" y="3024"/>
              <a:chExt cx="1968" cy="144"/>
            </a:xfrm>
          </p:grpSpPr>
          <p:sp>
            <p:nvSpPr>
              <p:cNvPr id="35866" name="直接连接符 528441"/>
              <p:cNvSpPr>
                <a:spLocks noChangeShapeType="1"/>
              </p:cNvSpPr>
              <p:nvPr/>
            </p:nvSpPr>
            <p:spPr bwMode="auto">
              <a:xfrm>
                <a:off x="384" y="3024"/>
                <a:ext cx="1968" cy="0"/>
              </a:xfrm>
              <a:prstGeom prst="line">
                <a:avLst/>
              </a:prstGeom>
              <a:noFill/>
              <a:ln w="28575">
                <a:solidFill>
                  <a:srgbClr val="66FF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7" name="直接连接符 528442"/>
              <p:cNvSpPr>
                <a:spLocks noChangeShapeType="1"/>
              </p:cNvSpPr>
              <p:nvPr/>
            </p:nvSpPr>
            <p:spPr bwMode="auto">
              <a:xfrm>
                <a:off x="384" y="3072"/>
                <a:ext cx="1968" cy="0"/>
              </a:xfrm>
              <a:prstGeom prst="line">
                <a:avLst/>
              </a:prstGeom>
              <a:noFill/>
              <a:ln w="28575">
                <a:solidFill>
                  <a:srgbClr val="66FF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8" name="直接连接符 528443"/>
              <p:cNvSpPr>
                <a:spLocks noChangeShapeType="1"/>
              </p:cNvSpPr>
              <p:nvPr/>
            </p:nvSpPr>
            <p:spPr bwMode="auto">
              <a:xfrm>
                <a:off x="384" y="3120"/>
                <a:ext cx="1968" cy="0"/>
              </a:xfrm>
              <a:prstGeom prst="line">
                <a:avLst/>
              </a:prstGeom>
              <a:noFill/>
              <a:ln w="28575">
                <a:solidFill>
                  <a:srgbClr val="66FF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9" name="直接连接符 528444"/>
              <p:cNvSpPr>
                <a:spLocks noChangeShapeType="1"/>
              </p:cNvSpPr>
              <p:nvPr/>
            </p:nvSpPr>
            <p:spPr bwMode="auto">
              <a:xfrm>
                <a:off x="384" y="3168"/>
                <a:ext cx="1968" cy="0"/>
              </a:xfrm>
              <a:prstGeom prst="line">
                <a:avLst/>
              </a:prstGeom>
              <a:noFill/>
              <a:ln w="28575">
                <a:solidFill>
                  <a:srgbClr val="66FF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8446" name="文本框 528445"/>
            <p:cNvSpPr txBox="1"/>
            <p:nvPr/>
          </p:nvSpPr>
          <p:spPr>
            <a:xfrm>
              <a:off x="2906" y="3249"/>
              <a:ext cx="3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b="1" baseline="0" noProof="1">
                  <a:solidFill>
                    <a:srgbClr val="FF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E</a:t>
              </a:r>
              <a:r>
                <a:rPr lang="en-US" altLang="zh-CN" b="1" baseline="-25000" noProof="1">
                  <a:solidFill>
                    <a:srgbClr val="FF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1</a:t>
              </a:r>
              <a:endParaRPr lang="en-US" altLang="zh-CN" b="1" baseline="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528447" name="文本框 528446"/>
            <p:cNvSpPr txBox="1"/>
            <p:nvPr/>
          </p:nvSpPr>
          <p:spPr>
            <a:xfrm>
              <a:off x="2868" y="2469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b="1" baseline="0" noProof="1">
                  <a:solidFill>
                    <a:srgbClr val="FF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528448" name="文本框 528447"/>
            <p:cNvSpPr txBox="1"/>
            <p:nvPr/>
          </p:nvSpPr>
          <p:spPr>
            <a:xfrm>
              <a:off x="5124" y="2465"/>
              <a:ext cx="3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b="1" baseline="0" noProof="1">
                  <a:solidFill>
                    <a:srgbClr val="FF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  <a:sym typeface="Symbol" panose="05050102010706020507" pitchFamily="18" charset="2"/>
                </a:rPr>
                <a:t></a:t>
              </a:r>
              <a:r>
                <a:rPr lang="en-US" altLang="zh-CN" b="1" baseline="0" noProof="1">
                  <a:solidFill>
                    <a:srgbClr val="FF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5865" name="椭圆 528448"/>
            <p:cNvSpPr>
              <a:spLocks noChangeArrowheads="1"/>
            </p:cNvSpPr>
            <p:nvPr/>
          </p:nvSpPr>
          <p:spPr bwMode="auto">
            <a:xfrm>
              <a:off x="3456" y="321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A92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</p:grpSp>
      <p:sp>
        <p:nvSpPr>
          <p:cNvPr id="528450" name="椭圆 528449"/>
          <p:cNvSpPr>
            <a:spLocks noChangeArrowheads="1"/>
          </p:cNvSpPr>
          <p:nvPr/>
        </p:nvSpPr>
        <p:spPr bwMode="auto">
          <a:xfrm>
            <a:off x="3040063" y="1900238"/>
            <a:ext cx="457200" cy="4572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A922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528451" name="椭圆 528450"/>
          <p:cNvSpPr>
            <a:spLocks noChangeArrowheads="1"/>
          </p:cNvSpPr>
          <p:nvPr/>
        </p:nvSpPr>
        <p:spPr bwMode="auto">
          <a:xfrm>
            <a:off x="4397375" y="3049588"/>
            <a:ext cx="457200" cy="4572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A922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pSp>
        <p:nvGrpSpPr>
          <p:cNvPr id="528452" name="组合 528451"/>
          <p:cNvGrpSpPr/>
          <p:nvPr/>
        </p:nvGrpSpPr>
        <p:grpSpPr bwMode="auto">
          <a:xfrm>
            <a:off x="3040063" y="2155825"/>
            <a:ext cx="457200" cy="1447800"/>
            <a:chOff x="1584" y="3072"/>
            <a:chExt cx="288" cy="912"/>
          </a:xfrm>
        </p:grpSpPr>
        <p:sp>
          <p:nvSpPr>
            <p:cNvPr id="35856" name="椭圆 528452"/>
            <p:cNvSpPr>
              <a:spLocks noChangeArrowheads="1"/>
            </p:cNvSpPr>
            <p:nvPr/>
          </p:nvSpPr>
          <p:spPr bwMode="auto">
            <a:xfrm>
              <a:off x="1584" y="369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A92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35857" name="直接连接符 528453"/>
            <p:cNvSpPr>
              <a:spLocks noChangeShapeType="1"/>
            </p:cNvSpPr>
            <p:nvPr/>
          </p:nvSpPr>
          <p:spPr bwMode="auto">
            <a:xfrm>
              <a:off x="1728" y="3072"/>
              <a:ext cx="0" cy="624"/>
            </a:xfrm>
            <a:prstGeom prst="line">
              <a:avLst/>
            </a:prstGeom>
            <a:noFill/>
            <a:ln w="38100">
              <a:solidFill>
                <a:srgbClr val="99FF33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284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2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284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2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52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284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28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6"/>
                                            </p:cond>
                                          </p:stCondLst>
                                        </p:cTn>
                                        <p:tgtEl>
                                          <p:spTgt spid="52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2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2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52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52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474" name="组合 489473"/>
          <p:cNvGrpSpPr/>
          <p:nvPr/>
        </p:nvGrpSpPr>
        <p:grpSpPr bwMode="auto">
          <a:xfrm>
            <a:off x="423863" y="3492500"/>
            <a:ext cx="7446962" cy="1719263"/>
            <a:chOff x="402" y="2819"/>
            <a:chExt cx="4691" cy="1083"/>
          </a:xfrm>
        </p:grpSpPr>
        <p:sp>
          <p:nvSpPr>
            <p:cNvPr id="36883" name="矩形 489474"/>
            <p:cNvSpPr>
              <a:spLocks noChangeArrowheads="1"/>
            </p:cNvSpPr>
            <p:nvPr/>
          </p:nvSpPr>
          <p:spPr bwMode="auto">
            <a:xfrm>
              <a:off x="402" y="2860"/>
              <a:ext cx="4691" cy="104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aphicFrame>
          <p:nvGraphicFramePr>
            <p:cNvPr id="36884" name="对象 489475"/>
            <p:cNvGraphicFramePr/>
            <p:nvPr/>
          </p:nvGraphicFramePr>
          <p:xfrm>
            <a:off x="624" y="2819"/>
            <a:ext cx="1104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0" r:id="rId3" imgW="869950" imgH="535305" progId="Equation.3">
                    <p:embed/>
                  </p:oleObj>
                </mc:Choice>
                <mc:Fallback>
                  <p:oleObj r:id="rId3" imgW="869950" imgH="535305" progId="Equation.3">
                    <p:embed/>
                    <p:pic>
                      <p:nvPicPr>
                        <p:cNvPr id="0" name="对象 48947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819"/>
                          <a:ext cx="1104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5" name="对象 489476"/>
            <p:cNvGraphicFramePr/>
            <p:nvPr/>
          </p:nvGraphicFramePr>
          <p:xfrm>
            <a:off x="627" y="3557"/>
            <a:ext cx="7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1" r:id="rId5" imgW="601980" imgH="178435" progId="Equation.3">
                    <p:embed/>
                  </p:oleObj>
                </mc:Choice>
                <mc:Fallback>
                  <p:oleObj r:id="rId5" imgW="601980" imgH="178435" progId="Equation.3">
                    <p:embed/>
                    <p:pic>
                      <p:nvPicPr>
                        <p:cNvPr id="0" name="对象 48947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7" y="3557"/>
                          <a:ext cx="76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9478" name="组合 489477"/>
          <p:cNvGrpSpPr/>
          <p:nvPr/>
        </p:nvGrpSpPr>
        <p:grpSpPr bwMode="auto">
          <a:xfrm>
            <a:off x="423863" y="1768475"/>
            <a:ext cx="7416800" cy="1570038"/>
            <a:chOff x="402" y="1733"/>
            <a:chExt cx="4672" cy="989"/>
          </a:xfrm>
        </p:grpSpPr>
        <p:sp>
          <p:nvSpPr>
            <p:cNvPr id="36880" name="矩形 489478"/>
            <p:cNvSpPr>
              <a:spLocks noChangeArrowheads="1"/>
            </p:cNvSpPr>
            <p:nvPr/>
          </p:nvSpPr>
          <p:spPr bwMode="auto">
            <a:xfrm>
              <a:off x="402" y="1772"/>
              <a:ext cx="4672" cy="94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aphicFrame>
          <p:nvGraphicFramePr>
            <p:cNvPr id="36881" name="对象 489479"/>
            <p:cNvGraphicFramePr/>
            <p:nvPr/>
          </p:nvGraphicFramePr>
          <p:xfrm>
            <a:off x="624" y="1733"/>
            <a:ext cx="1346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2" r:id="rId7" imgW="1070610" imgH="468630" progId="Equation.3">
                    <p:embed/>
                  </p:oleObj>
                </mc:Choice>
                <mc:Fallback>
                  <p:oleObj r:id="rId7" imgW="1070610" imgH="468630" progId="Equation.3">
                    <p:embed/>
                    <p:pic>
                      <p:nvPicPr>
                        <p:cNvPr id="0" name="对象 48947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733"/>
                          <a:ext cx="1346" cy="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2" name="对象 489480"/>
            <p:cNvGraphicFramePr/>
            <p:nvPr/>
          </p:nvGraphicFramePr>
          <p:xfrm>
            <a:off x="622" y="2411"/>
            <a:ext cx="78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3" r:id="rId9" imgW="680085" imgH="234315" progId="Equation.3">
                    <p:embed/>
                  </p:oleObj>
                </mc:Choice>
                <mc:Fallback>
                  <p:oleObj r:id="rId9" imgW="680085" imgH="234315" progId="Equation.3">
                    <p:embed/>
                    <p:pic>
                      <p:nvPicPr>
                        <p:cNvPr id="0" name="对象 48948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" y="2411"/>
                          <a:ext cx="78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9482" name="文本框 489481"/>
          <p:cNvSpPr txBox="1">
            <a:spLocks noChangeArrowheads="1"/>
          </p:cNvSpPr>
          <p:nvPr/>
        </p:nvSpPr>
        <p:spPr bwMode="auto">
          <a:xfrm>
            <a:off x="284163" y="63500"/>
            <a:ext cx="4251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baseline="0">
                <a:latin typeface="宋体" panose="02010600030101010101" pitchFamily="2" charset="-122"/>
              </a:rPr>
              <a:t>三</a:t>
            </a:r>
            <a:r>
              <a:rPr lang="zh-CN" altLang="en-US" b="1" baseline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baseline="0">
                <a:latin typeface="黑体" panose="02010609060101010101" pitchFamily="49" charset="-122"/>
                <a:ea typeface="黑体" panose="02010609060101010101" pitchFamily="49" charset="-122"/>
              </a:rPr>
              <a:t>不确定关系的意义</a:t>
            </a:r>
          </a:p>
        </p:txBody>
      </p:sp>
      <p:sp>
        <p:nvSpPr>
          <p:cNvPr id="489483" name="文本框 489482"/>
          <p:cNvSpPr txBox="1"/>
          <p:nvPr/>
        </p:nvSpPr>
        <p:spPr>
          <a:xfrm>
            <a:off x="250825" y="706438"/>
            <a:ext cx="8064500" cy="933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1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）不确定关系意味着两个共轭物理量的</a:t>
            </a:r>
            <a:r>
              <a:rPr lang="zh-CN" altLang="en-US" b="1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不确定量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</a:t>
            </a:r>
            <a:r>
              <a:rPr lang="zh-CN" altLang="en-US" b="1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不能同时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无限制地减小。</a:t>
            </a:r>
          </a:p>
        </p:txBody>
      </p:sp>
      <p:sp>
        <p:nvSpPr>
          <p:cNvPr id="489484" name="文本框 489483"/>
          <p:cNvSpPr txBox="1">
            <a:spLocks noChangeArrowheads="1"/>
          </p:cNvSpPr>
          <p:nvPr/>
        </p:nvSpPr>
        <p:spPr bwMode="auto">
          <a:xfrm>
            <a:off x="250825" y="5207000"/>
            <a:ext cx="8534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不确定关系使微观粒子运动</a:t>
            </a:r>
            <a:r>
              <a:rPr lang="zh-CN" altLang="en-US" sz="2800" b="1" baseline="0">
                <a:solidFill>
                  <a:srgbClr val="CC3300"/>
                </a:solidFill>
                <a:latin typeface="宋体" panose="0201060003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2800" b="1" baseline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轨道</a:t>
            </a:r>
            <a:r>
              <a:rPr lang="zh-CN" altLang="en-US" sz="2800" b="1" baseline="0">
                <a:solidFill>
                  <a:srgbClr val="CC3300"/>
                </a:solidFill>
                <a:latin typeface="宋体" panose="0201060003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2800" b="1" baseline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的概念失去意义</a:t>
            </a:r>
          </a:p>
        </p:txBody>
      </p:sp>
      <p:sp>
        <p:nvSpPr>
          <p:cNvPr id="489485" name="文本框 489484"/>
          <p:cNvSpPr txBox="1"/>
          <p:nvPr/>
        </p:nvSpPr>
        <p:spPr>
          <a:xfrm>
            <a:off x="2147888" y="2349500"/>
            <a:ext cx="243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位置完全确定</a:t>
            </a:r>
          </a:p>
        </p:txBody>
      </p:sp>
      <p:sp>
        <p:nvSpPr>
          <p:cNvPr id="489486" name="文本框 489485"/>
          <p:cNvSpPr txBox="1"/>
          <p:nvPr/>
        </p:nvSpPr>
        <p:spPr>
          <a:xfrm>
            <a:off x="2157413" y="2830513"/>
            <a:ext cx="358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动量完全不确定</a:t>
            </a:r>
          </a:p>
        </p:txBody>
      </p:sp>
      <p:sp>
        <p:nvSpPr>
          <p:cNvPr id="489487" name="文本框 489486"/>
          <p:cNvSpPr txBox="1"/>
          <p:nvPr/>
        </p:nvSpPr>
        <p:spPr>
          <a:xfrm>
            <a:off x="4749800" y="2833688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粒子向何方运动？</a:t>
            </a:r>
          </a:p>
        </p:txBody>
      </p:sp>
      <p:sp>
        <p:nvSpPr>
          <p:cNvPr id="489488" name="文本框 489487"/>
          <p:cNvSpPr txBox="1"/>
          <p:nvPr/>
        </p:nvSpPr>
        <p:spPr>
          <a:xfrm>
            <a:off x="2276475" y="4040188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动量完全确定</a:t>
            </a:r>
          </a:p>
        </p:txBody>
      </p:sp>
      <p:sp>
        <p:nvSpPr>
          <p:cNvPr id="489489" name="文本框 489488"/>
          <p:cNvSpPr txBox="1"/>
          <p:nvPr/>
        </p:nvSpPr>
        <p:spPr>
          <a:xfrm>
            <a:off x="2281238" y="4592638"/>
            <a:ext cx="2819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位置完全不确定</a:t>
            </a:r>
          </a:p>
        </p:txBody>
      </p:sp>
      <p:sp>
        <p:nvSpPr>
          <p:cNvPr id="489490" name="文本框 489489"/>
          <p:cNvSpPr txBox="1"/>
          <p:nvPr/>
        </p:nvSpPr>
        <p:spPr>
          <a:xfrm>
            <a:off x="4802188" y="4602163"/>
            <a:ext cx="243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粒子身在何处？</a:t>
            </a:r>
          </a:p>
        </p:txBody>
      </p:sp>
      <p:sp>
        <p:nvSpPr>
          <p:cNvPr id="489492" name="文本框 489491"/>
          <p:cNvSpPr txBox="1"/>
          <p:nvPr/>
        </p:nvSpPr>
        <p:spPr>
          <a:xfrm>
            <a:off x="250825" y="5949950"/>
            <a:ext cx="9015413" cy="868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）不确定关系波粒二象性的必然结果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是微观粒子的固有属性，与仪器精度和测量方法的完善与否无关</a:t>
            </a:r>
          </a:p>
        </p:txBody>
      </p:sp>
      <p:sp>
        <p:nvSpPr>
          <p:cNvPr id="489493" name="文本框 489492"/>
          <p:cNvSpPr txBox="1"/>
          <p:nvPr/>
        </p:nvSpPr>
        <p:spPr>
          <a:xfrm>
            <a:off x="8574088" y="5014913"/>
            <a:ext cx="438150" cy="1006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6000" b="1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!</a:t>
            </a:r>
          </a:p>
        </p:txBody>
      </p:sp>
      <p:graphicFrame>
        <p:nvGraphicFramePr>
          <p:cNvPr id="36879" name="内容占位符 489494"/>
          <p:cNvGraphicFramePr>
            <a:graphicFrameLocks noGrp="1"/>
          </p:cNvGraphicFramePr>
          <p:nvPr>
            <p:ph idx="4294967295"/>
          </p:nvPr>
        </p:nvGraphicFramePr>
        <p:xfrm>
          <a:off x="7156450" y="61913"/>
          <a:ext cx="1692275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4" r:id="rId11" imgW="786765" imgH="393700" progId="Equation.3">
                  <p:embed/>
                </p:oleObj>
              </mc:Choice>
              <mc:Fallback>
                <p:oleObj r:id="rId11" imgW="786765" imgH="393700" progId="Equation.3">
                  <p:embed/>
                  <p:pic>
                    <p:nvPicPr>
                      <p:cNvPr id="0" name="内容占位符 48949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6450" y="61913"/>
                        <a:ext cx="1692275" cy="84613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chemeClr val="bg1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</a:grad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8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8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8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8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8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8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8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8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894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9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89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89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89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89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48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82" grpId="0"/>
      <p:bldP spid="489483" grpId="0"/>
      <p:bldP spid="489484" grpId="0"/>
      <p:bldP spid="489485" grpId="0"/>
      <p:bldP spid="489486" grpId="0"/>
      <p:bldP spid="489487" grpId="0"/>
      <p:bldP spid="489488" grpId="0"/>
      <p:bldP spid="489489" grpId="0"/>
      <p:bldP spid="489490" grpId="0"/>
      <p:bldP spid="489492" grpId="0"/>
      <p:bldP spid="48949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文本框 490497"/>
          <p:cNvSpPr txBox="1"/>
          <p:nvPr/>
        </p:nvSpPr>
        <p:spPr>
          <a:xfrm>
            <a:off x="496888" y="188913"/>
            <a:ext cx="853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FontTx/>
              <a:buAutoNum type="arabicParenR" startAt="3"/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不确定关系的一个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直接推论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  <a:endParaRPr lang="en-US" altLang="zh-CN" b="1" baseline="0" noProof="1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90499" name="文本框 490498"/>
          <p:cNvSpPr txBox="1"/>
          <p:nvPr/>
        </p:nvSpPr>
        <p:spPr>
          <a:xfrm>
            <a:off x="950913" y="1844675"/>
            <a:ext cx="7162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（热运动不可能完全停止，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0 K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不能实现）</a:t>
            </a:r>
          </a:p>
        </p:txBody>
      </p:sp>
      <p:graphicFrame>
        <p:nvGraphicFramePr>
          <p:cNvPr id="490500" name="对象 490499"/>
          <p:cNvGraphicFramePr/>
          <p:nvPr/>
        </p:nvGraphicFramePr>
        <p:xfrm>
          <a:off x="2614613" y="1276350"/>
          <a:ext cx="40163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2" r:id="rId3" imgW="189865" imgH="234315" progId="Equation.DSMT4">
                  <p:embed/>
                </p:oleObj>
              </mc:Choice>
              <mc:Fallback>
                <p:oleObj r:id="rId3" imgW="189865" imgH="234315" progId="Equation.DSMT4">
                  <p:embed/>
                  <p:pic>
                    <p:nvPicPr>
                      <p:cNvPr id="0" name="对象 49049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1276350"/>
                        <a:ext cx="401637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0501" name="文本框 490500"/>
          <p:cNvSpPr txBox="1"/>
          <p:nvPr/>
        </p:nvSpPr>
        <p:spPr>
          <a:xfrm>
            <a:off x="2946400" y="1270000"/>
            <a:ext cx="647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可同时取确定值，违反不确定关系。</a:t>
            </a:r>
          </a:p>
        </p:txBody>
      </p:sp>
      <p:sp>
        <p:nvSpPr>
          <p:cNvPr id="490502" name="矩形 490501"/>
          <p:cNvSpPr/>
          <p:nvPr/>
        </p:nvSpPr>
        <p:spPr>
          <a:xfrm>
            <a:off x="900113" y="1270000"/>
            <a:ext cx="16383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否则，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和</a:t>
            </a:r>
          </a:p>
        </p:txBody>
      </p:sp>
      <p:sp>
        <p:nvSpPr>
          <p:cNvPr id="490503" name="文本框 490502"/>
          <p:cNvSpPr txBox="1"/>
          <p:nvPr/>
        </p:nvSpPr>
        <p:spPr>
          <a:xfrm>
            <a:off x="527050" y="2636838"/>
            <a:ext cx="838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4)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对宏观物体，不确定关系失去实际意义。</a:t>
            </a:r>
          </a:p>
        </p:txBody>
      </p:sp>
      <p:sp>
        <p:nvSpPr>
          <p:cNvPr id="490504" name="文本框 490503"/>
          <p:cNvSpPr txBox="1"/>
          <p:nvPr/>
        </p:nvSpPr>
        <p:spPr>
          <a:xfrm>
            <a:off x="858838" y="5694363"/>
            <a:ext cx="7169150" cy="519112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  </a:t>
            </a:r>
            <a:r>
              <a:rPr lang="zh-CN" altLang="en-US" sz="28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普朗克常量 </a:t>
            </a:r>
            <a:r>
              <a:rPr lang="en-US" altLang="zh-CN" sz="2800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h</a:t>
            </a:r>
            <a:r>
              <a:rPr lang="en-US" altLang="zh-CN" sz="28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 </a:t>
            </a:r>
            <a:r>
              <a:rPr lang="zh-CN" altLang="en-US" sz="28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成为判定宏观和微观的依据</a:t>
            </a:r>
          </a:p>
        </p:txBody>
      </p:sp>
      <p:graphicFrame>
        <p:nvGraphicFramePr>
          <p:cNvPr id="490505" name="对象 490504"/>
          <p:cNvGraphicFramePr/>
          <p:nvPr/>
        </p:nvGraphicFramePr>
        <p:xfrm>
          <a:off x="1017588" y="3778250"/>
          <a:ext cx="12954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3" r:id="rId5" imgW="647065" imgH="468630" progId="Equation.3">
                  <p:embed/>
                </p:oleObj>
              </mc:Choice>
              <mc:Fallback>
                <p:oleObj r:id="rId5" imgW="647065" imgH="468630" progId="Equation.3">
                  <p:embed/>
                  <p:pic>
                    <p:nvPicPr>
                      <p:cNvPr id="0" name="对象 49050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8" y="3778250"/>
                        <a:ext cx="12954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0506" name="文本框 490505"/>
          <p:cNvSpPr txBox="1"/>
          <p:nvPr/>
        </p:nvSpPr>
        <p:spPr>
          <a:xfrm>
            <a:off x="2981325" y="4102100"/>
            <a:ext cx="2362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可同时取零</a:t>
            </a:r>
          </a:p>
        </p:txBody>
      </p:sp>
      <p:graphicFrame>
        <p:nvGraphicFramePr>
          <p:cNvPr id="490507" name="对象 490506"/>
          <p:cNvGraphicFramePr/>
          <p:nvPr/>
        </p:nvGraphicFramePr>
        <p:xfrm>
          <a:off x="4567238" y="3824288"/>
          <a:ext cx="85883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4" r:id="rId7" imgW="445770" imgH="468630" progId="Equation.3">
                  <p:embed/>
                </p:oleObj>
              </mc:Choice>
              <mc:Fallback>
                <p:oleObj r:id="rId7" imgW="445770" imgH="468630" progId="Equation.3">
                  <p:embed/>
                  <p:pic>
                    <p:nvPicPr>
                      <p:cNvPr id="0" name="对象 49050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3824288"/>
                        <a:ext cx="85883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0508" name="文本框 490507"/>
          <p:cNvSpPr txBox="1"/>
          <p:nvPr/>
        </p:nvSpPr>
        <p:spPr>
          <a:xfrm>
            <a:off x="6081713" y="4089400"/>
            <a:ext cx="2133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可同时确定</a:t>
            </a:r>
          </a:p>
        </p:txBody>
      </p:sp>
      <p:sp>
        <p:nvSpPr>
          <p:cNvPr id="490509" name="文本框 490508"/>
          <p:cNvSpPr txBox="1"/>
          <p:nvPr/>
        </p:nvSpPr>
        <p:spPr>
          <a:xfrm>
            <a:off x="971550" y="5035550"/>
            <a:ext cx="2822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_x000B__x000C_"/>
              </a:rPr>
              <a:t>可用经典力学处理</a:t>
            </a:r>
          </a:p>
        </p:txBody>
      </p:sp>
      <p:sp>
        <p:nvSpPr>
          <p:cNvPr id="490510" name="右大括号 490509"/>
          <p:cNvSpPr/>
          <p:nvPr/>
        </p:nvSpPr>
        <p:spPr bwMode="auto">
          <a:xfrm>
            <a:off x="2290763" y="3963988"/>
            <a:ext cx="609600" cy="685800"/>
          </a:xfrm>
          <a:prstGeom prst="rightBrace">
            <a:avLst>
              <a:gd name="adj1" fmla="val 9375"/>
              <a:gd name="adj2" fmla="val 50000"/>
            </a:avLst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490511" name="右大括号 490510"/>
          <p:cNvSpPr/>
          <p:nvPr/>
        </p:nvSpPr>
        <p:spPr bwMode="auto">
          <a:xfrm>
            <a:off x="5349875" y="3924300"/>
            <a:ext cx="609600" cy="685800"/>
          </a:xfrm>
          <a:prstGeom prst="rightBrace">
            <a:avLst>
              <a:gd name="adj1" fmla="val 9375"/>
              <a:gd name="adj2" fmla="val 50000"/>
            </a:avLst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490512" name="文本框 490511"/>
          <p:cNvSpPr txBox="1"/>
          <p:nvPr/>
        </p:nvSpPr>
        <p:spPr>
          <a:xfrm>
            <a:off x="981075" y="3284538"/>
            <a:ext cx="4454525" cy="45720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宏观问题中，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h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是可忽略的小量</a:t>
            </a:r>
          </a:p>
        </p:txBody>
      </p:sp>
      <p:sp>
        <p:nvSpPr>
          <p:cNvPr id="490513" name="矩形 490512"/>
          <p:cNvSpPr/>
          <p:nvPr/>
        </p:nvSpPr>
        <p:spPr>
          <a:xfrm>
            <a:off x="900113" y="692150"/>
            <a:ext cx="723106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微观粒子永远不可能静止，存在最小能量（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零点能</a:t>
            </a:r>
            <a:r>
              <a:rPr lang="zh-CN" altLang="en-US" b="1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8" name="Object 6"/>
          <p:cNvGraphicFramePr/>
          <p:nvPr/>
        </p:nvGraphicFramePr>
        <p:xfrm>
          <a:off x="5580063" y="3241675"/>
          <a:ext cx="3203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5" r:id="rId9" imgW="1427480" imgH="200660" progId="Equation.3">
                  <p:embed/>
                </p:oleObj>
              </mc:Choice>
              <mc:Fallback>
                <p:oleObj r:id="rId9" imgW="1427480" imgH="20066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241675"/>
                        <a:ext cx="32035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7" name="内容占位符 489494"/>
          <p:cNvGraphicFramePr/>
          <p:nvPr/>
        </p:nvGraphicFramePr>
        <p:xfrm>
          <a:off x="7380288" y="61913"/>
          <a:ext cx="146843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6" r:id="rId11" imgW="786765" imgH="393700" progId="Equation.3">
                  <p:embed/>
                </p:oleObj>
              </mc:Choice>
              <mc:Fallback>
                <p:oleObj r:id="rId11" imgW="786765" imgH="393700" progId="Equation.3">
                  <p:embed/>
                  <p:pic>
                    <p:nvPicPr>
                      <p:cNvPr id="0" name="内容占位符 48949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61913"/>
                        <a:ext cx="1468437" cy="63023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chemeClr val="bg1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</a:grad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9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9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9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"/>
                                        <p:tgtEl>
                                          <p:spTgt spid="49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9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49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49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49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49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9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9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9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49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9" grpId="0"/>
      <p:bldP spid="490501" grpId="0"/>
      <p:bldP spid="490502" grpId="0"/>
      <p:bldP spid="490503" grpId="0"/>
      <p:bldP spid="490504" grpId="0" animBg="1"/>
      <p:bldP spid="490506" grpId="0"/>
      <p:bldP spid="490508" grpId="0"/>
      <p:bldP spid="490509" grpId="0"/>
      <p:bldP spid="490512" grpId="0" animBg="1"/>
      <p:bldP spid="4905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564226"/>
          <p:cNvSpPr>
            <a:spLocks noChangeArrowheads="1"/>
          </p:cNvSpPr>
          <p:nvPr/>
        </p:nvSpPr>
        <p:spPr bwMode="auto">
          <a:xfrm>
            <a:off x="4953000" y="1843088"/>
            <a:ext cx="3736975" cy="324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b="1" baseline="0"/>
              <a:t>Werner Karl Heisenberg</a:t>
            </a:r>
          </a:p>
          <a:p>
            <a:pPr algn="ctr" eaLnBrk="1" hangingPunct="1">
              <a:buFontTx/>
              <a:buNone/>
            </a:pPr>
            <a:r>
              <a:rPr lang="zh-CN" altLang="en-US" sz="3600" b="1" baseline="0">
                <a:ea typeface="楷体_GB2312" pitchFamily="49" charset="-122"/>
              </a:rPr>
              <a:t>德国人</a:t>
            </a:r>
          </a:p>
          <a:p>
            <a:pPr algn="ctr" eaLnBrk="1" hangingPunct="1">
              <a:buFontTx/>
              <a:buNone/>
            </a:pPr>
            <a:r>
              <a:rPr lang="en-US" altLang="zh-CN" sz="3600" b="1" baseline="0"/>
              <a:t>1901-1976</a:t>
            </a:r>
          </a:p>
          <a:p>
            <a:pPr algn="ctr" eaLnBrk="1" hangingPunct="1">
              <a:buFontTx/>
              <a:buNone/>
            </a:pPr>
            <a:r>
              <a:rPr lang="zh-CN" altLang="en-US" sz="3600" b="1" baseline="0">
                <a:ea typeface="楷体_GB2312" pitchFamily="49" charset="-122"/>
              </a:rPr>
              <a:t>创立量子力学</a:t>
            </a:r>
            <a:endParaRPr lang="zh-CN" altLang="en-US" sz="3600" b="1" baseline="0"/>
          </a:p>
        </p:txBody>
      </p:sp>
      <p:sp>
        <p:nvSpPr>
          <p:cNvPr id="38915" name="矩形 564227"/>
          <p:cNvSpPr>
            <a:spLocks noChangeArrowheads="1"/>
          </p:cNvSpPr>
          <p:nvPr/>
        </p:nvSpPr>
        <p:spPr bwMode="auto">
          <a:xfrm>
            <a:off x="5181600" y="4968875"/>
            <a:ext cx="35814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3600" b="1" baseline="0">
                <a:solidFill>
                  <a:schemeClr val="accent2"/>
                </a:solidFill>
                <a:ea typeface="楷体_GB2312" pitchFamily="49" charset="-122"/>
              </a:rPr>
              <a:t>获得</a:t>
            </a:r>
            <a:r>
              <a:rPr lang="en-US" altLang="zh-CN" sz="3600" b="1" baseline="0">
                <a:solidFill>
                  <a:schemeClr val="accent2"/>
                </a:solidFill>
                <a:ea typeface="楷体_GB2312" pitchFamily="49" charset="-122"/>
              </a:rPr>
              <a:t>1932</a:t>
            </a:r>
            <a:r>
              <a:rPr lang="zh-CN" altLang="en-US" sz="3600" b="1" baseline="0">
                <a:solidFill>
                  <a:schemeClr val="accent2"/>
                </a:solidFill>
                <a:ea typeface="楷体_GB2312" pitchFamily="49" charset="-122"/>
              </a:rPr>
              <a:t>年诺贝  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3600" b="1" baseline="0">
                <a:solidFill>
                  <a:schemeClr val="accent2"/>
                </a:solidFill>
                <a:ea typeface="楷体_GB2312" pitchFamily="49" charset="-122"/>
              </a:rPr>
              <a:t> 尔物理学奖        </a:t>
            </a:r>
          </a:p>
        </p:txBody>
      </p:sp>
      <p:pic>
        <p:nvPicPr>
          <p:cNvPr id="38916" name="图片 564228" descr="海森伯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998538"/>
            <a:ext cx="3890962" cy="559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文本框 564229"/>
          <p:cNvSpPr txBox="1">
            <a:spLocks noChangeArrowheads="1"/>
          </p:cNvSpPr>
          <p:nvPr/>
        </p:nvSpPr>
        <p:spPr bwMode="auto">
          <a:xfrm>
            <a:off x="5943600" y="1128713"/>
            <a:ext cx="15605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 baseline="0">
                <a:solidFill>
                  <a:schemeClr val="accent2"/>
                </a:solidFill>
                <a:ea typeface="楷体_GB2312" pitchFamily="49" charset="-122"/>
              </a:rPr>
              <a:t>海森伯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文本框 529409"/>
          <p:cNvSpPr txBox="1">
            <a:spLocks noChangeArrowheads="1"/>
          </p:cNvSpPr>
          <p:nvPr/>
        </p:nvSpPr>
        <p:spPr bwMode="auto">
          <a:xfrm>
            <a:off x="388938" y="228600"/>
            <a:ext cx="80345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baseline="0" dirty="0">
                <a:solidFill>
                  <a:srgbClr val="CC0000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baseline="0" dirty="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400" b="1" baseline="0" dirty="0">
                <a:ea typeface="黑体" panose="02010609060101010101" pitchFamily="49" charset="-122"/>
              </a:rPr>
              <a:t> </a:t>
            </a:r>
            <a:r>
              <a:rPr lang="zh-CN" altLang="en-US" sz="2400" b="1" baseline="0" dirty="0">
                <a:ea typeface="黑体" panose="02010609060101010101" pitchFamily="49" charset="-122"/>
              </a:rPr>
              <a:t>波长 </a:t>
            </a:r>
            <a:r>
              <a:rPr lang="en-US" altLang="zh-CN" sz="2400" b="1" i="1" baseline="0" dirty="0">
                <a:ea typeface="黑体" panose="02010609060101010101" pitchFamily="49" charset="-122"/>
              </a:rPr>
              <a:t>λ</a:t>
            </a:r>
            <a:r>
              <a:rPr lang="en-US" altLang="zh-CN" sz="2400" b="1" baseline="0" dirty="0">
                <a:ea typeface="黑体" panose="02010609060101010101" pitchFamily="49" charset="-122"/>
              </a:rPr>
              <a:t>=300nm</a:t>
            </a:r>
            <a:r>
              <a:rPr lang="zh-CN" altLang="en-US" sz="2400" b="1" baseline="0" dirty="0">
                <a:ea typeface="黑体" panose="02010609060101010101" pitchFamily="49" charset="-122"/>
              </a:rPr>
              <a:t>的光沿</a:t>
            </a:r>
            <a:r>
              <a:rPr lang="en-US" altLang="zh-CN" sz="2400" b="1" i="1" baseline="0" dirty="0">
                <a:ea typeface="黑体" panose="02010609060101010101" pitchFamily="49" charset="-122"/>
              </a:rPr>
              <a:t>x</a:t>
            </a:r>
            <a:r>
              <a:rPr lang="zh-CN" altLang="en-US" sz="2400" b="1" baseline="0" dirty="0">
                <a:ea typeface="黑体" panose="02010609060101010101" pitchFamily="49" charset="-122"/>
              </a:rPr>
              <a:t>轴正向传播，如果确定此波长的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baseline="0" dirty="0">
                <a:ea typeface="黑体" panose="02010609060101010101" pitchFamily="49" charset="-122"/>
              </a:rPr>
              <a:t>    精确度  </a:t>
            </a:r>
            <a:r>
              <a:rPr lang="en-US" altLang="zh-CN" sz="2400" b="1" baseline="0" dirty="0" err="1">
                <a:ea typeface="黑体" panose="02010609060101010101" pitchFamily="49" charset="-122"/>
              </a:rPr>
              <a:t>Δ</a:t>
            </a:r>
            <a:r>
              <a:rPr lang="en-US" altLang="zh-CN" sz="2400" b="1" i="1" baseline="0" dirty="0" err="1">
                <a:ea typeface="黑体" panose="02010609060101010101" pitchFamily="49" charset="-122"/>
              </a:rPr>
              <a:t>λ</a:t>
            </a:r>
            <a:r>
              <a:rPr lang="en-US" altLang="zh-CN" sz="2400" b="1" baseline="0" dirty="0">
                <a:ea typeface="黑体" panose="02010609060101010101" pitchFamily="49" charset="-122"/>
              </a:rPr>
              <a:t>/</a:t>
            </a:r>
            <a:r>
              <a:rPr lang="en-US" altLang="zh-CN" sz="2400" b="1" i="1" baseline="0" dirty="0">
                <a:ea typeface="黑体" panose="02010609060101010101" pitchFamily="49" charset="-122"/>
              </a:rPr>
              <a:t>λ</a:t>
            </a:r>
            <a:r>
              <a:rPr lang="en-US" altLang="zh-CN" sz="2400" b="1" baseline="0" dirty="0">
                <a:ea typeface="黑体" panose="02010609060101010101" pitchFamily="49" charset="-122"/>
              </a:rPr>
              <a:t>= 10 </a:t>
            </a:r>
            <a:r>
              <a:rPr lang="en-US" altLang="zh-CN" sz="2400" b="1" dirty="0">
                <a:ea typeface="黑体" panose="02010609060101010101" pitchFamily="49" charset="-122"/>
              </a:rPr>
              <a:t>-6</a:t>
            </a:r>
            <a:r>
              <a:rPr lang="en-US" altLang="zh-CN" sz="2400" b="1" baseline="0" dirty="0">
                <a:ea typeface="黑体" panose="02010609060101010101" pitchFamily="49" charset="-122"/>
              </a:rPr>
              <a:t> </a:t>
            </a:r>
            <a:r>
              <a:rPr lang="zh-CN" altLang="en-US" sz="2400" b="1" baseline="0" dirty="0">
                <a:ea typeface="黑体" panose="02010609060101010101" pitchFamily="49" charset="-122"/>
              </a:rPr>
              <a:t>，试求光子位置的不确定量。</a:t>
            </a:r>
          </a:p>
        </p:txBody>
      </p:sp>
      <p:graphicFrame>
        <p:nvGraphicFramePr>
          <p:cNvPr id="529411" name="对象 529410"/>
          <p:cNvGraphicFramePr/>
          <p:nvPr/>
        </p:nvGraphicFramePr>
        <p:xfrm>
          <a:off x="1828800" y="1219200"/>
          <a:ext cx="31242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2" r:id="rId3" imgW="1293495" imgH="423545" progId="Equation.3">
                  <p:embed/>
                </p:oleObj>
              </mc:Choice>
              <mc:Fallback>
                <p:oleObj r:id="rId3" imgW="1293495" imgH="423545" progId="Equation.3">
                  <p:embed/>
                  <p:pic>
                    <p:nvPicPr>
                      <p:cNvPr id="0" name="对象 52941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19200"/>
                        <a:ext cx="31242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9412" name="文本框 529411"/>
          <p:cNvSpPr txBox="1">
            <a:spLocks noChangeArrowheads="1"/>
          </p:cNvSpPr>
          <p:nvPr/>
        </p:nvSpPr>
        <p:spPr bwMode="auto">
          <a:xfrm>
            <a:off x="762000" y="1447800"/>
            <a:ext cx="101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rgbClr val="CC0000"/>
                </a:solidFill>
              </a:rPr>
              <a:t>解 ：  </a:t>
            </a:r>
          </a:p>
        </p:txBody>
      </p:sp>
      <p:graphicFrame>
        <p:nvGraphicFramePr>
          <p:cNvPr id="529413" name="对象 529412"/>
          <p:cNvGraphicFramePr/>
          <p:nvPr>
            <p:extLst>
              <p:ext uri="{D42A27DB-BD31-4B8C-83A1-F6EECF244321}">
                <p14:modId xmlns:p14="http://schemas.microsoft.com/office/powerpoint/2010/main" val="2455758837"/>
              </p:ext>
            </p:extLst>
          </p:nvPr>
        </p:nvGraphicFramePr>
        <p:xfrm>
          <a:off x="1824038" y="3429000"/>
          <a:ext cx="6030912" cy="224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3" name="Equation" r:id="rId5" imgW="2336760" imgH="1015920" progId="Equation.DSMT4">
                  <p:embed/>
                </p:oleObj>
              </mc:Choice>
              <mc:Fallback>
                <p:oleObj name="Equation" r:id="rId5" imgW="2336760" imgH="1015920" progId="Equation.DSMT4">
                  <p:embed/>
                  <p:pic>
                    <p:nvPicPr>
                      <p:cNvPr id="0" name="对象 52941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  <a:lum bright="100000" contras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3429000"/>
                        <a:ext cx="6030912" cy="2249488"/>
                      </a:xfrm>
                      <a:prstGeom prst="rect">
                        <a:avLst/>
                      </a:prstGeom>
                      <a:solidFill>
                        <a:srgbClr val="0000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4" name="对象 529413"/>
          <p:cNvGraphicFramePr/>
          <p:nvPr/>
        </p:nvGraphicFramePr>
        <p:xfrm>
          <a:off x="1187450" y="2333625"/>
          <a:ext cx="3167063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4" r:id="rId7" imgW="1219200" imgH="393700" progId="Equation.3">
                  <p:embed/>
                </p:oleObj>
              </mc:Choice>
              <mc:Fallback>
                <p:oleObj r:id="rId7" imgW="1219200" imgH="393700" progId="Equation.3">
                  <p:embed/>
                  <p:pic>
                    <p:nvPicPr>
                      <p:cNvPr id="0" name="对象 52941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  <a:lum bright="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333625"/>
                        <a:ext cx="3167063" cy="909638"/>
                      </a:xfrm>
                      <a:prstGeom prst="rect">
                        <a:avLst/>
                      </a:prstGeom>
                      <a:solidFill>
                        <a:srgbClr val="0000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4932363" y="2290763"/>
          <a:ext cx="22415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5" r:id="rId9" imgW="862965" imgH="431800" progId="Equation.3">
                  <p:embed/>
                </p:oleObj>
              </mc:Choice>
              <mc:Fallback>
                <p:oleObj r:id="rId9" imgW="862965" imgH="431800" progId="Equation.3">
                  <p:embed/>
                  <p:pic>
                    <p:nvPicPr>
                      <p:cNvPr id="0" name="对象 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  <a:lum bright="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290763"/>
                        <a:ext cx="2241550" cy="996950"/>
                      </a:xfrm>
                      <a:prstGeom prst="rect">
                        <a:avLst/>
                      </a:prstGeom>
                      <a:solidFill>
                        <a:srgbClr val="0000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2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文本框 679937"/>
          <p:cNvSpPr txBox="1">
            <a:spLocks noChangeArrowheads="1"/>
          </p:cNvSpPr>
          <p:nvPr/>
        </p:nvSpPr>
        <p:spPr bwMode="auto">
          <a:xfrm>
            <a:off x="11113" y="0"/>
            <a:ext cx="86931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baseline="0" dirty="0">
                <a:solidFill>
                  <a:srgbClr val="CC0000"/>
                </a:solidFill>
              </a:rPr>
              <a:t>例</a:t>
            </a:r>
            <a:r>
              <a:rPr lang="en-US" altLang="zh-CN" sz="2400" b="1" baseline="0" dirty="0">
                <a:solidFill>
                  <a:srgbClr val="CC0000"/>
                </a:solidFill>
              </a:rPr>
              <a:t>2.</a:t>
            </a:r>
            <a:r>
              <a:rPr lang="en-US" altLang="zh-CN" sz="2400" b="1" baseline="0" dirty="0"/>
              <a:t>  </a:t>
            </a:r>
            <a:r>
              <a:rPr lang="zh-CN" altLang="en-US" sz="2400" b="1" baseline="0" dirty="0"/>
              <a:t>若一个电子处于某能级的时间为 </a:t>
            </a:r>
            <a:r>
              <a:rPr lang="en-US" altLang="zh-CN" sz="2400" b="1" baseline="0" dirty="0"/>
              <a:t>10 </a:t>
            </a:r>
            <a:r>
              <a:rPr lang="en-US" altLang="zh-CN" sz="2400" b="1" dirty="0"/>
              <a:t>- 8</a:t>
            </a:r>
            <a:r>
              <a:rPr lang="en-US" altLang="zh-CN" sz="2400" b="1" baseline="0" dirty="0"/>
              <a:t> s,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baseline="0" dirty="0"/>
              <a:t>      (1) </a:t>
            </a:r>
            <a:r>
              <a:rPr lang="zh-CN" altLang="en-US" sz="2400" b="1" baseline="0" dirty="0"/>
              <a:t>试问这个原子能级的能量的最小不确定量是多少？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baseline="0" dirty="0"/>
              <a:t>      </a:t>
            </a:r>
            <a:r>
              <a:rPr lang="en-US" altLang="zh-CN" sz="2400" b="1" baseline="0" dirty="0"/>
              <a:t>(2) </a:t>
            </a:r>
            <a:r>
              <a:rPr lang="zh-CN" altLang="en-US" sz="2400" b="1" baseline="0" dirty="0"/>
              <a:t>如果原子从上述能级跃迁到基态所辐射的能量为 </a:t>
            </a:r>
            <a:r>
              <a:rPr lang="en-US" altLang="zh-CN" sz="2400" b="1" baseline="0" dirty="0"/>
              <a:t>3.39 eV,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baseline="0" dirty="0"/>
              <a:t>  </a:t>
            </a:r>
            <a:r>
              <a:rPr lang="zh-CN" altLang="en-US" sz="2400" b="1" baseline="0" dirty="0"/>
              <a:t>计算所辐射的光子波长并讨论这波长的最小不确定量。 </a:t>
            </a:r>
          </a:p>
        </p:txBody>
      </p:sp>
      <p:graphicFrame>
        <p:nvGraphicFramePr>
          <p:cNvPr id="679939" name="对象 679938"/>
          <p:cNvGraphicFramePr/>
          <p:nvPr/>
        </p:nvGraphicFramePr>
        <p:xfrm>
          <a:off x="1706563" y="1524000"/>
          <a:ext cx="28194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8" r:id="rId3" imgW="1226820" imgH="423545" progId="Equation.3">
                  <p:embed/>
                </p:oleObj>
              </mc:Choice>
              <mc:Fallback>
                <p:oleObj r:id="rId3" imgW="1226820" imgH="423545" progId="Equation.3">
                  <p:embed/>
                  <p:pic>
                    <p:nvPicPr>
                      <p:cNvPr id="0" name="对象 67993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1524000"/>
                        <a:ext cx="28194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9940" name="文本框 679939"/>
          <p:cNvSpPr txBox="1">
            <a:spLocks noChangeArrowheads="1"/>
          </p:cNvSpPr>
          <p:nvPr/>
        </p:nvSpPr>
        <p:spPr bwMode="auto">
          <a:xfrm>
            <a:off x="639763" y="3548063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rgbClr val="CC0000"/>
                </a:solidFill>
              </a:rPr>
              <a:t>（</a:t>
            </a:r>
            <a:r>
              <a:rPr lang="en-US" altLang="zh-CN" sz="2400" b="1" baseline="0">
                <a:solidFill>
                  <a:srgbClr val="CC0000"/>
                </a:solidFill>
              </a:rPr>
              <a:t>2</a:t>
            </a:r>
            <a:r>
              <a:rPr lang="zh-CN" altLang="en-US" sz="2400" b="1" baseline="0">
                <a:solidFill>
                  <a:srgbClr val="CC0000"/>
                </a:solidFill>
              </a:rPr>
              <a:t>）</a:t>
            </a:r>
          </a:p>
        </p:txBody>
      </p:sp>
      <p:graphicFrame>
        <p:nvGraphicFramePr>
          <p:cNvPr id="679941" name="对象 679940"/>
          <p:cNvGraphicFramePr/>
          <p:nvPr/>
        </p:nvGraphicFramePr>
        <p:xfrm>
          <a:off x="1554163" y="3352800"/>
          <a:ext cx="2209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9" r:id="rId5" imgW="1349375" imgH="423545" progId="Equation.3">
                  <p:embed/>
                </p:oleObj>
              </mc:Choice>
              <mc:Fallback>
                <p:oleObj r:id="rId5" imgW="1349375" imgH="423545" progId="Equation.3">
                  <p:embed/>
                  <p:pic>
                    <p:nvPicPr>
                      <p:cNvPr id="0" name="对象 67994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3352800"/>
                        <a:ext cx="2209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2" name="对象 679941"/>
          <p:cNvGraphicFramePr/>
          <p:nvPr/>
        </p:nvGraphicFramePr>
        <p:xfrm>
          <a:off x="2209800" y="4365625"/>
          <a:ext cx="25146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0" r:id="rId7" imgW="964565" imgH="431800" progId="Equation.3">
                  <p:embed/>
                </p:oleObj>
              </mc:Choice>
              <mc:Fallback>
                <p:oleObj r:id="rId7" imgW="964565" imgH="431800" progId="Equation.3">
                  <p:embed/>
                  <p:pic>
                    <p:nvPicPr>
                      <p:cNvPr id="0" name="对象 67994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  <a:lum bright="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365625"/>
                        <a:ext cx="2514600" cy="1008063"/>
                      </a:xfrm>
                      <a:prstGeom prst="rect">
                        <a:avLst/>
                      </a:prstGeom>
                      <a:solidFill>
                        <a:srgbClr val="0000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9943" name="文本框 679942"/>
          <p:cNvSpPr txBox="1">
            <a:spLocks noChangeArrowheads="1"/>
          </p:cNvSpPr>
          <p:nvPr/>
        </p:nvSpPr>
        <p:spPr bwMode="auto">
          <a:xfrm>
            <a:off x="-36513" y="1655763"/>
            <a:ext cx="233362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baseline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baseline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解：（</a:t>
            </a:r>
            <a:r>
              <a:rPr lang="en-US" altLang="zh-CN" sz="2400" b="1" baseline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baseline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  </a:t>
            </a:r>
          </a:p>
        </p:txBody>
      </p:sp>
      <p:graphicFrame>
        <p:nvGraphicFramePr>
          <p:cNvPr id="679944" name="对象 679943"/>
          <p:cNvGraphicFramePr/>
          <p:nvPr/>
        </p:nvGraphicFramePr>
        <p:xfrm>
          <a:off x="1477963" y="2362200"/>
          <a:ext cx="563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1" r:id="rId9" imgW="2988310" imgH="457200" progId="Equation.3">
                  <p:embed/>
                </p:oleObj>
              </mc:Choice>
              <mc:Fallback>
                <p:oleObj r:id="rId9" imgW="2988310" imgH="457200" progId="Equation.3">
                  <p:embed/>
                  <p:pic>
                    <p:nvPicPr>
                      <p:cNvPr id="0" name="对象 67994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  <a:lum bright="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2362200"/>
                        <a:ext cx="5638800" cy="914400"/>
                      </a:xfrm>
                      <a:prstGeom prst="rect">
                        <a:avLst/>
                      </a:prstGeom>
                      <a:solidFill>
                        <a:srgbClr val="0000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5" name="对象 679944"/>
          <p:cNvGraphicFramePr/>
          <p:nvPr/>
        </p:nvGraphicFramePr>
        <p:xfrm>
          <a:off x="3544888" y="3352800"/>
          <a:ext cx="549116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2" r:id="rId11" imgW="3456940" imgH="457200" progId="Equation.3">
                  <p:embed/>
                </p:oleObj>
              </mc:Choice>
              <mc:Fallback>
                <p:oleObj r:id="rId11" imgW="3456940" imgH="457200" progId="Equation.3">
                  <p:embed/>
                  <p:pic>
                    <p:nvPicPr>
                      <p:cNvPr id="0" name="对象 67994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  <a:lum bright="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4888" y="3352800"/>
                        <a:ext cx="5491162" cy="879475"/>
                      </a:xfrm>
                      <a:prstGeom prst="rect">
                        <a:avLst/>
                      </a:prstGeom>
                      <a:solidFill>
                        <a:srgbClr val="0000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6" name="对象 679945"/>
          <p:cNvGraphicFramePr/>
          <p:nvPr/>
        </p:nvGraphicFramePr>
        <p:xfrm>
          <a:off x="827088" y="5475288"/>
          <a:ext cx="79771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3" r:id="rId13" imgW="3606800" imgH="419100" progId="Equation.3">
                  <p:embed/>
                </p:oleObj>
              </mc:Choice>
              <mc:Fallback>
                <p:oleObj r:id="rId13" imgW="3606800" imgH="419100" progId="Equation.3">
                  <p:embed/>
                  <p:pic>
                    <p:nvPicPr>
                      <p:cNvPr id="0" name="对象 67994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  <a:lum bright="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475288"/>
                        <a:ext cx="7977187" cy="977900"/>
                      </a:xfrm>
                      <a:prstGeom prst="rect">
                        <a:avLst/>
                      </a:prstGeom>
                      <a:solidFill>
                        <a:srgbClr val="0000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9947" name="文本框 679946"/>
          <p:cNvSpPr txBox="1">
            <a:spLocks noChangeArrowheads="1"/>
          </p:cNvSpPr>
          <p:nvPr/>
        </p:nvSpPr>
        <p:spPr bwMode="auto">
          <a:xfrm>
            <a:off x="1752600" y="43434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rgbClr val="CC0000"/>
                </a:solidFill>
              </a:rPr>
              <a:t>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7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40" grpId="0"/>
      <p:bldP spid="679943" grpId="0"/>
      <p:bldP spid="6799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154" name="组合 689153"/>
          <p:cNvGrpSpPr/>
          <p:nvPr/>
        </p:nvGrpSpPr>
        <p:grpSpPr bwMode="auto">
          <a:xfrm>
            <a:off x="673100" y="53975"/>
            <a:ext cx="8153400" cy="1676400"/>
            <a:chOff x="288" y="144"/>
            <a:chExt cx="5136" cy="1056"/>
          </a:xfrm>
        </p:grpSpPr>
        <p:sp>
          <p:nvSpPr>
            <p:cNvPr id="44035" name="文本框 689154"/>
            <p:cNvSpPr txBox="1"/>
            <p:nvPr/>
          </p:nvSpPr>
          <p:spPr>
            <a:xfrm>
              <a:off x="288" y="144"/>
              <a:ext cx="513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 baseline="0" noProof="1">
                  <a:solidFill>
                    <a:schemeClr val="accent3"/>
                  </a:solidFill>
                  <a:sym typeface="+mn-ea"/>
                </a:rPr>
                <a:t>例</a:t>
              </a:r>
              <a:r>
                <a:rPr lang="en-US" altLang="zh-CN" b="1" baseline="0" noProof="1">
                  <a:solidFill>
                    <a:schemeClr val="accent3"/>
                  </a:solidFill>
                  <a:sym typeface="+mn-ea"/>
                </a:rPr>
                <a:t>3</a:t>
              </a:r>
              <a:r>
                <a:rPr lang="zh-CN" altLang="en-US" b="1" baseline="0" noProof="1">
                  <a:solidFill>
                    <a:schemeClr val="accent3"/>
                  </a:solidFill>
                  <a:sym typeface="+mn-ea"/>
                </a:rPr>
                <a:t>:  如果钠原子所发出的黄色谱线(</a:t>
              </a:r>
              <a:r>
                <a:rPr lang="zh-CN" altLang="en-US" b="1" baseline="0" noProof="1">
                  <a:solidFill>
                    <a:schemeClr val="accent3"/>
                  </a:solidFill>
                  <a:sym typeface="Symbol" panose="05050102010706020507" pitchFamily="18" charset="2"/>
                </a:rPr>
                <a:t>=589nm)的自然宽度为</a:t>
              </a:r>
            </a:p>
          </p:txBody>
        </p:sp>
        <p:graphicFrame>
          <p:nvGraphicFramePr>
            <p:cNvPr id="44046" name="对象 689155"/>
            <p:cNvGraphicFramePr/>
            <p:nvPr/>
          </p:nvGraphicFramePr>
          <p:xfrm>
            <a:off x="672" y="432"/>
            <a:ext cx="1422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36" r:id="rId3" imgW="1170940" imgH="323215" progId="Equation.3">
                    <p:embed/>
                  </p:oleObj>
                </mc:Choice>
                <mc:Fallback>
                  <p:oleObj r:id="rId3" imgW="1170940" imgH="323215" progId="Equation.3">
                    <p:embed/>
                    <p:pic>
                      <p:nvPicPr>
                        <p:cNvPr id="0" name="对象 68915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432"/>
                          <a:ext cx="1422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37" name="文本框 689156"/>
            <p:cNvSpPr txBox="1"/>
            <p:nvPr/>
          </p:nvSpPr>
          <p:spPr>
            <a:xfrm>
              <a:off x="288" y="912"/>
              <a:ext cx="45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 baseline="0" noProof="1">
                  <a:solidFill>
                    <a:schemeClr val="accent3"/>
                  </a:solidFill>
                </a:rPr>
                <a:t>试问钠原子相应的激发态的平均寿命约为多少</a:t>
              </a:r>
              <a:r>
                <a:rPr lang="en-US" altLang="zh-CN" b="1" baseline="0" noProof="1">
                  <a:solidFill>
                    <a:schemeClr val="accent3"/>
                  </a:solidFill>
                </a:rPr>
                <a:t>?</a:t>
              </a:r>
            </a:p>
          </p:txBody>
        </p:sp>
      </p:grpSp>
      <p:sp>
        <p:nvSpPr>
          <p:cNvPr id="689158" name="文本框 689157"/>
          <p:cNvSpPr txBox="1">
            <a:spLocks noChangeArrowheads="1"/>
          </p:cNvSpPr>
          <p:nvPr/>
        </p:nvSpPr>
        <p:spPr bwMode="auto">
          <a:xfrm>
            <a:off x="611188" y="2141538"/>
            <a:ext cx="267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baseline="0">
                <a:solidFill>
                  <a:schemeClr val="bg1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400" b="1" baseline="0">
                <a:solidFill>
                  <a:schemeClr val="bg1"/>
                </a:solidFill>
                <a:ea typeface="黑体" panose="02010609060101010101" pitchFamily="49" charset="-122"/>
              </a:rPr>
              <a:t>:  </a:t>
            </a:r>
            <a:r>
              <a:rPr lang="zh-CN" altLang="en-US" sz="2400" b="1" baseline="0">
                <a:solidFill>
                  <a:schemeClr val="bg1"/>
                </a:solidFill>
                <a:ea typeface="黑体" panose="02010609060101010101" pitchFamily="49" charset="-122"/>
              </a:rPr>
              <a:t>光子能量</a:t>
            </a:r>
          </a:p>
        </p:txBody>
      </p:sp>
      <p:sp>
        <p:nvSpPr>
          <p:cNvPr id="689159" name="文本框 689158"/>
          <p:cNvSpPr txBox="1">
            <a:spLocks noChangeArrowheads="1"/>
          </p:cNvSpPr>
          <p:nvPr/>
        </p:nvSpPr>
        <p:spPr bwMode="auto">
          <a:xfrm>
            <a:off x="1187450" y="29718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baseline="0">
                <a:solidFill>
                  <a:schemeClr val="bg1"/>
                </a:solidFill>
                <a:ea typeface="黑体" panose="02010609060101010101" pitchFamily="49" charset="-122"/>
              </a:rPr>
              <a:t>已知自然宽度</a:t>
            </a:r>
          </a:p>
        </p:txBody>
      </p:sp>
      <p:sp>
        <p:nvSpPr>
          <p:cNvPr id="689160" name="文本框 689159"/>
          <p:cNvSpPr txBox="1">
            <a:spLocks noChangeArrowheads="1"/>
          </p:cNvSpPr>
          <p:nvPr/>
        </p:nvSpPr>
        <p:spPr bwMode="auto">
          <a:xfrm>
            <a:off x="1155700" y="38354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baseline="0">
                <a:solidFill>
                  <a:schemeClr val="bg1"/>
                </a:solidFill>
                <a:ea typeface="黑体" panose="02010609060101010101" pitchFamily="49" charset="-122"/>
              </a:rPr>
              <a:t>钠原子激发态能级宽度</a:t>
            </a:r>
          </a:p>
        </p:txBody>
      </p:sp>
      <p:graphicFrame>
        <p:nvGraphicFramePr>
          <p:cNvPr id="689161" name="对象 689160"/>
          <p:cNvGraphicFramePr/>
          <p:nvPr/>
        </p:nvGraphicFramePr>
        <p:xfrm>
          <a:off x="3395663" y="1989138"/>
          <a:ext cx="175260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7" r:id="rId5" imgW="914400" imgH="423545" progId="Equation.3">
                  <p:embed/>
                </p:oleObj>
              </mc:Choice>
              <mc:Fallback>
                <p:oleObj r:id="rId5" imgW="914400" imgH="423545" progId="Equation.3">
                  <p:embed/>
                  <p:pic>
                    <p:nvPicPr>
                      <p:cNvPr id="0" name="对象 68916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663" y="1989138"/>
                        <a:ext cx="1752600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9162" name="对象 689161"/>
          <p:cNvGraphicFramePr/>
          <p:nvPr/>
        </p:nvGraphicFramePr>
        <p:xfrm>
          <a:off x="3348038" y="2867025"/>
          <a:ext cx="22860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8" r:id="rId7" imgW="1070610" imgH="423545" progId="Equation.3">
                  <p:embed/>
                </p:oleObj>
              </mc:Choice>
              <mc:Fallback>
                <p:oleObj r:id="rId7" imgW="1070610" imgH="423545" progId="Equation.3">
                  <p:embed/>
                  <p:pic>
                    <p:nvPicPr>
                      <p:cNvPr id="0" name="对象 68916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867025"/>
                        <a:ext cx="22860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9163" name="对象 689162"/>
          <p:cNvGraphicFramePr/>
          <p:nvPr/>
        </p:nvGraphicFramePr>
        <p:xfrm>
          <a:off x="4500563" y="3619500"/>
          <a:ext cx="201771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9" r:id="rId9" imgW="1026160" imgH="468630" progId="Equation.DSMT4">
                  <p:embed/>
                </p:oleObj>
              </mc:Choice>
              <mc:Fallback>
                <p:oleObj r:id="rId9" imgW="1026160" imgH="468630" progId="Equation.DSMT4">
                  <p:embed/>
                  <p:pic>
                    <p:nvPicPr>
                      <p:cNvPr id="0" name="对象 68916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619500"/>
                        <a:ext cx="201771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9164" name="文本框 689163"/>
          <p:cNvSpPr txBox="1"/>
          <p:nvPr/>
        </p:nvSpPr>
        <p:spPr>
          <a:xfrm>
            <a:off x="749300" y="4614863"/>
            <a:ext cx="2057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3"/>
                </a:solidFill>
                <a:sym typeface="+mn-ea"/>
              </a:rPr>
              <a:t>由不确定关系</a:t>
            </a:r>
          </a:p>
        </p:txBody>
      </p:sp>
      <p:graphicFrame>
        <p:nvGraphicFramePr>
          <p:cNvPr id="689165" name="对象 689164"/>
          <p:cNvGraphicFramePr/>
          <p:nvPr/>
        </p:nvGraphicFramePr>
        <p:xfrm>
          <a:off x="2922588" y="4473575"/>
          <a:ext cx="14986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0" r:id="rId11" imgW="802640" imgH="423545" progId="Equation.3">
                  <p:embed/>
                </p:oleObj>
              </mc:Choice>
              <mc:Fallback>
                <p:oleObj r:id="rId11" imgW="802640" imgH="423545" progId="Equation.3">
                  <p:embed/>
                  <p:pic>
                    <p:nvPicPr>
                      <p:cNvPr id="0" name="对象 68916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588" y="4473575"/>
                        <a:ext cx="14986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9166" name="文本框 689165"/>
          <p:cNvSpPr txBox="1"/>
          <p:nvPr/>
        </p:nvSpPr>
        <p:spPr>
          <a:xfrm>
            <a:off x="4751388" y="4614863"/>
            <a:ext cx="4038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3"/>
                </a:solidFill>
                <a:sym typeface="Symbol" panose="05050102010706020507" pitchFamily="18" charset="2"/>
              </a:rPr>
              <a:t>激发态的平均寿命约为:</a:t>
            </a:r>
          </a:p>
        </p:txBody>
      </p:sp>
      <p:graphicFrame>
        <p:nvGraphicFramePr>
          <p:cNvPr id="689167" name="对象 689166"/>
          <p:cNvGraphicFramePr/>
          <p:nvPr/>
        </p:nvGraphicFramePr>
        <p:xfrm>
          <a:off x="825500" y="5607050"/>
          <a:ext cx="72390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1" r:id="rId13" imgW="3657600" imgH="546100" progId="Equation.3">
                  <p:embed/>
                </p:oleObj>
              </mc:Choice>
              <mc:Fallback>
                <p:oleObj r:id="rId13" imgW="3657600" imgH="546100" progId="Equation.3">
                  <p:embed/>
                  <p:pic>
                    <p:nvPicPr>
                      <p:cNvPr id="0" name="对象 689166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5607050"/>
                        <a:ext cx="7239000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8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8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8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8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8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8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8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68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8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68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8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9158" grpId="0"/>
      <p:bldP spid="689159" grpId="0"/>
      <p:bldP spid="689160" grpId="0"/>
      <p:bldP spid="689164" grpId="0"/>
      <p:bldP spid="68916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文本框 537601"/>
          <p:cNvSpPr txBox="1"/>
          <p:nvPr/>
        </p:nvSpPr>
        <p:spPr>
          <a:xfrm>
            <a:off x="1042988" y="3035300"/>
            <a:ext cx="38274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如 自由粒子的波函数：</a:t>
            </a:r>
          </a:p>
        </p:txBody>
      </p:sp>
      <p:sp>
        <p:nvSpPr>
          <p:cNvPr id="537603" name="文本框 537602"/>
          <p:cNvSpPr txBox="1"/>
          <p:nvPr/>
        </p:nvSpPr>
        <p:spPr>
          <a:xfrm>
            <a:off x="1042988" y="3683000"/>
            <a:ext cx="5834062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不受任何外场作用，则粒子作匀速直</a:t>
            </a:r>
          </a:p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线运动（设沿 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轴）。</a:t>
            </a:r>
          </a:p>
        </p:txBody>
      </p:sp>
      <p:graphicFrame>
        <p:nvGraphicFramePr>
          <p:cNvPr id="537604" name="对象 537603"/>
          <p:cNvGraphicFramePr/>
          <p:nvPr/>
        </p:nvGraphicFramePr>
        <p:xfrm>
          <a:off x="1144588" y="4851400"/>
          <a:ext cx="167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8" r:id="rId3" imgW="869950" imgH="178435" progId="Equation.3">
                  <p:embed/>
                </p:oleObj>
              </mc:Choice>
              <mc:Fallback>
                <p:oleObj r:id="rId3" imgW="869950" imgH="178435" progId="Equation.3">
                  <p:embed/>
                  <p:pic>
                    <p:nvPicPr>
                      <p:cNvPr id="0" name="对象 53760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4851400"/>
                        <a:ext cx="1676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05" name="对象 537604"/>
          <p:cNvGraphicFramePr/>
          <p:nvPr/>
        </p:nvGraphicFramePr>
        <p:xfrm>
          <a:off x="1143000" y="5272088"/>
          <a:ext cx="12001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9" r:id="rId5" imgW="591185" imgH="423545" progId="Equation.DSMT4">
                  <p:embed/>
                </p:oleObj>
              </mc:Choice>
              <mc:Fallback>
                <p:oleObj r:id="rId5" imgW="591185" imgH="423545" progId="Equation.DSMT4">
                  <p:embed/>
                  <p:pic>
                    <p:nvPicPr>
                      <p:cNvPr id="0" name="对象 53760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272088"/>
                        <a:ext cx="120015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06" name="对象 537605"/>
          <p:cNvGraphicFramePr/>
          <p:nvPr/>
        </p:nvGraphicFramePr>
        <p:xfrm>
          <a:off x="4768850" y="4835525"/>
          <a:ext cx="16478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0" r:id="rId7" imgW="858520" imgH="178435" progId="Equation.3">
                  <p:embed/>
                </p:oleObj>
              </mc:Choice>
              <mc:Fallback>
                <p:oleObj r:id="rId7" imgW="858520" imgH="178435" progId="Equation.3">
                  <p:embed/>
                  <p:pic>
                    <p:nvPicPr>
                      <p:cNvPr id="0" name="对象 53760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4835525"/>
                        <a:ext cx="16478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07" name="对象 537606"/>
          <p:cNvGraphicFramePr/>
          <p:nvPr/>
        </p:nvGraphicFramePr>
        <p:xfrm>
          <a:off x="4841875" y="5259388"/>
          <a:ext cx="1169988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1" r:id="rId9" imgW="591185" imgH="457200" progId="Equation.3">
                  <p:embed/>
                </p:oleObj>
              </mc:Choice>
              <mc:Fallback>
                <p:oleObj r:id="rId9" imgW="591185" imgH="457200" progId="Equation.3">
                  <p:embed/>
                  <p:pic>
                    <p:nvPicPr>
                      <p:cNvPr id="0" name="对象 53760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5" y="5259388"/>
                        <a:ext cx="1169988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608" name="文本框 537607"/>
          <p:cNvSpPr txBox="1"/>
          <p:nvPr/>
        </p:nvSpPr>
        <p:spPr>
          <a:xfrm>
            <a:off x="3513138" y="5476875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恒定！</a:t>
            </a:r>
          </a:p>
        </p:txBody>
      </p:sp>
      <p:sp>
        <p:nvSpPr>
          <p:cNvPr id="537609" name="文本框 537608"/>
          <p:cNvSpPr txBox="1"/>
          <p:nvPr/>
        </p:nvSpPr>
        <p:spPr>
          <a:xfrm>
            <a:off x="7145338" y="5435600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恒定！</a:t>
            </a:r>
          </a:p>
        </p:txBody>
      </p:sp>
      <p:sp>
        <p:nvSpPr>
          <p:cNvPr id="45066" name="文本框 537609"/>
          <p:cNvSpPr txBox="1">
            <a:spLocks noChangeArrowheads="1"/>
          </p:cNvSpPr>
          <p:nvPr/>
        </p:nvSpPr>
        <p:spPr bwMode="auto">
          <a:xfrm>
            <a:off x="1273175" y="41275"/>
            <a:ext cx="6251575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aseline="0" dirty="0">
                <a:solidFill>
                  <a:srgbClr val="CC3300"/>
                </a:solidFill>
                <a:ea typeface="黑体" panose="02010609060101010101" pitchFamily="49" charset="-122"/>
              </a:rPr>
              <a:t>15-7 </a:t>
            </a:r>
            <a:r>
              <a:rPr lang="zh-CN" altLang="en-US" sz="3600" baseline="0" dirty="0">
                <a:solidFill>
                  <a:srgbClr val="CC3300"/>
                </a:solidFill>
                <a:ea typeface="黑体" panose="02010609060101010101" pitchFamily="49" charset="-122"/>
              </a:rPr>
              <a:t>波函数及其统计诠释</a:t>
            </a:r>
            <a:endParaRPr lang="en-US" altLang="zh-CN" sz="3600" baseline="0" dirty="0">
              <a:solidFill>
                <a:srgbClr val="CC3300"/>
              </a:solidFill>
              <a:ea typeface="黑体" panose="02010609060101010101" pitchFamily="49" charset="-122"/>
            </a:endParaRPr>
          </a:p>
        </p:txBody>
      </p:sp>
      <p:sp>
        <p:nvSpPr>
          <p:cNvPr id="537611" name="文本框 537610"/>
          <p:cNvSpPr txBox="1"/>
          <p:nvPr/>
        </p:nvSpPr>
        <p:spPr>
          <a:xfrm>
            <a:off x="990600" y="1989138"/>
            <a:ext cx="769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它必须能把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“颗粒性”与 “可叠加性” 统一起来！</a:t>
            </a: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  </a:t>
            </a:r>
          </a:p>
        </p:txBody>
      </p:sp>
      <p:grpSp>
        <p:nvGrpSpPr>
          <p:cNvPr id="537612" name="组合 537611"/>
          <p:cNvGrpSpPr/>
          <p:nvPr/>
        </p:nvGrpSpPr>
        <p:grpSpPr bwMode="auto">
          <a:xfrm>
            <a:off x="990600" y="2460625"/>
            <a:ext cx="8153400" cy="519113"/>
            <a:chOff x="462" y="1488"/>
            <a:chExt cx="5136" cy="327"/>
          </a:xfrm>
        </p:grpSpPr>
        <p:sp>
          <p:nvSpPr>
            <p:cNvPr id="537613" name="文本框 537612"/>
            <p:cNvSpPr txBox="1"/>
            <p:nvPr/>
          </p:nvSpPr>
          <p:spPr>
            <a:xfrm>
              <a:off x="462" y="1488"/>
              <a:ext cx="51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</a:rPr>
                <a:t>一般用复函数         代表微观粒子的波函数。</a:t>
              </a:r>
            </a:p>
          </p:txBody>
        </p:sp>
        <p:graphicFrame>
          <p:nvGraphicFramePr>
            <p:cNvPr id="45073" name="对象 537613"/>
            <p:cNvGraphicFramePr/>
            <p:nvPr/>
          </p:nvGraphicFramePr>
          <p:xfrm>
            <a:off x="1776" y="1527"/>
            <a:ext cx="6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52" r:id="rId11" imgW="513080" imgH="200660" progId="Equation.3">
                    <p:embed/>
                  </p:oleObj>
                </mc:Choice>
                <mc:Fallback>
                  <p:oleObj r:id="rId11" imgW="513080" imgH="200660" progId="Equation.3">
                    <p:embed/>
                    <p:pic>
                      <p:nvPicPr>
                        <p:cNvPr id="0" name="对象 5376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1527"/>
                          <a:ext cx="6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7616" name="文本框 537615"/>
          <p:cNvSpPr txBox="1">
            <a:spLocks noChangeArrowheads="1"/>
          </p:cNvSpPr>
          <p:nvPr/>
        </p:nvSpPr>
        <p:spPr bwMode="auto">
          <a:xfrm>
            <a:off x="323850" y="1341438"/>
            <a:ext cx="6419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aseline="0"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en-US" altLang="zh-CN" sz="2800" baseline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800" baseline="0">
                <a:latin typeface="黑体" panose="02010609060101010101" pitchFamily="49" charset="-122"/>
                <a:ea typeface="黑体" panose="02010609060101010101" pitchFamily="49" charset="-122"/>
              </a:rPr>
              <a:t>波函数</a:t>
            </a:r>
          </a:p>
        </p:txBody>
      </p:sp>
      <p:sp>
        <p:nvSpPr>
          <p:cNvPr id="537617" name="矩形 537616"/>
          <p:cNvSpPr>
            <a:spLocks noChangeArrowheads="1"/>
          </p:cNvSpPr>
          <p:nvPr/>
        </p:nvSpPr>
        <p:spPr bwMode="auto">
          <a:xfrm>
            <a:off x="566738" y="765175"/>
            <a:ext cx="551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0000FF"/>
                </a:solidFill>
                <a:ea typeface="华文新魏" panose="02010800040101010101" pitchFamily="2" charset="-122"/>
              </a:rPr>
              <a:t>如何描述德布罗意波（物质波）？</a:t>
            </a:r>
          </a:p>
        </p:txBody>
      </p:sp>
      <p:sp>
        <p:nvSpPr>
          <p:cNvPr id="537618" name="文本框 537617"/>
          <p:cNvSpPr txBox="1">
            <a:spLocks noChangeArrowheads="1"/>
          </p:cNvSpPr>
          <p:nvPr/>
        </p:nvSpPr>
        <p:spPr bwMode="auto">
          <a:xfrm>
            <a:off x="1225550" y="6202363"/>
            <a:ext cx="3851275" cy="46672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ea typeface="黑体" panose="02010609060101010101" pitchFamily="49" charset="-122"/>
              </a:rPr>
              <a:t>自由粒子的波是平面单色波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3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3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3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3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3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3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53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53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5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3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2" grpId="0"/>
      <p:bldP spid="537603" grpId="0"/>
      <p:bldP spid="537608" grpId="0"/>
      <p:bldP spid="537609" grpId="0"/>
      <p:bldP spid="537611" grpId="0"/>
      <p:bldP spid="537616" grpId="0"/>
      <p:bldP spid="537617" grpId="0"/>
      <p:bldP spid="5376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8626" name="对象 538625"/>
          <p:cNvGraphicFramePr/>
          <p:nvPr/>
        </p:nvGraphicFramePr>
        <p:xfrm>
          <a:off x="2700338" y="1323975"/>
          <a:ext cx="338455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0" r:id="rId3" imgW="1694815" imgH="423545" progId="Equation.DSMT4">
                  <p:embed/>
                </p:oleObj>
              </mc:Choice>
              <mc:Fallback>
                <p:oleObj r:id="rId3" imgW="1694815" imgH="423545" progId="Equation.DSMT4">
                  <p:embed/>
                  <p:pic>
                    <p:nvPicPr>
                      <p:cNvPr id="0" name="对象 53862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323975"/>
                        <a:ext cx="338455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27" name="对象 538626"/>
          <p:cNvGraphicFramePr/>
          <p:nvPr/>
        </p:nvGraphicFramePr>
        <p:xfrm>
          <a:off x="2700338" y="2133600"/>
          <a:ext cx="26765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1" r:id="rId5" imgW="1527810" imgH="423545" progId="Equation.DSMT4">
                  <p:embed/>
                </p:oleObj>
              </mc:Choice>
              <mc:Fallback>
                <p:oleObj r:id="rId5" imgW="1527810" imgH="423545" progId="Equation.DSMT4">
                  <p:embed/>
                  <p:pic>
                    <p:nvPicPr>
                      <p:cNvPr id="0" name="对象 53862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33600"/>
                        <a:ext cx="26765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28" name="文本框 538627"/>
          <p:cNvSpPr txBox="1">
            <a:spLocks noChangeArrowheads="1"/>
          </p:cNvSpPr>
          <p:nvPr/>
        </p:nvSpPr>
        <p:spPr bwMode="auto">
          <a:xfrm>
            <a:off x="877888" y="765175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华文楷体" panose="02010600040101010101" pitchFamily="2" charset="-122"/>
                <a:ea typeface="黑体" panose="02010609060101010101" pitchFamily="49" charset="-122"/>
              </a:rPr>
              <a:t>其波函数为：</a:t>
            </a:r>
          </a:p>
        </p:txBody>
      </p:sp>
      <p:graphicFrame>
        <p:nvGraphicFramePr>
          <p:cNvPr id="538629" name="对象 538628"/>
          <p:cNvGraphicFramePr/>
          <p:nvPr/>
        </p:nvGraphicFramePr>
        <p:xfrm>
          <a:off x="2700338" y="836613"/>
          <a:ext cx="31130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2" r:id="rId7" imgW="1438275" imgH="234315" progId="Equation.DSMT4">
                  <p:embed/>
                </p:oleObj>
              </mc:Choice>
              <mc:Fallback>
                <p:oleObj r:id="rId7" imgW="1438275" imgH="234315" progId="Equation.DSMT4">
                  <p:embed/>
                  <p:pic>
                    <p:nvPicPr>
                      <p:cNvPr id="0" name="对象 53862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836613"/>
                        <a:ext cx="311308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30" name="文本框 538629"/>
          <p:cNvSpPr txBox="1">
            <a:spLocks noChangeArrowheads="1"/>
          </p:cNvSpPr>
          <p:nvPr/>
        </p:nvSpPr>
        <p:spPr bwMode="auto">
          <a:xfrm>
            <a:off x="900113" y="1268413"/>
            <a:ext cx="17081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solidFill>
                  <a:srgbClr val="CC3300"/>
                </a:solidFill>
                <a:latin typeface="华文楷体" panose="02010600040101010101" pitchFamily="2" charset="-122"/>
                <a:ea typeface="黑体" panose="02010609060101010101" pitchFamily="49" charset="-122"/>
              </a:rPr>
              <a:t>依德布罗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solidFill>
                  <a:srgbClr val="CC3300"/>
                </a:solidFill>
                <a:latin typeface="华文楷体" panose="02010600040101010101" pitchFamily="2" charset="-122"/>
                <a:ea typeface="黑体" panose="02010609060101010101" pitchFamily="49" charset="-122"/>
              </a:rPr>
              <a:t>意关系式：</a:t>
            </a:r>
          </a:p>
        </p:txBody>
      </p:sp>
      <p:graphicFrame>
        <p:nvGraphicFramePr>
          <p:cNvPr id="538631" name="对象 538630"/>
          <p:cNvGraphicFramePr/>
          <p:nvPr/>
        </p:nvGraphicFramePr>
        <p:xfrm>
          <a:off x="2687638" y="2990850"/>
          <a:ext cx="36131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3" r:id="rId9" imgW="1616710" imgH="423545" progId="Equation.DSMT4">
                  <p:embed/>
                </p:oleObj>
              </mc:Choice>
              <mc:Fallback>
                <p:oleObj r:id="rId9" imgW="1616710" imgH="423545" progId="Equation.DSMT4">
                  <p:embed/>
                  <p:pic>
                    <p:nvPicPr>
                      <p:cNvPr id="0" name="对象 53863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2990850"/>
                        <a:ext cx="36131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2" name="对象 538631"/>
          <p:cNvGraphicFramePr/>
          <p:nvPr/>
        </p:nvGraphicFramePr>
        <p:xfrm>
          <a:off x="3068638" y="3886200"/>
          <a:ext cx="35909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4" r:id="rId11" imgW="1483360" imgH="423545" progId="Equation.3">
                  <p:embed/>
                </p:oleObj>
              </mc:Choice>
              <mc:Fallback>
                <p:oleObj r:id="rId11" imgW="1483360" imgH="423545" progId="Equation.3">
                  <p:embed/>
                  <p:pic>
                    <p:nvPicPr>
                      <p:cNvPr id="0" name="对象 53863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38" y="3886200"/>
                        <a:ext cx="35909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3" name="对象 538632"/>
          <p:cNvGraphicFramePr/>
          <p:nvPr/>
        </p:nvGraphicFramePr>
        <p:xfrm>
          <a:off x="3059113" y="4756150"/>
          <a:ext cx="37973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5" r:id="rId13" imgW="1694815" imgH="423545" progId="Equation.3">
                  <p:embed/>
                </p:oleObj>
              </mc:Choice>
              <mc:Fallback>
                <p:oleObj r:id="rId13" imgW="1694815" imgH="423545" progId="Equation.3">
                  <p:embed/>
                  <p:pic>
                    <p:nvPicPr>
                      <p:cNvPr id="0" name="对象 538632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756150"/>
                        <a:ext cx="37973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4" name="对象 538633"/>
          <p:cNvGraphicFramePr/>
          <p:nvPr>
            <p:extLst>
              <p:ext uri="{D42A27DB-BD31-4B8C-83A1-F6EECF244321}">
                <p14:modId xmlns:p14="http://schemas.microsoft.com/office/powerpoint/2010/main" val="2075652229"/>
              </p:ext>
            </p:extLst>
          </p:nvPr>
        </p:nvGraphicFramePr>
        <p:xfrm>
          <a:off x="7063912" y="1430833"/>
          <a:ext cx="89693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6" r:id="rId15" imgW="535305" imgH="423545" progId="Equation.3">
                  <p:embed/>
                </p:oleObj>
              </mc:Choice>
              <mc:Fallback>
                <p:oleObj r:id="rId15" imgW="535305" imgH="423545" progId="Equation.3">
                  <p:embed/>
                  <p:pic>
                    <p:nvPicPr>
                      <p:cNvPr id="0" name="对象 53863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3912" y="1430833"/>
                        <a:ext cx="896937" cy="7334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35" name="文本框 538634"/>
          <p:cNvSpPr txBox="1">
            <a:spLocks noChangeArrowheads="1"/>
          </p:cNvSpPr>
          <p:nvPr/>
        </p:nvSpPr>
        <p:spPr bwMode="auto">
          <a:xfrm>
            <a:off x="963613" y="5711825"/>
            <a:ext cx="20875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黑体" panose="02010609060101010101" pitchFamily="49" charset="-122"/>
                <a:ea typeface="黑体" panose="02010609060101010101" pitchFamily="49" charset="-122"/>
              </a:rPr>
              <a:t>写成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黑体" panose="02010609060101010101" pitchFamily="49" charset="-122"/>
                <a:ea typeface="黑体" panose="02010609060101010101" pitchFamily="49" charset="-122"/>
              </a:rPr>
              <a:t>复数形式：</a:t>
            </a:r>
          </a:p>
        </p:txBody>
      </p:sp>
      <p:graphicFrame>
        <p:nvGraphicFramePr>
          <p:cNvPr id="538636" name="对象 538635"/>
          <p:cNvGraphicFramePr/>
          <p:nvPr/>
        </p:nvGraphicFramePr>
        <p:xfrm>
          <a:off x="2622550" y="5708650"/>
          <a:ext cx="28860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7" r:id="rId17" imgW="1170940" imgH="368300" progId="Equation.3">
                  <p:embed/>
                </p:oleObj>
              </mc:Choice>
              <mc:Fallback>
                <p:oleObj r:id="rId17" imgW="1170940" imgH="368300" progId="Equation.3">
                  <p:embed/>
                  <p:pic>
                    <p:nvPicPr>
                      <p:cNvPr id="0" name="对象 538635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5708650"/>
                        <a:ext cx="2886075" cy="8890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7" name="内容占位符 538636"/>
          <p:cNvGraphicFramePr>
            <a:graphicFrameLocks noGrp="1"/>
          </p:cNvGraphicFramePr>
          <p:nvPr>
            <p:ph idx="4294967295"/>
          </p:nvPr>
        </p:nvGraphicFramePr>
        <p:xfrm>
          <a:off x="6227763" y="5949950"/>
          <a:ext cx="100806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8" r:id="rId19" imgW="520065" imgH="215900" progId="Equation.3">
                  <p:embed/>
                </p:oleObj>
              </mc:Choice>
              <mc:Fallback>
                <p:oleObj r:id="rId19" imgW="520065" imgH="215900" progId="Equation.3">
                  <p:embed/>
                  <p:pic>
                    <p:nvPicPr>
                      <p:cNvPr id="0" name="内容占位符 538636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5949950"/>
                        <a:ext cx="1008062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4" name="文本框 538637"/>
          <p:cNvSpPr txBox="1">
            <a:spLocks noChangeArrowheads="1"/>
          </p:cNvSpPr>
          <p:nvPr/>
        </p:nvSpPr>
        <p:spPr bwMode="auto">
          <a:xfrm>
            <a:off x="971550" y="82550"/>
            <a:ext cx="3851275" cy="46672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ea typeface="黑体" panose="02010609060101010101" pitchFamily="49" charset="-122"/>
              </a:rPr>
              <a:t>自由粒子的波是平面单色波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E724A79-3590-458A-8EAA-D28A9D5D81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9766943"/>
              </p:ext>
            </p:extLst>
          </p:nvPr>
        </p:nvGraphicFramePr>
        <p:xfrm>
          <a:off x="7063912" y="697408"/>
          <a:ext cx="8223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9" name="Equation" r:id="rId21" imgW="469800" imgH="393480" progId="Equation.DSMT4">
                  <p:embed/>
                </p:oleObj>
              </mc:Choice>
              <mc:Fallback>
                <p:oleObj name="Equation" r:id="rId21" imgW="469800" imgH="393480" progId="Equation.DSMT4">
                  <p:embed/>
                  <p:pic>
                    <p:nvPicPr>
                      <p:cNvPr id="538627" name="对象 538626"/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3912" y="697408"/>
                        <a:ext cx="8223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3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3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3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3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3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3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3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3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3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3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8" grpId="0"/>
      <p:bldP spid="538630" grpId="0"/>
      <p:bldP spid="5386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对象 539649"/>
          <p:cNvGraphicFramePr/>
          <p:nvPr/>
        </p:nvGraphicFramePr>
        <p:xfrm>
          <a:off x="1736725" y="198438"/>
          <a:ext cx="41497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0" r:id="rId3" imgW="1884680" imgH="423545" progId="Equation.3">
                  <p:embed/>
                </p:oleObj>
              </mc:Choice>
              <mc:Fallback>
                <p:oleObj r:id="rId3" imgW="1884680" imgH="423545" progId="Equation.3">
                  <p:embed/>
                  <p:pic>
                    <p:nvPicPr>
                      <p:cNvPr id="0" name="对象 53964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198438"/>
                        <a:ext cx="41497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对象 539650"/>
          <p:cNvGraphicFramePr/>
          <p:nvPr/>
        </p:nvGraphicFramePr>
        <p:xfrm>
          <a:off x="7467600" y="115888"/>
          <a:ext cx="146685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1" r:id="rId5" imgW="535305" imgH="423545" progId="Equation.3">
                  <p:embed/>
                </p:oleObj>
              </mc:Choice>
              <mc:Fallback>
                <p:oleObj r:id="rId5" imgW="535305" imgH="423545" progId="Equation.3">
                  <p:embed/>
                  <p:pic>
                    <p:nvPicPr>
                      <p:cNvPr id="0" name="对象 53965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15888"/>
                        <a:ext cx="1466850" cy="11969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文本框 539651"/>
          <p:cNvSpPr txBox="1">
            <a:spLocks noChangeArrowheads="1"/>
          </p:cNvSpPr>
          <p:nvPr/>
        </p:nvSpPr>
        <p:spPr bwMode="auto">
          <a:xfrm>
            <a:off x="438150" y="1277938"/>
            <a:ext cx="20875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黑体" panose="02010609060101010101" pitchFamily="49" charset="-122"/>
                <a:ea typeface="黑体" panose="02010609060101010101" pitchFamily="49" charset="-122"/>
              </a:rPr>
              <a:t>写成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黑体" panose="02010609060101010101" pitchFamily="49" charset="-122"/>
                <a:ea typeface="黑体" panose="02010609060101010101" pitchFamily="49" charset="-122"/>
              </a:rPr>
              <a:t>复数形式：</a:t>
            </a:r>
          </a:p>
        </p:txBody>
      </p:sp>
      <p:graphicFrame>
        <p:nvGraphicFramePr>
          <p:cNvPr id="47109" name="对象 539652"/>
          <p:cNvGraphicFramePr/>
          <p:nvPr/>
        </p:nvGraphicFramePr>
        <p:xfrm>
          <a:off x="2046288" y="1274763"/>
          <a:ext cx="28860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2" r:id="rId7" imgW="1170940" imgH="368300" progId="Equation.3">
                  <p:embed/>
                </p:oleObj>
              </mc:Choice>
              <mc:Fallback>
                <p:oleObj r:id="rId7" imgW="1170940" imgH="368300" progId="Equation.3">
                  <p:embed/>
                  <p:pic>
                    <p:nvPicPr>
                      <p:cNvPr id="0" name="对象 53965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8" y="1274763"/>
                        <a:ext cx="2886075" cy="8890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9654" name="组合 539653"/>
          <p:cNvGrpSpPr/>
          <p:nvPr/>
        </p:nvGrpSpPr>
        <p:grpSpPr bwMode="auto">
          <a:xfrm>
            <a:off x="454025" y="2389188"/>
            <a:ext cx="3994150" cy="506412"/>
            <a:chOff x="393" y="1652"/>
            <a:chExt cx="2516" cy="319"/>
          </a:xfrm>
        </p:grpSpPr>
        <p:sp>
          <p:nvSpPr>
            <p:cNvPr id="47138" name="文本框 539654"/>
            <p:cNvSpPr txBox="1">
              <a:spLocks noChangeArrowheads="1"/>
            </p:cNvSpPr>
            <p:nvPr/>
          </p:nvSpPr>
          <p:spPr bwMode="auto">
            <a:xfrm>
              <a:off x="393" y="1676"/>
              <a:ext cx="25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0">
                  <a:latin typeface="黑体" panose="02010609060101010101" pitchFamily="49" charset="-122"/>
                  <a:ea typeface="黑体" panose="02010609060101010101" pitchFamily="49" charset="-122"/>
                </a:rPr>
                <a:t>当粒子沿着   方向运动时：</a:t>
              </a:r>
            </a:p>
          </p:txBody>
        </p:sp>
        <p:graphicFrame>
          <p:nvGraphicFramePr>
            <p:cNvPr id="47139" name="对象 539655"/>
            <p:cNvGraphicFramePr/>
            <p:nvPr/>
          </p:nvGraphicFramePr>
          <p:xfrm>
            <a:off x="1442" y="1652"/>
            <a:ext cx="26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73" r:id="rId9" imgW="111760" imgH="144780" progId="Equation.3">
                    <p:embed/>
                  </p:oleObj>
                </mc:Choice>
                <mc:Fallback>
                  <p:oleObj r:id="rId9" imgW="111760" imgH="144780" progId="Equation.3">
                    <p:embed/>
                    <p:pic>
                      <p:nvPicPr>
                        <p:cNvPr id="0" name="对象 53965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2" y="1652"/>
                          <a:ext cx="26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9657" name="对象 539656"/>
          <p:cNvGraphicFramePr/>
          <p:nvPr/>
        </p:nvGraphicFramePr>
        <p:xfrm>
          <a:off x="2112963" y="2824163"/>
          <a:ext cx="361156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4" r:id="rId11" imgW="1561465" imgH="368300" progId="Equation.3">
                  <p:embed/>
                </p:oleObj>
              </mc:Choice>
              <mc:Fallback>
                <p:oleObj r:id="rId11" imgW="1561465" imgH="368300" progId="Equation.3">
                  <p:embed/>
                  <p:pic>
                    <p:nvPicPr>
                      <p:cNvPr id="0" name="对象 53965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2824163"/>
                        <a:ext cx="361156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659" name="对象 539658"/>
          <p:cNvGraphicFramePr/>
          <p:nvPr/>
        </p:nvGraphicFramePr>
        <p:xfrm>
          <a:off x="2268538" y="4076700"/>
          <a:ext cx="307498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5" r:id="rId13" imgW="1159510" imgH="234315" progId="Equation.3">
                  <p:embed/>
                </p:oleObj>
              </mc:Choice>
              <mc:Fallback>
                <p:oleObj r:id="rId13" imgW="1159510" imgH="234315" progId="Equation.3">
                  <p:embed/>
                  <p:pic>
                    <p:nvPicPr>
                      <p:cNvPr id="0" name="对象 53965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076700"/>
                        <a:ext cx="3074987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660" name="对象 539659"/>
          <p:cNvGraphicFramePr/>
          <p:nvPr/>
        </p:nvGraphicFramePr>
        <p:xfrm>
          <a:off x="2195513" y="4868863"/>
          <a:ext cx="36068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6" r:id="rId15" imgW="1483360" imgH="267335" progId="Equation.3">
                  <p:embed/>
                </p:oleObj>
              </mc:Choice>
              <mc:Fallback>
                <p:oleObj r:id="rId15" imgW="1483360" imgH="267335" progId="Equation.3">
                  <p:embed/>
                  <p:pic>
                    <p:nvPicPr>
                      <p:cNvPr id="0" name="对象 53965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868863"/>
                        <a:ext cx="36068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61" name="文本框 539660"/>
          <p:cNvSpPr txBox="1">
            <a:spLocks noChangeArrowheads="1"/>
          </p:cNvSpPr>
          <p:nvPr/>
        </p:nvSpPr>
        <p:spPr bwMode="auto">
          <a:xfrm>
            <a:off x="611188" y="3789363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黑体" panose="02010609060101010101" pitchFamily="49" charset="-122"/>
                <a:ea typeface="黑体" panose="02010609060101010101" pitchFamily="49" charset="-122"/>
              </a:rPr>
              <a:t>其中：</a:t>
            </a:r>
          </a:p>
        </p:txBody>
      </p:sp>
      <p:grpSp>
        <p:nvGrpSpPr>
          <p:cNvPr id="539662" name="组合 539661"/>
          <p:cNvGrpSpPr/>
          <p:nvPr/>
        </p:nvGrpSpPr>
        <p:grpSpPr bwMode="auto">
          <a:xfrm>
            <a:off x="6518275" y="1698625"/>
            <a:ext cx="2514600" cy="1990725"/>
            <a:chOff x="4106" y="1070"/>
            <a:chExt cx="1584" cy="1254"/>
          </a:xfrm>
        </p:grpSpPr>
        <p:grpSp>
          <p:nvGrpSpPr>
            <p:cNvPr id="47120" name="组合 539662"/>
            <p:cNvGrpSpPr/>
            <p:nvPr/>
          </p:nvGrpSpPr>
          <p:grpSpPr bwMode="auto">
            <a:xfrm>
              <a:off x="4548" y="1376"/>
              <a:ext cx="566" cy="564"/>
              <a:chOff x="4186" y="480"/>
              <a:chExt cx="566" cy="564"/>
            </a:xfrm>
          </p:grpSpPr>
          <p:sp>
            <p:nvSpPr>
              <p:cNvPr id="47134" name="直接连接符 539663"/>
              <p:cNvSpPr>
                <a:spLocks noChangeShapeType="1"/>
              </p:cNvSpPr>
              <p:nvPr/>
            </p:nvSpPr>
            <p:spPr bwMode="auto">
              <a:xfrm flipV="1">
                <a:off x="4186" y="576"/>
                <a:ext cx="566" cy="468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7135" name="组合 539664"/>
              <p:cNvGrpSpPr/>
              <p:nvPr/>
            </p:nvGrpSpPr>
            <p:grpSpPr bwMode="auto">
              <a:xfrm>
                <a:off x="4282" y="480"/>
                <a:ext cx="230" cy="365"/>
                <a:chOff x="5184" y="144"/>
                <a:chExt cx="230" cy="365"/>
              </a:xfrm>
            </p:grpSpPr>
            <p:sp>
              <p:nvSpPr>
                <p:cNvPr id="47136" name="文本框 539665"/>
                <p:cNvSpPr txBox="1">
                  <a:spLocks noChangeArrowheads="1"/>
                </p:cNvSpPr>
                <p:nvPr/>
              </p:nvSpPr>
              <p:spPr bwMode="auto">
                <a:xfrm>
                  <a:off x="5184" y="144"/>
                  <a:ext cx="230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b="1" baseline="0">
                      <a:solidFill>
                        <a:srgbClr val="CC3300"/>
                      </a:solidFill>
                    </a:rPr>
                    <a:t>r</a:t>
                  </a:r>
                </a:p>
              </p:txBody>
            </p:sp>
            <p:sp>
              <p:nvSpPr>
                <p:cNvPr id="47137" name="直接连接符 539666"/>
                <p:cNvSpPr>
                  <a:spLocks noChangeShapeType="1"/>
                </p:cNvSpPr>
                <p:nvPr/>
              </p:nvSpPr>
              <p:spPr bwMode="auto">
                <a:xfrm>
                  <a:off x="5194" y="22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CC33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7121" name="组合 539667"/>
            <p:cNvGrpSpPr/>
            <p:nvPr/>
          </p:nvGrpSpPr>
          <p:grpSpPr bwMode="auto">
            <a:xfrm>
              <a:off x="4106" y="1070"/>
              <a:ext cx="1428" cy="1254"/>
              <a:chOff x="3744" y="174"/>
              <a:chExt cx="1428" cy="1254"/>
            </a:xfrm>
          </p:grpSpPr>
          <p:grpSp>
            <p:nvGrpSpPr>
              <p:cNvPr id="47127" name="组合 539668"/>
              <p:cNvGrpSpPr/>
              <p:nvPr/>
            </p:nvGrpSpPr>
            <p:grpSpPr bwMode="auto">
              <a:xfrm>
                <a:off x="3754" y="228"/>
                <a:ext cx="1392" cy="1200"/>
                <a:chOff x="3744" y="672"/>
                <a:chExt cx="1392" cy="1200"/>
              </a:xfrm>
            </p:grpSpPr>
            <p:sp>
              <p:nvSpPr>
                <p:cNvPr id="47131" name="直接连接符 539669"/>
                <p:cNvSpPr>
                  <a:spLocks noChangeShapeType="1"/>
                </p:cNvSpPr>
                <p:nvPr/>
              </p:nvSpPr>
              <p:spPr bwMode="auto">
                <a:xfrm>
                  <a:off x="4176" y="1488"/>
                  <a:ext cx="96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2" name="直接连接符 539670"/>
                <p:cNvSpPr>
                  <a:spLocks noChangeShapeType="1"/>
                </p:cNvSpPr>
                <p:nvPr/>
              </p:nvSpPr>
              <p:spPr bwMode="auto">
                <a:xfrm flipV="1">
                  <a:off x="4176" y="672"/>
                  <a:ext cx="0" cy="81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3" name="直接连接符 539671"/>
                <p:cNvSpPr>
                  <a:spLocks noChangeShapeType="1"/>
                </p:cNvSpPr>
                <p:nvPr/>
              </p:nvSpPr>
              <p:spPr bwMode="auto">
                <a:xfrm flipH="1">
                  <a:off x="3744" y="1488"/>
                  <a:ext cx="432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7128" name="文本框 539672"/>
              <p:cNvSpPr txBox="1">
                <a:spLocks noChangeArrowheads="1"/>
              </p:cNvSpPr>
              <p:nvPr/>
            </p:nvSpPr>
            <p:spPr bwMode="auto">
              <a:xfrm>
                <a:off x="3744" y="942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 baseline="0"/>
                  <a:t>z</a:t>
                </a:r>
              </a:p>
            </p:txBody>
          </p:sp>
          <p:sp>
            <p:nvSpPr>
              <p:cNvPr id="47129" name="文本框 539673"/>
              <p:cNvSpPr txBox="1">
                <a:spLocks noChangeArrowheads="1"/>
              </p:cNvSpPr>
              <p:nvPr/>
            </p:nvSpPr>
            <p:spPr bwMode="auto">
              <a:xfrm>
                <a:off x="4944" y="702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 baseline="0"/>
                  <a:t>x</a:t>
                </a:r>
              </a:p>
            </p:txBody>
          </p:sp>
          <p:sp>
            <p:nvSpPr>
              <p:cNvPr id="47130" name="文本框 539674"/>
              <p:cNvSpPr txBox="1">
                <a:spLocks noChangeArrowheads="1"/>
              </p:cNvSpPr>
              <p:nvPr/>
            </p:nvSpPr>
            <p:spPr bwMode="auto">
              <a:xfrm>
                <a:off x="3888" y="174"/>
                <a:ext cx="21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 baseline="0"/>
                  <a:t>y</a:t>
                </a:r>
              </a:p>
            </p:txBody>
          </p:sp>
        </p:grpSp>
        <p:grpSp>
          <p:nvGrpSpPr>
            <p:cNvPr id="47122" name="组合 539675"/>
            <p:cNvGrpSpPr/>
            <p:nvPr/>
          </p:nvGrpSpPr>
          <p:grpSpPr bwMode="auto">
            <a:xfrm>
              <a:off x="5178" y="1136"/>
              <a:ext cx="512" cy="413"/>
              <a:chOff x="4752" y="288"/>
              <a:chExt cx="512" cy="413"/>
            </a:xfrm>
          </p:grpSpPr>
          <p:sp>
            <p:nvSpPr>
              <p:cNvPr id="47124" name="直接连接符 539676"/>
              <p:cNvSpPr>
                <a:spLocks noChangeShapeType="1"/>
              </p:cNvSpPr>
              <p:nvPr/>
            </p:nvSpPr>
            <p:spPr bwMode="auto">
              <a:xfrm flipV="1">
                <a:off x="4752" y="288"/>
                <a:ext cx="336" cy="28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5" name="文本框 539677"/>
              <p:cNvSpPr txBox="1">
                <a:spLocks noChangeArrowheads="1"/>
              </p:cNvSpPr>
              <p:nvPr/>
            </p:nvSpPr>
            <p:spPr bwMode="auto">
              <a:xfrm>
                <a:off x="4992" y="336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baseline="0">
                    <a:solidFill>
                      <a:schemeClr val="bg2"/>
                    </a:solidFill>
                  </a:rPr>
                  <a:t>P</a:t>
                </a:r>
              </a:p>
            </p:txBody>
          </p:sp>
          <p:sp>
            <p:nvSpPr>
              <p:cNvPr id="47126" name="直接连接符 539678"/>
              <p:cNvSpPr>
                <a:spLocks noChangeShapeType="1"/>
              </p:cNvSpPr>
              <p:nvPr/>
            </p:nvSpPr>
            <p:spPr bwMode="auto">
              <a:xfrm>
                <a:off x="5040" y="3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23" name="椭圆 539679"/>
            <p:cNvSpPr>
              <a:spLocks noChangeArrowheads="1"/>
            </p:cNvSpPr>
            <p:nvPr/>
          </p:nvSpPr>
          <p:spPr bwMode="auto">
            <a:xfrm>
              <a:off x="5066" y="1376"/>
              <a:ext cx="144" cy="1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66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47116" name="对象 539680"/>
          <p:cNvGraphicFramePr/>
          <p:nvPr/>
        </p:nvGraphicFramePr>
        <p:xfrm>
          <a:off x="5541963" y="1595438"/>
          <a:ext cx="11350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7" r:id="rId17" imgW="520065" imgH="215900" progId="Equation.3">
                  <p:embed/>
                </p:oleObj>
              </mc:Choice>
              <mc:Fallback>
                <p:oleObj r:id="rId17" imgW="520065" imgH="215900" progId="Equation.3">
                  <p:embed/>
                  <p:pic>
                    <p:nvPicPr>
                      <p:cNvPr id="0" name="对象 539680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1963" y="1595438"/>
                        <a:ext cx="11350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9682" name="组合 539681"/>
          <p:cNvGrpSpPr/>
          <p:nvPr/>
        </p:nvGrpSpPr>
        <p:grpSpPr bwMode="auto">
          <a:xfrm>
            <a:off x="827088" y="5876925"/>
            <a:ext cx="5905500" cy="579438"/>
            <a:chOff x="567" y="3485"/>
            <a:chExt cx="2540" cy="365"/>
          </a:xfrm>
        </p:grpSpPr>
        <p:sp>
          <p:nvSpPr>
            <p:cNvPr id="47118" name="文本框 539682"/>
            <p:cNvSpPr txBox="1">
              <a:spLocks noChangeArrowheads="1"/>
            </p:cNvSpPr>
            <p:nvPr/>
          </p:nvSpPr>
          <p:spPr bwMode="auto">
            <a:xfrm>
              <a:off x="567" y="3485"/>
              <a:ext cx="25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b="1" baseline="0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如何理解                  ？</a:t>
              </a:r>
              <a:endParaRPr lang="zh-CN" altLang="en-US" sz="2800" b="1" baseline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47119" name="对象 539683"/>
            <p:cNvGraphicFramePr/>
            <p:nvPr/>
          </p:nvGraphicFramePr>
          <p:xfrm>
            <a:off x="1262" y="3526"/>
            <a:ext cx="68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78" r:id="rId19" imgW="456565" imgH="203200" progId="Equation.3">
                    <p:embed/>
                  </p:oleObj>
                </mc:Choice>
                <mc:Fallback>
                  <p:oleObj r:id="rId19" imgW="456565" imgH="203200" progId="Equation.3">
                    <p:embed/>
                    <p:pic>
                      <p:nvPicPr>
                        <p:cNvPr id="0" name="对象 53968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2" y="3526"/>
                          <a:ext cx="680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3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3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3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3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3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6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对象 658435"/>
          <p:cNvGraphicFramePr/>
          <p:nvPr/>
        </p:nvGraphicFramePr>
        <p:xfrm>
          <a:off x="5724525" y="0"/>
          <a:ext cx="34194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5" r:id="rId3" imgW="1561465" imgH="368300" progId="Equation.3">
                  <p:embed/>
                </p:oleObj>
              </mc:Choice>
              <mc:Fallback>
                <p:oleObj r:id="rId3" imgW="1561465" imgH="368300" progId="Equation.3">
                  <p:embed/>
                  <p:pic>
                    <p:nvPicPr>
                      <p:cNvPr id="0" name="对象 65843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0"/>
                        <a:ext cx="34194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8437" name="文本框 658436"/>
          <p:cNvSpPr txBox="1"/>
          <p:nvPr/>
        </p:nvSpPr>
        <p:spPr>
          <a:xfrm>
            <a:off x="179388" y="188913"/>
            <a:ext cx="8174037" cy="38664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55000"/>
              </a:lnSpc>
              <a:spcBef>
                <a:spcPct val="50000"/>
              </a:spcBef>
              <a:defRPr/>
            </a:pPr>
            <a:r>
              <a:rPr lang="zh-CN" altLang="en-US" sz="32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二</a:t>
            </a:r>
            <a:r>
              <a:rPr lang="en-US" altLang="zh-CN" sz="32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 </a:t>
            </a:r>
            <a:r>
              <a:rPr lang="zh-CN" altLang="en-US" sz="32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波函数的统计解释</a:t>
            </a:r>
          </a:p>
        </p:txBody>
      </p:sp>
      <p:sp>
        <p:nvSpPr>
          <p:cNvPr id="658438" name="文本框 658437"/>
          <p:cNvSpPr txBox="1"/>
          <p:nvPr/>
        </p:nvSpPr>
        <p:spPr>
          <a:xfrm>
            <a:off x="539750" y="765175"/>
            <a:ext cx="6126163" cy="5064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CCFFFF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zh-CN" altLang="en-US" sz="3200" b="1" baseline="0" noProof="1">
                <a:solidFill>
                  <a:srgbClr val="CC3300"/>
                </a:solidFill>
                <a:ea typeface="华文新魏" panose="02010800040101010101" pitchFamily="2" charset="-122"/>
              </a:rPr>
              <a:t>玻恩（</a:t>
            </a:r>
            <a:r>
              <a:rPr lang="en-US" altLang="zh-CN" sz="32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Born ) </a:t>
            </a:r>
            <a:r>
              <a:rPr lang="en-US" altLang="zh-CN" sz="3200" b="1" baseline="0" noProof="1">
                <a:solidFill>
                  <a:srgbClr val="CC3300"/>
                </a:solidFill>
                <a:ea typeface="华文新魏" panose="02010800040101010101" pitchFamily="2" charset="-122"/>
              </a:rPr>
              <a:t>1926:</a:t>
            </a:r>
          </a:p>
        </p:txBody>
      </p:sp>
      <p:grpSp>
        <p:nvGrpSpPr>
          <p:cNvPr id="658439" name="组合 658438"/>
          <p:cNvGrpSpPr/>
          <p:nvPr/>
        </p:nvGrpSpPr>
        <p:grpSpPr bwMode="auto">
          <a:xfrm>
            <a:off x="642938" y="1341438"/>
            <a:ext cx="7848600" cy="1193800"/>
            <a:chOff x="384" y="1792"/>
            <a:chExt cx="4944" cy="752"/>
          </a:xfrm>
        </p:grpSpPr>
        <p:sp>
          <p:nvSpPr>
            <p:cNvPr id="658440" name="文本框 658439"/>
            <p:cNvSpPr txBox="1"/>
            <p:nvPr/>
          </p:nvSpPr>
          <p:spPr>
            <a:xfrm>
              <a:off x="432" y="1792"/>
              <a:ext cx="4884" cy="710"/>
            </a:xfrm>
            <a:prstGeom prst="rect">
              <a:avLst/>
            </a:prstGeom>
            <a:noFill/>
            <a:ln w="9525" cap="flat" cmpd="sng">
              <a:solidFill>
                <a:srgbClr val="A5002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defRPr/>
              </a:pPr>
              <a:r>
                <a:rPr lang="zh-CN" altLang="en-US" sz="2800" b="1" i="1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华文楷体" panose="02010600040101010101" pitchFamily="2" charset="-122"/>
                  <a:ea typeface="仿宋_GB2312" pitchFamily="49" charset="-122"/>
                </a:rPr>
                <a:t>物质波</a:t>
              </a:r>
              <a:r>
                <a:rPr lang="zh-CN" altLang="zh-CN" sz="2800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仿宋_GB2312" pitchFamily="49" charset="-122"/>
                </a:rPr>
                <a:t>并不像经典波那样</a:t>
              </a:r>
              <a:r>
                <a:rPr lang="zh-CN" altLang="zh-CN" sz="2800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华文楷体" panose="02010600040101010101" pitchFamily="2" charset="-122"/>
                  <a:ea typeface="仿宋_GB2312" pitchFamily="49" charset="-122"/>
                </a:rPr>
                <a:t>代表实在物理量的波动</a:t>
              </a:r>
              <a:endParaRPr lang="zh-CN" altLang="en-US" sz="2800" b="1" i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华文楷体" panose="02010600040101010101" pitchFamily="2" charset="-122"/>
                <a:ea typeface="仿宋_GB2312" pitchFamily="49" charset="-122"/>
              </a:endParaRPr>
            </a:p>
            <a:p>
              <a:pPr eaLnBrk="1" hangingPunct="1">
                <a:lnSpc>
                  <a:spcPct val="120000"/>
                </a:lnSpc>
                <a:defRPr/>
              </a:pPr>
              <a:r>
                <a:rPr lang="zh-CN" altLang="zh-CN" sz="2800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华文楷体" panose="02010600040101010101" pitchFamily="2" charset="-122"/>
                  <a:ea typeface="仿宋_GB2312" pitchFamily="49" charset="-122"/>
                </a:rPr>
                <a:t>,而</a:t>
              </a:r>
              <a:r>
                <a:rPr lang="zh-CN" altLang="zh-CN" sz="2800" b="1" i="1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华文楷体" panose="02010600040101010101" pitchFamily="2" charset="-122"/>
                  <a:ea typeface="仿宋_GB2312" pitchFamily="49" charset="-122"/>
                </a:rPr>
                <a:t>是</a:t>
              </a:r>
              <a:r>
                <a:rPr lang="zh-CN" altLang="zh-CN" sz="2800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华文楷体" panose="02010600040101010101" pitchFamily="2" charset="-122"/>
                  <a:ea typeface="仿宋_GB2312" pitchFamily="49" charset="-122"/>
                </a:rPr>
                <a:t>刻画粒子在空间概率分布的</a:t>
              </a:r>
              <a:r>
                <a:rPr lang="zh-CN" altLang="zh-CN" sz="2800" b="1" i="1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华文楷体" panose="02010600040101010101" pitchFamily="2" charset="-122"/>
                  <a:ea typeface="仿宋_GB2312" pitchFamily="49" charset="-122"/>
                </a:rPr>
                <a:t>概率波</a:t>
              </a:r>
              <a:endParaRPr lang="zh-CN" altLang="en-US" sz="2800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楷体" panose="02010600040101010101" pitchFamily="2" charset="-122"/>
                <a:ea typeface="仿宋_GB2312" pitchFamily="49" charset="-122"/>
              </a:endParaRPr>
            </a:p>
          </p:txBody>
        </p:sp>
        <p:sp>
          <p:nvSpPr>
            <p:cNvPr id="48145" name="矩形 658440"/>
            <p:cNvSpPr>
              <a:spLocks noChangeArrowheads="1"/>
            </p:cNvSpPr>
            <p:nvPr/>
          </p:nvSpPr>
          <p:spPr bwMode="auto">
            <a:xfrm>
              <a:off x="384" y="1824"/>
              <a:ext cx="4944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</p:grpSp>
      <p:sp>
        <p:nvSpPr>
          <p:cNvPr id="658442" name="文本框 658441"/>
          <p:cNvSpPr txBox="1"/>
          <p:nvPr/>
        </p:nvSpPr>
        <p:spPr>
          <a:xfrm>
            <a:off x="4044950" y="4781550"/>
            <a:ext cx="4530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I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大处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光子出现的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概率大</a:t>
            </a:r>
          </a:p>
        </p:txBody>
      </p:sp>
      <p:sp>
        <p:nvSpPr>
          <p:cNvPr id="658443" name="文本框 658442"/>
          <p:cNvSpPr txBox="1"/>
          <p:nvPr/>
        </p:nvSpPr>
        <p:spPr>
          <a:xfrm>
            <a:off x="4029075" y="5305425"/>
            <a:ext cx="4498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I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小处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光子出现的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概率小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endParaRPr lang="zh-CN" altLang="en-US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58444" name="文本框 658443"/>
          <p:cNvSpPr txBox="1"/>
          <p:nvPr/>
        </p:nvSpPr>
        <p:spPr>
          <a:xfrm>
            <a:off x="900113" y="3644900"/>
            <a:ext cx="8610600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波动性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某处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明亮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则该处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光强大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即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I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大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粒子性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某处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明亮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则该处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光子多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即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 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大</a:t>
            </a:r>
          </a:p>
        </p:txBody>
      </p:sp>
      <p:sp>
        <p:nvSpPr>
          <p:cNvPr id="658445" name="文本框 658444"/>
          <p:cNvSpPr txBox="1"/>
          <p:nvPr/>
        </p:nvSpPr>
        <p:spPr>
          <a:xfrm>
            <a:off x="1231900" y="5011738"/>
            <a:ext cx="441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即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 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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1" baseline="0" noProof="1">
                <a:solidFill>
                  <a:srgbClr val="CC3300"/>
                </a:solidFill>
                <a:sym typeface="Symbol" panose="05050102010706020507" pitchFamily="18" charset="2"/>
              </a:rPr>
              <a:t> </a:t>
            </a:r>
            <a:r>
              <a:rPr lang="en-US" altLang="zh-CN" b="1" i="1" baseline="0" noProof="1">
                <a:solidFill>
                  <a:srgbClr val="CC3300"/>
                </a:solidFill>
                <a:sym typeface="Symbol" panose="05050102010706020507" pitchFamily="18" charset="2"/>
              </a:rPr>
              <a:t>E</a:t>
            </a:r>
            <a:r>
              <a:rPr lang="en-US" altLang="zh-CN" b="1" baseline="-25000" noProof="1">
                <a:solidFill>
                  <a:srgbClr val="CC3300"/>
                </a:solidFill>
                <a:sym typeface="Symbol" panose="05050102010706020507" pitchFamily="18" charset="2"/>
              </a:rPr>
              <a:t>0</a:t>
            </a:r>
            <a:r>
              <a:rPr lang="en-US" altLang="zh-CN" b="1" noProof="1">
                <a:solidFill>
                  <a:srgbClr val="CC3300"/>
                </a:solidFill>
                <a:sym typeface="Symbol" panose="05050102010706020507" pitchFamily="18" charset="2"/>
              </a:rPr>
              <a:t>2</a:t>
            </a:r>
            <a:endParaRPr lang="en-US" altLang="zh-CN" b="1" baseline="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8446" name="文本框 658445"/>
          <p:cNvSpPr txBox="1">
            <a:spLocks noChangeArrowheads="1"/>
          </p:cNvSpPr>
          <p:nvPr/>
        </p:nvSpPr>
        <p:spPr bwMode="auto">
          <a:xfrm>
            <a:off x="481013" y="6127750"/>
            <a:ext cx="8416925" cy="614363"/>
          </a:xfrm>
          <a:prstGeom prst="rect">
            <a:avLst/>
          </a:prstGeom>
          <a:gradFill rotWithShape="1">
            <a:gsLst>
              <a:gs pos="0">
                <a:srgbClr val="CC9900"/>
              </a:gs>
              <a:gs pos="50000">
                <a:srgbClr val="FFFF00"/>
              </a:gs>
              <a:gs pos="100000">
                <a:srgbClr val="CC99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aseline="0">
                <a:latin typeface="华文新魏" panose="02010800040101010101" pitchFamily="2" charset="-122"/>
                <a:ea typeface="华文新魏" panose="02010800040101010101" pitchFamily="2" charset="-122"/>
              </a:rPr>
              <a:t>光子在某处出现的概率和该处光振幅的平方成正比</a:t>
            </a:r>
          </a:p>
        </p:txBody>
      </p:sp>
      <p:sp>
        <p:nvSpPr>
          <p:cNvPr id="658447" name="文本框 658446"/>
          <p:cNvSpPr txBox="1">
            <a:spLocks noChangeArrowheads="1"/>
          </p:cNvSpPr>
          <p:nvPr/>
        </p:nvSpPr>
        <p:spPr bwMode="auto">
          <a:xfrm>
            <a:off x="468313" y="2565400"/>
            <a:ext cx="3886200" cy="528638"/>
          </a:xfrm>
          <a:prstGeom prst="rect">
            <a:avLst/>
          </a:prstGeom>
          <a:gradFill rotWithShape="1">
            <a:gsLst>
              <a:gs pos="0">
                <a:srgbClr val="CC9900"/>
              </a:gs>
              <a:gs pos="50000">
                <a:srgbClr val="FFFF00"/>
              </a:gs>
              <a:gs pos="100000">
                <a:srgbClr val="CC99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aseline="0">
                <a:latin typeface="华文新魏" panose="02010800040101010101" pitchFamily="2" charset="-122"/>
                <a:ea typeface="华文新魏" panose="02010800040101010101" pitchFamily="2" charset="-122"/>
              </a:rPr>
              <a:t>类比光的波粒二象性</a:t>
            </a:r>
          </a:p>
        </p:txBody>
      </p:sp>
      <p:sp>
        <p:nvSpPr>
          <p:cNvPr id="658448" name="左大括号 658447"/>
          <p:cNvSpPr/>
          <p:nvPr/>
        </p:nvSpPr>
        <p:spPr bwMode="auto">
          <a:xfrm>
            <a:off x="3851275" y="4868863"/>
            <a:ext cx="109538" cy="798512"/>
          </a:xfrm>
          <a:prstGeom prst="leftBrace">
            <a:avLst>
              <a:gd name="adj1" fmla="val 60411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658449" name="矩形 658448"/>
          <p:cNvSpPr>
            <a:spLocks noChangeArrowheads="1"/>
          </p:cNvSpPr>
          <p:nvPr/>
        </p:nvSpPr>
        <p:spPr bwMode="auto">
          <a:xfrm>
            <a:off x="1042988" y="5564188"/>
            <a:ext cx="2735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baseline="0">
                <a:sym typeface="Symbol" panose="05050102010706020507" pitchFamily="18" charset="2"/>
              </a:rPr>
              <a:t>(</a:t>
            </a:r>
            <a:r>
              <a:rPr lang="en-US" altLang="zh-CN" sz="2400" b="1" i="1" baseline="0">
                <a:sym typeface="Symbol" panose="05050102010706020507" pitchFamily="18" charset="2"/>
              </a:rPr>
              <a:t>E</a:t>
            </a:r>
            <a:r>
              <a:rPr lang="en-US" altLang="zh-CN" sz="2400" b="1" baseline="-25000">
                <a:sym typeface="Symbol" panose="05050102010706020507" pitchFamily="18" charset="2"/>
              </a:rPr>
              <a:t>0</a:t>
            </a:r>
            <a:r>
              <a:rPr lang="zh-CN" altLang="en-US" sz="2400" b="1" baseline="0">
                <a:sym typeface="Symbol" panose="05050102010706020507" pitchFamily="18" charset="2"/>
              </a:rPr>
              <a:t>光振动的振幅）</a:t>
            </a:r>
          </a:p>
        </p:txBody>
      </p:sp>
      <p:sp>
        <p:nvSpPr>
          <p:cNvPr id="658450" name="矩形 658449"/>
          <p:cNvSpPr>
            <a:spLocks noChangeArrowheads="1"/>
          </p:cNvSpPr>
          <p:nvPr/>
        </p:nvSpPr>
        <p:spPr bwMode="auto">
          <a:xfrm>
            <a:off x="539750" y="3090863"/>
            <a:ext cx="2622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aseline="0">
                <a:solidFill>
                  <a:srgbClr val="CC3300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对光的衍射：</a:t>
            </a:r>
          </a:p>
        </p:txBody>
      </p:sp>
      <p:sp>
        <p:nvSpPr>
          <p:cNvPr id="658451" name="左大括号 658450"/>
          <p:cNvSpPr/>
          <p:nvPr/>
        </p:nvSpPr>
        <p:spPr bwMode="auto">
          <a:xfrm>
            <a:off x="684213" y="3817938"/>
            <a:ext cx="109537" cy="798512"/>
          </a:xfrm>
          <a:prstGeom prst="leftBrace">
            <a:avLst>
              <a:gd name="adj1" fmla="val 60412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5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5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5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5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5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5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58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5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5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5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65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65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65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437" grpId="0"/>
      <p:bldP spid="658438" grpId="0" animBg="1"/>
      <p:bldP spid="658442" grpId="0"/>
      <p:bldP spid="658443" grpId="0"/>
      <p:bldP spid="658444" grpId="0" uiExpand="1" build="allAtOnce"/>
      <p:bldP spid="658445" grpId="0"/>
      <p:bldP spid="658446" grpId="0" animBg="1"/>
      <p:bldP spid="658447" grpId="0" animBg="1"/>
      <p:bldP spid="658449" grpId="0"/>
      <p:bldP spid="65845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23" name="组合 542722"/>
          <p:cNvGrpSpPr/>
          <p:nvPr/>
        </p:nvGrpSpPr>
        <p:grpSpPr bwMode="auto">
          <a:xfrm>
            <a:off x="179388" y="1398588"/>
            <a:ext cx="8839200" cy="1630362"/>
            <a:chOff x="158" y="787"/>
            <a:chExt cx="5568" cy="1027"/>
          </a:xfrm>
        </p:grpSpPr>
        <p:sp>
          <p:nvSpPr>
            <p:cNvPr id="49179" name="矩形 542723"/>
            <p:cNvSpPr>
              <a:spLocks noChangeArrowheads="1"/>
            </p:cNvSpPr>
            <p:nvPr/>
          </p:nvSpPr>
          <p:spPr bwMode="auto">
            <a:xfrm>
              <a:off x="158" y="787"/>
              <a:ext cx="5568" cy="10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 baseline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180" name="直接连接符 542724"/>
            <p:cNvSpPr>
              <a:spLocks noChangeShapeType="1"/>
            </p:cNvSpPr>
            <p:nvPr/>
          </p:nvSpPr>
          <p:spPr bwMode="auto">
            <a:xfrm>
              <a:off x="158" y="1498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1" name="直接连接符 542725"/>
            <p:cNvSpPr>
              <a:spLocks noChangeShapeType="1"/>
            </p:cNvSpPr>
            <p:nvPr/>
          </p:nvSpPr>
          <p:spPr bwMode="auto">
            <a:xfrm>
              <a:off x="158" y="1814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2" name="直接连接符 542726"/>
            <p:cNvSpPr>
              <a:spLocks noChangeShapeType="1"/>
            </p:cNvSpPr>
            <p:nvPr/>
          </p:nvSpPr>
          <p:spPr bwMode="auto">
            <a:xfrm>
              <a:off x="1310" y="787"/>
              <a:ext cx="0" cy="10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3" name="直接连接符 542727"/>
            <p:cNvSpPr>
              <a:spLocks noChangeShapeType="1"/>
            </p:cNvSpPr>
            <p:nvPr/>
          </p:nvSpPr>
          <p:spPr bwMode="auto">
            <a:xfrm>
              <a:off x="3134" y="787"/>
              <a:ext cx="0" cy="10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4" name="直接连接符 542728"/>
            <p:cNvSpPr>
              <a:spLocks noChangeShapeType="1"/>
            </p:cNvSpPr>
            <p:nvPr/>
          </p:nvSpPr>
          <p:spPr bwMode="auto">
            <a:xfrm>
              <a:off x="158" y="1143"/>
              <a:ext cx="5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5" name="直接连接符 542729"/>
            <p:cNvSpPr>
              <a:spLocks noChangeShapeType="1"/>
            </p:cNvSpPr>
            <p:nvPr/>
          </p:nvSpPr>
          <p:spPr bwMode="auto">
            <a:xfrm>
              <a:off x="158" y="787"/>
              <a:ext cx="1152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2731" name="文本框 542730"/>
          <p:cNvSpPr txBox="1">
            <a:spLocks noChangeArrowheads="1"/>
          </p:cNvSpPr>
          <p:nvPr/>
        </p:nvSpPr>
        <p:spPr bwMode="auto">
          <a:xfrm>
            <a:off x="288925" y="1968500"/>
            <a:ext cx="146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华文楷体" panose="02010600040101010101" pitchFamily="2" charset="-122"/>
                <a:ea typeface="黑体" panose="02010609060101010101" pitchFamily="49" charset="-122"/>
              </a:rPr>
              <a:t>极大值</a:t>
            </a:r>
          </a:p>
        </p:txBody>
      </p:sp>
      <p:sp>
        <p:nvSpPr>
          <p:cNvPr id="542732" name="文本框 542731"/>
          <p:cNvSpPr txBox="1">
            <a:spLocks noChangeArrowheads="1"/>
          </p:cNvSpPr>
          <p:nvPr/>
        </p:nvSpPr>
        <p:spPr bwMode="auto">
          <a:xfrm>
            <a:off x="282575" y="25527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华文楷体" panose="02010600040101010101" pitchFamily="2" charset="-122"/>
                <a:ea typeface="黑体" panose="02010609060101010101" pitchFamily="49" charset="-122"/>
              </a:rPr>
              <a:t>极小值</a:t>
            </a:r>
          </a:p>
        </p:txBody>
      </p:sp>
      <p:sp>
        <p:nvSpPr>
          <p:cNvPr id="542733" name="文本框 542732"/>
          <p:cNvSpPr txBox="1">
            <a:spLocks noChangeArrowheads="1"/>
          </p:cNvSpPr>
          <p:nvPr/>
        </p:nvSpPr>
        <p:spPr bwMode="auto">
          <a:xfrm>
            <a:off x="2146300" y="2008188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华文楷体" panose="02010600040101010101" pitchFamily="2" charset="-122"/>
                <a:ea typeface="黑体" panose="02010609060101010101" pitchFamily="49" charset="-122"/>
              </a:rPr>
              <a:t>较多电子到达</a:t>
            </a:r>
          </a:p>
        </p:txBody>
      </p:sp>
      <p:sp>
        <p:nvSpPr>
          <p:cNvPr id="542734" name="文本框 542733"/>
          <p:cNvSpPr txBox="1">
            <a:spLocks noChangeArrowheads="1"/>
          </p:cNvSpPr>
          <p:nvPr/>
        </p:nvSpPr>
        <p:spPr bwMode="auto">
          <a:xfrm>
            <a:off x="2146300" y="2566988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华文楷体" panose="02010600040101010101" pitchFamily="2" charset="-122"/>
                <a:ea typeface="黑体" panose="02010609060101010101" pitchFamily="49" charset="-122"/>
              </a:rPr>
              <a:t>较少电子到达</a:t>
            </a:r>
          </a:p>
        </p:txBody>
      </p:sp>
      <p:sp>
        <p:nvSpPr>
          <p:cNvPr id="542735" name="文本框 542734"/>
          <p:cNvSpPr txBox="1">
            <a:spLocks noChangeArrowheads="1"/>
          </p:cNvSpPr>
          <p:nvPr/>
        </p:nvSpPr>
        <p:spPr bwMode="auto">
          <a:xfrm>
            <a:off x="4827588" y="1976438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华文楷体" panose="02010600040101010101" pitchFamily="2" charset="-122"/>
                <a:ea typeface="黑体" panose="02010609060101010101" pitchFamily="49" charset="-122"/>
              </a:rPr>
              <a:t>波的强度大，</a:t>
            </a:r>
          </a:p>
        </p:txBody>
      </p:sp>
      <p:grpSp>
        <p:nvGrpSpPr>
          <p:cNvPr id="542736" name="组合 542735"/>
          <p:cNvGrpSpPr/>
          <p:nvPr/>
        </p:nvGrpSpPr>
        <p:grpSpPr bwMode="auto">
          <a:xfrm>
            <a:off x="6926263" y="1974850"/>
            <a:ext cx="1801812" cy="585788"/>
            <a:chOff x="4442" y="3237"/>
            <a:chExt cx="1135" cy="369"/>
          </a:xfrm>
        </p:grpSpPr>
        <p:graphicFrame>
          <p:nvGraphicFramePr>
            <p:cNvPr id="49177" name="对象 542736"/>
            <p:cNvGraphicFramePr/>
            <p:nvPr/>
          </p:nvGraphicFramePr>
          <p:xfrm>
            <a:off x="4442" y="3237"/>
            <a:ext cx="924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80" r:id="rId3" imgW="680085" imgH="290195" progId="Equation.3">
                    <p:embed/>
                  </p:oleObj>
                </mc:Choice>
                <mc:Fallback>
                  <p:oleObj r:id="rId3" imgW="680085" imgH="290195" progId="Equation.3">
                    <p:embed/>
                    <p:pic>
                      <p:nvPicPr>
                        <p:cNvPr id="0" name="对象 54273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3237"/>
                          <a:ext cx="924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8" name="文本框 542737"/>
            <p:cNvSpPr txBox="1">
              <a:spLocks noChangeArrowheads="1"/>
            </p:cNvSpPr>
            <p:nvPr/>
          </p:nvSpPr>
          <p:spPr bwMode="auto">
            <a:xfrm>
              <a:off x="5269" y="326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0">
                  <a:latin typeface="华文楷体" panose="02010600040101010101" pitchFamily="2" charset="-122"/>
                  <a:ea typeface="黑体" panose="02010609060101010101" pitchFamily="49" charset="-122"/>
                </a:rPr>
                <a:t>大</a:t>
              </a:r>
            </a:p>
          </p:txBody>
        </p:sp>
      </p:grpSp>
      <p:grpSp>
        <p:nvGrpSpPr>
          <p:cNvPr id="542739" name="组合 542738"/>
          <p:cNvGrpSpPr/>
          <p:nvPr/>
        </p:nvGrpSpPr>
        <p:grpSpPr bwMode="auto">
          <a:xfrm>
            <a:off x="6926263" y="2536825"/>
            <a:ext cx="1801812" cy="585788"/>
            <a:chOff x="4442" y="3591"/>
            <a:chExt cx="1135" cy="369"/>
          </a:xfrm>
        </p:grpSpPr>
        <p:graphicFrame>
          <p:nvGraphicFramePr>
            <p:cNvPr id="49175" name="对象 542739"/>
            <p:cNvGraphicFramePr/>
            <p:nvPr/>
          </p:nvGraphicFramePr>
          <p:xfrm>
            <a:off x="4442" y="3591"/>
            <a:ext cx="924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81" r:id="rId5" imgW="680085" imgH="290195" progId="Equation.3">
                    <p:embed/>
                  </p:oleObj>
                </mc:Choice>
                <mc:Fallback>
                  <p:oleObj r:id="rId5" imgW="680085" imgH="290195" progId="Equation.3">
                    <p:embed/>
                    <p:pic>
                      <p:nvPicPr>
                        <p:cNvPr id="0" name="对象 54273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3591"/>
                          <a:ext cx="924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6" name="文本框 542740"/>
            <p:cNvSpPr txBox="1">
              <a:spLocks noChangeArrowheads="1"/>
            </p:cNvSpPr>
            <p:nvPr/>
          </p:nvSpPr>
          <p:spPr bwMode="auto">
            <a:xfrm>
              <a:off x="5269" y="361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0">
                  <a:latin typeface="华文楷体" panose="02010600040101010101" pitchFamily="2" charset="-122"/>
                  <a:ea typeface="黑体" panose="02010609060101010101" pitchFamily="49" charset="-122"/>
                </a:rPr>
                <a:t>小</a:t>
              </a:r>
            </a:p>
          </p:txBody>
        </p:sp>
      </p:grpSp>
      <p:sp>
        <p:nvSpPr>
          <p:cNvPr id="542742" name="文本框 542741"/>
          <p:cNvSpPr txBox="1">
            <a:spLocks noChangeArrowheads="1"/>
          </p:cNvSpPr>
          <p:nvPr/>
        </p:nvSpPr>
        <p:spPr bwMode="auto">
          <a:xfrm>
            <a:off x="4827588" y="255270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华文楷体" panose="02010600040101010101" pitchFamily="2" charset="-122"/>
                <a:ea typeface="黑体" panose="02010609060101010101" pitchFamily="49" charset="-122"/>
              </a:rPr>
              <a:t>波的强度小，</a:t>
            </a:r>
          </a:p>
        </p:txBody>
      </p:sp>
      <p:sp>
        <p:nvSpPr>
          <p:cNvPr id="542743" name="文本框 542742"/>
          <p:cNvSpPr txBox="1">
            <a:spLocks noChangeArrowheads="1"/>
          </p:cNvSpPr>
          <p:nvPr/>
        </p:nvSpPr>
        <p:spPr bwMode="auto">
          <a:xfrm>
            <a:off x="2451100" y="1438275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华文楷体" panose="02010600040101010101" pitchFamily="2" charset="-122"/>
                <a:ea typeface="黑体" panose="02010609060101010101" pitchFamily="49" charset="-122"/>
              </a:rPr>
              <a:t>粒子的观点</a:t>
            </a:r>
          </a:p>
        </p:txBody>
      </p:sp>
      <p:sp>
        <p:nvSpPr>
          <p:cNvPr id="542744" name="文本框 542743"/>
          <p:cNvSpPr txBox="1">
            <a:spLocks noChangeArrowheads="1"/>
          </p:cNvSpPr>
          <p:nvPr/>
        </p:nvSpPr>
        <p:spPr bwMode="auto">
          <a:xfrm>
            <a:off x="5624513" y="1435100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latin typeface="华文楷体" panose="02010600040101010101" pitchFamily="2" charset="-122"/>
                <a:ea typeface="黑体" panose="02010609060101010101" pitchFamily="49" charset="-122"/>
              </a:rPr>
              <a:t>波动的观点</a:t>
            </a:r>
          </a:p>
        </p:txBody>
      </p:sp>
      <p:grpSp>
        <p:nvGrpSpPr>
          <p:cNvPr id="542745" name="组合 542744"/>
          <p:cNvGrpSpPr/>
          <p:nvPr/>
        </p:nvGrpSpPr>
        <p:grpSpPr bwMode="auto">
          <a:xfrm>
            <a:off x="179388" y="3014663"/>
            <a:ext cx="8832850" cy="622300"/>
            <a:chOff x="196" y="3909"/>
            <a:chExt cx="5564" cy="392"/>
          </a:xfrm>
        </p:grpSpPr>
        <p:sp>
          <p:nvSpPr>
            <p:cNvPr id="49172" name="矩形 542745"/>
            <p:cNvSpPr>
              <a:spLocks noChangeArrowheads="1"/>
            </p:cNvSpPr>
            <p:nvPr/>
          </p:nvSpPr>
          <p:spPr bwMode="auto">
            <a:xfrm>
              <a:off x="207" y="3909"/>
              <a:ext cx="5553" cy="339"/>
            </a:xfrm>
            <a:prstGeom prst="rect">
              <a:avLst/>
            </a:prstGeom>
            <a:gradFill rotWithShape="1">
              <a:gsLst>
                <a:gs pos="0">
                  <a:srgbClr val="CC9900"/>
                </a:gs>
                <a:gs pos="50000">
                  <a:srgbClr val="FFFF00"/>
                </a:gs>
                <a:gs pos="100000">
                  <a:srgbClr val="CC9900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49173" name="文本框 542746"/>
            <p:cNvSpPr txBox="1">
              <a:spLocks noChangeArrowheads="1"/>
            </p:cNvSpPr>
            <p:nvPr/>
          </p:nvSpPr>
          <p:spPr bwMode="auto">
            <a:xfrm>
              <a:off x="196" y="3925"/>
              <a:ext cx="39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aseline="0">
                  <a:latin typeface="华文楷体" panose="02010600040101010101" pitchFamily="2" charset="-122"/>
                  <a:ea typeface="华文新魏" panose="02010800040101010101" pitchFamily="2" charset="-122"/>
                </a:rPr>
                <a:t>电子在某处出现的概率正比于该处</a:t>
              </a:r>
            </a:p>
          </p:txBody>
        </p:sp>
        <p:graphicFrame>
          <p:nvGraphicFramePr>
            <p:cNvPr id="49174" name="对象 542747"/>
            <p:cNvGraphicFramePr/>
            <p:nvPr/>
          </p:nvGraphicFramePr>
          <p:xfrm>
            <a:off x="3696" y="3927"/>
            <a:ext cx="1050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82" r:id="rId7" imgW="680085" imgH="290195" progId="Equation.3">
                    <p:embed/>
                  </p:oleObj>
                </mc:Choice>
                <mc:Fallback>
                  <p:oleObj r:id="rId7" imgW="680085" imgH="290195" progId="Equation.3">
                    <p:embed/>
                    <p:pic>
                      <p:nvPicPr>
                        <p:cNvPr id="0" name="对象 54274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927"/>
                          <a:ext cx="1050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66" name="矩形 542748"/>
          <p:cNvSpPr>
            <a:spLocks noChangeArrowheads="1"/>
          </p:cNvSpPr>
          <p:nvPr/>
        </p:nvSpPr>
        <p:spPr bwMode="auto">
          <a:xfrm>
            <a:off x="107950" y="388938"/>
            <a:ext cx="2622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aseline="0">
                <a:solidFill>
                  <a:srgbClr val="CC3300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对电子衍射：</a:t>
            </a:r>
          </a:p>
        </p:txBody>
      </p:sp>
      <p:graphicFrame>
        <p:nvGraphicFramePr>
          <p:cNvPr id="49169" name="对象 658435"/>
          <p:cNvGraphicFramePr/>
          <p:nvPr/>
        </p:nvGraphicFramePr>
        <p:xfrm>
          <a:off x="5653088" y="419100"/>
          <a:ext cx="34194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3" r:id="rId9" imgW="1358265" imgH="342900" progId="Equation.3">
                  <p:embed/>
                </p:oleObj>
              </mc:Choice>
              <mc:Fallback>
                <p:oleObj r:id="rId9" imgW="1358265" imgH="342900" progId="Equation.3">
                  <p:embed/>
                  <p:pic>
                    <p:nvPicPr>
                      <p:cNvPr id="0" name="对象 65843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419100"/>
                        <a:ext cx="34194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/>
          <p:nvPr/>
        </p:nvGraphicFramePr>
        <p:xfrm>
          <a:off x="6291263" y="3783013"/>
          <a:ext cx="2341562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4" name="Equation" r:id="rId11" imgW="1739900" imgH="490855" progId="Equation.DSMT4">
                  <p:embed/>
                </p:oleObj>
              </mc:Choice>
              <mc:Fallback>
                <p:oleObj name="Equation" r:id="rId11" imgW="1739900" imgH="490855" progId="Equation.DSMT4">
                  <p:embed/>
                  <p:pic>
                    <p:nvPicPr>
                      <p:cNvPr id="0" name="对象 50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263" y="3783013"/>
                        <a:ext cx="2341562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/>
          <p:nvPr/>
        </p:nvGraphicFramePr>
        <p:xfrm>
          <a:off x="5986463" y="4787900"/>
          <a:ext cx="283051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5" r:id="rId13" imgW="1383030" imgH="234315" progId="Equation.3">
                  <p:embed/>
                </p:oleObj>
              </mc:Choice>
              <mc:Fallback>
                <p:oleObj r:id="rId13" imgW="1383030" imgH="234315" progId="Equation.3">
                  <p:embed/>
                  <p:pic>
                    <p:nvPicPr>
                      <p:cNvPr id="0" name="对象 5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463" y="4787900"/>
                        <a:ext cx="283051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4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4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4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4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4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4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4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54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54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4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54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31" grpId="0"/>
      <p:bldP spid="542732" grpId="0"/>
      <p:bldP spid="542733" grpId="0"/>
      <p:bldP spid="542734" grpId="0"/>
      <p:bldP spid="542735" grpId="0"/>
      <p:bldP spid="542742" grpId="0"/>
      <p:bldP spid="542743" grpId="0"/>
      <p:bldP spid="54274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文本框 543745"/>
          <p:cNvSpPr txBox="1"/>
          <p:nvPr/>
        </p:nvSpPr>
        <p:spPr>
          <a:xfrm>
            <a:off x="2916238" y="836613"/>
            <a:ext cx="63849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空间概率分布的</a:t>
            </a:r>
            <a:r>
              <a:rPr lang="zh-CN" altLang="en-US" sz="28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“概率幅”。</a:t>
            </a:r>
          </a:p>
        </p:txBody>
      </p:sp>
      <p:sp>
        <p:nvSpPr>
          <p:cNvPr id="543747" name="矩形 543746"/>
          <p:cNvSpPr/>
          <p:nvPr/>
        </p:nvSpPr>
        <p:spPr>
          <a:xfrm>
            <a:off x="468313" y="260350"/>
            <a:ext cx="68341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物质波的波函数</a:t>
            </a:r>
            <a:r>
              <a:rPr lang="en-US" altLang="zh-CN" sz="2800" i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sym typeface="Symbol" panose="05050102010706020507" pitchFamily="18" charset="2"/>
              </a:rPr>
              <a:t></a:t>
            </a:r>
            <a:r>
              <a:rPr lang="en-US" altLang="zh-CN" sz="280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 </a:t>
            </a:r>
            <a:r>
              <a:rPr lang="zh-CN" altLang="en-US" sz="280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是描述粒子</a:t>
            </a:r>
          </a:p>
        </p:txBody>
      </p:sp>
      <p:graphicFrame>
        <p:nvGraphicFramePr>
          <p:cNvPr id="543748" name="对象 543747"/>
          <p:cNvGraphicFramePr/>
          <p:nvPr/>
        </p:nvGraphicFramePr>
        <p:xfrm>
          <a:off x="685800" y="2347913"/>
          <a:ext cx="1965325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1" r:id="rId3" imgW="948055" imgH="290195" progId="Equation.DSMT4">
                  <p:embed/>
                </p:oleObj>
              </mc:Choice>
              <mc:Fallback>
                <p:oleObj r:id="rId3" imgW="948055" imgH="290195" progId="Equation.DSMT4">
                  <p:embed/>
                  <p:pic>
                    <p:nvPicPr>
                      <p:cNvPr id="0" name="对象 54374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347913"/>
                        <a:ext cx="1965325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749" name="对象 543748"/>
          <p:cNvGraphicFramePr/>
          <p:nvPr/>
        </p:nvGraphicFramePr>
        <p:xfrm>
          <a:off x="1201738" y="3068638"/>
          <a:ext cx="1519237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2" r:id="rId5" imgW="724535" imgH="200660" progId="Equation.DSMT4">
                  <p:embed/>
                </p:oleObj>
              </mc:Choice>
              <mc:Fallback>
                <p:oleObj r:id="rId5" imgW="724535" imgH="200660" progId="Equation.DSMT4">
                  <p:embed/>
                  <p:pic>
                    <p:nvPicPr>
                      <p:cNvPr id="0" name="对象 54374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3068638"/>
                        <a:ext cx="1519237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750" name="对象 543749"/>
          <p:cNvGraphicFramePr/>
          <p:nvPr/>
        </p:nvGraphicFramePr>
        <p:xfrm>
          <a:off x="3203575" y="3068638"/>
          <a:ext cx="28305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3" r:id="rId7" imgW="1383030" imgH="234315" progId="Equation.3">
                  <p:embed/>
                </p:oleObj>
              </mc:Choice>
              <mc:Fallback>
                <p:oleObj r:id="rId7" imgW="1383030" imgH="234315" progId="Equation.3">
                  <p:embed/>
                  <p:pic>
                    <p:nvPicPr>
                      <p:cNvPr id="0" name="对象 54374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068638"/>
                        <a:ext cx="2830513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矩形 543750"/>
          <p:cNvSpPr>
            <a:spLocks noChangeArrowheads="1"/>
          </p:cNvSpPr>
          <p:nvPr/>
        </p:nvSpPr>
        <p:spPr bwMode="auto">
          <a:xfrm>
            <a:off x="395288" y="1362075"/>
            <a:ext cx="6911975" cy="987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chemeClr val="accent2"/>
                </a:solidFill>
                <a:ea typeface="隶书" panose="02010509060101010101" pitchFamily="49" charset="-122"/>
              </a:rPr>
              <a:t>某时刻空间某处体元</a:t>
            </a:r>
            <a:r>
              <a:rPr lang="en-US" altLang="zh-CN" sz="2800" b="1" baseline="0">
                <a:ea typeface="隶书" panose="02010509060101010101" pitchFamily="49" charset="-122"/>
              </a:rPr>
              <a:t>d</a:t>
            </a:r>
            <a:r>
              <a:rPr lang="en-US" altLang="zh-CN" sz="2800" b="1" i="1" baseline="0">
                <a:ea typeface="隶书" panose="02010509060101010101" pitchFamily="49" charset="-122"/>
              </a:rPr>
              <a:t>V </a:t>
            </a:r>
            <a:r>
              <a:rPr lang="zh-CN" altLang="en-US" sz="2800" b="1" baseline="0">
                <a:solidFill>
                  <a:schemeClr val="accent2"/>
                </a:solidFill>
                <a:ea typeface="隶书" panose="02010509060101010101" pitchFamily="49" charset="-122"/>
              </a:rPr>
              <a:t>中</a:t>
            </a:r>
            <a:r>
              <a:rPr lang="zh-CN" altLang="en-US" sz="2800" b="1" baseline="0">
                <a:solidFill>
                  <a:srgbClr val="CC3300"/>
                </a:solidFill>
                <a:ea typeface="隶书" panose="02010509060101010101" pitchFamily="49" charset="-122"/>
              </a:rPr>
              <a:t>出现粒子的概率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chemeClr val="accent2"/>
                </a:solidFill>
                <a:ea typeface="隶书" panose="02010509060101010101" pitchFamily="49" charset="-122"/>
              </a:rPr>
              <a:t>      与</a:t>
            </a:r>
            <a:r>
              <a:rPr lang="en-US" altLang="zh-CN" sz="2800" b="1" baseline="0">
                <a:ea typeface="隶书" panose="02010509060101010101" pitchFamily="49" charset="-122"/>
              </a:rPr>
              <a:t>d</a:t>
            </a:r>
            <a:r>
              <a:rPr lang="en-US" altLang="zh-CN" sz="2800" b="1" i="1" baseline="0">
                <a:ea typeface="隶书" panose="02010509060101010101" pitchFamily="49" charset="-122"/>
              </a:rPr>
              <a:t>V</a:t>
            </a:r>
            <a:r>
              <a:rPr lang="zh-CN" altLang="en-US" sz="2800" b="1" baseline="0">
                <a:solidFill>
                  <a:schemeClr val="accent2"/>
                </a:solidFill>
                <a:ea typeface="隶书" panose="02010509060101010101" pitchFamily="49" charset="-122"/>
              </a:rPr>
              <a:t>及该处</a:t>
            </a:r>
            <a:r>
              <a:rPr lang="zh-CN" altLang="en-US" sz="2400" b="1" baseline="0">
                <a:ea typeface="隶书" panose="02010509060101010101" pitchFamily="49" charset="-122"/>
              </a:rPr>
              <a:t>︱</a:t>
            </a:r>
            <a:r>
              <a:rPr lang="en-US" altLang="zh-CN" sz="2400" b="1" i="1" baseline="0">
                <a:ea typeface="隶书" panose="02010509060101010101" pitchFamily="49" charset="-122"/>
                <a:sym typeface="Symbol" panose="05050102010706020507" pitchFamily="18" charset="2"/>
              </a:rPr>
              <a:t></a:t>
            </a:r>
            <a:r>
              <a:rPr lang="zh-CN" altLang="en-US" sz="2400" b="1" baseline="0">
                <a:ea typeface="隶书" panose="02010509060101010101" pitchFamily="49" charset="-122"/>
                <a:sym typeface="Symbol" panose="05050102010706020507" pitchFamily="18" charset="2"/>
              </a:rPr>
              <a:t>︱</a:t>
            </a:r>
            <a:r>
              <a:rPr lang="en-US" altLang="zh-CN" sz="2400" b="1">
                <a:ea typeface="隶书" panose="02010509060101010101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800" b="1" baseline="0">
                <a:solidFill>
                  <a:schemeClr val="accent2"/>
                </a:solidFill>
                <a:ea typeface="隶书" panose="02010509060101010101" pitchFamily="49" charset="-122"/>
              </a:rPr>
              <a:t>成正比：</a:t>
            </a:r>
          </a:p>
        </p:txBody>
      </p:sp>
      <p:grpSp>
        <p:nvGrpSpPr>
          <p:cNvPr id="50184" name="组合 543751"/>
          <p:cNvGrpSpPr/>
          <p:nvPr/>
        </p:nvGrpSpPr>
        <p:grpSpPr bwMode="auto">
          <a:xfrm>
            <a:off x="5969000" y="2327275"/>
            <a:ext cx="3175000" cy="2541588"/>
            <a:chOff x="3777" y="755"/>
            <a:chExt cx="2000" cy="1601"/>
          </a:xfrm>
        </p:grpSpPr>
        <p:sp>
          <p:nvSpPr>
            <p:cNvPr id="50191" name="文本框 543752"/>
            <p:cNvSpPr txBox="1">
              <a:spLocks noChangeArrowheads="1"/>
            </p:cNvSpPr>
            <p:nvPr/>
          </p:nvSpPr>
          <p:spPr bwMode="auto">
            <a:xfrm>
              <a:off x="4761" y="1094"/>
              <a:ext cx="598" cy="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>
                  <a:latin typeface="宋体" panose="02010600030101010101" pitchFamily="2" charset="-122"/>
                </a:rPr>
                <a:t>Ψ</a:t>
              </a:r>
            </a:p>
          </p:txBody>
        </p:sp>
        <p:sp>
          <p:nvSpPr>
            <p:cNvPr id="50192" name="直接连接符 543753"/>
            <p:cNvSpPr>
              <a:spLocks noChangeShapeType="1"/>
            </p:cNvSpPr>
            <p:nvPr/>
          </p:nvSpPr>
          <p:spPr bwMode="auto">
            <a:xfrm flipV="1">
              <a:off x="4239" y="875"/>
              <a:ext cx="0" cy="9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3" name="直接连接符 543754"/>
            <p:cNvSpPr>
              <a:spLocks noChangeShapeType="1"/>
            </p:cNvSpPr>
            <p:nvPr/>
          </p:nvSpPr>
          <p:spPr bwMode="auto">
            <a:xfrm>
              <a:off x="4230" y="1866"/>
              <a:ext cx="13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4" name="直接连接符 543755"/>
            <p:cNvSpPr>
              <a:spLocks noChangeShapeType="1"/>
            </p:cNvSpPr>
            <p:nvPr/>
          </p:nvSpPr>
          <p:spPr bwMode="auto">
            <a:xfrm flipH="1">
              <a:off x="3777" y="1857"/>
              <a:ext cx="455" cy="3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0195" name="组合 543756"/>
            <p:cNvGrpSpPr/>
            <p:nvPr/>
          </p:nvGrpSpPr>
          <p:grpSpPr bwMode="auto">
            <a:xfrm>
              <a:off x="5094" y="1189"/>
              <a:ext cx="203" cy="191"/>
              <a:chOff x="4335" y="3540"/>
              <a:chExt cx="375" cy="330"/>
            </a:xfrm>
          </p:grpSpPr>
          <p:sp>
            <p:nvSpPr>
              <p:cNvPr id="50201" name="文本框 543757"/>
              <p:cNvSpPr txBox="1">
                <a:spLocks noChangeArrowheads="1"/>
              </p:cNvSpPr>
              <p:nvPr/>
            </p:nvSpPr>
            <p:spPr bwMode="auto">
              <a:xfrm>
                <a:off x="4335" y="3630"/>
                <a:ext cx="240" cy="24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 baseline="0">
                  <a:latin typeface="宋体" panose="02010600030101010101" pitchFamily="2" charset="-122"/>
                </a:endParaRPr>
              </a:p>
            </p:txBody>
          </p:sp>
          <p:sp>
            <p:nvSpPr>
              <p:cNvPr id="50202" name="直接连接符 543758"/>
              <p:cNvSpPr>
                <a:spLocks noChangeShapeType="1"/>
              </p:cNvSpPr>
              <p:nvPr/>
            </p:nvSpPr>
            <p:spPr bwMode="auto">
              <a:xfrm flipV="1">
                <a:off x="4335" y="3540"/>
                <a:ext cx="135" cy="9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3" name="直接连接符 543759"/>
              <p:cNvSpPr>
                <a:spLocks noChangeShapeType="1"/>
              </p:cNvSpPr>
              <p:nvPr/>
            </p:nvSpPr>
            <p:spPr bwMode="auto">
              <a:xfrm flipV="1">
                <a:off x="4575" y="3555"/>
                <a:ext cx="105" cy="75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4" name="直接连接符 543760"/>
              <p:cNvSpPr>
                <a:spLocks noChangeShapeType="1"/>
              </p:cNvSpPr>
              <p:nvPr/>
            </p:nvSpPr>
            <p:spPr bwMode="auto">
              <a:xfrm flipV="1">
                <a:off x="4575" y="3780"/>
                <a:ext cx="120" cy="75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5" name="直接连接符 543761"/>
              <p:cNvSpPr>
                <a:spLocks noChangeShapeType="1"/>
              </p:cNvSpPr>
              <p:nvPr/>
            </p:nvSpPr>
            <p:spPr bwMode="auto">
              <a:xfrm>
                <a:off x="4455" y="3540"/>
                <a:ext cx="255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6" name="直接连接符 543762"/>
              <p:cNvSpPr>
                <a:spLocks noChangeShapeType="1"/>
              </p:cNvSpPr>
              <p:nvPr/>
            </p:nvSpPr>
            <p:spPr bwMode="auto">
              <a:xfrm>
                <a:off x="4695" y="3555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196" name="直接连接符 543763"/>
            <p:cNvSpPr>
              <a:spLocks noChangeShapeType="1"/>
            </p:cNvSpPr>
            <p:nvPr/>
          </p:nvSpPr>
          <p:spPr bwMode="auto">
            <a:xfrm flipV="1">
              <a:off x="4230" y="1371"/>
              <a:ext cx="862" cy="48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文本框 543764"/>
            <p:cNvSpPr txBox="1">
              <a:spLocks noChangeArrowheads="1"/>
            </p:cNvSpPr>
            <p:nvPr/>
          </p:nvSpPr>
          <p:spPr bwMode="auto">
            <a:xfrm>
              <a:off x="5246" y="1189"/>
              <a:ext cx="447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baseline="0">
                  <a:latin typeface="宋体" panose="02010600030101010101" pitchFamily="2" charset="-122"/>
                </a:rPr>
                <a:t>d</a:t>
              </a:r>
              <a:r>
                <a:rPr lang="en-US" altLang="zh-CN" sz="2400" b="1" i="1" baseline="0">
                  <a:latin typeface="宋体" panose="02010600030101010101" pitchFamily="2" charset="-122"/>
                </a:rPr>
                <a:t>V</a:t>
              </a:r>
            </a:p>
          </p:txBody>
        </p:sp>
        <p:sp>
          <p:nvSpPr>
            <p:cNvPr id="50198" name="文本框 543765"/>
            <p:cNvSpPr txBox="1">
              <a:spLocks noChangeArrowheads="1"/>
            </p:cNvSpPr>
            <p:nvPr/>
          </p:nvSpPr>
          <p:spPr bwMode="auto">
            <a:xfrm>
              <a:off x="5451" y="1787"/>
              <a:ext cx="326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x</a:t>
              </a:r>
            </a:p>
          </p:txBody>
        </p:sp>
        <p:sp>
          <p:nvSpPr>
            <p:cNvPr id="50199" name="文本框 543766"/>
            <p:cNvSpPr txBox="1">
              <a:spLocks noChangeArrowheads="1"/>
            </p:cNvSpPr>
            <p:nvPr/>
          </p:nvSpPr>
          <p:spPr bwMode="auto">
            <a:xfrm>
              <a:off x="3813" y="2035"/>
              <a:ext cx="415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 y</a:t>
              </a:r>
            </a:p>
          </p:txBody>
        </p:sp>
        <p:sp>
          <p:nvSpPr>
            <p:cNvPr id="50200" name="文本框 543767"/>
            <p:cNvSpPr txBox="1">
              <a:spLocks noChangeArrowheads="1"/>
            </p:cNvSpPr>
            <p:nvPr/>
          </p:nvSpPr>
          <p:spPr bwMode="auto">
            <a:xfrm>
              <a:off x="4241" y="755"/>
              <a:ext cx="324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z</a:t>
              </a:r>
            </a:p>
          </p:txBody>
        </p:sp>
      </p:grpSp>
      <p:sp>
        <p:nvSpPr>
          <p:cNvPr id="543770" name="矩形 543769"/>
          <p:cNvSpPr>
            <a:spLocks noChangeArrowheads="1"/>
          </p:cNvSpPr>
          <p:nvPr/>
        </p:nvSpPr>
        <p:spPr bwMode="auto">
          <a:xfrm>
            <a:off x="636588" y="5986463"/>
            <a:ext cx="6959600" cy="538162"/>
          </a:xfrm>
          <a:prstGeom prst="rect">
            <a:avLst/>
          </a:prstGeom>
          <a:solidFill>
            <a:srgbClr val="CCFFCC"/>
          </a:solidFill>
          <a:ln w="19050">
            <a:solidFill>
              <a:schemeClr val="bg2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ea typeface="隶书" panose="02010509060101010101" pitchFamily="49" charset="-122"/>
              </a:rPr>
              <a:t>波函数的模方代表粒子空间分布的概率密度</a:t>
            </a:r>
          </a:p>
        </p:txBody>
      </p:sp>
      <p:graphicFrame>
        <p:nvGraphicFramePr>
          <p:cNvPr id="543771" name="对象 543770"/>
          <p:cNvGraphicFramePr/>
          <p:nvPr>
            <p:extLst>
              <p:ext uri="{D42A27DB-BD31-4B8C-83A1-F6EECF244321}">
                <p14:modId xmlns:p14="http://schemas.microsoft.com/office/powerpoint/2010/main" val="4171471282"/>
              </p:ext>
            </p:extLst>
          </p:nvPr>
        </p:nvGraphicFramePr>
        <p:xfrm>
          <a:off x="731416" y="3805238"/>
          <a:ext cx="19050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4" name="Equation" r:id="rId9" imgW="1422360" imgH="558720" progId="Equation.DSMT4">
                  <p:embed/>
                </p:oleObj>
              </mc:Choice>
              <mc:Fallback>
                <p:oleObj name="Equation" r:id="rId9" imgW="1422360" imgH="558720" progId="Equation.DSMT4">
                  <p:embed/>
                  <p:pic>
                    <p:nvPicPr>
                      <p:cNvPr id="0" name="对象 54377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416" y="3805238"/>
                        <a:ext cx="19050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3775" name="组合 543774"/>
          <p:cNvGrpSpPr/>
          <p:nvPr/>
        </p:nvGrpSpPr>
        <p:grpSpPr bwMode="auto">
          <a:xfrm>
            <a:off x="684213" y="4797425"/>
            <a:ext cx="8759825" cy="1046163"/>
            <a:chOff x="431" y="2804"/>
            <a:chExt cx="5518" cy="659"/>
          </a:xfrm>
        </p:grpSpPr>
        <p:sp>
          <p:nvSpPr>
            <p:cNvPr id="50189" name="文本框 543772"/>
            <p:cNvSpPr txBox="1">
              <a:spLocks noChangeArrowheads="1"/>
            </p:cNvSpPr>
            <p:nvPr/>
          </p:nvSpPr>
          <p:spPr bwMode="auto">
            <a:xfrm>
              <a:off x="431" y="2840"/>
              <a:ext cx="5518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800" baseline="0">
                  <a:ea typeface="黑体" panose="02010609060101010101" pitchFamily="49" charset="-122"/>
                </a:rPr>
                <a:t>表示 </a:t>
              </a:r>
              <a:r>
                <a:rPr lang="en-US" altLang="zh-CN" sz="2800" i="1" baseline="0">
                  <a:ea typeface="黑体" panose="02010609060101010101" pitchFamily="49" charset="-122"/>
                </a:rPr>
                <a:t>t </a:t>
              </a:r>
              <a:r>
                <a:rPr lang="zh-CN" altLang="en-US" sz="2800" baseline="0">
                  <a:ea typeface="黑体" panose="02010609060101010101" pitchFamily="49" charset="-122"/>
                </a:rPr>
                <a:t>时刻，在   端点处附近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800" baseline="0">
                  <a:solidFill>
                    <a:srgbClr val="CC3300"/>
                  </a:solidFill>
                  <a:ea typeface="黑体" panose="02010609060101010101" pitchFamily="49" charset="-122"/>
                </a:rPr>
                <a:t>单位体积中</a:t>
              </a:r>
              <a:r>
                <a:rPr lang="zh-CN" altLang="en-US" sz="2800" baseline="0">
                  <a:ea typeface="黑体" panose="02010609060101010101" pitchFamily="49" charset="-122"/>
                </a:rPr>
                <a:t>发现粒子的概率</a:t>
              </a:r>
              <a:r>
                <a:rPr lang="en-US" altLang="zh-CN" sz="2800" baseline="0">
                  <a:solidFill>
                    <a:srgbClr val="CC3300"/>
                  </a:solidFill>
                  <a:ea typeface="黑体" panose="02010609060101010101" pitchFamily="49" charset="-122"/>
                </a:rPr>
                <a:t>----</a:t>
              </a:r>
              <a:r>
                <a:rPr lang="zh-CN" altLang="en-US" sz="2800" baseline="0">
                  <a:solidFill>
                    <a:srgbClr val="CC3300"/>
                  </a:solidFill>
                  <a:ea typeface="黑体" panose="02010609060101010101" pitchFamily="49" charset="-122"/>
                </a:rPr>
                <a:t>概率密度</a:t>
              </a:r>
            </a:p>
          </p:txBody>
        </p:sp>
        <p:graphicFrame>
          <p:nvGraphicFramePr>
            <p:cNvPr id="50190" name="对象 543773"/>
            <p:cNvGraphicFramePr/>
            <p:nvPr/>
          </p:nvGraphicFramePr>
          <p:xfrm>
            <a:off x="1973" y="2804"/>
            <a:ext cx="22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05" r:id="rId11" imgW="111760" imgH="156210" progId="Equation.3">
                    <p:embed/>
                  </p:oleObj>
                </mc:Choice>
                <mc:Fallback>
                  <p:oleObj r:id="rId11" imgW="111760" imgH="156210" progId="Equation.3">
                    <p:embed/>
                    <p:pic>
                      <p:nvPicPr>
                        <p:cNvPr id="0" name="对象 54377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2804"/>
                          <a:ext cx="22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188" name="内容占位符 543768"/>
          <p:cNvGraphicFramePr>
            <a:graphicFrameLocks noGrp="1"/>
          </p:cNvGraphicFramePr>
          <p:nvPr/>
        </p:nvGraphicFramePr>
        <p:xfrm>
          <a:off x="7848600" y="3421063"/>
          <a:ext cx="3302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6" r:id="rId13" imgW="111760" imgH="156210" progId="Equation.3">
                  <p:embed/>
                </p:oleObj>
              </mc:Choice>
              <mc:Fallback>
                <p:oleObj r:id="rId13" imgW="111760" imgH="156210" progId="Equation.3">
                  <p:embed/>
                  <p:pic>
                    <p:nvPicPr>
                      <p:cNvPr id="0" name="内容占位符 54376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3421063"/>
                        <a:ext cx="3302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4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4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43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4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43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46" grpId="0"/>
      <p:bldP spid="543747" grpId="0"/>
      <p:bldP spid="54377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2" name="文本框 652291"/>
          <p:cNvSpPr txBox="1">
            <a:spLocks noChangeArrowheads="1"/>
          </p:cNvSpPr>
          <p:nvPr/>
        </p:nvSpPr>
        <p:spPr bwMode="auto">
          <a:xfrm>
            <a:off x="250825" y="2636838"/>
            <a:ext cx="83851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CC0000"/>
                </a:solidFill>
                <a:ea typeface="黑体" panose="02010609060101010101" pitchFamily="49" charset="-122"/>
              </a:rPr>
              <a:t>例</a:t>
            </a:r>
            <a:r>
              <a:rPr lang="zh-CN" altLang="en-US" sz="3600" b="1">
                <a:ea typeface="黑体" panose="02010609060101010101" pitchFamily="49" charset="-122"/>
              </a:rPr>
              <a:t> 求一个能量为</a:t>
            </a:r>
            <a:r>
              <a:rPr lang="en-US" altLang="zh-CN" sz="3600" b="1" i="1">
                <a:ea typeface="黑体" panose="02010609060101010101" pitchFamily="49" charset="-122"/>
              </a:rPr>
              <a:t>E</a:t>
            </a:r>
            <a:r>
              <a:rPr lang="en-US" altLang="zh-CN" sz="3600" b="1">
                <a:ea typeface="黑体" panose="02010609060101010101" pitchFamily="49" charset="-122"/>
              </a:rPr>
              <a:t>,</a:t>
            </a:r>
            <a:r>
              <a:rPr lang="zh-CN" altLang="en-US" sz="3600" b="1">
                <a:ea typeface="黑体" panose="02010609060101010101" pitchFamily="49" charset="-122"/>
              </a:rPr>
              <a:t>动量为</a:t>
            </a:r>
            <a:r>
              <a:rPr lang="en-US" altLang="zh-CN" sz="3600" b="1" i="1">
                <a:ea typeface="黑体" panose="02010609060101010101" pitchFamily="49" charset="-122"/>
              </a:rPr>
              <a:t>P</a:t>
            </a:r>
            <a:r>
              <a:rPr lang="zh-CN" altLang="en-US" sz="3600" b="1">
                <a:ea typeface="黑体" panose="02010609060101010101" pitchFamily="49" charset="-122"/>
              </a:rPr>
              <a:t>的自由粒子在空间分布的概率密度</a:t>
            </a:r>
          </a:p>
        </p:txBody>
      </p:sp>
      <p:graphicFrame>
        <p:nvGraphicFramePr>
          <p:cNvPr id="652293" name="对象 652292"/>
          <p:cNvGraphicFramePr/>
          <p:nvPr/>
        </p:nvGraphicFramePr>
        <p:xfrm>
          <a:off x="1258888" y="3357563"/>
          <a:ext cx="344328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3" r:id="rId3" imgW="1483360" imgH="368300" progId="Equation.3">
                  <p:embed/>
                </p:oleObj>
              </mc:Choice>
              <mc:Fallback>
                <p:oleObj r:id="rId3" imgW="1483360" imgH="368300" progId="Equation.3">
                  <p:embed/>
                  <p:pic>
                    <p:nvPicPr>
                      <p:cNvPr id="0" name="对象 65229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7563"/>
                        <a:ext cx="3443287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295" name="对象 652294"/>
          <p:cNvGraphicFramePr/>
          <p:nvPr/>
        </p:nvGraphicFramePr>
        <p:xfrm>
          <a:off x="1042988" y="4652963"/>
          <a:ext cx="3865562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4" r:id="rId5" imgW="1396365" imgH="241300" progId="Equation.3">
                  <p:embed/>
                </p:oleObj>
              </mc:Choice>
              <mc:Fallback>
                <p:oleObj r:id="rId5" imgW="1396365" imgH="241300" progId="Equation.3">
                  <p:embed/>
                  <p:pic>
                    <p:nvPicPr>
                      <p:cNvPr id="0" name="对象 65229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652963"/>
                        <a:ext cx="3865562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6" name="文本框 652295"/>
          <p:cNvSpPr txBox="1">
            <a:spLocks noChangeArrowheads="1"/>
          </p:cNvSpPr>
          <p:nvPr/>
        </p:nvSpPr>
        <p:spPr bwMode="auto">
          <a:xfrm>
            <a:off x="1023938" y="5791200"/>
            <a:ext cx="5392737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3600" b="1">
                <a:ea typeface="黑体" panose="02010609060101010101" pitchFamily="49" charset="-122"/>
              </a:rPr>
              <a:t>与位置无关，在全空间出现的概率一样</a:t>
            </a:r>
          </a:p>
        </p:txBody>
      </p:sp>
      <p:sp>
        <p:nvSpPr>
          <p:cNvPr id="652297" name="矩形 652296"/>
          <p:cNvSpPr>
            <a:spLocks noChangeArrowheads="1"/>
          </p:cNvSpPr>
          <p:nvPr/>
        </p:nvSpPr>
        <p:spPr bwMode="auto">
          <a:xfrm>
            <a:off x="2700338" y="1439863"/>
            <a:ext cx="5870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baseline="0">
                <a:solidFill>
                  <a:srgbClr val="CC3300"/>
                </a:solidFill>
                <a:ea typeface="华文新魏" panose="02010800040101010101" pitchFamily="2" charset="-122"/>
              </a:rPr>
              <a:t>------</a:t>
            </a:r>
            <a:r>
              <a:rPr lang="zh-CN" altLang="en-US" b="1" baseline="0">
                <a:solidFill>
                  <a:srgbClr val="CC3300"/>
                </a:solidFill>
                <a:ea typeface="华文新魏" panose="02010800040101010101" pitchFamily="2" charset="-122"/>
              </a:rPr>
              <a:t>量子力学基本原理（之一）</a:t>
            </a:r>
          </a:p>
        </p:txBody>
      </p:sp>
      <p:grpSp>
        <p:nvGrpSpPr>
          <p:cNvPr id="51207" name="组合 652297"/>
          <p:cNvGrpSpPr/>
          <p:nvPr/>
        </p:nvGrpSpPr>
        <p:grpSpPr bwMode="auto">
          <a:xfrm>
            <a:off x="-193675" y="404813"/>
            <a:ext cx="9340850" cy="1131887"/>
            <a:chOff x="-68" y="776"/>
            <a:chExt cx="5884" cy="713"/>
          </a:xfrm>
        </p:grpSpPr>
        <p:sp>
          <p:nvSpPr>
            <p:cNvPr id="652299" name="文本框 652298"/>
            <p:cNvSpPr txBox="1"/>
            <p:nvPr/>
          </p:nvSpPr>
          <p:spPr>
            <a:xfrm>
              <a:off x="-68" y="776"/>
              <a:ext cx="5884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800" baseline="0" noProof="1">
                  <a:effectLst>
                    <a:outerShdw blurRad="38100" dist="38100" dir="2700000">
                      <a:srgbClr val="C0C0C0"/>
                    </a:outerShdw>
                  </a:effectLst>
                </a:rPr>
                <a:t>       </a:t>
              </a:r>
              <a:r>
                <a:rPr lang="zh-CN" altLang="en-US" sz="2800" baseline="0" noProof="1">
                  <a:effectLst>
                    <a:outerShdw blurRad="38100" dist="38100" dir="2700000">
                      <a:srgbClr val="C0C0C0"/>
                    </a:outerShdw>
                  </a:effectLst>
                </a:rPr>
                <a:t>微观粒子的运动状态可由波函数完全描述，波函数模方</a:t>
              </a:r>
            </a:p>
            <a:p>
              <a:pPr>
                <a:defRPr/>
              </a:pPr>
              <a:r>
                <a:rPr lang="zh-CN" altLang="en-US" sz="2800" baseline="0" noProof="1">
                  <a:effectLst>
                    <a:outerShdw blurRad="38100" dist="38100" dir="2700000">
                      <a:srgbClr val="C0C0C0"/>
                    </a:outerShdw>
                  </a:effectLst>
                </a:rPr>
                <a:t>︱</a:t>
              </a:r>
              <a:r>
                <a:rPr lang="en-US" altLang="zh-CN" sz="2800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</a:t>
              </a:r>
              <a:r>
                <a:rPr lang="zh-CN" altLang="en-US" sz="2800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（</a:t>
              </a:r>
              <a:r>
                <a:rPr lang="en-US" altLang="zh-CN" sz="2800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r</a:t>
              </a:r>
              <a:r>
                <a:rPr lang="en-US" altLang="zh-CN" sz="2800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, </a:t>
              </a:r>
              <a:r>
                <a:rPr lang="en-US" altLang="zh-CN" sz="2800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t</a:t>
              </a:r>
              <a:r>
                <a:rPr lang="en-US" altLang="zh-CN" sz="2800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 )</a:t>
              </a:r>
              <a:r>
                <a:rPr lang="zh-CN" altLang="en-US" sz="2800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︱</a:t>
              </a:r>
              <a:r>
                <a:rPr lang="en-US" altLang="zh-CN" sz="280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2</a:t>
              </a:r>
              <a:r>
                <a:rPr lang="en-US" altLang="zh-CN" sz="2800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  </a:t>
              </a:r>
              <a:r>
                <a:rPr lang="zh-CN" altLang="en-US" sz="2800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给出了</a:t>
              </a:r>
              <a:r>
                <a:rPr lang="en-US" altLang="zh-CN" sz="2800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t </a:t>
              </a:r>
              <a:r>
                <a:rPr lang="zh-CN" altLang="en-US" sz="2800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时刻在 </a:t>
              </a:r>
              <a:r>
                <a:rPr lang="en-US" altLang="zh-CN" sz="2800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r </a:t>
              </a:r>
              <a:r>
                <a:rPr lang="zh-CN" altLang="en-US" sz="2800" baseline="0" noProof="1"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处发现粒子的概率密度。</a:t>
              </a:r>
            </a:p>
          </p:txBody>
        </p:sp>
        <p:sp>
          <p:nvSpPr>
            <p:cNvPr id="652300" name="矩形 652299"/>
            <p:cNvSpPr/>
            <p:nvPr/>
          </p:nvSpPr>
          <p:spPr>
            <a:xfrm>
              <a:off x="549" y="1067"/>
              <a:ext cx="244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800" noProof="1">
                  <a:effectLst>
                    <a:outerShdw blurRad="38100" dist="38100" dir="2700000">
                      <a:srgbClr val="C0C0C0"/>
                    </a:outerShdw>
                  </a:effectLst>
                </a:rPr>
                <a:t>→   </a:t>
              </a:r>
            </a:p>
          </p:txBody>
        </p:sp>
        <p:sp>
          <p:nvSpPr>
            <p:cNvPr id="652301" name="矩形 652300"/>
            <p:cNvSpPr/>
            <p:nvPr/>
          </p:nvSpPr>
          <p:spPr>
            <a:xfrm>
              <a:off x="2863" y="1049"/>
              <a:ext cx="244" cy="4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800" noProof="1">
                  <a:effectLst>
                    <a:outerShdw blurRad="38100" dist="38100" dir="2700000">
                      <a:srgbClr val="C0C0C0"/>
                    </a:outerShdw>
                  </a:effectLst>
                </a:rPr>
                <a:t>→  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5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5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5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5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5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2" grpId="0"/>
      <p:bldP spid="652296" grpId="0"/>
      <p:bldP spid="65229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标题 544769"/>
          <p:cNvSpPr>
            <a:spLocks noGrp="1"/>
          </p:cNvSpPr>
          <p:nvPr>
            <p:ph type="title" idx="4294967295"/>
          </p:nvPr>
        </p:nvSpPr>
        <p:spPr>
          <a:xfrm>
            <a:off x="-252413" y="-100013"/>
            <a:ext cx="3990976" cy="76200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三、波函数的性质</a:t>
            </a:r>
          </a:p>
        </p:txBody>
      </p:sp>
      <p:sp>
        <p:nvSpPr>
          <p:cNvPr id="544771" name="文本框 544770"/>
          <p:cNvSpPr txBox="1"/>
          <p:nvPr/>
        </p:nvSpPr>
        <p:spPr>
          <a:xfrm>
            <a:off x="755650" y="620713"/>
            <a:ext cx="4176713" cy="519112"/>
          </a:xfrm>
          <a:prstGeom prst="rect">
            <a:avLst/>
          </a:prstGeom>
          <a:solidFill>
            <a:srgbClr val="FFFFCC"/>
          </a:solidFill>
          <a:ln w="12700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1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宋体" panose="02010600030101010101" pitchFamily="2" charset="-122"/>
              </a:rPr>
              <a:t>、波函数的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仿宋_GB2312" pitchFamily="49" charset="-122"/>
              </a:rPr>
              <a:t>归一化条件</a:t>
            </a:r>
            <a:endParaRPr lang="zh-CN" altLang="en-US" sz="2800" baseline="0" noProof="1">
              <a:solidFill>
                <a:srgbClr val="CC3300"/>
              </a:solidFill>
              <a:effectLst>
                <a:outerShdw blurRad="38100" dist="38100" dir="2700000">
                  <a:srgbClr val="000000"/>
                </a:outerShdw>
              </a:effectLst>
              <a:ea typeface="仿宋_GB2312" pitchFamily="49" charset="-122"/>
            </a:endParaRPr>
          </a:p>
        </p:txBody>
      </p:sp>
      <p:sp>
        <p:nvSpPr>
          <p:cNvPr id="544772" name="文本框 544771"/>
          <p:cNvSpPr txBox="1"/>
          <p:nvPr/>
        </p:nvSpPr>
        <p:spPr>
          <a:xfrm>
            <a:off x="769938" y="2333625"/>
            <a:ext cx="4151312" cy="519113"/>
          </a:xfrm>
          <a:prstGeom prst="rect">
            <a:avLst/>
          </a:prstGeom>
          <a:solidFill>
            <a:srgbClr val="FFFFCC"/>
          </a:solidFill>
          <a:ln w="12700">
            <a:noFill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itchFamily="49" charset="-122"/>
                <a:sym typeface="Symbol" panose="05050102010706020507" pitchFamily="18" charset="2"/>
              </a:rPr>
              <a:t>、波函数的标准化条件</a:t>
            </a:r>
            <a:endParaRPr lang="zh-CN" altLang="en-US" sz="4000" baseline="0" noProof="1">
              <a:solidFill>
                <a:srgbClr val="CC3300"/>
              </a:solidFill>
              <a:effectLst>
                <a:outerShdw blurRad="38100" dist="38100" dir="2700000">
                  <a:srgbClr val="000000"/>
                </a:outerShdw>
              </a:effectLst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44773" name="文本框 544772"/>
          <p:cNvSpPr txBox="1"/>
          <p:nvPr/>
        </p:nvSpPr>
        <p:spPr>
          <a:xfrm>
            <a:off x="1476375" y="2900363"/>
            <a:ext cx="51054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波函数必须是单值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有限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连续的函数</a:t>
            </a:r>
          </a:p>
        </p:txBody>
      </p:sp>
      <p:graphicFrame>
        <p:nvGraphicFramePr>
          <p:cNvPr id="544774" name="对象 544773"/>
          <p:cNvGraphicFramePr/>
          <p:nvPr/>
        </p:nvGraphicFramePr>
        <p:xfrm>
          <a:off x="1476375" y="1254125"/>
          <a:ext cx="251936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6" r:id="rId4" imgW="1159510" imgH="445770" progId="Equation.3">
                  <p:embed/>
                </p:oleObj>
              </mc:Choice>
              <mc:Fallback>
                <p:oleObj r:id="rId4" imgW="1159510" imgH="445770" progId="Equation.3">
                  <p:embed/>
                  <p:pic>
                    <p:nvPicPr>
                      <p:cNvPr id="0" name="对象 54477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254125"/>
                        <a:ext cx="2519363" cy="9747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775" name="对象 544774"/>
          <p:cNvGraphicFramePr/>
          <p:nvPr/>
        </p:nvGraphicFramePr>
        <p:xfrm>
          <a:off x="2157413" y="1903413"/>
          <a:ext cx="18383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7" r:id="rId6" imgW="2408555" imgH="501650" progId="Equation.3">
                  <p:embed/>
                </p:oleObj>
              </mc:Choice>
              <mc:Fallback>
                <p:oleObj r:id="rId6" imgW="2408555" imgH="501650" progId="Equation.3">
                  <p:embed/>
                  <p:pic>
                    <p:nvPicPr>
                      <p:cNvPr id="0" name="对象 54477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1903413"/>
                        <a:ext cx="18383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776" name="矩形 544775"/>
          <p:cNvSpPr/>
          <p:nvPr/>
        </p:nvSpPr>
        <p:spPr>
          <a:xfrm>
            <a:off x="1185863" y="4340225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②</a:t>
            </a:r>
            <a:r>
              <a:rPr lang="en-US" altLang="zh-CN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. </a:t>
            </a:r>
            <a:r>
              <a:rPr lang="zh-CN" altLang="en-US" u="sng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有限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性</a:t>
            </a:r>
          </a:p>
        </p:txBody>
      </p:sp>
      <p:sp>
        <p:nvSpPr>
          <p:cNvPr id="544777" name="文本框 544776"/>
          <p:cNvSpPr txBox="1"/>
          <p:nvPr/>
        </p:nvSpPr>
        <p:spPr>
          <a:xfrm>
            <a:off x="1692275" y="4843463"/>
            <a:ext cx="807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宋体" panose="02010600030101010101" pitchFamily="2" charset="-122"/>
              </a:rPr>
              <a:t>粒子在空间某处出现的概率不能无限大</a:t>
            </a:r>
          </a:p>
        </p:txBody>
      </p:sp>
      <p:sp>
        <p:nvSpPr>
          <p:cNvPr id="544778" name="矩形 544777"/>
          <p:cNvSpPr/>
          <p:nvPr/>
        </p:nvSpPr>
        <p:spPr>
          <a:xfrm>
            <a:off x="1176338" y="3332163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①</a:t>
            </a:r>
            <a:r>
              <a:rPr lang="en-US" altLang="zh-CN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. </a:t>
            </a:r>
            <a:r>
              <a:rPr lang="zh-CN" altLang="en-US" u="sng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单值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性</a:t>
            </a:r>
          </a:p>
        </p:txBody>
      </p:sp>
      <p:sp>
        <p:nvSpPr>
          <p:cNvPr id="544779" name="文本框 544778"/>
          <p:cNvSpPr txBox="1"/>
          <p:nvPr/>
        </p:nvSpPr>
        <p:spPr>
          <a:xfrm>
            <a:off x="1668463" y="3836988"/>
            <a:ext cx="63119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宋体" panose="02010600030101010101" pitchFamily="2" charset="-122"/>
              </a:rPr>
              <a:t>任意时刻粒子在空间出现的概率只可能有一个</a:t>
            </a:r>
          </a:p>
        </p:txBody>
      </p:sp>
      <p:sp>
        <p:nvSpPr>
          <p:cNvPr id="544780" name="文本框 544779"/>
          <p:cNvSpPr txBox="1"/>
          <p:nvPr/>
        </p:nvSpPr>
        <p:spPr>
          <a:xfrm>
            <a:off x="1709738" y="5805488"/>
            <a:ext cx="54975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宋体" panose="02010600030101010101" pitchFamily="2" charset="-122"/>
              </a:rPr>
              <a:t>概率不能在某处发生突变</a:t>
            </a:r>
          </a:p>
        </p:txBody>
      </p:sp>
      <p:sp>
        <p:nvSpPr>
          <p:cNvPr id="544781" name="矩形 544780"/>
          <p:cNvSpPr/>
          <p:nvPr/>
        </p:nvSpPr>
        <p:spPr>
          <a:xfrm>
            <a:off x="1185863" y="5300663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③</a:t>
            </a:r>
            <a:r>
              <a:rPr lang="en-US" altLang="zh-CN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. </a:t>
            </a:r>
            <a:r>
              <a:rPr lang="zh-CN" altLang="en-US" u="sng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连续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性</a:t>
            </a:r>
          </a:p>
        </p:txBody>
      </p:sp>
      <p:sp>
        <p:nvSpPr>
          <p:cNvPr id="544782" name="文本框 544781"/>
          <p:cNvSpPr txBox="1"/>
          <p:nvPr/>
        </p:nvSpPr>
        <p:spPr>
          <a:xfrm>
            <a:off x="900113" y="6237288"/>
            <a:ext cx="78120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以上要求（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单值</a:t>
            </a: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、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有限</a:t>
            </a: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、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连续</a:t>
            </a: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）</a:t>
            </a: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称为波函数的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标准化条件</a:t>
            </a:r>
          </a:p>
        </p:txBody>
      </p:sp>
      <p:graphicFrame>
        <p:nvGraphicFramePr>
          <p:cNvPr id="52239" name="对象 544782"/>
          <p:cNvGraphicFramePr/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8" r:id="rId8" imgW="114300" imgH="215265" progId="Equation.3">
                  <p:embed/>
                </p:oleObj>
              </mc:Choice>
              <mc:Fallback>
                <p:oleObj r:id="rId8" imgW="114300" imgH="215265" progId="Equation.3">
                  <p:embed/>
                  <p:pic>
                    <p:nvPicPr>
                      <p:cNvPr id="0" name="对象 54478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0" name="对象 544783"/>
          <p:cNvGraphicFramePr/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9" r:id="rId10" imgW="114300" imgH="215265" progId="Equation.3">
                  <p:embed/>
                </p:oleObj>
              </mc:Choice>
              <mc:Fallback>
                <p:oleObj r:id="rId10" imgW="114300" imgH="215265" progId="Equation.3">
                  <p:embed/>
                  <p:pic>
                    <p:nvPicPr>
                      <p:cNvPr id="0" name="对象 54478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对象 544784"/>
          <p:cNvGraphicFramePr/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0" r:id="rId11" imgW="114300" imgH="215265" progId="Equation.3">
                  <p:embed/>
                </p:oleObj>
              </mc:Choice>
              <mc:Fallback>
                <p:oleObj r:id="rId11" imgW="114300" imgH="215265" progId="Equation.3">
                  <p:embed/>
                  <p:pic>
                    <p:nvPicPr>
                      <p:cNvPr id="0" name="对象 54478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54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4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4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54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4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4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4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54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54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54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1" grpId="0" animBg="1"/>
      <p:bldP spid="544772" grpId="0" animBg="1"/>
      <p:bldP spid="544773" grpId="0"/>
      <p:bldP spid="544776" grpId="0"/>
      <p:bldP spid="544777" grpId="0"/>
      <p:bldP spid="544778" grpId="0"/>
      <p:bldP spid="544779" grpId="0"/>
      <p:bldP spid="544780" grpId="0"/>
      <p:bldP spid="544781" grpId="0"/>
      <p:bldP spid="54478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文本框 669697"/>
          <p:cNvSpPr txBox="1"/>
          <p:nvPr/>
        </p:nvSpPr>
        <p:spPr>
          <a:xfrm>
            <a:off x="2019300" y="3065463"/>
            <a:ext cx="7453313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波函数可以允许包含一个任意的常数因子</a:t>
            </a:r>
          </a:p>
        </p:txBody>
      </p:sp>
      <p:sp>
        <p:nvSpPr>
          <p:cNvPr id="669699" name="文本框 669698"/>
          <p:cNvSpPr txBox="1"/>
          <p:nvPr/>
        </p:nvSpPr>
        <p:spPr>
          <a:xfrm>
            <a:off x="1385888" y="2098675"/>
            <a:ext cx="7924800" cy="85883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2)</a:t>
            </a:r>
            <a:r>
              <a:rPr lang="en-US" altLang="zh-CN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  </a:t>
            </a: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对于概率分布来讲  </a:t>
            </a:r>
          </a:p>
          <a:p>
            <a:pPr marL="457200" indent="-457200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    重要的是相对概率分布        </a:t>
            </a:r>
          </a:p>
        </p:txBody>
      </p:sp>
      <p:grpSp>
        <p:nvGrpSpPr>
          <p:cNvPr id="669700" name="组合 669699"/>
          <p:cNvGrpSpPr/>
          <p:nvPr/>
        </p:nvGrpSpPr>
        <p:grpSpPr bwMode="auto">
          <a:xfrm>
            <a:off x="1042988" y="3716338"/>
            <a:ext cx="7853362" cy="495300"/>
            <a:chOff x="476" y="3594"/>
            <a:chExt cx="4947" cy="312"/>
          </a:xfrm>
        </p:grpSpPr>
        <p:graphicFrame>
          <p:nvGraphicFramePr>
            <p:cNvPr id="54289" name="对象 669700"/>
            <p:cNvGraphicFramePr/>
            <p:nvPr/>
          </p:nvGraphicFramePr>
          <p:xfrm>
            <a:off x="1156" y="3612"/>
            <a:ext cx="787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2" r:id="rId3" imgW="501650" imgH="222885" progId="Equation.3">
                    <p:embed/>
                  </p:oleObj>
                </mc:Choice>
                <mc:Fallback>
                  <p:oleObj r:id="rId3" imgW="501650" imgH="222885" progId="Equation.3">
                    <p:embed/>
                    <p:pic>
                      <p:nvPicPr>
                        <p:cNvPr id="0" name="对象 66970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3612"/>
                          <a:ext cx="787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0" name="对象 669701"/>
            <p:cNvGraphicFramePr/>
            <p:nvPr/>
          </p:nvGraphicFramePr>
          <p:xfrm>
            <a:off x="2202" y="3612"/>
            <a:ext cx="94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3" r:id="rId5" imgW="635635" imgH="222885" progId="Equation.3">
                    <p:embed/>
                  </p:oleObj>
                </mc:Choice>
                <mc:Fallback>
                  <p:oleObj r:id="rId5" imgW="635635" imgH="222885" progId="Equation.3">
                    <p:embed/>
                    <p:pic>
                      <p:nvPicPr>
                        <p:cNvPr id="0" name="对象 66970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2" y="3612"/>
                          <a:ext cx="947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9703" name="文本框 669702"/>
            <p:cNvSpPr txBox="1"/>
            <p:nvPr/>
          </p:nvSpPr>
          <p:spPr>
            <a:xfrm>
              <a:off x="476" y="3594"/>
              <a:ext cx="211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</a:rPr>
                <a:t>          </a:t>
              </a:r>
              <a:r>
                <a:rPr lang="zh-CN" altLang="en-US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</a:rPr>
                <a:t>和</a:t>
              </a:r>
            </a:p>
          </p:txBody>
        </p:sp>
        <p:sp>
          <p:nvSpPr>
            <p:cNvPr id="669704" name="文本框 669703"/>
            <p:cNvSpPr txBox="1"/>
            <p:nvPr/>
          </p:nvSpPr>
          <p:spPr>
            <a:xfrm>
              <a:off x="3122" y="3603"/>
              <a:ext cx="230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</a:rPr>
                <a:t>描写同一个概率波</a:t>
              </a:r>
            </a:p>
          </p:txBody>
        </p:sp>
      </p:grpSp>
      <p:sp>
        <p:nvSpPr>
          <p:cNvPr id="669705" name="文本框 669704"/>
          <p:cNvSpPr txBox="1"/>
          <p:nvPr/>
        </p:nvSpPr>
        <p:spPr>
          <a:xfrm>
            <a:off x="250825" y="115888"/>
            <a:ext cx="6337300" cy="579437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32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关于波函数的统计解释强调两点</a:t>
            </a:r>
            <a:r>
              <a:rPr lang="en-US" altLang="zh-CN" sz="32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</a:p>
        </p:txBody>
      </p:sp>
      <p:grpSp>
        <p:nvGrpSpPr>
          <p:cNvPr id="669706" name="组合 669705"/>
          <p:cNvGrpSpPr/>
          <p:nvPr/>
        </p:nvGrpSpPr>
        <p:grpSpPr bwMode="auto">
          <a:xfrm>
            <a:off x="4795838" y="1277938"/>
            <a:ext cx="3962400" cy="673100"/>
            <a:chOff x="3021" y="1223"/>
            <a:chExt cx="2496" cy="424"/>
          </a:xfrm>
        </p:grpSpPr>
        <p:sp>
          <p:nvSpPr>
            <p:cNvPr id="669707" name="矩形 669706"/>
            <p:cNvSpPr/>
            <p:nvPr/>
          </p:nvSpPr>
          <p:spPr>
            <a:xfrm>
              <a:off x="3021" y="1272"/>
              <a:ext cx="24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b="1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有意义的是</a:t>
              </a:r>
            </a:p>
          </p:txBody>
        </p:sp>
        <p:graphicFrame>
          <p:nvGraphicFramePr>
            <p:cNvPr id="54288" name="对象 669707"/>
            <p:cNvGraphicFramePr/>
            <p:nvPr/>
          </p:nvGraphicFramePr>
          <p:xfrm>
            <a:off x="4056" y="1223"/>
            <a:ext cx="576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4" r:id="rId7" imgW="412750" imgH="290195" progId="Equation.3">
                    <p:embed/>
                  </p:oleObj>
                </mc:Choice>
                <mc:Fallback>
                  <p:oleObj r:id="rId7" imgW="412750" imgH="290195" progId="Equation.3">
                    <p:embed/>
                    <p:pic>
                      <p:nvPicPr>
                        <p:cNvPr id="0" name="对象 66970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6" y="1223"/>
                          <a:ext cx="576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9709" name="矩形 669708"/>
          <p:cNvSpPr/>
          <p:nvPr/>
        </p:nvSpPr>
        <p:spPr>
          <a:xfrm>
            <a:off x="2017713" y="1416050"/>
            <a:ext cx="4953000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defRPr/>
            </a:pP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它无直接的物理意义</a:t>
            </a:r>
          </a:p>
        </p:txBody>
      </p:sp>
      <p:grpSp>
        <p:nvGrpSpPr>
          <p:cNvPr id="669710" name="组合 669709"/>
          <p:cNvGrpSpPr/>
          <p:nvPr/>
        </p:nvGrpSpPr>
        <p:grpSpPr bwMode="auto">
          <a:xfrm>
            <a:off x="1079500" y="820738"/>
            <a:ext cx="5094288" cy="500062"/>
            <a:chOff x="680" y="517"/>
            <a:chExt cx="3209" cy="315"/>
          </a:xfrm>
        </p:grpSpPr>
        <p:grpSp>
          <p:nvGrpSpPr>
            <p:cNvPr id="54283" name="组合 669710"/>
            <p:cNvGrpSpPr/>
            <p:nvPr/>
          </p:nvGrpSpPr>
          <p:grpSpPr bwMode="auto">
            <a:xfrm>
              <a:off x="1253" y="558"/>
              <a:ext cx="2636" cy="274"/>
              <a:chOff x="1253" y="558"/>
              <a:chExt cx="2636" cy="274"/>
            </a:xfrm>
          </p:grpSpPr>
          <p:sp>
            <p:nvSpPr>
              <p:cNvPr id="669712" name="矩形 669711"/>
              <p:cNvSpPr/>
              <p:nvPr/>
            </p:nvSpPr>
            <p:spPr>
              <a:xfrm>
                <a:off x="1969" y="558"/>
                <a:ext cx="1920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黑体" panose="02010609060101010101" pitchFamily="49" charset="-122"/>
                  </a:rPr>
                  <a:t>不同于经典波的波函数</a:t>
                </a:r>
              </a:p>
            </p:txBody>
          </p:sp>
          <p:graphicFrame>
            <p:nvGraphicFramePr>
              <p:cNvPr id="54286" name="对象 669712"/>
              <p:cNvGraphicFramePr/>
              <p:nvPr/>
            </p:nvGraphicFramePr>
            <p:xfrm>
              <a:off x="1253" y="562"/>
              <a:ext cx="629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75" r:id="rId9" imgW="513080" imgH="200660" progId="Equation.3">
                      <p:embed/>
                    </p:oleObj>
                  </mc:Choice>
                  <mc:Fallback>
                    <p:oleObj r:id="rId9" imgW="513080" imgH="200660" progId="Equation.3">
                      <p:embed/>
                      <p:pic>
                        <p:nvPicPr>
                          <p:cNvPr id="0" name="对象 66971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53" y="562"/>
                            <a:ext cx="629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69714" name="文本框 669713"/>
            <p:cNvSpPr txBox="1"/>
            <p:nvPr/>
          </p:nvSpPr>
          <p:spPr>
            <a:xfrm>
              <a:off x="680" y="517"/>
              <a:ext cx="6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1)</a:t>
              </a:r>
            </a:p>
          </p:txBody>
        </p:sp>
      </p:grpSp>
      <p:graphicFrame>
        <p:nvGraphicFramePr>
          <p:cNvPr id="669715" name="对象 669714"/>
          <p:cNvGraphicFramePr/>
          <p:nvPr/>
        </p:nvGraphicFramePr>
        <p:xfrm>
          <a:off x="2771775" y="5157788"/>
          <a:ext cx="4260850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6" r:id="rId11" imgW="1672590" imgH="591185" progId="Equation.3">
                  <p:embed/>
                </p:oleObj>
              </mc:Choice>
              <mc:Fallback>
                <p:oleObj r:id="rId11" imgW="1672590" imgH="591185" progId="Equation.3">
                  <p:embed/>
                  <p:pic>
                    <p:nvPicPr>
                      <p:cNvPr id="0" name="对象 66971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157788"/>
                        <a:ext cx="4260850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16" name="矩形 669715"/>
          <p:cNvSpPr/>
          <p:nvPr/>
        </p:nvSpPr>
        <p:spPr>
          <a:xfrm>
            <a:off x="2019300" y="4581525"/>
            <a:ext cx="617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因为对于空间任意两点</a:t>
            </a:r>
            <a:r>
              <a:rPr lang="en-US" altLang="zh-CN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6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6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6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6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6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6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6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"/>
                                        <p:tgtEl>
                                          <p:spTgt spid="66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6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698" grpId="0"/>
      <p:bldP spid="669699" grpId="0" build="p"/>
      <p:bldP spid="669709" grpId="0"/>
      <p:bldP spid="6697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文本框 546817"/>
          <p:cNvSpPr txBox="1"/>
          <p:nvPr/>
        </p:nvSpPr>
        <p:spPr>
          <a:xfrm>
            <a:off x="493713" y="188913"/>
            <a:ext cx="43656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四、 态叠加原理</a:t>
            </a:r>
          </a:p>
        </p:txBody>
      </p:sp>
      <p:sp>
        <p:nvSpPr>
          <p:cNvPr id="546819" name="文本框 546818"/>
          <p:cNvSpPr txBox="1"/>
          <p:nvPr/>
        </p:nvSpPr>
        <p:spPr>
          <a:xfrm>
            <a:off x="1485900" y="2832100"/>
            <a:ext cx="7408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若体系具有一系列互异的可能状态：</a:t>
            </a:r>
          </a:p>
        </p:txBody>
      </p:sp>
      <p:graphicFrame>
        <p:nvGraphicFramePr>
          <p:cNvPr id="546820" name="对象 546819"/>
          <p:cNvGraphicFramePr/>
          <p:nvPr/>
        </p:nvGraphicFramePr>
        <p:xfrm>
          <a:off x="3009900" y="3365500"/>
          <a:ext cx="245427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2" r:id="rId3" imgW="1115060" imgH="245110" progId="Equation.3">
                  <p:embed/>
                </p:oleObj>
              </mc:Choice>
              <mc:Fallback>
                <p:oleObj r:id="rId3" imgW="1115060" imgH="245110" progId="Equation.3">
                  <p:embed/>
                  <p:pic>
                    <p:nvPicPr>
                      <p:cNvPr id="0" name="对象 54681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3365500"/>
                        <a:ext cx="245427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21" name="文本框 546820"/>
          <p:cNvSpPr txBox="1"/>
          <p:nvPr/>
        </p:nvSpPr>
        <p:spPr>
          <a:xfrm>
            <a:off x="1562100" y="4208463"/>
            <a:ext cx="421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则它们的线性组合：</a:t>
            </a:r>
          </a:p>
        </p:txBody>
      </p:sp>
      <p:sp>
        <p:nvSpPr>
          <p:cNvPr id="546822" name="矩形 546821"/>
          <p:cNvSpPr/>
          <p:nvPr/>
        </p:nvSpPr>
        <p:spPr>
          <a:xfrm>
            <a:off x="1443038" y="5491163"/>
            <a:ext cx="4867275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其中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C</a:t>
            </a:r>
            <a:r>
              <a:rPr lang="en-US" altLang="zh-CN" b="1" i="1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 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-----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任意复常数。</a:t>
            </a:r>
          </a:p>
        </p:txBody>
      </p:sp>
      <p:graphicFrame>
        <p:nvGraphicFramePr>
          <p:cNvPr id="546823" name="对象 546822"/>
          <p:cNvGraphicFramePr/>
          <p:nvPr/>
        </p:nvGraphicFramePr>
        <p:xfrm>
          <a:off x="4410075" y="4186238"/>
          <a:ext cx="2071688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3" r:id="rId5" imgW="1036955" imgH="334645" progId="Equation.3">
                  <p:embed/>
                </p:oleObj>
              </mc:Choice>
              <mc:Fallback>
                <p:oleObj r:id="rId5" imgW="1036955" imgH="334645" progId="Equation.3">
                  <p:embed/>
                  <p:pic>
                    <p:nvPicPr>
                      <p:cNvPr id="0" name="对象 54682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5" y="4186238"/>
                        <a:ext cx="2071688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6824" name="组合 546823"/>
          <p:cNvGrpSpPr/>
          <p:nvPr/>
        </p:nvGrpSpPr>
        <p:grpSpPr bwMode="auto">
          <a:xfrm>
            <a:off x="555625" y="1458913"/>
            <a:ext cx="8120063" cy="1062037"/>
            <a:chOff x="143" y="627"/>
            <a:chExt cx="5425" cy="669"/>
          </a:xfrm>
        </p:grpSpPr>
        <p:sp>
          <p:nvSpPr>
            <p:cNvPr id="55308" name="矩形 546824"/>
            <p:cNvSpPr>
              <a:spLocks noChangeArrowheads="1"/>
            </p:cNvSpPr>
            <p:nvPr/>
          </p:nvSpPr>
          <p:spPr bwMode="auto">
            <a:xfrm>
              <a:off x="143" y="627"/>
              <a:ext cx="5425" cy="669"/>
            </a:xfrm>
            <a:prstGeom prst="rect">
              <a:avLst/>
            </a:prstGeom>
            <a:noFill/>
            <a:ln w="19050">
              <a:solidFill>
                <a:srgbClr val="CC3300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46826" name="文本框 546825"/>
            <p:cNvSpPr txBox="1"/>
            <p:nvPr/>
          </p:nvSpPr>
          <p:spPr>
            <a:xfrm>
              <a:off x="161" y="704"/>
              <a:ext cx="4807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</a:rPr>
                <a:t>    </a:t>
              </a:r>
              <a:r>
                <a:rPr lang="zh-CN" altLang="en-US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</a:rPr>
                <a:t>如果</a:t>
              </a:r>
              <a:r>
                <a:rPr lang="en-US" altLang="zh-CN" i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</a:t>
              </a:r>
              <a:r>
                <a:rPr lang="en-US" altLang="zh-CN" baseline="-2500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1</a:t>
              </a:r>
              <a:r>
                <a:rPr lang="zh-CN" altLang="en-US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、</a:t>
              </a:r>
              <a:r>
                <a:rPr lang="en-US" altLang="zh-CN" i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</a:t>
              </a:r>
              <a:r>
                <a:rPr lang="en-US" altLang="zh-CN" baseline="-2500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2</a:t>
              </a:r>
              <a:r>
                <a:rPr lang="zh-CN" altLang="en-US" baseline="-2500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、</a:t>
              </a:r>
              <a:r>
                <a:rPr lang="zh-CN" altLang="en-US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 </a:t>
              </a:r>
              <a:r>
                <a:rPr lang="en-US" altLang="zh-CN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····</a:t>
              </a:r>
              <a:r>
                <a:rPr lang="en-US" altLang="zh-CN" i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</a:t>
              </a:r>
              <a:r>
                <a:rPr lang="en-US" altLang="zh-CN" baseline="-2500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sym typeface="Symbol" panose="05050102010706020507" pitchFamily="18" charset="2"/>
                </a:rPr>
                <a:t>n</a:t>
              </a:r>
              <a:r>
                <a:rPr lang="zh-CN" altLang="en-US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  <a:sym typeface="Symbol" panose="05050102010706020507" pitchFamily="18" charset="2"/>
                </a:rPr>
                <a:t>都是体系的可能状态，</a:t>
              </a:r>
            </a:p>
            <a:p>
              <a:pPr eaLnBrk="1" hangingPunct="1">
                <a:defRPr/>
              </a:pPr>
              <a:r>
                <a:rPr lang="zh-CN" altLang="en-US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  <a:sym typeface="Symbol" panose="05050102010706020507" pitchFamily="18" charset="2"/>
                </a:rPr>
                <a:t>那么</a:t>
              </a:r>
              <a:r>
                <a:rPr lang="zh-CN" altLang="en-US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</a:rPr>
                <a:t>它们的线性叠加也是这个体系的一个可能状态。</a:t>
              </a:r>
            </a:p>
          </p:txBody>
        </p:sp>
      </p:grpSp>
      <p:sp>
        <p:nvSpPr>
          <p:cNvPr id="546827" name="文本框 546826"/>
          <p:cNvSpPr txBox="1"/>
          <p:nvPr/>
        </p:nvSpPr>
        <p:spPr>
          <a:xfrm>
            <a:off x="704850" y="2827338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即：</a:t>
            </a:r>
          </a:p>
        </p:txBody>
      </p:sp>
      <p:sp>
        <p:nvSpPr>
          <p:cNvPr id="546828" name="文本框 546827"/>
          <p:cNvSpPr txBox="1"/>
          <p:nvPr/>
        </p:nvSpPr>
        <p:spPr>
          <a:xfrm>
            <a:off x="1547813" y="4946650"/>
            <a:ext cx="50704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也是该体系的一个可能状态。</a:t>
            </a:r>
          </a:p>
        </p:txBody>
      </p:sp>
      <p:sp>
        <p:nvSpPr>
          <p:cNvPr id="546829" name="矩形 546828"/>
          <p:cNvSpPr>
            <a:spLocks noChangeArrowheads="1"/>
          </p:cNvSpPr>
          <p:nvPr/>
        </p:nvSpPr>
        <p:spPr bwMode="auto">
          <a:xfrm>
            <a:off x="1336675" y="762000"/>
            <a:ext cx="5060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baseline="0">
                <a:solidFill>
                  <a:srgbClr val="CC3300"/>
                </a:solidFill>
                <a:ea typeface="华文新魏" panose="02010800040101010101" pitchFamily="2" charset="-122"/>
              </a:rPr>
              <a:t>量子力学基本原理（之二）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4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4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4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4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4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4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18" grpId="0"/>
      <p:bldP spid="546819" grpId="0"/>
      <p:bldP spid="546821" grpId="0"/>
      <p:bldP spid="546822" grpId="0"/>
      <p:bldP spid="546827" grpId="0"/>
      <p:bldP spid="546828" grpId="0"/>
      <p:bldP spid="5468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文本框 478209"/>
          <p:cNvSpPr txBox="1">
            <a:spLocks noChangeArrowheads="1"/>
          </p:cNvSpPr>
          <p:nvPr/>
        </p:nvSpPr>
        <p:spPr bwMode="auto">
          <a:xfrm>
            <a:off x="177800" y="4367213"/>
            <a:ext cx="374015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只要给出了初始条件，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下一时刻粒子的轨迹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是已知的。</a:t>
            </a:r>
          </a:p>
        </p:txBody>
      </p:sp>
      <p:sp>
        <p:nvSpPr>
          <p:cNvPr id="478211" name="文本框 478210"/>
          <p:cNvSpPr txBox="1">
            <a:spLocks noChangeArrowheads="1"/>
          </p:cNvSpPr>
          <p:nvPr/>
        </p:nvSpPr>
        <p:spPr bwMode="auto">
          <a:xfrm>
            <a:off x="1076325" y="1412875"/>
            <a:ext cx="1844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aseline="0">
                <a:latin typeface="Arial" panose="020B0604020202020204" pitchFamily="34" charset="0"/>
                <a:ea typeface="黑体" panose="02010609060101010101" pitchFamily="49" charset="-122"/>
              </a:rPr>
              <a:t>经典力学</a:t>
            </a:r>
          </a:p>
        </p:txBody>
      </p:sp>
      <p:sp>
        <p:nvSpPr>
          <p:cNvPr id="478212" name="文本框 478211"/>
          <p:cNvSpPr txBox="1">
            <a:spLocks noChangeArrowheads="1"/>
          </p:cNvSpPr>
          <p:nvPr/>
        </p:nvSpPr>
        <p:spPr bwMode="auto">
          <a:xfrm>
            <a:off x="130175" y="2430463"/>
            <a:ext cx="2932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描述粒子：</a:t>
            </a:r>
          </a:p>
        </p:txBody>
      </p:sp>
      <p:graphicFrame>
        <p:nvGraphicFramePr>
          <p:cNvPr id="478213" name="对象 478212"/>
          <p:cNvGraphicFramePr/>
          <p:nvPr/>
        </p:nvGraphicFramePr>
        <p:xfrm>
          <a:off x="2228850" y="2425700"/>
          <a:ext cx="17049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2" r:id="rId3" imgW="579755" imgH="200660" progId="Equation.3">
                  <p:embed/>
                </p:oleObj>
              </mc:Choice>
              <mc:Fallback>
                <p:oleObj r:id="rId3" imgW="579755" imgH="200660" progId="Equation.3">
                  <p:embed/>
                  <p:pic>
                    <p:nvPicPr>
                      <p:cNvPr id="0" name="对象 47821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2425700"/>
                        <a:ext cx="17049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4" name="文本框 478213"/>
          <p:cNvSpPr txBox="1">
            <a:spLocks noChangeArrowheads="1"/>
          </p:cNvSpPr>
          <p:nvPr/>
        </p:nvSpPr>
        <p:spPr bwMode="auto">
          <a:xfrm>
            <a:off x="6227763" y="1412875"/>
            <a:ext cx="1660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aseline="0">
                <a:latin typeface="Arial" panose="020B0604020202020204" pitchFamily="34" charset="0"/>
                <a:ea typeface="黑体" panose="02010609060101010101" pitchFamily="49" charset="-122"/>
              </a:rPr>
              <a:t>量子力学</a:t>
            </a:r>
          </a:p>
        </p:txBody>
      </p:sp>
      <p:sp>
        <p:nvSpPr>
          <p:cNvPr id="478215" name="文本框 478214"/>
          <p:cNvSpPr txBox="1">
            <a:spLocks noChangeArrowheads="1"/>
          </p:cNvSpPr>
          <p:nvPr/>
        </p:nvSpPr>
        <p:spPr bwMode="auto">
          <a:xfrm>
            <a:off x="4773613" y="243046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描述粒子：</a:t>
            </a:r>
          </a:p>
        </p:txBody>
      </p:sp>
      <p:graphicFrame>
        <p:nvGraphicFramePr>
          <p:cNvPr id="478216" name="对象 478215"/>
          <p:cNvGraphicFramePr/>
          <p:nvPr/>
        </p:nvGraphicFramePr>
        <p:xfrm>
          <a:off x="6851650" y="2486025"/>
          <a:ext cx="19939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3" r:id="rId5" imgW="869950" imgH="200660" progId="Equation.3">
                  <p:embed/>
                </p:oleObj>
              </mc:Choice>
              <mc:Fallback>
                <p:oleObj r:id="rId5" imgW="869950" imgH="200660" progId="Equation.3">
                  <p:embed/>
                  <p:pic>
                    <p:nvPicPr>
                      <p:cNvPr id="0" name="对象 47821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2486025"/>
                        <a:ext cx="19939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17" name="对象 478216"/>
          <p:cNvGraphicFramePr/>
          <p:nvPr/>
        </p:nvGraphicFramePr>
        <p:xfrm>
          <a:off x="4725988" y="3335338"/>
          <a:ext cx="154305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4" r:id="rId7" imgW="992505" imgH="468630" progId="Equation.3">
                  <p:embed/>
                </p:oleObj>
              </mc:Choice>
              <mc:Fallback>
                <p:oleObj r:id="rId7" imgW="992505" imgH="468630" progId="Equation.3">
                  <p:embed/>
                  <p:pic>
                    <p:nvPicPr>
                      <p:cNvPr id="0" name="对象 47821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988" y="3335338"/>
                        <a:ext cx="154305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8218" name="组合 478217"/>
          <p:cNvGrpSpPr/>
          <p:nvPr/>
        </p:nvGrpSpPr>
        <p:grpSpPr bwMode="auto">
          <a:xfrm>
            <a:off x="1897063" y="3452813"/>
            <a:ext cx="2347912" cy="457200"/>
            <a:chOff x="1152" y="2012"/>
            <a:chExt cx="1410" cy="288"/>
          </a:xfrm>
        </p:grpSpPr>
        <p:sp>
          <p:nvSpPr>
            <p:cNvPr id="56340" name="任意多边形 478218"/>
            <p:cNvSpPr>
              <a:spLocks noChangeArrowheads="1"/>
            </p:cNvSpPr>
            <p:nvPr/>
          </p:nvSpPr>
          <p:spPr bwMode="auto">
            <a:xfrm>
              <a:off x="1152" y="2060"/>
              <a:ext cx="38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w 21600"/>
                <a:gd name="T23" fmla="*/ 0 h 21600"/>
                <a:gd name="T24" fmla="*/ 0 w 21600"/>
                <a:gd name="T25" fmla="*/ 0 h 21600"/>
                <a:gd name="T26" fmla="*/ 0 w 21600"/>
                <a:gd name="T27" fmla="*/ 0 h 21600"/>
                <a:gd name="T28" fmla="*/ 0 w 21600"/>
                <a:gd name="T29" fmla="*/ 0 h 216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66CC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1" name="矩形 478219"/>
            <p:cNvSpPr>
              <a:spLocks noChangeArrowheads="1"/>
            </p:cNvSpPr>
            <p:nvPr/>
          </p:nvSpPr>
          <p:spPr bwMode="auto">
            <a:xfrm>
              <a:off x="1536" y="2012"/>
              <a:ext cx="10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粒子的轨迹</a:t>
              </a:r>
            </a:p>
          </p:txBody>
        </p:sp>
      </p:grpSp>
      <p:grpSp>
        <p:nvGrpSpPr>
          <p:cNvPr id="478221" name="组合 478220"/>
          <p:cNvGrpSpPr/>
          <p:nvPr/>
        </p:nvGrpSpPr>
        <p:grpSpPr bwMode="auto">
          <a:xfrm>
            <a:off x="6164263" y="3468688"/>
            <a:ext cx="2989262" cy="830262"/>
            <a:chOff x="3840" y="2022"/>
            <a:chExt cx="1883" cy="523"/>
          </a:xfrm>
        </p:grpSpPr>
        <p:sp>
          <p:nvSpPr>
            <p:cNvPr id="56338" name="任意多边形 478221"/>
            <p:cNvSpPr>
              <a:spLocks noChangeArrowheads="1"/>
            </p:cNvSpPr>
            <p:nvPr/>
          </p:nvSpPr>
          <p:spPr bwMode="auto">
            <a:xfrm>
              <a:off x="3840" y="2058"/>
              <a:ext cx="38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w 21600"/>
                <a:gd name="T23" fmla="*/ 0 h 21600"/>
                <a:gd name="T24" fmla="*/ 0 w 21600"/>
                <a:gd name="T25" fmla="*/ 0 h 21600"/>
                <a:gd name="T26" fmla="*/ 0 w 21600"/>
                <a:gd name="T27" fmla="*/ 0 h 21600"/>
                <a:gd name="T28" fmla="*/ 0 w 21600"/>
                <a:gd name="T29" fmla="*/ 0 h 216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66CC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9" name="矩形 478222"/>
            <p:cNvSpPr>
              <a:spLocks noChangeArrowheads="1"/>
            </p:cNvSpPr>
            <p:nvPr/>
          </p:nvSpPr>
          <p:spPr bwMode="auto">
            <a:xfrm>
              <a:off x="4176" y="2022"/>
              <a:ext cx="1547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aseline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</a:t>
              </a:r>
              <a:r>
                <a:rPr lang="zh-CN" altLang="en-US" sz="2400" baseline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粒子出现的概率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aseline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密度</a:t>
              </a:r>
            </a:p>
          </p:txBody>
        </p:sp>
      </p:grpSp>
      <p:graphicFrame>
        <p:nvGraphicFramePr>
          <p:cNvPr id="478224" name="对象 478223"/>
          <p:cNvGraphicFramePr/>
          <p:nvPr/>
        </p:nvGraphicFramePr>
        <p:xfrm>
          <a:off x="149225" y="3414713"/>
          <a:ext cx="1625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5" r:id="rId9" imgW="579755" imgH="200660" progId="Equation.3">
                  <p:embed/>
                </p:oleObj>
              </mc:Choice>
              <mc:Fallback>
                <p:oleObj r:id="rId9" imgW="579755" imgH="200660" progId="Equation.3">
                  <p:embed/>
                  <p:pic>
                    <p:nvPicPr>
                      <p:cNvPr id="0" name="对象 47822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" y="3414713"/>
                        <a:ext cx="16256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25" name="直接连接符 478224"/>
          <p:cNvSpPr>
            <a:spLocks noChangeShapeType="1"/>
          </p:cNvSpPr>
          <p:nvPr/>
        </p:nvSpPr>
        <p:spPr bwMode="auto">
          <a:xfrm flipH="1" flipV="1">
            <a:off x="4532313" y="1358900"/>
            <a:ext cx="42862" cy="5029200"/>
          </a:xfrm>
          <a:prstGeom prst="line">
            <a:avLst/>
          </a:prstGeom>
          <a:noFill/>
          <a:ln w="57150">
            <a:solidFill>
              <a:srgbClr val="66FF33"/>
            </a:solidFill>
            <a:round/>
            <a:tailEnd type="triangle" w="med" len="med"/>
          </a:ln>
          <a:scene3d>
            <a:camera prst="legacyObliqueTopRight"/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flatTx/>
          </a:bodyPr>
          <a:lstStyle/>
          <a:p>
            <a:endParaRPr lang="zh-CN" altLang="en-US"/>
          </a:p>
        </p:txBody>
      </p:sp>
      <p:grpSp>
        <p:nvGrpSpPr>
          <p:cNvPr id="56334" name="组合 478225"/>
          <p:cNvGrpSpPr/>
          <p:nvPr/>
        </p:nvGrpSpPr>
        <p:grpSpPr bwMode="auto">
          <a:xfrm>
            <a:off x="395288" y="0"/>
            <a:ext cx="1676400" cy="1219200"/>
            <a:chOff x="192" y="96"/>
            <a:chExt cx="1056" cy="768"/>
          </a:xfrm>
        </p:grpSpPr>
        <p:sp>
          <p:nvSpPr>
            <p:cNvPr id="56336" name="爆炸形 1 478226"/>
            <p:cNvSpPr>
              <a:spLocks noChangeArrowheads="1"/>
            </p:cNvSpPr>
            <p:nvPr/>
          </p:nvSpPr>
          <p:spPr bwMode="auto">
            <a:xfrm>
              <a:off x="192" y="96"/>
              <a:ext cx="1056" cy="768"/>
            </a:xfrm>
            <a:prstGeom prst="irregularSeal1">
              <a:avLst/>
            </a:prstGeom>
            <a:solidFill>
              <a:srgbClr val="CC3300"/>
            </a:solidFill>
            <a:ln w="19050">
              <a:solidFill>
                <a:srgbClr val="FFCC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 baseline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37" name="文本框 478227"/>
            <p:cNvSpPr txBox="1">
              <a:spLocks noChangeArrowheads="1"/>
            </p:cNvSpPr>
            <p:nvPr/>
          </p:nvSpPr>
          <p:spPr bwMode="auto">
            <a:xfrm>
              <a:off x="384" y="288"/>
              <a:ext cx="72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600" baseline="0">
                  <a:solidFill>
                    <a:srgbClr val="FFFF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比较</a:t>
              </a:r>
            </a:p>
          </p:txBody>
        </p:sp>
      </p:grpSp>
      <p:sp>
        <p:nvSpPr>
          <p:cNvPr id="478229" name="文本框 478228"/>
          <p:cNvSpPr txBox="1">
            <a:spLocks noChangeArrowheads="1"/>
          </p:cNvSpPr>
          <p:nvPr/>
        </p:nvSpPr>
        <p:spPr bwMode="auto">
          <a:xfrm>
            <a:off x="4943475" y="4405313"/>
            <a:ext cx="421005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不能预言粒子必然在哪里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出现，只能预言粒子出现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的概率。</a:t>
            </a:r>
            <a:endParaRPr lang="zh-CN" altLang="en-US" sz="2800" b="1" baseline="0">
              <a:solidFill>
                <a:srgbClr val="0000FF"/>
              </a:solidFill>
              <a:latin typeface="华文楷体" panose="02010600040101010101" pitchFamily="2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7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7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7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7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7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7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7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7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47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47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47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0" grpId="0"/>
      <p:bldP spid="478211" grpId="0"/>
      <p:bldP spid="478212" grpId="0"/>
      <p:bldP spid="478214" grpId="0"/>
      <p:bldP spid="478215" grpId="0"/>
      <p:bldP spid="4782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图片 479233" descr="WLBO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02"/>
          <a:stretch>
            <a:fillRect/>
          </a:stretch>
        </p:blipFill>
        <p:spPr bwMode="auto">
          <a:xfrm>
            <a:off x="381000" y="1447800"/>
            <a:ext cx="3208338" cy="4343400"/>
          </a:xfrm>
          <a:prstGeom prst="rect">
            <a:avLst/>
          </a:prstGeom>
          <a:noFill/>
          <a:ln w="9525">
            <a:solidFill>
              <a:srgbClr val="66FF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9235" name="矩形 479234"/>
          <p:cNvSpPr/>
          <p:nvPr/>
        </p:nvSpPr>
        <p:spPr>
          <a:xfrm>
            <a:off x="4648200" y="1447800"/>
            <a:ext cx="3733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玻恩</a:t>
            </a:r>
            <a:r>
              <a:rPr lang="zh-CN" altLang="en-US" sz="32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32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M.Born</a:t>
            </a:r>
            <a:r>
              <a:rPr lang="en-US" altLang="zh-CN" sz="32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  <a:t>)</a:t>
            </a:r>
          </a:p>
        </p:txBody>
      </p:sp>
      <p:sp>
        <p:nvSpPr>
          <p:cNvPr id="479236" name="矩形 479235"/>
          <p:cNvSpPr/>
          <p:nvPr/>
        </p:nvSpPr>
        <p:spPr>
          <a:xfrm>
            <a:off x="4876800" y="2362200"/>
            <a:ext cx="2828925" cy="1066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英籍德国人</a:t>
            </a:r>
          </a:p>
          <a:p>
            <a:pPr eaLnBrk="1" hangingPunct="1">
              <a:defRPr/>
            </a:pPr>
            <a:r>
              <a:rPr lang="en-US" altLang="zh-CN" sz="32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320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1882—1970</a:t>
            </a:r>
            <a:r>
              <a:rPr lang="zh-CN" altLang="en-US" sz="32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7349" name="矩形 479236"/>
          <p:cNvSpPr>
            <a:spLocks noChangeArrowheads="1"/>
          </p:cNvSpPr>
          <p:nvPr/>
        </p:nvSpPr>
        <p:spPr bwMode="auto">
          <a:xfrm>
            <a:off x="4038600" y="3686175"/>
            <a:ext cx="4675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baseline="0">
                <a:solidFill>
                  <a:schemeClr val="accent2"/>
                </a:solidFill>
                <a:latin typeface="宋体" panose="02010600030101010101" pitchFamily="2" charset="-122"/>
              </a:rPr>
              <a:t>1954</a:t>
            </a:r>
            <a:r>
              <a:rPr lang="zh-CN" altLang="en-US" b="1" baseline="0">
                <a:solidFill>
                  <a:schemeClr val="accent2"/>
                </a:solidFill>
                <a:latin typeface="宋体" panose="02010600030101010101" pitchFamily="2" charset="-122"/>
              </a:rPr>
              <a:t>年获诺贝尔物理学奖</a:t>
            </a:r>
          </a:p>
        </p:txBody>
      </p:sp>
      <p:sp>
        <p:nvSpPr>
          <p:cNvPr id="57350" name="文本框 479237"/>
          <p:cNvSpPr txBox="1">
            <a:spLocks noChangeArrowheads="1"/>
          </p:cNvSpPr>
          <p:nvPr/>
        </p:nvSpPr>
        <p:spPr bwMode="auto">
          <a:xfrm>
            <a:off x="3886200" y="4419600"/>
            <a:ext cx="8210550" cy="133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aseline="0">
                <a:ea typeface="黑体" panose="02010609060101010101" pitchFamily="49" charset="-122"/>
              </a:rPr>
              <a:t>由于进行了量子力学的基本研究，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aseline="0">
                <a:ea typeface="黑体" panose="02010609060101010101" pitchFamily="49" charset="-122"/>
              </a:rPr>
              <a:t>特别是对波函数作出的统计解释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文本框 671745"/>
          <p:cNvSpPr txBox="1">
            <a:spLocks noChangeArrowheads="1"/>
          </p:cNvSpPr>
          <p:nvPr/>
        </p:nvSpPr>
        <p:spPr bwMode="auto">
          <a:xfrm>
            <a:off x="0" y="320675"/>
            <a:ext cx="69151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>
                <a:solidFill>
                  <a:srgbClr val="CC3300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baseline="0">
                <a:solidFill>
                  <a:srgbClr val="CC3300"/>
                </a:solidFill>
                <a:ea typeface="黑体" panose="02010609060101010101" pitchFamily="49" charset="-122"/>
              </a:rPr>
              <a:t>例</a:t>
            </a:r>
            <a:r>
              <a:rPr lang="zh-CN" altLang="en-US" sz="2800" b="1" baseline="0">
                <a:ea typeface="黑体" panose="02010609060101010101" pitchFamily="49" charset="-122"/>
              </a:rPr>
              <a:t> 设一粒子沿 </a:t>
            </a:r>
            <a:r>
              <a:rPr lang="en-US" altLang="zh-CN" sz="2800" b="1" baseline="0">
                <a:ea typeface="黑体" panose="02010609060101010101" pitchFamily="49" charset="-122"/>
              </a:rPr>
              <a:t>x </a:t>
            </a:r>
            <a:r>
              <a:rPr lang="zh-CN" altLang="en-US" sz="2800" b="1" baseline="0">
                <a:ea typeface="黑体" panose="02010609060101010101" pitchFamily="49" charset="-122"/>
              </a:rPr>
              <a:t>方向运动，其波函数为</a:t>
            </a:r>
          </a:p>
        </p:txBody>
      </p:sp>
      <p:graphicFrame>
        <p:nvGraphicFramePr>
          <p:cNvPr id="58371" name="对象 671746"/>
          <p:cNvGraphicFramePr/>
          <p:nvPr/>
        </p:nvGraphicFramePr>
        <p:xfrm>
          <a:off x="6588125" y="-3175"/>
          <a:ext cx="2424113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69" r:id="rId3" imgW="914400" imgH="423545" progId="Equation.3">
                  <p:embed/>
                </p:oleObj>
              </mc:Choice>
              <mc:Fallback>
                <p:oleObj r:id="rId3" imgW="914400" imgH="423545" progId="Equation.3">
                  <p:embed/>
                  <p:pic>
                    <p:nvPicPr>
                      <p:cNvPr id="0" name="对象 67174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-3175"/>
                        <a:ext cx="2424113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2" name="文本框 671747"/>
          <p:cNvSpPr txBox="1">
            <a:spLocks noChangeArrowheads="1"/>
          </p:cNvSpPr>
          <p:nvPr/>
        </p:nvSpPr>
        <p:spPr bwMode="auto">
          <a:xfrm>
            <a:off x="323850" y="831850"/>
            <a:ext cx="6796088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ea typeface="黑体" panose="02010609060101010101" pitchFamily="49" charset="-122"/>
              </a:rPr>
              <a:t>（</a:t>
            </a:r>
            <a:r>
              <a:rPr lang="en-US" altLang="zh-CN" sz="2800" b="1" baseline="0">
                <a:ea typeface="黑体" panose="02010609060101010101" pitchFamily="49" charset="-122"/>
              </a:rPr>
              <a:t>1</a:t>
            </a:r>
            <a:r>
              <a:rPr lang="zh-CN" altLang="en-US" sz="2800" b="1" baseline="0">
                <a:ea typeface="黑体" panose="02010609060101010101" pitchFamily="49" charset="-122"/>
              </a:rPr>
              <a:t>）将此波函数归一化（</a:t>
            </a:r>
            <a:r>
              <a:rPr lang="en-US" altLang="zh-CN" sz="2800" b="1" baseline="0">
                <a:ea typeface="黑体" panose="02010609060101010101" pitchFamily="49" charset="-122"/>
              </a:rPr>
              <a:t>A</a:t>
            </a:r>
            <a:r>
              <a:rPr lang="zh-CN" altLang="en-US" sz="2800" b="1" baseline="0">
                <a:ea typeface="黑体" panose="02010609060101010101" pitchFamily="49" charset="-122"/>
              </a:rPr>
              <a:t>为未知量）；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ea typeface="黑体" panose="02010609060101010101" pitchFamily="49" charset="-122"/>
              </a:rPr>
              <a:t>（</a:t>
            </a:r>
            <a:r>
              <a:rPr lang="en-US" altLang="zh-CN" sz="2800" b="1" baseline="0">
                <a:ea typeface="黑体" panose="02010609060101010101" pitchFamily="49" charset="-122"/>
              </a:rPr>
              <a:t>2</a:t>
            </a:r>
            <a:r>
              <a:rPr lang="zh-CN" altLang="en-US" sz="2800" b="1" baseline="0">
                <a:ea typeface="黑体" panose="02010609060101010101" pitchFamily="49" charset="-122"/>
              </a:rPr>
              <a:t>）求出此粒子按坐标的概率密度函数；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ea typeface="黑体" panose="02010609060101010101" pitchFamily="49" charset="-122"/>
              </a:rPr>
              <a:t>（</a:t>
            </a:r>
            <a:r>
              <a:rPr lang="en-US" altLang="zh-CN" sz="2800" b="1" baseline="0">
                <a:ea typeface="黑体" panose="02010609060101010101" pitchFamily="49" charset="-122"/>
              </a:rPr>
              <a:t>3</a:t>
            </a:r>
            <a:r>
              <a:rPr lang="zh-CN" altLang="en-US" sz="2800" b="1" baseline="0">
                <a:ea typeface="黑体" panose="02010609060101010101" pitchFamily="49" charset="-122"/>
              </a:rPr>
              <a:t>）在何处找到粒子的概率最大？</a:t>
            </a:r>
          </a:p>
        </p:txBody>
      </p:sp>
      <p:sp>
        <p:nvSpPr>
          <p:cNvPr id="671749" name="文本框 671748"/>
          <p:cNvSpPr txBox="1">
            <a:spLocks noChangeArrowheads="1"/>
          </p:cNvSpPr>
          <p:nvPr/>
        </p:nvSpPr>
        <p:spPr bwMode="auto">
          <a:xfrm>
            <a:off x="0" y="2262188"/>
            <a:ext cx="1165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>
                <a:solidFill>
                  <a:srgbClr val="CC33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 baseline="0">
                <a:solidFill>
                  <a:srgbClr val="CC3300"/>
                </a:solidFill>
                <a:ea typeface="黑体" panose="02010609060101010101" pitchFamily="49" charset="-122"/>
              </a:rPr>
              <a:t>解 ：</a:t>
            </a:r>
          </a:p>
        </p:txBody>
      </p:sp>
      <p:sp>
        <p:nvSpPr>
          <p:cNvPr id="671750" name="文本框 671749"/>
          <p:cNvSpPr txBox="1">
            <a:spLocks noChangeArrowheads="1"/>
          </p:cNvSpPr>
          <p:nvPr/>
        </p:nvSpPr>
        <p:spPr bwMode="auto">
          <a:xfrm>
            <a:off x="900113" y="2290763"/>
            <a:ext cx="107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）</a:t>
            </a:r>
          </a:p>
        </p:txBody>
      </p:sp>
      <p:graphicFrame>
        <p:nvGraphicFramePr>
          <p:cNvPr id="671751" name="对象 671750"/>
          <p:cNvGraphicFramePr/>
          <p:nvPr/>
        </p:nvGraphicFramePr>
        <p:xfrm>
          <a:off x="250825" y="2847975"/>
          <a:ext cx="8569325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0" r:id="rId5" imgW="3278505" imgH="513080" progId="Equation.DSMT4">
                  <p:embed/>
                </p:oleObj>
              </mc:Choice>
              <mc:Fallback>
                <p:oleObj r:id="rId5" imgW="3278505" imgH="513080" progId="Equation.DSMT4">
                  <p:embed/>
                  <p:pic>
                    <p:nvPicPr>
                      <p:cNvPr id="0" name="对象 67175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847975"/>
                        <a:ext cx="8569325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52" name="对象 671751"/>
          <p:cNvGraphicFramePr/>
          <p:nvPr/>
        </p:nvGraphicFramePr>
        <p:xfrm>
          <a:off x="250825" y="4581525"/>
          <a:ext cx="70151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1" r:id="rId7" imgW="2691765" imgH="431800" progId="Equation.DSMT4">
                  <p:embed/>
                </p:oleObj>
              </mc:Choice>
              <mc:Fallback>
                <p:oleObj r:id="rId7" imgW="2691765" imgH="431800" progId="Equation.DSMT4">
                  <p:embed/>
                  <p:pic>
                    <p:nvPicPr>
                      <p:cNvPr id="0" name="对象 67175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581525"/>
                        <a:ext cx="701516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53" name="文本框 671752"/>
          <p:cNvSpPr txBox="1">
            <a:spLocks noChangeArrowheads="1"/>
          </p:cNvSpPr>
          <p:nvPr/>
        </p:nvSpPr>
        <p:spPr bwMode="auto">
          <a:xfrm>
            <a:off x="0" y="5876925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归一化波函数为</a:t>
            </a:r>
          </a:p>
        </p:txBody>
      </p:sp>
      <p:graphicFrame>
        <p:nvGraphicFramePr>
          <p:cNvPr id="671754" name="对象 671753"/>
          <p:cNvGraphicFramePr/>
          <p:nvPr/>
        </p:nvGraphicFramePr>
        <p:xfrm>
          <a:off x="3276600" y="5586413"/>
          <a:ext cx="3814763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2" r:id="rId9" imgW="1271270" imgH="457200" progId="Equation.3">
                  <p:embed/>
                </p:oleObj>
              </mc:Choice>
              <mc:Fallback>
                <p:oleObj r:id="rId9" imgW="1271270" imgH="457200" progId="Equation.3">
                  <p:embed/>
                  <p:pic>
                    <p:nvPicPr>
                      <p:cNvPr id="0" name="对象 67175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586413"/>
                        <a:ext cx="3814763" cy="127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55" name="对象 671754"/>
          <p:cNvGraphicFramePr/>
          <p:nvPr/>
        </p:nvGraphicFramePr>
        <p:xfrm>
          <a:off x="1835150" y="1987550"/>
          <a:ext cx="27940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3" r:id="rId11" imgW="1315720" imgH="513080" progId="Equation.DSMT4">
                  <p:embed/>
                </p:oleObj>
              </mc:Choice>
              <mc:Fallback>
                <p:oleObj r:id="rId11" imgW="1315720" imgH="513080" progId="Equation.DSMT4">
                  <p:embed/>
                  <p:pic>
                    <p:nvPicPr>
                      <p:cNvPr id="0" name="对象 67175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987550"/>
                        <a:ext cx="27940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7423150" y="4614863"/>
          <a:ext cx="1720850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4" r:id="rId13" imgW="660400" imgH="419100" progId="Equation.DSMT4">
                  <p:embed/>
                </p:oleObj>
              </mc:Choice>
              <mc:Fallback>
                <p:oleObj r:id="rId13" imgW="660400" imgH="419100" progId="Equation.DSMT4">
                  <p:embed/>
                  <p:pic>
                    <p:nvPicPr>
                      <p:cNvPr id="0" name="对象 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3150" y="4614863"/>
                        <a:ext cx="1720850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9" grpId="0"/>
      <p:bldP spid="671750" grpId="0"/>
      <p:bldP spid="67175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文本框 672769"/>
          <p:cNvSpPr txBox="1">
            <a:spLocks noChangeArrowheads="1"/>
          </p:cNvSpPr>
          <p:nvPr/>
        </p:nvSpPr>
        <p:spPr bwMode="auto">
          <a:xfrm>
            <a:off x="755650" y="1792288"/>
            <a:ext cx="54546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） 粒子按坐标的概率密度函数</a:t>
            </a:r>
          </a:p>
        </p:txBody>
      </p:sp>
      <p:graphicFrame>
        <p:nvGraphicFramePr>
          <p:cNvPr id="672771" name="对象 672770"/>
          <p:cNvGraphicFramePr/>
          <p:nvPr/>
        </p:nvGraphicFramePr>
        <p:xfrm>
          <a:off x="1841500" y="2276475"/>
          <a:ext cx="63309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2" r:id="rId3" imgW="1840230" imgH="457200" progId="Equation.3">
                  <p:embed/>
                </p:oleObj>
              </mc:Choice>
              <mc:Fallback>
                <p:oleObj r:id="rId3" imgW="1840230" imgH="457200" progId="Equation.3">
                  <p:embed/>
                  <p:pic>
                    <p:nvPicPr>
                      <p:cNvPr id="0" name="对象 67277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2276475"/>
                        <a:ext cx="63309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2772" name="文本框 672771"/>
          <p:cNvSpPr txBox="1">
            <a:spLocks noChangeArrowheads="1"/>
          </p:cNvSpPr>
          <p:nvPr/>
        </p:nvSpPr>
        <p:spPr bwMode="auto">
          <a:xfrm>
            <a:off x="704850" y="3635375"/>
            <a:ext cx="57229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3</a:t>
            </a: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）</a:t>
            </a:r>
            <a:r>
              <a:rPr lang="zh-CN" altLang="en-US" sz="2800" b="1" baseline="0">
                <a:ea typeface="黑体" panose="02010609060101010101" pitchFamily="49" charset="-122"/>
              </a:rPr>
              <a:t>在何处找到粒子的概率最大？</a:t>
            </a:r>
            <a:endParaRPr lang="zh-CN" altLang="en-US" sz="2800" b="1" baseline="0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sp>
        <p:nvSpPr>
          <p:cNvPr id="59397" name="文本框 672772"/>
          <p:cNvSpPr txBox="1">
            <a:spLocks noChangeArrowheads="1"/>
          </p:cNvSpPr>
          <p:nvPr/>
        </p:nvSpPr>
        <p:spPr bwMode="auto">
          <a:xfrm>
            <a:off x="1328738" y="606425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归一化波函数为</a:t>
            </a:r>
          </a:p>
        </p:txBody>
      </p:sp>
      <p:graphicFrame>
        <p:nvGraphicFramePr>
          <p:cNvPr id="59398" name="对象 672773"/>
          <p:cNvGraphicFramePr/>
          <p:nvPr/>
        </p:nvGraphicFramePr>
        <p:xfrm>
          <a:off x="4103688" y="258763"/>
          <a:ext cx="3814762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3" r:id="rId5" imgW="1271270" imgH="457200" progId="Equation.3">
                  <p:embed/>
                </p:oleObj>
              </mc:Choice>
              <mc:Fallback>
                <p:oleObj r:id="rId5" imgW="1271270" imgH="457200" progId="Equation.3">
                  <p:embed/>
                  <p:pic>
                    <p:nvPicPr>
                      <p:cNvPr id="0" name="对象 67277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3688" y="258763"/>
                        <a:ext cx="3814762" cy="127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971550" y="4292600"/>
            <a:ext cx="71437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由上式可知，当 </a:t>
            </a:r>
            <a:r>
              <a:rPr lang="en-US" altLang="zh-CN" sz="2800" b="1" i="1" baseline="0">
                <a:solidFill>
                  <a:schemeClr val="tx2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=0  </a:t>
            </a: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时  </a:t>
            </a:r>
            <a:r>
              <a:rPr lang="en-US" altLang="zh-CN" sz="2800" b="1" i="1" baseline="0">
                <a:solidFill>
                  <a:schemeClr val="tx2"/>
                </a:solidFill>
                <a:ea typeface="黑体" panose="02010609060101010101" pitchFamily="49" charset="-122"/>
              </a:rPr>
              <a:t>ρ</a:t>
            </a:r>
            <a:r>
              <a:rPr lang="en-US" altLang="zh-CN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(</a:t>
            </a:r>
            <a:r>
              <a:rPr lang="en-US" altLang="zh-CN" sz="2800" b="1" i="1" baseline="0">
                <a:solidFill>
                  <a:schemeClr val="tx2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)  </a:t>
            </a: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最大， 其值为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i="1" baseline="0">
                <a:solidFill>
                  <a:schemeClr val="tx2"/>
                </a:solidFill>
                <a:ea typeface="黑体" panose="02010609060101010101" pitchFamily="49" charset="-122"/>
              </a:rPr>
              <a:t>ρ</a:t>
            </a: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0</a:t>
            </a: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） </a:t>
            </a:r>
            <a:r>
              <a:rPr lang="en-US" altLang="zh-CN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=  1 /π</a:t>
            </a:r>
            <a:r>
              <a:rPr lang="zh-CN" altLang="en-US" sz="2800" b="1" baseline="0">
                <a:solidFill>
                  <a:schemeClr val="tx2"/>
                </a:solidFill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70" grpId="0"/>
      <p:bldP spid="672772" grpId="0"/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84" name="文本框 446483"/>
          <p:cNvSpPr txBox="1"/>
          <p:nvPr/>
        </p:nvSpPr>
        <p:spPr>
          <a:xfrm>
            <a:off x="1476375" y="188913"/>
            <a:ext cx="5991040" cy="648512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15-8   </a:t>
            </a:r>
            <a:r>
              <a:rPr lang="zh-CN" altLang="en-US" sz="3600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薛定谔方程及应用简例</a:t>
            </a:r>
          </a:p>
        </p:txBody>
      </p:sp>
      <p:grpSp>
        <p:nvGrpSpPr>
          <p:cNvPr id="446490" name="组合 446489"/>
          <p:cNvGrpSpPr/>
          <p:nvPr/>
        </p:nvGrpSpPr>
        <p:grpSpPr bwMode="auto">
          <a:xfrm>
            <a:off x="115888" y="1052513"/>
            <a:ext cx="8777287" cy="5040312"/>
            <a:chOff x="73" y="663"/>
            <a:chExt cx="5529" cy="3175"/>
          </a:xfrm>
        </p:grpSpPr>
        <p:sp>
          <p:nvSpPr>
            <p:cNvPr id="60420" name="矩形 446488"/>
            <p:cNvSpPr>
              <a:spLocks noChangeArrowheads="1"/>
            </p:cNvSpPr>
            <p:nvPr/>
          </p:nvSpPr>
          <p:spPr bwMode="auto">
            <a:xfrm>
              <a:off x="204" y="663"/>
              <a:ext cx="5398" cy="3175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446469" name="矩形 446468"/>
            <p:cNvSpPr/>
            <p:nvPr/>
          </p:nvSpPr>
          <p:spPr>
            <a:xfrm>
              <a:off x="73" y="663"/>
              <a:ext cx="5520" cy="264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320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har char="–"/>
                <a:defRPr sz="28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har char="–"/>
                <a:defRPr sz="20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</a:lstStyle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lang="en-US" altLang="zh-CN" sz="280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               </a:t>
              </a:r>
              <a:r>
                <a:rPr lang="zh-CN" altLang="en-US" sz="2400" b="1" noProof="1">
                  <a:solidFill>
                    <a:srgbClr val="CC66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  <a:t>经典力学（质点）   量子力学</a:t>
              </a:r>
              <a:r>
                <a:rPr lang="en-US" altLang="zh-CN" sz="2400" b="1" noProof="1">
                  <a:solidFill>
                    <a:srgbClr val="CC66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  <a:t>(</a:t>
              </a:r>
              <a:r>
                <a:rPr lang="zh-CN" altLang="en-US" sz="2400" b="1" noProof="1">
                  <a:solidFill>
                    <a:srgbClr val="CC66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  <a:t>微观粒子</a:t>
              </a:r>
              <a:r>
                <a:rPr lang="en-US" altLang="zh-CN" sz="2400" b="1" noProof="1">
                  <a:solidFill>
                    <a:srgbClr val="99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  <a:t>)</a:t>
              </a:r>
              <a:br>
                <a:rPr lang="en-US" altLang="zh-CN" sz="2400" b="1" dirty="0">
                  <a:solidFill>
                    <a:srgbClr val="99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</a:br>
              <a:endParaRPr lang="en-US" altLang="zh-CN" sz="2400" b="1" noProof="1">
                <a:solidFill>
                  <a:srgbClr val="99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lang="en-US" altLang="zh-CN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  <a:t>   </a:t>
              </a:r>
              <a:r>
                <a:rPr lang="zh-CN" altLang="en-US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  <a:t>特点            粒子性            波粒二象性</a:t>
              </a:r>
            </a:p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lang="zh-CN" altLang="en-US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  <a:t>    </a:t>
              </a:r>
              <a:br>
                <a:rPr lang="zh-CN" altLang="en-US" sz="2400" b="1" dirty="0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</a:br>
              <a:r>
                <a:rPr lang="zh-CN" altLang="en-US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  <a:t> 运动情况                 有轨道                             无轨道</a:t>
              </a:r>
            </a:p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lang="zh-CN" altLang="en-US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  <a:t>   </a:t>
              </a:r>
            </a:p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lang="zh-CN" altLang="en-US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  <a:t>      状态描述              坐标    和动量                 波函数</a:t>
              </a:r>
              <a:r>
                <a:rPr lang="en-US" altLang="zh-CN" sz="2800" i="1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  <a:t>Ψ</a:t>
              </a:r>
              <a:r>
                <a:rPr lang="en-US" altLang="zh-CN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	</a:t>
              </a:r>
            </a:p>
            <a:p>
              <a:pPr>
                <a:lnSpc>
                  <a:spcPct val="65000"/>
                </a:lnSpc>
                <a:buFontTx/>
                <a:buNone/>
                <a:defRPr/>
              </a:pPr>
              <a:r>
                <a:rPr lang="en-US" altLang="zh-CN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  <a:t>  </a:t>
              </a:r>
              <a:br>
                <a:rPr lang="en-US" altLang="zh-CN" sz="2400" b="1" dirty="0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</a:br>
              <a:r>
                <a:rPr lang="en-US" altLang="zh-CN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  <a:t> </a:t>
              </a:r>
              <a:r>
                <a:rPr lang="en-US" altLang="zh-CN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	             </a:t>
              </a:r>
            </a:p>
            <a:p>
              <a:pPr>
                <a:lnSpc>
                  <a:spcPct val="65000"/>
                </a:lnSpc>
                <a:buFontTx/>
                <a:buNone/>
                <a:defRPr/>
              </a:pPr>
              <a:r>
                <a:rPr lang="zh-CN" altLang="en-US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</a:rPr>
                <a:t>                   牛顿方程           </a:t>
              </a:r>
              <a:r>
                <a:rPr lang="zh-CN" altLang="en-US" sz="2400" b="1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  <a:t>薛定谔方程</a:t>
              </a:r>
            </a:p>
            <a:p>
              <a:pPr>
                <a:lnSpc>
                  <a:spcPct val="65000"/>
                </a:lnSpc>
                <a:buFontTx/>
                <a:buNone/>
                <a:defRPr/>
              </a:pPr>
              <a:r>
                <a:rPr lang="zh-CN" altLang="en-US" sz="2400" b="1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  <a:t>      </a:t>
              </a:r>
              <a:r>
                <a:rPr lang="zh-CN" altLang="en-US" sz="2400" b="1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  <a:t>运动方程</a:t>
              </a:r>
              <a:r>
                <a:rPr lang="zh-CN" altLang="en-US" sz="280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  <a:t>                                                     </a:t>
              </a:r>
              <a:r>
                <a:rPr lang="zh-CN" altLang="en-US" sz="600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</a:rPr>
                <a:t>？</a:t>
              </a:r>
            </a:p>
          </p:txBody>
        </p:sp>
        <p:graphicFrame>
          <p:nvGraphicFramePr>
            <p:cNvPr id="60422" name="对象 446469"/>
            <p:cNvGraphicFramePr/>
            <p:nvPr/>
          </p:nvGraphicFramePr>
          <p:xfrm>
            <a:off x="1828" y="3022"/>
            <a:ext cx="1134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86" r:id="rId3" imgW="869950" imgH="457200" progId="Equation.3">
                    <p:embed/>
                  </p:oleObj>
                </mc:Choice>
                <mc:Fallback>
                  <p:oleObj r:id="rId3" imgW="869950" imgH="457200" progId="Equation.3">
                    <p:embed/>
                    <p:pic>
                      <p:nvPicPr>
                        <p:cNvPr id="0" name="对象 44646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8" y="3022"/>
                          <a:ext cx="1134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0423" name="组合 446485"/>
            <p:cNvGrpSpPr/>
            <p:nvPr/>
          </p:nvGrpSpPr>
          <p:grpSpPr bwMode="auto">
            <a:xfrm>
              <a:off x="204" y="663"/>
              <a:ext cx="5398" cy="3175"/>
              <a:chOff x="178" y="685"/>
              <a:chExt cx="5424" cy="3168"/>
            </a:xfrm>
          </p:grpSpPr>
          <p:sp>
            <p:nvSpPr>
              <p:cNvPr id="60426" name="直接连接符 446473"/>
              <p:cNvSpPr>
                <a:spLocks noChangeShapeType="1"/>
              </p:cNvSpPr>
              <p:nvPr/>
            </p:nvSpPr>
            <p:spPr bwMode="auto">
              <a:xfrm>
                <a:off x="178" y="685"/>
                <a:ext cx="0" cy="3168"/>
              </a:xfrm>
              <a:prstGeom prst="line">
                <a:avLst/>
              </a:prstGeom>
              <a:noFill/>
              <a:ln w="9525">
                <a:solidFill>
                  <a:srgbClr val="0099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0427" name="组合 446484"/>
              <p:cNvGrpSpPr/>
              <p:nvPr/>
            </p:nvGrpSpPr>
            <p:grpSpPr bwMode="auto">
              <a:xfrm>
                <a:off x="178" y="685"/>
                <a:ext cx="5424" cy="3168"/>
                <a:chOff x="96" y="912"/>
                <a:chExt cx="5424" cy="3168"/>
              </a:xfrm>
            </p:grpSpPr>
            <p:sp>
              <p:nvSpPr>
                <p:cNvPr id="60428" name="直接连接符 446471"/>
                <p:cNvSpPr>
                  <a:spLocks noChangeShapeType="1"/>
                </p:cNvSpPr>
                <p:nvPr/>
              </p:nvSpPr>
              <p:spPr bwMode="auto">
                <a:xfrm>
                  <a:off x="96" y="4080"/>
                  <a:ext cx="5424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29" name="直接连接符 446472"/>
                <p:cNvSpPr>
                  <a:spLocks noChangeShapeType="1"/>
                </p:cNvSpPr>
                <p:nvPr/>
              </p:nvSpPr>
              <p:spPr bwMode="auto">
                <a:xfrm>
                  <a:off x="96" y="912"/>
                  <a:ext cx="5424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0" name="直接连接符 446474"/>
                <p:cNvSpPr>
                  <a:spLocks noChangeShapeType="1"/>
                </p:cNvSpPr>
                <p:nvPr/>
              </p:nvSpPr>
              <p:spPr bwMode="auto">
                <a:xfrm>
                  <a:off x="5520" y="912"/>
                  <a:ext cx="0" cy="3168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1" name="直接连接符 446475"/>
                <p:cNvSpPr>
                  <a:spLocks noChangeShapeType="1"/>
                </p:cNvSpPr>
                <p:nvPr/>
              </p:nvSpPr>
              <p:spPr bwMode="auto">
                <a:xfrm>
                  <a:off x="96" y="1344"/>
                  <a:ext cx="5424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2" name="直接连接符 446476"/>
                <p:cNvSpPr>
                  <a:spLocks noChangeShapeType="1"/>
                </p:cNvSpPr>
                <p:nvPr/>
              </p:nvSpPr>
              <p:spPr bwMode="auto">
                <a:xfrm>
                  <a:off x="96" y="1824"/>
                  <a:ext cx="5424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3" name="直接连接符 446477"/>
                <p:cNvSpPr>
                  <a:spLocks noChangeShapeType="1"/>
                </p:cNvSpPr>
                <p:nvPr/>
              </p:nvSpPr>
              <p:spPr bwMode="auto">
                <a:xfrm>
                  <a:off x="96" y="2304"/>
                  <a:ext cx="5424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4" name="直接连接符 446478"/>
                <p:cNvSpPr>
                  <a:spLocks noChangeShapeType="1"/>
                </p:cNvSpPr>
                <p:nvPr/>
              </p:nvSpPr>
              <p:spPr bwMode="auto">
                <a:xfrm>
                  <a:off x="96" y="2832"/>
                  <a:ext cx="5424" cy="0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5" name="直接连接符 446479"/>
                <p:cNvSpPr>
                  <a:spLocks noChangeShapeType="1"/>
                </p:cNvSpPr>
                <p:nvPr/>
              </p:nvSpPr>
              <p:spPr bwMode="auto">
                <a:xfrm>
                  <a:off x="1440" y="912"/>
                  <a:ext cx="0" cy="3168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36" name="直接连接符 446480"/>
                <p:cNvSpPr>
                  <a:spLocks noChangeShapeType="1"/>
                </p:cNvSpPr>
                <p:nvPr/>
              </p:nvSpPr>
              <p:spPr bwMode="auto">
                <a:xfrm>
                  <a:off x="3312" y="912"/>
                  <a:ext cx="0" cy="3168"/>
                </a:xfrm>
                <a:prstGeom prst="line">
                  <a:avLst/>
                </a:prstGeom>
                <a:noFill/>
                <a:ln w="9525">
                  <a:solidFill>
                    <a:srgbClr val="0099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60424" name="对象 446486"/>
            <p:cNvGraphicFramePr/>
            <p:nvPr/>
          </p:nvGraphicFramePr>
          <p:xfrm>
            <a:off x="2245" y="2124"/>
            <a:ext cx="22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87" r:id="rId5" imgW="127000" imgH="164465" progId="Equation.3">
                    <p:embed/>
                  </p:oleObj>
                </mc:Choice>
                <mc:Fallback>
                  <p:oleObj r:id="rId5" imgW="127000" imgH="164465" progId="Equation.3">
                    <p:embed/>
                    <p:pic>
                      <p:nvPicPr>
                        <p:cNvPr id="0" name="对象 44648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2124"/>
                          <a:ext cx="220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25" name="对象 446487"/>
            <p:cNvGraphicFramePr/>
            <p:nvPr/>
          </p:nvGraphicFramePr>
          <p:xfrm>
            <a:off x="3016" y="2147"/>
            <a:ext cx="23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88" r:id="rId7" imgW="165100" imgH="203200" progId="Equation.3">
                    <p:embed/>
                  </p:oleObj>
                </mc:Choice>
                <mc:Fallback>
                  <p:oleObj r:id="rId7" imgW="165100" imgH="203200" progId="Equation.3">
                    <p:embed/>
                    <p:pic>
                      <p:nvPicPr>
                        <p:cNvPr id="0" name="对象 44648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2147"/>
                          <a:ext cx="23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6" name="矩形 346115"/>
          <p:cNvSpPr>
            <a:spLocks noChangeArrowheads="1"/>
          </p:cNvSpPr>
          <p:nvPr/>
        </p:nvSpPr>
        <p:spPr bwMode="auto">
          <a:xfrm>
            <a:off x="663575" y="404813"/>
            <a:ext cx="822960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aseline="0">
                <a:latin typeface="黑体" panose="02010609060101010101" pitchFamily="49" charset="-122"/>
                <a:ea typeface="黑体" panose="02010609060101010101" pitchFamily="49" charset="-122"/>
              </a:rPr>
              <a:t>薛定谔方程</a:t>
            </a:r>
            <a:r>
              <a:rPr lang="zh-CN" altLang="en-US" sz="28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是非相对论微观粒子</a:t>
            </a:r>
            <a:r>
              <a:rPr lang="zh-CN" altLang="en-US" sz="2800" baseline="0">
                <a:latin typeface="黑体" panose="02010609060101010101" pitchFamily="49" charset="-122"/>
                <a:ea typeface="黑体" panose="02010609060101010101" pitchFamily="49" charset="-122"/>
              </a:rPr>
              <a:t>的基本方程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aseline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8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</a:t>
            </a:r>
            <a:r>
              <a:rPr lang="zh-CN" altLang="en-US" sz="28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量子力学基本假设（基本原理之三）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aseline="0">
                <a:latin typeface="黑体" panose="02010609060101010101" pitchFamily="49" charset="-122"/>
                <a:ea typeface="黑体" panose="02010609060101010101" pitchFamily="49" charset="-122"/>
              </a:rPr>
              <a:t>地位同经典物理的牛顿定律</a:t>
            </a:r>
          </a:p>
        </p:txBody>
      </p:sp>
      <p:grpSp>
        <p:nvGrpSpPr>
          <p:cNvPr id="346117" name="组合 346116"/>
          <p:cNvGrpSpPr/>
          <p:nvPr/>
        </p:nvGrpSpPr>
        <p:grpSpPr bwMode="auto">
          <a:xfrm>
            <a:off x="1476375" y="2708275"/>
            <a:ext cx="7696200" cy="3581400"/>
            <a:chOff x="816" y="1824"/>
            <a:chExt cx="4848" cy="2256"/>
          </a:xfrm>
        </p:grpSpPr>
        <p:sp>
          <p:nvSpPr>
            <p:cNvPr id="61444" name="矩形 346117"/>
            <p:cNvSpPr>
              <a:spLocks noChangeArrowheads="1"/>
            </p:cNvSpPr>
            <p:nvPr/>
          </p:nvSpPr>
          <p:spPr bwMode="auto">
            <a:xfrm>
              <a:off x="2400" y="1824"/>
              <a:ext cx="3264" cy="2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800" b="1" baseline="0">
                  <a:solidFill>
                    <a:srgbClr val="333399"/>
                  </a:solidFill>
                  <a:ea typeface="楷体_GB2312" pitchFamily="49" charset="-122"/>
                </a:rPr>
                <a:t>           </a:t>
              </a:r>
              <a:r>
                <a:rPr lang="zh-CN" altLang="en-US" sz="2800" b="1" baseline="0">
                  <a:solidFill>
                    <a:srgbClr val="333399"/>
                  </a:solidFill>
                  <a:ea typeface="楷体_GB2312" pitchFamily="49" charset="-122"/>
                </a:rPr>
                <a:t>薛定谔</a:t>
              </a:r>
            </a:p>
            <a:p>
              <a:pPr eaLnBrk="1" hangingPunct="1">
                <a:buFontTx/>
                <a:buNone/>
              </a:pPr>
              <a:r>
                <a:rPr lang="zh-CN" altLang="en-US" sz="2800" b="1" baseline="0">
                  <a:solidFill>
                    <a:srgbClr val="333399"/>
                  </a:solidFill>
                  <a:ea typeface="楷体_GB2312" pitchFamily="49" charset="-122"/>
                </a:rPr>
                <a:t>    </a:t>
              </a:r>
              <a:r>
                <a:rPr lang="en-US" altLang="zh-CN" sz="2800" b="1" baseline="0">
                  <a:solidFill>
                    <a:srgbClr val="333399"/>
                  </a:solidFill>
                  <a:ea typeface="楷体_GB2312" pitchFamily="49" charset="-122"/>
                </a:rPr>
                <a:t>Erwin Schrodinger</a:t>
              </a:r>
            </a:p>
            <a:p>
              <a:pPr eaLnBrk="1" hangingPunct="1">
                <a:buFontTx/>
                <a:buNone/>
              </a:pPr>
              <a:r>
                <a:rPr lang="en-US" altLang="zh-CN" sz="2800" b="1" baseline="0">
                  <a:solidFill>
                    <a:srgbClr val="333399"/>
                  </a:solidFill>
                  <a:ea typeface="楷体_GB2312" pitchFamily="49" charset="-122"/>
                </a:rPr>
                <a:t>          </a:t>
              </a:r>
              <a:r>
                <a:rPr lang="zh-CN" altLang="en-US" sz="2800" b="1" baseline="0">
                  <a:solidFill>
                    <a:srgbClr val="333399"/>
                  </a:solidFill>
                  <a:ea typeface="楷体_GB2312" pitchFamily="49" charset="-122"/>
                </a:rPr>
                <a:t>奥地利人</a:t>
              </a:r>
            </a:p>
            <a:p>
              <a:pPr eaLnBrk="1" hangingPunct="1">
                <a:buFontTx/>
                <a:buNone/>
              </a:pPr>
              <a:r>
                <a:rPr lang="zh-CN" altLang="en-US" sz="2800" b="1" baseline="0">
                  <a:solidFill>
                    <a:srgbClr val="333399"/>
                  </a:solidFill>
                  <a:ea typeface="楷体_GB2312" pitchFamily="49" charset="-122"/>
                </a:rPr>
                <a:t>          </a:t>
              </a:r>
              <a:r>
                <a:rPr lang="en-US" altLang="zh-CN" sz="2800" b="1" baseline="0">
                  <a:solidFill>
                    <a:srgbClr val="333399"/>
                  </a:solidFill>
                  <a:ea typeface="楷体_GB2312" pitchFamily="49" charset="-122"/>
                </a:rPr>
                <a:t>1887-1961</a:t>
              </a:r>
            </a:p>
            <a:p>
              <a:pPr eaLnBrk="1" hangingPunct="1">
                <a:buFontTx/>
                <a:buNone/>
              </a:pPr>
              <a:r>
                <a:rPr lang="en-US" altLang="zh-CN" sz="2800" b="1" baseline="0">
                  <a:solidFill>
                    <a:srgbClr val="333399"/>
                  </a:solidFill>
                  <a:ea typeface="楷体_GB2312" pitchFamily="49" charset="-122"/>
                </a:rPr>
                <a:t>     </a:t>
              </a:r>
              <a:r>
                <a:rPr lang="zh-CN" altLang="en-US" sz="2800" b="1" baseline="0">
                  <a:solidFill>
                    <a:srgbClr val="333399"/>
                  </a:solidFill>
                  <a:ea typeface="楷体_GB2312" pitchFamily="49" charset="-122"/>
                </a:rPr>
                <a:t>创立量子力学的波动理论</a:t>
              </a:r>
            </a:p>
            <a:p>
              <a:pPr eaLnBrk="1" hangingPunct="1">
                <a:buFontTx/>
                <a:buNone/>
              </a:pPr>
              <a:r>
                <a:rPr lang="zh-CN" altLang="en-US" sz="2800" b="1" baseline="0">
                  <a:solidFill>
                    <a:srgbClr val="333399"/>
                  </a:solidFill>
                  <a:ea typeface="楷体_GB2312" pitchFamily="49" charset="-122"/>
                </a:rPr>
                <a:t>     获</a:t>
              </a:r>
              <a:r>
                <a:rPr lang="en-US" altLang="zh-CN" sz="2800" b="1" baseline="0">
                  <a:solidFill>
                    <a:srgbClr val="333399"/>
                  </a:solidFill>
                  <a:ea typeface="楷体_GB2312" pitchFamily="49" charset="-122"/>
                </a:rPr>
                <a:t>1933</a:t>
              </a:r>
              <a:r>
                <a:rPr lang="zh-CN" altLang="en-US" sz="2800" b="1" baseline="0">
                  <a:solidFill>
                    <a:srgbClr val="333399"/>
                  </a:solidFill>
                  <a:ea typeface="楷体_GB2312" pitchFamily="49" charset="-122"/>
                </a:rPr>
                <a:t>年诺贝尔物理学奖</a:t>
              </a:r>
            </a:p>
          </p:txBody>
        </p:sp>
        <p:pic>
          <p:nvPicPr>
            <p:cNvPr id="61445" name="图片 346118" descr="薛定鄂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1872"/>
              <a:ext cx="1536" cy="2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7148" name="内容占位符 347147"/>
          <p:cNvGraphicFramePr>
            <a:graphicFrameLocks noGrp="1"/>
          </p:cNvGraphicFramePr>
          <p:nvPr>
            <p:ph sz="quarter" idx="3"/>
          </p:nvPr>
        </p:nvGraphicFramePr>
        <p:xfrm>
          <a:off x="5003800" y="1573213"/>
          <a:ext cx="187166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6" r:id="rId3" imgW="1003300" imgH="457200" progId="Equation.3">
                  <p:embed/>
                </p:oleObj>
              </mc:Choice>
              <mc:Fallback>
                <p:oleObj r:id="rId3" imgW="1003300" imgH="457200" progId="Equation.3">
                  <p:embed/>
                  <p:pic>
                    <p:nvPicPr>
                      <p:cNvPr id="0" name="内容占位符 34714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573213"/>
                        <a:ext cx="187166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7" name="文本框 347140"/>
          <p:cNvSpPr txBox="1">
            <a:spLocks noChangeArrowheads="1"/>
          </p:cNvSpPr>
          <p:nvPr/>
        </p:nvSpPr>
        <p:spPr bwMode="auto">
          <a:xfrm>
            <a:off x="323850" y="115888"/>
            <a:ext cx="6477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aseline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一、薛定谔方程的引入</a:t>
            </a:r>
          </a:p>
        </p:txBody>
      </p:sp>
      <p:sp>
        <p:nvSpPr>
          <p:cNvPr id="347142" name="文本框 347141"/>
          <p:cNvSpPr txBox="1">
            <a:spLocks noChangeArrowheads="1"/>
          </p:cNvSpPr>
          <p:nvPr/>
        </p:nvSpPr>
        <p:spPr bwMode="auto">
          <a:xfrm>
            <a:off x="468313" y="779463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1. </a:t>
            </a:r>
            <a:r>
              <a:rPr lang="zh-CN" altLang="en-US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自由粒子的薛定谔方程 </a:t>
            </a:r>
          </a:p>
        </p:txBody>
      </p:sp>
      <p:graphicFrame>
        <p:nvGraphicFramePr>
          <p:cNvPr id="347143" name="对象 347142"/>
          <p:cNvGraphicFramePr/>
          <p:nvPr/>
        </p:nvGraphicFramePr>
        <p:xfrm>
          <a:off x="3036888" y="2336800"/>
          <a:ext cx="31146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7" r:id="rId5" imgW="2274570" imgH="591185" progId="Equation.DSMT4">
                  <p:embed/>
                </p:oleObj>
              </mc:Choice>
              <mc:Fallback>
                <p:oleObj r:id="rId5" imgW="2274570" imgH="591185" progId="Equation.DSMT4">
                  <p:embed/>
                  <p:pic>
                    <p:nvPicPr>
                      <p:cNvPr id="0" name="对象 34714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2336800"/>
                        <a:ext cx="311467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7144" name="文本框 347143"/>
          <p:cNvSpPr txBox="1"/>
          <p:nvPr/>
        </p:nvSpPr>
        <p:spPr>
          <a:xfrm>
            <a:off x="250825" y="1266825"/>
            <a:ext cx="7777163" cy="1016000"/>
          </a:xfrm>
          <a:prstGeom prst="rect">
            <a:avLst/>
          </a:prstGeom>
          <a:noFill/>
          <a:ln w="317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质量为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m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的自由粒子，沿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方向运动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在</a:t>
            </a: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非相对论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下能量和动量的关系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347145" name="文本框 347144"/>
          <p:cNvSpPr txBox="1"/>
          <p:nvPr/>
        </p:nvSpPr>
        <p:spPr>
          <a:xfrm>
            <a:off x="2914650" y="3200400"/>
            <a:ext cx="3311525" cy="457200"/>
          </a:xfrm>
          <a:prstGeom prst="rect">
            <a:avLst/>
          </a:prstGeom>
          <a:noFill/>
          <a:ln w="317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应该是薛定谔方程的</a:t>
            </a:r>
            <a:r>
              <a:rPr lang="zh-CN" altLang="en-US" b="1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347146" name="矩形 347145"/>
          <p:cNvSpPr/>
          <p:nvPr/>
        </p:nvSpPr>
        <p:spPr>
          <a:xfrm>
            <a:off x="250825" y="2536825"/>
            <a:ext cx="27892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自由粒子的</a:t>
            </a:r>
            <a:r>
              <a:rPr lang="zh-CN" altLang="en-US" b="1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波函数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514350" y="403225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CC"/>
              </a:buClr>
              <a:buFontTx/>
              <a:buNone/>
            </a:pPr>
            <a:r>
              <a:rPr lang="zh-CN" altLang="en-US" sz="2400" b="1" baseline="0">
                <a:latin typeface="华文楷体" panose="02010600040101010101" pitchFamily="2" charset="-122"/>
                <a:ea typeface="华文楷体" panose="02010600040101010101" pitchFamily="2" charset="-122"/>
              </a:rPr>
              <a:t>微分</a:t>
            </a:r>
          </a:p>
        </p:txBody>
      </p:sp>
      <p:graphicFrame>
        <p:nvGraphicFramePr>
          <p:cNvPr id="10" name="对象 9"/>
          <p:cNvGraphicFramePr/>
          <p:nvPr/>
        </p:nvGraphicFramePr>
        <p:xfrm>
          <a:off x="1558925" y="3889375"/>
          <a:ext cx="27320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8" r:id="rId7" imgW="2286000" imgH="624205" progId="Equation.3">
                  <p:embed/>
                </p:oleObj>
              </mc:Choice>
              <mc:Fallback>
                <p:oleObj r:id="rId7" imgW="2286000" imgH="624205" progId="Equation.3">
                  <p:embed/>
                  <p:pic>
                    <p:nvPicPr>
                      <p:cNvPr id="0" name="对象 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3889375"/>
                        <a:ext cx="273208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1476375" y="5776913"/>
          <a:ext cx="31908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9" r:id="rId9" imgW="2330450" imgH="680085" progId="Equation.3">
                  <p:embed/>
                </p:oleObj>
              </mc:Choice>
              <mc:Fallback>
                <p:oleObj r:id="rId9" imgW="2330450" imgH="680085" progId="Equation.3">
                  <p:embed/>
                  <p:pic>
                    <p:nvPicPr>
                      <p:cNvPr id="0" name="对象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776913"/>
                        <a:ext cx="319087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1565275" y="4840288"/>
          <a:ext cx="30019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0" r:id="rId11" imgW="2118995" imgH="624205" progId="Equation.3">
                  <p:embed/>
                </p:oleObj>
              </mc:Choice>
              <mc:Fallback>
                <p:oleObj r:id="rId11" imgW="2118995" imgH="624205" progId="Equation.3">
                  <p:embed/>
                  <p:pic>
                    <p:nvPicPr>
                      <p:cNvPr id="0" name="对象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4840288"/>
                        <a:ext cx="30019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椭圆 12"/>
          <p:cNvSpPr>
            <a:spLocks noChangeArrowheads="1"/>
          </p:cNvSpPr>
          <p:nvPr/>
        </p:nvSpPr>
        <p:spPr bwMode="auto">
          <a:xfrm>
            <a:off x="1727200" y="3829050"/>
            <a:ext cx="922338" cy="520700"/>
          </a:xfrm>
          <a:prstGeom prst="ellipse">
            <a:avLst/>
          </a:prstGeom>
          <a:noFill/>
          <a:ln w="25400">
            <a:solidFill>
              <a:srgbClr val="CC33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14" name="椭圆 13"/>
          <p:cNvSpPr>
            <a:spLocks noChangeArrowheads="1"/>
          </p:cNvSpPr>
          <p:nvPr/>
        </p:nvSpPr>
        <p:spPr bwMode="auto">
          <a:xfrm>
            <a:off x="3455988" y="4032250"/>
            <a:ext cx="1084262" cy="533400"/>
          </a:xfrm>
          <a:prstGeom prst="ellipse">
            <a:avLst/>
          </a:prstGeom>
          <a:noFill/>
          <a:ln w="25400">
            <a:solidFill>
              <a:srgbClr val="CC33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15" name="椭圆 14"/>
          <p:cNvSpPr>
            <a:spLocks noChangeArrowheads="1"/>
          </p:cNvSpPr>
          <p:nvPr/>
        </p:nvSpPr>
        <p:spPr bwMode="auto">
          <a:xfrm>
            <a:off x="1797050" y="4779963"/>
            <a:ext cx="981075" cy="506412"/>
          </a:xfrm>
          <a:prstGeom prst="ellipse">
            <a:avLst/>
          </a:prstGeom>
          <a:noFill/>
          <a:ln w="25400">
            <a:solidFill>
              <a:srgbClr val="CC33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16" name="椭圆 15"/>
          <p:cNvSpPr>
            <a:spLocks noChangeArrowheads="1"/>
          </p:cNvSpPr>
          <p:nvPr/>
        </p:nvSpPr>
        <p:spPr bwMode="auto">
          <a:xfrm>
            <a:off x="3527425" y="4968875"/>
            <a:ext cx="1168400" cy="590550"/>
          </a:xfrm>
          <a:prstGeom prst="ellipse">
            <a:avLst/>
          </a:prstGeom>
          <a:noFill/>
          <a:ln w="25400">
            <a:solidFill>
              <a:srgbClr val="CC33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17" name="椭圆 16"/>
          <p:cNvSpPr>
            <a:spLocks noChangeArrowheads="1"/>
          </p:cNvSpPr>
          <p:nvPr/>
        </p:nvSpPr>
        <p:spPr bwMode="auto">
          <a:xfrm>
            <a:off x="1841500" y="5775325"/>
            <a:ext cx="981075" cy="506413"/>
          </a:xfrm>
          <a:prstGeom prst="ellipse">
            <a:avLst/>
          </a:prstGeom>
          <a:noFill/>
          <a:ln w="25400">
            <a:solidFill>
              <a:srgbClr val="CC33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18" name="椭圆 17"/>
          <p:cNvSpPr>
            <a:spLocks noChangeArrowheads="1"/>
          </p:cNvSpPr>
          <p:nvPr/>
        </p:nvSpPr>
        <p:spPr bwMode="auto">
          <a:xfrm>
            <a:off x="3644900" y="5992813"/>
            <a:ext cx="1168400" cy="533400"/>
          </a:xfrm>
          <a:prstGeom prst="ellipse">
            <a:avLst/>
          </a:prstGeom>
          <a:noFill/>
          <a:ln w="25400">
            <a:solidFill>
              <a:srgbClr val="CC33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673850" y="3189288"/>
            <a:ext cx="2522538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aphicFrame>
        <p:nvGraphicFramePr>
          <p:cNvPr id="20" name="对象 19"/>
          <p:cNvGraphicFramePr/>
          <p:nvPr/>
        </p:nvGraphicFramePr>
        <p:xfrm>
          <a:off x="6958013" y="3108325"/>
          <a:ext cx="1589087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1" r:id="rId13" imgW="735965" imgH="431800" progId="Equation.3">
                  <p:embed/>
                </p:oleObj>
              </mc:Choice>
              <mc:Fallback>
                <p:oleObj r:id="rId13" imgW="735965" imgH="431800" progId="Equation.3">
                  <p:embed/>
                  <p:pic>
                    <p:nvPicPr>
                      <p:cNvPr id="0" name="对象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8013" y="3108325"/>
                        <a:ext cx="1589087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/>
          <p:nvPr/>
        </p:nvGraphicFramePr>
        <p:xfrm>
          <a:off x="6689725" y="5108575"/>
          <a:ext cx="192881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2" r:id="rId15" imgW="1016000" imgH="457200" progId="Equation.3">
                  <p:embed/>
                </p:oleObj>
              </mc:Choice>
              <mc:Fallback>
                <p:oleObj r:id="rId15" imgW="1016000" imgH="457200" progId="Equation.3">
                  <p:embed/>
                  <p:pic>
                    <p:nvPicPr>
                      <p:cNvPr id="0" name="对象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725" y="5108575"/>
                        <a:ext cx="1928813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/>
          <p:nvPr/>
        </p:nvGraphicFramePr>
        <p:xfrm>
          <a:off x="6789738" y="4084638"/>
          <a:ext cx="17780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3" r:id="rId17" imgW="913765" imgH="431800" progId="Equation.3">
                  <p:embed/>
                </p:oleObj>
              </mc:Choice>
              <mc:Fallback>
                <p:oleObj r:id="rId17" imgW="913765" imgH="431800" progId="Equation.3">
                  <p:embed/>
                  <p:pic>
                    <p:nvPicPr>
                      <p:cNvPr id="0" name="对象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9738" y="4084638"/>
                        <a:ext cx="177800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7165975" y="2562225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baseline="0">
                <a:solidFill>
                  <a:srgbClr val="CC3300"/>
                </a:solidFill>
                <a:ea typeface="楷体_GB2312" pitchFamily="49" charset="-122"/>
              </a:rPr>
              <a:t>注意到</a:t>
            </a: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6384925" y="3108325"/>
            <a:ext cx="2667000" cy="3552825"/>
          </a:xfrm>
          <a:prstGeom prst="rect">
            <a:avLst/>
          </a:prstGeom>
          <a:noFill/>
          <a:ln w="38100" cap="rnd">
            <a:solidFill>
              <a:srgbClr val="CC33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25" name="文本框 24"/>
          <p:cNvSpPr txBox="1">
            <a:spLocks noChangeArrowheads="1"/>
          </p:cNvSpPr>
          <p:nvPr/>
        </p:nvSpPr>
        <p:spPr bwMode="auto">
          <a:xfrm>
            <a:off x="6918325" y="6022975"/>
            <a:ext cx="19812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 baseline="0">
                <a:solidFill>
                  <a:srgbClr val="CC3300"/>
                </a:solidFill>
                <a:ea typeface="楷体_GB2312" pitchFamily="49" charset="-122"/>
              </a:rPr>
              <a:t>替换关系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7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7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7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4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4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42" grpId="0" build="p"/>
      <p:bldP spid="347144" grpId="0" uiExpand="1" build="p"/>
      <p:bldP spid="347145" grpId="0"/>
      <p:bldP spid="347146" grpId="0"/>
      <p:bldP spid="9" grpId="0"/>
      <p:bldP spid="23" grpId="0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1" name="文本框 350210"/>
          <p:cNvSpPr txBox="1"/>
          <p:nvPr/>
        </p:nvSpPr>
        <p:spPr>
          <a:xfrm>
            <a:off x="684213" y="1700213"/>
            <a:ext cx="4953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将替换关系代入写成</a:t>
            </a:r>
          </a:p>
        </p:txBody>
      </p:sp>
      <p:graphicFrame>
        <p:nvGraphicFramePr>
          <p:cNvPr id="350212" name="对象 350211"/>
          <p:cNvGraphicFramePr/>
          <p:nvPr/>
        </p:nvGraphicFramePr>
        <p:xfrm>
          <a:off x="1619250" y="2252663"/>
          <a:ext cx="243363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1" r:id="rId3" imgW="1249045" imgH="457200" progId="Equation.3">
                  <p:embed/>
                </p:oleObj>
              </mc:Choice>
              <mc:Fallback>
                <p:oleObj r:id="rId3" imgW="1249045" imgH="457200" progId="Equation.3">
                  <p:embed/>
                  <p:pic>
                    <p:nvPicPr>
                      <p:cNvPr id="0" name="对象 35021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252663"/>
                        <a:ext cx="2433638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13" name="文本框 350212"/>
          <p:cNvSpPr txBox="1"/>
          <p:nvPr/>
        </p:nvSpPr>
        <p:spPr>
          <a:xfrm>
            <a:off x="690563" y="4051300"/>
            <a:ext cx="678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得到自由粒子满足的薛定谔方程</a:t>
            </a:r>
          </a:p>
        </p:txBody>
      </p:sp>
      <p:sp>
        <p:nvSpPr>
          <p:cNvPr id="350214" name="文本框 350213"/>
          <p:cNvSpPr txBox="1"/>
          <p:nvPr/>
        </p:nvSpPr>
        <p:spPr>
          <a:xfrm>
            <a:off x="684213" y="3475038"/>
            <a:ext cx="525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令上述关系作用于波函数</a:t>
            </a:r>
          </a:p>
        </p:txBody>
      </p:sp>
      <p:graphicFrame>
        <p:nvGraphicFramePr>
          <p:cNvPr id="350215" name="对象 350214"/>
          <p:cNvGraphicFramePr/>
          <p:nvPr/>
        </p:nvGraphicFramePr>
        <p:xfrm>
          <a:off x="4495800" y="3514725"/>
          <a:ext cx="11842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2" r:id="rId5" imgW="535305" imgH="200660" progId="Equation.3">
                  <p:embed/>
                </p:oleObj>
              </mc:Choice>
              <mc:Fallback>
                <p:oleObj r:id="rId5" imgW="535305" imgH="200660" progId="Equation.3">
                  <p:embed/>
                  <p:pic>
                    <p:nvPicPr>
                      <p:cNvPr id="0" name="对象 35021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514725"/>
                        <a:ext cx="11842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6" name="对象 350215"/>
          <p:cNvGraphicFramePr/>
          <p:nvPr/>
        </p:nvGraphicFramePr>
        <p:xfrm>
          <a:off x="958850" y="4851400"/>
          <a:ext cx="4557713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3" r:id="rId7" imgW="2408555" imgH="457200" progId="Equation.3">
                  <p:embed/>
                </p:oleObj>
              </mc:Choice>
              <mc:Fallback>
                <p:oleObj r:id="rId7" imgW="2408555" imgH="457200" progId="Equation.3">
                  <p:embed/>
                  <p:pic>
                    <p:nvPicPr>
                      <p:cNvPr id="0" name="对象 35021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4851400"/>
                        <a:ext cx="4557713" cy="9699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CC33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0217" name="组合 350216"/>
          <p:cNvGrpSpPr/>
          <p:nvPr/>
        </p:nvGrpSpPr>
        <p:grpSpPr bwMode="auto">
          <a:xfrm>
            <a:off x="738188" y="5988050"/>
            <a:ext cx="5153025" cy="609600"/>
            <a:chOff x="2256" y="3744"/>
            <a:chExt cx="3456" cy="384"/>
          </a:xfrm>
        </p:grpSpPr>
        <p:sp>
          <p:nvSpPr>
            <p:cNvPr id="63507" name="矩形 350217"/>
            <p:cNvSpPr>
              <a:spLocks noChangeArrowheads="1"/>
            </p:cNvSpPr>
            <p:nvPr/>
          </p:nvSpPr>
          <p:spPr bwMode="auto">
            <a:xfrm>
              <a:off x="2304" y="3744"/>
              <a:ext cx="3408" cy="384"/>
            </a:xfrm>
            <a:prstGeom prst="rect">
              <a:avLst/>
            </a:prstGeom>
            <a:solidFill>
              <a:srgbClr val="CC3300"/>
            </a:solidFill>
            <a:ln w="38100" cmpd="dbl">
              <a:solidFill>
                <a:srgbClr val="FFFF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63508" name="文本框 350218"/>
            <p:cNvSpPr txBox="1">
              <a:spLocks noChangeArrowheads="1"/>
            </p:cNvSpPr>
            <p:nvPr/>
          </p:nvSpPr>
          <p:spPr bwMode="auto">
            <a:xfrm>
              <a:off x="2256" y="3818"/>
              <a:ext cx="30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aseline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zh-CN" altLang="en-US" sz="2400" baseline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自由粒子一维含时薛定谔方程</a:t>
              </a:r>
            </a:p>
          </p:txBody>
        </p:sp>
      </p:grpSp>
      <p:sp>
        <p:nvSpPr>
          <p:cNvPr id="350220" name="矩形 350219"/>
          <p:cNvSpPr>
            <a:spLocks noChangeArrowheads="1"/>
          </p:cNvSpPr>
          <p:nvPr/>
        </p:nvSpPr>
        <p:spPr bwMode="auto">
          <a:xfrm>
            <a:off x="6513513" y="1355725"/>
            <a:ext cx="2522537" cy="388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aphicFrame>
        <p:nvGraphicFramePr>
          <p:cNvPr id="63498" name="对象 350220"/>
          <p:cNvGraphicFramePr/>
          <p:nvPr/>
        </p:nvGraphicFramePr>
        <p:xfrm>
          <a:off x="6865938" y="236538"/>
          <a:ext cx="1589087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4" r:id="rId9" imgW="735965" imgH="431800" progId="Equation.3">
                  <p:embed/>
                </p:oleObj>
              </mc:Choice>
              <mc:Fallback>
                <p:oleObj r:id="rId9" imgW="735965" imgH="431800" progId="Equation.3">
                  <p:embed/>
                  <p:pic>
                    <p:nvPicPr>
                      <p:cNvPr id="0" name="对象 35022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5938" y="236538"/>
                        <a:ext cx="1589087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9" name="对象 350221"/>
          <p:cNvGraphicFramePr/>
          <p:nvPr/>
        </p:nvGraphicFramePr>
        <p:xfrm>
          <a:off x="6686550" y="2827338"/>
          <a:ext cx="192881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5" r:id="rId11" imgW="1016000" imgH="457200" progId="Equation.3">
                  <p:embed/>
                </p:oleObj>
              </mc:Choice>
              <mc:Fallback>
                <p:oleObj r:id="rId11" imgW="1016000" imgH="457200" progId="Equation.3">
                  <p:embed/>
                  <p:pic>
                    <p:nvPicPr>
                      <p:cNvPr id="0" name="对象 35022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550" y="2827338"/>
                        <a:ext cx="1928813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0" name="对象 350222"/>
          <p:cNvGraphicFramePr/>
          <p:nvPr/>
        </p:nvGraphicFramePr>
        <p:xfrm>
          <a:off x="6750050" y="1531938"/>
          <a:ext cx="17780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6" r:id="rId13" imgW="913765" imgH="431800" progId="Equation.3">
                  <p:embed/>
                </p:oleObj>
              </mc:Choice>
              <mc:Fallback>
                <p:oleObj r:id="rId13" imgW="913765" imgH="431800" progId="Equation.3">
                  <p:embed/>
                  <p:pic>
                    <p:nvPicPr>
                      <p:cNvPr id="0" name="对象 350222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0050" y="1531938"/>
                        <a:ext cx="177800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1" name="矩形 350223"/>
          <p:cNvSpPr>
            <a:spLocks noChangeArrowheads="1"/>
          </p:cNvSpPr>
          <p:nvPr/>
        </p:nvSpPr>
        <p:spPr bwMode="auto">
          <a:xfrm>
            <a:off x="6381750" y="188913"/>
            <a:ext cx="2667000" cy="4191000"/>
          </a:xfrm>
          <a:prstGeom prst="rect">
            <a:avLst/>
          </a:prstGeom>
          <a:noFill/>
          <a:ln w="38100" cap="rnd">
            <a:solidFill>
              <a:srgbClr val="CC33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63502" name="文本框 350224"/>
          <p:cNvSpPr txBox="1">
            <a:spLocks noChangeArrowheads="1"/>
          </p:cNvSpPr>
          <p:nvPr/>
        </p:nvSpPr>
        <p:spPr bwMode="auto">
          <a:xfrm>
            <a:off x="6915150" y="3741738"/>
            <a:ext cx="19812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 baseline="0">
                <a:solidFill>
                  <a:srgbClr val="CC3300"/>
                </a:solidFill>
                <a:ea typeface="楷体_GB2312" pitchFamily="49" charset="-122"/>
              </a:rPr>
              <a:t>替换关系</a:t>
            </a:r>
          </a:p>
        </p:txBody>
      </p:sp>
      <p:sp>
        <p:nvSpPr>
          <p:cNvPr id="350228" name="文本框 350227"/>
          <p:cNvSpPr txBox="1"/>
          <p:nvPr/>
        </p:nvSpPr>
        <p:spPr>
          <a:xfrm>
            <a:off x="684213" y="260350"/>
            <a:ext cx="7696200" cy="1014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</a:rPr>
              <a:t>非相对论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</a:rPr>
              <a:t>自由粒子能量动量关系式</a:t>
            </a:r>
          </a:p>
          <a:p>
            <a:pPr eaLnBrk="1" hangingPunct="1">
              <a:spcBef>
                <a:spcPct val="50000"/>
              </a:spcBef>
              <a:defRPr/>
            </a:pPr>
            <a:endParaRPr lang="zh-CN" altLang="en-US" b="1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楷体_GB2312" pitchFamily="49" charset="-122"/>
            </a:endParaRPr>
          </a:p>
        </p:txBody>
      </p:sp>
      <p:graphicFrame>
        <p:nvGraphicFramePr>
          <p:cNvPr id="64529" name="对象 350228"/>
          <p:cNvGraphicFramePr/>
          <p:nvPr/>
        </p:nvGraphicFramePr>
        <p:xfrm>
          <a:off x="2700338" y="692150"/>
          <a:ext cx="1389062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7" r:id="rId15" imgW="858520" imgH="669290" progId="Equation.3">
                  <p:embed/>
                </p:oleObj>
              </mc:Choice>
              <mc:Fallback>
                <p:oleObj r:id="rId15" imgW="858520" imgH="669290" progId="Equation.3">
                  <p:embed/>
                  <p:pic>
                    <p:nvPicPr>
                      <p:cNvPr id="0" name="对象 350228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692150"/>
                        <a:ext cx="1389062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30" name="闪电形 350229"/>
          <p:cNvSpPr>
            <a:spLocks noChangeArrowheads="1"/>
          </p:cNvSpPr>
          <p:nvPr/>
        </p:nvSpPr>
        <p:spPr bwMode="auto">
          <a:xfrm rot="9890997">
            <a:off x="4595813" y="1160463"/>
            <a:ext cx="1562100" cy="1274762"/>
          </a:xfrm>
          <a:prstGeom prst="lightningBol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347158" name="文本框 347157"/>
          <p:cNvSpPr txBox="1"/>
          <p:nvPr/>
        </p:nvSpPr>
        <p:spPr>
          <a:xfrm>
            <a:off x="6156325" y="4851400"/>
            <a:ext cx="2987675" cy="13430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将自由粒子波函数代入可以验证该方程</a:t>
            </a:r>
            <a:r>
              <a:rPr lang="en-US" altLang="zh-CN" b="1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(</a:t>
            </a: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练习</a:t>
            </a:r>
            <a:r>
              <a:rPr lang="en-US" altLang="zh-CN" b="1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)</a:t>
            </a:r>
            <a:endParaRPr lang="zh-CN" altLang="en-US" b="1" baseline="0" noProof="1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3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3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47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1" grpId="0"/>
      <p:bldP spid="350213" grpId="0"/>
      <p:bldP spid="350214" grpId="0"/>
      <p:bldP spid="350228" grpId="0"/>
      <p:bldP spid="347158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5" name="文本框 351234"/>
          <p:cNvSpPr txBox="1">
            <a:spLocks noChangeArrowheads="1"/>
          </p:cNvSpPr>
          <p:nvPr/>
        </p:nvSpPr>
        <p:spPr bwMode="auto">
          <a:xfrm>
            <a:off x="250825" y="260350"/>
            <a:ext cx="64008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aseline="0">
                <a:ea typeface="黑体" panose="02010609060101010101" pitchFamily="49" charset="-122"/>
              </a:rPr>
              <a:t>2</a:t>
            </a:r>
            <a:r>
              <a:rPr lang="zh-CN" altLang="en-US" sz="2800" baseline="0">
                <a:ea typeface="黑体" panose="02010609060101010101" pitchFamily="49" charset="-122"/>
              </a:rPr>
              <a:t>、势场</a:t>
            </a:r>
            <a:r>
              <a:rPr lang="zh-CN" altLang="zh-CN" sz="2800" baseline="0">
                <a:ea typeface="黑体" panose="02010609060101010101" pitchFamily="49" charset="-122"/>
              </a:rPr>
              <a:t>中粒子的薛定谔方程</a:t>
            </a:r>
            <a:endParaRPr lang="zh-CN" altLang="en-US" sz="2800" baseline="0"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aseline="0">
                <a:solidFill>
                  <a:schemeClr val="accent2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</a:t>
            </a:r>
            <a:r>
              <a:rPr lang="en-US" altLang="zh-CN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.</a:t>
            </a:r>
            <a:r>
              <a:rPr lang="zh-CN" altLang="en-US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一维势场</a:t>
            </a:r>
            <a:r>
              <a:rPr lang="en-US" altLang="zh-CN" sz="2800" i="1" baseline="0">
                <a:solidFill>
                  <a:schemeClr val="accent2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en-US" altLang="zh-CN" sz="2800" i="1" baseline="0">
                <a:solidFill>
                  <a:schemeClr val="accent2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800" i="1" baseline="0">
                <a:solidFill>
                  <a:schemeClr val="accent2"/>
                </a:solidFill>
                <a:ea typeface="黑体" panose="02010609060101010101" pitchFamily="49" charset="-122"/>
              </a:rPr>
              <a:t>t</a:t>
            </a:r>
            <a:r>
              <a:rPr lang="en-US" altLang="zh-CN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) </a:t>
            </a:r>
            <a:r>
              <a:rPr lang="zh-CN" altLang="en-US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中的粒子</a:t>
            </a:r>
          </a:p>
        </p:txBody>
      </p:sp>
      <p:graphicFrame>
        <p:nvGraphicFramePr>
          <p:cNvPr id="351236" name="对象 351235"/>
          <p:cNvGraphicFramePr/>
          <p:nvPr/>
        </p:nvGraphicFramePr>
        <p:xfrm>
          <a:off x="2640013" y="1484313"/>
          <a:ext cx="27463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0" r:id="rId3" imgW="1271270" imgH="457200" progId="Equation.3">
                  <p:embed/>
                </p:oleObj>
              </mc:Choice>
              <mc:Fallback>
                <p:oleObj r:id="rId3" imgW="1271270" imgH="457200" progId="Equation.3">
                  <p:embed/>
                  <p:pic>
                    <p:nvPicPr>
                      <p:cNvPr id="0" name="对象 35123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1484313"/>
                        <a:ext cx="274637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37" name="文本框 351236"/>
          <p:cNvSpPr txBox="1">
            <a:spLocks noChangeArrowheads="1"/>
          </p:cNvSpPr>
          <p:nvPr/>
        </p:nvSpPr>
        <p:spPr bwMode="auto">
          <a:xfrm>
            <a:off x="768350" y="174466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aseline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粒子总能量</a:t>
            </a:r>
          </a:p>
        </p:txBody>
      </p:sp>
      <p:sp>
        <p:nvSpPr>
          <p:cNvPr id="351238" name="文本框 351237"/>
          <p:cNvSpPr txBox="1">
            <a:spLocks noChangeArrowheads="1"/>
          </p:cNvSpPr>
          <p:nvPr/>
        </p:nvSpPr>
        <p:spPr bwMode="auto">
          <a:xfrm>
            <a:off x="695325" y="2716213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aseline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替换后关系式</a:t>
            </a:r>
          </a:p>
        </p:txBody>
      </p:sp>
      <p:graphicFrame>
        <p:nvGraphicFramePr>
          <p:cNvPr id="351239" name="对象 351238"/>
          <p:cNvGraphicFramePr/>
          <p:nvPr/>
        </p:nvGraphicFramePr>
        <p:xfrm>
          <a:off x="2894013" y="2462213"/>
          <a:ext cx="333375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1" r:id="rId5" imgW="1917700" imgH="457200" progId="Equation.3">
                  <p:embed/>
                </p:oleObj>
              </mc:Choice>
              <mc:Fallback>
                <p:oleObj r:id="rId5" imgW="1917700" imgH="457200" progId="Equation.3">
                  <p:embed/>
                  <p:pic>
                    <p:nvPicPr>
                      <p:cNvPr id="0" name="对象 35123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013" y="2462213"/>
                        <a:ext cx="333375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0" name="对象 351239"/>
          <p:cNvGraphicFramePr/>
          <p:nvPr/>
        </p:nvGraphicFramePr>
        <p:xfrm>
          <a:off x="6865938" y="1152525"/>
          <a:ext cx="1589087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2" r:id="rId7" imgW="735965" imgH="431800" progId="Equation.3">
                  <p:embed/>
                </p:oleObj>
              </mc:Choice>
              <mc:Fallback>
                <p:oleObj r:id="rId7" imgW="735965" imgH="431800" progId="Equation.3">
                  <p:embed/>
                  <p:pic>
                    <p:nvPicPr>
                      <p:cNvPr id="0" name="对象 35123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5938" y="1152525"/>
                        <a:ext cx="1589087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1" name="对象 351240"/>
          <p:cNvGraphicFramePr/>
          <p:nvPr/>
        </p:nvGraphicFramePr>
        <p:xfrm>
          <a:off x="6686550" y="3743325"/>
          <a:ext cx="192881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3" r:id="rId9" imgW="1016000" imgH="457200" progId="Equation.3">
                  <p:embed/>
                </p:oleObj>
              </mc:Choice>
              <mc:Fallback>
                <p:oleObj r:id="rId9" imgW="1016000" imgH="457200" progId="Equation.3">
                  <p:embed/>
                  <p:pic>
                    <p:nvPicPr>
                      <p:cNvPr id="0" name="对象 35124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550" y="3743325"/>
                        <a:ext cx="1928813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2" name="对象 351241"/>
          <p:cNvGraphicFramePr/>
          <p:nvPr/>
        </p:nvGraphicFramePr>
        <p:xfrm>
          <a:off x="6750050" y="2447925"/>
          <a:ext cx="17780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4" r:id="rId11" imgW="913765" imgH="431800" progId="Equation.3">
                  <p:embed/>
                </p:oleObj>
              </mc:Choice>
              <mc:Fallback>
                <p:oleObj r:id="rId11" imgW="913765" imgH="431800" progId="Equation.3">
                  <p:embed/>
                  <p:pic>
                    <p:nvPicPr>
                      <p:cNvPr id="0" name="对象 35124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0050" y="2447925"/>
                        <a:ext cx="177800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3" name="矩形 351242"/>
          <p:cNvSpPr>
            <a:spLocks noChangeArrowheads="1"/>
          </p:cNvSpPr>
          <p:nvPr/>
        </p:nvSpPr>
        <p:spPr bwMode="auto">
          <a:xfrm>
            <a:off x="6381750" y="1104900"/>
            <a:ext cx="2667000" cy="4191000"/>
          </a:xfrm>
          <a:prstGeom prst="rect">
            <a:avLst/>
          </a:prstGeom>
          <a:noFill/>
          <a:ln w="38100" cap="rnd">
            <a:solidFill>
              <a:srgbClr val="CC33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351244" name="文本框 351243"/>
          <p:cNvSpPr txBox="1">
            <a:spLocks noChangeArrowheads="1"/>
          </p:cNvSpPr>
          <p:nvPr/>
        </p:nvSpPr>
        <p:spPr bwMode="auto">
          <a:xfrm>
            <a:off x="6915150" y="4657725"/>
            <a:ext cx="19812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 baseline="0">
                <a:solidFill>
                  <a:srgbClr val="CC3300"/>
                </a:solidFill>
                <a:ea typeface="楷体_GB2312" pitchFamily="49" charset="-122"/>
              </a:rPr>
              <a:t>替换关系</a:t>
            </a:r>
          </a:p>
        </p:txBody>
      </p:sp>
      <p:graphicFrame>
        <p:nvGraphicFramePr>
          <p:cNvPr id="351245" name="对象 351244"/>
          <p:cNvGraphicFramePr/>
          <p:nvPr/>
        </p:nvGraphicFramePr>
        <p:xfrm>
          <a:off x="611188" y="5373688"/>
          <a:ext cx="6007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5" r:id="rId13" imgW="3044190" imgH="457200" progId="Equation.3">
                  <p:embed/>
                </p:oleObj>
              </mc:Choice>
              <mc:Fallback>
                <p:oleObj r:id="rId13" imgW="3044190" imgH="457200" progId="Equation.3">
                  <p:embed/>
                  <p:pic>
                    <p:nvPicPr>
                      <p:cNvPr id="0" name="对象 351244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73688"/>
                        <a:ext cx="6007100" cy="1079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CC33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6" name="文本框 351245"/>
          <p:cNvSpPr txBox="1">
            <a:spLocks noChangeArrowheads="1"/>
          </p:cNvSpPr>
          <p:nvPr/>
        </p:nvSpPr>
        <p:spPr bwMode="auto">
          <a:xfrm>
            <a:off x="695325" y="3595688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aseline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aseline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令其作用于波函数</a:t>
            </a:r>
          </a:p>
        </p:txBody>
      </p:sp>
      <p:graphicFrame>
        <p:nvGraphicFramePr>
          <p:cNvPr id="351247" name="对象 351246"/>
          <p:cNvGraphicFramePr/>
          <p:nvPr/>
        </p:nvGraphicFramePr>
        <p:xfrm>
          <a:off x="3636963" y="3670300"/>
          <a:ext cx="1079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6" r:id="rId15" imgW="481965" imgH="203200" progId="Equation.3">
                  <p:embed/>
                </p:oleObj>
              </mc:Choice>
              <mc:Fallback>
                <p:oleObj r:id="rId15" imgW="481965" imgH="203200" progId="Equation.3">
                  <p:embed/>
                  <p:pic>
                    <p:nvPicPr>
                      <p:cNvPr id="0" name="对象 351246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3670300"/>
                        <a:ext cx="1079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8" name="文本框 351247"/>
          <p:cNvSpPr txBox="1">
            <a:spLocks noChangeArrowheads="1"/>
          </p:cNvSpPr>
          <p:nvPr/>
        </p:nvSpPr>
        <p:spPr bwMode="auto">
          <a:xfrm>
            <a:off x="695325" y="4348163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aseline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得到一维势场中粒子满足的薛定谔方程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5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5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5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3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3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5" grpId="0" uiExpand="1" build="p"/>
      <p:bldP spid="351237" grpId="0"/>
      <p:bldP spid="351238" grpId="0"/>
      <p:bldP spid="351244" grpId="0"/>
      <p:bldP spid="351246" grpId="0"/>
      <p:bldP spid="35124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259" name="内容占位符 352258"/>
          <p:cNvGraphicFramePr>
            <a:graphicFrameLocks noGrp="1"/>
          </p:cNvGraphicFramePr>
          <p:nvPr>
            <p:ph sz="half" idx="1"/>
          </p:nvPr>
        </p:nvGraphicFramePr>
        <p:xfrm>
          <a:off x="3849688" y="2565400"/>
          <a:ext cx="436562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7" r:id="rId3" imgW="2029460" imgH="490855" progId="Equation.DSMT4">
                  <p:embed/>
                </p:oleObj>
              </mc:Choice>
              <mc:Fallback>
                <p:oleObj r:id="rId3" imgW="2029460" imgH="490855" progId="Equation.DSMT4">
                  <p:embed/>
                  <p:pic>
                    <p:nvPicPr>
                      <p:cNvPr id="0" name="内容占位符 35225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688" y="2565400"/>
                        <a:ext cx="436562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9" name="内容占位符 352259"/>
          <p:cNvGraphicFramePr>
            <a:graphicFrameLocks noGrp="1"/>
          </p:cNvGraphicFramePr>
          <p:nvPr>
            <p:ph sz="quarter" idx="2"/>
          </p:nvPr>
        </p:nvGraphicFramePr>
        <p:xfrm>
          <a:off x="1433513" y="115888"/>
          <a:ext cx="61737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8" r:id="rId5" imgW="3044190" imgH="457200" progId="Equation.3">
                  <p:embed/>
                </p:oleObj>
              </mc:Choice>
              <mc:Fallback>
                <p:oleObj r:id="rId5" imgW="3044190" imgH="457200" progId="Equation.3">
                  <p:embed/>
                  <p:pic>
                    <p:nvPicPr>
                      <p:cNvPr id="0" name="内容占位符 352259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115888"/>
                        <a:ext cx="6173787" cy="9842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CC33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61" name="文本框 352260"/>
          <p:cNvSpPr txBox="1">
            <a:spLocks noChangeArrowheads="1"/>
          </p:cNvSpPr>
          <p:nvPr/>
        </p:nvSpPr>
        <p:spPr bwMode="auto">
          <a:xfrm>
            <a:off x="1692275" y="1255713"/>
            <a:ext cx="5113338" cy="557212"/>
          </a:xfrm>
          <a:prstGeom prst="rect">
            <a:avLst/>
          </a:prstGeom>
          <a:solidFill>
            <a:srgbClr val="CC3300"/>
          </a:solidFill>
          <a:ln w="38100" cmpd="dbl">
            <a:solidFill>
              <a:srgbClr val="FFFF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FFFF00"/>
                </a:solidFill>
                <a:ea typeface="华文楷体" panose="02010600040101010101" pitchFamily="2" charset="-122"/>
              </a:rPr>
              <a:t>一维势场中的含时薛定谔方程</a:t>
            </a:r>
          </a:p>
        </p:txBody>
      </p:sp>
      <p:sp>
        <p:nvSpPr>
          <p:cNvPr id="352262" name="文本框 352261"/>
          <p:cNvSpPr txBox="1">
            <a:spLocks noChangeArrowheads="1"/>
          </p:cNvSpPr>
          <p:nvPr/>
        </p:nvSpPr>
        <p:spPr bwMode="auto">
          <a:xfrm>
            <a:off x="323850" y="1844675"/>
            <a:ext cx="632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aseline="0">
                <a:solidFill>
                  <a:schemeClr val="accent2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</a:t>
            </a:r>
            <a:r>
              <a:rPr lang="zh-CN" altLang="en-US" sz="2800" baseline="0">
                <a:solidFill>
                  <a:schemeClr val="accent2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zh-CN" altLang="en-US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三维势场中粒子的薛定谔方程</a:t>
            </a:r>
          </a:p>
        </p:txBody>
      </p:sp>
      <p:graphicFrame>
        <p:nvGraphicFramePr>
          <p:cNvPr id="352264" name="对象 352263"/>
          <p:cNvGraphicFramePr/>
          <p:nvPr/>
        </p:nvGraphicFramePr>
        <p:xfrm>
          <a:off x="1543050" y="5445125"/>
          <a:ext cx="6602413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9" r:id="rId7" imgW="3936365" imgH="724535" progId="Equation.3">
                  <p:embed/>
                </p:oleObj>
              </mc:Choice>
              <mc:Fallback>
                <p:oleObj r:id="rId7" imgW="3936365" imgH="724535" progId="Equation.3">
                  <p:embed/>
                  <p:pic>
                    <p:nvPicPr>
                      <p:cNvPr id="0" name="对象 35226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5445125"/>
                        <a:ext cx="6602413" cy="113506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CC33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65" name="文本框 352264"/>
          <p:cNvSpPr txBox="1"/>
          <p:nvPr/>
        </p:nvSpPr>
        <p:spPr>
          <a:xfrm>
            <a:off x="755650" y="4748213"/>
            <a:ext cx="230505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薛定谔方程</a:t>
            </a:r>
            <a:r>
              <a:rPr lang="zh-CN" altLang="en-US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楷体" panose="02010600040101010101" pitchFamily="2" charset="-122"/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352266" name="内容占位符 352265"/>
          <p:cNvGraphicFramePr>
            <a:graphicFrameLocks noGrp="1"/>
          </p:cNvGraphicFramePr>
          <p:nvPr>
            <p:ph sz="quarter" idx="3"/>
          </p:nvPr>
        </p:nvGraphicFramePr>
        <p:xfrm>
          <a:off x="1187450" y="2565400"/>
          <a:ext cx="223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0" r:id="rId9" imgW="1271270" imgH="200660" progId="Equation.3">
                  <p:embed/>
                </p:oleObj>
              </mc:Choice>
              <mc:Fallback>
                <p:oleObj r:id="rId9" imgW="1271270" imgH="200660" progId="Equation.3">
                  <p:embed/>
                  <p:pic>
                    <p:nvPicPr>
                      <p:cNvPr id="0" name="内容占位符 35226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565400"/>
                        <a:ext cx="2235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2269" name="组合 352268"/>
          <p:cNvGrpSpPr/>
          <p:nvPr/>
        </p:nvGrpSpPr>
        <p:grpSpPr bwMode="auto">
          <a:xfrm>
            <a:off x="1157288" y="3716338"/>
            <a:ext cx="6767512" cy="979487"/>
            <a:chOff x="480" y="1780"/>
            <a:chExt cx="4464" cy="753"/>
          </a:xfrm>
        </p:grpSpPr>
        <p:sp>
          <p:nvSpPr>
            <p:cNvPr id="352270" name="文本框 352269"/>
            <p:cNvSpPr txBox="1"/>
            <p:nvPr/>
          </p:nvSpPr>
          <p:spPr>
            <a:xfrm>
              <a:off x="480" y="2001"/>
              <a:ext cx="2352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800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仿宋_GB2312" pitchFamily="49" charset="-122"/>
                </a:rPr>
                <a:t>拉普拉斯算符</a:t>
              </a:r>
            </a:p>
          </p:txBody>
        </p:sp>
        <p:graphicFrame>
          <p:nvGraphicFramePr>
            <p:cNvPr id="65548" name="对象 352270"/>
            <p:cNvGraphicFramePr/>
            <p:nvPr/>
          </p:nvGraphicFramePr>
          <p:xfrm>
            <a:off x="2448" y="1780"/>
            <a:ext cx="2496" cy="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41" r:id="rId11" imgW="2565400" imgH="825500" progId="Equation.3">
                    <p:embed/>
                  </p:oleObj>
                </mc:Choice>
                <mc:Fallback>
                  <p:oleObj r:id="rId11" imgW="2565400" imgH="825500" progId="Equation.3">
                    <p:embed/>
                    <p:pic>
                      <p:nvPicPr>
                        <p:cNvPr id="0" name="对象 35227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780"/>
                          <a:ext cx="2496" cy="753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 w="9525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Grp="1"/>
          </p:cNvGraphicFramePr>
          <p:nvPr/>
        </p:nvGraphicFramePr>
        <p:xfrm>
          <a:off x="1211263" y="3140075"/>
          <a:ext cx="21875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2" r:id="rId13" imgW="1091565" imgH="203200" progId="Equation.3">
                  <p:embed/>
                </p:oleObj>
              </mc:Choice>
              <mc:Fallback>
                <p:oleObj r:id="rId13" imgW="1091565" imgH="203200" progId="Equation.3">
                  <p:embed/>
                  <p:pic>
                    <p:nvPicPr>
                      <p:cNvPr id="0" name="对象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3140075"/>
                        <a:ext cx="21875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5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3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1" grpId="0" animBg="1"/>
      <p:bldP spid="352262" grpId="0"/>
      <p:bldP spid="35226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文本框 548867"/>
          <p:cNvSpPr txBox="1">
            <a:spLocks noChangeArrowheads="1"/>
          </p:cNvSpPr>
          <p:nvPr/>
        </p:nvSpPr>
        <p:spPr bwMode="auto">
          <a:xfrm>
            <a:off x="971550" y="187325"/>
            <a:ext cx="2466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引入哈密顿算符</a:t>
            </a:r>
            <a:r>
              <a:rPr lang="en-US" altLang="zh-CN" sz="2400" baseline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548869" name="对象 548868"/>
          <p:cNvGraphicFramePr/>
          <p:nvPr/>
        </p:nvGraphicFramePr>
        <p:xfrm>
          <a:off x="3419475" y="-28575"/>
          <a:ext cx="3529013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1" r:id="rId3" imgW="1784350" imgH="535305" progId="Equation.3">
                  <p:embed/>
                </p:oleObj>
              </mc:Choice>
              <mc:Fallback>
                <p:oleObj r:id="rId3" imgW="1784350" imgH="535305" progId="Equation.3">
                  <p:embed/>
                  <p:pic>
                    <p:nvPicPr>
                      <p:cNvPr id="0" name="对象 54886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-28575"/>
                        <a:ext cx="3529013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8870" name="组合 548869"/>
          <p:cNvGrpSpPr/>
          <p:nvPr/>
        </p:nvGrpSpPr>
        <p:grpSpPr bwMode="auto">
          <a:xfrm>
            <a:off x="1836738" y="1700213"/>
            <a:ext cx="4319587" cy="928687"/>
            <a:chOff x="2699" y="2440"/>
            <a:chExt cx="2903" cy="722"/>
          </a:xfrm>
        </p:grpSpPr>
        <p:graphicFrame>
          <p:nvGraphicFramePr>
            <p:cNvPr id="66581" name="对象 548870"/>
            <p:cNvGraphicFramePr/>
            <p:nvPr/>
          </p:nvGraphicFramePr>
          <p:xfrm>
            <a:off x="2839" y="2440"/>
            <a:ext cx="2593" cy="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2" r:id="rId5" imgW="1616710" imgH="423545" progId="Equation.3">
                    <p:embed/>
                  </p:oleObj>
                </mc:Choice>
                <mc:Fallback>
                  <p:oleObj r:id="rId5" imgW="1616710" imgH="423545" progId="Equation.3">
                    <p:embed/>
                    <p:pic>
                      <p:nvPicPr>
                        <p:cNvPr id="0" name="对象 54887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9" y="2440"/>
                          <a:ext cx="2593" cy="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82" name="矩形 548871"/>
            <p:cNvSpPr>
              <a:spLocks noChangeArrowheads="1"/>
            </p:cNvSpPr>
            <p:nvPr/>
          </p:nvSpPr>
          <p:spPr bwMode="auto">
            <a:xfrm>
              <a:off x="2699" y="2478"/>
              <a:ext cx="2903" cy="680"/>
            </a:xfrm>
            <a:prstGeom prst="rect">
              <a:avLst/>
            </a:prstGeom>
            <a:noFill/>
            <a:ln w="19050">
              <a:solidFill>
                <a:srgbClr val="CC3300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</p:grpSp>
      <p:sp>
        <p:nvSpPr>
          <p:cNvPr id="548873" name="文本框 548872"/>
          <p:cNvSpPr txBox="1">
            <a:spLocks noChangeArrowheads="1"/>
          </p:cNvSpPr>
          <p:nvPr/>
        </p:nvSpPr>
        <p:spPr bwMode="auto">
          <a:xfrm>
            <a:off x="1116013" y="1009650"/>
            <a:ext cx="4464050" cy="617538"/>
          </a:xfrm>
          <a:prstGeom prst="rect">
            <a:avLst/>
          </a:prstGeom>
          <a:solidFill>
            <a:srgbClr val="CC3300"/>
          </a:solidFill>
          <a:ln w="38100" cmpd="dbl">
            <a:solidFill>
              <a:srgbClr val="FFFF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aseline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baseline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薛定谔方程普遍形式</a:t>
            </a:r>
          </a:p>
        </p:txBody>
      </p:sp>
      <p:grpSp>
        <p:nvGrpSpPr>
          <p:cNvPr id="548874" name="组合 548873"/>
          <p:cNvGrpSpPr/>
          <p:nvPr/>
        </p:nvGrpSpPr>
        <p:grpSpPr bwMode="auto">
          <a:xfrm>
            <a:off x="1001713" y="2636838"/>
            <a:ext cx="7315200" cy="920750"/>
            <a:chOff x="631" y="1017"/>
            <a:chExt cx="4608" cy="580"/>
          </a:xfrm>
        </p:grpSpPr>
        <p:sp>
          <p:nvSpPr>
            <p:cNvPr id="548875" name="矩形 548874"/>
            <p:cNvSpPr/>
            <p:nvPr/>
          </p:nvSpPr>
          <p:spPr>
            <a:xfrm>
              <a:off x="631" y="1017"/>
              <a:ext cx="4608" cy="56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10000"/>
                </a:lnSpc>
                <a:defRPr/>
              </a:pPr>
              <a:r>
                <a:rPr lang="en-US" altLang="zh-CN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   </a:t>
              </a:r>
              <a:r>
                <a:rPr lang="zh-CN" altLang="en-US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（</a:t>
              </a:r>
              <a:r>
                <a:rPr lang="en-US" altLang="zh-CN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1</a:t>
              </a:r>
              <a:r>
                <a:rPr lang="zh-CN" altLang="en-US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）</a:t>
              </a:r>
              <a:r>
                <a:rPr lang="zh-CN" altLang="en-US" b="1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薛定谔方程</a:t>
              </a:r>
              <a:r>
                <a:rPr lang="zh-CN" altLang="en-US" b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是一个</a:t>
              </a:r>
              <a:r>
                <a:rPr lang="zh-CN" altLang="en-US" b="1" u="sng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复数偏微分</a:t>
              </a:r>
              <a:r>
                <a:rPr lang="zh-CN" altLang="en-US" b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方程； </a:t>
              </a:r>
            </a:p>
            <a:p>
              <a:pPr eaLnBrk="1" hangingPunct="1">
                <a:lnSpc>
                  <a:spcPct val="110000"/>
                </a:lnSpc>
                <a:defRPr/>
              </a:pPr>
              <a:r>
                <a:rPr lang="zh-CN" altLang="en-US" b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             其解波函数 </a:t>
              </a:r>
              <a:r>
                <a:rPr lang="zh-CN" altLang="en-US" b="1" i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  <a:sym typeface="Symbol" panose="05050102010706020507" pitchFamily="18" charset="2"/>
                </a:rPr>
                <a:t>   </a:t>
              </a:r>
              <a:r>
                <a:rPr lang="zh-CN" altLang="en-US" b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  <a:sym typeface="Symbol" panose="05050102010706020507" pitchFamily="18" charset="2"/>
                </a:rPr>
                <a:t>          </a:t>
              </a:r>
              <a:r>
                <a:rPr lang="zh-CN" altLang="en-US" b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是一个</a:t>
              </a:r>
              <a:r>
                <a:rPr lang="zh-CN" altLang="en-US" b="1" u="sng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复函数</a:t>
              </a:r>
              <a:r>
                <a:rPr lang="zh-CN" altLang="en-US" b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。</a:t>
              </a:r>
            </a:p>
          </p:txBody>
        </p:sp>
        <p:graphicFrame>
          <p:nvGraphicFramePr>
            <p:cNvPr id="66580" name="对象 548875"/>
            <p:cNvGraphicFramePr/>
            <p:nvPr/>
          </p:nvGraphicFramePr>
          <p:xfrm>
            <a:off x="2290" y="1302"/>
            <a:ext cx="59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3" r:id="rId7" imgW="468630" imgH="222885" progId="Equation.3">
                    <p:embed/>
                  </p:oleObj>
                </mc:Choice>
                <mc:Fallback>
                  <p:oleObj r:id="rId7" imgW="468630" imgH="222885" progId="Equation.3">
                    <p:embed/>
                    <p:pic>
                      <p:nvPicPr>
                        <p:cNvPr id="0" name="对象 54887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302"/>
                          <a:ext cx="59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8877" name="矩形 548876"/>
          <p:cNvSpPr/>
          <p:nvPr/>
        </p:nvSpPr>
        <p:spPr>
          <a:xfrm>
            <a:off x="1209675" y="3552825"/>
            <a:ext cx="4933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薛定谔方程是线性偏微分方程</a:t>
            </a:r>
            <a:endParaRPr lang="zh-CN" altLang="en-US" b="1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8879" name="横卷形 548878"/>
          <p:cNvSpPr/>
          <p:nvPr/>
        </p:nvSpPr>
        <p:spPr>
          <a:xfrm>
            <a:off x="179388" y="2276475"/>
            <a:ext cx="1219200" cy="6858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3200" baseline="0" noProof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隶书" panose="02010509060101010101" pitchFamily="49" charset="-122"/>
              </a:rPr>
              <a:t>说明</a:t>
            </a:r>
          </a:p>
        </p:txBody>
      </p:sp>
      <p:grpSp>
        <p:nvGrpSpPr>
          <p:cNvPr id="548881" name="组合 548880"/>
          <p:cNvGrpSpPr/>
          <p:nvPr/>
        </p:nvGrpSpPr>
        <p:grpSpPr bwMode="auto">
          <a:xfrm>
            <a:off x="2000250" y="4460875"/>
            <a:ext cx="7299325" cy="481013"/>
            <a:chOff x="1066" y="2160"/>
            <a:chExt cx="4598" cy="303"/>
          </a:xfrm>
        </p:grpSpPr>
        <p:sp>
          <p:nvSpPr>
            <p:cNvPr id="548882" name="矩形 548881"/>
            <p:cNvSpPr/>
            <p:nvPr/>
          </p:nvSpPr>
          <p:spPr>
            <a:xfrm>
              <a:off x="1066" y="2160"/>
              <a:ext cx="45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若                  和                是薛定谔方程的解，</a:t>
              </a:r>
            </a:p>
          </p:txBody>
        </p:sp>
        <p:graphicFrame>
          <p:nvGraphicFramePr>
            <p:cNvPr id="66577" name="对象 548882"/>
            <p:cNvGraphicFramePr/>
            <p:nvPr/>
          </p:nvGraphicFramePr>
          <p:xfrm>
            <a:off x="2472" y="2169"/>
            <a:ext cx="711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4" r:id="rId9" imgW="469265" imgH="215900" progId="Equation.3">
                    <p:embed/>
                  </p:oleObj>
                </mc:Choice>
                <mc:Fallback>
                  <p:oleObj r:id="rId9" imgW="469265" imgH="215900" progId="Equation.3">
                    <p:embed/>
                    <p:pic>
                      <p:nvPicPr>
                        <p:cNvPr id="0" name="对象 54888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" y="2169"/>
                          <a:ext cx="711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8" name="对象 548883"/>
            <p:cNvGraphicFramePr/>
            <p:nvPr/>
          </p:nvGraphicFramePr>
          <p:xfrm>
            <a:off x="1438" y="2169"/>
            <a:ext cx="713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5" r:id="rId11" imgW="456565" imgH="215900" progId="Equation.3">
                    <p:embed/>
                  </p:oleObj>
                </mc:Choice>
                <mc:Fallback>
                  <p:oleObj r:id="rId11" imgW="456565" imgH="215900" progId="Equation.3">
                    <p:embed/>
                    <p:pic>
                      <p:nvPicPr>
                        <p:cNvPr id="0" name="对象 54888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" y="2169"/>
                          <a:ext cx="713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8885" name="组合 548884"/>
          <p:cNvGrpSpPr/>
          <p:nvPr/>
        </p:nvGrpSpPr>
        <p:grpSpPr bwMode="auto">
          <a:xfrm>
            <a:off x="2000250" y="4906963"/>
            <a:ext cx="7832725" cy="466725"/>
            <a:chOff x="1066" y="2482"/>
            <a:chExt cx="4934" cy="294"/>
          </a:xfrm>
        </p:grpSpPr>
        <p:sp>
          <p:nvSpPr>
            <p:cNvPr id="548886" name="矩形 548885"/>
            <p:cNvSpPr/>
            <p:nvPr/>
          </p:nvSpPr>
          <p:spPr>
            <a:xfrm>
              <a:off x="1066" y="2482"/>
              <a:ext cx="4934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则                  也是薛定谔方程的解。</a:t>
              </a:r>
            </a:p>
          </p:txBody>
        </p:sp>
        <p:graphicFrame>
          <p:nvGraphicFramePr>
            <p:cNvPr id="66575" name="对象 548886"/>
            <p:cNvGraphicFramePr/>
            <p:nvPr/>
          </p:nvGraphicFramePr>
          <p:xfrm>
            <a:off x="1383" y="2482"/>
            <a:ext cx="1667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76" r:id="rId13" imgW="1255395" imgH="215900" progId="Equation.3">
                    <p:embed/>
                  </p:oleObj>
                </mc:Choice>
                <mc:Fallback>
                  <p:oleObj r:id="rId13" imgW="1255395" imgH="215900" progId="Equation.3">
                    <p:embed/>
                    <p:pic>
                      <p:nvPicPr>
                        <p:cNvPr id="0" name="对象 54888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482"/>
                          <a:ext cx="1667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8891" name="文本框 548890"/>
          <p:cNvSpPr txBox="1"/>
          <p:nvPr/>
        </p:nvSpPr>
        <p:spPr>
          <a:xfrm>
            <a:off x="1979613" y="4005263"/>
            <a:ext cx="4776787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从而保证了波函数满足态叠加原理</a:t>
            </a:r>
          </a:p>
        </p:txBody>
      </p:sp>
      <p:sp>
        <p:nvSpPr>
          <p:cNvPr id="548892" name="矩形 548891"/>
          <p:cNvSpPr/>
          <p:nvPr/>
        </p:nvSpPr>
        <p:spPr>
          <a:xfrm>
            <a:off x="1311275" y="5386388"/>
            <a:ext cx="7077075" cy="968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3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）它并非推导所得，最初是假设，后来通过实验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  检验了它的正确性。</a:t>
            </a:r>
          </a:p>
        </p:txBody>
      </p:sp>
      <p:sp>
        <p:nvSpPr>
          <p:cNvPr id="548893" name="矩形 548892"/>
          <p:cNvSpPr/>
          <p:nvPr/>
        </p:nvSpPr>
        <p:spPr>
          <a:xfrm>
            <a:off x="1311275" y="6400800"/>
            <a:ext cx="46259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4</a:t>
            </a:r>
            <a:r>
              <a:rPr lang="zh-CN" altLang="en-US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它是非相对论形式的方程。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4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4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4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4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8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4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4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73" grpId="0" animBg="1"/>
      <p:bldP spid="548877" grpId="0"/>
      <p:bldP spid="548879" grpId="0" animBg="1"/>
      <p:bldP spid="548891" grpId="0" build="p"/>
      <p:bldP spid="548892" grpId="0"/>
      <p:bldP spid="54889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文本框 551937"/>
          <p:cNvSpPr txBox="1"/>
          <p:nvPr/>
        </p:nvSpPr>
        <p:spPr>
          <a:xfrm>
            <a:off x="1192213" y="1052513"/>
            <a:ext cx="7951787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微观粒子的势能函数 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U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与时间 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t</a:t>
            </a:r>
            <a:endParaRPr lang="en-US" altLang="zh-CN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无关的问题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------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定态问题。</a:t>
            </a:r>
          </a:p>
        </p:txBody>
      </p:sp>
      <p:sp>
        <p:nvSpPr>
          <p:cNvPr id="551939" name="文本框 551938"/>
          <p:cNvSpPr txBox="1"/>
          <p:nvPr/>
        </p:nvSpPr>
        <p:spPr>
          <a:xfrm>
            <a:off x="2341563" y="2016125"/>
            <a:ext cx="5508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Char char="µ"/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自由运动粒子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…………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U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551940" name="文本框 551939"/>
          <p:cNvSpPr txBox="1"/>
          <p:nvPr/>
        </p:nvSpPr>
        <p:spPr>
          <a:xfrm>
            <a:off x="2346325" y="2727325"/>
            <a:ext cx="4868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Char char="µ"/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氢原子中的电子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……</a:t>
            </a:r>
          </a:p>
        </p:txBody>
      </p:sp>
      <p:graphicFrame>
        <p:nvGraphicFramePr>
          <p:cNvPr id="551941" name="对象 551940"/>
          <p:cNvGraphicFramePr/>
          <p:nvPr/>
        </p:nvGraphicFramePr>
        <p:xfrm>
          <a:off x="5692775" y="2520950"/>
          <a:ext cx="244951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7" r:id="rId3" imgW="1079500" imgH="457200" progId="Equation.3">
                  <p:embed/>
                </p:oleObj>
              </mc:Choice>
              <mc:Fallback>
                <p:oleObj r:id="rId3" imgW="1079500" imgH="457200" progId="Equation.3">
                  <p:embed/>
                  <p:pic>
                    <p:nvPicPr>
                      <p:cNvPr id="0" name="对象 55194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775" y="2520950"/>
                        <a:ext cx="2449513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1942" name="文本框 551941"/>
          <p:cNvSpPr txBox="1"/>
          <p:nvPr/>
        </p:nvSpPr>
        <p:spPr>
          <a:xfrm>
            <a:off x="5292725" y="5086350"/>
            <a:ext cx="27622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采用</a:t>
            </a:r>
            <a:r>
              <a:rPr lang="zh-CN" altLang="en-US" b="1" u="sng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分离变量法</a:t>
            </a:r>
            <a:endParaRPr lang="zh-CN" altLang="en-US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551943" name="文本框 551942"/>
          <p:cNvSpPr txBox="1"/>
          <p:nvPr/>
        </p:nvSpPr>
        <p:spPr>
          <a:xfrm>
            <a:off x="1187450" y="1989138"/>
            <a:ext cx="16970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例如：</a:t>
            </a:r>
            <a:endParaRPr lang="zh-CN" altLang="en-US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551944" name="文本框 551943"/>
          <p:cNvSpPr txBox="1"/>
          <p:nvPr/>
        </p:nvSpPr>
        <p:spPr>
          <a:xfrm>
            <a:off x="250825" y="188913"/>
            <a:ext cx="4032250" cy="519112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二、</a:t>
            </a:r>
            <a:r>
              <a:rPr lang="zh-CN" altLang="en-US" sz="280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定态</a:t>
            </a:r>
            <a:r>
              <a:rPr lang="zh-CN" altLang="en-US" sz="280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薛定谔方程</a:t>
            </a:r>
          </a:p>
        </p:txBody>
      </p:sp>
      <p:grpSp>
        <p:nvGrpSpPr>
          <p:cNvPr id="551945" name="组合 551944"/>
          <p:cNvGrpSpPr/>
          <p:nvPr/>
        </p:nvGrpSpPr>
        <p:grpSpPr bwMode="auto">
          <a:xfrm>
            <a:off x="1182688" y="3476625"/>
            <a:ext cx="8001000" cy="527050"/>
            <a:chOff x="335" y="472"/>
            <a:chExt cx="5040" cy="332"/>
          </a:xfrm>
        </p:grpSpPr>
        <p:graphicFrame>
          <p:nvGraphicFramePr>
            <p:cNvPr id="67601" name="对象 551945"/>
            <p:cNvGraphicFramePr/>
            <p:nvPr/>
          </p:nvGraphicFramePr>
          <p:xfrm>
            <a:off x="1338" y="482"/>
            <a:ext cx="1043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78" r:id="rId5" imgW="713740" imgH="200660" progId="Equation.3">
                    <p:embed/>
                  </p:oleObj>
                </mc:Choice>
                <mc:Fallback>
                  <p:oleObj r:id="rId5" imgW="713740" imgH="200660" progId="Equation.3">
                    <p:embed/>
                    <p:pic>
                      <p:nvPicPr>
                        <p:cNvPr id="0" name="对象 55194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482"/>
                          <a:ext cx="1043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1947" name="文本框 551946"/>
            <p:cNvSpPr txBox="1"/>
            <p:nvPr/>
          </p:nvSpPr>
          <p:spPr>
            <a:xfrm>
              <a:off x="335" y="472"/>
              <a:ext cx="5040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当粒子在                          势场中运动时</a:t>
              </a:r>
            </a:p>
          </p:txBody>
        </p:sp>
      </p:grpSp>
      <p:sp>
        <p:nvSpPr>
          <p:cNvPr id="551948" name="文本框 551947"/>
          <p:cNvSpPr txBox="1"/>
          <p:nvPr/>
        </p:nvSpPr>
        <p:spPr>
          <a:xfrm>
            <a:off x="1204913" y="4238625"/>
            <a:ext cx="228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哈密顿量 </a:t>
            </a:r>
          </a:p>
        </p:txBody>
      </p:sp>
      <p:sp>
        <p:nvSpPr>
          <p:cNvPr id="551949" name="文本框 551948"/>
          <p:cNvSpPr txBox="1"/>
          <p:nvPr/>
        </p:nvSpPr>
        <p:spPr>
          <a:xfrm>
            <a:off x="6194425" y="4205288"/>
            <a:ext cx="2362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不显含时间</a:t>
            </a:r>
          </a:p>
        </p:txBody>
      </p:sp>
      <p:graphicFrame>
        <p:nvGraphicFramePr>
          <p:cNvPr id="551950" name="内容占位符 551949"/>
          <p:cNvGraphicFramePr>
            <a:graphicFrameLocks noGrp="1"/>
          </p:cNvGraphicFramePr>
          <p:nvPr>
            <p:ph idx="1"/>
          </p:nvPr>
        </p:nvGraphicFramePr>
        <p:xfrm>
          <a:off x="3230563" y="4086225"/>
          <a:ext cx="27813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9" r:id="rId7" imgW="2063115" imgH="669290" progId="Equation.3">
                  <p:embed/>
                </p:oleObj>
              </mc:Choice>
              <mc:Fallback>
                <p:oleObj r:id="rId7" imgW="2063115" imgH="669290" progId="Equation.3">
                  <p:embed/>
                  <p:pic>
                    <p:nvPicPr>
                      <p:cNvPr id="0" name="内容占位符 551949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4086225"/>
                        <a:ext cx="27813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1951" name="对象 551950"/>
          <p:cNvGraphicFramePr/>
          <p:nvPr/>
        </p:nvGraphicFramePr>
        <p:xfrm>
          <a:off x="3913188" y="5805488"/>
          <a:ext cx="319881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0" r:id="rId9" imgW="1337945" imgH="200660" progId="Equation.3">
                  <p:embed/>
                </p:oleObj>
              </mc:Choice>
              <mc:Fallback>
                <p:oleObj r:id="rId9" imgW="1337945" imgH="200660" progId="Equation.3">
                  <p:embed/>
                  <p:pic>
                    <p:nvPicPr>
                      <p:cNvPr id="0" name="对象 55195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8" y="5805488"/>
                        <a:ext cx="3198812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1952" name="文本框 551951"/>
          <p:cNvSpPr txBox="1"/>
          <p:nvPr/>
        </p:nvSpPr>
        <p:spPr>
          <a:xfrm>
            <a:off x="1187450" y="5805488"/>
            <a:ext cx="243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将波函数写成 </a:t>
            </a:r>
          </a:p>
        </p:txBody>
      </p:sp>
      <p:sp>
        <p:nvSpPr>
          <p:cNvPr id="551953" name="文本框 551952"/>
          <p:cNvSpPr txBox="1"/>
          <p:nvPr/>
        </p:nvSpPr>
        <p:spPr>
          <a:xfrm>
            <a:off x="4211638" y="184150"/>
            <a:ext cx="4095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（不含时的薛定谔方程）</a:t>
            </a:r>
          </a:p>
        </p:txBody>
      </p:sp>
      <p:graphicFrame>
        <p:nvGraphicFramePr>
          <p:cNvPr id="552965" name="对象 552964"/>
          <p:cNvGraphicFramePr/>
          <p:nvPr/>
        </p:nvGraphicFramePr>
        <p:xfrm>
          <a:off x="971550" y="4797425"/>
          <a:ext cx="315753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1" r:id="rId11" imgW="2019300" imgH="558800" progId="Equation.3">
                  <p:embed/>
                </p:oleObj>
              </mc:Choice>
              <mc:Fallback>
                <p:oleObj r:id="rId11" imgW="2019300" imgH="558800" progId="Equation.3">
                  <p:embed/>
                  <p:pic>
                    <p:nvPicPr>
                      <p:cNvPr id="0" name="对象 55296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97425"/>
                        <a:ext cx="3157538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5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5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5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55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5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55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5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38" grpId="0"/>
      <p:bldP spid="551939" grpId="0"/>
      <p:bldP spid="551940" grpId="0"/>
      <p:bldP spid="551942" grpId="0"/>
      <p:bldP spid="551943" grpId="0"/>
      <p:bldP spid="551948" grpId="0"/>
      <p:bldP spid="551949" grpId="0"/>
      <p:bldP spid="55195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文本框 552961"/>
          <p:cNvSpPr txBox="1"/>
          <p:nvPr/>
        </p:nvSpPr>
        <p:spPr>
          <a:xfrm>
            <a:off x="323850" y="460375"/>
            <a:ext cx="243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将波函数写成 </a:t>
            </a:r>
          </a:p>
        </p:txBody>
      </p:sp>
      <p:graphicFrame>
        <p:nvGraphicFramePr>
          <p:cNvPr id="68611" name="对象 552962"/>
          <p:cNvGraphicFramePr/>
          <p:nvPr/>
        </p:nvGraphicFramePr>
        <p:xfrm>
          <a:off x="2613025" y="477838"/>
          <a:ext cx="32734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2" r:id="rId3" imgW="1337945" imgH="200660" progId="Equation.3">
                  <p:embed/>
                </p:oleObj>
              </mc:Choice>
              <mc:Fallback>
                <p:oleObj r:id="rId3" imgW="1337945" imgH="200660" progId="Equation.3">
                  <p:embed/>
                  <p:pic>
                    <p:nvPicPr>
                      <p:cNvPr id="0" name="对象 55296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477838"/>
                        <a:ext cx="32734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矩形 552963"/>
          <p:cNvSpPr>
            <a:spLocks noChangeArrowheads="1"/>
          </p:cNvSpPr>
          <p:nvPr/>
        </p:nvSpPr>
        <p:spPr bwMode="auto">
          <a:xfrm>
            <a:off x="2484438" y="260350"/>
            <a:ext cx="3529012" cy="719138"/>
          </a:xfrm>
          <a:prstGeom prst="rect">
            <a:avLst/>
          </a:prstGeom>
          <a:noFill/>
          <a:ln w="25400">
            <a:solidFill>
              <a:schemeClr val="bg1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aphicFrame>
        <p:nvGraphicFramePr>
          <p:cNvPr id="552965" name="对象 552964"/>
          <p:cNvGraphicFramePr/>
          <p:nvPr/>
        </p:nvGraphicFramePr>
        <p:xfrm>
          <a:off x="3441700" y="1279525"/>
          <a:ext cx="315753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3" r:id="rId5" imgW="2330450" imgH="624205" progId="Equation.3">
                  <p:embed/>
                </p:oleObj>
              </mc:Choice>
              <mc:Fallback>
                <p:oleObj r:id="rId5" imgW="2330450" imgH="624205" progId="Equation.3">
                  <p:embed/>
                  <p:pic>
                    <p:nvPicPr>
                      <p:cNvPr id="0" name="对象 55296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1279525"/>
                        <a:ext cx="3157538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66" name="对象 552965"/>
          <p:cNvGraphicFramePr/>
          <p:nvPr/>
        </p:nvGraphicFramePr>
        <p:xfrm>
          <a:off x="1881188" y="2265363"/>
          <a:ext cx="45069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4" r:id="rId7" imgW="2051685" imgH="423545" progId="Equation.3">
                  <p:embed/>
                </p:oleObj>
              </mc:Choice>
              <mc:Fallback>
                <p:oleObj r:id="rId7" imgW="2051685" imgH="423545" progId="Equation.3">
                  <p:embed/>
                  <p:pic>
                    <p:nvPicPr>
                      <p:cNvPr id="0" name="对象 55296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2265363"/>
                        <a:ext cx="45069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67" name="文本框 552966"/>
          <p:cNvSpPr txBox="1"/>
          <p:nvPr/>
        </p:nvSpPr>
        <p:spPr>
          <a:xfrm>
            <a:off x="352425" y="1497013"/>
            <a:ext cx="4032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代入薛定谔方程</a:t>
            </a:r>
          </a:p>
        </p:txBody>
      </p:sp>
      <p:sp>
        <p:nvSpPr>
          <p:cNvPr id="552968" name="文本框 552967"/>
          <p:cNvSpPr txBox="1"/>
          <p:nvPr/>
        </p:nvSpPr>
        <p:spPr>
          <a:xfrm>
            <a:off x="407988" y="2460625"/>
            <a:ext cx="1066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得</a:t>
            </a:r>
          </a:p>
        </p:txBody>
      </p:sp>
      <p:sp>
        <p:nvSpPr>
          <p:cNvPr id="552969" name="矩形 552968"/>
          <p:cNvSpPr/>
          <p:nvPr/>
        </p:nvSpPr>
        <p:spPr>
          <a:xfrm>
            <a:off x="358775" y="3432175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左右两边同除</a:t>
            </a:r>
          </a:p>
        </p:txBody>
      </p:sp>
      <p:graphicFrame>
        <p:nvGraphicFramePr>
          <p:cNvPr id="552970" name="对象 552969"/>
          <p:cNvGraphicFramePr/>
          <p:nvPr/>
        </p:nvGraphicFramePr>
        <p:xfrm>
          <a:off x="3598863" y="3422650"/>
          <a:ext cx="147796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5" r:id="rId9" imgW="680085" imgH="200660" progId="Equation.3">
                  <p:embed/>
                </p:oleObj>
              </mc:Choice>
              <mc:Fallback>
                <p:oleObj r:id="rId9" imgW="680085" imgH="200660" progId="Equation.3">
                  <p:embed/>
                  <p:pic>
                    <p:nvPicPr>
                      <p:cNvPr id="0" name="对象 55296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863" y="3422650"/>
                        <a:ext cx="147796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71" name="文本框 552970"/>
          <p:cNvSpPr txBox="1"/>
          <p:nvPr/>
        </p:nvSpPr>
        <p:spPr>
          <a:xfrm>
            <a:off x="722313" y="4329113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552972" name="对象 552971"/>
          <p:cNvGraphicFramePr/>
          <p:nvPr/>
        </p:nvGraphicFramePr>
        <p:xfrm>
          <a:off x="1677988" y="4149725"/>
          <a:ext cx="408781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6" r:id="rId11" imgW="2018665" imgH="457200" progId="Equation.3">
                  <p:embed/>
                </p:oleObj>
              </mc:Choice>
              <mc:Fallback>
                <p:oleObj r:id="rId11" imgW="2018665" imgH="457200" progId="Equation.3">
                  <p:embed/>
                  <p:pic>
                    <p:nvPicPr>
                      <p:cNvPr id="0" name="对象 55297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988" y="4149725"/>
                        <a:ext cx="408781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73" name="文本框 552972"/>
          <p:cNvSpPr txBox="1"/>
          <p:nvPr/>
        </p:nvSpPr>
        <p:spPr>
          <a:xfrm>
            <a:off x="6305550" y="4389438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令＝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552974" name="椭圆 552973"/>
          <p:cNvSpPr/>
          <p:nvPr/>
        </p:nvSpPr>
        <p:spPr>
          <a:xfrm>
            <a:off x="6227763" y="4005263"/>
            <a:ext cx="1135062" cy="1073150"/>
          </a:xfrm>
          <a:prstGeom prst="ellipse">
            <a:avLst/>
          </a:prstGeom>
          <a:noFill/>
          <a:ln w="2857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defRPr/>
            </a:pPr>
            <a:endParaRPr sz="1600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552975" name="文本框 552974"/>
          <p:cNvSpPr txBox="1"/>
          <p:nvPr/>
        </p:nvSpPr>
        <p:spPr>
          <a:xfrm>
            <a:off x="323850" y="5414963"/>
            <a:ext cx="4800600" cy="750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上式  左边是 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t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的函数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　　 右边是</a:t>
            </a:r>
          </a:p>
        </p:txBody>
      </p:sp>
      <p:graphicFrame>
        <p:nvGraphicFramePr>
          <p:cNvPr id="552976" name="对象 552975"/>
          <p:cNvGraphicFramePr/>
          <p:nvPr/>
        </p:nvGraphicFramePr>
        <p:xfrm>
          <a:off x="2124075" y="5762625"/>
          <a:ext cx="34607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7" r:id="rId13" imgW="111760" imgH="144780" progId="Equation.3">
                  <p:embed/>
                </p:oleObj>
              </mc:Choice>
              <mc:Fallback>
                <p:oleObj r:id="rId13" imgW="111760" imgH="144780" progId="Equation.3">
                  <p:embed/>
                  <p:pic>
                    <p:nvPicPr>
                      <p:cNvPr id="0" name="对象 55297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762625"/>
                        <a:ext cx="34607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77" name="文本框 552976"/>
          <p:cNvSpPr txBox="1"/>
          <p:nvPr/>
        </p:nvSpPr>
        <p:spPr>
          <a:xfrm>
            <a:off x="2484438" y="5762625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的函数</a:t>
            </a:r>
          </a:p>
        </p:txBody>
      </p:sp>
      <p:sp>
        <p:nvSpPr>
          <p:cNvPr id="552978" name="文本框 552977"/>
          <p:cNvSpPr txBox="1"/>
          <p:nvPr/>
        </p:nvSpPr>
        <p:spPr>
          <a:xfrm>
            <a:off x="1042988" y="6237288"/>
            <a:ext cx="373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且两变量相互独立</a:t>
            </a:r>
          </a:p>
        </p:txBody>
      </p:sp>
      <p:sp>
        <p:nvSpPr>
          <p:cNvPr id="552979" name="右大括号 552978"/>
          <p:cNvSpPr/>
          <p:nvPr/>
        </p:nvSpPr>
        <p:spPr bwMode="auto">
          <a:xfrm>
            <a:off x="4643438" y="5373688"/>
            <a:ext cx="174625" cy="1439862"/>
          </a:xfrm>
          <a:prstGeom prst="rightBrace">
            <a:avLst>
              <a:gd name="adj1" fmla="val 68330"/>
              <a:gd name="adj2" fmla="val 50000"/>
            </a:avLst>
          </a:prstGeom>
          <a:noFill/>
          <a:ln w="28575">
            <a:solidFill>
              <a:srgbClr val="CC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552980" name="文本框 552979"/>
          <p:cNvSpPr txBox="1"/>
          <p:nvPr/>
        </p:nvSpPr>
        <p:spPr>
          <a:xfrm>
            <a:off x="5219700" y="5372100"/>
            <a:ext cx="2362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两边必须等于同一个常量时才成立</a:t>
            </a:r>
          </a:p>
        </p:txBody>
      </p:sp>
      <p:graphicFrame>
        <p:nvGraphicFramePr>
          <p:cNvPr id="68629" name="内容占位符 552980"/>
          <p:cNvGraphicFramePr>
            <a:graphicFrameLocks noGrp="1"/>
          </p:cNvGraphicFramePr>
          <p:nvPr>
            <p:ph idx="4294967295"/>
          </p:nvPr>
        </p:nvGraphicFramePr>
        <p:xfrm>
          <a:off x="6659563" y="165100"/>
          <a:ext cx="24479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8" r:id="rId15" imgW="2063115" imgH="669290" progId="Equation.3">
                  <p:embed/>
                </p:oleObj>
              </mc:Choice>
              <mc:Fallback>
                <p:oleObj r:id="rId15" imgW="2063115" imgH="669290" progId="Equation.3">
                  <p:embed/>
                  <p:pic>
                    <p:nvPicPr>
                      <p:cNvPr id="0" name="内容占位符 55298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165100"/>
                        <a:ext cx="2447925" cy="8159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55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5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5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5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5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5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5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52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529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52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5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5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5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5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5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81" dur="2000"/>
                                        <p:tgtEl>
                                          <p:spTgt spid="552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7" grpId="0"/>
      <p:bldP spid="552968" grpId="0"/>
      <p:bldP spid="552969" grpId="0"/>
      <p:bldP spid="552971" grpId="0"/>
      <p:bldP spid="552973" grpId="0"/>
      <p:bldP spid="552974" grpId="0" animBg="1"/>
      <p:bldP spid="552975" grpId="0" build="p"/>
      <p:bldP spid="552977" grpId="0"/>
      <p:bldP spid="552978" grpId="0"/>
      <p:bldP spid="55298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对象 553985"/>
          <p:cNvGraphicFramePr/>
          <p:nvPr/>
        </p:nvGraphicFramePr>
        <p:xfrm>
          <a:off x="2705100" y="215900"/>
          <a:ext cx="42052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8" r:id="rId3" imgW="2073910" imgH="457200" progId="Equation.3">
                  <p:embed/>
                </p:oleObj>
              </mc:Choice>
              <mc:Fallback>
                <p:oleObj r:id="rId3" imgW="2073910" imgH="457200" progId="Equation.3">
                  <p:embed/>
                  <p:pic>
                    <p:nvPicPr>
                      <p:cNvPr id="0" name="对象 55398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215900"/>
                        <a:ext cx="420528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987" name="文本框 553986"/>
          <p:cNvSpPr txBox="1"/>
          <p:nvPr/>
        </p:nvSpPr>
        <p:spPr>
          <a:xfrm>
            <a:off x="1230313" y="36195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得</a:t>
            </a:r>
          </a:p>
        </p:txBody>
      </p:sp>
      <p:sp>
        <p:nvSpPr>
          <p:cNvPr id="553988" name="文本框 553987"/>
          <p:cNvSpPr txBox="1"/>
          <p:nvPr/>
        </p:nvSpPr>
        <p:spPr>
          <a:xfrm>
            <a:off x="7386638" y="447675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令＝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553989" name="椭圆 553988"/>
          <p:cNvSpPr/>
          <p:nvPr/>
        </p:nvSpPr>
        <p:spPr>
          <a:xfrm>
            <a:off x="7308850" y="87313"/>
            <a:ext cx="1135063" cy="1073150"/>
          </a:xfrm>
          <a:prstGeom prst="ellipse">
            <a:avLst/>
          </a:prstGeom>
          <a:noFill/>
          <a:ln w="28575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defRPr/>
            </a:pPr>
            <a:endParaRPr sz="1600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553990" name="对象 553989"/>
          <p:cNvGraphicFramePr/>
          <p:nvPr/>
        </p:nvGraphicFramePr>
        <p:xfrm>
          <a:off x="3665538" y="1314450"/>
          <a:ext cx="2657475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9" r:id="rId5" imgW="1204595" imgH="735965" progId="Equation.3">
                  <p:embed/>
                </p:oleObj>
              </mc:Choice>
              <mc:Fallback>
                <p:oleObj r:id="rId5" imgW="1204595" imgH="735965" progId="Equation.3">
                  <p:embed/>
                  <p:pic>
                    <p:nvPicPr>
                      <p:cNvPr id="0" name="对象 55398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538" y="1314450"/>
                        <a:ext cx="2657475" cy="150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991" name="文本框 553990"/>
          <p:cNvSpPr txBox="1"/>
          <p:nvPr/>
        </p:nvSpPr>
        <p:spPr>
          <a:xfrm>
            <a:off x="536575" y="1487488"/>
            <a:ext cx="3995738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得到两个独立的方程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553992" name="文本框 553991"/>
          <p:cNvSpPr txBox="1"/>
          <p:nvPr/>
        </p:nvSpPr>
        <p:spPr>
          <a:xfrm>
            <a:off x="6623050" y="1468438"/>
            <a:ext cx="1219200" cy="128746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spcBef>
                <a:spcPct val="50000"/>
              </a:spcBef>
              <a:defRPr/>
            </a:pPr>
            <a:r>
              <a:rPr lang="en-US" altLang="zh-CN" sz="2800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(1)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  <a:defRPr/>
            </a:pPr>
            <a:r>
              <a:rPr lang="en-US" altLang="zh-CN" sz="2800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(2)</a:t>
            </a:r>
          </a:p>
        </p:txBody>
      </p:sp>
      <p:sp>
        <p:nvSpPr>
          <p:cNvPr id="553993" name="文本框 553992"/>
          <p:cNvSpPr txBox="1"/>
          <p:nvPr/>
        </p:nvSpPr>
        <p:spPr>
          <a:xfrm>
            <a:off x="6450013" y="2781300"/>
            <a:ext cx="3600450" cy="3841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E:</a:t>
            </a:r>
            <a:endParaRPr lang="en-US" altLang="zh-CN" b="1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553994" name="对象 553993"/>
          <p:cNvGraphicFramePr/>
          <p:nvPr/>
        </p:nvGraphicFramePr>
        <p:xfrm>
          <a:off x="4146550" y="2838450"/>
          <a:ext cx="2154238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0" r:id="rId7" imgW="948055" imgH="290195" progId="Equation.3">
                  <p:embed/>
                </p:oleObj>
              </mc:Choice>
              <mc:Fallback>
                <p:oleObj r:id="rId7" imgW="948055" imgH="290195" progId="Equation.3">
                  <p:embed/>
                  <p:pic>
                    <p:nvPicPr>
                      <p:cNvPr id="0" name="对象 55399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550" y="2838450"/>
                        <a:ext cx="2154238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995" name="对象 553994"/>
          <p:cNvGraphicFramePr/>
          <p:nvPr/>
        </p:nvGraphicFramePr>
        <p:xfrm>
          <a:off x="465138" y="2732088"/>
          <a:ext cx="3170237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1" r:id="rId9" imgW="1393825" imgH="457200" progId="Equation.3">
                  <p:embed/>
                </p:oleObj>
              </mc:Choice>
              <mc:Fallback>
                <p:oleObj r:id="rId9" imgW="1393825" imgH="457200" progId="Equation.3">
                  <p:embed/>
                  <p:pic>
                    <p:nvPicPr>
                      <p:cNvPr id="0" name="对象 553994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2732088"/>
                        <a:ext cx="3170237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996" name="右箭头 553995"/>
          <p:cNvSpPr>
            <a:spLocks noChangeArrowheads="1"/>
          </p:cNvSpPr>
          <p:nvPr/>
        </p:nvSpPr>
        <p:spPr bwMode="auto">
          <a:xfrm>
            <a:off x="3840163" y="2924175"/>
            <a:ext cx="227012" cy="61753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553997" name="矩形 553996"/>
          <p:cNvSpPr>
            <a:spLocks noChangeArrowheads="1"/>
          </p:cNvSpPr>
          <p:nvPr/>
        </p:nvSpPr>
        <p:spPr bwMode="auto">
          <a:xfrm>
            <a:off x="1612900" y="4078288"/>
            <a:ext cx="553402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zh-CN" altLang="en-US" baseline="0">
                <a:solidFill>
                  <a:srgbClr val="CC3300"/>
                </a:solidFill>
                <a:ea typeface="华文新魏" panose="02010800040101010101" pitchFamily="2" charset="-122"/>
              </a:rPr>
              <a:t>物理上的主要任务是解方程</a:t>
            </a:r>
            <a:r>
              <a:rPr lang="en-US" altLang="zh-CN" baseline="0">
                <a:solidFill>
                  <a:srgbClr val="CC3300"/>
                </a:solidFill>
                <a:ea typeface="华文新魏" panose="02010800040101010101" pitchFamily="2" charset="-122"/>
              </a:rPr>
              <a:t>(2)</a:t>
            </a:r>
          </a:p>
        </p:txBody>
      </p:sp>
      <p:graphicFrame>
        <p:nvGraphicFramePr>
          <p:cNvPr id="553998" name="对象 553997"/>
          <p:cNvGraphicFramePr/>
          <p:nvPr/>
        </p:nvGraphicFramePr>
        <p:xfrm>
          <a:off x="4676775" y="4581525"/>
          <a:ext cx="22780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2" r:id="rId11" imgW="2007235" imgH="669290" progId="Equation.3">
                  <p:embed/>
                </p:oleObj>
              </mc:Choice>
              <mc:Fallback>
                <p:oleObj r:id="rId11" imgW="2007235" imgH="669290" progId="Equation.3">
                  <p:embed/>
                  <p:pic>
                    <p:nvPicPr>
                      <p:cNvPr id="0" name="对象 55399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775" y="4581525"/>
                        <a:ext cx="22780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999" name="文本框 553998"/>
          <p:cNvSpPr txBox="1">
            <a:spLocks noChangeArrowheads="1"/>
          </p:cNvSpPr>
          <p:nvPr/>
        </p:nvSpPr>
        <p:spPr bwMode="auto">
          <a:xfrm>
            <a:off x="188913" y="5802313"/>
            <a:ext cx="41671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aseline="0">
                <a:solidFill>
                  <a:srgbClr val="CC0000"/>
                </a:solidFill>
                <a:latin typeface="楷体_GB2312" pitchFamily="49" charset="-122"/>
                <a:ea typeface="华文新魏" panose="02010800040101010101" pitchFamily="2" charset="-122"/>
              </a:rPr>
              <a:t>定态</a:t>
            </a:r>
            <a:r>
              <a:rPr lang="zh-CN" altLang="en-US" baseline="0">
                <a:latin typeface="楷体_GB2312" pitchFamily="49" charset="-122"/>
                <a:ea typeface="华文新魏" panose="02010800040101010101" pitchFamily="2" charset="-122"/>
              </a:rPr>
              <a:t>薛定谔方程：</a:t>
            </a:r>
            <a:endParaRPr lang="zh-CN" altLang="en-US" baseline="0">
              <a:latin typeface="宋体" panose="0201060003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54000" name="对象 553999"/>
          <p:cNvGraphicFramePr/>
          <p:nvPr/>
        </p:nvGraphicFramePr>
        <p:xfrm>
          <a:off x="3332163" y="5576888"/>
          <a:ext cx="4764087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3" r:id="rId13" imgW="2319655" imgH="535305" progId="Equation.3">
                  <p:embed/>
                </p:oleObj>
              </mc:Choice>
              <mc:Fallback>
                <p:oleObj r:id="rId13" imgW="2319655" imgH="535305" progId="Equation.3">
                  <p:embed/>
                  <p:pic>
                    <p:nvPicPr>
                      <p:cNvPr id="0" name="对象 553999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3" y="5576888"/>
                        <a:ext cx="4764087" cy="10922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ECFF"/>
                          </a:gs>
                          <a:gs pos="50000">
                            <a:srgbClr val="FFFFFF"/>
                          </a:gs>
                          <a:gs pos="100000">
                            <a:srgbClr val="CCECFF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001" name="对象 554000"/>
          <p:cNvGraphicFramePr/>
          <p:nvPr/>
        </p:nvGraphicFramePr>
        <p:xfrm>
          <a:off x="1420813" y="4652963"/>
          <a:ext cx="2598737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4" r:id="rId15" imgW="1204595" imgH="245110" progId="Equation.3">
                  <p:embed/>
                </p:oleObj>
              </mc:Choice>
              <mc:Fallback>
                <p:oleObj r:id="rId15" imgW="1204595" imgH="245110" progId="Equation.3">
                  <p:embed/>
                  <p:pic>
                    <p:nvPicPr>
                      <p:cNvPr id="0" name="对象 554000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813" y="4652963"/>
                        <a:ext cx="2598737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4002" name="矩形 554001"/>
          <p:cNvSpPr/>
          <p:nvPr/>
        </p:nvSpPr>
        <p:spPr>
          <a:xfrm>
            <a:off x="6408738" y="3068638"/>
            <a:ext cx="4572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具有能量的量纲   </a:t>
            </a:r>
          </a:p>
          <a:p>
            <a:pPr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代表粒子的能量</a:t>
            </a:r>
          </a:p>
        </p:txBody>
      </p:sp>
      <p:graphicFrame>
        <p:nvGraphicFramePr>
          <p:cNvPr id="19" name="对象 18"/>
          <p:cNvGraphicFramePr/>
          <p:nvPr/>
        </p:nvGraphicFramePr>
        <p:xfrm>
          <a:off x="6992938" y="2590800"/>
          <a:ext cx="19954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5" r:id="rId17" imgW="2274570" imgH="591185" progId="Equation.DSMT4">
                  <p:embed/>
                </p:oleObj>
              </mc:Choice>
              <mc:Fallback>
                <p:oleObj r:id="rId17" imgW="2274570" imgH="591185" progId="Equation.DSMT4">
                  <p:embed/>
                  <p:pic>
                    <p:nvPicPr>
                      <p:cNvPr id="0" name="对象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938" y="2590800"/>
                        <a:ext cx="19954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5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5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53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5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53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55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55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553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554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5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55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91" grpId="0"/>
      <p:bldP spid="553992" grpId="0"/>
      <p:bldP spid="553993" grpId="0"/>
      <p:bldP spid="553997" grpId="0"/>
      <p:bldP spid="553999" grpId="0"/>
      <p:bldP spid="55400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文本框 664579"/>
          <p:cNvSpPr txBox="1">
            <a:spLocks noChangeArrowheads="1"/>
          </p:cNvSpPr>
          <p:nvPr/>
        </p:nvSpPr>
        <p:spPr bwMode="auto">
          <a:xfrm>
            <a:off x="188913" y="341313"/>
            <a:ext cx="41671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aseline="0">
                <a:solidFill>
                  <a:srgbClr val="CC3300"/>
                </a:solidFill>
                <a:latin typeface="楷体_GB2312" pitchFamily="49" charset="-122"/>
                <a:ea typeface="华文新魏" panose="02010800040101010101" pitchFamily="2" charset="-122"/>
              </a:rPr>
              <a:t>定态薛定谔方程：</a:t>
            </a:r>
            <a:endParaRPr lang="zh-CN" altLang="en-US" baseline="0">
              <a:solidFill>
                <a:srgbClr val="CC3300"/>
              </a:solidFill>
              <a:latin typeface="宋体" panose="0201060003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70659" name="对象 664580"/>
          <p:cNvGraphicFramePr/>
          <p:nvPr/>
        </p:nvGraphicFramePr>
        <p:xfrm>
          <a:off x="1908175" y="1905000"/>
          <a:ext cx="476408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2" r:id="rId3" imgW="2319655" imgH="535305" progId="Equation.3">
                  <p:embed/>
                </p:oleObj>
              </mc:Choice>
              <mc:Fallback>
                <p:oleObj r:id="rId3" imgW="2319655" imgH="535305" progId="Equation.3">
                  <p:embed/>
                  <p:pic>
                    <p:nvPicPr>
                      <p:cNvPr id="0" name="对象 66458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905000"/>
                        <a:ext cx="4764088" cy="10922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FFFF"/>
                          </a:gs>
                          <a:gs pos="50000">
                            <a:srgbClr val="FFFFFF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对象 664581"/>
          <p:cNvGraphicFramePr/>
          <p:nvPr/>
        </p:nvGraphicFramePr>
        <p:xfrm>
          <a:off x="2843213" y="1125538"/>
          <a:ext cx="260032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3" r:id="rId5" imgW="1204595" imgH="245110" progId="Equation.3">
                  <p:embed/>
                </p:oleObj>
              </mc:Choice>
              <mc:Fallback>
                <p:oleObj r:id="rId5" imgW="1204595" imgH="245110" progId="Equation.3">
                  <p:embed/>
                  <p:pic>
                    <p:nvPicPr>
                      <p:cNvPr id="0" name="对象 66458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125538"/>
                        <a:ext cx="260032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3" name="对象 664582"/>
          <p:cNvGraphicFramePr/>
          <p:nvPr/>
        </p:nvGraphicFramePr>
        <p:xfrm>
          <a:off x="2130425" y="3957638"/>
          <a:ext cx="8096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4" r:id="rId7" imgW="379095" imgH="200660" progId="Equation.3">
                  <p:embed/>
                </p:oleObj>
              </mc:Choice>
              <mc:Fallback>
                <p:oleObj r:id="rId7" imgW="379095" imgH="200660" progId="Equation.3">
                  <p:embed/>
                  <p:pic>
                    <p:nvPicPr>
                      <p:cNvPr id="0" name="对象 66458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3957638"/>
                        <a:ext cx="8096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584" name="文本框 664583"/>
          <p:cNvSpPr txBox="1"/>
          <p:nvPr/>
        </p:nvSpPr>
        <p:spPr>
          <a:xfrm>
            <a:off x="3119438" y="3892550"/>
            <a:ext cx="2514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zh-CN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</a:rPr>
              <a:t>的具体形式</a:t>
            </a:r>
            <a:endParaRPr lang="en-US" altLang="zh-CN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664585" name="文本框 664584"/>
          <p:cNvSpPr txBox="1"/>
          <p:nvPr/>
        </p:nvSpPr>
        <p:spPr>
          <a:xfrm>
            <a:off x="752475" y="3919538"/>
            <a:ext cx="1600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</a:rPr>
              <a:t>依赖于</a:t>
            </a:r>
          </a:p>
        </p:txBody>
      </p:sp>
      <p:sp>
        <p:nvSpPr>
          <p:cNvPr id="664586" name="文本框 664585"/>
          <p:cNvSpPr txBox="1"/>
          <p:nvPr/>
        </p:nvSpPr>
        <p:spPr>
          <a:xfrm>
            <a:off x="179388" y="3203575"/>
            <a:ext cx="6478587" cy="5127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spcBef>
                <a:spcPct val="50000"/>
              </a:spcBef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方程解的形式</a:t>
            </a:r>
            <a:r>
              <a:rPr lang="en-US" altLang="zh-CN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?</a:t>
            </a:r>
          </a:p>
        </p:txBody>
      </p:sp>
      <p:sp>
        <p:nvSpPr>
          <p:cNvPr id="664587" name="矩形 664586"/>
          <p:cNvSpPr/>
          <p:nvPr/>
        </p:nvSpPr>
        <p:spPr>
          <a:xfrm>
            <a:off x="742950" y="4386263"/>
            <a:ext cx="7924800" cy="2306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从数学上讲  给定一个</a:t>
            </a:r>
            <a:r>
              <a:rPr lang="en-US" altLang="zh-CN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E </a:t>
            </a: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就有相应的解</a:t>
            </a:r>
          </a:p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从物理上讲</a:t>
            </a:r>
            <a:r>
              <a:rPr lang="zh-CN" altLang="en-US" baseline="0" noProof="1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  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只有特定的</a:t>
            </a:r>
            <a:r>
              <a:rPr lang="en-US" altLang="zh-CN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E</a:t>
            </a:r>
            <a:r>
              <a:rPr lang="en-US" altLang="zh-CN" i="1" baseline="0" noProof="1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 </a:t>
            </a: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才是物理上可接受的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　　　　　　才能使波函数满足单值，有限，连续。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baseline="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66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66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664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664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664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584" grpId="0"/>
      <p:bldP spid="664585" grpId="0"/>
      <p:bldP spid="664587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对象 665601"/>
          <p:cNvGraphicFramePr/>
          <p:nvPr/>
        </p:nvGraphicFramePr>
        <p:xfrm>
          <a:off x="1908175" y="115888"/>
          <a:ext cx="476408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1" r:id="rId3" imgW="2319655" imgH="535305" progId="Equation.3">
                  <p:embed/>
                </p:oleObj>
              </mc:Choice>
              <mc:Fallback>
                <p:oleObj r:id="rId3" imgW="2319655" imgH="535305" progId="Equation.3">
                  <p:embed/>
                  <p:pic>
                    <p:nvPicPr>
                      <p:cNvPr id="0" name="对象 66560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15888"/>
                        <a:ext cx="4764088" cy="10922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FFFF"/>
                          </a:gs>
                          <a:gs pos="50000">
                            <a:srgbClr val="FFFFFF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03" name="矩形 665602"/>
          <p:cNvSpPr/>
          <p:nvPr/>
        </p:nvSpPr>
        <p:spPr>
          <a:xfrm>
            <a:off x="827088" y="1341438"/>
            <a:ext cx="79248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特定的</a:t>
            </a:r>
            <a:r>
              <a:rPr lang="en-US" altLang="zh-CN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E </a:t>
            </a: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值称为能量的</a:t>
            </a:r>
            <a:r>
              <a:rPr lang="zh-CN" altLang="en-US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本征值</a:t>
            </a:r>
          </a:p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</a:rPr>
              <a:t>各</a:t>
            </a:r>
            <a:r>
              <a:rPr lang="en-US" altLang="zh-CN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E </a:t>
            </a:r>
            <a:r>
              <a:rPr lang="zh-CN" altLang="en-US" baseline="0" noProof="1">
                <a:solidFill>
                  <a:schemeClr val="accent2"/>
                </a:solidFill>
              </a:rPr>
              <a:t>值</a:t>
            </a: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对应的　　　叫做能量</a:t>
            </a:r>
            <a:r>
              <a:rPr lang="zh-CN" altLang="en-US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本征函数</a:t>
            </a:r>
          </a:p>
        </p:txBody>
      </p:sp>
      <p:graphicFrame>
        <p:nvGraphicFramePr>
          <p:cNvPr id="665604" name="对象 665603"/>
          <p:cNvGraphicFramePr/>
          <p:nvPr/>
        </p:nvGraphicFramePr>
        <p:xfrm>
          <a:off x="2843213" y="2060575"/>
          <a:ext cx="79216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2" r:id="rId5" imgW="418465" imgH="215900" progId="Equation.3">
                  <p:embed/>
                </p:oleObj>
              </mc:Choice>
              <mc:Fallback>
                <p:oleObj r:id="rId5" imgW="418465" imgH="215900" progId="Equation.3">
                  <p:embed/>
                  <p:pic>
                    <p:nvPicPr>
                      <p:cNvPr id="0" name="对象 66560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060575"/>
                        <a:ext cx="792162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05" name="矩形 665604"/>
          <p:cNvSpPr/>
          <p:nvPr/>
        </p:nvSpPr>
        <p:spPr>
          <a:xfrm>
            <a:off x="814388" y="2506663"/>
            <a:ext cx="7924800" cy="639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故该方程又称为：能量</a:t>
            </a:r>
            <a:r>
              <a:rPr lang="zh-CN" altLang="en-US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本征方程</a:t>
            </a:r>
            <a:endParaRPr lang="zh-CN" altLang="en-US" baseline="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graphicFrame>
        <p:nvGraphicFramePr>
          <p:cNvPr id="665607" name="对象 665606"/>
          <p:cNvGraphicFramePr/>
          <p:nvPr/>
        </p:nvGraphicFramePr>
        <p:xfrm>
          <a:off x="1600200" y="5799138"/>
          <a:ext cx="43910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3" r:id="rId7" imgW="2430780" imgH="579755" progId="Equation.3">
                  <p:embed/>
                </p:oleObj>
              </mc:Choice>
              <mc:Fallback>
                <p:oleObj r:id="rId7" imgW="2430780" imgH="579755" progId="Equation.3">
                  <p:embed/>
                  <p:pic>
                    <p:nvPicPr>
                      <p:cNvPr id="0" name="对象 66560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799138"/>
                        <a:ext cx="43910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08" name="文本框 665607"/>
          <p:cNvSpPr txBox="1"/>
          <p:nvPr/>
        </p:nvSpPr>
        <p:spPr>
          <a:xfrm>
            <a:off x="879475" y="609282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即</a:t>
            </a:r>
          </a:p>
        </p:txBody>
      </p:sp>
      <p:sp>
        <p:nvSpPr>
          <p:cNvPr id="665609" name="文本框 665608"/>
          <p:cNvSpPr txBox="1"/>
          <p:nvPr/>
        </p:nvSpPr>
        <p:spPr>
          <a:xfrm>
            <a:off x="6372225" y="6092825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与时间无关</a:t>
            </a:r>
          </a:p>
        </p:txBody>
      </p:sp>
      <p:sp>
        <p:nvSpPr>
          <p:cNvPr id="665610" name="矩形 665609"/>
          <p:cNvSpPr/>
          <p:nvPr/>
        </p:nvSpPr>
        <p:spPr>
          <a:xfrm>
            <a:off x="827088" y="3148013"/>
            <a:ext cx="7924800" cy="639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定态波函数为</a:t>
            </a:r>
            <a:endParaRPr lang="zh-CN" altLang="en-US" baseline="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graphicFrame>
        <p:nvGraphicFramePr>
          <p:cNvPr id="665611" name="内容占位符 665610"/>
          <p:cNvGraphicFramePr>
            <a:graphicFrameLocks noGrp="1"/>
          </p:cNvGraphicFramePr>
          <p:nvPr>
            <p:ph sz="half" idx="1"/>
          </p:nvPr>
        </p:nvGraphicFramePr>
        <p:xfrm>
          <a:off x="3132138" y="3068638"/>
          <a:ext cx="4535487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4" r:id="rId9" imgW="3456940" imgH="579755" progId="Equation.3">
                  <p:embed/>
                </p:oleObj>
              </mc:Choice>
              <mc:Fallback>
                <p:oleObj r:id="rId9" imgW="3456940" imgH="579755" progId="Equation.3">
                  <p:embed/>
                  <p:pic>
                    <p:nvPicPr>
                      <p:cNvPr id="0" name="内容占位符 66561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068638"/>
                        <a:ext cx="4535487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5612" name="组合 665611"/>
          <p:cNvGrpSpPr/>
          <p:nvPr/>
        </p:nvGrpSpPr>
        <p:grpSpPr bwMode="auto">
          <a:xfrm>
            <a:off x="2771775" y="4076700"/>
            <a:ext cx="4113213" cy="790575"/>
            <a:chOff x="1927" y="2387"/>
            <a:chExt cx="3085" cy="635"/>
          </a:xfrm>
        </p:grpSpPr>
        <p:sp>
          <p:nvSpPr>
            <p:cNvPr id="71695" name="矩形 665612"/>
            <p:cNvSpPr>
              <a:spLocks noChangeArrowheads="1"/>
            </p:cNvSpPr>
            <p:nvPr/>
          </p:nvSpPr>
          <p:spPr bwMode="auto">
            <a:xfrm>
              <a:off x="1927" y="2434"/>
              <a:ext cx="3085" cy="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aphicFrame>
          <p:nvGraphicFramePr>
            <p:cNvPr id="71696" name="对象 665613"/>
            <p:cNvGraphicFramePr/>
            <p:nvPr/>
          </p:nvGraphicFramePr>
          <p:xfrm>
            <a:off x="2275" y="2387"/>
            <a:ext cx="2393" cy="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5" r:id="rId11" imgW="1349375" imgH="356870" progId="Equation.3">
                    <p:embed/>
                  </p:oleObj>
                </mc:Choice>
                <mc:Fallback>
                  <p:oleObj r:id="rId11" imgW="1349375" imgH="356870" progId="Equation.3">
                    <p:embed/>
                    <p:pic>
                      <p:nvPicPr>
                        <p:cNvPr id="0" name="对象 6656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5" y="2387"/>
                          <a:ext cx="2393" cy="635"/>
                        </a:xfrm>
                        <a:prstGeom prst="rect">
                          <a:avLst/>
                        </a:prstGeom>
                        <a:noFill/>
                        <a:ln w="57150" cmpd="thinThick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615" name="文本框 665614"/>
          <p:cNvSpPr txBox="1"/>
          <p:nvPr/>
        </p:nvSpPr>
        <p:spPr>
          <a:xfrm>
            <a:off x="1427163" y="4356100"/>
            <a:ext cx="11033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或写成</a:t>
            </a:r>
          </a:p>
        </p:txBody>
      </p:sp>
      <p:sp>
        <p:nvSpPr>
          <p:cNvPr id="665616" name="矩形 665615"/>
          <p:cNvSpPr/>
          <p:nvPr/>
        </p:nvSpPr>
        <p:spPr>
          <a:xfrm>
            <a:off x="814388" y="4805363"/>
            <a:ext cx="7924800" cy="639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定态：</a:t>
            </a:r>
            <a:r>
              <a:rPr lang="zh-CN" altLang="en-US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能量取确定值</a:t>
            </a: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的状态</a:t>
            </a:r>
            <a:endParaRPr lang="zh-CN" altLang="en-US" baseline="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665617" name="矩形 665616"/>
          <p:cNvSpPr/>
          <p:nvPr/>
        </p:nvSpPr>
        <p:spPr>
          <a:xfrm>
            <a:off x="900113" y="5419725"/>
            <a:ext cx="6913562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又指粒子在空间的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概率密度不随时间变化的状态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6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66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665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6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6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66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665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6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66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66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66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3" grpId="0" uiExpand="1" build="p"/>
      <p:bldP spid="665605" grpId="0" build="p"/>
      <p:bldP spid="665608" grpId="0"/>
      <p:bldP spid="665609" grpId="0"/>
      <p:bldP spid="665610" grpId="0" build="p"/>
      <p:bldP spid="665615" grpId="0"/>
      <p:bldP spid="665616" grpId="0" build="p"/>
      <p:bldP spid="66561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副标题 583681"/>
          <p:cNvSpPr>
            <a:spLocks noGrp="1" noChangeArrowheads="1"/>
          </p:cNvSpPr>
          <p:nvPr>
            <p:ph type="subTitle" idx="1"/>
          </p:nvPr>
        </p:nvSpPr>
        <p:spPr>
          <a:xfrm>
            <a:off x="684213" y="692150"/>
            <a:ext cx="5041900" cy="1223963"/>
          </a:xfrm>
          <a:prstGeom prst="ellipse">
            <a:avLst/>
          </a:prstGeom>
          <a:gradFill rotWithShape="1">
            <a:gsLst>
              <a:gs pos="0">
                <a:srgbClr val="AEBA3C"/>
              </a:gs>
              <a:gs pos="50000">
                <a:srgbClr val="FFFF66"/>
              </a:gs>
              <a:gs pos="100000">
                <a:srgbClr val="AEBA3C"/>
              </a:gs>
            </a:gsLst>
            <a:lin ang="5400000" scaled="1"/>
          </a:gradFill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spcBef>
                <a:spcPct val="40000"/>
              </a:spcBef>
            </a:pPr>
            <a:r>
              <a:rPr lang="zh-CN" altLang="en-US" sz="3200" b="1" noProof="1">
                <a:solidFill>
                  <a:srgbClr val="11097F"/>
                </a:solidFill>
                <a:ea typeface="隶书" panose="02010509060101010101" pitchFamily="49" charset="-122"/>
              </a:rPr>
              <a:t>一维无限深势阱中运动的粒子</a:t>
            </a:r>
            <a:endParaRPr lang="zh-CN" altLang="en-US" sz="3200" noProof="1">
              <a:solidFill>
                <a:srgbClr val="11097F"/>
              </a:solidFill>
              <a:ea typeface="隶书" panose="020105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endParaRPr lang="zh-CN" altLang="en-US" sz="3200" noProof="1">
              <a:solidFill>
                <a:srgbClr val="11097F"/>
              </a:solidFill>
              <a:ea typeface="隶书" panose="02010509060101010101" pitchFamily="49" charset="-122"/>
            </a:endParaRPr>
          </a:p>
        </p:txBody>
      </p:sp>
      <p:sp>
        <p:nvSpPr>
          <p:cNvPr id="72707" name="矩形 583682"/>
          <p:cNvSpPr>
            <a:spLocks noChangeArrowheads="1"/>
          </p:cNvSpPr>
          <p:nvPr/>
        </p:nvSpPr>
        <p:spPr bwMode="auto">
          <a:xfrm>
            <a:off x="2471738" y="-6350"/>
            <a:ext cx="39164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aseline="0" dirty="0">
                <a:solidFill>
                  <a:srgbClr val="CC3300"/>
                </a:solidFill>
                <a:ea typeface="黑体" panose="02010609060101010101" pitchFamily="49" charset="-122"/>
              </a:rPr>
              <a:t>15-9 </a:t>
            </a:r>
            <a:r>
              <a:rPr lang="zh-CN" altLang="en-US" sz="3600" baseline="0" dirty="0">
                <a:solidFill>
                  <a:srgbClr val="CC3300"/>
                </a:solidFill>
                <a:ea typeface="黑体" panose="02010609060101010101" pitchFamily="49" charset="-122"/>
              </a:rPr>
              <a:t>一维定态问题</a:t>
            </a:r>
          </a:p>
        </p:txBody>
      </p:sp>
      <p:sp>
        <p:nvSpPr>
          <p:cNvPr id="583684" name="矩形 583683"/>
          <p:cNvSpPr>
            <a:spLocks noChangeArrowheads="1"/>
          </p:cNvSpPr>
          <p:nvPr/>
        </p:nvSpPr>
        <p:spPr bwMode="auto">
          <a:xfrm>
            <a:off x="611188" y="2060575"/>
            <a:ext cx="5689600" cy="1601788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 w="19050">
            <a:solidFill>
              <a:srgbClr val="33CCCC"/>
            </a:solidFill>
            <a:miter lim="800000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83685" name="文本框 583684"/>
          <p:cNvSpPr txBox="1"/>
          <p:nvPr/>
        </p:nvSpPr>
        <p:spPr>
          <a:xfrm>
            <a:off x="684213" y="4205288"/>
            <a:ext cx="7924800" cy="2492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1.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由粒子运动的实际情况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写出势函数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2.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代入定态薛定谔方程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3.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解出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能量本征值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和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相应的本征函数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4.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求出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能级分布、概率密度分布，讨论其物理意义</a:t>
            </a:r>
          </a:p>
        </p:txBody>
      </p:sp>
      <p:sp>
        <p:nvSpPr>
          <p:cNvPr id="583686" name="文本框 583685"/>
          <p:cNvSpPr txBox="1">
            <a:spLocks noChangeArrowheads="1"/>
          </p:cNvSpPr>
          <p:nvPr/>
        </p:nvSpPr>
        <p:spPr bwMode="auto">
          <a:xfrm>
            <a:off x="469900" y="3702050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baseline="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量子力学解题的一般思路</a:t>
            </a:r>
            <a:endParaRPr lang="zh-CN" altLang="en-US" sz="2800" baseline="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583687" name="文本框 583686"/>
          <p:cNvSpPr txBox="1">
            <a:spLocks noChangeArrowheads="1"/>
          </p:cNvSpPr>
          <p:nvPr/>
        </p:nvSpPr>
        <p:spPr bwMode="auto">
          <a:xfrm>
            <a:off x="1617663" y="2006600"/>
            <a:ext cx="4176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baseline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一维定态薛定谔方程</a:t>
            </a:r>
            <a:endParaRPr lang="zh-CN" altLang="en-US" sz="2800" b="1" baseline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583688" name="对象 583687"/>
          <p:cNvGraphicFramePr/>
          <p:nvPr/>
        </p:nvGraphicFramePr>
        <p:xfrm>
          <a:off x="2387600" y="4729163"/>
          <a:ext cx="7699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6" name="Equation" r:id="rId4" imgW="412750" imgH="234315" progId="Equation.DSMT4">
                  <p:embed/>
                </p:oleObj>
              </mc:Choice>
              <mc:Fallback>
                <p:oleObj name="Equation" r:id="rId4" imgW="412750" imgH="234315" progId="Equation.DSMT4">
                  <p:embed/>
                  <p:pic>
                    <p:nvPicPr>
                      <p:cNvPr id="583688" name="对象 58368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4729163"/>
                        <a:ext cx="76993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689" name="对象 583688"/>
          <p:cNvGraphicFramePr/>
          <p:nvPr/>
        </p:nvGraphicFramePr>
        <p:xfrm>
          <a:off x="1041400" y="2541588"/>
          <a:ext cx="476567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7" r:id="rId6" imgW="2374900" imgH="535305" progId="Equation.3">
                  <p:embed/>
                </p:oleObj>
              </mc:Choice>
              <mc:Fallback>
                <p:oleObj r:id="rId6" imgW="2374900" imgH="535305" progId="Equation.3">
                  <p:embed/>
                  <p:pic>
                    <p:nvPicPr>
                      <p:cNvPr id="583689" name="对象 58368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2541588"/>
                        <a:ext cx="476567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90" name="椭圆 583689"/>
          <p:cNvSpPr>
            <a:spLocks noChangeArrowheads="1"/>
          </p:cNvSpPr>
          <p:nvPr/>
        </p:nvSpPr>
        <p:spPr bwMode="auto">
          <a:xfrm>
            <a:off x="5796483" y="765175"/>
            <a:ext cx="2447925" cy="1079500"/>
          </a:xfrm>
          <a:prstGeom prst="ellipse">
            <a:avLst/>
          </a:prstGeom>
          <a:gradFill rotWithShape="1">
            <a:gsLst>
              <a:gs pos="0">
                <a:srgbClr val="AEBA3C"/>
              </a:gs>
              <a:gs pos="50000">
                <a:srgbClr val="FFFF66"/>
              </a:gs>
              <a:gs pos="100000">
                <a:srgbClr val="AEBA3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40000"/>
              </a:spcBef>
              <a:buFontTx/>
              <a:buNone/>
            </a:pPr>
            <a:endParaRPr lang="en-US" altLang="zh-CN" b="1" baseline="0" dirty="0">
              <a:solidFill>
                <a:srgbClr val="11097F"/>
              </a:solidFill>
              <a:ea typeface="隶书" panose="02010509060101010101" pitchFamily="49" charset="-122"/>
            </a:endParaRPr>
          </a:p>
          <a:p>
            <a:pPr>
              <a:spcBef>
                <a:spcPct val="40000"/>
              </a:spcBef>
              <a:buFontTx/>
              <a:buNone/>
            </a:pPr>
            <a:r>
              <a:rPr lang="zh-CN" altLang="en-US" b="1" baseline="0" dirty="0">
                <a:solidFill>
                  <a:srgbClr val="11097F"/>
                </a:solidFill>
                <a:ea typeface="隶书" panose="02010509060101010101" pitchFamily="49" charset="-122"/>
              </a:rPr>
              <a:t>势垒贯穿</a:t>
            </a:r>
            <a:endParaRPr lang="zh-CN" altLang="en-US" baseline="0" dirty="0">
              <a:ea typeface="隶书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baseline="0" dirty="0"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35580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8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8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583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83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8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83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83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83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83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83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836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2" grpId="0" animBg="1"/>
      <p:bldP spid="583685" grpId="0" build="p"/>
      <p:bldP spid="583686" grpId="0"/>
      <p:bldP spid="583687" grpId="0"/>
      <p:bldP spid="58369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5730" name="对象 585729"/>
          <p:cNvGraphicFramePr/>
          <p:nvPr/>
        </p:nvGraphicFramePr>
        <p:xfrm>
          <a:off x="719138" y="908050"/>
          <a:ext cx="17018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38" r:id="rId3" imgW="825500" imgH="501650" progId="Equation.3">
                  <p:embed/>
                </p:oleObj>
              </mc:Choice>
              <mc:Fallback>
                <p:oleObj r:id="rId3" imgW="825500" imgH="501650" progId="Equation.3">
                  <p:embed/>
                  <p:pic>
                    <p:nvPicPr>
                      <p:cNvPr id="0" name="对象 58572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908050"/>
                        <a:ext cx="17018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5731" name="对象 585730"/>
          <p:cNvGraphicFramePr/>
          <p:nvPr/>
        </p:nvGraphicFramePr>
        <p:xfrm>
          <a:off x="2700338" y="955675"/>
          <a:ext cx="18510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39" r:id="rId5" imgW="902970" imgH="445770" progId="Equation.3">
                  <p:embed/>
                </p:oleObj>
              </mc:Choice>
              <mc:Fallback>
                <p:oleObj r:id="rId5" imgW="902970" imgH="445770" progId="Equation.3">
                  <p:embed/>
                  <p:pic>
                    <p:nvPicPr>
                      <p:cNvPr id="0" name="对象 58573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955675"/>
                        <a:ext cx="185102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5732" name="文本框 585731"/>
          <p:cNvSpPr txBox="1"/>
          <p:nvPr/>
        </p:nvSpPr>
        <p:spPr>
          <a:xfrm>
            <a:off x="4378325" y="2613025"/>
            <a:ext cx="4665663" cy="2328863"/>
          </a:xfrm>
          <a:prstGeom prst="rect">
            <a:avLst/>
          </a:prstGeom>
          <a:noFill/>
          <a:ln w="952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粒子在势阱内势能为零 受力为零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在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阱内自由运动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在</a:t>
            </a:r>
            <a:r>
              <a:rPr lang="zh-CN" altLang="en-US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阱外势能为无穷大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在阱壁上受极大的斥力 不能到阱外</a:t>
            </a:r>
          </a:p>
        </p:txBody>
      </p:sp>
      <p:grpSp>
        <p:nvGrpSpPr>
          <p:cNvPr id="585733" name="组合 585732"/>
          <p:cNvGrpSpPr/>
          <p:nvPr/>
        </p:nvGrpSpPr>
        <p:grpSpPr bwMode="auto">
          <a:xfrm>
            <a:off x="1187450" y="3716338"/>
            <a:ext cx="892175" cy="782637"/>
            <a:chOff x="768" y="3530"/>
            <a:chExt cx="659" cy="577"/>
          </a:xfrm>
        </p:grpSpPr>
        <p:sp>
          <p:nvSpPr>
            <p:cNvPr id="74775" name="椭圆 585733"/>
            <p:cNvSpPr>
              <a:spLocks noChangeArrowheads="1"/>
            </p:cNvSpPr>
            <p:nvPr/>
          </p:nvSpPr>
          <p:spPr bwMode="auto">
            <a:xfrm>
              <a:off x="1162" y="38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8F1D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85735" name="文本框 585734"/>
            <p:cNvSpPr txBox="1"/>
            <p:nvPr/>
          </p:nvSpPr>
          <p:spPr>
            <a:xfrm>
              <a:off x="1103" y="3530"/>
              <a:ext cx="324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b="1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585736" name="文本框 585735"/>
            <p:cNvSpPr txBox="1"/>
            <p:nvPr/>
          </p:nvSpPr>
          <p:spPr>
            <a:xfrm>
              <a:off x="768" y="3770"/>
              <a:ext cx="286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b="1" i="1" baseline="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E</a:t>
              </a:r>
            </a:p>
          </p:txBody>
        </p:sp>
      </p:grpSp>
      <p:sp>
        <p:nvSpPr>
          <p:cNvPr id="585737" name="文本框 585736"/>
          <p:cNvSpPr txBox="1"/>
          <p:nvPr/>
        </p:nvSpPr>
        <p:spPr>
          <a:xfrm>
            <a:off x="611188" y="5245100"/>
            <a:ext cx="445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若是经典粒子，粒子如何运动？</a:t>
            </a:r>
          </a:p>
        </p:txBody>
      </p:sp>
      <p:sp>
        <p:nvSpPr>
          <p:cNvPr id="585738" name="文本框 585737"/>
          <p:cNvSpPr txBox="1"/>
          <p:nvPr/>
        </p:nvSpPr>
        <p:spPr>
          <a:xfrm>
            <a:off x="639763" y="5702300"/>
            <a:ext cx="4919662" cy="830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E  </a:t>
            </a: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可取任意值，且阱内各处出现的</a:t>
            </a:r>
          </a:p>
          <a:p>
            <a:pPr eaLnBrk="1" hangingPunct="1">
              <a:defRPr/>
            </a:pPr>
            <a:r>
              <a:rPr lang="zh-CN" altLang="en-US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概率相同</a:t>
            </a:r>
          </a:p>
        </p:txBody>
      </p:sp>
      <p:sp>
        <p:nvSpPr>
          <p:cNvPr id="585739" name="文本框 585738"/>
          <p:cNvSpPr txBox="1"/>
          <p:nvPr/>
        </p:nvSpPr>
        <p:spPr>
          <a:xfrm>
            <a:off x="4324350" y="2022475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rPr>
              <a:t>特点：</a:t>
            </a:r>
          </a:p>
        </p:txBody>
      </p:sp>
      <p:sp>
        <p:nvSpPr>
          <p:cNvPr id="74761" name="矩形 585739"/>
          <p:cNvSpPr>
            <a:spLocks noChangeArrowheads="1"/>
          </p:cNvSpPr>
          <p:nvPr/>
        </p:nvSpPr>
        <p:spPr bwMode="auto">
          <a:xfrm>
            <a:off x="250825" y="188913"/>
            <a:ext cx="5184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aseline="0">
                <a:solidFill>
                  <a:srgbClr val="CC3300"/>
                </a:solidFill>
                <a:ea typeface="黑体" panose="02010609060101010101" pitchFamily="49" charset="-122"/>
              </a:rPr>
              <a:t>一、一维无限深方势阱</a:t>
            </a:r>
            <a:endParaRPr lang="zh-CN" altLang="en-US" baseline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85741" name="组合 585740"/>
          <p:cNvGrpSpPr/>
          <p:nvPr/>
        </p:nvGrpSpPr>
        <p:grpSpPr bwMode="auto">
          <a:xfrm>
            <a:off x="395288" y="1844675"/>
            <a:ext cx="2819400" cy="3200400"/>
            <a:chOff x="3787" y="3410"/>
            <a:chExt cx="1776" cy="2016"/>
          </a:xfrm>
        </p:grpSpPr>
        <p:sp>
          <p:nvSpPr>
            <p:cNvPr id="74763" name="矩形 585741"/>
            <p:cNvSpPr>
              <a:spLocks noChangeArrowheads="1"/>
            </p:cNvSpPr>
            <p:nvPr/>
          </p:nvSpPr>
          <p:spPr bwMode="auto">
            <a:xfrm>
              <a:off x="4921" y="3999"/>
              <a:ext cx="454" cy="1133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74764" name="矩形 585742"/>
            <p:cNvSpPr>
              <a:spLocks noChangeArrowheads="1"/>
            </p:cNvSpPr>
            <p:nvPr/>
          </p:nvSpPr>
          <p:spPr bwMode="auto">
            <a:xfrm>
              <a:off x="3787" y="3999"/>
              <a:ext cx="454" cy="1133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74765" name="文本框 585743"/>
            <p:cNvSpPr txBox="1">
              <a:spLocks noChangeArrowheads="1"/>
            </p:cNvSpPr>
            <p:nvPr/>
          </p:nvSpPr>
          <p:spPr bwMode="auto">
            <a:xfrm>
              <a:off x="4150" y="5063"/>
              <a:ext cx="2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 baseline="0"/>
                <a:t>o</a:t>
              </a:r>
            </a:p>
          </p:txBody>
        </p:sp>
        <p:sp>
          <p:nvSpPr>
            <p:cNvPr id="74766" name="文本框 585744"/>
            <p:cNvSpPr txBox="1">
              <a:spLocks noChangeArrowheads="1"/>
            </p:cNvSpPr>
            <p:nvPr/>
          </p:nvSpPr>
          <p:spPr bwMode="auto">
            <a:xfrm>
              <a:off x="4830" y="5063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 baseline="0"/>
                <a:t>a</a:t>
              </a:r>
              <a:endParaRPr lang="en-US" altLang="zh-CN" sz="2400" b="1" baseline="0"/>
            </a:p>
          </p:txBody>
        </p:sp>
        <p:sp>
          <p:nvSpPr>
            <p:cNvPr id="74767" name="直接连接符 585745"/>
            <p:cNvSpPr>
              <a:spLocks noChangeShapeType="1"/>
            </p:cNvSpPr>
            <p:nvPr/>
          </p:nvSpPr>
          <p:spPr bwMode="auto">
            <a:xfrm>
              <a:off x="3787" y="5133"/>
              <a:ext cx="17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8" name="文本框 585746"/>
            <p:cNvSpPr txBox="1">
              <a:spLocks noChangeArrowheads="1"/>
            </p:cNvSpPr>
            <p:nvPr/>
          </p:nvSpPr>
          <p:spPr bwMode="auto">
            <a:xfrm>
              <a:off x="5353" y="5138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 baseline="0"/>
                <a:t>x</a:t>
              </a:r>
            </a:p>
          </p:txBody>
        </p:sp>
        <p:sp>
          <p:nvSpPr>
            <p:cNvPr id="74769" name="文本框 585747"/>
            <p:cNvSpPr txBox="1">
              <a:spLocks noChangeArrowheads="1"/>
            </p:cNvSpPr>
            <p:nvPr/>
          </p:nvSpPr>
          <p:spPr bwMode="auto">
            <a:xfrm>
              <a:off x="4345" y="3410"/>
              <a:ext cx="2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 baseline="0"/>
                <a:t>U</a:t>
              </a:r>
            </a:p>
          </p:txBody>
        </p:sp>
        <p:sp>
          <p:nvSpPr>
            <p:cNvPr id="74770" name="直接连接符 585748"/>
            <p:cNvSpPr>
              <a:spLocks noChangeShapeType="1"/>
            </p:cNvSpPr>
            <p:nvPr/>
          </p:nvSpPr>
          <p:spPr bwMode="auto">
            <a:xfrm flipV="1">
              <a:off x="4230" y="3506"/>
              <a:ext cx="0" cy="16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1" name="直接连接符 585749"/>
            <p:cNvSpPr>
              <a:spLocks noChangeShapeType="1"/>
            </p:cNvSpPr>
            <p:nvPr/>
          </p:nvSpPr>
          <p:spPr bwMode="auto">
            <a:xfrm flipV="1">
              <a:off x="4925" y="3890"/>
              <a:ext cx="0" cy="1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2" name="直接连接符 585750"/>
            <p:cNvSpPr>
              <a:spLocks noChangeShapeType="1"/>
            </p:cNvSpPr>
            <p:nvPr/>
          </p:nvSpPr>
          <p:spPr bwMode="auto">
            <a:xfrm flipV="1">
              <a:off x="4224" y="3890"/>
              <a:ext cx="0" cy="1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4773" name="对象 585751"/>
            <p:cNvGraphicFramePr/>
            <p:nvPr/>
          </p:nvGraphicFramePr>
          <p:xfrm>
            <a:off x="4967" y="3838"/>
            <a:ext cx="259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40" r:id="rId8" imgW="151765" imgH="127000" progId="Equation.3">
                    <p:embed/>
                  </p:oleObj>
                </mc:Choice>
                <mc:Fallback>
                  <p:oleObj r:id="rId8" imgW="151765" imgH="127000" progId="Equation.3">
                    <p:embed/>
                    <p:pic>
                      <p:nvPicPr>
                        <p:cNvPr id="0" name="对象 58575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3838"/>
                          <a:ext cx="259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74" name="对象 585752"/>
            <p:cNvGraphicFramePr/>
            <p:nvPr/>
          </p:nvGraphicFramePr>
          <p:xfrm>
            <a:off x="3923" y="3838"/>
            <a:ext cx="259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41" r:id="rId10" imgW="151765" imgH="127000" progId="Equation.3">
                    <p:embed/>
                  </p:oleObj>
                </mc:Choice>
                <mc:Fallback>
                  <p:oleObj r:id="rId10" imgW="151765" imgH="127000" progId="Equation.3">
                    <p:embed/>
                    <p:pic>
                      <p:nvPicPr>
                        <p:cNvPr id="0" name="对象 58575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3838"/>
                          <a:ext cx="259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5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8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8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8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85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857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85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85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585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85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585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58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58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732" grpId="0" build="p"/>
      <p:bldP spid="585732" grpId="1" build="allAtOnce" animBg="1"/>
      <p:bldP spid="585737" grpId="0"/>
      <p:bldP spid="585738" grpId="0"/>
      <p:bldP spid="58573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文本框 586753"/>
          <p:cNvSpPr txBox="1"/>
          <p:nvPr/>
        </p:nvSpPr>
        <p:spPr>
          <a:xfrm>
            <a:off x="0" y="0"/>
            <a:ext cx="5867400" cy="1033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zh-CN" altLang="en-US" sz="2800" baseline="0" noProof="1">
                <a:solidFill>
                  <a:srgbClr val="0033CC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求解定态</a:t>
            </a:r>
            <a:r>
              <a:rPr lang="zh-CN" altLang="en-US" sz="2800" baseline="0" noProof="1">
                <a:solidFill>
                  <a:srgbClr val="0033CC"/>
                </a:solidFill>
                <a:latin typeface="黑体" panose="02010609060101010101" pitchFamily="49" charset="-122"/>
              </a:rPr>
              <a:t>薛定谔方程：得</a:t>
            </a:r>
            <a:r>
              <a:rPr lang="zh-CN" altLang="en-US" sz="2800" baseline="0" noProof="1">
                <a:solidFill>
                  <a:schemeClr val="accent2"/>
                </a:solidFill>
                <a:latin typeface="黑体" panose="02010609060101010101" pitchFamily="49" charset="-122"/>
              </a:rPr>
              <a:t>到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zh-CN" sz="2800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ψ</a:t>
            </a:r>
            <a:r>
              <a:rPr lang="zh-CN" altLang="en-US" sz="2800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，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</a:rPr>
              <a:t>︱</a:t>
            </a:r>
            <a:r>
              <a:rPr lang="en-US" altLang="zh-CN" sz="2800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ψ 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︱</a:t>
            </a:r>
            <a:r>
              <a:rPr lang="en-US" altLang="zh-CN" sz="2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2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和</a:t>
            </a:r>
            <a:r>
              <a:rPr lang="en-US" altLang="zh-CN" sz="2800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E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分布</a:t>
            </a:r>
          </a:p>
        </p:txBody>
      </p:sp>
      <p:sp>
        <p:nvSpPr>
          <p:cNvPr id="586755" name="文本框 586754"/>
          <p:cNvSpPr txBox="1"/>
          <p:nvPr/>
        </p:nvSpPr>
        <p:spPr>
          <a:xfrm>
            <a:off x="611188" y="2392363"/>
            <a:ext cx="4953000" cy="749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80000"/>
              </a:lnSpc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阱外：</a:t>
            </a:r>
          </a:p>
        </p:txBody>
      </p:sp>
      <p:graphicFrame>
        <p:nvGraphicFramePr>
          <p:cNvPr id="586756" name="对象 586755"/>
          <p:cNvGraphicFramePr/>
          <p:nvPr/>
        </p:nvGraphicFramePr>
        <p:xfrm>
          <a:off x="1747838" y="2217738"/>
          <a:ext cx="44164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42" r:id="rId3" imgW="2207895" imgH="535305" progId="Equation.3">
                  <p:embed/>
                </p:oleObj>
              </mc:Choice>
              <mc:Fallback>
                <p:oleObj r:id="rId3" imgW="2207895" imgH="535305" progId="Equation.3">
                  <p:embed/>
                  <p:pic>
                    <p:nvPicPr>
                      <p:cNvPr id="0" name="对象 58675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2217738"/>
                        <a:ext cx="441642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757" name="对象 586756"/>
          <p:cNvGraphicFramePr/>
          <p:nvPr/>
        </p:nvGraphicFramePr>
        <p:xfrm>
          <a:off x="1873250" y="3302000"/>
          <a:ext cx="34702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43" r:id="rId5" imgW="2408555" imgH="680085" progId="Equation.3">
                  <p:embed/>
                </p:oleObj>
              </mc:Choice>
              <mc:Fallback>
                <p:oleObj r:id="rId5" imgW="2408555" imgH="680085" progId="Equation.3">
                  <p:embed/>
                  <p:pic>
                    <p:nvPicPr>
                      <p:cNvPr id="0" name="对象 58675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3302000"/>
                        <a:ext cx="34702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6758" name="文本框 586757"/>
          <p:cNvSpPr txBox="1"/>
          <p:nvPr/>
        </p:nvSpPr>
        <p:spPr>
          <a:xfrm>
            <a:off x="666750" y="3619500"/>
            <a:ext cx="1670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阱内：</a:t>
            </a:r>
          </a:p>
        </p:txBody>
      </p:sp>
      <p:graphicFrame>
        <p:nvGraphicFramePr>
          <p:cNvPr id="586759" name="对象 586758"/>
          <p:cNvGraphicFramePr/>
          <p:nvPr/>
        </p:nvGraphicFramePr>
        <p:xfrm>
          <a:off x="468313" y="1084263"/>
          <a:ext cx="476567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44" r:id="rId7" imgW="2374900" imgH="535305" progId="Equation.3">
                  <p:embed/>
                </p:oleObj>
              </mc:Choice>
              <mc:Fallback>
                <p:oleObj r:id="rId7" imgW="2374900" imgH="535305" progId="Equation.3">
                  <p:embed/>
                  <p:pic>
                    <p:nvPicPr>
                      <p:cNvPr id="0" name="对象 58675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084263"/>
                        <a:ext cx="4765675" cy="11207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FFFF"/>
                          </a:gs>
                          <a:gs pos="50000">
                            <a:srgbClr val="FFFFFF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33CC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5784" name="组合 586759"/>
          <p:cNvGrpSpPr/>
          <p:nvPr/>
        </p:nvGrpSpPr>
        <p:grpSpPr bwMode="auto">
          <a:xfrm>
            <a:off x="5364163" y="260350"/>
            <a:ext cx="3505200" cy="2447925"/>
            <a:chOff x="288" y="768"/>
            <a:chExt cx="2208" cy="1542"/>
          </a:xfrm>
        </p:grpSpPr>
        <p:sp>
          <p:nvSpPr>
            <p:cNvPr id="75797" name="直接连接符 586760"/>
            <p:cNvSpPr>
              <a:spLocks noChangeShapeType="1"/>
            </p:cNvSpPr>
            <p:nvPr/>
          </p:nvSpPr>
          <p:spPr bwMode="auto">
            <a:xfrm>
              <a:off x="417" y="1976"/>
              <a:ext cx="19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8" name="直接连接符 586761"/>
            <p:cNvSpPr>
              <a:spLocks noChangeShapeType="1"/>
            </p:cNvSpPr>
            <p:nvPr/>
          </p:nvSpPr>
          <p:spPr bwMode="auto">
            <a:xfrm flipH="1" flipV="1">
              <a:off x="969" y="819"/>
              <a:ext cx="0" cy="114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9" name="直接连接符 586762"/>
            <p:cNvSpPr>
              <a:spLocks noChangeShapeType="1"/>
            </p:cNvSpPr>
            <p:nvPr/>
          </p:nvSpPr>
          <p:spPr bwMode="auto">
            <a:xfrm>
              <a:off x="978" y="1661"/>
              <a:ext cx="709" cy="0"/>
            </a:xfrm>
            <a:prstGeom prst="line">
              <a:avLst/>
            </a:prstGeom>
            <a:noFill/>
            <a:ln w="28575">
              <a:solidFill>
                <a:srgbClr val="8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0" name="直接连接符 586763"/>
            <p:cNvSpPr>
              <a:spLocks noChangeShapeType="1"/>
            </p:cNvSpPr>
            <p:nvPr/>
          </p:nvSpPr>
          <p:spPr bwMode="auto">
            <a:xfrm flipV="1">
              <a:off x="1687" y="776"/>
              <a:ext cx="0" cy="1191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1" name="文本框 586764"/>
            <p:cNvSpPr txBox="1">
              <a:spLocks noChangeArrowheads="1"/>
            </p:cNvSpPr>
            <p:nvPr/>
          </p:nvSpPr>
          <p:spPr bwMode="auto">
            <a:xfrm>
              <a:off x="1043" y="1706"/>
              <a:ext cx="661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333399"/>
                  </a:solidFill>
                </a:rPr>
                <a:t>U</a:t>
              </a:r>
              <a:r>
                <a:rPr lang="en-US" altLang="zh-CN" sz="2800" b="1" baseline="0">
                  <a:solidFill>
                    <a:srgbClr val="333399"/>
                  </a:solidFill>
                </a:rPr>
                <a:t>=0</a:t>
              </a:r>
            </a:p>
          </p:txBody>
        </p:sp>
        <p:sp>
          <p:nvSpPr>
            <p:cNvPr id="75802" name="文本框 586765"/>
            <p:cNvSpPr txBox="1">
              <a:spLocks noChangeArrowheads="1"/>
            </p:cNvSpPr>
            <p:nvPr/>
          </p:nvSpPr>
          <p:spPr bwMode="auto">
            <a:xfrm>
              <a:off x="1153" y="1356"/>
              <a:ext cx="35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 baseline="0">
                  <a:solidFill>
                    <a:srgbClr val="333399"/>
                  </a:solidFill>
                </a:rPr>
                <a:t>E</a:t>
              </a:r>
            </a:p>
          </p:txBody>
        </p:sp>
        <p:sp>
          <p:nvSpPr>
            <p:cNvPr id="75803" name="文本框 586766"/>
            <p:cNvSpPr txBox="1">
              <a:spLocks noChangeArrowheads="1"/>
            </p:cNvSpPr>
            <p:nvPr/>
          </p:nvSpPr>
          <p:spPr bwMode="auto">
            <a:xfrm>
              <a:off x="288" y="929"/>
              <a:ext cx="92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333399"/>
                  </a:solidFill>
                </a:rPr>
                <a:t>U</a:t>
              </a:r>
              <a:r>
                <a:rPr lang="en-US" altLang="zh-CN" sz="2800" b="1" baseline="0">
                  <a:solidFill>
                    <a:srgbClr val="333399"/>
                  </a:solidFill>
                  <a:latin typeface="宋体" panose="02010600030101010101" pitchFamily="2" charset="-122"/>
                </a:rPr>
                <a:t>→∞</a:t>
              </a:r>
              <a:endParaRPr lang="en-US" altLang="zh-CN" sz="2800" b="1" baseline="0">
                <a:solidFill>
                  <a:srgbClr val="333399"/>
                </a:solidFill>
              </a:endParaRPr>
            </a:p>
          </p:txBody>
        </p:sp>
        <p:sp>
          <p:nvSpPr>
            <p:cNvPr id="75804" name="文本框 586767"/>
            <p:cNvSpPr txBox="1">
              <a:spLocks noChangeArrowheads="1"/>
            </p:cNvSpPr>
            <p:nvPr/>
          </p:nvSpPr>
          <p:spPr bwMode="auto">
            <a:xfrm>
              <a:off x="1668" y="929"/>
              <a:ext cx="828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333399"/>
                  </a:solidFill>
                </a:rPr>
                <a:t>U</a:t>
              </a:r>
              <a:r>
                <a:rPr lang="en-US" altLang="zh-CN" sz="2800" b="1" baseline="0">
                  <a:solidFill>
                    <a:srgbClr val="333399"/>
                  </a:solidFill>
                  <a:latin typeface="宋体" panose="02010600030101010101" pitchFamily="2" charset="-122"/>
                </a:rPr>
                <a:t>→∞</a:t>
              </a:r>
              <a:endParaRPr lang="en-US" altLang="zh-CN" sz="2800" b="1" baseline="0">
                <a:solidFill>
                  <a:srgbClr val="333399"/>
                </a:solidFill>
              </a:endParaRPr>
            </a:p>
          </p:txBody>
        </p:sp>
        <p:sp>
          <p:nvSpPr>
            <p:cNvPr id="75805" name="文本框 586768"/>
            <p:cNvSpPr txBox="1">
              <a:spLocks noChangeArrowheads="1"/>
            </p:cNvSpPr>
            <p:nvPr/>
          </p:nvSpPr>
          <p:spPr bwMode="auto">
            <a:xfrm>
              <a:off x="951" y="768"/>
              <a:ext cx="607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333399"/>
                  </a:solidFill>
                </a:rPr>
                <a:t>U</a:t>
              </a:r>
              <a:r>
                <a:rPr lang="en-US" altLang="zh-CN" sz="2800" b="1" baseline="0">
                  <a:solidFill>
                    <a:srgbClr val="333399"/>
                  </a:solidFill>
                </a:rPr>
                <a:t>(</a:t>
              </a:r>
              <a:r>
                <a:rPr lang="en-US" altLang="zh-CN" sz="2800" b="1" i="1" baseline="0">
                  <a:solidFill>
                    <a:srgbClr val="333399"/>
                  </a:solidFill>
                </a:rPr>
                <a:t>x</a:t>
              </a:r>
              <a:r>
                <a:rPr lang="en-US" altLang="zh-CN" sz="2800" b="1" baseline="0">
                  <a:solidFill>
                    <a:srgbClr val="333399"/>
                  </a:solidFill>
                </a:rPr>
                <a:t>)</a:t>
              </a:r>
            </a:p>
          </p:txBody>
        </p:sp>
        <p:sp>
          <p:nvSpPr>
            <p:cNvPr id="75806" name="文本框 586769"/>
            <p:cNvSpPr txBox="1">
              <a:spLocks noChangeArrowheads="1"/>
            </p:cNvSpPr>
            <p:nvPr/>
          </p:nvSpPr>
          <p:spPr bwMode="auto">
            <a:xfrm>
              <a:off x="2151" y="1885"/>
              <a:ext cx="313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 i="1" baseline="0">
                  <a:solidFill>
                    <a:srgbClr val="333399"/>
                  </a:solidFill>
                </a:rPr>
                <a:t>x</a:t>
              </a:r>
            </a:p>
          </p:txBody>
        </p:sp>
        <p:sp>
          <p:nvSpPr>
            <p:cNvPr id="75807" name="文本框 586770"/>
            <p:cNvSpPr txBox="1">
              <a:spLocks noChangeArrowheads="1"/>
            </p:cNvSpPr>
            <p:nvPr/>
          </p:nvSpPr>
          <p:spPr bwMode="auto">
            <a:xfrm>
              <a:off x="854" y="1922"/>
              <a:ext cx="38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baseline="0">
                  <a:solidFill>
                    <a:srgbClr val="333399"/>
                  </a:solidFill>
                </a:rPr>
                <a:t>0</a:t>
              </a:r>
            </a:p>
          </p:txBody>
        </p:sp>
        <p:sp>
          <p:nvSpPr>
            <p:cNvPr id="75808" name="文本框 586771"/>
            <p:cNvSpPr txBox="1">
              <a:spLocks noChangeArrowheads="1"/>
            </p:cNvSpPr>
            <p:nvPr/>
          </p:nvSpPr>
          <p:spPr bwMode="auto">
            <a:xfrm>
              <a:off x="1573" y="1900"/>
              <a:ext cx="3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333399"/>
                  </a:solidFill>
                </a:rPr>
                <a:t>a</a:t>
              </a:r>
            </a:p>
          </p:txBody>
        </p:sp>
        <p:sp>
          <p:nvSpPr>
            <p:cNvPr id="75809" name="文本框 586772"/>
            <p:cNvSpPr txBox="1">
              <a:spLocks noChangeArrowheads="1"/>
            </p:cNvSpPr>
            <p:nvPr/>
          </p:nvSpPr>
          <p:spPr bwMode="auto">
            <a:xfrm>
              <a:off x="535" y="1936"/>
              <a:ext cx="322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2800" b="1" baseline="0">
                <a:solidFill>
                  <a:srgbClr val="333399"/>
                </a:solidFill>
              </a:endParaRPr>
            </a:p>
          </p:txBody>
        </p:sp>
        <p:sp>
          <p:nvSpPr>
            <p:cNvPr id="75810" name="文本框 586773"/>
            <p:cNvSpPr txBox="1">
              <a:spLocks noChangeArrowheads="1"/>
            </p:cNvSpPr>
            <p:nvPr/>
          </p:nvSpPr>
          <p:spPr bwMode="auto">
            <a:xfrm>
              <a:off x="1119" y="1936"/>
              <a:ext cx="322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2800" b="1" baseline="0">
                <a:solidFill>
                  <a:srgbClr val="333399"/>
                </a:solidFill>
              </a:endParaRPr>
            </a:p>
          </p:txBody>
        </p:sp>
        <p:sp>
          <p:nvSpPr>
            <p:cNvPr id="75811" name="文本框 586774"/>
            <p:cNvSpPr txBox="1">
              <a:spLocks noChangeArrowheads="1"/>
            </p:cNvSpPr>
            <p:nvPr/>
          </p:nvSpPr>
          <p:spPr bwMode="auto">
            <a:xfrm>
              <a:off x="1784" y="1936"/>
              <a:ext cx="378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2800" b="1" baseline="0">
                <a:solidFill>
                  <a:srgbClr val="333399"/>
                </a:solidFill>
              </a:endParaRPr>
            </a:p>
          </p:txBody>
        </p:sp>
      </p:grpSp>
      <p:graphicFrame>
        <p:nvGraphicFramePr>
          <p:cNvPr id="586776" name="对象 586775"/>
          <p:cNvGraphicFramePr/>
          <p:nvPr/>
        </p:nvGraphicFramePr>
        <p:xfrm>
          <a:off x="6330950" y="2700338"/>
          <a:ext cx="9906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45" r:id="rId9" imgW="713740" imgH="278765" progId="Equation.3">
                  <p:embed/>
                </p:oleObj>
              </mc:Choice>
              <mc:Fallback>
                <p:oleObj r:id="rId9" imgW="713740" imgH="278765" progId="Equation.3">
                  <p:embed/>
                  <p:pic>
                    <p:nvPicPr>
                      <p:cNvPr id="0" name="对象 58677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950" y="2700338"/>
                        <a:ext cx="9906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777" name="对象 586776"/>
          <p:cNvGraphicFramePr/>
          <p:nvPr/>
        </p:nvGraphicFramePr>
        <p:xfrm>
          <a:off x="7392988" y="2660650"/>
          <a:ext cx="91281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46" r:id="rId11" imgW="591185" imgH="278765" progId="Equation.3">
                  <p:embed/>
                </p:oleObj>
              </mc:Choice>
              <mc:Fallback>
                <p:oleObj r:id="rId11" imgW="591185" imgH="278765" progId="Equation.3">
                  <p:embed/>
                  <p:pic>
                    <p:nvPicPr>
                      <p:cNvPr id="0" name="对象 58677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988" y="2660650"/>
                        <a:ext cx="91281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6778" name="组合 586777"/>
          <p:cNvGrpSpPr/>
          <p:nvPr/>
        </p:nvGrpSpPr>
        <p:grpSpPr bwMode="auto">
          <a:xfrm>
            <a:off x="6381750" y="3548063"/>
            <a:ext cx="1720850" cy="519112"/>
            <a:chOff x="2784" y="2832"/>
            <a:chExt cx="1289" cy="386"/>
          </a:xfrm>
        </p:grpSpPr>
        <p:graphicFrame>
          <p:nvGraphicFramePr>
            <p:cNvPr id="75795" name="对象 586778"/>
            <p:cNvGraphicFramePr/>
            <p:nvPr/>
          </p:nvGraphicFramePr>
          <p:xfrm>
            <a:off x="2832" y="2832"/>
            <a:ext cx="1241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947" r:id="rId13" imgW="1115060" imgH="290195" progId="Equation.3">
                    <p:embed/>
                  </p:oleObj>
                </mc:Choice>
                <mc:Fallback>
                  <p:oleObj r:id="rId13" imgW="1115060" imgH="290195" progId="Equation.3">
                    <p:embed/>
                    <p:pic>
                      <p:nvPicPr>
                        <p:cNvPr id="0" name="对象 58677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832"/>
                          <a:ext cx="1241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6780" name="文本框 586779"/>
            <p:cNvSpPr txBox="1"/>
            <p:nvPr/>
          </p:nvSpPr>
          <p:spPr>
            <a:xfrm>
              <a:off x="2784" y="2832"/>
              <a:ext cx="624" cy="38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800" b="1" baseline="0" noProof="1">
                  <a:solidFill>
                    <a:srgbClr val="3333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586781" name="文本框 586780"/>
          <p:cNvSpPr txBox="1"/>
          <p:nvPr/>
        </p:nvSpPr>
        <p:spPr>
          <a:xfrm>
            <a:off x="650875" y="4868863"/>
            <a:ext cx="1905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1)</a:t>
            </a: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阱外</a:t>
            </a:r>
          </a:p>
        </p:txBody>
      </p:sp>
      <p:sp>
        <p:nvSpPr>
          <p:cNvPr id="586782" name="文本框 586781"/>
          <p:cNvSpPr txBox="1"/>
          <p:nvPr/>
        </p:nvSpPr>
        <p:spPr>
          <a:xfrm>
            <a:off x="579438" y="4292600"/>
            <a:ext cx="320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分区求通解</a:t>
            </a:r>
            <a:r>
              <a:rPr lang="en-US" altLang="zh-CN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586783" name="文本框 586782"/>
          <p:cNvSpPr txBox="1"/>
          <p:nvPr/>
        </p:nvSpPr>
        <p:spPr>
          <a:xfrm>
            <a:off x="1979613" y="4856163"/>
            <a:ext cx="4800600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根据波函数有限的条件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阱外</a:t>
            </a:r>
          </a:p>
        </p:txBody>
      </p:sp>
      <p:graphicFrame>
        <p:nvGraphicFramePr>
          <p:cNvPr id="586784" name="对象 586783"/>
          <p:cNvGraphicFramePr/>
          <p:nvPr/>
        </p:nvGraphicFramePr>
        <p:xfrm>
          <a:off x="3146425" y="5373688"/>
          <a:ext cx="39211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48" r:id="rId15" imgW="1684020" imgH="222885" progId="Equation.3">
                  <p:embed/>
                </p:oleObj>
              </mc:Choice>
              <mc:Fallback>
                <p:oleObj r:id="rId15" imgW="1684020" imgH="222885" progId="Equation.3">
                  <p:embed/>
                  <p:pic>
                    <p:nvPicPr>
                      <p:cNvPr id="0" name="对象 58678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5373688"/>
                        <a:ext cx="39211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6785" name="文本框 586784"/>
          <p:cNvSpPr txBox="1"/>
          <p:nvPr/>
        </p:nvSpPr>
        <p:spPr>
          <a:xfrm>
            <a:off x="681038" y="6075363"/>
            <a:ext cx="236220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2)</a:t>
            </a: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阱内</a:t>
            </a:r>
          </a:p>
        </p:txBody>
      </p:sp>
      <p:graphicFrame>
        <p:nvGraphicFramePr>
          <p:cNvPr id="586786" name="内容占位符 586785"/>
          <p:cNvGraphicFramePr>
            <a:graphicFrameLocks noGrp="1"/>
          </p:cNvGraphicFramePr>
          <p:nvPr>
            <p:ph sz="half" idx="1"/>
          </p:nvPr>
        </p:nvGraphicFramePr>
        <p:xfrm>
          <a:off x="2339975" y="5951538"/>
          <a:ext cx="2430463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49" r:id="rId17" imgW="1315720" imgH="457200" progId="Equation.3">
                  <p:embed/>
                </p:oleObj>
              </mc:Choice>
              <mc:Fallback>
                <p:oleObj r:id="rId17" imgW="1315720" imgH="457200" progId="Equation.3">
                  <p:embed/>
                  <p:pic>
                    <p:nvPicPr>
                      <p:cNvPr id="0" name="内容占位符 58678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951538"/>
                        <a:ext cx="2430463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787" name="内容占位符 586786"/>
          <p:cNvGraphicFramePr>
            <a:graphicFrameLocks noGrp="1"/>
          </p:cNvGraphicFramePr>
          <p:nvPr>
            <p:ph sz="half" idx="2"/>
          </p:nvPr>
        </p:nvGraphicFramePr>
        <p:xfrm>
          <a:off x="5307013" y="6029325"/>
          <a:ext cx="2192337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50" r:id="rId19" imgW="1041400" imgH="393700" progId="Equation.3">
                  <p:embed/>
                </p:oleObj>
              </mc:Choice>
              <mc:Fallback>
                <p:oleObj r:id="rId19" imgW="1041400" imgH="393700" progId="Equation.3">
                  <p:embed/>
                  <p:pic>
                    <p:nvPicPr>
                      <p:cNvPr id="0" name="内容占位符 586786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6029325"/>
                        <a:ext cx="2192337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8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8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8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8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8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8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86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8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586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5867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58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5867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58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58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5" grpId="0" build="p"/>
      <p:bldP spid="586758" grpId="0"/>
      <p:bldP spid="586781" grpId="0"/>
      <p:bldP spid="586782" grpId="0" build="p"/>
      <p:bldP spid="586783" grpId="0" build="p"/>
      <p:bldP spid="586785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对象 587777"/>
          <p:cNvGraphicFramePr/>
          <p:nvPr/>
        </p:nvGraphicFramePr>
        <p:xfrm>
          <a:off x="1908175" y="188913"/>
          <a:ext cx="2592388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78" r:id="rId3" imgW="1315720" imgH="457200" progId="Equation.3">
                  <p:embed/>
                </p:oleObj>
              </mc:Choice>
              <mc:Fallback>
                <p:oleObj r:id="rId3" imgW="1315720" imgH="457200" progId="Equation.3">
                  <p:embed/>
                  <p:pic>
                    <p:nvPicPr>
                      <p:cNvPr id="0" name="对象 58777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88913"/>
                        <a:ext cx="2592388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7779" name="对象 587778"/>
          <p:cNvGraphicFramePr/>
          <p:nvPr/>
        </p:nvGraphicFramePr>
        <p:xfrm>
          <a:off x="1908175" y="1196975"/>
          <a:ext cx="2592388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79" r:id="rId5" imgW="1115060" imgH="457200" progId="Equation.3">
                  <p:embed/>
                </p:oleObj>
              </mc:Choice>
              <mc:Fallback>
                <p:oleObj r:id="rId5" imgW="1115060" imgH="457200" progId="Equation.3">
                  <p:embed/>
                  <p:pic>
                    <p:nvPicPr>
                      <p:cNvPr id="0" name="对象 58777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196975"/>
                        <a:ext cx="2592388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7780" name="矩形 587779"/>
          <p:cNvSpPr/>
          <p:nvPr/>
        </p:nvSpPr>
        <p:spPr>
          <a:xfrm>
            <a:off x="466725" y="1536700"/>
            <a:ext cx="1406525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方程变为</a:t>
            </a:r>
          </a:p>
        </p:txBody>
      </p:sp>
      <p:graphicFrame>
        <p:nvGraphicFramePr>
          <p:cNvPr id="76805" name="对象 587780"/>
          <p:cNvGraphicFramePr/>
          <p:nvPr/>
        </p:nvGraphicFramePr>
        <p:xfrm>
          <a:off x="4716463" y="290513"/>
          <a:ext cx="184467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0" r:id="rId7" imgW="958850" imgH="423545" progId="Equation.3">
                  <p:embed/>
                </p:oleObj>
              </mc:Choice>
              <mc:Fallback>
                <p:oleObj r:id="rId7" imgW="958850" imgH="423545" progId="Equation.3">
                  <p:embed/>
                  <p:pic>
                    <p:nvPicPr>
                      <p:cNvPr id="0" name="对象 58778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290513"/>
                        <a:ext cx="184467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7782" name="文本框 587781"/>
          <p:cNvSpPr txBox="1"/>
          <p:nvPr/>
        </p:nvSpPr>
        <p:spPr>
          <a:xfrm>
            <a:off x="466725" y="2227263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通解</a:t>
            </a:r>
          </a:p>
        </p:txBody>
      </p:sp>
      <p:graphicFrame>
        <p:nvGraphicFramePr>
          <p:cNvPr id="587783" name="对象 587782"/>
          <p:cNvGraphicFramePr/>
          <p:nvPr/>
        </p:nvGraphicFramePr>
        <p:xfrm>
          <a:off x="2303463" y="2228850"/>
          <a:ext cx="385286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1" r:id="rId9" imgW="2464435" imgH="278765" progId="Equation.3">
                  <p:embed/>
                </p:oleObj>
              </mc:Choice>
              <mc:Fallback>
                <p:oleObj r:id="rId9" imgW="2464435" imgH="278765" progId="Equation.3">
                  <p:embed/>
                  <p:pic>
                    <p:nvPicPr>
                      <p:cNvPr id="0" name="对象 58778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2228850"/>
                        <a:ext cx="3852862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7784" name="文本框 587783"/>
          <p:cNvSpPr txBox="1"/>
          <p:nvPr/>
        </p:nvSpPr>
        <p:spPr>
          <a:xfrm>
            <a:off x="2193925" y="2730500"/>
            <a:ext cx="518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式中 </a:t>
            </a:r>
            <a:r>
              <a:rPr lang="en-US" altLang="zh-CN" b="1" i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A </a:t>
            </a: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和 </a:t>
            </a:r>
            <a:r>
              <a:rPr lang="en-US" altLang="zh-CN" b="1" i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B </a:t>
            </a: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是待定常数</a:t>
            </a:r>
          </a:p>
        </p:txBody>
      </p:sp>
      <p:grpSp>
        <p:nvGrpSpPr>
          <p:cNvPr id="76809" name="组合 587784"/>
          <p:cNvGrpSpPr/>
          <p:nvPr/>
        </p:nvGrpSpPr>
        <p:grpSpPr bwMode="auto">
          <a:xfrm>
            <a:off x="5675313" y="1125538"/>
            <a:ext cx="3505200" cy="2447925"/>
            <a:chOff x="288" y="768"/>
            <a:chExt cx="2208" cy="1542"/>
          </a:xfrm>
        </p:grpSpPr>
        <p:sp>
          <p:nvSpPr>
            <p:cNvPr id="76819" name="直接连接符 587785"/>
            <p:cNvSpPr>
              <a:spLocks noChangeShapeType="1"/>
            </p:cNvSpPr>
            <p:nvPr/>
          </p:nvSpPr>
          <p:spPr bwMode="auto">
            <a:xfrm>
              <a:off x="417" y="1976"/>
              <a:ext cx="19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0" name="直接连接符 587786"/>
            <p:cNvSpPr>
              <a:spLocks noChangeShapeType="1"/>
            </p:cNvSpPr>
            <p:nvPr/>
          </p:nvSpPr>
          <p:spPr bwMode="auto">
            <a:xfrm flipH="1" flipV="1">
              <a:off x="969" y="819"/>
              <a:ext cx="0" cy="114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1" name="直接连接符 587787"/>
            <p:cNvSpPr>
              <a:spLocks noChangeShapeType="1"/>
            </p:cNvSpPr>
            <p:nvPr/>
          </p:nvSpPr>
          <p:spPr bwMode="auto">
            <a:xfrm>
              <a:off x="978" y="1661"/>
              <a:ext cx="709" cy="0"/>
            </a:xfrm>
            <a:prstGeom prst="line">
              <a:avLst/>
            </a:prstGeom>
            <a:noFill/>
            <a:ln w="28575">
              <a:solidFill>
                <a:srgbClr val="8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2" name="直接连接符 587788"/>
            <p:cNvSpPr>
              <a:spLocks noChangeShapeType="1"/>
            </p:cNvSpPr>
            <p:nvPr/>
          </p:nvSpPr>
          <p:spPr bwMode="auto">
            <a:xfrm flipV="1">
              <a:off x="1687" y="776"/>
              <a:ext cx="0" cy="1191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3" name="文本框 587789"/>
            <p:cNvSpPr txBox="1">
              <a:spLocks noChangeArrowheads="1"/>
            </p:cNvSpPr>
            <p:nvPr/>
          </p:nvSpPr>
          <p:spPr bwMode="auto">
            <a:xfrm>
              <a:off x="1043" y="1706"/>
              <a:ext cx="661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333399"/>
                  </a:solidFill>
                </a:rPr>
                <a:t>U</a:t>
              </a:r>
              <a:r>
                <a:rPr lang="en-US" altLang="zh-CN" sz="2800" b="1" baseline="0">
                  <a:solidFill>
                    <a:srgbClr val="333399"/>
                  </a:solidFill>
                </a:rPr>
                <a:t>=0</a:t>
              </a:r>
            </a:p>
          </p:txBody>
        </p:sp>
        <p:sp>
          <p:nvSpPr>
            <p:cNvPr id="76824" name="文本框 587790"/>
            <p:cNvSpPr txBox="1">
              <a:spLocks noChangeArrowheads="1"/>
            </p:cNvSpPr>
            <p:nvPr/>
          </p:nvSpPr>
          <p:spPr bwMode="auto">
            <a:xfrm>
              <a:off x="1153" y="1356"/>
              <a:ext cx="35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 baseline="0">
                  <a:solidFill>
                    <a:srgbClr val="333399"/>
                  </a:solidFill>
                </a:rPr>
                <a:t>E</a:t>
              </a:r>
            </a:p>
          </p:txBody>
        </p:sp>
        <p:sp>
          <p:nvSpPr>
            <p:cNvPr id="76825" name="文本框 587791"/>
            <p:cNvSpPr txBox="1">
              <a:spLocks noChangeArrowheads="1"/>
            </p:cNvSpPr>
            <p:nvPr/>
          </p:nvSpPr>
          <p:spPr bwMode="auto">
            <a:xfrm>
              <a:off x="288" y="929"/>
              <a:ext cx="92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333399"/>
                  </a:solidFill>
                </a:rPr>
                <a:t>U</a:t>
              </a:r>
              <a:r>
                <a:rPr lang="en-US" altLang="zh-CN" sz="2800" b="1" baseline="0">
                  <a:solidFill>
                    <a:srgbClr val="333399"/>
                  </a:solidFill>
                  <a:latin typeface="宋体" panose="02010600030101010101" pitchFamily="2" charset="-122"/>
                </a:rPr>
                <a:t>→∞</a:t>
              </a:r>
              <a:endParaRPr lang="en-US" altLang="zh-CN" sz="2800" b="1" baseline="0">
                <a:solidFill>
                  <a:srgbClr val="333399"/>
                </a:solidFill>
              </a:endParaRPr>
            </a:p>
          </p:txBody>
        </p:sp>
        <p:sp>
          <p:nvSpPr>
            <p:cNvPr id="76826" name="文本框 587792"/>
            <p:cNvSpPr txBox="1">
              <a:spLocks noChangeArrowheads="1"/>
            </p:cNvSpPr>
            <p:nvPr/>
          </p:nvSpPr>
          <p:spPr bwMode="auto">
            <a:xfrm>
              <a:off x="1668" y="929"/>
              <a:ext cx="828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333399"/>
                  </a:solidFill>
                </a:rPr>
                <a:t>U</a:t>
              </a:r>
              <a:r>
                <a:rPr lang="en-US" altLang="zh-CN" sz="2800" b="1" baseline="0">
                  <a:solidFill>
                    <a:srgbClr val="333399"/>
                  </a:solidFill>
                  <a:latin typeface="宋体" panose="02010600030101010101" pitchFamily="2" charset="-122"/>
                </a:rPr>
                <a:t>→∞</a:t>
              </a:r>
              <a:endParaRPr lang="en-US" altLang="zh-CN" sz="2800" b="1" baseline="0">
                <a:solidFill>
                  <a:srgbClr val="333399"/>
                </a:solidFill>
              </a:endParaRPr>
            </a:p>
          </p:txBody>
        </p:sp>
        <p:sp>
          <p:nvSpPr>
            <p:cNvPr id="76827" name="文本框 587793"/>
            <p:cNvSpPr txBox="1">
              <a:spLocks noChangeArrowheads="1"/>
            </p:cNvSpPr>
            <p:nvPr/>
          </p:nvSpPr>
          <p:spPr bwMode="auto">
            <a:xfrm>
              <a:off x="951" y="768"/>
              <a:ext cx="607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333399"/>
                  </a:solidFill>
                </a:rPr>
                <a:t>U</a:t>
              </a:r>
              <a:r>
                <a:rPr lang="en-US" altLang="zh-CN" sz="2800" b="1" baseline="0">
                  <a:solidFill>
                    <a:srgbClr val="333399"/>
                  </a:solidFill>
                </a:rPr>
                <a:t>(</a:t>
              </a:r>
              <a:r>
                <a:rPr lang="en-US" altLang="zh-CN" sz="2800" b="1" i="1" baseline="0">
                  <a:solidFill>
                    <a:srgbClr val="333399"/>
                  </a:solidFill>
                </a:rPr>
                <a:t>x</a:t>
              </a:r>
              <a:r>
                <a:rPr lang="en-US" altLang="zh-CN" sz="2800" b="1" baseline="0">
                  <a:solidFill>
                    <a:srgbClr val="333399"/>
                  </a:solidFill>
                </a:rPr>
                <a:t>)</a:t>
              </a:r>
            </a:p>
          </p:txBody>
        </p:sp>
        <p:sp>
          <p:nvSpPr>
            <p:cNvPr id="76828" name="文本框 587794"/>
            <p:cNvSpPr txBox="1">
              <a:spLocks noChangeArrowheads="1"/>
            </p:cNvSpPr>
            <p:nvPr/>
          </p:nvSpPr>
          <p:spPr bwMode="auto">
            <a:xfrm>
              <a:off x="2151" y="1885"/>
              <a:ext cx="313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 i="1" baseline="0">
                  <a:solidFill>
                    <a:srgbClr val="333399"/>
                  </a:solidFill>
                </a:rPr>
                <a:t>x</a:t>
              </a:r>
            </a:p>
          </p:txBody>
        </p:sp>
        <p:sp>
          <p:nvSpPr>
            <p:cNvPr id="76829" name="文本框 587795"/>
            <p:cNvSpPr txBox="1">
              <a:spLocks noChangeArrowheads="1"/>
            </p:cNvSpPr>
            <p:nvPr/>
          </p:nvSpPr>
          <p:spPr bwMode="auto">
            <a:xfrm>
              <a:off x="854" y="1922"/>
              <a:ext cx="38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baseline="0">
                  <a:solidFill>
                    <a:srgbClr val="333399"/>
                  </a:solidFill>
                </a:rPr>
                <a:t>0</a:t>
              </a:r>
            </a:p>
          </p:txBody>
        </p:sp>
        <p:sp>
          <p:nvSpPr>
            <p:cNvPr id="76830" name="文本框 587796"/>
            <p:cNvSpPr txBox="1">
              <a:spLocks noChangeArrowheads="1"/>
            </p:cNvSpPr>
            <p:nvPr/>
          </p:nvSpPr>
          <p:spPr bwMode="auto">
            <a:xfrm>
              <a:off x="1573" y="1900"/>
              <a:ext cx="3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333399"/>
                  </a:solidFill>
                </a:rPr>
                <a:t>a</a:t>
              </a:r>
            </a:p>
          </p:txBody>
        </p:sp>
        <p:sp>
          <p:nvSpPr>
            <p:cNvPr id="76831" name="文本框 587797"/>
            <p:cNvSpPr txBox="1">
              <a:spLocks noChangeArrowheads="1"/>
            </p:cNvSpPr>
            <p:nvPr/>
          </p:nvSpPr>
          <p:spPr bwMode="auto">
            <a:xfrm>
              <a:off x="535" y="1936"/>
              <a:ext cx="322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2800" b="1" baseline="0">
                <a:solidFill>
                  <a:srgbClr val="333399"/>
                </a:solidFill>
              </a:endParaRPr>
            </a:p>
          </p:txBody>
        </p:sp>
        <p:sp>
          <p:nvSpPr>
            <p:cNvPr id="76832" name="文本框 587798"/>
            <p:cNvSpPr txBox="1">
              <a:spLocks noChangeArrowheads="1"/>
            </p:cNvSpPr>
            <p:nvPr/>
          </p:nvSpPr>
          <p:spPr bwMode="auto">
            <a:xfrm>
              <a:off x="1119" y="1936"/>
              <a:ext cx="322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2800" b="1" baseline="0">
                <a:solidFill>
                  <a:srgbClr val="333399"/>
                </a:solidFill>
              </a:endParaRPr>
            </a:p>
          </p:txBody>
        </p:sp>
        <p:sp>
          <p:nvSpPr>
            <p:cNvPr id="76833" name="文本框 587799"/>
            <p:cNvSpPr txBox="1">
              <a:spLocks noChangeArrowheads="1"/>
            </p:cNvSpPr>
            <p:nvPr/>
          </p:nvSpPr>
          <p:spPr bwMode="auto">
            <a:xfrm>
              <a:off x="1784" y="1936"/>
              <a:ext cx="378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2800" b="1" baseline="0">
                <a:solidFill>
                  <a:srgbClr val="333399"/>
                </a:solidFill>
              </a:endParaRPr>
            </a:p>
          </p:txBody>
        </p:sp>
      </p:grpSp>
      <p:sp>
        <p:nvSpPr>
          <p:cNvPr id="587801" name="文本框 587800"/>
          <p:cNvSpPr txBox="1"/>
          <p:nvPr/>
        </p:nvSpPr>
        <p:spPr>
          <a:xfrm>
            <a:off x="676275" y="3573463"/>
            <a:ext cx="6418263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根据标准化条件：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ψ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在</a:t>
            </a:r>
            <a:r>
              <a:rPr lang="zh-CN" altLang="en-US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 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 0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和</a:t>
            </a:r>
            <a:r>
              <a:rPr lang="zh-CN" altLang="en-US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 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a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是连续的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587802" name="文本框 587801"/>
          <p:cNvSpPr txBox="1"/>
          <p:nvPr/>
        </p:nvSpPr>
        <p:spPr>
          <a:xfrm>
            <a:off x="635000" y="4365625"/>
            <a:ext cx="4333875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由于在边界外 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,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ψ = 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0 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，所以有</a:t>
            </a:r>
          </a:p>
        </p:txBody>
      </p:sp>
      <p:graphicFrame>
        <p:nvGraphicFramePr>
          <p:cNvPr id="587803" name="对象 587802"/>
          <p:cNvGraphicFramePr/>
          <p:nvPr/>
        </p:nvGraphicFramePr>
        <p:xfrm>
          <a:off x="5110163" y="4368800"/>
          <a:ext cx="27432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2" r:id="rId11" imgW="1416050" imgH="222885" progId="Equation.3">
                  <p:embed/>
                </p:oleObj>
              </mc:Choice>
              <mc:Fallback>
                <p:oleObj r:id="rId11" imgW="1416050" imgH="222885" progId="Equation.3">
                  <p:embed/>
                  <p:pic>
                    <p:nvPicPr>
                      <p:cNvPr id="0" name="对象 587802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4368800"/>
                        <a:ext cx="27432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7804" name="对象 587803"/>
          <p:cNvGraphicFramePr/>
          <p:nvPr/>
        </p:nvGraphicFramePr>
        <p:xfrm>
          <a:off x="6083300" y="5013325"/>
          <a:ext cx="17097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3" r:id="rId13" imgW="958850" imgH="234315" progId="Equation.3">
                  <p:embed/>
                </p:oleObj>
              </mc:Choice>
              <mc:Fallback>
                <p:oleObj r:id="rId13" imgW="958850" imgH="234315" progId="Equation.3">
                  <p:embed/>
                  <p:pic>
                    <p:nvPicPr>
                      <p:cNvPr id="0" name="对象 587803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5013325"/>
                        <a:ext cx="170973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7805" name="对象 587804"/>
          <p:cNvGraphicFramePr/>
          <p:nvPr/>
        </p:nvGraphicFramePr>
        <p:xfrm>
          <a:off x="2744788" y="5003800"/>
          <a:ext cx="26003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4" r:id="rId15" imgW="1360170" imgH="222885" progId="Equation.3">
                  <p:embed/>
                </p:oleObj>
              </mc:Choice>
              <mc:Fallback>
                <p:oleObj r:id="rId15" imgW="1360170" imgH="222885" progId="Equation.3">
                  <p:embed/>
                  <p:pic>
                    <p:nvPicPr>
                      <p:cNvPr id="0" name="对象 587804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5003800"/>
                        <a:ext cx="26003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7806" name="对象 587805"/>
          <p:cNvGraphicFramePr/>
          <p:nvPr/>
        </p:nvGraphicFramePr>
        <p:xfrm>
          <a:off x="2770188" y="5703888"/>
          <a:ext cx="220503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5" r:id="rId17" imgW="1081405" imgH="200660" progId="Equation.3">
                  <p:embed/>
                </p:oleObj>
              </mc:Choice>
              <mc:Fallback>
                <p:oleObj r:id="rId17" imgW="1081405" imgH="200660" progId="Equation.3">
                  <p:embed/>
                  <p:pic>
                    <p:nvPicPr>
                      <p:cNvPr id="0" name="对象 587805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5703888"/>
                        <a:ext cx="220503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7807" name="文本框 587806"/>
          <p:cNvSpPr txBox="1"/>
          <p:nvPr/>
        </p:nvSpPr>
        <p:spPr>
          <a:xfrm>
            <a:off x="611188" y="5661025"/>
            <a:ext cx="2667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解的形式为</a:t>
            </a:r>
          </a:p>
        </p:txBody>
      </p:sp>
      <p:graphicFrame>
        <p:nvGraphicFramePr>
          <p:cNvPr id="587808" name="对象 587807"/>
          <p:cNvGraphicFramePr/>
          <p:nvPr/>
        </p:nvGraphicFramePr>
        <p:xfrm>
          <a:off x="5829300" y="6292850"/>
          <a:ext cx="219868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6" r:id="rId19" imgW="1393825" imgH="234315" progId="Equation.3">
                  <p:embed/>
                </p:oleObj>
              </mc:Choice>
              <mc:Fallback>
                <p:oleObj r:id="rId19" imgW="1393825" imgH="234315" progId="Equation.3">
                  <p:embed/>
                  <p:pic>
                    <p:nvPicPr>
                      <p:cNvPr id="0" name="对象 587807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6292850"/>
                        <a:ext cx="2198688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7809" name="对象 587808"/>
          <p:cNvGraphicFramePr/>
          <p:nvPr/>
        </p:nvGraphicFramePr>
        <p:xfrm>
          <a:off x="2711450" y="6242050"/>
          <a:ext cx="27955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7" r:id="rId21" imgW="1383030" imgH="222885" progId="Equation.3">
                  <p:embed/>
                </p:oleObj>
              </mc:Choice>
              <mc:Fallback>
                <p:oleObj r:id="rId21" imgW="1383030" imgH="222885" progId="Equation.3">
                  <p:embed/>
                  <p:pic>
                    <p:nvPicPr>
                      <p:cNvPr id="0" name="对象 587808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6242050"/>
                        <a:ext cx="27955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8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87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8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8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8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8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8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8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8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587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58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87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587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80" grpId="0"/>
      <p:bldP spid="587782" grpId="0"/>
      <p:bldP spid="587784" grpId="0"/>
      <p:bldP spid="587801" grpId="0"/>
      <p:bldP spid="587802" grpId="0"/>
      <p:bldP spid="58780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文本框 588801"/>
          <p:cNvSpPr txBox="1"/>
          <p:nvPr/>
        </p:nvSpPr>
        <p:spPr>
          <a:xfrm>
            <a:off x="568325" y="115888"/>
            <a:ext cx="6418263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根据标准化条件：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ψ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在</a:t>
            </a:r>
            <a:r>
              <a:rPr lang="zh-CN" altLang="en-US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 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 0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和</a:t>
            </a:r>
            <a:r>
              <a:rPr lang="zh-CN" altLang="en-US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 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a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是连续的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588803" name="文本框 588802"/>
          <p:cNvSpPr txBox="1"/>
          <p:nvPr/>
        </p:nvSpPr>
        <p:spPr>
          <a:xfrm>
            <a:off x="563563" y="749300"/>
            <a:ext cx="4333875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由于在边界外 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,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ψ = 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0 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，所以有</a:t>
            </a:r>
          </a:p>
        </p:txBody>
      </p:sp>
      <p:graphicFrame>
        <p:nvGraphicFramePr>
          <p:cNvPr id="77828" name="对象 588803"/>
          <p:cNvGraphicFramePr/>
          <p:nvPr/>
        </p:nvGraphicFramePr>
        <p:xfrm>
          <a:off x="5038725" y="723900"/>
          <a:ext cx="27432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2" r:id="rId3" imgW="1416050" imgH="222885" progId="Equation.3">
                  <p:embed/>
                </p:oleObj>
              </mc:Choice>
              <mc:Fallback>
                <p:oleObj r:id="rId3" imgW="1416050" imgH="222885" progId="Equation.3">
                  <p:embed/>
                  <p:pic>
                    <p:nvPicPr>
                      <p:cNvPr id="0" name="对象 58880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725" y="723900"/>
                        <a:ext cx="27432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对象 588804"/>
          <p:cNvGraphicFramePr/>
          <p:nvPr/>
        </p:nvGraphicFramePr>
        <p:xfrm>
          <a:off x="6011863" y="1458913"/>
          <a:ext cx="17097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3" r:id="rId5" imgW="958850" imgH="234315" progId="Equation.3">
                  <p:embed/>
                </p:oleObj>
              </mc:Choice>
              <mc:Fallback>
                <p:oleObj r:id="rId5" imgW="958850" imgH="234315" progId="Equation.3">
                  <p:embed/>
                  <p:pic>
                    <p:nvPicPr>
                      <p:cNvPr id="0" name="对象 58880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1458913"/>
                        <a:ext cx="170973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对象 588805"/>
          <p:cNvGraphicFramePr/>
          <p:nvPr/>
        </p:nvGraphicFramePr>
        <p:xfrm>
          <a:off x="2673350" y="1392238"/>
          <a:ext cx="26003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4" r:id="rId7" imgW="1360170" imgH="222885" progId="Equation.3">
                  <p:embed/>
                </p:oleObj>
              </mc:Choice>
              <mc:Fallback>
                <p:oleObj r:id="rId7" imgW="1360170" imgH="222885" progId="Equation.3">
                  <p:embed/>
                  <p:pic>
                    <p:nvPicPr>
                      <p:cNvPr id="0" name="对象 58880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1392238"/>
                        <a:ext cx="26003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对象 588806"/>
          <p:cNvGraphicFramePr/>
          <p:nvPr/>
        </p:nvGraphicFramePr>
        <p:xfrm>
          <a:off x="2698750" y="1973263"/>
          <a:ext cx="22050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5" r:id="rId9" imgW="1081405" imgH="200660" progId="Equation.3">
                  <p:embed/>
                </p:oleObj>
              </mc:Choice>
              <mc:Fallback>
                <p:oleObj r:id="rId9" imgW="1081405" imgH="200660" progId="Equation.3">
                  <p:embed/>
                  <p:pic>
                    <p:nvPicPr>
                      <p:cNvPr id="0" name="对象 58880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1973263"/>
                        <a:ext cx="220503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8808" name="文本框 588807"/>
          <p:cNvSpPr txBox="1"/>
          <p:nvPr/>
        </p:nvSpPr>
        <p:spPr>
          <a:xfrm>
            <a:off x="539750" y="1930400"/>
            <a:ext cx="2667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解的形式为</a:t>
            </a:r>
          </a:p>
        </p:txBody>
      </p:sp>
      <p:graphicFrame>
        <p:nvGraphicFramePr>
          <p:cNvPr id="77833" name="对象 588808"/>
          <p:cNvGraphicFramePr/>
          <p:nvPr/>
        </p:nvGraphicFramePr>
        <p:xfrm>
          <a:off x="5738813" y="2640013"/>
          <a:ext cx="2198687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6" r:id="rId11" imgW="1393825" imgH="234315" progId="Equation.3">
                  <p:embed/>
                </p:oleObj>
              </mc:Choice>
              <mc:Fallback>
                <p:oleObj r:id="rId11" imgW="1393825" imgH="234315" progId="Equation.3">
                  <p:embed/>
                  <p:pic>
                    <p:nvPicPr>
                      <p:cNvPr id="0" name="对象 58880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8813" y="2640013"/>
                        <a:ext cx="2198687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4" name="对象 588809"/>
          <p:cNvGraphicFramePr/>
          <p:nvPr/>
        </p:nvGraphicFramePr>
        <p:xfrm>
          <a:off x="2620963" y="2589213"/>
          <a:ext cx="27955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7" r:id="rId13" imgW="1383030" imgH="222885" progId="Equation.3">
                  <p:embed/>
                </p:oleObj>
              </mc:Choice>
              <mc:Fallback>
                <p:oleObj r:id="rId13" imgW="1383030" imgH="222885" progId="Equation.3">
                  <p:embed/>
                  <p:pic>
                    <p:nvPicPr>
                      <p:cNvPr id="0" name="对象 588809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2589213"/>
                        <a:ext cx="27955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8811" name="文本框 588810"/>
          <p:cNvSpPr txBox="1"/>
          <p:nvPr/>
        </p:nvSpPr>
        <p:spPr>
          <a:xfrm>
            <a:off x="579438" y="3170238"/>
            <a:ext cx="678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A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已经为零了    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B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不能再为零了</a:t>
            </a:r>
          </a:p>
        </p:txBody>
      </p:sp>
      <p:sp>
        <p:nvSpPr>
          <p:cNvPr id="588812" name="文本框 588811"/>
          <p:cNvSpPr txBox="1"/>
          <p:nvPr/>
        </p:nvSpPr>
        <p:spPr>
          <a:xfrm>
            <a:off x="2105025" y="3716338"/>
            <a:ext cx="3124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只能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sin </a:t>
            </a:r>
            <a:r>
              <a:rPr lang="en-US" altLang="zh-CN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ka 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等于零</a:t>
            </a:r>
          </a:p>
        </p:txBody>
      </p:sp>
      <p:sp>
        <p:nvSpPr>
          <p:cNvPr id="588813" name="文本框 588812"/>
          <p:cNvSpPr txBox="1"/>
          <p:nvPr/>
        </p:nvSpPr>
        <p:spPr>
          <a:xfrm>
            <a:off x="623888" y="4197350"/>
            <a:ext cx="1143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要求</a:t>
            </a:r>
          </a:p>
        </p:txBody>
      </p:sp>
      <p:graphicFrame>
        <p:nvGraphicFramePr>
          <p:cNvPr id="588814" name="对象 588813"/>
          <p:cNvGraphicFramePr/>
          <p:nvPr/>
        </p:nvGraphicFramePr>
        <p:xfrm>
          <a:off x="1865313" y="4295775"/>
          <a:ext cx="11430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8" r:id="rId15" imgW="786765" imgH="254000" progId="Equation.3">
                  <p:embed/>
                </p:oleObj>
              </mc:Choice>
              <mc:Fallback>
                <p:oleObj r:id="rId15" imgW="786765" imgH="254000" progId="Equation.3">
                  <p:embed/>
                  <p:pic>
                    <p:nvPicPr>
                      <p:cNvPr id="0" name="对象 58881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313" y="4295775"/>
                        <a:ext cx="11430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8815" name="对象 588814"/>
          <p:cNvGraphicFramePr/>
          <p:nvPr/>
        </p:nvGraphicFramePr>
        <p:xfrm>
          <a:off x="3846513" y="4279900"/>
          <a:ext cx="99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9" r:id="rId17" imgW="724535" imgH="278765" progId="Equation.3">
                  <p:embed/>
                </p:oleObj>
              </mc:Choice>
              <mc:Fallback>
                <p:oleObj r:id="rId17" imgW="724535" imgH="278765" progId="Equation.3">
                  <p:embed/>
                  <p:pic>
                    <p:nvPicPr>
                      <p:cNvPr id="0" name="对象 588814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513" y="4279900"/>
                        <a:ext cx="990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8816" name="对象 588815"/>
          <p:cNvGraphicFramePr/>
          <p:nvPr/>
        </p:nvGraphicFramePr>
        <p:xfrm>
          <a:off x="3270250" y="5780088"/>
          <a:ext cx="384175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30" r:id="rId19" imgW="2910205" imgH="680085" progId="Equation.3">
                  <p:embed/>
                </p:oleObj>
              </mc:Choice>
              <mc:Fallback>
                <p:oleObj r:id="rId19" imgW="2910205" imgH="680085" progId="Equation.3">
                  <p:embed/>
                  <p:pic>
                    <p:nvPicPr>
                      <p:cNvPr id="0" name="对象 588815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0" y="5780088"/>
                        <a:ext cx="384175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8817" name="文本框 588816"/>
          <p:cNvSpPr txBox="1"/>
          <p:nvPr/>
        </p:nvSpPr>
        <p:spPr>
          <a:xfrm>
            <a:off x="682625" y="5924550"/>
            <a:ext cx="2286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能量可能值</a:t>
            </a:r>
          </a:p>
        </p:txBody>
      </p:sp>
      <p:sp>
        <p:nvSpPr>
          <p:cNvPr id="78865" name="矩形 588817"/>
          <p:cNvSpPr>
            <a:spLocks noChangeArrowheads="1"/>
          </p:cNvSpPr>
          <p:nvPr/>
        </p:nvSpPr>
        <p:spPr bwMode="auto">
          <a:xfrm>
            <a:off x="611188" y="5635625"/>
            <a:ext cx="6981825" cy="1177925"/>
          </a:xfrm>
          <a:prstGeom prst="rect">
            <a:avLst/>
          </a:prstGeom>
          <a:noFill/>
          <a:ln w="38100" cap="rnd">
            <a:pattFill prst="pct70">
              <a:fgClr>
                <a:srgbClr val="009999"/>
              </a:fgClr>
              <a:bgClr>
                <a:srgbClr val="FFFFFF"/>
              </a:bgClr>
            </a:patt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aphicFrame>
        <p:nvGraphicFramePr>
          <p:cNvPr id="588819" name="对象 588818"/>
          <p:cNvGraphicFramePr/>
          <p:nvPr/>
        </p:nvGraphicFramePr>
        <p:xfrm>
          <a:off x="6156325" y="4840288"/>
          <a:ext cx="139223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31" r:id="rId21" imgW="1081405" imgH="635635" progId="Equation.3">
                  <p:embed/>
                </p:oleObj>
              </mc:Choice>
              <mc:Fallback>
                <p:oleObj r:id="rId21" imgW="1081405" imgH="635635" progId="Equation.3">
                  <p:embed/>
                  <p:pic>
                    <p:nvPicPr>
                      <p:cNvPr id="0" name="对象 588818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840288"/>
                        <a:ext cx="139223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8820" name="对象 588819"/>
          <p:cNvGraphicFramePr/>
          <p:nvPr/>
        </p:nvGraphicFramePr>
        <p:xfrm>
          <a:off x="7551738" y="4732338"/>
          <a:ext cx="104616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32" r:id="rId23" imgW="546100" imgH="457200" progId="Equation.3">
                  <p:embed/>
                </p:oleObj>
              </mc:Choice>
              <mc:Fallback>
                <p:oleObj r:id="rId23" imgW="546100" imgH="457200" progId="Equation.3">
                  <p:embed/>
                  <p:pic>
                    <p:nvPicPr>
                      <p:cNvPr id="0" name="对象 588819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1738" y="4732338"/>
                        <a:ext cx="104616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8821" name="圆角矩形标注 588820"/>
          <p:cNvSpPr>
            <a:spLocks noChangeArrowheads="1"/>
          </p:cNvSpPr>
          <p:nvPr/>
        </p:nvSpPr>
        <p:spPr bwMode="auto">
          <a:xfrm>
            <a:off x="5105400" y="3890963"/>
            <a:ext cx="4038600" cy="762000"/>
          </a:xfrm>
          <a:prstGeom prst="wedgeRoundRectCallout">
            <a:avLst>
              <a:gd name="adj1" fmla="val -73662"/>
              <a:gd name="adj2" fmla="val 17979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rgbClr val="336699"/>
                </a:solidFill>
                <a:latin typeface="楷体_GB2312" pitchFamily="49" charset="-122"/>
                <a:ea typeface="楷体_GB2312" pitchFamily="49" charset="-122"/>
              </a:rPr>
              <a:t>能量量子化并不是强行假设</a:t>
            </a:r>
            <a:r>
              <a:rPr lang="en-US" altLang="zh-CN" sz="2400" b="1" baseline="0">
                <a:solidFill>
                  <a:srgbClr val="336699"/>
                </a:solidFill>
                <a:latin typeface="楷体_GB2312" pitchFamily="49" charset="-122"/>
                <a:ea typeface="楷体_GB2312" pitchFamily="49" charset="-122"/>
              </a:rPr>
              <a:t>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rgbClr val="336699"/>
                </a:solidFill>
                <a:latin typeface="楷体_GB2312" pitchFamily="49" charset="-122"/>
                <a:ea typeface="楷体_GB2312" pitchFamily="49" charset="-122"/>
              </a:rPr>
              <a:t>而是方程求解 的自然结果</a:t>
            </a:r>
          </a:p>
        </p:txBody>
      </p:sp>
      <p:grpSp>
        <p:nvGrpSpPr>
          <p:cNvPr id="588822" name="组合 588821"/>
          <p:cNvGrpSpPr/>
          <p:nvPr/>
        </p:nvGrpSpPr>
        <p:grpSpPr bwMode="auto">
          <a:xfrm>
            <a:off x="1331913" y="4725988"/>
            <a:ext cx="3581400" cy="736600"/>
            <a:chOff x="2448" y="3184"/>
            <a:chExt cx="2368" cy="560"/>
          </a:xfrm>
        </p:grpSpPr>
        <p:graphicFrame>
          <p:nvGraphicFramePr>
            <p:cNvPr id="77848" name="对象 588822"/>
            <p:cNvGraphicFramePr/>
            <p:nvPr/>
          </p:nvGraphicFramePr>
          <p:xfrm>
            <a:off x="2736" y="3184"/>
            <a:ext cx="2080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3" r:id="rId25" imgW="3302000" imgH="889000" progId="Equation.3">
                    <p:embed/>
                  </p:oleObj>
                </mc:Choice>
                <mc:Fallback>
                  <p:oleObj r:id="rId25" imgW="3302000" imgH="889000" progId="Equation.3">
                    <p:embed/>
                    <p:pic>
                      <p:nvPicPr>
                        <p:cNvPr id="0" name="对象 5888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184"/>
                          <a:ext cx="2080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849" name="文本框 588823"/>
            <p:cNvSpPr txBox="1">
              <a:spLocks noChangeArrowheads="1"/>
            </p:cNvSpPr>
            <p:nvPr/>
          </p:nvSpPr>
          <p:spPr bwMode="auto">
            <a:xfrm>
              <a:off x="2448" y="3312"/>
              <a:ext cx="480" cy="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800" baseline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588825" name="直接连接符 588824"/>
          <p:cNvSpPr>
            <a:spLocks noChangeShapeType="1"/>
          </p:cNvSpPr>
          <p:nvPr/>
        </p:nvSpPr>
        <p:spPr bwMode="auto">
          <a:xfrm>
            <a:off x="3636963" y="5302250"/>
            <a:ext cx="1150937" cy="0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88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8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8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8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8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58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8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58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5"/>
                                        <p:tgtEl>
                                          <p:spTgt spid="5888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11" grpId="0" build="p"/>
      <p:bldP spid="588812" grpId="0"/>
      <p:bldP spid="588813" grpId="0"/>
      <p:bldP spid="588817" grpId="0"/>
      <p:bldP spid="5888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对象 589825"/>
          <p:cNvGraphicFramePr/>
          <p:nvPr/>
        </p:nvGraphicFramePr>
        <p:xfrm>
          <a:off x="2459038" y="87313"/>
          <a:ext cx="384175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9" r:id="rId3" imgW="2910205" imgH="680085" progId="Equation.3">
                  <p:embed/>
                </p:oleObj>
              </mc:Choice>
              <mc:Fallback>
                <p:oleObj r:id="rId3" imgW="2910205" imgH="680085" progId="Equation.3">
                  <p:embed/>
                  <p:pic>
                    <p:nvPicPr>
                      <p:cNvPr id="0" name="对象 58982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8" y="87313"/>
                        <a:ext cx="384175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9827" name="文本框 589826"/>
          <p:cNvSpPr txBox="1"/>
          <p:nvPr/>
        </p:nvSpPr>
        <p:spPr>
          <a:xfrm>
            <a:off x="468313" y="285750"/>
            <a:ext cx="2286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能量可能值</a:t>
            </a:r>
          </a:p>
        </p:txBody>
      </p:sp>
      <p:sp>
        <p:nvSpPr>
          <p:cNvPr id="78852" name="矩形 589827"/>
          <p:cNvSpPr>
            <a:spLocks noChangeArrowheads="1"/>
          </p:cNvSpPr>
          <p:nvPr/>
        </p:nvSpPr>
        <p:spPr bwMode="auto">
          <a:xfrm>
            <a:off x="323850" y="19050"/>
            <a:ext cx="6048375" cy="1177925"/>
          </a:xfrm>
          <a:prstGeom prst="rect">
            <a:avLst/>
          </a:prstGeom>
          <a:noFill/>
          <a:ln w="38100" cap="rnd">
            <a:pattFill prst="pct70">
              <a:fgClr>
                <a:srgbClr val="009999"/>
              </a:fgClr>
              <a:bgClr>
                <a:srgbClr val="FFFFFF"/>
              </a:bgClr>
            </a:patt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589829" name="矩形 589828"/>
          <p:cNvSpPr/>
          <p:nvPr/>
        </p:nvSpPr>
        <p:spPr>
          <a:xfrm>
            <a:off x="500063" y="2065338"/>
            <a:ext cx="2019300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能量本征函数</a:t>
            </a:r>
          </a:p>
        </p:txBody>
      </p:sp>
      <p:graphicFrame>
        <p:nvGraphicFramePr>
          <p:cNvPr id="589830" name="对象 589829"/>
          <p:cNvGraphicFramePr/>
          <p:nvPr/>
        </p:nvGraphicFramePr>
        <p:xfrm>
          <a:off x="3062288" y="1862138"/>
          <a:ext cx="24479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00" r:id="rId5" imgW="1215390" imgH="468630" progId="Equation.3">
                  <p:embed/>
                </p:oleObj>
              </mc:Choice>
              <mc:Fallback>
                <p:oleObj r:id="rId5" imgW="1215390" imgH="468630" progId="Equation.3">
                  <p:embed/>
                  <p:pic>
                    <p:nvPicPr>
                      <p:cNvPr id="0" name="对象 58982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1862138"/>
                        <a:ext cx="244792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9831" name="文本框 589830"/>
          <p:cNvSpPr txBox="1"/>
          <p:nvPr/>
        </p:nvSpPr>
        <p:spPr>
          <a:xfrm>
            <a:off x="498475" y="1406525"/>
            <a:ext cx="563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每个可能的值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----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能量本征值</a:t>
            </a:r>
            <a:r>
              <a:rPr lang="en-US" altLang="zh-CN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能级）</a:t>
            </a:r>
          </a:p>
        </p:txBody>
      </p:sp>
      <p:graphicFrame>
        <p:nvGraphicFramePr>
          <p:cNvPr id="589832" name="对象 589831"/>
          <p:cNvGraphicFramePr/>
          <p:nvPr/>
        </p:nvGraphicFramePr>
        <p:xfrm>
          <a:off x="1166813" y="3214688"/>
          <a:ext cx="574675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01" r:id="rId7" imgW="2286000" imgH="535305" progId="Equation.3">
                  <p:embed/>
                </p:oleObj>
              </mc:Choice>
              <mc:Fallback>
                <p:oleObj r:id="rId7" imgW="2286000" imgH="535305" progId="Equation.3">
                  <p:embed/>
                  <p:pic>
                    <p:nvPicPr>
                      <p:cNvPr id="0" name="对象 58983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3214688"/>
                        <a:ext cx="5746750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9833" name="文本框 589832"/>
          <p:cNvSpPr txBox="1"/>
          <p:nvPr/>
        </p:nvSpPr>
        <p:spPr>
          <a:xfrm>
            <a:off x="468313" y="2700338"/>
            <a:ext cx="3551237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利用波函数的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归一化条件</a:t>
            </a:r>
          </a:p>
        </p:txBody>
      </p:sp>
      <p:sp>
        <p:nvSpPr>
          <p:cNvPr id="589834" name="文本框 589833"/>
          <p:cNvSpPr txBox="1"/>
          <p:nvPr/>
        </p:nvSpPr>
        <p:spPr>
          <a:xfrm>
            <a:off x="5726113" y="2032000"/>
            <a:ext cx="143986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b="1" i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B = </a:t>
            </a:r>
            <a:r>
              <a:rPr lang="en-US" altLang="zh-CN" sz="32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?</a:t>
            </a:r>
          </a:p>
        </p:txBody>
      </p:sp>
      <p:sp>
        <p:nvSpPr>
          <p:cNvPr id="589835" name="文本框 589834"/>
          <p:cNvSpPr txBox="1"/>
          <p:nvPr/>
        </p:nvSpPr>
        <p:spPr>
          <a:xfrm>
            <a:off x="1452563" y="4292600"/>
            <a:ext cx="485775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589836" name="对象 589835"/>
          <p:cNvGraphicFramePr/>
          <p:nvPr/>
        </p:nvGraphicFramePr>
        <p:xfrm>
          <a:off x="2401888" y="4292600"/>
          <a:ext cx="16081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02" r:id="rId9" imgW="724535" imgH="267335" progId="Equation.3">
                  <p:embed/>
                </p:oleObj>
              </mc:Choice>
              <mc:Fallback>
                <p:oleObj r:id="rId9" imgW="724535" imgH="267335" progId="Equation.3">
                  <p:embed/>
                  <p:pic>
                    <p:nvPicPr>
                      <p:cNvPr id="0" name="对象 58983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4292600"/>
                        <a:ext cx="16081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9837" name="对象 589836"/>
          <p:cNvGraphicFramePr/>
          <p:nvPr/>
        </p:nvGraphicFramePr>
        <p:xfrm>
          <a:off x="1158875" y="5640388"/>
          <a:ext cx="12842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03" r:id="rId11" imgW="579755" imgH="234315" progId="Equation.3">
                  <p:embed/>
                </p:oleObj>
              </mc:Choice>
              <mc:Fallback>
                <p:oleObj r:id="rId11" imgW="579755" imgH="234315" progId="Equation.3">
                  <p:embed/>
                  <p:pic>
                    <p:nvPicPr>
                      <p:cNvPr id="0" name="对象 58983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5" y="5640388"/>
                        <a:ext cx="12842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9839" name="对象 589838"/>
          <p:cNvGraphicFramePr/>
          <p:nvPr/>
        </p:nvGraphicFramePr>
        <p:xfrm>
          <a:off x="2498725" y="5106988"/>
          <a:ext cx="54022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04" r:id="rId13" imgW="2955290" imgH="490855" progId="Equation.DSMT4">
                  <p:embed/>
                </p:oleObj>
              </mc:Choice>
              <mc:Fallback>
                <p:oleObj r:id="rId13" imgW="2955290" imgH="490855" progId="Equation.DSMT4">
                  <p:embed/>
                  <p:pic>
                    <p:nvPicPr>
                      <p:cNvPr id="0" name="对象 58983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5" y="5106988"/>
                        <a:ext cx="540226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9840" name="左大括号 589839"/>
          <p:cNvSpPr/>
          <p:nvPr/>
        </p:nvSpPr>
        <p:spPr bwMode="auto">
          <a:xfrm>
            <a:off x="2439988" y="5138738"/>
            <a:ext cx="142875" cy="1395412"/>
          </a:xfrm>
          <a:prstGeom prst="leftBrace">
            <a:avLst>
              <a:gd name="adj1" fmla="val 80937"/>
              <a:gd name="adj2" fmla="val 50000"/>
            </a:avLst>
          </a:prstGeom>
          <a:noFill/>
          <a:ln w="31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aphicFrame>
        <p:nvGraphicFramePr>
          <p:cNvPr id="589841" name="对象 589840"/>
          <p:cNvGraphicFramePr/>
          <p:nvPr/>
        </p:nvGraphicFramePr>
        <p:xfrm>
          <a:off x="2754313" y="6092825"/>
          <a:ext cx="342106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05" r:id="rId15" imgW="1259840" imgH="200660" progId="Equation.DSMT4">
                  <p:embed/>
                </p:oleObj>
              </mc:Choice>
              <mc:Fallback>
                <p:oleObj r:id="rId15" imgW="1259840" imgH="200660" progId="Equation.DSMT4">
                  <p:embed/>
                  <p:pic>
                    <p:nvPicPr>
                      <p:cNvPr id="0" name="对象 589840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6092825"/>
                        <a:ext cx="342106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9842" name="内容占位符 589841"/>
          <p:cNvGraphicFramePr>
            <a:graphicFrameLocks noGrp="1"/>
          </p:cNvGraphicFramePr>
          <p:nvPr>
            <p:ph idx="4294967295"/>
          </p:nvPr>
        </p:nvGraphicFramePr>
        <p:xfrm>
          <a:off x="6659563" y="330200"/>
          <a:ext cx="18732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06" r:id="rId17" imgW="1081405" imgH="200660" progId="Equation.3">
                  <p:embed/>
                </p:oleObj>
              </mc:Choice>
              <mc:Fallback>
                <p:oleObj r:id="rId17" imgW="1081405" imgH="200660" progId="Equation.3">
                  <p:embed/>
                  <p:pic>
                    <p:nvPicPr>
                      <p:cNvPr id="0" name="内容占位符 58984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30200"/>
                        <a:ext cx="18732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9843" name="组合 589842"/>
          <p:cNvGrpSpPr/>
          <p:nvPr/>
        </p:nvGrpSpPr>
        <p:grpSpPr bwMode="auto">
          <a:xfrm>
            <a:off x="5651500" y="1036638"/>
            <a:ext cx="3581400" cy="736600"/>
            <a:chOff x="2448" y="3184"/>
            <a:chExt cx="2368" cy="560"/>
          </a:xfrm>
        </p:grpSpPr>
        <p:graphicFrame>
          <p:nvGraphicFramePr>
            <p:cNvPr id="78867" name="对象 589843"/>
            <p:cNvGraphicFramePr/>
            <p:nvPr/>
          </p:nvGraphicFramePr>
          <p:xfrm>
            <a:off x="2736" y="3184"/>
            <a:ext cx="2080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007" r:id="rId19" imgW="3302000" imgH="889000" progId="Equation.3">
                    <p:embed/>
                  </p:oleObj>
                </mc:Choice>
                <mc:Fallback>
                  <p:oleObj r:id="rId19" imgW="3302000" imgH="889000" progId="Equation.3">
                    <p:embed/>
                    <p:pic>
                      <p:nvPicPr>
                        <p:cNvPr id="0" name="对象 58984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184"/>
                          <a:ext cx="2080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68" name="文本框 589844"/>
            <p:cNvSpPr txBox="1">
              <a:spLocks noChangeArrowheads="1"/>
            </p:cNvSpPr>
            <p:nvPr/>
          </p:nvSpPr>
          <p:spPr bwMode="auto">
            <a:xfrm>
              <a:off x="2448" y="3312"/>
              <a:ext cx="480" cy="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800" baseline="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89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8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589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8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898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89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9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58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89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89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8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89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89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9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9" grpId="0"/>
      <p:bldP spid="589831" grpId="0" build="p"/>
      <p:bldP spid="589833" grpId="0"/>
      <p:bldP spid="589834" grpId="0"/>
      <p:bldP spid="58983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文本框 590849"/>
          <p:cNvSpPr txBox="1"/>
          <p:nvPr/>
        </p:nvSpPr>
        <p:spPr>
          <a:xfrm>
            <a:off x="395288" y="333375"/>
            <a:ext cx="1096962" cy="460375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波函数</a:t>
            </a:r>
          </a:p>
        </p:txBody>
      </p:sp>
      <p:sp>
        <p:nvSpPr>
          <p:cNvPr id="590851" name="矩形 590850"/>
          <p:cNvSpPr/>
          <p:nvPr/>
        </p:nvSpPr>
        <p:spPr>
          <a:xfrm>
            <a:off x="466725" y="2419350"/>
            <a:ext cx="2322513" cy="461963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阱内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能量分布为</a:t>
            </a:r>
          </a:p>
        </p:txBody>
      </p:sp>
      <p:sp>
        <p:nvSpPr>
          <p:cNvPr id="590852" name="文本框 590851"/>
          <p:cNvSpPr txBox="1">
            <a:spLocks noChangeArrowheads="1"/>
          </p:cNvSpPr>
          <p:nvPr/>
        </p:nvSpPr>
        <p:spPr bwMode="auto">
          <a:xfrm>
            <a:off x="176213" y="3211513"/>
            <a:ext cx="49450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aseline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势阱中粒子的运动特征：</a:t>
            </a:r>
          </a:p>
        </p:txBody>
      </p:sp>
      <p:sp>
        <p:nvSpPr>
          <p:cNvPr id="590853" name="文本框 590852"/>
          <p:cNvSpPr txBox="1"/>
          <p:nvPr/>
        </p:nvSpPr>
        <p:spPr>
          <a:xfrm>
            <a:off x="296863" y="3935413"/>
            <a:ext cx="8064500" cy="1004887"/>
          </a:xfrm>
          <a:prstGeom prst="rect">
            <a:avLst/>
          </a:prstGeom>
          <a:noFill/>
          <a:ln w="317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1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）束缚在势阱内的粒子的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能量是量子化的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----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量子数，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  <a:r>
              <a:rPr lang="en-US" altLang="zh-CN" b="1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----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能级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590854" name="对象 590853"/>
          <p:cNvGraphicFramePr/>
          <p:nvPr/>
        </p:nvGraphicFramePr>
        <p:xfrm>
          <a:off x="1042988" y="5156200"/>
          <a:ext cx="23939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4" r:id="rId3" imgW="1349375" imgH="457200" progId="Equation.3">
                  <p:embed/>
                </p:oleObj>
              </mc:Choice>
              <mc:Fallback>
                <p:oleObj r:id="rId3" imgW="1349375" imgH="457200" progId="Equation.3">
                  <p:embed/>
                  <p:pic>
                    <p:nvPicPr>
                      <p:cNvPr id="0" name="对象 59085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156200"/>
                        <a:ext cx="23939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0855" name="文本框 590854"/>
          <p:cNvSpPr txBox="1"/>
          <p:nvPr/>
        </p:nvSpPr>
        <p:spPr>
          <a:xfrm>
            <a:off x="7164388" y="5876925"/>
            <a:ext cx="1404937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…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激发态</a:t>
            </a:r>
          </a:p>
        </p:txBody>
      </p:sp>
      <p:graphicFrame>
        <p:nvGraphicFramePr>
          <p:cNvPr id="590856" name="对象 590855"/>
          <p:cNvGraphicFramePr/>
          <p:nvPr/>
        </p:nvGraphicFramePr>
        <p:xfrm>
          <a:off x="7145338" y="5229225"/>
          <a:ext cx="14414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5" r:id="rId5" imgW="713740" imgH="245110" progId="Equation.3">
                  <p:embed/>
                </p:oleObj>
              </mc:Choice>
              <mc:Fallback>
                <p:oleObj r:id="rId5" imgW="713740" imgH="245110" progId="Equation.3">
                  <p:embed/>
                  <p:pic>
                    <p:nvPicPr>
                      <p:cNvPr id="0" name="对象 59085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5338" y="5229225"/>
                        <a:ext cx="14414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881" name="组合 590856"/>
          <p:cNvGrpSpPr/>
          <p:nvPr/>
        </p:nvGrpSpPr>
        <p:grpSpPr bwMode="auto">
          <a:xfrm>
            <a:off x="5716588" y="2363788"/>
            <a:ext cx="2016125" cy="504825"/>
            <a:chOff x="4080" y="624"/>
            <a:chExt cx="1344" cy="384"/>
          </a:xfrm>
        </p:grpSpPr>
        <p:sp>
          <p:nvSpPr>
            <p:cNvPr id="79890" name="矩形 590857"/>
            <p:cNvSpPr>
              <a:spLocks noChangeArrowheads="1"/>
            </p:cNvSpPr>
            <p:nvPr/>
          </p:nvSpPr>
          <p:spPr bwMode="auto">
            <a:xfrm>
              <a:off x="4080" y="624"/>
              <a:ext cx="134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aphicFrame>
          <p:nvGraphicFramePr>
            <p:cNvPr id="79891" name="对象 590858"/>
            <p:cNvGraphicFramePr/>
            <p:nvPr/>
          </p:nvGraphicFramePr>
          <p:xfrm>
            <a:off x="4123" y="651"/>
            <a:ext cx="130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996" r:id="rId7" imgW="802640" imgH="178435" progId="Equation.3">
                    <p:embed/>
                  </p:oleObj>
                </mc:Choice>
                <mc:Fallback>
                  <p:oleObj r:id="rId7" imgW="802640" imgH="178435" progId="Equation.3">
                    <p:embed/>
                    <p:pic>
                      <p:nvPicPr>
                        <p:cNvPr id="0" name="对象 59085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3" y="651"/>
                          <a:ext cx="130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882" name="对象 590860"/>
          <p:cNvGraphicFramePr/>
          <p:nvPr/>
        </p:nvGraphicFramePr>
        <p:xfrm>
          <a:off x="3059113" y="2133600"/>
          <a:ext cx="245268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7" r:id="rId9" imgW="1115060" imgH="457200" progId="Equation.3">
                  <p:embed/>
                </p:oleObj>
              </mc:Choice>
              <mc:Fallback>
                <p:oleObj r:id="rId9" imgW="1115060" imgH="457200" progId="Equation.3">
                  <p:embed/>
                  <p:pic>
                    <p:nvPicPr>
                      <p:cNvPr id="0" name="对象 59086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133600"/>
                        <a:ext cx="2452687" cy="1009650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3" name="对象 590865"/>
          <p:cNvGraphicFramePr/>
          <p:nvPr/>
        </p:nvGraphicFramePr>
        <p:xfrm>
          <a:off x="1211263" y="1127125"/>
          <a:ext cx="12842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8" r:id="rId11" imgW="579755" imgH="234315" progId="Equation.3">
                  <p:embed/>
                </p:oleObj>
              </mc:Choice>
              <mc:Fallback>
                <p:oleObj r:id="rId11" imgW="579755" imgH="234315" progId="Equation.3">
                  <p:embed/>
                  <p:pic>
                    <p:nvPicPr>
                      <p:cNvPr id="0" name="对象 59086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127125"/>
                        <a:ext cx="1284287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4" name="对象 590866"/>
          <p:cNvGraphicFramePr/>
          <p:nvPr/>
        </p:nvGraphicFramePr>
        <p:xfrm>
          <a:off x="2551113" y="593725"/>
          <a:ext cx="54022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9" r:id="rId13" imgW="2955290" imgH="490855" progId="Equation.DSMT4">
                  <p:embed/>
                </p:oleObj>
              </mc:Choice>
              <mc:Fallback>
                <p:oleObj r:id="rId13" imgW="2955290" imgH="490855" progId="Equation.DSMT4">
                  <p:embed/>
                  <p:pic>
                    <p:nvPicPr>
                      <p:cNvPr id="0" name="对象 590866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593725"/>
                        <a:ext cx="54022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5" name="左大括号 590867"/>
          <p:cNvSpPr/>
          <p:nvPr/>
        </p:nvSpPr>
        <p:spPr bwMode="auto">
          <a:xfrm>
            <a:off x="2492375" y="625475"/>
            <a:ext cx="142875" cy="1395413"/>
          </a:xfrm>
          <a:prstGeom prst="leftBrace">
            <a:avLst>
              <a:gd name="adj1" fmla="val 80937"/>
              <a:gd name="adj2" fmla="val 50000"/>
            </a:avLst>
          </a:prstGeom>
          <a:noFill/>
          <a:ln w="31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aphicFrame>
        <p:nvGraphicFramePr>
          <p:cNvPr id="79886" name="对象 590868"/>
          <p:cNvGraphicFramePr/>
          <p:nvPr/>
        </p:nvGraphicFramePr>
        <p:xfrm>
          <a:off x="2806700" y="1579563"/>
          <a:ext cx="342106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00" r:id="rId15" imgW="1259840" imgH="200660" progId="Equation.DSMT4">
                  <p:embed/>
                </p:oleObj>
              </mc:Choice>
              <mc:Fallback>
                <p:oleObj r:id="rId15" imgW="1259840" imgH="200660" progId="Equation.DSMT4">
                  <p:embed/>
                  <p:pic>
                    <p:nvPicPr>
                      <p:cNvPr id="0" name="对象 590868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1579563"/>
                        <a:ext cx="342106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1874" name="文本框 591873"/>
          <p:cNvSpPr txBox="1"/>
          <p:nvPr/>
        </p:nvSpPr>
        <p:spPr>
          <a:xfrm>
            <a:off x="682625" y="6165850"/>
            <a:ext cx="2447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能量最小值：</a:t>
            </a:r>
          </a:p>
        </p:txBody>
      </p:sp>
      <p:sp>
        <p:nvSpPr>
          <p:cNvPr id="591876" name="文本框 591875"/>
          <p:cNvSpPr txBox="1"/>
          <p:nvPr/>
        </p:nvSpPr>
        <p:spPr>
          <a:xfrm>
            <a:off x="3922713" y="5978525"/>
            <a:ext cx="2178050" cy="841375"/>
          </a:xfrm>
          <a:prstGeom prst="rect">
            <a:avLst/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波粒二象性的必然结果！</a:t>
            </a:r>
          </a:p>
        </p:txBody>
      </p:sp>
      <p:sp>
        <p:nvSpPr>
          <p:cNvPr id="591877" name="文本框 591876"/>
          <p:cNvSpPr txBox="1"/>
          <p:nvPr/>
        </p:nvSpPr>
        <p:spPr>
          <a:xfrm>
            <a:off x="2635250" y="6165850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零点能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90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908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90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9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9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90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9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2" grpId="0"/>
      <p:bldP spid="590853" grpId="0" uiExpand="1" build="p"/>
      <p:bldP spid="590855" grpId="0"/>
      <p:bldP spid="591874" grpId="0"/>
      <p:bldP spid="591876" grpId="0" bldLvl="0" animBg="1"/>
      <p:bldP spid="59187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8" name="文本框 592897"/>
          <p:cNvSpPr txBox="1"/>
          <p:nvPr/>
        </p:nvSpPr>
        <p:spPr>
          <a:xfrm>
            <a:off x="0" y="44450"/>
            <a:ext cx="56880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(2).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概率分布</a:t>
            </a:r>
          </a:p>
        </p:txBody>
      </p:sp>
      <p:grpSp>
        <p:nvGrpSpPr>
          <p:cNvPr id="592899" name="组合 592898"/>
          <p:cNvGrpSpPr/>
          <p:nvPr/>
        </p:nvGrpSpPr>
        <p:grpSpPr bwMode="auto">
          <a:xfrm>
            <a:off x="4273550" y="509588"/>
            <a:ext cx="4870450" cy="927100"/>
            <a:chOff x="419" y="1565"/>
            <a:chExt cx="2864" cy="584"/>
          </a:xfrm>
        </p:grpSpPr>
        <p:sp>
          <p:nvSpPr>
            <p:cNvPr id="80982" name="矩形 592899"/>
            <p:cNvSpPr>
              <a:spLocks noChangeArrowheads="1"/>
            </p:cNvSpPr>
            <p:nvPr/>
          </p:nvSpPr>
          <p:spPr bwMode="auto">
            <a:xfrm>
              <a:off x="419" y="1565"/>
              <a:ext cx="2864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aphicFrame>
          <p:nvGraphicFramePr>
            <p:cNvPr id="80983" name="对象 592900"/>
            <p:cNvGraphicFramePr/>
            <p:nvPr/>
          </p:nvGraphicFramePr>
          <p:xfrm>
            <a:off x="525" y="1565"/>
            <a:ext cx="2682" cy="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086" r:id="rId3" imgW="2051685" imgH="423545" progId="Equation.3">
                    <p:embed/>
                  </p:oleObj>
                </mc:Choice>
                <mc:Fallback>
                  <p:oleObj r:id="rId3" imgW="2051685" imgH="423545" progId="Equation.3">
                    <p:embed/>
                    <p:pic>
                      <p:nvPicPr>
                        <p:cNvPr id="0" name="对象 59290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" y="1565"/>
                          <a:ext cx="2682" cy="581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2902" name="矩形 592901"/>
          <p:cNvSpPr/>
          <p:nvPr/>
        </p:nvSpPr>
        <p:spPr>
          <a:xfrm>
            <a:off x="250825" y="1484313"/>
            <a:ext cx="76374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粒子在势阱内的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概率分布呈周期性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----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不同于经典粒子。</a:t>
            </a:r>
          </a:p>
        </p:txBody>
      </p:sp>
      <p:grpSp>
        <p:nvGrpSpPr>
          <p:cNvPr id="592903" name="组合 592902"/>
          <p:cNvGrpSpPr/>
          <p:nvPr/>
        </p:nvGrpSpPr>
        <p:grpSpPr bwMode="auto">
          <a:xfrm>
            <a:off x="250825" y="501650"/>
            <a:ext cx="4033838" cy="936625"/>
            <a:chOff x="0" y="144"/>
            <a:chExt cx="4032" cy="768"/>
          </a:xfrm>
        </p:grpSpPr>
        <p:sp>
          <p:nvSpPr>
            <p:cNvPr id="80980" name="矩形 592903"/>
            <p:cNvSpPr>
              <a:spLocks noChangeArrowheads="1"/>
            </p:cNvSpPr>
            <p:nvPr/>
          </p:nvSpPr>
          <p:spPr bwMode="auto">
            <a:xfrm>
              <a:off x="0" y="144"/>
              <a:ext cx="4032" cy="768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aphicFrame>
          <p:nvGraphicFramePr>
            <p:cNvPr id="80981" name="对象 592904"/>
            <p:cNvGraphicFramePr/>
            <p:nvPr/>
          </p:nvGraphicFramePr>
          <p:xfrm>
            <a:off x="651" y="144"/>
            <a:ext cx="2724" cy="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087" r:id="rId5" imgW="1358900" imgH="444500" progId="Equation.3">
                    <p:embed/>
                  </p:oleObj>
                </mc:Choice>
                <mc:Fallback>
                  <p:oleObj r:id="rId5" imgW="1358900" imgH="444500" progId="Equation.3">
                    <p:embed/>
                    <p:pic>
                      <p:nvPicPr>
                        <p:cNvPr id="0" name="对象 59290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" y="144"/>
                          <a:ext cx="2724" cy="7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2906" name="文本框 592905"/>
          <p:cNvSpPr txBox="1"/>
          <p:nvPr/>
        </p:nvSpPr>
        <p:spPr>
          <a:xfrm>
            <a:off x="427038" y="5300663"/>
            <a:ext cx="5440362" cy="457200"/>
          </a:xfrm>
          <a:prstGeom prst="rect">
            <a:avLst/>
          </a:prstGeom>
          <a:noFill/>
          <a:ln w="317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当 </a:t>
            </a:r>
            <a:r>
              <a:rPr lang="en-US" altLang="zh-CN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  </a:t>
            </a: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zh-CN" altLang="en-US" b="1" baseline="0" noProof="1">
                <a:solidFill>
                  <a:srgbClr val="3333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过渡到经典力学</a:t>
            </a:r>
          </a:p>
        </p:txBody>
      </p:sp>
      <p:grpSp>
        <p:nvGrpSpPr>
          <p:cNvPr id="592907" name="组合 592906"/>
          <p:cNvGrpSpPr/>
          <p:nvPr/>
        </p:nvGrpSpPr>
        <p:grpSpPr bwMode="auto">
          <a:xfrm>
            <a:off x="1116013" y="1916113"/>
            <a:ext cx="3644900" cy="2581275"/>
            <a:chOff x="2688" y="816"/>
            <a:chExt cx="2784" cy="2574"/>
          </a:xfrm>
        </p:grpSpPr>
        <p:grpSp>
          <p:nvGrpSpPr>
            <p:cNvPr id="80937" name="组合 592907"/>
            <p:cNvGrpSpPr/>
            <p:nvPr/>
          </p:nvGrpSpPr>
          <p:grpSpPr bwMode="auto">
            <a:xfrm>
              <a:off x="3432" y="1644"/>
              <a:ext cx="1667" cy="867"/>
              <a:chOff x="6885" y="13605"/>
              <a:chExt cx="3075" cy="945"/>
            </a:xfrm>
          </p:grpSpPr>
          <p:grpSp>
            <p:nvGrpSpPr>
              <p:cNvPr id="80950" name="组合 592908"/>
              <p:cNvGrpSpPr/>
              <p:nvPr/>
            </p:nvGrpSpPr>
            <p:grpSpPr bwMode="auto">
              <a:xfrm>
                <a:off x="6885" y="13605"/>
                <a:ext cx="1530" cy="945"/>
                <a:chOff x="6885" y="13605"/>
                <a:chExt cx="2910" cy="945"/>
              </a:xfrm>
            </p:grpSpPr>
            <p:grpSp>
              <p:nvGrpSpPr>
                <p:cNvPr id="80966" name="组合 592909"/>
                <p:cNvGrpSpPr/>
                <p:nvPr/>
              </p:nvGrpSpPr>
              <p:grpSpPr bwMode="auto">
                <a:xfrm>
                  <a:off x="6885" y="13605"/>
                  <a:ext cx="1455" cy="945"/>
                  <a:chOff x="6885" y="13605"/>
                  <a:chExt cx="1455" cy="945"/>
                </a:xfrm>
              </p:grpSpPr>
              <p:sp>
                <p:nvSpPr>
                  <p:cNvPr id="80974" name="任意多边形 592910"/>
                  <p:cNvSpPr>
                    <a:spLocks noChangeArrowheads="1"/>
                  </p:cNvSpPr>
                  <p:nvPr/>
                </p:nvSpPr>
                <p:spPr bwMode="auto">
                  <a:xfrm>
                    <a:off x="6885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75" name="任意多边形 592911"/>
                  <p:cNvSpPr>
                    <a:spLocks noChangeArrowheads="1"/>
                  </p:cNvSpPr>
                  <p:nvPr/>
                </p:nvSpPr>
                <p:spPr bwMode="auto">
                  <a:xfrm>
                    <a:off x="714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76" name="任意多边形 592912"/>
                  <p:cNvSpPr>
                    <a:spLocks noChangeArrowheads="1"/>
                  </p:cNvSpPr>
                  <p:nvPr/>
                </p:nvSpPr>
                <p:spPr bwMode="auto">
                  <a:xfrm>
                    <a:off x="738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77" name="任意多边形 592913"/>
                  <p:cNvSpPr>
                    <a:spLocks noChangeArrowheads="1"/>
                  </p:cNvSpPr>
                  <p:nvPr/>
                </p:nvSpPr>
                <p:spPr bwMode="auto">
                  <a:xfrm>
                    <a:off x="762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78" name="任意多边形 592914"/>
                  <p:cNvSpPr>
                    <a:spLocks noChangeArrowheads="1"/>
                  </p:cNvSpPr>
                  <p:nvPr/>
                </p:nvSpPr>
                <p:spPr bwMode="auto">
                  <a:xfrm>
                    <a:off x="786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79" name="任意多边形 592915"/>
                  <p:cNvSpPr>
                    <a:spLocks noChangeArrowheads="1"/>
                  </p:cNvSpPr>
                  <p:nvPr/>
                </p:nvSpPr>
                <p:spPr bwMode="auto">
                  <a:xfrm>
                    <a:off x="810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0967" name="组合 592916"/>
                <p:cNvGrpSpPr/>
                <p:nvPr/>
              </p:nvGrpSpPr>
              <p:grpSpPr bwMode="auto">
                <a:xfrm>
                  <a:off x="8340" y="13605"/>
                  <a:ext cx="1455" cy="945"/>
                  <a:chOff x="6885" y="13605"/>
                  <a:chExt cx="1455" cy="945"/>
                </a:xfrm>
              </p:grpSpPr>
              <p:sp>
                <p:nvSpPr>
                  <p:cNvPr id="80968" name="任意多边形 592917"/>
                  <p:cNvSpPr>
                    <a:spLocks noChangeArrowheads="1"/>
                  </p:cNvSpPr>
                  <p:nvPr/>
                </p:nvSpPr>
                <p:spPr bwMode="auto">
                  <a:xfrm>
                    <a:off x="6885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69" name="任意多边形 592918"/>
                  <p:cNvSpPr>
                    <a:spLocks noChangeArrowheads="1"/>
                  </p:cNvSpPr>
                  <p:nvPr/>
                </p:nvSpPr>
                <p:spPr bwMode="auto">
                  <a:xfrm>
                    <a:off x="714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70" name="任意多边形 592919"/>
                  <p:cNvSpPr>
                    <a:spLocks noChangeArrowheads="1"/>
                  </p:cNvSpPr>
                  <p:nvPr/>
                </p:nvSpPr>
                <p:spPr bwMode="auto">
                  <a:xfrm>
                    <a:off x="738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71" name="任意多边形 592920"/>
                  <p:cNvSpPr>
                    <a:spLocks noChangeArrowheads="1"/>
                  </p:cNvSpPr>
                  <p:nvPr/>
                </p:nvSpPr>
                <p:spPr bwMode="auto">
                  <a:xfrm>
                    <a:off x="762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72" name="任意多边形 592921"/>
                  <p:cNvSpPr>
                    <a:spLocks noChangeArrowheads="1"/>
                  </p:cNvSpPr>
                  <p:nvPr/>
                </p:nvSpPr>
                <p:spPr bwMode="auto">
                  <a:xfrm>
                    <a:off x="786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73" name="任意多边形 592922"/>
                  <p:cNvSpPr>
                    <a:spLocks noChangeArrowheads="1"/>
                  </p:cNvSpPr>
                  <p:nvPr/>
                </p:nvSpPr>
                <p:spPr bwMode="auto">
                  <a:xfrm>
                    <a:off x="810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80951" name="组合 592923"/>
              <p:cNvGrpSpPr/>
              <p:nvPr/>
            </p:nvGrpSpPr>
            <p:grpSpPr bwMode="auto">
              <a:xfrm>
                <a:off x="8430" y="13605"/>
                <a:ext cx="1530" cy="945"/>
                <a:chOff x="6885" y="13605"/>
                <a:chExt cx="2910" cy="945"/>
              </a:xfrm>
            </p:grpSpPr>
            <p:grpSp>
              <p:nvGrpSpPr>
                <p:cNvPr id="80952" name="组合 592924"/>
                <p:cNvGrpSpPr/>
                <p:nvPr/>
              </p:nvGrpSpPr>
              <p:grpSpPr bwMode="auto">
                <a:xfrm>
                  <a:off x="6885" y="13605"/>
                  <a:ext cx="1455" cy="945"/>
                  <a:chOff x="6885" y="13605"/>
                  <a:chExt cx="1455" cy="945"/>
                </a:xfrm>
              </p:grpSpPr>
              <p:sp>
                <p:nvSpPr>
                  <p:cNvPr id="80960" name="任意多边形 592925"/>
                  <p:cNvSpPr>
                    <a:spLocks noChangeArrowheads="1"/>
                  </p:cNvSpPr>
                  <p:nvPr/>
                </p:nvSpPr>
                <p:spPr bwMode="auto">
                  <a:xfrm>
                    <a:off x="6885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61" name="任意多边形 592926"/>
                  <p:cNvSpPr>
                    <a:spLocks noChangeArrowheads="1"/>
                  </p:cNvSpPr>
                  <p:nvPr/>
                </p:nvSpPr>
                <p:spPr bwMode="auto">
                  <a:xfrm>
                    <a:off x="714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62" name="任意多边形 592927"/>
                  <p:cNvSpPr>
                    <a:spLocks noChangeArrowheads="1"/>
                  </p:cNvSpPr>
                  <p:nvPr/>
                </p:nvSpPr>
                <p:spPr bwMode="auto">
                  <a:xfrm>
                    <a:off x="738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63" name="任意多边形 592928"/>
                  <p:cNvSpPr>
                    <a:spLocks noChangeArrowheads="1"/>
                  </p:cNvSpPr>
                  <p:nvPr/>
                </p:nvSpPr>
                <p:spPr bwMode="auto">
                  <a:xfrm>
                    <a:off x="762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64" name="任意多边形 592929"/>
                  <p:cNvSpPr>
                    <a:spLocks noChangeArrowheads="1"/>
                  </p:cNvSpPr>
                  <p:nvPr/>
                </p:nvSpPr>
                <p:spPr bwMode="auto">
                  <a:xfrm>
                    <a:off x="786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65" name="任意多边形 592930"/>
                  <p:cNvSpPr>
                    <a:spLocks noChangeArrowheads="1"/>
                  </p:cNvSpPr>
                  <p:nvPr/>
                </p:nvSpPr>
                <p:spPr bwMode="auto">
                  <a:xfrm>
                    <a:off x="810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0953" name="组合 592931"/>
                <p:cNvGrpSpPr/>
                <p:nvPr/>
              </p:nvGrpSpPr>
              <p:grpSpPr bwMode="auto">
                <a:xfrm>
                  <a:off x="8340" y="13605"/>
                  <a:ext cx="1455" cy="945"/>
                  <a:chOff x="6885" y="13605"/>
                  <a:chExt cx="1455" cy="945"/>
                </a:xfrm>
              </p:grpSpPr>
              <p:sp>
                <p:nvSpPr>
                  <p:cNvPr id="80954" name="任意多边形 592932"/>
                  <p:cNvSpPr>
                    <a:spLocks noChangeArrowheads="1"/>
                  </p:cNvSpPr>
                  <p:nvPr/>
                </p:nvSpPr>
                <p:spPr bwMode="auto">
                  <a:xfrm>
                    <a:off x="6885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55" name="任意多边形 592933"/>
                  <p:cNvSpPr>
                    <a:spLocks noChangeArrowheads="1"/>
                  </p:cNvSpPr>
                  <p:nvPr/>
                </p:nvSpPr>
                <p:spPr bwMode="auto">
                  <a:xfrm>
                    <a:off x="714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56" name="任意多边形 592934"/>
                  <p:cNvSpPr>
                    <a:spLocks noChangeArrowheads="1"/>
                  </p:cNvSpPr>
                  <p:nvPr/>
                </p:nvSpPr>
                <p:spPr bwMode="auto">
                  <a:xfrm>
                    <a:off x="738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57" name="任意多边形 592935"/>
                  <p:cNvSpPr>
                    <a:spLocks noChangeArrowheads="1"/>
                  </p:cNvSpPr>
                  <p:nvPr/>
                </p:nvSpPr>
                <p:spPr bwMode="auto">
                  <a:xfrm>
                    <a:off x="762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58" name="任意多边形 592936"/>
                  <p:cNvSpPr>
                    <a:spLocks noChangeArrowheads="1"/>
                  </p:cNvSpPr>
                  <p:nvPr/>
                </p:nvSpPr>
                <p:spPr bwMode="auto">
                  <a:xfrm>
                    <a:off x="786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59" name="任意多边形 592937"/>
                  <p:cNvSpPr>
                    <a:spLocks noChangeArrowheads="1"/>
                  </p:cNvSpPr>
                  <p:nvPr/>
                </p:nvSpPr>
                <p:spPr bwMode="auto">
                  <a:xfrm>
                    <a:off x="8100" y="13605"/>
                    <a:ext cx="240" cy="945"/>
                  </a:xfrm>
                  <a:custGeom>
                    <a:avLst/>
                    <a:gdLst>
                      <a:gd name="T0" fmla="*/ 0 w 240"/>
                      <a:gd name="T1" fmla="*/ 945 h 945"/>
                      <a:gd name="T2" fmla="*/ 90 w 240"/>
                      <a:gd name="T3" fmla="*/ 0 h 945"/>
                      <a:gd name="T4" fmla="*/ 240 w 240"/>
                      <a:gd name="T5" fmla="*/ 945 h 94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40" h="945">
                        <a:moveTo>
                          <a:pt x="0" y="945"/>
                        </a:moveTo>
                        <a:cubicBezTo>
                          <a:pt x="25" y="472"/>
                          <a:pt x="50" y="0"/>
                          <a:pt x="90" y="0"/>
                        </a:cubicBezTo>
                        <a:cubicBezTo>
                          <a:pt x="130" y="0"/>
                          <a:pt x="185" y="472"/>
                          <a:pt x="240" y="945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80938" name="直接连接符 592938"/>
            <p:cNvSpPr>
              <a:spLocks noChangeShapeType="1"/>
            </p:cNvSpPr>
            <p:nvPr/>
          </p:nvSpPr>
          <p:spPr bwMode="auto">
            <a:xfrm flipV="1">
              <a:off x="3411" y="1177"/>
              <a:ext cx="0" cy="17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9" name="直接连接符 592939"/>
            <p:cNvSpPr>
              <a:spLocks noChangeShapeType="1"/>
            </p:cNvSpPr>
            <p:nvPr/>
          </p:nvSpPr>
          <p:spPr bwMode="auto">
            <a:xfrm flipV="1">
              <a:off x="5110" y="1177"/>
              <a:ext cx="0" cy="17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0" name="直接连接符 592940"/>
            <p:cNvSpPr>
              <a:spLocks noChangeShapeType="1"/>
            </p:cNvSpPr>
            <p:nvPr/>
          </p:nvSpPr>
          <p:spPr bwMode="auto">
            <a:xfrm>
              <a:off x="3411" y="2526"/>
              <a:ext cx="16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0941" name="组合 592941"/>
            <p:cNvGrpSpPr/>
            <p:nvPr/>
          </p:nvGrpSpPr>
          <p:grpSpPr bwMode="auto">
            <a:xfrm>
              <a:off x="2688" y="816"/>
              <a:ext cx="816" cy="627"/>
              <a:chOff x="4215" y="2392"/>
              <a:chExt cx="742" cy="337"/>
            </a:xfrm>
          </p:grpSpPr>
          <p:sp>
            <p:nvSpPr>
              <p:cNvPr id="80946" name="文本框 592942"/>
              <p:cNvSpPr txBox="1">
                <a:spLocks noChangeArrowheads="1"/>
              </p:cNvSpPr>
              <p:nvPr/>
            </p:nvSpPr>
            <p:spPr bwMode="auto">
              <a:xfrm>
                <a:off x="4215" y="2451"/>
                <a:ext cx="292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aseline="0">
                    <a:solidFill>
                      <a:srgbClr val="333399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|</a:t>
                </a:r>
              </a:p>
            </p:txBody>
          </p:sp>
          <p:sp>
            <p:nvSpPr>
              <p:cNvPr id="80947" name="文本框 592943"/>
              <p:cNvSpPr txBox="1">
                <a:spLocks noChangeArrowheads="1"/>
              </p:cNvSpPr>
              <p:nvPr/>
            </p:nvSpPr>
            <p:spPr bwMode="auto">
              <a:xfrm>
                <a:off x="4709" y="2392"/>
                <a:ext cx="248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aseline="0">
                    <a:solidFill>
                      <a:srgbClr val="333399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80948" name="文本框 592944"/>
              <p:cNvSpPr txBox="1">
                <a:spLocks noChangeArrowheads="1"/>
              </p:cNvSpPr>
              <p:nvPr/>
            </p:nvSpPr>
            <p:spPr bwMode="auto">
              <a:xfrm>
                <a:off x="4259" y="2437"/>
                <a:ext cx="474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>
                    <a:solidFill>
                      <a:srgbClr val="333399"/>
                    </a:solidFill>
                    <a:ea typeface="黑体" panose="02010609060101010101" pitchFamily="49" charset="-122"/>
                  </a:rPr>
                  <a:t>Ψn</a:t>
                </a:r>
                <a:endParaRPr lang="en-US" altLang="zh-CN" sz="2400" b="1" baseline="0">
                  <a:solidFill>
                    <a:srgbClr val="3333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949" name="文本框 592945"/>
              <p:cNvSpPr txBox="1">
                <a:spLocks noChangeArrowheads="1"/>
              </p:cNvSpPr>
              <p:nvPr/>
            </p:nvSpPr>
            <p:spPr bwMode="auto">
              <a:xfrm>
                <a:off x="4593" y="2455"/>
                <a:ext cx="292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aseline="0">
                    <a:solidFill>
                      <a:srgbClr val="333399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|</a:t>
                </a:r>
              </a:p>
            </p:txBody>
          </p:sp>
        </p:grpSp>
        <p:sp>
          <p:nvSpPr>
            <p:cNvPr id="80942" name="文本框 592946"/>
            <p:cNvSpPr txBox="1">
              <a:spLocks noChangeArrowheads="1"/>
            </p:cNvSpPr>
            <p:nvPr/>
          </p:nvSpPr>
          <p:spPr bwMode="auto">
            <a:xfrm>
              <a:off x="4944" y="2880"/>
              <a:ext cx="528" cy="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>
                  <a:solidFill>
                    <a:srgbClr val="3333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80943" name="文本框 592947"/>
            <p:cNvSpPr txBox="1">
              <a:spLocks noChangeArrowheads="1"/>
            </p:cNvSpPr>
            <p:nvPr/>
          </p:nvSpPr>
          <p:spPr bwMode="auto">
            <a:xfrm>
              <a:off x="3504" y="1050"/>
              <a:ext cx="1287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>
                  <a:solidFill>
                    <a:srgbClr val="333399"/>
                  </a:solidFill>
                  <a:ea typeface="黑体" panose="02010609060101010101" pitchFamily="49" charset="-122"/>
                </a:rPr>
                <a:t>n</a:t>
              </a:r>
              <a:r>
                <a:rPr lang="zh-CN" altLang="en-US" sz="2400" b="1" baseline="0">
                  <a:solidFill>
                    <a:srgbClr val="333399"/>
                  </a:solidFill>
                  <a:ea typeface="黑体" panose="02010609060101010101" pitchFamily="49" charset="-122"/>
                </a:rPr>
                <a:t>很大</a:t>
              </a:r>
            </a:p>
          </p:txBody>
        </p:sp>
        <p:sp>
          <p:nvSpPr>
            <p:cNvPr id="80944" name="文本框 592948"/>
            <p:cNvSpPr txBox="1">
              <a:spLocks noChangeArrowheads="1"/>
            </p:cNvSpPr>
            <p:nvPr/>
          </p:nvSpPr>
          <p:spPr bwMode="auto">
            <a:xfrm>
              <a:off x="2880" y="2274"/>
              <a:ext cx="917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 baseline="0">
                  <a:solidFill>
                    <a:srgbClr val="333399"/>
                  </a:solidFill>
                  <a:ea typeface="黑体" panose="02010609060101010101" pitchFamily="49" charset="-122"/>
                </a:rPr>
                <a:t>E</a:t>
              </a:r>
              <a:r>
                <a:rPr lang="en-US" altLang="zh-CN" sz="2400" b="1" i="1" baseline="-25000">
                  <a:solidFill>
                    <a:srgbClr val="333399"/>
                  </a:solidFill>
                  <a:ea typeface="黑体" panose="02010609060101010101" pitchFamily="49" charset="-122"/>
                </a:rPr>
                <a:t>n</a:t>
              </a:r>
              <a:endParaRPr lang="en-US" altLang="zh-CN" sz="2400" b="1" baseline="0">
                <a:solidFill>
                  <a:srgbClr val="3333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945" name="文本框 592949"/>
            <p:cNvSpPr txBox="1">
              <a:spLocks noChangeArrowheads="1"/>
            </p:cNvSpPr>
            <p:nvPr/>
          </p:nvSpPr>
          <p:spPr bwMode="auto">
            <a:xfrm>
              <a:off x="3120" y="2929"/>
              <a:ext cx="768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aseline="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</a:p>
          </p:txBody>
        </p:sp>
      </p:grpSp>
      <p:sp>
        <p:nvSpPr>
          <p:cNvPr id="592951" name="直接连接符 592950"/>
          <p:cNvSpPr>
            <a:spLocks noChangeShapeType="1"/>
          </p:cNvSpPr>
          <p:nvPr/>
        </p:nvSpPr>
        <p:spPr bwMode="auto">
          <a:xfrm flipV="1">
            <a:off x="8837613" y="2463800"/>
            <a:ext cx="1587" cy="35607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2952" name="任意多边形 592951"/>
          <p:cNvSpPr>
            <a:spLocks noChangeArrowheads="1"/>
          </p:cNvSpPr>
          <p:nvPr/>
        </p:nvSpPr>
        <p:spPr bwMode="auto">
          <a:xfrm>
            <a:off x="6351588" y="5300663"/>
            <a:ext cx="2498725" cy="644525"/>
          </a:xfrm>
          <a:custGeom>
            <a:avLst/>
            <a:gdLst>
              <a:gd name="T0" fmla="*/ 0 w 1152"/>
              <a:gd name="T1" fmla="*/ 2147483646 h 1008"/>
              <a:gd name="T2" fmla="*/ 2147483646 w 1152"/>
              <a:gd name="T3" fmla="*/ 2147483646 h 1008"/>
              <a:gd name="T4" fmla="*/ 2147483646 w 1152"/>
              <a:gd name="T5" fmla="*/ 2147483646 h 1008"/>
              <a:gd name="T6" fmla="*/ 2147483646 w 1152"/>
              <a:gd name="T7" fmla="*/ 0 h 1008"/>
              <a:gd name="T8" fmla="*/ 2147483646 w 1152"/>
              <a:gd name="T9" fmla="*/ 2147483646 h 1008"/>
              <a:gd name="T10" fmla="*/ 2147483646 w 1152"/>
              <a:gd name="T11" fmla="*/ 2147483646 h 1008"/>
              <a:gd name="T12" fmla="*/ 2147483646 w 1152"/>
              <a:gd name="T13" fmla="*/ 2147483646 h 10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52" h="1008">
                <a:moveTo>
                  <a:pt x="0" y="1008"/>
                </a:moveTo>
                <a:cubicBezTo>
                  <a:pt x="64" y="840"/>
                  <a:pt x="128" y="672"/>
                  <a:pt x="192" y="528"/>
                </a:cubicBezTo>
                <a:cubicBezTo>
                  <a:pt x="256" y="384"/>
                  <a:pt x="320" y="232"/>
                  <a:pt x="384" y="144"/>
                </a:cubicBezTo>
                <a:cubicBezTo>
                  <a:pt x="448" y="56"/>
                  <a:pt x="512" y="0"/>
                  <a:pt x="576" y="0"/>
                </a:cubicBezTo>
                <a:cubicBezTo>
                  <a:pt x="640" y="0"/>
                  <a:pt x="704" y="56"/>
                  <a:pt x="768" y="144"/>
                </a:cubicBezTo>
                <a:cubicBezTo>
                  <a:pt x="832" y="232"/>
                  <a:pt x="896" y="384"/>
                  <a:pt x="960" y="528"/>
                </a:cubicBezTo>
                <a:cubicBezTo>
                  <a:pt x="1024" y="672"/>
                  <a:pt x="1120" y="928"/>
                  <a:pt x="1152" y="1008"/>
                </a:cubicBezTo>
              </a:path>
            </a:pathLst>
          </a:custGeom>
          <a:solidFill>
            <a:srgbClr val="CCFFFF">
              <a:alpha val="50195"/>
            </a:srgbClr>
          </a:solidFill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92953" name="组合 592952"/>
          <p:cNvGrpSpPr/>
          <p:nvPr/>
        </p:nvGrpSpPr>
        <p:grpSpPr bwMode="auto">
          <a:xfrm>
            <a:off x="6305550" y="3354388"/>
            <a:ext cx="2582863" cy="458787"/>
            <a:chOff x="3539" y="2178"/>
            <a:chExt cx="1843" cy="229"/>
          </a:xfrm>
        </p:grpSpPr>
        <p:sp>
          <p:nvSpPr>
            <p:cNvPr id="80932" name="直接连接符 592953"/>
            <p:cNvSpPr>
              <a:spLocks noChangeShapeType="1"/>
            </p:cNvSpPr>
            <p:nvPr/>
          </p:nvSpPr>
          <p:spPr bwMode="auto">
            <a:xfrm>
              <a:off x="3551" y="2405"/>
              <a:ext cx="18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0933" name="组合 592954"/>
            <p:cNvGrpSpPr/>
            <p:nvPr/>
          </p:nvGrpSpPr>
          <p:grpSpPr bwMode="auto">
            <a:xfrm>
              <a:off x="3539" y="2178"/>
              <a:ext cx="1824" cy="229"/>
              <a:chOff x="2928" y="1824"/>
              <a:chExt cx="1824" cy="229"/>
            </a:xfrm>
          </p:grpSpPr>
          <p:sp>
            <p:nvSpPr>
              <p:cNvPr id="80934" name="任意多边形 592955"/>
              <p:cNvSpPr>
                <a:spLocks noChangeArrowheads="1"/>
              </p:cNvSpPr>
              <p:nvPr/>
            </p:nvSpPr>
            <p:spPr bwMode="auto">
              <a:xfrm>
                <a:off x="3531" y="1824"/>
                <a:ext cx="609" cy="229"/>
              </a:xfrm>
              <a:custGeom>
                <a:avLst/>
                <a:gdLst>
                  <a:gd name="T0" fmla="*/ 0 w 1152"/>
                  <a:gd name="T1" fmla="*/ 12 h 1008"/>
                  <a:gd name="T2" fmla="*/ 29 w 1152"/>
                  <a:gd name="T3" fmla="*/ 6 h 1008"/>
                  <a:gd name="T4" fmla="*/ 57 w 1152"/>
                  <a:gd name="T5" fmla="*/ 2 h 1008"/>
                  <a:gd name="T6" fmla="*/ 85 w 1152"/>
                  <a:gd name="T7" fmla="*/ 0 h 1008"/>
                  <a:gd name="T8" fmla="*/ 114 w 1152"/>
                  <a:gd name="T9" fmla="*/ 2 h 1008"/>
                  <a:gd name="T10" fmla="*/ 142 w 1152"/>
                  <a:gd name="T11" fmla="*/ 6 h 1008"/>
                  <a:gd name="T12" fmla="*/ 170 w 1152"/>
                  <a:gd name="T13" fmla="*/ 12 h 10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64" y="840"/>
                      <a:pt x="128" y="672"/>
                      <a:pt x="192" y="528"/>
                    </a:cubicBezTo>
                    <a:cubicBezTo>
                      <a:pt x="256" y="384"/>
                      <a:pt x="320" y="232"/>
                      <a:pt x="384" y="144"/>
                    </a:cubicBezTo>
                    <a:cubicBezTo>
                      <a:pt x="448" y="56"/>
                      <a:pt x="512" y="0"/>
                      <a:pt x="576" y="0"/>
                    </a:cubicBezTo>
                    <a:cubicBezTo>
                      <a:pt x="640" y="0"/>
                      <a:pt x="704" y="56"/>
                      <a:pt x="768" y="144"/>
                    </a:cubicBezTo>
                    <a:cubicBezTo>
                      <a:pt x="832" y="232"/>
                      <a:pt x="896" y="384"/>
                      <a:pt x="960" y="528"/>
                    </a:cubicBezTo>
                    <a:cubicBezTo>
                      <a:pt x="1024" y="672"/>
                      <a:pt x="1120" y="928"/>
                      <a:pt x="1152" y="1008"/>
                    </a:cubicBezTo>
                  </a:path>
                </a:pathLst>
              </a:custGeom>
              <a:solidFill>
                <a:srgbClr val="CCFFFF">
                  <a:alpha val="50195"/>
                </a:srgbClr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35" name="任意多边形 592956"/>
              <p:cNvSpPr>
                <a:spLocks noChangeArrowheads="1"/>
              </p:cNvSpPr>
              <p:nvPr/>
            </p:nvSpPr>
            <p:spPr bwMode="auto">
              <a:xfrm>
                <a:off x="4143" y="1824"/>
                <a:ext cx="609" cy="229"/>
              </a:xfrm>
              <a:custGeom>
                <a:avLst/>
                <a:gdLst>
                  <a:gd name="T0" fmla="*/ 0 w 1152"/>
                  <a:gd name="T1" fmla="*/ 12 h 1008"/>
                  <a:gd name="T2" fmla="*/ 29 w 1152"/>
                  <a:gd name="T3" fmla="*/ 6 h 1008"/>
                  <a:gd name="T4" fmla="*/ 57 w 1152"/>
                  <a:gd name="T5" fmla="*/ 2 h 1008"/>
                  <a:gd name="T6" fmla="*/ 85 w 1152"/>
                  <a:gd name="T7" fmla="*/ 0 h 1008"/>
                  <a:gd name="T8" fmla="*/ 114 w 1152"/>
                  <a:gd name="T9" fmla="*/ 2 h 1008"/>
                  <a:gd name="T10" fmla="*/ 142 w 1152"/>
                  <a:gd name="T11" fmla="*/ 6 h 1008"/>
                  <a:gd name="T12" fmla="*/ 170 w 1152"/>
                  <a:gd name="T13" fmla="*/ 12 h 10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64" y="840"/>
                      <a:pt x="128" y="672"/>
                      <a:pt x="192" y="528"/>
                    </a:cubicBezTo>
                    <a:cubicBezTo>
                      <a:pt x="256" y="384"/>
                      <a:pt x="320" y="232"/>
                      <a:pt x="384" y="144"/>
                    </a:cubicBezTo>
                    <a:cubicBezTo>
                      <a:pt x="448" y="56"/>
                      <a:pt x="512" y="0"/>
                      <a:pt x="576" y="0"/>
                    </a:cubicBezTo>
                    <a:cubicBezTo>
                      <a:pt x="640" y="0"/>
                      <a:pt x="704" y="56"/>
                      <a:pt x="768" y="144"/>
                    </a:cubicBezTo>
                    <a:cubicBezTo>
                      <a:pt x="832" y="232"/>
                      <a:pt x="896" y="384"/>
                      <a:pt x="960" y="528"/>
                    </a:cubicBezTo>
                    <a:cubicBezTo>
                      <a:pt x="1024" y="672"/>
                      <a:pt x="1120" y="928"/>
                      <a:pt x="1152" y="1008"/>
                    </a:cubicBezTo>
                  </a:path>
                </a:pathLst>
              </a:custGeom>
              <a:solidFill>
                <a:srgbClr val="CCFFFF">
                  <a:alpha val="50195"/>
                </a:srgbClr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36" name="任意多边形 592957"/>
              <p:cNvSpPr>
                <a:spLocks noChangeArrowheads="1"/>
              </p:cNvSpPr>
              <p:nvPr/>
            </p:nvSpPr>
            <p:spPr bwMode="auto">
              <a:xfrm>
                <a:off x="2928" y="1824"/>
                <a:ext cx="609" cy="229"/>
              </a:xfrm>
              <a:custGeom>
                <a:avLst/>
                <a:gdLst>
                  <a:gd name="T0" fmla="*/ 0 w 1152"/>
                  <a:gd name="T1" fmla="*/ 12 h 1008"/>
                  <a:gd name="T2" fmla="*/ 29 w 1152"/>
                  <a:gd name="T3" fmla="*/ 6 h 1008"/>
                  <a:gd name="T4" fmla="*/ 57 w 1152"/>
                  <a:gd name="T5" fmla="*/ 2 h 1008"/>
                  <a:gd name="T6" fmla="*/ 85 w 1152"/>
                  <a:gd name="T7" fmla="*/ 0 h 1008"/>
                  <a:gd name="T8" fmla="*/ 114 w 1152"/>
                  <a:gd name="T9" fmla="*/ 2 h 1008"/>
                  <a:gd name="T10" fmla="*/ 142 w 1152"/>
                  <a:gd name="T11" fmla="*/ 6 h 1008"/>
                  <a:gd name="T12" fmla="*/ 170 w 1152"/>
                  <a:gd name="T13" fmla="*/ 12 h 10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64" y="840"/>
                      <a:pt x="128" y="672"/>
                      <a:pt x="192" y="528"/>
                    </a:cubicBezTo>
                    <a:cubicBezTo>
                      <a:pt x="256" y="384"/>
                      <a:pt x="320" y="232"/>
                      <a:pt x="384" y="144"/>
                    </a:cubicBezTo>
                    <a:cubicBezTo>
                      <a:pt x="448" y="56"/>
                      <a:pt x="512" y="0"/>
                      <a:pt x="576" y="0"/>
                    </a:cubicBezTo>
                    <a:cubicBezTo>
                      <a:pt x="640" y="0"/>
                      <a:pt x="704" y="56"/>
                      <a:pt x="768" y="144"/>
                    </a:cubicBezTo>
                    <a:cubicBezTo>
                      <a:pt x="832" y="232"/>
                      <a:pt x="896" y="384"/>
                      <a:pt x="960" y="528"/>
                    </a:cubicBezTo>
                    <a:cubicBezTo>
                      <a:pt x="1024" y="672"/>
                      <a:pt x="1120" y="928"/>
                      <a:pt x="1152" y="1008"/>
                    </a:cubicBezTo>
                  </a:path>
                </a:pathLst>
              </a:custGeom>
              <a:solidFill>
                <a:srgbClr val="CCFFFF">
                  <a:alpha val="50195"/>
                </a:srgbClr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92959" name="组合 592958"/>
          <p:cNvGrpSpPr/>
          <p:nvPr/>
        </p:nvGrpSpPr>
        <p:grpSpPr bwMode="auto">
          <a:xfrm>
            <a:off x="5549900" y="1771650"/>
            <a:ext cx="3521075" cy="4703763"/>
            <a:chOff x="2939" y="827"/>
            <a:chExt cx="2725" cy="3384"/>
          </a:xfrm>
        </p:grpSpPr>
        <p:grpSp>
          <p:nvGrpSpPr>
            <p:cNvPr id="80925" name="组合 592959"/>
            <p:cNvGrpSpPr/>
            <p:nvPr/>
          </p:nvGrpSpPr>
          <p:grpSpPr bwMode="auto">
            <a:xfrm>
              <a:off x="3551" y="1255"/>
              <a:ext cx="2100" cy="2592"/>
              <a:chOff x="672" y="0"/>
              <a:chExt cx="1872" cy="2352"/>
            </a:xfrm>
          </p:grpSpPr>
          <p:sp>
            <p:nvSpPr>
              <p:cNvPr id="80930" name="直接连接符 592960"/>
              <p:cNvSpPr>
                <a:spLocks noChangeShapeType="1"/>
              </p:cNvSpPr>
              <p:nvPr/>
            </p:nvSpPr>
            <p:spPr bwMode="auto">
              <a:xfrm>
                <a:off x="672" y="2352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31" name="直接连接符 592961"/>
              <p:cNvSpPr>
                <a:spLocks noChangeShapeType="1"/>
              </p:cNvSpPr>
              <p:nvPr/>
            </p:nvSpPr>
            <p:spPr bwMode="auto">
              <a:xfrm flipV="1">
                <a:off x="672" y="0"/>
                <a:ext cx="0" cy="23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0926" name="文本框 592962"/>
            <p:cNvSpPr txBox="1">
              <a:spLocks noChangeArrowheads="1"/>
            </p:cNvSpPr>
            <p:nvPr/>
          </p:nvSpPr>
          <p:spPr bwMode="auto">
            <a:xfrm>
              <a:off x="5217" y="3849"/>
              <a:ext cx="26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80927" name="文本框 592963"/>
            <p:cNvSpPr txBox="1">
              <a:spLocks noChangeArrowheads="1"/>
            </p:cNvSpPr>
            <p:nvPr/>
          </p:nvSpPr>
          <p:spPr bwMode="auto">
            <a:xfrm>
              <a:off x="3408" y="3882"/>
              <a:ext cx="26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baseline="0"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0928" name="文本框 592964"/>
            <p:cNvSpPr txBox="1">
              <a:spLocks noChangeArrowheads="1"/>
            </p:cNvSpPr>
            <p:nvPr/>
          </p:nvSpPr>
          <p:spPr bwMode="auto">
            <a:xfrm>
              <a:off x="5365" y="3553"/>
              <a:ext cx="299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>
                  <a:ea typeface="黑体" panose="02010609060101010101" pitchFamily="49" charset="-122"/>
                </a:rPr>
                <a:t>X</a:t>
              </a:r>
            </a:p>
          </p:txBody>
        </p:sp>
        <p:graphicFrame>
          <p:nvGraphicFramePr>
            <p:cNvPr id="80929" name="对象 592965"/>
            <p:cNvGraphicFramePr/>
            <p:nvPr/>
          </p:nvGraphicFramePr>
          <p:xfrm>
            <a:off x="2939" y="827"/>
            <a:ext cx="967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088" r:id="rId7" imgW="579755" imgH="290195" progId="Equation.3">
                    <p:embed/>
                  </p:oleObj>
                </mc:Choice>
                <mc:Fallback>
                  <p:oleObj r:id="rId7" imgW="579755" imgH="290195" progId="Equation.3">
                    <p:embed/>
                    <p:pic>
                      <p:nvPicPr>
                        <p:cNvPr id="0" name="对象 59296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9" y="827"/>
                          <a:ext cx="967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2967" name="对象 592966"/>
          <p:cNvGraphicFramePr/>
          <p:nvPr/>
        </p:nvGraphicFramePr>
        <p:xfrm>
          <a:off x="7092950" y="3859213"/>
          <a:ext cx="11620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89" r:id="rId9" imgW="557530" imgH="290195" progId="Equation.3">
                  <p:embed/>
                </p:oleObj>
              </mc:Choice>
              <mc:Fallback>
                <p:oleObj r:id="rId9" imgW="557530" imgH="290195" progId="Equation.3">
                  <p:embed/>
                  <p:pic>
                    <p:nvPicPr>
                      <p:cNvPr id="0" name="对象 59296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859213"/>
                        <a:ext cx="116205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968" name="对象 592967"/>
          <p:cNvGraphicFramePr/>
          <p:nvPr/>
        </p:nvGraphicFramePr>
        <p:xfrm>
          <a:off x="7132638" y="2808288"/>
          <a:ext cx="10985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90" r:id="rId11" imgW="557530" imgH="290195" progId="Equation.3">
                  <p:embed/>
                </p:oleObj>
              </mc:Choice>
              <mc:Fallback>
                <p:oleObj r:id="rId11" imgW="557530" imgH="290195" progId="Equation.3">
                  <p:embed/>
                  <p:pic>
                    <p:nvPicPr>
                      <p:cNvPr id="0" name="对象 59296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2638" y="2808288"/>
                        <a:ext cx="10985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969" name="对象 592968"/>
          <p:cNvGraphicFramePr/>
          <p:nvPr/>
        </p:nvGraphicFramePr>
        <p:xfrm>
          <a:off x="7164388" y="1843088"/>
          <a:ext cx="1100137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91" r:id="rId13" imgW="557530" imgH="290195" progId="Equation.3">
                  <p:embed/>
                </p:oleObj>
              </mc:Choice>
              <mc:Fallback>
                <p:oleObj r:id="rId13" imgW="557530" imgH="290195" progId="Equation.3">
                  <p:embed/>
                  <p:pic>
                    <p:nvPicPr>
                      <p:cNvPr id="0" name="对象 59296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1843088"/>
                        <a:ext cx="1100137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2970" name="对象 592969"/>
          <p:cNvGraphicFramePr/>
          <p:nvPr/>
        </p:nvGraphicFramePr>
        <p:xfrm>
          <a:off x="7019925" y="5454650"/>
          <a:ext cx="11525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92" r:id="rId15" imgW="546100" imgH="290195" progId="Equation.3">
                  <p:embed/>
                </p:oleObj>
              </mc:Choice>
              <mc:Fallback>
                <p:oleObj r:id="rId15" imgW="546100" imgH="290195" progId="Equation.3">
                  <p:embed/>
                  <p:pic>
                    <p:nvPicPr>
                      <p:cNvPr id="0" name="对象 59296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5454650"/>
                        <a:ext cx="11525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2971" name="组合 592970"/>
          <p:cNvGrpSpPr/>
          <p:nvPr/>
        </p:nvGrpSpPr>
        <p:grpSpPr bwMode="auto">
          <a:xfrm>
            <a:off x="6294438" y="2346325"/>
            <a:ext cx="2566987" cy="404813"/>
            <a:chOff x="3532" y="1536"/>
            <a:chExt cx="1831" cy="199"/>
          </a:xfrm>
        </p:grpSpPr>
        <p:sp>
          <p:nvSpPr>
            <p:cNvPr id="80920" name="直接连接符 592971"/>
            <p:cNvSpPr>
              <a:spLocks noChangeShapeType="1"/>
            </p:cNvSpPr>
            <p:nvPr/>
          </p:nvSpPr>
          <p:spPr bwMode="auto">
            <a:xfrm>
              <a:off x="3532" y="1735"/>
              <a:ext cx="18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1" name="任意多边形 592972"/>
            <p:cNvSpPr>
              <a:spLocks noChangeArrowheads="1"/>
            </p:cNvSpPr>
            <p:nvPr/>
          </p:nvSpPr>
          <p:spPr bwMode="auto">
            <a:xfrm>
              <a:off x="3552" y="1543"/>
              <a:ext cx="460" cy="192"/>
            </a:xfrm>
            <a:custGeom>
              <a:avLst/>
              <a:gdLst>
                <a:gd name="T0" fmla="*/ 0 w 1152"/>
                <a:gd name="T1" fmla="*/ 7 h 1008"/>
                <a:gd name="T2" fmla="*/ 12 w 1152"/>
                <a:gd name="T3" fmla="*/ 4 h 1008"/>
                <a:gd name="T4" fmla="*/ 24 w 1152"/>
                <a:gd name="T5" fmla="*/ 1 h 1008"/>
                <a:gd name="T6" fmla="*/ 37 w 1152"/>
                <a:gd name="T7" fmla="*/ 0 h 1008"/>
                <a:gd name="T8" fmla="*/ 49 w 1152"/>
                <a:gd name="T9" fmla="*/ 1 h 1008"/>
                <a:gd name="T10" fmla="*/ 61 w 1152"/>
                <a:gd name="T11" fmla="*/ 4 h 1008"/>
                <a:gd name="T12" fmla="*/ 73 w 1152"/>
                <a:gd name="T13" fmla="*/ 7 h 10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64" y="840"/>
                    <a:pt x="128" y="672"/>
                    <a:pt x="192" y="528"/>
                  </a:cubicBezTo>
                  <a:cubicBezTo>
                    <a:pt x="256" y="384"/>
                    <a:pt x="320" y="232"/>
                    <a:pt x="384" y="144"/>
                  </a:cubicBezTo>
                  <a:cubicBezTo>
                    <a:pt x="448" y="56"/>
                    <a:pt x="512" y="0"/>
                    <a:pt x="576" y="0"/>
                  </a:cubicBezTo>
                  <a:cubicBezTo>
                    <a:pt x="640" y="0"/>
                    <a:pt x="704" y="56"/>
                    <a:pt x="768" y="144"/>
                  </a:cubicBezTo>
                  <a:cubicBezTo>
                    <a:pt x="832" y="232"/>
                    <a:pt x="896" y="384"/>
                    <a:pt x="960" y="528"/>
                  </a:cubicBezTo>
                  <a:cubicBezTo>
                    <a:pt x="1024" y="672"/>
                    <a:pt x="1120" y="928"/>
                    <a:pt x="1152" y="1008"/>
                  </a:cubicBezTo>
                </a:path>
              </a:pathLst>
            </a:custGeom>
            <a:solidFill>
              <a:srgbClr val="CCFFFF">
                <a:alpha val="50195"/>
              </a:srgbClr>
            </a:solidFill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2" name="任意多边形 592973"/>
            <p:cNvSpPr>
              <a:spLocks noChangeArrowheads="1"/>
            </p:cNvSpPr>
            <p:nvPr/>
          </p:nvSpPr>
          <p:spPr bwMode="auto">
            <a:xfrm>
              <a:off x="4478" y="1543"/>
              <a:ext cx="434" cy="192"/>
            </a:xfrm>
            <a:custGeom>
              <a:avLst/>
              <a:gdLst>
                <a:gd name="T0" fmla="*/ 0 w 1152"/>
                <a:gd name="T1" fmla="*/ 7 h 1008"/>
                <a:gd name="T2" fmla="*/ 10 w 1152"/>
                <a:gd name="T3" fmla="*/ 4 h 1008"/>
                <a:gd name="T4" fmla="*/ 21 w 1152"/>
                <a:gd name="T5" fmla="*/ 1 h 1008"/>
                <a:gd name="T6" fmla="*/ 31 w 1152"/>
                <a:gd name="T7" fmla="*/ 0 h 1008"/>
                <a:gd name="T8" fmla="*/ 41 w 1152"/>
                <a:gd name="T9" fmla="*/ 1 h 1008"/>
                <a:gd name="T10" fmla="*/ 51 w 1152"/>
                <a:gd name="T11" fmla="*/ 4 h 1008"/>
                <a:gd name="T12" fmla="*/ 62 w 1152"/>
                <a:gd name="T13" fmla="*/ 7 h 10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64" y="840"/>
                    <a:pt x="128" y="672"/>
                    <a:pt x="192" y="528"/>
                  </a:cubicBezTo>
                  <a:cubicBezTo>
                    <a:pt x="256" y="384"/>
                    <a:pt x="320" y="232"/>
                    <a:pt x="384" y="144"/>
                  </a:cubicBezTo>
                  <a:cubicBezTo>
                    <a:pt x="448" y="56"/>
                    <a:pt x="512" y="0"/>
                    <a:pt x="576" y="0"/>
                  </a:cubicBezTo>
                  <a:cubicBezTo>
                    <a:pt x="640" y="0"/>
                    <a:pt x="704" y="56"/>
                    <a:pt x="768" y="144"/>
                  </a:cubicBezTo>
                  <a:cubicBezTo>
                    <a:pt x="832" y="232"/>
                    <a:pt x="896" y="384"/>
                    <a:pt x="960" y="528"/>
                  </a:cubicBezTo>
                  <a:cubicBezTo>
                    <a:pt x="1024" y="672"/>
                    <a:pt x="1120" y="928"/>
                    <a:pt x="1152" y="1008"/>
                  </a:cubicBezTo>
                </a:path>
              </a:pathLst>
            </a:custGeom>
            <a:solidFill>
              <a:srgbClr val="CCFFFF">
                <a:alpha val="50195"/>
              </a:srgbClr>
            </a:solidFill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3" name="任意多边形 592974"/>
            <p:cNvSpPr>
              <a:spLocks noChangeArrowheads="1"/>
            </p:cNvSpPr>
            <p:nvPr/>
          </p:nvSpPr>
          <p:spPr bwMode="auto">
            <a:xfrm>
              <a:off x="4929" y="1543"/>
              <a:ext cx="434" cy="192"/>
            </a:xfrm>
            <a:custGeom>
              <a:avLst/>
              <a:gdLst>
                <a:gd name="T0" fmla="*/ 0 w 1152"/>
                <a:gd name="T1" fmla="*/ 7 h 1008"/>
                <a:gd name="T2" fmla="*/ 10 w 1152"/>
                <a:gd name="T3" fmla="*/ 4 h 1008"/>
                <a:gd name="T4" fmla="*/ 21 w 1152"/>
                <a:gd name="T5" fmla="*/ 1 h 1008"/>
                <a:gd name="T6" fmla="*/ 31 w 1152"/>
                <a:gd name="T7" fmla="*/ 0 h 1008"/>
                <a:gd name="T8" fmla="*/ 41 w 1152"/>
                <a:gd name="T9" fmla="*/ 1 h 1008"/>
                <a:gd name="T10" fmla="*/ 51 w 1152"/>
                <a:gd name="T11" fmla="*/ 4 h 1008"/>
                <a:gd name="T12" fmla="*/ 62 w 1152"/>
                <a:gd name="T13" fmla="*/ 7 h 10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64" y="840"/>
                    <a:pt x="128" y="672"/>
                    <a:pt x="192" y="528"/>
                  </a:cubicBezTo>
                  <a:cubicBezTo>
                    <a:pt x="256" y="384"/>
                    <a:pt x="320" y="232"/>
                    <a:pt x="384" y="144"/>
                  </a:cubicBezTo>
                  <a:cubicBezTo>
                    <a:pt x="448" y="56"/>
                    <a:pt x="512" y="0"/>
                    <a:pt x="576" y="0"/>
                  </a:cubicBezTo>
                  <a:cubicBezTo>
                    <a:pt x="640" y="0"/>
                    <a:pt x="704" y="56"/>
                    <a:pt x="768" y="144"/>
                  </a:cubicBezTo>
                  <a:cubicBezTo>
                    <a:pt x="832" y="232"/>
                    <a:pt x="896" y="384"/>
                    <a:pt x="960" y="528"/>
                  </a:cubicBezTo>
                  <a:cubicBezTo>
                    <a:pt x="1024" y="672"/>
                    <a:pt x="1120" y="928"/>
                    <a:pt x="1152" y="1008"/>
                  </a:cubicBezTo>
                </a:path>
              </a:pathLst>
            </a:custGeom>
            <a:solidFill>
              <a:srgbClr val="CCFFFF">
                <a:alpha val="50195"/>
              </a:srgbClr>
            </a:solidFill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4" name="任意多边形 592975"/>
            <p:cNvSpPr>
              <a:spLocks noChangeArrowheads="1"/>
            </p:cNvSpPr>
            <p:nvPr/>
          </p:nvSpPr>
          <p:spPr bwMode="auto">
            <a:xfrm>
              <a:off x="4032" y="1536"/>
              <a:ext cx="480" cy="192"/>
            </a:xfrm>
            <a:custGeom>
              <a:avLst/>
              <a:gdLst>
                <a:gd name="T0" fmla="*/ 0 w 1152"/>
                <a:gd name="T1" fmla="*/ 7 h 1008"/>
                <a:gd name="T2" fmla="*/ 14 w 1152"/>
                <a:gd name="T3" fmla="*/ 4 h 1008"/>
                <a:gd name="T4" fmla="*/ 28 w 1152"/>
                <a:gd name="T5" fmla="*/ 1 h 1008"/>
                <a:gd name="T6" fmla="*/ 42 w 1152"/>
                <a:gd name="T7" fmla="*/ 0 h 1008"/>
                <a:gd name="T8" fmla="*/ 55 w 1152"/>
                <a:gd name="T9" fmla="*/ 1 h 1008"/>
                <a:gd name="T10" fmla="*/ 70 w 1152"/>
                <a:gd name="T11" fmla="*/ 4 h 1008"/>
                <a:gd name="T12" fmla="*/ 83 w 1152"/>
                <a:gd name="T13" fmla="*/ 7 h 10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64" y="840"/>
                    <a:pt x="128" y="672"/>
                    <a:pt x="192" y="528"/>
                  </a:cubicBezTo>
                  <a:cubicBezTo>
                    <a:pt x="256" y="384"/>
                    <a:pt x="320" y="232"/>
                    <a:pt x="384" y="144"/>
                  </a:cubicBezTo>
                  <a:cubicBezTo>
                    <a:pt x="448" y="56"/>
                    <a:pt x="512" y="0"/>
                    <a:pt x="576" y="0"/>
                  </a:cubicBezTo>
                  <a:cubicBezTo>
                    <a:pt x="640" y="0"/>
                    <a:pt x="704" y="56"/>
                    <a:pt x="768" y="144"/>
                  </a:cubicBezTo>
                  <a:cubicBezTo>
                    <a:pt x="832" y="232"/>
                    <a:pt x="896" y="384"/>
                    <a:pt x="960" y="528"/>
                  </a:cubicBezTo>
                  <a:cubicBezTo>
                    <a:pt x="1024" y="672"/>
                    <a:pt x="1120" y="928"/>
                    <a:pt x="1152" y="1008"/>
                  </a:cubicBezTo>
                </a:path>
              </a:pathLst>
            </a:custGeom>
            <a:solidFill>
              <a:srgbClr val="CCFFFF">
                <a:alpha val="50195"/>
              </a:srgbClr>
            </a:solidFill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2977" name="组合 592976"/>
          <p:cNvGrpSpPr/>
          <p:nvPr/>
        </p:nvGrpSpPr>
        <p:grpSpPr bwMode="auto">
          <a:xfrm>
            <a:off x="6294438" y="4435475"/>
            <a:ext cx="2592387" cy="514350"/>
            <a:chOff x="3532" y="2815"/>
            <a:chExt cx="1850" cy="320"/>
          </a:xfrm>
        </p:grpSpPr>
        <p:sp>
          <p:nvSpPr>
            <p:cNvPr id="80916" name="直接连接符 592977"/>
            <p:cNvSpPr>
              <a:spLocks noChangeShapeType="1"/>
            </p:cNvSpPr>
            <p:nvPr/>
          </p:nvSpPr>
          <p:spPr bwMode="auto">
            <a:xfrm>
              <a:off x="3551" y="3120"/>
              <a:ext cx="18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0917" name="组合 592978"/>
            <p:cNvGrpSpPr/>
            <p:nvPr/>
          </p:nvGrpSpPr>
          <p:grpSpPr bwMode="auto">
            <a:xfrm>
              <a:off x="3532" y="2815"/>
              <a:ext cx="1844" cy="320"/>
              <a:chOff x="3532" y="2815"/>
              <a:chExt cx="1844" cy="320"/>
            </a:xfrm>
          </p:grpSpPr>
          <p:sp>
            <p:nvSpPr>
              <p:cNvPr id="80918" name="任意多边形 592979"/>
              <p:cNvSpPr>
                <a:spLocks noChangeArrowheads="1"/>
              </p:cNvSpPr>
              <p:nvPr/>
            </p:nvSpPr>
            <p:spPr bwMode="auto">
              <a:xfrm>
                <a:off x="3532" y="2815"/>
                <a:ext cx="916" cy="303"/>
              </a:xfrm>
              <a:custGeom>
                <a:avLst/>
                <a:gdLst>
                  <a:gd name="T0" fmla="*/ 0 w 916"/>
                  <a:gd name="T1" fmla="*/ 303 h 303"/>
                  <a:gd name="T2" fmla="*/ 153 w 916"/>
                  <a:gd name="T3" fmla="*/ 160 h 303"/>
                  <a:gd name="T4" fmla="*/ 302 w 916"/>
                  <a:gd name="T5" fmla="*/ 63 h 303"/>
                  <a:gd name="T6" fmla="*/ 458 w 916"/>
                  <a:gd name="T7" fmla="*/ 2 h 303"/>
                  <a:gd name="T8" fmla="*/ 602 w 916"/>
                  <a:gd name="T9" fmla="*/ 51 h 303"/>
                  <a:gd name="T10" fmla="*/ 763 w 916"/>
                  <a:gd name="T11" fmla="*/ 160 h 303"/>
                  <a:gd name="T12" fmla="*/ 916 w 916"/>
                  <a:gd name="T13" fmla="*/ 303 h 3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16" h="303">
                    <a:moveTo>
                      <a:pt x="0" y="303"/>
                    </a:moveTo>
                    <a:cubicBezTo>
                      <a:pt x="51" y="253"/>
                      <a:pt x="103" y="200"/>
                      <a:pt x="153" y="160"/>
                    </a:cubicBezTo>
                    <a:cubicBezTo>
                      <a:pt x="203" y="120"/>
                      <a:pt x="251" y="89"/>
                      <a:pt x="302" y="63"/>
                    </a:cubicBezTo>
                    <a:cubicBezTo>
                      <a:pt x="353" y="37"/>
                      <a:pt x="408" y="4"/>
                      <a:pt x="458" y="2"/>
                    </a:cubicBezTo>
                    <a:cubicBezTo>
                      <a:pt x="508" y="0"/>
                      <a:pt x="551" y="25"/>
                      <a:pt x="602" y="51"/>
                    </a:cubicBezTo>
                    <a:cubicBezTo>
                      <a:pt x="653" y="77"/>
                      <a:pt x="711" y="118"/>
                      <a:pt x="763" y="160"/>
                    </a:cubicBezTo>
                    <a:cubicBezTo>
                      <a:pt x="815" y="202"/>
                      <a:pt x="891" y="279"/>
                      <a:pt x="916" y="303"/>
                    </a:cubicBezTo>
                  </a:path>
                </a:pathLst>
              </a:custGeom>
              <a:solidFill>
                <a:srgbClr val="CCFFFF">
                  <a:alpha val="50195"/>
                </a:srgbClr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9" name="任意多边形 592980"/>
              <p:cNvSpPr>
                <a:spLocks noChangeArrowheads="1"/>
              </p:cNvSpPr>
              <p:nvPr/>
            </p:nvSpPr>
            <p:spPr bwMode="auto">
              <a:xfrm>
                <a:off x="4460" y="2829"/>
                <a:ext cx="916" cy="306"/>
              </a:xfrm>
              <a:custGeom>
                <a:avLst/>
                <a:gdLst>
                  <a:gd name="T0" fmla="*/ 0 w 916"/>
                  <a:gd name="T1" fmla="*/ 306 h 306"/>
                  <a:gd name="T2" fmla="*/ 153 w 916"/>
                  <a:gd name="T3" fmla="*/ 163 h 306"/>
                  <a:gd name="T4" fmla="*/ 307 w 916"/>
                  <a:gd name="T5" fmla="*/ 60 h 306"/>
                  <a:gd name="T6" fmla="*/ 463 w 916"/>
                  <a:gd name="T7" fmla="*/ 4 h 306"/>
                  <a:gd name="T8" fmla="*/ 674 w 916"/>
                  <a:gd name="T9" fmla="*/ 82 h 306"/>
                  <a:gd name="T10" fmla="*/ 807 w 916"/>
                  <a:gd name="T11" fmla="*/ 193 h 306"/>
                  <a:gd name="T12" fmla="*/ 916 w 916"/>
                  <a:gd name="T13" fmla="*/ 306 h 3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16" h="306">
                    <a:moveTo>
                      <a:pt x="0" y="306"/>
                    </a:moveTo>
                    <a:cubicBezTo>
                      <a:pt x="51" y="256"/>
                      <a:pt x="102" y="204"/>
                      <a:pt x="153" y="163"/>
                    </a:cubicBezTo>
                    <a:cubicBezTo>
                      <a:pt x="204" y="122"/>
                      <a:pt x="255" y="87"/>
                      <a:pt x="307" y="60"/>
                    </a:cubicBezTo>
                    <a:cubicBezTo>
                      <a:pt x="359" y="33"/>
                      <a:pt x="402" y="0"/>
                      <a:pt x="463" y="4"/>
                    </a:cubicBezTo>
                    <a:cubicBezTo>
                      <a:pt x="524" y="8"/>
                      <a:pt x="617" y="51"/>
                      <a:pt x="674" y="82"/>
                    </a:cubicBezTo>
                    <a:cubicBezTo>
                      <a:pt x="731" y="113"/>
                      <a:pt x="767" y="156"/>
                      <a:pt x="807" y="193"/>
                    </a:cubicBezTo>
                    <a:cubicBezTo>
                      <a:pt x="847" y="230"/>
                      <a:pt x="893" y="283"/>
                      <a:pt x="916" y="306"/>
                    </a:cubicBezTo>
                  </a:path>
                </a:pathLst>
              </a:custGeom>
              <a:solidFill>
                <a:srgbClr val="CCFFFF">
                  <a:alpha val="50195"/>
                </a:srgbClr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92982" name="文本框 592981"/>
          <p:cNvSpPr txBox="1"/>
          <p:nvPr/>
        </p:nvSpPr>
        <p:spPr>
          <a:xfrm>
            <a:off x="395288" y="4437063"/>
            <a:ext cx="7885112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当 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很大时，粒子在阱内各处</a:t>
            </a:r>
          </a:p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出现的概率几乎相同。</a:t>
            </a:r>
          </a:p>
        </p:txBody>
      </p:sp>
      <p:sp>
        <p:nvSpPr>
          <p:cNvPr id="592983" name="文本框 592982"/>
          <p:cNvSpPr txBox="1"/>
          <p:nvPr/>
        </p:nvSpPr>
        <p:spPr>
          <a:xfrm>
            <a:off x="57150" y="5876925"/>
            <a:ext cx="9410700" cy="939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在</a:t>
            </a:r>
            <a:r>
              <a:rPr lang="zh-CN" altLang="en-US" b="1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大量子数的极限情况下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，</a:t>
            </a:r>
          </a:p>
          <a:p>
            <a:pPr eaLnBrk="1" hangingPunct="1">
              <a:spcBef>
                <a:spcPct val="30000"/>
              </a:spcBef>
              <a:defRPr/>
            </a:pPr>
            <a:r>
              <a:rPr lang="zh-CN" altLang="en-US" b="1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量子体系行为将趋于与经典体系一致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，这称为</a:t>
            </a:r>
            <a:r>
              <a:rPr lang="zh-CN" altLang="en-US" b="1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“对应原理”</a:t>
            </a:r>
            <a:r>
              <a:rPr lang="en-US" altLang="zh-CN" b="1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</a:t>
            </a:r>
            <a:r>
              <a:rPr lang="zh-CN" altLang="en-US" b="1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玻尔）。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9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9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9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9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9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9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9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9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9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59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59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59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59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59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592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59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2902" grpId="0"/>
      <p:bldP spid="592906" grpId="0" build="p"/>
      <p:bldP spid="592982" grpId="0"/>
      <p:bldP spid="59298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文本框 593921"/>
          <p:cNvSpPr txBox="1"/>
          <p:nvPr/>
        </p:nvSpPr>
        <p:spPr>
          <a:xfrm>
            <a:off x="930275" y="1131888"/>
            <a:ext cx="2120900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粒子动量大小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593923" name="对象 593922"/>
          <p:cNvGraphicFramePr/>
          <p:nvPr/>
        </p:nvGraphicFramePr>
        <p:xfrm>
          <a:off x="3203575" y="960438"/>
          <a:ext cx="32146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1" r:id="rId3" imgW="1940560" imgH="423545" progId="Equation.3">
                  <p:embed/>
                </p:oleObj>
              </mc:Choice>
              <mc:Fallback>
                <p:oleObj r:id="rId3" imgW="1940560" imgH="423545" progId="Equation.3">
                  <p:embed/>
                  <p:pic>
                    <p:nvPicPr>
                      <p:cNvPr id="0" name="对象 59392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960438"/>
                        <a:ext cx="32146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24" name="文本框 593923"/>
          <p:cNvSpPr txBox="1"/>
          <p:nvPr/>
        </p:nvSpPr>
        <p:spPr>
          <a:xfrm>
            <a:off x="1031875" y="2038350"/>
            <a:ext cx="3276600" cy="457200"/>
          </a:xfrm>
          <a:prstGeom prst="rect">
            <a:avLst/>
          </a:prstGeom>
          <a:noFill/>
          <a:ln w="317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德布罗意波长：</a:t>
            </a:r>
          </a:p>
        </p:txBody>
      </p:sp>
      <p:graphicFrame>
        <p:nvGraphicFramePr>
          <p:cNvPr id="593925" name="对象 593924"/>
          <p:cNvGraphicFramePr/>
          <p:nvPr/>
        </p:nvGraphicFramePr>
        <p:xfrm>
          <a:off x="3276600" y="1917700"/>
          <a:ext cx="16827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2" name="Equation" r:id="rId5" imgW="981075" imgH="468630" progId="Equation.DSMT4">
                  <p:embed/>
                </p:oleObj>
              </mc:Choice>
              <mc:Fallback>
                <p:oleObj name="Equation" r:id="rId5" imgW="981075" imgH="468630" progId="Equation.DSMT4">
                  <p:embed/>
                  <p:pic>
                    <p:nvPicPr>
                      <p:cNvPr id="0" name="对象 5939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17700"/>
                        <a:ext cx="168275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26" name="矩形 593925"/>
          <p:cNvSpPr/>
          <p:nvPr/>
        </p:nvSpPr>
        <p:spPr>
          <a:xfrm>
            <a:off x="611188" y="2781300"/>
            <a:ext cx="79930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与两端固定弦中驻波的情况相似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（势阱边界为波节）。</a:t>
            </a:r>
          </a:p>
        </p:txBody>
      </p:sp>
      <p:sp>
        <p:nvSpPr>
          <p:cNvPr id="593933" name="矩形 593932"/>
          <p:cNvSpPr/>
          <p:nvPr/>
        </p:nvSpPr>
        <p:spPr>
          <a:xfrm>
            <a:off x="34925" y="473075"/>
            <a:ext cx="1557338" cy="496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3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sym typeface="Wingdings" panose="05000000000000000000" pitchFamily="2" charset="2"/>
            </a:endParaRPr>
          </a:p>
        </p:txBody>
      </p:sp>
      <p:graphicFrame>
        <p:nvGraphicFramePr>
          <p:cNvPr id="81928" name="对象 593935"/>
          <p:cNvGraphicFramePr/>
          <p:nvPr/>
        </p:nvGraphicFramePr>
        <p:xfrm>
          <a:off x="7791450" y="1557338"/>
          <a:ext cx="9398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3" r:id="rId7" imgW="579755" imgH="457200" progId="Equation.3">
                  <p:embed/>
                </p:oleObj>
              </mc:Choice>
              <mc:Fallback>
                <p:oleObj r:id="rId7" imgW="579755" imgH="457200" progId="Equation.3">
                  <p:embed/>
                  <p:pic>
                    <p:nvPicPr>
                      <p:cNvPr id="0" name="对象 59393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1450" y="1557338"/>
                        <a:ext cx="9398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9" name="内容占位符 593937"/>
          <p:cNvGraphicFramePr>
            <a:graphicFrameLocks noGrp="1"/>
          </p:cNvGraphicFramePr>
          <p:nvPr>
            <p:ph sz="half" idx="2"/>
          </p:nvPr>
        </p:nvGraphicFramePr>
        <p:xfrm>
          <a:off x="7378700" y="509588"/>
          <a:ext cx="17637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4" r:id="rId9" imgW="1115060" imgH="457200" progId="Equation.3">
                  <p:embed/>
                </p:oleObj>
              </mc:Choice>
              <mc:Fallback>
                <p:oleObj r:id="rId9" imgW="1115060" imgH="457200" progId="Equation.3">
                  <p:embed/>
                  <p:pic>
                    <p:nvPicPr>
                      <p:cNvPr id="0" name="内容占位符 59393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8700" y="509588"/>
                        <a:ext cx="1763713" cy="755650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971550" y="3429000"/>
            <a:ext cx="7948613" cy="496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势阱中的波函数具有</a:t>
            </a:r>
            <a:r>
              <a:rPr lang="zh-CN" altLang="en-US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Wingdings" panose="05000000000000000000" pitchFamily="2" charset="2"/>
              </a:rPr>
              <a:t>驻波形式，物质波在势阱中形成驻波</a:t>
            </a:r>
            <a:endParaRPr lang="zh-CN" altLang="en-US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9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9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9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93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22" grpId="0"/>
      <p:bldP spid="593924" grpId="0"/>
      <p:bldP spid="593926" grpId="0" build="allAtOnce"/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矩形 594945"/>
          <p:cNvSpPr>
            <a:spLocks noChangeArrowheads="1"/>
          </p:cNvSpPr>
          <p:nvPr/>
        </p:nvSpPr>
        <p:spPr bwMode="auto">
          <a:xfrm>
            <a:off x="2535238" y="1631950"/>
            <a:ext cx="539750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一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维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限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深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势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阱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中</a:t>
            </a:r>
          </a:p>
        </p:txBody>
      </p:sp>
      <p:sp>
        <p:nvSpPr>
          <p:cNvPr id="594947" name="矩形 594946"/>
          <p:cNvSpPr>
            <a:spLocks noChangeArrowheads="1"/>
          </p:cNvSpPr>
          <p:nvPr/>
        </p:nvSpPr>
        <p:spPr bwMode="auto">
          <a:xfrm>
            <a:off x="2935288" y="2116138"/>
            <a:ext cx="53975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粒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子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的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波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函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aseline="0">
                <a:solidFill>
                  <a:srgbClr val="CC3300"/>
                </a:solidFill>
                <a:ea typeface="华文新魏" panose="02010800040101010101" pitchFamily="2" charset="-122"/>
              </a:rPr>
              <a:t>数</a:t>
            </a:r>
          </a:p>
        </p:txBody>
      </p:sp>
      <p:sp>
        <p:nvSpPr>
          <p:cNvPr id="594948" name="文本框 594947"/>
          <p:cNvSpPr txBox="1">
            <a:spLocks noChangeArrowheads="1"/>
          </p:cNvSpPr>
          <p:nvPr/>
        </p:nvSpPr>
        <p:spPr bwMode="auto">
          <a:xfrm>
            <a:off x="0" y="5073650"/>
            <a:ext cx="6624638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baseline="0"/>
              <a:t>除 </a:t>
            </a:r>
            <a:r>
              <a:rPr lang="en-US" altLang="zh-CN" sz="2400" b="1" i="1" baseline="0"/>
              <a:t>x</a:t>
            </a:r>
            <a:r>
              <a:rPr lang="en-US" altLang="zh-CN" sz="2400" b="1" baseline="0"/>
              <a:t>=0, </a:t>
            </a:r>
            <a:r>
              <a:rPr lang="en-US" altLang="zh-CN" sz="2400" b="1" i="1" baseline="0"/>
              <a:t>x</a:t>
            </a:r>
            <a:r>
              <a:rPr lang="en-US" altLang="zh-CN" sz="2400" b="1" baseline="0"/>
              <a:t>=</a:t>
            </a:r>
            <a:r>
              <a:rPr lang="en-US" altLang="zh-CN" sz="2400" b="1" i="1" baseline="0"/>
              <a:t>a ,</a:t>
            </a:r>
            <a:r>
              <a:rPr lang="zh-CN" altLang="en-US" sz="2400" b="1" baseline="0"/>
              <a:t>基态无节点</a:t>
            </a:r>
            <a:r>
              <a:rPr lang="en-US" altLang="zh-CN" sz="2400" b="1" baseline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baseline="0"/>
              <a:t>第一激发态有一个节点</a:t>
            </a:r>
            <a:r>
              <a:rPr lang="en-US" altLang="zh-CN" sz="2400" b="1" baseline="0"/>
              <a:t>,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i="1" baseline="0"/>
              <a:t>n</a:t>
            </a:r>
            <a:r>
              <a:rPr lang="en-US" altLang="zh-CN" sz="2400" b="1" baseline="0"/>
              <a:t> </a:t>
            </a:r>
            <a:r>
              <a:rPr lang="zh-CN" altLang="en-US" sz="2400" b="1" baseline="0"/>
              <a:t>激发态有</a:t>
            </a:r>
            <a:r>
              <a:rPr lang="zh-CN" altLang="en-US" sz="2400" b="1" i="1" baseline="0"/>
              <a:t> </a:t>
            </a:r>
            <a:r>
              <a:rPr lang="en-US" altLang="zh-CN" sz="2400" b="1" i="1" baseline="0"/>
              <a:t>(n</a:t>
            </a:r>
            <a:r>
              <a:rPr lang="en-US" altLang="zh-CN" sz="2400" b="1" baseline="0"/>
              <a:t>-1)</a:t>
            </a:r>
            <a:r>
              <a:rPr lang="zh-CN" altLang="en-US" sz="2400" b="1" baseline="0"/>
              <a:t>个节点</a:t>
            </a:r>
            <a:r>
              <a:rPr lang="en-US" altLang="zh-CN" sz="2400" b="1" baseline="0"/>
              <a:t>.</a:t>
            </a:r>
          </a:p>
        </p:txBody>
      </p:sp>
      <p:grpSp>
        <p:nvGrpSpPr>
          <p:cNvPr id="594949" name="组合 594948"/>
          <p:cNvGrpSpPr/>
          <p:nvPr/>
        </p:nvGrpSpPr>
        <p:grpSpPr bwMode="auto">
          <a:xfrm>
            <a:off x="392113" y="3248025"/>
            <a:ext cx="1676400" cy="423863"/>
            <a:chOff x="4224" y="1152"/>
            <a:chExt cx="1056" cy="267"/>
          </a:xfrm>
        </p:grpSpPr>
        <p:grpSp>
          <p:nvGrpSpPr>
            <p:cNvPr id="83041" name="组合 594949"/>
            <p:cNvGrpSpPr/>
            <p:nvPr/>
          </p:nvGrpSpPr>
          <p:grpSpPr bwMode="auto">
            <a:xfrm>
              <a:off x="4224" y="1152"/>
              <a:ext cx="1056" cy="267"/>
              <a:chOff x="3216" y="2928"/>
              <a:chExt cx="907" cy="293"/>
            </a:xfrm>
          </p:grpSpPr>
          <p:grpSp>
            <p:nvGrpSpPr>
              <p:cNvPr id="83043" name="组合 594950"/>
              <p:cNvGrpSpPr/>
              <p:nvPr/>
            </p:nvGrpSpPr>
            <p:grpSpPr bwMode="auto">
              <a:xfrm>
                <a:off x="3216" y="2928"/>
                <a:ext cx="604" cy="293"/>
                <a:chOff x="2880" y="2112"/>
                <a:chExt cx="2304" cy="2016"/>
              </a:xfrm>
            </p:grpSpPr>
            <p:sp>
              <p:nvSpPr>
                <p:cNvPr id="83045" name="任意多边形 594951"/>
                <p:cNvSpPr>
                  <a:spLocks noChangeArrowheads="1"/>
                </p:cNvSpPr>
                <p:nvPr/>
              </p:nvSpPr>
              <p:spPr bwMode="auto">
                <a:xfrm>
                  <a:off x="2880" y="2112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192 w 1152"/>
                    <a:gd name="T3" fmla="*/ 528 h 1008"/>
                    <a:gd name="T4" fmla="*/ 384 w 1152"/>
                    <a:gd name="T5" fmla="*/ 144 h 1008"/>
                    <a:gd name="T6" fmla="*/ 576 w 1152"/>
                    <a:gd name="T7" fmla="*/ 0 h 1008"/>
                    <a:gd name="T8" fmla="*/ 768 w 1152"/>
                    <a:gd name="T9" fmla="*/ 144 h 1008"/>
                    <a:gd name="T10" fmla="*/ 960 w 1152"/>
                    <a:gd name="T11" fmla="*/ 528 h 1008"/>
                    <a:gd name="T12" fmla="*/ 1152 w 1152"/>
                    <a:gd name="T13" fmla="*/ 1008 h 100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046" name="任意多边形 594952"/>
                <p:cNvSpPr>
                  <a:spLocks noChangeArrowheads="1"/>
                </p:cNvSpPr>
                <p:nvPr/>
              </p:nvSpPr>
              <p:spPr bwMode="auto">
                <a:xfrm flipV="1">
                  <a:off x="4032" y="3120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192 w 1152"/>
                    <a:gd name="T3" fmla="*/ 528 h 1008"/>
                    <a:gd name="T4" fmla="*/ 384 w 1152"/>
                    <a:gd name="T5" fmla="*/ 144 h 1008"/>
                    <a:gd name="T6" fmla="*/ 576 w 1152"/>
                    <a:gd name="T7" fmla="*/ 0 h 1008"/>
                    <a:gd name="T8" fmla="*/ 768 w 1152"/>
                    <a:gd name="T9" fmla="*/ 144 h 1008"/>
                    <a:gd name="T10" fmla="*/ 960 w 1152"/>
                    <a:gd name="T11" fmla="*/ 528 h 1008"/>
                    <a:gd name="T12" fmla="*/ 1152 w 1152"/>
                    <a:gd name="T13" fmla="*/ 1008 h 100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3044" name="任意多边形 594953"/>
              <p:cNvSpPr>
                <a:spLocks noChangeArrowheads="1"/>
              </p:cNvSpPr>
              <p:nvPr/>
            </p:nvSpPr>
            <p:spPr bwMode="auto">
              <a:xfrm>
                <a:off x="3820" y="2928"/>
                <a:ext cx="303" cy="147"/>
              </a:xfrm>
              <a:custGeom>
                <a:avLst/>
                <a:gdLst>
                  <a:gd name="T0" fmla="*/ 0 w 1152"/>
                  <a:gd name="T1" fmla="*/ 3 h 1008"/>
                  <a:gd name="T2" fmla="*/ 3 w 1152"/>
                  <a:gd name="T3" fmla="*/ 2 h 1008"/>
                  <a:gd name="T4" fmla="*/ 7 w 1152"/>
                  <a:gd name="T5" fmla="*/ 0 h 1008"/>
                  <a:gd name="T6" fmla="*/ 11 w 1152"/>
                  <a:gd name="T7" fmla="*/ 0 h 1008"/>
                  <a:gd name="T8" fmla="*/ 14 w 1152"/>
                  <a:gd name="T9" fmla="*/ 0 h 1008"/>
                  <a:gd name="T10" fmla="*/ 17 w 1152"/>
                  <a:gd name="T11" fmla="*/ 2 h 1008"/>
                  <a:gd name="T12" fmla="*/ 21 w 1152"/>
                  <a:gd name="T13" fmla="*/ 3 h 10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64" y="840"/>
                      <a:pt x="128" y="672"/>
                      <a:pt x="192" y="528"/>
                    </a:cubicBezTo>
                    <a:cubicBezTo>
                      <a:pt x="256" y="384"/>
                      <a:pt x="320" y="232"/>
                      <a:pt x="384" y="144"/>
                    </a:cubicBezTo>
                    <a:cubicBezTo>
                      <a:pt x="448" y="56"/>
                      <a:pt x="512" y="0"/>
                      <a:pt x="576" y="0"/>
                    </a:cubicBezTo>
                    <a:cubicBezTo>
                      <a:pt x="640" y="0"/>
                      <a:pt x="704" y="56"/>
                      <a:pt x="768" y="144"/>
                    </a:cubicBezTo>
                    <a:cubicBezTo>
                      <a:pt x="832" y="232"/>
                      <a:pt x="896" y="384"/>
                      <a:pt x="960" y="528"/>
                    </a:cubicBezTo>
                    <a:cubicBezTo>
                      <a:pt x="1024" y="672"/>
                      <a:pt x="1120" y="928"/>
                      <a:pt x="1152" y="1008"/>
                    </a:cubicBezTo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042" name="直接连接符 594954"/>
            <p:cNvSpPr>
              <a:spLocks noChangeShapeType="1"/>
            </p:cNvSpPr>
            <p:nvPr/>
          </p:nvSpPr>
          <p:spPr bwMode="auto">
            <a:xfrm>
              <a:off x="4464" y="1296"/>
              <a:ext cx="576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956" name="组合 594955"/>
          <p:cNvGrpSpPr/>
          <p:nvPr/>
        </p:nvGrpSpPr>
        <p:grpSpPr bwMode="auto">
          <a:xfrm>
            <a:off x="420688" y="3241675"/>
            <a:ext cx="1676400" cy="423863"/>
            <a:chOff x="4224" y="768"/>
            <a:chExt cx="1056" cy="267"/>
          </a:xfrm>
        </p:grpSpPr>
        <p:grpSp>
          <p:nvGrpSpPr>
            <p:cNvPr id="83035" name="组合 594956"/>
            <p:cNvGrpSpPr/>
            <p:nvPr/>
          </p:nvGrpSpPr>
          <p:grpSpPr bwMode="auto">
            <a:xfrm>
              <a:off x="4224" y="768"/>
              <a:ext cx="1056" cy="267"/>
              <a:chOff x="3216" y="2928"/>
              <a:chExt cx="907" cy="293"/>
            </a:xfrm>
          </p:grpSpPr>
          <p:grpSp>
            <p:nvGrpSpPr>
              <p:cNvPr id="83037" name="组合 594957"/>
              <p:cNvGrpSpPr/>
              <p:nvPr/>
            </p:nvGrpSpPr>
            <p:grpSpPr bwMode="auto">
              <a:xfrm>
                <a:off x="3216" y="2928"/>
                <a:ext cx="604" cy="293"/>
                <a:chOff x="2880" y="2112"/>
                <a:chExt cx="2304" cy="2016"/>
              </a:xfrm>
            </p:grpSpPr>
            <p:sp>
              <p:nvSpPr>
                <p:cNvPr id="83039" name="任意多边形 594958"/>
                <p:cNvSpPr>
                  <a:spLocks noChangeArrowheads="1"/>
                </p:cNvSpPr>
                <p:nvPr/>
              </p:nvSpPr>
              <p:spPr bwMode="auto">
                <a:xfrm>
                  <a:off x="2880" y="2112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192 w 1152"/>
                    <a:gd name="T3" fmla="*/ 528 h 1008"/>
                    <a:gd name="T4" fmla="*/ 384 w 1152"/>
                    <a:gd name="T5" fmla="*/ 144 h 1008"/>
                    <a:gd name="T6" fmla="*/ 576 w 1152"/>
                    <a:gd name="T7" fmla="*/ 0 h 1008"/>
                    <a:gd name="T8" fmla="*/ 768 w 1152"/>
                    <a:gd name="T9" fmla="*/ 144 h 1008"/>
                    <a:gd name="T10" fmla="*/ 960 w 1152"/>
                    <a:gd name="T11" fmla="*/ 528 h 1008"/>
                    <a:gd name="T12" fmla="*/ 1152 w 1152"/>
                    <a:gd name="T13" fmla="*/ 1008 h 100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040" name="任意多边形 594959"/>
                <p:cNvSpPr>
                  <a:spLocks noChangeArrowheads="1"/>
                </p:cNvSpPr>
                <p:nvPr/>
              </p:nvSpPr>
              <p:spPr bwMode="auto">
                <a:xfrm flipV="1">
                  <a:off x="4032" y="3120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192 w 1152"/>
                    <a:gd name="T3" fmla="*/ 528 h 1008"/>
                    <a:gd name="T4" fmla="*/ 384 w 1152"/>
                    <a:gd name="T5" fmla="*/ 144 h 1008"/>
                    <a:gd name="T6" fmla="*/ 576 w 1152"/>
                    <a:gd name="T7" fmla="*/ 0 h 1008"/>
                    <a:gd name="T8" fmla="*/ 768 w 1152"/>
                    <a:gd name="T9" fmla="*/ 144 h 1008"/>
                    <a:gd name="T10" fmla="*/ 960 w 1152"/>
                    <a:gd name="T11" fmla="*/ 528 h 1008"/>
                    <a:gd name="T12" fmla="*/ 1152 w 1152"/>
                    <a:gd name="T13" fmla="*/ 1008 h 100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3038" name="任意多边形 594960"/>
              <p:cNvSpPr>
                <a:spLocks noChangeArrowheads="1"/>
              </p:cNvSpPr>
              <p:nvPr/>
            </p:nvSpPr>
            <p:spPr bwMode="auto">
              <a:xfrm>
                <a:off x="3820" y="2928"/>
                <a:ext cx="303" cy="147"/>
              </a:xfrm>
              <a:custGeom>
                <a:avLst/>
                <a:gdLst>
                  <a:gd name="T0" fmla="*/ 0 w 1152"/>
                  <a:gd name="T1" fmla="*/ 3 h 1008"/>
                  <a:gd name="T2" fmla="*/ 3 w 1152"/>
                  <a:gd name="T3" fmla="*/ 2 h 1008"/>
                  <a:gd name="T4" fmla="*/ 7 w 1152"/>
                  <a:gd name="T5" fmla="*/ 0 h 1008"/>
                  <a:gd name="T6" fmla="*/ 11 w 1152"/>
                  <a:gd name="T7" fmla="*/ 0 h 1008"/>
                  <a:gd name="T8" fmla="*/ 14 w 1152"/>
                  <a:gd name="T9" fmla="*/ 0 h 1008"/>
                  <a:gd name="T10" fmla="*/ 17 w 1152"/>
                  <a:gd name="T11" fmla="*/ 2 h 1008"/>
                  <a:gd name="T12" fmla="*/ 21 w 1152"/>
                  <a:gd name="T13" fmla="*/ 3 h 10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64" y="840"/>
                      <a:pt x="128" y="672"/>
                      <a:pt x="192" y="528"/>
                    </a:cubicBezTo>
                    <a:cubicBezTo>
                      <a:pt x="256" y="384"/>
                      <a:pt x="320" y="232"/>
                      <a:pt x="384" y="144"/>
                    </a:cubicBezTo>
                    <a:cubicBezTo>
                      <a:pt x="448" y="56"/>
                      <a:pt x="512" y="0"/>
                      <a:pt x="576" y="0"/>
                    </a:cubicBezTo>
                    <a:cubicBezTo>
                      <a:pt x="640" y="0"/>
                      <a:pt x="704" y="56"/>
                      <a:pt x="768" y="144"/>
                    </a:cubicBezTo>
                    <a:cubicBezTo>
                      <a:pt x="832" y="232"/>
                      <a:pt x="896" y="384"/>
                      <a:pt x="960" y="528"/>
                    </a:cubicBezTo>
                    <a:cubicBezTo>
                      <a:pt x="1024" y="672"/>
                      <a:pt x="1120" y="928"/>
                      <a:pt x="1152" y="1008"/>
                    </a:cubicBezTo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036" name="直接连接符 594961"/>
            <p:cNvSpPr>
              <a:spLocks noChangeShapeType="1"/>
            </p:cNvSpPr>
            <p:nvPr/>
          </p:nvSpPr>
          <p:spPr bwMode="auto">
            <a:xfrm>
              <a:off x="4464" y="912"/>
              <a:ext cx="576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2951" name="组合 594962"/>
          <p:cNvGrpSpPr/>
          <p:nvPr/>
        </p:nvGrpSpPr>
        <p:grpSpPr bwMode="auto">
          <a:xfrm>
            <a:off x="0" y="2455863"/>
            <a:ext cx="2690813" cy="2316162"/>
            <a:chOff x="3926" y="96"/>
            <a:chExt cx="1695" cy="1459"/>
          </a:xfrm>
        </p:grpSpPr>
        <p:sp>
          <p:nvSpPr>
            <p:cNvPr id="83020" name="椭圆 594963"/>
            <p:cNvSpPr>
              <a:spLocks noChangeArrowheads="1"/>
            </p:cNvSpPr>
            <p:nvPr/>
          </p:nvSpPr>
          <p:spPr bwMode="auto">
            <a:xfrm>
              <a:off x="4714" y="124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C227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66FF33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83021" name="文本框 594964"/>
            <p:cNvSpPr txBox="1">
              <a:spLocks noChangeArrowheads="1"/>
            </p:cNvSpPr>
            <p:nvPr/>
          </p:nvSpPr>
          <p:spPr bwMode="auto">
            <a:xfrm>
              <a:off x="4656" y="828"/>
              <a:ext cx="3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baseline="0"/>
                <a:t>m</a:t>
              </a:r>
            </a:p>
          </p:txBody>
        </p:sp>
        <p:sp>
          <p:nvSpPr>
            <p:cNvPr id="83022" name="文本框 594965"/>
            <p:cNvSpPr txBox="1">
              <a:spLocks noChangeArrowheads="1"/>
            </p:cNvSpPr>
            <p:nvPr/>
          </p:nvSpPr>
          <p:spPr bwMode="auto">
            <a:xfrm>
              <a:off x="4320" y="113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E</a:t>
              </a:r>
            </a:p>
          </p:txBody>
        </p:sp>
        <p:sp>
          <p:nvSpPr>
            <p:cNvPr id="83023" name="文本框 594966"/>
            <p:cNvSpPr txBox="1">
              <a:spLocks noChangeArrowheads="1"/>
            </p:cNvSpPr>
            <p:nvPr/>
          </p:nvSpPr>
          <p:spPr bwMode="auto">
            <a:xfrm>
              <a:off x="3936" y="1169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baseline="0"/>
                <a:t>0</a:t>
              </a:r>
            </a:p>
          </p:txBody>
        </p:sp>
        <p:sp>
          <p:nvSpPr>
            <p:cNvPr id="83024" name="文本框 594967"/>
            <p:cNvSpPr txBox="1">
              <a:spLocks noChangeArrowheads="1"/>
            </p:cNvSpPr>
            <p:nvPr/>
          </p:nvSpPr>
          <p:spPr bwMode="auto">
            <a:xfrm>
              <a:off x="5071" y="1190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baseline="0"/>
                <a:t>a</a:t>
              </a:r>
            </a:p>
          </p:txBody>
        </p:sp>
        <p:grpSp>
          <p:nvGrpSpPr>
            <p:cNvPr id="83025" name="组合 594968"/>
            <p:cNvGrpSpPr/>
            <p:nvPr/>
          </p:nvGrpSpPr>
          <p:grpSpPr bwMode="auto">
            <a:xfrm>
              <a:off x="4162" y="96"/>
              <a:ext cx="1406" cy="1446"/>
              <a:chOff x="288" y="2880"/>
              <a:chExt cx="2208" cy="1200"/>
            </a:xfrm>
          </p:grpSpPr>
          <p:sp>
            <p:nvSpPr>
              <p:cNvPr id="83033" name="直接连接符 594969"/>
              <p:cNvSpPr>
                <a:spLocks noChangeShapeType="1"/>
              </p:cNvSpPr>
              <p:nvPr/>
            </p:nvSpPr>
            <p:spPr bwMode="auto">
              <a:xfrm>
                <a:off x="288" y="4032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34" name="直接连接符 594970"/>
              <p:cNvSpPr>
                <a:spLocks noChangeShapeType="1"/>
              </p:cNvSpPr>
              <p:nvPr/>
            </p:nvSpPr>
            <p:spPr bwMode="auto">
              <a:xfrm flipV="1">
                <a:off x="384" y="2880"/>
                <a:ext cx="0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026" name="文本框 594971"/>
            <p:cNvSpPr txBox="1">
              <a:spLocks noChangeArrowheads="1"/>
            </p:cNvSpPr>
            <p:nvPr/>
          </p:nvSpPr>
          <p:spPr bwMode="auto">
            <a:xfrm>
              <a:off x="3926" y="21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baseline="0"/>
                <a:t>U</a:t>
              </a:r>
            </a:p>
          </p:txBody>
        </p:sp>
        <p:sp>
          <p:nvSpPr>
            <p:cNvPr id="83027" name="文本框 594972"/>
            <p:cNvSpPr txBox="1">
              <a:spLocks noChangeArrowheads="1"/>
            </p:cNvSpPr>
            <p:nvPr/>
          </p:nvSpPr>
          <p:spPr bwMode="auto">
            <a:xfrm>
              <a:off x="5366" y="113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baseline="0"/>
                <a:t>X</a:t>
              </a:r>
            </a:p>
          </p:txBody>
        </p:sp>
        <p:grpSp>
          <p:nvGrpSpPr>
            <p:cNvPr id="83028" name="组合 594973"/>
            <p:cNvGrpSpPr/>
            <p:nvPr/>
          </p:nvGrpSpPr>
          <p:grpSpPr bwMode="auto">
            <a:xfrm>
              <a:off x="4224" y="240"/>
              <a:ext cx="1056" cy="1200"/>
              <a:chOff x="384" y="2688"/>
              <a:chExt cx="1056" cy="1344"/>
            </a:xfrm>
          </p:grpSpPr>
          <p:sp>
            <p:nvSpPr>
              <p:cNvPr id="83029" name="直接连接符 594974"/>
              <p:cNvSpPr>
                <a:spLocks noChangeShapeType="1"/>
              </p:cNvSpPr>
              <p:nvPr/>
            </p:nvSpPr>
            <p:spPr bwMode="auto">
              <a:xfrm flipV="1">
                <a:off x="384" y="3181"/>
                <a:ext cx="0" cy="85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30" name="直接连接符 594975"/>
              <p:cNvSpPr>
                <a:spLocks noChangeShapeType="1"/>
              </p:cNvSpPr>
              <p:nvPr/>
            </p:nvSpPr>
            <p:spPr bwMode="auto">
              <a:xfrm flipV="1">
                <a:off x="1440" y="3216"/>
                <a:ext cx="0" cy="816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31" name="直接连接符 594976"/>
              <p:cNvSpPr>
                <a:spLocks noChangeShapeType="1"/>
              </p:cNvSpPr>
              <p:nvPr/>
            </p:nvSpPr>
            <p:spPr bwMode="auto">
              <a:xfrm flipV="1">
                <a:off x="384" y="2733"/>
                <a:ext cx="0" cy="403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32" name="直接连接符 594977"/>
              <p:cNvSpPr>
                <a:spLocks noChangeShapeType="1"/>
              </p:cNvSpPr>
              <p:nvPr/>
            </p:nvSpPr>
            <p:spPr bwMode="auto">
              <a:xfrm flipV="1">
                <a:off x="1440" y="2688"/>
                <a:ext cx="0" cy="44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94979" name="组合 594978"/>
          <p:cNvGrpSpPr/>
          <p:nvPr/>
        </p:nvGrpSpPr>
        <p:grpSpPr bwMode="auto">
          <a:xfrm>
            <a:off x="436563" y="3259138"/>
            <a:ext cx="1676400" cy="457200"/>
            <a:chOff x="4224" y="720"/>
            <a:chExt cx="1056" cy="288"/>
          </a:xfrm>
        </p:grpSpPr>
        <p:grpSp>
          <p:nvGrpSpPr>
            <p:cNvPr id="83008" name="组合 594979"/>
            <p:cNvGrpSpPr/>
            <p:nvPr/>
          </p:nvGrpSpPr>
          <p:grpSpPr bwMode="auto">
            <a:xfrm flipV="1">
              <a:off x="4224" y="720"/>
              <a:ext cx="1056" cy="288"/>
              <a:chOff x="4416" y="288"/>
              <a:chExt cx="1056" cy="288"/>
            </a:xfrm>
          </p:grpSpPr>
          <p:grpSp>
            <p:nvGrpSpPr>
              <p:cNvPr id="83010" name="组合 594980"/>
              <p:cNvGrpSpPr/>
              <p:nvPr/>
            </p:nvGrpSpPr>
            <p:grpSpPr bwMode="auto">
              <a:xfrm>
                <a:off x="4416" y="288"/>
                <a:ext cx="1056" cy="267"/>
                <a:chOff x="3216" y="2928"/>
                <a:chExt cx="907" cy="293"/>
              </a:xfrm>
            </p:grpSpPr>
            <p:grpSp>
              <p:nvGrpSpPr>
                <p:cNvPr id="83016" name="组合 594981"/>
                <p:cNvGrpSpPr/>
                <p:nvPr/>
              </p:nvGrpSpPr>
              <p:grpSpPr bwMode="auto">
                <a:xfrm>
                  <a:off x="3216" y="2928"/>
                  <a:ext cx="604" cy="293"/>
                  <a:chOff x="2880" y="2112"/>
                  <a:chExt cx="2304" cy="2016"/>
                </a:xfrm>
              </p:grpSpPr>
              <p:sp>
                <p:nvSpPr>
                  <p:cNvPr id="83018" name="任意多边形 594982"/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2112"/>
                    <a:ext cx="1152" cy="1008"/>
                  </a:xfrm>
                  <a:custGeom>
                    <a:avLst/>
                    <a:gdLst>
                      <a:gd name="T0" fmla="*/ 0 w 1152"/>
                      <a:gd name="T1" fmla="*/ 1008 h 1008"/>
                      <a:gd name="T2" fmla="*/ 192 w 1152"/>
                      <a:gd name="T3" fmla="*/ 528 h 1008"/>
                      <a:gd name="T4" fmla="*/ 384 w 1152"/>
                      <a:gd name="T5" fmla="*/ 144 h 1008"/>
                      <a:gd name="T6" fmla="*/ 576 w 1152"/>
                      <a:gd name="T7" fmla="*/ 0 h 1008"/>
                      <a:gd name="T8" fmla="*/ 768 w 1152"/>
                      <a:gd name="T9" fmla="*/ 144 h 1008"/>
                      <a:gd name="T10" fmla="*/ 960 w 1152"/>
                      <a:gd name="T11" fmla="*/ 528 h 1008"/>
                      <a:gd name="T12" fmla="*/ 1152 w 1152"/>
                      <a:gd name="T13" fmla="*/ 1008 h 100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152" h="1008">
                        <a:moveTo>
                          <a:pt x="0" y="1008"/>
                        </a:moveTo>
                        <a:cubicBezTo>
                          <a:pt x="64" y="840"/>
                          <a:pt x="128" y="672"/>
                          <a:pt x="192" y="528"/>
                        </a:cubicBezTo>
                        <a:cubicBezTo>
                          <a:pt x="256" y="384"/>
                          <a:pt x="320" y="232"/>
                          <a:pt x="384" y="144"/>
                        </a:cubicBezTo>
                        <a:cubicBezTo>
                          <a:pt x="448" y="56"/>
                          <a:pt x="512" y="0"/>
                          <a:pt x="576" y="0"/>
                        </a:cubicBezTo>
                        <a:cubicBezTo>
                          <a:pt x="640" y="0"/>
                          <a:pt x="704" y="56"/>
                          <a:pt x="768" y="144"/>
                        </a:cubicBezTo>
                        <a:cubicBezTo>
                          <a:pt x="832" y="232"/>
                          <a:pt x="896" y="384"/>
                          <a:pt x="960" y="528"/>
                        </a:cubicBezTo>
                        <a:cubicBezTo>
                          <a:pt x="1024" y="672"/>
                          <a:pt x="1120" y="928"/>
                          <a:pt x="1152" y="1008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019" name="任意多边形 594983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32" y="3120"/>
                    <a:ext cx="1152" cy="1008"/>
                  </a:xfrm>
                  <a:custGeom>
                    <a:avLst/>
                    <a:gdLst>
                      <a:gd name="T0" fmla="*/ 0 w 1152"/>
                      <a:gd name="T1" fmla="*/ 1008 h 1008"/>
                      <a:gd name="T2" fmla="*/ 192 w 1152"/>
                      <a:gd name="T3" fmla="*/ 528 h 1008"/>
                      <a:gd name="T4" fmla="*/ 384 w 1152"/>
                      <a:gd name="T5" fmla="*/ 144 h 1008"/>
                      <a:gd name="T6" fmla="*/ 576 w 1152"/>
                      <a:gd name="T7" fmla="*/ 0 h 1008"/>
                      <a:gd name="T8" fmla="*/ 768 w 1152"/>
                      <a:gd name="T9" fmla="*/ 144 h 1008"/>
                      <a:gd name="T10" fmla="*/ 960 w 1152"/>
                      <a:gd name="T11" fmla="*/ 528 h 1008"/>
                      <a:gd name="T12" fmla="*/ 1152 w 1152"/>
                      <a:gd name="T13" fmla="*/ 1008 h 100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152" h="1008">
                        <a:moveTo>
                          <a:pt x="0" y="1008"/>
                        </a:moveTo>
                        <a:cubicBezTo>
                          <a:pt x="64" y="840"/>
                          <a:pt x="128" y="672"/>
                          <a:pt x="192" y="528"/>
                        </a:cubicBezTo>
                        <a:cubicBezTo>
                          <a:pt x="256" y="384"/>
                          <a:pt x="320" y="232"/>
                          <a:pt x="384" y="144"/>
                        </a:cubicBezTo>
                        <a:cubicBezTo>
                          <a:pt x="448" y="56"/>
                          <a:pt x="512" y="0"/>
                          <a:pt x="576" y="0"/>
                        </a:cubicBezTo>
                        <a:cubicBezTo>
                          <a:pt x="640" y="0"/>
                          <a:pt x="704" y="56"/>
                          <a:pt x="768" y="144"/>
                        </a:cubicBezTo>
                        <a:cubicBezTo>
                          <a:pt x="832" y="232"/>
                          <a:pt x="896" y="384"/>
                          <a:pt x="960" y="528"/>
                        </a:cubicBezTo>
                        <a:cubicBezTo>
                          <a:pt x="1024" y="672"/>
                          <a:pt x="1120" y="928"/>
                          <a:pt x="1152" y="1008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3017" name="任意多边形 594984"/>
                <p:cNvSpPr>
                  <a:spLocks noChangeArrowheads="1"/>
                </p:cNvSpPr>
                <p:nvPr/>
              </p:nvSpPr>
              <p:spPr bwMode="auto">
                <a:xfrm>
                  <a:off x="3820" y="2928"/>
                  <a:ext cx="303" cy="147"/>
                </a:xfrm>
                <a:custGeom>
                  <a:avLst/>
                  <a:gdLst>
                    <a:gd name="T0" fmla="*/ 0 w 1152"/>
                    <a:gd name="T1" fmla="*/ 3 h 1008"/>
                    <a:gd name="T2" fmla="*/ 3 w 1152"/>
                    <a:gd name="T3" fmla="*/ 2 h 1008"/>
                    <a:gd name="T4" fmla="*/ 7 w 1152"/>
                    <a:gd name="T5" fmla="*/ 0 h 1008"/>
                    <a:gd name="T6" fmla="*/ 11 w 1152"/>
                    <a:gd name="T7" fmla="*/ 0 h 1008"/>
                    <a:gd name="T8" fmla="*/ 14 w 1152"/>
                    <a:gd name="T9" fmla="*/ 0 h 1008"/>
                    <a:gd name="T10" fmla="*/ 17 w 1152"/>
                    <a:gd name="T11" fmla="*/ 2 h 1008"/>
                    <a:gd name="T12" fmla="*/ 21 w 1152"/>
                    <a:gd name="T13" fmla="*/ 3 h 100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3011" name="组合 594985"/>
              <p:cNvGrpSpPr/>
              <p:nvPr/>
            </p:nvGrpSpPr>
            <p:grpSpPr bwMode="auto">
              <a:xfrm flipV="1">
                <a:off x="4416" y="309"/>
                <a:ext cx="1056" cy="267"/>
                <a:chOff x="3216" y="2928"/>
                <a:chExt cx="907" cy="293"/>
              </a:xfrm>
            </p:grpSpPr>
            <p:grpSp>
              <p:nvGrpSpPr>
                <p:cNvPr id="83012" name="组合 594986"/>
                <p:cNvGrpSpPr/>
                <p:nvPr/>
              </p:nvGrpSpPr>
              <p:grpSpPr bwMode="auto">
                <a:xfrm>
                  <a:off x="3216" y="2928"/>
                  <a:ext cx="604" cy="293"/>
                  <a:chOff x="2880" y="2112"/>
                  <a:chExt cx="2304" cy="2016"/>
                </a:xfrm>
              </p:grpSpPr>
              <p:sp>
                <p:nvSpPr>
                  <p:cNvPr id="83014" name="任意多边形 594987"/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2112"/>
                    <a:ext cx="1152" cy="1008"/>
                  </a:xfrm>
                  <a:custGeom>
                    <a:avLst/>
                    <a:gdLst>
                      <a:gd name="T0" fmla="*/ 0 w 1152"/>
                      <a:gd name="T1" fmla="*/ 1008 h 1008"/>
                      <a:gd name="T2" fmla="*/ 192 w 1152"/>
                      <a:gd name="T3" fmla="*/ 528 h 1008"/>
                      <a:gd name="T4" fmla="*/ 384 w 1152"/>
                      <a:gd name="T5" fmla="*/ 144 h 1008"/>
                      <a:gd name="T6" fmla="*/ 576 w 1152"/>
                      <a:gd name="T7" fmla="*/ 0 h 1008"/>
                      <a:gd name="T8" fmla="*/ 768 w 1152"/>
                      <a:gd name="T9" fmla="*/ 144 h 1008"/>
                      <a:gd name="T10" fmla="*/ 960 w 1152"/>
                      <a:gd name="T11" fmla="*/ 528 h 1008"/>
                      <a:gd name="T12" fmla="*/ 1152 w 1152"/>
                      <a:gd name="T13" fmla="*/ 1008 h 100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152" h="1008">
                        <a:moveTo>
                          <a:pt x="0" y="1008"/>
                        </a:moveTo>
                        <a:cubicBezTo>
                          <a:pt x="64" y="840"/>
                          <a:pt x="128" y="672"/>
                          <a:pt x="192" y="528"/>
                        </a:cubicBezTo>
                        <a:cubicBezTo>
                          <a:pt x="256" y="384"/>
                          <a:pt x="320" y="232"/>
                          <a:pt x="384" y="144"/>
                        </a:cubicBezTo>
                        <a:cubicBezTo>
                          <a:pt x="448" y="56"/>
                          <a:pt x="512" y="0"/>
                          <a:pt x="576" y="0"/>
                        </a:cubicBezTo>
                        <a:cubicBezTo>
                          <a:pt x="640" y="0"/>
                          <a:pt x="704" y="56"/>
                          <a:pt x="768" y="144"/>
                        </a:cubicBezTo>
                        <a:cubicBezTo>
                          <a:pt x="832" y="232"/>
                          <a:pt x="896" y="384"/>
                          <a:pt x="960" y="528"/>
                        </a:cubicBezTo>
                        <a:cubicBezTo>
                          <a:pt x="1024" y="672"/>
                          <a:pt x="1120" y="928"/>
                          <a:pt x="1152" y="1008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015" name="任意多边形 594988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32" y="3120"/>
                    <a:ext cx="1152" cy="1008"/>
                  </a:xfrm>
                  <a:custGeom>
                    <a:avLst/>
                    <a:gdLst>
                      <a:gd name="T0" fmla="*/ 0 w 1152"/>
                      <a:gd name="T1" fmla="*/ 1008 h 1008"/>
                      <a:gd name="T2" fmla="*/ 192 w 1152"/>
                      <a:gd name="T3" fmla="*/ 528 h 1008"/>
                      <a:gd name="T4" fmla="*/ 384 w 1152"/>
                      <a:gd name="T5" fmla="*/ 144 h 1008"/>
                      <a:gd name="T6" fmla="*/ 576 w 1152"/>
                      <a:gd name="T7" fmla="*/ 0 h 1008"/>
                      <a:gd name="T8" fmla="*/ 768 w 1152"/>
                      <a:gd name="T9" fmla="*/ 144 h 1008"/>
                      <a:gd name="T10" fmla="*/ 960 w 1152"/>
                      <a:gd name="T11" fmla="*/ 528 h 1008"/>
                      <a:gd name="T12" fmla="*/ 1152 w 1152"/>
                      <a:gd name="T13" fmla="*/ 1008 h 100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152" h="1008">
                        <a:moveTo>
                          <a:pt x="0" y="1008"/>
                        </a:moveTo>
                        <a:cubicBezTo>
                          <a:pt x="64" y="840"/>
                          <a:pt x="128" y="672"/>
                          <a:pt x="192" y="528"/>
                        </a:cubicBezTo>
                        <a:cubicBezTo>
                          <a:pt x="256" y="384"/>
                          <a:pt x="320" y="232"/>
                          <a:pt x="384" y="144"/>
                        </a:cubicBezTo>
                        <a:cubicBezTo>
                          <a:pt x="448" y="56"/>
                          <a:pt x="512" y="0"/>
                          <a:pt x="576" y="0"/>
                        </a:cubicBezTo>
                        <a:cubicBezTo>
                          <a:pt x="640" y="0"/>
                          <a:pt x="704" y="56"/>
                          <a:pt x="768" y="144"/>
                        </a:cubicBezTo>
                        <a:cubicBezTo>
                          <a:pt x="832" y="232"/>
                          <a:pt x="896" y="384"/>
                          <a:pt x="960" y="528"/>
                        </a:cubicBezTo>
                        <a:cubicBezTo>
                          <a:pt x="1024" y="672"/>
                          <a:pt x="1120" y="928"/>
                          <a:pt x="1152" y="1008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3013" name="任意多边形 594989"/>
                <p:cNvSpPr>
                  <a:spLocks noChangeArrowheads="1"/>
                </p:cNvSpPr>
                <p:nvPr/>
              </p:nvSpPr>
              <p:spPr bwMode="auto">
                <a:xfrm>
                  <a:off x="3820" y="2928"/>
                  <a:ext cx="303" cy="147"/>
                </a:xfrm>
                <a:custGeom>
                  <a:avLst/>
                  <a:gdLst>
                    <a:gd name="T0" fmla="*/ 0 w 1152"/>
                    <a:gd name="T1" fmla="*/ 3 h 1008"/>
                    <a:gd name="T2" fmla="*/ 3 w 1152"/>
                    <a:gd name="T3" fmla="*/ 2 h 1008"/>
                    <a:gd name="T4" fmla="*/ 7 w 1152"/>
                    <a:gd name="T5" fmla="*/ 0 h 1008"/>
                    <a:gd name="T6" fmla="*/ 11 w 1152"/>
                    <a:gd name="T7" fmla="*/ 0 h 1008"/>
                    <a:gd name="T8" fmla="*/ 14 w 1152"/>
                    <a:gd name="T9" fmla="*/ 0 h 1008"/>
                    <a:gd name="T10" fmla="*/ 17 w 1152"/>
                    <a:gd name="T11" fmla="*/ 2 h 1008"/>
                    <a:gd name="T12" fmla="*/ 21 w 1152"/>
                    <a:gd name="T13" fmla="*/ 3 h 100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3009" name="直接连接符 594990"/>
            <p:cNvSpPr>
              <a:spLocks noChangeShapeType="1"/>
            </p:cNvSpPr>
            <p:nvPr/>
          </p:nvSpPr>
          <p:spPr bwMode="auto">
            <a:xfrm>
              <a:off x="4224" y="864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992" name="组合 594991"/>
          <p:cNvGrpSpPr/>
          <p:nvPr/>
        </p:nvGrpSpPr>
        <p:grpSpPr bwMode="auto">
          <a:xfrm>
            <a:off x="2589213" y="692150"/>
            <a:ext cx="6484937" cy="5935663"/>
            <a:chOff x="1631" y="510"/>
            <a:chExt cx="4085" cy="3739"/>
          </a:xfrm>
        </p:grpSpPr>
        <p:sp>
          <p:nvSpPr>
            <p:cNvPr id="82963" name="直接连接符 594993"/>
            <p:cNvSpPr>
              <a:spLocks noChangeShapeType="1"/>
            </p:cNvSpPr>
            <p:nvPr/>
          </p:nvSpPr>
          <p:spPr bwMode="auto">
            <a:xfrm>
              <a:off x="2171" y="811"/>
              <a:ext cx="0" cy="3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4" name="直接连接符 594994"/>
            <p:cNvSpPr>
              <a:spLocks noChangeShapeType="1"/>
            </p:cNvSpPr>
            <p:nvPr/>
          </p:nvSpPr>
          <p:spPr bwMode="auto">
            <a:xfrm>
              <a:off x="3530" y="974"/>
              <a:ext cx="0" cy="30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5" name="直接连接符 594995"/>
            <p:cNvSpPr>
              <a:spLocks noChangeShapeType="1"/>
            </p:cNvSpPr>
            <p:nvPr/>
          </p:nvSpPr>
          <p:spPr bwMode="auto">
            <a:xfrm>
              <a:off x="4096" y="974"/>
              <a:ext cx="0" cy="30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6" name="直接连接符 594996"/>
            <p:cNvSpPr>
              <a:spLocks noChangeShapeType="1"/>
            </p:cNvSpPr>
            <p:nvPr/>
          </p:nvSpPr>
          <p:spPr bwMode="auto">
            <a:xfrm>
              <a:off x="5502" y="974"/>
              <a:ext cx="0" cy="30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7" name="直接连接符 594997"/>
            <p:cNvSpPr>
              <a:spLocks noChangeShapeType="1"/>
            </p:cNvSpPr>
            <p:nvPr/>
          </p:nvSpPr>
          <p:spPr bwMode="auto">
            <a:xfrm>
              <a:off x="2171" y="4003"/>
              <a:ext cx="15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8" name="直接连接符 594998"/>
            <p:cNvSpPr>
              <a:spLocks noChangeShapeType="1"/>
            </p:cNvSpPr>
            <p:nvPr/>
          </p:nvSpPr>
          <p:spPr bwMode="auto">
            <a:xfrm>
              <a:off x="4096" y="4003"/>
              <a:ext cx="15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9" name="直接连接符 594999"/>
            <p:cNvSpPr>
              <a:spLocks noChangeShapeType="1"/>
            </p:cNvSpPr>
            <p:nvPr/>
          </p:nvSpPr>
          <p:spPr bwMode="auto">
            <a:xfrm>
              <a:off x="4096" y="1220"/>
              <a:ext cx="14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0" name="直接连接符 595000"/>
            <p:cNvSpPr>
              <a:spLocks noChangeShapeType="1"/>
            </p:cNvSpPr>
            <p:nvPr/>
          </p:nvSpPr>
          <p:spPr bwMode="auto">
            <a:xfrm>
              <a:off x="2171" y="1261"/>
              <a:ext cx="1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1" name="直接连接符 595001"/>
            <p:cNvSpPr>
              <a:spLocks noChangeShapeType="1"/>
            </p:cNvSpPr>
            <p:nvPr/>
          </p:nvSpPr>
          <p:spPr bwMode="auto">
            <a:xfrm>
              <a:off x="2171" y="2447"/>
              <a:ext cx="1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2" name="直接连接符 595002"/>
            <p:cNvSpPr>
              <a:spLocks noChangeShapeType="1"/>
            </p:cNvSpPr>
            <p:nvPr/>
          </p:nvSpPr>
          <p:spPr bwMode="auto">
            <a:xfrm>
              <a:off x="4096" y="2488"/>
              <a:ext cx="14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3" name="直接连接符 595003"/>
            <p:cNvSpPr>
              <a:spLocks noChangeShapeType="1"/>
            </p:cNvSpPr>
            <p:nvPr/>
          </p:nvSpPr>
          <p:spPr bwMode="auto">
            <a:xfrm>
              <a:off x="2171" y="3143"/>
              <a:ext cx="1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4" name="直接连接符 595004"/>
            <p:cNvSpPr>
              <a:spLocks noChangeShapeType="1"/>
            </p:cNvSpPr>
            <p:nvPr/>
          </p:nvSpPr>
          <p:spPr bwMode="auto">
            <a:xfrm>
              <a:off x="4096" y="3143"/>
              <a:ext cx="14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5" name="直接连接符 595005"/>
            <p:cNvSpPr>
              <a:spLocks noChangeShapeType="1"/>
            </p:cNvSpPr>
            <p:nvPr/>
          </p:nvSpPr>
          <p:spPr bwMode="auto">
            <a:xfrm>
              <a:off x="2171" y="3715"/>
              <a:ext cx="1359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6" name="直接连接符 595006"/>
            <p:cNvSpPr>
              <a:spLocks noChangeShapeType="1"/>
            </p:cNvSpPr>
            <p:nvPr/>
          </p:nvSpPr>
          <p:spPr bwMode="auto">
            <a:xfrm>
              <a:off x="4096" y="3716"/>
              <a:ext cx="14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7" name="矩形 595007"/>
            <p:cNvSpPr>
              <a:spLocks noChangeArrowheads="1"/>
            </p:cNvSpPr>
            <p:nvPr/>
          </p:nvSpPr>
          <p:spPr bwMode="auto">
            <a:xfrm>
              <a:off x="3700" y="3568"/>
              <a:ext cx="3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aseline="0"/>
                <a:t>= 1</a:t>
              </a:r>
            </a:p>
          </p:txBody>
        </p:sp>
        <p:sp>
          <p:nvSpPr>
            <p:cNvPr id="82978" name="矩形 595008"/>
            <p:cNvSpPr>
              <a:spLocks noChangeArrowheads="1"/>
            </p:cNvSpPr>
            <p:nvPr/>
          </p:nvSpPr>
          <p:spPr bwMode="auto">
            <a:xfrm>
              <a:off x="3664" y="3045"/>
              <a:ext cx="3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aseline="0"/>
                <a:t>= 2</a:t>
              </a:r>
            </a:p>
          </p:txBody>
        </p:sp>
        <p:sp>
          <p:nvSpPr>
            <p:cNvPr id="82979" name="矩形 595009"/>
            <p:cNvSpPr>
              <a:spLocks noChangeArrowheads="1"/>
            </p:cNvSpPr>
            <p:nvPr/>
          </p:nvSpPr>
          <p:spPr bwMode="auto">
            <a:xfrm>
              <a:off x="3691" y="2349"/>
              <a:ext cx="3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aseline="0"/>
                <a:t>= 3</a:t>
              </a:r>
            </a:p>
          </p:txBody>
        </p:sp>
        <p:sp>
          <p:nvSpPr>
            <p:cNvPr id="82980" name="矩形 595010"/>
            <p:cNvSpPr>
              <a:spLocks noChangeArrowheads="1"/>
            </p:cNvSpPr>
            <p:nvPr/>
          </p:nvSpPr>
          <p:spPr bwMode="auto">
            <a:xfrm>
              <a:off x="3682" y="1113"/>
              <a:ext cx="3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aseline="0"/>
                <a:t>= 4</a:t>
              </a:r>
            </a:p>
          </p:txBody>
        </p:sp>
        <p:sp>
          <p:nvSpPr>
            <p:cNvPr id="82981" name="矩形 595011"/>
            <p:cNvSpPr>
              <a:spLocks noChangeArrowheads="1"/>
            </p:cNvSpPr>
            <p:nvPr/>
          </p:nvSpPr>
          <p:spPr bwMode="auto">
            <a:xfrm>
              <a:off x="3788" y="510"/>
              <a:ext cx="617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82982" name="矩形 595012"/>
            <p:cNvSpPr>
              <a:spLocks noChangeArrowheads="1"/>
            </p:cNvSpPr>
            <p:nvPr/>
          </p:nvSpPr>
          <p:spPr bwMode="auto">
            <a:xfrm>
              <a:off x="3547" y="3944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i="1" baseline="0"/>
                <a:t>x</a:t>
              </a:r>
            </a:p>
          </p:txBody>
        </p:sp>
        <p:sp>
          <p:nvSpPr>
            <p:cNvPr id="82983" name="矩形 595013"/>
            <p:cNvSpPr>
              <a:spLocks noChangeArrowheads="1"/>
            </p:cNvSpPr>
            <p:nvPr/>
          </p:nvSpPr>
          <p:spPr bwMode="auto">
            <a:xfrm>
              <a:off x="5515" y="3959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i="1" baseline="0"/>
                <a:t>x</a:t>
              </a:r>
            </a:p>
          </p:txBody>
        </p:sp>
        <p:sp>
          <p:nvSpPr>
            <p:cNvPr id="82984" name="任意多边形 595014"/>
            <p:cNvSpPr>
              <a:spLocks noChangeArrowheads="1"/>
            </p:cNvSpPr>
            <p:nvPr/>
          </p:nvSpPr>
          <p:spPr bwMode="auto">
            <a:xfrm>
              <a:off x="2169" y="1088"/>
              <a:ext cx="1362" cy="377"/>
            </a:xfrm>
            <a:custGeom>
              <a:avLst/>
              <a:gdLst>
                <a:gd name="T0" fmla="*/ 16 w 1395"/>
                <a:gd name="T1" fmla="*/ 108 h 443"/>
                <a:gd name="T2" fmla="*/ 38 w 1395"/>
                <a:gd name="T3" fmla="*/ 67 h 443"/>
                <a:gd name="T4" fmla="*/ 60 w 1395"/>
                <a:gd name="T5" fmla="*/ 37 h 443"/>
                <a:gd name="T6" fmla="*/ 72 w 1395"/>
                <a:gd name="T7" fmla="*/ 23 h 443"/>
                <a:gd name="T8" fmla="*/ 89 w 1395"/>
                <a:gd name="T9" fmla="*/ 12 h 443"/>
                <a:gd name="T10" fmla="*/ 103 w 1395"/>
                <a:gd name="T11" fmla="*/ 4 h 443"/>
                <a:gd name="T12" fmla="*/ 123 w 1395"/>
                <a:gd name="T13" fmla="*/ 0 h 443"/>
                <a:gd name="T14" fmla="*/ 143 w 1395"/>
                <a:gd name="T15" fmla="*/ 1 h 443"/>
                <a:gd name="T16" fmla="*/ 161 w 1395"/>
                <a:gd name="T17" fmla="*/ 5 h 443"/>
                <a:gd name="T18" fmla="*/ 173 w 1395"/>
                <a:gd name="T19" fmla="*/ 10 h 443"/>
                <a:gd name="T20" fmla="*/ 189 w 1395"/>
                <a:gd name="T21" fmla="*/ 21 h 443"/>
                <a:gd name="T22" fmla="*/ 217 w 1395"/>
                <a:gd name="T23" fmla="*/ 45 h 443"/>
                <a:gd name="T24" fmla="*/ 245 w 1395"/>
                <a:gd name="T25" fmla="*/ 76 h 443"/>
                <a:gd name="T26" fmla="*/ 285 w 1395"/>
                <a:gd name="T27" fmla="*/ 121 h 443"/>
                <a:gd name="T28" fmla="*/ 338 w 1395"/>
                <a:gd name="T29" fmla="*/ 180 h 443"/>
                <a:gd name="T30" fmla="*/ 371 w 1395"/>
                <a:gd name="T31" fmla="*/ 213 h 443"/>
                <a:gd name="T32" fmla="*/ 402 w 1395"/>
                <a:gd name="T33" fmla="*/ 240 h 443"/>
                <a:gd name="T34" fmla="*/ 433 w 1395"/>
                <a:gd name="T35" fmla="*/ 260 h 443"/>
                <a:gd name="T36" fmla="*/ 449 w 1395"/>
                <a:gd name="T37" fmla="*/ 266 h 443"/>
                <a:gd name="T38" fmla="*/ 464 w 1395"/>
                <a:gd name="T39" fmla="*/ 270 h 443"/>
                <a:gd name="T40" fmla="*/ 479 w 1395"/>
                <a:gd name="T41" fmla="*/ 270 h 443"/>
                <a:gd name="T42" fmla="*/ 493 w 1395"/>
                <a:gd name="T43" fmla="*/ 266 h 443"/>
                <a:gd name="T44" fmla="*/ 509 w 1395"/>
                <a:gd name="T45" fmla="*/ 260 h 443"/>
                <a:gd name="T46" fmla="*/ 523 w 1395"/>
                <a:gd name="T47" fmla="*/ 252 h 443"/>
                <a:gd name="T48" fmla="*/ 553 w 1395"/>
                <a:gd name="T49" fmla="*/ 228 h 443"/>
                <a:gd name="T50" fmla="*/ 583 w 1395"/>
                <a:gd name="T51" fmla="*/ 197 h 443"/>
                <a:gd name="T52" fmla="*/ 612 w 1395"/>
                <a:gd name="T53" fmla="*/ 162 h 443"/>
                <a:gd name="T54" fmla="*/ 662 w 1395"/>
                <a:gd name="T55" fmla="*/ 100 h 443"/>
                <a:gd name="T56" fmla="*/ 691 w 1395"/>
                <a:gd name="T57" fmla="*/ 66 h 443"/>
                <a:gd name="T58" fmla="*/ 722 w 1395"/>
                <a:gd name="T59" fmla="*/ 37 h 443"/>
                <a:gd name="T60" fmla="*/ 746 w 1395"/>
                <a:gd name="T61" fmla="*/ 18 h 443"/>
                <a:gd name="T62" fmla="*/ 762 w 1395"/>
                <a:gd name="T63" fmla="*/ 10 h 443"/>
                <a:gd name="T64" fmla="*/ 776 w 1395"/>
                <a:gd name="T65" fmla="*/ 6 h 443"/>
                <a:gd name="T66" fmla="*/ 791 w 1395"/>
                <a:gd name="T67" fmla="*/ 3 h 443"/>
                <a:gd name="T68" fmla="*/ 805 w 1395"/>
                <a:gd name="T69" fmla="*/ 6 h 443"/>
                <a:gd name="T70" fmla="*/ 821 w 1395"/>
                <a:gd name="T71" fmla="*/ 9 h 443"/>
                <a:gd name="T72" fmla="*/ 842 w 1395"/>
                <a:gd name="T73" fmla="*/ 20 h 443"/>
                <a:gd name="T74" fmla="*/ 873 w 1395"/>
                <a:gd name="T75" fmla="*/ 42 h 443"/>
                <a:gd name="T76" fmla="*/ 904 w 1395"/>
                <a:gd name="T77" fmla="*/ 71 h 443"/>
                <a:gd name="T78" fmla="*/ 935 w 1395"/>
                <a:gd name="T79" fmla="*/ 105 h 443"/>
                <a:gd name="T80" fmla="*/ 998 w 1395"/>
                <a:gd name="T81" fmla="*/ 176 h 443"/>
                <a:gd name="T82" fmla="*/ 1027 w 1395"/>
                <a:gd name="T83" fmla="*/ 208 h 443"/>
                <a:gd name="T84" fmla="*/ 1055 w 1395"/>
                <a:gd name="T85" fmla="*/ 237 h 443"/>
                <a:gd name="T86" fmla="*/ 1082 w 1395"/>
                <a:gd name="T87" fmla="*/ 259 h 443"/>
                <a:gd name="T88" fmla="*/ 1095 w 1395"/>
                <a:gd name="T89" fmla="*/ 266 h 443"/>
                <a:gd name="T90" fmla="*/ 1108 w 1395"/>
                <a:gd name="T91" fmla="*/ 270 h 443"/>
                <a:gd name="T92" fmla="*/ 1131 w 1395"/>
                <a:gd name="T93" fmla="*/ 272 h 443"/>
                <a:gd name="T94" fmla="*/ 1153 w 1395"/>
                <a:gd name="T95" fmla="*/ 267 h 443"/>
                <a:gd name="T96" fmla="*/ 1175 w 1395"/>
                <a:gd name="T97" fmla="*/ 258 h 443"/>
                <a:gd name="T98" fmla="*/ 1196 w 1395"/>
                <a:gd name="T99" fmla="*/ 243 h 443"/>
                <a:gd name="T100" fmla="*/ 1222 w 1395"/>
                <a:gd name="T101" fmla="*/ 220 h 443"/>
                <a:gd name="T102" fmla="*/ 1256 w 1395"/>
                <a:gd name="T103" fmla="*/ 182 h 443"/>
                <a:gd name="T104" fmla="*/ 1275 w 1395"/>
                <a:gd name="T105" fmla="*/ 159 h 443"/>
                <a:gd name="T106" fmla="*/ 1287 w 1395"/>
                <a:gd name="T107" fmla="*/ 146 h 443"/>
                <a:gd name="T108" fmla="*/ 1298 w 1395"/>
                <a:gd name="T109" fmla="*/ 137 h 44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395" h="443">
                  <a:moveTo>
                    <a:pt x="0" y="222"/>
                  </a:moveTo>
                  <a:lnTo>
                    <a:pt x="7" y="198"/>
                  </a:lnTo>
                  <a:lnTo>
                    <a:pt x="16" y="175"/>
                  </a:lnTo>
                  <a:lnTo>
                    <a:pt x="24" y="152"/>
                  </a:lnTo>
                  <a:lnTo>
                    <a:pt x="32" y="130"/>
                  </a:lnTo>
                  <a:lnTo>
                    <a:pt x="41" y="109"/>
                  </a:lnTo>
                  <a:lnTo>
                    <a:pt x="50" y="89"/>
                  </a:lnTo>
                  <a:lnTo>
                    <a:pt x="59" y="70"/>
                  </a:lnTo>
                  <a:lnTo>
                    <a:pt x="64" y="61"/>
                  </a:lnTo>
                  <a:lnTo>
                    <a:pt x="69" y="53"/>
                  </a:lnTo>
                  <a:lnTo>
                    <a:pt x="74" y="45"/>
                  </a:lnTo>
                  <a:lnTo>
                    <a:pt x="78" y="38"/>
                  </a:lnTo>
                  <a:lnTo>
                    <a:pt x="83" y="31"/>
                  </a:lnTo>
                  <a:lnTo>
                    <a:pt x="89" y="25"/>
                  </a:lnTo>
                  <a:lnTo>
                    <a:pt x="95" y="19"/>
                  </a:lnTo>
                  <a:lnTo>
                    <a:pt x="100" y="14"/>
                  </a:lnTo>
                  <a:lnTo>
                    <a:pt x="107" y="10"/>
                  </a:lnTo>
                  <a:lnTo>
                    <a:pt x="112" y="7"/>
                  </a:lnTo>
                  <a:lnTo>
                    <a:pt x="119" y="4"/>
                  </a:lnTo>
                  <a:lnTo>
                    <a:pt x="125" y="2"/>
                  </a:lnTo>
                  <a:lnTo>
                    <a:pt x="132" y="0"/>
                  </a:lnTo>
                  <a:lnTo>
                    <a:pt x="139" y="0"/>
                  </a:lnTo>
                  <a:lnTo>
                    <a:pt x="146" y="0"/>
                  </a:lnTo>
                  <a:lnTo>
                    <a:pt x="154" y="1"/>
                  </a:lnTo>
                  <a:lnTo>
                    <a:pt x="161" y="3"/>
                  </a:lnTo>
                  <a:lnTo>
                    <a:pt x="169" y="6"/>
                  </a:lnTo>
                  <a:lnTo>
                    <a:pt x="173" y="8"/>
                  </a:lnTo>
                  <a:lnTo>
                    <a:pt x="178" y="10"/>
                  </a:lnTo>
                  <a:lnTo>
                    <a:pt x="181" y="13"/>
                  </a:lnTo>
                  <a:lnTo>
                    <a:pt x="185" y="16"/>
                  </a:lnTo>
                  <a:lnTo>
                    <a:pt x="190" y="20"/>
                  </a:lnTo>
                  <a:lnTo>
                    <a:pt x="195" y="24"/>
                  </a:lnTo>
                  <a:lnTo>
                    <a:pt x="204" y="34"/>
                  </a:lnTo>
                  <a:lnTo>
                    <a:pt x="213" y="46"/>
                  </a:lnTo>
                  <a:lnTo>
                    <a:pt x="222" y="59"/>
                  </a:lnTo>
                  <a:lnTo>
                    <a:pt x="232" y="73"/>
                  </a:lnTo>
                  <a:lnTo>
                    <a:pt x="242" y="89"/>
                  </a:lnTo>
                  <a:lnTo>
                    <a:pt x="253" y="104"/>
                  </a:lnTo>
                  <a:lnTo>
                    <a:pt x="263" y="122"/>
                  </a:lnTo>
                  <a:lnTo>
                    <a:pt x="273" y="140"/>
                  </a:lnTo>
                  <a:lnTo>
                    <a:pt x="284" y="158"/>
                  </a:lnTo>
                  <a:lnTo>
                    <a:pt x="306" y="196"/>
                  </a:lnTo>
                  <a:lnTo>
                    <a:pt x="329" y="235"/>
                  </a:lnTo>
                  <a:lnTo>
                    <a:pt x="352" y="273"/>
                  </a:lnTo>
                  <a:lnTo>
                    <a:pt x="363" y="292"/>
                  </a:lnTo>
                  <a:lnTo>
                    <a:pt x="374" y="310"/>
                  </a:lnTo>
                  <a:lnTo>
                    <a:pt x="386" y="328"/>
                  </a:lnTo>
                  <a:lnTo>
                    <a:pt x="398" y="345"/>
                  </a:lnTo>
                  <a:lnTo>
                    <a:pt x="409" y="361"/>
                  </a:lnTo>
                  <a:lnTo>
                    <a:pt x="420" y="375"/>
                  </a:lnTo>
                  <a:lnTo>
                    <a:pt x="432" y="389"/>
                  </a:lnTo>
                  <a:lnTo>
                    <a:pt x="444" y="401"/>
                  </a:lnTo>
                  <a:lnTo>
                    <a:pt x="455" y="412"/>
                  </a:lnTo>
                  <a:lnTo>
                    <a:pt x="466" y="421"/>
                  </a:lnTo>
                  <a:lnTo>
                    <a:pt x="471" y="425"/>
                  </a:lnTo>
                  <a:lnTo>
                    <a:pt x="476" y="428"/>
                  </a:lnTo>
                  <a:lnTo>
                    <a:pt x="482" y="431"/>
                  </a:lnTo>
                  <a:lnTo>
                    <a:pt x="488" y="433"/>
                  </a:lnTo>
                  <a:lnTo>
                    <a:pt x="493" y="435"/>
                  </a:lnTo>
                  <a:lnTo>
                    <a:pt x="498" y="437"/>
                  </a:lnTo>
                  <a:lnTo>
                    <a:pt x="504" y="437"/>
                  </a:lnTo>
                  <a:lnTo>
                    <a:pt x="509" y="437"/>
                  </a:lnTo>
                  <a:lnTo>
                    <a:pt x="515" y="437"/>
                  </a:lnTo>
                  <a:lnTo>
                    <a:pt x="520" y="436"/>
                  </a:lnTo>
                  <a:lnTo>
                    <a:pt x="525" y="435"/>
                  </a:lnTo>
                  <a:lnTo>
                    <a:pt x="530" y="433"/>
                  </a:lnTo>
                  <a:lnTo>
                    <a:pt x="536" y="430"/>
                  </a:lnTo>
                  <a:lnTo>
                    <a:pt x="541" y="427"/>
                  </a:lnTo>
                  <a:lnTo>
                    <a:pt x="547" y="423"/>
                  </a:lnTo>
                  <a:lnTo>
                    <a:pt x="552" y="419"/>
                  </a:lnTo>
                  <a:lnTo>
                    <a:pt x="557" y="414"/>
                  </a:lnTo>
                  <a:lnTo>
                    <a:pt x="562" y="409"/>
                  </a:lnTo>
                  <a:lnTo>
                    <a:pt x="573" y="398"/>
                  </a:lnTo>
                  <a:lnTo>
                    <a:pt x="584" y="384"/>
                  </a:lnTo>
                  <a:lnTo>
                    <a:pt x="594" y="370"/>
                  </a:lnTo>
                  <a:lnTo>
                    <a:pt x="605" y="354"/>
                  </a:lnTo>
                  <a:lnTo>
                    <a:pt x="616" y="337"/>
                  </a:lnTo>
                  <a:lnTo>
                    <a:pt x="626" y="320"/>
                  </a:lnTo>
                  <a:lnTo>
                    <a:pt x="637" y="301"/>
                  </a:lnTo>
                  <a:lnTo>
                    <a:pt x="648" y="281"/>
                  </a:lnTo>
                  <a:lnTo>
                    <a:pt x="658" y="262"/>
                  </a:lnTo>
                  <a:lnTo>
                    <a:pt x="679" y="222"/>
                  </a:lnTo>
                  <a:lnTo>
                    <a:pt x="701" y="181"/>
                  </a:lnTo>
                  <a:lnTo>
                    <a:pt x="711" y="162"/>
                  </a:lnTo>
                  <a:lnTo>
                    <a:pt x="722" y="142"/>
                  </a:lnTo>
                  <a:lnTo>
                    <a:pt x="733" y="123"/>
                  </a:lnTo>
                  <a:lnTo>
                    <a:pt x="743" y="106"/>
                  </a:lnTo>
                  <a:lnTo>
                    <a:pt x="754" y="89"/>
                  </a:lnTo>
                  <a:lnTo>
                    <a:pt x="765" y="73"/>
                  </a:lnTo>
                  <a:lnTo>
                    <a:pt x="775" y="59"/>
                  </a:lnTo>
                  <a:lnTo>
                    <a:pt x="786" y="46"/>
                  </a:lnTo>
                  <a:lnTo>
                    <a:pt x="797" y="34"/>
                  </a:lnTo>
                  <a:lnTo>
                    <a:pt x="802" y="29"/>
                  </a:lnTo>
                  <a:lnTo>
                    <a:pt x="807" y="24"/>
                  </a:lnTo>
                  <a:lnTo>
                    <a:pt x="813" y="20"/>
                  </a:lnTo>
                  <a:lnTo>
                    <a:pt x="818" y="16"/>
                  </a:lnTo>
                  <a:lnTo>
                    <a:pt x="824" y="13"/>
                  </a:lnTo>
                  <a:lnTo>
                    <a:pt x="829" y="11"/>
                  </a:lnTo>
                  <a:lnTo>
                    <a:pt x="834" y="9"/>
                  </a:lnTo>
                  <a:lnTo>
                    <a:pt x="839" y="7"/>
                  </a:lnTo>
                  <a:lnTo>
                    <a:pt x="845" y="6"/>
                  </a:lnTo>
                  <a:lnTo>
                    <a:pt x="850" y="6"/>
                  </a:lnTo>
                  <a:lnTo>
                    <a:pt x="855" y="6"/>
                  </a:lnTo>
                  <a:lnTo>
                    <a:pt x="860" y="7"/>
                  </a:lnTo>
                  <a:lnTo>
                    <a:pt x="865" y="9"/>
                  </a:lnTo>
                  <a:lnTo>
                    <a:pt x="870" y="10"/>
                  </a:lnTo>
                  <a:lnTo>
                    <a:pt x="876" y="12"/>
                  </a:lnTo>
                  <a:lnTo>
                    <a:pt x="882" y="15"/>
                  </a:lnTo>
                  <a:lnTo>
                    <a:pt x="887" y="19"/>
                  </a:lnTo>
                  <a:lnTo>
                    <a:pt x="892" y="23"/>
                  </a:lnTo>
                  <a:lnTo>
                    <a:pt x="904" y="32"/>
                  </a:lnTo>
                  <a:lnTo>
                    <a:pt x="915" y="42"/>
                  </a:lnTo>
                  <a:lnTo>
                    <a:pt x="926" y="55"/>
                  </a:lnTo>
                  <a:lnTo>
                    <a:pt x="938" y="68"/>
                  </a:lnTo>
                  <a:lnTo>
                    <a:pt x="948" y="83"/>
                  </a:lnTo>
                  <a:lnTo>
                    <a:pt x="960" y="99"/>
                  </a:lnTo>
                  <a:lnTo>
                    <a:pt x="971" y="115"/>
                  </a:lnTo>
                  <a:lnTo>
                    <a:pt x="983" y="133"/>
                  </a:lnTo>
                  <a:lnTo>
                    <a:pt x="994" y="151"/>
                  </a:lnTo>
                  <a:lnTo>
                    <a:pt x="1005" y="170"/>
                  </a:lnTo>
                  <a:lnTo>
                    <a:pt x="1028" y="208"/>
                  </a:lnTo>
                  <a:lnTo>
                    <a:pt x="1050" y="247"/>
                  </a:lnTo>
                  <a:lnTo>
                    <a:pt x="1072" y="285"/>
                  </a:lnTo>
                  <a:lnTo>
                    <a:pt x="1083" y="304"/>
                  </a:lnTo>
                  <a:lnTo>
                    <a:pt x="1093" y="322"/>
                  </a:lnTo>
                  <a:lnTo>
                    <a:pt x="1104" y="339"/>
                  </a:lnTo>
                  <a:lnTo>
                    <a:pt x="1115" y="355"/>
                  </a:lnTo>
                  <a:lnTo>
                    <a:pt x="1124" y="370"/>
                  </a:lnTo>
                  <a:lnTo>
                    <a:pt x="1134" y="384"/>
                  </a:lnTo>
                  <a:lnTo>
                    <a:pt x="1144" y="397"/>
                  </a:lnTo>
                  <a:lnTo>
                    <a:pt x="1154" y="409"/>
                  </a:lnTo>
                  <a:lnTo>
                    <a:pt x="1163" y="419"/>
                  </a:lnTo>
                  <a:lnTo>
                    <a:pt x="1168" y="423"/>
                  </a:lnTo>
                  <a:lnTo>
                    <a:pt x="1172" y="427"/>
                  </a:lnTo>
                  <a:lnTo>
                    <a:pt x="1177" y="431"/>
                  </a:lnTo>
                  <a:lnTo>
                    <a:pt x="1181" y="433"/>
                  </a:lnTo>
                  <a:lnTo>
                    <a:pt x="1186" y="436"/>
                  </a:lnTo>
                  <a:lnTo>
                    <a:pt x="1190" y="437"/>
                  </a:lnTo>
                  <a:lnTo>
                    <a:pt x="1198" y="440"/>
                  </a:lnTo>
                  <a:lnTo>
                    <a:pt x="1207" y="442"/>
                  </a:lnTo>
                  <a:lnTo>
                    <a:pt x="1215" y="442"/>
                  </a:lnTo>
                  <a:lnTo>
                    <a:pt x="1223" y="440"/>
                  </a:lnTo>
                  <a:lnTo>
                    <a:pt x="1232" y="437"/>
                  </a:lnTo>
                  <a:lnTo>
                    <a:pt x="1239" y="434"/>
                  </a:lnTo>
                  <a:lnTo>
                    <a:pt x="1247" y="430"/>
                  </a:lnTo>
                  <a:lnTo>
                    <a:pt x="1255" y="424"/>
                  </a:lnTo>
                  <a:lnTo>
                    <a:pt x="1262" y="418"/>
                  </a:lnTo>
                  <a:lnTo>
                    <a:pt x="1270" y="411"/>
                  </a:lnTo>
                  <a:lnTo>
                    <a:pt x="1277" y="403"/>
                  </a:lnTo>
                  <a:lnTo>
                    <a:pt x="1285" y="394"/>
                  </a:lnTo>
                  <a:lnTo>
                    <a:pt x="1292" y="386"/>
                  </a:lnTo>
                  <a:lnTo>
                    <a:pt x="1299" y="376"/>
                  </a:lnTo>
                  <a:lnTo>
                    <a:pt x="1313" y="356"/>
                  </a:lnTo>
                  <a:lnTo>
                    <a:pt x="1325" y="336"/>
                  </a:lnTo>
                  <a:lnTo>
                    <a:pt x="1338" y="315"/>
                  </a:lnTo>
                  <a:lnTo>
                    <a:pt x="1349" y="295"/>
                  </a:lnTo>
                  <a:lnTo>
                    <a:pt x="1360" y="275"/>
                  </a:lnTo>
                  <a:lnTo>
                    <a:pt x="1365" y="266"/>
                  </a:lnTo>
                  <a:lnTo>
                    <a:pt x="1370" y="258"/>
                  </a:lnTo>
                  <a:lnTo>
                    <a:pt x="1374" y="250"/>
                  </a:lnTo>
                  <a:lnTo>
                    <a:pt x="1379" y="243"/>
                  </a:lnTo>
                  <a:lnTo>
                    <a:pt x="1383" y="236"/>
                  </a:lnTo>
                  <a:lnTo>
                    <a:pt x="1386" y="230"/>
                  </a:lnTo>
                  <a:lnTo>
                    <a:pt x="1390" y="226"/>
                  </a:lnTo>
                  <a:lnTo>
                    <a:pt x="1394" y="222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5" name="任意多边形 595015"/>
            <p:cNvSpPr>
              <a:spLocks noChangeArrowheads="1"/>
            </p:cNvSpPr>
            <p:nvPr/>
          </p:nvSpPr>
          <p:spPr bwMode="auto">
            <a:xfrm>
              <a:off x="2166" y="2269"/>
              <a:ext cx="1365" cy="343"/>
            </a:xfrm>
            <a:custGeom>
              <a:avLst/>
              <a:gdLst>
                <a:gd name="T0" fmla="*/ 10 w 1398"/>
                <a:gd name="T1" fmla="*/ 113 h 402"/>
                <a:gd name="T2" fmla="*/ 30 w 1398"/>
                <a:gd name="T3" fmla="*/ 87 h 402"/>
                <a:gd name="T4" fmla="*/ 53 w 1398"/>
                <a:gd name="T5" fmla="*/ 62 h 402"/>
                <a:gd name="T6" fmla="*/ 75 w 1398"/>
                <a:gd name="T7" fmla="*/ 40 h 402"/>
                <a:gd name="T8" fmla="*/ 89 w 1398"/>
                <a:gd name="T9" fmla="*/ 30 h 402"/>
                <a:gd name="T10" fmla="*/ 101 w 1398"/>
                <a:gd name="T11" fmla="*/ 22 h 402"/>
                <a:gd name="T12" fmla="*/ 114 w 1398"/>
                <a:gd name="T13" fmla="*/ 15 h 402"/>
                <a:gd name="T14" fmla="*/ 130 w 1398"/>
                <a:gd name="T15" fmla="*/ 9 h 402"/>
                <a:gd name="T16" fmla="*/ 143 w 1398"/>
                <a:gd name="T17" fmla="*/ 3 h 402"/>
                <a:gd name="T18" fmla="*/ 160 w 1398"/>
                <a:gd name="T19" fmla="*/ 2 h 402"/>
                <a:gd name="T20" fmla="*/ 178 w 1398"/>
                <a:gd name="T21" fmla="*/ 0 h 402"/>
                <a:gd name="T22" fmla="*/ 195 w 1398"/>
                <a:gd name="T23" fmla="*/ 1 h 402"/>
                <a:gd name="T24" fmla="*/ 217 w 1398"/>
                <a:gd name="T25" fmla="*/ 3 h 402"/>
                <a:gd name="T26" fmla="*/ 227 w 1398"/>
                <a:gd name="T27" fmla="*/ 6 h 402"/>
                <a:gd name="T28" fmla="*/ 236 w 1398"/>
                <a:gd name="T29" fmla="*/ 9 h 402"/>
                <a:gd name="T30" fmla="*/ 249 w 1398"/>
                <a:gd name="T31" fmla="*/ 15 h 402"/>
                <a:gd name="T32" fmla="*/ 271 w 1398"/>
                <a:gd name="T33" fmla="*/ 27 h 402"/>
                <a:gd name="T34" fmla="*/ 296 w 1398"/>
                <a:gd name="T35" fmla="*/ 42 h 402"/>
                <a:gd name="T36" fmla="*/ 323 w 1398"/>
                <a:gd name="T37" fmla="*/ 60 h 402"/>
                <a:gd name="T38" fmla="*/ 349 w 1398"/>
                <a:gd name="T39" fmla="*/ 79 h 402"/>
                <a:gd name="T40" fmla="*/ 390 w 1398"/>
                <a:gd name="T41" fmla="*/ 112 h 402"/>
                <a:gd name="T42" fmla="*/ 449 w 1398"/>
                <a:gd name="T43" fmla="*/ 155 h 402"/>
                <a:gd name="T44" fmla="*/ 477 w 1398"/>
                <a:gd name="T45" fmla="*/ 176 h 402"/>
                <a:gd name="T46" fmla="*/ 507 w 1398"/>
                <a:gd name="T47" fmla="*/ 196 h 402"/>
                <a:gd name="T48" fmla="*/ 536 w 1398"/>
                <a:gd name="T49" fmla="*/ 213 h 402"/>
                <a:gd name="T50" fmla="*/ 566 w 1398"/>
                <a:gd name="T51" fmla="*/ 228 h 402"/>
                <a:gd name="T52" fmla="*/ 594 w 1398"/>
                <a:gd name="T53" fmla="*/ 239 h 402"/>
                <a:gd name="T54" fmla="*/ 609 w 1398"/>
                <a:gd name="T55" fmla="*/ 243 h 402"/>
                <a:gd name="T56" fmla="*/ 623 w 1398"/>
                <a:gd name="T57" fmla="*/ 246 h 402"/>
                <a:gd name="T58" fmla="*/ 636 w 1398"/>
                <a:gd name="T59" fmla="*/ 248 h 402"/>
                <a:gd name="T60" fmla="*/ 650 w 1398"/>
                <a:gd name="T61" fmla="*/ 249 h 402"/>
                <a:gd name="T62" fmla="*/ 663 w 1398"/>
                <a:gd name="T63" fmla="*/ 248 h 402"/>
                <a:gd name="T64" fmla="*/ 677 w 1398"/>
                <a:gd name="T65" fmla="*/ 246 h 402"/>
                <a:gd name="T66" fmla="*/ 690 w 1398"/>
                <a:gd name="T67" fmla="*/ 243 h 402"/>
                <a:gd name="T68" fmla="*/ 706 w 1398"/>
                <a:gd name="T69" fmla="*/ 239 h 402"/>
                <a:gd name="T70" fmla="*/ 733 w 1398"/>
                <a:gd name="T71" fmla="*/ 228 h 402"/>
                <a:gd name="T72" fmla="*/ 764 w 1398"/>
                <a:gd name="T73" fmla="*/ 213 h 402"/>
                <a:gd name="T74" fmla="*/ 792 w 1398"/>
                <a:gd name="T75" fmla="*/ 196 h 402"/>
                <a:gd name="T76" fmla="*/ 822 w 1398"/>
                <a:gd name="T77" fmla="*/ 176 h 402"/>
                <a:gd name="T78" fmla="*/ 850 w 1398"/>
                <a:gd name="T79" fmla="*/ 155 h 402"/>
                <a:gd name="T80" fmla="*/ 909 w 1398"/>
                <a:gd name="T81" fmla="*/ 112 h 402"/>
                <a:gd name="T82" fmla="*/ 950 w 1398"/>
                <a:gd name="T83" fmla="*/ 79 h 402"/>
                <a:gd name="T84" fmla="*/ 976 w 1398"/>
                <a:gd name="T85" fmla="*/ 60 h 402"/>
                <a:gd name="T86" fmla="*/ 1004 w 1398"/>
                <a:gd name="T87" fmla="*/ 42 h 402"/>
                <a:gd name="T88" fmla="*/ 1028 w 1398"/>
                <a:gd name="T89" fmla="*/ 27 h 402"/>
                <a:gd name="T90" fmla="*/ 1051 w 1398"/>
                <a:gd name="T91" fmla="*/ 15 h 402"/>
                <a:gd name="T92" fmla="*/ 1063 w 1398"/>
                <a:gd name="T93" fmla="*/ 9 h 402"/>
                <a:gd name="T94" fmla="*/ 1073 w 1398"/>
                <a:gd name="T95" fmla="*/ 6 h 402"/>
                <a:gd name="T96" fmla="*/ 1084 w 1398"/>
                <a:gd name="T97" fmla="*/ 3 h 402"/>
                <a:gd name="T98" fmla="*/ 1104 w 1398"/>
                <a:gd name="T99" fmla="*/ 1 h 402"/>
                <a:gd name="T100" fmla="*/ 1122 w 1398"/>
                <a:gd name="T101" fmla="*/ 0 h 402"/>
                <a:gd name="T102" fmla="*/ 1138 w 1398"/>
                <a:gd name="T103" fmla="*/ 2 h 402"/>
                <a:gd name="T104" fmla="*/ 1155 w 1398"/>
                <a:gd name="T105" fmla="*/ 3 h 402"/>
                <a:gd name="T106" fmla="*/ 1170 w 1398"/>
                <a:gd name="T107" fmla="*/ 9 h 402"/>
                <a:gd name="T108" fmla="*/ 1185 w 1398"/>
                <a:gd name="T109" fmla="*/ 15 h 402"/>
                <a:gd name="T110" fmla="*/ 1199 w 1398"/>
                <a:gd name="T111" fmla="*/ 22 h 402"/>
                <a:gd name="T112" fmla="*/ 1212 w 1398"/>
                <a:gd name="T113" fmla="*/ 30 h 402"/>
                <a:gd name="T114" fmla="*/ 1224 w 1398"/>
                <a:gd name="T115" fmla="*/ 40 h 402"/>
                <a:gd name="T116" fmla="*/ 1247 w 1398"/>
                <a:gd name="T117" fmla="*/ 62 h 402"/>
                <a:gd name="T118" fmla="*/ 1269 w 1398"/>
                <a:gd name="T119" fmla="*/ 87 h 402"/>
                <a:gd name="T120" fmla="*/ 1290 w 1398"/>
                <a:gd name="T121" fmla="*/ 113 h 40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398" h="402">
                  <a:moveTo>
                    <a:pt x="0" y="203"/>
                  </a:moveTo>
                  <a:lnTo>
                    <a:pt x="10" y="182"/>
                  </a:lnTo>
                  <a:lnTo>
                    <a:pt x="22" y="160"/>
                  </a:lnTo>
                  <a:lnTo>
                    <a:pt x="33" y="139"/>
                  </a:lnTo>
                  <a:lnTo>
                    <a:pt x="44" y="119"/>
                  </a:lnTo>
                  <a:lnTo>
                    <a:pt x="56" y="100"/>
                  </a:lnTo>
                  <a:lnTo>
                    <a:pt x="69" y="81"/>
                  </a:lnTo>
                  <a:lnTo>
                    <a:pt x="81" y="64"/>
                  </a:lnTo>
                  <a:lnTo>
                    <a:pt x="88" y="56"/>
                  </a:lnTo>
                  <a:lnTo>
                    <a:pt x="95" y="48"/>
                  </a:lnTo>
                  <a:lnTo>
                    <a:pt x="102" y="42"/>
                  </a:lnTo>
                  <a:lnTo>
                    <a:pt x="108" y="35"/>
                  </a:lnTo>
                  <a:lnTo>
                    <a:pt x="115" y="29"/>
                  </a:lnTo>
                  <a:lnTo>
                    <a:pt x="123" y="23"/>
                  </a:lnTo>
                  <a:lnTo>
                    <a:pt x="131" y="18"/>
                  </a:lnTo>
                  <a:lnTo>
                    <a:pt x="139" y="14"/>
                  </a:lnTo>
                  <a:lnTo>
                    <a:pt x="146" y="9"/>
                  </a:lnTo>
                  <a:lnTo>
                    <a:pt x="154" y="6"/>
                  </a:lnTo>
                  <a:lnTo>
                    <a:pt x="163" y="3"/>
                  </a:lnTo>
                  <a:lnTo>
                    <a:pt x="172" y="2"/>
                  </a:lnTo>
                  <a:lnTo>
                    <a:pt x="181" y="0"/>
                  </a:lnTo>
                  <a:lnTo>
                    <a:pt x="191" y="0"/>
                  </a:lnTo>
                  <a:lnTo>
                    <a:pt x="201" y="0"/>
                  </a:lnTo>
                  <a:lnTo>
                    <a:pt x="210" y="1"/>
                  </a:lnTo>
                  <a:lnTo>
                    <a:pt x="221" y="3"/>
                  </a:lnTo>
                  <a:lnTo>
                    <a:pt x="232" y="5"/>
                  </a:lnTo>
                  <a:lnTo>
                    <a:pt x="238" y="7"/>
                  </a:lnTo>
                  <a:lnTo>
                    <a:pt x="244" y="9"/>
                  </a:lnTo>
                  <a:lnTo>
                    <a:pt x="248" y="12"/>
                  </a:lnTo>
                  <a:lnTo>
                    <a:pt x="254" y="15"/>
                  </a:lnTo>
                  <a:lnTo>
                    <a:pt x="261" y="19"/>
                  </a:lnTo>
                  <a:lnTo>
                    <a:pt x="267" y="23"/>
                  </a:lnTo>
                  <a:lnTo>
                    <a:pt x="279" y="32"/>
                  </a:lnTo>
                  <a:lnTo>
                    <a:pt x="292" y="43"/>
                  </a:lnTo>
                  <a:lnTo>
                    <a:pt x="305" y="54"/>
                  </a:lnTo>
                  <a:lnTo>
                    <a:pt x="318" y="67"/>
                  </a:lnTo>
                  <a:lnTo>
                    <a:pt x="332" y="81"/>
                  </a:lnTo>
                  <a:lnTo>
                    <a:pt x="347" y="96"/>
                  </a:lnTo>
                  <a:lnTo>
                    <a:pt x="360" y="112"/>
                  </a:lnTo>
                  <a:lnTo>
                    <a:pt x="375" y="128"/>
                  </a:lnTo>
                  <a:lnTo>
                    <a:pt x="389" y="145"/>
                  </a:lnTo>
                  <a:lnTo>
                    <a:pt x="419" y="180"/>
                  </a:lnTo>
                  <a:lnTo>
                    <a:pt x="451" y="215"/>
                  </a:lnTo>
                  <a:lnTo>
                    <a:pt x="482" y="250"/>
                  </a:lnTo>
                  <a:lnTo>
                    <a:pt x="497" y="268"/>
                  </a:lnTo>
                  <a:lnTo>
                    <a:pt x="513" y="284"/>
                  </a:lnTo>
                  <a:lnTo>
                    <a:pt x="529" y="300"/>
                  </a:lnTo>
                  <a:lnTo>
                    <a:pt x="545" y="315"/>
                  </a:lnTo>
                  <a:lnTo>
                    <a:pt x="560" y="330"/>
                  </a:lnTo>
                  <a:lnTo>
                    <a:pt x="576" y="343"/>
                  </a:lnTo>
                  <a:lnTo>
                    <a:pt x="593" y="356"/>
                  </a:lnTo>
                  <a:lnTo>
                    <a:pt x="608" y="367"/>
                  </a:lnTo>
                  <a:lnTo>
                    <a:pt x="624" y="376"/>
                  </a:lnTo>
                  <a:lnTo>
                    <a:pt x="638" y="385"/>
                  </a:lnTo>
                  <a:lnTo>
                    <a:pt x="646" y="388"/>
                  </a:lnTo>
                  <a:lnTo>
                    <a:pt x="654" y="391"/>
                  </a:lnTo>
                  <a:lnTo>
                    <a:pt x="662" y="394"/>
                  </a:lnTo>
                  <a:lnTo>
                    <a:pt x="669" y="396"/>
                  </a:lnTo>
                  <a:lnTo>
                    <a:pt x="676" y="398"/>
                  </a:lnTo>
                  <a:lnTo>
                    <a:pt x="683" y="400"/>
                  </a:lnTo>
                  <a:lnTo>
                    <a:pt x="691" y="400"/>
                  </a:lnTo>
                  <a:lnTo>
                    <a:pt x="698" y="401"/>
                  </a:lnTo>
                  <a:lnTo>
                    <a:pt x="705" y="400"/>
                  </a:lnTo>
                  <a:lnTo>
                    <a:pt x="712" y="400"/>
                  </a:lnTo>
                  <a:lnTo>
                    <a:pt x="720" y="398"/>
                  </a:lnTo>
                  <a:lnTo>
                    <a:pt x="727" y="396"/>
                  </a:lnTo>
                  <a:lnTo>
                    <a:pt x="734" y="394"/>
                  </a:lnTo>
                  <a:lnTo>
                    <a:pt x="742" y="391"/>
                  </a:lnTo>
                  <a:lnTo>
                    <a:pt x="750" y="388"/>
                  </a:lnTo>
                  <a:lnTo>
                    <a:pt x="758" y="385"/>
                  </a:lnTo>
                  <a:lnTo>
                    <a:pt x="773" y="376"/>
                  </a:lnTo>
                  <a:lnTo>
                    <a:pt x="788" y="367"/>
                  </a:lnTo>
                  <a:lnTo>
                    <a:pt x="804" y="356"/>
                  </a:lnTo>
                  <a:lnTo>
                    <a:pt x="820" y="343"/>
                  </a:lnTo>
                  <a:lnTo>
                    <a:pt x="836" y="330"/>
                  </a:lnTo>
                  <a:lnTo>
                    <a:pt x="851" y="315"/>
                  </a:lnTo>
                  <a:lnTo>
                    <a:pt x="867" y="300"/>
                  </a:lnTo>
                  <a:lnTo>
                    <a:pt x="883" y="284"/>
                  </a:lnTo>
                  <a:lnTo>
                    <a:pt x="899" y="268"/>
                  </a:lnTo>
                  <a:lnTo>
                    <a:pt x="914" y="250"/>
                  </a:lnTo>
                  <a:lnTo>
                    <a:pt x="945" y="215"/>
                  </a:lnTo>
                  <a:lnTo>
                    <a:pt x="977" y="180"/>
                  </a:lnTo>
                  <a:lnTo>
                    <a:pt x="1007" y="145"/>
                  </a:lnTo>
                  <a:lnTo>
                    <a:pt x="1021" y="128"/>
                  </a:lnTo>
                  <a:lnTo>
                    <a:pt x="1036" y="112"/>
                  </a:lnTo>
                  <a:lnTo>
                    <a:pt x="1049" y="96"/>
                  </a:lnTo>
                  <a:lnTo>
                    <a:pt x="1064" y="81"/>
                  </a:lnTo>
                  <a:lnTo>
                    <a:pt x="1078" y="67"/>
                  </a:lnTo>
                  <a:lnTo>
                    <a:pt x="1091" y="54"/>
                  </a:lnTo>
                  <a:lnTo>
                    <a:pt x="1104" y="43"/>
                  </a:lnTo>
                  <a:lnTo>
                    <a:pt x="1117" y="32"/>
                  </a:lnTo>
                  <a:lnTo>
                    <a:pt x="1129" y="23"/>
                  </a:lnTo>
                  <a:lnTo>
                    <a:pt x="1135" y="19"/>
                  </a:lnTo>
                  <a:lnTo>
                    <a:pt x="1142" y="15"/>
                  </a:lnTo>
                  <a:lnTo>
                    <a:pt x="1148" y="12"/>
                  </a:lnTo>
                  <a:lnTo>
                    <a:pt x="1153" y="9"/>
                  </a:lnTo>
                  <a:lnTo>
                    <a:pt x="1158" y="7"/>
                  </a:lnTo>
                  <a:lnTo>
                    <a:pt x="1164" y="5"/>
                  </a:lnTo>
                  <a:lnTo>
                    <a:pt x="1175" y="3"/>
                  </a:lnTo>
                  <a:lnTo>
                    <a:pt x="1186" y="1"/>
                  </a:lnTo>
                  <a:lnTo>
                    <a:pt x="1195" y="0"/>
                  </a:lnTo>
                  <a:lnTo>
                    <a:pt x="1205" y="0"/>
                  </a:lnTo>
                  <a:lnTo>
                    <a:pt x="1215" y="0"/>
                  </a:lnTo>
                  <a:lnTo>
                    <a:pt x="1223" y="2"/>
                  </a:lnTo>
                  <a:lnTo>
                    <a:pt x="1232" y="3"/>
                  </a:lnTo>
                  <a:lnTo>
                    <a:pt x="1241" y="6"/>
                  </a:lnTo>
                  <a:lnTo>
                    <a:pt x="1249" y="9"/>
                  </a:lnTo>
                  <a:lnTo>
                    <a:pt x="1257" y="14"/>
                  </a:lnTo>
                  <a:lnTo>
                    <a:pt x="1265" y="18"/>
                  </a:lnTo>
                  <a:lnTo>
                    <a:pt x="1273" y="23"/>
                  </a:lnTo>
                  <a:lnTo>
                    <a:pt x="1281" y="29"/>
                  </a:lnTo>
                  <a:lnTo>
                    <a:pt x="1288" y="35"/>
                  </a:lnTo>
                  <a:lnTo>
                    <a:pt x="1294" y="42"/>
                  </a:lnTo>
                  <a:lnTo>
                    <a:pt x="1302" y="48"/>
                  </a:lnTo>
                  <a:lnTo>
                    <a:pt x="1308" y="56"/>
                  </a:lnTo>
                  <a:lnTo>
                    <a:pt x="1315" y="64"/>
                  </a:lnTo>
                  <a:lnTo>
                    <a:pt x="1327" y="81"/>
                  </a:lnTo>
                  <a:lnTo>
                    <a:pt x="1340" y="100"/>
                  </a:lnTo>
                  <a:lnTo>
                    <a:pt x="1352" y="119"/>
                  </a:lnTo>
                  <a:lnTo>
                    <a:pt x="1363" y="139"/>
                  </a:lnTo>
                  <a:lnTo>
                    <a:pt x="1374" y="160"/>
                  </a:lnTo>
                  <a:lnTo>
                    <a:pt x="1386" y="182"/>
                  </a:lnTo>
                  <a:lnTo>
                    <a:pt x="1397" y="20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6" name="任意多边形 595016"/>
            <p:cNvSpPr>
              <a:spLocks noChangeArrowheads="1"/>
            </p:cNvSpPr>
            <p:nvPr/>
          </p:nvSpPr>
          <p:spPr bwMode="auto">
            <a:xfrm>
              <a:off x="2165" y="2932"/>
              <a:ext cx="1366" cy="380"/>
            </a:xfrm>
            <a:custGeom>
              <a:avLst/>
              <a:gdLst>
                <a:gd name="T0" fmla="*/ 16 w 1399"/>
                <a:gd name="T1" fmla="*/ 124 h 446"/>
                <a:gd name="T2" fmla="*/ 46 w 1399"/>
                <a:gd name="T3" fmla="*/ 95 h 446"/>
                <a:gd name="T4" fmla="*/ 78 w 1399"/>
                <a:gd name="T5" fmla="*/ 67 h 446"/>
                <a:gd name="T6" fmla="*/ 113 w 1399"/>
                <a:gd name="T7" fmla="*/ 43 h 446"/>
                <a:gd name="T8" fmla="*/ 134 w 1399"/>
                <a:gd name="T9" fmla="*/ 32 h 446"/>
                <a:gd name="T10" fmla="*/ 151 w 1399"/>
                <a:gd name="T11" fmla="*/ 23 h 446"/>
                <a:gd name="T12" fmla="*/ 171 w 1399"/>
                <a:gd name="T13" fmla="*/ 15 h 446"/>
                <a:gd name="T14" fmla="*/ 192 w 1399"/>
                <a:gd name="T15" fmla="*/ 9 h 446"/>
                <a:gd name="T16" fmla="*/ 217 w 1399"/>
                <a:gd name="T17" fmla="*/ 4 h 446"/>
                <a:gd name="T18" fmla="*/ 240 w 1399"/>
                <a:gd name="T19" fmla="*/ 2 h 446"/>
                <a:gd name="T20" fmla="*/ 267 w 1399"/>
                <a:gd name="T21" fmla="*/ 0 h 446"/>
                <a:gd name="T22" fmla="*/ 295 w 1399"/>
                <a:gd name="T23" fmla="*/ 1 h 446"/>
                <a:gd name="T24" fmla="*/ 324 w 1399"/>
                <a:gd name="T25" fmla="*/ 3 h 446"/>
                <a:gd name="T26" fmla="*/ 341 w 1399"/>
                <a:gd name="T27" fmla="*/ 7 h 446"/>
                <a:gd name="T28" fmla="*/ 375 w 1399"/>
                <a:gd name="T29" fmla="*/ 14 h 446"/>
                <a:gd name="T30" fmla="*/ 412 w 1399"/>
                <a:gd name="T31" fmla="*/ 27 h 446"/>
                <a:gd name="T32" fmla="*/ 451 w 1399"/>
                <a:gd name="T33" fmla="*/ 43 h 446"/>
                <a:gd name="T34" fmla="*/ 493 w 1399"/>
                <a:gd name="T35" fmla="*/ 61 h 446"/>
                <a:gd name="T36" fmla="*/ 537 w 1399"/>
                <a:gd name="T37" fmla="*/ 81 h 446"/>
                <a:gd name="T38" fmla="*/ 583 w 1399"/>
                <a:gd name="T39" fmla="*/ 103 h 446"/>
                <a:gd name="T40" fmla="*/ 651 w 1399"/>
                <a:gd name="T41" fmla="*/ 137 h 446"/>
                <a:gd name="T42" fmla="*/ 718 w 1399"/>
                <a:gd name="T43" fmla="*/ 171 h 446"/>
                <a:gd name="T44" fmla="*/ 764 w 1399"/>
                <a:gd name="T45" fmla="*/ 193 h 446"/>
                <a:gd name="T46" fmla="*/ 808 w 1399"/>
                <a:gd name="T47" fmla="*/ 213 h 446"/>
                <a:gd name="T48" fmla="*/ 849 w 1399"/>
                <a:gd name="T49" fmla="*/ 233 h 446"/>
                <a:gd name="T50" fmla="*/ 889 w 1399"/>
                <a:gd name="T51" fmla="*/ 248 h 446"/>
                <a:gd name="T52" fmla="*/ 925 w 1399"/>
                <a:gd name="T53" fmla="*/ 260 h 446"/>
                <a:gd name="T54" fmla="*/ 959 w 1399"/>
                <a:gd name="T55" fmla="*/ 268 h 446"/>
                <a:gd name="T56" fmla="*/ 974 w 1399"/>
                <a:gd name="T57" fmla="*/ 271 h 446"/>
                <a:gd name="T58" fmla="*/ 1005 w 1399"/>
                <a:gd name="T59" fmla="*/ 273 h 446"/>
                <a:gd name="T60" fmla="*/ 1032 w 1399"/>
                <a:gd name="T61" fmla="*/ 275 h 446"/>
                <a:gd name="T62" fmla="*/ 1059 w 1399"/>
                <a:gd name="T63" fmla="*/ 273 h 446"/>
                <a:gd name="T64" fmla="*/ 1084 w 1399"/>
                <a:gd name="T65" fmla="*/ 270 h 446"/>
                <a:gd name="T66" fmla="*/ 1107 w 1399"/>
                <a:gd name="T67" fmla="*/ 266 h 446"/>
                <a:gd name="T68" fmla="*/ 1128 w 1399"/>
                <a:gd name="T69" fmla="*/ 259 h 446"/>
                <a:gd name="T70" fmla="*/ 1149 w 1399"/>
                <a:gd name="T71" fmla="*/ 251 h 446"/>
                <a:gd name="T72" fmla="*/ 1169 w 1399"/>
                <a:gd name="T73" fmla="*/ 242 h 446"/>
                <a:gd name="T74" fmla="*/ 1187 w 1399"/>
                <a:gd name="T75" fmla="*/ 232 h 446"/>
                <a:gd name="T76" fmla="*/ 1222 w 1399"/>
                <a:gd name="T77" fmla="*/ 207 h 446"/>
                <a:gd name="T78" fmla="*/ 1255 w 1399"/>
                <a:gd name="T79" fmla="*/ 181 h 446"/>
                <a:gd name="T80" fmla="*/ 1285 w 1399"/>
                <a:gd name="T81" fmla="*/ 152 h 44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399" h="446">
                  <a:moveTo>
                    <a:pt x="0" y="222"/>
                  </a:moveTo>
                  <a:lnTo>
                    <a:pt x="16" y="199"/>
                  </a:lnTo>
                  <a:lnTo>
                    <a:pt x="33" y="175"/>
                  </a:lnTo>
                  <a:lnTo>
                    <a:pt x="49" y="153"/>
                  </a:lnTo>
                  <a:lnTo>
                    <a:pt x="67" y="130"/>
                  </a:lnTo>
                  <a:lnTo>
                    <a:pt x="84" y="109"/>
                  </a:lnTo>
                  <a:lnTo>
                    <a:pt x="103" y="89"/>
                  </a:lnTo>
                  <a:lnTo>
                    <a:pt x="122" y="71"/>
                  </a:lnTo>
                  <a:lnTo>
                    <a:pt x="132" y="62"/>
                  </a:lnTo>
                  <a:lnTo>
                    <a:pt x="143" y="53"/>
                  </a:lnTo>
                  <a:lnTo>
                    <a:pt x="153" y="46"/>
                  </a:lnTo>
                  <a:lnTo>
                    <a:pt x="163" y="38"/>
                  </a:lnTo>
                  <a:lnTo>
                    <a:pt x="173" y="32"/>
                  </a:lnTo>
                  <a:lnTo>
                    <a:pt x="183" y="25"/>
                  </a:lnTo>
                  <a:lnTo>
                    <a:pt x="195" y="20"/>
                  </a:lnTo>
                  <a:lnTo>
                    <a:pt x="207" y="15"/>
                  </a:lnTo>
                  <a:lnTo>
                    <a:pt x="220" y="10"/>
                  </a:lnTo>
                  <a:lnTo>
                    <a:pt x="232" y="7"/>
                  </a:lnTo>
                  <a:lnTo>
                    <a:pt x="245" y="4"/>
                  </a:lnTo>
                  <a:lnTo>
                    <a:pt x="258" y="2"/>
                  </a:lnTo>
                  <a:lnTo>
                    <a:pt x="272" y="0"/>
                  </a:lnTo>
                  <a:lnTo>
                    <a:pt x="287" y="0"/>
                  </a:lnTo>
                  <a:lnTo>
                    <a:pt x="302" y="0"/>
                  </a:lnTo>
                  <a:lnTo>
                    <a:pt x="316" y="1"/>
                  </a:lnTo>
                  <a:lnTo>
                    <a:pt x="332" y="3"/>
                  </a:lnTo>
                  <a:lnTo>
                    <a:pt x="348" y="6"/>
                  </a:lnTo>
                  <a:lnTo>
                    <a:pt x="357" y="8"/>
                  </a:lnTo>
                  <a:lnTo>
                    <a:pt x="366" y="10"/>
                  </a:lnTo>
                  <a:lnTo>
                    <a:pt x="383" y="16"/>
                  </a:lnTo>
                  <a:lnTo>
                    <a:pt x="402" y="24"/>
                  </a:lnTo>
                  <a:lnTo>
                    <a:pt x="421" y="33"/>
                  </a:lnTo>
                  <a:lnTo>
                    <a:pt x="442" y="44"/>
                  </a:lnTo>
                  <a:lnTo>
                    <a:pt x="464" y="56"/>
                  </a:lnTo>
                  <a:lnTo>
                    <a:pt x="484" y="70"/>
                  </a:lnTo>
                  <a:lnTo>
                    <a:pt x="507" y="84"/>
                  </a:lnTo>
                  <a:lnTo>
                    <a:pt x="529" y="99"/>
                  </a:lnTo>
                  <a:lnTo>
                    <a:pt x="553" y="115"/>
                  </a:lnTo>
                  <a:lnTo>
                    <a:pt x="577" y="132"/>
                  </a:lnTo>
                  <a:lnTo>
                    <a:pt x="601" y="149"/>
                  </a:lnTo>
                  <a:lnTo>
                    <a:pt x="626" y="167"/>
                  </a:lnTo>
                  <a:lnTo>
                    <a:pt x="649" y="185"/>
                  </a:lnTo>
                  <a:lnTo>
                    <a:pt x="699" y="222"/>
                  </a:lnTo>
                  <a:lnTo>
                    <a:pt x="748" y="259"/>
                  </a:lnTo>
                  <a:lnTo>
                    <a:pt x="771" y="277"/>
                  </a:lnTo>
                  <a:lnTo>
                    <a:pt x="796" y="295"/>
                  </a:lnTo>
                  <a:lnTo>
                    <a:pt x="820" y="313"/>
                  </a:lnTo>
                  <a:lnTo>
                    <a:pt x="844" y="329"/>
                  </a:lnTo>
                  <a:lnTo>
                    <a:pt x="868" y="345"/>
                  </a:lnTo>
                  <a:lnTo>
                    <a:pt x="890" y="361"/>
                  </a:lnTo>
                  <a:lnTo>
                    <a:pt x="913" y="375"/>
                  </a:lnTo>
                  <a:lnTo>
                    <a:pt x="933" y="388"/>
                  </a:lnTo>
                  <a:lnTo>
                    <a:pt x="955" y="400"/>
                  </a:lnTo>
                  <a:lnTo>
                    <a:pt x="976" y="411"/>
                  </a:lnTo>
                  <a:lnTo>
                    <a:pt x="993" y="420"/>
                  </a:lnTo>
                  <a:lnTo>
                    <a:pt x="1012" y="428"/>
                  </a:lnTo>
                  <a:lnTo>
                    <a:pt x="1030" y="434"/>
                  </a:lnTo>
                  <a:lnTo>
                    <a:pt x="1039" y="436"/>
                  </a:lnTo>
                  <a:lnTo>
                    <a:pt x="1047" y="438"/>
                  </a:lnTo>
                  <a:lnTo>
                    <a:pt x="1063" y="441"/>
                  </a:lnTo>
                  <a:lnTo>
                    <a:pt x="1079" y="443"/>
                  </a:lnTo>
                  <a:lnTo>
                    <a:pt x="1094" y="444"/>
                  </a:lnTo>
                  <a:lnTo>
                    <a:pt x="1109" y="445"/>
                  </a:lnTo>
                  <a:lnTo>
                    <a:pt x="1123" y="444"/>
                  </a:lnTo>
                  <a:lnTo>
                    <a:pt x="1138" y="442"/>
                  </a:lnTo>
                  <a:lnTo>
                    <a:pt x="1151" y="440"/>
                  </a:lnTo>
                  <a:lnTo>
                    <a:pt x="1164" y="437"/>
                  </a:lnTo>
                  <a:lnTo>
                    <a:pt x="1176" y="434"/>
                  </a:lnTo>
                  <a:lnTo>
                    <a:pt x="1189" y="430"/>
                  </a:lnTo>
                  <a:lnTo>
                    <a:pt x="1200" y="425"/>
                  </a:lnTo>
                  <a:lnTo>
                    <a:pt x="1212" y="419"/>
                  </a:lnTo>
                  <a:lnTo>
                    <a:pt x="1224" y="412"/>
                  </a:lnTo>
                  <a:lnTo>
                    <a:pt x="1234" y="406"/>
                  </a:lnTo>
                  <a:lnTo>
                    <a:pt x="1244" y="399"/>
                  </a:lnTo>
                  <a:lnTo>
                    <a:pt x="1256" y="391"/>
                  </a:lnTo>
                  <a:lnTo>
                    <a:pt x="1265" y="383"/>
                  </a:lnTo>
                  <a:lnTo>
                    <a:pt x="1275" y="374"/>
                  </a:lnTo>
                  <a:lnTo>
                    <a:pt x="1294" y="355"/>
                  </a:lnTo>
                  <a:lnTo>
                    <a:pt x="1313" y="335"/>
                  </a:lnTo>
                  <a:lnTo>
                    <a:pt x="1330" y="314"/>
                  </a:lnTo>
                  <a:lnTo>
                    <a:pt x="1348" y="292"/>
                  </a:lnTo>
                  <a:lnTo>
                    <a:pt x="1364" y="269"/>
                  </a:lnTo>
                  <a:lnTo>
                    <a:pt x="1381" y="245"/>
                  </a:lnTo>
                  <a:lnTo>
                    <a:pt x="1398" y="222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7" name="任意多边形 595017"/>
            <p:cNvSpPr>
              <a:spLocks noChangeArrowheads="1"/>
            </p:cNvSpPr>
            <p:nvPr/>
          </p:nvSpPr>
          <p:spPr bwMode="auto">
            <a:xfrm>
              <a:off x="4096" y="974"/>
              <a:ext cx="1407" cy="247"/>
            </a:xfrm>
            <a:custGeom>
              <a:avLst/>
              <a:gdLst>
                <a:gd name="T0" fmla="*/ 25 w 1441"/>
                <a:gd name="T1" fmla="*/ 168 h 289"/>
                <a:gd name="T2" fmla="*/ 52 w 1441"/>
                <a:gd name="T3" fmla="*/ 148 h 289"/>
                <a:gd name="T4" fmla="*/ 74 w 1441"/>
                <a:gd name="T5" fmla="*/ 123 h 289"/>
                <a:gd name="T6" fmla="*/ 94 w 1441"/>
                <a:gd name="T7" fmla="*/ 88 h 289"/>
                <a:gd name="T8" fmla="*/ 123 w 1441"/>
                <a:gd name="T9" fmla="*/ 32 h 289"/>
                <a:gd name="T10" fmla="*/ 143 w 1441"/>
                <a:gd name="T11" fmla="*/ 7 h 289"/>
                <a:gd name="T12" fmla="*/ 167 w 1441"/>
                <a:gd name="T13" fmla="*/ 0 h 289"/>
                <a:gd name="T14" fmla="*/ 181 w 1441"/>
                <a:gd name="T15" fmla="*/ 7 h 289"/>
                <a:gd name="T16" fmla="*/ 205 w 1441"/>
                <a:gd name="T17" fmla="*/ 32 h 289"/>
                <a:gd name="T18" fmla="*/ 235 w 1441"/>
                <a:gd name="T19" fmla="*/ 75 h 289"/>
                <a:gd name="T20" fmla="*/ 280 w 1441"/>
                <a:gd name="T21" fmla="*/ 139 h 289"/>
                <a:gd name="T22" fmla="*/ 310 w 1441"/>
                <a:gd name="T23" fmla="*/ 169 h 289"/>
                <a:gd name="T24" fmla="*/ 327 w 1441"/>
                <a:gd name="T25" fmla="*/ 179 h 289"/>
                <a:gd name="T26" fmla="*/ 343 w 1441"/>
                <a:gd name="T27" fmla="*/ 179 h 289"/>
                <a:gd name="T28" fmla="*/ 358 w 1441"/>
                <a:gd name="T29" fmla="*/ 169 h 289"/>
                <a:gd name="T30" fmla="*/ 387 w 1441"/>
                <a:gd name="T31" fmla="*/ 138 h 289"/>
                <a:gd name="T32" fmla="*/ 429 w 1441"/>
                <a:gd name="T33" fmla="*/ 73 h 289"/>
                <a:gd name="T34" fmla="*/ 461 w 1441"/>
                <a:gd name="T35" fmla="*/ 27 h 289"/>
                <a:gd name="T36" fmla="*/ 484 w 1441"/>
                <a:gd name="T37" fmla="*/ 6 h 289"/>
                <a:gd name="T38" fmla="*/ 500 w 1441"/>
                <a:gd name="T39" fmla="*/ 0 h 289"/>
                <a:gd name="T40" fmla="*/ 516 w 1441"/>
                <a:gd name="T41" fmla="*/ 3 h 289"/>
                <a:gd name="T42" fmla="*/ 533 w 1441"/>
                <a:gd name="T43" fmla="*/ 17 h 289"/>
                <a:gd name="T44" fmla="*/ 565 w 1441"/>
                <a:gd name="T45" fmla="*/ 57 h 289"/>
                <a:gd name="T46" fmla="*/ 607 w 1441"/>
                <a:gd name="T47" fmla="*/ 123 h 289"/>
                <a:gd name="T48" fmla="*/ 639 w 1441"/>
                <a:gd name="T49" fmla="*/ 162 h 289"/>
                <a:gd name="T50" fmla="*/ 657 w 1441"/>
                <a:gd name="T51" fmla="*/ 175 h 289"/>
                <a:gd name="T52" fmla="*/ 672 w 1441"/>
                <a:gd name="T53" fmla="*/ 179 h 289"/>
                <a:gd name="T54" fmla="*/ 688 w 1441"/>
                <a:gd name="T55" fmla="*/ 173 h 289"/>
                <a:gd name="T56" fmla="*/ 711 w 1441"/>
                <a:gd name="T57" fmla="*/ 151 h 289"/>
                <a:gd name="T58" fmla="*/ 743 w 1441"/>
                <a:gd name="T59" fmla="*/ 106 h 289"/>
                <a:gd name="T60" fmla="*/ 785 w 1441"/>
                <a:gd name="T61" fmla="*/ 41 h 289"/>
                <a:gd name="T62" fmla="*/ 813 w 1441"/>
                <a:gd name="T63" fmla="*/ 9 h 289"/>
                <a:gd name="T64" fmla="*/ 829 w 1441"/>
                <a:gd name="T65" fmla="*/ 2 h 289"/>
                <a:gd name="T66" fmla="*/ 846 w 1441"/>
                <a:gd name="T67" fmla="*/ 2 h 289"/>
                <a:gd name="T68" fmla="*/ 861 w 1441"/>
                <a:gd name="T69" fmla="*/ 9 h 289"/>
                <a:gd name="T70" fmla="*/ 890 w 1441"/>
                <a:gd name="T71" fmla="*/ 41 h 289"/>
                <a:gd name="T72" fmla="*/ 931 w 1441"/>
                <a:gd name="T73" fmla="*/ 106 h 289"/>
                <a:gd name="T74" fmla="*/ 964 w 1441"/>
                <a:gd name="T75" fmla="*/ 151 h 289"/>
                <a:gd name="T76" fmla="*/ 987 w 1441"/>
                <a:gd name="T77" fmla="*/ 173 h 289"/>
                <a:gd name="T78" fmla="*/ 1003 w 1441"/>
                <a:gd name="T79" fmla="*/ 179 h 289"/>
                <a:gd name="T80" fmla="*/ 1018 w 1441"/>
                <a:gd name="T81" fmla="*/ 176 h 289"/>
                <a:gd name="T82" fmla="*/ 1037 w 1441"/>
                <a:gd name="T83" fmla="*/ 163 h 289"/>
                <a:gd name="T84" fmla="*/ 1070 w 1441"/>
                <a:gd name="T85" fmla="*/ 123 h 289"/>
                <a:gd name="T86" fmla="*/ 1113 w 1441"/>
                <a:gd name="T87" fmla="*/ 58 h 289"/>
                <a:gd name="T88" fmla="*/ 1144 w 1441"/>
                <a:gd name="T89" fmla="*/ 18 h 289"/>
                <a:gd name="T90" fmla="*/ 1164 w 1441"/>
                <a:gd name="T91" fmla="*/ 3 h 289"/>
                <a:gd name="T92" fmla="*/ 1177 w 1441"/>
                <a:gd name="T93" fmla="*/ 0 h 289"/>
                <a:gd name="T94" fmla="*/ 1203 w 1441"/>
                <a:gd name="T95" fmla="*/ 14 h 289"/>
                <a:gd name="T96" fmla="*/ 1227 w 1441"/>
                <a:gd name="T97" fmla="*/ 44 h 289"/>
                <a:gd name="T98" fmla="*/ 1263 w 1441"/>
                <a:gd name="T99" fmla="*/ 109 h 289"/>
                <a:gd name="T100" fmla="*/ 1281 w 1441"/>
                <a:gd name="T101" fmla="*/ 141 h 289"/>
                <a:gd name="T102" fmla="*/ 1304 w 1441"/>
                <a:gd name="T103" fmla="*/ 166 h 289"/>
                <a:gd name="T104" fmla="*/ 1323 w 1441"/>
                <a:gd name="T105" fmla="*/ 179 h 28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441" h="289">
                  <a:moveTo>
                    <a:pt x="0" y="287"/>
                  </a:moveTo>
                  <a:lnTo>
                    <a:pt x="7" y="282"/>
                  </a:lnTo>
                  <a:lnTo>
                    <a:pt x="15" y="277"/>
                  </a:lnTo>
                  <a:lnTo>
                    <a:pt x="19" y="275"/>
                  </a:lnTo>
                  <a:lnTo>
                    <a:pt x="24" y="272"/>
                  </a:lnTo>
                  <a:lnTo>
                    <a:pt x="28" y="268"/>
                  </a:lnTo>
                  <a:lnTo>
                    <a:pt x="32" y="264"/>
                  </a:lnTo>
                  <a:lnTo>
                    <a:pt x="37" y="260"/>
                  </a:lnTo>
                  <a:lnTo>
                    <a:pt x="41" y="256"/>
                  </a:lnTo>
                  <a:lnTo>
                    <a:pt x="46" y="251"/>
                  </a:lnTo>
                  <a:lnTo>
                    <a:pt x="51" y="245"/>
                  </a:lnTo>
                  <a:lnTo>
                    <a:pt x="55" y="238"/>
                  </a:lnTo>
                  <a:lnTo>
                    <a:pt x="61" y="231"/>
                  </a:lnTo>
                  <a:lnTo>
                    <a:pt x="66" y="224"/>
                  </a:lnTo>
                  <a:lnTo>
                    <a:pt x="72" y="215"/>
                  </a:lnTo>
                  <a:lnTo>
                    <a:pt x="75" y="210"/>
                  </a:lnTo>
                  <a:lnTo>
                    <a:pt x="77" y="205"/>
                  </a:lnTo>
                  <a:lnTo>
                    <a:pt x="80" y="198"/>
                  </a:lnTo>
                  <a:lnTo>
                    <a:pt x="83" y="192"/>
                  </a:lnTo>
                  <a:lnTo>
                    <a:pt x="86" y="184"/>
                  </a:lnTo>
                  <a:lnTo>
                    <a:pt x="88" y="176"/>
                  </a:lnTo>
                  <a:lnTo>
                    <a:pt x="91" y="168"/>
                  </a:lnTo>
                  <a:lnTo>
                    <a:pt x="94" y="160"/>
                  </a:lnTo>
                  <a:lnTo>
                    <a:pt x="100" y="142"/>
                  </a:lnTo>
                  <a:lnTo>
                    <a:pt x="106" y="123"/>
                  </a:lnTo>
                  <a:lnTo>
                    <a:pt x="112" y="104"/>
                  </a:lnTo>
                  <a:lnTo>
                    <a:pt x="119" y="85"/>
                  </a:lnTo>
                  <a:lnTo>
                    <a:pt x="125" y="67"/>
                  </a:lnTo>
                  <a:lnTo>
                    <a:pt x="129" y="58"/>
                  </a:lnTo>
                  <a:lnTo>
                    <a:pt x="132" y="50"/>
                  </a:lnTo>
                  <a:lnTo>
                    <a:pt x="135" y="42"/>
                  </a:lnTo>
                  <a:lnTo>
                    <a:pt x="139" y="35"/>
                  </a:lnTo>
                  <a:lnTo>
                    <a:pt x="143" y="28"/>
                  </a:lnTo>
                  <a:lnTo>
                    <a:pt x="146" y="22"/>
                  </a:lnTo>
                  <a:lnTo>
                    <a:pt x="150" y="16"/>
                  </a:lnTo>
                  <a:lnTo>
                    <a:pt x="154" y="11"/>
                  </a:lnTo>
                  <a:lnTo>
                    <a:pt x="158" y="7"/>
                  </a:lnTo>
                  <a:lnTo>
                    <a:pt x="162" y="4"/>
                  </a:lnTo>
                  <a:lnTo>
                    <a:pt x="166" y="1"/>
                  </a:lnTo>
                  <a:lnTo>
                    <a:pt x="171" y="0"/>
                  </a:lnTo>
                  <a:lnTo>
                    <a:pt x="175" y="0"/>
                  </a:lnTo>
                  <a:lnTo>
                    <a:pt x="179" y="0"/>
                  </a:lnTo>
                  <a:lnTo>
                    <a:pt x="182" y="1"/>
                  </a:lnTo>
                  <a:lnTo>
                    <a:pt x="184" y="2"/>
                  </a:lnTo>
                  <a:lnTo>
                    <a:pt x="186" y="3"/>
                  </a:lnTo>
                  <a:lnTo>
                    <a:pt x="189" y="5"/>
                  </a:lnTo>
                  <a:lnTo>
                    <a:pt x="191" y="7"/>
                  </a:lnTo>
                  <a:lnTo>
                    <a:pt x="194" y="10"/>
                  </a:lnTo>
                  <a:lnTo>
                    <a:pt x="196" y="12"/>
                  </a:lnTo>
                  <a:lnTo>
                    <a:pt x="199" y="16"/>
                  </a:lnTo>
                  <a:lnTo>
                    <a:pt x="203" y="23"/>
                  </a:lnTo>
                  <a:lnTo>
                    <a:pt x="209" y="31"/>
                  </a:lnTo>
                  <a:lnTo>
                    <a:pt x="214" y="40"/>
                  </a:lnTo>
                  <a:lnTo>
                    <a:pt x="220" y="50"/>
                  </a:lnTo>
                  <a:lnTo>
                    <a:pt x="225" y="60"/>
                  </a:lnTo>
                  <a:lnTo>
                    <a:pt x="231" y="72"/>
                  </a:lnTo>
                  <a:lnTo>
                    <a:pt x="236" y="84"/>
                  </a:lnTo>
                  <a:lnTo>
                    <a:pt x="242" y="96"/>
                  </a:lnTo>
                  <a:lnTo>
                    <a:pt x="247" y="109"/>
                  </a:lnTo>
                  <a:lnTo>
                    <a:pt x="253" y="121"/>
                  </a:lnTo>
                  <a:lnTo>
                    <a:pt x="265" y="148"/>
                  </a:lnTo>
                  <a:lnTo>
                    <a:pt x="277" y="174"/>
                  </a:lnTo>
                  <a:lnTo>
                    <a:pt x="283" y="187"/>
                  </a:lnTo>
                  <a:lnTo>
                    <a:pt x="289" y="199"/>
                  </a:lnTo>
                  <a:lnTo>
                    <a:pt x="295" y="211"/>
                  </a:lnTo>
                  <a:lnTo>
                    <a:pt x="301" y="223"/>
                  </a:lnTo>
                  <a:lnTo>
                    <a:pt x="307" y="233"/>
                  </a:lnTo>
                  <a:lnTo>
                    <a:pt x="313" y="244"/>
                  </a:lnTo>
                  <a:lnTo>
                    <a:pt x="318" y="253"/>
                  </a:lnTo>
                  <a:lnTo>
                    <a:pt x="324" y="261"/>
                  </a:lnTo>
                  <a:lnTo>
                    <a:pt x="330" y="269"/>
                  </a:lnTo>
                  <a:lnTo>
                    <a:pt x="333" y="272"/>
                  </a:lnTo>
                  <a:lnTo>
                    <a:pt x="336" y="275"/>
                  </a:lnTo>
                  <a:lnTo>
                    <a:pt x="339" y="278"/>
                  </a:lnTo>
                  <a:lnTo>
                    <a:pt x="342" y="280"/>
                  </a:lnTo>
                  <a:lnTo>
                    <a:pt x="345" y="282"/>
                  </a:lnTo>
                  <a:lnTo>
                    <a:pt x="348" y="284"/>
                  </a:lnTo>
                  <a:lnTo>
                    <a:pt x="351" y="285"/>
                  </a:lnTo>
                  <a:lnTo>
                    <a:pt x="354" y="286"/>
                  </a:lnTo>
                  <a:lnTo>
                    <a:pt x="357" y="286"/>
                  </a:lnTo>
                  <a:lnTo>
                    <a:pt x="359" y="287"/>
                  </a:lnTo>
                  <a:lnTo>
                    <a:pt x="362" y="286"/>
                  </a:lnTo>
                  <a:lnTo>
                    <a:pt x="365" y="286"/>
                  </a:lnTo>
                  <a:lnTo>
                    <a:pt x="368" y="285"/>
                  </a:lnTo>
                  <a:lnTo>
                    <a:pt x="371" y="283"/>
                  </a:lnTo>
                  <a:lnTo>
                    <a:pt x="374" y="281"/>
                  </a:lnTo>
                  <a:lnTo>
                    <a:pt x="376" y="280"/>
                  </a:lnTo>
                  <a:lnTo>
                    <a:pt x="379" y="277"/>
                  </a:lnTo>
                  <a:lnTo>
                    <a:pt x="382" y="275"/>
                  </a:lnTo>
                  <a:lnTo>
                    <a:pt x="385" y="271"/>
                  </a:lnTo>
                  <a:lnTo>
                    <a:pt x="388" y="268"/>
                  </a:lnTo>
                  <a:lnTo>
                    <a:pt x="393" y="260"/>
                  </a:lnTo>
                  <a:lnTo>
                    <a:pt x="399" y="251"/>
                  </a:lnTo>
                  <a:lnTo>
                    <a:pt x="404" y="242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09"/>
                  </a:lnTo>
                  <a:lnTo>
                    <a:pt x="427" y="196"/>
                  </a:lnTo>
                  <a:lnTo>
                    <a:pt x="433" y="183"/>
                  </a:lnTo>
                  <a:lnTo>
                    <a:pt x="438" y="170"/>
                  </a:lnTo>
                  <a:lnTo>
                    <a:pt x="450" y="143"/>
                  </a:lnTo>
                  <a:lnTo>
                    <a:pt x="461" y="117"/>
                  </a:lnTo>
                  <a:lnTo>
                    <a:pt x="466" y="104"/>
                  </a:lnTo>
                  <a:lnTo>
                    <a:pt x="472" y="91"/>
                  </a:lnTo>
                  <a:lnTo>
                    <a:pt x="478" y="78"/>
                  </a:lnTo>
                  <a:lnTo>
                    <a:pt x="483" y="66"/>
                  </a:lnTo>
                  <a:lnTo>
                    <a:pt x="489" y="55"/>
                  </a:lnTo>
                  <a:lnTo>
                    <a:pt x="495" y="45"/>
                  </a:lnTo>
                  <a:lnTo>
                    <a:pt x="500" y="35"/>
                  </a:lnTo>
                  <a:lnTo>
                    <a:pt x="506" y="27"/>
                  </a:lnTo>
                  <a:lnTo>
                    <a:pt x="511" y="19"/>
                  </a:lnTo>
                  <a:lnTo>
                    <a:pt x="514" y="15"/>
                  </a:lnTo>
                  <a:lnTo>
                    <a:pt x="517" y="12"/>
                  </a:lnTo>
                  <a:lnTo>
                    <a:pt x="520" y="9"/>
                  </a:lnTo>
                  <a:lnTo>
                    <a:pt x="522" y="7"/>
                  </a:lnTo>
                  <a:lnTo>
                    <a:pt x="525" y="5"/>
                  </a:lnTo>
                  <a:lnTo>
                    <a:pt x="528" y="3"/>
                  </a:lnTo>
                  <a:lnTo>
                    <a:pt x="531" y="2"/>
                  </a:lnTo>
                  <a:lnTo>
                    <a:pt x="534" y="1"/>
                  </a:lnTo>
                  <a:lnTo>
                    <a:pt x="537" y="0"/>
                  </a:lnTo>
                  <a:lnTo>
                    <a:pt x="539" y="0"/>
                  </a:lnTo>
                  <a:lnTo>
                    <a:pt x="542" y="0"/>
                  </a:lnTo>
                  <a:lnTo>
                    <a:pt x="545" y="1"/>
                  </a:lnTo>
                  <a:lnTo>
                    <a:pt x="548" y="2"/>
                  </a:lnTo>
                  <a:lnTo>
                    <a:pt x="551" y="3"/>
                  </a:lnTo>
                  <a:lnTo>
                    <a:pt x="554" y="5"/>
                  </a:lnTo>
                  <a:lnTo>
                    <a:pt x="556" y="7"/>
                  </a:lnTo>
                  <a:lnTo>
                    <a:pt x="559" y="9"/>
                  </a:lnTo>
                  <a:lnTo>
                    <a:pt x="562" y="12"/>
                  </a:lnTo>
                  <a:lnTo>
                    <a:pt x="565" y="15"/>
                  </a:lnTo>
                  <a:lnTo>
                    <a:pt x="568" y="19"/>
                  </a:lnTo>
                  <a:lnTo>
                    <a:pt x="573" y="27"/>
                  </a:lnTo>
                  <a:lnTo>
                    <a:pt x="579" y="35"/>
                  </a:lnTo>
                  <a:lnTo>
                    <a:pt x="584" y="45"/>
                  </a:lnTo>
                  <a:lnTo>
                    <a:pt x="590" y="55"/>
                  </a:lnTo>
                  <a:lnTo>
                    <a:pt x="596" y="66"/>
                  </a:lnTo>
                  <a:lnTo>
                    <a:pt x="601" y="78"/>
                  </a:lnTo>
                  <a:lnTo>
                    <a:pt x="607" y="91"/>
                  </a:lnTo>
                  <a:lnTo>
                    <a:pt x="613" y="104"/>
                  </a:lnTo>
                  <a:lnTo>
                    <a:pt x="618" y="117"/>
                  </a:lnTo>
                  <a:lnTo>
                    <a:pt x="630" y="143"/>
                  </a:lnTo>
                  <a:lnTo>
                    <a:pt x="641" y="170"/>
                  </a:lnTo>
                  <a:lnTo>
                    <a:pt x="646" y="183"/>
                  </a:lnTo>
                  <a:lnTo>
                    <a:pt x="652" y="196"/>
                  </a:lnTo>
                  <a:lnTo>
                    <a:pt x="658" y="209"/>
                  </a:lnTo>
                  <a:lnTo>
                    <a:pt x="663" y="220"/>
                  </a:lnTo>
                  <a:lnTo>
                    <a:pt x="669" y="231"/>
                  </a:lnTo>
                  <a:lnTo>
                    <a:pt x="675" y="242"/>
                  </a:lnTo>
                  <a:lnTo>
                    <a:pt x="680" y="251"/>
                  </a:lnTo>
                  <a:lnTo>
                    <a:pt x="686" y="260"/>
                  </a:lnTo>
                  <a:lnTo>
                    <a:pt x="692" y="268"/>
                  </a:lnTo>
                  <a:lnTo>
                    <a:pt x="695" y="271"/>
                  </a:lnTo>
                  <a:lnTo>
                    <a:pt x="697" y="275"/>
                  </a:lnTo>
                  <a:lnTo>
                    <a:pt x="700" y="277"/>
                  </a:lnTo>
                  <a:lnTo>
                    <a:pt x="703" y="280"/>
                  </a:lnTo>
                  <a:lnTo>
                    <a:pt x="706" y="281"/>
                  </a:lnTo>
                  <a:lnTo>
                    <a:pt x="708" y="283"/>
                  </a:lnTo>
                  <a:lnTo>
                    <a:pt x="711" y="285"/>
                  </a:lnTo>
                  <a:lnTo>
                    <a:pt x="714" y="286"/>
                  </a:lnTo>
                  <a:lnTo>
                    <a:pt x="717" y="286"/>
                  </a:lnTo>
                  <a:lnTo>
                    <a:pt x="719" y="287"/>
                  </a:lnTo>
                  <a:lnTo>
                    <a:pt x="722" y="286"/>
                  </a:lnTo>
                  <a:lnTo>
                    <a:pt x="725" y="286"/>
                  </a:lnTo>
                  <a:lnTo>
                    <a:pt x="728" y="285"/>
                  </a:lnTo>
                  <a:lnTo>
                    <a:pt x="731" y="283"/>
                  </a:lnTo>
                  <a:lnTo>
                    <a:pt x="734" y="281"/>
                  </a:lnTo>
                  <a:lnTo>
                    <a:pt x="736" y="280"/>
                  </a:lnTo>
                  <a:lnTo>
                    <a:pt x="739" y="277"/>
                  </a:lnTo>
                  <a:lnTo>
                    <a:pt x="742" y="275"/>
                  </a:lnTo>
                  <a:lnTo>
                    <a:pt x="745" y="271"/>
                  </a:lnTo>
                  <a:lnTo>
                    <a:pt x="747" y="268"/>
                  </a:lnTo>
                  <a:lnTo>
                    <a:pt x="753" y="260"/>
                  </a:lnTo>
                  <a:lnTo>
                    <a:pt x="759" y="251"/>
                  </a:lnTo>
                  <a:lnTo>
                    <a:pt x="764" y="242"/>
                  </a:lnTo>
                  <a:lnTo>
                    <a:pt x="770" y="231"/>
                  </a:lnTo>
                  <a:lnTo>
                    <a:pt x="776" y="220"/>
                  </a:lnTo>
                  <a:lnTo>
                    <a:pt x="781" y="209"/>
                  </a:lnTo>
                  <a:lnTo>
                    <a:pt x="787" y="196"/>
                  </a:lnTo>
                  <a:lnTo>
                    <a:pt x="793" y="183"/>
                  </a:lnTo>
                  <a:lnTo>
                    <a:pt x="798" y="170"/>
                  </a:lnTo>
                  <a:lnTo>
                    <a:pt x="809" y="143"/>
                  </a:lnTo>
                  <a:lnTo>
                    <a:pt x="821" y="117"/>
                  </a:lnTo>
                  <a:lnTo>
                    <a:pt x="826" y="104"/>
                  </a:lnTo>
                  <a:lnTo>
                    <a:pt x="832" y="91"/>
                  </a:lnTo>
                  <a:lnTo>
                    <a:pt x="838" y="78"/>
                  </a:lnTo>
                  <a:lnTo>
                    <a:pt x="843" y="66"/>
                  </a:lnTo>
                  <a:lnTo>
                    <a:pt x="849" y="55"/>
                  </a:lnTo>
                  <a:lnTo>
                    <a:pt x="855" y="45"/>
                  </a:lnTo>
                  <a:lnTo>
                    <a:pt x="860" y="35"/>
                  </a:lnTo>
                  <a:lnTo>
                    <a:pt x="866" y="27"/>
                  </a:lnTo>
                  <a:lnTo>
                    <a:pt x="871" y="19"/>
                  </a:lnTo>
                  <a:lnTo>
                    <a:pt x="874" y="15"/>
                  </a:lnTo>
                  <a:lnTo>
                    <a:pt x="877" y="12"/>
                  </a:lnTo>
                  <a:lnTo>
                    <a:pt x="880" y="9"/>
                  </a:lnTo>
                  <a:lnTo>
                    <a:pt x="883" y="7"/>
                  </a:lnTo>
                  <a:lnTo>
                    <a:pt x="886" y="5"/>
                  </a:lnTo>
                  <a:lnTo>
                    <a:pt x="888" y="3"/>
                  </a:lnTo>
                  <a:lnTo>
                    <a:pt x="891" y="2"/>
                  </a:lnTo>
                  <a:lnTo>
                    <a:pt x="894" y="1"/>
                  </a:lnTo>
                  <a:lnTo>
                    <a:pt x="897" y="0"/>
                  </a:lnTo>
                  <a:lnTo>
                    <a:pt x="900" y="0"/>
                  </a:lnTo>
                  <a:lnTo>
                    <a:pt x="903" y="0"/>
                  </a:lnTo>
                  <a:lnTo>
                    <a:pt x="905" y="1"/>
                  </a:lnTo>
                  <a:lnTo>
                    <a:pt x="908" y="2"/>
                  </a:lnTo>
                  <a:lnTo>
                    <a:pt x="911" y="3"/>
                  </a:lnTo>
                  <a:lnTo>
                    <a:pt x="914" y="5"/>
                  </a:lnTo>
                  <a:lnTo>
                    <a:pt x="917" y="7"/>
                  </a:lnTo>
                  <a:lnTo>
                    <a:pt x="920" y="9"/>
                  </a:lnTo>
                  <a:lnTo>
                    <a:pt x="922" y="12"/>
                  </a:lnTo>
                  <a:lnTo>
                    <a:pt x="925" y="15"/>
                  </a:lnTo>
                  <a:lnTo>
                    <a:pt x="927" y="19"/>
                  </a:lnTo>
                  <a:lnTo>
                    <a:pt x="933" y="27"/>
                  </a:lnTo>
                  <a:lnTo>
                    <a:pt x="939" y="35"/>
                  </a:lnTo>
                  <a:lnTo>
                    <a:pt x="944" y="45"/>
                  </a:lnTo>
                  <a:lnTo>
                    <a:pt x="950" y="55"/>
                  </a:lnTo>
                  <a:lnTo>
                    <a:pt x="956" y="66"/>
                  </a:lnTo>
                  <a:lnTo>
                    <a:pt x="961" y="78"/>
                  </a:lnTo>
                  <a:lnTo>
                    <a:pt x="967" y="91"/>
                  </a:lnTo>
                  <a:lnTo>
                    <a:pt x="973" y="104"/>
                  </a:lnTo>
                  <a:lnTo>
                    <a:pt x="978" y="117"/>
                  </a:lnTo>
                  <a:lnTo>
                    <a:pt x="989" y="143"/>
                  </a:lnTo>
                  <a:lnTo>
                    <a:pt x="1001" y="170"/>
                  </a:lnTo>
                  <a:lnTo>
                    <a:pt x="1006" y="183"/>
                  </a:lnTo>
                  <a:lnTo>
                    <a:pt x="1012" y="196"/>
                  </a:lnTo>
                  <a:lnTo>
                    <a:pt x="1018" y="209"/>
                  </a:lnTo>
                  <a:lnTo>
                    <a:pt x="1023" y="220"/>
                  </a:lnTo>
                  <a:lnTo>
                    <a:pt x="1029" y="231"/>
                  </a:lnTo>
                  <a:lnTo>
                    <a:pt x="1035" y="242"/>
                  </a:lnTo>
                  <a:lnTo>
                    <a:pt x="1040" y="251"/>
                  </a:lnTo>
                  <a:lnTo>
                    <a:pt x="1046" y="260"/>
                  </a:lnTo>
                  <a:lnTo>
                    <a:pt x="1051" y="268"/>
                  </a:lnTo>
                  <a:lnTo>
                    <a:pt x="1054" y="271"/>
                  </a:lnTo>
                  <a:lnTo>
                    <a:pt x="1057" y="275"/>
                  </a:lnTo>
                  <a:lnTo>
                    <a:pt x="1060" y="277"/>
                  </a:lnTo>
                  <a:lnTo>
                    <a:pt x="1063" y="280"/>
                  </a:lnTo>
                  <a:lnTo>
                    <a:pt x="1066" y="281"/>
                  </a:lnTo>
                  <a:lnTo>
                    <a:pt x="1068" y="283"/>
                  </a:lnTo>
                  <a:lnTo>
                    <a:pt x="1071" y="285"/>
                  </a:lnTo>
                  <a:lnTo>
                    <a:pt x="1074" y="286"/>
                  </a:lnTo>
                  <a:lnTo>
                    <a:pt x="1077" y="286"/>
                  </a:lnTo>
                  <a:lnTo>
                    <a:pt x="1080" y="287"/>
                  </a:lnTo>
                  <a:lnTo>
                    <a:pt x="1083" y="286"/>
                  </a:lnTo>
                  <a:lnTo>
                    <a:pt x="1085" y="286"/>
                  </a:lnTo>
                  <a:lnTo>
                    <a:pt x="1088" y="285"/>
                  </a:lnTo>
                  <a:lnTo>
                    <a:pt x="1091" y="284"/>
                  </a:lnTo>
                  <a:lnTo>
                    <a:pt x="1094" y="282"/>
                  </a:lnTo>
                  <a:lnTo>
                    <a:pt x="1097" y="280"/>
                  </a:lnTo>
                  <a:lnTo>
                    <a:pt x="1100" y="278"/>
                  </a:lnTo>
                  <a:lnTo>
                    <a:pt x="1103" y="275"/>
                  </a:lnTo>
                  <a:lnTo>
                    <a:pt x="1106" y="272"/>
                  </a:lnTo>
                  <a:lnTo>
                    <a:pt x="1109" y="269"/>
                  </a:lnTo>
                  <a:lnTo>
                    <a:pt x="1114" y="261"/>
                  </a:lnTo>
                  <a:lnTo>
                    <a:pt x="1120" y="252"/>
                  </a:lnTo>
                  <a:lnTo>
                    <a:pt x="1126" y="243"/>
                  </a:lnTo>
                  <a:lnTo>
                    <a:pt x="1131" y="233"/>
                  </a:lnTo>
                  <a:lnTo>
                    <a:pt x="1137" y="222"/>
                  </a:lnTo>
                  <a:lnTo>
                    <a:pt x="1143" y="210"/>
                  </a:lnTo>
                  <a:lnTo>
                    <a:pt x="1149" y="198"/>
                  </a:lnTo>
                  <a:lnTo>
                    <a:pt x="1155" y="185"/>
                  </a:lnTo>
                  <a:lnTo>
                    <a:pt x="1161" y="172"/>
                  </a:lnTo>
                  <a:lnTo>
                    <a:pt x="1173" y="146"/>
                  </a:lnTo>
                  <a:lnTo>
                    <a:pt x="1184" y="119"/>
                  </a:lnTo>
                  <a:lnTo>
                    <a:pt x="1190" y="107"/>
                  </a:lnTo>
                  <a:lnTo>
                    <a:pt x="1196" y="94"/>
                  </a:lnTo>
                  <a:lnTo>
                    <a:pt x="1202" y="81"/>
                  </a:lnTo>
                  <a:lnTo>
                    <a:pt x="1207" y="69"/>
                  </a:lnTo>
                  <a:lnTo>
                    <a:pt x="1213" y="58"/>
                  </a:lnTo>
                  <a:lnTo>
                    <a:pt x="1218" y="48"/>
                  </a:lnTo>
                  <a:lnTo>
                    <a:pt x="1224" y="38"/>
                  </a:lnTo>
                  <a:lnTo>
                    <a:pt x="1229" y="29"/>
                  </a:lnTo>
                  <a:lnTo>
                    <a:pt x="1234" y="21"/>
                  </a:lnTo>
                  <a:lnTo>
                    <a:pt x="1240" y="14"/>
                  </a:lnTo>
                  <a:lnTo>
                    <a:pt x="1242" y="11"/>
                  </a:lnTo>
                  <a:lnTo>
                    <a:pt x="1245" y="9"/>
                  </a:lnTo>
                  <a:lnTo>
                    <a:pt x="1247" y="6"/>
                  </a:lnTo>
                  <a:lnTo>
                    <a:pt x="1250" y="4"/>
                  </a:lnTo>
                  <a:lnTo>
                    <a:pt x="1252" y="3"/>
                  </a:lnTo>
                  <a:lnTo>
                    <a:pt x="1255" y="1"/>
                  </a:lnTo>
                  <a:lnTo>
                    <a:pt x="1257" y="1"/>
                  </a:lnTo>
                  <a:lnTo>
                    <a:pt x="1260" y="0"/>
                  </a:lnTo>
                  <a:lnTo>
                    <a:pt x="1262" y="0"/>
                  </a:lnTo>
                  <a:lnTo>
                    <a:pt x="1264" y="0"/>
                  </a:lnTo>
                  <a:lnTo>
                    <a:pt x="1269" y="1"/>
                  </a:lnTo>
                  <a:lnTo>
                    <a:pt x="1274" y="3"/>
                  </a:lnTo>
                  <a:lnTo>
                    <a:pt x="1278" y="6"/>
                  </a:lnTo>
                  <a:lnTo>
                    <a:pt x="1283" y="11"/>
                  </a:lnTo>
                  <a:lnTo>
                    <a:pt x="1288" y="16"/>
                  </a:lnTo>
                  <a:lnTo>
                    <a:pt x="1292" y="22"/>
                  </a:lnTo>
                  <a:lnTo>
                    <a:pt x="1297" y="28"/>
                  </a:lnTo>
                  <a:lnTo>
                    <a:pt x="1301" y="36"/>
                  </a:lnTo>
                  <a:lnTo>
                    <a:pt x="1305" y="44"/>
                  </a:lnTo>
                  <a:lnTo>
                    <a:pt x="1310" y="52"/>
                  </a:lnTo>
                  <a:lnTo>
                    <a:pt x="1314" y="61"/>
                  </a:lnTo>
                  <a:lnTo>
                    <a:pt x="1318" y="71"/>
                  </a:lnTo>
                  <a:lnTo>
                    <a:pt x="1322" y="81"/>
                  </a:lnTo>
                  <a:lnTo>
                    <a:pt x="1331" y="101"/>
                  </a:lnTo>
                  <a:lnTo>
                    <a:pt x="1338" y="122"/>
                  </a:lnTo>
                  <a:lnTo>
                    <a:pt x="1346" y="144"/>
                  </a:lnTo>
                  <a:lnTo>
                    <a:pt x="1353" y="165"/>
                  </a:lnTo>
                  <a:lnTo>
                    <a:pt x="1357" y="175"/>
                  </a:lnTo>
                  <a:lnTo>
                    <a:pt x="1360" y="184"/>
                  </a:lnTo>
                  <a:lnTo>
                    <a:pt x="1364" y="194"/>
                  </a:lnTo>
                  <a:lnTo>
                    <a:pt x="1367" y="203"/>
                  </a:lnTo>
                  <a:lnTo>
                    <a:pt x="1370" y="212"/>
                  </a:lnTo>
                  <a:lnTo>
                    <a:pt x="1373" y="219"/>
                  </a:lnTo>
                  <a:lnTo>
                    <a:pt x="1376" y="226"/>
                  </a:lnTo>
                  <a:lnTo>
                    <a:pt x="1380" y="233"/>
                  </a:lnTo>
                  <a:lnTo>
                    <a:pt x="1382" y="239"/>
                  </a:lnTo>
                  <a:lnTo>
                    <a:pt x="1385" y="244"/>
                  </a:lnTo>
                  <a:lnTo>
                    <a:pt x="1391" y="252"/>
                  </a:lnTo>
                  <a:lnTo>
                    <a:pt x="1396" y="259"/>
                  </a:lnTo>
                  <a:lnTo>
                    <a:pt x="1400" y="266"/>
                  </a:lnTo>
                  <a:lnTo>
                    <a:pt x="1405" y="271"/>
                  </a:lnTo>
                  <a:lnTo>
                    <a:pt x="1409" y="275"/>
                  </a:lnTo>
                  <a:lnTo>
                    <a:pt x="1412" y="279"/>
                  </a:lnTo>
                  <a:lnTo>
                    <a:pt x="1416" y="282"/>
                  </a:lnTo>
                  <a:lnTo>
                    <a:pt x="1419" y="284"/>
                  </a:lnTo>
                  <a:lnTo>
                    <a:pt x="1422" y="285"/>
                  </a:lnTo>
                  <a:lnTo>
                    <a:pt x="1425" y="287"/>
                  </a:lnTo>
                  <a:lnTo>
                    <a:pt x="1428" y="287"/>
                  </a:lnTo>
                  <a:lnTo>
                    <a:pt x="1430" y="288"/>
                  </a:lnTo>
                  <a:lnTo>
                    <a:pt x="1435" y="288"/>
                  </a:lnTo>
                  <a:lnTo>
                    <a:pt x="1440" y="287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8" name="任意多边形 595018"/>
            <p:cNvSpPr>
              <a:spLocks noChangeArrowheads="1"/>
            </p:cNvSpPr>
            <p:nvPr/>
          </p:nvSpPr>
          <p:spPr bwMode="auto">
            <a:xfrm>
              <a:off x="4095" y="2284"/>
              <a:ext cx="1408" cy="205"/>
            </a:xfrm>
            <a:custGeom>
              <a:avLst/>
              <a:gdLst>
                <a:gd name="T0" fmla="*/ 15 w 1442"/>
                <a:gd name="T1" fmla="*/ 147 h 241"/>
                <a:gd name="T2" fmla="*/ 28 w 1442"/>
                <a:gd name="T3" fmla="*/ 145 h 241"/>
                <a:gd name="T4" fmla="*/ 49 w 1442"/>
                <a:gd name="T5" fmla="*/ 136 h 241"/>
                <a:gd name="T6" fmla="*/ 70 w 1442"/>
                <a:gd name="T7" fmla="*/ 122 h 241"/>
                <a:gd name="T8" fmla="*/ 86 w 1442"/>
                <a:gd name="T9" fmla="*/ 109 h 241"/>
                <a:gd name="T10" fmla="*/ 102 w 1442"/>
                <a:gd name="T11" fmla="*/ 89 h 241"/>
                <a:gd name="T12" fmla="*/ 136 w 1442"/>
                <a:gd name="T13" fmla="*/ 51 h 241"/>
                <a:gd name="T14" fmla="*/ 160 w 1442"/>
                <a:gd name="T15" fmla="*/ 26 h 241"/>
                <a:gd name="T16" fmla="*/ 182 w 1442"/>
                <a:gd name="T17" fmla="*/ 11 h 241"/>
                <a:gd name="T18" fmla="*/ 206 w 1442"/>
                <a:gd name="T19" fmla="*/ 3 h 241"/>
                <a:gd name="T20" fmla="*/ 223 w 1442"/>
                <a:gd name="T21" fmla="*/ 0 h 241"/>
                <a:gd name="T22" fmla="*/ 235 w 1442"/>
                <a:gd name="T23" fmla="*/ 3 h 241"/>
                <a:gd name="T24" fmla="*/ 248 w 1442"/>
                <a:gd name="T25" fmla="*/ 8 h 241"/>
                <a:gd name="T26" fmla="*/ 274 w 1442"/>
                <a:gd name="T27" fmla="*/ 25 h 241"/>
                <a:gd name="T28" fmla="*/ 302 w 1442"/>
                <a:gd name="T29" fmla="*/ 48 h 241"/>
                <a:gd name="T30" fmla="*/ 345 w 1442"/>
                <a:gd name="T31" fmla="*/ 88 h 241"/>
                <a:gd name="T32" fmla="*/ 375 w 1442"/>
                <a:gd name="T33" fmla="*/ 114 h 241"/>
                <a:gd name="T34" fmla="*/ 404 w 1442"/>
                <a:gd name="T35" fmla="*/ 134 h 241"/>
                <a:gd name="T36" fmla="*/ 422 w 1442"/>
                <a:gd name="T37" fmla="*/ 142 h 241"/>
                <a:gd name="T38" fmla="*/ 435 w 1442"/>
                <a:gd name="T39" fmla="*/ 146 h 241"/>
                <a:gd name="T40" fmla="*/ 451 w 1442"/>
                <a:gd name="T41" fmla="*/ 146 h 241"/>
                <a:gd name="T42" fmla="*/ 465 w 1442"/>
                <a:gd name="T43" fmla="*/ 144 h 241"/>
                <a:gd name="T44" fmla="*/ 478 w 1442"/>
                <a:gd name="T45" fmla="*/ 139 h 241"/>
                <a:gd name="T46" fmla="*/ 503 w 1442"/>
                <a:gd name="T47" fmla="*/ 123 h 241"/>
                <a:gd name="T48" fmla="*/ 531 w 1442"/>
                <a:gd name="T49" fmla="*/ 100 h 241"/>
                <a:gd name="T50" fmla="*/ 572 w 1442"/>
                <a:gd name="T51" fmla="*/ 60 h 241"/>
                <a:gd name="T52" fmla="*/ 600 w 1442"/>
                <a:gd name="T53" fmla="*/ 34 h 241"/>
                <a:gd name="T54" fmla="*/ 628 w 1442"/>
                <a:gd name="T55" fmla="*/ 14 h 241"/>
                <a:gd name="T56" fmla="*/ 646 w 1442"/>
                <a:gd name="T57" fmla="*/ 5 h 241"/>
                <a:gd name="T58" fmla="*/ 660 w 1442"/>
                <a:gd name="T59" fmla="*/ 1 h 241"/>
                <a:gd name="T60" fmla="*/ 674 w 1442"/>
                <a:gd name="T61" fmla="*/ 0 h 241"/>
                <a:gd name="T62" fmla="*/ 688 w 1442"/>
                <a:gd name="T63" fmla="*/ 3 h 241"/>
                <a:gd name="T64" fmla="*/ 702 w 1442"/>
                <a:gd name="T65" fmla="*/ 8 h 241"/>
                <a:gd name="T66" fmla="*/ 726 w 1442"/>
                <a:gd name="T67" fmla="*/ 22 h 241"/>
                <a:gd name="T68" fmla="*/ 754 w 1442"/>
                <a:gd name="T69" fmla="*/ 47 h 241"/>
                <a:gd name="T70" fmla="*/ 796 w 1442"/>
                <a:gd name="T71" fmla="*/ 88 h 241"/>
                <a:gd name="T72" fmla="*/ 824 w 1442"/>
                <a:gd name="T73" fmla="*/ 113 h 241"/>
                <a:gd name="T74" fmla="*/ 851 w 1442"/>
                <a:gd name="T75" fmla="*/ 134 h 241"/>
                <a:gd name="T76" fmla="*/ 869 w 1442"/>
                <a:gd name="T77" fmla="*/ 142 h 241"/>
                <a:gd name="T78" fmla="*/ 884 w 1442"/>
                <a:gd name="T79" fmla="*/ 146 h 241"/>
                <a:gd name="T80" fmla="*/ 897 w 1442"/>
                <a:gd name="T81" fmla="*/ 146 h 241"/>
                <a:gd name="T82" fmla="*/ 911 w 1442"/>
                <a:gd name="T83" fmla="*/ 145 h 241"/>
                <a:gd name="T84" fmla="*/ 926 w 1442"/>
                <a:gd name="T85" fmla="*/ 139 h 241"/>
                <a:gd name="T86" fmla="*/ 950 w 1442"/>
                <a:gd name="T87" fmla="*/ 124 h 241"/>
                <a:gd name="T88" fmla="*/ 979 w 1442"/>
                <a:gd name="T89" fmla="*/ 101 h 241"/>
                <a:gd name="T90" fmla="*/ 1023 w 1442"/>
                <a:gd name="T91" fmla="*/ 60 h 241"/>
                <a:gd name="T92" fmla="*/ 1051 w 1442"/>
                <a:gd name="T93" fmla="*/ 36 h 241"/>
                <a:gd name="T94" fmla="*/ 1078 w 1442"/>
                <a:gd name="T95" fmla="*/ 14 h 241"/>
                <a:gd name="T96" fmla="*/ 1098 w 1442"/>
                <a:gd name="T97" fmla="*/ 4 h 241"/>
                <a:gd name="T98" fmla="*/ 1111 w 1442"/>
                <a:gd name="T99" fmla="*/ 1 h 241"/>
                <a:gd name="T100" fmla="*/ 1124 w 1442"/>
                <a:gd name="T101" fmla="*/ 0 h 241"/>
                <a:gd name="T102" fmla="*/ 1149 w 1442"/>
                <a:gd name="T103" fmla="*/ 6 h 241"/>
                <a:gd name="T104" fmla="*/ 1175 w 1442"/>
                <a:gd name="T105" fmla="*/ 19 h 241"/>
                <a:gd name="T106" fmla="*/ 1200 w 1442"/>
                <a:gd name="T107" fmla="*/ 37 h 241"/>
                <a:gd name="T108" fmla="*/ 1241 w 1442"/>
                <a:gd name="T109" fmla="*/ 74 h 241"/>
                <a:gd name="T110" fmla="*/ 1267 w 1442"/>
                <a:gd name="T111" fmla="*/ 100 h 241"/>
                <a:gd name="T112" fmla="*/ 1284 w 1442"/>
                <a:gd name="T113" fmla="*/ 116 h 241"/>
                <a:gd name="T114" fmla="*/ 1300 w 1442"/>
                <a:gd name="T115" fmla="*/ 127 h 241"/>
                <a:gd name="T116" fmla="*/ 1314 w 1442"/>
                <a:gd name="T117" fmla="*/ 136 h 241"/>
                <a:gd name="T118" fmla="*/ 1327 w 1442"/>
                <a:gd name="T119" fmla="*/ 143 h 241"/>
                <a:gd name="T120" fmla="*/ 1336 w 1442"/>
                <a:gd name="T121" fmla="*/ 145 h 2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442" h="241">
                  <a:moveTo>
                    <a:pt x="0" y="239"/>
                  </a:moveTo>
                  <a:lnTo>
                    <a:pt x="6" y="240"/>
                  </a:lnTo>
                  <a:lnTo>
                    <a:pt x="12" y="240"/>
                  </a:lnTo>
                  <a:lnTo>
                    <a:pt x="15" y="239"/>
                  </a:lnTo>
                  <a:lnTo>
                    <a:pt x="19" y="239"/>
                  </a:lnTo>
                  <a:lnTo>
                    <a:pt x="23" y="238"/>
                  </a:lnTo>
                  <a:lnTo>
                    <a:pt x="27" y="236"/>
                  </a:lnTo>
                  <a:lnTo>
                    <a:pt x="31" y="235"/>
                  </a:lnTo>
                  <a:lnTo>
                    <a:pt x="36" y="232"/>
                  </a:lnTo>
                  <a:lnTo>
                    <a:pt x="41" y="229"/>
                  </a:lnTo>
                  <a:lnTo>
                    <a:pt x="46" y="225"/>
                  </a:lnTo>
                  <a:lnTo>
                    <a:pt x="52" y="221"/>
                  </a:lnTo>
                  <a:lnTo>
                    <a:pt x="58" y="216"/>
                  </a:lnTo>
                  <a:lnTo>
                    <a:pt x="65" y="210"/>
                  </a:lnTo>
                  <a:lnTo>
                    <a:pt x="72" y="203"/>
                  </a:lnTo>
                  <a:lnTo>
                    <a:pt x="76" y="199"/>
                  </a:lnTo>
                  <a:lnTo>
                    <a:pt x="79" y="194"/>
                  </a:lnTo>
                  <a:lnTo>
                    <a:pt x="84" y="188"/>
                  </a:lnTo>
                  <a:lnTo>
                    <a:pt x="88" y="182"/>
                  </a:lnTo>
                  <a:lnTo>
                    <a:pt x="92" y="176"/>
                  </a:lnTo>
                  <a:lnTo>
                    <a:pt x="96" y="169"/>
                  </a:lnTo>
                  <a:lnTo>
                    <a:pt x="101" y="161"/>
                  </a:lnTo>
                  <a:lnTo>
                    <a:pt x="105" y="154"/>
                  </a:lnTo>
                  <a:lnTo>
                    <a:pt x="110" y="145"/>
                  </a:lnTo>
                  <a:lnTo>
                    <a:pt x="115" y="137"/>
                  </a:lnTo>
                  <a:lnTo>
                    <a:pt x="125" y="120"/>
                  </a:lnTo>
                  <a:lnTo>
                    <a:pt x="135" y="102"/>
                  </a:lnTo>
                  <a:lnTo>
                    <a:pt x="145" y="84"/>
                  </a:lnTo>
                  <a:lnTo>
                    <a:pt x="156" y="67"/>
                  </a:lnTo>
                  <a:lnTo>
                    <a:pt x="161" y="59"/>
                  </a:lnTo>
                  <a:lnTo>
                    <a:pt x="167" y="51"/>
                  </a:lnTo>
                  <a:lnTo>
                    <a:pt x="172" y="43"/>
                  </a:lnTo>
                  <a:lnTo>
                    <a:pt x="178" y="36"/>
                  </a:lnTo>
                  <a:lnTo>
                    <a:pt x="184" y="30"/>
                  </a:lnTo>
                  <a:lnTo>
                    <a:pt x="190" y="24"/>
                  </a:lnTo>
                  <a:lnTo>
                    <a:pt x="196" y="18"/>
                  </a:lnTo>
                  <a:lnTo>
                    <a:pt x="202" y="13"/>
                  </a:lnTo>
                  <a:lnTo>
                    <a:pt x="209" y="9"/>
                  </a:lnTo>
                  <a:lnTo>
                    <a:pt x="215" y="5"/>
                  </a:lnTo>
                  <a:lnTo>
                    <a:pt x="221" y="3"/>
                  </a:lnTo>
                  <a:lnTo>
                    <a:pt x="227" y="1"/>
                  </a:lnTo>
                  <a:lnTo>
                    <a:pt x="233" y="0"/>
                  </a:lnTo>
                  <a:lnTo>
                    <a:pt x="237" y="0"/>
                  </a:lnTo>
                  <a:lnTo>
                    <a:pt x="240" y="0"/>
                  </a:lnTo>
                  <a:lnTo>
                    <a:pt x="243" y="0"/>
                  </a:lnTo>
                  <a:lnTo>
                    <a:pt x="246" y="1"/>
                  </a:lnTo>
                  <a:lnTo>
                    <a:pt x="249" y="2"/>
                  </a:lnTo>
                  <a:lnTo>
                    <a:pt x="253" y="4"/>
                  </a:lnTo>
                  <a:lnTo>
                    <a:pt x="256" y="5"/>
                  </a:lnTo>
                  <a:lnTo>
                    <a:pt x="259" y="7"/>
                  </a:lnTo>
                  <a:lnTo>
                    <a:pt x="263" y="9"/>
                  </a:lnTo>
                  <a:lnTo>
                    <a:pt x="266" y="12"/>
                  </a:lnTo>
                  <a:lnTo>
                    <a:pt x="273" y="18"/>
                  </a:lnTo>
                  <a:lnTo>
                    <a:pt x="280" y="24"/>
                  </a:lnTo>
                  <a:lnTo>
                    <a:pt x="287" y="32"/>
                  </a:lnTo>
                  <a:lnTo>
                    <a:pt x="295" y="40"/>
                  </a:lnTo>
                  <a:lnTo>
                    <a:pt x="302" y="49"/>
                  </a:lnTo>
                  <a:lnTo>
                    <a:pt x="309" y="58"/>
                  </a:lnTo>
                  <a:lnTo>
                    <a:pt x="317" y="68"/>
                  </a:lnTo>
                  <a:lnTo>
                    <a:pt x="324" y="78"/>
                  </a:lnTo>
                  <a:lnTo>
                    <a:pt x="332" y="89"/>
                  </a:lnTo>
                  <a:lnTo>
                    <a:pt x="340" y="99"/>
                  </a:lnTo>
                  <a:lnTo>
                    <a:pt x="355" y="122"/>
                  </a:lnTo>
                  <a:lnTo>
                    <a:pt x="371" y="143"/>
                  </a:lnTo>
                  <a:lnTo>
                    <a:pt x="379" y="154"/>
                  </a:lnTo>
                  <a:lnTo>
                    <a:pt x="387" y="165"/>
                  </a:lnTo>
                  <a:lnTo>
                    <a:pt x="394" y="175"/>
                  </a:lnTo>
                  <a:lnTo>
                    <a:pt x="402" y="184"/>
                  </a:lnTo>
                  <a:lnTo>
                    <a:pt x="410" y="194"/>
                  </a:lnTo>
                  <a:lnTo>
                    <a:pt x="418" y="202"/>
                  </a:lnTo>
                  <a:lnTo>
                    <a:pt x="426" y="210"/>
                  </a:lnTo>
                  <a:lnTo>
                    <a:pt x="434" y="217"/>
                  </a:lnTo>
                  <a:lnTo>
                    <a:pt x="442" y="224"/>
                  </a:lnTo>
                  <a:lnTo>
                    <a:pt x="445" y="226"/>
                  </a:lnTo>
                  <a:lnTo>
                    <a:pt x="449" y="229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61" y="235"/>
                  </a:lnTo>
                  <a:lnTo>
                    <a:pt x="465" y="236"/>
                  </a:lnTo>
                  <a:lnTo>
                    <a:pt x="468" y="237"/>
                  </a:lnTo>
                  <a:lnTo>
                    <a:pt x="472" y="238"/>
                  </a:lnTo>
                  <a:lnTo>
                    <a:pt x="476" y="238"/>
                  </a:lnTo>
                  <a:lnTo>
                    <a:pt x="480" y="239"/>
                  </a:lnTo>
                  <a:lnTo>
                    <a:pt x="484" y="238"/>
                  </a:lnTo>
                  <a:lnTo>
                    <a:pt x="487" y="238"/>
                  </a:lnTo>
                  <a:lnTo>
                    <a:pt x="491" y="237"/>
                  </a:lnTo>
                  <a:lnTo>
                    <a:pt x="495" y="236"/>
                  </a:lnTo>
                  <a:lnTo>
                    <a:pt x="499" y="234"/>
                  </a:lnTo>
                  <a:lnTo>
                    <a:pt x="502" y="233"/>
                  </a:lnTo>
                  <a:lnTo>
                    <a:pt x="506" y="231"/>
                  </a:lnTo>
                  <a:lnTo>
                    <a:pt x="510" y="228"/>
                  </a:lnTo>
                  <a:lnTo>
                    <a:pt x="514" y="226"/>
                  </a:lnTo>
                  <a:lnTo>
                    <a:pt x="517" y="223"/>
                  </a:lnTo>
                  <a:lnTo>
                    <a:pt x="525" y="217"/>
                  </a:lnTo>
                  <a:lnTo>
                    <a:pt x="532" y="209"/>
                  </a:lnTo>
                  <a:lnTo>
                    <a:pt x="540" y="201"/>
                  </a:lnTo>
                  <a:lnTo>
                    <a:pt x="547" y="193"/>
                  </a:lnTo>
                  <a:lnTo>
                    <a:pt x="555" y="183"/>
                  </a:lnTo>
                  <a:lnTo>
                    <a:pt x="562" y="174"/>
                  </a:lnTo>
                  <a:lnTo>
                    <a:pt x="570" y="163"/>
                  </a:lnTo>
                  <a:lnTo>
                    <a:pt x="577" y="152"/>
                  </a:lnTo>
                  <a:lnTo>
                    <a:pt x="585" y="142"/>
                  </a:lnTo>
                  <a:lnTo>
                    <a:pt x="600" y="119"/>
                  </a:lnTo>
                  <a:lnTo>
                    <a:pt x="615" y="97"/>
                  </a:lnTo>
                  <a:lnTo>
                    <a:pt x="623" y="86"/>
                  </a:lnTo>
                  <a:lnTo>
                    <a:pt x="630" y="76"/>
                  </a:lnTo>
                  <a:lnTo>
                    <a:pt x="638" y="65"/>
                  </a:lnTo>
                  <a:lnTo>
                    <a:pt x="645" y="55"/>
                  </a:lnTo>
                  <a:lnTo>
                    <a:pt x="653" y="46"/>
                  </a:lnTo>
                  <a:lnTo>
                    <a:pt x="660" y="37"/>
                  </a:lnTo>
                  <a:lnTo>
                    <a:pt x="668" y="29"/>
                  </a:lnTo>
                  <a:lnTo>
                    <a:pt x="675" y="22"/>
                  </a:lnTo>
                  <a:lnTo>
                    <a:pt x="683" y="16"/>
                  </a:lnTo>
                  <a:lnTo>
                    <a:pt x="687" y="13"/>
                  </a:lnTo>
                  <a:lnTo>
                    <a:pt x="690" y="10"/>
                  </a:lnTo>
                  <a:lnTo>
                    <a:pt x="694" y="8"/>
                  </a:lnTo>
                  <a:lnTo>
                    <a:pt x="697" y="6"/>
                  </a:lnTo>
                  <a:lnTo>
                    <a:pt x="701" y="4"/>
                  </a:lnTo>
                  <a:lnTo>
                    <a:pt x="705" y="3"/>
                  </a:lnTo>
                  <a:lnTo>
                    <a:pt x="709" y="1"/>
                  </a:lnTo>
                  <a:lnTo>
                    <a:pt x="712" y="1"/>
                  </a:lnTo>
                  <a:lnTo>
                    <a:pt x="716" y="0"/>
                  </a:lnTo>
                  <a:lnTo>
                    <a:pt x="720" y="0"/>
                  </a:lnTo>
                  <a:lnTo>
                    <a:pt x="724" y="0"/>
                  </a:lnTo>
                  <a:lnTo>
                    <a:pt x="727" y="1"/>
                  </a:lnTo>
                  <a:lnTo>
                    <a:pt x="731" y="1"/>
                  </a:lnTo>
                  <a:lnTo>
                    <a:pt x="735" y="3"/>
                  </a:lnTo>
                  <a:lnTo>
                    <a:pt x="739" y="4"/>
                  </a:lnTo>
                  <a:lnTo>
                    <a:pt x="742" y="6"/>
                  </a:lnTo>
                  <a:lnTo>
                    <a:pt x="746" y="8"/>
                  </a:lnTo>
                  <a:lnTo>
                    <a:pt x="750" y="10"/>
                  </a:lnTo>
                  <a:lnTo>
                    <a:pt x="754" y="13"/>
                  </a:lnTo>
                  <a:lnTo>
                    <a:pt x="757" y="16"/>
                  </a:lnTo>
                  <a:lnTo>
                    <a:pt x="765" y="22"/>
                  </a:lnTo>
                  <a:lnTo>
                    <a:pt x="772" y="29"/>
                  </a:lnTo>
                  <a:lnTo>
                    <a:pt x="780" y="37"/>
                  </a:lnTo>
                  <a:lnTo>
                    <a:pt x="787" y="46"/>
                  </a:lnTo>
                  <a:lnTo>
                    <a:pt x="795" y="55"/>
                  </a:lnTo>
                  <a:lnTo>
                    <a:pt x="802" y="65"/>
                  </a:lnTo>
                  <a:lnTo>
                    <a:pt x="810" y="76"/>
                  </a:lnTo>
                  <a:lnTo>
                    <a:pt x="817" y="86"/>
                  </a:lnTo>
                  <a:lnTo>
                    <a:pt x="825" y="97"/>
                  </a:lnTo>
                  <a:lnTo>
                    <a:pt x="840" y="119"/>
                  </a:lnTo>
                  <a:lnTo>
                    <a:pt x="855" y="142"/>
                  </a:lnTo>
                  <a:lnTo>
                    <a:pt x="863" y="152"/>
                  </a:lnTo>
                  <a:lnTo>
                    <a:pt x="870" y="163"/>
                  </a:lnTo>
                  <a:lnTo>
                    <a:pt x="878" y="174"/>
                  </a:lnTo>
                  <a:lnTo>
                    <a:pt x="885" y="183"/>
                  </a:lnTo>
                  <a:lnTo>
                    <a:pt x="893" y="193"/>
                  </a:lnTo>
                  <a:lnTo>
                    <a:pt x="900" y="201"/>
                  </a:lnTo>
                  <a:lnTo>
                    <a:pt x="908" y="209"/>
                  </a:lnTo>
                  <a:lnTo>
                    <a:pt x="915" y="217"/>
                  </a:lnTo>
                  <a:lnTo>
                    <a:pt x="923" y="223"/>
                  </a:lnTo>
                  <a:lnTo>
                    <a:pt x="927" y="226"/>
                  </a:lnTo>
                  <a:lnTo>
                    <a:pt x="930" y="228"/>
                  </a:lnTo>
                  <a:lnTo>
                    <a:pt x="934" y="231"/>
                  </a:lnTo>
                  <a:lnTo>
                    <a:pt x="938" y="233"/>
                  </a:lnTo>
                  <a:lnTo>
                    <a:pt x="942" y="234"/>
                  </a:lnTo>
                  <a:lnTo>
                    <a:pt x="945" y="236"/>
                  </a:lnTo>
                  <a:lnTo>
                    <a:pt x="949" y="237"/>
                  </a:lnTo>
                  <a:lnTo>
                    <a:pt x="953" y="238"/>
                  </a:lnTo>
                  <a:lnTo>
                    <a:pt x="957" y="238"/>
                  </a:lnTo>
                  <a:lnTo>
                    <a:pt x="960" y="239"/>
                  </a:lnTo>
                  <a:lnTo>
                    <a:pt x="964" y="238"/>
                  </a:lnTo>
                  <a:lnTo>
                    <a:pt x="968" y="238"/>
                  </a:lnTo>
                  <a:lnTo>
                    <a:pt x="971" y="237"/>
                  </a:lnTo>
                  <a:lnTo>
                    <a:pt x="975" y="236"/>
                  </a:lnTo>
                  <a:lnTo>
                    <a:pt x="979" y="235"/>
                  </a:lnTo>
                  <a:lnTo>
                    <a:pt x="982" y="233"/>
                  </a:lnTo>
                  <a:lnTo>
                    <a:pt x="986" y="231"/>
                  </a:lnTo>
                  <a:lnTo>
                    <a:pt x="990" y="229"/>
                  </a:lnTo>
                  <a:lnTo>
                    <a:pt x="994" y="226"/>
                  </a:lnTo>
                  <a:lnTo>
                    <a:pt x="998" y="224"/>
                  </a:lnTo>
                  <a:lnTo>
                    <a:pt x="1005" y="217"/>
                  </a:lnTo>
                  <a:lnTo>
                    <a:pt x="1013" y="210"/>
                  </a:lnTo>
                  <a:lnTo>
                    <a:pt x="1021" y="202"/>
                  </a:lnTo>
                  <a:lnTo>
                    <a:pt x="1029" y="194"/>
                  </a:lnTo>
                  <a:lnTo>
                    <a:pt x="1037" y="184"/>
                  </a:lnTo>
                  <a:lnTo>
                    <a:pt x="1045" y="175"/>
                  </a:lnTo>
                  <a:lnTo>
                    <a:pt x="1052" y="165"/>
                  </a:lnTo>
                  <a:lnTo>
                    <a:pt x="1060" y="154"/>
                  </a:lnTo>
                  <a:lnTo>
                    <a:pt x="1068" y="143"/>
                  </a:lnTo>
                  <a:lnTo>
                    <a:pt x="1083" y="122"/>
                  </a:lnTo>
                  <a:lnTo>
                    <a:pt x="1099" y="99"/>
                  </a:lnTo>
                  <a:lnTo>
                    <a:pt x="1106" y="89"/>
                  </a:lnTo>
                  <a:lnTo>
                    <a:pt x="1114" y="78"/>
                  </a:lnTo>
                  <a:lnTo>
                    <a:pt x="1121" y="68"/>
                  </a:lnTo>
                  <a:lnTo>
                    <a:pt x="1129" y="58"/>
                  </a:lnTo>
                  <a:lnTo>
                    <a:pt x="1136" y="49"/>
                  </a:lnTo>
                  <a:lnTo>
                    <a:pt x="1144" y="40"/>
                  </a:lnTo>
                  <a:lnTo>
                    <a:pt x="1151" y="32"/>
                  </a:lnTo>
                  <a:lnTo>
                    <a:pt x="1158" y="24"/>
                  </a:lnTo>
                  <a:lnTo>
                    <a:pt x="1165" y="18"/>
                  </a:lnTo>
                  <a:lnTo>
                    <a:pt x="1173" y="12"/>
                  </a:lnTo>
                  <a:lnTo>
                    <a:pt x="1176" y="9"/>
                  </a:lnTo>
                  <a:lnTo>
                    <a:pt x="1180" y="7"/>
                  </a:lnTo>
                  <a:lnTo>
                    <a:pt x="1183" y="5"/>
                  </a:lnTo>
                  <a:lnTo>
                    <a:pt x="1187" y="4"/>
                  </a:lnTo>
                  <a:lnTo>
                    <a:pt x="1190" y="2"/>
                  </a:lnTo>
                  <a:lnTo>
                    <a:pt x="1193" y="1"/>
                  </a:lnTo>
                  <a:lnTo>
                    <a:pt x="1197" y="0"/>
                  </a:lnTo>
                  <a:lnTo>
                    <a:pt x="1200" y="0"/>
                  </a:lnTo>
                  <a:lnTo>
                    <a:pt x="1204" y="0"/>
                  </a:lnTo>
                  <a:lnTo>
                    <a:pt x="1207" y="0"/>
                  </a:lnTo>
                  <a:lnTo>
                    <a:pt x="1214" y="1"/>
                  </a:lnTo>
                  <a:lnTo>
                    <a:pt x="1221" y="3"/>
                  </a:lnTo>
                  <a:lnTo>
                    <a:pt x="1228" y="5"/>
                  </a:lnTo>
                  <a:lnTo>
                    <a:pt x="1234" y="9"/>
                  </a:lnTo>
                  <a:lnTo>
                    <a:pt x="1242" y="13"/>
                  </a:lnTo>
                  <a:lnTo>
                    <a:pt x="1249" y="18"/>
                  </a:lnTo>
                  <a:lnTo>
                    <a:pt x="1255" y="24"/>
                  </a:lnTo>
                  <a:lnTo>
                    <a:pt x="1262" y="30"/>
                  </a:lnTo>
                  <a:lnTo>
                    <a:pt x="1269" y="36"/>
                  </a:lnTo>
                  <a:lnTo>
                    <a:pt x="1275" y="43"/>
                  </a:lnTo>
                  <a:lnTo>
                    <a:pt x="1282" y="51"/>
                  </a:lnTo>
                  <a:lnTo>
                    <a:pt x="1289" y="59"/>
                  </a:lnTo>
                  <a:lnTo>
                    <a:pt x="1295" y="67"/>
                  </a:lnTo>
                  <a:lnTo>
                    <a:pt x="1308" y="84"/>
                  </a:lnTo>
                  <a:lnTo>
                    <a:pt x="1321" y="102"/>
                  </a:lnTo>
                  <a:lnTo>
                    <a:pt x="1333" y="120"/>
                  </a:lnTo>
                  <a:lnTo>
                    <a:pt x="1345" y="137"/>
                  </a:lnTo>
                  <a:lnTo>
                    <a:pt x="1350" y="145"/>
                  </a:lnTo>
                  <a:lnTo>
                    <a:pt x="1356" y="154"/>
                  </a:lnTo>
                  <a:lnTo>
                    <a:pt x="1361" y="161"/>
                  </a:lnTo>
                  <a:lnTo>
                    <a:pt x="1366" y="169"/>
                  </a:lnTo>
                  <a:lnTo>
                    <a:pt x="1371" y="176"/>
                  </a:lnTo>
                  <a:lnTo>
                    <a:pt x="1375" y="182"/>
                  </a:lnTo>
                  <a:lnTo>
                    <a:pt x="1380" y="188"/>
                  </a:lnTo>
                  <a:lnTo>
                    <a:pt x="1384" y="194"/>
                  </a:lnTo>
                  <a:lnTo>
                    <a:pt x="1388" y="199"/>
                  </a:lnTo>
                  <a:lnTo>
                    <a:pt x="1392" y="203"/>
                  </a:lnTo>
                  <a:lnTo>
                    <a:pt x="1396" y="206"/>
                  </a:lnTo>
                  <a:lnTo>
                    <a:pt x="1399" y="210"/>
                  </a:lnTo>
                  <a:lnTo>
                    <a:pt x="1403" y="213"/>
                  </a:lnTo>
                  <a:lnTo>
                    <a:pt x="1405" y="216"/>
                  </a:lnTo>
                  <a:lnTo>
                    <a:pt x="1411" y="221"/>
                  </a:lnTo>
                  <a:lnTo>
                    <a:pt x="1416" y="225"/>
                  </a:lnTo>
                  <a:lnTo>
                    <a:pt x="1420" y="227"/>
                  </a:lnTo>
                  <a:lnTo>
                    <a:pt x="1423" y="230"/>
                  </a:lnTo>
                  <a:lnTo>
                    <a:pt x="1426" y="232"/>
                  </a:lnTo>
                  <a:lnTo>
                    <a:pt x="1428" y="233"/>
                  </a:lnTo>
                  <a:lnTo>
                    <a:pt x="1430" y="234"/>
                  </a:lnTo>
                  <a:lnTo>
                    <a:pt x="1432" y="235"/>
                  </a:lnTo>
                  <a:lnTo>
                    <a:pt x="1435" y="236"/>
                  </a:lnTo>
                  <a:lnTo>
                    <a:pt x="1438" y="237"/>
                  </a:lnTo>
                  <a:lnTo>
                    <a:pt x="1439" y="238"/>
                  </a:lnTo>
                  <a:lnTo>
                    <a:pt x="1441" y="239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9" name="任意多边形 595019"/>
            <p:cNvSpPr>
              <a:spLocks noChangeArrowheads="1"/>
            </p:cNvSpPr>
            <p:nvPr/>
          </p:nvSpPr>
          <p:spPr bwMode="auto">
            <a:xfrm>
              <a:off x="4091" y="2898"/>
              <a:ext cx="1412" cy="245"/>
            </a:xfrm>
            <a:custGeom>
              <a:avLst/>
              <a:gdLst>
                <a:gd name="T0" fmla="*/ 18 w 1446"/>
                <a:gd name="T1" fmla="*/ 177 h 288"/>
                <a:gd name="T2" fmla="*/ 31 w 1446"/>
                <a:gd name="T3" fmla="*/ 175 h 288"/>
                <a:gd name="T4" fmla="*/ 51 w 1446"/>
                <a:gd name="T5" fmla="*/ 171 h 288"/>
                <a:gd name="T6" fmla="*/ 72 w 1446"/>
                <a:gd name="T7" fmla="*/ 162 h 288"/>
                <a:gd name="T8" fmla="*/ 101 w 1446"/>
                <a:gd name="T9" fmla="*/ 150 h 288"/>
                <a:gd name="T10" fmla="*/ 117 w 1446"/>
                <a:gd name="T11" fmla="*/ 138 h 288"/>
                <a:gd name="T12" fmla="*/ 136 w 1446"/>
                <a:gd name="T13" fmla="*/ 124 h 288"/>
                <a:gd name="T14" fmla="*/ 153 w 1446"/>
                <a:gd name="T15" fmla="*/ 107 h 288"/>
                <a:gd name="T16" fmla="*/ 187 w 1446"/>
                <a:gd name="T17" fmla="*/ 75 h 288"/>
                <a:gd name="T18" fmla="*/ 226 w 1446"/>
                <a:gd name="T19" fmla="*/ 43 h 288"/>
                <a:gd name="T20" fmla="*/ 251 w 1446"/>
                <a:gd name="T21" fmla="*/ 26 h 288"/>
                <a:gd name="T22" fmla="*/ 274 w 1446"/>
                <a:gd name="T23" fmla="*/ 14 h 288"/>
                <a:gd name="T24" fmla="*/ 301 w 1446"/>
                <a:gd name="T25" fmla="*/ 3 h 288"/>
                <a:gd name="T26" fmla="*/ 327 w 1446"/>
                <a:gd name="T27" fmla="*/ 0 h 288"/>
                <a:gd name="T28" fmla="*/ 340 w 1446"/>
                <a:gd name="T29" fmla="*/ 0 h 288"/>
                <a:gd name="T30" fmla="*/ 353 w 1446"/>
                <a:gd name="T31" fmla="*/ 3 h 288"/>
                <a:gd name="T32" fmla="*/ 368 w 1446"/>
                <a:gd name="T33" fmla="*/ 7 h 288"/>
                <a:gd name="T34" fmla="*/ 393 w 1446"/>
                <a:gd name="T35" fmla="*/ 18 h 288"/>
                <a:gd name="T36" fmla="*/ 424 w 1446"/>
                <a:gd name="T37" fmla="*/ 36 h 288"/>
                <a:gd name="T38" fmla="*/ 455 w 1446"/>
                <a:gd name="T39" fmla="*/ 57 h 288"/>
                <a:gd name="T40" fmla="*/ 498 w 1446"/>
                <a:gd name="T41" fmla="*/ 89 h 288"/>
                <a:gd name="T42" fmla="*/ 542 w 1446"/>
                <a:gd name="T43" fmla="*/ 122 h 288"/>
                <a:gd name="T44" fmla="*/ 574 w 1446"/>
                <a:gd name="T45" fmla="*/ 143 h 288"/>
                <a:gd name="T46" fmla="*/ 608 w 1446"/>
                <a:gd name="T47" fmla="*/ 160 h 288"/>
                <a:gd name="T48" fmla="*/ 629 w 1446"/>
                <a:gd name="T49" fmla="*/ 168 h 288"/>
                <a:gd name="T50" fmla="*/ 645 w 1446"/>
                <a:gd name="T51" fmla="*/ 173 h 288"/>
                <a:gd name="T52" fmla="*/ 662 w 1446"/>
                <a:gd name="T53" fmla="*/ 175 h 288"/>
                <a:gd name="T54" fmla="*/ 678 w 1446"/>
                <a:gd name="T55" fmla="*/ 175 h 288"/>
                <a:gd name="T56" fmla="*/ 693 w 1446"/>
                <a:gd name="T57" fmla="*/ 174 h 288"/>
                <a:gd name="T58" fmla="*/ 710 w 1446"/>
                <a:gd name="T59" fmla="*/ 170 h 288"/>
                <a:gd name="T60" fmla="*/ 727 w 1446"/>
                <a:gd name="T61" fmla="*/ 164 h 288"/>
                <a:gd name="T62" fmla="*/ 759 w 1446"/>
                <a:gd name="T63" fmla="*/ 149 h 288"/>
                <a:gd name="T64" fmla="*/ 792 w 1446"/>
                <a:gd name="T65" fmla="*/ 128 h 288"/>
                <a:gd name="T66" fmla="*/ 825 w 1446"/>
                <a:gd name="T67" fmla="*/ 105 h 288"/>
                <a:gd name="T68" fmla="*/ 879 w 1446"/>
                <a:gd name="T69" fmla="*/ 66 h 288"/>
                <a:gd name="T70" fmla="*/ 912 w 1446"/>
                <a:gd name="T71" fmla="*/ 43 h 288"/>
                <a:gd name="T72" fmla="*/ 942 w 1446"/>
                <a:gd name="T73" fmla="*/ 23 h 288"/>
                <a:gd name="T74" fmla="*/ 971 w 1446"/>
                <a:gd name="T75" fmla="*/ 9 h 288"/>
                <a:gd name="T76" fmla="*/ 985 w 1446"/>
                <a:gd name="T77" fmla="*/ 3 h 288"/>
                <a:gd name="T78" fmla="*/ 999 w 1446"/>
                <a:gd name="T79" fmla="*/ 1 h 288"/>
                <a:gd name="T80" fmla="*/ 1013 w 1446"/>
                <a:gd name="T81" fmla="*/ 0 h 288"/>
                <a:gd name="T82" fmla="*/ 1035 w 1446"/>
                <a:gd name="T83" fmla="*/ 3 h 288"/>
                <a:gd name="T84" fmla="*/ 1061 w 1446"/>
                <a:gd name="T85" fmla="*/ 10 h 288"/>
                <a:gd name="T86" fmla="*/ 1086 w 1446"/>
                <a:gd name="T87" fmla="*/ 22 h 288"/>
                <a:gd name="T88" fmla="*/ 1111 w 1446"/>
                <a:gd name="T89" fmla="*/ 37 h 288"/>
                <a:gd name="T90" fmla="*/ 1142 w 1446"/>
                <a:gd name="T91" fmla="*/ 62 h 288"/>
                <a:gd name="T92" fmla="*/ 1184 w 1446"/>
                <a:gd name="T93" fmla="*/ 101 h 288"/>
                <a:gd name="T94" fmla="*/ 1204 w 1446"/>
                <a:gd name="T95" fmla="*/ 119 h 288"/>
                <a:gd name="T96" fmla="*/ 1223 w 1446"/>
                <a:gd name="T97" fmla="*/ 134 h 288"/>
                <a:gd name="T98" fmla="*/ 1239 w 1446"/>
                <a:gd name="T99" fmla="*/ 146 h 288"/>
                <a:gd name="T100" fmla="*/ 1265 w 1446"/>
                <a:gd name="T101" fmla="*/ 158 h 288"/>
                <a:gd name="T102" fmla="*/ 1287 w 1446"/>
                <a:gd name="T103" fmla="*/ 168 h 288"/>
                <a:gd name="T104" fmla="*/ 1308 w 1446"/>
                <a:gd name="T105" fmla="*/ 174 h 288"/>
                <a:gd name="T106" fmla="*/ 1323 w 1446"/>
                <a:gd name="T107" fmla="*/ 176 h 288"/>
                <a:gd name="T108" fmla="*/ 1346 w 1446"/>
                <a:gd name="T109" fmla="*/ 176 h 28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446" h="288">
                  <a:moveTo>
                    <a:pt x="0" y="286"/>
                  </a:moveTo>
                  <a:lnTo>
                    <a:pt x="9" y="287"/>
                  </a:lnTo>
                  <a:lnTo>
                    <a:pt x="18" y="287"/>
                  </a:lnTo>
                  <a:lnTo>
                    <a:pt x="23" y="286"/>
                  </a:lnTo>
                  <a:lnTo>
                    <a:pt x="29" y="286"/>
                  </a:lnTo>
                  <a:lnTo>
                    <a:pt x="34" y="284"/>
                  </a:lnTo>
                  <a:lnTo>
                    <a:pt x="40" y="283"/>
                  </a:lnTo>
                  <a:lnTo>
                    <a:pt x="47" y="281"/>
                  </a:lnTo>
                  <a:lnTo>
                    <a:pt x="54" y="278"/>
                  </a:lnTo>
                  <a:lnTo>
                    <a:pt x="61" y="274"/>
                  </a:lnTo>
                  <a:lnTo>
                    <a:pt x="69" y="270"/>
                  </a:lnTo>
                  <a:lnTo>
                    <a:pt x="78" y="264"/>
                  </a:lnTo>
                  <a:lnTo>
                    <a:pt x="87" y="258"/>
                  </a:lnTo>
                  <a:lnTo>
                    <a:pt x="98" y="251"/>
                  </a:lnTo>
                  <a:lnTo>
                    <a:pt x="108" y="243"/>
                  </a:lnTo>
                  <a:lnTo>
                    <a:pt x="114" y="238"/>
                  </a:lnTo>
                  <a:lnTo>
                    <a:pt x="119" y="232"/>
                  </a:lnTo>
                  <a:lnTo>
                    <a:pt x="126" y="225"/>
                  </a:lnTo>
                  <a:lnTo>
                    <a:pt x="132" y="218"/>
                  </a:lnTo>
                  <a:lnTo>
                    <a:pt x="138" y="210"/>
                  </a:lnTo>
                  <a:lnTo>
                    <a:pt x="145" y="202"/>
                  </a:lnTo>
                  <a:lnTo>
                    <a:pt x="151" y="193"/>
                  </a:lnTo>
                  <a:lnTo>
                    <a:pt x="158" y="184"/>
                  </a:lnTo>
                  <a:lnTo>
                    <a:pt x="165" y="174"/>
                  </a:lnTo>
                  <a:lnTo>
                    <a:pt x="172" y="164"/>
                  </a:lnTo>
                  <a:lnTo>
                    <a:pt x="187" y="143"/>
                  </a:lnTo>
                  <a:lnTo>
                    <a:pt x="202" y="122"/>
                  </a:lnTo>
                  <a:lnTo>
                    <a:pt x="218" y="101"/>
                  </a:lnTo>
                  <a:lnTo>
                    <a:pt x="235" y="80"/>
                  </a:lnTo>
                  <a:lnTo>
                    <a:pt x="243" y="70"/>
                  </a:lnTo>
                  <a:lnTo>
                    <a:pt x="251" y="61"/>
                  </a:lnTo>
                  <a:lnTo>
                    <a:pt x="260" y="52"/>
                  </a:lnTo>
                  <a:lnTo>
                    <a:pt x="269" y="43"/>
                  </a:lnTo>
                  <a:lnTo>
                    <a:pt x="278" y="35"/>
                  </a:lnTo>
                  <a:lnTo>
                    <a:pt x="286" y="28"/>
                  </a:lnTo>
                  <a:lnTo>
                    <a:pt x="295" y="22"/>
                  </a:lnTo>
                  <a:lnTo>
                    <a:pt x="304" y="16"/>
                  </a:lnTo>
                  <a:lnTo>
                    <a:pt x="314" y="11"/>
                  </a:lnTo>
                  <a:lnTo>
                    <a:pt x="323" y="6"/>
                  </a:lnTo>
                  <a:lnTo>
                    <a:pt x="332" y="3"/>
                  </a:lnTo>
                  <a:lnTo>
                    <a:pt x="342" y="1"/>
                  </a:lnTo>
                  <a:lnTo>
                    <a:pt x="351" y="0"/>
                  </a:lnTo>
                  <a:lnTo>
                    <a:pt x="356" y="0"/>
                  </a:lnTo>
                  <a:lnTo>
                    <a:pt x="361" y="0"/>
                  </a:lnTo>
                  <a:lnTo>
                    <a:pt x="365" y="0"/>
                  </a:lnTo>
                  <a:lnTo>
                    <a:pt x="371" y="1"/>
                  </a:lnTo>
                  <a:lnTo>
                    <a:pt x="375" y="2"/>
                  </a:lnTo>
                  <a:lnTo>
                    <a:pt x="380" y="4"/>
                  </a:lnTo>
                  <a:lnTo>
                    <a:pt x="386" y="6"/>
                  </a:lnTo>
                  <a:lnTo>
                    <a:pt x="390" y="8"/>
                  </a:lnTo>
                  <a:lnTo>
                    <a:pt x="395" y="11"/>
                  </a:lnTo>
                  <a:lnTo>
                    <a:pt x="401" y="14"/>
                  </a:lnTo>
                  <a:lnTo>
                    <a:pt x="411" y="21"/>
                  </a:lnTo>
                  <a:lnTo>
                    <a:pt x="422" y="29"/>
                  </a:lnTo>
                  <a:lnTo>
                    <a:pt x="432" y="38"/>
                  </a:lnTo>
                  <a:lnTo>
                    <a:pt x="444" y="47"/>
                  </a:lnTo>
                  <a:lnTo>
                    <a:pt x="455" y="58"/>
                  </a:lnTo>
                  <a:lnTo>
                    <a:pt x="466" y="69"/>
                  </a:lnTo>
                  <a:lnTo>
                    <a:pt x="477" y="81"/>
                  </a:lnTo>
                  <a:lnTo>
                    <a:pt x="488" y="93"/>
                  </a:lnTo>
                  <a:lnTo>
                    <a:pt x="500" y="106"/>
                  </a:lnTo>
                  <a:lnTo>
                    <a:pt x="512" y="119"/>
                  </a:lnTo>
                  <a:lnTo>
                    <a:pt x="535" y="145"/>
                  </a:lnTo>
                  <a:lnTo>
                    <a:pt x="558" y="172"/>
                  </a:lnTo>
                  <a:lnTo>
                    <a:pt x="570" y="185"/>
                  </a:lnTo>
                  <a:lnTo>
                    <a:pt x="582" y="197"/>
                  </a:lnTo>
                  <a:lnTo>
                    <a:pt x="593" y="209"/>
                  </a:lnTo>
                  <a:lnTo>
                    <a:pt x="605" y="221"/>
                  </a:lnTo>
                  <a:lnTo>
                    <a:pt x="617" y="232"/>
                  </a:lnTo>
                  <a:lnTo>
                    <a:pt x="629" y="242"/>
                  </a:lnTo>
                  <a:lnTo>
                    <a:pt x="641" y="251"/>
                  </a:lnTo>
                  <a:lnTo>
                    <a:pt x="653" y="260"/>
                  </a:lnTo>
                  <a:lnTo>
                    <a:pt x="665" y="267"/>
                  </a:lnTo>
                  <a:lnTo>
                    <a:pt x="670" y="271"/>
                  </a:lnTo>
                  <a:lnTo>
                    <a:pt x="676" y="274"/>
                  </a:lnTo>
                  <a:lnTo>
                    <a:pt x="682" y="276"/>
                  </a:lnTo>
                  <a:lnTo>
                    <a:pt x="687" y="279"/>
                  </a:lnTo>
                  <a:lnTo>
                    <a:pt x="693" y="281"/>
                  </a:lnTo>
                  <a:lnTo>
                    <a:pt x="699" y="283"/>
                  </a:lnTo>
                  <a:lnTo>
                    <a:pt x="705" y="284"/>
                  </a:lnTo>
                  <a:lnTo>
                    <a:pt x="711" y="285"/>
                  </a:lnTo>
                  <a:lnTo>
                    <a:pt x="717" y="285"/>
                  </a:lnTo>
                  <a:lnTo>
                    <a:pt x="722" y="286"/>
                  </a:lnTo>
                  <a:lnTo>
                    <a:pt x="728" y="285"/>
                  </a:lnTo>
                  <a:lnTo>
                    <a:pt x="733" y="285"/>
                  </a:lnTo>
                  <a:lnTo>
                    <a:pt x="739" y="284"/>
                  </a:lnTo>
                  <a:lnTo>
                    <a:pt x="745" y="283"/>
                  </a:lnTo>
                  <a:lnTo>
                    <a:pt x="751" y="281"/>
                  </a:lnTo>
                  <a:lnTo>
                    <a:pt x="757" y="279"/>
                  </a:lnTo>
                  <a:lnTo>
                    <a:pt x="762" y="276"/>
                  </a:lnTo>
                  <a:lnTo>
                    <a:pt x="768" y="274"/>
                  </a:lnTo>
                  <a:lnTo>
                    <a:pt x="774" y="271"/>
                  </a:lnTo>
                  <a:lnTo>
                    <a:pt x="780" y="267"/>
                  </a:lnTo>
                  <a:lnTo>
                    <a:pt x="791" y="260"/>
                  </a:lnTo>
                  <a:lnTo>
                    <a:pt x="803" y="251"/>
                  </a:lnTo>
                  <a:lnTo>
                    <a:pt x="815" y="242"/>
                  </a:lnTo>
                  <a:lnTo>
                    <a:pt x="827" y="232"/>
                  </a:lnTo>
                  <a:lnTo>
                    <a:pt x="839" y="221"/>
                  </a:lnTo>
                  <a:lnTo>
                    <a:pt x="851" y="209"/>
                  </a:lnTo>
                  <a:lnTo>
                    <a:pt x="862" y="197"/>
                  </a:lnTo>
                  <a:lnTo>
                    <a:pt x="874" y="185"/>
                  </a:lnTo>
                  <a:lnTo>
                    <a:pt x="886" y="172"/>
                  </a:lnTo>
                  <a:lnTo>
                    <a:pt x="910" y="145"/>
                  </a:lnTo>
                  <a:lnTo>
                    <a:pt x="933" y="119"/>
                  </a:lnTo>
                  <a:lnTo>
                    <a:pt x="944" y="106"/>
                  </a:lnTo>
                  <a:lnTo>
                    <a:pt x="957" y="93"/>
                  </a:lnTo>
                  <a:lnTo>
                    <a:pt x="968" y="81"/>
                  </a:lnTo>
                  <a:lnTo>
                    <a:pt x="979" y="69"/>
                  </a:lnTo>
                  <a:lnTo>
                    <a:pt x="989" y="58"/>
                  </a:lnTo>
                  <a:lnTo>
                    <a:pt x="1000" y="47"/>
                  </a:lnTo>
                  <a:lnTo>
                    <a:pt x="1012" y="38"/>
                  </a:lnTo>
                  <a:lnTo>
                    <a:pt x="1022" y="29"/>
                  </a:lnTo>
                  <a:lnTo>
                    <a:pt x="1033" y="21"/>
                  </a:lnTo>
                  <a:lnTo>
                    <a:pt x="1043" y="14"/>
                  </a:lnTo>
                  <a:lnTo>
                    <a:pt x="1049" y="11"/>
                  </a:lnTo>
                  <a:lnTo>
                    <a:pt x="1054" y="8"/>
                  </a:lnTo>
                  <a:lnTo>
                    <a:pt x="1058" y="6"/>
                  </a:lnTo>
                  <a:lnTo>
                    <a:pt x="1064" y="4"/>
                  </a:lnTo>
                  <a:lnTo>
                    <a:pt x="1069" y="2"/>
                  </a:lnTo>
                  <a:lnTo>
                    <a:pt x="1073" y="1"/>
                  </a:lnTo>
                  <a:lnTo>
                    <a:pt x="1079" y="0"/>
                  </a:lnTo>
                  <a:lnTo>
                    <a:pt x="1083" y="0"/>
                  </a:lnTo>
                  <a:lnTo>
                    <a:pt x="1088" y="0"/>
                  </a:lnTo>
                  <a:lnTo>
                    <a:pt x="1093" y="0"/>
                  </a:lnTo>
                  <a:lnTo>
                    <a:pt x="1102" y="1"/>
                  </a:lnTo>
                  <a:lnTo>
                    <a:pt x="1112" y="3"/>
                  </a:lnTo>
                  <a:lnTo>
                    <a:pt x="1121" y="6"/>
                  </a:lnTo>
                  <a:lnTo>
                    <a:pt x="1131" y="11"/>
                  </a:lnTo>
                  <a:lnTo>
                    <a:pt x="1140" y="16"/>
                  </a:lnTo>
                  <a:lnTo>
                    <a:pt x="1149" y="22"/>
                  </a:lnTo>
                  <a:lnTo>
                    <a:pt x="1158" y="28"/>
                  </a:lnTo>
                  <a:lnTo>
                    <a:pt x="1166" y="35"/>
                  </a:lnTo>
                  <a:lnTo>
                    <a:pt x="1175" y="43"/>
                  </a:lnTo>
                  <a:lnTo>
                    <a:pt x="1184" y="52"/>
                  </a:lnTo>
                  <a:lnTo>
                    <a:pt x="1193" y="61"/>
                  </a:lnTo>
                  <a:lnTo>
                    <a:pt x="1201" y="70"/>
                  </a:lnTo>
                  <a:lnTo>
                    <a:pt x="1209" y="80"/>
                  </a:lnTo>
                  <a:lnTo>
                    <a:pt x="1226" y="101"/>
                  </a:lnTo>
                  <a:lnTo>
                    <a:pt x="1242" y="122"/>
                  </a:lnTo>
                  <a:lnTo>
                    <a:pt x="1257" y="143"/>
                  </a:lnTo>
                  <a:lnTo>
                    <a:pt x="1272" y="164"/>
                  </a:lnTo>
                  <a:lnTo>
                    <a:pt x="1279" y="174"/>
                  </a:lnTo>
                  <a:lnTo>
                    <a:pt x="1286" y="184"/>
                  </a:lnTo>
                  <a:lnTo>
                    <a:pt x="1293" y="193"/>
                  </a:lnTo>
                  <a:lnTo>
                    <a:pt x="1300" y="202"/>
                  </a:lnTo>
                  <a:lnTo>
                    <a:pt x="1306" y="210"/>
                  </a:lnTo>
                  <a:lnTo>
                    <a:pt x="1313" y="218"/>
                  </a:lnTo>
                  <a:lnTo>
                    <a:pt x="1319" y="225"/>
                  </a:lnTo>
                  <a:lnTo>
                    <a:pt x="1325" y="232"/>
                  </a:lnTo>
                  <a:lnTo>
                    <a:pt x="1331" y="238"/>
                  </a:lnTo>
                  <a:lnTo>
                    <a:pt x="1337" y="243"/>
                  </a:lnTo>
                  <a:lnTo>
                    <a:pt x="1347" y="251"/>
                  </a:lnTo>
                  <a:lnTo>
                    <a:pt x="1358" y="258"/>
                  </a:lnTo>
                  <a:lnTo>
                    <a:pt x="1367" y="264"/>
                  </a:lnTo>
                  <a:lnTo>
                    <a:pt x="1376" y="270"/>
                  </a:lnTo>
                  <a:lnTo>
                    <a:pt x="1383" y="274"/>
                  </a:lnTo>
                  <a:lnTo>
                    <a:pt x="1391" y="278"/>
                  </a:lnTo>
                  <a:lnTo>
                    <a:pt x="1398" y="281"/>
                  </a:lnTo>
                  <a:lnTo>
                    <a:pt x="1404" y="283"/>
                  </a:lnTo>
                  <a:lnTo>
                    <a:pt x="1410" y="284"/>
                  </a:lnTo>
                  <a:lnTo>
                    <a:pt x="1416" y="286"/>
                  </a:lnTo>
                  <a:lnTo>
                    <a:pt x="1421" y="286"/>
                  </a:lnTo>
                  <a:lnTo>
                    <a:pt x="1426" y="287"/>
                  </a:lnTo>
                  <a:lnTo>
                    <a:pt x="1435" y="287"/>
                  </a:lnTo>
                  <a:lnTo>
                    <a:pt x="1445" y="28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0" name="任意多边形 595020"/>
            <p:cNvSpPr>
              <a:spLocks noChangeArrowheads="1"/>
            </p:cNvSpPr>
            <p:nvPr/>
          </p:nvSpPr>
          <p:spPr bwMode="auto">
            <a:xfrm>
              <a:off x="4093" y="3430"/>
              <a:ext cx="1363" cy="287"/>
            </a:xfrm>
            <a:custGeom>
              <a:avLst/>
              <a:gdLst>
                <a:gd name="T0" fmla="*/ 21 w 1396"/>
                <a:gd name="T1" fmla="*/ 204 h 337"/>
                <a:gd name="T2" fmla="*/ 52 w 1396"/>
                <a:gd name="T3" fmla="*/ 198 h 337"/>
                <a:gd name="T4" fmla="*/ 75 w 1396"/>
                <a:gd name="T5" fmla="*/ 193 h 337"/>
                <a:gd name="T6" fmla="*/ 101 w 1396"/>
                <a:gd name="T7" fmla="*/ 188 h 337"/>
                <a:gd name="T8" fmla="*/ 129 w 1396"/>
                <a:gd name="T9" fmla="*/ 181 h 337"/>
                <a:gd name="T10" fmla="*/ 160 w 1396"/>
                <a:gd name="T11" fmla="*/ 173 h 337"/>
                <a:gd name="T12" fmla="*/ 196 w 1396"/>
                <a:gd name="T13" fmla="*/ 162 h 337"/>
                <a:gd name="T14" fmla="*/ 226 w 1396"/>
                <a:gd name="T15" fmla="*/ 152 h 337"/>
                <a:gd name="T16" fmla="*/ 249 w 1396"/>
                <a:gd name="T17" fmla="*/ 144 h 337"/>
                <a:gd name="T18" fmla="*/ 270 w 1396"/>
                <a:gd name="T19" fmla="*/ 134 h 337"/>
                <a:gd name="T20" fmla="*/ 296 w 1396"/>
                <a:gd name="T21" fmla="*/ 123 h 337"/>
                <a:gd name="T22" fmla="*/ 335 w 1396"/>
                <a:gd name="T23" fmla="*/ 104 h 337"/>
                <a:gd name="T24" fmla="*/ 390 w 1396"/>
                <a:gd name="T25" fmla="*/ 77 h 337"/>
                <a:gd name="T26" fmla="*/ 448 w 1396"/>
                <a:gd name="T27" fmla="*/ 52 h 337"/>
                <a:gd name="T28" fmla="*/ 477 w 1396"/>
                <a:gd name="T29" fmla="*/ 40 h 337"/>
                <a:gd name="T30" fmla="*/ 506 w 1396"/>
                <a:gd name="T31" fmla="*/ 29 h 337"/>
                <a:gd name="T32" fmla="*/ 535 w 1396"/>
                <a:gd name="T33" fmla="*/ 19 h 337"/>
                <a:gd name="T34" fmla="*/ 564 w 1396"/>
                <a:gd name="T35" fmla="*/ 11 h 337"/>
                <a:gd name="T36" fmla="*/ 593 w 1396"/>
                <a:gd name="T37" fmla="*/ 5 h 337"/>
                <a:gd name="T38" fmla="*/ 621 w 1396"/>
                <a:gd name="T39" fmla="*/ 2 h 337"/>
                <a:gd name="T40" fmla="*/ 649 w 1396"/>
                <a:gd name="T41" fmla="*/ 0 h 337"/>
                <a:gd name="T42" fmla="*/ 677 w 1396"/>
                <a:gd name="T43" fmla="*/ 2 h 337"/>
                <a:gd name="T44" fmla="*/ 705 w 1396"/>
                <a:gd name="T45" fmla="*/ 5 h 337"/>
                <a:gd name="T46" fmla="*/ 733 w 1396"/>
                <a:gd name="T47" fmla="*/ 11 h 337"/>
                <a:gd name="T48" fmla="*/ 763 w 1396"/>
                <a:gd name="T49" fmla="*/ 19 h 337"/>
                <a:gd name="T50" fmla="*/ 791 w 1396"/>
                <a:gd name="T51" fmla="*/ 29 h 337"/>
                <a:gd name="T52" fmla="*/ 820 w 1396"/>
                <a:gd name="T53" fmla="*/ 40 h 337"/>
                <a:gd name="T54" fmla="*/ 849 w 1396"/>
                <a:gd name="T55" fmla="*/ 52 h 337"/>
                <a:gd name="T56" fmla="*/ 907 w 1396"/>
                <a:gd name="T57" fmla="*/ 77 h 337"/>
                <a:gd name="T58" fmla="*/ 963 w 1396"/>
                <a:gd name="T59" fmla="*/ 104 h 337"/>
                <a:gd name="T60" fmla="*/ 1002 w 1396"/>
                <a:gd name="T61" fmla="*/ 123 h 337"/>
                <a:gd name="T62" fmla="*/ 1026 w 1396"/>
                <a:gd name="T63" fmla="*/ 134 h 337"/>
                <a:gd name="T64" fmla="*/ 1050 w 1396"/>
                <a:gd name="T65" fmla="*/ 144 h 337"/>
                <a:gd name="T66" fmla="*/ 1071 w 1396"/>
                <a:gd name="T67" fmla="*/ 152 h 337"/>
                <a:gd name="T68" fmla="*/ 1101 w 1396"/>
                <a:gd name="T69" fmla="*/ 162 h 337"/>
                <a:gd name="T70" fmla="*/ 1137 w 1396"/>
                <a:gd name="T71" fmla="*/ 173 h 337"/>
                <a:gd name="T72" fmla="*/ 1169 w 1396"/>
                <a:gd name="T73" fmla="*/ 181 h 337"/>
                <a:gd name="T74" fmla="*/ 1197 w 1396"/>
                <a:gd name="T75" fmla="*/ 188 h 337"/>
                <a:gd name="T76" fmla="*/ 1222 w 1396"/>
                <a:gd name="T77" fmla="*/ 193 h 337"/>
                <a:gd name="T78" fmla="*/ 1246 w 1396"/>
                <a:gd name="T79" fmla="*/ 198 h 337"/>
                <a:gd name="T80" fmla="*/ 1278 w 1396"/>
                <a:gd name="T81" fmla="*/ 204 h 33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396" h="337">
                  <a:moveTo>
                    <a:pt x="0" y="336"/>
                  </a:moveTo>
                  <a:lnTo>
                    <a:pt x="21" y="330"/>
                  </a:lnTo>
                  <a:lnTo>
                    <a:pt x="44" y="324"/>
                  </a:lnTo>
                  <a:lnTo>
                    <a:pt x="55" y="321"/>
                  </a:lnTo>
                  <a:lnTo>
                    <a:pt x="67" y="318"/>
                  </a:lnTo>
                  <a:lnTo>
                    <a:pt x="81" y="314"/>
                  </a:lnTo>
                  <a:lnTo>
                    <a:pt x="94" y="309"/>
                  </a:lnTo>
                  <a:lnTo>
                    <a:pt x="108" y="305"/>
                  </a:lnTo>
                  <a:lnTo>
                    <a:pt x="122" y="299"/>
                  </a:lnTo>
                  <a:lnTo>
                    <a:pt x="138" y="293"/>
                  </a:lnTo>
                  <a:lnTo>
                    <a:pt x="155" y="286"/>
                  </a:lnTo>
                  <a:lnTo>
                    <a:pt x="172" y="279"/>
                  </a:lnTo>
                  <a:lnTo>
                    <a:pt x="191" y="271"/>
                  </a:lnTo>
                  <a:lnTo>
                    <a:pt x="211" y="262"/>
                  </a:lnTo>
                  <a:lnTo>
                    <a:pt x="232" y="252"/>
                  </a:lnTo>
                  <a:lnTo>
                    <a:pt x="243" y="246"/>
                  </a:lnTo>
                  <a:lnTo>
                    <a:pt x="255" y="240"/>
                  </a:lnTo>
                  <a:lnTo>
                    <a:pt x="267" y="232"/>
                  </a:lnTo>
                  <a:lnTo>
                    <a:pt x="279" y="225"/>
                  </a:lnTo>
                  <a:lnTo>
                    <a:pt x="291" y="216"/>
                  </a:lnTo>
                  <a:lnTo>
                    <a:pt x="304" y="207"/>
                  </a:lnTo>
                  <a:lnTo>
                    <a:pt x="318" y="198"/>
                  </a:lnTo>
                  <a:lnTo>
                    <a:pt x="332" y="189"/>
                  </a:lnTo>
                  <a:lnTo>
                    <a:pt x="360" y="168"/>
                  </a:lnTo>
                  <a:lnTo>
                    <a:pt x="389" y="147"/>
                  </a:lnTo>
                  <a:lnTo>
                    <a:pt x="419" y="126"/>
                  </a:lnTo>
                  <a:lnTo>
                    <a:pt x="450" y="105"/>
                  </a:lnTo>
                  <a:lnTo>
                    <a:pt x="481" y="84"/>
                  </a:lnTo>
                  <a:lnTo>
                    <a:pt x="497" y="74"/>
                  </a:lnTo>
                  <a:lnTo>
                    <a:pt x="513" y="65"/>
                  </a:lnTo>
                  <a:lnTo>
                    <a:pt x="528" y="56"/>
                  </a:lnTo>
                  <a:lnTo>
                    <a:pt x="544" y="47"/>
                  </a:lnTo>
                  <a:lnTo>
                    <a:pt x="559" y="39"/>
                  </a:lnTo>
                  <a:lnTo>
                    <a:pt x="575" y="31"/>
                  </a:lnTo>
                  <a:lnTo>
                    <a:pt x="591" y="24"/>
                  </a:lnTo>
                  <a:lnTo>
                    <a:pt x="606" y="18"/>
                  </a:lnTo>
                  <a:lnTo>
                    <a:pt x="622" y="13"/>
                  </a:lnTo>
                  <a:lnTo>
                    <a:pt x="637" y="8"/>
                  </a:lnTo>
                  <a:lnTo>
                    <a:pt x="652" y="4"/>
                  </a:lnTo>
                  <a:lnTo>
                    <a:pt x="667" y="2"/>
                  </a:lnTo>
                  <a:lnTo>
                    <a:pt x="682" y="0"/>
                  </a:lnTo>
                  <a:lnTo>
                    <a:pt x="697" y="0"/>
                  </a:lnTo>
                  <a:lnTo>
                    <a:pt x="712" y="0"/>
                  </a:lnTo>
                  <a:lnTo>
                    <a:pt x="727" y="2"/>
                  </a:lnTo>
                  <a:lnTo>
                    <a:pt x="742" y="4"/>
                  </a:lnTo>
                  <a:lnTo>
                    <a:pt x="757" y="8"/>
                  </a:lnTo>
                  <a:lnTo>
                    <a:pt x="772" y="13"/>
                  </a:lnTo>
                  <a:lnTo>
                    <a:pt x="788" y="18"/>
                  </a:lnTo>
                  <a:lnTo>
                    <a:pt x="803" y="24"/>
                  </a:lnTo>
                  <a:lnTo>
                    <a:pt x="819" y="31"/>
                  </a:lnTo>
                  <a:lnTo>
                    <a:pt x="834" y="39"/>
                  </a:lnTo>
                  <a:lnTo>
                    <a:pt x="850" y="47"/>
                  </a:lnTo>
                  <a:lnTo>
                    <a:pt x="866" y="56"/>
                  </a:lnTo>
                  <a:lnTo>
                    <a:pt x="881" y="65"/>
                  </a:lnTo>
                  <a:lnTo>
                    <a:pt x="897" y="74"/>
                  </a:lnTo>
                  <a:lnTo>
                    <a:pt x="913" y="84"/>
                  </a:lnTo>
                  <a:lnTo>
                    <a:pt x="944" y="105"/>
                  </a:lnTo>
                  <a:lnTo>
                    <a:pt x="975" y="126"/>
                  </a:lnTo>
                  <a:lnTo>
                    <a:pt x="1005" y="147"/>
                  </a:lnTo>
                  <a:lnTo>
                    <a:pt x="1034" y="168"/>
                  </a:lnTo>
                  <a:lnTo>
                    <a:pt x="1062" y="189"/>
                  </a:lnTo>
                  <a:lnTo>
                    <a:pt x="1076" y="198"/>
                  </a:lnTo>
                  <a:lnTo>
                    <a:pt x="1090" y="207"/>
                  </a:lnTo>
                  <a:lnTo>
                    <a:pt x="1102" y="216"/>
                  </a:lnTo>
                  <a:lnTo>
                    <a:pt x="1115" y="225"/>
                  </a:lnTo>
                  <a:lnTo>
                    <a:pt x="1128" y="232"/>
                  </a:lnTo>
                  <a:lnTo>
                    <a:pt x="1139" y="240"/>
                  </a:lnTo>
                  <a:lnTo>
                    <a:pt x="1151" y="246"/>
                  </a:lnTo>
                  <a:lnTo>
                    <a:pt x="1162" y="252"/>
                  </a:lnTo>
                  <a:lnTo>
                    <a:pt x="1183" y="262"/>
                  </a:lnTo>
                  <a:lnTo>
                    <a:pt x="1203" y="271"/>
                  </a:lnTo>
                  <a:lnTo>
                    <a:pt x="1222" y="279"/>
                  </a:lnTo>
                  <a:lnTo>
                    <a:pt x="1239" y="286"/>
                  </a:lnTo>
                  <a:lnTo>
                    <a:pt x="1256" y="293"/>
                  </a:lnTo>
                  <a:lnTo>
                    <a:pt x="1272" y="299"/>
                  </a:lnTo>
                  <a:lnTo>
                    <a:pt x="1286" y="305"/>
                  </a:lnTo>
                  <a:lnTo>
                    <a:pt x="1300" y="309"/>
                  </a:lnTo>
                  <a:lnTo>
                    <a:pt x="1313" y="314"/>
                  </a:lnTo>
                  <a:lnTo>
                    <a:pt x="1327" y="318"/>
                  </a:lnTo>
                  <a:lnTo>
                    <a:pt x="1339" y="321"/>
                  </a:lnTo>
                  <a:lnTo>
                    <a:pt x="1350" y="324"/>
                  </a:lnTo>
                  <a:lnTo>
                    <a:pt x="1373" y="330"/>
                  </a:lnTo>
                  <a:lnTo>
                    <a:pt x="1395" y="33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1" name="任意多边形 595021"/>
            <p:cNvSpPr>
              <a:spLocks noChangeArrowheads="1"/>
            </p:cNvSpPr>
            <p:nvPr/>
          </p:nvSpPr>
          <p:spPr bwMode="auto">
            <a:xfrm>
              <a:off x="2171" y="3511"/>
              <a:ext cx="1360" cy="206"/>
            </a:xfrm>
            <a:custGeom>
              <a:avLst/>
              <a:gdLst>
                <a:gd name="T0" fmla="*/ 0 w 1393"/>
                <a:gd name="T1" fmla="*/ 149 h 242"/>
                <a:gd name="T2" fmla="*/ 40 w 1393"/>
                <a:gd name="T3" fmla="*/ 134 h 242"/>
                <a:gd name="T4" fmla="*/ 81 w 1393"/>
                <a:gd name="T5" fmla="*/ 121 h 242"/>
                <a:gd name="T6" fmla="*/ 121 w 1393"/>
                <a:gd name="T7" fmla="*/ 106 h 242"/>
                <a:gd name="T8" fmla="*/ 161 w 1393"/>
                <a:gd name="T9" fmla="*/ 94 h 242"/>
                <a:gd name="T10" fmla="*/ 202 w 1393"/>
                <a:gd name="T11" fmla="*/ 81 h 242"/>
                <a:gd name="T12" fmla="*/ 222 w 1393"/>
                <a:gd name="T13" fmla="*/ 75 h 242"/>
                <a:gd name="T14" fmla="*/ 242 w 1393"/>
                <a:gd name="T15" fmla="*/ 68 h 242"/>
                <a:gd name="T16" fmla="*/ 262 w 1393"/>
                <a:gd name="T17" fmla="*/ 63 h 242"/>
                <a:gd name="T18" fmla="*/ 283 w 1393"/>
                <a:gd name="T19" fmla="*/ 56 h 242"/>
                <a:gd name="T20" fmla="*/ 303 w 1393"/>
                <a:gd name="T21" fmla="*/ 51 h 242"/>
                <a:gd name="T22" fmla="*/ 324 w 1393"/>
                <a:gd name="T23" fmla="*/ 46 h 242"/>
                <a:gd name="T24" fmla="*/ 343 w 1393"/>
                <a:gd name="T25" fmla="*/ 42 h 242"/>
                <a:gd name="T26" fmla="*/ 364 w 1393"/>
                <a:gd name="T27" fmla="*/ 37 h 242"/>
                <a:gd name="T28" fmla="*/ 384 w 1393"/>
                <a:gd name="T29" fmla="*/ 31 h 242"/>
                <a:gd name="T30" fmla="*/ 404 w 1393"/>
                <a:gd name="T31" fmla="*/ 26 h 242"/>
                <a:gd name="T32" fmla="*/ 424 w 1393"/>
                <a:gd name="T33" fmla="*/ 22 h 242"/>
                <a:gd name="T34" fmla="*/ 445 w 1393"/>
                <a:gd name="T35" fmla="*/ 19 h 242"/>
                <a:gd name="T36" fmla="*/ 465 w 1393"/>
                <a:gd name="T37" fmla="*/ 15 h 242"/>
                <a:gd name="T38" fmla="*/ 485 w 1393"/>
                <a:gd name="T39" fmla="*/ 12 h 242"/>
                <a:gd name="T40" fmla="*/ 505 w 1393"/>
                <a:gd name="T41" fmla="*/ 10 h 242"/>
                <a:gd name="T42" fmla="*/ 526 w 1393"/>
                <a:gd name="T43" fmla="*/ 7 h 242"/>
                <a:gd name="T44" fmla="*/ 546 w 1393"/>
                <a:gd name="T45" fmla="*/ 5 h 242"/>
                <a:gd name="T46" fmla="*/ 567 w 1393"/>
                <a:gd name="T47" fmla="*/ 3 h 242"/>
                <a:gd name="T48" fmla="*/ 586 w 1393"/>
                <a:gd name="T49" fmla="*/ 3 h 242"/>
                <a:gd name="T50" fmla="*/ 607 w 1393"/>
                <a:gd name="T51" fmla="*/ 1 h 242"/>
                <a:gd name="T52" fmla="*/ 627 w 1393"/>
                <a:gd name="T53" fmla="*/ 0 h 242"/>
                <a:gd name="T54" fmla="*/ 647 w 1393"/>
                <a:gd name="T55" fmla="*/ 0 h 242"/>
                <a:gd name="T56" fmla="*/ 667 w 1393"/>
                <a:gd name="T57" fmla="*/ 0 h 242"/>
                <a:gd name="T58" fmla="*/ 687 w 1393"/>
                <a:gd name="T59" fmla="*/ 1 h 242"/>
                <a:gd name="T60" fmla="*/ 708 w 1393"/>
                <a:gd name="T61" fmla="*/ 3 h 242"/>
                <a:gd name="T62" fmla="*/ 727 w 1393"/>
                <a:gd name="T63" fmla="*/ 3 h 242"/>
                <a:gd name="T64" fmla="*/ 748 w 1393"/>
                <a:gd name="T65" fmla="*/ 5 h 242"/>
                <a:gd name="T66" fmla="*/ 768 w 1393"/>
                <a:gd name="T67" fmla="*/ 7 h 242"/>
                <a:gd name="T68" fmla="*/ 789 w 1393"/>
                <a:gd name="T69" fmla="*/ 10 h 242"/>
                <a:gd name="T70" fmla="*/ 809 w 1393"/>
                <a:gd name="T71" fmla="*/ 12 h 242"/>
                <a:gd name="T72" fmla="*/ 829 w 1393"/>
                <a:gd name="T73" fmla="*/ 15 h 242"/>
                <a:gd name="T74" fmla="*/ 849 w 1393"/>
                <a:gd name="T75" fmla="*/ 19 h 242"/>
                <a:gd name="T76" fmla="*/ 870 w 1393"/>
                <a:gd name="T77" fmla="*/ 22 h 242"/>
                <a:gd name="T78" fmla="*/ 889 w 1393"/>
                <a:gd name="T79" fmla="*/ 26 h 242"/>
                <a:gd name="T80" fmla="*/ 910 w 1393"/>
                <a:gd name="T81" fmla="*/ 31 h 242"/>
                <a:gd name="T82" fmla="*/ 930 w 1393"/>
                <a:gd name="T83" fmla="*/ 37 h 242"/>
                <a:gd name="T84" fmla="*/ 951 w 1393"/>
                <a:gd name="T85" fmla="*/ 42 h 242"/>
                <a:gd name="T86" fmla="*/ 970 w 1393"/>
                <a:gd name="T87" fmla="*/ 46 h 242"/>
                <a:gd name="T88" fmla="*/ 991 w 1393"/>
                <a:gd name="T89" fmla="*/ 51 h 242"/>
                <a:gd name="T90" fmla="*/ 1011 w 1393"/>
                <a:gd name="T91" fmla="*/ 56 h 242"/>
                <a:gd name="T92" fmla="*/ 1032 w 1393"/>
                <a:gd name="T93" fmla="*/ 63 h 242"/>
                <a:gd name="T94" fmla="*/ 1052 w 1393"/>
                <a:gd name="T95" fmla="*/ 68 h 242"/>
                <a:gd name="T96" fmla="*/ 1072 w 1393"/>
                <a:gd name="T97" fmla="*/ 75 h 242"/>
                <a:gd name="T98" fmla="*/ 1092 w 1393"/>
                <a:gd name="T99" fmla="*/ 81 h 242"/>
                <a:gd name="T100" fmla="*/ 1133 w 1393"/>
                <a:gd name="T101" fmla="*/ 94 h 242"/>
                <a:gd name="T102" fmla="*/ 1174 w 1393"/>
                <a:gd name="T103" fmla="*/ 106 h 242"/>
                <a:gd name="T104" fmla="*/ 1214 w 1393"/>
                <a:gd name="T105" fmla="*/ 121 h 242"/>
                <a:gd name="T106" fmla="*/ 1255 w 1393"/>
                <a:gd name="T107" fmla="*/ 134 h 242"/>
                <a:gd name="T108" fmla="*/ 1296 w 1393"/>
                <a:gd name="T109" fmla="*/ 149 h 2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393" h="242">
                  <a:moveTo>
                    <a:pt x="0" y="241"/>
                  </a:moveTo>
                  <a:lnTo>
                    <a:pt x="43" y="218"/>
                  </a:lnTo>
                  <a:lnTo>
                    <a:pt x="87" y="196"/>
                  </a:lnTo>
                  <a:lnTo>
                    <a:pt x="130" y="173"/>
                  </a:lnTo>
                  <a:lnTo>
                    <a:pt x="173" y="152"/>
                  </a:lnTo>
                  <a:lnTo>
                    <a:pt x="217" y="131"/>
                  </a:lnTo>
                  <a:lnTo>
                    <a:pt x="239" y="121"/>
                  </a:lnTo>
                  <a:lnTo>
                    <a:pt x="260" y="111"/>
                  </a:lnTo>
                  <a:lnTo>
                    <a:pt x="282" y="102"/>
                  </a:lnTo>
                  <a:lnTo>
                    <a:pt x="304" y="92"/>
                  </a:lnTo>
                  <a:lnTo>
                    <a:pt x="326" y="83"/>
                  </a:lnTo>
                  <a:lnTo>
                    <a:pt x="348" y="75"/>
                  </a:lnTo>
                  <a:lnTo>
                    <a:pt x="369" y="67"/>
                  </a:lnTo>
                  <a:lnTo>
                    <a:pt x="391" y="59"/>
                  </a:lnTo>
                  <a:lnTo>
                    <a:pt x="413" y="51"/>
                  </a:lnTo>
                  <a:lnTo>
                    <a:pt x="434" y="44"/>
                  </a:lnTo>
                  <a:lnTo>
                    <a:pt x="456" y="37"/>
                  </a:lnTo>
                  <a:lnTo>
                    <a:pt x="478" y="31"/>
                  </a:lnTo>
                  <a:lnTo>
                    <a:pt x="500" y="25"/>
                  </a:lnTo>
                  <a:lnTo>
                    <a:pt x="521" y="20"/>
                  </a:lnTo>
                  <a:lnTo>
                    <a:pt x="543" y="16"/>
                  </a:lnTo>
                  <a:lnTo>
                    <a:pt x="565" y="11"/>
                  </a:lnTo>
                  <a:lnTo>
                    <a:pt x="587" y="8"/>
                  </a:lnTo>
                  <a:lnTo>
                    <a:pt x="609" y="5"/>
                  </a:lnTo>
                  <a:lnTo>
                    <a:pt x="630" y="3"/>
                  </a:lnTo>
                  <a:lnTo>
                    <a:pt x="652" y="1"/>
                  </a:lnTo>
                  <a:lnTo>
                    <a:pt x="674" y="0"/>
                  </a:lnTo>
                  <a:lnTo>
                    <a:pt x="695" y="0"/>
                  </a:lnTo>
                  <a:lnTo>
                    <a:pt x="717" y="0"/>
                  </a:lnTo>
                  <a:lnTo>
                    <a:pt x="739" y="1"/>
                  </a:lnTo>
                  <a:lnTo>
                    <a:pt x="761" y="3"/>
                  </a:lnTo>
                  <a:lnTo>
                    <a:pt x="782" y="5"/>
                  </a:lnTo>
                  <a:lnTo>
                    <a:pt x="804" y="8"/>
                  </a:lnTo>
                  <a:lnTo>
                    <a:pt x="826" y="11"/>
                  </a:lnTo>
                  <a:lnTo>
                    <a:pt x="848" y="16"/>
                  </a:lnTo>
                  <a:lnTo>
                    <a:pt x="870" y="20"/>
                  </a:lnTo>
                  <a:lnTo>
                    <a:pt x="891" y="25"/>
                  </a:lnTo>
                  <a:lnTo>
                    <a:pt x="913" y="31"/>
                  </a:lnTo>
                  <a:lnTo>
                    <a:pt x="935" y="37"/>
                  </a:lnTo>
                  <a:lnTo>
                    <a:pt x="956" y="44"/>
                  </a:lnTo>
                  <a:lnTo>
                    <a:pt x="978" y="51"/>
                  </a:lnTo>
                  <a:lnTo>
                    <a:pt x="1000" y="59"/>
                  </a:lnTo>
                  <a:lnTo>
                    <a:pt x="1022" y="67"/>
                  </a:lnTo>
                  <a:lnTo>
                    <a:pt x="1043" y="75"/>
                  </a:lnTo>
                  <a:lnTo>
                    <a:pt x="1065" y="83"/>
                  </a:lnTo>
                  <a:lnTo>
                    <a:pt x="1087" y="92"/>
                  </a:lnTo>
                  <a:lnTo>
                    <a:pt x="1109" y="102"/>
                  </a:lnTo>
                  <a:lnTo>
                    <a:pt x="1131" y="111"/>
                  </a:lnTo>
                  <a:lnTo>
                    <a:pt x="1152" y="121"/>
                  </a:lnTo>
                  <a:lnTo>
                    <a:pt x="1174" y="131"/>
                  </a:lnTo>
                  <a:lnTo>
                    <a:pt x="1218" y="152"/>
                  </a:lnTo>
                  <a:lnTo>
                    <a:pt x="1261" y="173"/>
                  </a:lnTo>
                  <a:lnTo>
                    <a:pt x="1304" y="196"/>
                  </a:lnTo>
                  <a:lnTo>
                    <a:pt x="1348" y="218"/>
                  </a:lnTo>
                  <a:lnTo>
                    <a:pt x="1392" y="241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2" name="矩形 595022"/>
            <p:cNvSpPr>
              <a:spLocks noChangeArrowheads="1"/>
            </p:cNvSpPr>
            <p:nvPr/>
          </p:nvSpPr>
          <p:spPr bwMode="auto">
            <a:xfrm>
              <a:off x="3992" y="396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aseline="0"/>
                <a:t>0</a:t>
              </a:r>
            </a:p>
          </p:txBody>
        </p:sp>
        <p:sp>
          <p:nvSpPr>
            <p:cNvPr id="82993" name="矩形 595023"/>
            <p:cNvSpPr>
              <a:spLocks noChangeArrowheads="1"/>
            </p:cNvSpPr>
            <p:nvPr/>
          </p:nvSpPr>
          <p:spPr bwMode="auto">
            <a:xfrm>
              <a:off x="2068" y="396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aseline="0"/>
                <a:t>0</a:t>
              </a:r>
            </a:p>
          </p:txBody>
        </p:sp>
        <p:sp>
          <p:nvSpPr>
            <p:cNvPr id="82994" name="任意多边形 595024"/>
            <p:cNvSpPr>
              <a:spLocks noChangeArrowheads="1"/>
            </p:cNvSpPr>
            <p:nvPr/>
          </p:nvSpPr>
          <p:spPr bwMode="auto">
            <a:xfrm>
              <a:off x="2166" y="2268"/>
              <a:ext cx="1365" cy="343"/>
            </a:xfrm>
            <a:custGeom>
              <a:avLst/>
              <a:gdLst>
                <a:gd name="T0" fmla="*/ 11 w 1398"/>
                <a:gd name="T1" fmla="*/ 137 h 402"/>
                <a:gd name="T2" fmla="*/ 30 w 1398"/>
                <a:gd name="T3" fmla="*/ 163 h 402"/>
                <a:gd name="T4" fmla="*/ 53 w 1398"/>
                <a:gd name="T5" fmla="*/ 187 h 402"/>
                <a:gd name="T6" fmla="*/ 76 w 1398"/>
                <a:gd name="T7" fmla="*/ 210 h 402"/>
                <a:gd name="T8" fmla="*/ 89 w 1398"/>
                <a:gd name="T9" fmla="*/ 218 h 402"/>
                <a:gd name="T10" fmla="*/ 101 w 1398"/>
                <a:gd name="T11" fmla="*/ 227 h 402"/>
                <a:gd name="T12" fmla="*/ 114 w 1398"/>
                <a:gd name="T13" fmla="*/ 235 h 402"/>
                <a:gd name="T14" fmla="*/ 130 w 1398"/>
                <a:gd name="T15" fmla="*/ 241 h 402"/>
                <a:gd name="T16" fmla="*/ 144 w 1398"/>
                <a:gd name="T17" fmla="*/ 246 h 402"/>
                <a:gd name="T18" fmla="*/ 160 w 1398"/>
                <a:gd name="T19" fmla="*/ 247 h 402"/>
                <a:gd name="T20" fmla="*/ 179 w 1398"/>
                <a:gd name="T21" fmla="*/ 249 h 402"/>
                <a:gd name="T22" fmla="*/ 196 w 1398"/>
                <a:gd name="T23" fmla="*/ 248 h 402"/>
                <a:gd name="T24" fmla="*/ 217 w 1398"/>
                <a:gd name="T25" fmla="*/ 246 h 402"/>
                <a:gd name="T26" fmla="*/ 227 w 1398"/>
                <a:gd name="T27" fmla="*/ 243 h 402"/>
                <a:gd name="T28" fmla="*/ 237 w 1398"/>
                <a:gd name="T29" fmla="*/ 240 h 402"/>
                <a:gd name="T30" fmla="*/ 249 w 1398"/>
                <a:gd name="T31" fmla="*/ 235 h 402"/>
                <a:gd name="T32" fmla="*/ 272 w 1398"/>
                <a:gd name="T33" fmla="*/ 222 h 402"/>
                <a:gd name="T34" fmla="*/ 297 w 1398"/>
                <a:gd name="T35" fmla="*/ 207 h 402"/>
                <a:gd name="T36" fmla="*/ 323 w 1398"/>
                <a:gd name="T37" fmla="*/ 189 h 402"/>
                <a:gd name="T38" fmla="*/ 349 w 1398"/>
                <a:gd name="T39" fmla="*/ 170 h 402"/>
                <a:gd name="T40" fmla="*/ 391 w 1398"/>
                <a:gd name="T41" fmla="*/ 137 h 402"/>
                <a:gd name="T42" fmla="*/ 449 w 1398"/>
                <a:gd name="T43" fmla="*/ 94 h 402"/>
                <a:gd name="T44" fmla="*/ 477 w 1398"/>
                <a:gd name="T45" fmla="*/ 73 h 402"/>
                <a:gd name="T46" fmla="*/ 507 w 1398"/>
                <a:gd name="T47" fmla="*/ 53 h 402"/>
                <a:gd name="T48" fmla="*/ 536 w 1398"/>
                <a:gd name="T49" fmla="*/ 36 h 402"/>
                <a:gd name="T50" fmla="*/ 567 w 1398"/>
                <a:gd name="T51" fmla="*/ 21 h 402"/>
                <a:gd name="T52" fmla="*/ 595 w 1398"/>
                <a:gd name="T53" fmla="*/ 10 h 402"/>
                <a:gd name="T54" fmla="*/ 609 w 1398"/>
                <a:gd name="T55" fmla="*/ 6 h 402"/>
                <a:gd name="T56" fmla="*/ 624 w 1398"/>
                <a:gd name="T57" fmla="*/ 3 h 402"/>
                <a:gd name="T58" fmla="*/ 636 w 1398"/>
                <a:gd name="T59" fmla="*/ 1 h 402"/>
                <a:gd name="T60" fmla="*/ 650 w 1398"/>
                <a:gd name="T61" fmla="*/ 0 h 402"/>
                <a:gd name="T62" fmla="*/ 664 w 1398"/>
                <a:gd name="T63" fmla="*/ 1 h 402"/>
                <a:gd name="T64" fmla="*/ 677 w 1398"/>
                <a:gd name="T65" fmla="*/ 3 h 402"/>
                <a:gd name="T66" fmla="*/ 691 w 1398"/>
                <a:gd name="T67" fmla="*/ 6 h 402"/>
                <a:gd name="T68" fmla="*/ 706 w 1398"/>
                <a:gd name="T69" fmla="*/ 10 h 402"/>
                <a:gd name="T70" fmla="*/ 733 w 1398"/>
                <a:gd name="T71" fmla="*/ 21 h 402"/>
                <a:gd name="T72" fmla="*/ 764 w 1398"/>
                <a:gd name="T73" fmla="*/ 36 h 402"/>
                <a:gd name="T74" fmla="*/ 793 w 1398"/>
                <a:gd name="T75" fmla="*/ 53 h 402"/>
                <a:gd name="T76" fmla="*/ 823 w 1398"/>
                <a:gd name="T77" fmla="*/ 73 h 402"/>
                <a:gd name="T78" fmla="*/ 851 w 1398"/>
                <a:gd name="T79" fmla="*/ 94 h 402"/>
                <a:gd name="T80" fmla="*/ 909 w 1398"/>
                <a:gd name="T81" fmla="*/ 137 h 402"/>
                <a:gd name="T82" fmla="*/ 951 w 1398"/>
                <a:gd name="T83" fmla="*/ 170 h 402"/>
                <a:gd name="T84" fmla="*/ 977 w 1398"/>
                <a:gd name="T85" fmla="*/ 189 h 402"/>
                <a:gd name="T86" fmla="*/ 1004 w 1398"/>
                <a:gd name="T87" fmla="*/ 207 h 402"/>
                <a:gd name="T88" fmla="*/ 1028 w 1398"/>
                <a:gd name="T89" fmla="*/ 222 h 402"/>
                <a:gd name="T90" fmla="*/ 1052 w 1398"/>
                <a:gd name="T91" fmla="*/ 235 h 402"/>
                <a:gd name="T92" fmla="*/ 1063 w 1398"/>
                <a:gd name="T93" fmla="*/ 240 h 402"/>
                <a:gd name="T94" fmla="*/ 1074 w 1398"/>
                <a:gd name="T95" fmla="*/ 243 h 402"/>
                <a:gd name="T96" fmla="*/ 1085 w 1398"/>
                <a:gd name="T97" fmla="*/ 246 h 402"/>
                <a:gd name="T98" fmla="*/ 1104 w 1398"/>
                <a:gd name="T99" fmla="*/ 248 h 402"/>
                <a:gd name="T100" fmla="*/ 1122 w 1398"/>
                <a:gd name="T101" fmla="*/ 249 h 402"/>
                <a:gd name="T102" fmla="*/ 1139 w 1398"/>
                <a:gd name="T103" fmla="*/ 247 h 402"/>
                <a:gd name="T104" fmla="*/ 1155 w 1398"/>
                <a:gd name="T105" fmla="*/ 246 h 402"/>
                <a:gd name="T106" fmla="*/ 1171 w 1398"/>
                <a:gd name="T107" fmla="*/ 241 h 402"/>
                <a:gd name="T108" fmla="*/ 1186 w 1398"/>
                <a:gd name="T109" fmla="*/ 235 h 402"/>
                <a:gd name="T110" fmla="*/ 1199 w 1398"/>
                <a:gd name="T111" fmla="*/ 227 h 402"/>
                <a:gd name="T112" fmla="*/ 1213 w 1398"/>
                <a:gd name="T113" fmla="*/ 218 h 402"/>
                <a:gd name="T114" fmla="*/ 1224 w 1398"/>
                <a:gd name="T115" fmla="*/ 210 h 402"/>
                <a:gd name="T116" fmla="*/ 1248 w 1398"/>
                <a:gd name="T117" fmla="*/ 187 h 402"/>
                <a:gd name="T118" fmla="*/ 1270 w 1398"/>
                <a:gd name="T119" fmla="*/ 163 h 402"/>
                <a:gd name="T120" fmla="*/ 1290 w 1398"/>
                <a:gd name="T121" fmla="*/ 137 h 40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398" h="402">
                  <a:moveTo>
                    <a:pt x="0" y="198"/>
                  </a:moveTo>
                  <a:lnTo>
                    <a:pt x="11" y="219"/>
                  </a:lnTo>
                  <a:lnTo>
                    <a:pt x="22" y="241"/>
                  </a:lnTo>
                  <a:lnTo>
                    <a:pt x="33" y="262"/>
                  </a:lnTo>
                  <a:lnTo>
                    <a:pt x="45" y="282"/>
                  </a:lnTo>
                  <a:lnTo>
                    <a:pt x="56" y="301"/>
                  </a:lnTo>
                  <a:lnTo>
                    <a:pt x="69" y="320"/>
                  </a:lnTo>
                  <a:lnTo>
                    <a:pt x="82" y="337"/>
                  </a:lnTo>
                  <a:lnTo>
                    <a:pt x="88" y="345"/>
                  </a:lnTo>
                  <a:lnTo>
                    <a:pt x="95" y="352"/>
                  </a:lnTo>
                  <a:lnTo>
                    <a:pt x="102" y="359"/>
                  </a:lnTo>
                  <a:lnTo>
                    <a:pt x="109" y="366"/>
                  </a:lnTo>
                  <a:lnTo>
                    <a:pt x="116" y="372"/>
                  </a:lnTo>
                  <a:lnTo>
                    <a:pt x="123" y="378"/>
                  </a:lnTo>
                  <a:lnTo>
                    <a:pt x="131" y="383"/>
                  </a:lnTo>
                  <a:lnTo>
                    <a:pt x="139" y="387"/>
                  </a:lnTo>
                  <a:lnTo>
                    <a:pt x="147" y="391"/>
                  </a:lnTo>
                  <a:lnTo>
                    <a:pt x="155" y="395"/>
                  </a:lnTo>
                  <a:lnTo>
                    <a:pt x="163" y="398"/>
                  </a:lnTo>
                  <a:lnTo>
                    <a:pt x="172" y="399"/>
                  </a:lnTo>
                  <a:lnTo>
                    <a:pt x="182" y="400"/>
                  </a:lnTo>
                  <a:lnTo>
                    <a:pt x="192" y="401"/>
                  </a:lnTo>
                  <a:lnTo>
                    <a:pt x="201" y="401"/>
                  </a:lnTo>
                  <a:lnTo>
                    <a:pt x="211" y="400"/>
                  </a:lnTo>
                  <a:lnTo>
                    <a:pt x="222" y="398"/>
                  </a:lnTo>
                  <a:lnTo>
                    <a:pt x="232" y="395"/>
                  </a:lnTo>
                  <a:lnTo>
                    <a:pt x="238" y="394"/>
                  </a:lnTo>
                  <a:lnTo>
                    <a:pt x="244" y="391"/>
                  </a:lnTo>
                  <a:lnTo>
                    <a:pt x="249" y="389"/>
                  </a:lnTo>
                  <a:lnTo>
                    <a:pt x="255" y="386"/>
                  </a:lnTo>
                  <a:lnTo>
                    <a:pt x="261" y="382"/>
                  </a:lnTo>
                  <a:lnTo>
                    <a:pt x="267" y="378"/>
                  </a:lnTo>
                  <a:lnTo>
                    <a:pt x="280" y="369"/>
                  </a:lnTo>
                  <a:lnTo>
                    <a:pt x="293" y="358"/>
                  </a:lnTo>
                  <a:lnTo>
                    <a:pt x="305" y="347"/>
                  </a:lnTo>
                  <a:lnTo>
                    <a:pt x="319" y="334"/>
                  </a:lnTo>
                  <a:lnTo>
                    <a:pt x="332" y="320"/>
                  </a:lnTo>
                  <a:lnTo>
                    <a:pt x="347" y="305"/>
                  </a:lnTo>
                  <a:lnTo>
                    <a:pt x="361" y="289"/>
                  </a:lnTo>
                  <a:lnTo>
                    <a:pt x="375" y="273"/>
                  </a:lnTo>
                  <a:lnTo>
                    <a:pt x="390" y="256"/>
                  </a:lnTo>
                  <a:lnTo>
                    <a:pt x="420" y="221"/>
                  </a:lnTo>
                  <a:lnTo>
                    <a:pt x="451" y="186"/>
                  </a:lnTo>
                  <a:lnTo>
                    <a:pt x="482" y="151"/>
                  </a:lnTo>
                  <a:lnTo>
                    <a:pt x="498" y="133"/>
                  </a:lnTo>
                  <a:lnTo>
                    <a:pt x="513" y="117"/>
                  </a:lnTo>
                  <a:lnTo>
                    <a:pt x="530" y="101"/>
                  </a:lnTo>
                  <a:lnTo>
                    <a:pt x="545" y="86"/>
                  </a:lnTo>
                  <a:lnTo>
                    <a:pt x="561" y="71"/>
                  </a:lnTo>
                  <a:lnTo>
                    <a:pt x="576" y="57"/>
                  </a:lnTo>
                  <a:lnTo>
                    <a:pt x="593" y="45"/>
                  </a:lnTo>
                  <a:lnTo>
                    <a:pt x="609" y="34"/>
                  </a:lnTo>
                  <a:lnTo>
                    <a:pt x="624" y="24"/>
                  </a:lnTo>
                  <a:lnTo>
                    <a:pt x="639" y="16"/>
                  </a:lnTo>
                  <a:lnTo>
                    <a:pt x="646" y="12"/>
                  </a:lnTo>
                  <a:lnTo>
                    <a:pt x="654" y="9"/>
                  </a:lnTo>
                  <a:lnTo>
                    <a:pt x="662" y="7"/>
                  </a:lnTo>
                  <a:lnTo>
                    <a:pt x="670" y="4"/>
                  </a:lnTo>
                  <a:lnTo>
                    <a:pt x="677" y="3"/>
                  </a:lnTo>
                  <a:lnTo>
                    <a:pt x="683" y="1"/>
                  </a:lnTo>
                  <a:lnTo>
                    <a:pt x="691" y="1"/>
                  </a:lnTo>
                  <a:lnTo>
                    <a:pt x="698" y="0"/>
                  </a:lnTo>
                  <a:lnTo>
                    <a:pt x="706" y="1"/>
                  </a:lnTo>
                  <a:lnTo>
                    <a:pt x="713" y="1"/>
                  </a:lnTo>
                  <a:lnTo>
                    <a:pt x="720" y="3"/>
                  </a:lnTo>
                  <a:lnTo>
                    <a:pt x="727" y="4"/>
                  </a:lnTo>
                  <a:lnTo>
                    <a:pt x="735" y="7"/>
                  </a:lnTo>
                  <a:lnTo>
                    <a:pt x="743" y="9"/>
                  </a:lnTo>
                  <a:lnTo>
                    <a:pt x="750" y="12"/>
                  </a:lnTo>
                  <a:lnTo>
                    <a:pt x="758" y="16"/>
                  </a:lnTo>
                  <a:lnTo>
                    <a:pt x="774" y="24"/>
                  </a:lnTo>
                  <a:lnTo>
                    <a:pt x="788" y="34"/>
                  </a:lnTo>
                  <a:lnTo>
                    <a:pt x="805" y="45"/>
                  </a:lnTo>
                  <a:lnTo>
                    <a:pt x="820" y="57"/>
                  </a:lnTo>
                  <a:lnTo>
                    <a:pt x="836" y="71"/>
                  </a:lnTo>
                  <a:lnTo>
                    <a:pt x="852" y="86"/>
                  </a:lnTo>
                  <a:lnTo>
                    <a:pt x="867" y="101"/>
                  </a:lnTo>
                  <a:lnTo>
                    <a:pt x="884" y="117"/>
                  </a:lnTo>
                  <a:lnTo>
                    <a:pt x="899" y="133"/>
                  </a:lnTo>
                  <a:lnTo>
                    <a:pt x="915" y="151"/>
                  </a:lnTo>
                  <a:lnTo>
                    <a:pt x="946" y="186"/>
                  </a:lnTo>
                  <a:lnTo>
                    <a:pt x="977" y="221"/>
                  </a:lnTo>
                  <a:lnTo>
                    <a:pt x="1007" y="256"/>
                  </a:lnTo>
                  <a:lnTo>
                    <a:pt x="1022" y="273"/>
                  </a:lnTo>
                  <a:lnTo>
                    <a:pt x="1036" y="289"/>
                  </a:lnTo>
                  <a:lnTo>
                    <a:pt x="1050" y="305"/>
                  </a:lnTo>
                  <a:lnTo>
                    <a:pt x="1065" y="320"/>
                  </a:lnTo>
                  <a:lnTo>
                    <a:pt x="1078" y="334"/>
                  </a:lnTo>
                  <a:lnTo>
                    <a:pt x="1092" y="347"/>
                  </a:lnTo>
                  <a:lnTo>
                    <a:pt x="1104" y="358"/>
                  </a:lnTo>
                  <a:lnTo>
                    <a:pt x="1118" y="369"/>
                  </a:lnTo>
                  <a:lnTo>
                    <a:pt x="1130" y="378"/>
                  </a:lnTo>
                  <a:lnTo>
                    <a:pt x="1135" y="382"/>
                  </a:lnTo>
                  <a:lnTo>
                    <a:pt x="1142" y="386"/>
                  </a:lnTo>
                  <a:lnTo>
                    <a:pt x="1148" y="389"/>
                  </a:lnTo>
                  <a:lnTo>
                    <a:pt x="1154" y="391"/>
                  </a:lnTo>
                  <a:lnTo>
                    <a:pt x="1159" y="394"/>
                  </a:lnTo>
                  <a:lnTo>
                    <a:pt x="1165" y="395"/>
                  </a:lnTo>
                  <a:lnTo>
                    <a:pt x="1175" y="398"/>
                  </a:lnTo>
                  <a:lnTo>
                    <a:pt x="1186" y="400"/>
                  </a:lnTo>
                  <a:lnTo>
                    <a:pt x="1196" y="401"/>
                  </a:lnTo>
                  <a:lnTo>
                    <a:pt x="1205" y="401"/>
                  </a:lnTo>
                  <a:lnTo>
                    <a:pt x="1215" y="400"/>
                  </a:lnTo>
                  <a:lnTo>
                    <a:pt x="1224" y="399"/>
                  </a:lnTo>
                  <a:lnTo>
                    <a:pt x="1233" y="398"/>
                  </a:lnTo>
                  <a:lnTo>
                    <a:pt x="1241" y="395"/>
                  </a:lnTo>
                  <a:lnTo>
                    <a:pt x="1249" y="391"/>
                  </a:lnTo>
                  <a:lnTo>
                    <a:pt x="1258" y="387"/>
                  </a:lnTo>
                  <a:lnTo>
                    <a:pt x="1266" y="383"/>
                  </a:lnTo>
                  <a:lnTo>
                    <a:pt x="1274" y="378"/>
                  </a:lnTo>
                  <a:lnTo>
                    <a:pt x="1281" y="372"/>
                  </a:lnTo>
                  <a:lnTo>
                    <a:pt x="1288" y="366"/>
                  </a:lnTo>
                  <a:lnTo>
                    <a:pt x="1295" y="359"/>
                  </a:lnTo>
                  <a:lnTo>
                    <a:pt x="1303" y="352"/>
                  </a:lnTo>
                  <a:lnTo>
                    <a:pt x="1309" y="345"/>
                  </a:lnTo>
                  <a:lnTo>
                    <a:pt x="1315" y="337"/>
                  </a:lnTo>
                  <a:lnTo>
                    <a:pt x="1328" y="320"/>
                  </a:lnTo>
                  <a:lnTo>
                    <a:pt x="1341" y="301"/>
                  </a:lnTo>
                  <a:lnTo>
                    <a:pt x="1352" y="282"/>
                  </a:lnTo>
                  <a:lnTo>
                    <a:pt x="1364" y="262"/>
                  </a:lnTo>
                  <a:lnTo>
                    <a:pt x="1375" y="241"/>
                  </a:lnTo>
                  <a:lnTo>
                    <a:pt x="1386" y="219"/>
                  </a:lnTo>
                  <a:lnTo>
                    <a:pt x="1397" y="198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5" name="任意多边形 595025"/>
            <p:cNvSpPr>
              <a:spLocks noChangeArrowheads="1"/>
            </p:cNvSpPr>
            <p:nvPr/>
          </p:nvSpPr>
          <p:spPr bwMode="auto">
            <a:xfrm>
              <a:off x="2165" y="2931"/>
              <a:ext cx="1366" cy="380"/>
            </a:xfrm>
            <a:custGeom>
              <a:avLst/>
              <a:gdLst>
                <a:gd name="T0" fmla="*/ 16 w 1399"/>
                <a:gd name="T1" fmla="*/ 153 h 446"/>
                <a:gd name="T2" fmla="*/ 47 w 1399"/>
                <a:gd name="T3" fmla="*/ 181 h 446"/>
                <a:gd name="T4" fmla="*/ 79 w 1399"/>
                <a:gd name="T5" fmla="*/ 208 h 446"/>
                <a:gd name="T6" fmla="*/ 114 w 1399"/>
                <a:gd name="T7" fmla="*/ 232 h 446"/>
                <a:gd name="T8" fmla="*/ 134 w 1399"/>
                <a:gd name="T9" fmla="*/ 242 h 446"/>
                <a:gd name="T10" fmla="*/ 151 w 1399"/>
                <a:gd name="T11" fmla="*/ 251 h 446"/>
                <a:gd name="T12" fmla="*/ 172 w 1399"/>
                <a:gd name="T13" fmla="*/ 259 h 446"/>
                <a:gd name="T14" fmla="*/ 192 w 1399"/>
                <a:gd name="T15" fmla="*/ 266 h 446"/>
                <a:gd name="T16" fmla="*/ 217 w 1399"/>
                <a:gd name="T17" fmla="*/ 271 h 446"/>
                <a:gd name="T18" fmla="*/ 240 w 1399"/>
                <a:gd name="T19" fmla="*/ 273 h 446"/>
                <a:gd name="T20" fmla="*/ 267 w 1399"/>
                <a:gd name="T21" fmla="*/ 275 h 446"/>
                <a:gd name="T22" fmla="*/ 296 w 1399"/>
                <a:gd name="T23" fmla="*/ 274 h 446"/>
                <a:gd name="T24" fmla="*/ 325 w 1399"/>
                <a:gd name="T25" fmla="*/ 272 h 446"/>
                <a:gd name="T26" fmla="*/ 341 w 1399"/>
                <a:gd name="T27" fmla="*/ 268 h 446"/>
                <a:gd name="T28" fmla="*/ 375 w 1399"/>
                <a:gd name="T29" fmla="*/ 261 h 446"/>
                <a:gd name="T30" fmla="*/ 412 w 1399"/>
                <a:gd name="T31" fmla="*/ 248 h 446"/>
                <a:gd name="T32" fmla="*/ 451 w 1399"/>
                <a:gd name="T33" fmla="*/ 233 h 446"/>
                <a:gd name="T34" fmla="*/ 493 w 1399"/>
                <a:gd name="T35" fmla="*/ 214 h 446"/>
                <a:gd name="T36" fmla="*/ 538 w 1399"/>
                <a:gd name="T37" fmla="*/ 193 h 446"/>
                <a:gd name="T38" fmla="*/ 583 w 1399"/>
                <a:gd name="T39" fmla="*/ 172 h 446"/>
                <a:gd name="T40" fmla="*/ 651 w 1399"/>
                <a:gd name="T41" fmla="*/ 138 h 446"/>
                <a:gd name="T42" fmla="*/ 719 w 1399"/>
                <a:gd name="T43" fmla="*/ 103 h 446"/>
                <a:gd name="T44" fmla="*/ 764 w 1399"/>
                <a:gd name="T45" fmla="*/ 81 h 446"/>
                <a:gd name="T46" fmla="*/ 808 w 1399"/>
                <a:gd name="T47" fmla="*/ 61 h 446"/>
                <a:gd name="T48" fmla="*/ 850 w 1399"/>
                <a:gd name="T49" fmla="*/ 43 h 446"/>
                <a:gd name="T50" fmla="*/ 890 w 1399"/>
                <a:gd name="T51" fmla="*/ 27 h 446"/>
                <a:gd name="T52" fmla="*/ 926 w 1399"/>
                <a:gd name="T53" fmla="*/ 15 h 446"/>
                <a:gd name="T54" fmla="*/ 959 w 1399"/>
                <a:gd name="T55" fmla="*/ 7 h 446"/>
                <a:gd name="T56" fmla="*/ 975 w 1399"/>
                <a:gd name="T57" fmla="*/ 4 h 446"/>
                <a:gd name="T58" fmla="*/ 1006 w 1399"/>
                <a:gd name="T59" fmla="*/ 2 h 446"/>
                <a:gd name="T60" fmla="*/ 1032 w 1399"/>
                <a:gd name="T61" fmla="*/ 0 h 446"/>
                <a:gd name="T62" fmla="*/ 1059 w 1399"/>
                <a:gd name="T63" fmla="*/ 3 h 446"/>
                <a:gd name="T64" fmla="*/ 1085 w 1399"/>
                <a:gd name="T65" fmla="*/ 5 h 446"/>
                <a:gd name="T66" fmla="*/ 1107 w 1399"/>
                <a:gd name="T67" fmla="*/ 9 h 446"/>
                <a:gd name="T68" fmla="*/ 1129 w 1399"/>
                <a:gd name="T69" fmla="*/ 16 h 446"/>
                <a:gd name="T70" fmla="*/ 1150 w 1399"/>
                <a:gd name="T71" fmla="*/ 24 h 446"/>
                <a:gd name="T72" fmla="*/ 1169 w 1399"/>
                <a:gd name="T73" fmla="*/ 33 h 446"/>
                <a:gd name="T74" fmla="*/ 1187 w 1399"/>
                <a:gd name="T75" fmla="*/ 43 h 446"/>
                <a:gd name="T76" fmla="*/ 1222 w 1399"/>
                <a:gd name="T77" fmla="*/ 67 h 446"/>
                <a:gd name="T78" fmla="*/ 1255 w 1399"/>
                <a:gd name="T79" fmla="*/ 95 h 446"/>
                <a:gd name="T80" fmla="*/ 1286 w 1399"/>
                <a:gd name="T81" fmla="*/ 124 h 44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399" h="446">
                  <a:moveTo>
                    <a:pt x="0" y="223"/>
                  </a:moveTo>
                  <a:lnTo>
                    <a:pt x="16" y="246"/>
                  </a:lnTo>
                  <a:lnTo>
                    <a:pt x="34" y="270"/>
                  </a:lnTo>
                  <a:lnTo>
                    <a:pt x="50" y="292"/>
                  </a:lnTo>
                  <a:lnTo>
                    <a:pt x="67" y="314"/>
                  </a:lnTo>
                  <a:lnTo>
                    <a:pt x="85" y="336"/>
                  </a:lnTo>
                  <a:lnTo>
                    <a:pt x="104" y="356"/>
                  </a:lnTo>
                  <a:lnTo>
                    <a:pt x="123" y="374"/>
                  </a:lnTo>
                  <a:lnTo>
                    <a:pt x="133" y="383"/>
                  </a:lnTo>
                  <a:lnTo>
                    <a:pt x="143" y="391"/>
                  </a:lnTo>
                  <a:lnTo>
                    <a:pt x="153" y="399"/>
                  </a:lnTo>
                  <a:lnTo>
                    <a:pt x="163" y="406"/>
                  </a:lnTo>
                  <a:lnTo>
                    <a:pt x="174" y="413"/>
                  </a:lnTo>
                  <a:lnTo>
                    <a:pt x="184" y="419"/>
                  </a:lnTo>
                  <a:lnTo>
                    <a:pt x="196" y="425"/>
                  </a:lnTo>
                  <a:lnTo>
                    <a:pt x="207" y="430"/>
                  </a:lnTo>
                  <a:lnTo>
                    <a:pt x="220" y="434"/>
                  </a:lnTo>
                  <a:lnTo>
                    <a:pt x="232" y="438"/>
                  </a:lnTo>
                  <a:lnTo>
                    <a:pt x="245" y="441"/>
                  </a:lnTo>
                  <a:lnTo>
                    <a:pt x="258" y="443"/>
                  </a:lnTo>
                  <a:lnTo>
                    <a:pt x="273" y="444"/>
                  </a:lnTo>
                  <a:lnTo>
                    <a:pt x="287" y="445"/>
                  </a:lnTo>
                  <a:lnTo>
                    <a:pt x="302" y="445"/>
                  </a:lnTo>
                  <a:lnTo>
                    <a:pt x="317" y="444"/>
                  </a:lnTo>
                  <a:lnTo>
                    <a:pt x="333" y="442"/>
                  </a:lnTo>
                  <a:lnTo>
                    <a:pt x="349" y="439"/>
                  </a:lnTo>
                  <a:lnTo>
                    <a:pt x="358" y="437"/>
                  </a:lnTo>
                  <a:lnTo>
                    <a:pt x="366" y="434"/>
                  </a:lnTo>
                  <a:lnTo>
                    <a:pt x="384" y="429"/>
                  </a:lnTo>
                  <a:lnTo>
                    <a:pt x="403" y="421"/>
                  </a:lnTo>
                  <a:lnTo>
                    <a:pt x="422" y="411"/>
                  </a:lnTo>
                  <a:lnTo>
                    <a:pt x="442" y="400"/>
                  </a:lnTo>
                  <a:lnTo>
                    <a:pt x="464" y="389"/>
                  </a:lnTo>
                  <a:lnTo>
                    <a:pt x="484" y="375"/>
                  </a:lnTo>
                  <a:lnTo>
                    <a:pt x="508" y="361"/>
                  </a:lnTo>
                  <a:lnTo>
                    <a:pt x="530" y="346"/>
                  </a:lnTo>
                  <a:lnTo>
                    <a:pt x="553" y="330"/>
                  </a:lnTo>
                  <a:lnTo>
                    <a:pt x="578" y="313"/>
                  </a:lnTo>
                  <a:lnTo>
                    <a:pt x="601" y="295"/>
                  </a:lnTo>
                  <a:lnTo>
                    <a:pt x="626" y="278"/>
                  </a:lnTo>
                  <a:lnTo>
                    <a:pt x="649" y="260"/>
                  </a:lnTo>
                  <a:lnTo>
                    <a:pt x="699" y="223"/>
                  </a:lnTo>
                  <a:lnTo>
                    <a:pt x="749" y="186"/>
                  </a:lnTo>
                  <a:lnTo>
                    <a:pt x="772" y="167"/>
                  </a:lnTo>
                  <a:lnTo>
                    <a:pt x="797" y="150"/>
                  </a:lnTo>
                  <a:lnTo>
                    <a:pt x="820" y="132"/>
                  </a:lnTo>
                  <a:lnTo>
                    <a:pt x="845" y="116"/>
                  </a:lnTo>
                  <a:lnTo>
                    <a:pt x="868" y="99"/>
                  </a:lnTo>
                  <a:lnTo>
                    <a:pt x="890" y="84"/>
                  </a:lnTo>
                  <a:lnTo>
                    <a:pt x="914" y="70"/>
                  </a:lnTo>
                  <a:lnTo>
                    <a:pt x="934" y="56"/>
                  </a:lnTo>
                  <a:lnTo>
                    <a:pt x="956" y="45"/>
                  </a:lnTo>
                  <a:lnTo>
                    <a:pt x="976" y="34"/>
                  </a:lnTo>
                  <a:lnTo>
                    <a:pt x="994" y="25"/>
                  </a:lnTo>
                  <a:lnTo>
                    <a:pt x="1013" y="17"/>
                  </a:lnTo>
                  <a:lnTo>
                    <a:pt x="1030" y="11"/>
                  </a:lnTo>
                  <a:lnTo>
                    <a:pt x="1039" y="8"/>
                  </a:lnTo>
                  <a:lnTo>
                    <a:pt x="1048" y="7"/>
                  </a:lnTo>
                  <a:lnTo>
                    <a:pt x="1064" y="4"/>
                  </a:lnTo>
                  <a:lnTo>
                    <a:pt x="1080" y="2"/>
                  </a:lnTo>
                  <a:lnTo>
                    <a:pt x="1094" y="1"/>
                  </a:lnTo>
                  <a:lnTo>
                    <a:pt x="1109" y="0"/>
                  </a:lnTo>
                  <a:lnTo>
                    <a:pt x="1124" y="1"/>
                  </a:lnTo>
                  <a:lnTo>
                    <a:pt x="1138" y="3"/>
                  </a:lnTo>
                  <a:lnTo>
                    <a:pt x="1151" y="4"/>
                  </a:lnTo>
                  <a:lnTo>
                    <a:pt x="1165" y="8"/>
                  </a:lnTo>
                  <a:lnTo>
                    <a:pt x="1176" y="11"/>
                  </a:lnTo>
                  <a:lnTo>
                    <a:pt x="1189" y="15"/>
                  </a:lnTo>
                  <a:lnTo>
                    <a:pt x="1201" y="20"/>
                  </a:lnTo>
                  <a:lnTo>
                    <a:pt x="1213" y="26"/>
                  </a:lnTo>
                  <a:lnTo>
                    <a:pt x="1224" y="32"/>
                  </a:lnTo>
                  <a:lnTo>
                    <a:pt x="1235" y="39"/>
                  </a:lnTo>
                  <a:lnTo>
                    <a:pt x="1245" y="46"/>
                  </a:lnTo>
                  <a:lnTo>
                    <a:pt x="1256" y="54"/>
                  </a:lnTo>
                  <a:lnTo>
                    <a:pt x="1265" y="62"/>
                  </a:lnTo>
                  <a:lnTo>
                    <a:pt x="1275" y="71"/>
                  </a:lnTo>
                  <a:lnTo>
                    <a:pt x="1294" y="89"/>
                  </a:lnTo>
                  <a:lnTo>
                    <a:pt x="1313" y="109"/>
                  </a:lnTo>
                  <a:lnTo>
                    <a:pt x="1331" y="131"/>
                  </a:lnTo>
                  <a:lnTo>
                    <a:pt x="1348" y="153"/>
                  </a:lnTo>
                  <a:lnTo>
                    <a:pt x="1364" y="176"/>
                  </a:lnTo>
                  <a:lnTo>
                    <a:pt x="1382" y="199"/>
                  </a:lnTo>
                  <a:lnTo>
                    <a:pt x="1398" y="22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6" name="任意多边形 595026"/>
            <p:cNvSpPr>
              <a:spLocks noChangeArrowheads="1"/>
            </p:cNvSpPr>
            <p:nvPr/>
          </p:nvSpPr>
          <p:spPr bwMode="auto">
            <a:xfrm>
              <a:off x="2171" y="3714"/>
              <a:ext cx="1360" cy="207"/>
            </a:xfrm>
            <a:custGeom>
              <a:avLst/>
              <a:gdLst>
                <a:gd name="T0" fmla="*/ 0 w 1393"/>
                <a:gd name="T1" fmla="*/ 0 h 242"/>
                <a:gd name="T2" fmla="*/ 41 w 1393"/>
                <a:gd name="T3" fmla="*/ 15 h 242"/>
                <a:gd name="T4" fmla="*/ 81 w 1393"/>
                <a:gd name="T5" fmla="*/ 28 h 242"/>
                <a:gd name="T6" fmla="*/ 122 w 1393"/>
                <a:gd name="T7" fmla="*/ 43 h 242"/>
                <a:gd name="T8" fmla="*/ 162 w 1393"/>
                <a:gd name="T9" fmla="*/ 56 h 242"/>
                <a:gd name="T10" fmla="*/ 203 w 1393"/>
                <a:gd name="T11" fmla="*/ 68 h 242"/>
                <a:gd name="T12" fmla="*/ 222 w 1393"/>
                <a:gd name="T13" fmla="*/ 74 h 242"/>
                <a:gd name="T14" fmla="*/ 243 w 1393"/>
                <a:gd name="T15" fmla="*/ 81 h 242"/>
                <a:gd name="T16" fmla="*/ 263 w 1393"/>
                <a:gd name="T17" fmla="*/ 87 h 242"/>
                <a:gd name="T18" fmla="*/ 284 w 1393"/>
                <a:gd name="T19" fmla="*/ 93 h 242"/>
                <a:gd name="T20" fmla="*/ 304 w 1393"/>
                <a:gd name="T21" fmla="*/ 98 h 242"/>
                <a:gd name="T22" fmla="*/ 324 w 1393"/>
                <a:gd name="T23" fmla="*/ 104 h 242"/>
                <a:gd name="T24" fmla="*/ 344 w 1393"/>
                <a:gd name="T25" fmla="*/ 109 h 242"/>
                <a:gd name="T26" fmla="*/ 365 w 1393"/>
                <a:gd name="T27" fmla="*/ 114 h 242"/>
                <a:gd name="T28" fmla="*/ 385 w 1393"/>
                <a:gd name="T29" fmla="*/ 119 h 242"/>
                <a:gd name="T30" fmla="*/ 405 w 1393"/>
                <a:gd name="T31" fmla="*/ 124 h 242"/>
                <a:gd name="T32" fmla="*/ 425 w 1393"/>
                <a:gd name="T33" fmla="*/ 127 h 242"/>
                <a:gd name="T34" fmla="*/ 446 w 1393"/>
                <a:gd name="T35" fmla="*/ 132 h 242"/>
                <a:gd name="T36" fmla="*/ 465 w 1393"/>
                <a:gd name="T37" fmla="*/ 134 h 242"/>
                <a:gd name="T38" fmla="*/ 486 w 1393"/>
                <a:gd name="T39" fmla="*/ 138 h 242"/>
                <a:gd name="T40" fmla="*/ 506 w 1393"/>
                <a:gd name="T41" fmla="*/ 140 h 242"/>
                <a:gd name="T42" fmla="*/ 527 w 1393"/>
                <a:gd name="T43" fmla="*/ 145 h 242"/>
                <a:gd name="T44" fmla="*/ 547 w 1393"/>
                <a:gd name="T45" fmla="*/ 145 h 242"/>
                <a:gd name="T46" fmla="*/ 567 w 1393"/>
                <a:gd name="T47" fmla="*/ 148 h 242"/>
                <a:gd name="T48" fmla="*/ 587 w 1393"/>
                <a:gd name="T49" fmla="*/ 149 h 242"/>
                <a:gd name="T50" fmla="*/ 608 w 1393"/>
                <a:gd name="T51" fmla="*/ 150 h 242"/>
                <a:gd name="T52" fmla="*/ 628 w 1393"/>
                <a:gd name="T53" fmla="*/ 151 h 242"/>
                <a:gd name="T54" fmla="*/ 648 w 1393"/>
                <a:gd name="T55" fmla="*/ 151 h 242"/>
                <a:gd name="T56" fmla="*/ 668 w 1393"/>
                <a:gd name="T57" fmla="*/ 151 h 242"/>
                <a:gd name="T58" fmla="*/ 688 w 1393"/>
                <a:gd name="T59" fmla="*/ 150 h 242"/>
                <a:gd name="T60" fmla="*/ 708 w 1393"/>
                <a:gd name="T61" fmla="*/ 149 h 242"/>
                <a:gd name="T62" fmla="*/ 728 w 1393"/>
                <a:gd name="T63" fmla="*/ 148 h 242"/>
                <a:gd name="T64" fmla="*/ 749 w 1393"/>
                <a:gd name="T65" fmla="*/ 145 h 242"/>
                <a:gd name="T66" fmla="*/ 769 w 1393"/>
                <a:gd name="T67" fmla="*/ 145 h 242"/>
                <a:gd name="T68" fmla="*/ 790 w 1393"/>
                <a:gd name="T69" fmla="*/ 140 h 242"/>
                <a:gd name="T70" fmla="*/ 809 w 1393"/>
                <a:gd name="T71" fmla="*/ 138 h 242"/>
                <a:gd name="T72" fmla="*/ 830 w 1393"/>
                <a:gd name="T73" fmla="*/ 134 h 242"/>
                <a:gd name="T74" fmla="*/ 850 w 1393"/>
                <a:gd name="T75" fmla="*/ 132 h 242"/>
                <a:gd name="T76" fmla="*/ 871 w 1393"/>
                <a:gd name="T77" fmla="*/ 127 h 242"/>
                <a:gd name="T78" fmla="*/ 890 w 1393"/>
                <a:gd name="T79" fmla="*/ 124 h 242"/>
                <a:gd name="T80" fmla="*/ 911 w 1393"/>
                <a:gd name="T81" fmla="*/ 119 h 242"/>
                <a:gd name="T82" fmla="*/ 931 w 1393"/>
                <a:gd name="T83" fmla="*/ 114 h 242"/>
                <a:gd name="T84" fmla="*/ 951 w 1393"/>
                <a:gd name="T85" fmla="*/ 109 h 242"/>
                <a:gd name="T86" fmla="*/ 971 w 1393"/>
                <a:gd name="T87" fmla="*/ 104 h 242"/>
                <a:gd name="T88" fmla="*/ 992 w 1393"/>
                <a:gd name="T89" fmla="*/ 98 h 242"/>
                <a:gd name="T90" fmla="*/ 1012 w 1393"/>
                <a:gd name="T91" fmla="*/ 93 h 242"/>
                <a:gd name="T92" fmla="*/ 1032 w 1393"/>
                <a:gd name="T93" fmla="*/ 87 h 242"/>
                <a:gd name="T94" fmla="*/ 1052 w 1393"/>
                <a:gd name="T95" fmla="*/ 81 h 242"/>
                <a:gd name="T96" fmla="*/ 1073 w 1393"/>
                <a:gd name="T97" fmla="*/ 74 h 242"/>
                <a:gd name="T98" fmla="*/ 1093 w 1393"/>
                <a:gd name="T99" fmla="*/ 68 h 242"/>
                <a:gd name="T100" fmla="*/ 1133 w 1393"/>
                <a:gd name="T101" fmla="*/ 56 h 242"/>
                <a:gd name="T102" fmla="*/ 1175 w 1393"/>
                <a:gd name="T103" fmla="*/ 43 h 242"/>
                <a:gd name="T104" fmla="*/ 1215 w 1393"/>
                <a:gd name="T105" fmla="*/ 28 h 242"/>
                <a:gd name="T106" fmla="*/ 1256 w 1393"/>
                <a:gd name="T107" fmla="*/ 15 h 242"/>
                <a:gd name="T108" fmla="*/ 1296 w 1393"/>
                <a:gd name="T109" fmla="*/ 0 h 2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393" h="242">
                  <a:moveTo>
                    <a:pt x="0" y="0"/>
                  </a:moveTo>
                  <a:lnTo>
                    <a:pt x="44" y="23"/>
                  </a:lnTo>
                  <a:lnTo>
                    <a:pt x="87" y="45"/>
                  </a:lnTo>
                  <a:lnTo>
                    <a:pt x="131" y="68"/>
                  </a:lnTo>
                  <a:lnTo>
                    <a:pt x="174" y="89"/>
                  </a:lnTo>
                  <a:lnTo>
                    <a:pt x="218" y="110"/>
                  </a:lnTo>
                  <a:lnTo>
                    <a:pt x="239" y="119"/>
                  </a:lnTo>
                  <a:lnTo>
                    <a:pt x="261" y="130"/>
                  </a:lnTo>
                  <a:lnTo>
                    <a:pt x="283" y="139"/>
                  </a:lnTo>
                  <a:lnTo>
                    <a:pt x="305" y="149"/>
                  </a:lnTo>
                  <a:lnTo>
                    <a:pt x="327" y="158"/>
                  </a:lnTo>
                  <a:lnTo>
                    <a:pt x="348" y="166"/>
                  </a:lnTo>
                  <a:lnTo>
                    <a:pt x="370" y="174"/>
                  </a:lnTo>
                  <a:lnTo>
                    <a:pt x="392" y="182"/>
                  </a:lnTo>
                  <a:lnTo>
                    <a:pt x="414" y="190"/>
                  </a:lnTo>
                  <a:lnTo>
                    <a:pt x="435" y="197"/>
                  </a:lnTo>
                  <a:lnTo>
                    <a:pt x="457" y="204"/>
                  </a:lnTo>
                  <a:lnTo>
                    <a:pt x="479" y="210"/>
                  </a:lnTo>
                  <a:lnTo>
                    <a:pt x="500" y="215"/>
                  </a:lnTo>
                  <a:lnTo>
                    <a:pt x="522" y="220"/>
                  </a:lnTo>
                  <a:lnTo>
                    <a:pt x="544" y="225"/>
                  </a:lnTo>
                  <a:lnTo>
                    <a:pt x="566" y="230"/>
                  </a:lnTo>
                  <a:lnTo>
                    <a:pt x="588" y="233"/>
                  </a:lnTo>
                  <a:lnTo>
                    <a:pt x="609" y="236"/>
                  </a:lnTo>
                  <a:lnTo>
                    <a:pt x="631" y="238"/>
                  </a:lnTo>
                  <a:lnTo>
                    <a:pt x="653" y="240"/>
                  </a:lnTo>
                  <a:lnTo>
                    <a:pt x="675" y="241"/>
                  </a:lnTo>
                  <a:lnTo>
                    <a:pt x="696" y="241"/>
                  </a:lnTo>
                  <a:lnTo>
                    <a:pt x="718" y="241"/>
                  </a:lnTo>
                  <a:lnTo>
                    <a:pt x="740" y="240"/>
                  </a:lnTo>
                  <a:lnTo>
                    <a:pt x="761" y="238"/>
                  </a:lnTo>
                  <a:lnTo>
                    <a:pt x="783" y="236"/>
                  </a:lnTo>
                  <a:lnTo>
                    <a:pt x="805" y="233"/>
                  </a:lnTo>
                  <a:lnTo>
                    <a:pt x="827" y="230"/>
                  </a:lnTo>
                  <a:lnTo>
                    <a:pt x="849" y="225"/>
                  </a:lnTo>
                  <a:lnTo>
                    <a:pt x="870" y="220"/>
                  </a:lnTo>
                  <a:lnTo>
                    <a:pt x="892" y="215"/>
                  </a:lnTo>
                  <a:lnTo>
                    <a:pt x="914" y="210"/>
                  </a:lnTo>
                  <a:lnTo>
                    <a:pt x="936" y="204"/>
                  </a:lnTo>
                  <a:lnTo>
                    <a:pt x="957" y="197"/>
                  </a:lnTo>
                  <a:lnTo>
                    <a:pt x="979" y="190"/>
                  </a:lnTo>
                  <a:lnTo>
                    <a:pt x="1001" y="182"/>
                  </a:lnTo>
                  <a:lnTo>
                    <a:pt x="1022" y="174"/>
                  </a:lnTo>
                  <a:lnTo>
                    <a:pt x="1044" y="166"/>
                  </a:lnTo>
                  <a:lnTo>
                    <a:pt x="1066" y="158"/>
                  </a:lnTo>
                  <a:lnTo>
                    <a:pt x="1088" y="149"/>
                  </a:lnTo>
                  <a:lnTo>
                    <a:pt x="1109" y="139"/>
                  </a:lnTo>
                  <a:lnTo>
                    <a:pt x="1131" y="130"/>
                  </a:lnTo>
                  <a:lnTo>
                    <a:pt x="1153" y="119"/>
                  </a:lnTo>
                  <a:lnTo>
                    <a:pt x="1175" y="110"/>
                  </a:lnTo>
                  <a:lnTo>
                    <a:pt x="1218" y="89"/>
                  </a:lnTo>
                  <a:lnTo>
                    <a:pt x="1262" y="68"/>
                  </a:lnTo>
                  <a:lnTo>
                    <a:pt x="1305" y="45"/>
                  </a:lnTo>
                  <a:lnTo>
                    <a:pt x="1349" y="23"/>
                  </a:lnTo>
                  <a:lnTo>
                    <a:pt x="1392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7" name="任意多边形 595027"/>
            <p:cNvSpPr>
              <a:spLocks noChangeArrowheads="1"/>
            </p:cNvSpPr>
            <p:nvPr/>
          </p:nvSpPr>
          <p:spPr bwMode="auto">
            <a:xfrm>
              <a:off x="2169" y="1088"/>
              <a:ext cx="1362" cy="377"/>
            </a:xfrm>
            <a:custGeom>
              <a:avLst/>
              <a:gdLst>
                <a:gd name="T0" fmla="*/ 16 w 1395"/>
                <a:gd name="T1" fmla="*/ 163 h 443"/>
                <a:gd name="T2" fmla="*/ 38 w 1395"/>
                <a:gd name="T3" fmla="*/ 205 h 443"/>
                <a:gd name="T4" fmla="*/ 61 w 1395"/>
                <a:gd name="T5" fmla="*/ 234 h 443"/>
                <a:gd name="T6" fmla="*/ 73 w 1395"/>
                <a:gd name="T7" fmla="*/ 248 h 443"/>
                <a:gd name="T8" fmla="*/ 89 w 1395"/>
                <a:gd name="T9" fmla="*/ 260 h 443"/>
                <a:gd name="T10" fmla="*/ 104 w 1395"/>
                <a:gd name="T11" fmla="*/ 268 h 443"/>
                <a:gd name="T12" fmla="*/ 124 w 1395"/>
                <a:gd name="T13" fmla="*/ 271 h 443"/>
                <a:gd name="T14" fmla="*/ 143 w 1395"/>
                <a:gd name="T15" fmla="*/ 271 h 443"/>
                <a:gd name="T16" fmla="*/ 162 w 1395"/>
                <a:gd name="T17" fmla="*/ 267 h 443"/>
                <a:gd name="T18" fmla="*/ 174 w 1395"/>
                <a:gd name="T19" fmla="*/ 262 h 443"/>
                <a:gd name="T20" fmla="*/ 189 w 1395"/>
                <a:gd name="T21" fmla="*/ 250 h 443"/>
                <a:gd name="T22" fmla="*/ 217 w 1395"/>
                <a:gd name="T23" fmla="*/ 226 h 443"/>
                <a:gd name="T24" fmla="*/ 245 w 1395"/>
                <a:gd name="T25" fmla="*/ 197 h 443"/>
                <a:gd name="T26" fmla="*/ 286 w 1395"/>
                <a:gd name="T27" fmla="*/ 151 h 443"/>
                <a:gd name="T28" fmla="*/ 338 w 1395"/>
                <a:gd name="T29" fmla="*/ 92 h 443"/>
                <a:gd name="T30" fmla="*/ 371 w 1395"/>
                <a:gd name="T31" fmla="*/ 60 h 443"/>
                <a:gd name="T32" fmla="*/ 403 w 1395"/>
                <a:gd name="T33" fmla="*/ 32 h 443"/>
                <a:gd name="T34" fmla="*/ 433 w 1395"/>
                <a:gd name="T35" fmla="*/ 13 h 443"/>
                <a:gd name="T36" fmla="*/ 450 w 1395"/>
                <a:gd name="T37" fmla="*/ 7 h 443"/>
                <a:gd name="T38" fmla="*/ 464 w 1395"/>
                <a:gd name="T39" fmla="*/ 3 h 443"/>
                <a:gd name="T40" fmla="*/ 479 w 1395"/>
                <a:gd name="T41" fmla="*/ 3 h 443"/>
                <a:gd name="T42" fmla="*/ 494 w 1395"/>
                <a:gd name="T43" fmla="*/ 5 h 443"/>
                <a:gd name="T44" fmla="*/ 509 w 1395"/>
                <a:gd name="T45" fmla="*/ 11 h 443"/>
                <a:gd name="T46" fmla="*/ 524 w 1395"/>
                <a:gd name="T47" fmla="*/ 20 h 443"/>
                <a:gd name="T48" fmla="*/ 554 w 1395"/>
                <a:gd name="T49" fmla="*/ 43 h 443"/>
                <a:gd name="T50" fmla="*/ 584 w 1395"/>
                <a:gd name="T51" fmla="*/ 75 h 443"/>
                <a:gd name="T52" fmla="*/ 613 w 1395"/>
                <a:gd name="T53" fmla="*/ 110 h 443"/>
                <a:gd name="T54" fmla="*/ 663 w 1395"/>
                <a:gd name="T55" fmla="*/ 172 h 443"/>
                <a:gd name="T56" fmla="*/ 692 w 1395"/>
                <a:gd name="T57" fmla="*/ 207 h 443"/>
                <a:gd name="T58" fmla="*/ 722 w 1395"/>
                <a:gd name="T59" fmla="*/ 236 h 443"/>
                <a:gd name="T60" fmla="*/ 747 w 1395"/>
                <a:gd name="T61" fmla="*/ 254 h 443"/>
                <a:gd name="T62" fmla="*/ 762 w 1395"/>
                <a:gd name="T63" fmla="*/ 262 h 443"/>
                <a:gd name="T64" fmla="*/ 777 w 1395"/>
                <a:gd name="T65" fmla="*/ 266 h 443"/>
                <a:gd name="T66" fmla="*/ 791 w 1395"/>
                <a:gd name="T67" fmla="*/ 268 h 443"/>
                <a:gd name="T68" fmla="*/ 806 w 1395"/>
                <a:gd name="T69" fmla="*/ 266 h 443"/>
                <a:gd name="T70" fmla="*/ 821 w 1395"/>
                <a:gd name="T71" fmla="*/ 263 h 443"/>
                <a:gd name="T72" fmla="*/ 842 w 1395"/>
                <a:gd name="T73" fmla="*/ 253 h 443"/>
                <a:gd name="T74" fmla="*/ 873 w 1395"/>
                <a:gd name="T75" fmla="*/ 230 h 443"/>
                <a:gd name="T76" fmla="*/ 905 w 1395"/>
                <a:gd name="T77" fmla="*/ 201 h 443"/>
                <a:gd name="T78" fmla="*/ 936 w 1395"/>
                <a:gd name="T79" fmla="*/ 168 h 443"/>
                <a:gd name="T80" fmla="*/ 998 w 1395"/>
                <a:gd name="T81" fmla="*/ 96 h 443"/>
                <a:gd name="T82" fmla="*/ 1027 w 1395"/>
                <a:gd name="T83" fmla="*/ 63 h 443"/>
                <a:gd name="T84" fmla="*/ 1056 w 1395"/>
                <a:gd name="T85" fmla="*/ 36 h 443"/>
                <a:gd name="T86" fmla="*/ 1082 w 1395"/>
                <a:gd name="T87" fmla="*/ 14 h 443"/>
                <a:gd name="T88" fmla="*/ 1096 w 1395"/>
                <a:gd name="T89" fmla="*/ 7 h 443"/>
                <a:gd name="T90" fmla="*/ 1108 w 1395"/>
                <a:gd name="T91" fmla="*/ 3 h 443"/>
                <a:gd name="T92" fmla="*/ 1132 w 1395"/>
                <a:gd name="T93" fmla="*/ 0 h 443"/>
                <a:gd name="T94" fmla="*/ 1154 w 1395"/>
                <a:gd name="T95" fmla="*/ 4 h 443"/>
                <a:gd name="T96" fmla="*/ 1176 w 1395"/>
                <a:gd name="T97" fmla="*/ 14 h 443"/>
                <a:gd name="T98" fmla="*/ 1196 w 1395"/>
                <a:gd name="T99" fmla="*/ 29 h 443"/>
                <a:gd name="T100" fmla="*/ 1222 w 1395"/>
                <a:gd name="T101" fmla="*/ 52 h 443"/>
                <a:gd name="T102" fmla="*/ 1257 w 1395"/>
                <a:gd name="T103" fmla="*/ 90 h 443"/>
                <a:gd name="T104" fmla="*/ 1276 w 1395"/>
                <a:gd name="T105" fmla="*/ 113 h 443"/>
                <a:gd name="T106" fmla="*/ 1287 w 1395"/>
                <a:gd name="T107" fmla="*/ 126 h 443"/>
                <a:gd name="T108" fmla="*/ 1298 w 1395"/>
                <a:gd name="T109" fmla="*/ 135 h 44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395" h="443">
                  <a:moveTo>
                    <a:pt x="0" y="220"/>
                  </a:moveTo>
                  <a:lnTo>
                    <a:pt x="8" y="243"/>
                  </a:lnTo>
                  <a:lnTo>
                    <a:pt x="16" y="266"/>
                  </a:lnTo>
                  <a:lnTo>
                    <a:pt x="24" y="289"/>
                  </a:lnTo>
                  <a:lnTo>
                    <a:pt x="33" y="311"/>
                  </a:lnTo>
                  <a:lnTo>
                    <a:pt x="41" y="333"/>
                  </a:lnTo>
                  <a:lnTo>
                    <a:pt x="50" y="353"/>
                  </a:lnTo>
                  <a:lnTo>
                    <a:pt x="60" y="371"/>
                  </a:lnTo>
                  <a:lnTo>
                    <a:pt x="65" y="380"/>
                  </a:lnTo>
                  <a:lnTo>
                    <a:pt x="70" y="388"/>
                  </a:lnTo>
                  <a:lnTo>
                    <a:pt x="75" y="396"/>
                  </a:lnTo>
                  <a:lnTo>
                    <a:pt x="79" y="403"/>
                  </a:lnTo>
                  <a:lnTo>
                    <a:pt x="84" y="410"/>
                  </a:lnTo>
                  <a:lnTo>
                    <a:pt x="89" y="416"/>
                  </a:lnTo>
                  <a:lnTo>
                    <a:pt x="95" y="422"/>
                  </a:lnTo>
                  <a:lnTo>
                    <a:pt x="101" y="427"/>
                  </a:lnTo>
                  <a:lnTo>
                    <a:pt x="107" y="431"/>
                  </a:lnTo>
                  <a:lnTo>
                    <a:pt x="113" y="435"/>
                  </a:lnTo>
                  <a:lnTo>
                    <a:pt x="119" y="438"/>
                  </a:lnTo>
                  <a:lnTo>
                    <a:pt x="126" y="440"/>
                  </a:lnTo>
                  <a:lnTo>
                    <a:pt x="133" y="441"/>
                  </a:lnTo>
                  <a:lnTo>
                    <a:pt x="140" y="442"/>
                  </a:lnTo>
                  <a:lnTo>
                    <a:pt x="147" y="441"/>
                  </a:lnTo>
                  <a:lnTo>
                    <a:pt x="154" y="440"/>
                  </a:lnTo>
                  <a:lnTo>
                    <a:pt x="162" y="438"/>
                  </a:lnTo>
                  <a:lnTo>
                    <a:pt x="170" y="435"/>
                  </a:lnTo>
                  <a:lnTo>
                    <a:pt x="174" y="434"/>
                  </a:lnTo>
                  <a:lnTo>
                    <a:pt x="178" y="431"/>
                  </a:lnTo>
                  <a:lnTo>
                    <a:pt x="182" y="429"/>
                  </a:lnTo>
                  <a:lnTo>
                    <a:pt x="186" y="425"/>
                  </a:lnTo>
                  <a:lnTo>
                    <a:pt x="191" y="421"/>
                  </a:lnTo>
                  <a:lnTo>
                    <a:pt x="195" y="417"/>
                  </a:lnTo>
                  <a:lnTo>
                    <a:pt x="204" y="407"/>
                  </a:lnTo>
                  <a:lnTo>
                    <a:pt x="214" y="395"/>
                  </a:lnTo>
                  <a:lnTo>
                    <a:pt x="223" y="383"/>
                  </a:lnTo>
                  <a:lnTo>
                    <a:pt x="233" y="368"/>
                  </a:lnTo>
                  <a:lnTo>
                    <a:pt x="243" y="353"/>
                  </a:lnTo>
                  <a:lnTo>
                    <a:pt x="253" y="337"/>
                  </a:lnTo>
                  <a:lnTo>
                    <a:pt x="263" y="320"/>
                  </a:lnTo>
                  <a:lnTo>
                    <a:pt x="274" y="302"/>
                  </a:lnTo>
                  <a:lnTo>
                    <a:pt x="285" y="283"/>
                  </a:lnTo>
                  <a:lnTo>
                    <a:pt x="307" y="245"/>
                  </a:lnTo>
                  <a:lnTo>
                    <a:pt x="329" y="206"/>
                  </a:lnTo>
                  <a:lnTo>
                    <a:pt x="352" y="168"/>
                  </a:lnTo>
                  <a:lnTo>
                    <a:pt x="363" y="149"/>
                  </a:lnTo>
                  <a:lnTo>
                    <a:pt x="375" y="131"/>
                  </a:lnTo>
                  <a:lnTo>
                    <a:pt x="387" y="113"/>
                  </a:lnTo>
                  <a:lnTo>
                    <a:pt x="398" y="97"/>
                  </a:lnTo>
                  <a:lnTo>
                    <a:pt x="410" y="81"/>
                  </a:lnTo>
                  <a:lnTo>
                    <a:pt x="421" y="66"/>
                  </a:lnTo>
                  <a:lnTo>
                    <a:pt x="433" y="53"/>
                  </a:lnTo>
                  <a:lnTo>
                    <a:pt x="444" y="40"/>
                  </a:lnTo>
                  <a:lnTo>
                    <a:pt x="456" y="30"/>
                  </a:lnTo>
                  <a:lnTo>
                    <a:pt x="466" y="21"/>
                  </a:lnTo>
                  <a:lnTo>
                    <a:pt x="471" y="17"/>
                  </a:lnTo>
                  <a:lnTo>
                    <a:pt x="477" y="13"/>
                  </a:lnTo>
                  <a:lnTo>
                    <a:pt x="483" y="10"/>
                  </a:lnTo>
                  <a:lnTo>
                    <a:pt x="488" y="8"/>
                  </a:lnTo>
                  <a:lnTo>
                    <a:pt x="493" y="7"/>
                  </a:lnTo>
                  <a:lnTo>
                    <a:pt x="499" y="5"/>
                  </a:lnTo>
                  <a:lnTo>
                    <a:pt x="505" y="4"/>
                  </a:lnTo>
                  <a:lnTo>
                    <a:pt x="510" y="4"/>
                  </a:lnTo>
                  <a:lnTo>
                    <a:pt x="515" y="4"/>
                  </a:lnTo>
                  <a:lnTo>
                    <a:pt x="520" y="5"/>
                  </a:lnTo>
                  <a:lnTo>
                    <a:pt x="526" y="7"/>
                  </a:lnTo>
                  <a:lnTo>
                    <a:pt x="531" y="8"/>
                  </a:lnTo>
                  <a:lnTo>
                    <a:pt x="537" y="11"/>
                  </a:lnTo>
                  <a:lnTo>
                    <a:pt x="542" y="14"/>
                  </a:lnTo>
                  <a:lnTo>
                    <a:pt x="547" y="18"/>
                  </a:lnTo>
                  <a:lnTo>
                    <a:pt x="552" y="22"/>
                  </a:lnTo>
                  <a:lnTo>
                    <a:pt x="558" y="27"/>
                  </a:lnTo>
                  <a:lnTo>
                    <a:pt x="563" y="32"/>
                  </a:lnTo>
                  <a:lnTo>
                    <a:pt x="573" y="44"/>
                  </a:lnTo>
                  <a:lnTo>
                    <a:pt x="584" y="57"/>
                  </a:lnTo>
                  <a:lnTo>
                    <a:pt x="595" y="71"/>
                  </a:lnTo>
                  <a:lnTo>
                    <a:pt x="605" y="87"/>
                  </a:lnTo>
                  <a:lnTo>
                    <a:pt x="616" y="104"/>
                  </a:lnTo>
                  <a:lnTo>
                    <a:pt x="627" y="121"/>
                  </a:lnTo>
                  <a:lnTo>
                    <a:pt x="637" y="140"/>
                  </a:lnTo>
                  <a:lnTo>
                    <a:pt x="648" y="160"/>
                  </a:lnTo>
                  <a:lnTo>
                    <a:pt x="659" y="179"/>
                  </a:lnTo>
                  <a:lnTo>
                    <a:pt x="680" y="220"/>
                  </a:lnTo>
                  <a:lnTo>
                    <a:pt x="701" y="260"/>
                  </a:lnTo>
                  <a:lnTo>
                    <a:pt x="712" y="279"/>
                  </a:lnTo>
                  <a:lnTo>
                    <a:pt x="723" y="299"/>
                  </a:lnTo>
                  <a:lnTo>
                    <a:pt x="733" y="318"/>
                  </a:lnTo>
                  <a:lnTo>
                    <a:pt x="744" y="335"/>
                  </a:lnTo>
                  <a:lnTo>
                    <a:pt x="754" y="352"/>
                  </a:lnTo>
                  <a:lnTo>
                    <a:pt x="765" y="368"/>
                  </a:lnTo>
                  <a:lnTo>
                    <a:pt x="776" y="383"/>
                  </a:lnTo>
                  <a:lnTo>
                    <a:pt x="786" y="396"/>
                  </a:lnTo>
                  <a:lnTo>
                    <a:pt x="797" y="407"/>
                  </a:lnTo>
                  <a:lnTo>
                    <a:pt x="803" y="412"/>
                  </a:lnTo>
                  <a:lnTo>
                    <a:pt x="808" y="417"/>
                  </a:lnTo>
                  <a:lnTo>
                    <a:pt x="813" y="421"/>
                  </a:lnTo>
                  <a:lnTo>
                    <a:pt x="818" y="425"/>
                  </a:lnTo>
                  <a:lnTo>
                    <a:pt x="824" y="428"/>
                  </a:lnTo>
                  <a:lnTo>
                    <a:pt x="829" y="430"/>
                  </a:lnTo>
                  <a:lnTo>
                    <a:pt x="835" y="433"/>
                  </a:lnTo>
                  <a:lnTo>
                    <a:pt x="840" y="434"/>
                  </a:lnTo>
                  <a:lnTo>
                    <a:pt x="845" y="435"/>
                  </a:lnTo>
                  <a:lnTo>
                    <a:pt x="850" y="435"/>
                  </a:lnTo>
                  <a:lnTo>
                    <a:pt x="856" y="435"/>
                  </a:lnTo>
                  <a:lnTo>
                    <a:pt x="861" y="434"/>
                  </a:lnTo>
                  <a:lnTo>
                    <a:pt x="866" y="433"/>
                  </a:lnTo>
                  <a:lnTo>
                    <a:pt x="871" y="431"/>
                  </a:lnTo>
                  <a:lnTo>
                    <a:pt x="877" y="429"/>
                  </a:lnTo>
                  <a:lnTo>
                    <a:pt x="882" y="426"/>
                  </a:lnTo>
                  <a:lnTo>
                    <a:pt x="888" y="423"/>
                  </a:lnTo>
                  <a:lnTo>
                    <a:pt x="893" y="419"/>
                  </a:lnTo>
                  <a:lnTo>
                    <a:pt x="904" y="410"/>
                  </a:lnTo>
                  <a:lnTo>
                    <a:pt x="916" y="399"/>
                  </a:lnTo>
                  <a:lnTo>
                    <a:pt x="927" y="387"/>
                  </a:lnTo>
                  <a:lnTo>
                    <a:pt x="938" y="373"/>
                  </a:lnTo>
                  <a:lnTo>
                    <a:pt x="949" y="359"/>
                  </a:lnTo>
                  <a:lnTo>
                    <a:pt x="960" y="343"/>
                  </a:lnTo>
                  <a:lnTo>
                    <a:pt x="972" y="326"/>
                  </a:lnTo>
                  <a:lnTo>
                    <a:pt x="983" y="308"/>
                  </a:lnTo>
                  <a:lnTo>
                    <a:pt x="994" y="290"/>
                  </a:lnTo>
                  <a:lnTo>
                    <a:pt x="1006" y="271"/>
                  </a:lnTo>
                  <a:lnTo>
                    <a:pt x="1028" y="233"/>
                  </a:lnTo>
                  <a:lnTo>
                    <a:pt x="1050" y="194"/>
                  </a:lnTo>
                  <a:lnTo>
                    <a:pt x="1072" y="156"/>
                  </a:lnTo>
                  <a:lnTo>
                    <a:pt x="1083" y="138"/>
                  </a:lnTo>
                  <a:lnTo>
                    <a:pt x="1094" y="120"/>
                  </a:lnTo>
                  <a:lnTo>
                    <a:pt x="1104" y="102"/>
                  </a:lnTo>
                  <a:lnTo>
                    <a:pt x="1115" y="87"/>
                  </a:lnTo>
                  <a:lnTo>
                    <a:pt x="1125" y="71"/>
                  </a:lnTo>
                  <a:lnTo>
                    <a:pt x="1135" y="57"/>
                  </a:lnTo>
                  <a:lnTo>
                    <a:pt x="1145" y="44"/>
                  </a:lnTo>
                  <a:lnTo>
                    <a:pt x="1154" y="32"/>
                  </a:lnTo>
                  <a:lnTo>
                    <a:pt x="1163" y="22"/>
                  </a:lnTo>
                  <a:lnTo>
                    <a:pt x="1168" y="18"/>
                  </a:lnTo>
                  <a:lnTo>
                    <a:pt x="1173" y="14"/>
                  </a:lnTo>
                  <a:lnTo>
                    <a:pt x="1178" y="11"/>
                  </a:lnTo>
                  <a:lnTo>
                    <a:pt x="1182" y="8"/>
                  </a:lnTo>
                  <a:lnTo>
                    <a:pt x="1186" y="6"/>
                  </a:lnTo>
                  <a:lnTo>
                    <a:pt x="1190" y="4"/>
                  </a:lnTo>
                  <a:lnTo>
                    <a:pt x="1199" y="1"/>
                  </a:lnTo>
                  <a:lnTo>
                    <a:pt x="1207" y="0"/>
                  </a:lnTo>
                  <a:lnTo>
                    <a:pt x="1216" y="0"/>
                  </a:lnTo>
                  <a:lnTo>
                    <a:pt x="1224" y="1"/>
                  </a:lnTo>
                  <a:lnTo>
                    <a:pt x="1232" y="4"/>
                  </a:lnTo>
                  <a:lnTo>
                    <a:pt x="1240" y="7"/>
                  </a:lnTo>
                  <a:lnTo>
                    <a:pt x="1248" y="12"/>
                  </a:lnTo>
                  <a:lnTo>
                    <a:pt x="1256" y="17"/>
                  </a:lnTo>
                  <a:lnTo>
                    <a:pt x="1263" y="23"/>
                  </a:lnTo>
                  <a:lnTo>
                    <a:pt x="1270" y="31"/>
                  </a:lnTo>
                  <a:lnTo>
                    <a:pt x="1278" y="38"/>
                  </a:lnTo>
                  <a:lnTo>
                    <a:pt x="1285" y="47"/>
                  </a:lnTo>
                  <a:lnTo>
                    <a:pt x="1293" y="55"/>
                  </a:lnTo>
                  <a:lnTo>
                    <a:pt x="1300" y="65"/>
                  </a:lnTo>
                  <a:lnTo>
                    <a:pt x="1313" y="85"/>
                  </a:lnTo>
                  <a:lnTo>
                    <a:pt x="1326" y="105"/>
                  </a:lnTo>
                  <a:lnTo>
                    <a:pt x="1339" y="126"/>
                  </a:lnTo>
                  <a:lnTo>
                    <a:pt x="1350" y="146"/>
                  </a:lnTo>
                  <a:lnTo>
                    <a:pt x="1361" y="166"/>
                  </a:lnTo>
                  <a:lnTo>
                    <a:pt x="1366" y="175"/>
                  </a:lnTo>
                  <a:lnTo>
                    <a:pt x="1371" y="183"/>
                  </a:lnTo>
                  <a:lnTo>
                    <a:pt x="1375" y="191"/>
                  </a:lnTo>
                  <a:lnTo>
                    <a:pt x="1379" y="198"/>
                  </a:lnTo>
                  <a:lnTo>
                    <a:pt x="1383" y="205"/>
                  </a:lnTo>
                  <a:lnTo>
                    <a:pt x="1387" y="211"/>
                  </a:lnTo>
                  <a:lnTo>
                    <a:pt x="1390" y="216"/>
                  </a:lnTo>
                  <a:lnTo>
                    <a:pt x="1394" y="22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8" name="矩形 595028"/>
            <p:cNvSpPr>
              <a:spLocks noChangeArrowheads="1"/>
            </p:cNvSpPr>
            <p:nvPr/>
          </p:nvSpPr>
          <p:spPr bwMode="auto">
            <a:xfrm>
              <a:off x="3503" y="109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i="1" baseline="0"/>
                <a:t>n</a:t>
              </a:r>
            </a:p>
          </p:txBody>
        </p:sp>
        <p:sp>
          <p:nvSpPr>
            <p:cNvPr id="82999" name="矩形 595029"/>
            <p:cNvSpPr>
              <a:spLocks noChangeArrowheads="1"/>
            </p:cNvSpPr>
            <p:nvPr/>
          </p:nvSpPr>
          <p:spPr bwMode="auto">
            <a:xfrm>
              <a:off x="3503" y="355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i="1" baseline="0"/>
                <a:t>n</a:t>
              </a:r>
            </a:p>
          </p:txBody>
        </p:sp>
        <p:sp>
          <p:nvSpPr>
            <p:cNvPr id="83000" name="矩形 595030"/>
            <p:cNvSpPr>
              <a:spLocks noChangeArrowheads="1"/>
            </p:cNvSpPr>
            <p:nvPr/>
          </p:nvSpPr>
          <p:spPr bwMode="auto">
            <a:xfrm>
              <a:off x="3503" y="301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i="1" baseline="0"/>
                <a:t>n</a:t>
              </a:r>
            </a:p>
          </p:txBody>
        </p:sp>
        <p:sp>
          <p:nvSpPr>
            <p:cNvPr id="83001" name="矩形 595031"/>
            <p:cNvSpPr>
              <a:spLocks noChangeArrowheads="1"/>
            </p:cNvSpPr>
            <p:nvPr/>
          </p:nvSpPr>
          <p:spPr bwMode="auto">
            <a:xfrm>
              <a:off x="3503" y="232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i="1" baseline="0"/>
                <a:t>n</a:t>
              </a:r>
            </a:p>
          </p:txBody>
        </p:sp>
        <p:sp>
          <p:nvSpPr>
            <p:cNvPr id="83002" name="矩形 595032"/>
            <p:cNvSpPr>
              <a:spLocks noChangeArrowheads="1"/>
            </p:cNvSpPr>
            <p:nvPr/>
          </p:nvSpPr>
          <p:spPr bwMode="auto">
            <a:xfrm>
              <a:off x="5351" y="396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i="1" baseline="0"/>
                <a:t>a</a:t>
              </a:r>
            </a:p>
          </p:txBody>
        </p:sp>
        <p:sp>
          <p:nvSpPr>
            <p:cNvPr id="83003" name="矩形 595033"/>
            <p:cNvSpPr>
              <a:spLocks noChangeArrowheads="1"/>
            </p:cNvSpPr>
            <p:nvPr/>
          </p:nvSpPr>
          <p:spPr bwMode="auto">
            <a:xfrm>
              <a:off x="3327" y="394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i="1" baseline="0"/>
                <a:t>a</a:t>
              </a:r>
            </a:p>
          </p:txBody>
        </p:sp>
        <p:graphicFrame>
          <p:nvGraphicFramePr>
            <p:cNvPr id="83004" name="对象 595034"/>
            <p:cNvGraphicFramePr/>
            <p:nvPr/>
          </p:nvGraphicFramePr>
          <p:xfrm>
            <a:off x="2544" y="3474"/>
            <a:ext cx="635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77" r:id="rId3" imgW="423545" imgH="222885" progId="Equation.3">
                    <p:embed/>
                  </p:oleObj>
                </mc:Choice>
                <mc:Fallback>
                  <p:oleObj r:id="rId3" imgW="423545" imgH="222885" progId="Equation.3">
                    <p:embed/>
                    <p:pic>
                      <p:nvPicPr>
                        <p:cNvPr id="0" name="对象 5950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474"/>
                          <a:ext cx="635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005" name="对象 595035"/>
            <p:cNvGraphicFramePr/>
            <p:nvPr/>
          </p:nvGraphicFramePr>
          <p:xfrm>
            <a:off x="2521" y="2668"/>
            <a:ext cx="660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78" r:id="rId5" imgW="457200" imgH="222885" progId="Equation.3">
                    <p:embed/>
                  </p:oleObj>
                </mc:Choice>
                <mc:Fallback>
                  <p:oleObj r:id="rId5" imgW="457200" imgH="222885" progId="Equation.3">
                    <p:embed/>
                    <p:pic>
                      <p:nvPicPr>
                        <p:cNvPr id="0" name="对象 59503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1" y="2668"/>
                          <a:ext cx="660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006" name="对象 595036"/>
            <p:cNvGraphicFramePr/>
            <p:nvPr/>
          </p:nvGraphicFramePr>
          <p:xfrm>
            <a:off x="2507" y="1812"/>
            <a:ext cx="65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79" r:id="rId7" imgW="445770" imgH="234315" progId="Equation.3">
                    <p:embed/>
                  </p:oleObj>
                </mc:Choice>
                <mc:Fallback>
                  <p:oleObj r:id="rId7" imgW="445770" imgH="234315" progId="Equation.3">
                    <p:embed/>
                    <p:pic>
                      <p:nvPicPr>
                        <p:cNvPr id="0" name="对象 59503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7" y="1812"/>
                          <a:ext cx="65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007" name="对象 595037"/>
            <p:cNvGraphicFramePr/>
            <p:nvPr/>
          </p:nvGraphicFramePr>
          <p:xfrm>
            <a:off x="2523" y="690"/>
            <a:ext cx="728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80" r:id="rId9" imgW="457200" imgH="222885" progId="Equation.3">
                    <p:embed/>
                  </p:oleObj>
                </mc:Choice>
                <mc:Fallback>
                  <p:oleObj r:id="rId9" imgW="457200" imgH="222885" progId="Equation.3">
                    <p:embed/>
                    <p:pic>
                      <p:nvPicPr>
                        <p:cNvPr id="0" name="对象 59503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3" y="690"/>
                          <a:ext cx="728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954" name="组合 592898"/>
          <p:cNvGrpSpPr/>
          <p:nvPr/>
        </p:nvGrpSpPr>
        <p:grpSpPr bwMode="auto">
          <a:xfrm>
            <a:off x="4248150" y="44450"/>
            <a:ext cx="4870450" cy="927100"/>
            <a:chOff x="419" y="1565"/>
            <a:chExt cx="2864" cy="584"/>
          </a:xfrm>
        </p:grpSpPr>
        <p:sp>
          <p:nvSpPr>
            <p:cNvPr id="82961" name="矩形 592899"/>
            <p:cNvSpPr>
              <a:spLocks noChangeArrowheads="1"/>
            </p:cNvSpPr>
            <p:nvPr/>
          </p:nvSpPr>
          <p:spPr bwMode="auto">
            <a:xfrm>
              <a:off x="419" y="1565"/>
              <a:ext cx="2864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aphicFrame>
          <p:nvGraphicFramePr>
            <p:cNvPr id="82962" name="对象 592900"/>
            <p:cNvGraphicFramePr/>
            <p:nvPr/>
          </p:nvGraphicFramePr>
          <p:xfrm>
            <a:off x="525" y="1565"/>
            <a:ext cx="2682" cy="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81" r:id="rId11" imgW="1777365" imgH="393700" progId="Equation.3">
                    <p:embed/>
                  </p:oleObj>
                </mc:Choice>
                <mc:Fallback>
                  <p:oleObj r:id="rId11" imgW="1777365" imgH="393700" progId="Equation.3">
                    <p:embed/>
                    <p:pic>
                      <p:nvPicPr>
                        <p:cNvPr id="0" name="对象 59290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" y="1565"/>
                          <a:ext cx="2682" cy="581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955" name="组合 592902"/>
          <p:cNvGrpSpPr/>
          <p:nvPr/>
        </p:nvGrpSpPr>
        <p:grpSpPr bwMode="auto">
          <a:xfrm>
            <a:off x="225425" y="36513"/>
            <a:ext cx="4033838" cy="936625"/>
            <a:chOff x="0" y="144"/>
            <a:chExt cx="4032" cy="768"/>
          </a:xfrm>
        </p:grpSpPr>
        <p:sp>
          <p:nvSpPr>
            <p:cNvPr id="82959" name="矩形 592903"/>
            <p:cNvSpPr>
              <a:spLocks noChangeArrowheads="1"/>
            </p:cNvSpPr>
            <p:nvPr/>
          </p:nvSpPr>
          <p:spPr bwMode="auto">
            <a:xfrm>
              <a:off x="0" y="144"/>
              <a:ext cx="4032" cy="768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graphicFrame>
          <p:nvGraphicFramePr>
            <p:cNvPr id="82960" name="对象 592904"/>
            <p:cNvGraphicFramePr/>
            <p:nvPr/>
          </p:nvGraphicFramePr>
          <p:xfrm>
            <a:off x="651" y="144"/>
            <a:ext cx="2724" cy="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82" r:id="rId13" imgW="1358900" imgH="444500" progId="Equation.3">
                    <p:embed/>
                  </p:oleObj>
                </mc:Choice>
                <mc:Fallback>
                  <p:oleObj r:id="rId13" imgW="1358900" imgH="444500" progId="Equation.3">
                    <p:embed/>
                    <p:pic>
                      <p:nvPicPr>
                        <p:cNvPr id="0" name="对象 59290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" y="144"/>
                          <a:ext cx="2724" cy="7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956" name="内容占位符 594992"/>
          <p:cNvGraphicFramePr>
            <a:graphicFrameLocks noGrp="1"/>
          </p:cNvGraphicFramePr>
          <p:nvPr/>
        </p:nvGraphicFramePr>
        <p:xfrm>
          <a:off x="5949950" y="1098550"/>
          <a:ext cx="9096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83" r:id="rId15" imgW="444500" imgH="279400" progId="Equation.3">
                  <p:embed/>
                </p:oleObj>
              </mc:Choice>
              <mc:Fallback>
                <p:oleObj r:id="rId15" imgW="444500" imgH="279400" progId="Equation.3">
                  <p:embed/>
                  <p:pic>
                    <p:nvPicPr>
                      <p:cNvPr id="0" name="内容占位符 594992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9950" y="1098550"/>
                        <a:ext cx="9096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7" name="内容占位符 595038"/>
          <p:cNvGraphicFramePr>
            <a:graphicFrameLocks noGrp="1"/>
          </p:cNvGraphicFramePr>
          <p:nvPr/>
        </p:nvGraphicFramePr>
        <p:xfrm>
          <a:off x="2589213" y="1201738"/>
          <a:ext cx="8858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84" r:id="rId17" imgW="379095" imgH="200660" progId="Equation.3">
                  <p:embed/>
                </p:oleObj>
              </mc:Choice>
              <mc:Fallback>
                <p:oleObj r:id="rId17" imgW="379095" imgH="200660" progId="Equation.3">
                  <p:embed/>
                  <p:pic>
                    <p:nvPicPr>
                      <p:cNvPr id="0" name="内容占位符 59503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1201738"/>
                        <a:ext cx="8858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8" name="对象 101"/>
          <p:cNvGraphicFramePr/>
          <p:nvPr/>
        </p:nvGraphicFramePr>
        <p:xfrm>
          <a:off x="225425" y="1054100"/>
          <a:ext cx="16827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85" name="Equation" r:id="rId19" imgW="981075" imgH="468630" progId="Equation.DSMT4">
                  <p:embed/>
                </p:oleObj>
              </mc:Choice>
              <mc:Fallback>
                <p:oleObj name="Equation" r:id="rId19" imgW="981075" imgH="468630" progId="Equation.DSMT4">
                  <p:embed/>
                  <p:pic>
                    <p:nvPicPr>
                      <p:cNvPr id="0" name="对象 101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" y="1054100"/>
                        <a:ext cx="168275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9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59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949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59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9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9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9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"/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"/>
                                        <p:tgtEl>
                                          <p:spTgt spid="594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46" grpId="0"/>
      <p:bldP spid="594947" grpId="0"/>
      <p:bldP spid="594948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Group 2"/>
          <p:cNvGrpSpPr/>
          <p:nvPr/>
        </p:nvGrpSpPr>
        <p:grpSpPr bwMode="auto">
          <a:xfrm>
            <a:off x="395288" y="260350"/>
            <a:ext cx="8229600" cy="1981200"/>
            <a:chOff x="240" y="2112"/>
            <a:chExt cx="5184" cy="1248"/>
          </a:xfrm>
        </p:grpSpPr>
        <p:sp>
          <p:nvSpPr>
            <p:cNvPr id="83973" name="Text Box 3"/>
            <p:cNvSpPr txBox="1">
              <a:spLocks noChangeArrowheads="1"/>
            </p:cNvSpPr>
            <p:nvPr/>
          </p:nvSpPr>
          <p:spPr bwMode="auto">
            <a:xfrm>
              <a:off x="240" y="2112"/>
              <a:ext cx="499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baseline="0">
                  <a:solidFill>
                    <a:srgbClr val="CC0000"/>
                  </a:solidFill>
                </a:rPr>
                <a:t>例</a:t>
              </a:r>
              <a:r>
                <a:rPr lang="en-US" altLang="zh-CN" sz="2400" b="1" baseline="0">
                  <a:solidFill>
                    <a:srgbClr val="CC0000"/>
                  </a:solidFill>
                </a:rPr>
                <a:t>1</a:t>
              </a:r>
              <a:r>
                <a:rPr lang="en-US" altLang="zh-CN" sz="2400" b="1" baseline="0"/>
                <a:t>  . </a:t>
              </a:r>
              <a:r>
                <a:rPr lang="zh-CN" altLang="en-US" sz="2400" b="1" baseline="0"/>
                <a:t>粒子在一维无限深势阱中运动</a:t>
              </a:r>
              <a:r>
                <a:rPr lang="en-US" altLang="zh-CN" sz="2400" b="1" baseline="0"/>
                <a:t>,</a:t>
              </a:r>
              <a:r>
                <a:rPr lang="zh-CN" altLang="en-US" sz="2400" b="1" baseline="0"/>
                <a:t>其波函数为</a:t>
              </a:r>
            </a:p>
          </p:txBody>
        </p:sp>
        <p:graphicFrame>
          <p:nvGraphicFramePr>
            <p:cNvPr id="83974" name="Object 4"/>
            <p:cNvGraphicFramePr>
              <a:graphicFrameLocks noChangeAspect="1"/>
            </p:cNvGraphicFramePr>
            <p:nvPr/>
          </p:nvGraphicFramePr>
          <p:xfrm>
            <a:off x="672" y="2352"/>
            <a:ext cx="3348" cy="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008" r:id="rId3" imgW="2032000" imgH="457200" progId="Equation.3">
                    <p:embed/>
                  </p:oleObj>
                </mc:Choice>
                <mc:Fallback>
                  <p:oleObj r:id="rId3" imgW="2032000" imgH="457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352"/>
                          <a:ext cx="3348" cy="7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975" name="Text Box 5"/>
            <p:cNvSpPr txBox="1">
              <a:spLocks noChangeArrowheads="1"/>
            </p:cNvSpPr>
            <p:nvPr/>
          </p:nvSpPr>
          <p:spPr bwMode="auto">
            <a:xfrm>
              <a:off x="288" y="3072"/>
              <a:ext cx="51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baseline="0"/>
                <a:t>若粒子处于</a:t>
              </a:r>
              <a:r>
                <a:rPr lang="en-US" altLang="zh-CN" sz="2400" b="1" baseline="0"/>
                <a:t>n=1</a:t>
              </a:r>
              <a:r>
                <a:rPr lang="zh-CN" altLang="en-US" sz="2400" b="1" baseline="0"/>
                <a:t>状态</a:t>
              </a:r>
              <a:r>
                <a:rPr lang="en-US" altLang="zh-CN" sz="2400" b="1" baseline="0"/>
                <a:t>,</a:t>
              </a:r>
              <a:r>
                <a:rPr lang="zh-CN" altLang="en-US" sz="2400" b="1" baseline="0"/>
                <a:t>在</a:t>
              </a:r>
              <a:r>
                <a:rPr lang="en-US" altLang="zh-CN" sz="2400" b="1" baseline="0"/>
                <a:t>0</a:t>
              </a:r>
              <a:r>
                <a:rPr lang="en-US" altLang="zh-CN" sz="2400" b="1" baseline="0">
                  <a:sym typeface="Symbol" panose="05050102010706020507" pitchFamily="18" charset="2"/>
                </a:rPr>
                <a:t></a:t>
              </a:r>
              <a:r>
                <a:rPr lang="en-US" altLang="zh-CN" sz="2400" b="1" i="1" baseline="0">
                  <a:sym typeface="Symbol" panose="05050102010706020507" pitchFamily="18" charset="2"/>
                </a:rPr>
                <a:t>a</a:t>
              </a:r>
              <a:r>
                <a:rPr lang="en-US" altLang="zh-CN" sz="2400" b="1" baseline="0">
                  <a:sym typeface="Symbol" panose="05050102010706020507" pitchFamily="18" charset="2"/>
                </a:rPr>
                <a:t>/4</a:t>
              </a:r>
              <a:r>
                <a:rPr lang="zh-CN" altLang="en-US" sz="2400" b="1" baseline="0"/>
                <a:t>区间发现该粒子的概率是多少</a:t>
              </a:r>
              <a:r>
                <a:rPr lang="en-US" altLang="zh-CN" sz="2400" b="1" baseline="0"/>
                <a:t>?</a:t>
              </a:r>
            </a:p>
          </p:txBody>
        </p:sp>
      </p:grpSp>
      <p:sp>
        <p:nvSpPr>
          <p:cNvPr id="629766" name="Text Box 6"/>
          <p:cNvSpPr txBox="1">
            <a:spLocks noChangeArrowheads="1"/>
          </p:cNvSpPr>
          <p:nvPr/>
        </p:nvSpPr>
        <p:spPr bwMode="auto">
          <a:xfrm>
            <a:off x="431800" y="2492375"/>
            <a:ext cx="838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baseline="0">
                <a:solidFill>
                  <a:srgbClr val="CC0000"/>
                </a:solidFill>
              </a:rPr>
              <a:t>解</a:t>
            </a:r>
            <a:r>
              <a:rPr lang="en-US" altLang="zh-CN" sz="2400" b="1" baseline="0">
                <a:solidFill>
                  <a:srgbClr val="CC0000"/>
                </a:solidFill>
              </a:rPr>
              <a:t>:</a:t>
            </a:r>
            <a:r>
              <a:rPr lang="en-US" altLang="zh-CN" sz="2400" b="1" baseline="0"/>
              <a:t> </a:t>
            </a:r>
            <a:r>
              <a:rPr lang="zh-CN" altLang="en-US" sz="2400" b="1" baseline="0"/>
              <a:t>粒子处于</a:t>
            </a:r>
            <a:r>
              <a:rPr lang="en-US" altLang="zh-CN" sz="2400" b="1" baseline="0"/>
              <a:t>n=1</a:t>
            </a:r>
            <a:r>
              <a:rPr lang="zh-CN" altLang="en-US" sz="2400" b="1" baseline="0"/>
              <a:t>状态</a:t>
            </a:r>
            <a:r>
              <a:rPr lang="en-US" altLang="zh-CN" sz="2400" b="1" baseline="0"/>
              <a:t>,</a:t>
            </a:r>
            <a:r>
              <a:rPr lang="zh-CN" altLang="en-US" sz="2400" b="1" baseline="0"/>
              <a:t>在</a:t>
            </a:r>
            <a:r>
              <a:rPr lang="en-US" altLang="zh-CN" sz="2400" b="1" baseline="0"/>
              <a:t>0</a:t>
            </a:r>
            <a:r>
              <a:rPr lang="en-US" altLang="zh-CN" sz="2400" b="1" baseline="0">
                <a:sym typeface="Symbol" panose="05050102010706020507" pitchFamily="18" charset="2"/>
              </a:rPr>
              <a:t></a:t>
            </a:r>
            <a:r>
              <a:rPr lang="en-US" altLang="zh-CN" sz="2400" b="1" i="1" baseline="0">
                <a:sym typeface="Symbol" panose="05050102010706020507" pitchFamily="18" charset="2"/>
              </a:rPr>
              <a:t>a</a:t>
            </a:r>
            <a:r>
              <a:rPr lang="en-US" altLang="zh-CN" sz="2400" b="1" baseline="0">
                <a:sym typeface="Symbol" panose="05050102010706020507" pitchFamily="18" charset="2"/>
              </a:rPr>
              <a:t>/4</a:t>
            </a:r>
            <a:r>
              <a:rPr lang="zh-CN" altLang="en-US" sz="2400" b="1" baseline="0"/>
              <a:t>区间发现该粒子的概率为</a:t>
            </a:r>
            <a:r>
              <a:rPr lang="en-US" altLang="zh-CN" sz="2400" b="1" baseline="0"/>
              <a:t>:  </a:t>
            </a:r>
          </a:p>
        </p:txBody>
      </p:sp>
      <p:graphicFrame>
        <p:nvGraphicFramePr>
          <p:cNvPr id="629767" name="Object 7"/>
          <p:cNvGraphicFramePr>
            <a:graphicFrameLocks noChangeAspect="1"/>
          </p:cNvGraphicFramePr>
          <p:nvPr/>
        </p:nvGraphicFramePr>
        <p:xfrm>
          <a:off x="1738313" y="3195638"/>
          <a:ext cx="5029200" cy="234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9" r:id="rId5" imgW="2070100" imgH="965200" progId="Equation.3">
                  <p:embed/>
                </p:oleObj>
              </mc:Choice>
              <mc:Fallback>
                <p:oleObj r:id="rId5" imgW="2070100" imgH="965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3195638"/>
                        <a:ext cx="5029200" cy="234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629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2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6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179388" y="136525"/>
            <a:ext cx="8785225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/>
              <a:t>例2  一维无限深方势阱（0，a ），能量的量子数为n.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/>
              <a:t>求</a:t>
            </a:r>
            <a:r>
              <a:rPr lang="zh-CN" altLang="en-US" sz="2400" b="1" baseline="0">
                <a:sym typeface="Wingdings" panose="05000000000000000000" pitchFamily="2" charset="2"/>
              </a:rPr>
              <a:t>：（1）</a:t>
            </a:r>
            <a:r>
              <a:rPr lang="zh-CN" altLang="en-US" sz="2400" b="1" baseline="0"/>
              <a:t>距势阱内壁四分之一宽度以内发现粒子的概率;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/>
              <a:t>        （2）n=？在上述区域内找到粒子的概率最大;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/>
              <a:t>        （3）当n</a:t>
            </a:r>
            <a:r>
              <a:rPr lang="zh-CN" altLang="en-US" sz="2400" b="1" baseline="0">
                <a:sym typeface="Symbol" panose="05050102010706020507" pitchFamily="18" charset="2"/>
              </a:rPr>
              <a:t> 时该概率的极值，并说明其物理意义。</a:t>
            </a: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179388" y="2212975"/>
            <a:ext cx="6477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chemeClr val="accent2"/>
                </a:solidFill>
              </a:rPr>
              <a:t>解:</a:t>
            </a: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419475" y="2070100"/>
          <a:ext cx="3457575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4" r:id="rId3" imgW="2501900" imgH="762000" progId="Equation.DSMT4">
                  <p:embed/>
                </p:oleObj>
              </mc:Choice>
              <mc:Fallback>
                <p:oleObj r:id="rId3" imgW="2501900" imgH="762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070100"/>
                        <a:ext cx="3457575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900113" y="2860675"/>
            <a:ext cx="34559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chemeClr val="accent2"/>
                </a:solidFill>
              </a:rPr>
              <a:t>其归一化波函数为：</a:t>
            </a:r>
          </a:p>
        </p:txBody>
      </p:sp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1839913" y="5922963"/>
          <a:ext cx="2071687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5" r:id="rId5" imgW="1295400" imgH="431800" progId="Equation.DSMT4">
                  <p:embed/>
                </p:oleObj>
              </mc:Choice>
              <mc:Fallback>
                <p:oleObj r:id="rId5" imgW="1295400" imgH="431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5922963"/>
                        <a:ext cx="2071687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887413" y="5229225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chemeClr val="accent2"/>
                </a:solidFill>
              </a:rPr>
              <a:t>概率密度</a:t>
            </a:r>
          </a:p>
        </p:txBody>
      </p:sp>
      <p:grpSp>
        <p:nvGrpSpPr>
          <p:cNvPr id="9" name="Group 45"/>
          <p:cNvGrpSpPr/>
          <p:nvPr/>
        </p:nvGrpSpPr>
        <p:grpSpPr bwMode="auto">
          <a:xfrm>
            <a:off x="960438" y="3500438"/>
            <a:ext cx="4187825" cy="1600200"/>
            <a:chOff x="287" y="2087"/>
            <a:chExt cx="2548" cy="815"/>
          </a:xfrm>
        </p:grpSpPr>
        <p:graphicFrame>
          <p:nvGraphicFramePr>
            <p:cNvPr id="85016" name="Object 11"/>
            <p:cNvGraphicFramePr>
              <a:graphicFrameLocks noChangeAspect="1"/>
            </p:cNvGraphicFramePr>
            <p:nvPr/>
          </p:nvGraphicFramePr>
          <p:xfrm>
            <a:off x="361" y="2087"/>
            <a:ext cx="2474" cy="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66" r:id="rId7" imgW="3594100" imgH="1181100" progId="Equation.DSMT4">
                    <p:embed/>
                  </p:oleObj>
                </mc:Choice>
                <mc:Fallback>
                  <p:oleObj r:id="rId7" imgW="3594100" imgH="11811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" y="2087"/>
                          <a:ext cx="2474" cy="8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17" name="AutoShape 29"/>
            <p:cNvSpPr/>
            <p:nvPr/>
          </p:nvSpPr>
          <p:spPr bwMode="auto">
            <a:xfrm>
              <a:off x="287" y="2275"/>
              <a:ext cx="45" cy="589"/>
            </a:xfrm>
            <a:prstGeom prst="leftBrace">
              <a:avLst>
                <a:gd name="adj1" fmla="val 108892"/>
                <a:gd name="adj2" fmla="val 50000"/>
              </a:avLst>
            </a:prstGeom>
            <a:noFill/>
            <a:ln w="31750">
              <a:solidFill>
                <a:srgbClr val="99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ea typeface="黑体" panose="02010609060101010101" pitchFamily="49" charset="-122"/>
              </a:endParaRPr>
            </a:p>
          </p:txBody>
        </p:sp>
      </p:grpSp>
      <p:grpSp>
        <p:nvGrpSpPr>
          <p:cNvPr id="85001" name="Group 46"/>
          <p:cNvGrpSpPr/>
          <p:nvPr/>
        </p:nvGrpSpPr>
        <p:grpSpPr bwMode="auto">
          <a:xfrm>
            <a:off x="5435600" y="3573463"/>
            <a:ext cx="3455988" cy="3095499"/>
            <a:chOff x="3224" y="1826"/>
            <a:chExt cx="2321" cy="2517"/>
          </a:xfrm>
        </p:grpSpPr>
        <p:sp>
          <p:nvSpPr>
            <p:cNvPr id="85003" name="Line 32"/>
            <p:cNvSpPr>
              <a:spLocks noChangeShapeType="1"/>
            </p:cNvSpPr>
            <p:nvPr/>
          </p:nvSpPr>
          <p:spPr bwMode="auto">
            <a:xfrm>
              <a:off x="3397" y="3890"/>
              <a:ext cx="196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4" name="Line 33"/>
            <p:cNvSpPr>
              <a:spLocks noChangeShapeType="1"/>
            </p:cNvSpPr>
            <p:nvPr/>
          </p:nvSpPr>
          <p:spPr bwMode="auto">
            <a:xfrm flipV="1">
              <a:off x="3397" y="1922"/>
              <a:ext cx="0" cy="196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5" name="Line 34"/>
            <p:cNvSpPr>
              <a:spLocks noChangeShapeType="1"/>
            </p:cNvSpPr>
            <p:nvPr/>
          </p:nvSpPr>
          <p:spPr bwMode="auto">
            <a:xfrm flipV="1">
              <a:off x="3733" y="2450"/>
              <a:ext cx="0" cy="1440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6" name="Line 35"/>
            <p:cNvSpPr>
              <a:spLocks noChangeShapeType="1"/>
            </p:cNvSpPr>
            <p:nvPr/>
          </p:nvSpPr>
          <p:spPr bwMode="auto">
            <a:xfrm flipV="1">
              <a:off x="4309" y="2450"/>
              <a:ext cx="0" cy="1440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7" name="Line 36"/>
            <p:cNvSpPr>
              <a:spLocks noChangeShapeType="1"/>
            </p:cNvSpPr>
            <p:nvPr/>
          </p:nvSpPr>
          <p:spPr bwMode="auto">
            <a:xfrm flipV="1">
              <a:off x="4645" y="2450"/>
              <a:ext cx="0" cy="144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8" name="Text Box 37"/>
            <p:cNvSpPr txBox="1">
              <a:spLocks noChangeArrowheads="1"/>
            </p:cNvSpPr>
            <p:nvPr/>
          </p:nvSpPr>
          <p:spPr bwMode="auto">
            <a:xfrm>
              <a:off x="3224" y="3793"/>
              <a:ext cx="33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None/>
              </a:pPr>
              <a:r>
                <a:rPr lang="en-US" altLang="zh-CN" sz="2400" b="1"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5009" name="Text Box 38"/>
            <p:cNvSpPr txBox="1">
              <a:spLocks noChangeArrowheads="1"/>
            </p:cNvSpPr>
            <p:nvPr/>
          </p:nvSpPr>
          <p:spPr bwMode="auto">
            <a:xfrm>
              <a:off x="3565" y="3908"/>
              <a:ext cx="432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None/>
              </a:pPr>
              <a:r>
                <a:rPr lang="en-US" altLang="zh-CN" sz="2400" b="1" i="1" dirty="0">
                  <a:ea typeface="黑体" panose="02010609060101010101" pitchFamily="49" charset="-122"/>
                </a:rPr>
                <a:t>a</a:t>
              </a:r>
              <a:r>
                <a:rPr lang="en-US" altLang="zh-CN" sz="2400" b="1" dirty="0">
                  <a:ea typeface="黑体" panose="02010609060101010101" pitchFamily="49" charset="-122"/>
                </a:rPr>
                <a:t>/4</a:t>
              </a:r>
            </a:p>
          </p:txBody>
        </p:sp>
        <p:sp>
          <p:nvSpPr>
            <p:cNvPr id="85010" name="Text Box 39"/>
            <p:cNvSpPr txBox="1">
              <a:spLocks noChangeArrowheads="1"/>
            </p:cNvSpPr>
            <p:nvPr/>
          </p:nvSpPr>
          <p:spPr bwMode="auto">
            <a:xfrm>
              <a:off x="3445" y="1826"/>
              <a:ext cx="528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None/>
              </a:pPr>
              <a:r>
                <a:rPr lang="en-US" altLang="zh-CN" sz="2400" b="1" i="1">
                  <a:ea typeface="黑体" panose="02010609060101010101" pitchFamily="49" charset="-122"/>
                </a:rPr>
                <a:t>U</a:t>
              </a:r>
              <a:r>
                <a:rPr lang="en-US" altLang="zh-CN" sz="2400" b="1">
                  <a:ea typeface="黑体" panose="02010609060101010101" pitchFamily="49" charset="-122"/>
                </a:rPr>
                <a:t>(x)</a:t>
              </a:r>
            </a:p>
          </p:txBody>
        </p:sp>
        <p:sp>
          <p:nvSpPr>
            <p:cNvPr id="85011" name="Text Box 40"/>
            <p:cNvSpPr txBox="1">
              <a:spLocks noChangeArrowheads="1"/>
            </p:cNvSpPr>
            <p:nvPr/>
          </p:nvSpPr>
          <p:spPr bwMode="auto">
            <a:xfrm>
              <a:off x="4558" y="3908"/>
              <a:ext cx="33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None/>
              </a:pPr>
              <a:r>
                <a:rPr lang="en-US" altLang="zh-CN" sz="2400" b="1" i="1"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85012" name="Text Box 41"/>
            <p:cNvSpPr txBox="1">
              <a:spLocks noChangeArrowheads="1"/>
            </p:cNvSpPr>
            <p:nvPr/>
          </p:nvSpPr>
          <p:spPr bwMode="auto">
            <a:xfrm>
              <a:off x="5209" y="3908"/>
              <a:ext cx="33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None/>
              </a:pPr>
              <a:r>
                <a:rPr lang="en-US" altLang="zh-CN" sz="2400" b="1" i="1" dirty="0"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85013" name="Text Box 42"/>
            <p:cNvSpPr txBox="1">
              <a:spLocks noChangeArrowheads="1"/>
            </p:cNvSpPr>
            <p:nvPr/>
          </p:nvSpPr>
          <p:spPr bwMode="auto">
            <a:xfrm>
              <a:off x="3781" y="2739"/>
              <a:ext cx="528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None/>
              </a:pPr>
              <a:endParaRPr lang="zh-CN" altLang="zh-CN" sz="2400" b="1">
                <a:ea typeface="黑体" panose="02010609060101010101" pitchFamily="49" charset="-122"/>
              </a:endParaRPr>
            </a:p>
          </p:txBody>
        </p:sp>
        <p:sp>
          <p:nvSpPr>
            <p:cNvPr id="85014" name="Text Box 43"/>
            <p:cNvSpPr txBox="1">
              <a:spLocks noChangeArrowheads="1"/>
            </p:cNvSpPr>
            <p:nvPr/>
          </p:nvSpPr>
          <p:spPr bwMode="auto">
            <a:xfrm>
              <a:off x="3733" y="2616"/>
              <a:ext cx="528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None/>
              </a:pPr>
              <a:r>
                <a:rPr lang="en-US" altLang="zh-CN" sz="2400" b="1" i="1">
                  <a:ea typeface="黑体" panose="02010609060101010101" pitchFamily="49" charset="-122"/>
                  <a:sym typeface="Symbol" panose="05050102010706020507" pitchFamily="18" charset="2"/>
                </a:rPr>
                <a:t></a:t>
              </a:r>
              <a:r>
                <a:rPr lang="en-US" altLang="zh-CN" sz="2400" b="1">
                  <a:ea typeface="黑体" panose="02010609060101010101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ea typeface="黑体" panose="02010609060101010101" pitchFamily="49" charset="-122"/>
                  <a:sym typeface="Symbol" panose="05050102010706020507" pitchFamily="18" charset="2"/>
                </a:rPr>
                <a:t>x</a:t>
              </a:r>
              <a:r>
                <a:rPr lang="en-US" altLang="zh-CN" sz="2400" b="1">
                  <a:ea typeface="黑体" panose="02010609060101010101" pitchFamily="49" charset="-122"/>
                  <a:sym typeface="Symbol" panose="05050102010706020507" pitchFamily="18" charset="2"/>
                </a:rPr>
                <a:t>)</a:t>
              </a:r>
              <a:endParaRPr lang="en-US" altLang="zh-CN" sz="2400" b="1">
                <a:ea typeface="黑体" panose="02010609060101010101" pitchFamily="49" charset="-122"/>
              </a:endParaRPr>
            </a:p>
          </p:txBody>
        </p:sp>
        <p:sp>
          <p:nvSpPr>
            <p:cNvPr id="85015" name="Text Box 44"/>
            <p:cNvSpPr txBox="1">
              <a:spLocks noChangeArrowheads="1"/>
            </p:cNvSpPr>
            <p:nvPr/>
          </p:nvSpPr>
          <p:spPr bwMode="auto">
            <a:xfrm>
              <a:off x="4069" y="3908"/>
              <a:ext cx="624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3</a:t>
              </a:r>
              <a:r>
                <a:rPr lang="en-US" altLang="zh-CN" sz="2400" b="1" i="1" dirty="0">
                  <a:ea typeface="黑体" panose="02010609060101010101" pitchFamily="49" charset="-122"/>
                </a:rPr>
                <a:t>a</a:t>
              </a:r>
              <a:r>
                <a:rPr lang="en-US" altLang="zh-CN" sz="2400" b="1" dirty="0">
                  <a:ea typeface="黑体" panose="02010609060101010101" pitchFamily="49" charset="-122"/>
                </a:rPr>
                <a:t>/4</a:t>
              </a:r>
            </a:p>
          </p:txBody>
        </p:sp>
      </p:grpSp>
      <p:sp>
        <p:nvSpPr>
          <p:cNvPr id="26" name="Text Box 47"/>
          <p:cNvSpPr txBox="1">
            <a:spLocks noChangeArrowheads="1"/>
          </p:cNvSpPr>
          <p:nvPr/>
        </p:nvSpPr>
        <p:spPr bwMode="auto">
          <a:xfrm>
            <a:off x="900113" y="2212975"/>
            <a:ext cx="35290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chemeClr val="accent2"/>
                </a:solidFill>
              </a:rPr>
              <a:t>无限深方势阱为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  <p:bldP spid="26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250825" y="74613"/>
            <a:ext cx="756126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chemeClr val="accent2"/>
                </a:solidFill>
              </a:rPr>
              <a:t>（1）在距内壁四分之一宽度内发现粒子的概率为</a:t>
            </a:r>
          </a:p>
        </p:txBody>
      </p:sp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6946900" y="-26988"/>
          <a:ext cx="865188" cy="593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7" r:id="rId3" imgW="609600" imgH="419100" progId="Equation.DSMT4">
                  <p:embed/>
                </p:oleObj>
              </mc:Choice>
              <mc:Fallback>
                <p:oleObj r:id="rId3" imgW="609600" imgH="419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-26988"/>
                        <a:ext cx="865188" cy="593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241425" y="506413"/>
          <a:ext cx="6194425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8" r:id="rId5" imgW="5181600" imgH="977900" progId="Equation.DSMT4">
                  <p:embed/>
                </p:oleObj>
              </mc:Choice>
              <mc:Fallback>
                <p:oleObj r:id="rId5" imgW="5181600" imgH="977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506413"/>
                        <a:ext cx="6194425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1690688" y="1663700"/>
          <a:ext cx="691356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9" r:id="rId7" imgW="92354400" imgH="12801600" progId="Equation.DSMT4">
                  <p:embed/>
                </p:oleObj>
              </mc:Choice>
              <mc:Fallback>
                <p:oleObj r:id="rId7" imgW="92354400" imgH="12801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1663700"/>
                        <a:ext cx="6913562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1733550" y="2697163"/>
          <a:ext cx="1939925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0" r:id="rId9" imgW="27432000" imgH="9448800" progId="Equation.DSMT4">
                  <p:embed/>
                </p:oleObj>
              </mc:Choice>
              <mc:Fallback>
                <p:oleObj r:id="rId9" imgW="27432000" imgH="9448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2697163"/>
                        <a:ext cx="1939925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395288" y="3392488"/>
            <a:ext cx="81375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chemeClr val="accent2"/>
                </a:solidFill>
              </a:rPr>
              <a:t>（2）n=？时上述区域找到粒子的概率最大，其值为:</a:t>
            </a:r>
          </a:p>
        </p:txBody>
      </p:sp>
      <p:graphicFrame>
        <p:nvGraphicFramePr>
          <p:cNvPr id="9" name="Object 15"/>
          <p:cNvGraphicFramePr>
            <a:graphicFrameLocks noChangeAspect="1"/>
          </p:cNvGraphicFramePr>
          <p:nvPr/>
        </p:nvGraphicFramePr>
        <p:xfrm>
          <a:off x="1365250" y="3819525"/>
          <a:ext cx="2384425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1" r:id="rId11" imgW="1841500" imgH="660400" progId="Equation.DSMT4">
                  <p:embed/>
                </p:oleObj>
              </mc:Choice>
              <mc:Fallback>
                <p:oleObj r:id="rId11" imgW="1841500" imgH="660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819525"/>
                        <a:ext cx="2384425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/>
          <p:cNvGraphicFramePr>
            <a:graphicFrameLocks noChangeAspect="1"/>
          </p:cNvGraphicFramePr>
          <p:nvPr/>
        </p:nvGraphicFramePr>
        <p:xfrm>
          <a:off x="1403350" y="5157788"/>
          <a:ext cx="3624263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2" r:id="rId13" imgW="3073400" imgH="660400" progId="Equation.DSMT4">
                  <p:embed/>
                </p:oleObj>
              </mc:Choice>
              <mc:Fallback>
                <p:oleObj r:id="rId13" imgW="3073400" imgH="660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157788"/>
                        <a:ext cx="3624263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971550" y="5949950"/>
            <a:ext cx="7343775" cy="97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chemeClr val="accent2"/>
                </a:solidFill>
              </a:rPr>
              <a:t>——与经典结果相同，在势阱内粒子在各处出现的概率相等，量子力学过渡到经典力学。</a:t>
            </a:r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323850" y="4724400"/>
            <a:ext cx="8135938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 baseline="0">
                <a:solidFill>
                  <a:schemeClr val="accent2"/>
                </a:solidFill>
              </a:rPr>
              <a:t> （3）当n</a:t>
            </a:r>
            <a:r>
              <a:rPr lang="zh-CN" altLang="en-US" sz="2400" b="1" baseline="0">
                <a:solidFill>
                  <a:schemeClr val="accent2"/>
                </a:solidFill>
                <a:sym typeface="Symbol" panose="05050102010706020507" pitchFamily="18" charset="2"/>
              </a:rPr>
              <a:t> 时该概率的极值，并说明其物理意义。</a:t>
            </a:r>
          </a:p>
        </p:txBody>
      </p:sp>
      <p:pic>
        <p:nvPicPr>
          <p:cNvPr id="102618" name="Picture 21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975" y="4652963"/>
            <a:ext cx="1489075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2" grpId="0" build="p"/>
      <p:bldP spid="1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090" name="组合 601089"/>
          <p:cNvGrpSpPr/>
          <p:nvPr/>
        </p:nvGrpSpPr>
        <p:grpSpPr bwMode="auto">
          <a:xfrm>
            <a:off x="5622925" y="549275"/>
            <a:ext cx="3573463" cy="2311400"/>
            <a:chOff x="3542" y="962"/>
            <a:chExt cx="2251" cy="1456"/>
          </a:xfrm>
        </p:grpSpPr>
        <p:sp>
          <p:nvSpPr>
            <p:cNvPr id="87083" name="文本框 601090"/>
            <p:cNvSpPr txBox="1">
              <a:spLocks noChangeArrowheads="1"/>
            </p:cNvSpPr>
            <p:nvPr/>
          </p:nvSpPr>
          <p:spPr bwMode="auto">
            <a:xfrm>
              <a:off x="4592" y="96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baseline="0"/>
                <a:t>U</a:t>
              </a:r>
            </a:p>
          </p:txBody>
        </p:sp>
        <p:grpSp>
          <p:nvGrpSpPr>
            <p:cNvPr id="87084" name="组合 601091"/>
            <p:cNvGrpSpPr/>
            <p:nvPr/>
          </p:nvGrpSpPr>
          <p:grpSpPr bwMode="auto">
            <a:xfrm>
              <a:off x="3542" y="996"/>
              <a:ext cx="2251" cy="1422"/>
              <a:chOff x="3542" y="276"/>
              <a:chExt cx="2251" cy="1422"/>
            </a:xfrm>
          </p:grpSpPr>
          <p:sp>
            <p:nvSpPr>
              <p:cNvPr id="87085" name="文本框 601092"/>
              <p:cNvSpPr txBox="1">
                <a:spLocks noChangeArrowheads="1"/>
              </p:cNvSpPr>
              <p:nvPr/>
            </p:nvSpPr>
            <p:spPr bwMode="auto">
              <a:xfrm>
                <a:off x="5547" y="1027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baseline="0"/>
                  <a:t>x</a:t>
                </a:r>
              </a:p>
            </p:txBody>
          </p:sp>
          <p:grpSp>
            <p:nvGrpSpPr>
              <p:cNvPr id="87086" name="组合 601093"/>
              <p:cNvGrpSpPr/>
              <p:nvPr/>
            </p:nvGrpSpPr>
            <p:grpSpPr bwMode="auto">
              <a:xfrm>
                <a:off x="3542" y="276"/>
                <a:ext cx="2251" cy="1422"/>
                <a:chOff x="624" y="960"/>
                <a:chExt cx="2016" cy="1104"/>
              </a:xfrm>
            </p:grpSpPr>
            <p:sp>
              <p:nvSpPr>
                <p:cNvPr id="87088" name="直接连接符 601094"/>
                <p:cNvSpPr>
                  <a:spLocks noChangeShapeType="1"/>
                </p:cNvSpPr>
                <p:nvPr/>
              </p:nvSpPr>
              <p:spPr bwMode="auto">
                <a:xfrm>
                  <a:off x="624" y="1728"/>
                  <a:ext cx="20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089" name="直接连接符 601095"/>
                <p:cNvSpPr>
                  <a:spLocks noChangeShapeType="1"/>
                </p:cNvSpPr>
                <p:nvPr/>
              </p:nvSpPr>
              <p:spPr bwMode="auto">
                <a:xfrm flipV="1">
                  <a:off x="1536" y="96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7087" name="文本框 601096"/>
              <p:cNvSpPr txBox="1">
                <a:spLocks noChangeArrowheads="1"/>
              </p:cNvSpPr>
              <p:nvPr/>
            </p:nvSpPr>
            <p:spPr bwMode="auto">
              <a:xfrm>
                <a:off x="4374" y="120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baseline="0"/>
                  <a:t>0</a:t>
                </a:r>
              </a:p>
            </p:txBody>
          </p:sp>
        </p:grpSp>
      </p:grpSp>
      <p:grpSp>
        <p:nvGrpSpPr>
          <p:cNvPr id="601098" name="组合 601097"/>
          <p:cNvGrpSpPr/>
          <p:nvPr/>
        </p:nvGrpSpPr>
        <p:grpSpPr bwMode="auto">
          <a:xfrm>
            <a:off x="5673725" y="812800"/>
            <a:ext cx="4465638" cy="2689225"/>
            <a:chOff x="3574" y="845"/>
            <a:chExt cx="2813" cy="1694"/>
          </a:xfrm>
        </p:grpSpPr>
        <p:grpSp>
          <p:nvGrpSpPr>
            <p:cNvPr id="87067" name="组合 601098"/>
            <p:cNvGrpSpPr/>
            <p:nvPr/>
          </p:nvGrpSpPr>
          <p:grpSpPr bwMode="auto">
            <a:xfrm>
              <a:off x="3574" y="845"/>
              <a:ext cx="2207" cy="1227"/>
              <a:chOff x="3574" y="1144"/>
              <a:chExt cx="2207" cy="1227"/>
            </a:xfrm>
          </p:grpSpPr>
          <p:sp>
            <p:nvSpPr>
              <p:cNvPr id="87069" name="文本框 601099"/>
              <p:cNvSpPr txBox="1">
                <a:spLocks noChangeArrowheads="1"/>
              </p:cNvSpPr>
              <p:nvPr/>
            </p:nvSpPr>
            <p:spPr bwMode="auto">
              <a:xfrm>
                <a:off x="3991" y="207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baseline="0">
                    <a:sym typeface="Wingdings" panose="05000000000000000000" pitchFamily="2" charset="2"/>
                  </a:rPr>
                  <a:t></a:t>
                </a:r>
                <a:r>
                  <a:rPr lang="zh-CN" altLang="en-US" sz="2400" b="1" baseline="0">
                    <a:sym typeface="Wingdings" panose="05000000000000000000" pitchFamily="2" charset="2"/>
                  </a:rPr>
                  <a:t>区</a:t>
                </a:r>
                <a:endParaRPr lang="zh-CN" altLang="en-US" sz="2400" b="1" baseline="0"/>
              </a:p>
            </p:txBody>
          </p:sp>
          <p:sp>
            <p:nvSpPr>
              <p:cNvPr id="87070" name="矩形 601100"/>
              <p:cNvSpPr>
                <a:spLocks noChangeArrowheads="1"/>
              </p:cNvSpPr>
              <p:nvPr/>
            </p:nvSpPr>
            <p:spPr bwMode="auto">
              <a:xfrm>
                <a:off x="4670" y="2083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baseline="0">
                    <a:sym typeface="Wingdings" panose="05000000000000000000" pitchFamily="2" charset="2"/>
                  </a:rPr>
                  <a:t></a:t>
                </a:r>
                <a:r>
                  <a:rPr lang="zh-CN" altLang="en-US" sz="2400" b="1" baseline="0">
                    <a:sym typeface="Wingdings" panose="05000000000000000000" pitchFamily="2" charset="2"/>
                  </a:rPr>
                  <a:t>区</a:t>
                </a:r>
              </a:p>
            </p:txBody>
          </p:sp>
          <p:sp>
            <p:nvSpPr>
              <p:cNvPr id="87071" name="矩形 601101"/>
              <p:cNvSpPr>
                <a:spLocks noChangeArrowheads="1"/>
              </p:cNvSpPr>
              <p:nvPr/>
            </p:nvSpPr>
            <p:spPr bwMode="auto">
              <a:xfrm>
                <a:off x="5281" y="2074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baseline="0">
                    <a:ea typeface="华文楷体" panose="02010600040101010101" pitchFamily="2" charset="-122"/>
                  </a:rPr>
                  <a:t>③</a:t>
                </a:r>
                <a:r>
                  <a:rPr lang="zh-CN" altLang="en-US" sz="2400" b="1" baseline="0">
                    <a:ea typeface="华文楷体" panose="02010600040101010101" pitchFamily="2" charset="-122"/>
                  </a:rPr>
                  <a:t>区</a:t>
                </a:r>
              </a:p>
            </p:txBody>
          </p:sp>
          <p:grpSp>
            <p:nvGrpSpPr>
              <p:cNvPr id="87072" name="组合 601102"/>
              <p:cNvGrpSpPr/>
              <p:nvPr/>
            </p:nvGrpSpPr>
            <p:grpSpPr bwMode="auto">
              <a:xfrm>
                <a:off x="3574" y="1144"/>
                <a:ext cx="2200" cy="1059"/>
                <a:chOff x="3574" y="1144"/>
                <a:chExt cx="2200" cy="1059"/>
              </a:xfrm>
            </p:grpSpPr>
            <p:sp>
              <p:nvSpPr>
                <p:cNvPr id="87073" name="文本框 601103"/>
                <p:cNvSpPr txBox="1">
                  <a:spLocks noChangeArrowheads="1"/>
                </p:cNvSpPr>
                <p:nvPr/>
              </p:nvSpPr>
              <p:spPr bwMode="auto">
                <a:xfrm>
                  <a:off x="5113" y="191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b="1" baseline="0"/>
                    <a:t>a</a:t>
                  </a:r>
                </a:p>
              </p:txBody>
            </p:sp>
            <p:grpSp>
              <p:nvGrpSpPr>
                <p:cNvPr id="87074" name="组合 601104"/>
                <p:cNvGrpSpPr/>
                <p:nvPr/>
              </p:nvGrpSpPr>
              <p:grpSpPr bwMode="auto">
                <a:xfrm>
                  <a:off x="3574" y="1144"/>
                  <a:ext cx="2200" cy="857"/>
                  <a:chOff x="3560" y="680"/>
                  <a:chExt cx="2200" cy="857"/>
                </a:xfrm>
              </p:grpSpPr>
              <p:grpSp>
                <p:nvGrpSpPr>
                  <p:cNvPr id="87075" name="组合 601105"/>
                  <p:cNvGrpSpPr/>
                  <p:nvPr/>
                </p:nvGrpSpPr>
                <p:grpSpPr bwMode="auto">
                  <a:xfrm>
                    <a:off x="3560" y="680"/>
                    <a:ext cx="1669" cy="857"/>
                    <a:chOff x="318" y="686"/>
                    <a:chExt cx="1669" cy="857"/>
                  </a:xfrm>
                </p:grpSpPr>
                <p:sp>
                  <p:nvSpPr>
                    <p:cNvPr id="87077" name="文本框 60110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60" y="686"/>
                      <a:ext cx="319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CN" sz="2400" b="1" baseline="0"/>
                        <a:t>U</a:t>
                      </a:r>
                      <a:r>
                        <a:rPr lang="en-US" altLang="zh-CN" sz="2400" b="1" baseline="-25000"/>
                        <a:t>0</a:t>
                      </a:r>
                      <a:endParaRPr lang="en-US" altLang="zh-CN" sz="2400" b="1" baseline="0"/>
                    </a:p>
                  </p:txBody>
                </p:sp>
                <p:grpSp>
                  <p:nvGrpSpPr>
                    <p:cNvPr id="87078" name="组合 601107"/>
                    <p:cNvGrpSpPr/>
                    <p:nvPr/>
                  </p:nvGrpSpPr>
                  <p:grpSpPr bwMode="auto">
                    <a:xfrm>
                      <a:off x="318" y="768"/>
                      <a:ext cx="1669" cy="775"/>
                      <a:chOff x="318" y="768"/>
                      <a:chExt cx="1669" cy="775"/>
                    </a:xfrm>
                  </p:grpSpPr>
                  <p:sp>
                    <p:nvSpPr>
                      <p:cNvPr id="87079" name="直接连接符 60110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18" y="1527"/>
                        <a:ext cx="978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FF33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87080" name="直接连接符 60110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296" y="776"/>
                        <a:ext cx="691" cy="9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FF33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87081" name="直接连接符 60111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307" y="776"/>
                        <a:ext cx="0" cy="767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FF33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87082" name="直接连接符 6011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68" y="768"/>
                        <a:ext cx="0" cy="767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FF33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87076" name="直接连接符 601112"/>
                  <p:cNvSpPr>
                    <a:spLocks noChangeShapeType="1"/>
                  </p:cNvSpPr>
                  <p:nvPr/>
                </p:nvSpPr>
                <p:spPr bwMode="auto">
                  <a:xfrm>
                    <a:off x="5193" y="1525"/>
                    <a:ext cx="567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33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87068" name="矩形 601113"/>
            <p:cNvSpPr>
              <a:spLocks noChangeArrowheads="1"/>
            </p:cNvSpPr>
            <p:nvPr/>
          </p:nvSpPr>
          <p:spPr bwMode="auto">
            <a:xfrm>
              <a:off x="3691" y="2251"/>
              <a:ext cx="26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baseline="0">
                  <a:ea typeface="楷体_GB2312" pitchFamily="49" charset="-122"/>
                </a:rPr>
                <a:t>此势能分布称为方势垒</a:t>
              </a:r>
            </a:p>
          </p:txBody>
        </p:sp>
      </p:grpSp>
      <p:grpSp>
        <p:nvGrpSpPr>
          <p:cNvPr id="601115" name="组合 601114"/>
          <p:cNvGrpSpPr/>
          <p:nvPr/>
        </p:nvGrpSpPr>
        <p:grpSpPr bwMode="auto">
          <a:xfrm>
            <a:off x="5797550" y="1258888"/>
            <a:ext cx="1436688" cy="841375"/>
            <a:chOff x="295" y="945"/>
            <a:chExt cx="905" cy="530"/>
          </a:xfrm>
        </p:grpSpPr>
        <p:sp>
          <p:nvSpPr>
            <p:cNvPr id="87063" name="文本框 601115"/>
            <p:cNvSpPr txBox="1">
              <a:spLocks noChangeArrowheads="1"/>
            </p:cNvSpPr>
            <p:nvPr/>
          </p:nvSpPr>
          <p:spPr bwMode="auto">
            <a:xfrm>
              <a:off x="797" y="99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E</a:t>
              </a:r>
            </a:p>
          </p:txBody>
        </p:sp>
        <p:sp>
          <p:nvSpPr>
            <p:cNvPr id="87064" name="椭圆 601116"/>
            <p:cNvSpPr>
              <a:spLocks noChangeArrowheads="1"/>
            </p:cNvSpPr>
            <p:nvPr/>
          </p:nvSpPr>
          <p:spPr bwMode="auto">
            <a:xfrm>
              <a:off x="585" y="1278"/>
              <a:ext cx="213" cy="197"/>
            </a:xfrm>
            <a:prstGeom prst="ellipse">
              <a:avLst/>
            </a:prstGeom>
            <a:gradFill rotWithShape="0">
              <a:gsLst>
                <a:gs pos="0">
                  <a:srgbClr val="66FF33"/>
                </a:gs>
                <a:gs pos="100000">
                  <a:srgbClr val="44A922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 b="1" baseline="0"/>
            </a:p>
          </p:txBody>
        </p:sp>
        <p:sp>
          <p:nvSpPr>
            <p:cNvPr id="87065" name="文本框 601117"/>
            <p:cNvSpPr txBox="1">
              <a:spLocks noChangeArrowheads="1"/>
            </p:cNvSpPr>
            <p:nvPr/>
          </p:nvSpPr>
          <p:spPr bwMode="auto">
            <a:xfrm>
              <a:off x="295" y="945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m</a:t>
              </a:r>
            </a:p>
          </p:txBody>
        </p:sp>
        <p:sp>
          <p:nvSpPr>
            <p:cNvPr id="87066" name="直接连接符 601118"/>
            <p:cNvSpPr>
              <a:spLocks noChangeShapeType="1"/>
            </p:cNvSpPr>
            <p:nvPr/>
          </p:nvSpPr>
          <p:spPr bwMode="auto">
            <a:xfrm>
              <a:off x="816" y="1392"/>
              <a:ext cx="384" cy="0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1120" name="直接连接符 601119"/>
          <p:cNvSpPr>
            <a:spLocks noChangeShapeType="1"/>
          </p:cNvSpPr>
          <p:nvPr/>
        </p:nvSpPr>
        <p:spPr bwMode="auto">
          <a:xfrm>
            <a:off x="6983413" y="1603375"/>
            <a:ext cx="2089150" cy="0"/>
          </a:xfrm>
          <a:prstGeom prst="line">
            <a:avLst/>
          </a:prstGeom>
          <a:noFill/>
          <a:ln w="38100">
            <a:solidFill>
              <a:srgbClr val="0099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1121" name="文本框 601120"/>
          <p:cNvSpPr txBox="1">
            <a:spLocks noChangeArrowheads="1"/>
          </p:cNvSpPr>
          <p:nvPr/>
        </p:nvSpPr>
        <p:spPr bwMode="auto">
          <a:xfrm>
            <a:off x="684213" y="692150"/>
            <a:ext cx="54244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solidFill>
                  <a:schemeClr val="accent2"/>
                </a:solidFill>
                <a:ea typeface="黑体" panose="02010609060101010101" pitchFamily="49" charset="-122"/>
              </a:rPr>
              <a:t>设有一微观粒子，质量为 </a:t>
            </a:r>
            <a:r>
              <a:rPr lang="en-US" altLang="zh-CN" sz="2400" b="1" i="1" baseline="0">
                <a:solidFill>
                  <a:schemeClr val="accent2"/>
                </a:solidFill>
                <a:ea typeface="黑体" panose="02010609060101010101" pitchFamily="49" charset="-122"/>
              </a:rPr>
              <a:t>m </a:t>
            </a:r>
            <a:r>
              <a:rPr lang="zh-CN" altLang="en-US" sz="2400" baseline="0">
                <a:solidFill>
                  <a:schemeClr val="accent2"/>
                </a:solidFill>
                <a:ea typeface="黑体" panose="02010609060101010101" pitchFamily="49" charset="-122"/>
              </a:rPr>
              <a:t>能量为 </a:t>
            </a:r>
            <a:r>
              <a:rPr lang="en-US" altLang="zh-CN" sz="2400" b="1" i="1" baseline="0">
                <a:solidFill>
                  <a:schemeClr val="accent2"/>
                </a:solidFill>
                <a:ea typeface="黑体" panose="02010609060101010101" pitchFamily="49" charset="-122"/>
              </a:rPr>
              <a:t>E</a:t>
            </a:r>
            <a:r>
              <a:rPr lang="zh-CN" altLang="en-US" sz="2400" baseline="0">
                <a:solidFill>
                  <a:schemeClr val="accent2"/>
                </a:solidFill>
                <a:ea typeface="黑体" panose="02010609060101010101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baseline="0">
                <a:solidFill>
                  <a:schemeClr val="accent2"/>
                </a:solidFill>
                <a:ea typeface="黑体" panose="02010609060101010101" pitchFamily="49" charset="-122"/>
              </a:rPr>
              <a:t>U</a:t>
            </a:r>
            <a:r>
              <a:rPr lang="zh-CN" altLang="en-US" sz="2400" baseline="0">
                <a:solidFill>
                  <a:schemeClr val="accent2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400" b="1" i="1" baseline="0">
                <a:solidFill>
                  <a:schemeClr val="accent2"/>
                </a:solidFill>
                <a:ea typeface="黑体" panose="02010609060101010101" pitchFamily="49" charset="-122"/>
              </a:rPr>
              <a:t>x</a:t>
            </a:r>
            <a:r>
              <a:rPr lang="zh-CN" altLang="en-US" sz="2400" baseline="0">
                <a:solidFill>
                  <a:schemeClr val="accent2"/>
                </a:solidFill>
                <a:ea typeface="黑体" panose="02010609060101010101" pitchFamily="49" charset="-122"/>
              </a:rPr>
              <a:t>）满足：</a:t>
            </a:r>
          </a:p>
        </p:txBody>
      </p:sp>
      <p:graphicFrame>
        <p:nvGraphicFramePr>
          <p:cNvPr id="601122" name="对象 601121"/>
          <p:cNvGraphicFramePr/>
          <p:nvPr/>
        </p:nvGraphicFramePr>
        <p:xfrm>
          <a:off x="1187450" y="1565275"/>
          <a:ext cx="165735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4" r:id="rId3" imgW="847725" imgH="535305" progId="Equation.3">
                  <p:embed/>
                </p:oleObj>
              </mc:Choice>
              <mc:Fallback>
                <p:oleObj r:id="rId3" imgW="847725" imgH="535305" progId="Equation.3">
                  <p:embed/>
                  <p:pic>
                    <p:nvPicPr>
                      <p:cNvPr id="0" name="对象 60112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565275"/>
                        <a:ext cx="1657350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1123" name="文本框 601122"/>
          <p:cNvSpPr txBox="1">
            <a:spLocks noChangeArrowheads="1"/>
          </p:cNvSpPr>
          <p:nvPr/>
        </p:nvSpPr>
        <p:spPr bwMode="auto">
          <a:xfrm>
            <a:off x="398463" y="386080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aseline="0">
                <a:ea typeface="黑体" panose="02010609060101010101" pitchFamily="49" charset="-122"/>
              </a:rPr>
              <a:t>薛定谔方程：</a:t>
            </a:r>
          </a:p>
        </p:txBody>
      </p:sp>
      <p:graphicFrame>
        <p:nvGraphicFramePr>
          <p:cNvPr id="601124" name="对象 601123"/>
          <p:cNvGraphicFramePr/>
          <p:nvPr/>
        </p:nvGraphicFramePr>
        <p:xfrm>
          <a:off x="877888" y="4772025"/>
          <a:ext cx="40671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5" r:id="rId5" imgW="1739900" imgH="457200" progId="Equation.DSMT4">
                  <p:embed/>
                </p:oleObj>
              </mc:Choice>
              <mc:Fallback>
                <p:oleObj r:id="rId5" imgW="1739900" imgH="457200" progId="Equation.DSMT4">
                  <p:embed/>
                  <p:pic>
                    <p:nvPicPr>
                      <p:cNvPr id="0" name="对象 60112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4772025"/>
                        <a:ext cx="40671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125" name="对象 601124"/>
          <p:cNvGraphicFramePr/>
          <p:nvPr/>
        </p:nvGraphicFramePr>
        <p:xfrm>
          <a:off x="884238" y="5905500"/>
          <a:ext cx="5029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6" r:id="rId7" imgW="2241550" imgH="457200" progId="Equation.DSMT4">
                  <p:embed/>
                </p:oleObj>
              </mc:Choice>
              <mc:Fallback>
                <p:oleObj r:id="rId7" imgW="2241550" imgH="457200" progId="Equation.DSMT4">
                  <p:embed/>
                  <p:pic>
                    <p:nvPicPr>
                      <p:cNvPr id="0" name="对象 60112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5905500"/>
                        <a:ext cx="5029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1" name="对象 601125"/>
          <p:cNvGraphicFramePr/>
          <p:nvPr/>
        </p:nvGraphicFramePr>
        <p:xfrm>
          <a:off x="4694238" y="18319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7" r:id="rId9" imgW="114300" imgH="215265" progId="Equation.3">
                  <p:embed/>
                </p:oleObj>
              </mc:Choice>
              <mc:Fallback>
                <p:oleObj r:id="rId9" imgW="114300" imgH="215265" progId="Equation.3">
                  <p:embed/>
                  <p:pic>
                    <p:nvPicPr>
                      <p:cNvPr id="0" name="对象 60112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38" y="1831975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2" name="对象 601126"/>
          <p:cNvGraphicFramePr/>
          <p:nvPr/>
        </p:nvGraphicFramePr>
        <p:xfrm>
          <a:off x="8809038" y="247650"/>
          <a:ext cx="127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8" r:id="rId11" imgW="127000" imgH="177165" progId="Equation.3">
                  <p:embed/>
                </p:oleObj>
              </mc:Choice>
              <mc:Fallback>
                <p:oleObj r:id="rId11" imgW="127000" imgH="177165" progId="Equation.3">
                  <p:embed/>
                  <p:pic>
                    <p:nvPicPr>
                      <p:cNvPr id="0" name="对象 60112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9038" y="247650"/>
                        <a:ext cx="1270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129" name="内容占位符 601128"/>
          <p:cNvGraphicFramePr>
            <a:graphicFrameLocks noGrp="1"/>
          </p:cNvGraphicFramePr>
          <p:nvPr>
            <p:ph sz="half" idx="1"/>
          </p:nvPr>
        </p:nvGraphicFramePr>
        <p:xfrm>
          <a:off x="2698750" y="3660775"/>
          <a:ext cx="453707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39" r:id="rId13" imgW="2374900" imgH="535305" progId="Equation.3">
                  <p:embed/>
                </p:oleObj>
              </mc:Choice>
              <mc:Fallback>
                <p:oleObj r:id="rId13" imgW="2374900" imgH="535305" progId="Equation.3">
                  <p:embed/>
                  <p:pic>
                    <p:nvPicPr>
                      <p:cNvPr id="0" name="内容占位符 60112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3660775"/>
                        <a:ext cx="4537075" cy="10636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ECFF"/>
                          </a:gs>
                          <a:gs pos="50000">
                            <a:srgbClr val="FFFFFF"/>
                          </a:gs>
                          <a:gs pos="100000">
                            <a:srgbClr val="CCECFF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130" name="内容占位符 601129"/>
          <p:cNvGraphicFramePr>
            <a:graphicFrameLocks noGrp="1"/>
          </p:cNvGraphicFramePr>
          <p:nvPr>
            <p:ph sz="half" idx="2"/>
          </p:nvPr>
        </p:nvGraphicFramePr>
        <p:xfrm>
          <a:off x="3476625" y="1593850"/>
          <a:ext cx="183197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0" r:id="rId15" imgW="902970" imgH="468630" progId="Equation.DSMT4">
                  <p:embed/>
                </p:oleObj>
              </mc:Choice>
              <mc:Fallback>
                <p:oleObj r:id="rId15" imgW="902970" imgH="468630" progId="Equation.DSMT4">
                  <p:embed/>
                  <p:pic>
                    <p:nvPicPr>
                      <p:cNvPr id="0" name="内容占位符 601129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1593850"/>
                        <a:ext cx="183197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131" name="对象 601130"/>
          <p:cNvGraphicFramePr/>
          <p:nvPr/>
        </p:nvGraphicFramePr>
        <p:xfrm>
          <a:off x="5919788" y="5057775"/>
          <a:ext cx="9906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1" r:id="rId17" imgW="713740" imgH="278765" progId="Equation.3">
                  <p:embed/>
                </p:oleObj>
              </mc:Choice>
              <mc:Fallback>
                <p:oleObj r:id="rId17" imgW="713740" imgH="278765" progId="Equation.3">
                  <p:embed/>
                  <p:pic>
                    <p:nvPicPr>
                      <p:cNvPr id="0" name="对象 601130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788" y="5057775"/>
                        <a:ext cx="9906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132" name="对象 601131"/>
          <p:cNvGraphicFramePr/>
          <p:nvPr/>
        </p:nvGraphicFramePr>
        <p:xfrm>
          <a:off x="6981825" y="5008563"/>
          <a:ext cx="9128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2" r:id="rId19" imgW="591185" imgH="278765" progId="Equation.DSMT4">
                  <p:embed/>
                </p:oleObj>
              </mc:Choice>
              <mc:Fallback>
                <p:oleObj r:id="rId19" imgW="591185" imgH="278765" progId="Equation.DSMT4">
                  <p:embed/>
                  <p:pic>
                    <p:nvPicPr>
                      <p:cNvPr id="0" name="对象 601131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1825" y="5008563"/>
                        <a:ext cx="91281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1133" name="组合 601132"/>
          <p:cNvGrpSpPr/>
          <p:nvPr/>
        </p:nvGrpSpPr>
        <p:grpSpPr bwMode="auto">
          <a:xfrm>
            <a:off x="6423025" y="6137275"/>
            <a:ext cx="1720850" cy="519113"/>
            <a:chOff x="2784" y="2832"/>
            <a:chExt cx="1289" cy="386"/>
          </a:xfrm>
        </p:grpSpPr>
        <p:graphicFrame>
          <p:nvGraphicFramePr>
            <p:cNvPr id="87061" name="对象 601133"/>
            <p:cNvGraphicFramePr/>
            <p:nvPr/>
          </p:nvGraphicFramePr>
          <p:xfrm>
            <a:off x="2832" y="2832"/>
            <a:ext cx="1241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43" r:id="rId21" imgW="1115060" imgH="290195" progId="Equation.3">
                    <p:embed/>
                  </p:oleObj>
                </mc:Choice>
                <mc:Fallback>
                  <p:oleObj r:id="rId21" imgW="1115060" imgH="290195" progId="Equation.3">
                    <p:embed/>
                    <p:pic>
                      <p:nvPicPr>
                        <p:cNvPr id="0" name="对象 6011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832"/>
                          <a:ext cx="1241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1135" name="文本框 601134"/>
            <p:cNvSpPr txBox="1"/>
            <p:nvPr/>
          </p:nvSpPr>
          <p:spPr>
            <a:xfrm>
              <a:off x="2784" y="2832"/>
              <a:ext cx="624" cy="38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800" b="1" baseline="0" noProof="1">
                  <a:solidFill>
                    <a:srgbClr val="3333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601136" name="文本框 601135"/>
          <p:cNvSpPr txBox="1"/>
          <p:nvPr/>
        </p:nvSpPr>
        <p:spPr>
          <a:xfrm>
            <a:off x="757238" y="3187700"/>
            <a:ext cx="3924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入射能量 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&lt;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U</a:t>
            </a:r>
            <a:r>
              <a:rPr lang="en-US" altLang="zh-CN" b="1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0</a:t>
            </a:r>
            <a:endParaRPr lang="en-US" altLang="zh-CN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01137" name="矩形 601136"/>
          <p:cNvSpPr/>
          <p:nvPr/>
        </p:nvSpPr>
        <p:spPr>
          <a:xfrm>
            <a:off x="736600" y="2611438"/>
            <a:ext cx="4937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粒子从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= -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处以确定能量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入射；</a:t>
            </a:r>
          </a:p>
        </p:txBody>
      </p:sp>
      <p:sp>
        <p:nvSpPr>
          <p:cNvPr id="87060" name="文本框 595994"/>
          <p:cNvSpPr txBox="1">
            <a:spLocks noChangeArrowheads="1"/>
          </p:cNvSpPr>
          <p:nvPr/>
        </p:nvSpPr>
        <p:spPr bwMode="auto">
          <a:xfrm>
            <a:off x="395288" y="207963"/>
            <a:ext cx="56165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zh-CN" altLang="en-US" baseline="0">
                <a:solidFill>
                  <a:srgbClr val="CC3300"/>
                </a:solidFill>
                <a:ea typeface="黑体" panose="02010609060101010101" pitchFamily="49" charset="-122"/>
              </a:rPr>
              <a:t>二、势垒穿透和 隧道效应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0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0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60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0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0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0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0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0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0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0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0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0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60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60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60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60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121" grpId="0"/>
      <p:bldP spid="601123" grpId="0"/>
      <p:bldP spid="601136" grpId="0"/>
      <p:bldP spid="60113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93688" y="420688"/>
            <a:ext cx="1439862" cy="492125"/>
          </a:xfrm>
          <a:prstGeom prst="rect">
            <a:avLst/>
          </a:prstGeom>
          <a:solidFill>
            <a:srgbClr val="FF99CC"/>
          </a:solidFill>
          <a:ln w="9525">
            <a:solidFill>
              <a:srgbClr val="9900CC"/>
            </a:solidFill>
            <a:miter lim="800000"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600" baseline="0">
                <a:ea typeface="楷体_GB2312" pitchFamily="49" charset="-122"/>
              </a:rPr>
              <a:t>Ⅰ区域：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260600" y="220663"/>
          <a:ext cx="21224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82" r:id="rId3" imgW="1816100" imgH="698500" progId="Equation.DSMT4">
                  <p:embed/>
                </p:oleObj>
              </mc:Choice>
              <mc:Fallback>
                <p:oleObj r:id="rId3" imgW="1816100" imgH="698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220663"/>
                        <a:ext cx="21224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5108575" y="296863"/>
          <a:ext cx="14319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83" r:id="rId5" imgW="1143000" imgH="660400" progId="Equation.DSMT4">
                  <p:embed/>
                </p:oleObj>
              </mc:Choice>
              <mc:Fallback>
                <p:oleObj r:id="rId5" imgW="1143000" imgH="660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5" y="296863"/>
                        <a:ext cx="1431925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79400" y="2501900"/>
            <a:ext cx="1511300" cy="492125"/>
          </a:xfrm>
          <a:prstGeom prst="rect">
            <a:avLst/>
          </a:prstGeom>
          <a:solidFill>
            <a:srgbClr val="FF99CC"/>
          </a:solidFill>
          <a:ln w="9525">
            <a:solidFill>
              <a:srgbClr val="9900CC"/>
            </a:solidFill>
            <a:miter lim="800000"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600" baseline="0">
                <a:ea typeface="楷体_GB2312" pitchFamily="49" charset="-122"/>
              </a:rPr>
              <a:t>Ⅱ区域：</a:t>
            </a: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5108575" y="2449513"/>
          <a:ext cx="2151063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84" r:id="rId7" imgW="1841500" imgH="660400" progId="Equation.DSMT4">
                  <p:embed/>
                </p:oleObj>
              </mc:Choice>
              <mc:Fallback>
                <p:oleObj r:id="rId7" imgW="1841500" imgH="660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5" y="2449513"/>
                        <a:ext cx="2151063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2225675" y="2328863"/>
          <a:ext cx="2268538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85" r:id="rId9" imgW="1866900" imgH="698500" progId="Equation.DSMT4">
                  <p:embed/>
                </p:oleObj>
              </mc:Choice>
              <mc:Fallback>
                <p:oleObj r:id="rId9" imgW="1866900" imgH="698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2328863"/>
                        <a:ext cx="2268538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2" name="Line 11"/>
          <p:cNvSpPr>
            <a:spLocks noChangeShapeType="1"/>
          </p:cNvSpPr>
          <p:nvPr/>
        </p:nvSpPr>
        <p:spPr bwMode="auto">
          <a:xfrm>
            <a:off x="279400" y="2078038"/>
            <a:ext cx="8280400" cy="0"/>
          </a:xfrm>
          <a:prstGeom prst="line">
            <a:avLst/>
          </a:prstGeom>
          <a:noFill/>
          <a:ln w="9525">
            <a:solidFill>
              <a:srgbClr val="FF99CC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3" name="Line 12"/>
          <p:cNvSpPr>
            <a:spLocks noChangeShapeType="1"/>
          </p:cNvSpPr>
          <p:nvPr/>
        </p:nvSpPr>
        <p:spPr bwMode="auto">
          <a:xfrm>
            <a:off x="250825" y="4437063"/>
            <a:ext cx="8280400" cy="0"/>
          </a:xfrm>
          <a:prstGeom prst="line">
            <a:avLst/>
          </a:prstGeom>
          <a:noFill/>
          <a:ln w="9525">
            <a:solidFill>
              <a:srgbClr val="FF99CC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265113" y="4773613"/>
            <a:ext cx="1525587" cy="492125"/>
          </a:xfrm>
          <a:prstGeom prst="rect">
            <a:avLst/>
          </a:prstGeom>
          <a:solidFill>
            <a:srgbClr val="FF99CC"/>
          </a:solidFill>
          <a:ln w="9525">
            <a:solidFill>
              <a:srgbClr val="9900CC"/>
            </a:solidFill>
            <a:miter lim="800000"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600" baseline="0">
                <a:ea typeface="楷体_GB2312" pitchFamily="49" charset="-122"/>
              </a:rPr>
              <a:t>Ⅲ 区域：</a:t>
            </a:r>
          </a:p>
        </p:txBody>
      </p:sp>
      <p:graphicFrame>
        <p:nvGraphicFramePr>
          <p:cNvPr id="12" name="Object 15"/>
          <p:cNvGraphicFramePr>
            <a:graphicFrameLocks noChangeAspect="1"/>
          </p:cNvGraphicFramePr>
          <p:nvPr/>
        </p:nvGraphicFramePr>
        <p:xfrm>
          <a:off x="2257425" y="4708525"/>
          <a:ext cx="23034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86" r:id="rId11" imgW="1866900" imgH="698500" progId="Equation.DSMT4">
                  <p:embed/>
                </p:oleObj>
              </mc:Choice>
              <mc:Fallback>
                <p:oleObj r:id="rId11" imgW="1866900" imgH="6985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425" y="4708525"/>
                        <a:ext cx="230346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/>
          <p:cNvGraphicFramePr>
            <a:graphicFrameLocks noChangeAspect="1"/>
          </p:cNvGraphicFramePr>
          <p:nvPr/>
        </p:nvGraphicFramePr>
        <p:xfrm>
          <a:off x="5248275" y="4891088"/>
          <a:ext cx="10223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87" r:id="rId13" imgW="800100" imgH="406400" progId="Equation.3">
                  <p:embed/>
                </p:oleObj>
              </mc:Choice>
              <mc:Fallback>
                <p:oleObj r:id="rId13" imgW="800100" imgH="406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275" y="4891088"/>
                        <a:ext cx="102235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7" name="Line 17"/>
          <p:cNvSpPr>
            <a:spLocks noChangeShapeType="1"/>
          </p:cNvSpPr>
          <p:nvPr/>
        </p:nvSpPr>
        <p:spPr bwMode="auto">
          <a:xfrm>
            <a:off x="279400" y="6453188"/>
            <a:ext cx="8280400" cy="0"/>
          </a:xfrm>
          <a:prstGeom prst="line">
            <a:avLst/>
          </a:prstGeom>
          <a:noFill/>
          <a:ln w="9525">
            <a:solidFill>
              <a:srgbClr val="FF99CC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323850" y="1285875"/>
            <a:ext cx="32670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fontAlgn="auto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sym typeface="+mn-ea"/>
              </a:rPr>
              <a:t>通解：</a:t>
            </a:r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323850" y="3444875"/>
            <a:ext cx="3267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fontAlgn="auto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sym typeface="+mn-ea"/>
              </a:rPr>
              <a:t>通解：</a:t>
            </a: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395288" y="5772150"/>
            <a:ext cx="32670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fontAlgn="auto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sym typeface="+mn-ea"/>
              </a:rPr>
              <a:t>通解：</a:t>
            </a:r>
          </a:p>
        </p:txBody>
      </p:sp>
      <p:graphicFrame>
        <p:nvGraphicFramePr>
          <p:cNvPr id="18" name="Object 21"/>
          <p:cNvGraphicFramePr>
            <a:graphicFrameLocks noChangeAspect="1"/>
          </p:cNvGraphicFramePr>
          <p:nvPr/>
        </p:nvGraphicFramePr>
        <p:xfrm>
          <a:off x="1390650" y="1146175"/>
          <a:ext cx="357505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88" r:id="rId15" imgW="31089600" imgH="6096000" progId="Equation.DSMT4">
                  <p:embed/>
                </p:oleObj>
              </mc:Choice>
              <mc:Fallback>
                <p:oleObj r:id="rId15" imgW="31089600" imgH="60960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1146175"/>
                        <a:ext cx="3575050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5003800" y="1130300"/>
            <a:ext cx="25558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fontAlgn="auto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sym typeface="+mn-ea"/>
              </a:rPr>
              <a:t>有入射、反射波</a:t>
            </a:r>
          </a:p>
        </p:txBody>
      </p:sp>
      <p:graphicFrame>
        <p:nvGraphicFramePr>
          <p:cNvPr id="20" name="Object 23"/>
          <p:cNvGraphicFramePr>
            <a:graphicFrameLocks noChangeAspect="1"/>
          </p:cNvGraphicFramePr>
          <p:nvPr/>
        </p:nvGraphicFramePr>
        <p:xfrm>
          <a:off x="1384300" y="3429000"/>
          <a:ext cx="37242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89" r:id="rId17" imgW="33528000" imgH="6096000" progId="Equation.DSMT4">
                  <p:embed/>
                </p:oleObj>
              </mc:Choice>
              <mc:Fallback>
                <p:oleObj r:id="rId17" imgW="33528000" imgH="60960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3429000"/>
                        <a:ext cx="372427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5148263" y="3933825"/>
            <a:ext cx="1865312" cy="33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fontAlgn="auto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sym typeface="+mn-ea"/>
              </a:rPr>
              <a:t>只有衰减波</a:t>
            </a:r>
          </a:p>
        </p:txBody>
      </p:sp>
      <p:graphicFrame>
        <p:nvGraphicFramePr>
          <p:cNvPr id="22" name="Object 25"/>
          <p:cNvGraphicFramePr>
            <a:graphicFrameLocks noChangeAspect="1"/>
          </p:cNvGraphicFramePr>
          <p:nvPr/>
        </p:nvGraphicFramePr>
        <p:xfrm>
          <a:off x="1558925" y="5695950"/>
          <a:ext cx="20050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90" r:id="rId19" imgW="20726400" imgH="6096000" progId="Equation.DSMT4">
                  <p:embed/>
                </p:oleObj>
              </mc:Choice>
              <mc:Fallback>
                <p:oleObj r:id="rId19" imgW="20726400" imgH="60960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5695950"/>
                        <a:ext cx="200501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6"/>
          <p:cNvSpPr txBox="1">
            <a:spLocks noChangeArrowheads="1"/>
          </p:cNvSpPr>
          <p:nvPr/>
        </p:nvSpPr>
        <p:spPr bwMode="auto">
          <a:xfrm>
            <a:off x="4967288" y="5545138"/>
            <a:ext cx="2089150" cy="331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fontAlgn="auto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_GB2312" pitchFamily="49" charset="-122"/>
                <a:sym typeface="+mn-ea"/>
              </a:rPr>
              <a:t>只有透射波</a:t>
            </a:r>
          </a:p>
        </p:txBody>
      </p:sp>
      <p:grpSp>
        <p:nvGrpSpPr>
          <p:cNvPr id="24" name="Group 39"/>
          <p:cNvGrpSpPr/>
          <p:nvPr/>
        </p:nvGrpSpPr>
        <p:grpSpPr bwMode="auto">
          <a:xfrm>
            <a:off x="5194300" y="1587500"/>
            <a:ext cx="2012950" cy="550863"/>
            <a:chOff x="1810" y="1963"/>
            <a:chExt cx="1268" cy="347"/>
          </a:xfrm>
        </p:grpSpPr>
        <p:graphicFrame>
          <p:nvGraphicFramePr>
            <p:cNvPr id="88094" name="Object 37"/>
            <p:cNvGraphicFramePr>
              <a:graphicFrameLocks noChangeAspect="1"/>
            </p:cNvGraphicFramePr>
            <p:nvPr/>
          </p:nvGraphicFramePr>
          <p:xfrm>
            <a:off x="1810" y="1963"/>
            <a:ext cx="296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291" r:id="rId21" imgW="419100" imgH="469900" progId="Equation.DSMT4">
                    <p:embed/>
                  </p:oleObj>
                </mc:Choice>
                <mc:Fallback>
                  <p:oleObj r:id="rId21" imgW="419100" imgH="4699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0" y="1963"/>
                          <a:ext cx="296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38"/>
            <p:cNvSpPr txBox="1">
              <a:spLocks noChangeArrowheads="1"/>
            </p:cNvSpPr>
            <p:nvPr/>
          </p:nvSpPr>
          <p:spPr bwMode="auto">
            <a:xfrm>
              <a:off x="2031" y="2019"/>
              <a:ext cx="104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defRPr/>
              </a:pPr>
              <a:r>
                <a:rPr lang="zh-CN" altLang="en-US" b="1" baseline="0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_GB2312" pitchFamily="49" charset="-122"/>
                  <a:sym typeface="+mn-ea"/>
                </a:rPr>
                <a:t>为反射率</a:t>
              </a:r>
            </a:p>
          </p:txBody>
        </p:sp>
      </p:grpSp>
      <p:grpSp>
        <p:nvGrpSpPr>
          <p:cNvPr id="27" name="Group 40"/>
          <p:cNvGrpSpPr/>
          <p:nvPr/>
        </p:nvGrpSpPr>
        <p:grpSpPr bwMode="auto">
          <a:xfrm>
            <a:off x="5062538" y="5999163"/>
            <a:ext cx="1960562" cy="490537"/>
            <a:chOff x="2024" y="2011"/>
            <a:chExt cx="1235" cy="309"/>
          </a:xfrm>
        </p:grpSpPr>
        <p:graphicFrame>
          <p:nvGraphicFramePr>
            <p:cNvPr id="88092" name="Object 41"/>
            <p:cNvGraphicFramePr>
              <a:graphicFrameLocks noChangeAspect="1"/>
            </p:cNvGraphicFramePr>
            <p:nvPr/>
          </p:nvGraphicFramePr>
          <p:xfrm>
            <a:off x="2024" y="2011"/>
            <a:ext cx="261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292" r:id="rId23" imgW="406400" imgH="469900" progId="Equation.DSMT4">
                    <p:embed/>
                  </p:oleObj>
                </mc:Choice>
                <mc:Fallback>
                  <p:oleObj r:id="rId23" imgW="406400" imgH="4699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4" y="2011"/>
                          <a:ext cx="261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42"/>
            <p:cNvSpPr txBox="1">
              <a:spLocks noChangeArrowheads="1"/>
            </p:cNvSpPr>
            <p:nvPr/>
          </p:nvSpPr>
          <p:spPr bwMode="auto">
            <a:xfrm>
              <a:off x="2245" y="2024"/>
              <a:ext cx="10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defRPr/>
              </a:pPr>
              <a:r>
                <a:rPr lang="zh-CN" altLang="en-US" b="1" baseline="0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_GB2312" pitchFamily="49" charset="-122"/>
                  <a:sym typeface="+mn-ea"/>
                </a:rPr>
                <a:t>为透射率</a:t>
              </a:r>
            </a:p>
          </p:txBody>
        </p:sp>
      </p:grpSp>
      <p:graphicFrame>
        <p:nvGraphicFramePr>
          <p:cNvPr id="30" name="Object 11"/>
          <p:cNvGraphicFramePr>
            <a:graphicFrameLocks noChangeAspect="1"/>
          </p:cNvGraphicFramePr>
          <p:nvPr/>
        </p:nvGraphicFramePr>
        <p:xfrm>
          <a:off x="7065963" y="5910263"/>
          <a:ext cx="15446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93" r:id="rId25" imgW="1358900" imgH="469900" progId="Equation.DSMT4">
                  <p:embed/>
                </p:oleObj>
              </mc:Choice>
              <mc:Fallback>
                <p:oleObj r:id="rId25" imgW="1358900" imgH="469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5963" y="5910263"/>
                        <a:ext cx="15446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8090" name="Picture 214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44450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5687" name="Object 215"/>
          <p:cNvGraphicFramePr>
            <a:graphicFrameLocks noChangeAspect="1"/>
          </p:cNvGraphicFramePr>
          <p:nvPr/>
        </p:nvGraphicFramePr>
        <p:xfrm>
          <a:off x="5076825" y="3429000"/>
          <a:ext cx="13874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94" r:id="rId28" imgW="12496800" imgH="4876800" progId="Equation.DSMT4">
                  <p:embed/>
                </p:oleObj>
              </mc:Choice>
              <mc:Fallback>
                <p:oleObj r:id="rId28" imgW="12496800" imgH="4876800" progId="Equation.DSMT4">
                  <p:embed/>
                  <p:pic>
                    <p:nvPicPr>
                      <p:cNvPr id="0" name="Object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429000"/>
                        <a:ext cx="13874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5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  <p:bldP spid="11" grpId="0" build="p" animBg="1"/>
      <p:bldP spid="15" grpId="0" bldLvl="0" animBg="1"/>
      <p:bldP spid="16" grpId="0" bldLvl="0" animBg="1"/>
      <p:bldP spid="17" grpId="0" bldLvl="0" animBg="1"/>
      <p:bldP spid="19" grpId="0" build="p"/>
      <p:bldP spid="21" grpId="0" build="p"/>
      <p:bldP spid="2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63575" y="188913"/>
            <a:ext cx="79994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b="1" baseline="0">
                <a:solidFill>
                  <a:srgbClr val="000066"/>
                </a:solidFill>
              </a:rPr>
              <a:t>—— 当 m、U</a:t>
            </a:r>
            <a:r>
              <a:rPr lang="en-US" altLang="zh-CN" sz="2400" b="1" baseline="-25000">
                <a:solidFill>
                  <a:srgbClr val="000066"/>
                </a:solidFill>
              </a:rPr>
              <a:t>0</a:t>
            </a:r>
            <a:r>
              <a:rPr lang="en-US" altLang="zh-CN" sz="2400" b="1" baseline="0">
                <a:solidFill>
                  <a:srgbClr val="000066"/>
                </a:solidFill>
              </a:rPr>
              <a:t>-E 及 a  为微观尺度时（如：电子），透过率有一定值；若对于宏观尺度的粒子，则透过率为 0。</a:t>
            </a:r>
          </a:p>
        </p:txBody>
      </p:sp>
      <p:grpSp>
        <p:nvGrpSpPr>
          <p:cNvPr id="89091" name="Group 86"/>
          <p:cNvGrpSpPr/>
          <p:nvPr/>
        </p:nvGrpSpPr>
        <p:grpSpPr bwMode="auto">
          <a:xfrm>
            <a:off x="1331913" y="1916113"/>
            <a:ext cx="6505575" cy="2813050"/>
            <a:chOff x="732" y="2338"/>
            <a:chExt cx="4098" cy="1772"/>
          </a:xfrm>
        </p:grpSpPr>
        <p:sp>
          <p:nvSpPr>
            <p:cNvPr id="89093" name="Text Box 36"/>
            <p:cNvSpPr txBox="1">
              <a:spLocks noChangeArrowheads="1"/>
            </p:cNvSpPr>
            <p:nvPr/>
          </p:nvSpPr>
          <p:spPr bwMode="auto">
            <a:xfrm>
              <a:off x="3155" y="3102"/>
              <a:ext cx="124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66"/>
                  </a:solidFill>
                  <a:ea typeface="黑体" panose="02010609060101010101" pitchFamily="49" charset="-122"/>
                </a:rPr>
                <a:t>隧道效应</a:t>
              </a:r>
            </a:p>
          </p:txBody>
        </p:sp>
        <p:sp>
          <p:nvSpPr>
            <p:cNvPr id="89094" name="Line 39"/>
            <p:cNvSpPr>
              <a:spLocks noChangeShapeType="1"/>
            </p:cNvSpPr>
            <p:nvPr/>
          </p:nvSpPr>
          <p:spPr bwMode="auto">
            <a:xfrm>
              <a:off x="959" y="3798"/>
              <a:ext cx="35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5" name="Line 40"/>
            <p:cNvSpPr>
              <a:spLocks noChangeShapeType="1"/>
            </p:cNvSpPr>
            <p:nvPr/>
          </p:nvSpPr>
          <p:spPr bwMode="auto">
            <a:xfrm>
              <a:off x="1048" y="3783"/>
              <a:ext cx="129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6" name="Line 41"/>
            <p:cNvSpPr>
              <a:spLocks noChangeShapeType="1"/>
            </p:cNvSpPr>
            <p:nvPr/>
          </p:nvSpPr>
          <p:spPr bwMode="auto">
            <a:xfrm flipV="1">
              <a:off x="2338" y="2574"/>
              <a:ext cx="0" cy="12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7" name="Line 42"/>
            <p:cNvSpPr>
              <a:spLocks noChangeShapeType="1"/>
            </p:cNvSpPr>
            <p:nvPr/>
          </p:nvSpPr>
          <p:spPr bwMode="auto">
            <a:xfrm flipV="1">
              <a:off x="2895" y="2574"/>
              <a:ext cx="0" cy="12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8" name="Line 43"/>
            <p:cNvSpPr>
              <a:spLocks noChangeShapeType="1"/>
            </p:cNvSpPr>
            <p:nvPr/>
          </p:nvSpPr>
          <p:spPr bwMode="auto">
            <a:xfrm>
              <a:off x="2338" y="2581"/>
              <a:ext cx="56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9" name="Line 44"/>
            <p:cNvSpPr>
              <a:spLocks noChangeShapeType="1"/>
            </p:cNvSpPr>
            <p:nvPr/>
          </p:nvSpPr>
          <p:spPr bwMode="auto">
            <a:xfrm>
              <a:off x="2895" y="3783"/>
              <a:ext cx="1440" cy="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0" name="Line 45"/>
            <p:cNvSpPr>
              <a:spLocks noChangeShapeType="1"/>
            </p:cNvSpPr>
            <p:nvPr/>
          </p:nvSpPr>
          <p:spPr bwMode="auto">
            <a:xfrm>
              <a:off x="1056" y="3412"/>
              <a:ext cx="3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1" name="Line 46"/>
            <p:cNvSpPr>
              <a:spLocks noChangeShapeType="1"/>
            </p:cNvSpPr>
            <p:nvPr/>
          </p:nvSpPr>
          <p:spPr bwMode="auto">
            <a:xfrm>
              <a:off x="3566" y="3412"/>
              <a:ext cx="0" cy="379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2" name="Text Box 47"/>
            <p:cNvSpPr txBox="1">
              <a:spLocks noChangeArrowheads="1"/>
            </p:cNvSpPr>
            <p:nvPr/>
          </p:nvSpPr>
          <p:spPr bwMode="auto">
            <a:xfrm>
              <a:off x="3584" y="3384"/>
              <a:ext cx="353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ea typeface="黑体" panose="02010609060101010101" pitchFamily="49" charset="-122"/>
                </a:rPr>
                <a:t>E</a:t>
              </a:r>
            </a:p>
          </p:txBody>
        </p:sp>
        <p:grpSp>
          <p:nvGrpSpPr>
            <p:cNvPr id="89103" name="Group 72"/>
            <p:cNvGrpSpPr/>
            <p:nvPr/>
          </p:nvGrpSpPr>
          <p:grpSpPr bwMode="auto">
            <a:xfrm>
              <a:off x="1092" y="2626"/>
              <a:ext cx="1245" cy="757"/>
              <a:chOff x="858" y="2672"/>
              <a:chExt cx="1245" cy="757"/>
            </a:xfrm>
          </p:grpSpPr>
          <p:sp>
            <p:nvSpPr>
              <p:cNvPr id="89122" name="Freeform 48"/>
              <p:cNvSpPr>
                <a:spLocks noChangeArrowheads="1"/>
              </p:cNvSpPr>
              <p:nvPr/>
            </p:nvSpPr>
            <p:spPr bwMode="auto">
              <a:xfrm>
                <a:off x="858" y="3069"/>
                <a:ext cx="331" cy="360"/>
              </a:xfrm>
              <a:custGeom>
                <a:avLst/>
                <a:gdLst>
                  <a:gd name="T0" fmla="*/ 0 w 495"/>
                  <a:gd name="T1" fmla="*/ 0 h 645"/>
                  <a:gd name="T2" fmla="*/ 72 w 495"/>
                  <a:gd name="T3" fmla="*/ 112 h 645"/>
                  <a:gd name="T4" fmla="*/ 148 w 495"/>
                  <a:gd name="T5" fmla="*/ 0 h 6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5" h="645">
                    <a:moveTo>
                      <a:pt x="0" y="0"/>
                    </a:moveTo>
                    <a:cubicBezTo>
                      <a:pt x="79" y="322"/>
                      <a:pt x="158" y="645"/>
                      <a:pt x="240" y="645"/>
                    </a:cubicBezTo>
                    <a:cubicBezTo>
                      <a:pt x="322" y="645"/>
                      <a:pt x="408" y="322"/>
                      <a:pt x="495" y="0"/>
                    </a:cubicBezTo>
                  </a:path>
                </a:pathLst>
              </a:custGeom>
              <a:noFill/>
              <a:ln w="28575">
                <a:solidFill>
                  <a:srgbClr val="008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23" name="Freeform 49"/>
              <p:cNvSpPr>
                <a:spLocks noChangeArrowheads="1"/>
              </p:cNvSpPr>
              <p:nvPr/>
            </p:nvSpPr>
            <p:spPr bwMode="auto">
              <a:xfrm flipV="1">
                <a:off x="1189" y="2709"/>
                <a:ext cx="331" cy="360"/>
              </a:xfrm>
              <a:custGeom>
                <a:avLst/>
                <a:gdLst>
                  <a:gd name="T0" fmla="*/ 0 w 495"/>
                  <a:gd name="T1" fmla="*/ 0 h 645"/>
                  <a:gd name="T2" fmla="*/ 72 w 495"/>
                  <a:gd name="T3" fmla="*/ 112 h 645"/>
                  <a:gd name="T4" fmla="*/ 148 w 495"/>
                  <a:gd name="T5" fmla="*/ 0 h 6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5" h="645">
                    <a:moveTo>
                      <a:pt x="0" y="0"/>
                    </a:moveTo>
                    <a:cubicBezTo>
                      <a:pt x="79" y="322"/>
                      <a:pt x="158" y="645"/>
                      <a:pt x="240" y="645"/>
                    </a:cubicBezTo>
                    <a:cubicBezTo>
                      <a:pt x="322" y="645"/>
                      <a:pt x="408" y="322"/>
                      <a:pt x="495" y="0"/>
                    </a:cubicBezTo>
                  </a:path>
                </a:pathLst>
              </a:custGeom>
              <a:noFill/>
              <a:ln w="28575">
                <a:solidFill>
                  <a:srgbClr val="008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24" name="Freeform 50"/>
              <p:cNvSpPr>
                <a:spLocks noChangeArrowheads="1"/>
              </p:cNvSpPr>
              <p:nvPr/>
            </p:nvSpPr>
            <p:spPr bwMode="auto">
              <a:xfrm>
                <a:off x="1520" y="3069"/>
                <a:ext cx="332" cy="360"/>
              </a:xfrm>
              <a:custGeom>
                <a:avLst/>
                <a:gdLst>
                  <a:gd name="T0" fmla="*/ 0 w 495"/>
                  <a:gd name="T1" fmla="*/ 0 h 645"/>
                  <a:gd name="T2" fmla="*/ 72 w 495"/>
                  <a:gd name="T3" fmla="*/ 112 h 645"/>
                  <a:gd name="T4" fmla="*/ 150 w 495"/>
                  <a:gd name="T5" fmla="*/ 0 h 6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5" h="645">
                    <a:moveTo>
                      <a:pt x="0" y="0"/>
                    </a:moveTo>
                    <a:cubicBezTo>
                      <a:pt x="79" y="322"/>
                      <a:pt x="158" y="645"/>
                      <a:pt x="240" y="645"/>
                    </a:cubicBezTo>
                    <a:cubicBezTo>
                      <a:pt x="322" y="645"/>
                      <a:pt x="408" y="322"/>
                      <a:pt x="495" y="0"/>
                    </a:cubicBezTo>
                  </a:path>
                </a:pathLst>
              </a:custGeom>
              <a:noFill/>
              <a:ln w="28575">
                <a:solidFill>
                  <a:srgbClr val="008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25" name="Freeform 51"/>
              <p:cNvSpPr>
                <a:spLocks noChangeArrowheads="1"/>
              </p:cNvSpPr>
              <p:nvPr/>
            </p:nvSpPr>
            <p:spPr bwMode="auto">
              <a:xfrm>
                <a:off x="1851" y="2672"/>
                <a:ext cx="252" cy="401"/>
              </a:xfrm>
              <a:custGeom>
                <a:avLst/>
                <a:gdLst>
                  <a:gd name="T0" fmla="*/ 0 w 252"/>
                  <a:gd name="T1" fmla="*/ 401 h 401"/>
                  <a:gd name="T2" fmla="*/ 160 w 252"/>
                  <a:gd name="T3" fmla="*/ 41 h 401"/>
                  <a:gd name="T4" fmla="*/ 252 w 252"/>
                  <a:gd name="T5" fmla="*/ 153 h 40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2" h="401">
                    <a:moveTo>
                      <a:pt x="0" y="401"/>
                    </a:moveTo>
                    <a:cubicBezTo>
                      <a:pt x="53" y="221"/>
                      <a:pt x="118" y="82"/>
                      <a:pt x="160" y="41"/>
                    </a:cubicBezTo>
                    <a:cubicBezTo>
                      <a:pt x="202" y="0"/>
                      <a:pt x="233" y="130"/>
                      <a:pt x="252" y="153"/>
                    </a:cubicBezTo>
                  </a:path>
                </a:pathLst>
              </a:custGeom>
              <a:noFill/>
              <a:ln w="28575">
                <a:solidFill>
                  <a:srgbClr val="008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9104" name="Line 54"/>
            <p:cNvSpPr>
              <a:spLocks noChangeShapeType="1"/>
            </p:cNvSpPr>
            <p:nvPr/>
          </p:nvSpPr>
          <p:spPr bwMode="auto">
            <a:xfrm>
              <a:off x="915" y="3027"/>
              <a:ext cx="36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5" name="Text Box 58"/>
            <p:cNvSpPr txBox="1">
              <a:spLocks noChangeArrowheads="1"/>
            </p:cNvSpPr>
            <p:nvPr/>
          </p:nvSpPr>
          <p:spPr bwMode="auto">
            <a:xfrm>
              <a:off x="2188" y="3746"/>
              <a:ext cx="282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66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9106" name="Text Box 59"/>
            <p:cNvSpPr txBox="1">
              <a:spLocks noChangeArrowheads="1"/>
            </p:cNvSpPr>
            <p:nvPr/>
          </p:nvSpPr>
          <p:spPr bwMode="auto">
            <a:xfrm>
              <a:off x="2791" y="3717"/>
              <a:ext cx="282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89107" name="Text Box 61"/>
            <p:cNvSpPr txBox="1">
              <a:spLocks noChangeArrowheads="1"/>
            </p:cNvSpPr>
            <p:nvPr/>
          </p:nvSpPr>
          <p:spPr bwMode="auto">
            <a:xfrm>
              <a:off x="4459" y="3710"/>
              <a:ext cx="37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89108" name="Text Box 62"/>
            <p:cNvSpPr txBox="1">
              <a:spLocks noChangeArrowheads="1"/>
            </p:cNvSpPr>
            <p:nvPr/>
          </p:nvSpPr>
          <p:spPr bwMode="auto">
            <a:xfrm>
              <a:off x="1348" y="3828"/>
              <a:ext cx="68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66"/>
                  </a:solidFill>
                  <a:ea typeface="黑体" panose="02010609060101010101" pitchFamily="49" charset="-122"/>
                </a:rPr>
                <a:t>Ⅰ</a:t>
              </a:r>
              <a:r>
                <a:rPr lang="zh-CN" altLang="en-US" sz="2400" b="1">
                  <a:solidFill>
                    <a:srgbClr val="000066"/>
                  </a:solidFill>
                  <a:ea typeface="黑体" panose="02010609060101010101" pitchFamily="49" charset="-122"/>
                </a:rPr>
                <a:t>区</a:t>
              </a:r>
            </a:p>
          </p:txBody>
        </p:sp>
        <p:sp>
          <p:nvSpPr>
            <p:cNvPr id="89109" name="Text Box 63"/>
            <p:cNvSpPr txBox="1">
              <a:spLocks noChangeArrowheads="1"/>
            </p:cNvSpPr>
            <p:nvPr/>
          </p:nvSpPr>
          <p:spPr bwMode="auto">
            <a:xfrm>
              <a:off x="2311" y="3821"/>
              <a:ext cx="69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66"/>
                  </a:solidFill>
                  <a:ea typeface="黑体" panose="02010609060101010101" pitchFamily="49" charset="-122"/>
                </a:rPr>
                <a:t>Ⅱ</a:t>
              </a:r>
              <a:r>
                <a:rPr lang="zh-CN" altLang="en-US" sz="2400" b="1">
                  <a:solidFill>
                    <a:srgbClr val="000066"/>
                  </a:solidFill>
                  <a:ea typeface="黑体" panose="02010609060101010101" pitchFamily="49" charset="-122"/>
                </a:rPr>
                <a:t>区</a:t>
              </a:r>
            </a:p>
          </p:txBody>
        </p:sp>
        <p:sp>
          <p:nvSpPr>
            <p:cNvPr id="89110" name="Text Box 64"/>
            <p:cNvSpPr txBox="1">
              <a:spLocks noChangeArrowheads="1"/>
            </p:cNvSpPr>
            <p:nvPr/>
          </p:nvSpPr>
          <p:spPr bwMode="auto">
            <a:xfrm>
              <a:off x="3304" y="3821"/>
              <a:ext cx="862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66"/>
                  </a:solidFill>
                  <a:ea typeface="黑体" panose="02010609060101010101" pitchFamily="49" charset="-122"/>
                </a:rPr>
                <a:t>Ⅲ</a:t>
              </a:r>
              <a:r>
                <a:rPr lang="zh-CN" altLang="en-US" sz="2400" b="1">
                  <a:solidFill>
                    <a:srgbClr val="000066"/>
                  </a:solidFill>
                  <a:ea typeface="黑体" panose="02010609060101010101" pitchFamily="49" charset="-122"/>
                </a:rPr>
                <a:t>区</a:t>
              </a:r>
            </a:p>
          </p:txBody>
        </p:sp>
        <p:sp>
          <p:nvSpPr>
            <p:cNvPr id="89111" name="Freeform 73"/>
            <p:cNvSpPr>
              <a:spLocks noChangeArrowheads="1"/>
            </p:cNvSpPr>
            <p:nvPr/>
          </p:nvSpPr>
          <p:spPr bwMode="auto">
            <a:xfrm>
              <a:off x="2343" y="2785"/>
              <a:ext cx="545" cy="177"/>
            </a:xfrm>
            <a:custGeom>
              <a:avLst/>
              <a:gdLst>
                <a:gd name="T0" fmla="*/ 0 w 545"/>
                <a:gd name="T1" fmla="*/ 0 h 177"/>
                <a:gd name="T2" fmla="*/ 241 w 545"/>
                <a:gd name="T3" fmla="*/ 120 h 177"/>
                <a:gd name="T4" fmla="*/ 545 w 545"/>
                <a:gd name="T5" fmla="*/ 177 h 1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5" h="177">
                  <a:moveTo>
                    <a:pt x="0" y="0"/>
                  </a:moveTo>
                  <a:cubicBezTo>
                    <a:pt x="40" y="20"/>
                    <a:pt x="150" y="91"/>
                    <a:pt x="241" y="120"/>
                  </a:cubicBezTo>
                  <a:cubicBezTo>
                    <a:pt x="332" y="149"/>
                    <a:pt x="482" y="165"/>
                    <a:pt x="545" y="177"/>
                  </a:cubicBezTo>
                </a:path>
              </a:pathLst>
            </a:custGeom>
            <a:noFill/>
            <a:ln w="28575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12" name="Freeform 74"/>
            <p:cNvSpPr>
              <a:spLocks noChangeArrowheads="1"/>
            </p:cNvSpPr>
            <p:nvPr/>
          </p:nvSpPr>
          <p:spPr bwMode="auto">
            <a:xfrm>
              <a:off x="2894" y="2932"/>
              <a:ext cx="1445" cy="172"/>
            </a:xfrm>
            <a:custGeom>
              <a:avLst/>
              <a:gdLst>
                <a:gd name="T0" fmla="*/ 0 w 1445"/>
                <a:gd name="T1" fmla="*/ 39 h 172"/>
                <a:gd name="T2" fmla="*/ 266 w 1445"/>
                <a:gd name="T3" fmla="*/ 167 h 172"/>
                <a:gd name="T4" fmla="*/ 604 w 1445"/>
                <a:gd name="T5" fmla="*/ 12 h 172"/>
                <a:gd name="T6" fmla="*/ 906 w 1445"/>
                <a:gd name="T7" fmla="*/ 167 h 172"/>
                <a:gd name="T8" fmla="*/ 1235 w 1445"/>
                <a:gd name="T9" fmla="*/ 12 h 172"/>
                <a:gd name="T10" fmla="*/ 1445 w 1445"/>
                <a:gd name="T11" fmla="*/ 94 h 1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45" h="172">
                  <a:moveTo>
                    <a:pt x="0" y="39"/>
                  </a:moveTo>
                  <a:cubicBezTo>
                    <a:pt x="44" y="60"/>
                    <a:pt x="165" y="172"/>
                    <a:pt x="266" y="167"/>
                  </a:cubicBezTo>
                  <a:cubicBezTo>
                    <a:pt x="367" y="162"/>
                    <a:pt x="497" y="12"/>
                    <a:pt x="604" y="12"/>
                  </a:cubicBezTo>
                  <a:cubicBezTo>
                    <a:pt x="711" y="12"/>
                    <a:pt x="801" y="167"/>
                    <a:pt x="906" y="167"/>
                  </a:cubicBezTo>
                  <a:cubicBezTo>
                    <a:pt x="1011" y="167"/>
                    <a:pt x="1145" y="24"/>
                    <a:pt x="1235" y="12"/>
                  </a:cubicBezTo>
                  <a:cubicBezTo>
                    <a:pt x="1325" y="0"/>
                    <a:pt x="1401" y="77"/>
                    <a:pt x="1445" y="9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9113" name="Object 75"/>
            <p:cNvGraphicFramePr>
              <a:graphicFrameLocks noChangeAspect="1"/>
            </p:cNvGraphicFramePr>
            <p:nvPr/>
          </p:nvGraphicFramePr>
          <p:xfrm>
            <a:off x="1172" y="2658"/>
            <a:ext cx="227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86" r:id="rId3" imgW="4267200" imgH="5486400" progId="Equation.DSMT4">
                    <p:embed/>
                  </p:oleObj>
                </mc:Choice>
                <mc:Fallback>
                  <p:oleObj r:id="rId3" imgW="4267200" imgH="5486400" progId="Equation.DSMT4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2658"/>
                          <a:ext cx="227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14" name="Object 76"/>
            <p:cNvGraphicFramePr>
              <a:graphicFrameLocks noChangeAspect="1"/>
            </p:cNvGraphicFramePr>
            <p:nvPr/>
          </p:nvGraphicFramePr>
          <p:xfrm>
            <a:off x="2488" y="2614"/>
            <a:ext cx="243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87" r:id="rId5" imgW="4572000" imgH="5486400" progId="Equation.DSMT4">
                    <p:embed/>
                  </p:oleObj>
                </mc:Choice>
                <mc:Fallback>
                  <p:oleObj r:id="rId5" imgW="4572000" imgH="5486400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8" y="2614"/>
                          <a:ext cx="243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15" name="Object 77"/>
            <p:cNvGraphicFramePr>
              <a:graphicFrameLocks noChangeAspect="1"/>
            </p:cNvGraphicFramePr>
            <p:nvPr/>
          </p:nvGraphicFramePr>
          <p:xfrm>
            <a:off x="3795" y="2686"/>
            <a:ext cx="243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88" r:id="rId7" imgW="4572000" imgH="5486400" progId="Equation.DSMT4">
                    <p:embed/>
                  </p:oleObj>
                </mc:Choice>
                <mc:Fallback>
                  <p:oleObj r:id="rId7" imgW="4572000" imgH="5486400" progId="Equation.DSMT4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5" y="2686"/>
                          <a:ext cx="243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16" name="Object 78"/>
            <p:cNvGraphicFramePr>
              <a:graphicFrameLocks noChangeAspect="1"/>
            </p:cNvGraphicFramePr>
            <p:nvPr/>
          </p:nvGraphicFramePr>
          <p:xfrm>
            <a:off x="2773" y="2338"/>
            <a:ext cx="259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89" r:id="rId9" imgW="4876800" imgH="5486400" progId="Equation.DSMT4">
                    <p:embed/>
                  </p:oleObj>
                </mc:Choice>
                <mc:Fallback>
                  <p:oleObj r:id="rId9" imgW="4876800" imgH="548640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3" y="2338"/>
                          <a:ext cx="259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117" name="Freeform 81"/>
            <p:cNvSpPr>
              <a:spLocks noChangeArrowheads="1"/>
            </p:cNvSpPr>
            <p:nvPr/>
          </p:nvSpPr>
          <p:spPr bwMode="auto">
            <a:xfrm>
              <a:off x="732" y="2832"/>
              <a:ext cx="1604" cy="336"/>
            </a:xfrm>
            <a:custGeom>
              <a:avLst/>
              <a:gdLst>
                <a:gd name="T0" fmla="*/ 0 w 1604"/>
                <a:gd name="T1" fmla="*/ 189 h 336"/>
                <a:gd name="T2" fmla="*/ 247 w 1604"/>
                <a:gd name="T3" fmla="*/ 24 h 336"/>
                <a:gd name="T4" fmla="*/ 593 w 1604"/>
                <a:gd name="T5" fmla="*/ 336 h 336"/>
                <a:gd name="T6" fmla="*/ 963 w 1604"/>
                <a:gd name="T7" fmla="*/ 23 h 336"/>
                <a:gd name="T8" fmla="*/ 1284 w 1604"/>
                <a:gd name="T9" fmla="*/ 320 h 336"/>
                <a:gd name="T10" fmla="*/ 1604 w 1604"/>
                <a:gd name="T11" fmla="*/ 42 h 3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04" h="336">
                  <a:moveTo>
                    <a:pt x="0" y="189"/>
                  </a:moveTo>
                  <a:cubicBezTo>
                    <a:pt x="40" y="162"/>
                    <a:pt x="148" y="0"/>
                    <a:pt x="247" y="24"/>
                  </a:cubicBezTo>
                  <a:cubicBezTo>
                    <a:pt x="346" y="48"/>
                    <a:pt x="474" y="336"/>
                    <a:pt x="593" y="336"/>
                  </a:cubicBezTo>
                  <a:cubicBezTo>
                    <a:pt x="712" y="336"/>
                    <a:pt x="848" y="26"/>
                    <a:pt x="963" y="23"/>
                  </a:cubicBezTo>
                  <a:cubicBezTo>
                    <a:pt x="1078" y="20"/>
                    <a:pt x="1177" y="317"/>
                    <a:pt x="1284" y="320"/>
                  </a:cubicBezTo>
                  <a:cubicBezTo>
                    <a:pt x="1391" y="323"/>
                    <a:pt x="1537" y="100"/>
                    <a:pt x="1604" y="42"/>
                  </a:cubicBezTo>
                </a:path>
              </a:pathLst>
            </a:custGeom>
            <a:noFill/>
            <a:ln w="25400">
              <a:solidFill>
                <a:srgbClr val="9900CC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18" name="Line 82"/>
            <p:cNvSpPr>
              <a:spLocks noChangeShapeType="1"/>
            </p:cNvSpPr>
            <p:nvPr/>
          </p:nvSpPr>
          <p:spPr bwMode="auto">
            <a:xfrm>
              <a:off x="1700" y="2659"/>
              <a:ext cx="227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19" name="Line 83"/>
            <p:cNvSpPr>
              <a:spLocks noChangeShapeType="1"/>
            </p:cNvSpPr>
            <p:nvPr/>
          </p:nvSpPr>
          <p:spPr bwMode="auto">
            <a:xfrm>
              <a:off x="2426" y="2963"/>
              <a:ext cx="227" cy="0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20" name="Line 84"/>
            <p:cNvSpPr>
              <a:spLocks noChangeShapeType="1"/>
            </p:cNvSpPr>
            <p:nvPr/>
          </p:nvSpPr>
          <p:spPr bwMode="auto">
            <a:xfrm>
              <a:off x="3515" y="2886"/>
              <a:ext cx="22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21" name="Line 85"/>
            <p:cNvSpPr>
              <a:spLocks noChangeShapeType="1"/>
            </p:cNvSpPr>
            <p:nvPr/>
          </p:nvSpPr>
          <p:spPr bwMode="auto">
            <a:xfrm>
              <a:off x="839" y="2795"/>
              <a:ext cx="227" cy="0"/>
            </a:xfrm>
            <a:prstGeom prst="line">
              <a:avLst/>
            </a:prstGeom>
            <a:noFill/>
            <a:ln w="31750">
              <a:solidFill>
                <a:srgbClr val="CC00FF"/>
              </a:solidFill>
              <a:round/>
              <a:head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533400" y="5091113"/>
            <a:ext cx="8001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b="1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—— 势垒穿透（隧道效应）是一种微观现象，是粒子波动性的表现。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0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6977063" y="2022475"/>
            <a:ext cx="1828800" cy="522288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baseline="0" noProof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sym typeface="+mn-ea"/>
              </a:rPr>
              <a:t>经典</a:t>
            </a: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435350" y="476250"/>
            <a:ext cx="63500" cy="2882900"/>
          </a:xfrm>
          <a:prstGeom prst="rect">
            <a:avLst/>
          </a:prstGeom>
          <a:solidFill>
            <a:srgbClr val="00CCFF"/>
          </a:solidFill>
          <a:ln w="12699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aphicFrame>
        <p:nvGraphicFramePr>
          <p:cNvPr id="90116" name="Object 4"/>
          <p:cNvGraphicFramePr/>
          <p:nvPr/>
        </p:nvGraphicFramePr>
        <p:xfrm>
          <a:off x="4086225" y="1562100"/>
          <a:ext cx="2895600" cy="157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83" r:id="rId3" imgW="53035200" imgH="25555575" progId="">
                  <p:embed/>
                </p:oleObj>
              </mc:Choice>
              <mc:Fallback>
                <p:oleObj r:id="rId3" imgW="53035200" imgH="25555575" progId="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225" y="1562100"/>
                        <a:ext cx="2895600" cy="157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7" name="Object 5"/>
          <p:cNvGraphicFramePr/>
          <p:nvPr/>
        </p:nvGraphicFramePr>
        <p:xfrm>
          <a:off x="1309688" y="1247775"/>
          <a:ext cx="1600200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84" r:id="rId5" imgW="17554575" imgH="25355550" progId="">
                  <p:embed/>
                </p:oleObj>
              </mc:Choice>
              <mc:Fallback>
                <p:oleObj r:id="rId5" imgW="17554575" imgH="25355550" progId="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688" y="1247775"/>
                        <a:ext cx="1600200" cy="211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3435350" y="3565525"/>
            <a:ext cx="63500" cy="2959100"/>
          </a:xfrm>
          <a:prstGeom prst="rect">
            <a:avLst/>
          </a:prstGeom>
          <a:solidFill>
            <a:srgbClr val="00CCFF"/>
          </a:solidFill>
          <a:ln w="12699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graphicFrame>
        <p:nvGraphicFramePr>
          <p:cNvPr id="90119" name="Object 7"/>
          <p:cNvGraphicFramePr/>
          <p:nvPr/>
        </p:nvGraphicFramePr>
        <p:xfrm>
          <a:off x="2971800" y="4297363"/>
          <a:ext cx="2895600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85" r:id="rId7" imgW="53035200" imgH="25555575" progId="">
                  <p:embed/>
                </p:oleObj>
              </mc:Choice>
              <mc:Fallback>
                <p:oleObj r:id="rId7" imgW="53035200" imgH="25555575" progId="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297363"/>
                        <a:ext cx="2895600" cy="157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Object 8"/>
          <p:cNvGraphicFramePr/>
          <p:nvPr/>
        </p:nvGraphicFramePr>
        <p:xfrm>
          <a:off x="755650" y="3810000"/>
          <a:ext cx="17526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86" r:id="rId8" imgW="14544675" imgH="33909000" progId="">
                  <p:embed/>
                </p:oleObj>
              </mc:Choice>
              <mc:Fallback>
                <p:oleObj r:id="rId8" imgW="14544675" imgH="33909000" progId="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810000"/>
                        <a:ext cx="17526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95288" y="115888"/>
            <a:ext cx="18288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defRPr/>
            </a:pPr>
            <a:r>
              <a:rPr lang="zh-CN" altLang="en-US" sz="2800" b="1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sym typeface="+mn-ea"/>
              </a:rPr>
              <a:t>隧道效应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19925" y="4930775"/>
            <a:ext cx="1828800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defRPr/>
            </a:pPr>
            <a:r>
              <a:rPr lang="zh-CN" altLang="en-US" b="1" baseline="0" noProof="1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sym typeface="+mn-ea"/>
              </a:rPr>
              <a:t>量子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矩形 680961"/>
          <p:cNvSpPr>
            <a:spLocks noChangeArrowheads="1"/>
          </p:cNvSpPr>
          <p:nvPr/>
        </p:nvSpPr>
        <p:spPr bwMode="auto">
          <a:xfrm>
            <a:off x="250825" y="260350"/>
            <a:ext cx="497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CC3300"/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zh-CN" sz="2800" baseline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aseline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隧道效应的应用</a:t>
            </a:r>
          </a:p>
        </p:txBody>
      </p:sp>
      <p:sp>
        <p:nvSpPr>
          <p:cNvPr id="680963" name="文本框 680962"/>
          <p:cNvSpPr txBox="1"/>
          <p:nvPr/>
        </p:nvSpPr>
        <p:spPr>
          <a:xfrm>
            <a:off x="538163" y="1052513"/>
            <a:ext cx="8591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隧道二极管，金属场致（冷）发射，核的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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衰变，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680999" name="文本框 680998"/>
          <p:cNvSpPr txBox="1"/>
          <p:nvPr/>
        </p:nvSpPr>
        <p:spPr>
          <a:xfrm>
            <a:off x="466725" y="1773238"/>
            <a:ext cx="8591550" cy="140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普通二极管：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电流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i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~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电子的扩散速度，调制速度慢。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隧道二极管：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通过电场调控势垒高度，改变隧道电流 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               工作频率极高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(100GHz)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，响应速度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5ps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以内。</a:t>
            </a:r>
          </a:p>
        </p:txBody>
      </p:sp>
      <p:sp>
        <p:nvSpPr>
          <p:cNvPr id="681000" name="矩形 680999"/>
          <p:cNvSpPr/>
          <p:nvPr/>
        </p:nvSpPr>
        <p:spPr>
          <a:xfrm>
            <a:off x="538163" y="3573463"/>
            <a:ext cx="558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应用：高速开关或高频振荡电路</a:t>
            </a:r>
            <a:endParaRPr lang="zh-CN" altLang="en-US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2" grpId="0"/>
      <p:bldP spid="680963" grpId="0"/>
      <p:bldP spid="680999" grpId="0"/>
      <p:bldP spid="68100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文本框 607233"/>
          <p:cNvSpPr txBox="1">
            <a:spLocks noChangeArrowheads="1"/>
          </p:cNvSpPr>
          <p:nvPr/>
        </p:nvSpPr>
        <p:spPr bwMode="auto">
          <a:xfrm>
            <a:off x="479425" y="404813"/>
            <a:ext cx="82105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CC3300"/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zh-CN" sz="2800" b="1" baseline="0">
                <a:solidFill>
                  <a:srgbClr val="0000FF"/>
                </a:solidFill>
              </a:rPr>
              <a:t> </a:t>
            </a:r>
            <a:r>
              <a:rPr lang="zh-CN" altLang="en-US" sz="2800" b="1" baseline="0">
                <a:solidFill>
                  <a:srgbClr val="0000FF"/>
                </a:solidFill>
              </a:rPr>
              <a:t>扫描隧道显微镜</a:t>
            </a:r>
            <a:r>
              <a:rPr lang="zh-CN" altLang="en-US" sz="2800" b="1" baseline="0">
                <a:solidFill>
                  <a:srgbClr val="FF0000"/>
                </a:solidFill>
              </a:rPr>
              <a:t>（</a:t>
            </a:r>
            <a:r>
              <a:rPr lang="en-US" altLang="zh-CN" sz="2800" b="1" baseline="0">
                <a:solidFill>
                  <a:srgbClr val="FF0000"/>
                </a:solidFill>
              </a:rPr>
              <a:t>STM</a:t>
            </a:r>
            <a:r>
              <a:rPr lang="zh-CN" altLang="en-US" sz="2800" b="1" baseline="0">
                <a:solidFill>
                  <a:srgbClr val="FF0000"/>
                </a:solidFill>
              </a:rPr>
              <a:t>）</a:t>
            </a:r>
            <a:endParaRPr lang="zh-CN" altLang="en-US" sz="2800" b="1" baseline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sz="2800" baseline="0"/>
          </a:p>
        </p:txBody>
      </p:sp>
      <p:sp>
        <p:nvSpPr>
          <p:cNvPr id="607235" name="文本框 607234"/>
          <p:cNvSpPr txBox="1"/>
          <p:nvPr/>
        </p:nvSpPr>
        <p:spPr>
          <a:xfrm>
            <a:off x="803275" y="2466975"/>
            <a:ext cx="7219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用于观察</a:t>
            </a:r>
          </a:p>
        </p:txBody>
      </p:sp>
      <p:sp>
        <p:nvSpPr>
          <p:cNvPr id="607236" name="文本框 607235"/>
          <p:cNvSpPr txBox="1"/>
          <p:nvPr/>
        </p:nvSpPr>
        <p:spPr>
          <a:xfrm>
            <a:off x="803275" y="3692525"/>
            <a:ext cx="71247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原理：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利用量子力学的隧道效应</a:t>
            </a:r>
          </a:p>
        </p:txBody>
      </p:sp>
      <p:sp>
        <p:nvSpPr>
          <p:cNvPr id="607237" name="文本框 607236"/>
          <p:cNvSpPr txBox="1"/>
          <p:nvPr/>
        </p:nvSpPr>
        <p:spPr>
          <a:xfrm>
            <a:off x="436563" y="4652963"/>
            <a:ext cx="2481262" cy="1146175"/>
          </a:xfrm>
          <a:prstGeom prst="rect">
            <a:avLst/>
          </a:prstGeom>
          <a:solidFill>
            <a:srgbClr val="CCFFFF"/>
          </a:solidFill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2800" b="1" baseline="0" noProof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1986</a:t>
            </a:r>
            <a:r>
              <a:rPr lang="zh-CN" altLang="en-US" sz="2800" b="1" baseline="0" noProof="1">
                <a:effectLst>
                  <a:outerShdw blurRad="38100" dist="38100" dir="2700000">
                    <a:srgbClr val="FFFFFF"/>
                  </a:outerShdw>
                </a:effectLst>
                <a:ea typeface="宋体" panose="02010600030101010101" pitchFamily="2" charset="-122"/>
              </a:rPr>
              <a:t>年的诺贝尔物理奖获奖</a:t>
            </a:r>
          </a:p>
        </p:txBody>
      </p:sp>
      <p:sp>
        <p:nvSpPr>
          <p:cNvPr id="607238" name="文本框 607237"/>
          <p:cNvSpPr txBox="1"/>
          <p:nvPr/>
        </p:nvSpPr>
        <p:spPr>
          <a:xfrm>
            <a:off x="3143250" y="5702300"/>
            <a:ext cx="5892800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鲁斯卡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E.Ruska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1932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发明电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                          子显微镜</a:t>
            </a:r>
          </a:p>
        </p:txBody>
      </p:sp>
      <p:sp>
        <p:nvSpPr>
          <p:cNvPr id="607239" name="文本框 607238"/>
          <p:cNvSpPr txBox="1"/>
          <p:nvPr/>
        </p:nvSpPr>
        <p:spPr>
          <a:xfrm>
            <a:off x="3159125" y="4398963"/>
            <a:ext cx="38274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宾尼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G.Binning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607240" name="文本框 607239"/>
          <p:cNvSpPr txBox="1"/>
          <p:nvPr/>
        </p:nvSpPr>
        <p:spPr>
          <a:xfrm>
            <a:off x="3176588" y="5057775"/>
            <a:ext cx="3827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罗雷尔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Rohrer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607241" name="右大括号 607240"/>
          <p:cNvSpPr/>
          <p:nvPr/>
        </p:nvSpPr>
        <p:spPr bwMode="auto">
          <a:xfrm>
            <a:off x="5951538" y="4581525"/>
            <a:ext cx="139700" cy="758825"/>
          </a:xfrm>
          <a:prstGeom prst="rightBrace">
            <a:avLst>
              <a:gd name="adj1" fmla="val 45014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607242" name="文本框 607241"/>
          <p:cNvSpPr txBox="1"/>
          <p:nvPr/>
        </p:nvSpPr>
        <p:spPr>
          <a:xfrm>
            <a:off x="6167438" y="4724400"/>
            <a:ext cx="269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发明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STM(1982)</a:t>
            </a:r>
          </a:p>
        </p:txBody>
      </p:sp>
      <p:sp>
        <p:nvSpPr>
          <p:cNvPr id="607243" name="矩形 607242"/>
          <p:cNvSpPr/>
          <p:nvPr/>
        </p:nvSpPr>
        <p:spPr>
          <a:xfrm>
            <a:off x="766763" y="3068638"/>
            <a:ext cx="83772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表面的微观结构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（不接触、不破坏样品）。</a:t>
            </a:r>
          </a:p>
        </p:txBody>
      </p:sp>
      <p:sp>
        <p:nvSpPr>
          <p:cNvPr id="607244" name="文本框 607243"/>
          <p:cNvSpPr txBox="1"/>
          <p:nvPr/>
        </p:nvSpPr>
        <p:spPr>
          <a:xfrm>
            <a:off x="822325" y="1020763"/>
            <a:ext cx="7874000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</a:t>
            </a:r>
            <a:r>
              <a:rPr lang="en-US" altLang="zh-CN" b="1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S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canning </a:t>
            </a:r>
            <a:r>
              <a:rPr lang="en-US" altLang="zh-CN" b="1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T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unneling </a:t>
            </a:r>
            <a:r>
              <a:rPr lang="en-US" altLang="zh-CN" b="1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M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icroscope)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是观察固体表面原子情况的超高倍显微镜。</a:t>
            </a:r>
          </a:p>
        </p:txBody>
      </p:sp>
      <p:sp>
        <p:nvSpPr>
          <p:cNvPr id="607245" name="左大括号 607244"/>
          <p:cNvSpPr/>
          <p:nvPr/>
        </p:nvSpPr>
        <p:spPr bwMode="auto">
          <a:xfrm>
            <a:off x="3059113" y="4437063"/>
            <a:ext cx="144462" cy="1706562"/>
          </a:xfrm>
          <a:prstGeom prst="leftBrace">
            <a:avLst>
              <a:gd name="adj1" fmla="val 9789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7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7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07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0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0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0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0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07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07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34" grpId="0"/>
      <p:bldP spid="607235" grpId="0"/>
      <p:bldP spid="607236" grpId="0"/>
      <p:bldP spid="607237" grpId="0" animBg="1"/>
      <p:bldP spid="607238" grpId="0"/>
      <p:bldP spid="607239" grpId="0"/>
      <p:bldP spid="607240" grpId="0"/>
      <p:bldP spid="607241" grpId="0" animBg="1"/>
      <p:bldP spid="607242" grpId="0"/>
      <p:bldP spid="607243" grpId="0"/>
      <p:bldP spid="607244" grpId="0"/>
      <p:bldP spid="60724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86" name="组合 608257"/>
          <p:cNvGrpSpPr/>
          <p:nvPr/>
        </p:nvGrpSpPr>
        <p:grpSpPr bwMode="auto">
          <a:xfrm>
            <a:off x="490538" y="1622425"/>
            <a:ext cx="8653462" cy="4422775"/>
            <a:chOff x="839" y="2064"/>
            <a:chExt cx="4218" cy="2016"/>
          </a:xfrm>
        </p:grpSpPr>
        <p:pic>
          <p:nvPicPr>
            <p:cNvPr id="93187" name="图片 608258" descr="1986-Binni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7" y="2064"/>
              <a:ext cx="1118" cy="1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188" name="图片 608259" descr="1986-Rohr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3" y="2064"/>
              <a:ext cx="1105" cy="1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189" name="图片 608260" descr="1986-Ruska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9" y="2064"/>
              <a:ext cx="1239" cy="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190" name="文本框 608261"/>
            <p:cNvSpPr txBox="1">
              <a:spLocks noChangeArrowheads="1"/>
            </p:cNvSpPr>
            <p:nvPr/>
          </p:nvSpPr>
          <p:spPr bwMode="auto">
            <a:xfrm>
              <a:off x="2387" y="3820"/>
              <a:ext cx="61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baseline="0">
                  <a:solidFill>
                    <a:srgbClr val="0000FF"/>
                  </a:solidFill>
                  <a:latin typeface="宋体" panose="02010600030101010101" pitchFamily="2" charset="-122"/>
                </a:rPr>
                <a:t>罗雷尔</a:t>
              </a:r>
            </a:p>
          </p:txBody>
        </p:sp>
        <p:sp>
          <p:nvSpPr>
            <p:cNvPr id="93191" name="文本框 608262"/>
            <p:cNvSpPr txBox="1">
              <a:spLocks noChangeArrowheads="1"/>
            </p:cNvSpPr>
            <p:nvPr/>
          </p:nvSpPr>
          <p:spPr bwMode="auto">
            <a:xfrm>
              <a:off x="1147" y="3820"/>
              <a:ext cx="438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baseline="0">
                  <a:solidFill>
                    <a:srgbClr val="0000FF"/>
                  </a:solidFill>
                  <a:latin typeface="宋体" panose="02010600030101010101" pitchFamily="2" charset="-122"/>
                </a:rPr>
                <a:t>宾尼</a:t>
              </a:r>
            </a:p>
          </p:txBody>
        </p:sp>
        <p:sp>
          <p:nvSpPr>
            <p:cNvPr id="93192" name="矩形 608263"/>
            <p:cNvSpPr>
              <a:spLocks noChangeArrowheads="1"/>
            </p:cNvSpPr>
            <p:nvPr/>
          </p:nvSpPr>
          <p:spPr bwMode="auto">
            <a:xfrm>
              <a:off x="3491" y="3840"/>
              <a:ext cx="1344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93193" name="文本框 608264"/>
            <p:cNvSpPr txBox="1">
              <a:spLocks noChangeArrowheads="1"/>
            </p:cNvSpPr>
            <p:nvPr/>
          </p:nvSpPr>
          <p:spPr bwMode="auto">
            <a:xfrm>
              <a:off x="3779" y="3818"/>
              <a:ext cx="61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baseline="0">
                  <a:solidFill>
                    <a:srgbClr val="0000FF"/>
                  </a:solidFill>
                  <a:latin typeface="宋体" panose="02010600030101010101" pitchFamily="2" charset="-122"/>
                </a:rPr>
                <a:t>鲁斯卡</a:t>
              </a:r>
            </a:p>
          </p:txBody>
        </p:sp>
        <p:sp>
          <p:nvSpPr>
            <p:cNvPr id="93194" name="矩形 608265"/>
            <p:cNvSpPr>
              <a:spLocks noChangeArrowheads="1"/>
            </p:cNvSpPr>
            <p:nvPr/>
          </p:nvSpPr>
          <p:spPr bwMode="auto">
            <a:xfrm>
              <a:off x="839" y="3644"/>
              <a:ext cx="4218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9282" name="对象 609281"/>
          <p:cNvGraphicFramePr/>
          <p:nvPr/>
        </p:nvGraphicFramePr>
        <p:xfrm>
          <a:off x="606425" y="3290888"/>
          <a:ext cx="3573463" cy="323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15" r:id="rId3" imgW="2354580" imgH="2039620" progId="Word.Document.8">
                  <p:embed/>
                </p:oleObj>
              </mc:Choice>
              <mc:Fallback>
                <p:oleObj r:id="rId3" imgW="2354580" imgH="2039620" progId="Word.Document.8">
                  <p:embed/>
                  <p:pic>
                    <p:nvPicPr>
                      <p:cNvPr id="0" name="对象 60928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25" y="3290888"/>
                        <a:ext cx="3573463" cy="323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211" name="组合 609282"/>
          <p:cNvGrpSpPr/>
          <p:nvPr/>
        </p:nvGrpSpPr>
        <p:grpSpPr bwMode="auto">
          <a:xfrm>
            <a:off x="788988" y="422275"/>
            <a:ext cx="3654425" cy="1803400"/>
            <a:chOff x="497" y="523"/>
            <a:chExt cx="2302" cy="1136"/>
          </a:xfrm>
        </p:grpSpPr>
        <p:sp>
          <p:nvSpPr>
            <p:cNvPr id="94269" name="直接连接符 609283"/>
            <p:cNvSpPr>
              <a:spLocks noChangeShapeType="1"/>
            </p:cNvSpPr>
            <p:nvPr/>
          </p:nvSpPr>
          <p:spPr bwMode="auto">
            <a:xfrm>
              <a:off x="598" y="1354"/>
              <a:ext cx="191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9285" name="文本框 609284"/>
            <p:cNvSpPr txBox="1"/>
            <p:nvPr/>
          </p:nvSpPr>
          <p:spPr>
            <a:xfrm>
              <a:off x="2245" y="534"/>
              <a:ext cx="554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b="1" i="1" baseline="0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U</a:t>
              </a:r>
              <a:r>
                <a:rPr lang="en-US" altLang="zh-CN" b="1" baseline="-25000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09286" name="文本框 609285"/>
            <p:cNvSpPr txBox="1"/>
            <p:nvPr/>
          </p:nvSpPr>
          <p:spPr>
            <a:xfrm>
              <a:off x="572" y="523"/>
              <a:ext cx="755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b="1" i="1" baseline="0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U</a:t>
              </a:r>
              <a:r>
                <a:rPr lang="en-US" altLang="zh-CN" b="1" baseline="-25000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09287" name="文本框 609286"/>
            <p:cNvSpPr txBox="1"/>
            <p:nvPr/>
          </p:nvSpPr>
          <p:spPr>
            <a:xfrm>
              <a:off x="1363" y="536"/>
              <a:ext cx="636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b="1" i="1" baseline="0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U</a:t>
              </a:r>
              <a:r>
                <a:rPr lang="en-US" altLang="zh-CN" b="1" baseline="-25000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94273" name="组合 609287"/>
            <p:cNvGrpSpPr/>
            <p:nvPr/>
          </p:nvGrpSpPr>
          <p:grpSpPr bwMode="auto">
            <a:xfrm>
              <a:off x="497" y="874"/>
              <a:ext cx="2095" cy="785"/>
              <a:chOff x="391" y="709"/>
              <a:chExt cx="2385" cy="894"/>
            </a:xfrm>
          </p:grpSpPr>
          <p:sp>
            <p:nvSpPr>
              <p:cNvPr id="94274" name="直接连接符 609288"/>
              <p:cNvSpPr>
                <a:spLocks noChangeShapeType="1"/>
              </p:cNvSpPr>
              <p:nvPr/>
            </p:nvSpPr>
            <p:spPr bwMode="auto">
              <a:xfrm>
                <a:off x="888" y="709"/>
                <a:ext cx="0" cy="88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75" name="直接连接符 609289"/>
              <p:cNvSpPr>
                <a:spLocks noChangeShapeType="1"/>
              </p:cNvSpPr>
              <p:nvPr/>
            </p:nvSpPr>
            <p:spPr bwMode="auto">
              <a:xfrm>
                <a:off x="1752" y="718"/>
                <a:ext cx="0" cy="88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76" name="直接连接符 609290"/>
              <p:cNvSpPr>
                <a:spLocks noChangeShapeType="1"/>
              </p:cNvSpPr>
              <p:nvPr/>
            </p:nvSpPr>
            <p:spPr bwMode="auto">
              <a:xfrm>
                <a:off x="2272" y="709"/>
                <a:ext cx="0" cy="88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77" name="直接连接符 609291"/>
              <p:cNvSpPr>
                <a:spLocks noChangeShapeType="1"/>
              </p:cNvSpPr>
              <p:nvPr/>
            </p:nvSpPr>
            <p:spPr bwMode="auto">
              <a:xfrm>
                <a:off x="1408" y="718"/>
                <a:ext cx="34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78" name="直接连接符 609292"/>
              <p:cNvSpPr>
                <a:spLocks noChangeShapeType="1"/>
              </p:cNvSpPr>
              <p:nvPr/>
            </p:nvSpPr>
            <p:spPr bwMode="auto">
              <a:xfrm>
                <a:off x="2272" y="718"/>
                <a:ext cx="50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79" name="直接连接符 609293"/>
              <p:cNvSpPr>
                <a:spLocks noChangeShapeType="1"/>
              </p:cNvSpPr>
              <p:nvPr/>
            </p:nvSpPr>
            <p:spPr bwMode="auto">
              <a:xfrm>
                <a:off x="391" y="709"/>
                <a:ext cx="50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80" name="直接连接符 609294"/>
              <p:cNvSpPr>
                <a:spLocks noChangeShapeType="1"/>
              </p:cNvSpPr>
              <p:nvPr/>
            </p:nvSpPr>
            <p:spPr bwMode="auto">
              <a:xfrm>
                <a:off x="880" y="1588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81" name="直接连接符 609295"/>
              <p:cNvSpPr>
                <a:spLocks noChangeShapeType="1"/>
              </p:cNvSpPr>
              <p:nvPr/>
            </p:nvSpPr>
            <p:spPr bwMode="auto">
              <a:xfrm>
                <a:off x="1752" y="1589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82" name="直接连接符 609296"/>
              <p:cNvSpPr>
                <a:spLocks noChangeShapeType="1"/>
              </p:cNvSpPr>
              <p:nvPr/>
            </p:nvSpPr>
            <p:spPr bwMode="auto">
              <a:xfrm>
                <a:off x="1397" y="709"/>
                <a:ext cx="0" cy="88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609298" name="对象 609297"/>
          <p:cNvGraphicFramePr/>
          <p:nvPr/>
        </p:nvGraphicFramePr>
        <p:xfrm>
          <a:off x="4799013" y="2479675"/>
          <a:ext cx="2005012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16" r:id="rId5" imgW="849630" imgH="266065" progId="Equation.3">
                  <p:embed/>
                </p:oleObj>
              </mc:Choice>
              <mc:Fallback>
                <p:oleObj r:id="rId5" imgW="849630" imgH="266065" progId="Equation.3">
                  <p:embed/>
                  <p:pic>
                    <p:nvPicPr>
                      <p:cNvPr id="0" name="对象 60929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2479675"/>
                        <a:ext cx="2005012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9299" name="文本框 609298"/>
          <p:cNvSpPr txBox="1"/>
          <p:nvPr/>
        </p:nvSpPr>
        <p:spPr>
          <a:xfrm>
            <a:off x="4760913" y="3124200"/>
            <a:ext cx="31130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A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—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常量</a:t>
            </a:r>
          </a:p>
        </p:txBody>
      </p:sp>
      <p:sp>
        <p:nvSpPr>
          <p:cNvPr id="609300" name="文本框 609299"/>
          <p:cNvSpPr txBox="1"/>
          <p:nvPr/>
        </p:nvSpPr>
        <p:spPr>
          <a:xfrm>
            <a:off x="4738688" y="3500438"/>
            <a:ext cx="4094162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 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—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样品表面平均势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垒高度（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~ eV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</a:p>
        </p:txBody>
      </p:sp>
      <p:grpSp>
        <p:nvGrpSpPr>
          <p:cNvPr id="609301" name="组合 609300"/>
          <p:cNvGrpSpPr/>
          <p:nvPr/>
        </p:nvGrpSpPr>
        <p:grpSpPr bwMode="auto">
          <a:xfrm>
            <a:off x="4716463" y="4076700"/>
            <a:ext cx="4025900" cy="787400"/>
            <a:chOff x="2935" y="3128"/>
            <a:chExt cx="2536" cy="496"/>
          </a:xfrm>
        </p:grpSpPr>
        <p:sp>
          <p:nvSpPr>
            <p:cNvPr id="609302" name="文本框 609301"/>
            <p:cNvSpPr txBox="1"/>
            <p:nvPr/>
          </p:nvSpPr>
          <p:spPr>
            <a:xfrm>
              <a:off x="2935" y="3336"/>
              <a:ext cx="25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 d </a:t>
              </a:r>
              <a:r>
                <a:rPr lang="en-US" altLang="zh-CN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~ 1nm</a:t>
              </a:r>
            </a:p>
          </p:txBody>
        </p:sp>
        <p:sp>
          <p:nvSpPr>
            <p:cNvPr id="609303" name="文本框 609302"/>
            <p:cNvSpPr txBox="1"/>
            <p:nvPr/>
          </p:nvSpPr>
          <p:spPr>
            <a:xfrm>
              <a:off x="4478" y="3128"/>
              <a:ext cx="2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endParaRPr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</p:grpSp>
      <p:sp>
        <p:nvSpPr>
          <p:cNvPr id="609304" name="文本框 609303"/>
          <p:cNvSpPr txBox="1"/>
          <p:nvPr/>
        </p:nvSpPr>
        <p:spPr>
          <a:xfrm>
            <a:off x="4075113" y="5059363"/>
            <a:ext cx="57277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d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变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i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变，反映表面情况。</a:t>
            </a:r>
          </a:p>
        </p:txBody>
      </p:sp>
      <p:grpSp>
        <p:nvGrpSpPr>
          <p:cNvPr id="94217" name="组合 609304"/>
          <p:cNvGrpSpPr/>
          <p:nvPr/>
        </p:nvGrpSpPr>
        <p:grpSpPr bwMode="auto">
          <a:xfrm>
            <a:off x="1398588" y="593725"/>
            <a:ext cx="2097087" cy="1120775"/>
            <a:chOff x="825" y="420"/>
            <a:chExt cx="1503" cy="803"/>
          </a:xfrm>
        </p:grpSpPr>
        <p:grpSp>
          <p:nvGrpSpPr>
            <p:cNvPr id="94260" name="组合 609305"/>
            <p:cNvGrpSpPr/>
            <p:nvPr/>
          </p:nvGrpSpPr>
          <p:grpSpPr bwMode="auto">
            <a:xfrm>
              <a:off x="825" y="420"/>
              <a:ext cx="1503" cy="772"/>
              <a:chOff x="825" y="420"/>
              <a:chExt cx="1503" cy="772"/>
            </a:xfrm>
          </p:grpSpPr>
          <p:sp>
            <p:nvSpPr>
              <p:cNvPr id="94265" name="任意多边形 609306"/>
              <p:cNvSpPr>
                <a:spLocks noChangeArrowheads="1"/>
              </p:cNvSpPr>
              <p:nvPr/>
            </p:nvSpPr>
            <p:spPr bwMode="auto">
              <a:xfrm>
                <a:off x="825" y="420"/>
                <a:ext cx="637" cy="722"/>
              </a:xfrm>
              <a:custGeom>
                <a:avLst/>
                <a:gdLst>
                  <a:gd name="T0" fmla="*/ 0 w 1980"/>
                  <a:gd name="T1" fmla="*/ 996 h 615"/>
                  <a:gd name="T2" fmla="*/ 33 w 1980"/>
                  <a:gd name="T3" fmla="*/ 0 h 615"/>
                  <a:gd name="T4" fmla="*/ 66 w 1980"/>
                  <a:gd name="T5" fmla="*/ 996 h 6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80" h="615">
                    <a:moveTo>
                      <a:pt x="0" y="615"/>
                    </a:moveTo>
                    <a:cubicBezTo>
                      <a:pt x="330" y="307"/>
                      <a:pt x="660" y="0"/>
                      <a:pt x="990" y="0"/>
                    </a:cubicBezTo>
                    <a:cubicBezTo>
                      <a:pt x="1320" y="0"/>
                      <a:pt x="1650" y="307"/>
                      <a:pt x="1980" y="615"/>
                    </a:cubicBezTo>
                  </a:path>
                </a:pathLst>
              </a:custGeom>
              <a:noFill/>
              <a:ln w="28575">
                <a:solidFill>
                  <a:srgbClr val="008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66" name="任意多边形 609307"/>
              <p:cNvSpPr>
                <a:spLocks noChangeArrowheads="1"/>
              </p:cNvSpPr>
              <p:nvPr/>
            </p:nvSpPr>
            <p:spPr bwMode="auto">
              <a:xfrm>
                <a:off x="1697" y="453"/>
                <a:ext cx="631" cy="739"/>
              </a:xfrm>
              <a:custGeom>
                <a:avLst/>
                <a:gdLst>
                  <a:gd name="T0" fmla="*/ 0 w 1980"/>
                  <a:gd name="T1" fmla="*/ 1067 h 615"/>
                  <a:gd name="T2" fmla="*/ 32 w 1980"/>
                  <a:gd name="T3" fmla="*/ 0 h 615"/>
                  <a:gd name="T4" fmla="*/ 64 w 1980"/>
                  <a:gd name="T5" fmla="*/ 1067 h 6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80" h="615">
                    <a:moveTo>
                      <a:pt x="0" y="615"/>
                    </a:moveTo>
                    <a:cubicBezTo>
                      <a:pt x="330" y="307"/>
                      <a:pt x="660" y="0"/>
                      <a:pt x="990" y="0"/>
                    </a:cubicBezTo>
                    <a:cubicBezTo>
                      <a:pt x="1320" y="0"/>
                      <a:pt x="1650" y="307"/>
                      <a:pt x="1980" y="615"/>
                    </a:cubicBezTo>
                  </a:path>
                </a:pathLst>
              </a:custGeom>
              <a:noFill/>
              <a:ln w="28575">
                <a:solidFill>
                  <a:srgbClr val="008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4261" name="组合 609308"/>
            <p:cNvGrpSpPr/>
            <p:nvPr/>
          </p:nvGrpSpPr>
          <p:grpSpPr bwMode="auto">
            <a:xfrm>
              <a:off x="1404" y="937"/>
              <a:ext cx="344" cy="286"/>
              <a:chOff x="1404" y="937"/>
              <a:chExt cx="344" cy="286"/>
            </a:xfrm>
          </p:grpSpPr>
          <p:sp>
            <p:nvSpPr>
              <p:cNvPr id="609310" name="文本框 609309"/>
              <p:cNvSpPr txBox="1"/>
              <p:nvPr/>
            </p:nvSpPr>
            <p:spPr>
              <a:xfrm>
                <a:off x="1412" y="941"/>
                <a:ext cx="328" cy="28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pPr algn="just" eaLnBrk="1" hangingPunct="1">
                  <a:defRPr/>
                </a:pPr>
                <a:endParaRPr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endParaRPr>
              </a:p>
            </p:txBody>
          </p:sp>
          <p:sp>
            <p:nvSpPr>
              <p:cNvPr id="94263" name="任意多边形 609310"/>
              <p:cNvSpPr>
                <a:spLocks noChangeArrowheads="1"/>
              </p:cNvSpPr>
              <p:nvPr/>
            </p:nvSpPr>
            <p:spPr bwMode="auto">
              <a:xfrm flipV="1">
                <a:off x="1419" y="948"/>
                <a:ext cx="329" cy="2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  <a:path w="21600" h="21600" stroke="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008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64" name="任意多边形 609311"/>
              <p:cNvSpPr>
                <a:spLocks noChangeArrowheads="1"/>
              </p:cNvSpPr>
              <p:nvPr/>
            </p:nvSpPr>
            <p:spPr bwMode="auto">
              <a:xfrm flipH="1" flipV="1">
                <a:off x="1404" y="948"/>
                <a:ext cx="306" cy="2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  <a:path w="21600" h="21600" stroke="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008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4218" name="组合 609312"/>
          <p:cNvGrpSpPr/>
          <p:nvPr/>
        </p:nvGrpSpPr>
        <p:grpSpPr bwMode="auto">
          <a:xfrm>
            <a:off x="1476375" y="2279650"/>
            <a:ext cx="1920875" cy="615950"/>
            <a:chOff x="895" y="226"/>
            <a:chExt cx="1377" cy="441"/>
          </a:xfrm>
        </p:grpSpPr>
        <p:sp>
          <p:nvSpPr>
            <p:cNvPr id="94254" name="矩形 609313"/>
            <p:cNvSpPr>
              <a:spLocks noChangeArrowheads="1"/>
            </p:cNvSpPr>
            <p:nvPr/>
          </p:nvSpPr>
          <p:spPr bwMode="auto">
            <a:xfrm>
              <a:off x="895" y="230"/>
              <a:ext cx="520" cy="370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94255" name="矩形 609314"/>
            <p:cNvSpPr>
              <a:spLocks noChangeArrowheads="1"/>
            </p:cNvSpPr>
            <p:nvPr/>
          </p:nvSpPr>
          <p:spPr bwMode="auto">
            <a:xfrm>
              <a:off x="1752" y="226"/>
              <a:ext cx="520" cy="37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609316" name="文本框 609315"/>
            <p:cNvSpPr txBox="1"/>
            <p:nvPr/>
          </p:nvSpPr>
          <p:spPr>
            <a:xfrm>
              <a:off x="1003" y="239"/>
              <a:ext cx="321" cy="29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b="1" baseline="0" noProof="1">
                  <a:solidFill>
                    <a:srgbClr val="FFFF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09317" name="文本框 609316"/>
            <p:cNvSpPr txBox="1"/>
            <p:nvPr/>
          </p:nvSpPr>
          <p:spPr>
            <a:xfrm>
              <a:off x="1874" y="237"/>
              <a:ext cx="321" cy="29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b="1" baseline="0" noProof="1"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09318" name="文本框 609317"/>
            <p:cNvSpPr txBox="1"/>
            <p:nvPr/>
          </p:nvSpPr>
          <p:spPr>
            <a:xfrm>
              <a:off x="1457" y="331"/>
              <a:ext cx="355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94259" name="直接连接符 609318"/>
            <p:cNvSpPr>
              <a:spLocks noChangeShapeType="1"/>
            </p:cNvSpPr>
            <p:nvPr/>
          </p:nvSpPr>
          <p:spPr bwMode="auto">
            <a:xfrm>
              <a:off x="1408" y="398"/>
              <a:ext cx="3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9320" name="文本框 609319"/>
          <p:cNvSpPr txBox="1"/>
          <p:nvPr/>
        </p:nvSpPr>
        <p:spPr>
          <a:xfrm>
            <a:off x="3689350" y="1701800"/>
            <a:ext cx="352425" cy="4556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>
              <a:defRPr/>
            </a:pPr>
            <a:r>
              <a:rPr lang="en-US" altLang="zh-CN" b="1" i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609321" name="文本框 609320"/>
          <p:cNvSpPr txBox="1"/>
          <p:nvPr/>
        </p:nvSpPr>
        <p:spPr>
          <a:xfrm>
            <a:off x="3424238" y="1182688"/>
            <a:ext cx="169862" cy="52863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algn="just" eaLnBrk="1" hangingPunct="1">
              <a:defRPr/>
            </a:pPr>
            <a:endParaRPr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09322" name="文本框 609321"/>
          <p:cNvSpPr txBox="1"/>
          <p:nvPr/>
        </p:nvSpPr>
        <p:spPr>
          <a:xfrm>
            <a:off x="1257300" y="1171575"/>
            <a:ext cx="171450" cy="5270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algn="just" eaLnBrk="1" hangingPunct="1">
              <a:defRPr/>
            </a:pPr>
            <a:endParaRPr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09323" name="文本框 609322"/>
          <p:cNvSpPr txBox="1"/>
          <p:nvPr/>
        </p:nvSpPr>
        <p:spPr>
          <a:xfrm>
            <a:off x="1300163" y="1182688"/>
            <a:ext cx="169862" cy="52863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algn="just" eaLnBrk="1" hangingPunct="1">
              <a:defRPr/>
            </a:pPr>
            <a:endParaRPr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pSp>
        <p:nvGrpSpPr>
          <p:cNvPr id="94223" name="组合 609323"/>
          <p:cNvGrpSpPr/>
          <p:nvPr/>
        </p:nvGrpSpPr>
        <p:grpSpPr bwMode="auto">
          <a:xfrm>
            <a:off x="1016000" y="1312863"/>
            <a:ext cx="2803525" cy="398462"/>
            <a:chOff x="564" y="935"/>
            <a:chExt cx="2009" cy="286"/>
          </a:xfrm>
        </p:grpSpPr>
        <p:sp>
          <p:nvSpPr>
            <p:cNvPr id="94252" name="任意多边形 609324"/>
            <p:cNvSpPr>
              <a:spLocks noChangeArrowheads="1"/>
            </p:cNvSpPr>
            <p:nvPr/>
          </p:nvSpPr>
          <p:spPr bwMode="auto">
            <a:xfrm flipH="1" flipV="1">
              <a:off x="2267" y="945"/>
              <a:ext cx="306" cy="2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3" name="任意多边形 609325"/>
            <p:cNvSpPr>
              <a:spLocks noChangeArrowheads="1"/>
            </p:cNvSpPr>
            <p:nvPr/>
          </p:nvSpPr>
          <p:spPr bwMode="auto">
            <a:xfrm flipV="1">
              <a:off x="564" y="935"/>
              <a:ext cx="329" cy="2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9327" name="组合 609326"/>
          <p:cNvGrpSpPr/>
          <p:nvPr/>
        </p:nvGrpSpPr>
        <p:grpSpPr bwMode="auto">
          <a:xfrm>
            <a:off x="4392613" y="33338"/>
            <a:ext cx="3897312" cy="2343150"/>
            <a:chOff x="2767" y="278"/>
            <a:chExt cx="2455" cy="1476"/>
          </a:xfrm>
        </p:grpSpPr>
        <p:sp>
          <p:nvSpPr>
            <p:cNvPr id="609328" name="文本框 609327"/>
            <p:cNvSpPr txBox="1"/>
            <p:nvPr/>
          </p:nvSpPr>
          <p:spPr>
            <a:xfrm>
              <a:off x="3791" y="278"/>
              <a:ext cx="1431" cy="3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zh-CN" altLang="en-US" b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隧道电流 </a:t>
              </a:r>
              <a:r>
                <a:rPr lang="en-US" altLang="zh-CN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i</a:t>
              </a:r>
            </a:p>
          </p:txBody>
        </p:sp>
        <p:grpSp>
          <p:nvGrpSpPr>
            <p:cNvPr id="94230" name="组合 609328"/>
            <p:cNvGrpSpPr/>
            <p:nvPr/>
          </p:nvGrpSpPr>
          <p:grpSpPr bwMode="auto">
            <a:xfrm>
              <a:off x="3478" y="471"/>
              <a:ext cx="273" cy="724"/>
              <a:chOff x="7020" y="3565"/>
              <a:chExt cx="510" cy="1340"/>
            </a:xfrm>
          </p:grpSpPr>
          <p:sp>
            <p:nvSpPr>
              <p:cNvPr id="94247" name="直接连接符 609329"/>
              <p:cNvSpPr>
                <a:spLocks noChangeShapeType="1"/>
              </p:cNvSpPr>
              <p:nvPr/>
            </p:nvSpPr>
            <p:spPr bwMode="auto">
              <a:xfrm>
                <a:off x="7035" y="3615"/>
                <a:ext cx="0" cy="33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48" name="直接连接符 609330"/>
              <p:cNvSpPr>
                <a:spLocks noChangeShapeType="1"/>
              </p:cNvSpPr>
              <p:nvPr/>
            </p:nvSpPr>
            <p:spPr bwMode="auto">
              <a:xfrm>
                <a:off x="7530" y="3645"/>
                <a:ext cx="0" cy="30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49" name="直接连接符 609331"/>
              <p:cNvSpPr>
                <a:spLocks noChangeShapeType="1"/>
              </p:cNvSpPr>
              <p:nvPr/>
            </p:nvSpPr>
            <p:spPr bwMode="auto">
              <a:xfrm>
                <a:off x="7035" y="3930"/>
                <a:ext cx="270" cy="975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50" name="直接连接符 609332"/>
              <p:cNvSpPr>
                <a:spLocks noChangeShapeType="1"/>
              </p:cNvSpPr>
              <p:nvPr/>
            </p:nvSpPr>
            <p:spPr bwMode="auto">
              <a:xfrm flipH="1">
                <a:off x="7305" y="3930"/>
                <a:ext cx="225" cy="96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51" name="任意多边形 609333"/>
              <p:cNvSpPr>
                <a:spLocks noChangeArrowheads="1"/>
              </p:cNvSpPr>
              <p:nvPr/>
            </p:nvSpPr>
            <p:spPr bwMode="auto">
              <a:xfrm>
                <a:off x="7020" y="3565"/>
                <a:ext cx="510" cy="103"/>
              </a:xfrm>
              <a:custGeom>
                <a:avLst/>
                <a:gdLst>
                  <a:gd name="T0" fmla="*/ 0 w 315"/>
                  <a:gd name="T1" fmla="*/ 81 h 65"/>
                  <a:gd name="T2" fmla="*/ 508 w 315"/>
                  <a:gd name="T3" fmla="*/ 138 h 65"/>
                  <a:gd name="T4" fmla="*/ 1020 w 315"/>
                  <a:gd name="T5" fmla="*/ 21 h 65"/>
                  <a:gd name="T6" fmla="*/ 1337 w 315"/>
                  <a:gd name="T7" fmla="*/ 258 h 6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5" h="65">
                    <a:moveTo>
                      <a:pt x="0" y="20"/>
                    </a:moveTo>
                    <a:cubicBezTo>
                      <a:pt x="40" y="29"/>
                      <a:pt x="80" y="38"/>
                      <a:pt x="120" y="35"/>
                    </a:cubicBezTo>
                    <a:cubicBezTo>
                      <a:pt x="160" y="32"/>
                      <a:pt x="208" y="0"/>
                      <a:pt x="240" y="5"/>
                    </a:cubicBezTo>
                    <a:cubicBezTo>
                      <a:pt x="272" y="10"/>
                      <a:pt x="287" y="55"/>
                      <a:pt x="315" y="65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4231" name="直接连接符 609334"/>
            <p:cNvSpPr>
              <a:spLocks noChangeShapeType="1"/>
            </p:cNvSpPr>
            <p:nvPr/>
          </p:nvSpPr>
          <p:spPr bwMode="auto">
            <a:xfrm>
              <a:off x="3301" y="1423"/>
              <a:ext cx="0" cy="26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2" name="直接连接符 609335"/>
            <p:cNvSpPr>
              <a:spLocks noChangeShapeType="1"/>
            </p:cNvSpPr>
            <p:nvPr/>
          </p:nvSpPr>
          <p:spPr bwMode="auto">
            <a:xfrm>
              <a:off x="3960" y="1431"/>
              <a:ext cx="0" cy="26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3" name="直接连接符 609336"/>
            <p:cNvSpPr>
              <a:spLocks noChangeShapeType="1"/>
            </p:cNvSpPr>
            <p:nvPr/>
          </p:nvSpPr>
          <p:spPr bwMode="auto">
            <a:xfrm>
              <a:off x="3301" y="1690"/>
              <a:ext cx="65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4" name="任意多边形 609337"/>
            <p:cNvSpPr>
              <a:spLocks noChangeArrowheads="1"/>
            </p:cNvSpPr>
            <p:nvPr/>
          </p:nvSpPr>
          <p:spPr bwMode="auto">
            <a:xfrm>
              <a:off x="3301" y="1374"/>
              <a:ext cx="643" cy="57"/>
            </a:xfrm>
            <a:custGeom>
              <a:avLst/>
              <a:gdLst>
                <a:gd name="T0" fmla="*/ 0 w 1200"/>
                <a:gd name="T1" fmla="*/ 15 h 105"/>
                <a:gd name="T2" fmla="*/ 39 w 1200"/>
                <a:gd name="T3" fmla="*/ 0 h 105"/>
                <a:gd name="T4" fmla="*/ 62 w 1200"/>
                <a:gd name="T5" fmla="*/ 15 h 105"/>
                <a:gd name="T6" fmla="*/ 87 w 1200"/>
                <a:gd name="T7" fmla="*/ 10 h 105"/>
                <a:gd name="T8" fmla="*/ 102 w 1200"/>
                <a:gd name="T9" fmla="*/ 15 h 105"/>
                <a:gd name="T10" fmla="*/ 113 w 1200"/>
                <a:gd name="T11" fmla="*/ 7 h 105"/>
                <a:gd name="T12" fmla="*/ 127 w 1200"/>
                <a:gd name="T13" fmla="*/ 10 h 105"/>
                <a:gd name="T14" fmla="*/ 145 w 1200"/>
                <a:gd name="T15" fmla="*/ 10 h 105"/>
                <a:gd name="T16" fmla="*/ 164 w 1200"/>
                <a:gd name="T17" fmla="*/ 5 h 105"/>
                <a:gd name="T18" fmla="*/ 185 w 1200"/>
                <a:gd name="T19" fmla="*/ 17 h 1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00" h="105">
                  <a:moveTo>
                    <a:pt x="0" y="90"/>
                  </a:moveTo>
                  <a:cubicBezTo>
                    <a:pt x="94" y="45"/>
                    <a:pt x="188" y="0"/>
                    <a:pt x="255" y="0"/>
                  </a:cubicBezTo>
                  <a:cubicBezTo>
                    <a:pt x="322" y="0"/>
                    <a:pt x="353" y="80"/>
                    <a:pt x="405" y="90"/>
                  </a:cubicBezTo>
                  <a:cubicBezTo>
                    <a:pt x="457" y="100"/>
                    <a:pt x="528" y="60"/>
                    <a:pt x="570" y="60"/>
                  </a:cubicBezTo>
                  <a:cubicBezTo>
                    <a:pt x="612" y="60"/>
                    <a:pt x="633" y="92"/>
                    <a:pt x="660" y="90"/>
                  </a:cubicBezTo>
                  <a:cubicBezTo>
                    <a:pt x="687" y="88"/>
                    <a:pt x="708" y="50"/>
                    <a:pt x="735" y="45"/>
                  </a:cubicBezTo>
                  <a:cubicBezTo>
                    <a:pt x="762" y="40"/>
                    <a:pt x="790" y="57"/>
                    <a:pt x="825" y="60"/>
                  </a:cubicBezTo>
                  <a:cubicBezTo>
                    <a:pt x="860" y="63"/>
                    <a:pt x="905" y="65"/>
                    <a:pt x="945" y="60"/>
                  </a:cubicBezTo>
                  <a:cubicBezTo>
                    <a:pt x="985" y="55"/>
                    <a:pt x="1023" y="23"/>
                    <a:pt x="1065" y="30"/>
                  </a:cubicBezTo>
                  <a:cubicBezTo>
                    <a:pt x="1107" y="37"/>
                    <a:pt x="1173" y="93"/>
                    <a:pt x="1200" y="10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9339" name="文本框 609338"/>
            <p:cNvSpPr txBox="1"/>
            <p:nvPr/>
          </p:nvSpPr>
          <p:spPr>
            <a:xfrm>
              <a:off x="3478" y="474"/>
              <a:ext cx="297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b="1" baseline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09340" name="文本框 609339"/>
            <p:cNvSpPr txBox="1"/>
            <p:nvPr/>
          </p:nvSpPr>
          <p:spPr>
            <a:xfrm>
              <a:off x="3494" y="1414"/>
              <a:ext cx="273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b="1" baseline="0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94237" name="直接连接符 609340"/>
            <p:cNvSpPr>
              <a:spLocks noChangeShapeType="1"/>
            </p:cNvSpPr>
            <p:nvPr/>
          </p:nvSpPr>
          <p:spPr bwMode="auto">
            <a:xfrm>
              <a:off x="3751" y="594"/>
              <a:ext cx="76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8" name="直接连接符 609341"/>
            <p:cNvSpPr>
              <a:spLocks noChangeShapeType="1"/>
            </p:cNvSpPr>
            <p:nvPr/>
          </p:nvSpPr>
          <p:spPr bwMode="auto">
            <a:xfrm>
              <a:off x="4515" y="596"/>
              <a:ext cx="0" cy="40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9" name="直接连接符 609342"/>
            <p:cNvSpPr>
              <a:spLocks noChangeShapeType="1"/>
            </p:cNvSpPr>
            <p:nvPr/>
          </p:nvSpPr>
          <p:spPr bwMode="auto">
            <a:xfrm>
              <a:off x="4362" y="1001"/>
              <a:ext cx="30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0" name="直接连接符 609343"/>
            <p:cNvSpPr>
              <a:spLocks noChangeShapeType="1"/>
            </p:cNvSpPr>
            <p:nvPr/>
          </p:nvSpPr>
          <p:spPr bwMode="auto">
            <a:xfrm>
              <a:off x="4458" y="1074"/>
              <a:ext cx="129" cy="0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1" name="直接连接符 609344"/>
            <p:cNvSpPr>
              <a:spLocks noChangeShapeType="1"/>
            </p:cNvSpPr>
            <p:nvPr/>
          </p:nvSpPr>
          <p:spPr bwMode="auto">
            <a:xfrm>
              <a:off x="4523" y="1082"/>
              <a:ext cx="0" cy="4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2" name="直接连接符 609345"/>
            <p:cNvSpPr>
              <a:spLocks noChangeShapeType="1"/>
            </p:cNvSpPr>
            <p:nvPr/>
          </p:nvSpPr>
          <p:spPr bwMode="auto">
            <a:xfrm>
              <a:off x="3968" y="1552"/>
              <a:ext cx="5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9347" name="文本框 609346"/>
            <p:cNvSpPr txBox="1"/>
            <p:nvPr/>
          </p:nvSpPr>
          <p:spPr>
            <a:xfrm>
              <a:off x="4636" y="904"/>
              <a:ext cx="388" cy="3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U</a:t>
              </a:r>
            </a:p>
          </p:txBody>
        </p:sp>
        <p:sp>
          <p:nvSpPr>
            <p:cNvPr id="609348" name="文本框 609347"/>
            <p:cNvSpPr txBox="1"/>
            <p:nvPr/>
          </p:nvSpPr>
          <p:spPr>
            <a:xfrm>
              <a:off x="3514" y="1125"/>
              <a:ext cx="418" cy="3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b="1" i="1" baseline="0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609349" name="文本框 609348"/>
            <p:cNvSpPr txBox="1"/>
            <p:nvPr/>
          </p:nvSpPr>
          <p:spPr>
            <a:xfrm>
              <a:off x="3650" y="849"/>
              <a:ext cx="87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zh-CN" altLang="en-US" b="1" baseline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探针</a:t>
              </a:r>
            </a:p>
          </p:txBody>
        </p:sp>
        <p:sp>
          <p:nvSpPr>
            <p:cNvPr id="609350" name="文本框 609349"/>
            <p:cNvSpPr txBox="1"/>
            <p:nvPr/>
          </p:nvSpPr>
          <p:spPr>
            <a:xfrm>
              <a:off x="2767" y="1371"/>
              <a:ext cx="888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zh-CN" altLang="en-US" b="1" baseline="0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样品</a:t>
              </a:r>
            </a:p>
          </p:txBody>
        </p:sp>
      </p:grpSp>
      <p:grpSp>
        <p:nvGrpSpPr>
          <p:cNvPr id="94225" name="组合 609350"/>
          <p:cNvGrpSpPr/>
          <p:nvPr/>
        </p:nvGrpSpPr>
        <p:grpSpPr bwMode="auto">
          <a:xfrm>
            <a:off x="1625600" y="30163"/>
            <a:ext cx="2038350" cy="1701800"/>
            <a:chOff x="987" y="16"/>
            <a:chExt cx="1461" cy="1220"/>
          </a:xfrm>
        </p:grpSpPr>
        <p:sp>
          <p:nvSpPr>
            <p:cNvPr id="609352" name="文本框 609351"/>
            <p:cNvSpPr txBox="1"/>
            <p:nvPr/>
          </p:nvSpPr>
          <p:spPr>
            <a:xfrm>
              <a:off x="987" y="16"/>
              <a:ext cx="146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zh-CN" altLang="en-US" b="1" baseline="0" noProof="1">
                  <a:solidFill>
                    <a:srgbClr val="008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电子云重叠</a:t>
              </a:r>
            </a:p>
          </p:txBody>
        </p:sp>
        <p:sp>
          <p:nvSpPr>
            <p:cNvPr id="94228" name="直接连接符 609352"/>
            <p:cNvSpPr>
              <a:spLocks noChangeShapeType="1"/>
            </p:cNvSpPr>
            <p:nvPr/>
          </p:nvSpPr>
          <p:spPr bwMode="auto">
            <a:xfrm flipH="1" flipV="1">
              <a:off x="1305" y="319"/>
              <a:ext cx="267" cy="9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9354" name="文本框 609353"/>
          <p:cNvSpPr txBox="1"/>
          <p:nvPr/>
        </p:nvSpPr>
        <p:spPr>
          <a:xfrm>
            <a:off x="3635375" y="5708650"/>
            <a:ext cx="77787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d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变 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~ 0.1nm </a:t>
            </a:r>
            <a:r>
              <a:rPr lang="en-US" altLang="zh-CN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</a:t>
            </a: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i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变几十倍，非常灵敏。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9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0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0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299" grpId="0"/>
      <p:bldP spid="609300" grpId="0"/>
      <p:bldP spid="609304" grpId="0"/>
      <p:bldP spid="60935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4" name="组合 610305"/>
          <p:cNvGrpSpPr/>
          <p:nvPr/>
        </p:nvGrpSpPr>
        <p:grpSpPr bwMode="auto">
          <a:xfrm>
            <a:off x="328613" y="2101850"/>
            <a:ext cx="4740275" cy="4135438"/>
            <a:chOff x="207" y="435"/>
            <a:chExt cx="2986" cy="2605"/>
          </a:xfrm>
        </p:grpSpPr>
        <p:pic>
          <p:nvPicPr>
            <p:cNvPr id="95239" name="图片 610306" descr="STM神经细胞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" y="435"/>
              <a:ext cx="2952" cy="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240" name="文本框 610307"/>
            <p:cNvSpPr txBox="1">
              <a:spLocks noChangeArrowheads="1"/>
            </p:cNvSpPr>
            <p:nvPr/>
          </p:nvSpPr>
          <p:spPr bwMode="auto">
            <a:xfrm>
              <a:off x="382" y="2547"/>
              <a:ext cx="2811" cy="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baseline="0">
                  <a:solidFill>
                    <a:srgbClr val="FF6600"/>
                  </a:solidFill>
                </a:rPr>
                <a:t>用</a:t>
              </a:r>
              <a:r>
                <a:rPr lang="en-US" altLang="zh-CN" sz="2800" b="1" baseline="0">
                  <a:solidFill>
                    <a:srgbClr val="FF6600"/>
                  </a:solidFill>
                </a:rPr>
                <a:t>STM</a:t>
              </a:r>
              <a:r>
                <a:rPr lang="zh-CN" altLang="en-US" sz="2800" b="1" baseline="0">
                  <a:solidFill>
                    <a:srgbClr val="FF6600"/>
                  </a:solidFill>
                </a:rPr>
                <a:t>得到的神经细胞象</a:t>
              </a:r>
            </a:p>
          </p:txBody>
        </p:sp>
      </p:grpSp>
      <p:grpSp>
        <p:nvGrpSpPr>
          <p:cNvPr id="95235" name="组合 610308"/>
          <p:cNvGrpSpPr/>
          <p:nvPr/>
        </p:nvGrpSpPr>
        <p:grpSpPr bwMode="auto">
          <a:xfrm>
            <a:off x="5176838" y="1773238"/>
            <a:ext cx="4157662" cy="5068887"/>
            <a:chOff x="3261" y="744"/>
            <a:chExt cx="2619" cy="3193"/>
          </a:xfrm>
        </p:grpSpPr>
        <p:pic>
          <p:nvPicPr>
            <p:cNvPr id="95237" name="图片 610309" descr="硅表面象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07" r="19743" b="9023"/>
            <a:stretch>
              <a:fillRect/>
            </a:stretch>
          </p:blipFill>
          <p:spPr bwMode="auto">
            <a:xfrm>
              <a:off x="3261" y="744"/>
              <a:ext cx="2167" cy="28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238" name="文本框 610310"/>
            <p:cNvSpPr txBox="1">
              <a:spLocks noChangeArrowheads="1"/>
            </p:cNvSpPr>
            <p:nvPr/>
          </p:nvSpPr>
          <p:spPr bwMode="auto">
            <a:xfrm>
              <a:off x="3282" y="3610"/>
              <a:ext cx="25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baseline="0">
                  <a:solidFill>
                    <a:srgbClr val="FF6600"/>
                  </a:solidFill>
                </a:rPr>
                <a:t>硅表面</a:t>
              </a:r>
              <a:r>
                <a:rPr lang="en-US" altLang="zh-CN" sz="2800" b="1" baseline="0">
                  <a:solidFill>
                    <a:srgbClr val="FF6600"/>
                  </a:solidFill>
                </a:rPr>
                <a:t>STM</a:t>
              </a:r>
              <a:r>
                <a:rPr lang="zh-CN" altLang="en-US" sz="2800" b="1" baseline="0">
                  <a:solidFill>
                    <a:srgbClr val="FF6600"/>
                  </a:solidFill>
                </a:rPr>
                <a:t>扫描图象</a:t>
              </a:r>
            </a:p>
          </p:txBody>
        </p:sp>
      </p:grpSp>
      <p:sp>
        <p:nvSpPr>
          <p:cNvPr id="610312" name="文本框 610311"/>
          <p:cNvSpPr txBox="1"/>
          <p:nvPr/>
        </p:nvSpPr>
        <p:spPr>
          <a:xfrm>
            <a:off x="250825" y="185738"/>
            <a:ext cx="8785225" cy="15875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横向分辨率达到 </a:t>
            </a: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0.1 nm,   </a:t>
            </a:r>
            <a:r>
              <a:rPr lang="zh-CN" altLang="en-US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纵向分辨率达到 </a:t>
            </a:r>
            <a:r>
              <a:rPr lang="en-US" altLang="zh-CN" sz="2800" b="1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0.001 nm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可以分辨出表面单个原子和原子台阶</a:t>
            </a:r>
            <a:r>
              <a:rPr lang="en-US" altLang="zh-CN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lang="zh-CN" altLang="en-US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原子结构</a:t>
            </a:r>
            <a:r>
              <a:rPr lang="en-US" altLang="zh-CN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lang="zh-CN" altLang="en-US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超晶格结构</a:t>
            </a:r>
            <a:r>
              <a:rPr lang="en-US" altLang="zh-CN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lang="zh-CN" altLang="en-US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表面缺陷细节</a:t>
            </a:r>
            <a:r>
              <a:rPr lang="en-US" altLang="zh-CN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lang="zh-CN" altLang="en-US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观测活体  </a:t>
            </a:r>
            <a:r>
              <a:rPr lang="en-US" altLang="zh-CN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DNA  </a:t>
            </a:r>
            <a:r>
              <a:rPr lang="zh-CN" altLang="en-US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基因</a:t>
            </a:r>
            <a:r>
              <a:rPr lang="en-US" altLang="zh-CN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, </a:t>
            </a:r>
            <a:r>
              <a:rPr lang="zh-CN" altLang="en-US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病毒</a:t>
            </a:r>
            <a:r>
              <a:rPr lang="en-US" altLang="zh-CN" sz="2800" b="1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0" name="文本框 611329"/>
          <p:cNvSpPr txBox="1"/>
          <p:nvPr/>
        </p:nvSpPr>
        <p:spPr>
          <a:xfrm>
            <a:off x="1465263" y="4595813"/>
            <a:ext cx="7292975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镶嵌了</a:t>
            </a:r>
            <a:r>
              <a:rPr lang="en-US" altLang="zh-CN" b="1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48</a:t>
            </a:r>
            <a:r>
              <a:rPr lang="zh-CN" altLang="en-US" b="1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个</a:t>
            </a:r>
            <a:r>
              <a:rPr lang="en-US" altLang="zh-CN" b="1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Fe</a:t>
            </a:r>
            <a:r>
              <a:rPr lang="zh-CN" altLang="en-US" b="1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原子的</a:t>
            </a:r>
            <a:r>
              <a:rPr lang="en-US" altLang="zh-CN" b="1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Cu</a:t>
            </a:r>
            <a:r>
              <a:rPr lang="zh-CN" altLang="en-US" b="1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表面的</a:t>
            </a:r>
            <a:r>
              <a:rPr lang="en-GB" altLang="zh-CN" b="1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STM</a:t>
            </a:r>
            <a:r>
              <a:rPr lang="zh-CN" altLang="en-US" b="1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照片</a:t>
            </a:r>
            <a:endParaRPr lang="zh-CN" altLang="en-US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pic>
        <p:nvPicPr>
          <p:cNvPr id="96259" name="图片 611330" descr="量子围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112713"/>
            <a:ext cx="6205538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1332" name="文本框 611331"/>
          <p:cNvSpPr txBox="1"/>
          <p:nvPr/>
        </p:nvSpPr>
        <p:spPr>
          <a:xfrm>
            <a:off x="381000" y="6354763"/>
            <a:ext cx="5048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Fe</a:t>
            </a:r>
            <a:r>
              <a:rPr lang="zh-CN" altLang="en-US" b="1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原子间距：</a:t>
            </a:r>
            <a:r>
              <a:rPr lang="en-US" altLang="zh-CN" b="1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0.95  nm</a:t>
            </a:r>
            <a:r>
              <a:rPr lang="zh-CN" altLang="en-US" b="1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，</a:t>
            </a:r>
          </a:p>
        </p:txBody>
      </p:sp>
      <p:sp>
        <p:nvSpPr>
          <p:cNvPr id="611333" name="矩形 611332"/>
          <p:cNvSpPr/>
          <p:nvPr/>
        </p:nvSpPr>
        <p:spPr>
          <a:xfrm>
            <a:off x="3509963" y="6345238"/>
            <a:ext cx="49006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圆圈平均半径：</a:t>
            </a:r>
            <a:r>
              <a:rPr lang="en-US" altLang="zh-CN" b="1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7.13</a:t>
            </a:r>
            <a:r>
              <a:rPr lang="en-US" altLang="zh-CN" b="1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nm</a:t>
            </a:r>
          </a:p>
        </p:txBody>
      </p:sp>
      <p:sp>
        <p:nvSpPr>
          <p:cNvPr id="611334" name="矩形 611333"/>
          <p:cNvSpPr/>
          <p:nvPr/>
        </p:nvSpPr>
        <p:spPr>
          <a:xfrm>
            <a:off x="415925" y="5872163"/>
            <a:ext cx="6003925" cy="530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形成</a:t>
            </a: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“量子围栏”</a:t>
            </a:r>
            <a:r>
              <a:rPr lang="zh-CN" altLang="en-US" b="1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，</a:t>
            </a: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围栏中的电子形成驻波。</a:t>
            </a:r>
          </a:p>
        </p:txBody>
      </p:sp>
      <p:sp>
        <p:nvSpPr>
          <p:cNvPr id="611335" name="矩形 611334"/>
          <p:cNvSpPr/>
          <p:nvPr/>
        </p:nvSpPr>
        <p:spPr>
          <a:xfrm>
            <a:off x="-1009650" y="5032375"/>
            <a:ext cx="9810750" cy="8223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1993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年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5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月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IBM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的科学家将单层的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Fe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原子</a:t>
            </a:r>
          </a:p>
          <a:p>
            <a:pPr algn="ctr"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          蒸发到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Cu(111)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表面，然后用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STM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针将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48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个铁原子排成圆圈， 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矩形 612353"/>
          <p:cNvSpPr/>
          <p:nvPr/>
        </p:nvSpPr>
        <p:spPr>
          <a:xfrm>
            <a:off x="685800" y="981075"/>
            <a:ext cx="7812088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谐振子不仅是经典物理的重要模型，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而且也是量子物理的重要模型。</a:t>
            </a:r>
          </a:p>
        </p:txBody>
      </p:sp>
      <p:sp>
        <p:nvSpPr>
          <p:cNvPr id="612355" name="矩形 612354"/>
          <p:cNvSpPr/>
          <p:nvPr/>
        </p:nvSpPr>
        <p:spPr>
          <a:xfrm>
            <a:off x="1085850" y="1949450"/>
            <a:ext cx="1250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如：</a:t>
            </a:r>
          </a:p>
        </p:txBody>
      </p:sp>
      <p:sp>
        <p:nvSpPr>
          <p:cNvPr id="612356" name="矩形 612355"/>
          <p:cNvSpPr/>
          <p:nvPr/>
        </p:nvSpPr>
        <p:spPr>
          <a:xfrm>
            <a:off x="6138863" y="1960563"/>
            <a:ext cx="2536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黑体辐射</a:t>
            </a:r>
            <a:r>
              <a:rPr lang="en-US" altLang="zh-CN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12357" name="矩形 612356"/>
          <p:cNvSpPr/>
          <p:nvPr/>
        </p:nvSpPr>
        <p:spPr>
          <a:xfrm>
            <a:off x="1641475" y="1951038"/>
            <a:ext cx="25971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分子的振动，</a:t>
            </a:r>
          </a:p>
        </p:txBody>
      </p:sp>
      <p:sp>
        <p:nvSpPr>
          <p:cNvPr id="612358" name="矩形 612357"/>
          <p:cNvSpPr/>
          <p:nvPr/>
        </p:nvSpPr>
        <p:spPr>
          <a:xfrm>
            <a:off x="3517900" y="1960563"/>
            <a:ext cx="3502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晶格点阵的振动</a:t>
            </a:r>
            <a:r>
              <a:rPr lang="en-US" altLang="zh-CN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,  </a:t>
            </a:r>
          </a:p>
        </p:txBody>
      </p:sp>
      <p:sp>
        <p:nvSpPr>
          <p:cNvPr id="612359" name="矩形 612358"/>
          <p:cNvSpPr/>
          <p:nvPr/>
        </p:nvSpPr>
        <p:spPr>
          <a:xfrm>
            <a:off x="457200" y="2636838"/>
            <a:ext cx="8001000" cy="1997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 sz="28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1.</a:t>
            </a:r>
            <a:r>
              <a:rPr lang="zh-CN" altLang="en-US" sz="2800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势函数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b="1" baseline="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选平衡位置为坐标原点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以坐标原点为零势能点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则势能函数为：</a:t>
            </a:r>
          </a:p>
        </p:txBody>
      </p:sp>
      <p:graphicFrame>
        <p:nvGraphicFramePr>
          <p:cNvPr id="612360" name="对象 612359"/>
          <p:cNvGraphicFramePr/>
          <p:nvPr/>
        </p:nvGraphicFramePr>
        <p:xfrm>
          <a:off x="1000125" y="5632450"/>
          <a:ext cx="12001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5" r:id="rId3" imgW="624205" imgH="490855" progId="Equation.3">
                  <p:embed/>
                </p:oleObj>
              </mc:Choice>
              <mc:Fallback>
                <p:oleObj r:id="rId3" imgW="624205" imgH="490855" progId="Equation.3">
                  <p:embed/>
                  <p:pic>
                    <p:nvPicPr>
                      <p:cNvPr id="0" name="对象 61235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5632450"/>
                        <a:ext cx="12001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2361" name="文本框 612360"/>
          <p:cNvSpPr txBox="1"/>
          <p:nvPr/>
        </p:nvSpPr>
        <p:spPr>
          <a:xfrm>
            <a:off x="4889500" y="4735513"/>
            <a:ext cx="4876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m 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粒子的质量</a:t>
            </a:r>
          </a:p>
          <a:p>
            <a:pPr eaLnBrk="1" hangingPunct="1">
              <a:defRPr/>
            </a:pPr>
            <a:r>
              <a:rPr lang="en-US" altLang="zh-CN" b="1" i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k   </a:t>
            </a: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等效劲度系数</a:t>
            </a:r>
          </a:p>
        </p:txBody>
      </p:sp>
      <p:sp>
        <p:nvSpPr>
          <p:cNvPr id="612362" name="文本框 612361"/>
          <p:cNvSpPr txBox="1"/>
          <p:nvPr/>
        </p:nvSpPr>
        <p:spPr>
          <a:xfrm>
            <a:off x="2312988" y="5946775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是谐振子的角频率</a:t>
            </a:r>
          </a:p>
        </p:txBody>
      </p:sp>
      <p:graphicFrame>
        <p:nvGraphicFramePr>
          <p:cNvPr id="612363" name="对象 612362"/>
          <p:cNvGraphicFramePr/>
          <p:nvPr/>
        </p:nvGraphicFramePr>
        <p:xfrm>
          <a:off x="1003300" y="4616450"/>
          <a:ext cx="37433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6" r:id="rId5" imgW="1739900" imgH="423545" progId="Equation.3">
                  <p:embed/>
                </p:oleObj>
              </mc:Choice>
              <mc:Fallback>
                <p:oleObj r:id="rId5" imgW="1739900" imgH="423545" progId="Equation.3">
                  <p:embed/>
                  <p:pic>
                    <p:nvPicPr>
                      <p:cNvPr id="0" name="对象 61236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4616450"/>
                        <a:ext cx="374332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2" name="文本框 612363"/>
          <p:cNvSpPr txBox="1">
            <a:spLocks noChangeArrowheads="1"/>
          </p:cNvSpPr>
          <p:nvPr/>
        </p:nvSpPr>
        <p:spPr bwMode="auto">
          <a:xfrm>
            <a:off x="539750" y="207963"/>
            <a:ext cx="56165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zh-CN" altLang="en-US" baseline="0">
                <a:solidFill>
                  <a:schemeClr val="accent2"/>
                </a:solidFill>
                <a:ea typeface="黑体" panose="02010609060101010101" pitchFamily="49" charset="-122"/>
              </a:rPr>
              <a:t>三、线性谐振子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2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12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1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1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1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612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612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612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612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61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61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61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61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54" grpId="0" uiExpand="1" build="p"/>
      <p:bldP spid="612355" grpId="0"/>
      <p:bldP spid="612356" grpId="0"/>
      <p:bldP spid="612357" grpId="0"/>
      <p:bldP spid="612358" grpId="0"/>
      <p:bldP spid="612359" grpId="0" build="p"/>
      <p:bldP spid="612361" grpId="0"/>
      <p:bldP spid="61236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文本框 613377"/>
          <p:cNvSpPr txBox="1">
            <a:spLocks noChangeArrowheads="1"/>
          </p:cNvSpPr>
          <p:nvPr/>
        </p:nvSpPr>
        <p:spPr bwMode="auto">
          <a:xfrm>
            <a:off x="611188" y="4445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2. </a:t>
            </a:r>
            <a:r>
              <a:rPr lang="zh-CN" altLang="en-US" sz="2800" baseline="0">
                <a:solidFill>
                  <a:schemeClr val="accent2"/>
                </a:solidFill>
                <a:ea typeface="黑体" panose="02010609060101010101" pitchFamily="49" charset="-122"/>
              </a:rPr>
              <a:t>薛定谔方程及解</a:t>
            </a:r>
          </a:p>
        </p:txBody>
      </p:sp>
      <p:graphicFrame>
        <p:nvGraphicFramePr>
          <p:cNvPr id="613379" name="对象 613378"/>
          <p:cNvGraphicFramePr/>
          <p:nvPr/>
        </p:nvGraphicFramePr>
        <p:xfrm>
          <a:off x="1619250" y="1773238"/>
          <a:ext cx="44323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3" r:id="rId3" imgW="2063115" imgH="457200" progId="Equation.3">
                  <p:embed/>
                </p:oleObj>
              </mc:Choice>
              <mc:Fallback>
                <p:oleObj r:id="rId3" imgW="2063115" imgH="457200" progId="Equation.3">
                  <p:embed/>
                  <p:pic>
                    <p:nvPicPr>
                      <p:cNvPr id="0" name="对象 61337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773238"/>
                        <a:ext cx="443230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3380" name="文本框 613379"/>
          <p:cNvSpPr txBox="1"/>
          <p:nvPr/>
        </p:nvSpPr>
        <p:spPr>
          <a:xfrm>
            <a:off x="6084888" y="1989138"/>
            <a:ext cx="2249487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…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二阶变系数</a:t>
            </a:r>
          </a:p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常微分方程</a:t>
            </a:r>
          </a:p>
        </p:txBody>
      </p:sp>
      <p:graphicFrame>
        <p:nvGraphicFramePr>
          <p:cNvPr id="613381" name="对象 613380"/>
          <p:cNvGraphicFramePr/>
          <p:nvPr/>
        </p:nvGraphicFramePr>
        <p:xfrm>
          <a:off x="1403350" y="549275"/>
          <a:ext cx="4305300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4" r:id="rId5" imgW="2007235" imgH="535305" progId="Equation.3">
                  <p:embed/>
                </p:oleObj>
              </mc:Choice>
              <mc:Fallback>
                <p:oleObj r:id="rId5" imgW="2007235" imgH="535305" progId="Equation.3">
                  <p:embed/>
                  <p:pic>
                    <p:nvPicPr>
                      <p:cNvPr id="0" name="对象 61338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49275"/>
                        <a:ext cx="4305300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3382" name="文本框 613381"/>
          <p:cNvSpPr txBox="1"/>
          <p:nvPr/>
        </p:nvSpPr>
        <p:spPr>
          <a:xfrm>
            <a:off x="862013" y="2852738"/>
            <a:ext cx="82819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可用</a:t>
            </a: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级数展开法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解上述方程。</a:t>
            </a:r>
          </a:p>
        </p:txBody>
      </p:sp>
      <p:sp>
        <p:nvSpPr>
          <p:cNvPr id="613383" name="文本框 613382"/>
          <p:cNvSpPr txBox="1"/>
          <p:nvPr/>
        </p:nvSpPr>
        <p:spPr>
          <a:xfrm>
            <a:off x="827088" y="3357563"/>
            <a:ext cx="44735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求解超出本课程的范围。结论：</a:t>
            </a:r>
            <a:endParaRPr lang="zh-CN" altLang="en-US" b="1" baseline="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13384" name="文本框 613383"/>
          <p:cNvSpPr txBox="1">
            <a:spLocks noChangeArrowheads="1"/>
          </p:cNvSpPr>
          <p:nvPr/>
        </p:nvSpPr>
        <p:spPr bwMode="auto">
          <a:xfrm>
            <a:off x="779463" y="3917950"/>
            <a:ext cx="202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aseline="0">
                <a:ea typeface="黑体" panose="02010609060101010101" pitchFamily="49" charset="-122"/>
              </a:rPr>
              <a:t>(1)</a:t>
            </a:r>
            <a:r>
              <a:rPr lang="zh-CN" altLang="en-US" sz="2800" baseline="0">
                <a:ea typeface="黑体" panose="02010609060101010101" pitchFamily="49" charset="-122"/>
              </a:rPr>
              <a:t>能量特点</a:t>
            </a:r>
          </a:p>
        </p:txBody>
      </p:sp>
      <p:sp>
        <p:nvSpPr>
          <p:cNvPr id="613385" name="文本框 613384"/>
          <p:cNvSpPr txBox="1"/>
          <p:nvPr/>
        </p:nvSpPr>
        <p:spPr>
          <a:xfrm>
            <a:off x="6948488" y="4797425"/>
            <a:ext cx="31099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n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 0, 1, 2, …</a:t>
            </a:r>
          </a:p>
        </p:txBody>
      </p:sp>
      <p:sp>
        <p:nvSpPr>
          <p:cNvPr id="613386" name="文本框 613385"/>
          <p:cNvSpPr txBox="1"/>
          <p:nvPr/>
        </p:nvSpPr>
        <p:spPr>
          <a:xfrm>
            <a:off x="931863" y="5656263"/>
            <a:ext cx="4105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altLang="zh-CN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量子化，等间隔：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13387" name="对象 613386"/>
          <p:cNvGraphicFramePr/>
          <p:nvPr/>
        </p:nvGraphicFramePr>
        <p:xfrm>
          <a:off x="3790950" y="5661025"/>
          <a:ext cx="1428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5" r:id="rId7" imgW="608330" imgH="177800" progId="Equation.3">
                  <p:embed/>
                </p:oleObj>
              </mc:Choice>
              <mc:Fallback>
                <p:oleObj r:id="rId7" imgW="608330" imgH="177800" progId="Equation.3">
                  <p:embed/>
                  <p:pic>
                    <p:nvPicPr>
                      <p:cNvPr id="0" name="对象 61338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950" y="5661025"/>
                        <a:ext cx="1428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3388" name="矩形 613387"/>
          <p:cNvSpPr/>
          <p:nvPr/>
        </p:nvSpPr>
        <p:spPr>
          <a:xfrm>
            <a:off x="3079750" y="6148388"/>
            <a:ext cx="3248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（与黑体辐射理论同）</a:t>
            </a:r>
          </a:p>
        </p:txBody>
      </p:sp>
      <p:graphicFrame>
        <p:nvGraphicFramePr>
          <p:cNvPr id="613389" name="内容占位符 613388"/>
          <p:cNvGraphicFramePr>
            <a:graphicFrameLocks noGrp="1"/>
          </p:cNvGraphicFramePr>
          <p:nvPr>
            <p:ph idx="4294967295"/>
          </p:nvPr>
        </p:nvGraphicFramePr>
        <p:xfrm>
          <a:off x="2700338" y="4581525"/>
          <a:ext cx="36004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6" r:id="rId9" imgW="2029460" imgH="423545" progId="Equation.3">
                  <p:embed/>
                </p:oleObj>
              </mc:Choice>
              <mc:Fallback>
                <p:oleObj r:id="rId9" imgW="2029460" imgH="423545" progId="Equation.3">
                  <p:embed/>
                  <p:pic>
                    <p:nvPicPr>
                      <p:cNvPr id="0" name="内容占位符 61338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581525"/>
                        <a:ext cx="3600450" cy="8032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2363" name="对象 612362"/>
          <p:cNvGraphicFramePr/>
          <p:nvPr/>
        </p:nvGraphicFramePr>
        <p:xfrm>
          <a:off x="6372225" y="620713"/>
          <a:ext cx="2581275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7" r:id="rId11" imgW="1041400" imgH="393700" progId="Equation.3">
                  <p:embed/>
                </p:oleObj>
              </mc:Choice>
              <mc:Fallback>
                <p:oleObj r:id="rId11" imgW="1041400" imgH="393700" progId="Equation.3">
                  <p:embed/>
                  <p:pic>
                    <p:nvPicPr>
                      <p:cNvPr id="0" name="对象 612362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620713"/>
                        <a:ext cx="2581275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61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1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1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1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380" grpId="0"/>
      <p:bldP spid="613382" grpId="0"/>
      <p:bldP spid="613383" grpId="0"/>
      <p:bldP spid="613384" grpId="0"/>
      <p:bldP spid="613385" grpId="0"/>
      <p:bldP spid="613386" grpId="0"/>
      <p:bldP spid="61338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0" name="对象 614401"/>
          <p:cNvGraphicFramePr/>
          <p:nvPr/>
        </p:nvGraphicFramePr>
        <p:xfrm>
          <a:off x="539750" y="188913"/>
          <a:ext cx="40576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6" r:id="rId3" imgW="2029460" imgH="423545" progId="Equation.3">
                  <p:embed/>
                </p:oleObj>
              </mc:Choice>
              <mc:Fallback>
                <p:oleObj r:id="rId3" imgW="2029460" imgH="423545" progId="Equation.3">
                  <p:embed/>
                  <p:pic>
                    <p:nvPicPr>
                      <p:cNvPr id="0" name="对象 61440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88913"/>
                        <a:ext cx="4057650" cy="9144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1" name="文本框 614402"/>
          <p:cNvSpPr txBox="1">
            <a:spLocks noChangeArrowheads="1"/>
          </p:cNvSpPr>
          <p:nvPr/>
        </p:nvSpPr>
        <p:spPr bwMode="auto">
          <a:xfrm>
            <a:off x="684213" y="1125538"/>
            <a:ext cx="3109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baseline="0"/>
              <a:t> n </a:t>
            </a:r>
            <a:r>
              <a:rPr lang="en-US" altLang="zh-CN" sz="2400" b="1" baseline="0"/>
              <a:t>= 0, 1, 2, …</a:t>
            </a:r>
          </a:p>
        </p:txBody>
      </p:sp>
      <p:sp>
        <p:nvSpPr>
          <p:cNvPr id="614404" name="文本框 614403"/>
          <p:cNvSpPr txBox="1"/>
          <p:nvPr/>
        </p:nvSpPr>
        <p:spPr>
          <a:xfrm>
            <a:off x="4308475" y="3357563"/>
            <a:ext cx="40084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符合不确定关系</a:t>
            </a:r>
          </a:p>
        </p:txBody>
      </p:sp>
      <p:sp>
        <p:nvSpPr>
          <p:cNvPr id="614405" name="文本框 614404"/>
          <p:cNvSpPr txBox="1">
            <a:spLocks noChangeArrowheads="1"/>
          </p:cNvSpPr>
          <p:nvPr/>
        </p:nvSpPr>
        <p:spPr bwMode="auto">
          <a:xfrm>
            <a:off x="325438" y="2855913"/>
            <a:ext cx="3263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330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zh-CN" sz="2400" baseline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baseline="0">
                <a:solidFill>
                  <a:srgbClr val="0000FF"/>
                </a:solidFill>
                <a:ea typeface="黑体" panose="02010609060101010101" pitchFamily="49" charset="-122"/>
              </a:rPr>
              <a:t>有零点能：</a:t>
            </a:r>
          </a:p>
        </p:txBody>
      </p:sp>
      <p:graphicFrame>
        <p:nvGraphicFramePr>
          <p:cNvPr id="614406" name="对象 614405"/>
          <p:cNvGraphicFramePr/>
          <p:nvPr/>
        </p:nvGraphicFramePr>
        <p:xfrm>
          <a:off x="2484438" y="3213100"/>
          <a:ext cx="1341437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7" r:id="rId5" imgW="769620" imgH="423545" progId="Equation.3">
                  <p:embed/>
                </p:oleObj>
              </mc:Choice>
              <mc:Fallback>
                <p:oleObj r:id="rId5" imgW="769620" imgH="423545" progId="Equation.3">
                  <p:embed/>
                  <p:pic>
                    <p:nvPicPr>
                      <p:cNvPr id="0" name="对象 61440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213100"/>
                        <a:ext cx="1341437" cy="7683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99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07" name="文本框 614406"/>
          <p:cNvSpPr txBox="1">
            <a:spLocks noChangeArrowheads="1"/>
          </p:cNvSpPr>
          <p:nvPr/>
        </p:nvSpPr>
        <p:spPr bwMode="auto">
          <a:xfrm>
            <a:off x="323850" y="4076700"/>
            <a:ext cx="3752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330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zh-CN" sz="2400" baseline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baseline="0">
                <a:solidFill>
                  <a:srgbClr val="0000FF"/>
                </a:solidFill>
                <a:ea typeface="黑体" panose="02010609060101010101" pitchFamily="49" charset="-122"/>
              </a:rPr>
              <a:t>当</a:t>
            </a:r>
            <a:r>
              <a:rPr lang="en-US" altLang="zh-CN" sz="2400" i="1" baseline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400" baseline="0">
                <a:solidFill>
                  <a:srgbClr val="0000FF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</a:t>
            </a:r>
            <a:r>
              <a:rPr lang="en-US" altLang="zh-CN" sz="2400" baseline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baseline="0">
                <a:solidFill>
                  <a:srgbClr val="0000FF"/>
                </a:solidFill>
                <a:ea typeface="黑体" panose="02010609060101010101" pitchFamily="49" charset="-122"/>
              </a:rPr>
              <a:t>时，</a:t>
            </a:r>
          </a:p>
        </p:txBody>
      </p:sp>
      <p:sp>
        <p:nvSpPr>
          <p:cNvPr id="614408" name="文本框 614407"/>
          <p:cNvSpPr txBox="1"/>
          <p:nvPr/>
        </p:nvSpPr>
        <p:spPr>
          <a:xfrm>
            <a:off x="2220913" y="5516563"/>
            <a:ext cx="4438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符合</a:t>
            </a: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玻尔对应原理。</a:t>
            </a:r>
          </a:p>
        </p:txBody>
      </p:sp>
      <p:sp>
        <p:nvSpPr>
          <p:cNvPr id="614409" name="文本框 614408"/>
          <p:cNvSpPr txBox="1"/>
          <p:nvPr/>
        </p:nvSpPr>
        <p:spPr>
          <a:xfrm>
            <a:off x="2195513" y="4868863"/>
            <a:ext cx="4838700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能量量子化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能量连续</a:t>
            </a:r>
          </a:p>
        </p:txBody>
      </p:sp>
      <p:graphicFrame>
        <p:nvGraphicFramePr>
          <p:cNvPr id="614410" name="对象 614409"/>
          <p:cNvGraphicFramePr/>
          <p:nvPr/>
        </p:nvGraphicFramePr>
        <p:xfrm>
          <a:off x="2411413" y="3984625"/>
          <a:ext cx="1223962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" r:id="rId7" imgW="758190" imgH="490855" progId="Equation.3">
                  <p:embed/>
                </p:oleObj>
              </mc:Choice>
              <mc:Fallback>
                <p:oleObj r:id="rId7" imgW="758190" imgH="490855" progId="Equation.3">
                  <p:embed/>
                  <p:pic>
                    <p:nvPicPr>
                      <p:cNvPr id="0" name="对象 61440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984625"/>
                        <a:ext cx="1223962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411" name="组合 614410"/>
          <p:cNvGrpSpPr/>
          <p:nvPr/>
        </p:nvGrpSpPr>
        <p:grpSpPr bwMode="auto">
          <a:xfrm>
            <a:off x="4918075" y="188913"/>
            <a:ext cx="4225925" cy="3332162"/>
            <a:chOff x="2762" y="2158"/>
            <a:chExt cx="2662" cy="2099"/>
          </a:xfrm>
        </p:grpSpPr>
        <p:sp>
          <p:nvSpPr>
            <p:cNvPr id="99343" name="直接连接符 614411"/>
            <p:cNvSpPr>
              <a:spLocks noChangeShapeType="1"/>
            </p:cNvSpPr>
            <p:nvPr/>
          </p:nvSpPr>
          <p:spPr bwMode="auto">
            <a:xfrm>
              <a:off x="3504" y="3840"/>
              <a:ext cx="124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4" name="直接连接符 614412"/>
            <p:cNvSpPr>
              <a:spLocks noChangeShapeType="1"/>
            </p:cNvSpPr>
            <p:nvPr/>
          </p:nvSpPr>
          <p:spPr bwMode="auto">
            <a:xfrm>
              <a:off x="3504" y="3552"/>
              <a:ext cx="1248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5" name="直接连接符 614413"/>
            <p:cNvSpPr>
              <a:spLocks noChangeShapeType="1"/>
            </p:cNvSpPr>
            <p:nvPr/>
          </p:nvSpPr>
          <p:spPr bwMode="auto">
            <a:xfrm>
              <a:off x="3504" y="3264"/>
              <a:ext cx="1248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6" name="直接连接符 614414"/>
            <p:cNvSpPr>
              <a:spLocks noChangeShapeType="1"/>
            </p:cNvSpPr>
            <p:nvPr/>
          </p:nvSpPr>
          <p:spPr bwMode="auto">
            <a:xfrm>
              <a:off x="3504" y="2688"/>
              <a:ext cx="1248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7" name="直接连接符 614415"/>
            <p:cNvSpPr>
              <a:spLocks noChangeShapeType="1"/>
            </p:cNvSpPr>
            <p:nvPr/>
          </p:nvSpPr>
          <p:spPr bwMode="auto">
            <a:xfrm>
              <a:off x="3504" y="2976"/>
              <a:ext cx="1248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8" name="直接连接符 614416"/>
            <p:cNvSpPr>
              <a:spLocks noChangeShapeType="1"/>
            </p:cNvSpPr>
            <p:nvPr/>
          </p:nvSpPr>
          <p:spPr bwMode="auto">
            <a:xfrm>
              <a:off x="3504" y="2400"/>
              <a:ext cx="1248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9" name="文本框 614417"/>
            <p:cNvSpPr txBox="1">
              <a:spLocks noChangeArrowheads="1"/>
            </p:cNvSpPr>
            <p:nvPr/>
          </p:nvSpPr>
          <p:spPr bwMode="auto">
            <a:xfrm>
              <a:off x="4813" y="3681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>
                  <a:solidFill>
                    <a:srgbClr val="FF3300"/>
                  </a:solidFill>
                </a:rPr>
                <a:t>E</a:t>
              </a:r>
              <a:r>
                <a:rPr lang="en-US" altLang="zh-CN" sz="2400" b="1" baseline="-25000">
                  <a:solidFill>
                    <a:srgbClr val="FF3300"/>
                  </a:solidFill>
                </a:rPr>
                <a:t>0</a:t>
              </a:r>
              <a:endParaRPr lang="en-US" altLang="zh-CN" sz="2400" b="1" baseline="0"/>
            </a:p>
          </p:txBody>
        </p:sp>
        <p:sp>
          <p:nvSpPr>
            <p:cNvPr id="99350" name="文本框 614418"/>
            <p:cNvSpPr txBox="1">
              <a:spLocks noChangeArrowheads="1"/>
            </p:cNvSpPr>
            <p:nvPr/>
          </p:nvSpPr>
          <p:spPr bwMode="auto">
            <a:xfrm>
              <a:off x="4800" y="257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E</a:t>
              </a:r>
              <a:r>
                <a:rPr lang="en-US" altLang="zh-CN" sz="2400" b="1" baseline="-25000"/>
                <a:t>4</a:t>
              </a:r>
              <a:endParaRPr lang="en-US" altLang="zh-CN" sz="2400" b="1" baseline="0"/>
            </a:p>
          </p:txBody>
        </p:sp>
        <p:sp>
          <p:nvSpPr>
            <p:cNvPr id="99351" name="文本框 614419"/>
            <p:cNvSpPr txBox="1">
              <a:spLocks noChangeArrowheads="1"/>
            </p:cNvSpPr>
            <p:nvPr/>
          </p:nvSpPr>
          <p:spPr bwMode="auto">
            <a:xfrm>
              <a:off x="4800" y="286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E</a:t>
              </a:r>
              <a:r>
                <a:rPr lang="en-US" altLang="zh-CN" sz="2400" b="1" baseline="-25000"/>
                <a:t>3</a:t>
              </a:r>
              <a:endParaRPr lang="en-US" altLang="zh-CN" sz="2400" b="1" baseline="0"/>
            </a:p>
          </p:txBody>
        </p:sp>
        <p:sp>
          <p:nvSpPr>
            <p:cNvPr id="99352" name="文本框 614420"/>
            <p:cNvSpPr txBox="1">
              <a:spLocks noChangeArrowheads="1"/>
            </p:cNvSpPr>
            <p:nvPr/>
          </p:nvSpPr>
          <p:spPr bwMode="auto">
            <a:xfrm>
              <a:off x="4800" y="339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E</a:t>
              </a:r>
              <a:r>
                <a:rPr lang="en-US" altLang="zh-CN" sz="2400" b="1" baseline="-25000"/>
                <a:t>1</a:t>
              </a:r>
              <a:endParaRPr lang="en-US" altLang="zh-CN" sz="2400" b="1" baseline="0"/>
            </a:p>
          </p:txBody>
        </p:sp>
        <p:sp>
          <p:nvSpPr>
            <p:cNvPr id="99353" name="文本框 614421"/>
            <p:cNvSpPr txBox="1">
              <a:spLocks noChangeArrowheads="1"/>
            </p:cNvSpPr>
            <p:nvPr/>
          </p:nvSpPr>
          <p:spPr bwMode="auto">
            <a:xfrm>
              <a:off x="4800" y="3072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E</a:t>
              </a:r>
              <a:r>
                <a:rPr lang="en-US" altLang="zh-CN" sz="2400" b="1" baseline="-25000"/>
                <a:t>2</a:t>
              </a:r>
              <a:endParaRPr lang="en-US" altLang="zh-CN" sz="2400" b="1" baseline="0"/>
            </a:p>
          </p:txBody>
        </p:sp>
        <p:sp>
          <p:nvSpPr>
            <p:cNvPr id="99354" name="直接连接符 614422"/>
            <p:cNvSpPr>
              <a:spLocks noChangeShapeType="1"/>
            </p:cNvSpPr>
            <p:nvPr/>
          </p:nvSpPr>
          <p:spPr bwMode="auto">
            <a:xfrm>
              <a:off x="3120" y="268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5" name="直接连接符 614423"/>
            <p:cNvSpPr>
              <a:spLocks noChangeShapeType="1"/>
            </p:cNvSpPr>
            <p:nvPr/>
          </p:nvSpPr>
          <p:spPr bwMode="auto">
            <a:xfrm>
              <a:off x="3120" y="297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6" name="直接连接符 614424"/>
            <p:cNvSpPr>
              <a:spLocks noChangeShapeType="1"/>
            </p:cNvSpPr>
            <p:nvPr/>
          </p:nvSpPr>
          <p:spPr bwMode="auto">
            <a:xfrm>
              <a:off x="3216" y="268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9357" name="对象 614425"/>
            <p:cNvGraphicFramePr/>
            <p:nvPr/>
          </p:nvGraphicFramePr>
          <p:xfrm>
            <a:off x="2762" y="2688"/>
            <a:ext cx="28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439" name="Equation" r:id="rId9" imgW="4876800" imgH="4267200" progId="Equation.DSMT4">
                    <p:embed/>
                  </p:oleObj>
                </mc:Choice>
                <mc:Fallback>
                  <p:oleObj name="Equation" r:id="rId9" imgW="4876800" imgH="4267200" progId="Equation.DSMT4">
                    <p:embed/>
                    <p:pic>
                      <p:nvPicPr>
                        <p:cNvPr id="0" name="对象 6144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2688"/>
                          <a:ext cx="283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58" name="直接连接符 614426"/>
            <p:cNvSpPr>
              <a:spLocks noChangeShapeType="1"/>
            </p:cNvSpPr>
            <p:nvPr/>
          </p:nvSpPr>
          <p:spPr bwMode="auto">
            <a:xfrm>
              <a:off x="3120" y="3984"/>
              <a:ext cx="225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9" name="直接连接符 614427"/>
            <p:cNvSpPr>
              <a:spLocks noChangeShapeType="1"/>
            </p:cNvSpPr>
            <p:nvPr/>
          </p:nvSpPr>
          <p:spPr bwMode="auto">
            <a:xfrm flipV="1">
              <a:off x="3456" y="2256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0" name="文本框 614428"/>
            <p:cNvSpPr txBox="1">
              <a:spLocks noChangeArrowheads="1"/>
            </p:cNvSpPr>
            <p:nvPr/>
          </p:nvSpPr>
          <p:spPr bwMode="auto">
            <a:xfrm>
              <a:off x="3180" y="215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/>
                <a:t>E</a:t>
              </a:r>
              <a:endParaRPr lang="en-US" altLang="zh-CN" sz="2400" b="1" baseline="0">
                <a:latin typeface="宋体" panose="02010600030101010101" pitchFamily="2" charset="-122"/>
              </a:endParaRPr>
            </a:p>
          </p:txBody>
        </p:sp>
        <p:sp>
          <p:nvSpPr>
            <p:cNvPr id="99361" name="文本框 614429"/>
            <p:cNvSpPr txBox="1">
              <a:spLocks noChangeArrowheads="1"/>
            </p:cNvSpPr>
            <p:nvPr/>
          </p:nvSpPr>
          <p:spPr bwMode="auto">
            <a:xfrm>
              <a:off x="3264" y="3969"/>
              <a:ext cx="2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baseline="0">
                  <a:latin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99340" name="文本框 614430"/>
          <p:cNvSpPr txBox="1">
            <a:spLocks noChangeArrowheads="1"/>
          </p:cNvSpPr>
          <p:nvPr/>
        </p:nvSpPr>
        <p:spPr bwMode="auto">
          <a:xfrm>
            <a:off x="323850" y="1773238"/>
            <a:ext cx="4105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330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zh-CN" sz="2400" baseline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baseline="0">
                <a:solidFill>
                  <a:srgbClr val="0000FF"/>
                </a:solidFill>
                <a:ea typeface="黑体" panose="02010609060101010101" pitchFamily="49" charset="-122"/>
              </a:rPr>
              <a:t>量子化，等间距：</a:t>
            </a:r>
            <a:r>
              <a:rPr lang="zh-CN" altLang="en-US" sz="2400" baseline="0"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99341" name="对象 614431"/>
          <p:cNvGraphicFramePr/>
          <p:nvPr/>
        </p:nvGraphicFramePr>
        <p:xfrm>
          <a:off x="3182938" y="1778000"/>
          <a:ext cx="1428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40" r:id="rId11" imgW="608330" imgH="177800" progId="Equation.3">
                  <p:embed/>
                </p:oleObj>
              </mc:Choice>
              <mc:Fallback>
                <p:oleObj r:id="rId11" imgW="608330" imgH="177800" progId="Equation.3">
                  <p:embed/>
                  <p:pic>
                    <p:nvPicPr>
                      <p:cNvPr id="0" name="对象 61443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938" y="1778000"/>
                        <a:ext cx="1428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33" name="矩形 614432"/>
          <p:cNvSpPr/>
          <p:nvPr/>
        </p:nvSpPr>
        <p:spPr>
          <a:xfrm>
            <a:off x="2471738" y="2265363"/>
            <a:ext cx="3248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（与黑体辐射理论同）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1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4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1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04" grpId="0"/>
      <p:bldP spid="614405" grpId="0"/>
      <p:bldP spid="614407" grpId="0"/>
      <p:bldP spid="614408" grpId="0"/>
      <p:bldP spid="61440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框 615425"/>
          <p:cNvSpPr txBox="1">
            <a:spLocks noChangeArrowheads="1"/>
          </p:cNvSpPr>
          <p:nvPr/>
        </p:nvSpPr>
        <p:spPr bwMode="auto">
          <a:xfrm>
            <a:off x="274638" y="211138"/>
            <a:ext cx="2139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CC3300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2800" baseline="0">
                <a:ea typeface="黑体" panose="02010609060101010101" pitchFamily="49" charset="-122"/>
              </a:rPr>
              <a:t>（</a:t>
            </a:r>
            <a:r>
              <a:rPr lang="en-US" altLang="zh-CN" sz="2800" baseline="0">
                <a:ea typeface="黑体" panose="02010609060101010101" pitchFamily="49" charset="-122"/>
              </a:rPr>
              <a:t>2</a:t>
            </a:r>
            <a:r>
              <a:rPr lang="zh-CN" altLang="en-US" sz="2800" baseline="0">
                <a:ea typeface="黑体" panose="02010609060101010101" pitchFamily="49" charset="-122"/>
              </a:rPr>
              <a:t>）波函数</a:t>
            </a:r>
          </a:p>
        </p:txBody>
      </p:sp>
      <p:graphicFrame>
        <p:nvGraphicFramePr>
          <p:cNvPr id="615427" name="对象 615426"/>
          <p:cNvGraphicFramePr/>
          <p:nvPr/>
        </p:nvGraphicFramePr>
        <p:xfrm>
          <a:off x="1747838" y="1430338"/>
          <a:ext cx="16652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71" r:id="rId3" imgW="780415" imgH="490855" progId="Equation.3">
                  <p:embed/>
                </p:oleObj>
              </mc:Choice>
              <mc:Fallback>
                <p:oleObj r:id="rId3" imgW="780415" imgH="490855" progId="Equation.3">
                  <p:embed/>
                  <p:pic>
                    <p:nvPicPr>
                      <p:cNvPr id="0" name="对象 61542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1430338"/>
                        <a:ext cx="166528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28" name="矩形 615427"/>
          <p:cNvSpPr/>
          <p:nvPr/>
        </p:nvSpPr>
        <p:spPr>
          <a:xfrm>
            <a:off x="812800" y="750888"/>
            <a:ext cx="4095750" cy="457200"/>
          </a:xfrm>
          <a:prstGeom prst="rect">
            <a:avLst/>
          </a:prstGeom>
          <a:noFill/>
          <a:ln w="317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线性谐振子定态波函数为</a:t>
            </a:r>
          </a:p>
        </p:txBody>
      </p:sp>
      <p:graphicFrame>
        <p:nvGraphicFramePr>
          <p:cNvPr id="615429" name="对象 615428"/>
          <p:cNvGraphicFramePr/>
          <p:nvPr/>
        </p:nvGraphicFramePr>
        <p:xfrm>
          <a:off x="4425950" y="595313"/>
          <a:ext cx="396240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72" r:id="rId5" imgW="1750695" imgH="334645" progId="Equation.3">
                  <p:embed/>
                </p:oleObj>
              </mc:Choice>
              <mc:Fallback>
                <p:oleObj r:id="rId5" imgW="1750695" imgH="334645" progId="Equation.3">
                  <p:embed/>
                  <p:pic>
                    <p:nvPicPr>
                      <p:cNvPr id="0" name="对象 61542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595313"/>
                        <a:ext cx="396240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30" name="文本框 615429"/>
          <p:cNvSpPr txBox="1"/>
          <p:nvPr/>
        </p:nvSpPr>
        <p:spPr>
          <a:xfrm>
            <a:off x="812800" y="1725613"/>
            <a:ext cx="790575" cy="45720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其中</a:t>
            </a:r>
          </a:p>
        </p:txBody>
      </p:sp>
      <p:graphicFrame>
        <p:nvGraphicFramePr>
          <p:cNvPr id="615431" name="对象 615430"/>
          <p:cNvGraphicFramePr/>
          <p:nvPr/>
        </p:nvGraphicFramePr>
        <p:xfrm>
          <a:off x="3814763" y="1471613"/>
          <a:ext cx="219868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73" name="Equation" r:id="rId7" imgW="24384000" imgH="11277600" progId="Equation.DSMT4">
                  <p:embed/>
                </p:oleObj>
              </mc:Choice>
              <mc:Fallback>
                <p:oleObj name="Equation" r:id="rId7" imgW="24384000" imgH="11277600" progId="Equation.DSMT4">
                  <p:embed/>
                  <p:pic>
                    <p:nvPicPr>
                      <p:cNvPr id="0" name="对象 615430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3" y="1471613"/>
                        <a:ext cx="2198687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432" name="组合 615431"/>
          <p:cNvGrpSpPr/>
          <p:nvPr/>
        </p:nvGrpSpPr>
        <p:grpSpPr bwMode="auto">
          <a:xfrm>
            <a:off x="6516688" y="1733550"/>
            <a:ext cx="2924175" cy="514350"/>
            <a:chOff x="2784" y="1728"/>
            <a:chExt cx="1842" cy="324"/>
          </a:xfrm>
        </p:grpSpPr>
        <p:graphicFrame>
          <p:nvGraphicFramePr>
            <p:cNvPr id="100367" name="对象 615432"/>
            <p:cNvGraphicFramePr/>
            <p:nvPr/>
          </p:nvGraphicFramePr>
          <p:xfrm>
            <a:off x="2784" y="1728"/>
            <a:ext cx="30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474" r:id="rId9" imgW="234315" imgH="234315" progId="Equation.3">
                    <p:embed/>
                  </p:oleObj>
                </mc:Choice>
                <mc:Fallback>
                  <p:oleObj r:id="rId9" imgW="234315" imgH="234315" progId="Equation.3">
                    <p:embed/>
                    <p:pic>
                      <p:nvPicPr>
                        <p:cNvPr id="0" name="对象 6154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728"/>
                          <a:ext cx="306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434" name="文本框 615433"/>
            <p:cNvSpPr txBox="1"/>
            <p:nvPr/>
          </p:nvSpPr>
          <p:spPr>
            <a:xfrm>
              <a:off x="3168" y="1728"/>
              <a:ext cx="1458" cy="288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华文楷体" panose="02010600040101010101" pitchFamily="2" charset="-122"/>
                </a:rPr>
                <a:t>为厄米多项式，</a:t>
              </a:r>
            </a:p>
          </p:txBody>
        </p:sp>
      </p:grpSp>
      <p:graphicFrame>
        <p:nvGraphicFramePr>
          <p:cNvPr id="615435" name="对象 615434"/>
          <p:cNvGraphicFramePr/>
          <p:nvPr/>
        </p:nvGraphicFramePr>
        <p:xfrm>
          <a:off x="1377950" y="2636838"/>
          <a:ext cx="3951288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75" r:id="rId11" imgW="1586865" imgH="495300" progId="Equation.3">
                  <p:embed/>
                </p:oleObj>
              </mc:Choice>
              <mc:Fallback>
                <p:oleObj r:id="rId11" imgW="1586865" imgH="495300" progId="Equation.3">
                  <p:embed/>
                  <p:pic>
                    <p:nvPicPr>
                      <p:cNvPr id="0" name="对象 61543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2636838"/>
                        <a:ext cx="3951288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36" name="对象 615435"/>
          <p:cNvGraphicFramePr/>
          <p:nvPr/>
        </p:nvGraphicFramePr>
        <p:xfrm>
          <a:off x="1312863" y="3865563"/>
          <a:ext cx="5180012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76" r:id="rId13" imgW="2094865" imgH="495300" progId="Equation.3">
                  <p:embed/>
                </p:oleObj>
              </mc:Choice>
              <mc:Fallback>
                <p:oleObj r:id="rId13" imgW="2094865" imgH="495300" progId="Equation.3">
                  <p:embed/>
                  <p:pic>
                    <p:nvPicPr>
                      <p:cNvPr id="0" name="对象 61543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3865563"/>
                        <a:ext cx="5180012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37" name="对象 615436"/>
          <p:cNvGraphicFramePr/>
          <p:nvPr/>
        </p:nvGraphicFramePr>
        <p:xfrm>
          <a:off x="1316038" y="5113338"/>
          <a:ext cx="5810250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77" r:id="rId15" imgW="2399030" imgH="495300" progId="Equation.3">
                  <p:embed/>
                </p:oleObj>
              </mc:Choice>
              <mc:Fallback>
                <p:oleObj r:id="rId15" imgW="2399030" imgH="495300" progId="Equation.3">
                  <p:embed/>
                  <p:pic>
                    <p:nvPicPr>
                      <p:cNvPr id="0" name="对象 615436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5113338"/>
                        <a:ext cx="5810250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438" name="组合 615437"/>
          <p:cNvGrpSpPr/>
          <p:nvPr/>
        </p:nvGrpSpPr>
        <p:grpSpPr bwMode="auto">
          <a:xfrm>
            <a:off x="1600200" y="6119813"/>
            <a:ext cx="3638550" cy="693737"/>
            <a:chOff x="599" y="3579"/>
            <a:chExt cx="2292" cy="437"/>
          </a:xfrm>
        </p:grpSpPr>
        <p:sp>
          <p:nvSpPr>
            <p:cNvPr id="100365" name="文本框 615438"/>
            <p:cNvSpPr txBox="1">
              <a:spLocks noChangeArrowheads="1"/>
            </p:cNvSpPr>
            <p:nvPr/>
          </p:nvSpPr>
          <p:spPr bwMode="auto">
            <a:xfrm>
              <a:off x="599" y="3612"/>
              <a:ext cx="34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3600" b="1" baseline="0"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00366" name="文本框 615439"/>
            <p:cNvSpPr txBox="1">
              <a:spLocks noChangeArrowheads="1"/>
            </p:cNvSpPr>
            <p:nvPr/>
          </p:nvSpPr>
          <p:spPr bwMode="auto">
            <a:xfrm>
              <a:off x="2546" y="3579"/>
              <a:ext cx="34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3600" b="1" baseline="0">
                  <a:sym typeface="MT Extra" panose="05050102010205020202" pitchFamily="18" charset="2"/>
                </a:rPr>
                <a:t>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1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61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5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1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28" grpId="0"/>
      <p:bldP spid="61543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文本框 616449"/>
          <p:cNvSpPr txBox="1">
            <a:spLocks noChangeArrowheads="1"/>
          </p:cNvSpPr>
          <p:nvPr/>
        </p:nvSpPr>
        <p:spPr bwMode="auto">
          <a:xfrm>
            <a:off x="865188" y="1279525"/>
            <a:ext cx="671512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aseline="0">
                <a:solidFill>
                  <a:srgbClr val="CC3300"/>
                </a:solidFill>
                <a:ea typeface="华文新魏" panose="02010800040101010101" pitchFamily="2" charset="-122"/>
              </a:rPr>
              <a:t>线性谐振子波函数</a:t>
            </a:r>
          </a:p>
        </p:txBody>
      </p:sp>
      <p:grpSp>
        <p:nvGrpSpPr>
          <p:cNvPr id="616451" name="组合 616450"/>
          <p:cNvGrpSpPr/>
          <p:nvPr/>
        </p:nvGrpSpPr>
        <p:grpSpPr bwMode="auto">
          <a:xfrm>
            <a:off x="1931988" y="63500"/>
            <a:ext cx="2160587" cy="1887538"/>
            <a:chOff x="1507" y="384"/>
            <a:chExt cx="1373" cy="864"/>
          </a:xfrm>
        </p:grpSpPr>
        <p:graphicFrame>
          <p:nvGraphicFramePr>
            <p:cNvPr id="101419" name="对象 616451"/>
            <p:cNvGraphicFramePr/>
            <p:nvPr/>
          </p:nvGraphicFramePr>
          <p:xfrm>
            <a:off x="1891" y="384"/>
            <a:ext cx="21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1" r:id="rId3" imgW="189865" imgH="234315" progId="Equation.3">
                    <p:embed/>
                  </p:oleObj>
                </mc:Choice>
                <mc:Fallback>
                  <p:oleObj r:id="rId3" imgW="189865" imgH="234315" progId="Equation.3">
                    <p:embed/>
                    <p:pic>
                      <p:nvPicPr>
                        <p:cNvPr id="0" name="对象 61645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" y="384"/>
                          <a:ext cx="211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420" name="任意多边形 616452"/>
            <p:cNvSpPr>
              <a:spLocks noChangeArrowheads="1"/>
            </p:cNvSpPr>
            <p:nvPr/>
          </p:nvSpPr>
          <p:spPr bwMode="auto">
            <a:xfrm>
              <a:off x="1740" y="786"/>
              <a:ext cx="749" cy="324"/>
            </a:xfrm>
            <a:custGeom>
              <a:avLst/>
              <a:gdLst>
                <a:gd name="T0" fmla="*/ 0 w 1256"/>
                <a:gd name="T1" fmla="*/ 92 h 587"/>
                <a:gd name="T2" fmla="*/ 131 w 1256"/>
                <a:gd name="T3" fmla="*/ 0 h 587"/>
                <a:gd name="T4" fmla="*/ 267 w 1256"/>
                <a:gd name="T5" fmla="*/ 92 h 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56" h="587">
                  <a:moveTo>
                    <a:pt x="0" y="545"/>
                  </a:moveTo>
                  <a:cubicBezTo>
                    <a:pt x="509" y="560"/>
                    <a:pt x="407" y="0"/>
                    <a:pt x="616" y="0"/>
                  </a:cubicBezTo>
                  <a:cubicBezTo>
                    <a:pt x="825" y="0"/>
                    <a:pt x="803" y="587"/>
                    <a:pt x="1256" y="545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21" name="直接连接符 616453"/>
            <p:cNvSpPr>
              <a:spLocks noChangeShapeType="1"/>
            </p:cNvSpPr>
            <p:nvPr/>
          </p:nvSpPr>
          <p:spPr bwMode="auto">
            <a:xfrm>
              <a:off x="1507" y="1104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22" name="直接连接符 616454"/>
            <p:cNvSpPr>
              <a:spLocks noChangeShapeType="1"/>
            </p:cNvSpPr>
            <p:nvPr/>
          </p:nvSpPr>
          <p:spPr bwMode="auto">
            <a:xfrm flipV="1">
              <a:off x="2108" y="432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423" name="对象 616455"/>
            <p:cNvGraphicFramePr/>
            <p:nvPr/>
          </p:nvGraphicFramePr>
          <p:xfrm>
            <a:off x="2179" y="624"/>
            <a:ext cx="360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2" r:id="rId5" imgW="379095" imgH="178435" progId="Equation.3">
                    <p:embed/>
                  </p:oleObj>
                </mc:Choice>
                <mc:Fallback>
                  <p:oleObj r:id="rId5" imgW="379095" imgH="178435" progId="Equation.3">
                    <p:embed/>
                    <p:pic>
                      <p:nvPicPr>
                        <p:cNvPr id="0" name="对象 61645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9" y="624"/>
                          <a:ext cx="360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24" name="对象 616456"/>
            <p:cNvGraphicFramePr/>
            <p:nvPr/>
          </p:nvGraphicFramePr>
          <p:xfrm>
            <a:off x="2707" y="1056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3" r:id="rId7" imgW="111760" imgH="133985" progId="Equation.3">
                    <p:embed/>
                  </p:oleObj>
                </mc:Choice>
                <mc:Fallback>
                  <p:oleObj r:id="rId7" imgW="111760" imgH="133985" progId="Equation.3">
                    <p:embed/>
                    <p:pic>
                      <p:nvPicPr>
                        <p:cNvPr id="0" name="对象 61645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7" y="1056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6458" name="组合 616457"/>
          <p:cNvGrpSpPr/>
          <p:nvPr/>
        </p:nvGrpSpPr>
        <p:grpSpPr bwMode="auto">
          <a:xfrm>
            <a:off x="1857375" y="1755775"/>
            <a:ext cx="2235200" cy="1958975"/>
            <a:chOff x="1462" y="1475"/>
            <a:chExt cx="1351" cy="1192"/>
          </a:xfrm>
        </p:grpSpPr>
        <p:sp>
          <p:nvSpPr>
            <p:cNvPr id="101413" name="任意多边形 616458"/>
            <p:cNvSpPr>
              <a:spLocks noChangeArrowheads="1"/>
            </p:cNvSpPr>
            <p:nvPr/>
          </p:nvSpPr>
          <p:spPr bwMode="auto">
            <a:xfrm>
              <a:off x="1702" y="1653"/>
              <a:ext cx="763" cy="1014"/>
            </a:xfrm>
            <a:custGeom>
              <a:avLst/>
              <a:gdLst>
                <a:gd name="T0" fmla="*/ 763 w 763"/>
                <a:gd name="T1" fmla="*/ 545 h 1014"/>
                <a:gd name="T2" fmla="*/ 490 w 763"/>
                <a:gd name="T3" fmla="*/ 65 h 1014"/>
                <a:gd name="T4" fmla="*/ 266 w 763"/>
                <a:gd name="T5" fmla="*/ 937 h 1014"/>
                <a:gd name="T6" fmla="*/ 0 w 763"/>
                <a:gd name="T7" fmla="*/ 528 h 10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3" h="1014">
                  <a:moveTo>
                    <a:pt x="763" y="545"/>
                  </a:moveTo>
                  <a:cubicBezTo>
                    <a:pt x="470" y="425"/>
                    <a:pt x="573" y="0"/>
                    <a:pt x="490" y="65"/>
                  </a:cubicBezTo>
                  <a:cubicBezTo>
                    <a:pt x="407" y="130"/>
                    <a:pt x="348" y="861"/>
                    <a:pt x="266" y="937"/>
                  </a:cubicBezTo>
                  <a:cubicBezTo>
                    <a:pt x="184" y="1014"/>
                    <a:pt x="213" y="604"/>
                    <a:pt x="0" y="528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14" name="直接连接符 616460"/>
            <p:cNvSpPr>
              <a:spLocks noChangeShapeType="1"/>
            </p:cNvSpPr>
            <p:nvPr/>
          </p:nvSpPr>
          <p:spPr bwMode="auto">
            <a:xfrm>
              <a:off x="1462" y="2187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15" name="直接连接符 616461"/>
            <p:cNvSpPr>
              <a:spLocks noChangeShapeType="1"/>
            </p:cNvSpPr>
            <p:nvPr/>
          </p:nvSpPr>
          <p:spPr bwMode="auto">
            <a:xfrm flipV="1">
              <a:off x="2063" y="1515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416" name="对象 616462"/>
            <p:cNvGraphicFramePr/>
            <p:nvPr/>
          </p:nvGraphicFramePr>
          <p:xfrm>
            <a:off x="2230" y="1659"/>
            <a:ext cx="33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4" r:id="rId9" imgW="356870" imgH="178435" progId="Equation.3">
                    <p:embed/>
                  </p:oleObj>
                </mc:Choice>
                <mc:Fallback>
                  <p:oleObj r:id="rId9" imgW="356870" imgH="178435" progId="Equation.3">
                    <p:embed/>
                    <p:pic>
                      <p:nvPicPr>
                        <p:cNvPr id="0" name="对象 61646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0" y="1659"/>
                          <a:ext cx="335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17" name="对象 616463"/>
            <p:cNvGraphicFramePr/>
            <p:nvPr/>
          </p:nvGraphicFramePr>
          <p:xfrm>
            <a:off x="2640" y="2112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5" r:id="rId11" imgW="111760" imgH="133985" progId="Equation.3">
                    <p:embed/>
                  </p:oleObj>
                </mc:Choice>
                <mc:Fallback>
                  <p:oleObj r:id="rId11" imgW="111760" imgH="133985" progId="Equation.3">
                    <p:embed/>
                    <p:pic>
                      <p:nvPicPr>
                        <p:cNvPr id="0" name="对象 61646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112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18" name="对象 616459"/>
            <p:cNvGraphicFramePr/>
            <p:nvPr/>
          </p:nvGraphicFramePr>
          <p:xfrm>
            <a:off x="1854" y="1475"/>
            <a:ext cx="195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6" r:id="rId13" imgW="177165" imgH="215900" progId="Equation.3">
                    <p:embed/>
                  </p:oleObj>
                </mc:Choice>
                <mc:Fallback>
                  <p:oleObj r:id="rId13" imgW="177165" imgH="215900" progId="Equation.3">
                    <p:embed/>
                    <p:pic>
                      <p:nvPicPr>
                        <p:cNvPr id="0" name="对象 61645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4" y="1475"/>
                          <a:ext cx="195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6465" name="组合 616464"/>
          <p:cNvGrpSpPr/>
          <p:nvPr/>
        </p:nvGrpSpPr>
        <p:grpSpPr bwMode="auto">
          <a:xfrm>
            <a:off x="1717675" y="3502025"/>
            <a:ext cx="2608263" cy="2005013"/>
            <a:chOff x="1488" y="2736"/>
            <a:chExt cx="1373" cy="1346"/>
          </a:xfrm>
        </p:grpSpPr>
        <p:sp>
          <p:nvSpPr>
            <p:cNvPr id="101407" name="任意多边形 616465"/>
            <p:cNvSpPr>
              <a:spLocks noChangeArrowheads="1"/>
            </p:cNvSpPr>
            <p:nvPr/>
          </p:nvSpPr>
          <p:spPr bwMode="auto">
            <a:xfrm>
              <a:off x="1635" y="2915"/>
              <a:ext cx="974" cy="1167"/>
            </a:xfrm>
            <a:custGeom>
              <a:avLst/>
              <a:gdLst>
                <a:gd name="T0" fmla="*/ 974 w 974"/>
                <a:gd name="T1" fmla="*/ 715 h 1167"/>
                <a:gd name="T2" fmla="*/ 609 w 974"/>
                <a:gd name="T3" fmla="*/ 72 h 1167"/>
                <a:gd name="T4" fmla="*/ 458 w 974"/>
                <a:gd name="T5" fmla="*/ 1167 h 1167"/>
                <a:gd name="T6" fmla="*/ 304 w 974"/>
                <a:gd name="T7" fmla="*/ 72 h 1167"/>
                <a:gd name="T8" fmla="*/ 0 w 974"/>
                <a:gd name="T9" fmla="*/ 735 h 11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4" h="1167">
                  <a:moveTo>
                    <a:pt x="974" y="715"/>
                  </a:moveTo>
                  <a:cubicBezTo>
                    <a:pt x="645" y="613"/>
                    <a:pt x="694" y="68"/>
                    <a:pt x="609" y="72"/>
                  </a:cubicBezTo>
                  <a:cubicBezTo>
                    <a:pt x="523" y="147"/>
                    <a:pt x="509" y="1167"/>
                    <a:pt x="458" y="1167"/>
                  </a:cubicBezTo>
                  <a:cubicBezTo>
                    <a:pt x="407" y="1167"/>
                    <a:pt x="380" y="144"/>
                    <a:pt x="304" y="72"/>
                  </a:cubicBezTo>
                  <a:cubicBezTo>
                    <a:pt x="228" y="0"/>
                    <a:pt x="280" y="592"/>
                    <a:pt x="0" y="735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08" name="直接连接符 616466"/>
            <p:cNvSpPr>
              <a:spLocks noChangeShapeType="1"/>
            </p:cNvSpPr>
            <p:nvPr/>
          </p:nvSpPr>
          <p:spPr bwMode="auto">
            <a:xfrm>
              <a:off x="1488" y="3647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09" name="直接连接符 616467"/>
            <p:cNvSpPr>
              <a:spLocks noChangeShapeType="1"/>
            </p:cNvSpPr>
            <p:nvPr/>
          </p:nvSpPr>
          <p:spPr bwMode="auto">
            <a:xfrm flipV="1">
              <a:off x="2089" y="2975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410" name="对象 616468"/>
            <p:cNvGraphicFramePr/>
            <p:nvPr/>
          </p:nvGraphicFramePr>
          <p:xfrm>
            <a:off x="2352" y="3168"/>
            <a:ext cx="359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7" r:id="rId15" imgW="379095" imgH="178435" progId="Equation.3">
                    <p:embed/>
                  </p:oleObj>
                </mc:Choice>
                <mc:Fallback>
                  <p:oleObj r:id="rId15" imgW="379095" imgH="178435" progId="Equation.3">
                    <p:embed/>
                    <p:pic>
                      <p:nvPicPr>
                        <p:cNvPr id="0" name="对象 61646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3168"/>
                          <a:ext cx="359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11" name="对象 616469"/>
            <p:cNvGraphicFramePr/>
            <p:nvPr/>
          </p:nvGraphicFramePr>
          <p:xfrm>
            <a:off x="1920" y="2736"/>
            <a:ext cx="223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8" r:id="rId17" imgW="200660" imgH="222885" progId="Equation.3">
                    <p:embed/>
                  </p:oleObj>
                </mc:Choice>
                <mc:Fallback>
                  <p:oleObj r:id="rId17" imgW="200660" imgH="222885" progId="Equation.3">
                    <p:embed/>
                    <p:pic>
                      <p:nvPicPr>
                        <p:cNvPr id="0" name="对象 61646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736"/>
                          <a:ext cx="223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12" name="对象 616470"/>
            <p:cNvGraphicFramePr/>
            <p:nvPr/>
          </p:nvGraphicFramePr>
          <p:xfrm>
            <a:off x="2688" y="3600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9" r:id="rId19" imgW="111760" imgH="133985" progId="Equation.3">
                    <p:embed/>
                  </p:oleObj>
                </mc:Choice>
                <mc:Fallback>
                  <p:oleObj r:id="rId19" imgW="111760" imgH="133985" progId="Equation.3">
                    <p:embed/>
                    <p:pic>
                      <p:nvPicPr>
                        <p:cNvPr id="0" name="对象 61647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3600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6472" name="组合 616471"/>
          <p:cNvGrpSpPr/>
          <p:nvPr/>
        </p:nvGrpSpPr>
        <p:grpSpPr bwMode="auto">
          <a:xfrm>
            <a:off x="5286375" y="207963"/>
            <a:ext cx="2103438" cy="1535112"/>
            <a:chOff x="3360" y="288"/>
            <a:chExt cx="1325" cy="960"/>
          </a:xfrm>
        </p:grpSpPr>
        <p:graphicFrame>
          <p:nvGraphicFramePr>
            <p:cNvPr id="101400" name="对象 616472"/>
            <p:cNvGraphicFramePr/>
            <p:nvPr/>
          </p:nvGraphicFramePr>
          <p:xfrm>
            <a:off x="3495" y="288"/>
            <a:ext cx="424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90" r:id="rId21" imgW="323215" imgH="290195" progId="Equation.3">
                    <p:embed/>
                  </p:oleObj>
                </mc:Choice>
                <mc:Fallback>
                  <p:oleObj r:id="rId21" imgW="323215" imgH="290195" progId="Equation.3">
                    <p:embed/>
                    <p:pic>
                      <p:nvPicPr>
                        <p:cNvPr id="0" name="对象 61647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5" y="288"/>
                          <a:ext cx="424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401" name="组合 616473"/>
            <p:cNvGrpSpPr/>
            <p:nvPr/>
          </p:nvGrpSpPr>
          <p:grpSpPr bwMode="auto">
            <a:xfrm>
              <a:off x="3360" y="384"/>
              <a:ext cx="1200" cy="744"/>
              <a:chOff x="3360" y="384"/>
              <a:chExt cx="1200" cy="744"/>
            </a:xfrm>
          </p:grpSpPr>
          <p:sp>
            <p:nvSpPr>
              <p:cNvPr id="101404" name="任意多边形 616474"/>
              <p:cNvSpPr>
                <a:spLocks noChangeArrowheads="1"/>
              </p:cNvSpPr>
              <p:nvPr/>
            </p:nvSpPr>
            <p:spPr bwMode="auto">
              <a:xfrm>
                <a:off x="3589" y="541"/>
                <a:ext cx="749" cy="587"/>
              </a:xfrm>
              <a:custGeom>
                <a:avLst/>
                <a:gdLst>
                  <a:gd name="T0" fmla="*/ 0 w 1256"/>
                  <a:gd name="T1" fmla="*/ 545 h 587"/>
                  <a:gd name="T2" fmla="*/ 131 w 1256"/>
                  <a:gd name="T3" fmla="*/ 0 h 587"/>
                  <a:gd name="T4" fmla="*/ 267 w 1256"/>
                  <a:gd name="T5" fmla="*/ 545 h 5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6" h="587">
                    <a:moveTo>
                      <a:pt x="0" y="545"/>
                    </a:moveTo>
                    <a:cubicBezTo>
                      <a:pt x="509" y="560"/>
                      <a:pt x="407" y="0"/>
                      <a:pt x="616" y="0"/>
                    </a:cubicBezTo>
                    <a:cubicBezTo>
                      <a:pt x="825" y="0"/>
                      <a:pt x="803" y="587"/>
                      <a:pt x="1256" y="545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405" name="直接连接符 616475"/>
              <p:cNvSpPr>
                <a:spLocks noChangeShapeType="1"/>
              </p:cNvSpPr>
              <p:nvPr/>
            </p:nvSpPr>
            <p:spPr bwMode="auto">
              <a:xfrm>
                <a:off x="3360" y="1104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406" name="直接连接符 616476"/>
              <p:cNvSpPr>
                <a:spLocks noChangeShapeType="1"/>
              </p:cNvSpPr>
              <p:nvPr/>
            </p:nvSpPr>
            <p:spPr bwMode="auto">
              <a:xfrm flipV="1">
                <a:off x="3961" y="384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01402" name="对象 616477"/>
            <p:cNvGraphicFramePr/>
            <p:nvPr/>
          </p:nvGraphicFramePr>
          <p:xfrm>
            <a:off x="4080" y="576"/>
            <a:ext cx="360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91" r:id="rId23" imgW="379095" imgH="178435" progId="Equation.3">
                    <p:embed/>
                  </p:oleObj>
                </mc:Choice>
                <mc:Fallback>
                  <p:oleObj r:id="rId23" imgW="379095" imgH="178435" progId="Equation.3">
                    <p:embed/>
                    <p:pic>
                      <p:nvPicPr>
                        <p:cNvPr id="0" name="对象 61647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576"/>
                          <a:ext cx="360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03" name="对象 616478"/>
            <p:cNvGraphicFramePr/>
            <p:nvPr/>
          </p:nvGraphicFramePr>
          <p:xfrm>
            <a:off x="4512" y="1056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92" r:id="rId25" imgW="111760" imgH="133985" progId="Equation.3">
                    <p:embed/>
                  </p:oleObj>
                </mc:Choice>
                <mc:Fallback>
                  <p:oleObj r:id="rId25" imgW="111760" imgH="133985" progId="Equation.3">
                    <p:embed/>
                    <p:pic>
                      <p:nvPicPr>
                        <p:cNvPr id="0" name="对象 61647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056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6480" name="组合 616479"/>
          <p:cNvGrpSpPr/>
          <p:nvPr/>
        </p:nvGrpSpPr>
        <p:grpSpPr bwMode="auto">
          <a:xfrm>
            <a:off x="5286375" y="3459163"/>
            <a:ext cx="2133600" cy="1841500"/>
            <a:chOff x="3360" y="2688"/>
            <a:chExt cx="1344" cy="1152"/>
          </a:xfrm>
        </p:grpSpPr>
        <p:graphicFrame>
          <p:nvGraphicFramePr>
            <p:cNvPr id="101394" name="对象 616480"/>
            <p:cNvGraphicFramePr/>
            <p:nvPr/>
          </p:nvGraphicFramePr>
          <p:xfrm>
            <a:off x="3762" y="2688"/>
            <a:ext cx="423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93" r:id="rId27" imgW="323215" imgH="290195" progId="Equation.3">
                    <p:embed/>
                  </p:oleObj>
                </mc:Choice>
                <mc:Fallback>
                  <p:oleObj r:id="rId27" imgW="323215" imgH="290195" progId="Equation.3">
                    <p:embed/>
                    <p:pic>
                      <p:nvPicPr>
                        <p:cNvPr id="0" name="对象 61648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2" y="2688"/>
                          <a:ext cx="423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95" name="直接连接符 616481"/>
            <p:cNvSpPr>
              <a:spLocks noChangeShapeType="1"/>
            </p:cNvSpPr>
            <p:nvPr/>
          </p:nvSpPr>
          <p:spPr bwMode="auto">
            <a:xfrm>
              <a:off x="3360" y="3688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6" name="任意多边形 616482"/>
            <p:cNvSpPr>
              <a:spLocks noChangeArrowheads="1"/>
            </p:cNvSpPr>
            <p:nvPr/>
          </p:nvSpPr>
          <p:spPr bwMode="auto">
            <a:xfrm>
              <a:off x="3465" y="2956"/>
              <a:ext cx="960" cy="776"/>
            </a:xfrm>
            <a:custGeom>
              <a:avLst/>
              <a:gdLst>
                <a:gd name="T0" fmla="*/ 960 w 960"/>
                <a:gd name="T1" fmla="*/ 724 h 776"/>
                <a:gd name="T2" fmla="*/ 761 w 960"/>
                <a:gd name="T3" fmla="*/ 9 h 776"/>
                <a:gd name="T4" fmla="*/ 643 w 960"/>
                <a:gd name="T5" fmla="*/ 738 h 776"/>
                <a:gd name="T6" fmla="*/ 489 w 960"/>
                <a:gd name="T7" fmla="*/ 236 h 776"/>
                <a:gd name="T8" fmla="*/ 319 w 960"/>
                <a:gd name="T9" fmla="*/ 731 h 776"/>
                <a:gd name="T10" fmla="*/ 223 w 960"/>
                <a:gd name="T11" fmla="*/ 2 h 776"/>
                <a:gd name="T12" fmla="*/ 0 w 960"/>
                <a:gd name="T13" fmla="*/ 744 h 7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0" h="776">
                  <a:moveTo>
                    <a:pt x="960" y="724"/>
                  </a:moveTo>
                  <a:cubicBezTo>
                    <a:pt x="809" y="723"/>
                    <a:pt x="814" y="7"/>
                    <a:pt x="761" y="9"/>
                  </a:cubicBezTo>
                  <a:cubicBezTo>
                    <a:pt x="708" y="12"/>
                    <a:pt x="689" y="701"/>
                    <a:pt x="643" y="738"/>
                  </a:cubicBezTo>
                  <a:cubicBezTo>
                    <a:pt x="598" y="776"/>
                    <a:pt x="543" y="237"/>
                    <a:pt x="489" y="236"/>
                  </a:cubicBezTo>
                  <a:cubicBezTo>
                    <a:pt x="435" y="235"/>
                    <a:pt x="363" y="770"/>
                    <a:pt x="319" y="731"/>
                  </a:cubicBezTo>
                  <a:cubicBezTo>
                    <a:pt x="275" y="692"/>
                    <a:pt x="276" y="0"/>
                    <a:pt x="223" y="2"/>
                  </a:cubicBezTo>
                  <a:cubicBezTo>
                    <a:pt x="171" y="5"/>
                    <a:pt x="196" y="564"/>
                    <a:pt x="0" y="74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7" name="直接连接符 616483"/>
            <p:cNvSpPr>
              <a:spLocks noChangeShapeType="1"/>
            </p:cNvSpPr>
            <p:nvPr/>
          </p:nvSpPr>
          <p:spPr bwMode="auto">
            <a:xfrm flipV="1">
              <a:off x="3961" y="3072"/>
              <a:ext cx="0" cy="6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398" name="对象 616484"/>
            <p:cNvGraphicFramePr/>
            <p:nvPr/>
          </p:nvGraphicFramePr>
          <p:xfrm>
            <a:off x="4320" y="3072"/>
            <a:ext cx="359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94" r:id="rId29" imgW="379095" imgH="178435" progId="Equation.3">
                    <p:embed/>
                  </p:oleObj>
                </mc:Choice>
                <mc:Fallback>
                  <p:oleObj r:id="rId29" imgW="379095" imgH="178435" progId="Equation.3">
                    <p:embed/>
                    <p:pic>
                      <p:nvPicPr>
                        <p:cNvPr id="0" name="对象 61648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3072"/>
                          <a:ext cx="359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399" name="对象 616485"/>
            <p:cNvGraphicFramePr/>
            <p:nvPr/>
          </p:nvGraphicFramePr>
          <p:xfrm>
            <a:off x="4531" y="3648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95" r:id="rId31" imgW="111760" imgH="133985" progId="Equation.3">
                    <p:embed/>
                  </p:oleObj>
                </mc:Choice>
                <mc:Fallback>
                  <p:oleObj r:id="rId31" imgW="111760" imgH="133985" progId="Equation.3">
                    <p:embed/>
                    <p:pic>
                      <p:nvPicPr>
                        <p:cNvPr id="0" name="对象 61648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1" y="3648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6487" name="组合 616486"/>
          <p:cNvGrpSpPr/>
          <p:nvPr/>
        </p:nvGrpSpPr>
        <p:grpSpPr bwMode="auto">
          <a:xfrm>
            <a:off x="5281613" y="1619250"/>
            <a:ext cx="2103437" cy="1995488"/>
            <a:chOff x="3357" y="1200"/>
            <a:chExt cx="1325" cy="1248"/>
          </a:xfrm>
        </p:grpSpPr>
        <p:graphicFrame>
          <p:nvGraphicFramePr>
            <p:cNvPr id="101388" name="对象 616487"/>
            <p:cNvGraphicFramePr/>
            <p:nvPr/>
          </p:nvGraphicFramePr>
          <p:xfrm>
            <a:off x="3789" y="1200"/>
            <a:ext cx="406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96" r:id="rId33" imgW="312420" imgH="290195" progId="Equation.3">
                    <p:embed/>
                  </p:oleObj>
                </mc:Choice>
                <mc:Fallback>
                  <p:oleObj r:id="rId33" imgW="312420" imgH="290195" progId="Equation.3">
                    <p:embed/>
                    <p:pic>
                      <p:nvPicPr>
                        <p:cNvPr id="0" name="对象 61648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9" y="1200"/>
                          <a:ext cx="406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89" name="任意多边形 616488"/>
            <p:cNvSpPr>
              <a:spLocks noChangeArrowheads="1"/>
            </p:cNvSpPr>
            <p:nvPr/>
          </p:nvSpPr>
          <p:spPr bwMode="auto">
            <a:xfrm>
              <a:off x="3491" y="1607"/>
              <a:ext cx="974" cy="672"/>
            </a:xfrm>
            <a:custGeom>
              <a:avLst/>
              <a:gdLst>
                <a:gd name="T0" fmla="*/ 813 w 1066"/>
                <a:gd name="T1" fmla="*/ 379 h 878"/>
                <a:gd name="T2" fmla="*/ 508 w 1066"/>
                <a:gd name="T3" fmla="*/ 2 h 878"/>
                <a:gd name="T4" fmla="*/ 384 w 1066"/>
                <a:gd name="T5" fmla="*/ 393 h 878"/>
                <a:gd name="T6" fmla="*/ 254 w 1066"/>
                <a:gd name="T7" fmla="*/ 2 h 878"/>
                <a:gd name="T8" fmla="*/ 0 w 1066"/>
                <a:gd name="T9" fmla="*/ 391 h 8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6" h="878">
                  <a:moveTo>
                    <a:pt x="1066" y="845"/>
                  </a:moveTo>
                  <a:cubicBezTo>
                    <a:pt x="706" y="712"/>
                    <a:pt x="760" y="0"/>
                    <a:pt x="666" y="5"/>
                  </a:cubicBezTo>
                  <a:cubicBezTo>
                    <a:pt x="572" y="10"/>
                    <a:pt x="558" y="878"/>
                    <a:pt x="503" y="878"/>
                  </a:cubicBezTo>
                  <a:cubicBezTo>
                    <a:pt x="448" y="878"/>
                    <a:pt x="417" y="6"/>
                    <a:pt x="333" y="5"/>
                  </a:cubicBezTo>
                  <a:cubicBezTo>
                    <a:pt x="249" y="4"/>
                    <a:pt x="306" y="685"/>
                    <a:pt x="0" y="87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0" name="直接连接符 616489"/>
            <p:cNvSpPr>
              <a:spLocks noChangeShapeType="1"/>
            </p:cNvSpPr>
            <p:nvPr/>
          </p:nvSpPr>
          <p:spPr bwMode="auto">
            <a:xfrm>
              <a:off x="3357" y="2271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391" name="对象 616490"/>
            <p:cNvGraphicFramePr/>
            <p:nvPr/>
          </p:nvGraphicFramePr>
          <p:xfrm>
            <a:off x="4198" y="1680"/>
            <a:ext cx="33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97" r:id="rId35" imgW="356870" imgH="178435" progId="Equation.3">
                    <p:embed/>
                  </p:oleObj>
                </mc:Choice>
                <mc:Fallback>
                  <p:oleObj r:id="rId35" imgW="356870" imgH="178435" progId="Equation.3">
                    <p:embed/>
                    <p:pic>
                      <p:nvPicPr>
                        <p:cNvPr id="0" name="对象 61649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8" y="1680"/>
                          <a:ext cx="335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392" name="对象 616491"/>
            <p:cNvGraphicFramePr/>
            <p:nvPr/>
          </p:nvGraphicFramePr>
          <p:xfrm>
            <a:off x="4509" y="2256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98" r:id="rId37" imgW="111760" imgH="133985" progId="Equation.3">
                    <p:embed/>
                  </p:oleObj>
                </mc:Choice>
                <mc:Fallback>
                  <p:oleObj r:id="rId37" imgW="111760" imgH="133985" progId="Equation.3">
                    <p:embed/>
                    <p:pic>
                      <p:nvPicPr>
                        <p:cNvPr id="0" name="对象 61649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9" y="2256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93" name="直接连接符 616492"/>
            <p:cNvSpPr>
              <a:spLocks noChangeShapeType="1"/>
            </p:cNvSpPr>
            <p:nvPr/>
          </p:nvSpPr>
          <p:spPr bwMode="auto">
            <a:xfrm flipV="1">
              <a:off x="3947" y="1536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6494" name="文本框 616493"/>
          <p:cNvSpPr txBox="1">
            <a:spLocks noChangeArrowheads="1"/>
          </p:cNvSpPr>
          <p:nvPr/>
        </p:nvSpPr>
        <p:spPr bwMode="auto">
          <a:xfrm>
            <a:off x="7893050" y="412750"/>
            <a:ext cx="671513" cy="510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aseline="0">
                <a:solidFill>
                  <a:srgbClr val="CC3300"/>
                </a:solidFill>
                <a:ea typeface="华文新魏" panose="02010800040101010101" pitchFamily="2" charset="-122"/>
              </a:rPr>
              <a:t>线性谐振子位置概率密度</a:t>
            </a:r>
          </a:p>
        </p:txBody>
      </p:sp>
      <p:sp>
        <p:nvSpPr>
          <p:cNvPr id="616508" name="矩形 616507"/>
          <p:cNvSpPr/>
          <p:nvPr/>
        </p:nvSpPr>
        <p:spPr>
          <a:xfrm>
            <a:off x="215900" y="5486400"/>
            <a:ext cx="9396413" cy="895350"/>
          </a:xfrm>
          <a:prstGeom prst="rect">
            <a:avLst/>
          </a:prstGeom>
          <a:noFill/>
          <a:ln w="317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b="1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谐振子：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当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为偶数时，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ψ</a:t>
            </a:r>
            <a:r>
              <a:rPr lang="en-US" altLang="zh-CN" b="1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(-x)=ψ</a:t>
            </a:r>
            <a:r>
              <a:rPr lang="en-US" altLang="zh-CN" b="1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(x)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，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        当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为奇数时，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ψ</a:t>
            </a:r>
            <a:r>
              <a:rPr lang="en-US" altLang="zh-CN" b="1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(-x) = -ψ</a:t>
            </a:r>
            <a:r>
              <a:rPr lang="en-US" altLang="zh-CN" b="1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(x)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616509" name="矩形 616508"/>
          <p:cNvSpPr/>
          <p:nvPr/>
        </p:nvSpPr>
        <p:spPr>
          <a:xfrm>
            <a:off x="36513" y="6381750"/>
            <a:ext cx="9540875" cy="457200"/>
          </a:xfrm>
          <a:prstGeom prst="rect">
            <a:avLst/>
          </a:prstGeom>
          <a:noFill/>
          <a:ln w="317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这一性质，源于势能函数具有空间反演不变性，即 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U(-x)=U(x)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1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1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1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61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1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1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616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61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50" grpId="0"/>
      <p:bldP spid="616494" grpId="0"/>
      <p:bldP spid="616508" grpId="0"/>
      <p:bldP spid="61650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474" name="组合 617473"/>
          <p:cNvGrpSpPr/>
          <p:nvPr/>
        </p:nvGrpSpPr>
        <p:grpSpPr bwMode="auto">
          <a:xfrm>
            <a:off x="2936875" y="333375"/>
            <a:ext cx="4630738" cy="3429000"/>
            <a:chOff x="2707" y="216"/>
            <a:chExt cx="2917" cy="2425"/>
          </a:xfrm>
        </p:grpSpPr>
        <p:sp>
          <p:nvSpPr>
            <p:cNvPr id="102417" name="直接连接符 617474"/>
            <p:cNvSpPr>
              <a:spLocks noChangeShapeType="1"/>
            </p:cNvSpPr>
            <p:nvPr/>
          </p:nvSpPr>
          <p:spPr bwMode="auto">
            <a:xfrm>
              <a:off x="2850" y="2341"/>
              <a:ext cx="25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18" name="任意多边形 617475"/>
            <p:cNvSpPr>
              <a:spLocks noChangeArrowheads="1"/>
            </p:cNvSpPr>
            <p:nvPr/>
          </p:nvSpPr>
          <p:spPr bwMode="auto">
            <a:xfrm>
              <a:off x="3468" y="404"/>
              <a:ext cx="1110" cy="1921"/>
            </a:xfrm>
            <a:custGeom>
              <a:avLst/>
              <a:gdLst>
                <a:gd name="T0" fmla="*/ 0 w 3360"/>
                <a:gd name="T1" fmla="*/ 0 h 3750"/>
                <a:gd name="T2" fmla="*/ 62 w 3360"/>
                <a:gd name="T3" fmla="*/ 504 h 3750"/>
                <a:gd name="T4" fmla="*/ 121 w 3360"/>
                <a:gd name="T5" fmla="*/ 0 h 37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0" h="3750">
                  <a:moveTo>
                    <a:pt x="0" y="0"/>
                  </a:moveTo>
                  <a:cubicBezTo>
                    <a:pt x="575" y="1875"/>
                    <a:pt x="1150" y="3750"/>
                    <a:pt x="1710" y="3750"/>
                  </a:cubicBezTo>
                  <a:cubicBezTo>
                    <a:pt x="2270" y="3750"/>
                    <a:pt x="2815" y="1875"/>
                    <a:pt x="3360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19" name="任意多边形 617476"/>
            <p:cNvSpPr>
              <a:spLocks noChangeArrowheads="1"/>
            </p:cNvSpPr>
            <p:nvPr/>
          </p:nvSpPr>
          <p:spPr bwMode="auto">
            <a:xfrm>
              <a:off x="3770" y="1919"/>
              <a:ext cx="534" cy="262"/>
            </a:xfrm>
            <a:custGeom>
              <a:avLst/>
              <a:gdLst>
                <a:gd name="T0" fmla="*/ 0 w 1770"/>
                <a:gd name="T1" fmla="*/ 142 h 348"/>
                <a:gd name="T2" fmla="*/ 24 w 1770"/>
                <a:gd name="T3" fmla="*/ 2 h 348"/>
                <a:gd name="T4" fmla="*/ 49 w 1770"/>
                <a:gd name="T5" fmla="*/ 148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0" name="任意多边形 617477"/>
            <p:cNvSpPr>
              <a:spLocks noChangeArrowheads="1"/>
            </p:cNvSpPr>
            <p:nvPr/>
          </p:nvSpPr>
          <p:spPr bwMode="auto">
            <a:xfrm>
              <a:off x="3672" y="1581"/>
              <a:ext cx="304" cy="262"/>
            </a:xfrm>
            <a:custGeom>
              <a:avLst/>
              <a:gdLst>
                <a:gd name="T0" fmla="*/ 0 w 1770"/>
                <a:gd name="T1" fmla="*/ 142 h 348"/>
                <a:gd name="T2" fmla="*/ 4 w 1770"/>
                <a:gd name="T3" fmla="*/ 2 h 348"/>
                <a:gd name="T4" fmla="*/ 9 w 1770"/>
                <a:gd name="T5" fmla="*/ 148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1" name="任意多边形 617478"/>
            <p:cNvSpPr>
              <a:spLocks noChangeArrowheads="1"/>
            </p:cNvSpPr>
            <p:nvPr/>
          </p:nvSpPr>
          <p:spPr bwMode="auto">
            <a:xfrm>
              <a:off x="4071" y="1579"/>
              <a:ext cx="310" cy="263"/>
            </a:xfrm>
            <a:custGeom>
              <a:avLst/>
              <a:gdLst>
                <a:gd name="T0" fmla="*/ 0 w 1770"/>
                <a:gd name="T1" fmla="*/ 144 h 348"/>
                <a:gd name="T2" fmla="*/ 5 w 1770"/>
                <a:gd name="T3" fmla="*/ 2 h 348"/>
                <a:gd name="T4" fmla="*/ 9 w 1770"/>
                <a:gd name="T5" fmla="*/ 150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2" name="任意多边形 617479"/>
            <p:cNvSpPr>
              <a:spLocks noChangeArrowheads="1"/>
            </p:cNvSpPr>
            <p:nvPr/>
          </p:nvSpPr>
          <p:spPr bwMode="auto">
            <a:xfrm>
              <a:off x="3629" y="1202"/>
              <a:ext cx="283" cy="316"/>
            </a:xfrm>
            <a:custGeom>
              <a:avLst/>
              <a:gdLst>
                <a:gd name="T0" fmla="*/ 0 w 1770"/>
                <a:gd name="T1" fmla="*/ 249 h 348"/>
                <a:gd name="T2" fmla="*/ 4 w 1770"/>
                <a:gd name="T3" fmla="*/ 3 h 348"/>
                <a:gd name="T4" fmla="*/ 7 w 1770"/>
                <a:gd name="T5" fmla="*/ 261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3" name="任意多边形 617480"/>
            <p:cNvSpPr>
              <a:spLocks noChangeArrowheads="1"/>
            </p:cNvSpPr>
            <p:nvPr/>
          </p:nvSpPr>
          <p:spPr bwMode="auto">
            <a:xfrm>
              <a:off x="4142" y="1202"/>
              <a:ext cx="281" cy="316"/>
            </a:xfrm>
            <a:custGeom>
              <a:avLst/>
              <a:gdLst>
                <a:gd name="T0" fmla="*/ 0 w 1770"/>
                <a:gd name="T1" fmla="*/ 249 h 348"/>
                <a:gd name="T2" fmla="*/ 3 w 1770"/>
                <a:gd name="T3" fmla="*/ 3 h 348"/>
                <a:gd name="T4" fmla="*/ 7 w 1770"/>
                <a:gd name="T5" fmla="*/ 261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4" name="任意多边形 617481"/>
            <p:cNvSpPr>
              <a:spLocks noChangeArrowheads="1"/>
            </p:cNvSpPr>
            <p:nvPr/>
          </p:nvSpPr>
          <p:spPr bwMode="auto">
            <a:xfrm>
              <a:off x="3958" y="1332"/>
              <a:ext cx="146" cy="186"/>
            </a:xfrm>
            <a:custGeom>
              <a:avLst/>
              <a:gdLst>
                <a:gd name="T0" fmla="*/ 0 w 1770"/>
                <a:gd name="T1" fmla="*/ 51 h 348"/>
                <a:gd name="T2" fmla="*/ 0 w 1770"/>
                <a:gd name="T3" fmla="*/ 1 h 348"/>
                <a:gd name="T4" fmla="*/ 1 w 1770"/>
                <a:gd name="T5" fmla="*/ 53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5" name="直接连接符 617482"/>
            <p:cNvSpPr>
              <a:spLocks noChangeShapeType="1"/>
            </p:cNvSpPr>
            <p:nvPr/>
          </p:nvSpPr>
          <p:spPr bwMode="auto">
            <a:xfrm>
              <a:off x="3081" y="897"/>
              <a:ext cx="196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6" name="任意多边形 617483"/>
            <p:cNvSpPr>
              <a:spLocks noChangeArrowheads="1"/>
            </p:cNvSpPr>
            <p:nvPr/>
          </p:nvSpPr>
          <p:spPr bwMode="auto">
            <a:xfrm>
              <a:off x="3475" y="481"/>
              <a:ext cx="1075" cy="264"/>
            </a:xfrm>
            <a:custGeom>
              <a:avLst/>
              <a:gdLst>
                <a:gd name="T0" fmla="*/ 0 w 3270"/>
                <a:gd name="T1" fmla="*/ 4 h 515"/>
                <a:gd name="T2" fmla="*/ 55 w 3270"/>
                <a:gd name="T3" fmla="*/ 69 h 515"/>
                <a:gd name="T4" fmla="*/ 116 w 3270"/>
                <a:gd name="T5" fmla="*/ 0 h 5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70" h="515">
                  <a:moveTo>
                    <a:pt x="0" y="30"/>
                  </a:moveTo>
                  <a:cubicBezTo>
                    <a:pt x="500" y="272"/>
                    <a:pt x="1000" y="515"/>
                    <a:pt x="1545" y="510"/>
                  </a:cubicBezTo>
                  <a:cubicBezTo>
                    <a:pt x="2090" y="505"/>
                    <a:pt x="2680" y="252"/>
                    <a:pt x="327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7" name="直接连接符 617484"/>
            <p:cNvSpPr>
              <a:spLocks noChangeShapeType="1"/>
            </p:cNvSpPr>
            <p:nvPr/>
          </p:nvSpPr>
          <p:spPr bwMode="auto">
            <a:xfrm>
              <a:off x="4213" y="2048"/>
              <a:ext cx="84" cy="107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8" name="任意多边形 617485"/>
            <p:cNvSpPr>
              <a:spLocks noChangeArrowheads="1"/>
            </p:cNvSpPr>
            <p:nvPr/>
          </p:nvSpPr>
          <p:spPr bwMode="auto">
            <a:xfrm flipH="1" flipV="1">
              <a:off x="4222" y="2042"/>
              <a:ext cx="246" cy="12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9" name="直接连接符 617486"/>
            <p:cNvSpPr>
              <a:spLocks noChangeShapeType="1"/>
            </p:cNvSpPr>
            <p:nvPr/>
          </p:nvSpPr>
          <p:spPr bwMode="auto">
            <a:xfrm flipH="1">
              <a:off x="3763" y="2065"/>
              <a:ext cx="85" cy="108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0" name="任意多边形 617487"/>
            <p:cNvSpPr>
              <a:spLocks noChangeArrowheads="1"/>
            </p:cNvSpPr>
            <p:nvPr/>
          </p:nvSpPr>
          <p:spPr bwMode="auto">
            <a:xfrm flipV="1">
              <a:off x="3604" y="2040"/>
              <a:ext cx="246" cy="12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1" name="任意多边形 617488"/>
            <p:cNvSpPr>
              <a:spLocks noChangeArrowheads="1"/>
            </p:cNvSpPr>
            <p:nvPr/>
          </p:nvSpPr>
          <p:spPr bwMode="auto">
            <a:xfrm>
              <a:off x="4311" y="1712"/>
              <a:ext cx="70" cy="130"/>
            </a:xfrm>
            <a:custGeom>
              <a:avLst/>
              <a:gdLst>
                <a:gd name="T0" fmla="*/ 0 w 150"/>
                <a:gd name="T1" fmla="*/ 0 h 255"/>
                <a:gd name="T2" fmla="*/ 7 w 150"/>
                <a:gd name="T3" fmla="*/ 14 h 255"/>
                <a:gd name="T4" fmla="*/ 15 w 150"/>
                <a:gd name="T5" fmla="*/ 34 h 2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0" h="255">
                  <a:moveTo>
                    <a:pt x="0" y="0"/>
                  </a:moveTo>
                  <a:cubicBezTo>
                    <a:pt x="25" y="31"/>
                    <a:pt x="50" y="62"/>
                    <a:pt x="75" y="105"/>
                  </a:cubicBezTo>
                  <a:cubicBezTo>
                    <a:pt x="100" y="148"/>
                    <a:pt x="125" y="201"/>
                    <a:pt x="150" y="255"/>
                  </a:cubicBezTo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2" name="任意多边形 617489"/>
            <p:cNvSpPr>
              <a:spLocks noChangeArrowheads="1"/>
            </p:cNvSpPr>
            <p:nvPr/>
          </p:nvSpPr>
          <p:spPr bwMode="auto">
            <a:xfrm flipH="1" flipV="1">
              <a:off x="4325" y="1704"/>
              <a:ext cx="246" cy="1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3" name="文本框 617490"/>
            <p:cNvSpPr txBox="1">
              <a:spLocks noChangeArrowheads="1"/>
            </p:cNvSpPr>
            <p:nvPr/>
          </p:nvSpPr>
          <p:spPr bwMode="auto">
            <a:xfrm>
              <a:off x="3889" y="1704"/>
              <a:ext cx="303" cy="1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1000" baseline="0"/>
            </a:p>
          </p:txBody>
        </p:sp>
        <p:sp>
          <p:nvSpPr>
            <p:cNvPr id="102434" name="任意多边形 617491"/>
            <p:cNvSpPr>
              <a:spLocks noChangeArrowheads="1"/>
            </p:cNvSpPr>
            <p:nvPr/>
          </p:nvSpPr>
          <p:spPr bwMode="auto">
            <a:xfrm>
              <a:off x="3918" y="1689"/>
              <a:ext cx="204" cy="147"/>
            </a:xfrm>
            <a:custGeom>
              <a:avLst/>
              <a:gdLst>
                <a:gd name="T0" fmla="*/ 0 w 285"/>
                <a:gd name="T1" fmla="*/ 2 h 287"/>
                <a:gd name="T2" fmla="*/ 55 w 285"/>
                <a:gd name="T3" fmla="*/ 38 h 287"/>
                <a:gd name="T4" fmla="*/ 105 w 285"/>
                <a:gd name="T5" fmla="*/ 0 h 2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5" h="287">
                  <a:moveTo>
                    <a:pt x="0" y="15"/>
                  </a:moveTo>
                  <a:cubicBezTo>
                    <a:pt x="51" y="151"/>
                    <a:pt x="103" y="287"/>
                    <a:pt x="150" y="285"/>
                  </a:cubicBezTo>
                  <a:cubicBezTo>
                    <a:pt x="197" y="283"/>
                    <a:pt x="241" y="141"/>
                    <a:pt x="285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5" name="任意多边形 617492"/>
            <p:cNvSpPr>
              <a:spLocks noChangeArrowheads="1"/>
            </p:cNvSpPr>
            <p:nvPr/>
          </p:nvSpPr>
          <p:spPr bwMode="auto">
            <a:xfrm>
              <a:off x="3672" y="1713"/>
              <a:ext cx="63" cy="139"/>
            </a:xfrm>
            <a:custGeom>
              <a:avLst/>
              <a:gdLst>
                <a:gd name="T0" fmla="*/ 17 w 120"/>
                <a:gd name="T1" fmla="*/ 0 h 225"/>
                <a:gd name="T2" fmla="*/ 7 w 120"/>
                <a:gd name="T3" fmla="*/ 22 h 225"/>
                <a:gd name="T4" fmla="*/ 0 w 120"/>
                <a:gd name="T5" fmla="*/ 53 h 2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225">
                  <a:moveTo>
                    <a:pt x="120" y="0"/>
                  </a:moveTo>
                  <a:cubicBezTo>
                    <a:pt x="92" y="26"/>
                    <a:pt x="65" y="52"/>
                    <a:pt x="45" y="90"/>
                  </a:cubicBezTo>
                  <a:cubicBezTo>
                    <a:pt x="25" y="128"/>
                    <a:pt x="12" y="195"/>
                    <a:pt x="0" y="225"/>
                  </a:cubicBezTo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6" name="任意多边形 617493"/>
            <p:cNvSpPr>
              <a:spLocks noChangeArrowheads="1"/>
            </p:cNvSpPr>
            <p:nvPr/>
          </p:nvSpPr>
          <p:spPr bwMode="auto">
            <a:xfrm flipV="1">
              <a:off x="3475" y="1704"/>
              <a:ext cx="246" cy="1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7" name="直接连接符 617494"/>
            <p:cNvSpPr>
              <a:spLocks noChangeShapeType="1"/>
            </p:cNvSpPr>
            <p:nvPr/>
          </p:nvSpPr>
          <p:spPr bwMode="auto">
            <a:xfrm>
              <a:off x="3054" y="1849"/>
              <a:ext cx="196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8" name="文本框 617495"/>
            <p:cNvSpPr txBox="1">
              <a:spLocks noChangeArrowheads="1"/>
            </p:cNvSpPr>
            <p:nvPr/>
          </p:nvSpPr>
          <p:spPr bwMode="auto">
            <a:xfrm>
              <a:off x="3869" y="1427"/>
              <a:ext cx="323" cy="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1000" baseline="0"/>
            </a:p>
          </p:txBody>
        </p:sp>
        <p:sp>
          <p:nvSpPr>
            <p:cNvPr id="102439" name="任意多边形 617496"/>
            <p:cNvSpPr>
              <a:spLocks noChangeArrowheads="1"/>
            </p:cNvSpPr>
            <p:nvPr/>
          </p:nvSpPr>
          <p:spPr bwMode="auto">
            <a:xfrm>
              <a:off x="3882" y="1405"/>
              <a:ext cx="99" cy="125"/>
            </a:xfrm>
            <a:custGeom>
              <a:avLst/>
              <a:gdLst>
                <a:gd name="T0" fmla="*/ 0 w 135"/>
                <a:gd name="T1" fmla="*/ 4 h 245"/>
                <a:gd name="T2" fmla="*/ 29 w 135"/>
                <a:gd name="T3" fmla="*/ 32 h 245"/>
                <a:gd name="T4" fmla="*/ 54 w 135"/>
                <a:gd name="T5" fmla="*/ 0 h 2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5" h="245">
                  <a:moveTo>
                    <a:pt x="0" y="30"/>
                  </a:moveTo>
                  <a:cubicBezTo>
                    <a:pt x="26" y="137"/>
                    <a:pt x="53" y="245"/>
                    <a:pt x="75" y="240"/>
                  </a:cubicBezTo>
                  <a:cubicBezTo>
                    <a:pt x="97" y="235"/>
                    <a:pt x="116" y="117"/>
                    <a:pt x="135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0" name="任意多边形 617497"/>
            <p:cNvSpPr>
              <a:spLocks noChangeArrowheads="1"/>
            </p:cNvSpPr>
            <p:nvPr/>
          </p:nvSpPr>
          <p:spPr bwMode="auto">
            <a:xfrm flipH="1">
              <a:off x="4072" y="1405"/>
              <a:ext cx="98" cy="125"/>
            </a:xfrm>
            <a:custGeom>
              <a:avLst/>
              <a:gdLst>
                <a:gd name="T0" fmla="*/ 0 w 135"/>
                <a:gd name="T1" fmla="*/ 4 h 245"/>
                <a:gd name="T2" fmla="*/ 28 w 135"/>
                <a:gd name="T3" fmla="*/ 32 h 245"/>
                <a:gd name="T4" fmla="*/ 52 w 135"/>
                <a:gd name="T5" fmla="*/ 0 h 2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5" h="245">
                  <a:moveTo>
                    <a:pt x="0" y="30"/>
                  </a:moveTo>
                  <a:cubicBezTo>
                    <a:pt x="26" y="137"/>
                    <a:pt x="53" y="245"/>
                    <a:pt x="75" y="240"/>
                  </a:cubicBezTo>
                  <a:cubicBezTo>
                    <a:pt x="97" y="235"/>
                    <a:pt x="116" y="117"/>
                    <a:pt x="135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1" name="任意多边形 617498"/>
            <p:cNvSpPr>
              <a:spLocks noChangeArrowheads="1"/>
            </p:cNvSpPr>
            <p:nvPr/>
          </p:nvSpPr>
          <p:spPr bwMode="auto">
            <a:xfrm>
              <a:off x="4390" y="1405"/>
              <a:ext cx="36" cy="115"/>
            </a:xfrm>
            <a:custGeom>
              <a:avLst/>
              <a:gdLst>
                <a:gd name="T0" fmla="*/ 0 w 75"/>
                <a:gd name="T1" fmla="*/ 0 h 225"/>
                <a:gd name="T2" fmla="*/ 8 w 75"/>
                <a:gd name="T3" fmla="*/ 30 h 2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5" h="225">
                  <a:moveTo>
                    <a:pt x="0" y="0"/>
                  </a:moveTo>
                  <a:cubicBezTo>
                    <a:pt x="31" y="93"/>
                    <a:pt x="62" y="187"/>
                    <a:pt x="75" y="225"/>
                  </a:cubicBezTo>
                </a:path>
              </a:pathLst>
            </a:custGeom>
            <a:noFill/>
            <a:ln w="7620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2" name="任意多边形 617499"/>
            <p:cNvSpPr>
              <a:spLocks noChangeArrowheads="1"/>
            </p:cNvSpPr>
            <p:nvPr/>
          </p:nvSpPr>
          <p:spPr bwMode="auto">
            <a:xfrm flipH="1" flipV="1">
              <a:off x="4390" y="1405"/>
              <a:ext cx="281" cy="12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3" name="直接连接符 617500"/>
            <p:cNvSpPr>
              <a:spLocks noChangeShapeType="1"/>
            </p:cNvSpPr>
            <p:nvPr/>
          </p:nvSpPr>
          <p:spPr bwMode="auto">
            <a:xfrm flipH="1">
              <a:off x="3622" y="1397"/>
              <a:ext cx="36" cy="123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4" name="任意多边形 617501"/>
            <p:cNvSpPr>
              <a:spLocks noChangeArrowheads="1"/>
            </p:cNvSpPr>
            <p:nvPr/>
          </p:nvSpPr>
          <p:spPr bwMode="auto">
            <a:xfrm flipV="1">
              <a:off x="3370" y="1381"/>
              <a:ext cx="295" cy="15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5" name="直接连接符 617502"/>
            <p:cNvSpPr>
              <a:spLocks noChangeShapeType="1"/>
            </p:cNvSpPr>
            <p:nvPr/>
          </p:nvSpPr>
          <p:spPr bwMode="auto">
            <a:xfrm>
              <a:off x="3054" y="1542"/>
              <a:ext cx="196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6" name="直接连接符 617503"/>
            <p:cNvSpPr>
              <a:spLocks noChangeShapeType="1"/>
            </p:cNvSpPr>
            <p:nvPr/>
          </p:nvSpPr>
          <p:spPr bwMode="auto">
            <a:xfrm flipV="1">
              <a:off x="4030" y="375"/>
              <a:ext cx="0" cy="196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7" name="文本框 617504"/>
            <p:cNvSpPr txBox="1">
              <a:spLocks noChangeArrowheads="1"/>
            </p:cNvSpPr>
            <p:nvPr/>
          </p:nvSpPr>
          <p:spPr bwMode="auto">
            <a:xfrm>
              <a:off x="5378" y="2181"/>
              <a:ext cx="24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 i="1" baseline="0"/>
                <a:t>x</a:t>
              </a:r>
            </a:p>
          </p:txBody>
        </p:sp>
        <p:sp>
          <p:nvSpPr>
            <p:cNvPr id="102448" name="文本框 617505"/>
            <p:cNvSpPr txBox="1">
              <a:spLocks noChangeArrowheads="1"/>
            </p:cNvSpPr>
            <p:nvPr/>
          </p:nvSpPr>
          <p:spPr bwMode="auto">
            <a:xfrm>
              <a:off x="4455" y="886"/>
              <a:ext cx="63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baseline="0">
                  <a:solidFill>
                    <a:srgbClr val="0000FF"/>
                  </a:solidFill>
                </a:rPr>
                <a:t>n</a:t>
              </a:r>
              <a:r>
                <a:rPr lang="zh-CN" altLang="en-US" sz="2400" b="1" baseline="0">
                  <a:solidFill>
                    <a:srgbClr val="0000FF"/>
                  </a:solidFill>
                </a:rPr>
                <a:t>很大</a:t>
              </a:r>
            </a:p>
          </p:txBody>
        </p:sp>
        <p:sp>
          <p:nvSpPr>
            <p:cNvPr id="102449" name="文本框 617506"/>
            <p:cNvSpPr txBox="1">
              <a:spLocks noChangeArrowheads="1"/>
            </p:cNvSpPr>
            <p:nvPr/>
          </p:nvSpPr>
          <p:spPr bwMode="auto">
            <a:xfrm>
              <a:off x="2722" y="740"/>
              <a:ext cx="592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0000FF"/>
                  </a:solidFill>
                </a:rPr>
                <a:t>E</a:t>
              </a:r>
              <a:r>
                <a:rPr lang="en-US" altLang="zh-CN" sz="2800" b="1" i="1" baseline="-25000">
                  <a:solidFill>
                    <a:srgbClr val="0000FF"/>
                  </a:solidFill>
                </a:rPr>
                <a:t>n</a:t>
              </a:r>
              <a:endParaRPr lang="en-US" altLang="zh-CN" sz="2800" baseline="0">
                <a:solidFill>
                  <a:srgbClr val="0000FF"/>
                </a:solidFill>
              </a:endParaRPr>
            </a:p>
          </p:txBody>
        </p:sp>
        <p:sp>
          <p:nvSpPr>
            <p:cNvPr id="102450" name="文本框 617507"/>
            <p:cNvSpPr txBox="1">
              <a:spLocks noChangeArrowheads="1"/>
            </p:cNvSpPr>
            <p:nvPr/>
          </p:nvSpPr>
          <p:spPr bwMode="auto">
            <a:xfrm>
              <a:off x="2714" y="1675"/>
              <a:ext cx="611" cy="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0000FF"/>
                  </a:solidFill>
                </a:rPr>
                <a:t>E</a:t>
              </a:r>
              <a:r>
                <a:rPr lang="en-US" altLang="zh-CN" sz="2800" b="1" baseline="-25000">
                  <a:solidFill>
                    <a:srgbClr val="0000FF"/>
                  </a:solidFill>
                </a:rPr>
                <a:t>1</a:t>
              </a:r>
              <a:endParaRPr lang="en-US" altLang="zh-CN" sz="2800" baseline="0">
                <a:solidFill>
                  <a:srgbClr val="0000FF"/>
                </a:solidFill>
              </a:endParaRPr>
            </a:p>
          </p:txBody>
        </p:sp>
        <p:sp>
          <p:nvSpPr>
            <p:cNvPr id="102451" name="文本框 617508"/>
            <p:cNvSpPr txBox="1">
              <a:spLocks noChangeArrowheads="1"/>
            </p:cNvSpPr>
            <p:nvPr/>
          </p:nvSpPr>
          <p:spPr bwMode="auto">
            <a:xfrm>
              <a:off x="2707" y="1367"/>
              <a:ext cx="602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0000FF"/>
                  </a:solidFill>
                </a:rPr>
                <a:t>E</a:t>
              </a:r>
              <a:r>
                <a:rPr lang="en-US" altLang="zh-CN" sz="2800" b="1" baseline="-25000">
                  <a:solidFill>
                    <a:srgbClr val="0000FF"/>
                  </a:solidFill>
                </a:rPr>
                <a:t>2</a:t>
              </a:r>
              <a:endParaRPr lang="en-US" altLang="zh-CN" sz="2800" baseline="0">
                <a:solidFill>
                  <a:srgbClr val="0000FF"/>
                </a:solidFill>
              </a:endParaRPr>
            </a:p>
          </p:txBody>
        </p:sp>
        <p:sp>
          <p:nvSpPr>
            <p:cNvPr id="102452" name="文本框 617509"/>
            <p:cNvSpPr txBox="1">
              <a:spLocks noChangeArrowheads="1"/>
            </p:cNvSpPr>
            <p:nvPr/>
          </p:nvSpPr>
          <p:spPr bwMode="auto">
            <a:xfrm>
              <a:off x="2710" y="1996"/>
              <a:ext cx="495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>
                  <a:solidFill>
                    <a:srgbClr val="0000FF"/>
                  </a:solidFill>
                </a:rPr>
                <a:t>E</a:t>
              </a:r>
              <a:r>
                <a:rPr lang="en-US" altLang="zh-CN" sz="2800" b="1" baseline="-25000">
                  <a:solidFill>
                    <a:srgbClr val="0000FF"/>
                  </a:solidFill>
                </a:rPr>
                <a:t>0</a:t>
              </a:r>
              <a:endParaRPr lang="en-US" altLang="zh-CN" sz="2800" baseline="0">
                <a:solidFill>
                  <a:srgbClr val="0000FF"/>
                </a:solidFill>
              </a:endParaRPr>
            </a:p>
          </p:txBody>
        </p:sp>
        <p:sp>
          <p:nvSpPr>
            <p:cNvPr id="102453" name="文本框 617510"/>
            <p:cNvSpPr txBox="1">
              <a:spLocks noChangeArrowheads="1"/>
            </p:cNvSpPr>
            <p:nvPr/>
          </p:nvSpPr>
          <p:spPr bwMode="auto">
            <a:xfrm>
              <a:off x="3917" y="2303"/>
              <a:ext cx="246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baseline="0"/>
                <a:t>0</a:t>
              </a:r>
            </a:p>
          </p:txBody>
        </p:sp>
        <p:sp>
          <p:nvSpPr>
            <p:cNvPr id="102454" name="文本框 617511"/>
            <p:cNvSpPr txBox="1">
              <a:spLocks noChangeArrowheads="1"/>
            </p:cNvSpPr>
            <p:nvPr/>
          </p:nvSpPr>
          <p:spPr bwMode="auto">
            <a:xfrm>
              <a:off x="3495" y="216"/>
              <a:ext cx="65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baseline="0"/>
                <a:t>U</a:t>
              </a:r>
              <a:r>
                <a:rPr lang="en-US" altLang="zh-CN" sz="2800" b="1" baseline="0"/>
                <a:t>(</a:t>
              </a:r>
              <a:r>
                <a:rPr lang="en-US" altLang="zh-CN" sz="2800" b="1" i="1" baseline="0"/>
                <a:t>x</a:t>
              </a:r>
              <a:r>
                <a:rPr lang="en-US" altLang="zh-CN" sz="2800" b="1" baseline="0"/>
                <a:t>)</a:t>
              </a:r>
            </a:p>
          </p:txBody>
        </p:sp>
        <p:graphicFrame>
          <p:nvGraphicFramePr>
            <p:cNvPr id="102455" name="对象 617512"/>
            <p:cNvGraphicFramePr/>
            <p:nvPr/>
          </p:nvGraphicFramePr>
          <p:xfrm>
            <a:off x="5130" y="1588"/>
            <a:ext cx="458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2" r:id="rId3" imgW="334645" imgH="290195" progId="Equation.3">
                    <p:embed/>
                  </p:oleObj>
                </mc:Choice>
                <mc:Fallback>
                  <p:oleObj r:id="rId3" imgW="334645" imgH="290195" progId="Equation.3">
                    <p:embed/>
                    <p:pic>
                      <p:nvPicPr>
                        <p:cNvPr id="0" name="对象 6175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0" y="1588"/>
                          <a:ext cx="458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56" name="对象 617513"/>
            <p:cNvGraphicFramePr/>
            <p:nvPr/>
          </p:nvGraphicFramePr>
          <p:xfrm>
            <a:off x="5109" y="677"/>
            <a:ext cx="458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3" r:id="rId5" imgW="356870" imgH="312420" progId="Equation.3">
                    <p:embed/>
                  </p:oleObj>
                </mc:Choice>
                <mc:Fallback>
                  <p:oleObj r:id="rId5" imgW="356870" imgH="312420" progId="Equation.3">
                    <p:embed/>
                    <p:pic>
                      <p:nvPicPr>
                        <p:cNvPr id="0" name="对象 6175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9" y="677"/>
                          <a:ext cx="458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57" name="对象 617514"/>
            <p:cNvGraphicFramePr/>
            <p:nvPr/>
          </p:nvGraphicFramePr>
          <p:xfrm>
            <a:off x="5111" y="1242"/>
            <a:ext cx="458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4" r:id="rId7" imgW="334645" imgH="290195" progId="Equation.3">
                    <p:embed/>
                  </p:oleObj>
                </mc:Choice>
                <mc:Fallback>
                  <p:oleObj r:id="rId7" imgW="334645" imgH="290195" progId="Equation.3">
                    <p:embed/>
                    <p:pic>
                      <p:nvPicPr>
                        <p:cNvPr id="0" name="对象 6175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1" y="1242"/>
                          <a:ext cx="458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58" name="对象 617515"/>
            <p:cNvGraphicFramePr/>
            <p:nvPr/>
          </p:nvGraphicFramePr>
          <p:xfrm>
            <a:off x="5137" y="1939"/>
            <a:ext cx="43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5" r:id="rId9" imgW="334645" imgH="312420" progId="Equation.3">
                    <p:embed/>
                  </p:oleObj>
                </mc:Choice>
                <mc:Fallback>
                  <p:oleObj r:id="rId9" imgW="334645" imgH="312420" progId="Equation.3">
                    <p:embed/>
                    <p:pic>
                      <p:nvPicPr>
                        <p:cNvPr id="0" name="对象 6175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7" y="1939"/>
                          <a:ext cx="43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59" name="直接连接符 617516"/>
            <p:cNvSpPr>
              <a:spLocks noChangeShapeType="1"/>
            </p:cNvSpPr>
            <p:nvPr/>
          </p:nvSpPr>
          <p:spPr bwMode="auto">
            <a:xfrm>
              <a:off x="3068" y="2170"/>
              <a:ext cx="196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7518" name="文本框 617517"/>
          <p:cNvSpPr txBox="1">
            <a:spLocks noChangeArrowheads="1"/>
          </p:cNvSpPr>
          <p:nvPr/>
        </p:nvSpPr>
        <p:spPr bwMode="auto">
          <a:xfrm>
            <a:off x="395288" y="188913"/>
            <a:ext cx="4900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aseline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aseline="0">
                <a:latin typeface="黑体" panose="02010609060101010101" pitchFamily="49" charset="-122"/>
                <a:ea typeface="黑体" panose="02010609060101010101" pitchFamily="49" charset="-122"/>
              </a:rPr>
              <a:t>概率密度的特点  </a:t>
            </a:r>
          </a:p>
        </p:txBody>
      </p:sp>
      <p:sp>
        <p:nvSpPr>
          <p:cNvPr id="617519" name="文本框 617518"/>
          <p:cNvSpPr txBox="1"/>
          <p:nvPr/>
        </p:nvSpPr>
        <p:spPr>
          <a:xfrm>
            <a:off x="509588" y="3698875"/>
            <a:ext cx="60483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(1)</a:t>
            </a:r>
            <a:r>
              <a:rPr lang="en-US" altLang="zh-CN" b="1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</a:t>
            </a: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概率在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|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E|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&gt;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U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区仍有分布</a:t>
            </a:r>
            <a:endParaRPr lang="zh-CN" altLang="en-US" b="1" baseline="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17520" name="文本框 617519"/>
          <p:cNvSpPr txBox="1"/>
          <p:nvPr/>
        </p:nvSpPr>
        <p:spPr>
          <a:xfrm>
            <a:off x="4438650" y="3702050"/>
            <a:ext cx="36464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—— </a:t>
            </a:r>
            <a:r>
              <a:rPr lang="zh-CN" altLang="en-US" b="1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隧道效应</a:t>
            </a:r>
          </a:p>
        </p:txBody>
      </p:sp>
      <p:sp>
        <p:nvSpPr>
          <p:cNvPr id="617521" name="文本框 617520"/>
          <p:cNvSpPr txBox="1"/>
          <p:nvPr/>
        </p:nvSpPr>
        <p:spPr>
          <a:xfrm>
            <a:off x="395288" y="4752975"/>
            <a:ext cx="1725612" cy="1863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例如基态位置概率分布在 </a:t>
            </a:r>
            <a:r>
              <a:rPr lang="en-US" altLang="zh-CN" b="1" i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x </a:t>
            </a:r>
            <a:r>
              <a:rPr lang="en-US" altLang="zh-CN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= 0 </a:t>
            </a: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处最大，</a:t>
            </a:r>
          </a:p>
        </p:txBody>
      </p:sp>
      <p:grpSp>
        <p:nvGrpSpPr>
          <p:cNvPr id="617523" name="组合 617522"/>
          <p:cNvGrpSpPr/>
          <p:nvPr/>
        </p:nvGrpSpPr>
        <p:grpSpPr bwMode="auto">
          <a:xfrm>
            <a:off x="2247900" y="4992688"/>
            <a:ext cx="2103438" cy="1536700"/>
            <a:chOff x="4051" y="472"/>
            <a:chExt cx="1325" cy="968"/>
          </a:xfrm>
        </p:grpSpPr>
        <p:graphicFrame>
          <p:nvGraphicFramePr>
            <p:cNvPr id="102410" name="对象 617523"/>
            <p:cNvGraphicFramePr/>
            <p:nvPr/>
          </p:nvGraphicFramePr>
          <p:xfrm>
            <a:off x="4177" y="472"/>
            <a:ext cx="442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6" r:id="rId11" imgW="317500" imgH="292100" progId="Equation.3">
                    <p:embed/>
                  </p:oleObj>
                </mc:Choice>
                <mc:Fallback>
                  <p:oleObj r:id="rId11" imgW="317500" imgH="292100" progId="Equation.3">
                    <p:embed/>
                    <p:pic>
                      <p:nvPicPr>
                        <p:cNvPr id="0" name="对象 6175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" y="472"/>
                          <a:ext cx="442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411" name="组合 617524"/>
            <p:cNvGrpSpPr/>
            <p:nvPr/>
          </p:nvGrpSpPr>
          <p:grpSpPr bwMode="auto">
            <a:xfrm>
              <a:off x="4051" y="576"/>
              <a:ext cx="1200" cy="744"/>
              <a:chOff x="3360" y="384"/>
              <a:chExt cx="1200" cy="744"/>
            </a:xfrm>
          </p:grpSpPr>
          <p:sp>
            <p:nvSpPr>
              <p:cNvPr id="102414" name="任意多边形 617525"/>
              <p:cNvSpPr>
                <a:spLocks noChangeArrowheads="1"/>
              </p:cNvSpPr>
              <p:nvPr/>
            </p:nvSpPr>
            <p:spPr bwMode="auto">
              <a:xfrm>
                <a:off x="3589" y="541"/>
                <a:ext cx="749" cy="587"/>
              </a:xfrm>
              <a:custGeom>
                <a:avLst/>
                <a:gdLst>
                  <a:gd name="T0" fmla="*/ 0 w 1256"/>
                  <a:gd name="T1" fmla="*/ 545 h 587"/>
                  <a:gd name="T2" fmla="*/ 131 w 1256"/>
                  <a:gd name="T3" fmla="*/ 0 h 587"/>
                  <a:gd name="T4" fmla="*/ 267 w 1256"/>
                  <a:gd name="T5" fmla="*/ 545 h 5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6" h="587">
                    <a:moveTo>
                      <a:pt x="0" y="545"/>
                    </a:moveTo>
                    <a:cubicBezTo>
                      <a:pt x="509" y="560"/>
                      <a:pt x="407" y="0"/>
                      <a:pt x="616" y="0"/>
                    </a:cubicBezTo>
                    <a:cubicBezTo>
                      <a:pt x="825" y="0"/>
                      <a:pt x="803" y="587"/>
                      <a:pt x="1256" y="545"/>
                    </a:cubicBezTo>
                  </a:path>
                </a:pathLst>
              </a:custGeom>
              <a:noFill/>
              <a:ln w="2857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15" name="直接连接符 617526"/>
              <p:cNvSpPr>
                <a:spLocks noChangeShapeType="1"/>
              </p:cNvSpPr>
              <p:nvPr/>
            </p:nvSpPr>
            <p:spPr bwMode="auto">
              <a:xfrm>
                <a:off x="3360" y="1104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16" name="直接连接符 617527"/>
              <p:cNvSpPr>
                <a:spLocks noChangeShapeType="1"/>
              </p:cNvSpPr>
              <p:nvPr/>
            </p:nvSpPr>
            <p:spPr bwMode="auto">
              <a:xfrm flipV="1">
                <a:off x="3961" y="384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02412" name="对象 617528"/>
            <p:cNvGraphicFramePr/>
            <p:nvPr/>
          </p:nvGraphicFramePr>
          <p:xfrm>
            <a:off x="4764" y="768"/>
            <a:ext cx="374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7" r:id="rId13" imgW="367665" imgH="177800" progId="Equation.3">
                    <p:embed/>
                  </p:oleObj>
                </mc:Choice>
                <mc:Fallback>
                  <p:oleObj r:id="rId13" imgW="367665" imgH="177800" progId="Equation.3">
                    <p:embed/>
                    <p:pic>
                      <p:nvPicPr>
                        <p:cNvPr id="0" name="对象 6175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4" y="768"/>
                          <a:ext cx="374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13" name="对象 617529"/>
            <p:cNvGraphicFramePr/>
            <p:nvPr/>
          </p:nvGraphicFramePr>
          <p:xfrm>
            <a:off x="5203" y="1248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8" r:id="rId15" imgW="127000" imgH="139700" progId="Equation.3">
                    <p:embed/>
                  </p:oleObj>
                </mc:Choice>
                <mc:Fallback>
                  <p:oleObj r:id="rId15" imgW="127000" imgH="139700" progId="Equation.3">
                    <p:embed/>
                    <p:pic>
                      <p:nvPicPr>
                        <p:cNvPr id="0" name="对象 61752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3" y="1248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7531" name="文本框 617530"/>
          <p:cNvSpPr txBox="1"/>
          <p:nvPr/>
        </p:nvSpPr>
        <p:spPr>
          <a:xfrm>
            <a:off x="503238" y="4268788"/>
            <a:ext cx="861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(2)  </a:t>
            </a:r>
            <a:r>
              <a:rPr lang="en-US" altLang="zh-CN" b="1" i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zh-CN" altLang="zh-CN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小时，概率分布与经典谐振子完全不同</a:t>
            </a:r>
            <a:endParaRPr lang="en-US" altLang="zh-CN" b="1" baseline="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18556" name="矩形 618555"/>
          <p:cNvSpPr/>
          <p:nvPr/>
        </p:nvSpPr>
        <p:spPr>
          <a:xfrm>
            <a:off x="5148263" y="4838700"/>
            <a:ext cx="3884612" cy="2070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zh-CN" altLang="en-US" sz="36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经典</a:t>
            </a:r>
            <a:r>
              <a:rPr lang="zh-CN" altLang="en-US" sz="3600" noProof="1">
                <a:effectLst>
                  <a:outerShdw blurRad="38100" dist="38100" dir="2700000">
                    <a:srgbClr val="C0C0C0"/>
                  </a:outerShdw>
                </a:effectLst>
              </a:rPr>
              <a:t>谐振子在</a:t>
            </a:r>
            <a:r>
              <a:rPr lang="zh-CN" altLang="en-US" sz="36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原点</a:t>
            </a:r>
            <a:r>
              <a:rPr lang="zh-CN" altLang="en-US" sz="3600" noProof="1">
                <a:effectLst>
                  <a:outerShdw blurRad="38100" dist="38100" dir="2700000">
                    <a:srgbClr val="C0C0C0"/>
                  </a:outerShdw>
                </a:effectLst>
              </a:rPr>
              <a:t>速度最大，停留时间短，粒子出现的</a:t>
            </a:r>
            <a:r>
              <a:rPr lang="zh-CN" altLang="en-US" sz="36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概率小；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3600" noProof="1">
                <a:effectLst>
                  <a:outerShdw blurRad="38100" dist="38100" dir="2700000">
                    <a:srgbClr val="C0C0C0"/>
                  </a:outerShdw>
                </a:effectLst>
              </a:rPr>
              <a:t>在</a:t>
            </a:r>
            <a:r>
              <a:rPr lang="zh-CN" altLang="en-US" sz="36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两端</a:t>
            </a:r>
            <a:r>
              <a:rPr lang="zh-CN" altLang="en-US" sz="3600" noProof="1">
                <a:effectLst>
                  <a:outerShdw blurRad="38100" dist="38100" dir="2700000">
                    <a:srgbClr val="C0C0C0"/>
                  </a:outerShdw>
                </a:effectLst>
              </a:rPr>
              <a:t>速度为零，出现的</a:t>
            </a:r>
            <a:r>
              <a:rPr lang="zh-CN" altLang="en-US" sz="36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概率最大。</a:t>
            </a:r>
            <a:endParaRPr lang="zh-CN" altLang="en-US" sz="3600" noProof="1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61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7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1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1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7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1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518" grpId="0"/>
      <p:bldP spid="617519" grpId="0"/>
      <p:bldP spid="617520" grpId="0"/>
      <p:bldP spid="617521" grpId="0" build="p"/>
      <p:bldP spid="617531" grpId="0"/>
      <p:bldP spid="61855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文本框 618497"/>
          <p:cNvSpPr txBox="1"/>
          <p:nvPr/>
        </p:nvSpPr>
        <p:spPr>
          <a:xfrm>
            <a:off x="468313" y="692150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(3) </a:t>
            </a: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当</a:t>
            </a:r>
            <a:r>
              <a:rPr lang="en-US" altLang="zh-CN" b="1" i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</a:t>
            </a:r>
            <a:r>
              <a:rPr lang="en-US" altLang="zh-CN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b="1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时，</a:t>
            </a:r>
          </a:p>
        </p:txBody>
      </p:sp>
      <p:sp>
        <p:nvSpPr>
          <p:cNvPr id="618499" name="文本框 618498"/>
          <p:cNvSpPr txBox="1"/>
          <p:nvPr/>
        </p:nvSpPr>
        <p:spPr>
          <a:xfrm>
            <a:off x="1008063" y="1412875"/>
            <a:ext cx="44577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符合</a:t>
            </a:r>
            <a:r>
              <a:rPr lang="zh-CN" altLang="en-US" b="1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玻尔对应原理。</a:t>
            </a:r>
          </a:p>
        </p:txBody>
      </p:sp>
      <p:sp>
        <p:nvSpPr>
          <p:cNvPr id="618500" name="矩形 618499"/>
          <p:cNvSpPr/>
          <p:nvPr/>
        </p:nvSpPr>
        <p:spPr>
          <a:xfrm>
            <a:off x="2784475" y="655638"/>
            <a:ext cx="3646488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b="1" baseline="0" noProof="1"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量子概率分布</a:t>
            </a:r>
          </a:p>
        </p:txBody>
      </p:sp>
      <p:grpSp>
        <p:nvGrpSpPr>
          <p:cNvPr id="618501" name="组合 618500"/>
          <p:cNvGrpSpPr/>
          <p:nvPr/>
        </p:nvGrpSpPr>
        <p:grpSpPr bwMode="auto">
          <a:xfrm>
            <a:off x="5472113" y="2466975"/>
            <a:ext cx="3302000" cy="2894013"/>
            <a:chOff x="4050" y="2100"/>
            <a:chExt cx="1710" cy="1499"/>
          </a:xfrm>
        </p:grpSpPr>
        <p:sp>
          <p:nvSpPr>
            <p:cNvPr id="103445" name="直接连接符 618501"/>
            <p:cNvSpPr>
              <a:spLocks noChangeShapeType="1"/>
            </p:cNvSpPr>
            <p:nvPr/>
          </p:nvSpPr>
          <p:spPr bwMode="auto">
            <a:xfrm>
              <a:off x="4050" y="3397"/>
              <a:ext cx="141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6" name="任意多边形 618502"/>
            <p:cNvSpPr>
              <a:spLocks noChangeArrowheads="1"/>
            </p:cNvSpPr>
            <p:nvPr/>
          </p:nvSpPr>
          <p:spPr bwMode="auto">
            <a:xfrm>
              <a:off x="4392" y="2324"/>
              <a:ext cx="615" cy="1064"/>
            </a:xfrm>
            <a:custGeom>
              <a:avLst/>
              <a:gdLst>
                <a:gd name="T0" fmla="*/ 0 w 3360"/>
                <a:gd name="T1" fmla="*/ 0 h 3750"/>
                <a:gd name="T2" fmla="*/ 10 w 3360"/>
                <a:gd name="T3" fmla="*/ 86 h 3750"/>
                <a:gd name="T4" fmla="*/ 21 w 3360"/>
                <a:gd name="T5" fmla="*/ 0 h 37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0" h="3750">
                  <a:moveTo>
                    <a:pt x="0" y="0"/>
                  </a:moveTo>
                  <a:cubicBezTo>
                    <a:pt x="575" y="1875"/>
                    <a:pt x="1150" y="3750"/>
                    <a:pt x="1710" y="3750"/>
                  </a:cubicBezTo>
                  <a:cubicBezTo>
                    <a:pt x="2270" y="3750"/>
                    <a:pt x="2815" y="1875"/>
                    <a:pt x="3360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7" name="任意多边形 618503"/>
            <p:cNvSpPr>
              <a:spLocks noChangeArrowheads="1"/>
            </p:cNvSpPr>
            <p:nvPr/>
          </p:nvSpPr>
          <p:spPr bwMode="auto">
            <a:xfrm>
              <a:off x="4560" y="3163"/>
              <a:ext cx="295" cy="145"/>
            </a:xfrm>
            <a:custGeom>
              <a:avLst/>
              <a:gdLst>
                <a:gd name="T0" fmla="*/ 0 w 1770"/>
                <a:gd name="T1" fmla="*/ 24 h 348"/>
                <a:gd name="T2" fmla="*/ 4 w 1770"/>
                <a:gd name="T3" fmla="*/ 0 h 348"/>
                <a:gd name="T4" fmla="*/ 8 w 1770"/>
                <a:gd name="T5" fmla="*/ 25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8" name="任意多边形 618504"/>
            <p:cNvSpPr>
              <a:spLocks noChangeArrowheads="1"/>
            </p:cNvSpPr>
            <p:nvPr/>
          </p:nvSpPr>
          <p:spPr bwMode="auto">
            <a:xfrm>
              <a:off x="4505" y="2976"/>
              <a:ext cx="169" cy="145"/>
            </a:xfrm>
            <a:custGeom>
              <a:avLst/>
              <a:gdLst>
                <a:gd name="T0" fmla="*/ 0 w 1770"/>
                <a:gd name="T1" fmla="*/ 24 h 348"/>
                <a:gd name="T2" fmla="*/ 1 w 1770"/>
                <a:gd name="T3" fmla="*/ 0 h 348"/>
                <a:gd name="T4" fmla="*/ 2 w 1770"/>
                <a:gd name="T5" fmla="*/ 25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9" name="任意多边形 618505"/>
            <p:cNvSpPr>
              <a:spLocks noChangeArrowheads="1"/>
            </p:cNvSpPr>
            <p:nvPr/>
          </p:nvSpPr>
          <p:spPr bwMode="auto">
            <a:xfrm>
              <a:off x="4726" y="2975"/>
              <a:ext cx="172" cy="146"/>
            </a:xfrm>
            <a:custGeom>
              <a:avLst/>
              <a:gdLst>
                <a:gd name="T0" fmla="*/ 0 w 1770"/>
                <a:gd name="T1" fmla="*/ 25 h 348"/>
                <a:gd name="T2" fmla="*/ 1 w 1770"/>
                <a:gd name="T3" fmla="*/ 0 h 348"/>
                <a:gd name="T4" fmla="*/ 2 w 1770"/>
                <a:gd name="T5" fmla="*/ 26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0" name="任意多边形 618506"/>
            <p:cNvSpPr>
              <a:spLocks noChangeArrowheads="1"/>
            </p:cNvSpPr>
            <p:nvPr/>
          </p:nvSpPr>
          <p:spPr bwMode="auto">
            <a:xfrm>
              <a:off x="4481" y="2766"/>
              <a:ext cx="157" cy="175"/>
            </a:xfrm>
            <a:custGeom>
              <a:avLst/>
              <a:gdLst>
                <a:gd name="T0" fmla="*/ 0 w 1770"/>
                <a:gd name="T1" fmla="*/ 42 h 348"/>
                <a:gd name="T2" fmla="*/ 1 w 1770"/>
                <a:gd name="T3" fmla="*/ 1 h 348"/>
                <a:gd name="T4" fmla="*/ 1 w 1770"/>
                <a:gd name="T5" fmla="*/ 44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1" name="任意多边形 618507"/>
            <p:cNvSpPr>
              <a:spLocks noChangeArrowheads="1"/>
            </p:cNvSpPr>
            <p:nvPr/>
          </p:nvSpPr>
          <p:spPr bwMode="auto">
            <a:xfrm>
              <a:off x="4765" y="2766"/>
              <a:ext cx="156" cy="175"/>
            </a:xfrm>
            <a:custGeom>
              <a:avLst/>
              <a:gdLst>
                <a:gd name="T0" fmla="*/ 0 w 1770"/>
                <a:gd name="T1" fmla="*/ 42 h 348"/>
                <a:gd name="T2" fmla="*/ 1 w 1770"/>
                <a:gd name="T3" fmla="*/ 1 h 348"/>
                <a:gd name="T4" fmla="*/ 1 w 1770"/>
                <a:gd name="T5" fmla="*/ 44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2" name="任意多边形 618508"/>
            <p:cNvSpPr>
              <a:spLocks noChangeArrowheads="1"/>
            </p:cNvSpPr>
            <p:nvPr/>
          </p:nvSpPr>
          <p:spPr bwMode="auto">
            <a:xfrm>
              <a:off x="4664" y="2838"/>
              <a:ext cx="80" cy="103"/>
            </a:xfrm>
            <a:custGeom>
              <a:avLst/>
              <a:gdLst>
                <a:gd name="T0" fmla="*/ 0 w 1770"/>
                <a:gd name="T1" fmla="*/ 9 h 348"/>
                <a:gd name="T2" fmla="*/ 0 w 1770"/>
                <a:gd name="T3" fmla="*/ 0 h 348"/>
                <a:gd name="T4" fmla="*/ 0 w 1770"/>
                <a:gd name="T5" fmla="*/ 9 h 3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0" h="348">
                  <a:moveTo>
                    <a:pt x="0" y="333"/>
                  </a:moveTo>
                  <a:cubicBezTo>
                    <a:pt x="295" y="166"/>
                    <a:pt x="590" y="0"/>
                    <a:pt x="885" y="3"/>
                  </a:cubicBezTo>
                  <a:cubicBezTo>
                    <a:pt x="1180" y="6"/>
                    <a:pt x="1475" y="177"/>
                    <a:pt x="1770" y="3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3" name="直接连接符 618509"/>
            <p:cNvSpPr>
              <a:spLocks noChangeShapeType="1"/>
            </p:cNvSpPr>
            <p:nvPr/>
          </p:nvSpPr>
          <p:spPr bwMode="auto">
            <a:xfrm>
              <a:off x="4178" y="2597"/>
              <a:ext cx="10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4" name="任意多边形 618510"/>
            <p:cNvSpPr>
              <a:spLocks noChangeArrowheads="1"/>
            </p:cNvSpPr>
            <p:nvPr/>
          </p:nvSpPr>
          <p:spPr bwMode="auto">
            <a:xfrm>
              <a:off x="4408" y="2367"/>
              <a:ext cx="595" cy="146"/>
            </a:xfrm>
            <a:custGeom>
              <a:avLst/>
              <a:gdLst>
                <a:gd name="T0" fmla="*/ 0 w 3270"/>
                <a:gd name="T1" fmla="*/ 1 h 515"/>
                <a:gd name="T2" fmla="*/ 9 w 3270"/>
                <a:gd name="T3" fmla="*/ 12 h 515"/>
                <a:gd name="T4" fmla="*/ 20 w 3270"/>
                <a:gd name="T5" fmla="*/ 0 h 5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70" h="515">
                  <a:moveTo>
                    <a:pt x="0" y="30"/>
                  </a:moveTo>
                  <a:cubicBezTo>
                    <a:pt x="500" y="272"/>
                    <a:pt x="1000" y="515"/>
                    <a:pt x="1545" y="510"/>
                  </a:cubicBezTo>
                  <a:cubicBezTo>
                    <a:pt x="2090" y="505"/>
                    <a:pt x="2680" y="252"/>
                    <a:pt x="327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5" name="直接连接符 618511"/>
            <p:cNvSpPr>
              <a:spLocks noChangeShapeType="1"/>
            </p:cNvSpPr>
            <p:nvPr/>
          </p:nvSpPr>
          <p:spPr bwMode="auto">
            <a:xfrm>
              <a:off x="4805" y="3235"/>
              <a:ext cx="46" cy="59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6" name="任意多边形 618512"/>
            <p:cNvSpPr>
              <a:spLocks noChangeArrowheads="1"/>
            </p:cNvSpPr>
            <p:nvPr/>
          </p:nvSpPr>
          <p:spPr bwMode="auto">
            <a:xfrm flipH="1" flipV="1">
              <a:off x="4810" y="3231"/>
              <a:ext cx="136" cy="6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7" name="直接连接符 618513"/>
            <p:cNvSpPr>
              <a:spLocks noChangeShapeType="1"/>
            </p:cNvSpPr>
            <p:nvPr/>
          </p:nvSpPr>
          <p:spPr bwMode="auto">
            <a:xfrm flipH="1">
              <a:off x="4556" y="3244"/>
              <a:ext cx="47" cy="6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8" name="任意多边形 618514"/>
            <p:cNvSpPr>
              <a:spLocks noChangeArrowheads="1"/>
            </p:cNvSpPr>
            <p:nvPr/>
          </p:nvSpPr>
          <p:spPr bwMode="auto">
            <a:xfrm flipV="1">
              <a:off x="4468" y="3230"/>
              <a:ext cx="136" cy="6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9" name="任意多边形 618515"/>
            <p:cNvSpPr>
              <a:spLocks noChangeArrowheads="1"/>
            </p:cNvSpPr>
            <p:nvPr/>
          </p:nvSpPr>
          <p:spPr bwMode="auto">
            <a:xfrm>
              <a:off x="4859" y="3049"/>
              <a:ext cx="39" cy="72"/>
            </a:xfrm>
            <a:custGeom>
              <a:avLst/>
              <a:gdLst>
                <a:gd name="T0" fmla="*/ 0 w 150"/>
                <a:gd name="T1" fmla="*/ 0 h 255"/>
                <a:gd name="T2" fmla="*/ 1 w 150"/>
                <a:gd name="T3" fmla="*/ 2 h 255"/>
                <a:gd name="T4" fmla="*/ 3 w 150"/>
                <a:gd name="T5" fmla="*/ 6 h 2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0" h="255">
                  <a:moveTo>
                    <a:pt x="0" y="0"/>
                  </a:moveTo>
                  <a:cubicBezTo>
                    <a:pt x="25" y="31"/>
                    <a:pt x="50" y="62"/>
                    <a:pt x="75" y="105"/>
                  </a:cubicBezTo>
                  <a:cubicBezTo>
                    <a:pt x="100" y="148"/>
                    <a:pt x="125" y="201"/>
                    <a:pt x="150" y="255"/>
                  </a:cubicBezTo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0" name="任意多边形 618516"/>
            <p:cNvSpPr>
              <a:spLocks noChangeArrowheads="1"/>
            </p:cNvSpPr>
            <p:nvPr/>
          </p:nvSpPr>
          <p:spPr bwMode="auto">
            <a:xfrm flipH="1" flipV="1">
              <a:off x="4867" y="3044"/>
              <a:ext cx="136" cy="7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1" name="文本框 618517"/>
            <p:cNvSpPr txBox="1">
              <a:spLocks noChangeArrowheads="1"/>
            </p:cNvSpPr>
            <p:nvPr/>
          </p:nvSpPr>
          <p:spPr bwMode="auto">
            <a:xfrm>
              <a:off x="4625" y="3044"/>
              <a:ext cx="168" cy="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2400" baseline="0">
                <a:ea typeface="黑体" panose="02010609060101010101" pitchFamily="49" charset="-122"/>
              </a:endParaRPr>
            </a:p>
          </p:txBody>
        </p:sp>
        <p:sp>
          <p:nvSpPr>
            <p:cNvPr id="103462" name="任意多边形 618518"/>
            <p:cNvSpPr>
              <a:spLocks noChangeArrowheads="1"/>
            </p:cNvSpPr>
            <p:nvPr/>
          </p:nvSpPr>
          <p:spPr bwMode="auto">
            <a:xfrm>
              <a:off x="4641" y="3036"/>
              <a:ext cx="113" cy="81"/>
            </a:xfrm>
            <a:custGeom>
              <a:avLst/>
              <a:gdLst>
                <a:gd name="T0" fmla="*/ 0 w 285"/>
                <a:gd name="T1" fmla="*/ 0 h 287"/>
                <a:gd name="T2" fmla="*/ 9 w 285"/>
                <a:gd name="T3" fmla="*/ 6 h 287"/>
                <a:gd name="T4" fmla="*/ 18 w 285"/>
                <a:gd name="T5" fmla="*/ 0 h 2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5" h="287">
                  <a:moveTo>
                    <a:pt x="0" y="15"/>
                  </a:moveTo>
                  <a:cubicBezTo>
                    <a:pt x="51" y="151"/>
                    <a:pt x="103" y="287"/>
                    <a:pt x="150" y="285"/>
                  </a:cubicBezTo>
                  <a:cubicBezTo>
                    <a:pt x="197" y="283"/>
                    <a:pt x="241" y="141"/>
                    <a:pt x="285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3" name="任意多边形 618519"/>
            <p:cNvSpPr>
              <a:spLocks noChangeArrowheads="1"/>
            </p:cNvSpPr>
            <p:nvPr/>
          </p:nvSpPr>
          <p:spPr bwMode="auto">
            <a:xfrm>
              <a:off x="4505" y="3049"/>
              <a:ext cx="35" cy="77"/>
            </a:xfrm>
            <a:custGeom>
              <a:avLst/>
              <a:gdLst>
                <a:gd name="T0" fmla="*/ 3 w 120"/>
                <a:gd name="T1" fmla="*/ 0 h 225"/>
                <a:gd name="T2" fmla="*/ 1 w 120"/>
                <a:gd name="T3" fmla="*/ 4 h 225"/>
                <a:gd name="T4" fmla="*/ 0 w 120"/>
                <a:gd name="T5" fmla="*/ 9 h 2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225">
                  <a:moveTo>
                    <a:pt x="120" y="0"/>
                  </a:moveTo>
                  <a:cubicBezTo>
                    <a:pt x="92" y="26"/>
                    <a:pt x="65" y="52"/>
                    <a:pt x="45" y="90"/>
                  </a:cubicBezTo>
                  <a:cubicBezTo>
                    <a:pt x="25" y="128"/>
                    <a:pt x="12" y="195"/>
                    <a:pt x="0" y="225"/>
                  </a:cubicBezTo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4" name="任意多边形 618520"/>
            <p:cNvSpPr>
              <a:spLocks noChangeArrowheads="1"/>
            </p:cNvSpPr>
            <p:nvPr/>
          </p:nvSpPr>
          <p:spPr bwMode="auto">
            <a:xfrm flipV="1">
              <a:off x="4396" y="3044"/>
              <a:ext cx="136" cy="7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5" name="直接连接符 618521"/>
            <p:cNvSpPr>
              <a:spLocks noChangeShapeType="1"/>
            </p:cNvSpPr>
            <p:nvPr/>
          </p:nvSpPr>
          <p:spPr bwMode="auto">
            <a:xfrm>
              <a:off x="4163" y="3124"/>
              <a:ext cx="10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6" name="文本框 618522"/>
            <p:cNvSpPr txBox="1">
              <a:spLocks noChangeArrowheads="1"/>
            </p:cNvSpPr>
            <p:nvPr/>
          </p:nvSpPr>
          <p:spPr bwMode="auto">
            <a:xfrm>
              <a:off x="4614" y="2891"/>
              <a:ext cx="179" cy="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zh-CN" sz="2400" baseline="0">
                <a:ea typeface="黑体" panose="02010609060101010101" pitchFamily="49" charset="-122"/>
              </a:endParaRPr>
            </a:p>
          </p:txBody>
        </p:sp>
        <p:sp>
          <p:nvSpPr>
            <p:cNvPr id="103467" name="任意多边形 618523"/>
            <p:cNvSpPr>
              <a:spLocks noChangeArrowheads="1"/>
            </p:cNvSpPr>
            <p:nvPr/>
          </p:nvSpPr>
          <p:spPr bwMode="auto">
            <a:xfrm>
              <a:off x="4622" y="2878"/>
              <a:ext cx="54" cy="70"/>
            </a:xfrm>
            <a:custGeom>
              <a:avLst/>
              <a:gdLst>
                <a:gd name="T0" fmla="*/ 0 w 135"/>
                <a:gd name="T1" fmla="*/ 1 h 245"/>
                <a:gd name="T2" fmla="*/ 5 w 135"/>
                <a:gd name="T3" fmla="*/ 6 h 245"/>
                <a:gd name="T4" fmla="*/ 9 w 135"/>
                <a:gd name="T5" fmla="*/ 0 h 2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5" h="245">
                  <a:moveTo>
                    <a:pt x="0" y="30"/>
                  </a:moveTo>
                  <a:cubicBezTo>
                    <a:pt x="26" y="137"/>
                    <a:pt x="53" y="245"/>
                    <a:pt x="75" y="240"/>
                  </a:cubicBezTo>
                  <a:cubicBezTo>
                    <a:pt x="97" y="235"/>
                    <a:pt x="116" y="117"/>
                    <a:pt x="135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8" name="任意多边形 618524"/>
            <p:cNvSpPr>
              <a:spLocks noChangeArrowheads="1"/>
            </p:cNvSpPr>
            <p:nvPr/>
          </p:nvSpPr>
          <p:spPr bwMode="auto">
            <a:xfrm flipH="1">
              <a:off x="4727" y="2878"/>
              <a:ext cx="54" cy="70"/>
            </a:xfrm>
            <a:custGeom>
              <a:avLst/>
              <a:gdLst>
                <a:gd name="T0" fmla="*/ 0 w 135"/>
                <a:gd name="T1" fmla="*/ 1 h 245"/>
                <a:gd name="T2" fmla="*/ 5 w 135"/>
                <a:gd name="T3" fmla="*/ 6 h 245"/>
                <a:gd name="T4" fmla="*/ 9 w 135"/>
                <a:gd name="T5" fmla="*/ 0 h 2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5" h="245">
                  <a:moveTo>
                    <a:pt x="0" y="30"/>
                  </a:moveTo>
                  <a:cubicBezTo>
                    <a:pt x="26" y="137"/>
                    <a:pt x="53" y="245"/>
                    <a:pt x="75" y="240"/>
                  </a:cubicBezTo>
                  <a:cubicBezTo>
                    <a:pt x="97" y="235"/>
                    <a:pt x="116" y="117"/>
                    <a:pt x="135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9" name="任意多边形 618525"/>
            <p:cNvSpPr>
              <a:spLocks noChangeArrowheads="1"/>
            </p:cNvSpPr>
            <p:nvPr/>
          </p:nvSpPr>
          <p:spPr bwMode="auto">
            <a:xfrm>
              <a:off x="4903" y="2878"/>
              <a:ext cx="20" cy="64"/>
            </a:xfrm>
            <a:custGeom>
              <a:avLst/>
              <a:gdLst>
                <a:gd name="T0" fmla="*/ 0 w 75"/>
                <a:gd name="T1" fmla="*/ 0 h 225"/>
                <a:gd name="T2" fmla="*/ 1 w 75"/>
                <a:gd name="T3" fmla="*/ 5 h 2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5" h="225">
                  <a:moveTo>
                    <a:pt x="0" y="0"/>
                  </a:moveTo>
                  <a:cubicBezTo>
                    <a:pt x="31" y="93"/>
                    <a:pt x="62" y="187"/>
                    <a:pt x="75" y="225"/>
                  </a:cubicBezTo>
                </a:path>
              </a:pathLst>
            </a:custGeom>
            <a:noFill/>
            <a:ln w="7620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0" name="任意多边形 618526"/>
            <p:cNvSpPr>
              <a:spLocks noChangeArrowheads="1"/>
            </p:cNvSpPr>
            <p:nvPr/>
          </p:nvSpPr>
          <p:spPr bwMode="auto">
            <a:xfrm flipH="1" flipV="1">
              <a:off x="4903" y="2878"/>
              <a:ext cx="155" cy="6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1" name="直接连接符 618527"/>
            <p:cNvSpPr>
              <a:spLocks noChangeShapeType="1"/>
            </p:cNvSpPr>
            <p:nvPr/>
          </p:nvSpPr>
          <p:spPr bwMode="auto">
            <a:xfrm flipH="1">
              <a:off x="4478" y="2874"/>
              <a:ext cx="20" cy="6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2" name="任意多边形 618528"/>
            <p:cNvSpPr>
              <a:spLocks noChangeArrowheads="1"/>
            </p:cNvSpPr>
            <p:nvPr/>
          </p:nvSpPr>
          <p:spPr bwMode="auto">
            <a:xfrm flipV="1">
              <a:off x="4338" y="2865"/>
              <a:ext cx="163" cy="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3" name="直接连接符 618529"/>
            <p:cNvSpPr>
              <a:spLocks noChangeShapeType="1"/>
            </p:cNvSpPr>
            <p:nvPr/>
          </p:nvSpPr>
          <p:spPr bwMode="auto">
            <a:xfrm>
              <a:off x="4163" y="2954"/>
              <a:ext cx="10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4" name="直接连接符 618530"/>
            <p:cNvSpPr>
              <a:spLocks noChangeShapeType="1"/>
            </p:cNvSpPr>
            <p:nvPr/>
          </p:nvSpPr>
          <p:spPr bwMode="auto">
            <a:xfrm flipV="1">
              <a:off x="4703" y="2188"/>
              <a:ext cx="0" cy="12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5" name="文本框 618531"/>
            <p:cNvSpPr txBox="1">
              <a:spLocks noChangeArrowheads="1"/>
            </p:cNvSpPr>
            <p:nvPr/>
          </p:nvSpPr>
          <p:spPr bwMode="auto">
            <a:xfrm>
              <a:off x="5354" y="3308"/>
              <a:ext cx="310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baseline="0"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103476" name="文本框 618532"/>
            <p:cNvSpPr txBox="1">
              <a:spLocks noChangeArrowheads="1"/>
            </p:cNvSpPr>
            <p:nvPr/>
          </p:nvSpPr>
          <p:spPr bwMode="auto">
            <a:xfrm>
              <a:off x="4987" y="2339"/>
              <a:ext cx="639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baseline="0">
                  <a:solidFill>
                    <a:srgbClr val="0000FF"/>
                  </a:solidFill>
                  <a:ea typeface="黑体" panose="02010609060101010101" pitchFamily="49" charset="-122"/>
                </a:rPr>
                <a:t>n</a:t>
              </a:r>
              <a:r>
                <a:rPr lang="zh-CN" altLang="en-US" sz="2400" baseline="0">
                  <a:solidFill>
                    <a:srgbClr val="0000FF"/>
                  </a:solidFill>
                  <a:ea typeface="黑体" panose="02010609060101010101" pitchFamily="49" charset="-122"/>
                </a:rPr>
                <a:t>很大</a:t>
              </a:r>
            </a:p>
          </p:txBody>
        </p:sp>
        <p:sp>
          <p:nvSpPr>
            <p:cNvPr id="103477" name="文本框 618533"/>
            <p:cNvSpPr txBox="1">
              <a:spLocks noChangeArrowheads="1"/>
            </p:cNvSpPr>
            <p:nvPr/>
          </p:nvSpPr>
          <p:spPr bwMode="auto">
            <a:xfrm>
              <a:off x="4617" y="3340"/>
              <a:ext cx="3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aseline="0"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103478" name="直接连接符 618534"/>
            <p:cNvSpPr>
              <a:spLocks noChangeShapeType="1"/>
            </p:cNvSpPr>
            <p:nvPr/>
          </p:nvSpPr>
          <p:spPr bwMode="auto">
            <a:xfrm>
              <a:off x="4171" y="3302"/>
              <a:ext cx="10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9" name="文本框 618535"/>
            <p:cNvSpPr txBox="1">
              <a:spLocks noChangeArrowheads="1"/>
            </p:cNvSpPr>
            <p:nvPr/>
          </p:nvSpPr>
          <p:spPr bwMode="auto">
            <a:xfrm>
              <a:off x="5280" y="3120"/>
              <a:ext cx="48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baseline="0">
                  <a:solidFill>
                    <a:srgbClr val="0000FF"/>
                  </a:solidFill>
                  <a:ea typeface="黑体" panose="02010609060101010101" pitchFamily="49" charset="-122"/>
                </a:rPr>
                <a:t>n</a:t>
              </a:r>
              <a:r>
                <a:rPr lang="en-US" altLang="zh-CN" sz="2400" baseline="0">
                  <a:solidFill>
                    <a:srgbClr val="0000FF"/>
                  </a:solidFill>
                  <a:ea typeface="黑体" panose="02010609060101010101" pitchFamily="49" charset="-122"/>
                </a:rPr>
                <a:t>=0</a:t>
              </a:r>
            </a:p>
          </p:txBody>
        </p:sp>
        <p:sp>
          <p:nvSpPr>
            <p:cNvPr id="103480" name="文本框 618536"/>
            <p:cNvSpPr txBox="1">
              <a:spLocks noChangeArrowheads="1"/>
            </p:cNvSpPr>
            <p:nvPr/>
          </p:nvSpPr>
          <p:spPr bwMode="auto">
            <a:xfrm>
              <a:off x="5268" y="2964"/>
              <a:ext cx="48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baseline="0">
                  <a:solidFill>
                    <a:srgbClr val="0000FF"/>
                  </a:solidFill>
                  <a:ea typeface="黑体" panose="02010609060101010101" pitchFamily="49" charset="-122"/>
                </a:rPr>
                <a:t>n</a:t>
              </a:r>
              <a:r>
                <a:rPr lang="en-US" altLang="zh-CN" sz="2400" baseline="0">
                  <a:solidFill>
                    <a:srgbClr val="0000FF"/>
                  </a:solidFill>
                  <a:ea typeface="黑体" panose="02010609060101010101" pitchFamily="49" charset="-122"/>
                </a:rPr>
                <a:t>=1</a:t>
              </a:r>
            </a:p>
          </p:txBody>
        </p:sp>
        <p:sp>
          <p:nvSpPr>
            <p:cNvPr id="103481" name="文本框 618537"/>
            <p:cNvSpPr txBox="1">
              <a:spLocks noChangeArrowheads="1"/>
            </p:cNvSpPr>
            <p:nvPr/>
          </p:nvSpPr>
          <p:spPr bwMode="auto">
            <a:xfrm>
              <a:off x="5268" y="2760"/>
              <a:ext cx="48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baseline="0">
                  <a:solidFill>
                    <a:srgbClr val="0000FF"/>
                  </a:solidFill>
                  <a:ea typeface="黑体" panose="02010609060101010101" pitchFamily="49" charset="-122"/>
                </a:rPr>
                <a:t>n</a:t>
              </a:r>
              <a:r>
                <a:rPr lang="en-US" altLang="zh-CN" sz="2400" baseline="0">
                  <a:solidFill>
                    <a:srgbClr val="0000FF"/>
                  </a:solidFill>
                  <a:ea typeface="黑体" panose="02010609060101010101" pitchFamily="49" charset="-122"/>
                </a:rPr>
                <a:t>=2</a:t>
              </a:r>
            </a:p>
          </p:txBody>
        </p:sp>
        <p:graphicFrame>
          <p:nvGraphicFramePr>
            <p:cNvPr id="103482" name="对象 618538"/>
            <p:cNvGraphicFramePr/>
            <p:nvPr/>
          </p:nvGraphicFramePr>
          <p:xfrm>
            <a:off x="4396" y="2116"/>
            <a:ext cx="331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44" r:id="rId3" imgW="356870" imgH="312420" progId="Equation.3">
                    <p:embed/>
                  </p:oleObj>
                </mc:Choice>
                <mc:Fallback>
                  <p:oleObj r:id="rId3" imgW="356870" imgH="312420" progId="Equation.3">
                    <p:embed/>
                    <p:pic>
                      <p:nvPicPr>
                        <p:cNvPr id="0" name="对象 61853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6" y="2116"/>
                          <a:ext cx="331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83" name="文本框 618539"/>
            <p:cNvSpPr txBox="1">
              <a:spLocks noChangeArrowheads="1"/>
            </p:cNvSpPr>
            <p:nvPr/>
          </p:nvSpPr>
          <p:spPr bwMode="auto">
            <a:xfrm>
              <a:off x="4728" y="2100"/>
              <a:ext cx="48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baseline="0">
                  <a:ea typeface="黑体" panose="02010609060101010101" pitchFamily="49" charset="-122"/>
                </a:rPr>
                <a:t>U</a:t>
              </a:r>
              <a:r>
                <a:rPr lang="en-US" altLang="zh-CN" sz="2400" baseline="0">
                  <a:ea typeface="黑体" panose="02010609060101010101" pitchFamily="49" charset="-122"/>
                </a:rPr>
                <a:t>(</a:t>
              </a:r>
              <a:r>
                <a:rPr lang="en-US" altLang="zh-CN" sz="2400" i="1" baseline="0">
                  <a:ea typeface="黑体" panose="02010609060101010101" pitchFamily="49" charset="-122"/>
                </a:rPr>
                <a:t>x</a:t>
              </a:r>
              <a:r>
                <a:rPr lang="en-US" altLang="zh-CN" sz="2400" baseline="0">
                  <a:ea typeface="黑体" panose="02010609060101010101" pitchFamily="49" charset="-122"/>
                </a:rPr>
                <a:t>)</a:t>
              </a:r>
            </a:p>
          </p:txBody>
        </p:sp>
      </p:grpSp>
      <p:sp>
        <p:nvSpPr>
          <p:cNvPr id="618541" name="矩形 618540"/>
          <p:cNvSpPr/>
          <p:nvPr/>
        </p:nvSpPr>
        <p:spPr>
          <a:xfrm>
            <a:off x="4816475" y="692150"/>
            <a:ext cx="40782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baseline="0" noProof="1"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zh-CN" altLang="en-US" b="1" baseline="0" noProof="1"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经典概率分布，</a:t>
            </a:r>
          </a:p>
        </p:txBody>
      </p:sp>
      <p:grpSp>
        <p:nvGrpSpPr>
          <p:cNvPr id="618542" name="组合 618541"/>
          <p:cNvGrpSpPr/>
          <p:nvPr/>
        </p:nvGrpSpPr>
        <p:grpSpPr bwMode="auto">
          <a:xfrm>
            <a:off x="0" y="2978150"/>
            <a:ext cx="4816475" cy="2916238"/>
            <a:chOff x="1296" y="816"/>
            <a:chExt cx="3034" cy="1837"/>
          </a:xfrm>
        </p:grpSpPr>
        <p:graphicFrame>
          <p:nvGraphicFramePr>
            <p:cNvPr id="103434" name="对象 618542"/>
            <p:cNvGraphicFramePr/>
            <p:nvPr/>
          </p:nvGraphicFramePr>
          <p:xfrm>
            <a:off x="2550" y="816"/>
            <a:ext cx="461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45" r:id="rId5" imgW="356870" imgH="290195" progId="Equation.3">
                    <p:embed/>
                  </p:oleObj>
                </mc:Choice>
                <mc:Fallback>
                  <p:oleObj r:id="rId5" imgW="356870" imgH="290195" progId="Equation.3">
                    <p:embed/>
                    <p:pic>
                      <p:nvPicPr>
                        <p:cNvPr id="0" name="对象 61854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0" y="816"/>
                          <a:ext cx="461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35" name="对象 618543"/>
            <p:cNvGraphicFramePr/>
            <p:nvPr/>
          </p:nvGraphicFramePr>
          <p:xfrm>
            <a:off x="3587" y="1566"/>
            <a:ext cx="603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46" r:id="rId7" imgW="445770" imgH="178435" progId="Equation.3">
                    <p:embed/>
                  </p:oleObj>
                </mc:Choice>
                <mc:Fallback>
                  <p:oleObj r:id="rId7" imgW="445770" imgH="178435" progId="Equation.3">
                    <p:embed/>
                    <p:pic>
                      <p:nvPicPr>
                        <p:cNvPr id="0" name="对象 61854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7" y="1566"/>
                          <a:ext cx="603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36" name="直接连接符 618544"/>
            <p:cNvSpPr>
              <a:spLocks noChangeShapeType="1"/>
            </p:cNvSpPr>
            <p:nvPr/>
          </p:nvSpPr>
          <p:spPr bwMode="auto">
            <a:xfrm>
              <a:off x="1296" y="2607"/>
              <a:ext cx="29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7" name="直接连接符 618545"/>
            <p:cNvSpPr>
              <a:spLocks noChangeShapeType="1"/>
            </p:cNvSpPr>
            <p:nvPr/>
          </p:nvSpPr>
          <p:spPr bwMode="auto">
            <a:xfrm flipV="1">
              <a:off x="2769" y="1205"/>
              <a:ext cx="0" cy="14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38" name="组合 618546"/>
            <p:cNvGrpSpPr/>
            <p:nvPr/>
          </p:nvGrpSpPr>
          <p:grpSpPr bwMode="auto">
            <a:xfrm>
              <a:off x="1691" y="968"/>
              <a:ext cx="2158" cy="1685"/>
              <a:chOff x="1572" y="867"/>
              <a:chExt cx="1608" cy="1256"/>
            </a:xfrm>
          </p:grpSpPr>
          <p:sp>
            <p:nvSpPr>
              <p:cNvPr id="103441" name="任意多边形 618547"/>
              <p:cNvSpPr>
                <a:spLocks noChangeArrowheads="1"/>
              </p:cNvSpPr>
              <p:nvPr/>
            </p:nvSpPr>
            <p:spPr bwMode="auto">
              <a:xfrm>
                <a:off x="2106" y="1469"/>
                <a:ext cx="276" cy="617"/>
              </a:xfrm>
              <a:custGeom>
                <a:avLst/>
                <a:gdLst>
                  <a:gd name="T0" fmla="*/ 276 w 276"/>
                  <a:gd name="T1" fmla="*/ 599 h 617"/>
                  <a:gd name="T2" fmla="*/ 228 w 276"/>
                  <a:gd name="T3" fmla="*/ 49 h 617"/>
                  <a:gd name="T4" fmla="*/ 188 w 276"/>
                  <a:gd name="T5" fmla="*/ 613 h 617"/>
                  <a:gd name="T6" fmla="*/ 140 w 276"/>
                  <a:gd name="T7" fmla="*/ 24 h 617"/>
                  <a:gd name="T8" fmla="*/ 83 w 276"/>
                  <a:gd name="T9" fmla="*/ 607 h 617"/>
                  <a:gd name="T10" fmla="*/ 42 w 276"/>
                  <a:gd name="T11" fmla="*/ 1 h 617"/>
                  <a:gd name="T12" fmla="*/ 0 w 276"/>
                  <a:gd name="T13" fmla="*/ 599 h 6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76" h="617">
                    <a:moveTo>
                      <a:pt x="276" y="599"/>
                    </a:moveTo>
                    <a:cubicBezTo>
                      <a:pt x="227" y="598"/>
                      <a:pt x="243" y="47"/>
                      <a:pt x="228" y="49"/>
                    </a:cubicBezTo>
                    <a:cubicBezTo>
                      <a:pt x="213" y="51"/>
                      <a:pt x="203" y="617"/>
                      <a:pt x="188" y="613"/>
                    </a:cubicBezTo>
                    <a:cubicBezTo>
                      <a:pt x="173" y="609"/>
                      <a:pt x="158" y="25"/>
                      <a:pt x="140" y="24"/>
                    </a:cubicBezTo>
                    <a:cubicBezTo>
                      <a:pt x="123" y="23"/>
                      <a:pt x="99" y="611"/>
                      <a:pt x="83" y="607"/>
                    </a:cubicBezTo>
                    <a:cubicBezTo>
                      <a:pt x="67" y="603"/>
                      <a:pt x="56" y="2"/>
                      <a:pt x="42" y="1"/>
                    </a:cubicBezTo>
                    <a:cubicBezTo>
                      <a:pt x="28" y="0"/>
                      <a:pt x="9" y="475"/>
                      <a:pt x="0" y="599"/>
                    </a:cubicBezTo>
                  </a:path>
                </a:pathLst>
              </a:custGeom>
              <a:noFill/>
              <a:ln w="1905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42" name="任意多边形 618548"/>
              <p:cNvSpPr>
                <a:spLocks noChangeArrowheads="1"/>
              </p:cNvSpPr>
              <p:nvPr/>
            </p:nvSpPr>
            <p:spPr bwMode="auto">
              <a:xfrm>
                <a:off x="2364" y="1451"/>
                <a:ext cx="280" cy="633"/>
              </a:xfrm>
              <a:custGeom>
                <a:avLst/>
                <a:gdLst>
                  <a:gd name="T0" fmla="*/ 0 w 280"/>
                  <a:gd name="T1" fmla="*/ 626 h 633"/>
                  <a:gd name="T2" fmla="*/ 48 w 280"/>
                  <a:gd name="T3" fmla="*/ 61 h 633"/>
                  <a:gd name="T4" fmla="*/ 92 w 280"/>
                  <a:gd name="T5" fmla="*/ 631 h 633"/>
                  <a:gd name="T6" fmla="*/ 150 w 280"/>
                  <a:gd name="T7" fmla="*/ 49 h 633"/>
                  <a:gd name="T8" fmla="*/ 197 w 280"/>
                  <a:gd name="T9" fmla="*/ 625 h 633"/>
                  <a:gd name="T10" fmla="*/ 240 w 280"/>
                  <a:gd name="T11" fmla="*/ 1 h 633"/>
                  <a:gd name="T12" fmla="*/ 280 w 280"/>
                  <a:gd name="T13" fmla="*/ 617 h 6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0" h="633">
                    <a:moveTo>
                      <a:pt x="0" y="626"/>
                    </a:moveTo>
                    <a:cubicBezTo>
                      <a:pt x="49" y="625"/>
                      <a:pt x="33" y="60"/>
                      <a:pt x="48" y="61"/>
                    </a:cubicBezTo>
                    <a:cubicBezTo>
                      <a:pt x="63" y="62"/>
                      <a:pt x="75" y="633"/>
                      <a:pt x="92" y="631"/>
                    </a:cubicBezTo>
                    <a:cubicBezTo>
                      <a:pt x="109" y="629"/>
                      <a:pt x="133" y="50"/>
                      <a:pt x="150" y="49"/>
                    </a:cubicBezTo>
                    <a:cubicBezTo>
                      <a:pt x="167" y="48"/>
                      <a:pt x="182" y="633"/>
                      <a:pt x="197" y="625"/>
                    </a:cubicBezTo>
                    <a:cubicBezTo>
                      <a:pt x="212" y="617"/>
                      <a:pt x="226" y="2"/>
                      <a:pt x="240" y="1"/>
                    </a:cubicBezTo>
                    <a:cubicBezTo>
                      <a:pt x="254" y="0"/>
                      <a:pt x="272" y="489"/>
                      <a:pt x="280" y="617"/>
                    </a:cubicBezTo>
                  </a:path>
                </a:pathLst>
              </a:custGeom>
              <a:noFill/>
              <a:ln w="1905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43" name="任意多边形 618549"/>
              <p:cNvSpPr>
                <a:spLocks noChangeArrowheads="1"/>
              </p:cNvSpPr>
              <p:nvPr/>
            </p:nvSpPr>
            <p:spPr bwMode="auto">
              <a:xfrm>
                <a:off x="2640" y="867"/>
                <a:ext cx="540" cy="1247"/>
              </a:xfrm>
              <a:custGeom>
                <a:avLst/>
                <a:gdLst>
                  <a:gd name="T0" fmla="*/ 0 w 540"/>
                  <a:gd name="T1" fmla="*/ 1207 h 1247"/>
                  <a:gd name="T2" fmla="*/ 48 w 540"/>
                  <a:gd name="T3" fmla="*/ 447 h 1247"/>
                  <a:gd name="T4" fmla="*/ 92 w 540"/>
                  <a:gd name="T5" fmla="*/ 1215 h 1247"/>
                  <a:gd name="T6" fmla="*/ 150 w 540"/>
                  <a:gd name="T7" fmla="*/ 291 h 1247"/>
                  <a:gd name="T8" fmla="*/ 197 w 540"/>
                  <a:gd name="T9" fmla="*/ 1206 h 1247"/>
                  <a:gd name="T10" fmla="*/ 252 w 540"/>
                  <a:gd name="T11" fmla="*/ 45 h 1247"/>
                  <a:gd name="T12" fmla="*/ 360 w 540"/>
                  <a:gd name="T13" fmla="*/ 933 h 1247"/>
                  <a:gd name="T14" fmla="*/ 540 w 540"/>
                  <a:gd name="T15" fmla="*/ 1209 h 124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40" h="1247">
                    <a:moveTo>
                      <a:pt x="0" y="1207"/>
                    </a:moveTo>
                    <a:cubicBezTo>
                      <a:pt x="49" y="1206"/>
                      <a:pt x="33" y="446"/>
                      <a:pt x="48" y="447"/>
                    </a:cubicBezTo>
                    <a:cubicBezTo>
                      <a:pt x="63" y="448"/>
                      <a:pt x="75" y="1241"/>
                      <a:pt x="92" y="1215"/>
                    </a:cubicBezTo>
                    <a:cubicBezTo>
                      <a:pt x="109" y="1189"/>
                      <a:pt x="133" y="292"/>
                      <a:pt x="150" y="291"/>
                    </a:cubicBezTo>
                    <a:cubicBezTo>
                      <a:pt x="167" y="290"/>
                      <a:pt x="180" y="1247"/>
                      <a:pt x="197" y="1206"/>
                    </a:cubicBezTo>
                    <a:cubicBezTo>
                      <a:pt x="214" y="1165"/>
                      <a:pt x="225" y="90"/>
                      <a:pt x="252" y="45"/>
                    </a:cubicBezTo>
                    <a:cubicBezTo>
                      <a:pt x="279" y="0"/>
                      <a:pt x="312" y="739"/>
                      <a:pt x="360" y="933"/>
                    </a:cubicBezTo>
                    <a:cubicBezTo>
                      <a:pt x="408" y="1127"/>
                      <a:pt x="432" y="1143"/>
                      <a:pt x="540" y="1209"/>
                    </a:cubicBezTo>
                  </a:path>
                </a:pathLst>
              </a:custGeom>
              <a:noFill/>
              <a:ln w="1905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44" name="任意多边形 618550"/>
              <p:cNvSpPr>
                <a:spLocks noChangeArrowheads="1"/>
              </p:cNvSpPr>
              <p:nvPr/>
            </p:nvSpPr>
            <p:spPr bwMode="auto">
              <a:xfrm flipH="1">
                <a:off x="1572" y="876"/>
                <a:ext cx="540" cy="1247"/>
              </a:xfrm>
              <a:custGeom>
                <a:avLst/>
                <a:gdLst>
                  <a:gd name="T0" fmla="*/ 0 w 540"/>
                  <a:gd name="T1" fmla="*/ 1207 h 1247"/>
                  <a:gd name="T2" fmla="*/ 48 w 540"/>
                  <a:gd name="T3" fmla="*/ 447 h 1247"/>
                  <a:gd name="T4" fmla="*/ 92 w 540"/>
                  <a:gd name="T5" fmla="*/ 1215 h 1247"/>
                  <a:gd name="T6" fmla="*/ 150 w 540"/>
                  <a:gd name="T7" fmla="*/ 291 h 1247"/>
                  <a:gd name="T8" fmla="*/ 197 w 540"/>
                  <a:gd name="T9" fmla="*/ 1206 h 1247"/>
                  <a:gd name="T10" fmla="*/ 252 w 540"/>
                  <a:gd name="T11" fmla="*/ 45 h 1247"/>
                  <a:gd name="T12" fmla="*/ 360 w 540"/>
                  <a:gd name="T13" fmla="*/ 933 h 1247"/>
                  <a:gd name="T14" fmla="*/ 540 w 540"/>
                  <a:gd name="T15" fmla="*/ 1209 h 124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40" h="1247">
                    <a:moveTo>
                      <a:pt x="0" y="1207"/>
                    </a:moveTo>
                    <a:cubicBezTo>
                      <a:pt x="49" y="1206"/>
                      <a:pt x="33" y="446"/>
                      <a:pt x="48" y="447"/>
                    </a:cubicBezTo>
                    <a:cubicBezTo>
                      <a:pt x="63" y="448"/>
                      <a:pt x="75" y="1241"/>
                      <a:pt x="92" y="1215"/>
                    </a:cubicBezTo>
                    <a:cubicBezTo>
                      <a:pt x="109" y="1189"/>
                      <a:pt x="133" y="292"/>
                      <a:pt x="150" y="291"/>
                    </a:cubicBezTo>
                    <a:cubicBezTo>
                      <a:pt x="167" y="290"/>
                      <a:pt x="180" y="1247"/>
                      <a:pt x="197" y="1206"/>
                    </a:cubicBezTo>
                    <a:cubicBezTo>
                      <a:pt x="214" y="1165"/>
                      <a:pt x="225" y="90"/>
                      <a:pt x="252" y="45"/>
                    </a:cubicBezTo>
                    <a:cubicBezTo>
                      <a:pt x="279" y="0"/>
                      <a:pt x="312" y="739"/>
                      <a:pt x="360" y="933"/>
                    </a:cubicBezTo>
                    <a:cubicBezTo>
                      <a:pt x="408" y="1127"/>
                      <a:pt x="432" y="1143"/>
                      <a:pt x="540" y="1209"/>
                    </a:cubicBezTo>
                  </a:path>
                </a:pathLst>
              </a:custGeom>
              <a:noFill/>
              <a:ln w="19050">
                <a:solidFill>
                  <a:srgbClr val="CC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39" name="任意多边形 618551"/>
            <p:cNvSpPr>
              <a:spLocks noChangeArrowheads="1"/>
            </p:cNvSpPr>
            <p:nvPr/>
          </p:nvSpPr>
          <p:spPr bwMode="auto">
            <a:xfrm>
              <a:off x="2070" y="1053"/>
              <a:ext cx="1393" cy="1274"/>
            </a:xfrm>
            <a:custGeom>
              <a:avLst/>
              <a:gdLst>
                <a:gd name="T0" fmla="*/ 0 w 1038"/>
                <a:gd name="T1" fmla="*/ 72 h 950"/>
                <a:gd name="T2" fmla="*/ 391 w 1038"/>
                <a:gd name="T3" fmla="*/ 1924 h 950"/>
                <a:gd name="T4" fmla="*/ 1263 w 1038"/>
                <a:gd name="T5" fmla="*/ 2272 h 950"/>
                <a:gd name="T6" fmla="*/ 2147 w 1038"/>
                <a:gd name="T7" fmla="*/ 1881 h 950"/>
                <a:gd name="T8" fmla="*/ 2508 w 1038"/>
                <a:gd name="T9" fmla="*/ 0 h 9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8" h="950">
                  <a:moveTo>
                    <a:pt x="0" y="30"/>
                  </a:moveTo>
                  <a:cubicBezTo>
                    <a:pt x="27" y="159"/>
                    <a:pt x="75" y="646"/>
                    <a:pt x="162" y="798"/>
                  </a:cubicBezTo>
                  <a:cubicBezTo>
                    <a:pt x="249" y="950"/>
                    <a:pt x="401" y="945"/>
                    <a:pt x="522" y="942"/>
                  </a:cubicBezTo>
                  <a:cubicBezTo>
                    <a:pt x="645" y="945"/>
                    <a:pt x="787" y="948"/>
                    <a:pt x="888" y="780"/>
                  </a:cubicBezTo>
                  <a:cubicBezTo>
                    <a:pt x="974" y="623"/>
                    <a:pt x="1007" y="162"/>
                    <a:pt x="1038" y="0"/>
                  </a:cubicBezTo>
                </a:path>
              </a:pathLst>
            </a:custGeom>
            <a:noFill/>
            <a:ln w="41275">
              <a:solidFill>
                <a:srgbClr val="333399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3440" name="对象 618552"/>
            <p:cNvGraphicFramePr/>
            <p:nvPr/>
          </p:nvGraphicFramePr>
          <p:xfrm>
            <a:off x="4072" y="2357"/>
            <a:ext cx="25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47" r:id="rId9" imgW="111760" imgH="133985" progId="Equation.3">
                    <p:embed/>
                  </p:oleObj>
                </mc:Choice>
                <mc:Fallback>
                  <p:oleObj r:id="rId9" imgW="111760" imgH="133985" progId="Equation.3">
                    <p:embed/>
                    <p:pic>
                      <p:nvPicPr>
                        <p:cNvPr id="0" name="对象 61855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2" y="2357"/>
                          <a:ext cx="25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8554" name="文本框 618553"/>
          <p:cNvSpPr txBox="1"/>
          <p:nvPr/>
        </p:nvSpPr>
        <p:spPr>
          <a:xfrm>
            <a:off x="179388" y="2492375"/>
            <a:ext cx="49276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线性谐振子 </a:t>
            </a:r>
            <a:r>
              <a:rPr lang="en-US" altLang="zh-CN" i="1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n</a:t>
            </a:r>
            <a:r>
              <a:rPr lang="en-US" altLang="zh-CN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=11 </a:t>
            </a:r>
            <a:r>
              <a:rPr lang="zh-CN" altLang="en-US" baseline="0" noProof="1">
                <a:effectLst>
                  <a:outerShdw blurRad="38100" dist="38100" dir="2700000">
                    <a:srgbClr val="C0C0C0"/>
                  </a:outerShdw>
                </a:effectLst>
              </a:rPr>
              <a:t>时的概率密度分布</a:t>
            </a:r>
          </a:p>
        </p:txBody>
      </p:sp>
      <p:sp>
        <p:nvSpPr>
          <p:cNvPr id="618555" name="文本框 618554"/>
          <p:cNvSpPr txBox="1"/>
          <p:nvPr/>
        </p:nvSpPr>
        <p:spPr>
          <a:xfrm>
            <a:off x="1008063" y="6165850"/>
            <a:ext cx="726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baseline="0" noProof="1"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虚线代表经典结果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1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618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1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498" grpId="0"/>
      <p:bldP spid="618499" grpId="0"/>
      <p:bldP spid="618500" grpId="0"/>
      <p:bldP spid="618541" grpId="0"/>
      <p:bldP spid="618554" grpId="0"/>
      <p:bldP spid="618555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cd21268-7f0a-44b6-9e96-b1ce57a96d2b"/>
  <p:tag name="COMMONDATA" val="eyJoZGlkIjoiZGU0NjBmNDc3YmY3ODNkZjQ5MmJlMjNhNWNhMDZlN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空演示文稿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Office\Templates\空演示文稿.pot</Template>
  <TotalTime>168</TotalTime>
  <Words>4637</Words>
  <Application>Microsoft Office PowerPoint</Application>
  <PresentationFormat>全屏显示(4:3)</PresentationFormat>
  <Paragraphs>850</Paragraphs>
  <Slides>80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80</vt:i4>
      </vt:variant>
    </vt:vector>
  </HeadingPairs>
  <TitlesOfParts>
    <vt:vector size="101" baseType="lpstr">
      <vt:lpstr>_x005f_x000B__x005f_x000C_</vt:lpstr>
      <vt:lpstr>仿宋_GB2312</vt:lpstr>
      <vt:lpstr>黑体</vt:lpstr>
      <vt:lpstr>华文楷体</vt:lpstr>
      <vt:lpstr>华文新魏</vt:lpstr>
      <vt:lpstr>楷体_GB2312</vt:lpstr>
      <vt:lpstr>隶书</vt:lpstr>
      <vt:lpstr>宋体</vt:lpstr>
      <vt:lpstr>Arial</vt:lpstr>
      <vt:lpstr>Book Antiqua</vt:lpstr>
      <vt:lpstr>MT Extra</vt:lpstr>
      <vt:lpstr>Symbol</vt:lpstr>
      <vt:lpstr>Tahoma</vt:lpstr>
      <vt:lpstr>Times New Roman</vt:lpstr>
      <vt:lpstr>Wingdings</vt:lpstr>
      <vt:lpstr>空演示文稿</vt:lpstr>
      <vt:lpstr>Microsoft Equation 3.0</vt:lpstr>
      <vt:lpstr>Microsoft Word 97 - 2003 Document</vt:lpstr>
      <vt:lpstr>MS_ClipArt_Gallery.2</vt:lpstr>
      <vt:lpstr>MathType 6.0 Equation</vt:lpstr>
      <vt:lpstr>Equation</vt:lpstr>
      <vt:lpstr>PowerPoint 演示文稿</vt:lpstr>
      <vt:lpstr>15-5 微观粒子的波粒二象性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三、波函数的性质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25章</dc:title>
  <dc:creator>郑馥</dc:creator>
  <cp:lastModifiedBy>Administrator</cp:lastModifiedBy>
  <cp:revision>1026</cp:revision>
  <dcterms:created xsi:type="dcterms:W3CDTF">1997-12-31T22:02:00Z</dcterms:created>
  <dcterms:modified xsi:type="dcterms:W3CDTF">2024-11-24T09:10:50Z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D094C806D9B943AD8584DDDF44A57925</vt:lpwstr>
  </property>
</Properties>
</file>