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436" r:id="rId2"/>
    <p:sldId id="437" r:id="rId3"/>
    <p:sldId id="439" r:id="rId4"/>
    <p:sldId id="441" r:id="rId5"/>
    <p:sldId id="442" r:id="rId6"/>
    <p:sldId id="443" r:id="rId7"/>
    <p:sldId id="446" r:id="rId8"/>
    <p:sldId id="470" r:id="rId9"/>
    <p:sldId id="471" r:id="rId10"/>
    <p:sldId id="472" r:id="rId11"/>
    <p:sldId id="468" r:id="rId12"/>
    <p:sldId id="460" r:id="rId13"/>
  </p:sldIdLst>
  <p:sldSz cx="9144000" cy="6858000" type="screen4x3"/>
  <p:notesSz cx="6808788" cy="9823450"/>
  <p:custDataLst>
    <p:tags r:id="rId1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2">
          <p15:clr>
            <a:srgbClr val="A4A3A4"/>
          </p15:clr>
        </p15:guide>
        <p15:guide id="2" pos="216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33CCFF"/>
    <a:srgbClr val="FF3300"/>
    <a:srgbClr val="CC3300"/>
    <a:srgbClr val="006600"/>
    <a:srgbClr val="FF9999"/>
    <a:srgbClr val="FF99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11" autoAdjust="0"/>
    <p:restoredTop sz="99443" autoAdjust="0"/>
  </p:normalViewPr>
  <p:slideViewPr>
    <p:cSldViewPr showGuides="1">
      <p:cViewPr varScale="1">
        <p:scale>
          <a:sx n="85" d="100"/>
          <a:sy n="85" d="100"/>
        </p:scale>
        <p:origin x="96" y="726"/>
      </p:cViewPr>
      <p:guideLst>
        <p:guide orient="horz" pos="2882"/>
        <p:guide pos="21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10.emf"/><Relationship Id="rId7" Type="http://schemas.openxmlformats.org/officeDocument/2006/relationships/image" Target="../media/image14.wmf"/><Relationship Id="rId12" Type="http://schemas.openxmlformats.org/officeDocument/2006/relationships/image" Target="../media/image17.wmf"/><Relationship Id="rId2" Type="http://schemas.openxmlformats.org/officeDocument/2006/relationships/image" Target="../media/image9.emf"/><Relationship Id="rId1" Type="http://schemas.openxmlformats.org/officeDocument/2006/relationships/image" Target="../media/image8.emf"/><Relationship Id="rId6" Type="http://schemas.openxmlformats.org/officeDocument/2006/relationships/image" Target="../media/image13.emf"/><Relationship Id="rId11" Type="http://schemas.openxmlformats.org/officeDocument/2006/relationships/image" Target="../media/image7.wmf"/><Relationship Id="rId5" Type="http://schemas.openxmlformats.org/officeDocument/2006/relationships/image" Target="../media/image12.wmf"/><Relationship Id="rId10" Type="http://schemas.openxmlformats.org/officeDocument/2006/relationships/image" Target="../media/image16.emf"/><Relationship Id="rId4" Type="http://schemas.openxmlformats.org/officeDocument/2006/relationships/image" Target="../media/image11.wmf"/><Relationship Id="rId9" Type="http://schemas.openxmlformats.org/officeDocument/2006/relationships/image" Target="../media/image15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Relationship Id="rId4" Type="http://schemas.openxmlformats.org/officeDocument/2006/relationships/image" Target="../media/image27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7" Type="http://schemas.openxmlformats.org/officeDocument/2006/relationships/image" Target="../media/image34.wmf"/><Relationship Id="rId2" Type="http://schemas.openxmlformats.org/officeDocument/2006/relationships/image" Target="../media/image29.emf"/><Relationship Id="rId1" Type="http://schemas.openxmlformats.org/officeDocument/2006/relationships/image" Target="../media/image28.emf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7" Type="http://schemas.openxmlformats.org/officeDocument/2006/relationships/image" Target="../media/image44.wmf"/><Relationship Id="rId2" Type="http://schemas.openxmlformats.org/officeDocument/2006/relationships/image" Target="../media/image39.emf"/><Relationship Id="rId1" Type="http://schemas.openxmlformats.org/officeDocument/2006/relationships/image" Target="../media/image38.emf"/><Relationship Id="rId6" Type="http://schemas.openxmlformats.org/officeDocument/2006/relationships/image" Target="../media/image43.emf"/><Relationship Id="rId5" Type="http://schemas.openxmlformats.org/officeDocument/2006/relationships/image" Target="../media/image42.wmf"/><Relationship Id="rId4" Type="http://schemas.openxmlformats.org/officeDocument/2006/relationships/image" Target="../media/image41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11" Type="http://schemas.openxmlformats.org/officeDocument/2006/relationships/image" Target="../media/image55.wmf"/><Relationship Id="rId5" Type="http://schemas.openxmlformats.org/officeDocument/2006/relationships/image" Target="../media/image49.wmf"/><Relationship Id="rId10" Type="http://schemas.openxmlformats.org/officeDocument/2006/relationships/image" Target="../media/image54.wmf"/><Relationship Id="rId4" Type="http://schemas.openxmlformats.org/officeDocument/2006/relationships/image" Target="../media/image48.wmf"/><Relationship Id="rId9" Type="http://schemas.openxmlformats.org/officeDocument/2006/relationships/image" Target="../media/image5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3E586E0-153B-42BE-8CB8-D36E7921108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163" cy="4905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0ECE5D1-89D9-4BD9-9EA2-B225470D7AD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7625" y="0"/>
            <a:ext cx="2951163" cy="4905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4E3E604-4B22-4891-962E-1B018EF1B1E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32913"/>
            <a:ext cx="2951163" cy="4905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CD895ECE-B2D3-46B2-8740-2E38206A3B4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7625" y="9332913"/>
            <a:ext cx="2951163" cy="4905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noProof="1" dirty="0">
                <a:ea typeface="宋体" panose="02010600030101010101" pitchFamily="2" charset="-122"/>
              </a:defRPr>
            </a:lvl1pPr>
          </a:lstStyle>
          <a:p>
            <a:fld id="{C72117C6-408B-4508-BFD3-9A8F68CB152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78B75BB-F7C6-4F06-98FE-C1D260C8EBA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163" cy="4905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922CF29-EA48-4621-A498-A515D25AA40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7625" y="0"/>
            <a:ext cx="2951163" cy="4905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9A9E39B-F0CE-4FCC-98EF-EB366F735FFD}"/>
              </a:ext>
            </a:extLst>
          </p:cNvPr>
          <p:cNvSpPr>
            <a:spLocks noChangeArrowheads="1"/>
          </p:cNvSpPr>
          <p:nvPr>
            <p:ph type="sldImg" idx="4294967295"/>
          </p:nvPr>
        </p:nvSpPr>
        <p:spPr bwMode="auto">
          <a:xfrm>
            <a:off x="947738" y="736600"/>
            <a:ext cx="4913312" cy="36845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B9C9CF09-BF02-4E86-AFE3-EDBADB7B4AB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8050" y="4665663"/>
            <a:ext cx="4992688" cy="44211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F6E24D2E-C10A-4CA2-8926-3267367D710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32913"/>
            <a:ext cx="2951163" cy="4905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CAC3C6CE-469E-44C9-84E7-5CE19C2F19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7625" y="9332913"/>
            <a:ext cx="2951163" cy="4905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noProof="1" dirty="0">
                <a:ea typeface="宋体" panose="02010600030101010101" pitchFamily="2" charset="-122"/>
              </a:defRPr>
            </a:lvl1pPr>
          </a:lstStyle>
          <a:p>
            <a:fld id="{B44D71FE-DDE0-4A33-BFD1-1F9B060A345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164F12-A39B-479F-8EF3-F79A0AF76A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1310006-EAC7-4377-86E0-1648DCC93B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8B6BE95-38FB-483C-8AA3-F3ABC8A57E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67C645-A0A4-4E4F-81BF-697955B348A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9698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8B1DD06-04E8-498E-8F42-3A2EC9E87F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F2A7FA7-9E54-499E-B6B8-9E7B0AA965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9BEBD6A-6725-4783-9F63-25E17A36E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5B6A5A-77F3-4A41-816A-9234203F81B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781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3018AF-B012-4482-9230-37493FB3BA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15189C7-8970-4DDC-837C-15DFBC1D7C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5654D59-1275-4BEA-8918-66429C54DD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0E2F5D-AB4D-49E4-80CD-0660CF81038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311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81F91C-033B-4B79-B093-F1434E2D0E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0296E7-9D25-4ED7-AD20-D1DFA6FB02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0980F5-F7A6-42C4-8CB7-8FFD98431F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1FA4CD-4BB9-4DBA-97E1-A7FB0E87FF0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6883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C6CC65F-B8A9-4961-89C9-0F441825D3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E71EACD-4350-475C-B966-0633ACAF2B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25FED9A-90D0-44B1-B552-75A11D7B33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C1F6EA-0246-484C-ADA1-8913BD75496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0593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CE6EB10-6C45-4104-80E2-7E9AAF2E4F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5C823AF-9024-40E2-ABB7-A6576CB88F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2F7FCD8-8A72-4917-99EE-0EFB6EBC8D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84C8B4-F127-4D88-8C2A-184DCF0CEE3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8984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24A589C-03A8-4E10-ABE3-E2F223626F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1FACA64-9A39-4C96-8A4D-B6C2BAFB0E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D959AFE-AC78-47DE-BF23-936721701D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66458B-609F-4BCF-986C-D438E661320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2798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980D7C-7013-48C0-9A71-8B07698033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9970E3-C3F8-449A-B16B-B6E5548CCB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A9E13A-C7E6-41FC-A593-92F91E2E21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1B3457-81CE-40FC-88B9-7CDF49DFC2F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6738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793D09-A705-4A91-947E-FB561029EC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780805-2D1E-4D97-8899-D7155BFC97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875049-1458-4AFC-A8F7-C68343A238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7EE318-C521-48A2-824E-946F4769BA3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4589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BFBFCE9-0B03-44CB-862A-97A73EFEF5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888464D-BB07-4BA6-9449-DCEB035BA4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8F8D4B9-AA6E-4611-AE2D-30F4B30D61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F92DE4-4FB7-4B38-912D-4CEC94D9098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680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844FDAB-25FA-4420-8D12-9D24D1ACD2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F8FFADD-7C72-44EF-BBA2-7EDF5304D4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9CEB264-B891-42F7-9FFE-6D1F1B949A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93EB1E-58F2-4D1B-9192-408069BC6BD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2474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606472E-CD99-4B5F-925E-8E3A21C600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0ABA878-9552-4B74-9D31-86C58B4EC6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FFA7382-1014-4A72-B1CD-0485B1DCA3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D28E1C-2C0C-4EE5-BE94-F482C87A697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1890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2F4F353-43C4-4B94-926F-7CDCF1A4B9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46786EA-8464-4F94-AA65-AE31A87EE4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8B21AFA-8AF3-4105-AFCB-92A1EE0438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898B09-E3E0-4FF8-9371-ABEC72C00C3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428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59918EA-2CF4-4CDA-80B6-39F4F85AED5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04D55DE-08AD-46AA-86BB-F4AA4468A2B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B86D655-0FAB-4E7E-8F71-65961C96D96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50000"/>
              </a:spcBef>
              <a:defRPr kumimoji="1" sz="1400">
                <a:effectLst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844B90B-A436-4157-B8D3-44DEA71019D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50000"/>
              </a:spcBef>
              <a:defRPr kumimoji="1" sz="1400">
                <a:effectLst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BE95E3F-633A-43CC-AFC9-63B4E758BC9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50000"/>
              </a:spcBef>
              <a:defRPr sz="1400" noProof="1" dirty="0">
                <a:ea typeface="宋体" panose="02010600030101010101" pitchFamily="2" charset="-122"/>
              </a:defRPr>
            </a:lvl1pPr>
          </a:lstStyle>
          <a:p>
            <a:fld id="{F4507BEF-612C-45A0-A1A2-59443741C9C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  <p:sldLayoutId id="214748364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13" Type="http://schemas.openxmlformats.org/officeDocument/2006/relationships/oleObject" Target="../embeddings/oleObject13.bin"/><Relationship Id="rId18" Type="http://schemas.openxmlformats.org/officeDocument/2006/relationships/image" Target="../media/image4.wmf"/><Relationship Id="rId26" Type="http://schemas.openxmlformats.org/officeDocument/2006/relationships/image" Target="../media/image17.wmf"/><Relationship Id="rId3" Type="http://schemas.openxmlformats.org/officeDocument/2006/relationships/oleObject" Target="../embeddings/oleObject8.bin"/><Relationship Id="rId21" Type="http://schemas.openxmlformats.org/officeDocument/2006/relationships/oleObject" Target="../embeddings/oleObject17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2.wmf"/><Relationship Id="rId17" Type="http://schemas.openxmlformats.org/officeDocument/2006/relationships/oleObject" Target="../embeddings/oleObject15.bin"/><Relationship Id="rId25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14.wmf"/><Relationship Id="rId20" Type="http://schemas.openxmlformats.org/officeDocument/2006/relationships/image" Target="../media/image15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emf"/><Relationship Id="rId11" Type="http://schemas.openxmlformats.org/officeDocument/2006/relationships/oleObject" Target="../embeddings/oleObject12.bin"/><Relationship Id="rId24" Type="http://schemas.openxmlformats.org/officeDocument/2006/relationships/image" Target="../media/image7.wmf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23" Type="http://schemas.openxmlformats.org/officeDocument/2006/relationships/oleObject" Target="../embeddings/oleObject18.bin"/><Relationship Id="rId10" Type="http://schemas.openxmlformats.org/officeDocument/2006/relationships/image" Target="../media/image11.wmf"/><Relationship Id="rId19" Type="http://schemas.openxmlformats.org/officeDocument/2006/relationships/oleObject" Target="../embeddings/oleObject16.bin"/><Relationship Id="rId4" Type="http://schemas.openxmlformats.org/officeDocument/2006/relationships/image" Target="../media/image8.e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3.emf"/><Relationship Id="rId22" Type="http://schemas.openxmlformats.org/officeDocument/2006/relationships/image" Target="../media/image16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23.emf"/><Relationship Id="rId3" Type="http://schemas.openxmlformats.org/officeDocument/2006/relationships/audio" Target="../media/audio1.wav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2.emf"/><Relationship Id="rId5" Type="http://schemas.openxmlformats.org/officeDocument/2006/relationships/image" Target="../media/image19.w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1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27.emf"/><Relationship Id="rId4" Type="http://schemas.openxmlformats.org/officeDocument/2006/relationships/image" Target="../media/image24.emf"/><Relationship Id="rId9" Type="http://schemas.openxmlformats.org/officeDocument/2006/relationships/oleObject" Target="../embeddings/oleObject2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13" Type="http://schemas.openxmlformats.org/officeDocument/2006/relationships/oleObject" Target="../embeddings/oleObject34.bin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32.emf"/><Relationship Id="rId17" Type="http://schemas.openxmlformats.org/officeDocument/2006/relationships/image" Target="../media/image35.jpeg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34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9.e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5" Type="http://schemas.openxmlformats.org/officeDocument/2006/relationships/oleObject" Target="../embeddings/oleObject35.bin"/><Relationship Id="rId10" Type="http://schemas.openxmlformats.org/officeDocument/2006/relationships/image" Target="../media/image31.wmf"/><Relationship Id="rId4" Type="http://schemas.openxmlformats.org/officeDocument/2006/relationships/image" Target="../media/image28.e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3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7" Type="http://schemas.openxmlformats.org/officeDocument/2006/relationships/image" Target="../media/image3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8.bin"/><Relationship Id="rId5" Type="http://schemas.openxmlformats.org/officeDocument/2006/relationships/oleObject" Target="../embeddings/oleObject37.bin"/><Relationship Id="rId4" Type="http://schemas.openxmlformats.org/officeDocument/2006/relationships/image" Target="../media/image20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7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13" Type="http://schemas.openxmlformats.org/officeDocument/2006/relationships/oleObject" Target="../embeddings/oleObject45.bin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42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44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39.e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6.bin"/><Relationship Id="rId10" Type="http://schemas.openxmlformats.org/officeDocument/2006/relationships/image" Target="../media/image41.wmf"/><Relationship Id="rId4" Type="http://schemas.openxmlformats.org/officeDocument/2006/relationships/image" Target="../media/image38.e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43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52.bin"/><Relationship Id="rId18" Type="http://schemas.openxmlformats.org/officeDocument/2006/relationships/image" Target="../media/image52.wmf"/><Relationship Id="rId26" Type="http://schemas.openxmlformats.org/officeDocument/2006/relationships/oleObject" Target="../embeddings/oleObject59.bin"/><Relationship Id="rId3" Type="http://schemas.openxmlformats.org/officeDocument/2006/relationships/oleObject" Target="../embeddings/oleObject47.bin"/><Relationship Id="rId21" Type="http://schemas.openxmlformats.org/officeDocument/2006/relationships/oleObject" Target="../embeddings/oleObject56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54.bin"/><Relationship Id="rId25" Type="http://schemas.openxmlformats.org/officeDocument/2006/relationships/oleObject" Target="../embeddings/oleObject58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51.wmf"/><Relationship Id="rId20" Type="http://schemas.openxmlformats.org/officeDocument/2006/relationships/image" Target="../media/image53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51.bin"/><Relationship Id="rId24" Type="http://schemas.openxmlformats.org/officeDocument/2006/relationships/image" Target="../media/image55.wmf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23" Type="http://schemas.openxmlformats.org/officeDocument/2006/relationships/oleObject" Target="../embeddings/oleObject57.bin"/><Relationship Id="rId10" Type="http://schemas.openxmlformats.org/officeDocument/2006/relationships/image" Target="../media/image48.wmf"/><Relationship Id="rId19" Type="http://schemas.openxmlformats.org/officeDocument/2006/relationships/oleObject" Target="../embeddings/oleObject55.bin"/><Relationship Id="rId4" Type="http://schemas.openxmlformats.org/officeDocument/2006/relationships/image" Target="../media/image45.w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50.wmf"/><Relationship Id="rId22" Type="http://schemas.openxmlformats.org/officeDocument/2006/relationships/image" Target="../media/image54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56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5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5" name="Text Box 3">
            <a:extLst>
              <a:ext uri="{FF2B5EF4-FFF2-40B4-BE49-F238E27FC236}">
                <a16:creationId xmlns:a16="http://schemas.microsoft.com/office/drawing/2014/main" id="{1A60F4D9-C2E9-441A-8267-F828CC849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1844675"/>
            <a:ext cx="21177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chemeClr val="accent2"/>
                </a:solidFill>
              </a:rPr>
              <a:t>1).</a:t>
            </a:r>
            <a:r>
              <a:rPr lang="zh-CN" altLang="en-US" b="1">
                <a:solidFill>
                  <a:schemeClr val="accent2"/>
                </a:solidFill>
              </a:rPr>
              <a:t>实验构思     </a:t>
            </a:r>
          </a:p>
        </p:txBody>
      </p:sp>
      <p:sp>
        <p:nvSpPr>
          <p:cNvPr id="433156" name="Text Box 4">
            <a:extLst>
              <a:ext uri="{FF2B5EF4-FFF2-40B4-BE49-F238E27FC236}">
                <a16:creationId xmlns:a16="http://schemas.microsoft.com/office/drawing/2014/main" id="{615ECE62-C620-468A-B28F-CF9432D8E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349500"/>
            <a:ext cx="4756150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电子带电，电子绕原子核运动，</a:t>
            </a:r>
          </a:p>
          <a:p>
            <a:pPr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就相当于一个闭合载流线圈一样。</a:t>
            </a:r>
          </a:p>
        </p:txBody>
      </p:sp>
      <p:sp>
        <p:nvSpPr>
          <p:cNvPr id="433157" name="Text Box 5">
            <a:extLst>
              <a:ext uri="{FF2B5EF4-FFF2-40B4-BE49-F238E27FC236}">
                <a16:creationId xmlns:a16="http://schemas.microsoft.com/office/drawing/2014/main" id="{BE3D9D64-B691-4142-BBBB-4F0E8A985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3173413"/>
            <a:ext cx="8229600" cy="946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其磁矩为        </a:t>
            </a:r>
            <a:r>
              <a:rPr kumimoji="1" lang="zh-CN" altLang="en-US" sz="2800" b="1" i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 </a:t>
            </a:r>
            <a:r>
              <a:rPr kumimoji="1" lang="en-US" altLang="zh-CN" sz="2800" b="1" i="1">
                <a:effectLst>
                  <a:outerShdw blurRad="38100" dist="38100" dir="2700000" algn="tl">
                    <a:srgbClr val="C0C0C0"/>
                  </a:outerShdw>
                </a:effectLst>
              </a:rPr>
              <a:t>= is 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     </a:t>
            </a:r>
            <a:r>
              <a:rPr kumimoji="1" lang="en-US" altLang="zh-CN" sz="2800" b="1" i="1">
                <a:effectLst>
                  <a:outerShdw blurRad="38100" dist="38100" dir="2700000" algn="tl">
                    <a:srgbClr val="C0C0C0"/>
                  </a:outerShdw>
                </a:effectLst>
              </a:rPr>
              <a:t> i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……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电流强度</a:t>
            </a:r>
          </a:p>
          <a:p>
            <a:pPr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                      </a:t>
            </a:r>
            <a:r>
              <a:rPr kumimoji="1" lang="en-US" altLang="zh-CN" sz="2800" b="1" i="1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……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载流线圈面积</a:t>
            </a:r>
          </a:p>
        </p:txBody>
      </p:sp>
      <p:graphicFrame>
        <p:nvGraphicFramePr>
          <p:cNvPr id="433158" name="Object 6">
            <a:extLst>
              <a:ext uri="{FF2B5EF4-FFF2-40B4-BE49-F238E27FC236}">
                <a16:creationId xmlns:a16="http://schemas.microsoft.com/office/drawing/2014/main" id="{147FC5E0-7A7D-485A-8CAF-CEB8AD834E5B}"/>
              </a:ext>
            </a:extLst>
          </p:cNvPr>
          <p:cNvGraphicFramePr>
            <a:graphicFrameLocks/>
          </p:cNvGraphicFramePr>
          <p:nvPr/>
        </p:nvGraphicFramePr>
        <p:xfrm>
          <a:off x="4078288" y="4251325"/>
          <a:ext cx="184308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r:id="rId3" imgW="787058" imgH="393529" progId="Equation.DSMT4">
                  <p:embed/>
                </p:oleObj>
              </mc:Choice>
              <mc:Fallback>
                <p:oleObj r:id="rId3" imgW="787058" imgH="393529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8288" y="4251325"/>
                        <a:ext cx="1843087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3159" name="Object 7">
            <a:extLst>
              <a:ext uri="{FF2B5EF4-FFF2-40B4-BE49-F238E27FC236}">
                <a16:creationId xmlns:a16="http://schemas.microsoft.com/office/drawing/2014/main" id="{C21A89CB-839A-4D60-9016-629D6EBB4C4D}"/>
              </a:ext>
            </a:extLst>
          </p:cNvPr>
          <p:cNvGraphicFramePr>
            <a:graphicFrameLocks/>
          </p:cNvGraphicFramePr>
          <p:nvPr/>
        </p:nvGraphicFramePr>
        <p:xfrm>
          <a:off x="6581775" y="4456113"/>
          <a:ext cx="111125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r:id="rId5" imgW="507960" imgH="228600" progId="Equation.3">
                  <p:embed/>
                </p:oleObj>
              </mc:Choice>
              <mc:Fallback>
                <p:oleObj r:id="rId5" imgW="507960" imgH="22860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1775" y="4456113"/>
                        <a:ext cx="111125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3160" name="Text Box 8">
            <a:extLst>
              <a:ext uri="{FF2B5EF4-FFF2-40B4-BE49-F238E27FC236}">
                <a16:creationId xmlns:a16="http://schemas.microsoft.com/office/drawing/2014/main" id="{77830C0F-9AC2-4452-8C55-79069C960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4888" y="5214938"/>
            <a:ext cx="117951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所以有 </a:t>
            </a:r>
          </a:p>
        </p:txBody>
      </p:sp>
      <p:graphicFrame>
        <p:nvGraphicFramePr>
          <p:cNvPr id="433161" name="Object 9">
            <a:extLst>
              <a:ext uri="{FF2B5EF4-FFF2-40B4-BE49-F238E27FC236}">
                <a16:creationId xmlns:a16="http://schemas.microsoft.com/office/drawing/2014/main" id="{2BAC9046-E392-4A1C-BFCF-F1D4A659C7E9}"/>
              </a:ext>
            </a:extLst>
          </p:cNvPr>
          <p:cNvGraphicFramePr>
            <a:graphicFrameLocks/>
          </p:cNvGraphicFramePr>
          <p:nvPr/>
        </p:nvGraphicFramePr>
        <p:xfrm>
          <a:off x="3717925" y="5632450"/>
          <a:ext cx="44958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" r:id="rId7" imgW="1929563" imgH="431613" progId="Equation.DSMT4">
                  <p:embed/>
                </p:oleObj>
              </mc:Choice>
              <mc:Fallback>
                <p:oleObj r:id="rId7" imgW="1929563" imgH="431613" progId="Equation.DSMT4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7925" y="5632450"/>
                        <a:ext cx="44958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>
            <a:extLst>
              <a:ext uri="{FF2B5EF4-FFF2-40B4-BE49-F238E27FC236}">
                <a16:creationId xmlns:a16="http://schemas.microsoft.com/office/drawing/2014/main" id="{7C04467E-CA4E-42B8-AA5C-F4E5E73C9114}"/>
              </a:ext>
            </a:extLst>
          </p:cNvPr>
          <p:cNvGrpSpPr>
            <a:grpSpLocks/>
          </p:cNvGrpSpPr>
          <p:nvPr/>
        </p:nvGrpSpPr>
        <p:grpSpPr bwMode="auto">
          <a:xfrm>
            <a:off x="409575" y="3860800"/>
            <a:ext cx="2478088" cy="2997200"/>
            <a:chOff x="864" y="1968"/>
            <a:chExt cx="1561" cy="1888"/>
          </a:xfrm>
        </p:grpSpPr>
        <p:sp>
          <p:nvSpPr>
            <p:cNvPr id="433163" name="Oval 11">
              <a:extLst>
                <a:ext uri="{FF2B5EF4-FFF2-40B4-BE49-F238E27FC236}">
                  <a16:creationId xmlns:a16="http://schemas.microsoft.com/office/drawing/2014/main" id="{120B5B9D-5A23-4B9A-855B-24EDE22F3CC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3742011">
              <a:off x="1320" y="2328"/>
              <a:ext cx="528" cy="105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  <a:rou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3164" name="Line 12">
              <a:extLst>
                <a:ext uri="{FF2B5EF4-FFF2-40B4-BE49-F238E27FC236}">
                  <a16:creationId xmlns:a16="http://schemas.microsoft.com/office/drawing/2014/main" id="{AC734B94-FA86-4732-A108-7E2DDFA704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2352"/>
              <a:ext cx="288" cy="48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3165" name="Line 13">
              <a:extLst>
                <a:ext uri="{FF2B5EF4-FFF2-40B4-BE49-F238E27FC236}">
                  <a16:creationId xmlns:a16="http://schemas.microsoft.com/office/drawing/2014/main" id="{26AAA04A-4AE6-4A51-9D62-78AB0871C5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2" y="2832"/>
              <a:ext cx="432" cy="72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prstDash val="sysDot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3166" name="Line 14">
              <a:extLst>
                <a:ext uri="{FF2B5EF4-FFF2-40B4-BE49-F238E27FC236}">
                  <a16:creationId xmlns:a16="http://schemas.microsoft.com/office/drawing/2014/main" id="{3FD82FDA-42D5-4BEA-8C11-A8C27CE00A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832"/>
              <a:ext cx="43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3167" name="Oval 15">
              <a:extLst>
                <a:ext uri="{FF2B5EF4-FFF2-40B4-BE49-F238E27FC236}">
                  <a16:creationId xmlns:a16="http://schemas.microsoft.com/office/drawing/2014/main" id="{5FBA740A-6B2C-4995-A249-6C2A95D1A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88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3168" name="Line 16">
              <a:extLst>
                <a:ext uri="{FF2B5EF4-FFF2-40B4-BE49-F238E27FC236}">
                  <a16:creationId xmlns:a16="http://schemas.microsoft.com/office/drawing/2014/main" id="{BB0A0DAE-E695-4C87-904A-4ABFE45C36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20" y="2640"/>
              <a:ext cx="144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3169" name="Line 17">
              <a:extLst>
                <a:ext uri="{FF2B5EF4-FFF2-40B4-BE49-F238E27FC236}">
                  <a16:creationId xmlns:a16="http://schemas.microsoft.com/office/drawing/2014/main" id="{2ED06628-3CA8-4DB6-87F8-81D94E1A3C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83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3170" name="Line 18">
              <a:extLst>
                <a:ext uri="{FF2B5EF4-FFF2-40B4-BE49-F238E27FC236}">
                  <a16:creationId xmlns:a16="http://schemas.microsoft.com/office/drawing/2014/main" id="{390D5DFD-FCB3-4F9D-B395-5767C620AC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2256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3171" name="Text Box 19">
              <a:extLst>
                <a:ext uri="{FF2B5EF4-FFF2-40B4-BE49-F238E27FC236}">
                  <a16:creationId xmlns:a16="http://schemas.microsoft.com/office/drawing/2014/main" id="{B874A720-3A2C-41EC-A48B-A299190FFF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2816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kumimoji="1"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-e</a:t>
              </a:r>
            </a:p>
          </p:txBody>
        </p:sp>
        <p:graphicFrame>
          <p:nvGraphicFramePr>
            <p:cNvPr id="4114" name="Object 20">
              <a:extLst>
                <a:ext uri="{FF2B5EF4-FFF2-40B4-BE49-F238E27FC236}">
                  <a16:creationId xmlns:a16="http://schemas.microsoft.com/office/drawing/2014/main" id="{63F57D78-2BFF-4C4C-A634-55515D99E9D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016" y="2592"/>
            <a:ext cx="177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4" r:id="rId9" imgW="126725" imgH="177415" progId="Equation.3">
                    <p:embed/>
                  </p:oleObj>
                </mc:Choice>
                <mc:Fallback>
                  <p:oleObj r:id="rId9" imgW="126725" imgH="177415" progId="Equation.3">
                    <p:embed/>
                    <p:pic>
                      <p:nvPicPr>
                        <p:cNvPr id="0" name="Object 2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2592"/>
                          <a:ext cx="177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5" name="Object 21">
              <a:extLst>
                <a:ext uri="{FF2B5EF4-FFF2-40B4-BE49-F238E27FC236}">
                  <a16:creationId xmlns:a16="http://schemas.microsoft.com/office/drawing/2014/main" id="{0F32AEF0-C3DB-4F09-B0EF-0E2F9453E82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920" y="2112"/>
            <a:ext cx="228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5" r:id="rId11" imgW="152268" imgH="203024" progId="Equation.3">
                    <p:embed/>
                  </p:oleObj>
                </mc:Choice>
                <mc:Fallback>
                  <p:oleObj r:id="rId11" imgW="152268" imgH="203024" progId="Equation.3">
                    <p:embed/>
                    <p:pic>
                      <p:nvPicPr>
                        <p:cNvPr id="0" name="Object 2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2112"/>
                          <a:ext cx="228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6" name="Object 22">
              <a:extLst>
                <a:ext uri="{FF2B5EF4-FFF2-40B4-BE49-F238E27FC236}">
                  <a16:creationId xmlns:a16="http://schemas.microsoft.com/office/drawing/2014/main" id="{C4EF8B2F-BDF2-48E6-99BD-84B5D2C9869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864" y="3504"/>
            <a:ext cx="263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6" r:id="rId13" imgW="152268" imgH="203024" progId="Equation.3">
                    <p:embed/>
                  </p:oleObj>
                </mc:Choice>
                <mc:Fallback>
                  <p:oleObj r:id="rId13" imgW="152268" imgH="203024" progId="Equation.3">
                    <p:embed/>
                    <p:pic>
                      <p:nvPicPr>
                        <p:cNvPr id="0" name="Object 2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3504"/>
                          <a:ext cx="263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7" name="Object 23">
              <a:extLst>
                <a:ext uri="{FF2B5EF4-FFF2-40B4-BE49-F238E27FC236}">
                  <a16:creationId xmlns:a16="http://schemas.microsoft.com/office/drawing/2014/main" id="{12020269-3E4D-41A8-A142-120D53B4936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344" y="1968"/>
            <a:ext cx="552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7" r:id="rId15" imgW="380670" imgH="203024" progId="Equation.3">
                    <p:embed/>
                  </p:oleObj>
                </mc:Choice>
                <mc:Fallback>
                  <p:oleObj r:id="rId15" imgW="380670" imgH="203024" progId="Equation.3">
                    <p:embed/>
                    <p:pic>
                      <p:nvPicPr>
                        <p:cNvPr id="0" name="Object 2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1968"/>
                          <a:ext cx="552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3176" name="Rectangle 24">
            <a:extLst>
              <a:ext uri="{FF2B5EF4-FFF2-40B4-BE49-F238E27FC236}">
                <a16:creationId xmlns:a16="http://schemas.microsoft.com/office/drawing/2014/main" id="{E05F4B47-A73C-4E50-B8CE-7F228CD7C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77925"/>
            <a:ext cx="5368925" cy="5222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一、</a:t>
            </a:r>
            <a:r>
              <a:rPr kumimoji="1" lang="zh-CN" altLang="en-US" sz="28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斯特恩</a:t>
            </a:r>
            <a:r>
              <a:rPr kumimoji="1" lang="en-US" altLang="zh-CN" sz="28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</a:t>
            </a:r>
            <a:r>
              <a:rPr kumimoji="1" lang="zh-CN" altLang="en-US" sz="28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格拉赫实验（</a:t>
            </a:r>
            <a:r>
              <a:rPr kumimoji="1" lang="en-US" altLang="zh-CN" sz="28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1921</a:t>
            </a:r>
            <a:r>
              <a:rPr kumimoji="1" lang="zh-CN" altLang="en-US" sz="28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）</a:t>
            </a:r>
          </a:p>
        </p:txBody>
      </p:sp>
      <p:cxnSp>
        <p:nvCxnSpPr>
          <p:cNvPr id="4119" name="直接连接符 10">
            <a:extLst>
              <a:ext uri="{FF2B5EF4-FFF2-40B4-BE49-F238E27FC236}">
                <a16:creationId xmlns:a16="http://schemas.microsoft.com/office/drawing/2014/main" id="{28781728-E0DD-4B13-A6D5-84B94CEAACC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38150" y="981075"/>
            <a:ext cx="8405813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3154" name="标题 433153">
            <a:extLst>
              <a:ext uri="{FF2B5EF4-FFF2-40B4-BE49-F238E27FC236}">
                <a16:creationId xmlns:a16="http://schemas.microsoft.com/office/drawing/2014/main" id="{7F326419-B771-47C5-8C16-6C8D7FA28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196850"/>
            <a:ext cx="7485063" cy="698500"/>
          </a:xfrm>
        </p:spPr>
        <p:txBody>
          <a:bodyPr/>
          <a:lstStyle/>
          <a:p>
            <a:pPr>
              <a:defRPr/>
            </a:pPr>
            <a:r>
              <a:rPr kumimoji="1" lang="en-US" altLang="zh-CN" sz="3200" b="1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15-11 </a:t>
            </a:r>
            <a:r>
              <a:rPr kumimoji="1" lang="zh-CN" altLang="en-US" sz="3200" b="1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</a:rPr>
              <a:t>电子的自旋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33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3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3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3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3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3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3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33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155" grpId="0"/>
      <p:bldP spid="433156" grpId="0"/>
      <p:bldP spid="433157" grpId="0"/>
      <p:bldP spid="433160" grpId="0"/>
      <p:bldP spid="433176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4179" name="Object 3">
            <a:extLst>
              <a:ext uri="{FF2B5EF4-FFF2-40B4-BE49-F238E27FC236}">
                <a16:creationId xmlns:a16="http://schemas.microsoft.com/office/drawing/2014/main" id="{9C139C8B-2C96-4D47-916A-3BA95943B29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132138" y="3860800"/>
          <a:ext cx="1887537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1" r:id="rId3" imgW="672808" imgH="393529" progId="Equation.3">
                  <p:embed/>
                </p:oleObj>
              </mc:Choice>
              <mc:Fallback>
                <p:oleObj r:id="rId3" imgW="672808" imgH="393529" progId="Equation.3">
                  <p:embed/>
                  <p:pic>
                    <p:nvPicPr>
                      <p:cNvPr id="0" name="Object 3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3860800"/>
                        <a:ext cx="1887537" cy="98583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4180" name="Text Box 4">
            <a:extLst>
              <a:ext uri="{FF2B5EF4-FFF2-40B4-BE49-F238E27FC236}">
                <a16:creationId xmlns:a16="http://schemas.microsoft.com/office/drawing/2014/main" id="{1653DFE0-04C3-4E42-B727-59AE045CF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484313"/>
            <a:ext cx="64325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由于电子带负电，角动量与磁矩的</a:t>
            </a:r>
            <a:r>
              <a:rPr kumimoji="1"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矢量关系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为</a:t>
            </a:r>
          </a:p>
        </p:txBody>
      </p:sp>
      <p:graphicFrame>
        <p:nvGraphicFramePr>
          <p:cNvPr id="434181" name="Object 5">
            <a:extLst>
              <a:ext uri="{FF2B5EF4-FFF2-40B4-BE49-F238E27FC236}">
                <a16:creationId xmlns:a16="http://schemas.microsoft.com/office/drawing/2014/main" id="{D2866B8B-8C78-4FD9-8597-62BB84111EBD}"/>
              </a:ext>
            </a:extLst>
          </p:cNvPr>
          <p:cNvGraphicFramePr>
            <a:graphicFrameLocks/>
          </p:cNvGraphicFramePr>
          <p:nvPr/>
        </p:nvGraphicFramePr>
        <p:xfrm>
          <a:off x="2686050" y="1941513"/>
          <a:ext cx="175577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" r:id="rId5" imgW="748975" imgH="393529" progId="Equation.DSMT4">
                  <p:embed/>
                </p:oleObj>
              </mc:Choice>
              <mc:Fallback>
                <p:oleObj r:id="rId5" imgW="748975" imgH="393529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6050" y="1941513"/>
                        <a:ext cx="1755775" cy="8699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66CC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4182" name="Text Box 6">
            <a:extLst>
              <a:ext uri="{FF2B5EF4-FFF2-40B4-BE49-F238E27FC236}">
                <a16:creationId xmlns:a16="http://schemas.microsoft.com/office/drawing/2014/main" id="{DF918170-A1B3-413E-9096-C899F3047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971800"/>
            <a:ext cx="7375525" cy="8302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若角动量是空间量子化的，那么磁矩也是空间量子化的，它在空间</a:t>
            </a:r>
            <a:r>
              <a:rPr kumimoji="1" lang="zh-CN" alt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1" lang="en-US" altLang="zh-CN" b="1" i="1">
                <a:effectLst>
                  <a:outerShdw blurRad="38100" dist="38100" dir="2700000" algn="tl">
                    <a:srgbClr val="C0C0C0"/>
                  </a:outerShdw>
                </a:effectLst>
              </a:rPr>
              <a:t>z 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方向的投影也是量子化的，应有 </a:t>
            </a:r>
          </a:p>
        </p:txBody>
      </p:sp>
      <p:graphicFrame>
        <p:nvGraphicFramePr>
          <p:cNvPr id="434183" name="Object 7">
            <a:extLst>
              <a:ext uri="{FF2B5EF4-FFF2-40B4-BE49-F238E27FC236}">
                <a16:creationId xmlns:a16="http://schemas.microsoft.com/office/drawing/2014/main" id="{64B4C608-F640-44A1-B51F-D10885D506AE}"/>
              </a:ext>
            </a:extLst>
          </p:cNvPr>
          <p:cNvGraphicFramePr>
            <a:graphicFrameLocks/>
          </p:cNvGraphicFramePr>
          <p:nvPr/>
        </p:nvGraphicFramePr>
        <p:xfrm>
          <a:off x="1052513" y="3840163"/>
          <a:ext cx="2116137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" r:id="rId7" imgW="850531" imgH="393529" progId="Equation.3">
                  <p:embed/>
                </p:oleObj>
              </mc:Choice>
              <mc:Fallback>
                <p:oleObj r:id="rId7" imgW="850531" imgH="393529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513" y="3840163"/>
                        <a:ext cx="2116137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>
            <a:extLst>
              <a:ext uri="{FF2B5EF4-FFF2-40B4-BE49-F238E27FC236}">
                <a16:creationId xmlns:a16="http://schemas.microsoft.com/office/drawing/2014/main" id="{EC31C24A-5202-4323-B9E2-64EBDEB1B48E}"/>
              </a:ext>
            </a:extLst>
          </p:cNvPr>
          <p:cNvGrpSpPr>
            <a:grpSpLocks/>
          </p:cNvGrpSpPr>
          <p:nvPr/>
        </p:nvGrpSpPr>
        <p:grpSpPr bwMode="auto">
          <a:xfrm>
            <a:off x="346075" y="4995863"/>
            <a:ext cx="4283075" cy="647700"/>
            <a:chOff x="480" y="2832"/>
            <a:chExt cx="2698" cy="408"/>
          </a:xfrm>
        </p:grpSpPr>
        <p:graphicFrame>
          <p:nvGraphicFramePr>
            <p:cNvPr id="5127" name="Object 9">
              <a:extLst>
                <a:ext uri="{FF2B5EF4-FFF2-40B4-BE49-F238E27FC236}">
                  <a16:creationId xmlns:a16="http://schemas.microsoft.com/office/drawing/2014/main" id="{D7F9A9FB-72CC-4887-AEF1-A9FF303799B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80" y="2832"/>
            <a:ext cx="340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4" r:id="rId9" imgW="190417" imgH="228501" progId="Equation.3">
                    <p:embed/>
                  </p:oleObj>
                </mc:Choice>
                <mc:Fallback>
                  <p:oleObj r:id="rId9" imgW="190417" imgH="228501" progId="Equation.3">
                    <p:embed/>
                    <p:pic>
                      <p:nvPicPr>
                        <p:cNvPr id="0" name="Object 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2832"/>
                          <a:ext cx="340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4186" name="Text Box 10">
              <a:extLst>
                <a:ext uri="{FF2B5EF4-FFF2-40B4-BE49-F238E27FC236}">
                  <a16:creationId xmlns:a16="http://schemas.microsoft.com/office/drawing/2014/main" id="{F5BEA4F6-A5E4-42B3-BCF0-53BBAA74D4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" y="2893"/>
              <a:ext cx="242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kumimoji="1"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</a:rPr>
                <a:t>也应有          种取值。</a:t>
              </a:r>
            </a:p>
          </p:txBody>
        </p:sp>
        <p:graphicFrame>
          <p:nvGraphicFramePr>
            <p:cNvPr id="5129" name="Object 11">
              <a:extLst>
                <a:ext uri="{FF2B5EF4-FFF2-40B4-BE49-F238E27FC236}">
                  <a16:creationId xmlns:a16="http://schemas.microsoft.com/office/drawing/2014/main" id="{42685183-5C02-4398-A131-2E1123019EA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615" y="2880"/>
            <a:ext cx="589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5" r:id="rId11" imgW="354984" imgH="177492" progId="Equation.DSMT4">
                    <p:embed/>
                  </p:oleObj>
                </mc:Choice>
                <mc:Fallback>
                  <p:oleObj r:id="rId11" imgW="354984" imgH="177492" progId="Equation.DSMT4">
                    <p:embed/>
                    <p:pic>
                      <p:nvPicPr>
                        <p:cNvPr id="0" name="Object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5" y="2880"/>
                          <a:ext cx="589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4188" name="Text Box 12">
            <a:extLst>
              <a:ext uri="{FF2B5EF4-FFF2-40B4-BE49-F238E27FC236}">
                <a16:creationId xmlns:a16="http://schemas.microsoft.com/office/drawing/2014/main" id="{3F577D1A-B593-4FBD-8C70-239B84E52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8238" y="4757738"/>
            <a:ext cx="2509837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(</a:t>
            </a:r>
            <a:r>
              <a:rPr kumimoji="1" lang="en-US" altLang="zh-CN" b="1" i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</a:t>
            </a:r>
            <a:r>
              <a:rPr kumimoji="1" lang="en-US" altLang="zh-CN" b="1" i="1" baseline="-250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 </a:t>
            </a:r>
            <a:r>
              <a:rPr kumimoji="1"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---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磁量子数</a:t>
            </a:r>
            <a:r>
              <a:rPr kumimoji="1"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)</a:t>
            </a:r>
          </a:p>
        </p:txBody>
      </p:sp>
      <p:graphicFrame>
        <p:nvGraphicFramePr>
          <p:cNvPr id="434189" name="Object 13">
            <a:extLst>
              <a:ext uri="{FF2B5EF4-FFF2-40B4-BE49-F238E27FC236}">
                <a16:creationId xmlns:a16="http://schemas.microsoft.com/office/drawing/2014/main" id="{3B010786-71FA-4F37-87B2-E3493769A2AF}"/>
              </a:ext>
            </a:extLst>
          </p:cNvPr>
          <p:cNvGraphicFramePr>
            <a:graphicFrameLocks/>
          </p:cNvGraphicFramePr>
          <p:nvPr/>
        </p:nvGraphicFramePr>
        <p:xfrm>
          <a:off x="6256338" y="4117975"/>
          <a:ext cx="1646237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6" r:id="rId13" imgW="583947" imgH="228501" progId="Equation.DSMT4">
                  <p:embed/>
                </p:oleObj>
              </mc:Choice>
              <mc:Fallback>
                <p:oleObj r:id="rId13" imgW="583947" imgH="228501" progId="Equation.DSMT4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6338" y="4117975"/>
                        <a:ext cx="1646237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2" name="Object 14">
            <a:extLst>
              <a:ext uri="{FF2B5EF4-FFF2-40B4-BE49-F238E27FC236}">
                <a16:creationId xmlns:a16="http://schemas.microsoft.com/office/drawing/2014/main" id="{7381E6D9-DF40-4E5A-8758-73513B15F6A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971550" y="333375"/>
          <a:ext cx="5184775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7" r:id="rId15" imgW="1942257" imgH="431613" progId="Equation.DSMT4">
                  <p:embed/>
                </p:oleObj>
              </mc:Choice>
              <mc:Fallback>
                <p:oleObj r:id="rId15" imgW="1942257" imgH="431613" progId="Equation.DSMT4">
                  <p:embed/>
                  <p:pic>
                    <p:nvPicPr>
                      <p:cNvPr id="0" name="Object 14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33375"/>
                        <a:ext cx="5184775" cy="115093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33" name="Group 15">
            <a:extLst>
              <a:ext uri="{FF2B5EF4-FFF2-40B4-BE49-F238E27FC236}">
                <a16:creationId xmlns:a16="http://schemas.microsoft.com/office/drawing/2014/main" id="{C8C95721-8E1D-40BE-968C-A3C051E5DFAE}"/>
              </a:ext>
            </a:extLst>
          </p:cNvPr>
          <p:cNvGrpSpPr>
            <a:grpSpLocks/>
          </p:cNvGrpSpPr>
          <p:nvPr/>
        </p:nvGrpSpPr>
        <p:grpSpPr bwMode="auto">
          <a:xfrm>
            <a:off x="6524625" y="41275"/>
            <a:ext cx="2478088" cy="2997200"/>
            <a:chOff x="864" y="1968"/>
            <a:chExt cx="1561" cy="1888"/>
          </a:xfrm>
        </p:grpSpPr>
        <p:sp>
          <p:nvSpPr>
            <p:cNvPr id="434192" name="Oval 16">
              <a:extLst>
                <a:ext uri="{FF2B5EF4-FFF2-40B4-BE49-F238E27FC236}">
                  <a16:creationId xmlns:a16="http://schemas.microsoft.com/office/drawing/2014/main" id="{46D35DA3-82D4-4D59-88DA-433E0097D48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3742011">
              <a:off x="1320" y="2328"/>
              <a:ext cx="528" cy="105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  <a:rou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4193" name="Line 17">
              <a:extLst>
                <a:ext uri="{FF2B5EF4-FFF2-40B4-BE49-F238E27FC236}">
                  <a16:creationId xmlns:a16="http://schemas.microsoft.com/office/drawing/2014/main" id="{74ECFE0C-9CD6-4493-AB72-7684917F00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2352"/>
              <a:ext cx="288" cy="48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4194" name="Line 18">
              <a:extLst>
                <a:ext uri="{FF2B5EF4-FFF2-40B4-BE49-F238E27FC236}">
                  <a16:creationId xmlns:a16="http://schemas.microsoft.com/office/drawing/2014/main" id="{16C9BF6A-F359-4007-A55C-CAC89815A2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2" y="2832"/>
              <a:ext cx="432" cy="72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prstDash val="sysDot"/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4195" name="Line 19">
              <a:extLst>
                <a:ext uri="{FF2B5EF4-FFF2-40B4-BE49-F238E27FC236}">
                  <a16:creationId xmlns:a16="http://schemas.microsoft.com/office/drawing/2014/main" id="{8402A38B-C6FF-4618-9BD3-2EA988EB10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832"/>
              <a:ext cx="43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4196" name="Oval 20">
              <a:extLst>
                <a:ext uri="{FF2B5EF4-FFF2-40B4-BE49-F238E27FC236}">
                  <a16:creationId xmlns:a16="http://schemas.microsoft.com/office/drawing/2014/main" id="{CEE6C6D0-3B2B-4D46-9FBD-5C49DED77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88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4197" name="Line 21">
              <a:extLst>
                <a:ext uri="{FF2B5EF4-FFF2-40B4-BE49-F238E27FC236}">
                  <a16:creationId xmlns:a16="http://schemas.microsoft.com/office/drawing/2014/main" id="{1A5C8665-74CA-4287-98F0-72640154DB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20" y="2640"/>
              <a:ext cx="144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4198" name="Line 22">
              <a:extLst>
                <a:ext uri="{FF2B5EF4-FFF2-40B4-BE49-F238E27FC236}">
                  <a16:creationId xmlns:a16="http://schemas.microsoft.com/office/drawing/2014/main" id="{9FCB43CF-A313-40B1-891C-EADCE10B4C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83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4199" name="Line 23">
              <a:extLst>
                <a:ext uri="{FF2B5EF4-FFF2-40B4-BE49-F238E27FC236}">
                  <a16:creationId xmlns:a16="http://schemas.microsoft.com/office/drawing/2014/main" id="{E34D7A86-0D61-4AAE-8EE0-DFCD4FD9B3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2256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4200" name="Text Box 24">
              <a:extLst>
                <a:ext uri="{FF2B5EF4-FFF2-40B4-BE49-F238E27FC236}">
                  <a16:creationId xmlns:a16="http://schemas.microsoft.com/office/drawing/2014/main" id="{A1F11ABA-8D26-480A-A2D6-227B585303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2816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kumimoji="1"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ea typeface="宋体" panose="02010600030101010101" pitchFamily="2" charset="-122"/>
                </a:rPr>
                <a:t>-e</a:t>
              </a:r>
            </a:p>
          </p:txBody>
        </p:sp>
        <p:graphicFrame>
          <p:nvGraphicFramePr>
            <p:cNvPr id="5143" name="Object 25">
              <a:extLst>
                <a:ext uri="{FF2B5EF4-FFF2-40B4-BE49-F238E27FC236}">
                  <a16:creationId xmlns:a16="http://schemas.microsoft.com/office/drawing/2014/main" id="{9FE809DA-448D-4E89-A232-8DC2082444C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016" y="2592"/>
            <a:ext cx="177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8" r:id="rId17" imgW="126725" imgH="177415" progId="Equation.3">
                    <p:embed/>
                  </p:oleObj>
                </mc:Choice>
                <mc:Fallback>
                  <p:oleObj r:id="rId17" imgW="126725" imgH="177415" progId="Equation.3">
                    <p:embed/>
                    <p:pic>
                      <p:nvPicPr>
                        <p:cNvPr id="0" name="Object 2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2592"/>
                          <a:ext cx="177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44" name="Object 26">
              <a:extLst>
                <a:ext uri="{FF2B5EF4-FFF2-40B4-BE49-F238E27FC236}">
                  <a16:creationId xmlns:a16="http://schemas.microsoft.com/office/drawing/2014/main" id="{948F3A97-FF49-41CD-938C-284D5FD4057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920" y="2112"/>
            <a:ext cx="228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9" r:id="rId19" imgW="152268" imgH="203024" progId="Equation.3">
                    <p:embed/>
                  </p:oleObj>
                </mc:Choice>
                <mc:Fallback>
                  <p:oleObj r:id="rId19" imgW="152268" imgH="203024" progId="Equation.3">
                    <p:embed/>
                    <p:pic>
                      <p:nvPicPr>
                        <p:cNvPr id="0" name="Object 2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2112"/>
                          <a:ext cx="228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45" name="Object 27">
              <a:extLst>
                <a:ext uri="{FF2B5EF4-FFF2-40B4-BE49-F238E27FC236}">
                  <a16:creationId xmlns:a16="http://schemas.microsoft.com/office/drawing/2014/main" id="{A2B8472C-3F91-4FE2-BD31-4C5D0978F5C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864" y="3504"/>
            <a:ext cx="263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0" r:id="rId21" imgW="152268" imgH="203024" progId="Equation.3">
                    <p:embed/>
                  </p:oleObj>
                </mc:Choice>
                <mc:Fallback>
                  <p:oleObj r:id="rId21" imgW="152268" imgH="203024" progId="Equation.3">
                    <p:embed/>
                    <p:pic>
                      <p:nvPicPr>
                        <p:cNvPr id="0" name="Object 2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3504"/>
                          <a:ext cx="263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46" name="Object 28">
              <a:extLst>
                <a:ext uri="{FF2B5EF4-FFF2-40B4-BE49-F238E27FC236}">
                  <a16:creationId xmlns:a16="http://schemas.microsoft.com/office/drawing/2014/main" id="{D3C57AFC-D5C4-44DA-9712-36F434323C3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344" y="1968"/>
            <a:ext cx="552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1" r:id="rId23" imgW="380670" imgH="203024" progId="Equation.3">
                    <p:embed/>
                  </p:oleObj>
                </mc:Choice>
                <mc:Fallback>
                  <p:oleObj r:id="rId23" imgW="380670" imgH="203024" progId="Equation.3">
                    <p:embed/>
                    <p:pic>
                      <p:nvPicPr>
                        <p:cNvPr id="0" name="Object 2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1968"/>
                          <a:ext cx="552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" name="Rectangle 9">
            <a:extLst>
              <a:ext uri="{FF2B5EF4-FFF2-40B4-BE49-F238E27FC236}">
                <a16:creationId xmlns:a16="http://schemas.microsoft.com/office/drawing/2014/main" id="{945DABA0-57D0-4E01-9715-703F129DA895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66725" y="5829300"/>
            <a:ext cx="32321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令原子通过非均匀磁场</a:t>
            </a:r>
          </a:p>
        </p:txBody>
      </p:sp>
      <p:grpSp>
        <p:nvGrpSpPr>
          <p:cNvPr id="8" name="Group 36">
            <a:extLst>
              <a:ext uri="{FF2B5EF4-FFF2-40B4-BE49-F238E27FC236}">
                <a16:creationId xmlns:a16="http://schemas.microsoft.com/office/drawing/2014/main" id="{2601DEB9-720B-403B-83F8-73BECB70141C}"/>
              </a:ext>
            </a:extLst>
          </p:cNvPr>
          <p:cNvGrpSpPr>
            <a:grpSpLocks/>
          </p:cNvGrpSpPr>
          <p:nvPr/>
        </p:nvGrpSpPr>
        <p:grpSpPr bwMode="auto">
          <a:xfrm>
            <a:off x="4430713" y="5829300"/>
            <a:ext cx="3840162" cy="460375"/>
            <a:chOff x="894" y="3986"/>
            <a:chExt cx="2419" cy="290"/>
          </a:xfrm>
        </p:grpSpPr>
        <p:sp>
          <p:nvSpPr>
            <p:cNvPr id="5149" name="Text Box 38">
              <a:extLst>
                <a:ext uri="{FF2B5EF4-FFF2-40B4-BE49-F238E27FC236}">
                  <a16:creationId xmlns:a16="http://schemas.microsoft.com/office/drawing/2014/main" id="{86A36817-301B-4EAC-A72D-4FC5843745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" y="3986"/>
              <a:ext cx="2419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chemeClr val="accent2"/>
                  </a:solidFill>
                </a:rPr>
                <a:t>原子轨迹有            个取值。</a:t>
              </a:r>
            </a:p>
          </p:txBody>
        </p:sp>
        <p:graphicFrame>
          <p:nvGraphicFramePr>
            <p:cNvPr id="5150" name="Object 39">
              <a:extLst>
                <a:ext uri="{FF2B5EF4-FFF2-40B4-BE49-F238E27FC236}">
                  <a16:creationId xmlns:a16="http://schemas.microsoft.com/office/drawing/2014/main" id="{C8AA18F7-2F8F-403D-AD73-D233F8067A3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955" y="4017"/>
            <a:ext cx="521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2" r:id="rId25" imgW="380340" imgH="177492" progId="Equation.3">
                    <p:embed/>
                  </p:oleObj>
                </mc:Choice>
                <mc:Fallback>
                  <p:oleObj r:id="rId25" imgW="380340" imgH="177492" progId="Equation.3">
                    <p:embed/>
                    <p:pic>
                      <p:nvPicPr>
                        <p:cNvPr id="0" name="Object 3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5" y="4017"/>
                          <a:ext cx="521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4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4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4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4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3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434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34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180" grpId="0"/>
      <p:bldP spid="434182" grpId="0" bldLvl="0" animBg="1"/>
      <p:bldP spid="434188" grpId="0" bldLvl="0" animBg="1"/>
      <p:bldP spid="41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7" name="Rectangle 3">
            <a:extLst>
              <a:ext uri="{FF2B5EF4-FFF2-40B4-BE49-F238E27FC236}">
                <a16:creationId xmlns:a16="http://schemas.microsoft.com/office/drawing/2014/main" id="{C8D2AAE7-AA75-4D55-8531-FC1CB670D17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52413" y="260350"/>
            <a:ext cx="2593975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2).  </a:t>
            </a:r>
            <a:r>
              <a:rPr kumimoji="1" lang="zh-CN" altLang="en-US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实验结果</a:t>
            </a:r>
          </a:p>
        </p:txBody>
      </p:sp>
      <p:sp>
        <p:nvSpPr>
          <p:cNvPr id="436228" name="Rectangle 4">
            <a:extLst>
              <a:ext uri="{FF2B5EF4-FFF2-40B4-BE49-F238E27FC236}">
                <a16:creationId xmlns:a16="http://schemas.microsoft.com/office/drawing/2014/main" id="{D4DF3459-0CDB-4B69-B2E2-A1927BBAEC10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79388" y="765175"/>
            <a:ext cx="7416800" cy="822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一束原子射线（</a:t>
            </a:r>
            <a:r>
              <a:rPr kumimoji="1" lang="zh-CN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基态</a:t>
            </a:r>
            <a:r>
              <a:rPr kumimoji="1" lang="zh-CN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银或氢</a:t>
            </a:r>
            <a:endParaRPr kumimoji="1" lang="zh-CN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r>
              <a:rPr kumimoji="1" lang="zh-CN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等）通过不均匀磁场</a:t>
            </a:r>
            <a:r>
              <a:rPr kumimoji="1" lang="zh-CN" altLang="zh-CN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分裂</a:t>
            </a:r>
            <a:r>
              <a:rPr kumimoji="1" lang="zh-CN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成两束。</a:t>
            </a:r>
            <a:endParaRPr kumimoji="1" lang="zh-CN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36229" name="Picture 5">
            <a:extLst>
              <a:ext uri="{FF2B5EF4-FFF2-40B4-BE49-F238E27FC236}">
                <a16:creationId xmlns:a16="http://schemas.microsoft.com/office/drawing/2014/main" id="{4D24FF72-E61E-4571-AF8D-5724C75A9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263" y="53975"/>
            <a:ext cx="4341812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 Box 3">
            <a:extLst>
              <a:ext uri="{FF2B5EF4-FFF2-40B4-BE49-F238E27FC236}">
                <a16:creationId xmlns:a16="http://schemas.microsoft.com/office/drawing/2014/main" id="{5B62A603-1E9B-4663-8A9C-C86B35720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1916113"/>
            <a:ext cx="655320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3). </a:t>
            </a: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斯 </a:t>
            </a:r>
            <a:r>
              <a:rPr kumimoji="1"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— </a:t>
            </a: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格实验的意义与问题</a:t>
            </a:r>
          </a:p>
        </p:txBody>
      </p:sp>
      <p:sp>
        <p:nvSpPr>
          <p:cNvPr id="17" name="Text Box 4">
            <a:extLst>
              <a:ext uri="{FF2B5EF4-FFF2-40B4-BE49-F238E27FC236}">
                <a16:creationId xmlns:a16="http://schemas.microsoft.com/office/drawing/2014/main" id="{B9B0B277-0BF7-469E-9113-CA51A8037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068638"/>
            <a:ext cx="87439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原子沉积层不是连续一片，而</a:t>
            </a:r>
            <a:r>
              <a:rPr kumimoji="1"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是</a:t>
            </a:r>
            <a:r>
              <a:rPr kumimoji="1"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分开</a:t>
            </a:r>
            <a:r>
              <a:rPr kumimoji="1"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上下两条</a:t>
            </a:r>
            <a:r>
              <a:rPr kumimoji="1"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401CB89C-E250-468A-B4DD-EDCB040C6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" y="3997325"/>
            <a:ext cx="525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提出了新的矛盾</a:t>
            </a:r>
          </a:p>
        </p:txBody>
      </p:sp>
      <p:sp>
        <p:nvSpPr>
          <p:cNvPr id="19" name="Text Box 6">
            <a:extLst>
              <a:ext uri="{FF2B5EF4-FFF2-40B4-BE49-F238E27FC236}">
                <a16:creationId xmlns:a16="http://schemas.microsoft.com/office/drawing/2014/main" id="{D5B466C3-F943-40EC-B721-A12C87133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7625" y="4438650"/>
            <a:ext cx="6905625" cy="5667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  <a:defRPr/>
            </a:pPr>
            <a:r>
              <a:rPr kumimoji="1"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</a:t>
            </a:r>
            <a:r>
              <a:rPr kumimoji="1" lang="en-US" altLang="zh-CN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 </a:t>
            </a:r>
            <a:r>
              <a:rPr kumimoji="1"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= 0</a:t>
            </a: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kumimoji="1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</a:t>
            </a: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+1=1  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银（或氢）原子</a:t>
            </a: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应有一条沉积线。</a:t>
            </a: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21F7DE58-F1E4-4F5D-B561-3BF14B9EA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540000"/>
            <a:ext cx="6553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证明了空间量子化的存在</a:t>
            </a:r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2D48100E-FAE7-4C35-A201-3A7BCB2C4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5087938"/>
            <a:ext cx="42910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实验结果却有两条沉积线，</a:t>
            </a:r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D4913EA4-82DA-4126-882B-46A4853FE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5626100"/>
            <a:ext cx="7010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这说明对原子中电子运动的描述是不完全的。</a:t>
            </a:r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E6EFD8F3-CBB5-4CF2-9DD9-7FB951382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138" y="3573463"/>
            <a:ext cx="670401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说明角动量空间量子化的存在。</a:t>
            </a:r>
          </a:p>
        </p:txBody>
      </p:sp>
      <p:sp>
        <p:nvSpPr>
          <p:cNvPr id="24" name="Text Box 11">
            <a:extLst>
              <a:ext uri="{FF2B5EF4-FFF2-40B4-BE49-F238E27FC236}">
                <a16:creationId xmlns:a16="http://schemas.microsoft.com/office/drawing/2014/main" id="{036F1458-A0CD-4F22-9B20-3BC8F8B68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988" y="4521200"/>
            <a:ext cx="7937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基态</a:t>
            </a:r>
            <a:endParaRPr kumimoji="1" lang="zh-CN" altLang="en-US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21B1CE9-139E-4677-8790-5B57A02AEE40}"/>
              </a:ext>
            </a:extLst>
          </p:cNvPr>
          <p:cNvSpPr txBox="1"/>
          <p:nvPr/>
        </p:nvSpPr>
        <p:spPr>
          <a:xfrm>
            <a:off x="2852738" y="6178550"/>
            <a:ext cx="1770062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+mn-ea"/>
              </a:rPr>
              <a:t>(</a:t>
            </a:r>
            <a:r>
              <a:rPr lang="zh-CN" altLang="en-US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i="1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+mn-ea"/>
              </a:rPr>
              <a:t>n , l</a:t>
            </a: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+mn-ea"/>
              </a:rPr>
              <a:t> , </a:t>
            </a:r>
            <a:r>
              <a:rPr lang="en-US" altLang="zh-CN" i="1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+mn-ea"/>
              </a:rPr>
              <a:t>m</a:t>
            </a:r>
            <a:r>
              <a:rPr lang="en-US" altLang="zh-CN" i="1" baseline="-25000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+mn-ea"/>
              </a:rPr>
              <a:t>l </a:t>
            </a: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+mn-ea"/>
              </a:rPr>
              <a:t>, </a:t>
            </a:r>
            <a:r>
              <a:rPr lang="en-US" altLang="zh-CN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+mn-ea"/>
              </a:rPr>
              <a:t>?</a:t>
            </a:r>
            <a:r>
              <a:rPr lang="en-US" altLang="zh-CN" noProof="1"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+mn-ea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36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36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28" grpId="0"/>
      <p:bldP spid="16" grpId="0" bldLvl="0" animBg="1"/>
      <p:bldP spid="17" grpId="0"/>
      <p:bldP spid="18" grpId="0"/>
      <p:bldP spid="19" grpId="0"/>
      <p:bldP spid="20" grpId="0"/>
      <p:bldP spid="21" grpId="0" bldLvl="0" animBg="1"/>
      <p:bldP spid="22" grpId="0" bldLvl="0" animBg="1"/>
      <p:bldP spid="23" grpId="0"/>
      <p:bldP spid="24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2">
            <a:extLst>
              <a:ext uri="{FF2B5EF4-FFF2-40B4-BE49-F238E27FC236}">
                <a16:creationId xmlns:a16="http://schemas.microsoft.com/office/drawing/2014/main" id="{8BEC15A5-C275-42AD-AEB7-5067C36AD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75" y="2366963"/>
            <a:ext cx="6985000" cy="936625"/>
          </a:xfrm>
          <a:prstGeom prst="rect">
            <a:avLst/>
          </a:prstGeom>
          <a:noFill/>
          <a:ln w="19050">
            <a:solidFill>
              <a:schemeClr val="tx2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zh-CN" altLang="zh-CN" b="1">
              <a:latin typeface="Tahoma" panose="020B0604030504040204" pitchFamily="34" charset="0"/>
            </a:endParaRPr>
          </a:p>
        </p:txBody>
      </p:sp>
      <p:sp>
        <p:nvSpPr>
          <p:cNvPr id="438276" name="Text Box 4">
            <a:extLst>
              <a:ext uri="{FF2B5EF4-FFF2-40B4-BE49-F238E27FC236}">
                <a16:creationId xmlns:a16="http://schemas.microsoft.com/office/drawing/2014/main" id="{EA049D79-7960-43AA-A8F7-3A1508DD6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57188"/>
            <a:ext cx="2316162" cy="520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28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二、电子自旋 </a:t>
            </a:r>
          </a:p>
        </p:txBody>
      </p:sp>
      <p:sp>
        <p:nvSpPr>
          <p:cNvPr id="438277" name="Text Box 5">
            <a:extLst>
              <a:ext uri="{FF2B5EF4-FFF2-40B4-BE49-F238E27FC236}">
                <a16:creationId xmlns:a16="http://schemas.microsoft.com/office/drawing/2014/main" id="{56EA8766-6AB1-42AF-92E8-2E559F6A4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346200"/>
            <a:ext cx="8234363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1925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年，两位荷兰学生</a:t>
            </a: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乌伦贝克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（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G.E.Uhlenbeck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）和</a:t>
            </a: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古兹</a:t>
            </a:r>
            <a:endParaRPr kumimoji="1" lang="zh-CN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米特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（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S. Goudsmit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）提出了大胆的假设：</a:t>
            </a:r>
          </a:p>
        </p:txBody>
      </p:sp>
      <p:sp>
        <p:nvSpPr>
          <p:cNvPr id="438278" name="Text Box 6">
            <a:extLst>
              <a:ext uri="{FF2B5EF4-FFF2-40B4-BE49-F238E27FC236}">
                <a16:creationId xmlns:a16="http://schemas.microsoft.com/office/drawing/2014/main" id="{DB6F07B6-6FED-4C80-8F3B-B40E59782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622800"/>
            <a:ext cx="4806950" cy="895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(1)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电子</a:t>
            </a:r>
            <a:r>
              <a:rPr kumimoji="1" lang="zh-CN" altLang="en-US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自旋角动量</a:t>
            </a:r>
            <a:r>
              <a:rPr kumimoji="1" lang="zh-CN" alt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1" lang="en-US" altLang="zh-CN" i="1">
                <a:effectLst>
                  <a:outerShdw blurRad="38100" dist="38100" dir="2700000" algn="tl">
                    <a:srgbClr val="C0C0C0"/>
                  </a:outerShdw>
                </a:effectLst>
              </a:rPr>
              <a:t>S 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的大小类似于</a:t>
            </a:r>
          </a:p>
          <a:p>
            <a:pPr>
              <a:lnSpc>
                <a:spcPct val="110000"/>
              </a:lnSpc>
              <a:defRPr/>
            </a:pPr>
            <a:r>
              <a:rPr kumimoji="1"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“轨道”角动量 为</a:t>
            </a:r>
          </a:p>
        </p:txBody>
      </p:sp>
      <p:graphicFrame>
        <p:nvGraphicFramePr>
          <p:cNvPr id="438279" name="Object 7">
            <a:extLst>
              <a:ext uri="{FF2B5EF4-FFF2-40B4-BE49-F238E27FC236}">
                <a16:creationId xmlns:a16="http://schemas.microsoft.com/office/drawing/2014/main" id="{99EB85CB-2D4A-466E-BA88-D21AF9A85D8A}"/>
              </a:ext>
            </a:extLst>
          </p:cNvPr>
          <p:cNvGraphicFramePr>
            <a:graphicFrameLocks/>
          </p:cNvGraphicFramePr>
          <p:nvPr/>
        </p:nvGraphicFramePr>
        <p:xfrm>
          <a:off x="1187450" y="5597525"/>
          <a:ext cx="2771775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8" r:id="rId4" imgW="1193760" imgH="304560" progId="Equation.3">
                  <p:embed/>
                </p:oleObj>
              </mc:Choice>
              <mc:Fallback>
                <p:oleObj r:id="rId4" imgW="1193760" imgH="30456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597525"/>
                        <a:ext cx="2771775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8280" name="Text Box 8">
            <a:extLst>
              <a:ext uri="{FF2B5EF4-FFF2-40B4-BE49-F238E27FC236}">
                <a16:creationId xmlns:a16="http://schemas.microsoft.com/office/drawing/2014/main" id="{EBD84AE8-5B81-4121-9415-B4D06385C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6284913"/>
            <a:ext cx="4038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  … </a:t>
            </a:r>
            <a:r>
              <a:rPr kumimoji="1" lang="en-US" altLang="zh-CN" i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kumimoji="1" lang="en-US" altLang="zh-CN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1"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称为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自旋量子数 </a:t>
            </a:r>
            <a:r>
              <a:rPr kumimoji="1"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      </a:t>
            </a:r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974155F4-EC66-4751-96AC-59E23A4E9916}"/>
              </a:ext>
            </a:extLst>
          </p:cNvPr>
          <p:cNvGrpSpPr>
            <a:grpSpLocks/>
          </p:cNvGrpSpPr>
          <p:nvPr/>
        </p:nvGrpSpPr>
        <p:grpSpPr bwMode="auto">
          <a:xfrm>
            <a:off x="6656388" y="3500438"/>
            <a:ext cx="1947862" cy="2149475"/>
            <a:chOff x="2976" y="2544"/>
            <a:chExt cx="1104" cy="1152"/>
          </a:xfrm>
        </p:grpSpPr>
        <p:sp>
          <p:nvSpPr>
            <p:cNvPr id="438283" name="Oval 11">
              <a:extLst>
                <a:ext uri="{FF2B5EF4-FFF2-40B4-BE49-F238E27FC236}">
                  <a16:creationId xmlns:a16="http://schemas.microsoft.com/office/drawing/2014/main" id="{24EBA9AF-9888-4E16-8059-5F6B13D8DB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1" y="3096"/>
              <a:ext cx="615" cy="600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FF9900">
                    <a:gamma/>
                    <a:shade val="0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284" name="Line 12">
              <a:extLst>
                <a:ext uri="{FF2B5EF4-FFF2-40B4-BE49-F238E27FC236}">
                  <a16:creationId xmlns:a16="http://schemas.microsoft.com/office/drawing/2014/main" id="{63DB843C-9644-4994-88C4-2386EEEE44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7" y="2760"/>
              <a:ext cx="0" cy="396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285" name="Arc 13">
              <a:extLst>
                <a:ext uri="{FF2B5EF4-FFF2-40B4-BE49-F238E27FC236}">
                  <a16:creationId xmlns:a16="http://schemas.microsoft.com/office/drawing/2014/main" id="{FF2E96D4-BADC-48AA-A39B-01AC9C1B2211}"/>
                </a:ext>
              </a:extLst>
            </p:cNvPr>
            <p:cNvSpPr/>
            <p:nvPr/>
          </p:nvSpPr>
          <p:spPr bwMode="auto">
            <a:xfrm>
              <a:off x="2976" y="3238"/>
              <a:ext cx="1104" cy="339"/>
            </a:xfrm>
            <a:custGeom>
              <a:avLst/>
              <a:gdLst>
                <a:gd name="G0" fmla="+- 21600 0 0"/>
                <a:gd name="G1" fmla="+- 18871 0 0"/>
                <a:gd name="G2" fmla="+- 21600 0 0"/>
                <a:gd name="T0" fmla="*/ 32110 w 43200"/>
                <a:gd name="T1" fmla="*/ 0 h 40471"/>
                <a:gd name="T2" fmla="*/ 9300 w 43200"/>
                <a:gd name="T3" fmla="*/ 1115 h 40471"/>
                <a:gd name="T4" fmla="*/ 21600 w 43200"/>
                <a:gd name="T5" fmla="*/ 18871 h 40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0471" fill="none" extrusionOk="0">
                  <a:moveTo>
                    <a:pt x="32109" y="0"/>
                  </a:moveTo>
                  <a:cubicBezTo>
                    <a:pt x="38955" y="3813"/>
                    <a:pt x="43200" y="11034"/>
                    <a:pt x="43200" y="18871"/>
                  </a:cubicBezTo>
                  <a:cubicBezTo>
                    <a:pt x="43200" y="30800"/>
                    <a:pt x="33529" y="40471"/>
                    <a:pt x="21600" y="40471"/>
                  </a:cubicBezTo>
                  <a:cubicBezTo>
                    <a:pt x="9670" y="40471"/>
                    <a:pt x="0" y="30800"/>
                    <a:pt x="0" y="18871"/>
                  </a:cubicBezTo>
                  <a:cubicBezTo>
                    <a:pt x="-1" y="11785"/>
                    <a:pt x="3475" y="5150"/>
                    <a:pt x="9300" y="1115"/>
                  </a:cubicBezTo>
                </a:path>
                <a:path w="43200" h="40471" stroke="0" extrusionOk="0">
                  <a:moveTo>
                    <a:pt x="32109" y="0"/>
                  </a:moveTo>
                  <a:cubicBezTo>
                    <a:pt x="38955" y="3813"/>
                    <a:pt x="43200" y="11034"/>
                    <a:pt x="43200" y="18871"/>
                  </a:cubicBezTo>
                  <a:cubicBezTo>
                    <a:pt x="43200" y="30800"/>
                    <a:pt x="33529" y="40471"/>
                    <a:pt x="21600" y="40471"/>
                  </a:cubicBezTo>
                  <a:cubicBezTo>
                    <a:pt x="9670" y="40471"/>
                    <a:pt x="0" y="30800"/>
                    <a:pt x="0" y="18871"/>
                  </a:cubicBezTo>
                  <a:cubicBezTo>
                    <a:pt x="-1" y="11785"/>
                    <a:pt x="3475" y="5150"/>
                    <a:pt x="9300" y="1115"/>
                  </a:cubicBezTo>
                  <a:lnTo>
                    <a:pt x="21600" y="18871"/>
                  </a:lnTo>
                  <a:close/>
                </a:path>
              </a:pathLst>
            </a:custGeom>
            <a:noFill/>
            <a:ln w="25400" cap="rnd">
              <a:solidFill>
                <a:srgbClr val="FF33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8286" name="Arc 14">
              <a:extLst>
                <a:ext uri="{FF2B5EF4-FFF2-40B4-BE49-F238E27FC236}">
                  <a16:creationId xmlns:a16="http://schemas.microsoft.com/office/drawing/2014/main" id="{967959B7-984D-4CD2-9E91-3F01A033C73F}"/>
                </a:ext>
              </a:extLst>
            </p:cNvPr>
            <p:cNvSpPr/>
            <p:nvPr/>
          </p:nvSpPr>
          <p:spPr bwMode="auto">
            <a:xfrm>
              <a:off x="2977" y="3248"/>
              <a:ext cx="1002" cy="330"/>
            </a:xfrm>
            <a:custGeom>
              <a:avLst/>
              <a:gdLst>
                <a:gd name="G0" fmla="+- 21600 0 0"/>
                <a:gd name="G1" fmla="+- 17756 0 0"/>
                <a:gd name="G2" fmla="+- 21600 0 0"/>
                <a:gd name="T0" fmla="*/ 39213 w 39213"/>
                <a:gd name="T1" fmla="*/ 30260 h 39356"/>
                <a:gd name="T2" fmla="*/ 9300 w 39213"/>
                <a:gd name="T3" fmla="*/ 0 h 39356"/>
                <a:gd name="T4" fmla="*/ 21600 w 39213"/>
                <a:gd name="T5" fmla="*/ 17756 h 39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213" h="39356" fill="none" extrusionOk="0">
                  <a:moveTo>
                    <a:pt x="39212" y="30259"/>
                  </a:moveTo>
                  <a:cubicBezTo>
                    <a:pt x="35161" y="35965"/>
                    <a:pt x="28597" y="39355"/>
                    <a:pt x="21600" y="39356"/>
                  </a:cubicBezTo>
                  <a:cubicBezTo>
                    <a:pt x="9670" y="39356"/>
                    <a:pt x="0" y="29685"/>
                    <a:pt x="0" y="17756"/>
                  </a:cubicBezTo>
                  <a:cubicBezTo>
                    <a:pt x="-1" y="10670"/>
                    <a:pt x="3475" y="4035"/>
                    <a:pt x="9300" y="0"/>
                  </a:cubicBezTo>
                </a:path>
                <a:path w="39213" h="39356" stroke="0" extrusionOk="0">
                  <a:moveTo>
                    <a:pt x="39212" y="30259"/>
                  </a:moveTo>
                  <a:cubicBezTo>
                    <a:pt x="35161" y="35965"/>
                    <a:pt x="28597" y="39355"/>
                    <a:pt x="21600" y="39356"/>
                  </a:cubicBezTo>
                  <a:cubicBezTo>
                    <a:pt x="9670" y="39356"/>
                    <a:pt x="0" y="29685"/>
                    <a:pt x="0" y="17756"/>
                  </a:cubicBezTo>
                  <a:cubicBezTo>
                    <a:pt x="-1" y="10670"/>
                    <a:pt x="3475" y="4035"/>
                    <a:pt x="9300" y="0"/>
                  </a:cubicBezTo>
                  <a:lnTo>
                    <a:pt x="21600" y="17756"/>
                  </a:lnTo>
                  <a:close/>
                </a:path>
              </a:pathLst>
            </a:custGeom>
            <a:noFill/>
            <a:ln w="25400" cap="rnd">
              <a:solidFill>
                <a:srgbClr val="FF3300"/>
              </a:solidFill>
              <a:round/>
              <a:headEnd type="stealth" w="med" len="lg"/>
              <a:tailEnd type="none" w="sm" len="sm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7180" name="Object 15">
              <a:extLst>
                <a:ext uri="{FF2B5EF4-FFF2-40B4-BE49-F238E27FC236}">
                  <a16:creationId xmlns:a16="http://schemas.microsoft.com/office/drawing/2014/main" id="{BE4737C2-3932-46C1-9EC0-C6CF78C9A3E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601" y="2544"/>
            <a:ext cx="218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9" r:id="rId6" imgW="152202" imgH="215619" progId="Equation.3">
                    <p:embed/>
                  </p:oleObj>
                </mc:Choice>
                <mc:Fallback>
                  <p:oleObj r:id="rId6" imgW="152202" imgH="215619" progId="Equation.3">
                    <p:embed/>
                    <p:pic>
                      <p:nvPicPr>
                        <p:cNvPr id="0" name="Object 1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1" y="2544"/>
                          <a:ext cx="218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8288" name="Line 16">
            <a:extLst>
              <a:ext uri="{FF2B5EF4-FFF2-40B4-BE49-F238E27FC236}">
                <a16:creationId xmlns:a16="http://schemas.microsoft.com/office/drawing/2014/main" id="{B015290D-5610-41C9-A644-59EA0256487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5875" y="5661025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kumimoji="1"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38289" name="Object 17">
            <a:extLst>
              <a:ext uri="{FF2B5EF4-FFF2-40B4-BE49-F238E27FC236}">
                <a16:creationId xmlns:a16="http://schemas.microsoft.com/office/drawing/2014/main" id="{5494DB4D-6823-4C13-82E8-3BE683C9A1F5}"/>
              </a:ext>
            </a:extLst>
          </p:cNvPr>
          <p:cNvGraphicFramePr>
            <a:graphicFrameLocks/>
          </p:cNvGraphicFramePr>
          <p:nvPr/>
        </p:nvGraphicFramePr>
        <p:xfrm>
          <a:off x="7735888" y="5661025"/>
          <a:ext cx="5334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" r:id="rId8" imgW="190417" imgH="228501" progId="Equation.3">
                  <p:embed/>
                </p:oleObj>
              </mc:Choice>
              <mc:Fallback>
                <p:oleObj r:id="rId8" imgW="190417" imgH="228501" progId="Equation.3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5888" y="5661025"/>
                        <a:ext cx="53340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8290" name="Text Box 18">
            <a:extLst>
              <a:ext uri="{FF2B5EF4-FFF2-40B4-BE49-F238E27FC236}">
                <a16:creationId xmlns:a16="http://schemas.microsoft.com/office/drawing/2014/main" id="{C90848AF-5381-430F-B299-265A46EBC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50" y="3676650"/>
            <a:ext cx="8085138" cy="7127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电子带负电，</a:t>
            </a:r>
          </a:p>
          <a:p>
            <a:pPr>
              <a:lnSpc>
                <a:spcPct val="60000"/>
              </a:lnSpc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</a:rPr>
              <a:t>磁矩的方向和自旋角动量的方向应相反</a:t>
            </a:r>
          </a:p>
        </p:txBody>
      </p:sp>
      <p:sp>
        <p:nvSpPr>
          <p:cNvPr id="438291" name="Text Box 19">
            <a:extLst>
              <a:ext uri="{FF2B5EF4-FFF2-40B4-BE49-F238E27FC236}">
                <a16:creationId xmlns:a16="http://schemas.microsoft.com/office/drawing/2014/main" id="{9D4BD51D-A456-40FB-8334-669BF4C0B4E1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1133475" y="2400300"/>
            <a:ext cx="6624638" cy="868363"/>
          </a:xfrm>
          <a:prstGeom prst="rect">
            <a:avLst/>
          </a:prstGeom>
          <a:noFill/>
          <a:ln w="9525">
            <a:noFill/>
            <a:prstDash val="dash"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05000"/>
              </a:lnSpc>
              <a:defRPr/>
            </a:pPr>
            <a:r>
              <a:rPr kumimoji="1" lang="en-US" altLang="zh-CN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  <a:r>
              <a:rPr kumimoji="1" lang="zh-CN" altLang="en-US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电子具有固有的角动量叫自旋角动量  </a:t>
            </a:r>
          </a:p>
          <a:p>
            <a:pPr eaLnBrk="0" hangingPunct="0">
              <a:lnSpc>
                <a:spcPct val="105000"/>
              </a:lnSpc>
              <a:defRPr/>
            </a:pPr>
            <a:r>
              <a:rPr kumimoji="1" lang="zh-CN" altLang="en-US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相应的磁矩</a:t>
            </a:r>
            <a:r>
              <a:rPr kumimoji="1" lang="en-US" altLang="zh-CN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---</a:t>
            </a:r>
            <a:r>
              <a:rPr kumimoji="1" lang="zh-CN" altLang="en-US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自旋磁矩 </a:t>
            </a:r>
          </a:p>
        </p:txBody>
      </p:sp>
      <p:graphicFrame>
        <p:nvGraphicFramePr>
          <p:cNvPr id="438292" name="Object 20">
            <a:extLst>
              <a:ext uri="{FF2B5EF4-FFF2-40B4-BE49-F238E27FC236}">
                <a16:creationId xmlns:a16="http://schemas.microsoft.com/office/drawing/2014/main" id="{38CEBBDD-7CFE-4BCA-B064-B3E79E5C44C9}"/>
              </a:ext>
            </a:extLst>
          </p:cNvPr>
          <p:cNvGraphicFramePr>
            <a:graphicFrameLocks/>
          </p:cNvGraphicFramePr>
          <p:nvPr/>
        </p:nvGraphicFramePr>
        <p:xfrm>
          <a:off x="6245225" y="2366963"/>
          <a:ext cx="34448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1" r:id="rId10" imgW="152268" imgH="203024" progId="Equation.3">
                  <p:embed/>
                </p:oleObj>
              </mc:Choice>
              <mc:Fallback>
                <p:oleObj r:id="rId10" imgW="152268" imgH="203024" progId="Equation.3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5225" y="2366963"/>
                        <a:ext cx="344488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8293" name="Object 21">
            <a:extLst>
              <a:ext uri="{FF2B5EF4-FFF2-40B4-BE49-F238E27FC236}">
                <a16:creationId xmlns:a16="http://schemas.microsoft.com/office/drawing/2014/main" id="{2769E5BB-69EA-4D4E-AE1F-F59A8C267B6E}"/>
              </a:ext>
            </a:extLst>
          </p:cNvPr>
          <p:cNvGraphicFramePr>
            <a:graphicFrameLocks/>
          </p:cNvGraphicFramePr>
          <p:nvPr/>
        </p:nvGraphicFramePr>
        <p:xfrm>
          <a:off x="4445000" y="2727325"/>
          <a:ext cx="4762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2" r:id="rId12" imgW="203024" imgH="228402" progId="Equation.3">
                  <p:embed/>
                </p:oleObj>
              </mc:Choice>
              <mc:Fallback>
                <p:oleObj r:id="rId12" imgW="203024" imgH="228402" progId="Equation.3">
                  <p:embed/>
                  <p:pic>
                    <p:nvPicPr>
                      <p:cNvPr id="0" name="Object 21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0" y="2727325"/>
                        <a:ext cx="47625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187" name="直接连接符 10">
            <a:extLst>
              <a:ext uri="{FF2B5EF4-FFF2-40B4-BE49-F238E27FC236}">
                <a16:creationId xmlns:a16="http://schemas.microsoft.com/office/drawing/2014/main" id="{30A3464A-D0E2-4D92-9747-97DC756B847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8313" y="1052513"/>
            <a:ext cx="8405812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8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38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3829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3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38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3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38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438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438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4382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438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438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38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38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8274" grpId="0" bldLvl="0" animBg="1"/>
      <p:bldP spid="438277" grpId="0" build="p"/>
      <p:bldP spid="438278" grpId="0" bldLvl="0" animBg="1"/>
      <p:bldP spid="438280" grpId="0" build="p"/>
      <p:bldP spid="438290" grpId="0" bldLvl="0" animBg="1"/>
      <p:bldP spid="43829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9" name="Text Box 3">
            <a:extLst>
              <a:ext uri="{FF2B5EF4-FFF2-40B4-BE49-F238E27FC236}">
                <a16:creationId xmlns:a16="http://schemas.microsoft.com/office/drawing/2014/main" id="{48DA0423-E511-4160-9B13-79766B643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13" y="760413"/>
            <a:ext cx="6496050" cy="530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buClr>
                <a:srgbClr val="CC3300"/>
              </a:buClr>
              <a:buSzPct val="85000"/>
              <a:buFont typeface="Wingdings" panose="05000000000000000000" pitchFamily="2" charset="2"/>
              <a:buChar char="u"/>
              <a:defRPr/>
            </a:pPr>
            <a:r>
              <a:rPr kumimoji="1"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类比电子“轨道角动量”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在外磁场方向上的投影</a:t>
            </a:r>
          </a:p>
        </p:txBody>
      </p:sp>
      <p:sp>
        <p:nvSpPr>
          <p:cNvPr id="439300" name="Text Box 4">
            <a:extLst>
              <a:ext uri="{FF2B5EF4-FFF2-40B4-BE49-F238E27FC236}">
                <a16:creationId xmlns:a16="http://schemas.microsoft.com/office/drawing/2014/main" id="{CAD0D775-E558-4823-9C0E-39CAB64D8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00" y="5138738"/>
            <a:ext cx="49085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  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电子自旋角动量也有磁量子数，为</a:t>
            </a:r>
          </a:p>
        </p:txBody>
      </p:sp>
      <p:sp>
        <p:nvSpPr>
          <p:cNvPr id="439301" name="Text Box 5">
            <a:extLst>
              <a:ext uri="{FF2B5EF4-FFF2-40B4-BE49-F238E27FC236}">
                <a16:creationId xmlns:a16="http://schemas.microsoft.com/office/drawing/2014/main" id="{51FC7ACE-F33A-44B1-9096-4E0AE1E26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4556125"/>
            <a:ext cx="52768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CC3300"/>
              </a:buClr>
              <a:buSzPct val="85000"/>
              <a:buFont typeface="Wingdings" panose="05000000000000000000" pitchFamily="2" charset="2"/>
              <a:buChar char="u"/>
              <a:defRPr/>
            </a:pPr>
            <a:r>
              <a:rPr kumimoji="1"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类比电子“轨道角动量”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有磁量子数，</a:t>
            </a:r>
          </a:p>
        </p:txBody>
      </p:sp>
      <p:graphicFrame>
        <p:nvGraphicFramePr>
          <p:cNvPr id="439302" name="Object 6">
            <a:extLst>
              <a:ext uri="{FF2B5EF4-FFF2-40B4-BE49-F238E27FC236}">
                <a16:creationId xmlns:a16="http://schemas.microsoft.com/office/drawing/2014/main" id="{47E9E3D7-9033-48BB-9DBD-7BA016AE2869}"/>
              </a:ext>
            </a:extLst>
          </p:cNvPr>
          <p:cNvGraphicFramePr>
            <a:graphicFrameLocks/>
          </p:cNvGraphicFramePr>
          <p:nvPr/>
        </p:nvGraphicFramePr>
        <p:xfrm>
          <a:off x="1220788" y="3384550"/>
          <a:ext cx="4984750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0" r:id="rId3" imgW="2348481" imgH="482391" progId="Equation.3">
                  <p:embed/>
                </p:oleObj>
              </mc:Choice>
              <mc:Fallback>
                <p:oleObj r:id="rId3" imgW="2348481" imgH="482391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0788" y="3384550"/>
                        <a:ext cx="4984750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03" name="Object 7">
            <a:extLst>
              <a:ext uri="{FF2B5EF4-FFF2-40B4-BE49-F238E27FC236}">
                <a16:creationId xmlns:a16="http://schemas.microsoft.com/office/drawing/2014/main" id="{E207B584-628A-4021-B93B-102F49E3AF5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300163" y="5678488"/>
          <a:ext cx="20161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r:id="rId5" imgW="901309" imgH="393529" progId="Equation.DSMT4">
                  <p:embed/>
                </p:oleObj>
              </mc:Choice>
              <mc:Fallback>
                <p:oleObj r:id="rId5" imgW="901309" imgH="393529" progId="Equation.DSMT4">
                  <p:embed/>
                  <p:pic>
                    <p:nvPicPr>
                      <p:cNvPr id="0" name="Object 7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0163" y="5678488"/>
                        <a:ext cx="2016125" cy="774700"/>
                      </a:xfrm>
                      <a:prstGeom prst="rect">
                        <a:avLst/>
                      </a:prstGeom>
                      <a:ln w="57150" cmpd="thinThick">
                        <a:solidFill>
                          <a:srgbClr val="808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9304" name="Rectangle 8">
            <a:extLst>
              <a:ext uri="{FF2B5EF4-FFF2-40B4-BE49-F238E27FC236}">
                <a16:creationId xmlns:a16="http://schemas.microsoft.com/office/drawing/2014/main" id="{43C96A49-45FD-45CF-B7EA-7D2AAC809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188" y="2852738"/>
            <a:ext cx="2779712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也取  </a:t>
            </a: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kumimoji="1" lang="en-US" altLang="zh-CN" i="1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 + 1 = 2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种，</a:t>
            </a:r>
            <a:endParaRPr kumimoji="1" lang="en-US" altLang="zh-CN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sym typeface="Symbol" panose="05050102010706020507" pitchFamily="18" charset="2"/>
            </a:endParaRP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F22E4F9A-2BB8-408E-BEBA-0BDA449B099F}"/>
              </a:ext>
            </a:extLst>
          </p:cNvPr>
          <p:cNvGrpSpPr>
            <a:grpSpLocks/>
          </p:cNvGrpSpPr>
          <p:nvPr/>
        </p:nvGrpSpPr>
        <p:grpSpPr bwMode="auto">
          <a:xfrm>
            <a:off x="1236663" y="1417638"/>
            <a:ext cx="1535112" cy="590550"/>
            <a:chOff x="524" y="1056"/>
            <a:chExt cx="1296" cy="431"/>
          </a:xfrm>
        </p:grpSpPr>
        <p:sp>
          <p:nvSpPr>
            <p:cNvPr id="439306" name="Rectangle 10">
              <a:extLst>
                <a:ext uri="{FF2B5EF4-FFF2-40B4-BE49-F238E27FC236}">
                  <a16:creationId xmlns:a16="http://schemas.microsoft.com/office/drawing/2014/main" id="{CC614093-77A2-4074-B50F-7ADBBAE80A5B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524" y="1056"/>
              <a:ext cx="1296" cy="3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8201" name="Object 11">
              <a:extLst>
                <a:ext uri="{FF2B5EF4-FFF2-40B4-BE49-F238E27FC236}">
                  <a16:creationId xmlns:a16="http://schemas.microsoft.com/office/drawing/2014/main" id="{FB22C289-22B3-402A-BD4B-2F508E0067A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28" y="1056"/>
            <a:ext cx="1285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2" r:id="rId7" imgW="583947" imgH="228501" progId="Equation.DSMT4">
                    <p:embed/>
                  </p:oleObj>
                </mc:Choice>
                <mc:Fallback>
                  <p:oleObj r:id="rId7" imgW="583947" imgH="228501" progId="Equation.DSMT4">
                    <p:embed/>
                    <p:pic>
                      <p:nvPicPr>
                        <p:cNvPr id="0" name="Object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1056"/>
                          <a:ext cx="1285" cy="4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39308" name="Object 12">
            <a:extLst>
              <a:ext uri="{FF2B5EF4-FFF2-40B4-BE49-F238E27FC236}">
                <a16:creationId xmlns:a16="http://schemas.microsoft.com/office/drawing/2014/main" id="{FE5278B9-9E58-4C87-BD16-28A8E9F72530}"/>
              </a:ext>
            </a:extLst>
          </p:cNvPr>
          <p:cNvGraphicFramePr>
            <a:graphicFrameLocks/>
          </p:cNvGraphicFramePr>
          <p:nvPr/>
        </p:nvGraphicFramePr>
        <p:xfrm>
          <a:off x="3089275" y="1447800"/>
          <a:ext cx="382428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3" r:id="rId9" imgW="1459866" imgH="228501" progId="Equation.3">
                  <p:embed/>
                </p:oleObj>
              </mc:Choice>
              <mc:Fallback>
                <p:oleObj r:id="rId9" imgW="1459866" imgH="228501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9275" y="1447800"/>
                        <a:ext cx="3824288" cy="512763"/>
                      </a:xfrm>
                      <a:prstGeom prst="rect">
                        <a:avLst/>
                      </a:prstGeom>
                      <a:noFill/>
                      <a:ln w="57150" cmpd="thinThick">
                        <a:solidFill>
                          <a:srgbClr val="008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9309" name="AutoShape 13">
            <a:extLst>
              <a:ext uri="{FF2B5EF4-FFF2-40B4-BE49-F238E27FC236}">
                <a16:creationId xmlns:a16="http://schemas.microsoft.com/office/drawing/2014/main" id="{2CC2A6DB-300A-4EC4-99CB-0250C4C93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7750" y="971550"/>
            <a:ext cx="1360488" cy="401638"/>
          </a:xfrm>
          <a:prstGeom prst="wedgeRoundRectCallout">
            <a:avLst>
              <a:gd name="adj1" fmla="val -291306"/>
              <a:gd name="adj2" fmla="val 114032"/>
              <a:gd name="adj3" fmla="val 16667"/>
            </a:avLst>
          </a:prstGeom>
          <a:solidFill>
            <a:srgbClr val="CC33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磁量子数</a:t>
            </a:r>
          </a:p>
        </p:txBody>
      </p:sp>
      <p:sp>
        <p:nvSpPr>
          <p:cNvPr id="439310" name="Rectangle 14">
            <a:extLst>
              <a:ext uri="{FF2B5EF4-FFF2-40B4-BE49-F238E27FC236}">
                <a16:creationId xmlns:a16="http://schemas.microsoft.com/office/drawing/2014/main" id="{04CC076C-DA3E-4857-941F-C033A17F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538" y="2276475"/>
            <a:ext cx="53657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电子自旋角动量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在外磁场方向上的投影</a:t>
            </a:r>
          </a:p>
        </p:txBody>
      </p:sp>
      <p:sp>
        <p:nvSpPr>
          <p:cNvPr id="439311" name="AutoShape 15">
            <a:extLst>
              <a:ext uri="{FF2B5EF4-FFF2-40B4-BE49-F238E27FC236}">
                <a16:creationId xmlns:a16="http://schemas.microsoft.com/office/drawing/2014/main" id="{D8DD584E-700A-4283-9A8B-1BBB88EE6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8125" y="5665788"/>
            <a:ext cx="2071688" cy="401637"/>
          </a:xfrm>
          <a:prstGeom prst="wedgeRoundRectCallout">
            <a:avLst>
              <a:gd name="adj1" fmla="val -79500"/>
              <a:gd name="adj2" fmla="val 63042"/>
              <a:gd name="adj3" fmla="val 16667"/>
            </a:avLst>
          </a:prstGeom>
          <a:solidFill>
            <a:srgbClr val="CC33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u="sng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自旋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磁量子数</a:t>
            </a:r>
          </a:p>
        </p:txBody>
      </p:sp>
      <p:sp>
        <p:nvSpPr>
          <p:cNvPr id="439312" name="Rectangle 16">
            <a:extLst>
              <a:ext uri="{FF2B5EF4-FFF2-40B4-BE49-F238E27FC236}">
                <a16:creationId xmlns:a16="http://schemas.microsoft.com/office/drawing/2014/main" id="{05790D14-7473-41EB-B308-E7070406E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8663" y="1476375"/>
            <a:ext cx="4572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取</a:t>
            </a:r>
            <a:r>
              <a:rPr kumimoji="1" lang="en-US" altLang="zh-CN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kumimoji="1" lang="en-US" altLang="zh-CN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 </a:t>
            </a:r>
            <a:r>
              <a:rPr kumimoji="1" lang="en-US" altLang="zh-CN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+1</a:t>
            </a:r>
            <a:r>
              <a:rPr kumimoji="1" lang="zh-CN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种，</a:t>
            </a:r>
          </a:p>
        </p:txBody>
      </p:sp>
      <p:sp>
        <p:nvSpPr>
          <p:cNvPr id="439313" name="Rectangle 17">
            <a:extLst>
              <a:ext uri="{FF2B5EF4-FFF2-40B4-BE49-F238E27FC236}">
                <a16:creationId xmlns:a16="http://schemas.microsoft.com/office/drawing/2014/main" id="{4EFAB3ED-28B3-46CC-9D90-E7DD1AB85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2538" y="5686425"/>
            <a:ext cx="20129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只能两个取值</a:t>
            </a:r>
          </a:p>
        </p:txBody>
      </p:sp>
      <p:sp>
        <p:nvSpPr>
          <p:cNvPr id="439314" name="Text Box 18">
            <a:extLst>
              <a:ext uri="{FF2B5EF4-FFF2-40B4-BE49-F238E27FC236}">
                <a16:creationId xmlns:a16="http://schemas.microsoft.com/office/drawing/2014/main" id="{EA55415C-DAEA-4099-A032-1511D7315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00" y="188913"/>
            <a:ext cx="6426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(2)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电子自旋角动量在</a:t>
            </a:r>
            <a:r>
              <a:rPr kumimoji="1" lang="zh-CN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空间</a:t>
            </a:r>
            <a:r>
              <a:rPr kumimoji="1" lang="zh-CN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取向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也是 </a:t>
            </a:r>
            <a:r>
              <a:rPr kumimoji="1"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量子化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的：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93DB33AD-F8BF-4D6C-8390-D7D0E4964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4900" y="2849563"/>
            <a:ext cx="3221038" cy="5349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</a:t>
            </a:r>
            <a:r>
              <a:rPr kumimoji="1"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于是就得到   </a:t>
            </a:r>
            <a:r>
              <a:rPr kumimoji="1" lang="en-US" altLang="zh-CN" i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s</a:t>
            </a:r>
            <a:r>
              <a:rPr kumimoji="1"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 = 1/2.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9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39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39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39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439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439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439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439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39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439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439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439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299" grpId="0"/>
      <p:bldP spid="439300" grpId="0"/>
      <p:bldP spid="439301" grpId="0"/>
      <p:bldP spid="439304" grpId="0" bldLvl="0" animBg="1"/>
      <p:bldP spid="439309" grpId="0" animBg="1"/>
      <p:bldP spid="439310" grpId="0"/>
      <p:bldP spid="439311" grpId="0" animBg="1"/>
      <p:bldP spid="439312" grpId="0"/>
      <p:bldP spid="439313" grpId="0"/>
      <p:bldP spid="3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3" name="Rectangle 3">
            <a:extLst>
              <a:ext uri="{FF2B5EF4-FFF2-40B4-BE49-F238E27FC236}">
                <a16:creationId xmlns:a16="http://schemas.microsoft.com/office/drawing/2014/main" id="{C67D4202-762E-4FAB-A889-84B36BDEB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713" y="2565400"/>
            <a:ext cx="5121275" cy="523875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800" dirty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新魏" panose="02010800040101010101" pitchFamily="2" charset="-122"/>
              </a:rPr>
              <a:t>2.</a:t>
            </a:r>
            <a:r>
              <a:rPr kumimoji="1" lang="zh-CN" altLang="en-US" sz="2800" dirty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新魏" panose="02010800040101010101" pitchFamily="2" charset="-122"/>
              </a:rPr>
              <a:t>利用电子自旋对实验的解释：</a:t>
            </a:r>
          </a:p>
        </p:txBody>
      </p:sp>
      <p:sp>
        <p:nvSpPr>
          <p:cNvPr id="440325" name="Text Box 5">
            <a:extLst>
              <a:ext uri="{FF2B5EF4-FFF2-40B4-BE49-F238E27FC236}">
                <a16:creationId xmlns:a16="http://schemas.microsoft.com/office/drawing/2014/main" id="{F1D0AB14-D370-4B6F-8061-7B67D40AA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3213100"/>
            <a:ext cx="6342063" cy="8302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基态银原子的</a:t>
            </a:r>
            <a:r>
              <a:rPr kumimoji="1" lang="zh-CN" altLang="en-US" b="1" u="sng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轨道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角动量为零（</a:t>
            </a:r>
            <a:r>
              <a:rPr kumimoji="1" lang="en-US" altLang="zh-CN" b="1" i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l </a:t>
            </a: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=0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），但有</a:t>
            </a:r>
            <a:r>
              <a:rPr kumimoji="1" lang="zh-CN" altLang="en-US" b="1" u="sng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自旋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角动量，有自旋磁矩</a:t>
            </a:r>
            <a:r>
              <a:rPr kumimoji="1"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</a:p>
        </p:txBody>
      </p:sp>
      <p:graphicFrame>
        <p:nvGraphicFramePr>
          <p:cNvPr id="440326" name="Object 6">
            <a:extLst>
              <a:ext uri="{FF2B5EF4-FFF2-40B4-BE49-F238E27FC236}">
                <a16:creationId xmlns:a16="http://schemas.microsoft.com/office/drawing/2014/main" id="{2270FA6A-E5E4-4856-89E1-4A65A6A5715C}"/>
              </a:ext>
            </a:extLst>
          </p:cNvPr>
          <p:cNvGraphicFramePr>
            <a:graphicFrameLocks/>
          </p:cNvGraphicFramePr>
          <p:nvPr/>
        </p:nvGraphicFramePr>
        <p:xfrm>
          <a:off x="3252788" y="596900"/>
          <a:ext cx="884237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5" r:id="rId3" imgW="380835" imgH="393529" progId="Equation.3">
                  <p:embed/>
                </p:oleObj>
              </mc:Choice>
              <mc:Fallback>
                <p:oleObj r:id="rId3" imgW="380835" imgH="393529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2788" y="596900"/>
                        <a:ext cx="884237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>
            <a:extLst>
              <a:ext uri="{FF2B5EF4-FFF2-40B4-BE49-F238E27FC236}">
                <a16:creationId xmlns:a16="http://schemas.microsoft.com/office/drawing/2014/main" id="{3F9BD7DD-285E-4CCF-8DA2-B2DE573A5B99}"/>
              </a:ext>
            </a:extLst>
          </p:cNvPr>
          <p:cNvGrpSpPr>
            <a:grpSpLocks/>
          </p:cNvGrpSpPr>
          <p:nvPr/>
        </p:nvGrpSpPr>
        <p:grpSpPr bwMode="auto">
          <a:xfrm>
            <a:off x="6877050" y="188913"/>
            <a:ext cx="2081213" cy="3810000"/>
            <a:chOff x="4129" y="1510"/>
            <a:chExt cx="1311" cy="2400"/>
          </a:xfrm>
        </p:grpSpPr>
        <p:grpSp>
          <p:nvGrpSpPr>
            <p:cNvPr id="9221" name="Group 8">
              <a:extLst>
                <a:ext uri="{FF2B5EF4-FFF2-40B4-BE49-F238E27FC236}">
                  <a16:creationId xmlns:a16="http://schemas.microsoft.com/office/drawing/2014/main" id="{1C948AF8-CA1C-4AF9-BC4C-7C93C6EE23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9" y="1510"/>
              <a:ext cx="1311" cy="2400"/>
              <a:chOff x="3960" y="1278"/>
              <a:chExt cx="1311" cy="2400"/>
            </a:xfrm>
          </p:grpSpPr>
          <p:sp>
            <p:nvSpPr>
              <p:cNvPr id="440329" name="Line 9">
                <a:extLst>
                  <a:ext uri="{FF2B5EF4-FFF2-40B4-BE49-F238E27FC236}">
                    <a16:creationId xmlns:a16="http://schemas.microsoft.com/office/drawing/2014/main" id="{97C7B394-6CCB-4E3F-8128-BED4BF1FB8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12" y="1374"/>
                <a:ext cx="0" cy="23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40330" name="Oval 10">
                <a:extLst>
                  <a:ext uri="{FF2B5EF4-FFF2-40B4-BE49-F238E27FC236}">
                    <a16:creationId xmlns:a16="http://schemas.microsoft.com/office/drawing/2014/main" id="{6F888890-DFB8-4C9D-A53E-65C22A4839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" y="1806"/>
                <a:ext cx="960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40331" name="Oval 11">
                <a:extLst>
                  <a:ext uri="{FF2B5EF4-FFF2-40B4-BE49-F238E27FC236}">
                    <a16:creationId xmlns:a16="http://schemas.microsoft.com/office/drawing/2014/main" id="{D9EAA5C9-F00F-4A9F-ACC9-F1C41D9B29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" y="3054"/>
                <a:ext cx="960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40332" name="Oval 12">
                <a:extLst>
                  <a:ext uri="{FF2B5EF4-FFF2-40B4-BE49-F238E27FC236}">
                    <a16:creationId xmlns:a16="http://schemas.microsoft.com/office/drawing/2014/main" id="{CA4E5FD1-3035-4013-A760-7C04A963E9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2094"/>
                <a:ext cx="240" cy="240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40333" name="Line 13">
                <a:extLst>
                  <a:ext uri="{FF2B5EF4-FFF2-40B4-BE49-F238E27FC236}">
                    <a16:creationId xmlns:a16="http://schemas.microsoft.com/office/drawing/2014/main" id="{7D43D2E2-FBA2-4FDE-8D1B-A3D7E8D330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12" y="1902"/>
                <a:ext cx="480" cy="624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40334" name="Oval 14">
                <a:extLst>
                  <a:ext uri="{FF2B5EF4-FFF2-40B4-BE49-F238E27FC236}">
                    <a16:creationId xmlns:a16="http://schemas.microsoft.com/office/drawing/2014/main" id="{3FB08CE2-07FB-4C95-BE6A-62A733D663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2718"/>
                <a:ext cx="240" cy="240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40335" name="Line 15">
                <a:extLst>
                  <a:ext uri="{FF2B5EF4-FFF2-40B4-BE49-F238E27FC236}">
                    <a16:creationId xmlns:a16="http://schemas.microsoft.com/office/drawing/2014/main" id="{3971047C-2DCF-40E0-85CB-EFEEB10C96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2" y="2526"/>
                <a:ext cx="480" cy="624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40336" name="Freeform 16">
                <a:extLst>
                  <a:ext uri="{FF2B5EF4-FFF2-40B4-BE49-F238E27FC236}">
                    <a16:creationId xmlns:a16="http://schemas.microsoft.com/office/drawing/2014/main" id="{9BB7A559-3B5F-433F-94CB-75A4D2CDBF5B}"/>
                  </a:ext>
                </a:extLst>
              </p:cNvPr>
              <p:cNvSpPr/>
              <p:nvPr/>
            </p:nvSpPr>
            <p:spPr bwMode="auto">
              <a:xfrm>
                <a:off x="4608" y="2094"/>
                <a:ext cx="335" cy="249"/>
              </a:xfrm>
              <a:custGeom>
                <a:avLst/>
                <a:gdLst/>
                <a:ahLst/>
                <a:cxnLst>
                  <a:cxn ang="0">
                    <a:pos x="58" y="16"/>
                  </a:cxn>
                  <a:cxn ang="0">
                    <a:pos x="24" y="5"/>
                  </a:cxn>
                  <a:cxn ang="0">
                    <a:pos x="35" y="116"/>
                  </a:cxn>
                  <a:cxn ang="0">
                    <a:pos x="91" y="149"/>
                  </a:cxn>
                  <a:cxn ang="0">
                    <a:pos x="147" y="194"/>
                  </a:cxn>
                  <a:cxn ang="0">
                    <a:pos x="180" y="205"/>
                  </a:cxn>
                  <a:cxn ang="0">
                    <a:pos x="213" y="227"/>
                  </a:cxn>
                  <a:cxn ang="0">
                    <a:pos x="280" y="249"/>
                  </a:cxn>
                  <a:cxn ang="0">
                    <a:pos x="335" y="194"/>
                  </a:cxn>
                </a:cxnLst>
                <a:rect l="0" t="0" r="r" b="b"/>
                <a:pathLst>
                  <a:path w="335" h="249">
                    <a:moveTo>
                      <a:pt x="58" y="16"/>
                    </a:moveTo>
                    <a:cubicBezTo>
                      <a:pt x="47" y="12"/>
                      <a:pt x="35" y="0"/>
                      <a:pt x="24" y="5"/>
                    </a:cubicBezTo>
                    <a:cubicBezTo>
                      <a:pt x="0" y="17"/>
                      <a:pt x="25" y="99"/>
                      <a:pt x="35" y="116"/>
                    </a:cubicBezTo>
                    <a:cubicBezTo>
                      <a:pt x="54" y="146"/>
                      <a:pt x="62" y="134"/>
                      <a:pt x="91" y="149"/>
                    </a:cubicBezTo>
                    <a:cubicBezTo>
                      <a:pt x="212" y="210"/>
                      <a:pt x="50" y="135"/>
                      <a:pt x="147" y="194"/>
                    </a:cubicBezTo>
                    <a:cubicBezTo>
                      <a:pt x="157" y="200"/>
                      <a:pt x="170" y="200"/>
                      <a:pt x="180" y="205"/>
                    </a:cubicBezTo>
                    <a:cubicBezTo>
                      <a:pt x="192" y="211"/>
                      <a:pt x="201" y="222"/>
                      <a:pt x="213" y="227"/>
                    </a:cubicBezTo>
                    <a:cubicBezTo>
                      <a:pt x="235" y="236"/>
                      <a:pt x="280" y="249"/>
                      <a:pt x="280" y="249"/>
                    </a:cubicBezTo>
                    <a:cubicBezTo>
                      <a:pt x="309" y="239"/>
                      <a:pt x="335" y="232"/>
                      <a:pt x="335" y="194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40337" name="Freeform 17">
                <a:extLst>
                  <a:ext uri="{FF2B5EF4-FFF2-40B4-BE49-F238E27FC236}">
                    <a16:creationId xmlns:a16="http://schemas.microsoft.com/office/drawing/2014/main" id="{82729D1D-AED9-418E-9BCD-B3DE9F1F8480}"/>
                  </a:ext>
                </a:extLst>
              </p:cNvPr>
              <p:cNvSpPr/>
              <p:nvPr/>
            </p:nvSpPr>
            <p:spPr bwMode="auto">
              <a:xfrm rot="6114545">
                <a:off x="4610" y="2710"/>
                <a:ext cx="335" cy="249"/>
              </a:xfrm>
              <a:custGeom>
                <a:avLst/>
                <a:gdLst/>
                <a:ahLst/>
                <a:cxnLst>
                  <a:cxn ang="0">
                    <a:pos x="58" y="16"/>
                  </a:cxn>
                  <a:cxn ang="0">
                    <a:pos x="24" y="5"/>
                  </a:cxn>
                  <a:cxn ang="0">
                    <a:pos x="35" y="116"/>
                  </a:cxn>
                  <a:cxn ang="0">
                    <a:pos x="91" y="149"/>
                  </a:cxn>
                  <a:cxn ang="0">
                    <a:pos x="147" y="194"/>
                  </a:cxn>
                  <a:cxn ang="0">
                    <a:pos x="180" y="205"/>
                  </a:cxn>
                  <a:cxn ang="0">
                    <a:pos x="213" y="227"/>
                  </a:cxn>
                  <a:cxn ang="0">
                    <a:pos x="280" y="249"/>
                  </a:cxn>
                  <a:cxn ang="0">
                    <a:pos x="335" y="194"/>
                  </a:cxn>
                </a:cxnLst>
                <a:rect l="0" t="0" r="r" b="b"/>
                <a:pathLst>
                  <a:path w="335" h="249">
                    <a:moveTo>
                      <a:pt x="58" y="16"/>
                    </a:moveTo>
                    <a:cubicBezTo>
                      <a:pt x="47" y="12"/>
                      <a:pt x="35" y="0"/>
                      <a:pt x="24" y="5"/>
                    </a:cubicBezTo>
                    <a:cubicBezTo>
                      <a:pt x="0" y="17"/>
                      <a:pt x="25" y="99"/>
                      <a:pt x="35" y="116"/>
                    </a:cubicBezTo>
                    <a:cubicBezTo>
                      <a:pt x="54" y="146"/>
                      <a:pt x="62" y="134"/>
                      <a:pt x="91" y="149"/>
                    </a:cubicBezTo>
                    <a:cubicBezTo>
                      <a:pt x="212" y="210"/>
                      <a:pt x="50" y="135"/>
                      <a:pt x="147" y="194"/>
                    </a:cubicBezTo>
                    <a:cubicBezTo>
                      <a:pt x="157" y="200"/>
                      <a:pt x="170" y="200"/>
                      <a:pt x="180" y="205"/>
                    </a:cubicBezTo>
                    <a:cubicBezTo>
                      <a:pt x="192" y="211"/>
                      <a:pt x="201" y="222"/>
                      <a:pt x="213" y="227"/>
                    </a:cubicBezTo>
                    <a:cubicBezTo>
                      <a:pt x="235" y="236"/>
                      <a:pt x="280" y="249"/>
                      <a:pt x="280" y="249"/>
                    </a:cubicBezTo>
                    <a:cubicBezTo>
                      <a:pt x="309" y="239"/>
                      <a:pt x="335" y="232"/>
                      <a:pt x="335" y="194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40338" name="Line 18">
                <a:extLst>
                  <a:ext uri="{FF2B5EF4-FFF2-40B4-BE49-F238E27FC236}">
                    <a16:creationId xmlns:a16="http://schemas.microsoft.com/office/drawing/2014/main" id="{6F0AC215-ECE7-4EC0-A2DD-1A9CACD71D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2190"/>
                <a:ext cx="144" cy="14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40339" name="Line 19">
                <a:extLst>
                  <a:ext uri="{FF2B5EF4-FFF2-40B4-BE49-F238E27FC236}">
                    <a16:creationId xmlns:a16="http://schemas.microsoft.com/office/drawing/2014/main" id="{B1E44C65-F4C4-4454-A995-A7D546B8F5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56" y="2718"/>
                <a:ext cx="144" cy="14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40340" name="Line 20">
                <a:extLst>
                  <a:ext uri="{FF2B5EF4-FFF2-40B4-BE49-F238E27FC236}">
                    <a16:creationId xmlns:a16="http://schemas.microsoft.com/office/drawing/2014/main" id="{78873BC4-163A-4467-A9EB-DD32106D18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032" y="1902"/>
                <a:ext cx="48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40341" name="Line 21">
                <a:extLst>
                  <a:ext uri="{FF2B5EF4-FFF2-40B4-BE49-F238E27FC236}">
                    <a16:creationId xmlns:a16="http://schemas.microsoft.com/office/drawing/2014/main" id="{1E23485B-86B5-4F76-A5A5-6CF82CAD9C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32" y="2526"/>
                <a:ext cx="48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40342" name="Line 22">
                <a:extLst>
                  <a:ext uri="{FF2B5EF4-FFF2-40B4-BE49-F238E27FC236}">
                    <a16:creationId xmlns:a16="http://schemas.microsoft.com/office/drawing/2014/main" id="{15E58477-2AB0-4638-8FF3-63E6F37901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2" y="1902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40343" name="Line 23">
                <a:extLst>
                  <a:ext uri="{FF2B5EF4-FFF2-40B4-BE49-F238E27FC236}">
                    <a16:creationId xmlns:a16="http://schemas.microsoft.com/office/drawing/2014/main" id="{65EDE76D-DCE5-416A-A90E-2FB74225AB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2" y="3150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9237" name="Object 24">
                <a:extLst>
                  <a:ext uri="{FF2B5EF4-FFF2-40B4-BE49-F238E27FC236}">
                    <a16:creationId xmlns:a16="http://schemas.microsoft.com/office/drawing/2014/main" id="{E6555C95-02EB-4123-BCA3-A368EBDC097A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088" y="3054"/>
              <a:ext cx="183" cy="2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56" r:id="rId5" imgW="152202" imgH="215619" progId="Equation.3">
                      <p:embed/>
                    </p:oleObj>
                  </mc:Choice>
                  <mc:Fallback>
                    <p:oleObj r:id="rId5" imgW="152202" imgH="215619" progId="Equation.3">
                      <p:embed/>
                      <p:pic>
                        <p:nvPicPr>
                          <p:cNvPr id="0" name="Object 24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8" y="3054"/>
                            <a:ext cx="183" cy="2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38" name="Object 25">
                <a:extLst>
                  <a:ext uri="{FF2B5EF4-FFF2-40B4-BE49-F238E27FC236}">
                    <a16:creationId xmlns:a16="http://schemas.microsoft.com/office/drawing/2014/main" id="{C1F9C0BB-9E36-4986-B22F-BE648AFDB50D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088" y="1758"/>
              <a:ext cx="183" cy="2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57" r:id="rId7" imgW="152202" imgH="215619" progId="Equation.3">
                      <p:embed/>
                    </p:oleObj>
                  </mc:Choice>
                  <mc:Fallback>
                    <p:oleObj r:id="rId7" imgW="152202" imgH="215619" progId="Equation.3">
                      <p:embed/>
                      <p:pic>
                        <p:nvPicPr>
                          <p:cNvPr id="0" name="Object 25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8" y="1758"/>
                            <a:ext cx="183" cy="2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39" name="Object 26">
                <a:extLst>
                  <a:ext uri="{FF2B5EF4-FFF2-40B4-BE49-F238E27FC236}">
                    <a16:creationId xmlns:a16="http://schemas.microsoft.com/office/drawing/2014/main" id="{5ACF4B46-91DA-425E-A516-D9D73CDE3596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224" y="1278"/>
              <a:ext cx="247" cy="3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58" r:id="rId9" imgW="164885" imgH="202936" progId="Equation.3">
                      <p:embed/>
                    </p:oleObj>
                  </mc:Choice>
                  <mc:Fallback>
                    <p:oleObj r:id="rId9" imgW="164885" imgH="202936" progId="Equation.3">
                      <p:embed/>
                      <p:pic>
                        <p:nvPicPr>
                          <p:cNvPr id="0" name="Object 26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4" y="1278"/>
                            <a:ext cx="247" cy="3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0347" name="Text Box 27">
                <a:extLst>
                  <a:ext uri="{FF2B5EF4-FFF2-40B4-BE49-F238E27FC236}">
                    <a16:creationId xmlns:a16="http://schemas.microsoft.com/office/drawing/2014/main" id="{9D77966F-83C8-4F79-9665-06B4641948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1310"/>
                <a:ext cx="329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kumimoji="1" lang="en-US" altLang="zh-CN" b="1"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宋体" panose="02010600030101010101" pitchFamily="2" charset="-122"/>
                  </a:rPr>
                  <a:t>(z)</a:t>
                </a:r>
              </a:p>
            </p:txBody>
          </p:sp>
          <p:graphicFrame>
            <p:nvGraphicFramePr>
              <p:cNvPr id="9241" name="Object 28">
                <a:extLst>
                  <a:ext uri="{FF2B5EF4-FFF2-40B4-BE49-F238E27FC236}">
                    <a16:creationId xmlns:a16="http://schemas.microsoft.com/office/drawing/2014/main" id="{59B44D73-7D98-4EB7-879C-A70854944400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964" y="3036"/>
              <a:ext cx="523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59" r:id="rId11" imgW="405696" imgH="177492" progId="Equation.3">
                      <p:embed/>
                    </p:oleObj>
                  </mc:Choice>
                  <mc:Fallback>
                    <p:oleObj r:id="rId11" imgW="405696" imgH="177492" progId="Equation.3">
                      <p:embed/>
                      <p:pic>
                        <p:nvPicPr>
                          <p:cNvPr id="0" name="Object 28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64" y="3036"/>
                            <a:ext cx="523" cy="2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42" name="Object 29">
                <a:extLst>
                  <a:ext uri="{FF2B5EF4-FFF2-40B4-BE49-F238E27FC236}">
                    <a16:creationId xmlns:a16="http://schemas.microsoft.com/office/drawing/2014/main" id="{20733EF3-2858-41DA-ADCC-A65C52DE07C1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960" y="1776"/>
              <a:ext cx="523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60" r:id="rId13" imgW="405696" imgH="177492" progId="Equation.3">
                      <p:embed/>
                    </p:oleObj>
                  </mc:Choice>
                  <mc:Fallback>
                    <p:oleObj r:id="rId13" imgW="405696" imgH="177492" progId="Equation.3">
                      <p:embed/>
                      <p:pic>
                        <p:nvPicPr>
                          <p:cNvPr id="0" name="Object 2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60" y="1776"/>
                            <a:ext cx="523" cy="2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0350" name="Text Box 30">
                <a:extLst>
                  <a:ext uri="{FF2B5EF4-FFF2-40B4-BE49-F238E27FC236}">
                    <a16:creationId xmlns:a16="http://schemas.microsoft.com/office/drawing/2014/main" id="{67D22CA9-39E4-4272-ABBE-A414F1B7EB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2369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b="1" noProof="1">
                    <a:effectLst>
                      <a:outerShdw blurRad="38100" dist="38100" dir="2700000">
                        <a:srgbClr val="C0C0C0"/>
                      </a:outerShdw>
                    </a:effectLst>
                    <a:ea typeface="宋体" panose="02010600030101010101" pitchFamily="2" charset="-122"/>
                  </a:rPr>
                  <a:t>0</a:t>
                </a:r>
              </a:p>
            </p:txBody>
          </p:sp>
        </p:grpSp>
        <p:sp>
          <p:nvSpPr>
            <p:cNvPr id="440351" name="Line 31">
              <a:extLst>
                <a:ext uri="{FF2B5EF4-FFF2-40B4-BE49-F238E27FC236}">
                  <a16:creationId xmlns:a16="http://schemas.microsoft.com/office/drawing/2014/main" id="{A545AB59-DD66-44B8-A6F4-F8116CDCAF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83" y="2115"/>
              <a:ext cx="0" cy="635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40352" name="Line 32">
              <a:extLst>
                <a:ext uri="{FF2B5EF4-FFF2-40B4-BE49-F238E27FC236}">
                  <a16:creationId xmlns:a16="http://schemas.microsoft.com/office/drawing/2014/main" id="{8ADBEA3B-E1CC-40F2-80B5-A2A73C1EAD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3" y="2750"/>
              <a:ext cx="0" cy="635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40353" name="Text Box 33">
            <a:extLst>
              <a:ext uri="{FF2B5EF4-FFF2-40B4-BE49-F238E27FC236}">
                <a16:creationId xmlns:a16="http://schemas.microsoft.com/office/drawing/2014/main" id="{03FEE73C-56C1-4770-BE64-967775E35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3050" y="1555750"/>
            <a:ext cx="8748713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电子的</a:t>
            </a:r>
            <a:r>
              <a:rPr kumimoji="1" lang="zh-CN" altLang="en-US" b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自旋磁矩也是空间量子化</a:t>
            </a:r>
            <a:r>
              <a:rPr kumimoji="1" lang="zh-CN" altLang="en-US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的，</a:t>
            </a:r>
          </a:p>
          <a:p>
            <a:pPr>
              <a:defRPr/>
            </a:pPr>
            <a:r>
              <a:rPr kumimoji="1" lang="zh-CN" altLang="en-US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也有</a:t>
            </a:r>
            <a:r>
              <a:rPr kumimoji="1" lang="zh-CN" altLang="en-US" b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两个取向</a:t>
            </a:r>
            <a:r>
              <a:rPr kumimoji="1" lang="zh-CN" altLang="en-US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440354" name="Text Box 34">
            <a:extLst>
              <a:ext uri="{FF2B5EF4-FFF2-40B4-BE49-F238E27FC236}">
                <a16:creationId xmlns:a16="http://schemas.microsoft.com/office/drawing/2014/main" id="{6FE1386E-8B6E-4461-B306-DD0F0E8AC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" y="115888"/>
            <a:ext cx="8534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buClr>
                <a:srgbClr val="CC3300"/>
              </a:buClr>
              <a:buSzPct val="85000"/>
              <a:buFont typeface="Wingdings" panose="05000000000000000000" pitchFamily="2" charset="2"/>
              <a:buChar char="u"/>
              <a:defRPr/>
            </a:pPr>
            <a:r>
              <a:rPr kumimoji="1" lang="zh-CN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电子的自旋角动量</a:t>
            </a: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在外磁场方向上投影值为</a:t>
            </a:r>
          </a:p>
        </p:txBody>
      </p:sp>
      <p:graphicFrame>
        <p:nvGraphicFramePr>
          <p:cNvPr id="440355" name="Object 35">
            <a:extLst>
              <a:ext uri="{FF2B5EF4-FFF2-40B4-BE49-F238E27FC236}">
                <a16:creationId xmlns:a16="http://schemas.microsoft.com/office/drawing/2014/main" id="{9D60DB57-1655-4FFF-BD7B-615A13C423E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651000" y="752475"/>
          <a:ext cx="14382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1" r:id="rId15" imgW="622080" imgH="228600" progId="Equation.3">
                  <p:embed/>
                </p:oleObj>
              </mc:Choice>
              <mc:Fallback>
                <p:oleObj r:id="rId15" imgW="622080" imgH="228600" progId="Equation.3">
                  <p:embed/>
                  <p:pic>
                    <p:nvPicPr>
                      <p:cNvPr id="0" name="Object 35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752475"/>
                        <a:ext cx="1438275" cy="5937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56" name="Rectangle 36">
            <a:extLst>
              <a:ext uri="{FF2B5EF4-FFF2-40B4-BE49-F238E27FC236}">
                <a16:creationId xmlns:a16="http://schemas.microsoft.com/office/drawing/2014/main" id="{4E0D20FD-3677-41EE-A7DE-24420DDF5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800100"/>
            <a:ext cx="20129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只有两个取值</a:t>
            </a:r>
          </a:p>
        </p:txBody>
      </p:sp>
      <p:sp>
        <p:nvSpPr>
          <p:cNvPr id="440357" name="AutoShape 37">
            <a:extLst>
              <a:ext uri="{FF2B5EF4-FFF2-40B4-BE49-F238E27FC236}">
                <a16:creationId xmlns:a16="http://schemas.microsoft.com/office/drawing/2014/main" id="{53AAFA4B-5DF7-4CA9-8FEB-47F8AA12E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388" y="1555750"/>
            <a:ext cx="554037" cy="804863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CCFFFF">
                  <a:gamma/>
                  <a:shade val="46275"/>
                  <a:invGamma/>
                </a:srgbClr>
              </a:gs>
              <a:gs pos="50000">
                <a:srgbClr val="CCFFFF"/>
              </a:gs>
              <a:gs pos="100000">
                <a:srgbClr val="CCFF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kumimoji="1"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0366" name="Rectangle 46">
            <a:extLst>
              <a:ext uri="{FF2B5EF4-FFF2-40B4-BE49-F238E27FC236}">
                <a16:creationId xmlns:a16="http://schemas.microsoft.com/office/drawing/2014/main" id="{ADE825BE-1182-4EF8-93E6-DD7CA070C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292600"/>
            <a:ext cx="4238625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+mn-ea"/>
              </a:rPr>
              <a:t>自旋磁矩</a:t>
            </a:r>
            <a:r>
              <a:rPr kumimoji="1" lang="zh-CN" altLang="en-US" b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只有两种分立的取向</a:t>
            </a:r>
            <a:r>
              <a:rPr kumimoji="1" lang="en-US" altLang="zh-CN" b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,</a:t>
            </a:r>
          </a:p>
        </p:txBody>
      </p:sp>
      <p:sp>
        <p:nvSpPr>
          <p:cNvPr id="441352" name="Rectangle 8">
            <a:extLst>
              <a:ext uri="{FF2B5EF4-FFF2-40B4-BE49-F238E27FC236}">
                <a16:creationId xmlns:a16="http://schemas.microsoft.com/office/drawing/2014/main" id="{D66A2B58-83FB-46D9-A943-E7CD57A8F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4308475"/>
            <a:ext cx="44735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所以在屏上就出现</a:t>
            </a:r>
            <a:r>
              <a:rPr kumimoji="1" lang="zh-CN" altLang="en-US" b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两条痕迹</a:t>
            </a:r>
            <a:r>
              <a:rPr kumimoji="1" lang="zh-CN" altLang="en-US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了。</a:t>
            </a:r>
          </a:p>
        </p:txBody>
      </p:sp>
      <p:sp>
        <p:nvSpPr>
          <p:cNvPr id="441347" name="Rectangle 3">
            <a:extLst>
              <a:ext uri="{FF2B5EF4-FFF2-40B4-BE49-F238E27FC236}">
                <a16:creationId xmlns:a16="http://schemas.microsoft.com/office/drawing/2014/main" id="{DC01CB89-CF80-4025-86C7-907CA2B46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5156200"/>
            <a:ext cx="4010025" cy="8302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引入自旋以后，斯</a:t>
            </a: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盖实验的</a:t>
            </a:r>
          </a:p>
          <a:p>
            <a:pPr>
              <a:defRPr/>
            </a:pP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自然而然得到了解释。</a:t>
            </a:r>
          </a:p>
        </p:txBody>
      </p:sp>
      <p:pic>
        <p:nvPicPr>
          <p:cNvPr id="441358" name="Picture 14" descr="S-G实验结果">
            <a:extLst>
              <a:ext uri="{FF2B5EF4-FFF2-40B4-BE49-F238E27FC236}">
                <a16:creationId xmlns:a16="http://schemas.microsoft.com/office/drawing/2014/main" id="{6DC50156-60F0-4478-B9B9-DE7BB7BEE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4994275"/>
            <a:ext cx="3178175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40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4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4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40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0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40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440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441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41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41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23" grpId="0" animBg="1"/>
      <p:bldP spid="440325" grpId="0"/>
      <p:bldP spid="440353" grpId="0"/>
      <p:bldP spid="440356" grpId="0"/>
      <p:bldP spid="440357" grpId="0" animBg="1"/>
      <p:bldP spid="440366" grpId="0" bldLvl="0" animBg="1"/>
      <p:bldP spid="441352" grpId="0" bldLvl="0" animBg="1"/>
      <p:bldP spid="441347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416382D-90BC-408E-BBC2-A763F0F86B52}"/>
              </a:ext>
            </a:extLst>
          </p:cNvPr>
          <p:cNvGrpSpPr>
            <a:grpSpLocks/>
          </p:cNvGrpSpPr>
          <p:nvPr/>
        </p:nvGrpSpPr>
        <p:grpSpPr bwMode="auto">
          <a:xfrm>
            <a:off x="6789738" y="493713"/>
            <a:ext cx="1066800" cy="1985962"/>
            <a:chOff x="3984" y="2112"/>
            <a:chExt cx="672" cy="1872"/>
          </a:xfrm>
        </p:grpSpPr>
        <p:sp>
          <p:nvSpPr>
            <p:cNvPr id="443395" name="Line 3">
              <a:extLst>
                <a:ext uri="{FF2B5EF4-FFF2-40B4-BE49-F238E27FC236}">
                  <a16:creationId xmlns:a16="http://schemas.microsoft.com/office/drawing/2014/main" id="{6E162317-640E-4A20-885F-7CB4BE8D47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2256"/>
              <a:ext cx="0" cy="1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243" name="Text Box 4">
              <a:extLst>
                <a:ext uri="{FF2B5EF4-FFF2-40B4-BE49-F238E27FC236}">
                  <a16:creationId xmlns:a16="http://schemas.microsoft.com/office/drawing/2014/main" id="{DE6F5E64-7B6B-436C-B228-CEC954CC89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112"/>
              <a:ext cx="672" cy="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b="1" i="1">
                  <a:solidFill>
                    <a:srgbClr val="0000FF"/>
                  </a:solidFill>
                  <a:ea typeface="宋体" panose="02010600030101010101" pitchFamily="2" charset="-122"/>
                </a:rPr>
                <a:t>B    Z</a:t>
              </a:r>
            </a:p>
          </p:txBody>
        </p:sp>
      </p:grpSp>
      <p:grpSp>
        <p:nvGrpSpPr>
          <p:cNvPr id="3" name="Group 5">
            <a:extLst>
              <a:ext uri="{FF2B5EF4-FFF2-40B4-BE49-F238E27FC236}">
                <a16:creationId xmlns:a16="http://schemas.microsoft.com/office/drawing/2014/main" id="{F37313D3-2AED-4BA2-9CC9-500F8389B784}"/>
              </a:ext>
            </a:extLst>
          </p:cNvPr>
          <p:cNvGrpSpPr>
            <a:grpSpLocks/>
          </p:cNvGrpSpPr>
          <p:nvPr/>
        </p:nvGrpSpPr>
        <p:grpSpPr bwMode="auto">
          <a:xfrm>
            <a:off x="5470525" y="544513"/>
            <a:ext cx="1482725" cy="1870075"/>
            <a:chOff x="2640" y="384"/>
            <a:chExt cx="1104" cy="1392"/>
          </a:xfrm>
        </p:grpSpPr>
        <p:grpSp>
          <p:nvGrpSpPr>
            <p:cNvPr id="10245" name="Group 6">
              <a:extLst>
                <a:ext uri="{FF2B5EF4-FFF2-40B4-BE49-F238E27FC236}">
                  <a16:creationId xmlns:a16="http://schemas.microsoft.com/office/drawing/2014/main" id="{D1E09BF0-4AAC-4218-96F9-5D1EE2B5ED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0" y="384"/>
              <a:ext cx="1104" cy="1152"/>
              <a:chOff x="2976" y="2544"/>
              <a:chExt cx="1104" cy="1152"/>
            </a:xfrm>
          </p:grpSpPr>
          <p:sp>
            <p:nvSpPr>
              <p:cNvPr id="443399" name="Oval 7">
                <a:extLst>
                  <a:ext uri="{FF2B5EF4-FFF2-40B4-BE49-F238E27FC236}">
                    <a16:creationId xmlns:a16="http://schemas.microsoft.com/office/drawing/2014/main" id="{816EE36F-3384-40DA-9DC2-C745FA81DF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1" y="3096"/>
                <a:ext cx="613" cy="600"/>
              </a:xfrm>
              <a:prstGeom prst="ellipse">
                <a:avLst/>
              </a:prstGeom>
              <a:gradFill rotWithShape="0">
                <a:gsLst>
                  <a:gs pos="0">
                    <a:srgbClr val="FF9900"/>
                  </a:gs>
                  <a:gs pos="100000">
                    <a:srgbClr val="FF9900">
                      <a:gamma/>
                      <a:shade val="0"/>
                      <a:invGamma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43400" name="Line 8">
                <a:extLst>
                  <a:ext uri="{FF2B5EF4-FFF2-40B4-BE49-F238E27FC236}">
                    <a16:creationId xmlns:a16="http://schemas.microsoft.com/office/drawing/2014/main" id="{E0157098-27BB-4EA1-9488-950693AA7C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7" y="2760"/>
                <a:ext cx="0" cy="396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 type="stealth" w="med" len="lg"/>
                <a:tailEnd type="none" w="sm" len="sm"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43401" name="Arc 9">
                <a:extLst>
                  <a:ext uri="{FF2B5EF4-FFF2-40B4-BE49-F238E27FC236}">
                    <a16:creationId xmlns:a16="http://schemas.microsoft.com/office/drawing/2014/main" id="{BC02BE4F-3719-4468-9B9B-88E64C18BB59}"/>
                  </a:ext>
                </a:extLst>
              </p:cNvPr>
              <p:cNvSpPr/>
              <p:nvPr/>
            </p:nvSpPr>
            <p:spPr bwMode="auto">
              <a:xfrm>
                <a:off x="2976" y="3238"/>
                <a:ext cx="1104" cy="339"/>
              </a:xfrm>
              <a:custGeom>
                <a:avLst/>
                <a:gdLst>
                  <a:gd name="G0" fmla="+- 21600 0 0"/>
                  <a:gd name="G1" fmla="+- 18871 0 0"/>
                  <a:gd name="G2" fmla="+- 21600 0 0"/>
                  <a:gd name="T0" fmla="*/ 32110 w 43200"/>
                  <a:gd name="T1" fmla="*/ 0 h 40471"/>
                  <a:gd name="T2" fmla="*/ 9300 w 43200"/>
                  <a:gd name="T3" fmla="*/ 1115 h 40471"/>
                  <a:gd name="T4" fmla="*/ 21600 w 43200"/>
                  <a:gd name="T5" fmla="*/ 18871 h 404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40471" fill="none" extrusionOk="0">
                    <a:moveTo>
                      <a:pt x="32109" y="0"/>
                    </a:moveTo>
                    <a:cubicBezTo>
                      <a:pt x="38955" y="3813"/>
                      <a:pt x="43200" y="11034"/>
                      <a:pt x="43200" y="18871"/>
                    </a:cubicBezTo>
                    <a:cubicBezTo>
                      <a:pt x="43200" y="30800"/>
                      <a:pt x="33529" y="40471"/>
                      <a:pt x="21600" y="40471"/>
                    </a:cubicBezTo>
                    <a:cubicBezTo>
                      <a:pt x="9670" y="40471"/>
                      <a:pt x="0" y="30800"/>
                      <a:pt x="0" y="18871"/>
                    </a:cubicBezTo>
                    <a:cubicBezTo>
                      <a:pt x="-1" y="11785"/>
                      <a:pt x="3475" y="5150"/>
                      <a:pt x="9300" y="1115"/>
                    </a:cubicBezTo>
                  </a:path>
                  <a:path w="43200" h="40471" stroke="0" extrusionOk="0">
                    <a:moveTo>
                      <a:pt x="32109" y="0"/>
                    </a:moveTo>
                    <a:cubicBezTo>
                      <a:pt x="38955" y="3813"/>
                      <a:pt x="43200" y="11034"/>
                      <a:pt x="43200" y="18871"/>
                    </a:cubicBezTo>
                    <a:cubicBezTo>
                      <a:pt x="43200" y="30800"/>
                      <a:pt x="33529" y="40471"/>
                      <a:pt x="21600" y="40471"/>
                    </a:cubicBezTo>
                    <a:cubicBezTo>
                      <a:pt x="9670" y="40471"/>
                      <a:pt x="0" y="30800"/>
                      <a:pt x="0" y="18871"/>
                    </a:cubicBezTo>
                    <a:cubicBezTo>
                      <a:pt x="-1" y="11785"/>
                      <a:pt x="3475" y="5150"/>
                      <a:pt x="9300" y="1115"/>
                    </a:cubicBezTo>
                    <a:lnTo>
                      <a:pt x="21600" y="18871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FF33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43402" name="Arc 10">
                <a:extLst>
                  <a:ext uri="{FF2B5EF4-FFF2-40B4-BE49-F238E27FC236}">
                    <a16:creationId xmlns:a16="http://schemas.microsoft.com/office/drawing/2014/main" id="{120EEAE4-21CD-42FA-A946-EE1604DD75C4}"/>
                  </a:ext>
                </a:extLst>
              </p:cNvPr>
              <p:cNvSpPr/>
              <p:nvPr/>
            </p:nvSpPr>
            <p:spPr bwMode="auto">
              <a:xfrm>
                <a:off x="2977" y="3248"/>
                <a:ext cx="1002" cy="330"/>
              </a:xfrm>
              <a:custGeom>
                <a:avLst/>
                <a:gdLst>
                  <a:gd name="G0" fmla="+- 21600 0 0"/>
                  <a:gd name="G1" fmla="+- 17756 0 0"/>
                  <a:gd name="G2" fmla="+- 21600 0 0"/>
                  <a:gd name="T0" fmla="*/ 39213 w 39213"/>
                  <a:gd name="T1" fmla="*/ 30260 h 39356"/>
                  <a:gd name="T2" fmla="*/ 9300 w 39213"/>
                  <a:gd name="T3" fmla="*/ 0 h 39356"/>
                  <a:gd name="T4" fmla="*/ 21600 w 39213"/>
                  <a:gd name="T5" fmla="*/ 17756 h 393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9213" h="39356" fill="none" extrusionOk="0">
                    <a:moveTo>
                      <a:pt x="39212" y="30259"/>
                    </a:moveTo>
                    <a:cubicBezTo>
                      <a:pt x="35161" y="35965"/>
                      <a:pt x="28597" y="39355"/>
                      <a:pt x="21600" y="39356"/>
                    </a:cubicBezTo>
                    <a:cubicBezTo>
                      <a:pt x="9670" y="39356"/>
                      <a:pt x="0" y="29685"/>
                      <a:pt x="0" y="17756"/>
                    </a:cubicBezTo>
                    <a:cubicBezTo>
                      <a:pt x="-1" y="10670"/>
                      <a:pt x="3475" y="4035"/>
                      <a:pt x="9300" y="0"/>
                    </a:cubicBezTo>
                  </a:path>
                  <a:path w="39213" h="39356" stroke="0" extrusionOk="0">
                    <a:moveTo>
                      <a:pt x="39212" y="30259"/>
                    </a:moveTo>
                    <a:cubicBezTo>
                      <a:pt x="35161" y="35965"/>
                      <a:pt x="28597" y="39355"/>
                      <a:pt x="21600" y="39356"/>
                    </a:cubicBezTo>
                    <a:cubicBezTo>
                      <a:pt x="9670" y="39356"/>
                      <a:pt x="0" y="29685"/>
                      <a:pt x="0" y="17756"/>
                    </a:cubicBezTo>
                    <a:cubicBezTo>
                      <a:pt x="-1" y="10670"/>
                      <a:pt x="3475" y="4035"/>
                      <a:pt x="9300" y="0"/>
                    </a:cubicBezTo>
                    <a:lnTo>
                      <a:pt x="21600" y="17756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FF3300"/>
                </a:solidFill>
                <a:round/>
                <a:headEnd type="stealth" w="med" len="lg"/>
                <a:tailEnd type="none" w="sm" len="sm"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10250" name="Object 11">
                <a:extLst>
                  <a:ext uri="{FF2B5EF4-FFF2-40B4-BE49-F238E27FC236}">
                    <a16:creationId xmlns:a16="http://schemas.microsoft.com/office/drawing/2014/main" id="{990DD9AD-7159-49AE-9C03-45ED890114B4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601" y="2544"/>
              <a:ext cx="218" cy="3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75" r:id="rId3" imgW="152202" imgH="215619" progId="Equation.3">
                      <p:embed/>
                    </p:oleObj>
                  </mc:Choice>
                  <mc:Fallback>
                    <p:oleObj r:id="rId3" imgW="152202" imgH="215619" progId="Equation.3">
                      <p:embed/>
                      <p:pic>
                        <p:nvPicPr>
                          <p:cNvPr id="0" name="Object 1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1" y="2544"/>
                            <a:ext cx="218" cy="3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43404" name="Line 12">
              <a:extLst>
                <a:ext uri="{FF2B5EF4-FFF2-40B4-BE49-F238E27FC236}">
                  <a16:creationId xmlns:a16="http://schemas.microsoft.com/office/drawing/2014/main" id="{8A7C0A44-DAC4-425E-B735-EA8AEAD5B0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536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5" name="Group 13">
            <a:extLst>
              <a:ext uri="{FF2B5EF4-FFF2-40B4-BE49-F238E27FC236}">
                <a16:creationId xmlns:a16="http://schemas.microsoft.com/office/drawing/2014/main" id="{5A10E00F-4A3A-4FA6-881F-A1BFB581891E}"/>
              </a:ext>
            </a:extLst>
          </p:cNvPr>
          <p:cNvGrpSpPr>
            <a:grpSpLocks/>
          </p:cNvGrpSpPr>
          <p:nvPr/>
        </p:nvGrpSpPr>
        <p:grpSpPr bwMode="auto">
          <a:xfrm>
            <a:off x="7413625" y="876300"/>
            <a:ext cx="1482725" cy="1600200"/>
            <a:chOff x="4080" y="720"/>
            <a:chExt cx="1104" cy="1191"/>
          </a:xfrm>
        </p:grpSpPr>
        <p:grpSp>
          <p:nvGrpSpPr>
            <p:cNvPr id="10253" name="Group 14">
              <a:extLst>
                <a:ext uri="{FF2B5EF4-FFF2-40B4-BE49-F238E27FC236}">
                  <a16:creationId xmlns:a16="http://schemas.microsoft.com/office/drawing/2014/main" id="{31DA1CCC-F394-41C4-8427-DA31FF0392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0" y="960"/>
              <a:ext cx="1104" cy="951"/>
              <a:chOff x="4416" y="3144"/>
              <a:chExt cx="1104" cy="951"/>
            </a:xfrm>
          </p:grpSpPr>
          <p:sp>
            <p:nvSpPr>
              <p:cNvPr id="443407" name="Arc 15">
                <a:extLst>
                  <a:ext uri="{FF2B5EF4-FFF2-40B4-BE49-F238E27FC236}">
                    <a16:creationId xmlns:a16="http://schemas.microsoft.com/office/drawing/2014/main" id="{2A2F580F-D57D-4183-8CE4-46E5429A6006}"/>
                  </a:ext>
                </a:extLst>
              </p:cNvPr>
              <p:cNvSpPr/>
              <p:nvPr/>
            </p:nvSpPr>
            <p:spPr bwMode="auto">
              <a:xfrm rot="21480927" flipH="1">
                <a:off x="4416" y="3264"/>
                <a:ext cx="1104" cy="336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8258 w 42795"/>
                  <a:gd name="T1" fmla="*/ 38587 h 38587"/>
                  <a:gd name="T2" fmla="*/ 42795 w 42795"/>
                  <a:gd name="T3" fmla="*/ 17439 h 38587"/>
                  <a:gd name="T4" fmla="*/ 21600 w 42795"/>
                  <a:gd name="T5" fmla="*/ 21600 h 385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795" h="38587" fill="none" extrusionOk="0">
                    <a:moveTo>
                      <a:pt x="8258" y="38586"/>
                    </a:moveTo>
                    <a:cubicBezTo>
                      <a:pt x="3044" y="34491"/>
                      <a:pt x="0" y="282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925" y="-1"/>
                      <a:pt x="40806" y="7307"/>
                      <a:pt x="42795" y="17438"/>
                    </a:cubicBezTo>
                  </a:path>
                  <a:path w="42795" h="38587" stroke="0" extrusionOk="0">
                    <a:moveTo>
                      <a:pt x="8258" y="38586"/>
                    </a:moveTo>
                    <a:cubicBezTo>
                      <a:pt x="3044" y="34491"/>
                      <a:pt x="0" y="282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925" y="-1"/>
                      <a:pt x="40806" y="7307"/>
                      <a:pt x="42795" y="17438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FF3300"/>
                </a:solidFill>
                <a:round/>
                <a:headEnd type="stealth" w="med" len="lg"/>
                <a:tailEnd type="none" w="sm" len="sm"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43408" name="Oval 16">
                <a:extLst>
                  <a:ext uri="{FF2B5EF4-FFF2-40B4-BE49-F238E27FC236}">
                    <a16:creationId xmlns:a16="http://schemas.microsoft.com/office/drawing/2014/main" id="{AFE6DD5F-A1AF-4BC8-95BF-0B11DB31D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3144"/>
                <a:ext cx="613" cy="600"/>
              </a:xfrm>
              <a:prstGeom prst="ellipse">
                <a:avLst/>
              </a:prstGeom>
              <a:gradFill rotWithShape="0">
                <a:gsLst>
                  <a:gs pos="0">
                    <a:srgbClr val="FF9900"/>
                  </a:gs>
                  <a:gs pos="100000">
                    <a:srgbClr val="FF9900">
                      <a:gamma/>
                      <a:shade val="0"/>
                      <a:invGamma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43409" name="Line 17">
                <a:extLst>
                  <a:ext uri="{FF2B5EF4-FFF2-40B4-BE49-F238E27FC236}">
                    <a16:creationId xmlns:a16="http://schemas.microsoft.com/office/drawing/2014/main" id="{5372E344-8DEE-4551-9931-2114E908F5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67" y="3684"/>
                <a:ext cx="0" cy="396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tailEnd type="arrow" w="med" len="med"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443410" name="Arc 18">
                <a:extLst>
                  <a:ext uri="{FF2B5EF4-FFF2-40B4-BE49-F238E27FC236}">
                    <a16:creationId xmlns:a16="http://schemas.microsoft.com/office/drawing/2014/main" id="{11ACF2B6-1EE8-4CD3-9309-C1105E451509}"/>
                  </a:ext>
                </a:extLst>
              </p:cNvPr>
              <p:cNvSpPr/>
              <p:nvPr/>
            </p:nvSpPr>
            <p:spPr bwMode="auto">
              <a:xfrm>
                <a:off x="4416" y="3286"/>
                <a:ext cx="1104" cy="339"/>
              </a:xfrm>
              <a:custGeom>
                <a:avLst/>
                <a:gdLst>
                  <a:gd name="G0" fmla="+- 21600 0 0"/>
                  <a:gd name="G1" fmla="+- 18871 0 0"/>
                  <a:gd name="G2" fmla="+- 21600 0 0"/>
                  <a:gd name="T0" fmla="*/ 32110 w 43200"/>
                  <a:gd name="T1" fmla="*/ 0 h 40471"/>
                  <a:gd name="T2" fmla="*/ 9300 w 43200"/>
                  <a:gd name="T3" fmla="*/ 1115 h 40471"/>
                  <a:gd name="T4" fmla="*/ 21600 w 43200"/>
                  <a:gd name="T5" fmla="*/ 18871 h 404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40471" fill="none" extrusionOk="0">
                    <a:moveTo>
                      <a:pt x="32109" y="0"/>
                    </a:moveTo>
                    <a:cubicBezTo>
                      <a:pt x="38955" y="3813"/>
                      <a:pt x="43200" y="11034"/>
                      <a:pt x="43200" y="18871"/>
                    </a:cubicBezTo>
                    <a:cubicBezTo>
                      <a:pt x="43200" y="30800"/>
                      <a:pt x="33529" y="40471"/>
                      <a:pt x="21600" y="40471"/>
                    </a:cubicBezTo>
                    <a:cubicBezTo>
                      <a:pt x="9670" y="40471"/>
                      <a:pt x="0" y="30800"/>
                      <a:pt x="0" y="18871"/>
                    </a:cubicBezTo>
                    <a:cubicBezTo>
                      <a:pt x="-1" y="11785"/>
                      <a:pt x="3475" y="5150"/>
                      <a:pt x="9300" y="1115"/>
                    </a:cubicBezTo>
                  </a:path>
                  <a:path w="43200" h="40471" stroke="0" extrusionOk="0">
                    <a:moveTo>
                      <a:pt x="32109" y="0"/>
                    </a:moveTo>
                    <a:cubicBezTo>
                      <a:pt x="38955" y="3813"/>
                      <a:pt x="43200" y="11034"/>
                      <a:pt x="43200" y="18871"/>
                    </a:cubicBezTo>
                    <a:cubicBezTo>
                      <a:pt x="43200" y="30800"/>
                      <a:pt x="33529" y="40471"/>
                      <a:pt x="21600" y="40471"/>
                    </a:cubicBezTo>
                    <a:cubicBezTo>
                      <a:pt x="9670" y="40471"/>
                      <a:pt x="0" y="30800"/>
                      <a:pt x="0" y="18871"/>
                    </a:cubicBezTo>
                    <a:cubicBezTo>
                      <a:pt x="-1" y="11785"/>
                      <a:pt x="3475" y="5150"/>
                      <a:pt x="9300" y="1115"/>
                    </a:cubicBezTo>
                    <a:lnTo>
                      <a:pt x="21600" y="18871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FF33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kumimoji="1"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10258" name="Object 19">
                <a:extLst>
                  <a:ext uri="{FF2B5EF4-FFF2-40B4-BE49-F238E27FC236}">
                    <a16:creationId xmlns:a16="http://schemas.microsoft.com/office/drawing/2014/main" id="{F10CB88D-C123-42E1-A351-357B4F819844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136" y="3792"/>
              <a:ext cx="218" cy="3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76" r:id="rId5" imgW="152202" imgH="215619" progId="Equation.3">
                      <p:embed/>
                    </p:oleObj>
                  </mc:Choice>
                  <mc:Fallback>
                    <p:oleObj r:id="rId5" imgW="152202" imgH="215619" progId="Equation.3">
                      <p:embed/>
                      <p:pic>
                        <p:nvPicPr>
                          <p:cNvPr id="0" name="Object 1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36" y="3792"/>
                            <a:ext cx="218" cy="3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43412" name="Line 20">
              <a:extLst>
                <a:ext uri="{FF2B5EF4-FFF2-40B4-BE49-F238E27FC236}">
                  <a16:creationId xmlns:a16="http://schemas.microsoft.com/office/drawing/2014/main" id="{B43EEA8B-4845-4154-8DD4-1BFBF2E0EF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" y="720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kumimoji="1"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43413" name="Text Box 21">
            <a:extLst>
              <a:ext uri="{FF2B5EF4-FFF2-40B4-BE49-F238E27FC236}">
                <a16:creationId xmlns:a16="http://schemas.microsoft.com/office/drawing/2014/main" id="{05BC2682-8E64-4A37-B788-F53F8988D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5" y="1404938"/>
            <a:ext cx="42275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这一经典图像受到泡利的</a:t>
            </a:r>
            <a:r>
              <a:rPr kumimoji="1" lang="zh-CN" altLang="en-US" b="1">
                <a:latin typeface="Tahoma" panose="020B0604030504040204" pitchFamily="34" charset="0"/>
                <a:ea typeface="楷体_GB2312" pitchFamily="49" charset="-122"/>
              </a:rPr>
              <a:t>责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难</a:t>
            </a:r>
          </a:p>
        </p:txBody>
      </p:sp>
      <p:grpSp>
        <p:nvGrpSpPr>
          <p:cNvPr id="7" name="Group 22">
            <a:extLst>
              <a:ext uri="{FF2B5EF4-FFF2-40B4-BE49-F238E27FC236}">
                <a16:creationId xmlns:a16="http://schemas.microsoft.com/office/drawing/2014/main" id="{CB1DFCA8-72A1-4F09-AAAD-D4505821674B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2439988"/>
            <a:ext cx="1820863" cy="881062"/>
            <a:chOff x="1104" y="528"/>
            <a:chExt cx="1330" cy="711"/>
          </a:xfrm>
        </p:grpSpPr>
        <p:sp>
          <p:nvSpPr>
            <p:cNvPr id="443415" name="Text Box 23">
              <a:extLst>
                <a:ext uri="{FF2B5EF4-FFF2-40B4-BE49-F238E27FC236}">
                  <a16:creationId xmlns:a16="http://schemas.microsoft.com/office/drawing/2014/main" id="{BD8CA196-7916-4C72-9D0C-094276B05B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654"/>
              <a:ext cx="480" cy="42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lnSpc>
                  <a:spcPct val="120000"/>
                </a:lnSpc>
                <a:defRPr/>
              </a:pPr>
              <a:r>
                <a:rPr kumimoji="1" lang="zh-CN" altLang="en-US" b="1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楷体_GB2312" pitchFamily="49" charset="-122"/>
                </a:rPr>
                <a:t>按</a:t>
              </a:r>
              <a:endParaRPr kumimoji="1" lang="zh-CN" altLang="en-US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endParaRPr>
            </a:p>
          </p:txBody>
        </p:sp>
        <p:graphicFrame>
          <p:nvGraphicFramePr>
            <p:cNvPr id="10263" name="Object 24">
              <a:extLst>
                <a:ext uri="{FF2B5EF4-FFF2-40B4-BE49-F238E27FC236}">
                  <a16:creationId xmlns:a16="http://schemas.microsoft.com/office/drawing/2014/main" id="{ABC29723-9688-44EA-9BA3-49EFDFB632B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404" y="528"/>
            <a:ext cx="1030" cy="7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7" r:id="rId6" imgW="622030" imgH="431613" progId="Equation.3">
                    <p:embed/>
                  </p:oleObj>
                </mc:Choice>
                <mc:Fallback>
                  <p:oleObj r:id="rId6" imgW="622030" imgH="431613" progId="Equation.3">
                    <p:embed/>
                    <p:pic>
                      <p:nvPicPr>
                        <p:cNvPr id="0" name="Object 2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4" y="528"/>
                          <a:ext cx="1030" cy="7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3417" name="Rectangle 25">
            <a:extLst>
              <a:ext uri="{FF2B5EF4-FFF2-40B4-BE49-F238E27FC236}">
                <a16:creationId xmlns:a16="http://schemas.microsoft.com/office/drawing/2014/main" id="{E4792707-E1A9-4BF3-9A1D-A5239F65C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5" y="2108200"/>
            <a:ext cx="4573588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zh-CN" altLang="en-US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若把电子视为</a:t>
            </a:r>
            <a:r>
              <a:rPr kumimoji="1" lang="en-US" altLang="zh-CN" b="1" i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r </a:t>
            </a:r>
            <a:r>
              <a:rPr kumimoji="1" lang="en-US" altLang="zh-CN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=10 </a:t>
            </a:r>
            <a:r>
              <a:rPr kumimoji="1" lang="en-US" altLang="zh-CN" b="1" baseline="30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-16 </a:t>
            </a:r>
            <a:r>
              <a:rPr kumimoji="1" lang="en-US" altLang="zh-CN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m</a:t>
            </a:r>
            <a:r>
              <a:rPr kumimoji="1" lang="zh-CN" altLang="en-US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的小球</a:t>
            </a:r>
            <a:r>
              <a:rPr kumimoji="1" lang="zh-CN" altLang="en-US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，</a:t>
            </a:r>
          </a:p>
        </p:txBody>
      </p:sp>
      <p:sp>
        <p:nvSpPr>
          <p:cNvPr id="443418" name="Rectangle 26">
            <a:extLst>
              <a:ext uri="{FF2B5EF4-FFF2-40B4-BE49-F238E27FC236}">
                <a16:creationId xmlns:a16="http://schemas.microsoft.com/office/drawing/2014/main" id="{33F05834-0D80-4C50-BFBD-41B41B28D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163" y="2611438"/>
            <a:ext cx="416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zh-CN" altLang="en-US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计算出的电子表面速度 </a:t>
            </a:r>
            <a:r>
              <a:rPr kumimoji="1" lang="zh-CN" altLang="en-US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</a:t>
            </a:r>
            <a:r>
              <a:rPr kumimoji="1" lang="zh-CN" altLang="en-US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b="1" i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c</a:t>
            </a:r>
            <a:r>
              <a:rPr kumimoji="1" lang="en-US" altLang="zh-CN" b="1" i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!</a:t>
            </a:r>
          </a:p>
        </p:txBody>
      </p:sp>
      <p:sp>
        <p:nvSpPr>
          <p:cNvPr id="443419" name="Text Box 27">
            <a:extLst>
              <a:ext uri="{FF2B5EF4-FFF2-40B4-BE49-F238E27FC236}">
                <a16:creationId xmlns:a16="http://schemas.microsoft.com/office/drawing/2014/main" id="{272A192F-E3FD-4690-9A0E-EACC9D249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" y="333375"/>
            <a:ext cx="4724400" cy="868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自旋是什么？</a:t>
            </a:r>
          </a:p>
          <a:p>
            <a:pPr>
              <a:lnSpc>
                <a:spcPct val="80000"/>
              </a:lnSpc>
              <a:spcBef>
                <a:spcPct val="50000"/>
              </a:spcBef>
              <a:defRPr/>
            </a:pPr>
            <a:r>
              <a:rPr kumimoji="1" lang="zh-CN" altLang="en-US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用经典的图像来理解？</a:t>
            </a:r>
          </a:p>
        </p:txBody>
      </p:sp>
      <p:sp>
        <p:nvSpPr>
          <p:cNvPr id="443420" name="Rectangle 28">
            <a:extLst>
              <a:ext uri="{FF2B5EF4-FFF2-40B4-BE49-F238E27FC236}">
                <a16:creationId xmlns:a16="http://schemas.microsoft.com/office/drawing/2014/main" id="{0505AE70-2B33-4693-8EF4-B399F8B79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5" y="1314450"/>
            <a:ext cx="4464050" cy="636588"/>
          </a:xfrm>
          <a:prstGeom prst="rect">
            <a:avLst/>
          </a:prstGeom>
          <a:noFill/>
          <a:ln w="9525">
            <a:solidFill>
              <a:srgbClr val="FF66FF"/>
            </a:solidFill>
            <a:miter lim="800000"/>
          </a:ln>
        </p:spPr>
        <p:txBody>
          <a:bodyPr wrap="none" anchor="ctr"/>
          <a:lstStyle/>
          <a:p>
            <a:pPr eaLnBrk="0" hangingPunct="0">
              <a:defRPr/>
            </a:pPr>
            <a:endParaRPr kumimoji="1"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3421" name="Text Box 29">
            <a:extLst>
              <a:ext uri="{FF2B5EF4-FFF2-40B4-BE49-F238E27FC236}">
                <a16:creationId xmlns:a16="http://schemas.microsoft.com/office/drawing/2014/main" id="{3CBA2B2F-673B-4313-B131-C49977EBA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1188" y="2678113"/>
            <a:ext cx="1541462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小球 自转</a:t>
            </a:r>
          </a:p>
        </p:txBody>
      </p:sp>
      <p:sp>
        <p:nvSpPr>
          <p:cNvPr id="443422" name="Rectangle 30">
            <a:extLst>
              <a:ext uri="{FF2B5EF4-FFF2-40B4-BE49-F238E27FC236}">
                <a16:creationId xmlns:a16="http://schemas.microsoft.com/office/drawing/2014/main" id="{522DDED4-4BEC-415E-972C-C6A81CB0E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" y="3357563"/>
            <a:ext cx="85248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面对按经典图象理解所给出的“荒谬”结果，</a:t>
            </a:r>
          </a:p>
        </p:txBody>
      </p:sp>
      <p:sp>
        <p:nvSpPr>
          <p:cNvPr id="443423" name="Rectangle 31">
            <a:extLst>
              <a:ext uri="{FF2B5EF4-FFF2-40B4-BE49-F238E27FC236}">
                <a16:creationId xmlns:a16="http://schemas.microsoft.com/office/drawing/2014/main" id="{01057760-7666-43B8-BBB1-D29E13332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3827463"/>
            <a:ext cx="93630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乌、古二人曾想撤回自旋的论文，</a:t>
            </a:r>
          </a:p>
        </p:txBody>
      </p:sp>
      <p:sp>
        <p:nvSpPr>
          <p:cNvPr id="443424" name="Text Box 32">
            <a:extLst>
              <a:ext uri="{FF2B5EF4-FFF2-40B4-BE49-F238E27FC236}">
                <a16:creationId xmlns:a16="http://schemas.microsoft.com/office/drawing/2014/main" id="{5830CB2E-F0C1-4011-B3A7-8466BFC15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2950" y="2519363"/>
            <a:ext cx="1066800" cy="701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sz="40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？</a:t>
            </a:r>
          </a:p>
        </p:txBody>
      </p:sp>
      <p:sp>
        <p:nvSpPr>
          <p:cNvPr id="443425" name="Text Box 33">
            <a:extLst>
              <a:ext uri="{FF2B5EF4-FFF2-40B4-BE49-F238E27FC236}">
                <a16:creationId xmlns:a16="http://schemas.microsoft.com/office/drawing/2014/main" id="{6F13E82D-8521-42B7-A71C-C2F7CD66F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88" y="4941888"/>
            <a:ext cx="7975600" cy="822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“You are both young enough to allow yourselves some foolishness!”</a:t>
            </a:r>
            <a:r>
              <a:rPr kumimoji="1" lang="en-US" altLang="zh-CN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43426" name="Rectangle 34">
            <a:extLst>
              <a:ext uri="{FF2B5EF4-FFF2-40B4-BE49-F238E27FC236}">
                <a16:creationId xmlns:a16="http://schemas.microsoft.com/office/drawing/2014/main" id="{E96C53DF-B116-457B-906D-2ADD3FCD0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437063"/>
            <a:ext cx="7497763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但他们的导师</a:t>
            </a:r>
            <a:r>
              <a:rPr kumimoji="1" lang="zh-CN" altLang="en-US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埃伦菲斯特</a:t>
            </a:r>
            <a:r>
              <a:rPr kumimoji="1" lang="en-US" altLang="zh-CN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(P.Ehrenfest)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鼓励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道：</a:t>
            </a:r>
          </a:p>
        </p:txBody>
      </p:sp>
      <p:sp>
        <p:nvSpPr>
          <p:cNvPr id="443428" name="Text Box 36">
            <a:extLst>
              <a:ext uri="{FF2B5EF4-FFF2-40B4-BE49-F238E27FC236}">
                <a16:creationId xmlns:a16="http://schemas.microsoft.com/office/drawing/2014/main" id="{C9A996C5-47E3-4051-9A2E-6F4FE9BF2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3" y="5972175"/>
            <a:ext cx="5565775" cy="830263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b="1">
                <a:latin typeface="楷体_GB2312" panose="02010609030101010101" pitchFamily="49" charset="-122"/>
                <a:ea typeface="楷体_GB2312" panose="02010609030101010101" pitchFamily="49" charset="-122"/>
              </a:rPr>
              <a:t>电子自旋是电子的一种 </a:t>
            </a:r>
            <a:r>
              <a:rPr lang="zh-CN" altLang="en-US" b="1">
                <a:solidFill>
                  <a:srgbClr val="CC3300"/>
                </a:solidFill>
                <a:ea typeface="楷体_GB2312" panose="02010609030101010101" pitchFamily="49" charset="-122"/>
              </a:rPr>
              <a:t>“</a:t>
            </a:r>
            <a:r>
              <a:rPr lang="zh-CN" altLang="en-US" b="1">
                <a:solidFill>
                  <a:srgbClr val="CC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内禀</a:t>
            </a:r>
            <a:r>
              <a:rPr lang="zh-CN" altLang="en-US" b="1">
                <a:solidFill>
                  <a:srgbClr val="CC3300"/>
                </a:solidFill>
                <a:ea typeface="楷体_GB2312" panose="02010609030101010101" pitchFamily="49" charset="-122"/>
              </a:rPr>
              <a:t>”</a:t>
            </a:r>
            <a:r>
              <a:rPr lang="zh-CN" altLang="en-US" b="1">
                <a:solidFill>
                  <a:srgbClr val="CC33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 运动</a:t>
            </a:r>
          </a:p>
          <a:p>
            <a:pPr eaLnBrk="0" hangingPunct="0"/>
            <a:r>
              <a:rPr lang="zh-CN" altLang="en-US" b="1">
                <a:solidFill>
                  <a:srgbClr val="CC3300"/>
                </a:solidFill>
                <a:ea typeface="楷体_GB2312" panose="02010609030101010101" pitchFamily="49" charset="-122"/>
              </a:rPr>
              <a:t>不是一个经典的概念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43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443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43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43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43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43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43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43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43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43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2" dur="500"/>
                                        <p:tgtEl>
                                          <p:spTgt spid="44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413" grpId="0"/>
      <p:bldP spid="443417" grpId="0"/>
      <p:bldP spid="443418" grpId="0"/>
      <p:bldP spid="443420" grpId="0" animBg="1"/>
      <p:bldP spid="443421" grpId="0" build="p"/>
      <p:bldP spid="443422" grpId="0"/>
      <p:bldP spid="443423" grpId="0"/>
      <p:bldP spid="443424" grpId="0"/>
      <p:bldP spid="443425" grpId="0" build="p"/>
      <p:bldP spid="443426" grpId="0" bldLvl="0" animBg="1"/>
      <p:bldP spid="443428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65" name="直接连接符 10">
            <a:extLst>
              <a:ext uri="{FF2B5EF4-FFF2-40B4-BE49-F238E27FC236}">
                <a16:creationId xmlns:a16="http://schemas.microsoft.com/office/drawing/2014/main" id="{402B07FB-4E33-41CE-AE28-5DF9E0B7E64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8313" y="1052513"/>
            <a:ext cx="8405812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9C31DE2-FAF1-4146-BDC1-116D93C3774A}"/>
              </a:ext>
            </a:extLst>
          </p:cNvPr>
          <p:cNvSpPr txBox="1"/>
          <p:nvPr/>
        </p:nvSpPr>
        <p:spPr>
          <a:xfrm>
            <a:off x="438150" y="333375"/>
            <a:ext cx="7308850" cy="5826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3200" b="1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</a:rPr>
              <a:t>三、</a:t>
            </a:r>
            <a:r>
              <a:rPr lang="zh-CN" altLang="zh-CN" sz="3200" b="1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</a:rPr>
              <a:t>描述原子中电子的四个量子数</a:t>
            </a:r>
            <a:endParaRPr lang="zh-CN" altLang="en-US" sz="3200" b="1" noProof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</a:endParaRP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B1DC222B-37F9-4323-9EB0-0A97553A6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6638" y="5300663"/>
            <a:ext cx="73882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>
                <a:ea typeface="宋体" panose="02010600030101010101" pitchFamily="2" charset="-122"/>
              </a:rPr>
              <a:t>同时也使得电子的能量有一定的涨落，即产生了</a:t>
            </a:r>
            <a:r>
              <a:rPr lang="zh-CN" altLang="en-US" b="1">
                <a:solidFill>
                  <a:srgbClr val="FF0066"/>
                </a:solidFill>
                <a:ea typeface="宋体" panose="02010600030101010101" pitchFamily="2" charset="-122"/>
              </a:rPr>
              <a:t>附加能量</a:t>
            </a:r>
            <a:r>
              <a:rPr lang="zh-CN" altLang="en-US" b="1">
                <a:ea typeface="宋体" panose="02010600030101010101" pitchFamily="2" charset="-122"/>
              </a:rPr>
              <a:t>。</a:t>
            </a:r>
          </a:p>
        </p:txBody>
      </p:sp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39CF01F0-68D7-4A25-91AA-5313EB7F04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65850" y="4740275"/>
          <a:ext cx="171926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r:id="rId3" imgW="1180440" imgH="317520" progId="Equation.DSMT4">
                  <p:embed/>
                </p:oleObj>
              </mc:Choice>
              <mc:Fallback>
                <p:oleObj r:id="rId3" imgW="1180440" imgH="3175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5850" y="4740275"/>
                        <a:ext cx="1719263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7">
            <a:extLst>
              <a:ext uri="{FF2B5EF4-FFF2-40B4-BE49-F238E27FC236}">
                <a16:creationId xmlns:a16="http://schemas.microsoft.com/office/drawing/2014/main" id="{997ECFA5-3F66-46AC-9074-8DC7FAE69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938" y="4724400"/>
            <a:ext cx="5060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b="1">
                <a:ea typeface="宋体" panose="02010600030101010101" pitchFamily="2" charset="-122"/>
              </a:rPr>
              <a:t> </a:t>
            </a:r>
            <a:r>
              <a:rPr lang="zh-CN" altLang="en-US" b="1">
                <a:ea typeface="宋体" panose="02010600030101010101" pitchFamily="2" charset="-122"/>
              </a:rPr>
              <a:t>决定电子绕核运动的角动量大小</a:t>
            </a:r>
          </a:p>
        </p:txBody>
      </p:sp>
      <p:sp>
        <p:nvSpPr>
          <p:cNvPr id="16" name="Text Box 8">
            <a:extLst>
              <a:ext uri="{FF2B5EF4-FFF2-40B4-BE49-F238E27FC236}">
                <a16:creationId xmlns:a16="http://schemas.microsoft.com/office/drawing/2014/main" id="{D67576F4-CBA1-4315-A484-EF6E84E90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8" y="1284288"/>
            <a:ext cx="8042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 ——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要全面描述原子中电子的状态，必须用四个量子数。</a:t>
            </a:r>
          </a:p>
        </p:txBody>
      </p:sp>
      <p:sp>
        <p:nvSpPr>
          <p:cNvPr id="17" name="Text Box 9">
            <a:extLst>
              <a:ext uri="{FF2B5EF4-FFF2-40B4-BE49-F238E27FC236}">
                <a16:creationId xmlns:a16="http://schemas.microsoft.com/office/drawing/2014/main" id="{726819FD-8C3C-4B92-A44A-D431B5D9A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1978025"/>
            <a:ext cx="27717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2800" b="1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主量子数  </a:t>
            </a:r>
            <a:r>
              <a:rPr lang="en-US" altLang="zh-CN" sz="2800" b="1" i="1" noProof="1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800" b="1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id="{D3B83CDC-1E3C-4948-A8C5-3FCEC842D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319463"/>
            <a:ext cx="51498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noProof="1">
                <a:solidFill>
                  <a:srgbClr val="FF0066"/>
                </a:solidFill>
                <a:ea typeface="楷体_GB2312" pitchFamily="49" charset="-122"/>
              </a:rPr>
              <a:t> </a:t>
            </a:r>
            <a:r>
              <a:rPr lang="en-US" altLang="zh-CN" sz="2800" b="1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2.  </a:t>
            </a:r>
            <a:r>
              <a:rPr lang="zh-CN" altLang="en-US" sz="2800" b="1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角量子数（副量子数）</a:t>
            </a:r>
            <a:r>
              <a:rPr lang="en-US" altLang="zh-CN" sz="2800" b="1" i="1" noProof="1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l </a:t>
            </a:r>
            <a:r>
              <a:rPr lang="en-US" altLang="zh-CN" sz="2800" b="1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  :</a:t>
            </a:r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D32D7F0F-5BEB-4B95-BC1B-912986BC9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25" y="2043113"/>
            <a:ext cx="4079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b="1" i="1">
                <a:ea typeface="楷体_GB2312" panose="02010609030101010101" pitchFamily="49" charset="-122"/>
              </a:rPr>
              <a:t>n</a:t>
            </a:r>
            <a:r>
              <a:rPr lang="en-US" altLang="zh-CN" b="1">
                <a:ea typeface="楷体_GB2312" panose="02010609030101010101" pitchFamily="49" charset="-122"/>
              </a:rPr>
              <a:t> =1</a:t>
            </a:r>
            <a:r>
              <a:rPr lang="zh-CN" altLang="en-US" b="1">
                <a:ea typeface="楷体_GB2312" panose="02010609030101010101" pitchFamily="49" charset="-122"/>
              </a:rPr>
              <a:t>、</a:t>
            </a:r>
            <a:r>
              <a:rPr lang="en-US" altLang="zh-CN" b="1">
                <a:ea typeface="楷体_GB2312" panose="02010609030101010101" pitchFamily="49" charset="-122"/>
              </a:rPr>
              <a:t>2</a:t>
            </a:r>
            <a:r>
              <a:rPr lang="zh-CN" altLang="en-US" b="1">
                <a:ea typeface="楷体_GB2312" panose="02010609030101010101" pitchFamily="49" charset="-122"/>
              </a:rPr>
              <a:t>、</a:t>
            </a:r>
            <a:r>
              <a:rPr lang="en-US" altLang="zh-CN" b="1">
                <a:ea typeface="楷体_GB2312" panose="02010609030101010101" pitchFamily="49" charset="-122"/>
              </a:rPr>
              <a:t> 3 … ... </a:t>
            </a:r>
          </a:p>
        </p:txBody>
      </p:sp>
      <p:sp>
        <p:nvSpPr>
          <p:cNvPr id="20" name="Rectangle 12">
            <a:extLst>
              <a:ext uri="{FF2B5EF4-FFF2-40B4-BE49-F238E27FC236}">
                <a16:creationId xmlns:a16="http://schemas.microsoft.com/office/drawing/2014/main" id="{8D1E3E37-5AE9-4AA2-B01A-4FC0E4056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720975"/>
            <a:ext cx="48910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b="1">
                <a:ea typeface="宋体" panose="02010600030101010101" pitchFamily="2" charset="-122"/>
              </a:rPr>
              <a:t> </a:t>
            </a:r>
            <a:r>
              <a:rPr lang="en-US" altLang="zh-CN" b="1" i="1">
                <a:ea typeface="宋体" panose="02010600030101010101" pitchFamily="2" charset="-122"/>
              </a:rPr>
              <a:t>n</a:t>
            </a:r>
            <a:r>
              <a:rPr lang="zh-CN" altLang="en-US" b="1">
                <a:ea typeface="宋体" panose="02010600030101010101" pitchFamily="2" charset="-122"/>
              </a:rPr>
              <a:t>决定了原子中电子的</a:t>
            </a:r>
            <a:r>
              <a:rPr lang="zh-CN" altLang="en-US" b="1">
                <a:solidFill>
                  <a:srgbClr val="FF0066"/>
                </a:solidFill>
                <a:ea typeface="宋体" panose="02010600030101010101" pitchFamily="2" charset="-122"/>
              </a:rPr>
              <a:t>能量</a:t>
            </a:r>
            <a:r>
              <a:rPr lang="zh-CN" altLang="en-US" b="1"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8409D9EF-3EFC-4857-9684-D2A5F4CE0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2913" y="4046538"/>
            <a:ext cx="62436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b="1" i="1">
                <a:ea typeface="宋体" panose="02010600030101010101" pitchFamily="2" charset="-122"/>
              </a:rPr>
              <a:t>l  </a:t>
            </a:r>
            <a:r>
              <a:rPr lang="en-US" altLang="zh-CN" b="1">
                <a:ea typeface="宋体" panose="02010600030101010101" pitchFamily="2" charset="-122"/>
              </a:rPr>
              <a:t>= 0, 1, 2, …… </a:t>
            </a:r>
            <a:r>
              <a:rPr lang="zh-CN" altLang="en-US" b="1">
                <a:ea typeface="宋体" panose="02010600030101010101" pitchFamily="2" charset="-122"/>
              </a:rPr>
              <a:t>（</a:t>
            </a:r>
            <a:r>
              <a:rPr lang="en-US" altLang="zh-CN" b="1" i="1">
                <a:ea typeface="宋体" panose="02010600030101010101" pitchFamily="2" charset="-122"/>
              </a:rPr>
              <a:t>n</a:t>
            </a:r>
            <a:r>
              <a:rPr lang="en-US" altLang="zh-CN" b="1">
                <a:ea typeface="宋体" panose="02010600030101010101" pitchFamily="2" charset="-122"/>
              </a:rPr>
              <a:t>-1</a:t>
            </a:r>
            <a:r>
              <a:rPr lang="zh-CN" altLang="en-US" b="1">
                <a:ea typeface="宋体" panose="02010600030101010101" pitchFamily="2" charset="-122"/>
              </a:rPr>
              <a:t>）   共 </a:t>
            </a:r>
            <a:r>
              <a:rPr lang="en-US" altLang="zh-CN" b="1" i="1">
                <a:ea typeface="宋体" panose="02010600030101010101" pitchFamily="2" charset="-122"/>
              </a:rPr>
              <a:t>n </a:t>
            </a:r>
            <a:r>
              <a:rPr lang="zh-CN" altLang="en-US" b="1">
                <a:ea typeface="宋体" panose="02010600030101010101" pitchFamily="2" charset="-122"/>
              </a:rPr>
              <a:t>个值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15">
            <a:extLst>
              <a:ext uri="{FF2B5EF4-FFF2-40B4-BE49-F238E27FC236}">
                <a16:creationId xmlns:a16="http://schemas.microsoft.com/office/drawing/2014/main" id="{7A0F555C-5078-41EF-971A-F0FF13A2CA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8863" y="1130300"/>
          <a:ext cx="27765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6" r:id="rId3" imgW="1688400" imgH="279360" progId="Equation.3">
                  <p:embed/>
                </p:oleObj>
              </mc:Choice>
              <mc:Fallback>
                <p:oleObj r:id="rId3" imgW="1688400" imgH="27936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863" y="1130300"/>
                        <a:ext cx="277653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7">
            <a:extLst>
              <a:ext uri="{FF2B5EF4-FFF2-40B4-BE49-F238E27FC236}">
                <a16:creationId xmlns:a16="http://schemas.microsoft.com/office/drawing/2014/main" id="{9B0CEDAD-F475-4CBE-8A8B-E6A1F40552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3113" y="2649538"/>
          <a:ext cx="1574800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7" r:id="rId5" imgW="736200" imgH="279360" progId="Equation.DSMT4">
                  <p:embed/>
                </p:oleObj>
              </mc:Choice>
              <mc:Fallback>
                <p:oleObj r:id="rId5" imgW="736200" imgH="27936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113" y="2649538"/>
                        <a:ext cx="1574800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4">
            <a:extLst>
              <a:ext uri="{FF2B5EF4-FFF2-40B4-BE49-F238E27FC236}">
                <a16:creationId xmlns:a16="http://schemas.microsoft.com/office/drawing/2014/main" id="{76AE3709-3792-4598-B8DA-D4E7E42A4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5197475"/>
            <a:ext cx="66389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25000"/>
              </a:spcBef>
            </a:pPr>
            <a:r>
              <a:rPr lang="en-US" altLang="zh-CN" b="1" i="1">
                <a:ea typeface="宋体" panose="02010600030101010101" pitchFamily="2" charset="-122"/>
              </a:rPr>
              <a:t>m</a:t>
            </a:r>
            <a:r>
              <a:rPr lang="en-US" altLang="zh-CN" b="1" baseline="-25000">
                <a:ea typeface="宋体" panose="02010600030101010101" pitchFamily="2" charset="-122"/>
              </a:rPr>
              <a:t>s  </a:t>
            </a:r>
            <a:r>
              <a:rPr lang="zh-CN" altLang="en-US" b="1">
                <a:ea typeface="宋体" panose="02010600030101010101" pitchFamily="2" charset="-122"/>
              </a:rPr>
              <a:t>决定</a:t>
            </a:r>
            <a:r>
              <a:rPr lang="zh-CN" altLang="en-US" b="1">
                <a:solidFill>
                  <a:srgbClr val="FF0066"/>
                </a:solidFill>
                <a:ea typeface="宋体" panose="02010600030101010101" pitchFamily="2" charset="-122"/>
              </a:rPr>
              <a:t>电子自旋角动量</a:t>
            </a:r>
            <a:r>
              <a:rPr lang="zh-CN" altLang="en-US" b="1">
                <a:ea typeface="宋体" panose="02010600030101010101" pitchFamily="2" charset="-122"/>
              </a:rPr>
              <a:t>在外磁场方向上的分量  </a:t>
            </a:r>
          </a:p>
        </p:txBody>
      </p:sp>
      <p:graphicFrame>
        <p:nvGraphicFramePr>
          <p:cNvPr id="16" name="Object 5">
            <a:extLst>
              <a:ext uri="{FF2B5EF4-FFF2-40B4-BE49-F238E27FC236}">
                <a16:creationId xmlns:a16="http://schemas.microsoft.com/office/drawing/2014/main" id="{D155042B-0395-4C2F-8A5C-9F4A7C529A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30600" y="6002338"/>
          <a:ext cx="16002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8" r:id="rId7" imgW="761760" imgH="279360" progId="Equation.3">
                  <p:embed/>
                </p:oleObj>
              </mc:Choice>
              <mc:Fallback>
                <p:oleObj r:id="rId7" imgW="761760" imgH="2793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0600" y="6002338"/>
                        <a:ext cx="1600200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19">
            <a:extLst>
              <a:ext uri="{FF2B5EF4-FFF2-40B4-BE49-F238E27FC236}">
                <a16:creationId xmlns:a16="http://schemas.microsoft.com/office/drawing/2014/main" id="{259D7860-EB09-47EB-9C0E-F69BE0202DC0}"/>
              </a:ext>
            </a:extLst>
          </p:cNvPr>
          <p:cNvGrpSpPr>
            <a:grpSpLocks/>
          </p:cNvGrpSpPr>
          <p:nvPr/>
        </p:nvGrpSpPr>
        <p:grpSpPr bwMode="auto">
          <a:xfrm>
            <a:off x="2474913" y="4246563"/>
            <a:ext cx="3897312" cy="849312"/>
            <a:chOff x="1336" y="277"/>
            <a:chExt cx="2455" cy="535"/>
          </a:xfrm>
        </p:grpSpPr>
        <p:graphicFrame>
          <p:nvGraphicFramePr>
            <p:cNvPr id="12294" name="Object 7">
              <a:extLst>
                <a:ext uri="{FF2B5EF4-FFF2-40B4-BE49-F238E27FC236}">
                  <a16:creationId xmlns:a16="http://schemas.microsoft.com/office/drawing/2014/main" id="{BAAC8BE2-B981-4F70-B28D-2C267E29BA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6" y="277"/>
            <a:ext cx="873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9" r:id="rId9" imgW="13716000" imgH="9448800" progId="Equation.DSMT4">
                    <p:embed/>
                  </p:oleObj>
                </mc:Choice>
                <mc:Fallback>
                  <p:oleObj r:id="rId9" imgW="13716000" imgH="94488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6" y="277"/>
                          <a:ext cx="873" cy="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295" name="Text Box 8">
              <a:extLst>
                <a:ext uri="{FF2B5EF4-FFF2-40B4-BE49-F238E27FC236}">
                  <a16:creationId xmlns:a16="http://schemas.microsoft.com/office/drawing/2014/main" id="{D432DA1C-CB87-4C2F-A096-50E0F65B22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5" y="399"/>
              <a:ext cx="128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>
                  <a:ea typeface="宋体" panose="02010600030101010101" pitchFamily="2" charset="-122"/>
                </a:rPr>
                <a:t>共有两个值。</a:t>
              </a:r>
            </a:p>
          </p:txBody>
        </p:sp>
      </p:grpSp>
      <p:grpSp>
        <p:nvGrpSpPr>
          <p:cNvPr id="12296" name="组合 2">
            <a:extLst>
              <a:ext uri="{FF2B5EF4-FFF2-40B4-BE49-F238E27FC236}">
                <a16:creationId xmlns:a16="http://schemas.microsoft.com/office/drawing/2014/main" id="{F82E8F7C-D07C-47B0-88BD-6C58C8B27B7E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333375"/>
            <a:ext cx="4699000" cy="608013"/>
            <a:chOff x="395536" y="332656"/>
            <a:chExt cx="4698765" cy="609398"/>
          </a:xfrm>
        </p:grpSpPr>
        <p:sp>
          <p:nvSpPr>
            <p:cNvPr id="6" name="Text Box 14">
              <a:extLst>
                <a:ext uri="{FF2B5EF4-FFF2-40B4-BE49-F238E27FC236}">
                  <a16:creationId xmlns:a16="http://schemas.microsoft.com/office/drawing/2014/main" id="{87297A10-3037-4371-AE9F-74F2B6618F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536" y="332656"/>
              <a:ext cx="4698765" cy="609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b="1" noProof="1">
                  <a:solidFill>
                    <a:srgbClr val="FF0066"/>
                  </a:solidFill>
                  <a:ea typeface="楷体_GB2312" pitchFamily="49" charset="-122"/>
                </a:rPr>
                <a:t> </a:t>
              </a:r>
              <a:r>
                <a:rPr lang="en-US" altLang="zh-CN" sz="2800" b="1" noProof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黑体" panose="02010609060101010101" pitchFamily="49" charset="-122"/>
                  <a:cs typeface="Times New Roman" panose="02020603050405020304" pitchFamily="18" charset="0"/>
                </a:rPr>
                <a:t>3.  </a:t>
              </a:r>
              <a:r>
                <a:rPr lang="zh-CN" altLang="en-US" sz="2800" b="1" noProof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黑体" panose="02010609060101010101" pitchFamily="49" charset="-122"/>
                  <a:cs typeface="Times New Roman" panose="02020603050405020304" pitchFamily="18" charset="0"/>
                </a:rPr>
                <a:t>磁量子数       ：                         </a:t>
              </a:r>
            </a:p>
          </p:txBody>
        </p:sp>
        <p:graphicFrame>
          <p:nvGraphicFramePr>
            <p:cNvPr id="12298" name="对象 1">
              <a:extLst>
                <a:ext uri="{FF2B5EF4-FFF2-40B4-BE49-F238E27FC236}">
                  <a16:creationId xmlns:a16="http://schemas.microsoft.com/office/drawing/2014/main" id="{FE3320FC-2EE5-4AD7-AA21-632BAED0FC3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07686" y="378628"/>
            <a:ext cx="474464" cy="563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0" r:id="rId11" imgW="4876800" imgH="5791200" progId="Equation.DSMT4">
                    <p:embed/>
                  </p:oleObj>
                </mc:Choice>
                <mc:Fallback>
                  <p:oleObj r:id="rId11" imgW="4876800" imgH="5791200" progId="Equation.DSMT4">
                    <p:embed/>
                    <p:pic>
                      <p:nvPicPr>
                        <p:cNvPr id="0" name="对象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7686" y="378628"/>
                          <a:ext cx="474464" cy="5634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850BD4D7-B372-4C5B-B81E-18A5E71CD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5788" y="1123950"/>
            <a:ext cx="26336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1"/>
              <a:t>共 （</a:t>
            </a:r>
            <a:r>
              <a:rPr lang="en-US" altLang="zh-CN" b="1"/>
              <a:t>2</a:t>
            </a:r>
            <a:r>
              <a:rPr lang="en-US" altLang="zh-CN" b="1" i="1"/>
              <a:t>l</a:t>
            </a:r>
            <a:r>
              <a:rPr lang="en-US" altLang="zh-CN" b="1"/>
              <a:t>+1)  </a:t>
            </a:r>
            <a:r>
              <a:rPr lang="zh-CN" altLang="en-US" b="1"/>
              <a:t>个值。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9DC71A3C-2C8F-4059-9733-49F3C96FFE38}"/>
              </a:ext>
            </a:extLst>
          </p:cNvPr>
          <p:cNvGrpSpPr>
            <a:grpSpLocks/>
          </p:cNvGrpSpPr>
          <p:nvPr/>
        </p:nvGrpSpPr>
        <p:grpSpPr bwMode="auto">
          <a:xfrm>
            <a:off x="1055688" y="1960563"/>
            <a:ext cx="7739062" cy="461962"/>
            <a:chOff x="1080207" y="2160637"/>
            <a:chExt cx="7740265" cy="461987"/>
          </a:xfrm>
        </p:grpSpPr>
        <p:graphicFrame>
          <p:nvGraphicFramePr>
            <p:cNvPr id="12301" name="Object 20">
              <a:extLst>
                <a:ext uri="{FF2B5EF4-FFF2-40B4-BE49-F238E27FC236}">
                  <a16:creationId xmlns:a16="http://schemas.microsoft.com/office/drawing/2014/main" id="{20FB5931-F594-4808-8591-33C87FA70AF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80207" y="2160637"/>
            <a:ext cx="437659" cy="4360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1" r:id="rId13" imgW="228600" imgH="279360" progId="Equation.DSMT4">
                    <p:embed/>
                  </p:oleObj>
                </mc:Choice>
                <mc:Fallback>
                  <p:oleObj r:id="rId13" imgW="228600" imgH="27936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0207" y="2160637"/>
                          <a:ext cx="437659" cy="4360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2" name="矩形 4">
              <a:extLst>
                <a:ext uri="{FF2B5EF4-FFF2-40B4-BE49-F238E27FC236}">
                  <a16:creationId xmlns:a16="http://schemas.microsoft.com/office/drawing/2014/main" id="{5240DCD9-DECE-4DD7-9E2E-47BE2E31F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7866" y="2160959"/>
              <a:ext cx="730260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b="1"/>
                <a:t>决定电子绕核运动角动量</a:t>
              </a:r>
              <a:r>
                <a:rPr lang="zh-CN" altLang="en-US" b="1">
                  <a:solidFill>
                    <a:srgbClr val="FF0066"/>
                  </a:solidFill>
                </a:rPr>
                <a:t>在外磁场方向上的分量。</a:t>
              </a:r>
              <a:endParaRPr lang="zh-CN" altLang="en-US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22A4CEF-58E0-42A1-B561-F4E5FAEE6BC2}"/>
              </a:ext>
            </a:extLst>
          </p:cNvPr>
          <p:cNvGrpSpPr>
            <a:grpSpLocks/>
          </p:cNvGrpSpPr>
          <p:nvPr/>
        </p:nvGrpSpPr>
        <p:grpSpPr bwMode="auto">
          <a:xfrm>
            <a:off x="657225" y="3616325"/>
            <a:ext cx="4059238" cy="609600"/>
            <a:chOff x="656652" y="3420324"/>
            <a:chExt cx="4059364" cy="609398"/>
          </a:xfrm>
        </p:grpSpPr>
        <p:sp>
          <p:nvSpPr>
            <p:cNvPr id="17" name="Text Box 6">
              <a:extLst>
                <a:ext uri="{FF2B5EF4-FFF2-40B4-BE49-F238E27FC236}">
                  <a16:creationId xmlns:a16="http://schemas.microsoft.com/office/drawing/2014/main" id="{94968C9D-DC84-4834-8C04-EA887E4627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652" y="3420324"/>
              <a:ext cx="4059364" cy="609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25000"/>
                </a:spcBef>
              </a:pPr>
              <a:r>
                <a:rPr lang="en-US" altLang="zh-CN" sz="2800" b="1" noProof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黑体" panose="02010609060101010101" pitchFamily="49" charset="-122"/>
                  <a:cs typeface="Times New Roman" panose="02020603050405020304" pitchFamily="18" charset="0"/>
                </a:rPr>
                <a:t>4.  </a:t>
              </a:r>
              <a:r>
                <a:rPr lang="zh-CN" altLang="en-US" sz="2800" b="1" noProof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黑体" panose="02010609060101010101" pitchFamily="49" charset="-122"/>
                  <a:cs typeface="Times New Roman" panose="02020603050405020304" pitchFamily="18" charset="0"/>
                </a:rPr>
                <a:t>自旋磁量子数</a:t>
              </a:r>
              <a:r>
                <a:rPr lang="en-US" altLang="zh-CN" sz="2800" b="1" noProof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黑体" panose="02010609060101010101" pitchFamily="49" charset="-122"/>
                  <a:cs typeface="Times New Roman" panose="02020603050405020304" pitchFamily="18" charset="0"/>
                </a:rPr>
                <a:t>        </a:t>
              </a:r>
              <a:r>
                <a:rPr lang="zh-CN" altLang="en-US" b="1" noProof="1">
                  <a:solidFill>
                    <a:srgbClr val="FF0066"/>
                  </a:solidFill>
                  <a:ea typeface="楷体_GB2312" pitchFamily="49" charset="-122"/>
                </a:rPr>
                <a:t>：</a:t>
              </a:r>
            </a:p>
          </p:txBody>
        </p:sp>
        <p:graphicFrame>
          <p:nvGraphicFramePr>
            <p:cNvPr id="12305" name="对象 22">
              <a:extLst>
                <a:ext uri="{FF2B5EF4-FFF2-40B4-BE49-F238E27FC236}">
                  <a16:creationId xmlns:a16="http://schemas.microsoft.com/office/drawing/2014/main" id="{D50F6952-CAB2-45BE-8408-6E0BCD5213F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53671" y="3460807"/>
            <a:ext cx="503237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2" r:id="rId15" imgW="5181600" imgH="5486400" progId="Equation.DSMT4">
                    <p:embed/>
                  </p:oleObj>
                </mc:Choice>
                <mc:Fallback>
                  <p:oleObj r:id="rId15" imgW="5181600" imgH="5486400" progId="Equation.DSMT4">
                    <p:embed/>
                    <p:pic>
                      <p:nvPicPr>
                        <p:cNvPr id="0" name="对象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3671" y="3460807"/>
                          <a:ext cx="503237" cy="533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13" name="直接连接符 10">
            <a:extLst>
              <a:ext uri="{FF2B5EF4-FFF2-40B4-BE49-F238E27FC236}">
                <a16:creationId xmlns:a16="http://schemas.microsoft.com/office/drawing/2014/main" id="{7C30E2E2-1214-4031-AD06-671F4276763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38150" y="1168400"/>
            <a:ext cx="8405813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A42A5319-C2DC-43F5-918F-1B7CC7813D77}"/>
              </a:ext>
            </a:extLst>
          </p:cNvPr>
          <p:cNvSpPr txBox="1"/>
          <p:nvPr/>
        </p:nvSpPr>
        <p:spPr>
          <a:xfrm>
            <a:off x="438150" y="404813"/>
            <a:ext cx="6005513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3200" b="1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</a:rPr>
              <a:t>四、电子的状态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C28103C-E021-4987-B74C-9E7CF9A1C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268413"/>
            <a:ext cx="59753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en-US" b="1"/>
              <a:t>电子</a:t>
            </a:r>
            <a:r>
              <a:rPr lang="zh-CN" altLang="zh-CN" b="1"/>
              <a:t>的运动状态由</a:t>
            </a:r>
            <a:r>
              <a:rPr lang="zh-CN" altLang="zh-CN" b="1">
                <a:solidFill>
                  <a:srgbClr val="FF0000"/>
                </a:solidFill>
              </a:rPr>
              <a:t>波函数</a:t>
            </a:r>
            <a:r>
              <a:rPr lang="zh-CN" altLang="zh-CN" b="1"/>
              <a:t>来描述</a:t>
            </a:r>
            <a:r>
              <a:rPr lang="zh-CN" altLang="en-US" b="1"/>
              <a:t>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E8F395-AE7C-4AC6-A8A4-36FB99019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513" y="1844675"/>
            <a:ext cx="72739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zh-CN" b="1"/>
              <a:t>波函数又叫做</a:t>
            </a:r>
            <a:r>
              <a:rPr lang="zh-CN" altLang="zh-CN" b="1">
                <a:solidFill>
                  <a:srgbClr val="FF0000"/>
                </a:solidFill>
              </a:rPr>
              <a:t>态函数</a:t>
            </a:r>
            <a:r>
              <a:rPr lang="zh-CN" altLang="zh-CN" b="1"/>
              <a:t>，也叫做</a:t>
            </a:r>
            <a:r>
              <a:rPr lang="zh-CN" altLang="zh-CN" b="1">
                <a:solidFill>
                  <a:srgbClr val="FF0000"/>
                </a:solidFill>
              </a:rPr>
              <a:t>量子态</a:t>
            </a:r>
            <a:r>
              <a:rPr lang="zh-CN" altLang="zh-CN" b="1"/>
              <a:t>，简称为</a:t>
            </a:r>
            <a:r>
              <a:rPr lang="zh-CN" altLang="zh-CN" b="1">
                <a:solidFill>
                  <a:srgbClr val="FF0000"/>
                </a:solidFill>
              </a:rPr>
              <a:t>态</a:t>
            </a:r>
            <a:r>
              <a:rPr lang="zh-CN" altLang="zh-CN" b="1"/>
              <a:t>。</a:t>
            </a:r>
            <a:endParaRPr lang="zh-CN" altLang="en-US" b="1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0093C2-D763-4C29-A6DE-C4E7049F6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513" y="2493963"/>
            <a:ext cx="4572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u"/>
            </a:pPr>
            <a:r>
              <a:rPr lang="zh-CN" altLang="zh-CN" b="1"/>
              <a:t>态由一系列</a:t>
            </a:r>
            <a:r>
              <a:rPr lang="zh-CN" altLang="zh-CN" b="1">
                <a:solidFill>
                  <a:srgbClr val="FF0000"/>
                </a:solidFill>
              </a:rPr>
              <a:t>量子数</a:t>
            </a:r>
            <a:r>
              <a:rPr lang="zh-CN" altLang="zh-CN" b="1"/>
              <a:t>来确定</a:t>
            </a:r>
            <a:r>
              <a:rPr lang="zh-CN" altLang="en-US" b="1"/>
              <a:t>。</a:t>
            </a:r>
          </a:p>
        </p:txBody>
      </p:sp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84076CC2-9123-476E-8D9C-02FB9D759A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6950" y="3246438"/>
          <a:ext cx="1530350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5" r:id="rId3" imgW="12496800" imgH="5791200" progId="Equation.DSMT4">
                  <p:embed/>
                </p:oleObj>
              </mc:Choice>
              <mc:Fallback>
                <p:oleObj r:id="rId3" imgW="12496800" imgH="5791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950" y="3246438"/>
                        <a:ext cx="1530350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3729F9CE-F92B-44F1-91F5-4E6142526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700" y="4357688"/>
            <a:ext cx="14001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b="1"/>
              <a:t>例如：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4839CDF-DA13-43C9-9EAC-2290EA6D78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4476750"/>
          <a:ext cx="8112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6" r:id="rId5" imgW="8534400" imgH="4267200" progId="Equation.DSMT4">
                  <p:embed/>
                </p:oleObj>
              </mc:Choice>
              <mc:Fallback>
                <p:oleObj r:id="rId5" imgW="8534400" imgH="42672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4476750"/>
                        <a:ext cx="8112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42323512-AD37-429E-B7B0-2AD497417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150" y="3375025"/>
            <a:ext cx="14017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</a:pPr>
            <a:r>
              <a:rPr lang="zh-CN" altLang="en-US" b="1"/>
              <a:t>或</a:t>
            </a:r>
          </a:p>
        </p:txBody>
      </p:sp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1F716A11-7F4A-437F-B291-EEF7923269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95825" y="3432175"/>
          <a:ext cx="1819275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7" r:id="rId7" imgW="18288000" imgH="6096000" progId="Equation.DSMT4">
                  <p:embed/>
                </p:oleObj>
              </mc:Choice>
              <mc:Fallback>
                <p:oleObj r:id="rId7" imgW="18288000" imgH="6096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5825" y="3432175"/>
                        <a:ext cx="1819275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F0959E5-18BF-4658-B520-87EB40E9CB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6013" y="4486275"/>
          <a:ext cx="75406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8" r:id="rId9" imgW="7924800" imgH="4267200" progId="Equation.DSMT4">
                  <p:embed/>
                </p:oleObj>
              </mc:Choice>
              <mc:Fallback>
                <p:oleObj r:id="rId9" imgW="7924800" imgH="42672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6013" y="4486275"/>
                        <a:ext cx="75406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6038D67-0F3A-42A4-A6EB-F1386CFDB5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84588" y="5095875"/>
          <a:ext cx="6953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9" r:id="rId11" imgW="7315200" imgH="4267200" progId="Equation.DSMT4">
                  <p:embed/>
                </p:oleObj>
              </mc:Choice>
              <mc:Fallback>
                <p:oleObj r:id="rId11" imgW="7315200" imgH="4267200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4588" y="5095875"/>
                        <a:ext cx="6953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FE4A3BD6-8DFE-4DDC-B198-2FD1095BF6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60925" y="4437063"/>
          <a:ext cx="98583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0" r:id="rId13" imgW="10363200" imgH="5486400" progId="Equation.DSMT4">
                  <p:embed/>
                </p:oleObj>
              </mc:Choice>
              <mc:Fallback>
                <p:oleObj r:id="rId13" imgW="10363200" imgH="5486400" progId="Equation.DSMT4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925" y="4437063"/>
                        <a:ext cx="98583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E01A5066-1239-47B9-9B3D-017551DEA3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16675" y="4435475"/>
          <a:ext cx="150653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1" r:id="rId15" imgW="15849600" imgH="5486400" progId="Equation.DSMT4">
                  <p:embed/>
                </p:oleObj>
              </mc:Choice>
              <mc:Fallback>
                <p:oleObj r:id="rId15" imgW="15849600" imgH="5486400" progId="Equation.DSMT4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6675" y="4435475"/>
                        <a:ext cx="150653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EA1D32AF-7671-4DD4-B99C-A246A10130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3625" y="5095875"/>
          <a:ext cx="98583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" r:id="rId17" imgW="10363200" imgH="5486400" progId="Equation.DSMT4">
                  <p:embed/>
                </p:oleObj>
              </mc:Choice>
              <mc:Fallback>
                <p:oleObj r:id="rId17" imgW="10363200" imgH="548640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625" y="5095875"/>
                        <a:ext cx="98583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19749319-E992-4D8E-8118-7BC2A52453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92675" y="5629275"/>
          <a:ext cx="92868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3" r:id="rId19" imgW="9753600" imgH="5486400" progId="Equation.DSMT4">
                  <p:embed/>
                </p:oleObj>
              </mc:Choice>
              <mc:Fallback>
                <p:oleObj r:id="rId19" imgW="9753600" imgH="54864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2675" y="5629275"/>
                        <a:ext cx="92868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E4E6C961-BAF7-48C2-8588-326E50F390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13313" y="6218238"/>
          <a:ext cx="11620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4" r:id="rId21" imgW="12192000" imgH="5486400" progId="Equation.DSMT4">
                  <p:embed/>
                </p:oleObj>
              </mc:Choice>
              <mc:Fallback>
                <p:oleObj r:id="rId21" imgW="12192000" imgH="5486400" progId="Equation.DSMT4">
                  <p:embed/>
                  <p:pic>
                    <p:nvPicPr>
                      <p:cNvPr id="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3313" y="6218238"/>
                        <a:ext cx="116205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EE82F827-E407-485F-B090-F293E75E43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16675" y="5065713"/>
          <a:ext cx="150653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5" r:id="rId23" imgW="15849600" imgH="5486400" progId="Equation.DSMT4">
                  <p:embed/>
                </p:oleObj>
              </mc:Choice>
              <mc:Fallback>
                <p:oleObj r:id="rId23" imgW="15849600" imgH="5486400" progId="Equation.DSMT4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6675" y="5065713"/>
                        <a:ext cx="150653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D413C300-8418-4860-A099-85C083E5B2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8425" y="5683250"/>
          <a:ext cx="150653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6" r:id="rId25" imgW="15849600" imgH="5486400" progId="Equation.DSMT4">
                  <p:embed/>
                </p:oleObj>
              </mc:Choice>
              <mc:Fallback>
                <p:oleObj r:id="rId25" imgW="15849600" imgH="5486400" progId="Equation.DSMT4">
                  <p:embed/>
                  <p:pic>
                    <p:nvPicPr>
                      <p:cNvPr id="0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8425" y="5683250"/>
                        <a:ext cx="150653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8B580F0C-16C4-4E25-A48A-9E17F74672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50013" y="6218238"/>
          <a:ext cx="150653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7" r:id="rId26" imgW="15849600" imgH="5486400" progId="Equation.DSMT4">
                  <p:embed/>
                </p:oleObj>
              </mc:Choice>
              <mc:Fallback>
                <p:oleObj r:id="rId26" imgW="15849600" imgH="5486400" progId="Equation.DSMT4">
                  <p:embed/>
                  <p:pic>
                    <p:nvPicPr>
                      <p:cNvPr id="0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0013" y="6218238"/>
                        <a:ext cx="1506537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1D01A68F-4828-4589-A931-E58F4FA1E3BB}"/>
              </a:ext>
            </a:extLst>
          </p:cNvPr>
          <p:cNvCxnSpPr/>
          <p:nvPr/>
        </p:nvCxnSpPr>
        <p:spPr>
          <a:xfrm>
            <a:off x="2700338" y="5003800"/>
            <a:ext cx="0" cy="941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5ED8AD9E-F361-49E8-989B-0CD71F432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1800" y="6148388"/>
            <a:ext cx="2016125" cy="461962"/>
          </a:xfrm>
          <a:prstGeom prst="rect">
            <a:avLst/>
          </a:prstGeom>
          <a:solidFill>
            <a:srgbClr val="CCFFFF"/>
          </a:solidFill>
          <a:ln w="19050">
            <a:solidFill>
              <a:srgbClr val="FF00FF"/>
            </a:solidFill>
            <a:prstDash val="sysDash"/>
            <a:round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b="1"/>
              <a:t>8</a:t>
            </a:r>
            <a:r>
              <a:rPr lang="zh-CN" altLang="en-US" b="1"/>
              <a:t>个态函数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10" grpId="0"/>
      <p:bldP spid="11" grpId="0"/>
      <p:bldP spid="26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ext Box 4">
            <a:extLst>
              <a:ext uri="{FF2B5EF4-FFF2-40B4-BE49-F238E27FC236}">
                <a16:creationId xmlns:a16="http://schemas.microsoft.com/office/drawing/2014/main" id="{E5F42399-6E14-4C97-AB15-73D818CBE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" y="260350"/>
            <a:ext cx="723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CC3300"/>
                </a:solidFill>
                <a:ea typeface="宋体" panose="02010600030101010101" pitchFamily="2" charset="-122"/>
              </a:rPr>
              <a:t>例 </a:t>
            </a:r>
            <a:r>
              <a:rPr lang="en-US" altLang="zh-CN" b="1">
                <a:solidFill>
                  <a:srgbClr val="CC3300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4338" name="Text Box 5">
            <a:extLst>
              <a:ext uri="{FF2B5EF4-FFF2-40B4-BE49-F238E27FC236}">
                <a16:creationId xmlns:a16="http://schemas.microsoft.com/office/drawing/2014/main" id="{195DF313-6727-468D-BC29-E72AB5413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925" y="269875"/>
            <a:ext cx="6900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chemeClr val="accent2"/>
                </a:solidFill>
                <a:ea typeface="宋体" panose="02010600030101010101" pitchFamily="2" charset="-122"/>
              </a:rPr>
              <a:t>原子内的量子态由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n, l, m</a:t>
            </a:r>
            <a:r>
              <a:rPr lang="en-US" altLang="zh-CN" b="1" baseline="-25000">
                <a:solidFill>
                  <a:schemeClr val="accent2"/>
                </a:solidFill>
                <a:ea typeface="宋体" panose="02010600030101010101" pitchFamily="2" charset="-122"/>
              </a:rPr>
              <a:t>l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>
                <a:solidFill>
                  <a:schemeClr val="accent2"/>
                </a:solidFill>
                <a:ea typeface="宋体" panose="02010600030101010101" pitchFamily="2" charset="-122"/>
              </a:rPr>
              <a:t>及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m</a:t>
            </a:r>
            <a:r>
              <a:rPr lang="en-US" altLang="zh-CN" b="1" baseline="-25000">
                <a:solidFill>
                  <a:schemeClr val="accent2"/>
                </a:solidFill>
                <a:ea typeface="宋体" panose="02010600030101010101" pitchFamily="2" charset="-122"/>
              </a:rPr>
              <a:t>s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accent2"/>
                </a:solidFill>
                <a:ea typeface="宋体" panose="02010600030101010101" pitchFamily="2" charset="-122"/>
              </a:rPr>
              <a:t>四个量子数表征。</a:t>
            </a:r>
          </a:p>
        </p:txBody>
      </p:sp>
      <p:sp>
        <p:nvSpPr>
          <p:cNvPr id="467974" name="Text Box 6">
            <a:extLst>
              <a:ext uri="{FF2B5EF4-FFF2-40B4-BE49-F238E27FC236}">
                <a16:creationId xmlns:a16="http://schemas.microsoft.com/office/drawing/2014/main" id="{47FB5E1A-B9B5-4097-BE2A-878B6DD39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838200"/>
            <a:ext cx="5495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chemeClr val="accent2"/>
                </a:solidFill>
                <a:ea typeface="宋体" panose="02010600030101010101" pitchFamily="2" charset="-122"/>
              </a:rPr>
              <a:t>当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n, </a:t>
            </a:r>
            <a:r>
              <a:rPr lang="en-US" altLang="zh-CN" b="1" i="1">
                <a:solidFill>
                  <a:schemeClr val="accent2"/>
                </a:solidFill>
                <a:ea typeface="宋体" panose="02010600030101010101" pitchFamily="2" charset="-122"/>
              </a:rPr>
              <a:t>l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, m</a:t>
            </a:r>
            <a:r>
              <a:rPr lang="en-US" altLang="zh-CN" b="1" i="1" baseline="-25000">
                <a:solidFill>
                  <a:schemeClr val="accent2"/>
                </a:solidFill>
                <a:ea typeface="宋体" panose="02010600030101010101" pitchFamily="2" charset="-122"/>
              </a:rPr>
              <a:t>l</a:t>
            </a:r>
            <a:r>
              <a:rPr lang="en-US" altLang="zh-CN" b="1" i="1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accent2"/>
                </a:solidFill>
                <a:ea typeface="宋体" panose="02010600030101010101" pitchFamily="2" charset="-122"/>
              </a:rPr>
              <a:t>一定时，不同的量子态数目为</a:t>
            </a:r>
          </a:p>
        </p:txBody>
      </p:sp>
      <p:sp>
        <p:nvSpPr>
          <p:cNvPr id="467975" name="Line 7">
            <a:extLst>
              <a:ext uri="{FF2B5EF4-FFF2-40B4-BE49-F238E27FC236}">
                <a16:creationId xmlns:a16="http://schemas.microsoft.com/office/drawing/2014/main" id="{F68BD5FB-1FC8-45CA-9B79-380EDA72058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1143000"/>
            <a:ext cx="1676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</p:spPr>
        <p:txBody>
          <a:bodyPr wrap="none" anchor="ctr"/>
          <a:lstStyle/>
          <a:p>
            <a:pPr eaLnBrk="0" hangingPunct="0">
              <a:defRPr/>
            </a:pPr>
            <a:endParaRPr kumimoji="1"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7976" name="Text Box 8">
            <a:extLst>
              <a:ext uri="{FF2B5EF4-FFF2-40B4-BE49-F238E27FC236}">
                <a16:creationId xmlns:a16="http://schemas.microsoft.com/office/drawing/2014/main" id="{A43EF84C-E30A-4358-9C98-3E8507B55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8382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ea typeface="宋体" panose="02010600030101010101" pitchFamily="2" charset="-122"/>
              </a:rPr>
              <a:t>；</a:t>
            </a:r>
          </a:p>
        </p:txBody>
      </p:sp>
      <p:sp>
        <p:nvSpPr>
          <p:cNvPr id="467977" name="Text Box 9">
            <a:extLst>
              <a:ext uri="{FF2B5EF4-FFF2-40B4-BE49-F238E27FC236}">
                <a16:creationId xmlns:a16="http://schemas.microsoft.com/office/drawing/2014/main" id="{D51D2BBC-62DE-44F2-A491-3E597A2F6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5108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chemeClr val="accent2"/>
                </a:solidFill>
                <a:ea typeface="宋体" panose="02010600030101010101" pitchFamily="2" charset="-122"/>
              </a:rPr>
              <a:t>当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n,</a:t>
            </a:r>
            <a:r>
              <a:rPr lang="en-US" altLang="zh-CN" b="1" i="1">
                <a:solidFill>
                  <a:schemeClr val="accent2"/>
                </a:solidFill>
                <a:ea typeface="宋体" panose="02010600030101010101" pitchFamily="2" charset="-122"/>
              </a:rPr>
              <a:t> l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, </a:t>
            </a:r>
            <a:r>
              <a:rPr lang="zh-CN" altLang="en-US" b="1">
                <a:solidFill>
                  <a:schemeClr val="accent2"/>
                </a:solidFill>
                <a:ea typeface="宋体" panose="02010600030101010101" pitchFamily="2" charset="-122"/>
              </a:rPr>
              <a:t>一定时，不同的量子态数目为</a:t>
            </a:r>
          </a:p>
        </p:txBody>
      </p:sp>
      <p:sp>
        <p:nvSpPr>
          <p:cNvPr id="467978" name="Line 10">
            <a:extLst>
              <a:ext uri="{FF2B5EF4-FFF2-40B4-BE49-F238E27FC236}">
                <a16:creationId xmlns:a16="http://schemas.microsoft.com/office/drawing/2014/main" id="{91ABB9AD-47D7-4306-82E5-228C9C42B5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1905000"/>
            <a:ext cx="2133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</p:spPr>
        <p:txBody>
          <a:bodyPr wrap="none" anchor="ctr"/>
          <a:lstStyle/>
          <a:p>
            <a:pPr eaLnBrk="0" hangingPunct="0">
              <a:defRPr/>
            </a:pPr>
            <a:endParaRPr kumimoji="1"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7979" name="Text Box 11">
            <a:extLst>
              <a:ext uri="{FF2B5EF4-FFF2-40B4-BE49-F238E27FC236}">
                <a16:creationId xmlns:a16="http://schemas.microsoft.com/office/drawing/2014/main" id="{F6706908-7681-4D56-B823-4857EDA30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15240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ea typeface="宋体" panose="02010600030101010101" pitchFamily="2" charset="-122"/>
              </a:rPr>
              <a:t>；</a:t>
            </a:r>
          </a:p>
        </p:txBody>
      </p:sp>
      <p:sp>
        <p:nvSpPr>
          <p:cNvPr id="467980" name="Text Box 12">
            <a:extLst>
              <a:ext uri="{FF2B5EF4-FFF2-40B4-BE49-F238E27FC236}">
                <a16:creationId xmlns:a16="http://schemas.microsoft.com/office/drawing/2014/main" id="{D5193676-0C30-467B-AD6D-F1E1C7B53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900363"/>
            <a:ext cx="4795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chemeClr val="accent2"/>
                </a:solidFill>
                <a:ea typeface="宋体" panose="02010600030101010101" pitchFamily="2" charset="-122"/>
              </a:rPr>
              <a:t>当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n </a:t>
            </a:r>
            <a:r>
              <a:rPr lang="zh-CN" altLang="en-US" b="1">
                <a:solidFill>
                  <a:schemeClr val="accent2"/>
                </a:solidFill>
                <a:ea typeface="宋体" panose="02010600030101010101" pitchFamily="2" charset="-122"/>
              </a:rPr>
              <a:t>一定时，不同的量子态数目为</a:t>
            </a:r>
          </a:p>
        </p:txBody>
      </p:sp>
      <p:sp>
        <p:nvSpPr>
          <p:cNvPr id="467981" name="Line 13">
            <a:extLst>
              <a:ext uri="{FF2B5EF4-FFF2-40B4-BE49-F238E27FC236}">
                <a16:creationId xmlns:a16="http://schemas.microsoft.com/office/drawing/2014/main" id="{A54D777E-99BE-4CC0-8A1A-36302E6569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3281363"/>
            <a:ext cx="2819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</p:spPr>
        <p:txBody>
          <a:bodyPr wrap="none" anchor="ctr"/>
          <a:lstStyle/>
          <a:p>
            <a:pPr eaLnBrk="0" hangingPunct="0">
              <a:defRPr/>
            </a:pPr>
            <a:endParaRPr kumimoji="1"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7982" name="Text Box 14">
            <a:extLst>
              <a:ext uri="{FF2B5EF4-FFF2-40B4-BE49-F238E27FC236}">
                <a16:creationId xmlns:a16="http://schemas.microsoft.com/office/drawing/2014/main" id="{9E7E8C3D-8E1D-44CE-AE34-8363EAE83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26670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467983" name="Text Box 15">
            <a:extLst>
              <a:ext uri="{FF2B5EF4-FFF2-40B4-BE49-F238E27FC236}">
                <a16:creationId xmlns:a16="http://schemas.microsoft.com/office/drawing/2014/main" id="{A3694DC5-829F-4CE7-97C3-BDF478E485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925" y="7270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467984" name="Text Box 16">
            <a:extLst>
              <a:ext uri="{FF2B5EF4-FFF2-40B4-BE49-F238E27FC236}">
                <a16:creationId xmlns:a16="http://schemas.microsoft.com/office/drawing/2014/main" id="{FE231E2A-F67F-4F1F-B43B-C49B6910F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371600"/>
            <a:ext cx="1330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ea typeface="宋体" panose="02010600030101010101" pitchFamily="2" charset="-122"/>
              </a:rPr>
              <a:t>2 ( 2</a:t>
            </a:r>
            <a:r>
              <a:rPr lang="en-US" altLang="zh-CN" b="1" i="1">
                <a:ea typeface="宋体" panose="02010600030101010101" pitchFamily="2" charset="-122"/>
              </a:rPr>
              <a:t>l</a:t>
            </a:r>
            <a:r>
              <a:rPr lang="en-US" altLang="zh-CN" b="1">
                <a:ea typeface="宋体" panose="02010600030101010101" pitchFamily="2" charset="-122"/>
              </a:rPr>
              <a:t>+1 )</a:t>
            </a:r>
          </a:p>
        </p:txBody>
      </p:sp>
      <p:graphicFrame>
        <p:nvGraphicFramePr>
          <p:cNvPr id="467986" name="Object 18">
            <a:extLst>
              <a:ext uri="{FF2B5EF4-FFF2-40B4-BE49-F238E27FC236}">
                <a16:creationId xmlns:a16="http://schemas.microsoft.com/office/drawing/2014/main" id="{A397021F-9710-4BBA-8096-C1535FDC9EF7}"/>
              </a:ext>
            </a:extLst>
          </p:cNvPr>
          <p:cNvGraphicFramePr>
            <a:graphicFrameLocks/>
          </p:cNvGraphicFramePr>
          <p:nvPr/>
        </p:nvGraphicFramePr>
        <p:xfrm>
          <a:off x="5292725" y="2276475"/>
          <a:ext cx="3284538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1" r:id="rId3" imgW="1485255" imgH="431613" progId="Equation.DSMT4">
                  <p:embed/>
                </p:oleObj>
              </mc:Choice>
              <mc:Fallback>
                <p:oleObj r:id="rId3" imgW="1485255" imgH="431613" progId="Equation.DSMT4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2276475"/>
                        <a:ext cx="3284538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67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7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467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467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7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467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467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7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67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7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67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467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974" grpId="0"/>
      <p:bldP spid="467976" grpId="0"/>
      <p:bldP spid="467977" grpId="0"/>
      <p:bldP spid="467979" grpId="0"/>
      <p:bldP spid="467980" grpId="0"/>
      <p:bldP spid="467982" grpId="0"/>
      <p:bldP spid="467983" grpId="0"/>
      <p:bldP spid="46798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2">
            <a:extLst>
              <a:ext uri="{FF2B5EF4-FFF2-40B4-BE49-F238E27FC236}">
                <a16:creationId xmlns:a16="http://schemas.microsoft.com/office/drawing/2014/main" id="{F4AB2A34-2D40-4E96-82D1-2FBF0CB7A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33375"/>
            <a:ext cx="8302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CC33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>
                <a:solidFill>
                  <a:srgbClr val="CC3300"/>
                </a:solidFill>
                <a:ea typeface="宋体" panose="02010600030101010101" pitchFamily="2" charset="-122"/>
              </a:rPr>
              <a:t>2</a:t>
            </a:r>
            <a:r>
              <a:rPr lang="zh-CN" altLang="en-US" b="1">
                <a:solidFill>
                  <a:schemeClr val="tx2"/>
                </a:solidFill>
                <a:ea typeface="宋体" panose="02010600030101010101" pitchFamily="2" charset="-122"/>
              </a:rPr>
              <a:t>下列各组量子数中，哪一组可以描述原子中电子的状态？</a:t>
            </a:r>
          </a:p>
        </p:txBody>
      </p:sp>
      <p:graphicFrame>
        <p:nvGraphicFramePr>
          <p:cNvPr id="457731" name="Object 3">
            <a:extLst>
              <a:ext uri="{FF2B5EF4-FFF2-40B4-BE49-F238E27FC236}">
                <a16:creationId xmlns:a16="http://schemas.microsoft.com/office/drawing/2014/main" id="{4BEC8E6D-7BE7-4E85-BA0F-138CBEA2A4B6}"/>
              </a:ext>
            </a:extLst>
          </p:cNvPr>
          <p:cNvGraphicFramePr>
            <a:graphicFrameLocks/>
          </p:cNvGraphicFramePr>
          <p:nvPr/>
        </p:nvGraphicFramePr>
        <p:xfrm>
          <a:off x="1447800" y="900113"/>
          <a:ext cx="5410200" cy="326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r:id="rId3" imgW="2324100" imgH="1625600" progId="Equation.3">
                  <p:embed/>
                </p:oleObj>
              </mc:Choice>
              <mc:Fallback>
                <p:oleObj r:id="rId3" imgW="2324100" imgH="162560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lum bright="100000" contrast="100000"/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900113"/>
                        <a:ext cx="5410200" cy="3262312"/>
                      </a:xfrm>
                      <a:prstGeom prst="rect">
                        <a:avLst/>
                      </a:prstGeom>
                      <a:solidFill>
                        <a:srgbClr val="008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7732" name="Text Box 4">
            <a:extLst>
              <a:ext uri="{FF2B5EF4-FFF2-40B4-BE49-F238E27FC236}">
                <a16:creationId xmlns:a16="http://schemas.microsoft.com/office/drawing/2014/main" id="{38C772EF-A2FB-4B94-A48F-EB67BD8D9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619375"/>
            <a:ext cx="1355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chemeClr val="tx2"/>
                </a:solidFill>
                <a:ea typeface="宋体" panose="02010600030101010101" pitchFamily="2" charset="-122"/>
              </a:rPr>
              <a:t>答案  </a:t>
            </a:r>
            <a:r>
              <a:rPr lang="en-US" altLang="zh-CN" b="1">
                <a:solidFill>
                  <a:schemeClr val="tx2"/>
                </a:solidFill>
                <a:ea typeface="宋体" panose="02010600030101010101" pitchFamily="2" charset="-122"/>
              </a:rPr>
              <a:t>(B)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7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7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73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c97de928-91e2-4901-9190-111d1b41c785"/>
  <p:tag name="COMMONDATA" val="eyJoZGlkIjoiZGU0NjBmNDc3YmY3ODNkZjQ5MmJlMjNhNWNhMDZlNzMifQ=="/>
</p:tagLst>
</file>

<file path=ppt/theme/theme1.xml><?xml version="1.0" encoding="utf-8"?>
<a:theme xmlns:a="http://schemas.openxmlformats.org/drawingml/2006/main" name="空演示文稿">
  <a:themeElements>
    <a:clrScheme name="空演示文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空演示文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空演示文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空演示文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Office\Templates\空演示文稿.pot</Template>
  <TotalTime>0</TotalTime>
  <Words>872</Words>
  <Application>Microsoft Office PowerPoint</Application>
  <PresentationFormat>全屏显示(4:3)</PresentationFormat>
  <Paragraphs>111</Paragraphs>
  <Slides>12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Times New Roman</vt:lpstr>
      <vt:lpstr>黑体</vt:lpstr>
      <vt:lpstr>Symbol</vt:lpstr>
      <vt:lpstr>Tahoma</vt:lpstr>
      <vt:lpstr>楷体_GB2312</vt:lpstr>
      <vt:lpstr>新宋体</vt:lpstr>
      <vt:lpstr>华文新魏</vt:lpstr>
      <vt:lpstr>微软雅黑</vt:lpstr>
      <vt:lpstr>Arial Unicode MS</vt:lpstr>
      <vt:lpstr>空演示文稿</vt:lpstr>
      <vt:lpstr>MathType 6.0 Equation</vt:lpstr>
      <vt:lpstr>Microsoft Equation 3.0</vt:lpstr>
      <vt:lpstr>15-11 电子的自旋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zhf</dc:creator>
  <cp:lastModifiedBy>Administrator</cp:lastModifiedBy>
  <cp:revision>812</cp:revision>
  <dcterms:created xsi:type="dcterms:W3CDTF">1997-12-31T22:02:53Z</dcterms:created>
  <dcterms:modified xsi:type="dcterms:W3CDTF">2023-11-10T09:31:41Z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2052-11.1.0.13607</vt:lpwstr>
  </property>
  <property fmtid="{D5CDD505-2E9C-101B-9397-08002B2CF9AE}" pid="3" name="ICV">
    <vt:lpwstr>AEB3CD0FCFFF440BBB4602AE65608E89</vt:lpwstr>
  </property>
</Properties>
</file>